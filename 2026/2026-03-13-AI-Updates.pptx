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embeddedFontLst>
    <p:embeddedFont>
      <p:font typeface="Roboto Mono" pitchFamily="49" charset="0"/>
      <p:regular r:id="rId36"/>
      <p:bold r:id="rId37"/>
      <p:italic r:id="rId38"/>
      <p:boldItalic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7F52509-D6FF-42E6-A50E-6B19E394C55B}">
  <a:tblStyle styleId="{67F52509-D6FF-42E6-A50E-6B19E394C55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4.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2.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3ce66c1ba34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0" name="Google Shape;70;g3ce66c1ba34_0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cc01bf30ee_1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6" name="Google Shape;76;g3cc01bf30ee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3ce3012afcb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g3ce3012afcb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0" name="Google Shape;100;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ce3012afcb_1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6" name="Google Shape;106;g3ce3012afcb_1_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ce3012afcb_1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5" name="Google Shape;115;g3ce3012afcb_1_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cdf853e001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3" name="Google Shape;123;g3cdf853e001_0_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ce3012afcb_1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0" name="Google Shape;130;g3ce3012afcb_1_5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cd53ce483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1" name="Google Shape;141;g3cd53ce483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395736e1bce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0" name="Google Shape;150;g395736e1bce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ce3012afcb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8" name="Google Shape;158;g3ce3012afcb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ce3012afcb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g3ce3012afcb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ce3012afcb_1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5" name="Google Shape;175;g3ce3012afcb_1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ce3012afcb_1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4" name="Google Shape;184;g3ce3012afcb_1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ce66c1ba34_0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1" name="Google Shape;191;g3ce66c1ba34_0_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3ce3012afcb_1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3ce3012afcb_1_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g395d23f480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5" name="Google Shape;205;g395d23f480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395d3a8fcf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2" name="Google Shape;212;g395d3a8fcf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395d3a8fcf6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9" name="Google Shape;219;g395d3a8fcf6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3cdf4e6dde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7" name="Google Shape;227;g3cdf4e6dde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3ce66c1ba3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4" name="Google Shape;234;g3ce66c1ba3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ce3012afcb_1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ce3012afcb_1_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3cdf4e6dde4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2" name="Google Shape;252;g3cdf4e6dde4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3cdf853e001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1" name="Google Shape;261;g3cdf853e001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cd53ce4837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0" name="Google Shape;270;g3cd53ce4837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cdf853e001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8" name="Google Shape;278;g3cdf853e001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cea6ed66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7" name="Google Shape;287;g3cea6ed66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3cec1b0fe8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4" name="Google Shape;294;g3cec1b0fe8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cea6ed6682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2" name="Google Shape;302;g3cea6ed6682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9" name="Google Shape;30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9" name="Google Shape;319;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9" name="Google Shape;329;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aistudio.google.com/app/prompts/new_chat?model=gemini-3-pro-preview" TargetMode="External"/><Relationship Id="rId39" Type="http://schemas.openxmlformats.org/officeDocument/2006/relationships/hyperlink" Target="https://ernie.baidu.com/blog/posts/ernie-5.0-preview-1203-release-on-lmarena/" TargetMode="External"/><Relationship Id="rId21" Type="http://schemas.openxmlformats.org/officeDocument/2006/relationships/hyperlink" Target="https://www.anthropic.com/news/claude-opus-4-5" TargetMode="External"/><Relationship Id="rId34" Type="http://schemas.openxmlformats.org/officeDocument/2006/relationships/hyperlink" Target="https://openai.com/index/introducing-gpt-5-2"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www.anthropic.com/news/claude-sonnet-4-5" TargetMode="External"/><Relationship Id="rId33" Type="http://schemas.openxmlformats.org/officeDocument/2006/relationships/hyperlink" Target="https://www.anthropic.com/news/claude-4" TargetMode="External"/><Relationship Id="rId38" Type="http://schemas.openxmlformats.org/officeDocument/2006/relationships/hyperlink" Target="https://aistudio.google.com/app/prompts/new_chat?model=gemini-2.5-pro" TargetMode="External"/><Relationship Id="rId2" Type="http://schemas.openxmlformats.org/officeDocument/2006/relationships/notesSlide" Target="../notesSlides/notesSlide3.xml"/><Relationship Id="rId16" Type="http://schemas.openxmlformats.org/officeDocument/2006/relationships/hyperlink" Target="https://artificialanalysis.ai/models/grok-4" TargetMode="External"/><Relationship Id="rId20" Type="http://schemas.openxmlformats.org/officeDocument/2006/relationships/hyperlink" Target="https://blog.google/innovation-and-ai/models-and-research/gemini-models/gemini-3-1-pro/" TargetMode="External"/><Relationship Id="rId29" Type="http://schemas.openxmlformats.org/officeDocument/2006/relationships/hyperlink" Target="https://www.anthropic.com/news/claude-opus-4-1"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developers.openai.com/api/docs/models/gpt-5.2-chat-latest" TargetMode="External"/><Relationship Id="rId32" Type="http://schemas.openxmlformats.org/officeDocument/2006/relationships/hyperlink" Target="https://huggingface.co/Qwen/Qwen3.5-397B-A17B" TargetMode="External"/><Relationship Id="rId37" Type="http://schemas.openxmlformats.org/officeDocument/2006/relationships/hyperlink" Target="https://huggingface.co/zai-org/GLM-5"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www.anthropic.com/news/claude-sonnet-4-6" TargetMode="External"/><Relationship Id="rId28" Type="http://schemas.openxmlformats.org/officeDocument/2006/relationships/hyperlink" Target="https://www.kimi.com/blog/kimi-k2-5.html" TargetMode="External"/><Relationship Id="rId36" Type="http://schemas.openxmlformats.org/officeDocument/2006/relationships/hyperlink" Target="https://openai.com/index/gpt-5-1/"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6" TargetMode="External"/><Relationship Id="rId31" Type="http://schemas.openxmlformats.org/officeDocument/2006/relationships/hyperlink" Target="https://x.ai/news/grok-4-1"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grok.com/" TargetMode="External"/><Relationship Id="rId27" Type="http://schemas.openxmlformats.org/officeDocument/2006/relationships/hyperlink" Target="https://seed.bytedance.com/en/blog/dola-seed-2-0-preview-model-release-on-arena" TargetMode="External"/><Relationship Id="rId30" Type="http://schemas.openxmlformats.org/officeDocument/2006/relationships/hyperlink" Target="https://blog.google/products/gemini/gemini-3-flash" TargetMode="External"/><Relationship Id="rId35" Type="http://schemas.openxmlformats.org/officeDocument/2006/relationships/hyperlink" Target="https://ernie.baidu.com/blog/posts/ernie-5.0-0110-release-on-lmarena/"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promptfoo/promptfoo" TargetMode="External"/><Relationship Id="rId7"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hyperlink" Target="https://www.youtube.com/watch?v=E8UObj_R2mM" TargetMode="External"/><Relationship Id="rId4" Type="http://schemas.openxmlformats.org/officeDocument/2006/relationships/hyperlink" Target="https://www.promptfoo.dev"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hyperlink" Target="https://devin.ai" TargetMode="External"/><Relationship Id="rId7" Type="http://schemas.openxmlformats.org/officeDocument/2006/relationships/hyperlink" Target="https://www.youtube.com/watch?v=a0yaKgxLVdQ"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https://www.youtube.com/watch?v=Kr_cS795M4o" TargetMode="External"/><Relationship Id="rId5" Type="http://schemas.openxmlformats.org/officeDocument/2006/relationships/hyperlink" Target="https://docs.devin.ai/release-notes/overview" TargetMode="External"/><Relationship Id="rId4" Type="http://schemas.openxmlformats.org/officeDocument/2006/relationships/hyperlink" Target="https://cognition.ai/blog/introducing-devin-2-2" TargetMode="External"/><Relationship Id="rId9" Type="http://schemas.openxmlformats.org/officeDocument/2006/relationships/image" Target="../media/image5.png"/></Relationships>
</file>

<file path=ppt/slides/_rels/slide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hyperlink" Target="http://skill.md" TargetMode="External"/><Relationship Id="rId7"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www.databricks.com/blog/meet-karl-faster-agent-enterprise-knowledge-powered-custom-rl" TargetMode="External"/><Relationship Id="rId5" Type="http://schemas.openxmlformats.org/officeDocument/2006/relationships/hyperlink" Target="https://arxiv.org/abs/2603.05218" TargetMode="External"/><Relationship Id="rId4" Type="http://schemas.openxmlformats.org/officeDocument/2006/relationships/hyperlink" Target="https://www.youtube.com/watch?v=OGT3NoFo-qg"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LCkGVCfmtzo"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hyperlink" Target="https://github.com/Yuan-lab-LLM/Yuan3.0-Ultra" TargetMode="External"/><Relationship Id="rId7"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yuanlab.ai" TargetMode="External"/><Relationship Id="rId5" Type="http://schemas.openxmlformats.org/officeDocument/2006/relationships/hyperlink" Target="https://arxiv.org/abs/2601.01718" TargetMode="External"/><Relationship Id="rId4" Type="http://schemas.openxmlformats.org/officeDocument/2006/relationships/hyperlink" Target="https://arxiv.org/abs/2601.14327" TargetMode="External"/><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hyperlink" Target="https://www.geeky-gadgets.com/nested-claude-code-tmux/"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www.youtube.com/watch?v=jP6tN9JTtxE"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www.youtube.com/watch?v=CXeCIgc982I" TargetMode="External"/><Relationship Id="rId5" Type="http://schemas.openxmlformats.org/officeDocument/2006/relationships/hyperlink" Target="https://www.youtube.com/watch?v=wqH1hTkA6qg" TargetMode="External"/><Relationship Id="rId4" Type="http://schemas.openxmlformats.org/officeDocument/2006/relationships/hyperlink" Target="https://www.youtube.com/watch?v=R7OCrqyGMeY"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f95-O8C88uw"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5.jpeg"/></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Z9RaLpbPluQ" TargetMode="External"/><Relationship Id="rId7" Type="http://schemas.openxmlformats.org/officeDocument/2006/relationships/image" Target="../media/image17.jpe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hyperlink" Target="https://www.youtube.com/watch?v=I9kO6-yPkfM" TargetMode="External"/><Relationship Id="rId4" Type="http://schemas.openxmlformats.org/officeDocument/2006/relationships/hyperlink" Target="https://kilo.ai/kiloclaw"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obra/superpowers"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hyperlink" Target="http://www.youtube.com/watch?v=7cOAayWzYDY"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user.md"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hyperlink" Target="https://www.youtube.com/watch?v=f8LJBh1AtKg" TargetMode="External"/><Relationship Id="rId4" Type="http://schemas.openxmlformats.org/officeDocument/2006/relationships/hyperlink" Target="http://onboarding.md"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qP73cGLQmCU"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WzOXDIWxVeM"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hyperlink" Target="https://polsia.com"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24.jpe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hyperlink" Target="https://situationalawarenesslp.com"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hyperlink" Target="https://www.youtube.com/watch?v=04Kutj1vAiw" TargetMode="External"/><Relationship Id="rId5" Type="http://schemas.openxmlformats.org/officeDocument/2006/relationships/image" Target="../media/image29.jpeg"/><Relationship Id="rId4" Type="http://schemas.openxmlformats.org/officeDocument/2006/relationships/hyperlink" Target="https://situational-awareness.ai/wp-content/uploads/2024/06/situationalawareness.pdf" TargetMode="External"/></Relationships>
</file>

<file path=ppt/slides/_rels/slide25.xml.rels><?xml version="1.0" encoding="UTF-8" standalone="yes"?>
<Relationships xmlns="http://schemas.openxmlformats.org/package/2006/relationships"><Relationship Id="rId8" Type="http://schemas.openxmlformats.org/officeDocument/2006/relationships/hyperlink" Target="https://flywire.ai" TargetMode="External"/><Relationship Id="rId3" Type="http://schemas.openxmlformats.org/officeDocument/2006/relationships/hyperlink" Target="https://github.com/karpathy/autoresearch" TargetMode="External"/><Relationship Id="rId7"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hyperlink" Target="https://garryslist.org/posts/karpathy-just-turned-one-gpu-into-a-research-lab-f55754a6" TargetMode="External"/><Relationship Id="rId11" Type="http://schemas.openxmlformats.org/officeDocument/2006/relationships/image" Target="../media/image31.png"/><Relationship Id="rId5" Type="http://schemas.openxmlformats.org/officeDocument/2006/relationships/hyperlink" Target="https://www.youtube.com/shorts/g7V0UJv9gT4" TargetMode="External"/><Relationship Id="rId10" Type="http://schemas.openxmlformats.org/officeDocument/2006/relationships/hyperlink" Target="https://www.youtube.com/watch?v=N2ccho6ug1w" TargetMode="External"/><Relationship Id="rId4" Type="http://schemas.openxmlformats.org/officeDocument/2006/relationships/hyperlink" Target="https://x.com/karpathy" TargetMode="External"/><Relationship Id="rId9" Type="http://schemas.openxmlformats.org/officeDocument/2006/relationships/hyperlink" Target="https://x.com/michaelandregg/status/2030764512488677736"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www.youtube.com/watch?v=TJ5okrPNmWQ"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hyperlink" Target="http://www.youtube.com/watch?v=M8VNj21ew_4"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34.jpeg"/><Relationship Id="rId5" Type="http://schemas.openxmlformats.org/officeDocument/2006/relationships/hyperlink" Target="https://www.youtube.com/watch?v=KZnuFadL7xM" TargetMode="External"/><Relationship Id="rId4" Type="http://schemas.openxmlformats.org/officeDocument/2006/relationships/image" Target="../media/image33.png"/></Relationships>
</file>

<file path=ppt/slides/_rels/slide28.xml.rels><?xml version="1.0" encoding="UTF-8" standalone="yes"?>
<Relationships xmlns="http://schemas.openxmlformats.org/package/2006/relationships"><Relationship Id="rId3" Type="http://schemas.openxmlformats.org/officeDocument/2006/relationships/hyperlink" Target="https://www.youtube.com/watch?v=I08ZeY7QcrE" TargetMode="External"/><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hyperlink" Target="https://www.youtube.com/watch?v=cglc_BR04GE"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www.wsj.com/tech/ai/ai-needs-management-consultants-after-all-bd28ecb9?mod=hp_lead_pos7" TargetMode="External"/><Relationship Id="rId7" Type="http://schemas.openxmlformats.org/officeDocument/2006/relationships/hyperlink" Target="https://www.youtube.com/watch?v=a1Vd85ilWiI"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hyperlink" Target="https://www.sabrina.dev/p/big-lie-behind-tech-layoffs" TargetMode="External"/><Relationship Id="rId5" Type="http://schemas.openxmlformats.org/officeDocument/2006/relationships/hyperlink" Target="https://arxiv.org/pdf/2510.26787" TargetMode="External"/><Relationship Id="rId4" Type="http://schemas.openxmlformats.org/officeDocument/2006/relationships/image" Target="../media/image35.png"/></Relationships>
</file>

<file path=ppt/slides/_rels/slide30.xml.rels><?xml version="1.0" encoding="UTF-8" standalone="yes"?>
<Relationships xmlns="http://schemas.openxmlformats.org/package/2006/relationships"><Relationship Id="rId3" Type="http://schemas.openxmlformats.org/officeDocument/2006/relationships/hyperlink" Target="http://www.youtube.com/watch?v=fHas3Dg1okk" TargetMode="External"/><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hyperlink" Target="https://trueup.io/layoffs"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39.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547701"/>
            <a:ext cx="4420200" cy="664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acquired Promptfoo</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LeCun's AMI raises $1B</a:t>
            </a:r>
            <a:endParaRPr b="1">
              <a:solidFill>
                <a:srgbClr val="3C78D8"/>
              </a:solidFill>
              <a:latin typeface="Calibri"/>
              <a:ea typeface="Calibri"/>
              <a:cs typeface="Calibri"/>
              <a:sym typeface="Calibri"/>
            </a:endParaRPr>
          </a:p>
        </p:txBody>
      </p:sp>
      <p:sp>
        <p:nvSpPr>
          <p:cNvPr id="64" name="Google Shape;64;p15"/>
          <p:cNvSpPr txBox="1"/>
          <p:nvPr/>
        </p:nvSpPr>
        <p:spPr>
          <a:xfrm>
            <a:off x="0"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Mar 13, 2026</a:t>
            </a:r>
            <a:endParaRPr sz="3000" b="1">
              <a:solidFill>
                <a:srgbClr val="3C78D8"/>
              </a:solidFill>
              <a:latin typeface="Calibri"/>
              <a:ea typeface="Calibri"/>
              <a:cs typeface="Calibri"/>
              <a:sym typeface="Calibri"/>
            </a:endParaRPr>
          </a:p>
        </p:txBody>
      </p:sp>
      <p:sp>
        <p:nvSpPr>
          <p:cNvPr id="65" name="Google Shape;65;p15"/>
          <p:cNvSpPr txBox="1"/>
          <p:nvPr/>
        </p:nvSpPr>
        <p:spPr>
          <a:xfrm>
            <a:off x="4574323" y="4471315"/>
            <a:ext cx="4502400" cy="44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is Killing Consulting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i="0" u="none" strike="noStrike" cap="none">
                <a:solidFill>
                  <a:srgbClr val="3C78D8"/>
                </a:solidFill>
                <a:latin typeface="Calibri"/>
                <a:ea typeface="Calibri"/>
                <a:cs typeface="Calibri"/>
                <a:sym typeface="Calibri"/>
              </a:rPr>
              <a:t>Jobs, Layoffs, </a:t>
            </a:r>
            <a:r>
              <a:rPr lang="en" b="1">
                <a:solidFill>
                  <a:srgbClr val="3C78D8"/>
                </a:solidFill>
                <a:latin typeface="Calibri"/>
                <a:ea typeface="Calibri"/>
                <a:cs typeface="Calibri"/>
                <a:sym typeface="Calibri"/>
              </a:rPr>
              <a:t>demand for AI Engineers</a:t>
            </a:r>
            <a:endParaRPr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101026"/>
            <a:ext cx="4420200" cy="28197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Perplexity "Computer" Agentic Workflows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Devon 2.2 - a fully autonomous AI software engineer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DataBricks KARL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Agents Making Money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Microsoft Phi-4 Reasoning Vision 15B</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Symphony Coding Tracker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Xiaomi launched MClaw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Yuan3.0 Ultra Multimodal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Scheduling, Super Nested Claude Code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 Tool Search &amp; Calling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CoWork</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KiloClaw Cloud-hosted Alternative to OpenClaw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 Playwright CLI</a:t>
            </a:r>
            <a:endParaRPr b="1">
              <a:solidFill>
                <a:srgbClr val="3C78D8"/>
              </a:solidFill>
              <a:latin typeface="Calibri"/>
              <a:ea typeface="Calibri"/>
              <a:cs typeface="Calibri"/>
              <a:sym typeface="Calibri"/>
            </a:endParaRPr>
          </a:p>
        </p:txBody>
      </p:sp>
      <p:sp>
        <p:nvSpPr>
          <p:cNvPr id="67" name="Google Shape;67;p15"/>
          <p:cNvSpPr txBox="1"/>
          <p:nvPr/>
        </p:nvSpPr>
        <p:spPr>
          <a:xfrm>
            <a:off x="4574323" y="547705"/>
            <a:ext cx="4502400" cy="30354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Superpowers GitHub repo for AI Coding Agents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Memory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Moonshots - about OpenClaw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is transforming education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Infrastructure Investments - $135 Billion in 7 Days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Pulsia AI - Runs 3,300 Companies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Apple vs Nvidia</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Anthropic sues Pentagon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revises military AI deal with US Government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Anthropic has launched Claude Marketplace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Intel 18A Manufacturing Process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Leopold Aschenbrenner Investments </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Autoresearch from Andrej Karpathy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Alibaba’s Qwen Team Restructuring</a:t>
            </a:r>
            <a:endParaRPr b="1">
              <a:solidFill>
                <a:srgbClr val="3C78D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6"/>
          <p:cNvSpPr txBox="1"/>
          <p:nvPr/>
        </p:nvSpPr>
        <p:spPr>
          <a:xfrm>
            <a:off x="0" y="-753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Mar </a:t>
            </a:r>
            <a:r>
              <a:rPr lang="en" sz="2200" b="1">
                <a:solidFill>
                  <a:srgbClr val="3C78D8"/>
                </a:solidFill>
                <a:latin typeface="Calibri"/>
                <a:ea typeface="Calibri"/>
                <a:cs typeface="Calibri"/>
                <a:sym typeface="Calibri"/>
              </a:rPr>
              <a:t>13</a:t>
            </a:r>
            <a:r>
              <a:rPr lang="en" sz="2200" b="1" i="0" u="none" strike="noStrike" cap="none">
                <a:solidFill>
                  <a:srgbClr val="3C78D8"/>
                </a:solidFill>
                <a:latin typeface="Calibri"/>
                <a:ea typeface="Calibri"/>
                <a:cs typeface="Calibri"/>
                <a:sym typeface="Calibri"/>
              </a:rPr>
              <a:t>, 2026</a:t>
            </a:r>
            <a:endParaRPr sz="2200" b="1" i="0" u="none" strike="noStrike" cap="none">
              <a:solidFill>
                <a:srgbClr val="3C78D8"/>
              </a:solidFill>
              <a:latin typeface="Calibri"/>
              <a:ea typeface="Calibri"/>
              <a:cs typeface="Calibri"/>
              <a:sym typeface="Calibri"/>
            </a:endParaRPr>
          </a:p>
        </p:txBody>
      </p:sp>
      <p:sp>
        <p:nvSpPr>
          <p:cNvPr id="73" name="Google Shape;73;p16"/>
          <p:cNvSpPr txBox="1"/>
          <p:nvPr/>
        </p:nvSpPr>
        <p:spPr>
          <a:xfrm>
            <a:off x="205950" y="639041"/>
            <a:ext cx="8732100" cy="1080600"/>
          </a:xfrm>
          <a:prstGeom prst="rect">
            <a:avLst/>
          </a:prstGeom>
          <a:noFill/>
          <a:ln>
            <a:noFill/>
          </a:ln>
        </p:spPr>
        <p:txBody>
          <a:bodyPr spcFirstLastPara="1" wrap="square" lIns="9125" tIns="9125" rIns="9125" bIns="9125" anchor="t" anchorCtr="0">
            <a:spAutoFit/>
          </a:bodyPr>
          <a:lstStyle/>
          <a:p>
            <a:pPr marL="457200" marR="0" lvl="0" indent="-374650" algn="l" rtl="0">
              <a:lnSpc>
                <a:spcPct val="100000"/>
              </a:lnSpc>
              <a:spcBef>
                <a:spcPts val="0"/>
              </a:spcBef>
              <a:spcAft>
                <a:spcPts val="0"/>
              </a:spcAft>
              <a:buClr>
                <a:srgbClr val="3C78D8"/>
              </a:buClr>
              <a:buSzPts val="2300"/>
              <a:buFont typeface="Calibri"/>
              <a:buChar char="●"/>
            </a:pPr>
            <a:r>
              <a:rPr lang="en" sz="2300" b="1" i="1">
                <a:solidFill>
                  <a:srgbClr val="FF0000"/>
                </a:solidFill>
                <a:latin typeface="Calibri"/>
                <a:ea typeface="Calibri"/>
                <a:cs typeface="Calibri"/>
                <a:sym typeface="Calibri"/>
              </a:rPr>
              <a:t>Moving away from building hundreds of separate agents </a:t>
            </a:r>
            <a:br>
              <a:rPr lang="en" sz="2300" b="1" i="1">
                <a:solidFill>
                  <a:srgbClr val="FF0000"/>
                </a:solidFill>
                <a:latin typeface="Calibri"/>
                <a:ea typeface="Calibri"/>
                <a:cs typeface="Calibri"/>
                <a:sym typeface="Calibri"/>
              </a:rPr>
            </a:br>
            <a:r>
              <a:rPr lang="en" sz="2300" b="1" i="1">
                <a:solidFill>
                  <a:srgbClr val="FF0000"/>
                </a:solidFill>
                <a:latin typeface="Calibri"/>
                <a:ea typeface="Calibri"/>
                <a:cs typeface="Calibri"/>
                <a:sym typeface="Calibri"/>
              </a:rPr>
              <a:t>toward teaching one capable agent a diverse library of skills</a:t>
            </a:r>
            <a:endParaRPr sz="2300" b="1" i="1">
              <a:solidFill>
                <a:srgbClr val="FF0000"/>
              </a:solidFill>
              <a:latin typeface="Calibri"/>
              <a:ea typeface="Calibri"/>
              <a:cs typeface="Calibri"/>
              <a:sym typeface="Calibri"/>
            </a:endParaRPr>
          </a:p>
          <a:p>
            <a:pPr marL="457200" marR="0" lvl="0" indent="-374650" algn="l" rtl="0">
              <a:lnSpc>
                <a:spcPct val="100000"/>
              </a:lnSpc>
              <a:spcBef>
                <a:spcPts val="0"/>
              </a:spcBef>
              <a:spcAft>
                <a:spcPts val="0"/>
              </a:spcAft>
              <a:buClr>
                <a:srgbClr val="FF0000"/>
              </a:buClr>
              <a:buSzPts val="2300"/>
              <a:buFont typeface="Calibri"/>
              <a:buChar char="●"/>
            </a:pPr>
            <a:endParaRPr sz="2300" b="1" i="1">
              <a:solidFill>
                <a:srgbClr val="FF0000"/>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7"/>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9" name="Google Shape;79;p17"/>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80" name="Google Shape;80;p17"/>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81" name="Google Shape;81;p17"/>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82" name="Google Shape;82;p17"/>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3" name="Google Shape;83;p17"/>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March 04</a:t>
            </a:r>
            <a:endParaRPr sz="1000">
              <a:latin typeface="Calibri"/>
              <a:ea typeface="Calibri"/>
              <a:cs typeface="Calibri"/>
              <a:sym typeface="Calibri"/>
            </a:endParaRPr>
          </a:p>
        </p:txBody>
      </p:sp>
      <p:sp>
        <p:nvSpPr>
          <p:cNvPr id="84" name="Google Shape;84;p17"/>
          <p:cNvSpPr txBox="1"/>
          <p:nvPr/>
        </p:nvSpPr>
        <p:spPr>
          <a:xfrm>
            <a:off x="7346795" y="608477"/>
            <a:ext cx="1745700" cy="78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glm-5.0 - 744B </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kimi-k2.5-thinking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qwen3.5-397B</a:t>
            </a:r>
            <a:endParaRPr sz="1000">
              <a:latin typeface="Calibri"/>
              <a:ea typeface="Calibri"/>
              <a:cs typeface="Calibri"/>
              <a:sym typeface="Calibri"/>
            </a:endParaRPr>
          </a:p>
        </p:txBody>
      </p:sp>
      <p:graphicFrame>
        <p:nvGraphicFramePr>
          <p:cNvPr id="85" name="Google Shape;85;p17"/>
          <p:cNvGraphicFramePr/>
          <p:nvPr/>
        </p:nvGraphicFramePr>
        <p:xfrm>
          <a:off x="5742420" y="430065"/>
          <a:ext cx="3000000" cy="3000000"/>
        </p:xfrm>
        <a:graphic>
          <a:graphicData uri="http://schemas.openxmlformats.org/drawingml/2006/table">
            <a:tbl>
              <a:tblPr>
                <a:noFill/>
                <a:tableStyleId>{67F52509-D6FF-42E6-A50E-6B19E394C55B}</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86" name="Google Shape;86;p17"/>
          <p:cNvSpPr txBox="1"/>
          <p:nvPr/>
        </p:nvSpPr>
        <p:spPr>
          <a:xfrm>
            <a:off x="5668249" y="1195524"/>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GPT-5.3-Codex ??</a:t>
            </a:r>
            <a:endParaRPr sz="1000">
              <a:latin typeface="Calibri"/>
              <a:ea typeface="Calibri"/>
              <a:cs typeface="Calibri"/>
              <a:sym typeface="Calibri"/>
            </a:endParaRPr>
          </a:p>
        </p:txBody>
      </p:sp>
      <p:graphicFrame>
        <p:nvGraphicFramePr>
          <p:cNvPr id="87" name="Google Shape;87;p17"/>
          <p:cNvGraphicFramePr/>
          <p:nvPr/>
        </p:nvGraphicFramePr>
        <p:xfrm>
          <a:off x="2993873" y="769248"/>
          <a:ext cx="3000000" cy="3000000"/>
        </p:xfrm>
        <a:graphic>
          <a:graphicData uri="http://schemas.openxmlformats.org/drawingml/2006/table">
            <a:tbl>
              <a:tblPr>
                <a:noFill/>
                <a:tableStyleId>{67F52509-D6FF-42E6-A50E-6B19E394C55B}</a:tableStyleId>
              </a:tblPr>
              <a:tblGrid>
                <a:gridCol w="247650">
                  <a:extLst>
                    <a:ext uri="{9D8B030D-6E8A-4147-A177-3AD203B41FA5}">
                      <a16:colId xmlns:a16="http://schemas.microsoft.com/office/drawing/2014/main" val="20000"/>
                    </a:ext>
                  </a:extLst>
                </a:gridCol>
                <a:gridCol w="1781175">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dola-seed-2.0-preview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kimi-k2.5-instant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qwen3.5-397b-a17b</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claude-opus-4-20250514-thinking-16k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gpt-5.2</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gpt-5.2-high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ernie-5.0-0110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8" name="Google Shape;88;p17"/>
          <p:cNvGraphicFramePr/>
          <p:nvPr/>
        </p:nvGraphicFramePr>
        <p:xfrm>
          <a:off x="185945" y="782292"/>
          <a:ext cx="3000000" cy="3000000"/>
        </p:xfrm>
        <a:graphic>
          <a:graphicData uri="http://schemas.openxmlformats.org/drawingml/2006/table">
            <a:tbl>
              <a:tblPr>
                <a:noFill/>
                <a:tableStyleId>{67F52509-D6FF-42E6-A50E-6B19E394C55B}</a:tableStyleId>
              </a:tblPr>
              <a:tblGrid>
                <a:gridCol w="247650">
                  <a:extLst>
                    <a:ext uri="{9D8B030D-6E8A-4147-A177-3AD203B41FA5}">
                      <a16:colId xmlns:a16="http://schemas.microsoft.com/office/drawing/2014/main" val="20000"/>
                    </a:ext>
                  </a:extLst>
                </a:gridCol>
                <a:gridCol w="1781175">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dola-seed-2.0-preview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gpt-5.1-high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glm-5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ernie-5.0-0110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qwen3.5-397b-a17b</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gemini-2.5-pro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ernie-5.0-preview-1203</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8"/>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94" name="Google Shape;94;p18"/>
          <p:cNvSpPr txBox="1"/>
          <p:nvPr/>
        </p:nvSpPr>
        <p:spPr>
          <a:xfrm>
            <a:off x="55075" y="496650"/>
            <a:ext cx="43926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acquired Promptfoo</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startup specializing in security and testing for AI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https://github.com/promptfoo/promptfoo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https://www.promptfoo.dev</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agents are vulnerable to prompt injection,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Promptfoo allows developers to run automated red-teaming and vulnerability tests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allows OpenAI to offer built-in compliance, auditing, and security to cautious corporate clients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Promptfoo is 2 years old - and is already used by over 25% of Fortune 500 companies and has a community of 125K developers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https://www.youtube.com/watch?v=E8UObj_R2mM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95" name="Google Shape;95;p18"/>
          <p:cNvPicPr preferRelativeResize="0"/>
          <p:nvPr/>
        </p:nvPicPr>
        <p:blipFill>
          <a:blip r:embed="rId6">
            <a:alphaModFix/>
          </a:blip>
          <a:stretch>
            <a:fillRect/>
          </a:stretch>
        </p:blipFill>
        <p:spPr>
          <a:xfrm>
            <a:off x="4813872" y="496650"/>
            <a:ext cx="3952875" cy="1152525"/>
          </a:xfrm>
          <a:prstGeom prst="rect">
            <a:avLst/>
          </a:prstGeom>
          <a:noFill/>
          <a:ln w="9525" cap="flat" cmpd="sng">
            <a:solidFill>
              <a:srgbClr val="FF0000"/>
            </a:solidFill>
            <a:prstDash val="solid"/>
            <a:round/>
            <a:headEnd type="none" w="sm" len="sm"/>
            <a:tailEnd type="none" w="sm" len="sm"/>
          </a:ln>
        </p:spPr>
      </p:pic>
      <p:sp>
        <p:nvSpPr>
          <p:cNvPr id="96" name="Google Shape;96;p18"/>
          <p:cNvSpPr txBox="1"/>
          <p:nvPr/>
        </p:nvSpPr>
        <p:spPr>
          <a:xfrm>
            <a:off x="55075" y="2838250"/>
            <a:ext cx="43926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LeCun's AMI raises $1B</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new company, </a:t>
            </a:r>
            <a:r>
              <a:rPr lang="en" sz="1200" b="1">
                <a:solidFill>
                  <a:srgbClr val="FF0000"/>
                </a:solidFill>
                <a:latin typeface="Calibri"/>
                <a:ea typeface="Calibri"/>
                <a:cs typeface="Calibri"/>
                <a:sym typeface="Calibri"/>
              </a:rPr>
              <a:t>Advanced Machine Intelligence</a:t>
            </a:r>
            <a:r>
              <a:rPr lang="en" sz="1200">
                <a:solidFill>
                  <a:schemeClr val="dk1"/>
                </a:solidFill>
                <a:latin typeface="Calibri"/>
                <a:ea typeface="Calibri"/>
                <a:cs typeface="Calibri"/>
                <a:sym typeface="Calibri"/>
              </a:rPr>
              <a:t>, will build "</a:t>
            </a:r>
            <a:r>
              <a:rPr lang="en" sz="1200" b="1">
                <a:solidFill>
                  <a:srgbClr val="3C78D8"/>
                </a:solidFill>
                <a:latin typeface="Calibri"/>
                <a:ea typeface="Calibri"/>
                <a:cs typeface="Calibri"/>
                <a:sym typeface="Calibri"/>
              </a:rPr>
              <a:t>world models</a:t>
            </a:r>
            <a:r>
              <a:rPr lang="en" sz="1200">
                <a:solidFill>
                  <a:schemeClr val="dk1"/>
                </a:solidFill>
                <a:latin typeface="Calibri"/>
                <a:ea typeface="Calibri"/>
                <a:cs typeface="Calibri"/>
                <a:sym typeface="Calibri"/>
              </a:rPr>
              <a:t>" that understand the physical world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is a different approach than current text-based AI.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Investors include Jeff Bezos and Nvidia.</a:t>
            </a:r>
            <a:endParaRPr sz="1200">
              <a:solidFill>
                <a:schemeClr val="dk1"/>
              </a:solidFill>
              <a:latin typeface="Calibri"/>
              <a:ea typeface="Calibri"/>
              <a:cs typeface="Calibri"/>
              <a:sym typeface="Calibri"/>
            </a:endParaRPr>
          </a:p>
        </p:txBody>
      </p:sp>
      <p:pic>
        <p:nvPicPr>
          <p:cNvPr id="97" name="Google Shape;97;p1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813875" y="2222804"/>
            <a:ext cx="3114925" cy="15574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9"/>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6.43K subscribers, 273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3. </a:t>
            </a: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03" name="Google Shape;103;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740700" y="119306"/>
            <a:ext cx="3302049" cy="49181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09" name="Google Shape;109;p20"/>
          <p:cNvSpPr txBox="1"/>
          <p:nvPr/>
        </p:nvSpPr>
        <p:spPr>
          <a:xfrm>
            <a:off x="55075" y="496650"/>
            <a:ext cx="43926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Perplexity "Computer" Agentic Workflows in your browser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lets you run multi-step automated tasks (research, compare options, generate docs, send email, etc.) in one workflow instead of doing everything manually in chats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need to upgrade to "Max" subscription to get access to it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will also get "Model Council" - consensus-based approach, running multiple top-tier models (like GPT, Claude, and Gemini) simultaneously, then compare their answers to find agreement, which significantly reduces "hallucinations" and provides more reliable results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Coding Sub-Agent - using GPT-5.3 Codex, can write, run,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debug code - and push to GitHub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Includes GPT-5.4 &amp; GPT-5.4 Thinking (for planning)</a:t>
            </a:r>
            <a:endParaRPr sz="1200">
              <a:solidFill>
                <a:schemeClr val="dk1"/>
              </a:solidFill>
              <a:latin typeface="Calibri"/>
              <a:ea typeface="Calibri"/>
              <a:cs typeface="Calibri"/>
              <a:sym typeface="Calibri"/>
            </a:endParaRPr>
          </a:p>
        </p:txBody>
      </p:sp>
      <p:sp>
        <p:nvSpPr>
          <p:cNvPr id="110" name="Google Shape;110;p20"/>
          <p:cNvSpPr txBox="1"/>
          <p:nvPr/>
        </p:nvSpPr>
        <p:spPr>
          <a:xfrm>
            <a:off x="55075" y="2992582"/>
            <a:ext cx="43926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Devon 2.2 - a fully autonomous AI software engineer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writes, tests, debugs, and delivers complete code without human intervention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operates x3 times faster than previous versions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self-verifies work before delivery</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https://devin.ai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https://cognition.ai/blog/introducing-devin-2-2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https://docs.devin.ai/release-notes/overview</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https://www.youtube.com/watch?v=Kr_cS795M4o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https://www.youtube.com/watch?v=a0yaKgxLVdQ</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11" name="Google Shape;111;p2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729750" y="607549"/>
            <a:ext cx="3907050" cy="2197699"/>
          </a:xfrm>
          <a:prstGeom prst="rect">
            <a:avLst/>
          </a:prstGeom>
          <a:noFill/>
          <a:ln w="9525" cap="flat" cmpd="sng">
            <a:solidFill>
              <a:srgbClr val="FF0000"/>
            </a:solidFill>
            <a:prstDash val="solid"/>
            <a:round/>
            <a:headEnd type="none" w="sm" len="sm"/>
            <a:tailEnd type="none" w="sm" len="sm"/>
          </a:ln>
        </p:spPr>
      </p:pic>
      <p:pic>
        <p:nvPicPr>
          <p:cNvPr id="112" name="Google Shape;112;p20"/>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729750" y="2928975"/>
            <a:ext cx="2873129" cy="1698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1"/>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18" name="Google Shape;118;p21"/>
          <p:cNvSpPr txBox="1"/>
          <p:nvPr/>
        </p:nvSpPr>
        <p:spPr>
          <a:xfrm>
            <a:off x="55075" y="496650"/>
            <a:ext cx="43926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DataBricks KARL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KARL - Knowledge Agents via Reinforcement Learning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From Static </a:t>
            </a:r>
            <a:r>
              <a:rPr lang="en" sz="1200" u="sng">
                <a:solidFill>
                  <a:schemeClr val="hlink"/>
                </a:solidFill>
                <a:latin typeface="Calibri"/>
                <a:ea typeface="Calibri"/>
                <a:cs typeface="Calibri"/>
                <a:sym typeface="Calibri"/>
                <a:hlinkClick r:id="rId3"/>
              </a:rPr>
              <a:t>Skill.md</a:t>
            </a:r>
            <a:r>
              <a:rPr lang="en" sz="1200">
                <a:solidFill>
                  <a:schemeClr val="dk1"/>
                </a:solidFill>
                <a:latin typeface="Calibri"/>
                <a:ea typeface="Calibri"/>
                <a:cs typeface="Calibri"/>
                <a:sym typeface="Calibri"/>
              </a:rPr>
              <a:t> to Reinforcement Learning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System enerates its own synthetic training problems based on a set of documents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 agent attempts to solve these problems by searching documents. It records its "trajectory"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Only the most successful trajectories are used to update the model's weights. This "bakes" the search intelligence directly into the AI's neural network rather than relying on a prompt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KARL uses parallel reasoning attempts (multiple "rollouts") to verify and aggregate the best possible answer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KARL reportedly outperforms larger models like Claude 4.6 and GPT-5.2 in specific knowledge-retrieval tasks while remaining cheaper and faster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Intelligence gained through KARL can be distilled into smaller, "student" models, significantly boosting their performance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https://www.youtube.com/watch?v=OGT3NoFo-qg</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https://arxiv.org/abs/2603.05218</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https://www.databricks.com/blog/meet-karl-faster-agent-enterprise-knowledge-powered-custom-rl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19" name="Google Shape;119;p21"/>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529425" y="152400"/>
            <a:ext cx="1298776" cy="1811751"/>
          </a:xfrm>
          <a:prstGeom prst="rect">
            <a:avLst/>
          </a:prstGeom>
          <a:noFill/>
          <a:ln w="9525" cap="flat" cmpd="sng">
            <a:solidFill>
              <a:srgbClr val="FF0000"/>
            </a:solidFill>
            <a:prstDash val="solid"/>
            <a:round/>
            <a:headEnd type="none" w="sm" len="sm"/>
            <a:tailEnd type="none" w="sm" len="sm"/>
          </a:ln>
        </p:spPr>
      </p:pic>
      <p:pic>
        <p:nvPicPr>
          <p:cNvPr id="120" name="Google Shape;120;p21"/>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4529425" y="2020672"/>
            <a:ext cx="3447849" cy="30210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Updates</a:t>
            </a:r>
            <a:endParaRPr sz="2000" b="1">
              <a:solidFill>
                <a:schemeClr val="dk1"/>
              </a:solidFill>
              <a:latin typeface="Calibri"/>
              <a:ea typeface="Calibri"/>
              <a:cs typeface="Calibri"/>
              <a:sym typeface="Calibri"/>
            </a:endParaRPr>
          </a:p>
        </p:txBody>
      </p:sp>
      <p:sp>
        <p:nvSpPr>
          <p:cNvPr id="126" name="Google Shape;126;p22"/>
          <p:cNvSpPr txBox="1"/>
          <p:nvPr/>
        </p:nvSpPr>
        <p:spPr>
          <a:xfrm>
            <a:off x="43825" y="398725"/>
            <a:ext cx="45204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Agents Making Money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https://www.youtube.com/watch?v=LCkGVCfmtzo</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Each agent received $1,000</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Clawculus leads with $79.68 profit using calculated strategies and prediction markets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YOLObster created five arcade games and NFTs - but barely broke even, while cautious Clawtious made minimal moves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agents built websites, automated social media accounts, and attempted various monetization strategies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experiment costs approximately $530 monthly to run, including $400 for Claude API credits, server hosting, and social media API fees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Human oversight is necessary as agents often create low-value content and face limitations with crypto payments and API access requirements</a:t>
            </a:r>
            <a:endParaRPr sz="1200">
              <a:latin typeface="Calibri"/>
              <a:ea typeface="Calibri"/>
              <a:cs typeface="Calibri"/>
              <a:sym typeface="Calibri"/>
            </a:endParaRPr>
          </a:p>
        </p:txBody>
      </p:sp>
      <p:pic>
        <p:nvPicPr>
          <p:cNvPr id="127" name="Google Shape;127;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27425" y="398725"/>
            <a:ext cx="3690200" cy="19890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23"/>
          <p:cNvSpPr txBox="1"/>
          <p:nvPr/>
        </p:nvSpPr>
        <p:spPr>
          <a:xfrm>
            <a:off x="55075" y="63650"/>
            <a:ext cx="4392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33" name="Google Shape;133;p23"/>
          <p:cNvSpPr txBox="1"/>
          <p:nvPr/>
        </p:nvSpPr>
        <p:spPr>
          <a:xfrm>
            <a:off x="107725" y="1416950"/>
            <a:ext cx="43401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Symphony Coding Tracker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Symphony autonomously completes coding tasks by monitoring issue trackers and launching AI agents to work on ready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creates isolated workspaces, requires proof of work through testing, and manages the entire development process from task assignment to code merging</a:t>
            </a:r>
            <a:endParaRPr sz="1200">
              <a:solidFill>
                <a:schemeClr val="dk1"/>
              </a:solidFill>
              <a:latin typeface="Calibri"/>
              <a:ea typeface="Calibri"/>
              <a:cs typeface="Calibri"/>
              <a:sym typeface="Calibri"/>
            </a:endParaRPr>
          </a:p>
        </p:txBody>
      </p:sp>
      <p:sp>
        <p:nvSpPr>
          <p:cNvPr id="134" name="Google Shape;134;p23"/>
          <p:cNvSpPr txBox="1"/>
          <p:nvPr/>
        </p:nvSpPr>
        <p:spPr>
          <a:xfrm>
            <a:off x="107725" y="524900"/>
            <a:ext cx="43401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Phi-4 Reasoning Vision 15B</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compact multimodal AI model that combines image understanding with text reasoning capabilities, focusing on efficiency</a:t>
            </a:r>
            <a:endParaRPr sz="1200">
              <a:solidFill>
                <a:schemeClr val="dk1"/>
              </a:solidFill>
              <a:latin typeface="Calibri"/>
              <a:ea typeface="Calibri"/>
              <a:cs typeface="Calibri"/>
              <a:sym typeface="Calibri"/>
            </a:endParaRPr>
          </a:p>
        </p:txBody>
      </p:sp>
      <p:sp>
        <p:nvSpPr>
          <p:cNvPr id="135" name="Google Shape;135;p23"/>
          <p:cNvSpPr txBox="1"/>
          <p:nvPr/>
        </p:nvSpPr>
        <p:spPr>
          <a:xfrm>
            <a:off x="107725" y="2678600"/>
            <a:ext cx="43401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Xiaomi launched MiClaw</a:t>
            </a:r>
            <a:r>
              <a:rPr lang="en" sz="1200">
                <a:solidFill>
                  <a:schemeClr val="dk1"/>
                </a:solidFill>
                <a:latin typeface="Calibri"/>
                <a:ea typeface="Calibri"/>
                <a:cs typeface="Calibri"/>
                <a:sym typeface="Calibri"/>
              </a:rPr>
              <a:t>, aAI agent integrated into phone OS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can control apps, smart home devices, and automate complex multi-step tasks using natural language commands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processes data locally for privacy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connects to over 1 Billion Xiaomi ecosystem devices</a:t>
            </a:r>
            <a:endParaRPr sz="1200">
              <a:solidFill>
                <a:schemeClr val="dk1"/>
              </a:solidFill>
              <a:latin typeface="Calibri"/>
              <a:ea typeface="Calibri"/>
              <a:cs typeface="Calibri"/>
              <a:sym typeface="Calibri"/>
            </a:endParaRPr>
          </a:p>
        </p:txBody>
      </p:sp>
      <p:pic>
        <p:nvPicPr>
          <p:cNvPr id="136" name="Google Shape;136;p23"/>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00225" y="63650"/>
            <a:ext cx="2445076" cy="1201000"/>
          </a:xfrm>
          <a:prstGeom prst="rect">
            <a:avLst/>
          </a:prstGeom>
          <a:noFill/>
          <a:ln w="9525" cap="flat" cmpd="sng">
            <a:solidFill>
              <a:srgbClr val="FF0000"/>
            </a:solidFill>
            <a:prstDash val="solid"/>
            <a:round/>
            <a:headEnd type="none" w="sm" len="sm"/>
            <a:tailEnd type="none" w="sm" len="sm"/>
          </a:ln>
        </p:spPr>
      </p:pic>
      <p:pic>
        <p:nvPicPr>
          <p:cNvPr id="137" name="Google Shape;137;p2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00225" y="1416950"/>
            <a:ext cx="2608985" cy="1126800"/>
          </a:xfrm>
          <a:prstGeom prst="rect">
            <a:avLst/>
          </a:prstGeom>
          <a:noFill/>
          <a:ln w="9525" cap="flat" cmpd="sng">
            <a:solidFill>
              <a:srgbClr val="FF0000"/>
            </a:solidFill>
            <a:prstDash val="solid"/>
            <a:round/>
            <a:headEnd type="none" w="sm" len="sm"/>
            <a:tailEnd type="none" w="sm" len="sm"/>
          </a:ln>
        </p:spPr>
      </p:pic>
      <p:pic>
        <p:nvPicPr>
          <p:cNvPr id="138" name="Google Shape;138;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00225" y="2696050"/>
            <a:ext cx="4189257" cy="8633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24"/>
          <p:cNvSpPr txBox="1"/>
          <p:nvPr/>
        </p:nvSpPr>
        <p:spPr>
          <a:xfrm>
            <a:off x="55075" y="63650"/>
            <a:ext cx="3043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Yuan3.0 Ultra Multimodal</a:t>
            </a:r>
            <a:endParaRPr sz="2000" b="1">
              <a:solidFill>
                <a:schemeClr val="dk1"/>
              </a:solidFill>
              <a:latin typeface="Calibri"/>
              <a:ea typeface="Calibri"/>
              <a:cs typeface="Calibri"/>
              <a:sym typeface="Calibri"/>
            </a:endParaRPr>
          </a:p>
        </p:txBody>
      </p:sp>
      <p:sp>
        <p:nvSpPr>
          <p:cNvPr id="144" name="Google Shape;144;p24"/>
          <p:cNvSpPr txBox="1"/>
          <p:nvPr/>
        </p:nvSpPr>
        <p:spPr>
          <a:xfrm>
            <a:off x="108933" y="633708"/>
            <a:ext cx="44079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Yuan3.0 Ultra Multimodal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China's Yuan Lab AI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1 Trillion params model</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Comparable with GPT, Claude, Gemini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 Source</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https://github.com/Yuan-lab-LLM/Yuan3.0-Ultra</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https://arxiv.org/abs/2601.14327</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https://arxiv.org/abs/2601.01718</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https://yuanlab.ai</a:t>
            </a:r>
            <a:r>
              <a:rPr lang="en" sz="900">
                <a:latin typeface="Calibri"/>
                <a:ea typeface="Calibri"/>
                <a:cs typeface="Calibri"/>
                <a:sym typeface="Calibri"/>
              </a:rPr>
              <a:t> </a:t>
            </a:r>
            <a:endParaRPr sz="900">
              <a:latin typeface="Calibri"/>
              <a:ea typeface="Calibri"/>
              <a:cs typeface="Calibri"/>
              <a:sym typeface="Calibri"/>
            </a:endParaRPr>
          </a:p>
        </p:txBody>
      </p:sp>
      <p:pic>
        <p:nvPicPr>
          <p:cNvPr id="145" name="Google Shape;145;p2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120183" y="2375708"/>
            <a:ext cx="4396652" cy="2413026"/>
          </a:xfrm>
          <a:prstGeom prst="rect">
            <a:avLst/>
          </a:prstGeom>
          <a:noFill/>
          <a:ln w="9525" cap="flat" cmpd="sng">
            <a:solidFill>
              <a:srgbClr val="FF0000"/>
            </a:solidFill>
            <a:prstDash val="solid"/>
            <a:round/>
            <a:headEnd type="none" w="sm" len="sm"/>
            <a:tailEnd type="none" w="sm" len="sm"/>
          </a:ln>
        </p:spPr>
      </p:pic>
      <p:pic>
        <p:nvPicPr>
          <p:cNvPr id="146" name="Google Shape;146;p24"/>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515626" y="666938"/>
            <a:ext cx="2807225" cy="1403613"/>
          </a:xfrm>
          <a:prstGeom prst="rect">
            <a:avLst/>
          </a:prstGeom>
          <a:noFill/>
          <a:ln w="9525" cap="flat" cmpd="sng">
            <a:solidFill>
              <a:srgbClr val="FF0000"/>
            </a:solidFill>
            <a:prstDash val="solid"/>
            <a:round/>
            <a:headEnd type="none" w="sm" len="sm"/>
            <a:tailEnd type="none" w="sm" len="sm"/>
          </a:ln>
        </p:spPr>
      </p:pic>
      <p:pic>
        <p:nvPicPr>
          <p:cNvPr id="147" name="Google Shape;147;p24"/>
          <p:cNvPicPr preferRelativeResize="0"/>
          <p:nvPr/>
        </p:nvPicPr>
        <p:blipFill rotWithShape="1">
          <a:blip r:embed="rId9" cstate="email">
            <a:alphaModFix/>
            <a:extLst>
              <a:ext uri="{28A0092B-C50C-407E-A947-70E740481C1C}">
                <a14:useLocalDpi xmlns:a14="http://schemas.microsoft.com/office/drawing/2010/main"/>
              </a:ext>
            </a:extLst>
          </a:blip>
          <a:srcRect/>
          <a:stretch/>
        </p:blipFill>
        <p:spPr>
          <a:xfrm>
            <a:off x="5515625" y="3007975"/>
            <a:ext cx="2807225" cy="12630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25"/>
          <p:cNvSpPr txBox="1"/>
          <p:nvPr/>
        </p:nvSpPr>
        <p:spPr>
          <a:xfrm>
            <a:off x="55075" y="68225"/>
            <a:ext cx="2892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Scheduling</a:t>
            </a:r>
            <a:endParaRPr sz="2000" b="1">
              <a:solidFill>
                <a:schemeClr val="dk1"/>
              </a:solidFill>
              <a:latin typeface="Calibri"/>
              <a:ea typeface="Calibri"/>
              <a:cs typeface="Calibri"/>
              <a:sym typeface="Calibri"/>
            </a:endParaRPr>
          </a:p>
        </p:txBody>
      </p:sp>
      <p:sp>
        <p:nvSpPr>
          <p:cNvPr id="153" name="Google Shape;153;p25"/>
          <p:cNvSpPr txBox="1"/>
          <p:nvPr/>
        </p:nvSpPr>
        <p:spPr>
          <a:xfrm>
            <a:off x="4704925" y="68234"/>
            <a:ext cx="43665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scheduled tasks </a:t>
            </a:r>
            <a:endParaRPr sz="1200" b="1">
              <a:solidFill>
                <a:srgbClr val="FF0000"/>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The first method works within Claude Desktop's co-work tab, running in a VM sandbox with access to external connectors but limited local file access.</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The second runs in Claude Desktop's code tab with full local system access including files, terminal, and git.</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The third uses the /loop slash command in Claude Code CLI for short-term tasks up to 3 days, tied to specific sessions.</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The fourth method leverages GitHub Actions for repository-focused automation that doesn't require keeping your computer on.</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Key limitations include most methods requiring the desktop app to remain open, potential permission prompts, and stateless execution unless you implement memory through JSON files.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choice depends on your time horizon and task type: </a:t>
            </a:r>
            <a:br>
              <a:rPr lang="en" sz="1200">
                <a:latin typeface="Calibri"/>
                <a:ea typeface="Calibri"/>
                <a:cs typeface="Calibri"/>
                <a:sym typeface="Calibri"/>
              </a:rPr>
            </a:br>
            <a:r>
              <a:rPr lang="en" sz="1200">
                <a:latin typeface="Calibri"/>
                <a:ea typeface="Calibri"/>
                <a:cs typeface="Calibri"/>
                <a:sym typeface="Calibri"/>
              </a:rPr>
              <a:t>.. use /loop for short development tasks, </a:t>
            </a:r>
            <a:br>
              <a:rPr lang="en" sz="1200">
                <a:latin typeface="Calibri"/>
                <a:ea typeface="Calibri"/>
                <a:cs typeface="Calibri"/>
                <a:sym typeface="Calibri"/>
              </a:rPr>
            </a:br>
            <a:r>
              <a:rPr lang="en" sz="1200">
                <a:latin typeface="Calibri"/>
                <a:ea typeface="Calibri"/>
                <a:cs typeface="Calibri"/>
                <a:sym typeface="Calibri"/>
              </a:rPr>
              <a:t>.. desktop scheduling for long-running persistent automation, </a:t>
            </a:r>
            <a:br>
              <a:rPr lang="en" sz="1200">
                <a:latin typeface="Calibri"/>
                <a:ea typeface="Calibri"/>
                <a:cs typeface="Calibri"/>
                <a:sym typeface="Calibri"/>
              </a:rPr>
            </a:br>
            <a:r>
              <a:rPr lang="en" sz="1200">
                <a:latin typeface="Calibri"/>
                <a:ea typeface="Calibri"/>
                <a:cs typeface="Calibri"/>
                <a:sym typeface="Calibri"/>
              </a:rPr>
              <a:t>.. and consider access requirements when choosing </a:t>
            </a:r>
            <a:br>
              <a:rPr lang="en" sz="1200">
                <a:latin typeface="Calibri"/>
                <a:ea typeface="Calibri"/>
                <a:cs typeface="Calibri"/>
                <a:sym typeface="Calibri"/>
              </a:rPr>
            </a:br>
            <a:r>
              <a:rPr lang="en" sz="1200">
                <a:latin typeface="Calibri"/>
                <a:ea typeface="Calibri"/>
                <a:cs typeface="Calibri"/>
                <a:sym typeface="Calibri"/>
              </a:rPr>
              <a:t>   between co-work and code tabs</a:t>
            </a:r>
            <a:endParaRPr sz="1200">
              <a:latin typeface="Calibri"/>
              <a:ea typeface="Calibri"/>
              <a:cs typeface="Calibri"/>
              <a:sym typeface="Calibri"/>
            </a:endParaRPr>
          </a:p>
        </p:txBody>
      </p:sp>
      <p:sp>
        <p:nvSpPr>
          <p:cNvPr id="154" name="Google Shape;154;p25"/>
          <p:cNvSpPr txBox="1"/>
          <p:nvPr/>
        </p:nvSpPr>
        <p:spPr>
          <a:xfrm>
            <a:off x="80650" y="471909"/>
            <a:ext cx="4366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Agent /loop command to schedule tasks within session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Running every 10 minutes by default for up to 3 days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Users can set reminders and recurring tasks using natural language, such as "remind me at 10:23 AM" or "check my ClickUp every 10 minutes."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Limitation - the features works only within the same session. It requires the terminal window and computer to stay open, doesn't survive restarts, and expires after 3 days.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feature works across VS Code, terminal, and desktop app</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Claude Code Desktop actually offers more powerful scheduling that survives restarts and runs indefinitely, though it still requires the desktop app open.</a:t>
            </a:r>
            <a:endParaRPr sz="1200">
              <a:latin typeface="Calibri"/>
              <a:ea typeface="Calibri"/>
              <a:cs typeface="Calibri"/>
              <a:sym typeface="Calibri"/>
            </a:endParaRPr>
          </a:p>
        </p:txBody>
      </p:sp>
      <p:sp>
        <p:nvSpPr>
          <p:cNvPr id="155" name="Google Shape;155;p25"/>
          <p:cNvSpPr txBox="1"/>
          <p:nvPr/>
        </p:nvSpPr>
        <p:spPr>
          <a:xfrm>
            <a:off x="80650" y="2784184"/>
            <a:ext cx="4366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Super Nested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 nested Claude Code workflow in tmux on macOS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Coordinates multiple terminals for parallel AI-assisted development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 central controller assigns subtasks across terminals, letting developers state high-level goals while Claude manages planning and execution steps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Examples include a multi-terminal 3D galaxy project in 3JS and visualizing micro GPT training with dedicated panes for backend, charts, and dashboards.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system boosts productivity but currently depends on macOS, tmux, and a non-trivial setup.</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https://www.geeky-gadgets.com/nested-claude-code-tmux/</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6"/>
          <p:cNvSpPr txBox="1"/>
          <p:nvPr/>
        </p:nvSpPr>
        <p:spPr>
          <a:xfrm>
            <a:off x="55075" y="63650"/>
            <a:ext cx="4471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 Tool Search &amp; Calling</a:t>
            </a:r>
            <a:endParaRPr sz="2000" b="1">
              <a:solidFill>
                <a:schemeClr val="dk1"/>
              </a:solidFill>
              <a:latin typeface="Calibri"/>
              <a:ea typeface="Calibri"/>
              <a:cs typeface="Calibri"/>
              <a:sym typeface="Calibri"/>
            </a:endParaRPr>
          </a:p>
        </p:txBody>
      </p:sp>
      <p:sp>
        <p:nvSpPr>
          <p:cNvPr id="161" name="Google Shape;161;p26"/>
          <p:cNvSpPr txBox="1"/>
          <p:nvPr/>
        </p:nvSpPr>
        <p:spPr>
          <a:xfrm>
            <a:off x="159800" y="429528"/>
            <a:ext cx="43665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Use Claude Code to automate model training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https://www.youtube.com/watch?v=jP6tN9JTtxE</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Automate machine learning model training using three tools working together: Claude Code as an AI agent, HuggingFace Jobs for cloud GPU compute, and Tracko for experiment tracking.</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presenter modifies Andre Karpathy's nano GPT repository to train a GPT2-level model, integrating Tracko to log metrics and generate alerts when validation loss increases.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Claude Code acts as an autonomous ML researcher, systematically testing different learning rates starting from 1.0 and automatically terminating unstable training runs based on Tracko alerts.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system successfully found an optimal learning rate of 0.1 after canceling higher learning rate experiments that showed instability.</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This approach enables efficient autonomous hyperparameter optimization while minimizing cloud compute costs by quickly terminating unsuccessful experiments.</a:t>
            </a:r>
            <a:endParaRPr sz="1200">
              <a:latin typeface="Calibri"/>
              <a:ea typeface="Calibri"/>
              <a:cs typeface="Calibri"/>
              <a:sym typeface="Calibri"/>
            </a:endParaRPr>
          </a:p>
        </p:txBody>
      </p:sp>
      <p:sp>
        <p:nvSpPr>
          <p:cNvPr id="162" name="Google Shape;162;p26"/>
          <p:cNvSpPr txBox="1"/>
          <p:nvPr/>
        </p:nvSpPr>
        <p:spPr>
          <a:xfrm>
            <a:off x="4689343" y="48980"/>
            <a:ext cx="43665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tool search and calling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Reduce token usage by up to 85%</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https://www.youtube.com/watch?v=R7OCrqyGMeY</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Tool search allows agents to discover and load tools on-demand rather than loading everything upfront, significantly reducing context usage.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Programmatic tool calling enables agents to write and execute Python scripts in sandboxes to handle complex multi-step tasks more efficiently than traditional sequential tool calls.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video demonstrates these patterns in a custom system using Qwen 3.5 model, showing how these aren't exclusive to Claude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system uses Docker containers for secure code execution with a tool bridge architecture that prevents direct internet access while enabling communication with external services through authenticated calls.</a:t>
            </a:r>
            <a:endParaRPr sz="1200">
              <a:latin typeface="Calibri"/>
              <a:ea typeface="Calibri"/>
              <a:cs typeface="Calibri"/>
              <a:sym typeface="Calibri"/>
            </a:endParaRPr>
          </a:p>
        </p:txBody>
      </p:sp>
      <p:sp>
        <p:nvSpPr>
          <p:cNvPr id="163" name="Google Shape;163;p26"/>
          <p:cNvSpPr txBox="1"/>
          <p:nvPr/>
        </p:nvSpPr>
        <p:spPr>
          <a:xfrm>
            <a:off x="159800" y="3443206"/>
            <a:ext cx="43665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Concentrate on Building Skills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https://www.youtube.com/watch?v=wqH1hTkA6qg</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Skills are markdown instruction files to provide expertise on-demand, functioning like employee playbooks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Skills are modular and "progressively disclosed" - Claude only loads relevant skills when needed.</a:t>
            </a:r>
            <a:endParaRPr sz="1200">
              <a:latin typeface="Calibri"/>
              <a:ea typeface="Calibri"/>
              <a:cs typeface="Calibri"/>
              <a:sym typeface="Calibri"/>
            </a:endParaRPr>
          </a:p>
        </p:txBody>
      </p:sp>
      <p:sp>
        <p:nvSpPr>
          <p:cNvPr id="164" name="Google Shape;164;p26"/>
          <p:cNvSpPr txBox="1"/>
          <p:nvPr/>
        </p:nvSpPr>
        <p:spPr>
          <a:xfrm>
            <a:off x="4689343" y="2859455"/>
            <a:ext cx="4366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Common Mistakes when Using Skills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First Mistake - installing too many skills (50-200) which creates noise in Claude's 15,000 chars system prompt budget and leads to ambiguous skill selection. Solution - use only 20-30 specific, well-built skills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Second Mistake - installing generic marketplace skills without customization, resulting in generic output. Solution - add reference files with brand guidelines and examples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Third Mistake - cram everything into a single skill.md file instead of using proper folder structure with separate reference files, making debugging difficult and wasting context tokens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https://www.youtube.com/watch?v=CXeCIgc982I</a:t>
            </a:r>
            <a:r>
              <a:rPr lang="en" sz="1200">
                <a:latin typeface="Calibri"/>
                <a:ea typeface="Calibri"/>
                <a:cs typeface="Calibri"/>
                <a:sym typeface="Calibri"/>
              </a:rPr>
              <a:t> </a:t>
            </a:r>
            <a:endParaRPr sz="1200">
              <a:latin typeface="Calibri"/>
              <a:ea typeface="Calibri"/>
              <a:cs typeface="Calibri"/>
              <a:sym typeface="Calibri"/>
            </a:endParaRPr>
          </a:p>
        </p:txBody>
      </p:sp>
      <p:sp>
        <p:nvSpPr>
          <p:cNvPr id="165" name="Google Shape;165;p26"/>
          <p:cNvSpPr txBox="1"/>
          <p:nvPr/>
        </p:nvSpPr>
        <p:spPr>
          <a:xfrm>
            <a:off x="159800" y="4609775"/>
            <a:ext cx="4366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Prompt Engineering =&gt; Context Engineering =&gt; Workflows (Skill Creator)</a:t>
            </a:r>
            <a:endParaRPr sz="1200" b="1">
              <a:solidFill>
                <a:srgbClr val="3C78D8"/>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27"/>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CoWork</a:t>
            </a:r>
            <a:endParaRPr sz="2000" b="1">
              <a:solidFill>
                <a:schemeClr val="dk1"/>
              </a:solidFill>
              <a:latin typeface="Calibri"/>
              <a:ea typeface="Calibri"/>
              <a:cs typeface="Calibri"/>
              <a:sym typeface="Calibri"/>
            </a:endParaRPr>
          </a:p>
        </p:txBody>
      </p:sp>
      <p:sp>
        <p:nvSpPr>
          <p:cNvPr id="171" name="Google Shape;171;p27"/>
          <p:cNvSpPr txBox="1"/>
          <p:nvPr/>
        </p:nvSpPr>
        <p:spPr>
          <a:xfrm>
            <a:off x="159800" y="390061"/>
            <a:ext cx="4366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Use Claude Cowork as a Virtual Employee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https://www.youtube.com/watch?v=f95-O8C88uw</a:t>
            </a:r>
            <a:r>
              <a:rPr lang="en" sz="1200">
                <a:latin typeface="Calibri"/>
                <a:ea typeface="Calibri"/>
                <a:cs typeface="Calibri"/>
                <a:sym typeface="Calibri"/>
              </a:rPr>
              <a:t> </a:t>
            </a:r>
            <a:endParaRPr sz="1200">
              <a:latin typeface="Calibri"/>
              <a:ea typeface="Calibri"/>
              <a:cs typeface="Calibri"/>
              <a:sym typeface="Calibri"/>
            </a:endParaRPr>
          </a:p>
          <a:p>
            <a:pPr marL="514350" marR="0" lvl="0" indent="-19050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Import (transferring memory from ChatGPT to Claude)</a:t>
            </a:r>
            <a:endParaRPr sz="1200">
              <a:solidFill>
                <a:srgbClr val="3C78D8"/>
              </a:solidFill>
              <a:latin typeface="Calibri"/>
              <a:ea typeface="Calibri"/>
              <a:cs typeface="Calibri"/>
              <a:sym typeface="Calibri"/>
            </a:endParaRPr>
          </a:p>
          <a:p>
            <a:pPr marL="514350" marR="0" lvl="0" indent="-19050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Foundation (setting up goal files and business context)</a:t>
            </a:r>
            <a:endParaRPr sz="1200">
              <a:solidFill>
                <a:srgbClr val="3C78D8"/>
              </a:solidFill>
              <a:latin typeface="Calibri"/>
              <a:ea typeface="Calibri"/>
              <a:cs typeface="Calibri"/>
              <a:sym typeface="Calibri"/>
            </a:endParaRPr>
          </a:p>
          <a:p>
            <a:pPr marL="514350" marR="0" lvl="0" indent="-19050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Workflows (using pre-built plugins for different job functions like legal, marketing, and HR)</a:t>
            </a:r>
            <a:endParaRPr sz="1200">
              <a:solidFill>
                <a:srgbClr val="3C78D8"/>
              </a:solidFill>
              <a:latin typeface="Calibri"/>
              <a:ea typeface="Calibri"/>
              <a:cs typeface="Calibri"/>
              <a:sym typeface="Calibri"/>
            </a:endParaRPr>
          </a:p>
          <a:p>
            <a:pPr marL="514350" marR="0" lvl="0" indent="-19050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Connect to Gmail, Google Calendar, Slack, ...</a:t>
            </a:r>
            <a:endParaRPr sz="1200">
              <a:solidFill>
                <a:srgbClr val="3C78D8"/>
              </a:solidFill>
              <a:latin typeface="Calibri"/>
              <a:ea typeface="Calibri"/>
              <a:cs typeface="Calibri"/>
              <a:sym typeface="Calibri"/>
            </a:endParaRPr>
          </a:p>
          <a:p>
            <a:pPr marL="514350" marR="0" lvl="0" indent="-190500" algn="l" rtl="0">
              <a:lnSpc>
                <a:spcPct val="100000"/>
              </a:lnSpc>
              <a:spcBef>
                <a:spcPts val="0"/>
              </a:spcBef>
              <a:spcAft>
                <a:spcPts val="0"/>
              </a:spcAft>
              <a:buClr>
                <a:srgbClr val="3C78D8"/>
              </a:buClr>
              <a:buSzPts val="1200"/>
              <a:buFont typeface="Calibri"/>
              <a:buAutoNum type="arabicPeriod"/>
            </a:pPr>
            <a:r>
              <a:rPr lang="en" sz="1200">
                <a:solidFill>
                  <a:srgbClr val="3C78D8"/>
                </a:solidFill>
                <a:latin typeface="Calibri"/>
                <a:ea typeface="Calibri"/>
                <a:cs typeface="Calibri"/>
                <a:sym typeface="Calibri"/>
              </a:rPr>
              <a:t>Scheduling tasks to run automatically</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File reading and editing, app integration, task/workflow  automation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Claude Co-work learns and improves over time</a:t>
            </a:r>
            <a:endParaRPr sz="1200">
              <a:latin typeface="Calibri"/>
              <a:ea typeface="Calibri"/>
              <a:cs typeface="Calibri"/>
              <a:sym typeface="Calibri"/>
            </a:endParaRPr>
          </a:p>
        </p:txBody>
      </p:sp>
      <p:pic>
        <p:nvPicPr>
          <p:cNvPr id="172" name="Google Shape;172;p2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88025" y="215926"/>
            <a:ext cx="3954346" cy="22243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28"/>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78" name="Google Shape;178;p28"/>
          <p:cNvSpPr txBox="1"/>
          <p:nvPr/>
        </p:nvSpPr>
        <p:spPr>
          <a:xfrm>
            <a:off x="109650" y="525411"/>
            <a:ext cx="43665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KiloClaw Cloud-hosted Alternative to OpenClaw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https://www.youtube.com/watch?v=Z9RaLpbPluQ</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KiloClaw makes deployment simple (60 sec)</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In Beta, free, one-click deployment, multiple AI models, scheduled tasks, and integration with Discord, Telegram, and Slack</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Good for non-technical users who want immediate functionality without dealing with servers or configuration files.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https://kilo.ai/kiloclaw</a:t>
            </a:r>
            <a:r>
              <a:rPr lang="en" sz="1200">
                <a:latin typeface="Calibri"/>
                <a:ea typeface="Calibri"/>
                <a:cs typeface="Calibri"/>
                <a:sym typeface="Calibri"/>
              </a:rPr>
              <a:t> </a:t>
            </a:r>
            <a:endParaRPr sz="1200">
              <a:latin typeface="Calibri"/>
              <a:ea typeface="Calibri"/>
              <a:cs typeface="Calibri"/>
              <a:sym typeface="Calibri"/>
            </a:endParaRPr>
          </a:p>
        </p:txBody>
      </p:sp>
      <p:sp>
        <p:nvSpPr>
          <p:cNvPr id="179" name="Google Shape;179;p28"/>
          <p:cNvSpPr txBox="1"/>
          <p:nvPr/>
        </p:nvSpPr>
        <p:spPr>
          <a:xfrm>
            <a:off x="4675725" y="731136"/>
            <a:ext cx="43665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 Playwright CLI for Browser Automations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https://www.youtube.com/watch?v=I9kO6-yPkfM</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Claude Code can spawn three parallel sub-agents using Playwright to test website form submissions from multiple angles, including edge cases and validation testing</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Playwright CLI is a superior to alternatives like MCP servers or Chrome extensions because it uses significantly fewer tokens (90,000 fewer than MCP) and supports headless browsing and parallel execution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tool works by </a:t>
            </a:r>
            <a:r>
              <a:rPr lang="en" sz="1200" b="1">
                <a:solidFill>
                  <a:srgbClr val="FF0000"/>
                </a:solidFill>
                <a:latin typeface="Calibri"/>
                <a:ea typeface="Calibri"/>
                <a:cs typeface="Calibri"/>
                <a:sym typeface="Calibri"/>
              </a:rPr>
              <a:t>utilizing accessibility trees rather than screenshots, making it more efficient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Installation: </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installing Playwright CLI via npm</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installing browser engines</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setting up the Claude Code skill</a:t>
            </a:r>
            <a:endParaRPr sz="1200">
              <a:solidFill>
                <a:srgbClr val="6AA84F"/>
              </a:solidFill>
              <a:latin typeface="Calibri"/>
              <a:ea typeface="Calibri"/>
              <a:cs typeface="Calibri"/>
              <a:sym typeface="Calibri"/>
            </a:endParaRPr>
          </a:p>
        </p:txBody>
      </p:sp>
      <p:pic>
        <p:nvPicPr>
          <p:cNvPr id="180" name="Google Shape;180;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169847" y="2156852"/>
            <a:ext cx="3261351" cy="2163824"/>
          </a:xfrm>
          <a:prstGeom prst="rect">
            <a:avLst/>
          </a:prstGeom>
          <a:noFill/>
          <a:ln w="9525" cap="flat" cmpd="sng">
            <a:solidFill>
              <a:srgbClr val="FF0000"/>
            </a:solidFill>
            <a:prstDash val="solid"/>
            <a:round/>
            <a:headEnd type="none" w="sm" len="sm"/>
            <a:tailEnd type="none" w="sm" len="sm"/>
          </a:ln>
        </p:spPr>
      </p:pic>
      <p:pic>
        <p:nvPicPr>
          <p:cNvPr id="181" name="Google Shape;181;p2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042298" y="3658511"/>
            <a:ext cx="2354401" cy="131846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29"/>
          <p:cNvSpPr txBox="1"/>
          <p:nvPr/>
        </p:nvSpPr>
        <p:spPr>
          <a:xfrm>
            <a:off x="55075" y="63650"/>
            <a:ext cx="33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Superpowers</a:t>
            </a:r>
            <a:endParaRPr sz="2000" b="1">
              <a:solidFill>
                <a:schemeClr val="dk1"/>
              </a:solidFill>
              <a:latin typeface="Calibri"/>
              <a:ea typeface="Calibri"/>
              <a:cs typeface="Calibri"/>
              <a:sym typeface="Calibri"/>
            </a:endParaRPr>
          </a:p>
        </p:txBody>
      </p:sp>
      <p:sp>
        <p:nvSpPr>
          <p:cNvPr id="187" name="Google Shape;187;p29"/>
          <p:cNvSpPr txBox="1"/>
          <p:nvPr/>
        </p:nvSpPr>
        <p:spPr>
          <a:xfrm>
            <a:off x="43825" y="541600"/>
            <a:ext cx="4421400" cy="3020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Superpowers GitHub repo for AI Coding Agents</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https://github.com/obra/superpowers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http://www.youtube.com/watch?v=7cOAayWzYDY</a:t>
            </a:r>
            <a:endParaRPr sz="1100">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/plugin marketplace add obra/superpowers-marketplace</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/plugin install superpowers@superpowers-marketplace</a:t>
            </a:r>
            <a:endParaRPr sz="900" b="1">
              <a:solidFill>
                <a:srgbClr val="3C78D8"/>
              </a:solidFill>
              <a:latin typeface="Roboto Mono"/>
              <a:ea typeface="Roboto Mono"/>
              <a:cs typeface="Roboto Mono"/>
              <a:sym typeface="Roboto Mono"/>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 fully autonomous software development workflow for AI coding agents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Unlike traditional "spec-driven" tools like OpenSpec or SpecKit, which primarily focus on turning conversations into task lists, Superpowers manages the entire engineering lifecycle. It guides agents through brainstorming, design generation, technical specification, and detailed implementation planning</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Key features include the ability to handle non-linear tasks, reduce hallucinations by keeping models focused on specific steps, and the integration of "sub-agents" to execute parallel implementation plans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Users can easily install Superpowers as a plugin within coding environments like Cursor or Claude Code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Ultimately, the toolkit aims to replace "vibe coding" with a structured, reliable workflow that produces professional-grade, bug-free results</a:t>
            </a:r>
            <a:endParaRPr sz="1100">
              <a:latin typeface="Calibri"/>
              <a:ea typeface="Calibri"/>
              <a:cs typeface="Calibri"/>
              <a:sym typeface="Calibri"/>
            </a:endParaRPr>
          </a:p>
        </p:txBody>
      </p:sp>
      <p:pic>
        <p:nvPicPr>
          <p:cNvPr id="188" name="Google Shape;188;p2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50050" y="541600"/>
            <a:ext cx="4048526" cy="19589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30"/>
          <p:cNvSpPr txBox="1"/>
          <p:nvPr/>
        </p:nvSpPr>
        <p:spPr>
          <a:xfrm>
            <a:off x="55075" y="63650"/>
            <a:ext cx="2457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Memory</a:t>
            </a:r>
            <a:endParaRPr sz="2000" b="1">
              <a:solidFill>
                <a:schemeClr val="dk1"/>
              </a:solidFill>
              <a:latin typeface="Calibri"/>
              <a:ea typeface="Calibri"/>
              <a:cs typeface="Calibri"/>
              <a:sym typeface="Calibri"/>
            </a:endParaRPr>
          </a:p>
        </p:txBody>
      </p:sp>
      <p:sp>
        <p:nvSpPr>
          <p:cNvPr id="194" name="Google Shape;194;p30"/>
          <p:cNvSpPr txBox="1"/>
          <p:nvPr/>
        </p:nvSpPr>
        <p:spPr>
          <a:xfrm>
            <a:off x="55075" y="475825"/>
            <a:ext cx="44214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3-Layer Memory Architecture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Layer 1 - core identity (the "Soul") - in he root of workspace:</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files: soul.md, agents.md, memory.md, and </a:t>
            </a:r>
            <a:r>
              <a:rPr lang="en" sz="1200" u="sng">
                <a:solidFill>
                  <a:srgbClr val="6AA84F"/>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user.md</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only the owner can edit the identiy files</a:t>
            </a:r>
            <a:endParaRPr sz="1200">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Layer 2 - long-term recall - in "Memory" folder</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files - Daily logs (dated `YYYY-MM-DD.md`) </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and specific topic files (e.g., `</a:t>
            </a:r>
            <a:r>
              <a:rPr lang="en" sz="1200" u="sng">
                <a:solidFill>
                  <a:srgbClr val="6AA84F"/>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onboarding.md</a:t>
            </a:r>
            <a:r>
              <a:rPr lang="en" sz="1200">
                <a:solidFill>
                  <a:srgbClr val="6AA84F"/>
                </a:solidFill>
                <a:latin typeface="Calibri"/>
                <a:ea typeface="Calibri"/>
                <a:cs typeface="Calibri"/>
                <a:sym typeface="Calibri"/>
              </a:rPr>
              <a:t>`)</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short (under 4KB) summaries and "breadcrumbs"</a:t>
            </a:r>
            <a:endParaRPr sz="1200">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Layer 3 - Deep References (The Library) in "Reference" folder </a:t>
            </a:r>
            <a:br>
              <a:rPr lang="en" sz="1200">
                <a:solidFill>
                  <a:srgbClr val="6AA84F"/>
                </a:solidFill>
                <a:latin typeface="Calibri"/>
                <a:ea typeface="Calibri"/>
                <a:cs typeface="Calibri"/>
                <a:sym typeface="Calibri"/>
              </a:rPr>
            </a:br>
            <a:r>
              <a:rPr lang="en" sz="1200">
                <a:solidFill>
                  <a:srgbClr val="6AA84F"/>
                </a:solidFill>
                <a:latin typeface="Calibri"/>
                <a:ea typeface="Calibri"/>
                <a:cs typeface="Calibri"/>
                <a:sym typeface="Calibri"/>
              </a:rPr>
              <a:t>  files - full documents and long-form histories  </a:t>
            </a:r>
            <a:endParaRPr sz="1200">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Enable `memory_flush` in the config file to stop immediate context loss on resets.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Write memory files in plain, natural language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https://www.youtube.com/watch?v=f8LJBh1AtKg</a:t>
            </a:r>
            <a:r>
              <a:rPr lang="en" sz="1200">
                <a:latin typeface="Calibri"/>
                <a:ea typeface="Calibri"/>
                <a:cs typeface="Calibri"/>
                <a:sym typeface="Calibri"/>
              </a:rPr>
              <a:t> </a:t>
            </a:r>
            <a:endParaRPr sz="1200">
              <a:latin typeface="Calibri"/>
              <a:ea typeface="Calibri"/>
              <a:cs typeface="Calibri"/>
              <a:sym typeface="Calibri"/>
            </a:endParaRPr>
          </a:p>
        </p:txBody>
      </p:sp>
      <p:pic>
        <p:nvPicPr>
          <p:cNvPr id="195" name="Google Shape;195;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72100" y="475825"/>
            <a:ext cx="3347175" cy="18250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31"/>
          <p:cNvSpPr txBox="1"/>
          <p:nvPr/>
        </p:nvSpPr>
        <p:spPr>
          <a:xfrm>
            <a:off x="55075" y="63650"/>
            <a:ext cx="4042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Moonshots - about OpenClaw</a:t>
            </a:r>
            <a:endParaRPr sz="2000" b="1">
              <a:solidFill>
                <a:schemeClr val="dk1"/>
              </a:solidFill>
              <a:latin typeface="Calibri"/>
              <a:ea typeface="Calibri"/>
              <a:cs typeface="Calibri"/>
              <a:sym typeface="Calibri"/>
            </a:endParaRPr>
          </a:p>
        </p:txBody>
      </p:sp>
      <p:sp>
        <p:nvSpPr>
          <p:cNvPr id="201" name="Google Shape;201;p31"/>
          <p:cNvSpPr txBox="1"/>
          <p:nvPr/>
        </p:nvSpPr>
        <p:spPr>
          <a:xfrm>
            <a:off x="43825" y="541600"/>
            <a:ext cx="44214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OpenClaw is an open-source, self-improving AI agent that runs locally on your computer 24/7, with no token limits or cloud costs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Alex Finn runs four agents (Henry, Ralph, Charlie, Scout) organized like a business hierarchy, with Henry (Claude Opus) as chief of staff</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Local hardware, especially Apple devices with unified memory architecture, is strongly preferred over virtual private servers for speed, security, and cost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OAuth lets you connect existing ChatGPT subscriptions to OpenClaw instead of paying per token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Key use cases include autonomous software development, content pipelines, and research automation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Memory is stored in plain markdown files; agents can design and fix their own memory systems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 recent security vulnerability allowed websites to hijack agents via JavaScript; patched within 24 hours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Best starting tip: use reverse prompting - tell your agent your goals and ask it what it should do next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https://www.youtube.com/watch?v=qP73cGLQmCU</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02" name="Google Shape;202;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39900" y="541600"/>
            <a:ext cx="2753875" cy="15150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32"/>
          <p:cNvSpPr txBox="1"/>
          <p:nvPr/>
        </p:nvSpPr>
        <p:spPr>
          <a:xfrm>
            <a:off x="55075" y="63650"/>
            <a:ext cx="330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is transforming education</a:t>
            </a:r>
            <a:endParaRPr sz="2000" b="1">
              <a:solidFill>
                <a:schemeClr val="dk1"/>
              </a:solidFill>
              <a:latin typeface="Calibri"/>
              <a:ea typeface="Calibri"/>
              <a:cs typeface="Calibri"/>
              <a:sym typeface="Calibri"/>
            </a:endParaRPr>
          </a:p>
        </p:txBody>
      </p:sp>
      <p:sp>
        <p:nvSpPr>
          <p:cNvPr id="208" name="Google Shape;208;p32"/>
          <p:cNvSpPr txBox="1"/>
          <p:nvPr/>
        </p:nvSpPr>
        <p:spPr>
          <a:xfrm>
            <a:off x="43825" y="541600"/>
            <a:ext cx="4123200" cy="391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AI is fundamentally transforming education and learning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https://www.youtube.com/watch?v=WzOXDIWxVeM</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Traditional courses are becoming obsolete </a:t>
            </a:r>
            <a:br>
              <a:rPr lang="en" sz="1100">
                <a:latin typeface="Calibri"/>
                <a:ea typeface="Calibri"/>
                <a:cs typeface="Calibri"/>
                <a:sym typeface="Calibri"/>
              </a:rPr>
            </a:br>
            <a:r>
              <a:rPr lang="en" sz="1100">
                <a:latin typeface="Calibri"/>
                <a:ea typeface="Calibri"/>
                <a:cs typeface="Calibri"/>
                <a:sym typeface="Calibri"/>
              </a:rPr>
              <a:t>as </a:t>
            </a:r>
            <a:r>
              <a:rPr lang="en" sz="1100" b="1">
                <a:solidFill>
                  <a:srgbClr val="3C78D8"/>
                </a:solidFill>
                <a:latin typeface="Calibri"/>
                <a:ea typeface="Calibri"/>
                <a:cs typeface="Calibri"/>
                <a:sym typeface="Calibri"/>
              </a:rPr>
              <a:t>AI agents can now handle most learning tasks automatically</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Instead of consuming pre-made content, learners will receive </a:t>
            </a:r>
            <a:r>
              <a:rPr lang="en" sz="1100" b="1">
                <a:solidFill>
                  <a:srgbClr val="FF0000"/>
                </a:solidFill>
                <a:latin typeface="Calibri"/>
                <a:ea typeface="Calibri"/>
                <a:cs typeface="Calibri"/>
                <a:sym typeface="Calibri"/>
              </a:rPr>
              <a:t>personalized, on-demand lessons generated by AI.</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New learning model focuses on </a:t>
            </a:r>
            <a:r>
              <a:rPr lang="en" sz="1100" b="1">
                <a:solidFill>
                  <a:srgbClr val="FF0000"/>
                </a:solidFill>
                <a:latin typeface="Calibri"/>
                <a:ea typeface="Calibri"/>
                <a:cs typeface="Calibri"/>
                <a:sym typeface="Calibri"/>
              </a:rPr>
              <a:t>"loops"</a:t>
            </a:r>
            <a:r>
              <a:rPr lang="en" sz="1100">
                <a:latin typeface="Calibri"/>
                <a:ea typeface="Calibri"/>
                <a:cs typeface="Calibri"/>
                <a:sym typeface="Calibri"/>
              </a:rPr>
              <a:t> rather than linear curricula: </a:t>
            </a:r>
            <a:endParaRPr sz="1100">
              <a:latin typeface="Calibri"/>
              <a:ea typeface="Calibri"/>
              <a:cs typeface="Calibri"/>
              <a:sym typeface="Calibri"/>
            </a:endParaRPr>
          </a:p>
          <a:p>
            <a:pPr marL="5715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goal-setting</a:t>
            </a:r>
            <a:endParaRPr sz="1100">
              <a:latin typeface="Calibri"/>
              <a:ea typeface="Calibri"/>
              <a:cs typeface="Calibri"/>
              <a:sym typeface="Calibri"/>
            </a:endParaRPr>
          </a:p>
          <a:p>
            <a:pPr marL="5715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tiny actions</a:t>
            </a:r>
            <a:endParaRPr sz="1100">
              <a:latin typeface="Calibri"/>
              <a:ea typeface="Calibri"/>
              <a:cs typeface="Calibri"/>
              <a:sym typeface="Calibri"/>
            </a:endParaRPr>
          </a:p>
          <a:p>
            <a:pPr marL="5715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feedback</a:t>
            </a:r>
            <a:endParaRPr sz="1100">
              <a:latin typeface="Calibri"/>
              <a:ea typeface="Calibri"/>
              <a:cs typeface="Calibri"/>
              <a:sym typeface="Calibri"/>
            </a:endParaRPr>
          </a:p>
          <a:p>
            <a:pPr marL="5715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proof of completion</a:t>
            </a:r>
            <a:endParaRPr sz="1100">
              <a:latin typeface="Calibri"/>
              <a:ea typeface="Calibri"/>
              <a:cs typeface="Calibri"/>
              <a:sym typeface="Calibri"/>
            </a:endParaRPr>
          </a:p>
          <a:p>
            <a:pPr marL="5715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next steps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Shift </a:t>
            </a:r>
            <a:r>
              <a:rPr lang="en" sz="1100" b="1">
                <a:solidFill>
                  <a:srgbClr val="FF0000"/>
                </a:solidFill>
                <a:latin typeface="Calibri"/>
                <a:ea typeface="Calibri"/>
                <a:cs typeface="Calibri"/>
                <a:sym typeface="Calibri"/>
              </a:rPr>
              <a:t>from content delivery to live facilitation and community accountability</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Rather than learning how to do things, people now tell AI what they want accomplished</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a:t>
            </a:r>
            <a:r>
              <a:rPr lang="en" sz="1100" b="1">
                <a:solidFill>
                  <a:srgbClr val="3C78D8"/>
                </a:solidFill>
                <a:latin typeface="Calibri"/>
                <a:ea typeface="Calibri"/>
                <a:cs typeface="Calibri"/>
                <a:sym typeface="Calibri"/>
              </a:rPr>
              <a:t>value lies in guided environments where people actually implement and change behavior</a:t>
            </a:r>
            <a:r>
              <a:rPr lang="en" sz="1100">
                <a:latin typeface="Calibri"/>
                <a:ea typeface="Calibri"/>
                <a:cs typeface="Calibri"/>
                <a:sym typeface="Calibri"/>
              </a:rPr>
              <a:t>, not just consume information.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Communities become essential for accountability</a:t>
            </a:r>
            <a:r>
              <a:rPr lang="en" sz="1100">
                <a:latin typeface="Calibri"/>
                <a:ea typeface="Calibri"/>
                <a:cs typeface="Calibri"/>
                <a:sym typeface="Calibri"/>
              </a:rPr>
              <a:t>, requiring members to show what they've started, built, and shipped rather than just completing courses.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transformation </a:t>
            </a:r>
            <a:r>
              <a:rPr lang="en" sz="1100" b="1">
                <a:solidFill>
                  <a:srgbClr val="FF0000"/>
                </a:solidFill>
                <a:latin typeface="Calibri"/>
                <a:ea typeface="Calibri"/>
                <a:cs typeface="Calibri"/>
                <a:sym typeface="Calibri"/>
              </a:rPr>
              <a:t>moves educators from creators to conductors</a:t>
            </a:r>
            <a:r>
              <a:rPr lang="en" sz="1100">
                <a:latin typeface="Calibri"/>
                <a:ea typeface="Calibri"/>
                <a:cs typeface="Calibri"/>
                <a:sym typeface="Calibri"/>
              </a:rPr>
              <a:t>, </a:t>
            </a:r>
            <a:br>
              <a:rPr lang="en" sz="1100">
                <a:latin typeface="Calibri"/>
                <a:ea typeface="Calibri"/>
                <a:cs typeface="Calibri"/>
                <a:sym typeface="Calibri"/>
              </a:rPr>
            </a:br>
            <a:r>
              <a:rPr lang="en" sz="1100" b="1">
                <a:solidFill>
                  <a:srgbClr val="3C78D8"/>
                </a:solidFill>
                <a:latin typeface="Calibri"/>
                <a:ea typeface="Calibri"/>
                <a:cs typeface="Calibri"/>
                <a:sym typeface="Calibri"/>
              </a:rPr>
              <a:t>focusing on practical implementation over knowledge transfer</a:t>
            </a:r>
            <a:endParaRPr sz="1100" b="1">
              <a:solidFill>
                <a:srgbClr val="3C78D8"/>
              </a:solidFill>
              <a:latin typeface="Calibri"/>
              <a:ea typeface="Calibri"/>
              <a:cs typeface="Calibri"/>
              <a:sym typeface="Calibri"/>
            </a:endParaRPr>
          </a:p>
        </p:txBody>
      </p:sp>
      <p:pic>
        <p:nvPicPr>
          <p:cNvPr id="209" name="Google Shape;209;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251250" y="985800"/>
            <a:ext cx="4805451" cy="26211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33"/>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15" name="Google Shape;215;p33"/>
          <p:cNvSpPr txBox="1"/>
          <p:nvPr/>
        </p:nvSpPr>
        <p:spPr>
          <a:xfrm>
            <a:off x="43820" y="398733"/>
            <a:ext cx="45039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Infrastructure Investments - $135 Billion in 7 Days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Amazon’s $35 Billion investment into OpenAI. The deal also requires OpenAI to use Amazon’s Tranium 2 chips for training, positioning Amazon as the exclusive third-party cloud host for OpenAI’s automated AI workers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Meta’s $100 Billion to AMD - to break free from NVIDIA dependency. This includes Meta buying 6 gigawatts of AI compute and taking a 10% equity stake in AMD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Meta going to Google for TPUs is a sign NVIDIA’s monopoly is finally cracking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CoreWeave raised $8.5 Bln for data centers backed by a $14.2 billion contract from Meta</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Together, these three deals represent $135 billion committed in seven days. That’s not venture capital. That’s infrastructure-scale capital reshaping the supply chain in real time.</a:t>
            </a:r>
            <a:endParaRPr sz="1100">
              <a:latin typeface="Calibri"/>
              <a:ea typeface="Calibri"/>
              <a:cs typeface="Calibri"/>
              <a:sym typeface="Calibri"/>
            </a:endParaRPr>
          </a:p>
        </p:txBody>
      </p:sp>
      <p:pic>
        <p:nvPicPr>
          <p:cNvPr id="216" name="Google Shape;216;p3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5299750" y="442136"/>
            <a:ext cx="3099124" cy="23408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34"/>
          <p:cNvSpPr txBox="1"/>
          <p:nvPr/>
        </p:nvSpPr>
        <p:spPr>
          <a:xfrm>
            <a:off x="55075" y="63650"/>
            <a:ext cx="4437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Pulsia AI - Runs 3,300 Companies</a:t>
            </a:r>
            <a:endParaRPr sz="2000" b="1">
              <a:solidFill>
                <a:schemeClr val="dk1"/>
              </a:solidFill>
              <a:latin typeface="Calibri"/>
              <a:ea typeface="Calibri"/>
              <a:cs typeface="Calibri"/>
              <a:sym typeface="Calibri"/>
            </a:endParaRPr>
          </a:p>
        </p:txBody>
      </p:sp>
      <p:sp>
        <p:nvSpPr>
          <p:cNvPr id="222" name="Google Shape;222;p34"/>
          <p:cNvSpPr txBox="1"/>
          <p:nvPr/>
        </p:nvSpPr>
        <p:spPr>
          <a:xfrm>
            <a:off x="43825" y="398725"/>
            <a:ext cx="4437300" cy="172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200" b="1">
                <a:solidFill>
                  <a:srgbClr val="FF0000"/>
                </a:solidFill>
                <a:latin typeface="Calibri"/>
                <a:ea typeface="Calibri"/>
                <a:cs typeface="Calibri"/>
                <a:sym typeface="Calibri"/>
              </a:rPr>
              <a:t>Pulsia AI - Company That Runs 3,300 Companies</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3"/>
              </a:rPr>
              <a:t>https://polsia.com</a:t>
            </a:r>
            <a:r>
              <a:rPr lang="en" sz="1100">
                <a:latin typeface="Calibri"/>
                <a:ea typeface="Calibri"/>
                <a:cs typeface="Calibri"/>
                <a:sym typeface="Calibri"/>
              </a:rPr>
              <a:t> - Created by Ben Serra.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These are micro-businesses, outreach bots that </a:t>
            </a:r>
            <a:r>
              <a:rPr lang="en" sz="1100">
                <a:solidFill>
                  <a:schemeClr val="dk1"/>
                </a:solidFill>
                <a:latin typeface="Calibri"/>
                <a:ea typeface="Calibri"/>
                <a:cs typeface="Calibri"/>
                <a:sym typeface="Calibri"/>
              </a:rPr>
              <a:t>perate continuously without human intervention, negotiate deals, sell </a:t>
            </a:r>
            <a:r>
              <a:rPr lang="en" sz="1100">
                <a:latin typeface="Calibri"/>
                <a:ea typeface="Calibri"/>
                <a:cs typeface="Calibri"/>
                <a:sym typeface="Calibri"/>
              </a:rPr>
              <a:t>products through Stripe.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cost of launching a company is now ~$50/mo</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Legal problems - who is liable when an AI-run company commits fraud, breaches a contract, or harms a customer?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future: one human overseeing dozens or hundreds of AI agents, each running a business. Think of it as a one-person private equity firm, except instead of buying companies, you’re spawning them</a:t>
            </a:r>
            <a:endParaRPr sz="1100">
              <a:latin typeface="Calibri"/>
              <a:ea typeface="Calibri"/>
              <a:cs typeface="Calibri"/>
              <a:sym typeface="Calibri"/>
            </a:endParaRPr>
          </a:p>
        </p:txBody>
      </p:sp>
      <p:pic>
        <p:nvPicPr>
          <p:cNvPr id="223" name="Google Shape;223;p34"/>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63288" y="2213649"/>
            <a:ext cx="4198376" cy="2854926"/>
          </a:xfrm>
          <a:prstGeom prst="rect">
            <a:avLst/>
          </a:prstGeom>
          <a:noFill/>
          <a:ln w="9525" cap="flat" cmpd="sng">
            <a:solidFill>
              <a:srgbClr val="FF0000"/>
            </a:solidFill>
            <a:prstDash val="solid"/>
            <a:round/>
            <a:headEnd type="none" w="sm" len="sm"/>
            <a:tailEnd type="none" w="sm" len="sm"/>
          </a:ln>
        </p:spPr>
      </p:pic>
      <p:pic>
        <p:nvPicPr>
          <p:cNvPr id="224" name="Google Shape;224;p3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94920" y="152400"/>
            <a:ext cx="3225800" cy="483870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35"/>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Apple vs Nvidia</a:t>
            </a:r>
            <a:endParaRPr sz="2000" b="1">
              <a:solidFill>
                <a:schemeClr val="dk1"/>
              </a:solidFill>
              <a:latin typeface="Calibri"/>
              <a:ea typeface="Calibri"/>
              <a:cs typeface="Calibri"/>
              <a:sym typeface="Calibri"/>
            </a:endParaRPr>
          </a:p>
        </p:txBody>
      </p:sp>
      <p:sp>
        <p:nvSpPr>
          <p:cNvPr id="230" name="Google Shape;230;p35"/>
          <p:cNvSpPr txBox="1"/>
          <p:nvPr/>
        </p:nvSpPr>
        <p:spPr>
          <a:xfrm>
            <a:off x="55070" y="502908"/>
            <a:ext cx="45039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Apple is running LLMs on its own Apple Silicone chips and planning to deploy its own AI server chips in 2027 (</a:t>
            </a:r>
            <a:r>
              <a:rPr lang="en" sz="1100" b="1">
                <a:solidFill>
                  <a:srgbClr val="FF0000"/>
                </a:solidFill>
                <a:latin typeface="Calibri"/>
                <a:ea typeface="Calibri"/>
                <a:cs typeface="Calibri"/>
                <a:sym typeface="Calibri"/>
              </a:rPr>
              <a:t>ACDC = Apple Chips in Data Center</a:t>
            </a:r>
            <a:r>
              <a:rPr lang="en" sz="1100">
                <a:latin typeface="Calibri"/>
                <a:ea typeface="Calibri"/>
                <a:cs typeface="Calibri"/>
                <a:sym typeface="Calibri"/>
              </a:rPr>
              <a: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Apple shifts from Nvidia customer to a competitor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Nvidia monopoly is breaking up as Apple, Google, Amazon, and Meta are now relying on their own custom AI silicon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At TSMC’s most advanced nodes, Apple and Nvidia now compete head‑to‑head for scarce manufacturing capacity - every 3 nm or 2 nm wafer allocated to Apple’s processors is one less wafer for Nvidia AI GPUs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Apple’s tight integration of hardware, software, and services—extending from iPhone chips to in‑house AI data centers—aims to keep AI processing and user data inside the Apple ecosystem</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If Apple’s approach proves cost‑effective and performant, it encourages other large players to double down on their own custom accelerators, further eroding Nvidia’s long‑term leverage in AI infrastructure</a:t>
            </a:r>
            <a:endParaRPr sz="1100">
              <a:latin typeface="Calibri"/>
              <a:ea typeface="Calibri"/>
              <a:cs typeface="Calibri"/>
              <a:sym typeface="Calibri"/>
            </a:endParaRPr>
          </a:p>
        </p:txBody>
      </p:sp>
      <p:pic>
        <p:nvPicPr>
          <p:cNvPr id="231" name="Google Shape;231;p35"/>
          <p:cNvPicPr preferRelativeResize="0"/>
          <p:nvPr/>
        </p:nvPicPr>
        <p:blipFill>
          <a:blip r:embed="rId3">
            <a:alphaModFix/>
          </a:blip>
          <a:stretch>
            <a:fillRect/>
          </a:stretch>
        </p:blipFill>
        <p:spPr>
          <a:xfrm>
            <a:off x="5297345" y="738375"/>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36"/>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37" name="Google Shape;237;p36"/>
          <p:cNvSpPr txBox="1"/>
          <p:nvPr/>
        </p:nvSpPr>
        <p:spPr>
          <a:xfrm>
            <a:off x="55070" y="502908"/>
            <a:ext cx="4503900" cy="541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sues Pentagon</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Anthropic has filed a federal lawsuit against the U.S. Department of Defense after the Pentagon designated the AI company a “supply-chain risk”</a:t>
            </a:r>
            <a:endParaRPr sz="1100">
              <a:latin typeface="Calibri"/>
              <a:ea typeface="Calibri"/>
              <a:cs typeface="Calibri"/>
              <a:sym typeface="Calibri"/>
            </a:endParaRPr>
          </a:p>
        </p:txBody>
      </p:sp>
      <p:sp>
        <p:nvSpPr>
          <p:cNvPr id="238" name="Google Shape;238;p36"/>
          <p:cNvSpPr txBox="1"/>
          <p:nvPr/>
        </p:nvSpPr>
        <p:spPr>
          <a:xfrm>
            <a:off x="55070" y="2120008"/>
            <a:ext cx="4503900" cy="291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has launched Claude Marketplace</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This new platform allows enterprise customers with existing Anthropic spending commitments to purchase third-party applications powered by Claude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Such as tools from GitLab, Harvey, Replit, Snowflake, and others, with billing handled directly through Anthropic</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goal is to simplify procurement and consolidate AI spending while making it easier for companies to access specialized Claude-powered tools built by partners for specific industries and workflows.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move signals that Anthropic sees continued value in SaaS applications enhanced with AI rather than fully replacing them with custom AI workflows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Claude Marketplace could allow enterprises to use Claude as a central orchestrator that connects to approved tools and services, though its success will depend on whether businesses adopt the marketplace instead of continuing to build their own AI integrations or using existing partner APIs</a:t>
            </a:r>
            <a:endParaRPr sz="1100">
              <a:latin typeface="Calibri"/>
              <a:ea typeface="Calibri"/>
              <a:cs typeface="Calibri"/>
              <a:sym typeface="Calibri"/>
            </a:endParaRPr>
          </a:p>
        </p:txBody>
      </p:sp>
      <p:sp>
        <p:nvSpPr>
          <p:cNvPr id="239" name="Google Shape;239;p36"/>
          <p:cNvSpPr txBox="1"/>
          <p:nvPr/>
        </p:nvSpPr>
        <p:spPr>
          <a:xfrm>
            <a:off x="55070" y="1142258"/>
            <a:ext cx="4503900" cy="88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200" b="1">
                <a:solidFill>
                  <a:srgbClr val="FF0000"/>
                </a:solidFill>
                <a:latin typeface="Calibri"/>
                <a:ea typeface="Calibri"/>
                <a:cs typeface="Calibri"/>
                <a:sym typeface="Calibri"/>
              </a:rPr>
              <a:t>OpenAI revises military AI deal with US Government</a:t>
            </a:r>
            <a:br>
              <a:rPr lang="en" sz="1100">
                <a:latin typeface="Calibri"/>
                <a:ea typeface="Calibri"/>
                <a:cs typeface="Calibri"/>
                <a:sym typeface="Calibri"/>
              </a:rPr>
            </a:br>
            <a:r>
              <a:rPr lang="en" sz="1100">
                <a:latin typeface="Calibri"/>
                <a:ea typeface="Calibri"/>
                <a:cs typeface="Calibri"/>
                <a:sym typeface="Calibri"/>
              </a:rPr>
              <a:t>after criticism that the original deal was rushed and lacked clear safeguards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updated terms explicitly prohibit using OpenAI’s systems for domestic surveillance of U.S. citizens and require additional approval before intelligence agencies like the NSA can use the technology.</a:t>
            </a:r>
            <a:endParaRPr sz="1100">
              <a:latin typeface="Calibri"/>
              <a:ea typeface="Calibri"/>
              <a:cs typeface="Calibri"/>
              <a:sym typeface="Calibri"/>
            </a:endParaRPr>
          </a:p>
        </p:txBody>
      </p:sp>
      <p:pic>
        <p:nvPicPr>
          <p:cNvPr id="240" name="Google Shape;240;p36"/>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819425" y="63650"/>
            <a:ext cx="3482861" cy="1959101"/>
          </a:xfrm>
          <a:prstGeom prst="rect">
            <a:avLst/>
          </a:prstGeom>
          <a:noFill/>
          <a:ln w="9525" cap="flat" cmpd="sng">
            <a:solidFill>
              <a:srgbClr val="FF0000"/>
            </a:solidFill>
            <a:prstDash val="solid"/>
            <a:round/>
            <a:headEnd type="none" w="sm" len="sm"/>
            <a:tailEnd type="none" w="sm" len="sm"/>
          </a:ln>
        </p:spPr>
      </p:pic>
      <p:pic>
        <p:nvPicPr>
          <p:cNvPr id="241" name="Google Shape;241;p3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11374" y="2175150"/>
            <a:ext cx="3726700" cy="15528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7"/>
          <p:cNvSpPr txBox="1"/>
          <p:nvPr/>
        </p:nvSpPr>
        <p:spPr>
          <a:xfrm>
            <a:off x="55075" y="63650"/>
            <a:ext cx="4311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Intel 18A Manufacturing Process</a:t>
            </a:r>
            <a:endParaRPr sz="2000" b="1">
              <a:solidFill>
                <a:schemeClr val="dk1"/>
              </a:solidFill>
              <a:latin typeface="Calibri"/>
              <a:ea typeface="Calibri"/>
              <a:cs typeface="Calibri"/>
              <a:sym typeface="Calibri"/>
            </a:endParaRPr>
          </a:p>
        </p:txBody>
      </p:sp>
      <p:sp>
        <p:nvSpPr>
          <p:cNvPr id="247" name="Google Shape;247;p37"/>
          <p:cNvSpPr txBox="1"/>
          <p:nvPr/>
        </p:nvSpPr>
        <p:spPr>
          <a:xfrm>
            <a:off x="4648950" y="2142050"/>
            <a:ext cx="43998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2021: Intel announces “5 nodes in 4 years” (Intel 4, 3, 20A, 18A), with RibbonFET and PowerVia planned for 20A/18A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2022–2023: Intel 4 and then Intel 3 enter production for Meteor Lake client and Xeon data‑center chips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March 2023: Intel finalizes process rules for Intel 20A and 18A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Mid‑2023: PowerVia test chips demonstrate working backside power delivery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2024: Intel deprioritizes 20A for high‑volume client products (Arrow Lake leans heavily on TSMC), using 20A mainly as a learning node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2025: Intel 18A achieves production‑viable defect density and begins risk/early production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January 2026: Intel 18A enters high‑volume production; first 18A‑based Core Ultra Series 3 mobile CPUs are announced, with systems shipping during 2026</a:t>
            </a:r>
            <a:endParaRPr sz="1200">
              <a:latin typeface="Calibri"/>
              <a:ea typeface="Calibri"/>
              <a:cs typeface="Calibri"/>
              <a:sym typeface="Calibri"/>
            </a:endParaRPr>
          </a:p>
        </p:txBody>
      </p:sp>
      <p:sp>
        <p:nvSpPr>
          <p:cNvPr id="248" name="Google Shape;248;p37"/>
          <p:cNvSpPr txBox="1"/>
          <p:nvPr/>
        </p:nvSpPr>
        <p:spPr>
          <a:xfrm>
            <a:off x="55075" y="587675"/>
            <a:ext cx="43998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Intel 18A process, RibbonFET, PowerVia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"18A" name refers to 1.8 nm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RibbonFET - new type of transistor where the gate surrounds the channel on all sides. This replaces the older "FinFET" design to provide better control over electricity, reducing leaks and heat while allowing the chips to get even smaller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PowerVia (moving power delivery to the back of the chip) - reduces power loss by 30% and allows for much higher transistor density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While TSMC and Samsung are working on similar backside power technologies, they aren't expected to release them until late 2026 or 2027. Intel, however, is already launching products using 18A in 2026.</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 Intel Core Ultra Series 3 (Panther Lake architecture)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Major manufacturers like Acer, Dell, and Samsung are already releasing laptops with these processors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Intel is also targeting the handheld gaming market, claiming a 70% performance boost for portable devices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Ultimately, the 18A process is Intel’s "all-in" bet to reclaim its crown as the world's leading chipmaker</a:t>
            </a:r>
            <a:endParaRPr sz="1200">
              <a:latin typeface="Calibri"/>
              <a:ea typeface="Calibri"/>
              <a:cs typeface="Calibri"/>
              <a:sym typeface="Calibri"/>
            </a:endParaRPr>
          </a:p>
        </p:txBody>
      </p:sp>
      <p:pic>
        <p:nvPicPr>
          <p:cNvPr id="249" name="Google Shape;249;p3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438200" y="194800"/>
            <a:ext cx="3610545" cy="183725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38"/>
          <p:cNvSpPr txBox="1"/>
          <p:nvPr/>
        </p:nvSpPr>
        <p:spPr>
          <a:xfrm>
            <a:off x="55075" y="63650"/>
            <a:ext cx="450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Leopold Aschenbrenner Investments </a:t>
            </a:r>
            <a:endParaRPr sz="2000" b="1">
              <a:solidFill>
                <a:schemeClr val="dk1"/>
              </a:solidFill>
              <a:latin typeface="Calibri"/>
              <a:ea typeface="Calibri"/>
              <a:cs typeface="Calibri"/>
              <a:sym typeface="Calibri"/>
            </a:endParaRPr>
          </a:p>
        </p:txBody>
      </p:sp>
      <p:sp>
        <p:nvSpPr>
          <p:cNvPr id="255" name="Google Shape;255;p38"/>
          <p:cNvSpPr txBox="1"/>
          <p:nvPr/>
        </p:nvSpPr>
        <p:spPr>
          <a:xfrm>
            <a:off x="108125" y="488725"/>
            <a:ext cx="44052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$255 Mln into $5.5 Bln in ~1.5 years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Leopold Aschenbrenner, - 24 y.old investor</a:t>
            </a:r>
            <a:br>
              <a:rPr lang="en" sz="1100">
                <a:latin typeface="Calibri"/>
                <a:ea typeface="Calibri"/>
                <a:cs typeface="Calibri"/>
                <a:sym typeface="Calibri"/>
              </a:rPr>
            </a:br>
            <a:r>
              <a:rPr lang="en" sz="1100">
                <a:latin typeface="Calibri"/>
                <a:ea typeface="Calibri"/>
                <a:cs typeface="Calibri"/>
                <a:sym typeface="Calibri"/>
              </a:rPr>
              <a:t>SITUATIONAL AWARENESS LP (SALP) - hedge fund with 2 clients</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3"/>
              </a:rPr>
              <a:t>https://situationalawarenesslp.com</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His investment strategy is laid out in his 165‑page essay “Situational Awareness,” where he predicts AGI by 2027 how the AI boom will unfold</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4"/>
              </a:rPr>
              <a:t>https://situational-awareness.ai/wp-content/uploads/2024/06/situationalawareness.pdf</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is a former OpenAI researcher, famously fired after ~ 1 year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Leopold first rode the GPU/chip boom but is now pivoting from “chips to infrastructure.”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has exited major chip names like Nvidia, Broadcom, TSMC, and Micron, arguing that by 2025–2026 the market will have fully priced in GPUs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believes the new bottleneck is energy and infrastructure - so his largest new positions are highly concentrated bets on power and infrastructure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top holding is Bloom Energy, around 20% of the portfolio, which makes modular solid oxide fuel‑cell systems that can generate electricity from natural gas on‑site next to data centers, bypassing stressed local grids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also invests heavily in CoreWeave, a “neo‑cloud” provider that buys GPUs and handles all the painful physical work - racks, power, cooling, engineering - for AI labs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also invests in Core Scientific - a major supplier that helps set up energy grids for CoreWeave</a:t>
            </a:r>
            <a:endParaRPr sz="1100">
              <a:latin typeface="Calibri"/>
              <a:ea typeface="Calibri"/>
              <a:cs typeface="Calibri"/>
              <a:sym typeface="Calibri"/>
            </a:endParaRPr>
          </a:p>
        </p:txBody>
      </p:sp>
      <p:pic>
        <p:nvPicPr>
          <p:cNvPr id="256" name="Google Shape;256;p38"/>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620938" y="390050"/>
            <a:ext cx="1424188" cy="1853379"/>
          </a:xfrm>
          <a:prstGeom prst="rect">
            <a:avLst/>
          </a:prstGeom>
          <a:noFill/>
          <a:ln w="9525" cap="flat" cmpd="sng">
            <a:solidFill>
              <a:srgbClr val="FF0000"/>
            </a:solidFill>
            <a:prstDash val="solid"/>
            <a:round/>
            <a:headEnd type="none" w="sm" len="sm"/>
            <a:tailEnd type="none" w="sm" len="sm"/>
          </a:ln>
        </p:spPr>
      </p:pic>
      <p:sp>
        <p:nvSpPr>
          <p:cNvPr id="257" name="Google Shape;257;p38"/>
          <p:cNvSpPr txBox="1"/>
          <p:nvPr/>
        </p:nvSpPr>
        <p:spPr>
          <a:xfrm>
            <a:off x="4582970" y="2320783"/>
            <a:ext cx="45039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hosts highlight that this lets him sidestep slow, painful permitting: instead of waiting years for grid access like big tech companies, he buys firms that already have it and repurposes them. They admire the simplicity of his logic—Bitcoin miners already have energy and space, AI desperately needs energy and space—and how consistently his earlier GPU thesis has played out.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Leopold shorted </a:t>
            </a:r>
            <a:r>
              <a:rPr lang="en" sz="1100">
                <a:latin typeface="Calibri"/>
                <a:ea typeface="Calibri"/>
                <a:cs typeface="Calibri"/>
                <a:sym typeface="Calibri"/>
              </a:rPr>
              <a:t>Infosys, an Indian IT outsourcing company whose model relies on cheap human labor. He’s betting that modern AI coding and IT tools are now good enough to automate much of this work, making such labor‑arbitrage businesses structurally vulnerable.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AGI‑by‑2027 prediction, noting a Polymarket contract that puts the probability of OpenAI declaring AGI before 2027 at around 13%. They suggest his investment thesis on infrastructure may still be right even if his timing on AGI is off, and emphasize that so far he has correctly anticipated both the GPU rush and, they think, the emerging energy‑infrastructure rush.</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6"/>
              </a:rPr>
              <a:t>https://www.youtube.com/watch?v=04Kutj1vAiw</a:t>
            </a:r>
            <a:r>
              <a:rPr lang="en" sz="1100">
                <a:latin typeface="Calibri"/>
                <a:ea typeface="Calibri"/>
                <a:cs typeface="Calibri"/>
                <a:sym typeface="Calibri"/>
              </a:rPr>
              <a:t> </a:t>
            </a:r>
            <a:endParaRPr sz="1100">
              <a:latin typeface="Calibri"/>
              <a:ea typeface="Calibri"/>
              <a:cs typeface="Calibri"/>
              <a:sym typeface="Calibri"/>
            </a:endParaRPr>
          </a:p>
        </p:txBody>
      </p:sp>
      <p:sp>
        <p:nvSpPr>
          <p:cNvPr id="258" name="Google Shape;258;p38"/>
          <p:cNvSpPr txBox="1"/>
          <p:nvPr/>
        </p:nvSpPr>
        <p:spPr>
          <a:xfrm>
            <a:off x="6087642" y="870325"/>
            <a:ext cx="29799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has bought sizable stakes in Bitcoin mining companies, not for crypto, but for their two scarce assets: power hookups and permitted industrial real estate. The thesis is that these miners can pivot their sites from mining to AI data centers (or sell rights/permits), giving Leopold indirect exposure to critical energy and land</a:t>
            </a:r>
            <a:endParaRPr sz="1100">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39"/>
          <p:cNvSpPr txBox="1"/>
          <p:nvPr/>
        </p:nvSpPr>
        <p:spPr>
          <a:xfrm>
            <a:off x="55075" y="63650"/>
            <a:ext cx="4375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Autoresearch from Andrej Karpathy</a:t>
            </a:r>
            <a:endParaRPr sz="2000" b="1">
              <a:solidFill>
                <a:schemeClr val="dk1"/>
              </a:solidFill>
              <a:latin typeface="Calibri"/>
              <a:ea typeface="Calibri"/>
              <a:cs typeface="Calibri"/>
              <a:sym typeface="Calibri"/>
            </a:endParaRPr>
          </a:p>
        </p:txBody>
      </p:sp>
      <p:sp>
        <p:nvSpPr>
          <p:cNvPr id="264" name="Google Shape;264;p39"/>
          <p:cNvSpPr txBox="1"/>
          <p:nvPr/>
        </p:nvSpPr>
        <p:spPr>
          <a:xfrm>
            <a:off x="55070" y="455183"/>
            <a:ext cx="45039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Autoresearch from Andrej Karpathy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Andrej Karpathy recently introduced autoresearch, an open-source project that transforms a single GPU into an autonomous AI research lab</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system uses an AI agent to conduct overnight LLM training experiments without human intervention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agent iteratively modifies a single training file, runs five-minute experiments on a nanochat model, and evaluates performance using validation bits per byte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By fixing the time budget, the agent can complete approximately twelve experiments per hour, searching for the most efficient model architecture and hyperparameters for the specific hardware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project demonstrates a shift toward agentic engineering, where AI researchers move from manual coding to overseeing autonomous agents that handle the low-level iteration and optimization of neural networks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https://github.com/karpathy/autoresearch</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https://x.com/karpathy</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https://www.youtube.com/shorts/g7V0UJv9gT4</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https://garryslist.org/posts/karpathy-just-turned-one-gpu-into-a-research-lab-f55754a6</a:t>
            </a:r>
            <a:r>
              <a:rPr lang="en" sz="900">
                <a:latin typeface="Calibri"/>
                <a:ea typeface="Calibri"/>
                <a:cs typeface="Calibri"/>
                <a:sym typeface="Calibri"/>
              </a:rPr>
              <a:t> </a:t>
            </a:r>
            <a:endParaRPr sz="900">
              <a:latin typeface="Calibri"/>
              <a:ea typeface="Calibri"/>
              <a:cs typeface="Calibri"/>
              <a:sym typeface="Calibri"/>
            </a:endParaRPr>
          </a:p>
        </p:txBody>
      </p:sp>
      <p:pic>
        <p:nvPicPr>
          <p:cNvPr id="265" name="Google Shape;265;p39"/>
          <p:cNvPicPr preferRelativeResize="0"/>
          <p:nvPr/>
        </p:nvPicPr>
        <p:blipFill>
          <a:blip r:embed="rId7">
            <a:alphaModFix/>
          </a:blip>
          <a:stretch>
            <a:fillRect/>
          </a:stretch>
        </p:blipFill>
        <p:spPr>
          <a:xfrm>
            <a:off x="4693495" y="152424"/>
            <a:ext cx="3028950" cy="1514475"/>
          </a:xfrm>
          <a:prstGeom prst="rect">
            <a:avLst/>
          </a:prstGeom>
          <a:noFill/>
          <a:ln w="9525" cap="flat" cmpd="sng">
            <a:solidFill>
              <a:srgbClr val="FF0000"/>
            </a:solidFill>
            <a:prstDash val="solid"/>
            <a:round/>
            <a:headEnd type="none" w="sm" len="sm"/>
            <a:tailEnd type="none" w="sm" len="sm"/>
          </a:ln>
        </p:spPr>
      </p:pic>
      <p:sp>
        <p:nvSpPr>
          <p:cNvPr id="266" name="Google Shape;266;p39"/>
          <p:cNvSpPr txBox="1"/>
          <p:nvPr/>
        </p:nvSpPr>
        <p:spPr>
          <a:xfrm>
            <a:off x="4687075" y="1781582"/>
            <a:ext cx="43758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Modeling a fruit fly brain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wired as in nature, inside a 3D simulated fly body so behaviors emerge from biology, not trained 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“uploaded” animal walks and reacts realistically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 1 year: from a 302‑neuron worm to a ~125k‑neuron fly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Humans ~ 30...80 Bln (only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8"/>
              </a:rPr>
              <a:t>https://flywire.ai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9"/>
              </a:rPr>
              <a:t>https://x.com/michaelandregg/status/2030764512488677736</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10"/>
              </a:rPr>
              <a:t>https://www.youtube.com/watch?v=N2ccho6ug1w</a:t>
            </a:r>
            <a:r>
              <a:rPr lang="en" sz="1200">
                <a:latin typeface="Calibri"/>
                <a:ea typeface="Calibri"/>
                <a:cs typeface="Calibri"/>
                <a:sym typeface="Calibri"/>
              </a:rPr>
              <a:t> - video</a:t>
            </a:r>
            <a:endParaRPr sz="1200">
              <a:latin typeface="Calibri"/>
              <a:ea typeface="Calibri"/>
              <a:cs typeface="Calibri"/>
              <a:sym typeface="Calibri"/>
            </a:endParaRPr>
          </a:p>
        </p:txBody>
      </p:sp>
      <p:pic>
        <p:nvPicPr>
          <p:cNvPr id="267" name="Google Shape;267;p39"/>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6700675" y="3529713"/>
            <a:ext cx="2362200" cy="15144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40"/>
          <p:cNvSpPr txBox="1"/>
          <p:nvPr/>
        </p:nvSpPr>
        <p:spPr>
          <a:xfrm>
            <a:off x="55075" y="63650"/>
            <a:ext cx="450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Alibaba’s Qwen Team Restructuring</a:t>
            </a:r>
            <a:endParaRPr sz="2000" b="1">
              <a:solidFill>
                <a:schemeClr val="dk1"/>
              </a:solidFill>
              <a:latin typeface="Calibri"/>
              <a:ea typeface="Calibri"/>
              <a:cs typeface="Calibri"/>
              <a:sym typeface="Calibri"/>
            </a:endParaRPr>
          </a:p>
        </p:txBody>
      </p:sp>
      <p:sp>
        <p:nvSpPr>
          <p:cNvPr id="273" name="Google Shape;273;p40"/>
          <p:cNvSpPr txBox="1"/>
          <p:nvPr/>
        </p:nvSpPr>
        <p:spPr>
          <a:xfrm>
            <a:off x="43820" y="515926"/>
            <a:ext cx="45039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Massive leadership exodus from Alibaba’s Qwen team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Tech lead Junyang Lynn and several core contributors resigned</a:t>
            </a:r>
            <a:r>
              <a:rPr lang="en" sz="1200">
                <a:latin typeface="Calibri"/>
                <a:ea typeface="Calibri"/>
                <a:cs typeface="Calibri"/>
                <a:sym typeface="Calibri"/>
              </a:rPr>
              <a:t> after a corporate restructuring that shifted the team from a fast-moving, vertically integrated unit to a fragmented, "horizontal" module system managed by Alibaba Cloud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This "geminification" prioritizes commercial applications over the development of underlying open-source model capabilities.</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Qwen is currently the world’s most downloaded open-source model family, uniquely specializing in small, efficient language models that run on consumer hardware </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However, the intense "consumer AI war" in China against ByteDance has weakened Alibaba's incentive to give away high-performance models for free </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If Qwen stops its open-source output, it will leave a massive gap in the practical AI ecosystem that no other company is currently positioned to fill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https://www.youtube.com/watch?v=TJ5okrPNmWQ</a:t>
            </a:r>
            <a:endParaRPr sz="1200">
              <a:latin typeface="Calibri"/>
              <a:ea typeface="Calibri"/>
              <a:cs typeface="Calibri"/>
              <a:sym typeface="Calibri"/>
            </a:endParaRPr>
          </a:p>
        </p:txBody>
      </p:sp>
      <p:pic>
        <p:nvPicPr>
          <p:cNvPr id="274" name="Google Shape;274;p4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28398" y="1023321"/>
            <a:ext cx="2931749" cy="1601325"/>
          </a:xfrm>
          <a:prstGeom prst="rect">
            <a:avLst/>
          </a:prstGeom>
          <a:noFill/>
          <a:ln w="9525" cap="flat" cmpd="sng">
            <a:solidFill>
              <a:srgbClr val="FF0000"/>
            </a:solidFill>
            <a:prstDash val="solid"/>
            <a:round/>
            <a:headEnd type="none" w="sm" len="sm"/>
            <a:tailEnd type="none" w="sm" len="sm"/>
          </a:ln>
        </p:spPr>
      </p:pic>
      <p:sp>
        <p:nvSpPr>
          <p:cNvPr id="275" name="Google Shape;275;p40"/>
          <p:cNvSpPr txBox="1"/>
          <p:nvPr/>
        </p:nvSpPr>
        <p:spPr>
          <a:xfrm>
            <a:off x="4828399" y="3389575"/>
            <a:ext cx="34518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Alibaba Qwen 3.5 Medium</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This v.3.5 35-Bln outperforms </a:t>
            </a:r>
            <a:r>
              <a:rPr lang="en" sz="1100">
                <a:solidFill>
                  <a:schemeClr val="dk1"/>
                </a:solidFill>
                <a:latin typeface="Calibri"/>
                <a:ea typeface="Calibri"/>
                <a:cs typeface="Calibri"/>
                <a:sym typeface="Calibri"/>
              </a:rPr>
              <a:t>v.3.0 </a:t>
            </a:r>
            <a:r>
              <a:rPr lang="en" sz="1100">
                <a:latin typeface="Calibri"/>
                <a:ea typeface="Calibri"/>
                <a:cs typeface="Calibri"/>
                <a:sym typeface="Calibri"/>
              </a:rPr>
              <a:t>235-Bln params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Model efficiency is advancing faster than model scale. </a:t>
            </a:r>
            <a:endParaRPr sz="1100">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41"/>
          <p:cNvSpPr txBox="1"/>
          <p:nvPr/>
        </p:nvSpPr>
        <p:spPr>
          <a:xfrm>
            <a:off x="55075" y="63650"/>
            <a:ext cx="450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is Killing Consulting</a:t>
            </a:r>
            <a:endParaRPr sz="2000" b="1">
              <a:solidFill>
                <a:schemeClr val="dk1"/>
              </a:solidFill>
              <a:latin typeface="Calibri"/>
              <a:ea typeface="Calibri"/>
              <a:cs typeface="Calibri"/>
              <a:sym typeface="Calibri"/>
            </a:endParaRPr>
          </a:p>
        </p:txBody>
      </p:sp>
      <p:sp>
        <p:nvSpPr>
          <p:cNvPr id="281" name="Google Shape;281;p41"/>
          <p:cNvSpPr txBox="1"/>
          <p:nvPr/>
        </p:nvSpPr>
        <p:spPr>
          <a:xfrm>
            <a:off x="55070" y="476376"/>
            <a:ext cx="45039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Julia McCoy argues that the traditional $300-an-hour consulting industry is being rendered obsolete by advanced AI</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http://www.youtube.com/watch?v=M8VNj21ew_4</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She highlights how the core value of consulting - research, synthesis, competitive analysis, and polished communication - is now handled more efficiently by tools like Abacus AI’s Chat LLM</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McCoy shows in real-time demo the AI conducting market research and generating a professional, 15-slide strategic deck in just four minutes - a task that typically costs $25,000 and takes weeks for a consulting firm to complete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While top-tier firms may survive by focusing on human relationships, she concludes that mid-market strategy consulting is dying</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Businesses adopting AI for strategic intelligence will gain a significant competitive advantage by moving faster and reducing costs</a:t>
            </a:r>
            <a:endParaRPr sz="1200">
              <a:latin typeface="Calibri"/>
              <a:ea typeface="Calibri"/>
              <a:cs typeface="Calibri"/>
              <a:sym typeface="Calibri"/>
            </a:endParaRPr>
          </a:p>
        </p:txBody>
      </p:sp>
      <p:pic>
        <p:nvPicPr>
          <p:cNvPr id="282" name="Google Shape;282;p41"/>
          <p:cNvPicPr preferRelativeResize="0"/>
          <p:nvPr/>
        </p:nvPicPr>
        <p:blipFill>
          <a:blip r:embed="rId4">
            <a:alphaModFix/>
          </a:blip>
          <a:stretch>
            <a:fillRect/>
          </a:stretch>
        </p:blipFill>
        <p:spPr>
          <a:xfrm>
            <a:off x="4774300" y="551900"/>
            <a:ext cx="2971800" cy="1581150"/>
          </a:xfrm>
          <a:prstGeom prst="rect">
            <a:avLst/>
          </a:prstGeom>
          <a:noFill/>
          <a:ln>
            <a:noFill/>
          </a:ln>
        </p:spPr>
      </p:pic>
      <p:sp>
        <p:nvSpPr>
          <p:cNvPr id="283" name="Google Shape;283;p41"/>
          <p:cNvSpPr txBox="1"/>
          <p:nvPr/>
        </p:nvSpPr>
        <p:spPr>
          <a:xfrm>
            <a:off x="55070" y="3246126"/>
            <a:ext cx="45039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Skipping the "Front Door" - Alex Karp, Palantir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Current websites are designed for humans to browse and compare.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agents will skip these "middlemen" by going directly to data and transactions via APIs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Middleman sites that rely on ad impressions and affiliate clicks will "evaporate" will lose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Business are shifting focus to rebuilding software to be AI-native from the ground up</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https://www.youtube.com/watch?v=KZnuFadL7xM</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84" name="Google Shape;284;p41"/>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774300" y="2978975"/>
            <a:ext cx="1529850" cy="19480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42"/>
          <p:cNvSpPr txBox="1"/>
          <p:nvPr/>
        </p:nvSpPr>
        <p:spPr>
          <a:xfrm>
            <a:off x="55075" y="63650"/>
            <a:ext cx="450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in Business</a:t>
            </a:r>
            <a:endParaRPr sz="2000" b="1">
              <a:solidFill>
                <a:schemeClr val="dk1"/>
              </a:solidFill>
              <a:latin typeface="Calibri"/>
              <a:ea typeface="Calibri"/>
              <a:cs typeface="Calibri"/>
              <a:sym typeface="Calibri"/>
            </a:endParaRPr>
          </a:p>
        </p:txBody>
      </p:sp>
      <p:sp>
        <p:nvSpPr>
          <p:cNvPr id="290" name="Google Shape;290;p42"/>
          <p:cNvSpPr txBox="1"/>
          <p:nvPr/>
        </p:nvSpPr>
        <p:spPr>
          <a:xfrm>
            <a:off x="55075" y="423621"/>
            <a:ext cx="4402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AI-native companies are winning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Success now depends on deciding which tasks to give to specific AI models versus human experts.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AI acts as an amplifier; it improved performance for skilled entrepreneurs - but decreased it for those lacking the judgment to filter "AI slop"</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From Chats to Agents planning and executing</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Scaling with on-demand compute instead of massive headcounts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Strategic focus on "earned insights", solving specific user bottlenecks with "a drop of AI" rather than over-engineering complex tools.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https://www.youtube.com/watch?v=I08ZeY7QcrE</a:t>
            </a:r>
            <a:r>
              <a:rPr lang="en" sz="1200">
                <a:latin typeface="Calibri"/>
                <a:ea typeface="Calibri"/>
                <a:cs typeface="Calibri"/>
                <a:sym typeface="Calibri"/>
              </a:rPr>
              <a:t> </a:t>
            </a:r>
            <a:endParaRPr sz="1200">
              <a:latin typeface="Calibri"/>
              <a:ea typeface="Calibri"/>
              <a:cs typeface="Calibri"/>
              <a:sym typeface="Calibri"/>
            </a:endParaRPr>
          </a:p>
        </p:txBody>
      </p:sp>
      <p:sp>
        <p:nvSpPr>
          <p:cNvPr id="291" name="Google Shape;291;p42"/>
          <p:cNvSpPr txBox="1"/>
          <p:nvPr/>
        </p:nvSpPr>
        <p:spPr>
          <a:xfrm>
            <a:off x="55075" y="2692192"/>
            <a:ext cx="44025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Transformation - Changing Business Roles and Processes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Models are good enough, but the way they are used in business is lagging. Companies are still using old processes.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True productivity gains require becoming "AI-native," which involves changing team structures, skill sets, and default workflows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"RAPID 5" Framework: A strategy for transformation: Reveal (map workflows), Architect (design AI-native models), Proof (real-world pilots), Ingrain (identity shift), and Dynamize (90-day reassessment cycles)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New Roles: The rise of "Forward-Deployed Engineers" at top AI labs shows that the current priority is helping customers bridge the gap between AI capability and practical use.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https://www.youtube.com/watch?v=cglc_BR04GE</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43"/>
          <p:cNvSpPr txBox="1"/>
          <p:nvPr/>
        </p:nvSpPr>
        <p:spPr>
          <a:xfrm>
            <a:off x="55075" y="63650"/>
            <a:ext cx="450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in Business</a:t>
            </a:r>
            <a:endParaRPr sz="2000" b="1">
              <a:solidFill>
                <a:schemeClr val="dk1"/>
              </a:solidFill>
              <a:latin typeface="Calibri"/>
              <a:ea typeface="Calibri"/>
              <a:cs typeface="Calibri"/>
              <a:sym typeface="Calibri"/>
            </a:endParaRPr>
          </a:p>
        </p:txBody>
      </p:sp>
      <p:sp>
        <p:nvSpPr>
          <p:cNvPr id="297" name="Google Shape;297;p43"/>
          <p:cNvSpPr txBox="1"/>
          <p:nvPr/>
        </p:nvSpPr>
        <p:spPr>
          <a:xfrm>
            <a:off x="55075" y="407589"/>
            <a:ext cx="4402500" cy="3481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AI Needs Management Consultants After All</a:t>
            </a:r>
            <a:endParaRPr sz="12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https://www.wsj.com/tech/ai/ai-needs-management-consultants-after-all-bd28ecb9</a:t>
            </a:r>
            <a:endParaRPr sz="9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Despite initially threatening to replace consultants, AI is now boosting the consulting industry</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OpenAI and Anthropic are partnering with major firms like McKinsey, BCG, Accenture, and Deloitte to help businesses fully implement AI technologies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Surveys reveal two-thirds of organizations haven't scaled AI enterprise-wide, with many CEOs reporting no significant financial benefits yet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These partnerships combine AI companies' engineering teams with consultants to help businesses redesign workflows and integrate AI systems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consulting model is shifting from traditional junior-associate heavy teams toward outcome-based pricing and more engineers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While AI threatens data-crunching roles, executives still value human accountability and senior expertise for critical decisions, as one VC noted, companies "want a throat to choke" when things go wrong.</a:t>
            </a:r>
            <a:endParaRPr sz="1200">
              <a:latin typeface="Calibri"/>
              <a:ea typeface="Calibri"/>
              <a:cs typeface="Calibri"/>
              <a:sym typeface="Calibri"/>
            </a:endParaRPr>
          </a:p>
        </p:txBody>
      </p:sp>
      <p:pic>
        <p:nvPicPr>
          <p:cNvPr id="298" name="Google Shape;298;p4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85475" y="423625"/>
            <a:ext cx="3610434" cy="3158400"/>
          </a:xfrm>
          <a:prstGeom prst="rect">
            <a:avLst/>
          </a:prstGeom>
          <a:noFill/>
          <a:ln w="9525" cap="flat" cmpd="sng">
            <a:solidFill>
              <a:srgbClr val="FF0000"/>
            </a:solidFill>
            <a:prstDash val="solid"/>
            <a:round/>
            <a:headEnd type="none" w="sm" len="sm"/>
            <a:tailEnd type="none" w="sm" len="sm"/>
          </a:ln>
        </p:spPr>
      </p:pic>
      <p:sp>
        <p:nvSpPr>
          <p:cNvPr id="299" name="Google Shape;299;p43"/>
          <p:cNvSpPr txBox="1"/>
          <p:nvPr/>
        </p:nvSpPr>
        <p:spPr>
          <a:xfrm>
            <a:off x="55075" y="3953046"/>
            <a:ext cx="44025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Top AI agents can only complete 2.5% of real-world tasks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Yet companies like Block, Salesforce, and Amazon are citing AI in massive layoff announcements.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https://arxiv.org/pdf/2510.26787</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https://www.sabrina.dev/p/big-lie-behind-tech-layoffs</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7"/>
              </a:rPr>
              <a:t>https://www.youtube.com/watch?v=a1Vd85ilWiI</a:t>
            </a:r>
            <a:r>
              <a:rPr lang="en" sz="1200">
                <a:latin typeface="Calibri"/>
                <a:ea typeface="Calibri"/>
                <a:cs typeface="Calibri"/>
                <a:sym typeface="Calibri"/>
              </a:rPr>
              <a:t> - video</a:t>
            </a:r>
            <a:endParaRPr sz="1200">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304" name="Google Shape;304;p44"/>
          <p:cNvSpPr txBox="1"/>
          <p:nvPr/>
        </p:nvSpPr>
        <p:spPr>
          <a:xfrm>
            <a:off x="55075" y="63650"/>
            <a:ext cx="450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Hallucinations in 2026</a:t>
            </a:r>
            <a:endParaRPr sz="2000" b="1">
              <a:solidFill>
                <a:schemeClr val="dk1"/>
              </a:solidFill>
              <a:latin typeface="Calibri"/>
              <a:ea typeface="Calibri"/>
              <a:cs typeface="Calibri"/>
              <a:sym typeface="Calibri"/>
            </a:endParaRPr>
          </a:p>
        </p:txBody>
      </p:sp>
      <p:sp>
        <p:nvSpPr>
          <p:cNvPr id="305" name="Google Shape;305;p44"/>
          <p:cNvSpPr txBox="1"/>
          <p:nvPr/>
        </p:nvSpPr>
        <p:spPr>
          <a:xfrm>
            <a:off x="55075" y="407589"/>
            <a:ext cx="4402500" cy="391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Nearly half of all executives admit to making major company decisions based on unchecked AI content</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Employees spend an average of 4 hrs/week double-checking AI output</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Even top academic conferences have been affected, unknowingly accepting dozens of papers containing fake, AI-generated citations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 top-tier model might hallucinate 88% of the time when asked questions it doesn't know; realistic hallucination rate in normal complex conversations is approximately 30%</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AI models are 34% more likely to use confident language (e.g., "certainly," "definitely") at the exact moment they are providing incorrect information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Grok 3 was found to fail citation accuracy 94% of the time, often providing real links but inventing the content supposedly found within them</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Hallucination rates vary depending on whether you are testing for "faithfulness" (summarization) or "intellectual honesty" (admitting ignorance)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Claude prioritizes intellectual honesty, scoring a 0% hallucination rate on specific tests because it refuses to guess when it doesn't know an answer</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Gemini has a broader knowledge base but is more aggressive in fabricating answers, guessing incorrectly about half the time in similar tests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GPT Models - turning on web access is the most effective way to reduce hallucinations in GPT models, plummeting the error rate from 47% to under 10%</a:t>
            </a:r>
            <a:endParaRPr sz="1100">
              <a:latin typeface="Calibri"/>
              <a:ea typeface="Calibri"/>
              <a:cs typeface="Calibri"/>
              <a:sym typeface="Calibri"/>
            </a:endParaRPr>
          </a:p>
        </p:txBody>
      </p:sp>
      <p:sp>
        <p:nvSpPr>
          <p:cNvPr id="306" name="Google Shape;306;p44"/>
          <p:cNvSpPr txBox="1"/>
          <p:nvPr/>
        </p:nvSpPr>
        <p:spPr>
          <a:xfrm>
            <a:off x="4558975" y="407589"/>
            <a:ext cx="44025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AI models are not databases; they are prediction engines designed to find the most statistically plausible next word, not the "truth"</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Goal Conflict - there is a fundamental trade-off between being truthful, comprehensive, and honest about limits; a model can achieve some of these goals simultaneously, but never all of them</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How to manage hallucinations: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Tier 1 (70%+ Reduction) - use Web Search and RAG (Retrieval-Augmented Generation) to force the AI to use specific, verified documents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Tier 2 &amp; 3 - Implement cross-checking (using one AI to check another) and specialized prompting techniques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http://www.youtube.com/watch?v=fHas3Dg1okk</a:t>
            </a:r>
            <a:r>
              <a:rPr lang="en" sz="1100">
                <a:latin typeface="Calibri"/>
                <a:ea typeface="Calibri"/>
                <a:cs typeface="Calibri"/>
                <a:sym typeface="Calibri"/>
              </a:rPr>
              <a:t> </a:t>
            </a:r>
            <a:endParaRPr sz="1100">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sp>
        <p:nvSpPr>
          <p:cNvPr id="311" name="Google Shape;311;p45"/>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12" name="Google Shape;312;p45"/>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13" name="Google Shape;313;p45"/>
          <p:cNvSpPr txBox="1"/>
          <p:nvPr/>
        </p:nvSpPr>
        <p:spPr>
          <a:xfrm>
            <a:off x="5549900" y="375077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25K  in 2026 </a:t>
            </a:r>
            <a:r>
              <a:rPr lang="en" sz="1000" b="1">
                <a:solidFill>
                  <a:schemeClr val="dk1"/>
                </a:solidFill>
                <a:latin typeface="Roboto Mono"/>
                <a:ea typeface="Roboto Mono"/>
                <a:cs typeface="Roboto Mono"/>
                <a:sym typeface="Roboto Mono"/>
              </a:rPr>
              <a:t>(as of February 6,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14" name="Google Shape;314;p45"/>
          <p:cNvSpPr txBox="1"/>
          <p:nvPr/>
        </p:nvSpPr>
        <p:spPr>
          <a:xfrm>
            <a:off x="5549900" y="518450"/>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28,825</a:t>
            </a:r>
            <a:r>
              <a:rPr lang="en" sz="1200">
                <a:latin typeface="Calibri"/>
                <a:ea typeface="Calibri"/>
                <a:cs typeface="Calibri"/>
                <a:sym typeface="Calibri"/>
              </a:rPr>
              <a:t> people laid off (779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315" name="Google Shape;315;p4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3183" y="3150994"/>
            <a:ext cx="5198610" cy="1970675"/>
          </a:xfrm>
          <a:prstGeom prst="rect">
            <a:avLst/>
          </a:prstGeom>
          <a:noFill/>
          <a:ln w="9525" cap="flat" cmpd="sng">
            <a:solidFill>
              <a:srgbClr val="FF0000"/>
            </a:solidFill>
            <a:prstDash val="solid"/>
            <a:round/>
            <a:headEnd type="none" w="sm" len="sm"/>
            <a:tailEnd type="none" w="sm" len="sm"/>
          </a:ln>
        </p:spPr>
      </p:pic>
      <p:pic>
        <p:nvPicPr>
          <p:cNvPr id="316" name="Google Shape;316;p4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3175" y="453138"/>
            <a:ext cx="5198627" cy="26670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pic>
        <p:nvPicPr>
          <p:cNvPr id="321" name="Google Shape;321;p4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22" name="Google Shape;322;p46"/>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23" name="Google Shape;323;p46"/>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24" name="Google Shape;324;p46"/>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25" name="Google Shape;325;p46"/>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26" name="Google Shape;326;p46"/>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p47"/>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6456</Words>
  <Application>Microsoft Macintosh PowerPoint</Application>
  <PresentationFormat>On-screen Show (16:9)</PresentationFormat>
  <Paragraphs>600</Paragraphs>
  <Slides>33</Slides>
  <Notes>33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Roboto Mono</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2026-03-10T22:02:23Z</dcterms:modified>
</cp:coreProperties>
</file>