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embeddedFontLst>
    <p:embeddedFont>
      <p:font typeface="Roboto Mono" pitchFamily="49" charset="0"/>
      <p:regular r:id="rId28"/>
      <p:bold r:id="rId29"/>
      <p:italic r:id="rId30"/>
      <p:boldItalic r:id="rId3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0ACB243-FEF2-4516-BF77-929AA06F71E7}">
  <a:tblStyle styleId="{00ACB243-FEF2-4516-BF77-929AA06F71E7}"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67"/>
  </p:normalViewPr>
  <p:slideViewPr>
    <p:cSldViewPr>
      <p:cViewPr varScale="1">
        <p:scale>
          <a:sx n="124" d="100"/>
          <a:sy n="124" d="100"/>
        </p:scale>
        <p:origin x="57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font" Target="fonts/font3.fntdata"/><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g3f438d3c22e_0_1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 name="Google Shape;71;g3f438d3c22e_0_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
        <p:cNvGrpSpPr/>
        <p:nvPr/>
      </p:nvGrpSpPr>
      <p:grpSpPr>
        <a:xfrm>
          <a:off x="0" y="0"/>
          <a:ext cx="0" cy="0"/>
          <a:chOff x="0" y="0"/>
          <a:chExt cx="0" cy="0"/>
        </a:xfrm>
      </p:grpSpPr>
      <p:sp>
        <p:nvSpPr>
          <p:cNvPr id="84" name="Google Shape;84;g3f44057ba97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5" name="Google Shape;85;g3f44057ba97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3ec31c57a0e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9" name="Google Shape;99;g3ec31c57a0e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g3f360dcafd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0" name="Google Shape;110;g3f360dcafd5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39318675434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8" name="Google Shape;118;g39318675434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p:cNvGrpSpPr/>
        <p:nvPr/>
      </p:nvGrpSpPr>
      <p:grpSpPr>
        <a:xfrm>
          <a:off x="0" y="0"/>
          <a:ext cx="0" cy="0"/>
          <a:chOff x="0" y="0"/>
          <a:chExt cx="0" cy="0"/>
        </a:xfrm>
      </p:grpSpPr>
      <p:sp>
        <p:nvSpPr>
          <p:cNvPr id="123" name="Google Shape;123;g3f474bfdc71_0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4" name="Google Shape;124;g3f474bfdc71_0_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g3f0e85182cf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3" name="Google Shape;133;g3f0e85182cf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g3f3853f30df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3" name="Google Shape;143;g3f3853f30df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3f0524d125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2" name="Google Shape;152;g3f0524d1255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g3f07bc85b8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3" name="Google Shape;163;g3f07bc85b86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g3f07d2ac75c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1" name="Google Shape;171;g3f07d2ac75c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g3f0a9b10c5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0" name="Google Shape;180;g3f0a9b10c5b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f0c640d32e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9" name="Google Shape;189;g3f0c640d32e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g3f0caa37cf3_0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8" name="Google Shape;198;g3f0caa37cf3_0_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g3f0caa37cf3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8" name="Google Shape;208;g3f0caa37cf3_0_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f3741c5caa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6" name="Google Shape;216;g3f3741c5caa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g3f3853f30df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5" name="Google Shape;225;g3f3853f30df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g3f3853f30df_1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4" name="Google Shape;234;g3f3853f30df_1_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g3f3853f30df_1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1" name="Google Shape;241;g3f3853f30df_1_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3f474bfdc71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8" name="Google Shape;248;g3f474bfdc71_0_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g3f438d3c22e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7" name="Google Shape;257;g3f438d3c22e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g3d971967e09_0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6" name="Google Shape;266;g3d971967e09_0_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5"/>
        <p:cNvGrpSpPr/>
        <p:nvPr/>
      </p:nvGrpSpPr>
      <p:grpSpPr>
        <a:xfrm>
          <a:off x="0" y="0"/>
          <a:ext cx="0" cy="0"/>
          <a:chOff x="0" y="0"/>
          <a:chExt cx="0" cy="0"/>
        </a:xfrm>
      </p:grpSpPr>
      <p:sp>
        <p:nvSpPr>
          <p:cNvPr id="276" name="Google Shape;276;g3d971967e09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7" name="Google Shape;277;g3d971967e09_0_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g3d971967e09_0_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7" name="Google Shape;287;g3d971967e09_0_3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claude.md"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lmarena.ai/leaderboard/text-to-image" TargetMode="External"/><Relationship Id="rId26" Type="http://schemas.openxmlformats.org/officeDocument/2006/relationships/hyperlink" Target="https://ai.meta.com/blog/introducing-muse-spark-msl/" TargetMode="External"/><Relationship Id="rId39" Type="http://schemas.openxmlformats.org/officeDocument/2006/relationships/hyperlink" Target="https://grok.com" TargetMode="External"/><Relationship Id="rId21" Type="http://schemas.openxmlformats.org/officeDocument/2006/relationships/hyperlink" Target="https://www.anthropic.com/news/claude-opus-4-6" TargetMode="External"/><Relationship Id="rId34" Type="http://schemas.openxmlformats.org/officeDocument/2006/relationships/hyperlink" Target="https://developers.openai.com/api/docs/models/gpt-5.2-chat-latest" TargetMode="External"/><Relationship Id="rId42" Type="http://schemas.openxmlformats.org/officeDocument/2006/relationships/hyperlink" Target="https://docs.x.ai/developers/models/grok-4.20-multi-agent-beta-0309" TargetMode="External"/><Relationship Id="rId7" Type="http://schemas.openxmlformats.org/officeDocument/2006/relationships/hyperlink" Target="https://openlm.ai/chatbot-arena/"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www.anthropic.com/news/claude-opus-4-7" TargetMode="External"/><Relationship Id="rId29" Type="http://schemas.openxmlformats.org/officeDocument/2006/relationships/hyperlink" Target="https://platform.openai.com/docs/models/gpt-5.4" TargetMode="External"/><Relationship Id="rId41" Type="http://schemas.openxmlformats.org/officeDocument/2006/relationships/hyperlink" Target="https://openai.com/index/gpt-5-5-instant"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www.anthropic.com/news/claude-sonnet-4-6" TargetMode="External"/><Relationship Id="rId32" Type="http://schemas.openxmlformats.org/officeDocument/2006/relationships/hyperlink" Target="https://aistudio.google.com/app/prompts/new_chat?model=gemini-3-pro-preview" TargetMode="External"/><Relationship Id="rId37" Type="http://schemas.openxmlformats.org/officeDocument/2006/relationships/hyperlink" Target="https://docs.x.ai/developers/models/grok-4.20-beta-0309-reasoning" TargetMode="External"/><Relationship Id="rId40" Type="http://schemas.openxmlformats.org/officeDocument/2006/relationships/hyperlink" Target="https://blog.google/products/gemini/gemini-3-flash"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www.anthropic.com/news/claude-opus-4-5" TargetMode="External"/><Relationship Id="rId28" Type="http://schemas.openxmlformats.org/officeDocument/2006/relationships/hyperlink" Target="https://blog.google/innovation-and-ai/models-and-research/gemini-models/gemini-3-1-pro/" TargetMode="External"/><Relationship Id="rId36" Type="http://schemas.openxmlformats.org/officeDocument/2006/relationships/hyperlink" Target="https://www.anthropic.com/news/claude-sonnet-5" TargetMode="External"/><Relationship Id="rId10" Type="http://schemas.openxmlformats.org/officeDocument/2006/relationships/hyperlink" Target="https://llmworld.net/llm_leaderboards/" TargetMode="External"/><Relationship Id="rId19" Type="http://schemas.openxmlformats.org/officeDocument/2006/relationships/hyperlink" Target="https://www.anthropic.com/news/claude-fable-5-mythos-5" TargetMode="External"/><Relationship Id="rId31" Type="http://schemas.openxmlformats.org/officeDocument/2006/relationships/hyperlink" Target="https://mimo.xiaomi.com/mimo-v2-5-pro/"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www.anthropic.com/news/claude-opus-4-8" TargetMode="External"/><Relationship Id="rId27" Type="http://schemas.openxmlformats.org/officeDocument/2006/relationships/hyperlink" Target="https://huggingface.co/zai-org/GLM-5.1" TargetMode="External"/><Relationship Id="rId30" Type="http://schemas.openxmlformats.org/officeDocument/2006/relationships/hyperlink" Target="https://www.anthropic.com/news/claude-sonnet-4-5" TargetMode="External"/><Relationship Id="rId35" Type="http://schemas.openxmlformats.org/officeDocument/2006/relationships/hyperlink" Target="https://huggingface.co/zai-org/GLM-5.2"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aiarena.alibaba-inc.com/corpora/arena/leaderboard?arenaType=T2I" TargetMode="External"/><Relationship Id="rId25" Type="http://schemas.openxmlformats.org/officeDocument/2006/relationships/hyperlink" Target="https://chat.qwen.ai/?models=Qwen3.7-Max-Preview" TargetMode="External"/><Relationship Id="rId33" Type="http://schemas.openxmlformats.org/officeDocument/2006/relationships/hyperlink" Target="https://openai.com/index/introducing-gpt-5-5/" TargetMode="External"/><Relationship Id="rId38" Type="http://schemas.openxmlformats.org/officeDocument/2006/relationships/hyperlink" Target="https://blog.google/innovation-and-ai/models-and-research/gemini-models/gemini-3-5/" TargetMode="External"/></Relationships>
</file>

<file path=ppt/slides/_rels/slide3.xml.rels><?xml version="1.0" encoding="UTF-8" standalone="yes"?>
<Relationships xmlns="http://schemas.openxmlformats.org/package/2006/relationships"><Relationship Id="rId8" Type="http://schemas.openxmlformats.org/officeDocument/2006/relationships/hyperlink" Target="https://www.youtube.com/watch?v=d6R3tsSD270" TargetMode="External"/><Relationship Id="rId3" Type="http://schemas.openxmlformats.org/officeDocument/2006/relationships/hyperlink" Target="https://www.youtube.com/watch?v=mD1F5DsC5tc" TargetMode="External"/><Relationship Id="rId7"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hyperlink" Target="http://claude.md" TargetMode="External"/><Relationship Id="rId7"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hyperlink" Target="https://x.com/bcherny/status/2071379474277613732" TargetMode="External"/><Relationship Id="rId5" Type="http://schemas.openxmlformats.org/officeDocument/2006/relationships/image" Target="../media/image5.png"/><Relationship Id="rId4" Type="http://schemas.openxmlformats.org/officeDocument/2006/relationships/hyperlink" Target="https://www.youtube.com/watch?v=9nTG1B1No_E"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www.youtube.com/watch?v=J0D7qV3nl7w"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hyperlink" Target="https://www.youtube.com/watch?v=wDpN2ORnqZk" TargetMode="External"/><Relationship Id="rId4" Type="http://schemas.openxmlformats.org/officeDocument/2006/relationships/hyperlink" Target="http://z.ai"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watch?v=Yot-6wXrcyI"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hyperlink" Target="https://www.youtube.com/watch?v=i6r0GyFpI4I" TargetMode="External"/><Relationship Id="rId5" Type="http://schemas.openxmlformats.org/officeDocument/2006/relationships/image" Target="../media/image9.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8" Type="http://schemas.openxmlformats.org/officeDocument/2006/relationships/hyperlink" Target="https://github.com/ComposioHQ/composio/blob/master/docs/introduction/intro/overview.mdx" TargetMode="External"/><Relationship Id="rId3" Type="http://schemas.openxmlformats.org/officeDocument/2006/relationships/hyperlink" Target="https://x.com/karpathy/status/2069547676849557725" TargetMode="External"/><Relationship Id="rId7" Type="http://schemas.openxmlformats.org/officeDocument/2006/relationships/hyperlink" Target="https://aws.amazon.com/marketplace/pp/prodview-skjxykuajjn34"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hyperlink" Target="https://github.com/ComposioHQ/composio" TargetMode="External"/><Relationship Id="rId11" Type="http://schemas.openxmlformats.org/officeDocument/2006/relationships/image" Target="../media/image12.png"/><Relationship Id="rId5" Type="http://schemas.openxmlformats.org/officeDocument/2006/relationships/hyperlink" Target="https://composio.dev" TargetMode="External"/><Relationship Id="rId10" Type="http://schemas.openxmlformats.org/officeDocument/2006/relationships/image" Target="../media/image11.png"/><Relationship Id="rId4" Type="http://schemas.openxmlformats.org/officeDocument/2006/relationships/hyperlink" Target="https://www.youtube.com/watch?v=eMVaGOsfYs8" TargetMode="External"/><Relationship Id="rId9"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hyperlink" Target="https://www.tencent.com/en-us/articles/2202386.html"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hyperlink" Target="https://www.youtube.com/watch?v=1KKB_UiW6ls" TargetMode="Externa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hyperlink" Target="https://www.theguardian.com/science/2024/feb/05/ai-helps-scholars-read-scroll-buried-when-vesuvius-erupted-in-ad79" TargetMode="External"/><Relationship Id="rId7" Type="http://schemas.openxmlformats.org/officeDocument/2006/relationships/image" Target="../media/image17.jpe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6.jpeg"/><Relationship Id="rId5" Type="http://schemas.openxmlformats.org/officeDocument/2006/relationships/image" Target="../media/image15.png"/><Relationship Id="rId4" Type="http://schemas.openxmlformats.org/officeDocument/2006/relationships/hyperlink" Target="https://www.youtube.com/watch?v=fOLu-pWQssQ"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watch?v=AgpeggCsRH4"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hyperlink" Target="https://www.youtube.com/watch?v=31MvP7yHzxM" TargetMode="External"/><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8" Type="http://schemas.openxmlformats.org/officeDocument/2006/relationships/hyperlink" Target="https://code.claude.com/docs/en/chrome" TargetMode="External"/><Relationship Id="rId3" Type="http://schemas.openxmlformats.org/officeDocument/2006/relationships/hyperlink" Target="https://www.youtube.com/watch?v=T33iI6izAKw" TargetMode="External"/><Relationship Id="rId7" Type="http://schemas.openxmlformats.org/officeDocument/2006/relationships/hyperlink" Target="https://www.anthropic.com/news/claude-for-chrome"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hyperlink" Target="https://claude.ai/chrome" TargetMode="External"/><Relationship Id="rId5" Type="http://schemas.openxmlformats.org/officeDocument/2006/relationships/hyperlink" Target="https://claude.com/claude-for-chrome" TargetMode="External"/><Relationship Id="rId10" Type="http://schemas.openxmlformats.org/officeDocument/2006/relationships/image" Target="../media/image20.png"/><Relationship Id="rId4" Type="http://schemas.openxmlformats.org/officeDocument/2006/relationships/hyperlink" Target="https://www.youtube.com/watch?v=VHKXIHP4i10" TargetMode="External"/><Relationship Id="rId9"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hyperlink" Target="https://towardsdatascience.com/llm-wikis-are-over-engineered-i-replaced-mine-with-a-pure-python-compiler/"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hyperlink" Target="https://www.youtube.com/watch?v=OgT1Or4OP1k" TargetMode="External"/><Relationship Id="rId4" Type="http://schemas.openxmlformats.org/officeDocument/2006/relationships/hyperlink" Target="https://www.youtube.com/watch?v=o0gkdZBtwEg"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www.forbes.com/sites/johnkoetsier/2026/07/02/boston-dynamics-new-atlas-humanoid-robot-order-of-magnitude-simpler/"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3.jpeg"/><Relationship Id="rId5" Type="http://schemas.openxmlformats.org/officeDocument/2006/relationships/hyperlink" Target="https://www.ubtrobot.com" TargetMode="External"/><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3" Type="http://schemas.openxmlformats.org/officeDocument/2006/relationships/hyperlink" Target="https://www.youtube.com/watch?v=aUftJ0xBmeY"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3" Type="http://schemas.openxmlformats.org/officeDocument/2006/relationships/hyperlink" Target="https://www.youtube.com/watch?v=tv17bmE2FNY"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hyperlink" Target="https://www.youtube.com/watch?v=2RVz67hxSAU" TargetMode="External"/><Relationship Id="rId4" Type="http://schemas.openxmlformats.org/officeDocument/2006/relationships/image" Target="../media/image27.jpeg"/></Relationships>
</file>

<file path=ppt/slides/_rels/slide17.xml.rels><?xml version="1.0" encoding="UTF-8" standalone="yes"?>
<Relationships xmlns="http://schemas.openxmlformats.org/package/2006/relationships"><Relationship Id="rId3" Type="http://schemas.openxmlformats.org/officeDocument/2006/relationships/hyperlink" Target="https://www.linkedin.com/pulse/learned-helplessness-service-viacheslav-kasatkin-dvupc/"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29.png"/><Relationship Id="rId4" Type="http://schemas.openxmlformats.org/officeDocument/2006/relationships/image" Target="../media/image28.jpeg"/></Relationships>
</file>

<file path=ppt/slides/_rels/slide18.xml.rels><?xml version="1.0" encoding="UTF-8" standalone="yes"?>
<Relationships xmlns="http://schemas.openxmlformats.org/package/2006/relationships"><Relationship Id="rId3" Type="http://schemas.openxmlformats.org/officeDocument/2006/relationships/hyperlink" Target="https://www.youtube.com/watch?v=mQfTdNVCOB0"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31.jpeg"/><Relationship Id="rId5" Type="http://schemas.openxmlformats.org/officeDocument/2006/relationships/hyperlink" Target="https://claude2video.com/blog/claude-design-june-2026-update" TargetMode="External"/><Relationship Id="rId4" Type="http://schemas.openxmlformats.org/officeDocument/2006/relationships/image" Target="../media/image30.png"/></Relationships>
</file>

<file path=ppt/slides/_rels/slide19.xml.rels><?xml version="1.0" encoding="UTF-8" standalone="yes"?>
<Relationships xmlns="http://schemas.openxmlformats.org/package/2006/relationships"><Relationship Id="rId3" Type="http://schemas.openxmlformats.org/officeDocument/2006/relationships/hyperlink" Target="https://www.youtube.com/watch?v=akzKBQVyFEI"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32.jpeg"/><Relationship Id="rId5" Type="http://schemas.openxmlformats.org/officeDocument/2006/relationships/hyperlink" Target="https://preporato.com/certificates/claude-certified-architect" TargetMode="External"/><Relationship Id="rId4" Type="http://schemas.openxmlformats.org/officeDocument/2006/relationships/hyperlink" Target="https://www.anthropiccertifications.com/learn"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www.youtube.com/watch?v=q1_AjJAmDGY"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ggml-org/llama.cpp/tree/213701b51a17175d0d326b566efc03f30ec7fbe6/examples/finetune"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hyperlink" Target="https://github.com/ggml-org/llama.cpp" TargetMode="External"/><Relationship Id="rId4" Type="http://schemas.openxmlformats.org/officeDocument/2006/relationships/hyperlink" Target="https://www.youtube.com/watch?v=VytSYCDhWQ0" TargetMode="External"/></Relationships>
</file>

<file path=ppt/slides/_rels/slide22.xml.rels><?xml version="1.0" encoding="UTF-8" standalone="yes"?>
<Relationships xmlns="http://schemas.openxmlformats.org/package/2006/relationships"><Relationship Id="rId8" Type="http://schemas.openxmlformats.org/officeDocument/2006/relationships/hyperlink" Target="https://www.youtube.com/watch?v=2xuFcmUAQUc" TargetMode="External"/><Relationship Id="rId3" Type="http://schemas.openxmlformats.org/officeDocument/2006/relationships/hyperlink" Target="https://www.youtube.com/watch?v=IRPEfl2BD_c" TargetMode="External"/><Relationship Id="rId7" Type="http://schemas.openxmlformats.org/officeDocument/2006/relationships/hyperlink" Target="https://github.com/pbakaus/impeccable"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hyperlink" Target="https://graphify.net" TargetMode="External"/><Relationship Id="rId11" Type="http://schemas.openxmlformats.org/officeDocument/2006/relationships/image" Target="../media/image36.png"/><Relationship Id="rId5" Type="http://schemas.openxmlformats.org/officeDocument/2006/relationships/hyperlink" Target="https://github.com/topics/google-notebooklm" TargetMode="External"/><Relationship Id="rId10" Type="http://schemas.openxmlformats.org/officeDocument/2006/relationships/hyperlink" Target="https://www.youtube.com/watch?v=cyQ4ffFU27Y" TargetMode="External"/><Relationship Id="rId4" Type="http://schemas.openxmlformats.org/officeDocument/2006/relationships/hyperlink" Target="https://github.com/bradautomates/claude-video" TargetMode="External"/><Relationship Id="rId9" Type="http://schemas.openxmlformats.org/officeDocument/2006/relationships/image" Target="../media/image35.png"/></Relationships>
</file>

<file path=ppt/slides/_rels/slide23.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hyperlink" Target="https://trueup.io/layoffs"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40.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100175" y="436077"/>
            <a:ext cx="4330200" cy="209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Crowd-sourced "LM Arena" Leaderboard</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Grok 4.5, GPT‑5.6, Gemini 3.5</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Anthropic Fable 5 and Mythos 5 Models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Fable 5 promo</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Claude to Modify its own </a:t>
            </a:r>
            <a:r>
              <a:rPr lang="en" sz="1500" b="1" u="sng">
                <a:solidFill>
                  <a:schemeClr val="hlink"/>
                </a:solidFill>
                <a:latin typeface="Calibri"/>
                <a:ea typeface="Calibri"/>
                <a:cs typeface="Calibri"/>
                <a:sym typeface="Calibri"/>
                <a:hlinkClick r:id="rId3"/>
              </a:rPr>
              <a:t>Claude.md</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Boris Cherny on 5 new roles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Visionary, A Cow</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OpenAI optimizations cut inference cost x2</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DeepSeek DSpark Speculative Decoding</a:t>
            </a:r>
            <a:endParaRPr sz="1500" b="1">
              <a:solidFill>
                <a:srgbClr val="3C78D8"/>
              </a:solidFill>
              <a:latin typeface="Calibri"/>
              <a:ea typeface="Calibri"/>
              <a:cs typeface="Calibri"/>
              <a:sym typeface="Calibri"/>
            </a:endParaRPr>
          </a:p>
        </p:txBody>
      </p:sp>
      <p:sp>
        <p:nvSpPr>
          <p:cNvPr id="64" name="Google Shape;64;p15"/>
          <p:cNvSpPr txBox="1"/>
          <p:nvPr/>
        </p:nvSpPr>
        <p:spPr>
          <a:xfrm>
            <a:off x="55167" y="-22692"/>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a:solidFill>
                  <a:srgbClr val="3C78D8"/>
                </a:solidFill>
                <a:latin typeface="Calibri"/>
                <a:ea typeface="Calibri"/>
                <a:cs typeface="Calibri"/>
                <a:sym typeface="Calibri"/>
              </a:rPr>
              <a:t>AI Updates - July 10, 2026</a:t>
            </a:r>
            <a:endParaRPr sz="3000" b="1">
              <a:solidFill>
                <a:srgbClr val="3C78D8"/>
              </a:solidFill>
              <a:latin typeface="Calibri"/>
              <a:ea typeface="Calibri"/>
              <a:cs typeface="Calibri"/>
              <a:sym typeface="Calibri"/>
            </a:endParaRPr>
          </a:p>
        </p:txBody>
      </p:sp>
      <p:sp>
        <p:nvSpPr>
          <p:cNvPr id="65" name="Google Shape;65;p15"/>
          <p:cNvSpPr txBox="1"/>
          <p:nvPr/>
        </p:nvSpPr>
        <p:spPr>
          <a:xfrm>
            <a:off x="4537129" y="4844775"/>
            <a:ext cx="2153700" cy="2493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Jobs &amp; Layoffs</a:t>
            </a:r>
            <a:endParaRPr sz="1500" b="1">
              <a:solidFill>
                <a:srgbClr val="3C78D8"/>
              </a:solidFill>
              <a:latin typeface="Calibri"/>
              <a:ea typeface="Calibri"/>
              <a:cs typeface="Calibri"/>
              <a:sym typeface="Calibri"/>
            </a:endParaRPr>
          </a:p>
        </p:txBody>
      </p:sp>
      <p:sp>
        <p:nvSpPr>
          <p:cNvPr id="66" name="Google Shape;66;p15"/>
          <p:cNvSpPr txBox="1"/>
          <p:nvPr/>
        </p:nvSpPr>
        <p:spPr>
          <a:xfrm>
            <a:off x="4993324" y="61800"/>
            <a:ext cx="4067100" cy="708000"/>
          </a:xfrm>
          <a:prstGeom prst="rect">
            <a:avLst/>
          </a:prstGeom>
          <a:noFill/>
          <a:ln>
            <a:noFill/>
          </a:ln>
        </p:spPr>
        <p:txBody>
          <a:bodyPr spcFirstLastPara="1" wrap="square" lIns="45700" tIns="45700" rIns="45700" bIns="45700" anchor="t" anchorCtr="0">
            <a:spAutoFit/>
          </a:bodyPr>
          <a:lstStyle/>
          <a:p>
            <a:pPr marL="0" marR="0" lvl="0" indent="0" algn="l" rtl="0">
              <a:lnSpc>
                <a:spcPct val="100000"/>
              </a:lnSpc>
              <a:spcBef>
                <a:spcPts val="0"/>
              </a:spcBef>
              <a:spcAft>
                <a:spcPts val="0"/>
              </a:spcAft>
              <a:buNone/>
            </a:pPr>
            <a:r>
              <a:rPr lang="en" sz="2000" b="1" i="1">
                <a:solidFill>
                  <a:srgbClr val="FF0000"/>
                </a:solidFill>
                <a:latin typeface="Calibri"/>
                <a:ea typeface="Calibri"/>
                <a:cs typeface="Calibri"/>
                <a:sym typeface="Calibri"/>
              </a:rPr>
              <a:t>First we taught machines to answer. Now we teach them to act.</a:t>
            </a:r>
            <a:endParaRPr sz="2000" b="1" i="1">
              <a:solidFill>
                <a:srgbClr val="FF0000"/>
              </a:solidFill>
              <a:latin typeface="Calibri"/>
              <a:ea typeface="Calibri"/>
              <a:cs typeface="Calibri"/>
              <a:sym typeface="Calibri"/>
            </a:endParaRPr>
          </a:p>
        </p:txBody>
      </p:sp>
      <p:sp>
        <p:nvSpPr>
          <p:cNvPr id="67" name="Google Shape;67;p15"/>
          <p:cNvSpPr txBox="1"/>
          <p:nvPr/>
        </p:nvSpPr>
        <p:spPr>
          <a:xfrm>
            <a:off x="4537132" y="841788"/>
            <a:ext cx="4525800" cy="3943500"/>
          </a:xfrm>
          <a:prstGeom prst="rect">
            <a:avLst/>
          </a:prstGeom>
          <a:solidFill>
            <a:srgbClr val="D9EAD3"/>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Use Python for Karpathy-style wiki</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KV (Key-Value) Cache and PagedAttention</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Boston Dynamics 5th Gen Atlas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Chinese company Ubtech - UWorld U1 Robots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Qualcomm Uses Mojo Prog. Language</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Mobile OpenClaw - Android and iOS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Three AI world model paradigms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JEPA is just LoRA in disguise</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AI amplifies existing skill levels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Meta Brain2Qwerty v2</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10 core components of an AI agent harness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Claude Design’s June 2026 update</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Claude Certified Architect (CCA-F) Exam</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Alex Hormozi's three-folder organization</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llama.cpp - Georgi Gerganov</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Open Source Repos for Claude Code</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Evolution of RAG</a:t>
            </a:r>
            <a:endParaRPr sz="1500" b="1">
              <a:solidFill>
                <a:srgbClr val="3C78D8"/>
              </a:solidFill>
              <a:latin typeface="Calibri"/>
              <a:ea typeface="Calibri"/>
              <a:cs typeface="Calibri"/>
              <a:sym typeface="Calibri"/>
            </a:endParaRPr>
          </a:p>
        </p:txBody>
      </p:sp>
      <p:sp>
        <p:nvSpPr>
          <p:cNvPr id="68" name="Google Shape;68;p15"/>
          <p:cNvSpPr txBox="1"/>
          <p:nvPr/>
        </p:nvSpPr>
        <p:spPr>
          <a:xfrm>
            <a:off x="100175" y="2535973"/>
            <a:ext cx="4330200" cy="2558100"/>
          </a:xfrm>
          <a:prstGeom prst="rect">
            <a:avLst/>
          </a:prstGeom>
          <a:solidFill>
            <a:srgbClr val="D0E0E3"/>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Chinese Models Are Cheaper</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Organization-wide Agent</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Composio SKD connects agents to 100s of apps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Tencent’s Hy3 - open MoE LLM</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Model Routing Saves 60% - 90% of costs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China’s 140 humanoid robot companies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Computational archaeology</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Aravind Srinivas Interview</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Sentdex - Local Models</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Open Standard for the Karpathy LLM Wiki</a:t>
            </a:r>
            <a:endParaRPr sz="1500" b="1">
              <a:solidFill>
                <a:srgbClr val="3C78D8"/>
              </a:solidFill>
              <a:latin typeface="Calibri"/>
              <a:ea typeface="Calibri"/>
              <a:cs typeface="Calibri"/>
              <a:sym typeface="Calibri"/>
            </a:endParaRPr>
          </a:p>
          <a:p>
            <a:pPr marL="228600" marR="0" lvl="0" indent="-209550" algn="l" rtl="0">
              <a:lnSpc>
                <a:spcPct val="100000"/>
              </a:lnSpc>
              <a:spcBef>
                <a:spcPts val="0"/>
              </a:spcBef>
              <a:spcAft>
                <a:spcPts val="0"/>
              </a:spcAft>
              <a:buClr>
                <a:srgbClr val="3C78D8"/>
              </a:buClr>
              <a:buSzPts val="1500"/>
              <a:buFont typeface="Calibri"/>
              <a:buChar char="●"/>
            </a:pPr>
            <a:r>
              <a:rPr lang="en" sz="1500" b="1">
                <a:solidFill>
                  <a:srgbClr val="3C78D8"/>
                </a:solidFill>
                <a:latin typeface="Calibri"/>
                <a:ea typeface="Calibri"/>
                <a:cs typeface="Calibri"/>
                <a:sym typeface="Calibri"/>
              </a:rPr>
              <a:t>Claude in Chrome Extension</a:t>
            </a:r>
            <a:endParaRPr sz="1500" b="1">
              <a:solidFill>
                <a:srgbClr val="3C78D8"/>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4" name="Google Shape;74;p16"/>
          <p:cNvSpPr txBox="1"/>
          <p:nvPr/>
        </p:nvSpPr>
        <p:spPr>
          <a:xfrm>
            <a:off x="38150" y="2125"/>
            <a:ext cx="25998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"LM Arena" Leaderboard</a:t>
            </a:r>
            <a:endParaRPr sz="1800" b="1" i="0" u="none" strike="noStrike" cap="none">
              <a:solidFill>
                <a:srgbClr val="000000"/>
              </a:solidFill>
              <a:latin typeface="Calibri"/>
              <a:ea typeface="Calibri"/>
              <a:cs typeface="Calibri"/>
              <a:sym typeface="Calibri"/>
            </a:endParaRPr>
          </a:p>
        </p:txBody>
      </p:sp>
      <p:sp>
        <p:nvSpPr>
          <p:cNvPr id="75" name="Google Shape;75;p16"/>
          <p:cNvSpPr txBox="1"/>
          <p:nvPr/>
        </p:nvSpPr>
        <p:spPr>
          <a:xfrm>
            <a:off x="52418" y="476072"/>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6" name="Google Shape;76;p16"/>
          <p:cNvSpPr txBox="1"/>
          <p:nvPr/>
        </p:nvSpPr>
        <p:spPr>
          <a:xfrm>
            <a:off x="2726905" y="476078"/>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7" name="Google Shape;77;p16"/>
          <p:cNvSpPr txBox="1"/>
          <p:nvPr/>
        </p:nvSpPr>
        <p:spPr>
          <a:xfrm>
            <a:off x="6041375" y="2449450"/>
            <a:ext cx="30510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1600" algn="l" rtl="0">
              <a:lnSpc>
                <a:spcPct val="100000"/>
              </a:lnSpc>
              <a:spcBef>
                <a:spcPts val="0"/>
              </a:spcBef>
              <a:spcAft>
                <a:spcPts val="0"/>
              </a:spcAft>
              <a:buClr>
                <a:schemeClr val="dk1"/>
              </a:buClr>
              <a:buSzPts val="700"/>
              <a:buFont typeface="Calibri"/>
              <a:buChar char="●"/>
            </a:pPr>
            <a:r>
              <a:rPr lang="en" sz="700" u="sng">
                <a:solidFill>
                  <a:schemeClr val="hlink"/>
                </a:solidFill>
                <a:latin typeface="Calibri"/>
                <a:ea typeface="Calibri"/>
                <a:cs typeface="Calibri"/>
                <a:sym typeface="Calibri"/>
                <a:hlinkClick r:id="rId4"/>
              </a:rPr>
              <a:t>https://lmarena.ai/leaderboard/text</a:t>
            </a:r>
            <a:r>
              <a:rPr lang="en" sz="700">
                <a:latin typeface="Calibri"/>
                <a:ea typeface="Calibri"/>
                <a:cs typeface="Calibri"/>
                <a:sym typeface="Calibri"/>
              </a:rPr>
              <a:t> </a:t>
            </a:r>
            <a:endParaRPr sz="700">
              <a:latin typeface="Calibri"/>
              <a:ea typeface="Calibri"/>
              <a:cs typeface="Calibri"/>
              <a:sym typeface="Calibri"/>
            </a:endParaRPr>
          </a:p>
          <a:p>
            <a:pPr marL="171450" marR="0" lvl="0" indent="-101600" algn="l" rtl="0">
              <a:lnSpc>
                <a:spcPct val="100000"/>
              </a:lnSpc>
              <a:spcBef>
                <a:spcPts val="0"/>
              </a:spcBef>
              <a:spcAft>
                <a:spcPts val="0"/>
              </a:spcAft>
              <a:buClr>
                <a:schemeClr val="dk1"/>
              </a:buClr>
              <a:buSzPts val="700"/>
              <a:buFont typeface="Calibri"/>
              <a:buChar char="●"/>
            </a:pPr>
            <a:r>
              <a:rPr lang="en" sz="700">
                <a:latin typeface="Calibri"/>
                <a:ea typeface="Calibri"/>
                <a:cs typeface="Calibri"/>
                <a:sym typeface="Calibri"/>
              </a:rPr>
              <a:t>Design Arena -    </a:t>
            </a:r>
            <a:br>
              <a:rPr lang="en" sz="700">
                <a:latin typeface="Calibri"/>
                <a:ea typeface="Calibri"/>
                <a:cs typeface="Calibri"/>
                <a:sym typeface="Calibri"/>
              </a:rPr>
            </a:br>
            <a:r>
              <a:rPr lang="en" sz="700" u="sng">
                <a:solidFill>
                  <a:schemeClr val="hlink"/>
                </a:solidFill>
                <a:latin typeface="Calibri"/>
                <a:ea typeface="Calibri"/>
                <a:cs typeface="Calibri"/>
                <a:sym typeface="Calibri"/>
                <a:hlinkClick r:id="rId6"/>
              </a:rPr>
              <a:t>https://www.designarena.ai</a:t>
            </a:r>
            <a:r>
              <a:rPr lang="en" sz="700">
                <a:latin typeface="Calibri"/>
                <a:ea typeface="Calibri"/>
                <a:cs typeface="Calibri"/>
                <a:sym typeface="Calibri"/>
              </a:rPr>
              <a:t> </a:t>
            </a:r>
            <a:endParaRPr sz="700">
              <a:latin typeface="Calibri"/>
              <a:ea typeface="Calibri"/>
              <a:cs typeface="Calibri"/>
              <a:sym typeface="Calibri"/>
            </a:endParaRPr>
          </a:p>
          <a:p>
            <a:pPr marL="171450" marR="0" lvl="0" indent="-101600" algn="l" rtl="0">
              <a:lnSpc>
                <a:spcPct val="100000"/>
              </a:lnSpc>
              <a:spcBef>
                <a:spcPts val="0"/>
              </a:spcBef>
              <a:spcAft>
                <a:spcPts val="0"/>
              </a:spcAft>
              <a:buClr>
                <a:schemeClr val="dk1"/>
              </a:buClr>
              <a:buSzPts val="700"/>
              <a:buFont typeface="Calibri"/>
              <a:buChar char="●"/>
            </a:pPr>
            <a:r>
              <a:rPr lang="en" sz="700" u="sng">
                <a:solidFill>
                  <a:schemeClr val="hlink"/>
                </a:solidFill>
                <a:latin typeface="Calibri"/>
                <a:ea typeface="Calibri"/>
                <a:cs typeface="Calibri"/>
                <a:sym typeface="Calibri"/>
                <a:hlinkClick r:id="rId7"/>
              </a:rPr>
              <a:t>https://openlm.ai/chatbot-arena/</a:t>
            </a:r>
            <a:r>
              <a:rPr lang="en" sz="700">
                <a:solidFill>
                  <a:schemeClr val="dk1"/>
                </a:solidFill>
                <a:latin typeface="Calibri"/>
                <a:ea typeface="Calibri"/>
                <a:cs typeface="Calibri"/>
                <a:sym typeface="Calibri"/>
              </a:rPr>
              <a:t> </a:t>
            </a:r>
            <a:endParaRPr sz="700">
              <a:solidFill>
                <a:schemeClr val="dk1"/>
              </a:solidFill>
              <a:latin typeface="Calibri"/>
              <a:ea typeface="Calibri"/>
              <a:cs typeface="Calibri"/>
              <a:sym typeface="Calibri"/>
            </a:endParaRPr>
          </a:p>
          <a:p>
            <a:pPr marL="171450" marR="0" lvl="0" indent="-101600" algn="l" rtl="0">
              <a:lnSpc>
                <a:spcPct val="100000"/>
              </a:lnSpc>
              <a:spcBef>
                <a:spcPts val="0"/>
              </a:spcBef>
              <a:spcAft>
                <a:spcPts val="0"/>
              </a:spcAft>
              <a:buClr>
                <a:schemeClr val="dk1"/>
              </a:buClr>
              <a:buSzPts val="700"/>
              <a:buFont typeface="Calibri"/>
              <a:buChar char="●"/>
            </a:pPr>
            <a:r>
              <a:rPr lang="en" sz="700" u="sng">
                <a:solidFill>
                  <a:schemeClr val="hlink"/>
                </a:solidFill>
                <a:latin typeface="Calibri"/>
                <a:ea typeface="Calibri"/>
                <a:cs typeface="Calibri"/>
                <a:sym typeface="Calibri"/>
                <a:hlinkClick r:id="rId8"/>
              </a:rPr>
              <a:t>https://beta.lmarena.ai</a:t>
            </a:r>
            <a:r>
              <a:rPr lang="en" sz="700">
                <a:solidFill>
                  <a:schemeClr val="dk1"/>
                </a:solidFill>
                <a:latin typeface="Calibri"/>
                <a:ea typeface="Calibri"/>
                <a:cs typeface="Calibri"/>
                <a:sym typeface="Calibri"/>
              </a:rPr>
              <a:t> </a:t>
            </a:r>
            <a:endParaRPr sz="700">
              <a:solidFill>
                <a:schemeClr val="dk1"/>
              </a:solidFill>
              <a:latin typeface="Calibri"/>
              <a:ea typeface="Calibri"/>
              <a:cs typeface="Calibri"/>
              <a:sym typeface="Calibri"/>
            </a:endParaRPr>
          </a:p>
          <a:p>
            <a:pPr marL="171450" marR="0" lvl="0" indent="-101600" algn="l" rtl="0">
              <a:lnSpc>
                <a:spcPct val="100000"/>
              </a:lnSpc>
              <a:spcBef>
                <a:spcPts val="0"/>
              </a:spcBef>
              <a:spcAft>
                <a:spcPts val="0"/>
              </a:spcAft>
              <a:buClr>
                <a:schemeClr val="dk1"/>
              </a:buClr>
              <a:buSzPts val="700"/>
              <a:buFont typeface="Calibri"/>
              <a:buChar char="●"/>
            </a:pPr>
            <a:r>
              <a:rPr lang="en" sz="700" b="0" i="0" u="none" strike="noStrike" cap="none">
                <a:solidFill>
                  <a:schemeClr val="dk1"/>
                </a:solidFill>
                <a:latin typeface="Calibri"/>
                <a:ea typeface="Calibri"/>
                <a:cs typeface="Calibri"/>
                <a:sym typeface="Calibri"/>
              </a:rPr>
              <a:t>Web Leaderboard -  1T params</a:t>
            </a:r>
            <a:br>
              <a:rPr lang="en" sz="700" b="0" i="0" u="none" strike="noStrike" cap="none">
                <a:solidFill>
                  <a:schemeClr val="dk1"/>
                </a:solidFill>
                <a:latin typeface="Calibri"/>
                <a:ea typeface="Calibri"/>
                <a:cs typeface="Calibri"/>
                <a:sym typeface="Calibri"/>
              </a:rPr>
            </a:br>
            <a:r>
              <a:rPr lang="en" sz="700" b="0" i="0" u="sng" strike="noStrike" cap="none">
                <a:solidFill>
                  <a:schemeClr val="hlink"/>
                </a:solidFill>
                <a:latin typeface="Calibri"/>
                <a:ea typeface="Calibri"/>
                <a:cs typeface="Calibri"/>
                <a:sym typeface="Calibri"/>
                <a:hlinkClick r:id="rId9"/>
              </a:rPr>
              <a:t>https://web.lmarena.ai/leaderboard</a:t>
            </a:r>
            <a:r>
              <a:rPr lang="en" sz="700" b="0" i="0" u="none" strike="noStrike" cap="none">
                <a:solidFill>
                  <a:schemeClr val="dk1"/>
                </a:solidFill>
                <a:latin typeface="Calibri"/>
                <a:ea typeface="Calibri"/>
                <a:cs typeface="Calibri"/>
                <a:sym typeface="Calibri"/>
              </a:rPr>
              <a:t> </a:t>
            </a:r>
            <a:endParaRPr sz="700" b="0" i="0" u="none" strike="noStrike" cap="none">
              <a:solidFill>
                <a:schemeClr val="dk1"/>
              </a:solidFill>
              <a:latin typeface="Calibri"/>
              <a:ea typeface="Calibri"/>
              <a:cs typeface="Calibri"/>
              <a:sym typeface="Calibri"/>
            </a:endParaRPr>
          </a:p>
          <a:p>
            <a:pPr marL="171450" marR="0" lvl="0" indent="-101600" algn="l" rtl="0">
              <a:lnSpc>
                <a:spcPct val="100000"/>
              </a:lnSpc>
              <a:spcBef>
                <a:spcPts val="0"/>
              </a:spcBef>
              <a:spcAft>
                <a:spcPts val="0"/>
              </a:spcAft>
              <a:buClr>
                <a:schemeClr val="dk1"/>
              </a:buClr>
              <a:buSzPts val="700"/>
              <a:buFont typeface="Calibri"/>
              <a:buChar char="●"/>
            </a:pPr>
            <a:r>
              <a:rPr lang="en" sz="700" b="0" i="0" u="none" strike="noStrike" cap="none">
                <a:solidFill>
                  <a:schemeClr val="dk1"/>
                </a:solidFill>
                <a:latin typeface="Calibri"/>
                <a:ea typeface="Calibri"/>
                <a:cs typeface="Calibri"/>
                <a:sym typeface="Calibri"/>
              </a:rPr>
              <a:t>LLM Leaderboard - by @LlmStats - </a:t>
            </a:r>
            <a:br>
              <a:rPr lang="en" sz="700" b="0" i="0" u="none" strike="noStrike" cap="none">
                <a:solidFill>
                  <a:schemeClr val="dk1"/>
                </a:solidFill>
                <a:latin typeface="Calibri"/>
                <a:ea typeface="Calibri"/>
                <a:cs typeface="Calibri"/>
                <a:sym typeface="Calibri"/>
              </a:rPr>
            </a:br>
            <a:r>
              <a:rPr lang="en" sz="700" b="0" i="0" u="sng" strike="noStrike" cap="none">
                <a:solidFill>
                  <a:schemeClr val="hlink"/>
                </a:solidFill>
                <a:latin typeface="Calibri"/>
                <a:ea typeface="Calibri"/>
                <a:cs typeface="Calibri"/>
                <a:sym typeface="Calibri"/>
                <a:hlinkClick r:id="rId10"/>
              </a:rPr>
              <a:t>https://llmworld.net/llm_leaderboards/</a:t>
            </a:r>
            <a:r>
              <a:rPr lang="en" sz="700" b="0" i="0" u="none" strike="noStrike" cap="none">
                <a:solidFill>
                  <a:schemeClr val="dk1"/>
                </a:solidFill>
                <a:latin typeface="Calibri"/>
                <a:ea typeface="Calibri"/>
                <a:cs typeface="Calibri"/>
                <a:sym typeface="Calibri"/>
              </a:rPr>
              <a:t> </a:t>
            </a:r>
            <a:endParaRPr sz="700" b="0" i="0" u="none" strike="noStrike" cap="none">
              <a:solidFill>
                <a:schemeClr val="dk1"/>
              </a:solidFill>
              <a:latin typeface="Calibri"/>
              <a:ea typeface="Calibri"/>
              <a:cs typeface="Calibri"/>
              <a:sym typeface="Calibri"/>
            </a:endParaRPr>
          </a:p>
          <a:p>
            <a:pPr marL="171450" marR="0" lvl="0" indent="-101600" algn="l" rtl="0">
              <a:lnSpc>
                <a:spcPct val="100000"/>
              </a:lnSpc>
              <a:spcBef>
                <a:spcPts val="0"/>
              </a:spcBef>
              <a:spcAft>
                <a:spcPts val="0"/>
              </a:spcAft>
              <a:buClr>
                <a:schemeClr val="dk1"/>
              </a:buClr>
              <a:buSzPts val="700"/>
              <a:buFont typeface="Calibri"/>
              <a:buChar char="●"/>
            </a:pPr>
            <a:r>
              <a:rPr lang="en" sz="700" b="0" i="0" u="none" strike="noStrike" cap="none">
                <a:solidFill>
                  <a:schemeClr val="dk1"/>
                </a:solidFill>
                <a:latin typeface="Calibri"/>
                <a:ea typeface="Calibri"/>
                <a:cs typeface="Calibri"/>
                <a:sym typeface="Calibri"/>
              </a:rPr>
              <a:t>LLM Leaderboard - by StackAI</a:t>
            </a:r>
            <a:r>
              <a:rPr lang="en" sz="700">
                <a:solidFill>
                  <a:schemeClr val="dk1"/>
                </a:solidFill>
                <a:latin typeface="Calibri"/>
                <a:ea typeface="Calibri"/>
                <a:cs typeface="Calibri"/>
                <a:sym typeface="Calibri"/>
              </a:rPr>
              <a:t> - </a:t>
            </a:r>
            <a:br>
              <a:rPr lang="en" sz="700">
                <a:solidFill>
                  <a:schemeClr val="dk1"/>
                </a:solidFill>
                <a:latin typeface="Calibri"/>
                <a:ea typeface="Calibri"/>
                <a:cs typeface="Calibri"/>
                <a:sym typeface="Calibri"/>
              </a:rPr>
            </a:br>
            <a:r>
              <a:rPr lang="en" sz="700" b="0" i="0" u="sng" strike="noStrike" cap="none">
                <a:solidFill>
                  <a:schemeClr val="hlink"/>
                </a:solidFill>
                <a:latin typeface="Calibri"/>
                <a:ea typeface="Calibri"/>
                <a:cs typeface="Calibri"/>
                <a:sym typeface="Calibri"/>
                <a:hlinkClick r:id="rId11"/>
              </a:rPr>
              <a:t>https://www.stack-ai.com/llm-leaderboard</a:t>
            </a:r>
            <a:r>
              <a:rPr lang="en" sz="700" b="0" i="0" u="none" strike="noStrike" cap="none">
                <a:solidFill>
                  <a:schemeClr val="dk1"/>
                </a:solidFill>
                <a:latin typeface="Calibri"/>
                <a:ea typeface="Calibri"/>
                <a:cs typeface="Calibri"/>
                <a:sym typeface="Calibri"/>
              </a:rPr>
              <a:t> </a:t>
            </a:r>
            <a:endParaRPr sz="700" b="0" i="0" u="none" strike="noStrike" cap="none">
              <a:solidFill>
                <a:schemeClr val="dk1"/>
              </a:solidFill>
              <a:latin typeface="Calibri"/>
              <a:ea typeface="Calibri"/>
              <a:cs typeface="Calibri"/>
              <a:sym typeface="Calibri"/>
            </a:endParaRPr>
          </a:p>
          <a:p>
            <a:pPr marL="171450" marR="0" lvl="0" indent="-101600" algn="l" rtl="0">
              <a:lnSpc>
                <a:spcPct val="100000"/>
              </a:lnSpc>
              <a:spcBef>
                <a:spcPts val="0"/>
              </a:spcBef>
              <a:spcAft>
                <a:spcPts val="0"/>
              </a:spcAft>
              <a:buClr>
                <a:schemeClr val="dk1"/>
              </a:buClr>
              <a:buSzPts val="700"/>
              <a:buFont typeface="Calibri"/>
              <a:buChar char="●"/>
            </a:pPr>
            <a:r>
              <a:rPr lang="en" sz="700" b="0" i="0" u="none" strike="noStrike" cap="none">
                <a:solidFill>
                  <a:schemeClr val="dk1"/>
                </a:solidFill>
                <a:latin typeface="Calibri"/>
                <a:ea typeface="Calibri"/>
                <a:cs typeface="Calibri"/>
                <a:sym typeface="Calibri"/>
              </a:rPr>
              <a:t>LLM Leaderboard - by Artificial Analysis</a:t>
            </a:r>
            <a:r>
              <a:rPr lang="en" sz="700">
                <a:solidFill>
                  <a:schemeClr val="dk1"/>
                </a:solidFill>
                <a:latin typeface="Calibri"/>
                <a:ea typeface="Calibri"/>
                <a:cs typeface="Calibri"/>
                <a:sym typeface="Calibri"/>
              </a:rPr>
              <a:t> - </a:t>
            </a:r>
            <a:br>
              <a:rPr lang="en" sz="700">
                <a:solidFill>
                  <a:schemeClr val="dk1"/>
                </a:solidFill>
                <a:latin typeface="Calibri"/>
                <a:ea typeface="Calibri"/>
                <a:cs typeface="Calibri"/>
                <a:sym typeface="Calibri"/>
              </a:rPr>
            </a:br>
            <a:r>
              <a:rPr lang="en" sz="700" b="0" i="0" u="sng" strike="noStrike" cap="none">
                <a:solidFill>
                  <a:schemeClr val="hlink"/>
                </a:solidFill>
                <a:latin typeface="Calibri"/>
                <a:ea typeface="Calibri"/>
                <a:cs typeface="Calibri"/>
                <a:sym typeface="Calibri"/>
                <a:hlinkClick r:id="rId12"/>
              </a:rPr>
              <a:t>https://artificialanalysis.ai/leaderboards/models</a:t>
            </a:r>
            <a:r>
              <a:rPr lang="en" sz="700" b="0" i="0" u="none" strike="noStrike" cap="none">
                <a:solidFill>
                  <a:schemeClr val="dk1"/>
                </a:solidFill>
                <a:latin typeface="Calibri"/>
                <a:ea typeface="Calibri"/>
                <a:cs typeface="Calibri"/>
                <a:sym typeface="Calibri"/>
              </a:rPr>
              <a:t> </a:t>
            </a:r>
            <a:endParaRPr sz="700" b="0" i="0" u="none" strike="noStrike" cap="none">
              <a:solidFill>
                <a:schemeClr val="dk1"/>
              </a:solidFill>
              <a:latin typeface="Calibri"/>
              <a:ea typeface="Calibri"/>
              <a:cs typeface="Calibri"/>
              <a:sym typeface="Calibri"/>
            </a:endParaRPr>
          </a:p>
          <a:p>
            <a:pPr marL="171450" marR="0" lvl="0" indent="-101600" algn="l" rtl="0">
              <a:lnSpc>
                <a:spcPct val="100000"/>
              </a:lnSpc>
              <a:spcBef>
                <a:spcPts val="0"/>
              </a:spcBef>
              <a:spcAft>
                <a:spcPts val="0"/>
              </a:spcAft>
              <a:buClr>
                <a:schemeClr val="dk1"/>
              </a:buClr>
              <a:buSzPts val="700"/>
              <a:buFont typeface="Calibri"/>
              <a:buChar char="●"/>
            </a:pPr>
            <a:r>
              <a:rPr lang="en" sz="700" b="0" i="0" u="none" strike="noStrike" cap="none">
                <a:solidFill>
                  <a:schemeClr val="dk1"/>
                </a:solidFill>
                <a:latin typeface="Calibri"/>
                <a:ea typeface="Calibri"/>
                <a:cs typeface="Calibri"/>
                <a:sym typeface="Calibri"/>
              </a:rPr>
              <a:t>Open LLM Leaderboard - by Hugging Face - </a:t>
            </a:r>
            <a:br>
              <a:rPr lang="en" sz="700" b="0" i="0" u="none" strike="noStrike" cap="none">
                <a:solidFill>
                  <a:schemeClr val="dk1"/>
                </a:solidFill>
                <a:latin typeface="Calibri"/>
                <a:ea typeface="Calibri"/>
                <a:cs typeface="Calibri"/>
                <a:sym typeface="Calibri"/>
              </a:rPr>
            </a:br>
            <a:r>
              <a:rPr lang="en" sz="700" b="0" i="0" u="sng" strike="noStrike" cap="none">
                <a:solidFill>
                  <a:schemeClr val="hlink"/>
                </a:solidFill>
                <a:latin typeface="Calibri"/>
                <a:ea typeface="Calibri"/>
                <a:cs typeface="Calibri"/>
                <a:sym typeface="Calibri"/>
                <a:hlinkClick r:id="rId13"/>
              </a:rPr>
              <a:t>https://huggingface.co/open-llm-leaderboard</a:t>
            </a:r>
            <a:r>
              <a:rPr lang="en" sz="700" b="0" i="0" u="none" strike="noStrike" cap="none">
                <a:solidFill>
                  <a:schemeClr val="dk1"/>
                </a:solidFill>
                <a:latin typeface="Calibri"/>
                <a:ea typeface="Calibri"/>
                <a:cs typeface="Calibri"/>
                <a:sym typeface="Calibri"/>
              </a:rPr>
              <a:t> </a:t>
            </a:r>
            <a:endParaRPr sz="700" b="0" i="0" u="none" strike="noStrike" cap="none">
              <a:solidFill>
                <a:schemeClr val="dk1"/>
              </a:solidFill>
              <a:latin typeface="Calibri"/>
              <a:ea typeface="Calibri"/>
              <a:cs typeface="Calibri"/>
              <a:sym typeface="Calibri"/>
            </a:endParaRPr>
          </a:p>
          <a:p>
            <a:pPr marL="171450" marR="0" lvl="0" indent="-101600" algn="l" rtl="0">
              <a:lnSpc>
                <a:spcPct val="100000"/>
              </a:lnSpc>
              <a:spcBef>
                <a:spcPts val="0"/>
              </a:spcBef>
              <a:spcAft>
                <a:spcPts val="0"/>
              </a:spcAft>
              <a:buClr>
                <a:schemeClr val="dk1"/>
              </a:buClr>
              <a:buSzPts val="700"/>
              <a:buFont typeface="Calibri"/>
              <a:buChar char="●"/>
            </a:pPr>
            <a:r>
              <a:rPr lang="en" sz="700" b="0" i="0" u="none" strike="noStrike" cap="none">
                <a:solidFill>
                  <a:schemeClr val="dk1"/>
                </a:solidFill>
                <a:latin typeface="Calibri"/>
                <a:ea typeface="Calibri"/>
                <a:cs typeface="Calibri"/>
                <a:sym typeface="Calibri"/>
              </a:rPr>
              <a:t>LLM Leaderboard - by Vellum - </a:t>
            </a:r>
            <a:br>
              <a:rPr lang="en" sz="700" b="0" i="0" u="none" strike="noStrike" cap="none">
                <a:solidFill>
                  <a:schemeClr val="dk1"/>
                </a:solidFill>
                <a:latin typeface="Calibri"/>
                <a:ea typeface="Calibri"/>
                <a:cs typeface="Calibri"/>
                <a:sym typeface="Calibri"/>
              </a:rPr>
            </a:br>
            <a:r>
              <a:rPr lang="en" sz="700" b="0" i="0" u="sng" strike="noStrike" cap="none">
                <a:solidFill>
                  <a:schemeClr val="hlink"/>
                </a:solidFill>
                <a:latin typeface="Calibri"/>
                <a:ea typeface="Calibri"/>
                <a:cs typeface="Calibri"/>
                <a:sym typeface="Calibri"/>
                <a:hlinkClick r:id="rId14"/>
              </a:rPr>
              <a:t>https://www.vellum.ai/llm-leaderboard</a:t>
            </a:r>
            <a:r>
              <a:rPr lang="en" sz="700" b="0" i="0" u="none" strike="noStrike" cap="none">
                <a:solidFill>
                  <a:schemeClr val="dk1"/>
                </a:solidFill>
                <a:latin typeface="Calibri"/>
                <a:ea typeface="Calibri"/>
                <a:cs typeface="Calibri"/>
                <a:sym typeface="Calibri"/>
              </a:rPr>
              <a:t> </a:t>
            </a:r>
            <a:endParaRPr sz="700" b="0" i="0" u="none" strike="noStrike" cap="none">
              <a:solidFill>
                <a:schemeClr val="dk1"/>
              </a:solidFill>
              <a:latin typeface="Calibri"/>
              <a:ea typeface="Calibri"/>
              <a:cs typeface="Calibri"/>
              <a:sym typeface="Calibri"/>
            </a:endParaRPr>
          </a:p>
          <a:p>
            <a:pPr marL="171450" marR="0" lvl="0" indent="-101600" algn="l" rtl="0">
              <a:lnSpc>
                <a:spcPct val="100000"/>
              </a:lnSpc>
              <a:spcBef>
                <a:spcPts val="0"/>
              </a:spcBef>
              <a:spcAft>
                <a:spcPts val="0"/>
              </a:spcAft>
              <a:buClr>
                <a:schemeClr val="dk1"/>
              </a:buClr>
              <a:buSzPts val="700"/>
              <a:buFont typeface="Calibri"/>
              <a:buChar char="●"/>
            </a:pPr>
            <a:r>
              <a:rPr lang="en" sz="700">
                <a:solidFill>
                  <a:schemeClr val="dk1"/>
                </a:solidFill>
                <a:latin typeface="Calibri"/>
                <a:ea typeface="Calibri"/>
                <a:cs typeface="Calibri"/>
                <a:sym typeface="Calibri"/>
              </a:rPr>
              <a:t>AI Benchmarking Hub - </a:t>
            </a:r>
            <a:br>
              <a:rPr lang="en" sz="700">
                <a:solidFill>
                  <a:schemeClr val="dk1"/>
                </a:solidFill>
                <a:latin typeface="Calibri"/>
                <a:ea typeface="Calibri"/>
                <a:cs typeface="Calibri"/>
                <a:sym typeface="Calibri"/>
              </a:rPr>
            </a:br>
            <a:r>
              <a:rPr lang="en" sz="700" u="sng">
                <a:solidFill>
                  <a:schemeClr val="hlink"/>
                </a:solidFill>
                <a:latin typeface="Calibri"/>
                <a:ea typeface="Calibri"/>
                <a:cs typeface="Calibri"/>
                <a:sym typeface="Calibri"/>
                <a:hlinkClick r:id="rId15"/>
              </a:rPr>
              <a:t>https://epoch.ai/data/ai-benchmarking-dashboard</a:t>
            </a:r>
            <a:endParaRPr sz="700">
              <a:solidFill>
                <a:schemeClr val="dk1"/>
              </a:solidFill>
              <a:latin typeface="Calibri"/>
              <a:ea typeface="Calibri"/>
              <a:cs typeface="Calibri"/>
              <a:sym typeface="Calibri"/>
            </a:endParaRPr>
          </a:p>
          <a:p>
            <a:pPr marL="171450" marR="0" lvl="0" indent="-101600" algn="l" rtl="0">
              <a:lnSpc>
                <a:spcPct val="100000"/>
              </a:lnSpc>
              <a:spcBef>
                <a:spcPts val="0"/>
              </a:spcBef>
              <a:spcAft>
                <a:spcPts val="0"/>
              </a:spcAft>
              <a:buClr>
                <a:schemeClr val="dk1"/>
              </a:buClr>
              <a:buSzPts val="700"/>
              <a:buFont typeface="Calibri"/>
              <a:buChar char="●"/>
            </a:pPr>
            <a:r>
              <a:rPr lang="en" sz="700">
                <a:solidFill>
                  <a:schemeClr val="dk1"/>
                </a:solidFill>
                <a:latin typeface="Calibri"/>
                <a:ea typeface="Calibri"/>
                <a:cs typeface="Calibri"/>
                <a:sym typeface="Calibri"/>
              </a:rPr>
              <a:t>Grok 4 Benchmarks - </a:t>
            </a:r>
            <a:br>
              <a:rPr lang="en" sz="700">
                <a:solidFill>
                  <a:schemeClr val="dk1"/>
                </a:solidFill>
                <a:latin typeface="Calibri"/>
                <a:ea typeface="Calibri"/>
                <a:cs typeface="Calibri"/>
                <a:sym typeface="Calibri"/>
              </a:rPr>
            </a:br>
            <a:r>
              <a:rPr lang="en" sz="700" u="sng">
                <a:solidFill>
                  <a:schemeClr val="hlink"/>
                </a:solidFill>
                <a:latin typeface="Calibri"/>
                <a:ea typeface="Calibri"/>
                <a:cs typeface="Calibri"/>
                <a:sym typeface="Calibri"/>
                <a:hlinkClick r:id="rId16"/>
              </a:rPr>
              <a:t>https://artificialanalysis.ai/models/grok-4</a:t>
            </a:r>
            <a:r>
              <a:rPr lang="en" sz="700">
                <a:solidFill>
                  <a:schemeClr val="dk1"/>
                </a:solidFill>
                <a:latin typeface="Calibri"/>
                <a:ea typeface="Calibri"/>
                <a:cs typeface="Calibri"/>
                <a:sym typeface="Calibri"/>
              </a:rPr>
              <a:t> </a:t>
            </a:r>
            <a:endParaRPr sz="700">
              <a:solidFill>
                <a:schemeClr val="dk1"/>
              </a:solidFill>
              <a:latin typeface="Calibri"/>
              <a:ea typeface="Calibri"/>
              <a:cs typeface="Calibri"/>
              <a:sym typeface="Calibri"/>
            </a:endParaRPr>
          </a:p>
          <a:p>
            <a:pPr marL="171450" marR="0" lvl="0" indent="-101600" algn="l" rtl="0">
              <a:lnSpc>
                <a:spcPct val="100000"/>
              </a:lnSpc>
              <a:spcBef>
                <a:spcPts val="0"/>
              </a:spcBef>
              <a:spcAft>
                <a:spcPts val="0"/>
              </a:spcAft>
              <a:buClr>
                <a:schemeClr val="dk1"/>
              </a:buClr>
              <a:buSzPts val="700"/>
              <a:buFont typeface="Calibri"/>
              <a:buChar char="●"/>
            </a:pPr>
            <a:r>
              <a:rPr lang="en" sz="700">
                <a:solidFill>
                  <a:schemeClr val="dk1"/>
                </a:solidFill>
                <a:latin typeface="Calibri"/>
                <a:ea typeface="Calibri"/>
                <a:cs typeface="Calibri"/>
                <a:sym typeface="Calibri"/>
              </a:rPr>
              <a:t>Image arena (alibaba) - </a:t>
            </a:r>
            <a:br>
              <a:rPr lang="en" sz="700">
                <a:solidFill>
                  <a:schemeClr val="dk1"/>
                </a:solidFill>
                <a:latin typeface="Calibri"/>
                <a:ea typeface="Calibri"/>
                <a:cs typeface="Calibri"/>
                <a:sym typeface="Calibri"/>
              </a:rPr>
            </a:br>
            <a:r>
              <a:rPr lang="en" sz="700" u="sng">
                <a:solidFill>
                  <a:schemeClr val="hlink"/>
                </a:solidFill>
                <a:latin typeface="Calibri"/>
                <a:ea typeface="Calibri"/>
                <a:cs typeface="Calibri"/>
                <a:sym typeface="Calibri"/>
                <a:hlinkClick r:id="rId17"/>
              </a:rPr>
              <a:t>http://aiarena.alibaba-inc.com/corpora/arena/leaderboard?arenaType=T2I</a:t>
            </a:r>
            <a:r>
              <a:rPr lang="en" sz="700">
                <a:solidFill>
                  <a:schemeClr val="dk1"/>
                </a:solidFill>
                <a:latin typeface="Calibri"/>
                <a:ea typeface="Calibri"/>
                <a:cs typeface="Calibri"/>
                <a:sym typeface="Calibri"/>
              </a:rPr>
              <a:t> </a:t>
            </a:r>
            <a:endParaRPr sz="700">
              <a:solidFill>
                <a:schemeClr val="dk1"/>
              </a:solidFill>
              <a:latin typeface="Calibri"/>
              <a:ea typeface="Calibri"/>
              <a:cs typeface="Calibri"/>
              <a:sym typeface="Calibri"/>
            </a:endParaRPr>
          </a:p>
          <a:p>
            <a:pPr marL="171450" marR="0" lvl="0" indent="-101600" algn="l" rtl="0">
              <a:lnSpc>
                <a:spcPct val="100000"/>
              </a:lnSpc>
              <a:spcBef>
                <a:spcPts val="0"/>
              </a:spcBef>
              <a:spcAft>
                <a:spcPts val="0"/>
              </a:spcAft>
              <a:buClr>
                <a:schemeClr val="dk1"/>
              </a:buClr>
              <a:buSzPts val="700"/>
              <a:buFont typeface="Calibri"/>
              <a:buChar char="●"/>
            </a:pPr>
            <a:r>
              <a:rPr lang="en" sz="700">
                <a:solidFill>
                  <a:schemeClr val="dk1"/>
                </a:solidFill>
                <a:latin typeface="Calibri"/>
                <a:ea typeface="Calibri"/>
                <a:cs typeface="Calibri"/>
                <a:sym typeface="Calibri"/>
              </a:rPr>
              <a:t>image arena - </a:t>
            </a:r>
            <a:r>
              <a:rPr lang="en" sz="700" u="sng">
                <a:solidFill>
                  <a:schemeClr val="hlink"/>
                </a:solidFill>
                <a:latin typeface="Calibri"/>
                <a:ea typeface="Calibri"/>
                <a:cs typeface="Calibri"/>
                <a:sym typeface="Calibri"/>
                <a:hlinkClick r:id="rId18"/>
              </a:rPr>
              <a:t>https://lmarena.ai/leaderboard/text-to-image</a:t>
            </a:r>
            <a:r>
              <a:rPr lang="en" sz="700">
                <a:solidFill>
                  <a:schemeClr val="dk1"/>
                </a:solidFill>
                <a:latin typeface="Calibri"/>
                <a:ea typeface="Calibri"/>
                <a:cs typeface="Calibri"/>
                <a:sym typeface="Calibri"/>
              </a:rPr>
              <a:t> </a:t>
            </a:r>
            <a:endParaRPr sz="700">
              <a:solidFill>
                <a:schemeClr val="dk1"/>
              </a:solidFill>
              <a:latin typeface="Calibri"/>
              <a:ea typeface="Calibri"/>
              <a:cs typeface="Calibri"/>
              <a:sym typeface="Calibri"/>
            </a:endParaRPr>
          </a:p>
        </p:txBody>
      </p:sp>
      <p:sp>
        <p:nvSpPr>
          <p:cNvPr id="78" name="Google Shape;78;p16"/>
          <p:cNvSpPr txBox="1"/>
          <p:nvPr/>
        </p:nvSpPr>
        <p:spPr>
          <a:xfrm>
            <a:off x="3437903"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000">
                <a:latin typeface="Calibri"/>
                <a:ea typeface="Calibri"/>
                <a:cs typeface="Calibri"/>
                <a:sym typeface="Calibri"/>
              </a:rPr>
              <a:t>Data for July 1</a:t>
            </a:r>
            <a:endParaRPr sz="1000">
              <a:latin typeface="Calibri"/>
              <a:ea typeface="Calibri"/>
              <a:cs typeface="Calibri"/>
              <a:sym typeface="Calibri"/>
            </a:endParaRPr>
          </a:p>
        </p:txBody>
      </p:sp>
      <p:graphicFrame>
        <p:nvGraphicFramePr>
          <p:cNvPr id="79" name="Google Shape;79;p16"/>
          <p:cNvGraphicFramePr/>
          <p:nvPr/>
        </p:nvGraphicFramePr>
        <p:xfrm>
          <a:off x="5742420" y="430065"/>
          <a:ext cx="3000000" cy="3000000"/>
        </p:xfrm>
        <a:graphic>
          <a:graphicData uri="http://schemas.openxmlformats.org/drawingml/2006/table">
            <a:tbl>
              <a:tblPr>
                <a:noFill/>
                <a:tableStyleId>{00ACB243-FEF2-4516-BF77-929AA06F71E7}</a:tableStyleId>
              </a:tblPr>
              <a:tblGrid>
                <a:gridCol w="219050">
                  <a:extLst>
                    <a:ext uri="{9D8B030D-6E8A-4147-A177-3AD203B41FA5}">
                      <a16:colId xmlns:a16="http://schemas.microsoft.com/office/drawing/2014/main" val="20000"/>
                    </a:ext>
                  </a:extLst>
                </a:gridCol>
                <a:gridCol w="585450">
                  <a:extLst>
                    <a:ext uri="{9D8B030D-6E8A-4147-A177-3AD203B41FA5}">
                      <a16:colId xmlns:a16="http://schemas.microsoft.com/office/drawing/2014/main" val="20001"/>
                    </a:ext>
                  </a:extLst>
                </a:gridCol>
              </a:tblGrid>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solidFill>
                      <a:srgbClr val="4472C4"/>
                    </a:solidFill>
                  </a:tcPr>
                </a:tc>
                <a:tc>
                  <a:txBody>
                    <a:bodyPr/>
                    <a:lstStyle/>
                    <a:p>
                      <a:pPr marL="0" lvl="0" indent="0" algn="l" rtl="0">
                        <a:spcBef>
                          <a:spcPts val="0"/>
                        </a:spcBef>
                        <a:spcAft>
                          <a:spcPts val="0"/>
                        </a:spcAft>
                        <a:buNone/>
                      </a:pPr>
                      <a:r>
                        <a:rPr lang="en" sz="800">
                          <a:latin typeface="Calibri"/>
                          <a:ea typeface="Calibri"/>
                          <a:cs typeface="Calibri"/>
                          <a:sym typeface="Calibri"/>
                        </a:rPr>
                        <a:t>Claude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solidFill>
                      <a:srgbClr val="FF0000"/>
                    </a:solidFill>
                  </a:tcPr>
                </a:tc>
                <a:tc>
                  <a:txBody>
                    <a:bodyPr/>
                    <a:lstStyle/>
                    <a:p>
                      <a:pPr marL="0" lvl="0" indent="0" algn="l" rtl="0">
                        <a:spcBef>
                          <a:spcPts val="0"/>
                        </a:spcBef>
                        <a:spcAft>
                          <a:spcPts val="0"/>
                        </a:spcAft>
                        <a:buNone/>
                      </a:pPr>
                      <a:r>
                        <a:rPr lang="en" sz="800">
                          <a:latin typeface="Calibri"/>
                          <a:ea typeface="Calibri"/>
                          <a:cs typeface="Calibri"/>
                          <a:sym typeface="Calibri"/>
                        </a:rPr>
                        <a:t>Gemini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solidFill>
                      <a:srgbClr val="FFD700"/>
                    </a:solidFill>
                  </a:tcPr>
                </a:tc>
                <a:tc>
                  <a:txBody>
                    <a:bodyPr/>
                    <a:lstStyle/>
                    <a:p>
                      <a:pPr marL="0" lvl="0" indent="0" algn="l" rtl="0">
                        <a:spcBef>
                          <a:spcPts val="0"/>
                        </a:spcBef>
                        <a:spcAft>
                          <a:spcPts val="0"/>
                        </a:spcAft>
                        <a:buNone/>
                      </a:pPr>
                      <a:r>
                        <a:rPr lang="en" sz="800">
                          <a:latin typeface="Calibri"/>
                          <a:ea typeface="Calibri"/>
                          <a:cs typeface="Calibri"/>
                          <a:sym typeface="Calibri"/>
                        </a:rPr>
                        <a:t>OpenAI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solidFill>
                      <a:srgbClr val="00B050"/>
                    </a:solidFill>
                  </a:tcPr>
                </a:tc>
                <a:tc>
                  <a:txBody>
                    <a:bodyPr/>
                    <a:lstStyle/>
                    <a:p>
                      <a:pPr marL="0" lvl="0" indent="0" algn="l" rtl="0">
                        <a:spcBef>
                          <a:spcPts val="0"/>
                        </a:spcBef>
                        <a:spcAft>
                          <a:spcPts val="0"/>
                        </a:spcAft>
                        <a:buNone/>
                      </a:pPr>
                      <a:r>
                        <a:rPr lang="en" sz="800">
                          <a:latin typeface="Calibri"/>
                          <a:ea typeface="Calibri"/>
                          <a:cs typeface="Calibri"/>
                          <a:sym typeface="Calibri"/>
                        </a:rPr>
                        <a:t>Open Source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3"/>
                  </a:ext>
                </a:extLst>
              </a:tr>
            </a:tbl>
          </a:graphicData>
        </a:graphic>
      </p:graphicFrame>
      <p:sp>
        <p:nvSpPr>
          <p:cNvPr id="80" name="Google Shape;80;p16"/>
          <p:cNvSpPr txBox="1"/>
          <p:nvPr/>
        </p:nvSpPr>
        <p:spPr>
          <a:xfrm>
            <a:off x="6838390" y="485738"/>
            <a:ext cx="21525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Fable-5 - 6TB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Opus-4.8 - 5TB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highlight>
                  <a:srgbClr val="C9DAF8"/>
                </a:highlight>
                <a:latin typeface="Calibri"/>
                <a:ea typeface="Calibri"/>
                <a:cs typeface="Calibri"/>
                <a:sym typeface="Calibri"/>
              </a:rPr>
              <a:t>Claude Sonnet-4.5 - 1TB</a:t>
            </a:r>
            <a:endParaRPr sz="1000">
              <a:highlight>
                <a:srgbClr val="C9DAF8"/>
              </a:highlight>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GLM-5.1 - 744B </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Meta muse-spark - 16 x 70B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Qwen3.7-max-preview - 745B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Baidu Ernie-5.1 - 800B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Deepseek-v4 - 1.6T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Kimi-k2.6 - 1T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Xiaomi MiMo-V2-Pro - 1T+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solidFill>
                  <a:schemeClr val="dk1"/>
                </a:solidFill>
                <a:latin typeface="Calibri"/>
                <a:ea typeface="Calibri"/>
                <a:cs typeface="Calibri"/>
                <a:sym typeface="Calibri"/>
              </a:rPr>
              <a:t>ByteDance </a:t>
            </a:r>
            <a:r>
              <a:rPr lang="en" sz="1000">
                <a:latin typeface="Calibri"/>
                <a:ea typeface="Calibri"/>
                <a:cs typeface="Calibri"/>
                <a:sym typeface="Calibri"/>
              </a:rPr>
              <a:t>dola-seed-2.0-pro 400B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Minimax M3  -  456B</a:t>
            </a:r>
            <a:endParaRPr sz="1000">
              <a:latin typeface="Calibri"/>
              <a:ea typeface="Calibri"/>
              <a:cs typeface="Calibri"/>
              <a:sym typeface="Calibri"/>
            </a:endParaRPr>
          </a:p>
        </p:txBody>
      </p:sp>
      <p:graphicFrame>
        <p:nvGraphicFramePr>
          <p:cNvPr id="81" name="Google Shape;81;p16"/>
          <p:cNvGraphicFramePr/>
          <p:nvPr/>
        </p:nvGraphicFramePr>
        <p:xfrm>
          <a:off x="2956138" y="824787"/>
          <a:ext cx="3000000" cy="3000000"/>
        </p:xfrm>
        <a:graphic>
          <a:graphicData uri="http://schemas.openxmlformats.org/drawingml/2006/table">
            <a:tbl>
              <a:tblPr>
                <a:noFill/>
                <a:tableStyleId>{00ACB243-FEF2-4516-BF77-929AA06F71E7}</a:tableStyleId>
              </a:tblPr>
              <a:tblGrid>
                <a:gridCol w="276225">
                  <a:extLst>
                    <a:ext uri="{9D8B030D-6E8A-4147-A177-3AD203B41FA5}">
                      <a16:colId xmlns:a16="http://schemas.microsoft.com/office/drawing/2014/main" val="20000"/>
                    </a:ext>
                  </a:extLst>
                </a:gridCol>
                <a:gridCol w="1800225">
                  <a:extLst>
                    <a:ext uri="{9D8B030D-6E8A-4147-A177-3AD203B41FA5}">
                      <a16:colId xmlns:a16="http://schemas.microsoft.com/office/drawing/2014/main" val="20001"/>
                    </a:ext>
                  </a:extLst>
                </a:gridCol>
                <a:gridCol w="295275">
                  <a:extLst>
                    <a:ext uri="{9D8B030D-6E8A-4147-A177-3AD203B41FA5}">
                      <a16:colId xmlns:a16="http://schemas.microsoft.com/office/drawing/2014/main" val="20002"/>
                    </a:ext>
                  </a:extLst>
                </a:gridCol>
              </a:tblGrid>
              <a:tr h="1333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9"/>
                        </a:rPr>
                        <a:t>claude-fable-5</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1563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claude-opus-4-7-thinking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claude-opus-4-6-thinking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claude-opus-4-7</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claude-opus-4-6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2"/>
                        </a:rPr>
                        <a:t>claude-opus-4-8</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2"/>
                        </a:rPr>
                        <a:t>claude-opus-4-8-thinking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3"/>
                        </a:rPr>
                        <a:t>claude-opus-4-5-20251101-thinking-32k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4"/>
                        </a:rPr>
                        <a:t>claude-sonnet-4-6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5"/>
                        </a:rPr>
                        <a:t>qwen3.7-max-preview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6"/>
                        </a:rPr>
                        <a:t>muse-spark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7"/>
                        </a:rPr>
                        <a:t>glm-5.1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3"/>
                        </a:rPr>
                        <a:t>claude-opus-4-5-20251101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8"/>
                        </a:rPr>
                        <a:t>gemini-3.1-pro-preview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9"/>
                        </a:rPr>
                        <a:t>gpt-5.4-high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0"/>
                        </a:rPr>
                        <a:t>claude-sonnet-4-5-20250929-thinking-32k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1"/>
                        </a:rPr>
                        <a:t>mimo-v2.5-pro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2"/>
                        </a:rPr>
                        <a:t>gemini-3-pro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3"/>
                        </a:rPr>
                        <a:t>gpt-5.5-high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4"/>
                        </a:rPr>
                        <a:t>gpt-5.2-chat-latest-20260210</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5"/>
                        </a:rPr>
                        <a:t>glm-5.2 (max)</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6"/>
                        </a:rPr>
                        <a:t>claude-sonnet-5-thinking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9"/>
                        </a:rPr>
                        <a:t>gpt-5.4</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7"/>
                        </a:rPr>
                        <a:t>grok-4.20-beta-0309-reasoning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0"/>
                        </a:rPr>
                        <a:t>claude-sonnet-4-5-20250929</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graphicFrame>
        <p:nvGraphicFramePr>
          <p:cNvPr id="82" name="Google Shape;82;p16"/>
          <p:cNvGraphicFramePr/>
          <p:nvPr/>
        </p:nvGraphicFramePr>
        <p:xfrm>
          <a:off x="200857" y="819359"/>
          <a:ext cx="3000000" cy="3000000"/>
        </p:xfrm>
        <a:graphic>
          <a:graphicData uri="http://schemas.openxmlformats.org/drawingml/2006/table">
            <a:tbl>
              <a:tblPr>
                <a:noFill/>
                <a:tableStyleId>{00ACB243-FEF2-4516-BF77-929AA06F71E7}</a:tableStyleId>
              </a:tblPr>
              <a:tblGrid>
                <a:gridCol w="276225">
                  <a:extLst>
                    <a:ext uri="{9D8B030D-6E8A-4147-A177-3AD203B41FA5}">
                      <a16:colId xmlns:a16="http://schemas.microsoft.com/office/drawing/2014/main" val="20000"/>
                    </a:ext>
                  </a:extLst>
                </a:gridCol>
                <a:gridCol w="1724025">
                  <a:extLst>
                    <a:ext uri="{9D8B030D-6E8A-4147-A177-3AD203B41FA5}">
                      <a16:colId xmlns:a16="http://schemas.microsoft.com/office/drawing/2014/main" val="20001"/>
                    </a:ext>
                  </a:extLst>
                </a:gridCol>
                <a:gridCol w="295275">
                  <a:extLst>
                    <a:ext uri="{9D8B030D-6E8A-4147-A177-3AD203B41FA5}">
                      <a16:colId xmlns:a16="http://schemas.microsoft.com/office/drawing/2014/main" val="20002"/>
                    </a:ext>
                  </a:extLst>
                </a:gridCol>
              </a:tblGrid>
              <a:tr h="133350">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19"/>
                        </a:rPr>
                        <a:t>claude-fable-5</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claude-opus-4-6-thinking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claude-opus-4-7-thinking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1"/>
                        </a:rPr>
                        <a:t>claude-opus-4-6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0"/>
                        </a:rPr>
                        <a:t>claude-opus-4-7</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6"/>
                        </a:rPr>
                        <a:t>muse-spark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8"/>
                        </a:rPr>
                        <a:t>gemini-3.1-pro-preview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2"/>
                        </a:rPr>
                        <a:t>gemini-3-pro</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2"/>
                        </a:rPr>
                        <a:t>claude-opus-4-8-thinking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3"/>
                        </a:rPr>
                        <a:t>gpt-5.5-high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1481</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8"/>
                        </a:rPr>
                        <a:t>gemini-3.5-flash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9"/>
                        </a:rPr>
                        <a:t>gpt-5.4-high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1478</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2"/>
                        </a:rPr>
                        <a:t>claude-opus-4-8</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1477</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4"/>
                        </a:rPr>
                        <a:t>gpt-5.2-chat-latest-20260210</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1476</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5"/>
                        </a:rPr>
                        <a:t>qwen3.7-max-preview</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3"/>
                        </a:rPr>
                        <a:t>gpt-5.5</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7"/>
                        </a:rPr>
                        <a:t>grok-4.20-beta-0309-reasoning</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1475</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39"/>
                        </a:rPr>
                        <a:t>grok-4.20-beta1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1474</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33350">
                <a:tc>
                  <a:txBody>
                    <a:bodyPr/>
                    <a:lstStyle/>
                    <a:p>
                      <a:pPr marL="0" lvl="0" indent="0" algn="l" rtl="0">
                        <a:lnSpc>
                          <a:spcPct val="115000"/>
                        </a:lnSpc>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40"/>
                        </a:rPr>
                        <a:t>gemini-3-flash</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3"/>
                        </a:rPr>
                        <a:t>claude-opus-4-5-20251101-thinking-32k</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33350">
                <a:tc>
                  <a:txBody>
                    <a:bodyPr/>
                    <a:lstStyle/>
                    <a:p>
                      <a:pPr marL="0" lvl="0" indent="0" algn="l" rtl="0">
                        <a:lnSpc>
                          <a:spcPct val="115000"/>
                        </a:lnSpc>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41"/>
                        </a:rPr>
                        <a:t>gpt-5.5-instant</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1473</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33350">
                <a:tc>
                  <a:txBody>
                    <a:bodyPr/>
                    <a:lstStyle/>
                    <a:p>
                      <a:pPr marL="0" lvl="0" indent="0" algn="l" rtl="0">
                        <a:lnSpc>
                          <a:spcPct val="115000"/>
                        </a:lnSpc>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7"/>
                        </a:rPr>
                        <a:t>glm-5.1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4"/>
                        </a:rPr>
                        <a:t>claude-sonnet-4-6</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1472</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33350">
                <a:tc>
                  <a:txBody>
                    <a:bodyPr/>
                    <a:lstStyle/>
                    <a:p>
                      <a:pPr marL="0" lvl="0" indent="0" algn="l" rtl="0">
                        <a:lnSpc>
                          <a:spcPct val="115000"/>
                        </a:lnSpc>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42"/>
                        </a:rPr>
                        <a:t>grok-4.20-multi-agent-beta-0309</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1470</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33350">
                <a:tc>
                  <a:txBody>
                    <a:bodyPr/>
                    <a:lstStyle/>
                    <a:p>
                      <a:pPr marL="0" lvl="0" indent="0" algn="l" rtl="0">
                        <a:lnSpc>
                          <a:spcPct val="115000"/>
                        </a:lnSpc>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lnSpc>
                          <a:spcPct val="115000"/>
                        </a:lnSpc>
                        <a:spcBef>
                          <a:spcPts val="0"/>
                        </a:spcBef>
                        <a:spcAft>
                          <a:spcPts val="0"/>
                        </a:spcAft>
                        <a:buNone/>
                      </a:pPr>
                      <a:r>
                        <a:rPr lang="en" sz="800" u="sng">
                          <a:solidFill>
                            <a:schemeClr val="hlink"/>
                          </a:solidFill>
                          <a:latin typeface="Calibri"/>
                          <a:ea typeface="Calibri"/>
                          <a:cs typeface="Calibri"/>
                          <a:sym typeface="Calibri"/>
                          <a:hlinkClick r:id="rId23"/>
                        </a:rPr>
                        <a:t>claude-opus-4-5-20251101</a:t>
                      </a:r>
                      <a:endParaRPr sz="800" u="sng">
                        <a:solidFill>
                          <a:schemeClr val="hlink"/>
                        </a:solidFill>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1469</a:t>
                      </a:r>
                      <a:endParaRPr sz="800">
                        <a:latin typeface="Calibri"/>
                        <a:ea typeface="Calibri"/>
                        <a:cs typeface="Calibri"/>
                        <a:sym typeface="Calibri"/>
                      </a:endParaRPr>
                    </a:p>
                  </a:txBody>
                  <a:tcPr marL="9125" marR="9125" marT="91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6"/>
        <p:cNvGrpSpPr/>
        <p:nvPr/>
      </p:nvGrpSpPr>
      <p:grpSpPr>
        <a:xfrm>
          <a:off x="0" y="0"/>
          <a:ext cx="0" cy="0"/>
          <a:chOff x="0" y="0"/>
          <a:chExt cx="0" cy="0"/>
        </a:xfrm>
      </p:grpSpPr>
      <p:sp>
        <p:nvSpPr>
          <p:cNvPr id="87" name="Google Shape;87;p17"/>
          <p:cNvSpPr txBox="1"/>
          <p:nvPr/>
        </p:nvSpPr>
        <p:spPr>
          <a:xfrm>
            <a:off x="81775" y="8"/>
            <a:ext cx="155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88" name="Google Shape;88;p17"/>
          <p:cNvSpPr txBox="1"/>
          <p:nvPr/>
        </p:nvSpPr>
        <p:spPr>
          <a:xfrm>
            <a:off x="81775" y="387000"/>
            <a:ext cx="35958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Grok 4.5 by xAI/SpaceXAI (July 8-9)</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coding, agentic tasks, and knowledge work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1.5 Trillion-parameter V9 foundation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Trained with Cursor coding data</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targets Opus-class performance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model is optimized for tools and agents, aiming to power autonomous workflows for soft.dev. &amp; research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Grok 4.5 is being positioned as a cheaper, high-capability alternative to leading models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Pricing $2 / $6 in/out per 1M</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(compare $5 / $25 Claude Opus)</a:t>
            </a:r>
            <a:endParaRPr sz="1200">
              <a:solidFill>
                <a:schemeClr val="dk1"/>
              </a:solidFill>
              <a:latin typeface="Calibri"/>
              <a:ea typeface="Calibri"/>
              <a:cs typeface="Calibri"/>
              <a:sym typeface="Calibri"/>
            </a:endParaRPr>
          </a:p>
        </p:txBody>
      </p:sp>
      <p:sp>
        <p:nvSpPr>
          <p:cNvPr id="89" name="Google Shape;89;p17"/>
          <p:cNvSpPr txBox="1"/>
          <p:nvPr/>
        </p:nvSpPr>
        <p:spPr>
          <a:xfrm>
            <a:off x="81775" y="2495856"/>
            <a:ext cx="35958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OpenAI GPT‑5.6 models: Sol, Terra, Luna (July 9)</a:t>
            </a:r>
            <a:endParaRPr sz="1200">
              <a:solidFill>
                <a:srgbClr val="000000"/>
              </a:solidFill>
              <a:latin typeface="Calibri"/>
              <a:ea typeface="Calibri"/>
              <a:cs typeface="Calibri"/>
              <a:sym typeface="Calibri"/>
            </a:endParaRPr>
          </a:p>
          <a:p>
            <a:pPr marL="171450" marR="0" lvl="0" indent="-133350" algn="l" rtl="0">
              <a:lnSpc>
                <a:spcPct val="100000"/>
              </a:lnSpc>
              <a:spcBef>
                <a:spcPts val="0"/>
              </a:spcBef>
              <a:spcAft>
                <a:spcPts val="0"/>
              </a:spcAft>
              <a:buClr>
                <a:srgbClr val="000000"/>
              </a:buClr>
              <a:buSzPts val="1200"/>
              <a:buFont typeface="Calibri"/>
              <a:buChar char="●"/>
            </a:pPr>
            <a:r>
              <a:rPr lang="en" sz="1200" u="sng">
                <a:solidFill>
                  <a:schemeClr val="hlink"/>
                </a:solidFill>
                <a:latin typeface="Calibri"/>
                <a:ea typeface="Calibri"/>
                <a:cs typeface="Calibri"/>
                <a:sym typeface="Calibri"/>
                <a:hlinkClick r:id="rId3"/>
              </a:rPr>
              <a:t>https://www.youtube.com/watch?v=mD1F5DsC5tc</a:t>
            </a:r>
            <a:r>
              <a:rPr lang="en" sz="1200">
                <a:latin typeface="Calibri"/>
                <a:ea typeface="Calibri"/>
                <a:cs typeface="Calibri"/>
                <a:sym typeface="Calibri"/>
              </a:rPr>
              <a:t> </a:t>
            </a:r>
            <a:endParaRPr sz="1200">
              <a:solidFill>
                <a:srgbClr val="000000"/>
              </a:solidFill>
              <a:latin typeface="Calibri"/>
              <a:ea typeface="Calibri"/>
              <a:cs typeface="Calibri"/>
              <a:sym typeface="Calibri"/>
            </a:endParaRPr>
          </a:p>
          <a:p>
            <a:pPr marL="171450" marR="0" lvl="0" indent="-133350" algn="l" rtl="0">
              <a:lnSpc>
                <a:spcPct val="100000"/>
              </a:lnSpc>
              <a:spcBef>
                <a:spcPts val="0"/>
              </a:spcBef>
              <a:spcAft>
                <a:spcPts val="0"/>
              </a:spcAft>
              <a:buClr>
                <a:srgbClr val="000000"/>
              </a:buClr>
              <a:buSzPts val="1200"/>
              <a:buFont typeface="Calibri"/>
              <a:buChar char="●"/>
            </a:pPr>
            <a:r>
              <a:rPr lang="en" sz="1200">
                <a:latin typeface="Calibri"/>
                <a:ea typeface="Calibri"/>
                <a:cs typeface="Calibri"/>
                <a:sym typeface="Calibri"/>
              </a:rPr>
              <a:t>Pricing -  in/out per 1M token</a:t>
            </a:r>
            <a:br>
              <a:rPr lang="en" sz="1200">
                <a:latin typeface="Calibri"/>
                <a:ea typeface="Calibri"/>
                <a:cs typeface="Calibri"/>
                <a:sym typeface="Calibri"/>
              </a:rPr>
            </a:br>
            <a:r>
              <a:rPr lang="en" sz="1200" b="1">
                <a:solidFill>
                  <a:srgbClr val="3C78D8"/>
                </a:solidFill>
                <a:latin typeface="Calibri"/>
                <a:ea typeface="Calibri"/>
                <a:cs typeface="Calibri"/>
                <a:sym typeface="Calibri"/>
              </a:rPr>
              <a:t>Sol - $5 / $30, the flagship</a:t>
            </a:r>
            <a:br>
              <a:rPr lang="en" sz="1200" b="1">
                <a:solidFill>
                  <a:srgbClr val="3C78D8"/>
                </a:solidFill>
                <a:latin typeface="Calibri"/>
                <a:ea typeface="Calibri"/>
                <a:cs typeface="Calibri"/>
                <a:sym typeface="Calibri"/>
              </a:rPr>
            </a:br>
            <a:r>
              <a:rPr lang="en" sz="1200" b="1">
                <a:solidFill>
                  <a:srgbClr val="3C78D8"/>
                </a:solidFill>
                <a:latin typeface="Calibri"/>
                <a:ea typeface="Calibri"/>
                <a:cs typeface="Calibri"/>
                <a:sym typeface="Calibri"/>
              </a:rPr>
              <a:t>Terra - $2.50/$15 - balanced, like 5.5</a:t>
            </a:r>
            <a:br>
              <a:rPr lang="en" sz="1200" b="1">
                <a:solidFill>
                  <a:srgbClr val="3C78D8"/>
                </a:solidFill>
                <a:latin typeface="Calibri"/>
                <a:ea typeface="Calibri"/>
                <a:cs typeface="Calibri"/>
                <a:sym typeface="Calibri"/>
              </a:rPr>
            </a:br>
            <a:r>
              <a:rPr lang="en" sz="1200" b="1">
                <a:solidFill>
                  <a:srgbClr val="3C78D8"/>
                </a:solidFill>
                <a:latin typeface="Calibri"/>
                <a:ea typeface="Calibri"/>
                <a:cs typeface="Calibri"/>
                <a:sym typeface="Calibri"/>
              </a:rPr>
              <a:t>Luna $1/$6 - fastest and most affordable</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1.5M-token context window</a:t>
            </a:r>
            <a:endParaRPr sz="1200">
              <a:latin typeface="Calibri"/>
              <a:ea typeface="Calibri"/>
              <a:cs typeface="Calibri"/>
              <a:sym typeface="Calibri"/>
            </a:endParaRPr>
          </a:p>
        </p:txBody>
      </p:sp>
      <p:pic>
        <p:nvPicPr>
          <p:cNvPr id="90" name="Google Shape;90;p1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3752075" y="2831665"/>
            <a:ext cx="1465752" cy="824474"/>
          </a:xfrm>
          <a:prstGeom prst="rect">
            <a:avLst/>
          </a:prstGeom>
          <a:noFill/>
          <a:ln w="9525" cap="flat" cmpd="sng">
            <a:solidFill>
              <a:srgbClr val="FF0000"/>
            </a:solidFill>
            <a:prstDash val="solid"/>
            <a:round/>
            <a:headEnd type="none" w="sm" len="sm"/>
            <a:tailEnd type="none" w="sm" len="sm"/>
          </a:ln>
        </p:spPr>
      </p:pic>
      <p:pic>
        <p:nvPicPr>
          <p:cNvPr id="91" name="Google Shape;91;p17"/>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3752075" y="637433"/>
            <a:ext cx="1551001" cy="871770"/>
          </a:xfrm>
          <a:prstGeom prst="rect">
            <a:avLst/>
          </a:prstGeom>
          <a:noFill/>
          <a:ln w="9525" cap="flat" cmpd="sng">
            <a:solidFill>
              <a:srgbClr val="FF0000"/>
            </a:solidFill>
            <a:prstDash val="solid"/>
            <a:round/>
            <a:headEnd type="none" w="sm" len="sm"/>
            <a:tailEnd type="none" w="sm" len="sm"/>
          </a:ln>
        </p:spPr>
      </p:pic>
      <p:sp>
        <p:nvSpPr>
          <p:cNvPr id="92" name="Google Shape;92;p17"/>
          <p:cNvSpPr txBox="1"/>
          <p:nvPr/>
        </p:nvSpPr>
        <p:spPr>
          <a:xfrm>
            <a:off x="81775" y="4243976"/>
            <a:ext cx="28617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Gemini 3.5 Flash (May 19) </a:t>
            </a:r>
            <a:br>
              <a:rPr lang="en" sz="1200" b="1">
                <a:solidFill>
                  <a:srgbClr val="FF0000"/>
                </a:solidFill>
                <a:latin typeface="Calibri"/>
                <a:ea typeface="Calibri"/>
                <a:cs typeface="Calibri"/>
                <a:sym typeface="Calibri"/>
              </a:rPr>
            </a:br>
            <a:r>
              <a:rPr lang="en" sz="1200" b="1">
                <a:solidFill>
                  <a:srgbClr val="FF0000"/>
                </a:solidFill>
                <a:latin typeface="Calibri"/>
                <a:ea typeface="Calibri"/>
                <a:cs typeface="Calibri"/>
                <a:sym typeface="Calibri"/>
              </a:rPr>
              <a:t>$1.5 / $9</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Gemini 3.5 Pro (still in limited preview)</a:t>
            </a:r>
            <a:br>
              <a:rPr lang="en" sz="1200" b="1">
                <a:solidFill>
                  <a:srgbClr val="FF0000"/>
                </a:solidFill>
                <a:latin typeface="Calibri"/>
                <a:ea typeface="Calibri"/>
                <a:cs typeface="Calibri"/>
                <a:sym typeface="Calibri"/>
              </a:rPr>
            </a:br>
            <a:r>
              <a:rPr lang="en" sz="1200" b="1">
                <a:solidFill>
                  <a:srgbClr val="FF0000"/>
                </a:solidFill>
                <a:latin typeface="Calibri"/>
                <a:ea typeface="Calibri"/>
                <a:cs typeface="Calibri"/>
                <a:sym typeface="Calibri"/>
              </a:rPr>
              <a:t>$2.5 / $15</a:t>
            </a:r>
            <a:endParaRPr sz="1200" b="1">
              <a:solidFill>
                <a:srgbClr val="FF0000"/>
              </a:solidFill>
              <a:latin typeface="Calibri"/>
              <a:ea typeface="Calibri"/>
              <a:cs typeface="Calibri"/>
              <a:sym typeface="Calibri"/>
            </a:endParaRPr>
          </a:p>
        </p:txBody>
      </p:sp>
      <p:pic>
        <p:nvPicPr>
          <p:cNvPr id="93" name="Google Shape;93;p1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3082200" y="4331938"/>
            <a:ext cx="1791845" cy="581275"/>
          </a:xfrm>
          <a:prstGeom prst="rect">
            <a:avLst/>
          </a:prstGeom>
          <a:noFill/>
          <a:ln w="9525" cap="flat" cmpd="sng">
            <a:solidFill>
              <a:srgbClr val="FF0000"/>
            </a:solidFill>
            <a:prstDash val="solid"/>
            <a:round/>
            <a:headEnd type="none" w="sm" len="sm"/>
            <a:tailEnd type="none" w="sm" len="sm"/>
          </a:ln>
        </p:spPr>
      </p:pic>
      <p:sp>
        <p:nvSpPr>
          <p:cNvPr id="94" name="Google Shape;94;p17"/>
          <p:cNvSpPr txBox="1"/>
          <p:nvPr/>
        </p:nvSpPr>
        <p:spPr>
          <a:xfrm>
            <a:off x="5436875" y="3966925"/>
            <a:ext cx="35958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Anthropic’s Fable 5 promo for subscriptions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Through July 12 Fable 5 is available as part of your subscription (up to 50% of your weekly limits)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Starting July 13 Fable 5 will no longer be part of subscriptions. It will require "usage credits"</a:t>
            </a:r>
            <a:endParaRPr sz="1200">
              <a:solidFill>
                <a:schemeClr val="dk1"/>
              </a:solidFill>
              <a:latin typeface="Calibri"/>
              <a:ea typeface="Calibri"/>
              <a:cs typeface="Calibri"/>
              <a:sym typeface="Calibri"/>
            </a:endParaRPr>
          </a:p>
        </p:txBody>
      </p:sp>
      <p:pic>
        <p:nvPicPr>
          <p:cNvPr id="95" name="Google Shape;95;p17"/>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7550002" y="564182"/>
            <a:ext cx="1482673" cy="824475"/>
          </a:xfrm>
          <a:prstGeom prst="rect">
            <a:avLst/>
          </a:prstGeom>
          <a:noFill/>
          <a:ln w="9525" cap="flat" cmpd="sng">
            <a:solidFill>
              <a:srgbClr val="FF0000"/>
            </a:solidFill>
            <a:prstDash val="solid"/>
            <a:round/>
            <a:headEnd type="none" w="sm" len="sm"/>
            <a:tailEnd type="none" w="sm" len="sm"/>
          </a:ln>
        </p:spPr>
      </p:pic>
      <p:sp>
        <p:nvSpPr>
          <p:cNvPr id="96" name="Google Shape;96;p17"/>
          <p:cNvSpPr txBox="1"/>
          <p:nvPr/>
        </p:nvSpPr>
        <p:spPr>
          <a:xfrm>
            <a:off x="5436875" y="1525256"/>
            <a:ext cx="3595800" cy="2373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Re-release of Fable 5 and Mythos 5 models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Anthropic introduced a strict, government collaborated safety classifier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However, this classifier frequently flags harmless coding or biology prompts, automatically downgrading paying users to the older, cheaper Opus 4.8 model.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Developers discovered a hidden anti-distillation mechanism inside Claude Code that secretly alters system prompt characters to track unauthorized Chinese proxies and resellers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raises significant user transparency and trust concerns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8"/>
              </a:rPr>
              <a:t>https://www.youtube.com/watch?v=d6R3tsSD270</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8"/>
          <p:cNvSpPr txBox="1"/>
          <p:nvPr/>
        </p:nvSpPr>
        <p:spPr>
          <a:xfrm>
            <a:off x="81775" y="8"/>
            <a:ext cx="155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02" name="Google Shape;102;p18"/>
          <p:cNvSpPr txBox="1"/>
          <p:nvPr/>
        </p:nvSpPr>
        <p:spPr>
          <a:xfrm>
            <a:off x="81775" y="387010"/>
            <a:ext cx="43683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Instruct Claude to Modify its own </a:t>
            </a:r>
            <a:r>
              <a:rPr lang="en" sz="1200" b="1" u="sng">
                <a:solidFill>
                  <a:srgbClr val="FF0000"/>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Claude.md</a:t>
            </a:r>
            <a:r>
              <a:rPr lang="en" sz="1200" b="1">
                <a:solidFill>
                  <a:srgbClr val="FF0000"/>
                </a:solidFill>
                <a:latin typeface="Calibri"/>
                <a:ea typeface="Calibri"/>
                <a:cs typeface="Calibri"/>
                <a:sym typeface="Calibri"/>
              </a:rPr>
              <a:t> file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Paste this into claude to build 10x faster... (Boris Cherny Method)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https://www.youtube.com/watch?v=9nTG1B1No_E</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At the end of your claude.md file add this phrase under a dedicated section (like # Self-Learning or # Instructions):</a:t>
            </a:r>
            <a:endParaRPr sz="1200">
              <a:solidFill>
                <a:schemeClr val="dk1"/>
              </a:solidFill>
              <a:latin typeface="Calibri"/>
              <a:ea typeface="Calibri"/>
              <a:cs typeface="Calibri"/>
              <a:sym typeface="Calibri"/>
            </a:endParaRPr>
          </a:p>
          <a:p>
            <a:pPr marL="6286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When I correct you or catch you making a mistake before continuing add the lesson as a oneline rule under #lessons so it never happens again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instructs Claude to update its own markdown file.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When a user corrects Claude, the AI automatically appends that mistake as a one-line rule under a dedicated lessons section.</a:t>
            </a:r>
            <a:endParaRPr sz="1200">
              <a:solidFill>
                <a:schemeClr val="dk1"/>
              </a:solidFill>
              <a:latin typeface="Calibri"/>
              <a:ea typeface="Calibri"/>
              <a:cs typeface="Calibri"/>
              <a:sym typeface="Calibri"/>
            </a:endParaRPr>
          </a:p>
        </p:txBody>
      </p:sp>
      <p:pic>
        <p:nvPicPr>
          <p:cNvPr id="103" name="Google Shape;103;p18"/>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540350" y="1027679"/>
            <a:ext cx="1290700" cy="1353675"/>
          </a:xfrm>
          <a:prstGeom prst="rect">
            <a:avLst/>
          </a:prstGeom>
          <a:noFill/>
          <a:ln w="9525" cap="flat" cmpd="sng">
            <a:solidFill>
              <a:srgbClr val="FF0000"/>
            </a:solidFill>
            <a:prstDash val="solid"/>
            <a:round/>
            <a:headEnd type="none" w="sm" len="sm"/>
            <a:tailEnd type="none" w="sm" len="sm"/>
          </a:ln>
        </p:spPr>
      </p:pic>
      <p:sp>
        <p:nvSpPr>
          <p:cNvPr id="104" name="Google Shape;104;p18"/>
          <p:cNvSpPr txBox="1"/>
          <p:nvPr/>
        </p:nvSpPr>
        <p:spPr>
          <a:xfrm>
            <a:off x="81775" y="2497800"/>
            <a:ext cx="47412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Boris Cherny of Anthropic on 5 new roles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Instead of traditional roles like engineer or designer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hire for five archetypes:</a:t>
            </a:r>
            <a:endParaRPr sz="1200">
              <a:solidFill>
                <a:schemeClr val="dk1"/>
              </a:solidFill>
              <a:latin typeface="Calibri"/>
              <a:ea typeface="Calibri"/>
              <a:cs typeface="Calibri"/>
              <a:sym typeface="Calibri"/>
            </a:endParaRPr>
          </a:p>
          <a:p>
            <a:pPr marL="4000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Prototypers: generate many ideas</a:t>
            </a:r>
            <a:endParaRPr sz="1200" b="1">
              <a:solidFill>
                <a:srgbClr val="FF0000"/>
              </a:solidFill>
              <a:latin typeface="Calibri"/>
              <a:ea typeface="Calibri"/>
              <a:cs typeface="Calibri"/>
              <a:sym typeface="Calibri"/>
            </a:endParaRPr>
          </a:p>
          <a:p>
            <a:pPr marL="4000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Builders: turn the best ones into real products</a:t>
            </a:r>
            <a:endParaRPr sz="1200" b="1">
              <a:solidFill>
                <a:srgbClr val="FF0000"/>
              </a:solidFill>
              <a:latin typeface="Calibri"/>
              <a:ea typeface="Calibri"/>
              <a:cs typeface="Calibri"/>
              <a:sym typeface="Calibri"/>
            </a:endParaRPr>
          </a:p>
          <a:p>
            <a:pPr marL="4000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Sweepers: refine systems, remove bad ideas, and improve quality</a:t>
            </a:r>
            <a:endParaRPr sz="1200" b="1">
              <a:solidFill>
                <a:srgbClr val="FF0000"/>
              </a:solidFill>
              <a:latin typeface="Calibri"/>
              <a:ea typeface="Calibri"/>
              <a:cs typeface="Calibri"/>
              <a:sym typeface="Calibri"/>
            </a:endParaRPr>
          </a:p>
          <a:p>
            <a:pPr marL="4000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Growers: focus on product-market fit using data and user feedback</a:t>
            </a:r>
            <a:endParaRPr sz="1200" b="1">
              <a:solidFill>
                <a:srgbClr val="FF0000"/>
              </a:solidFill>
              <a:latin typeface="Calibri"/>
              <a:ea typeface="Calibri"/>
              <a:cs typeface="Calibri"/>
              <a:sym typeface="Calibri"/>
            </a:endParaRPr>
          </a:p>
          <a:p>
            <a:pPr marL="4000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Maintainers: ensure systems stay reliable and scalable over time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mix depends on stage: early teams need prototypers, builders, and sweepers; growth adds growers; mature products rely more on sweepers, growers, and maintainers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Hire based on function and impact, not job titles or resumes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https://x.com/bcherny/status/2071379474277613732</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105" name="Google Shape;105;p18"/>
          <p:cNvSpPr txBox="1"/>
          <p:nvPr/>
        </p:nvSpPr>
        <p:spPr>
          <a:xfrm>
            <a:off x="5921325" y="109950"/>
            <a:ext cx="31650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666666"/>
                </a:solidFill>
                <a:latin typeface="Calibri"/>
                <a:ea typeface="Calibri"/>
                <a:cs typeface="Calibri"/>
                <a:sym typeface="Calibri"/>
              </a:rPr>
              <a:t>What is missing? </a:t>
            </a:r>
            <a:r>
              <a:rPr lang="en" sz="1200">
                <a:solidFill>
                  <a:schemeClr val="dk1"/>
                </a:solidFill>
                <a:latin typeface="Calibri"/>
                <a:ea typeface="Calibri"/>
                <a:cs typeface="Calibri"/>
                <a:sym typeface="Calibri"/>
              </a:rPr>
              <a:t>Boris Cherny has described only roles for implementation of the idea. But who formulates this idea?</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We need to have someone like </a:t>
            </a:r>
            <a:r>
              <a:rPr lang="en" sz="1200" b="1">
                <a:solidFill>
                  <a:srgbClr val="FF0000"/>
                </a:solidFill>
                <a:latin typeface="Calibri"/>
                <a:ea typeface="Calibri"/>
                <a:cs typeface="Calibri"/>
                <a:sym typeface="Calibri"/>
              </a:rPr>
              <a:t>Steve Jobs - a visionary. </a:t>
            </a:r>
            <a:r>
              <a:rPr lang="en" sz="1200">
                <a:solidFill>
                  <a:schemeClr val="dk1"/>
                </a:solidFill>
                <a:latin typeface="Calibri"/>
                <a:ea typeface="Calibri"/>
                <a:cs typeface="Calibri"/>
                <a:sym typeface="Calibri"/>
              </a:rPr>
              <a:t>Someone to define a direction, goal, intent, strategy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We need someone who knows where to hit. Remember this old story: A factory machine breaks down. A consultant taps one spot with a hammer and the machine starts. His invoices $1 for hitting, and $9,999 for knowing where to hit.</a:t>
            </a:r>
            <a:endParaRPr sz="1200">
              <a:solidFill>
                <a:schemeClr val="dk1"/>
              </a:solidFill>
              <a:latin typeface="Calibri"/>
              <a:ea typeface="Calibri"/>
              <a:cs typeface="Calibri"/>
              <a:sym typeface="Calibri"/>
            </a:endParaRPr>
          </a:p>
        </p:txBody>
      </p:sp>
      <p:sp>
        <p:nvSpPr>
          <p:cNvPr id="106" name="Google Shape;106;p18"/>
          <p:cNvSpPr txBox="1"/>
          <p:nvPr/>
        </p:nvSpPr>
        <p:spPr>
          <a:xfrm>
            <a:off x="5924700" y="3176059"/>
            <a:ext cx="31650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Dan Sullivan from Strategic Coach </a:t>
            </a:r>
            <a:r>
              <a:rPr lang="en" sz="1200">
                <a:solidFill>
                  <a:schemeClr val="dk1"/>
                </a:solidFill>
                <a:latin typeface="Calibri"/>
                <a:ea typeface="Calibri"/>
                <a:cs typeface="Calibri"/>
                <a:sym typeface="Calibri"/>
              </a:rPr>
              <a:t>explains how business owners do everything themselves behave as "self-milking cow" -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 encourages business leaders to delegate, build systems, and find the "Who" to execute tasks</a:t>
            </a:r>
            <a:endParaRPr sz="1200">
              <a:solidFill>
                <a:schemeClr val="dk1"/>
              </a:solidFill>
              <a:latin typeface="Calibri"/>
              <a:ea typeface="Calibri"/>
              <a:cs typeface="Calibri"/>
              <a:sym typeface="Calibri"/>
            </a:endParaRPr>
          </a:p>
        </p:txBody>
      </p:sp>
      <p:pic>
        <p:nvPicPr>
          <p:cNvPr id="107" name="Google Shape;107;p18"/>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916625" y="2944732"/>
            <a:ext cx="914425" cy="107313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1"/>
        <p:cNvGrpSpPr/>
        <p:nvPr/>
      </p:nvGrpSpPr>
      <p:grpSpPr>
        <a:xfrm>
          <a:off x="0" y="0"/>
          <a:ext cx="0" cy="0"/>
          <a:chOff x="0" y="0"/>
          <a:chExt cx="0" cy="0"/>
        </a:xfrm>
      </p:grpSpPr>
      <p:sp>
        <p:nvSpPr>
          <p:cNvPr id="112" name="Google Shape;112;p19"/>
          <p:cNvSpPr txBox="1"/>
          <p:nvPr/>
        </p:nvSpPr>
        <p:spPr>
          <a:xfrm>
            <a:off x="81775" y="8"/>
            <a:ext cx="155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13" name="Google Shape;113;p19"/>
          <p:cNvSpPr txBox="1"/>
          <p:nvPr/>
        </p:nvSpPr>
        <p:spPr>
          <a:xfrm>
            <a:off x="81775" y="387010"/>
            <a:ext cx="43683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OpenAI optimizations cut inference cost x2</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Serve ChatGPT for logged‑out users with only a few hundred NVIDIA GPUs, versus far larger fleets before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They have not disclosed details, but observers believe it’s a combination of aggressive quantization, smarter KV caching, highly efficient batching, and routing simpler queries to cheaper models, all backed by better low‑level kernel and serving‑stack tuning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business impact is significant: cheaper inference can support lower API prices, higher usage limits, and better profit margins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So inference efficiency is a key competitive moat</a:t>
            </a:r>
            <a:endParaRPr sz="1200">
              <a:solidFill>
                <a:schemeClr val="dk1"/>
              </a:solidFill>
              <a:latin typeface="Calibri"/>
              <a:ea typeface="Calibri"/>
              <a:cs typeface="Calibri"/>
              <a:sym typeface="Calibri"/>
            </a:endParaRPr>
          </a:p>
        </p:txBody>
      </p:sp>
      <p:sp>
        <p:nvSpPr>
          <p:cNvPr id="114" name="Google Shape;114;p19"/>
          <p:cNvSpPr txBox="1"/>
          <p:nvPr/>
        </p:nvSpPr>
        <p:spPr>
          <a:xfrm>
            <a:off x="81775" y="2359488"/>
            <a:ext cx="43683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DeepSeek DSpark Speculative Decoding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Accelerates AI generation speed by 80+%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Increases total output capacity by 700% without losing quality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Traditional speculative decoding uses small models to draft text ahead for a larger model to verify, but drafts are often slow or error-prone due to sentence decay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DSpark fixes this by using a parallel drafter enhanced with a lightweight Markov head to eliminate errors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also introduces a confidence head that dynamically </a:t>
            </a:r>
            <a:r>
              <a:rPr lang="en" sz="1200" b="1">
                <a:solidFill>
                  <a:srgbClr val="FF0000"/>
                </a:solidFill>
                <a:latin typeface="Calibri"/>
                <a:ea typeface="Calibri"/>
                <a:cs typeface="Calibri"/>
                <a:sym typeface="Calibri"/>
              </a:rPr>
              <a:t>adjusts draft lengths based on context predictability</a:t>
            </a:r>
            <a:r>
              <a:rPr lang="en" sz="1200">
                <a:solidFill>
                  <a:schemeClr val="dk1"/>
                </a:solidFill>
                <a:latin typeface="Calibri"/>
                <a:ea typeface="Calibri"/>
                <a:cs typeface="Calibri"/>
                <a:sym typeface="Calibri"/>
              </a:rPr>
              <a:t> - like </a:t>
            </a:r>
            <a:r>
              <a:rPr lang="en" sz="1200" b="1">
                <a:solidFill>
                  <a:srgbClr val="3C78D8"/>
                </a:solidFill>
                <a:latin typeface="Calibri"/>
                <a:ea typeface="Calibri"/>
                <a:cs typeface="Calibri"/>
                <a:sym typeface="Calibri"/>
              </a:rPr>
              <a:t>shortening drafts for creative tasks and lengthening them for deterministic coding</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Finally, DSpark is hardware-aware, regulating drafts based on real-time GPU loads to optimize multi-user data centers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https://www.youtube.com/watch?v=J0D7qV3nl7w</a:t>
            </a:r>
            <a:endParaRPr sz="1200">
              <a:solidFill>
                <a:schemeClr val="dk1"/>
              </a:solidFill>
              <a:latin typeface="Calibri"/>
              <a:ea typeface="Calibri"/>
              <a:cs typeface="Calibri"/>
              <a:sym typeface="Calibri"/>
            </a:endParaRPr>
          </a:p>
        </p:txBody>
      </p:sp>
      <p:sp>
        <p:nvSpPr>
          <p:cNvPr id="115" name="Google Shape;115;p19"/>
          <p:cNvSpPr txBox="1"/>
          <p:nvPr/>
        </p:nvSpPr>
        <p:spPr>
          <a:xfrm>
            <a:off x="4687721" y="4206588"/>
            <a:ext cx="43683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Z.ai</a:t>
            </a:r>
            <a:r>
              <a:rPr lang="en" sz="1200">
                <a:solidFill>
                  <a:schemeClr val="dk1"/>
                </a:solidFill>
                <a:latin typeface="Calibri"/>
                <a:ea typeface="Calibri"/>
                <a:cs typeface="Calibri"/>
                <a:sym typeface="Calibri"/>
              </a:rPr>
              <a:t> GLM-5.2 + DeepSeek's DSpark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Beats Claude + 85% Faster + OpenSource + Affordable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https://www.youtube.com/watch?v=wDpN2ORnqZk</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20"/>
          <p:cNvSpPr txBox="1"/>
          <p:nvPr/>
        </p:nvSpPr>
        <p:spPr>
          <a:xfrm>
            <a:off x="179326" y="47835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7K subscribers, 295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1. Subscribe to this channel </a:t>
            </a: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2. 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b="1">
                <a:solidFill>
                  <a:srgbClr val="FF0000"/>
                </a:solidFill>
                <a:latin typeface="Calibri"/>
                <a:ea typeface="Calibri"/>
                <a:cs typeface="Calibri"/>
                <a:sym typeface="Calibri"/>
              </a:rPr>
              <a:t>3. 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21" name="Google Shape;121;p2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233650" y="80363"/>
            <a:ext cx="2541900" cy="49827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5"/>
        <p:cNvGrpSpPr/>
        <p:nvPr/>
      </p:nvGrpSpPr>
      <p:grpSpPr>
        <a:xfrm>
          <a:off x="0" y="0"/>
          <a:ext cx="0" cy="0"/>
          <a:chOff x="0" y="0"/>
          <a:chExt cx="0" cy="0"/>
        </a:xfrm>
      </p:grpSpPr>
      <p:sp>
        <p:nvSpPr>
          <p:cNvPr id="126" name="Google Shape;126;p21"/>
          <p:cNvSpPr txBox="1"/>
          <p:nvPr/>
        </p:nvSpPr>
        <p:spPr>
          <a:xfrm>
            <a:off x="81775" y="0"/>
            <a:ext cx="3772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Chinese Models Are Cheaper</a:t>
            </a:r>
            <a:endParaRPr sz="2000" b="1">
              <a:solidFill>
                <a:schemeClr val="dk1"/>
              </a:solidFill>
              <a:latin typeface="Calibri"/>
              <a:ea typeface="Calibri"/>
              <a:cs typeface="Calibri"/>
              <a:sym typeface="Calibri"/>
            </a:endParaRPr>
          </a:p>
        </p:txBody>
      </p:sp>
      <p:sp>
        <p:nvSpPr>
          <p:cNvPr id="127" name="Google Shape;127;p21"/>
          <p:cNvSpPr txBox="1"/>
          <p:nvPr/>
        </p:nvSpPr>
        <p:spPr>
          <a:xfrm>
            <a:off x="4687731" y="2041588"/>
            <a:ext cx="43683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3.5 Sonnet vs DeepSeek V4 Pro</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Both have built a </a:t>
            </a:r>
            <a:r>
              <a:rPr lang="en" sz="1200" b="1">
                <a:solidFill>
                  <a:srgbClr val="3C78D8"/>
                </a:solidFill>
                <a:latin typeface="Calibri"/>
                <a:ea typeface="Calibri"/>
                <a:cs typeface="Calibri"/>
                <a:sym typeface="Calibri"/>
              </a:rPr>
              <a:t>website for coffee shop:</a:t>
            </a:r>
            <a:r>
              <a:rPr lang="en" sz="1200">
                <a:solidFill>
                  <a:schemeClr val="dk1"/>
                </a:solidFill>
                <a:latin typeface="Calibri"/>
                <a:ea typeface="Calibri"/>
                <a:cs typeface="Calibri"/>
                <a:sym typeface="Calibri"/>
              </a:rPr>
              <a:t> animated interactive drink configurator, database for orders, admin dashboard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Costs: Sonnet - $11, DeepSeek - $0.08</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Sonnet - more reliable drink configurator and case-insensitive admin search, but no navigation menu or a footer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DeepSeek built a cleaner, more complete layout with a sticky menu, though its configurator had minor pricing bugs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https://www.youtube.com/watch?v=Yot-6wXrcyI</a:t>
            </a:r>
            <a:r>
              <a:rPr lang="en" sz="1200">
                <a:solidFill>
                  <a:schemeClr val="dk1"/>
                </a:solidFill>
                <a:latin typeface="Calibri"/>
                <a:ea typeface="Calibri"/>
                <a:cs typeface="Calibri"/>
                <a:sym typeface="Calibri"/>
              </a:rPr>
              <a:t> (in Russian)</a:t>
            </a:r>
            <a:endParaRPr sz="1200">
              <a:solidFill>
                <a:schemeClr val="dk1"/>
              </a:solidFill>
              <a:latin typeface="Calibri"/>
              <a:ea typeface="Calibri"/>
              <a:cs typeface="Calibri"/>
              <a:sym typeface="Calibri"/>
            </a:endParaRPr>
          </a:p>
        </p:txBody>
      </p:sp>
      <p:pic>
        <p:nvPicPr>
          <p:cNvPr id="128" name="Google Shape;128;p2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962556" y="1092419"/>
            <a:ext cx="2093476" cy="884400"/>
          </a:xfrm>
          <a:prstGeom prst="rect">
            <a:avLst/>
          </a:prstGeom>
          <a:noFill/>
          <a:ln w="9525" cap="flat" cmpd="sng">
            <a:solidFill>
              <a:srgbClr val="FF0000"/>
            </a:solidFill>
            <a:prstDash val="solid"/>
            <a:round/>
            <a:headEnd type="none" w="sm" len="sm"/>
            <a:tailEnd type="none" w="sm" len="sm"/>
          </a:ln>
        </p:spPr>
      </p:pic>
      <p:pic>
        <p:nvPicPr>
          <p:cNvPr id="129" name="Google Shape;129;p21"/>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139875" y="2008385"/>
            <a:ext cx="3889824" cy="1977726"/>
          </a:xfrm>
          <a:prstGeom prst="rect">
            <a:avLst/>
          </a:prstGeom>
          <a:noFill/>
          <a:ln w="9525" cap="flat" cmpd="sng">
            <a:solidFill>
              <a:srgbClr val="FF0000"/>
            </a:solidFill>
            <a:prstDash val="solid"/>
            <a:round/>
            <a:headEnd type="none" w="sm" len="sm"/>
            <a:tailEnd type="none" w="sm" len="sm"/>
          </a:ln>
        </p:spPr>
      </p:pic>
      <p:sp>
        <p:nvSpPr>
          <p:cNvPr id="130" name="Google Shape;130;p21"/>
          <p:cNvSpPr txBox="1"/>
          <p:nvPr/>
        </p:nvSpPr>
        <p:spPr>
          <a:xfrm>
            <a:off x="477750" y="1001546"/>
            <a:ext cx="2613300" cy="895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Flappy Bird Test:</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DeepSeek v4 Pro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GLM 5.2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Fable 5</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https://www.youtube.com/watch?v=i6r0GyFpI4I</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sp>
        <p:nvSpPr>
          <p:cNvPr id="135" name="Google Shape;135;p22"/>
          <p:cNvSpPr txBox="1"/>
          <p:nvPr/>
        </p:nvSpPr>
        <p:spPr>
          <a:xfrm>
            <a:off x="81775" y="8"/>
            <a:ext cx="155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36" name="Google Shape;136;p22"/>
          <p:cNvSpPr txBox="1"/>
          <p:nvPr/>
        </p:nvSpPr>
        <p:spPr>
          <a:xfrm>
            <a:off x="81775" y="387010"/>
            <a:ext cx="4368300" cy="214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Organization-wide Agent - Andrej Karpathy </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https://x.com/karpathy/status/2069547676849557725</a:t>
            </a:r>
            <a:endParaRPr sz="900">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https://www.youtube.com/watch?v=eMVaGOsfYs8</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from (1) isolated web chatbots and (2) desktop apps</a:t>
            </a:r>
            <a:br>
              <a:rPr lang="en" sz="1200" b="1">
                <a:solidFill>
                  <a:srgbClr val="3C78D8"/>
                </a:solidFill>
                <a:latin typeface="Calibri"/>
                <a:ea typeface="Calibri"/>
                <a:cs typeface="Calibri"/>
                <a:sym typeface="Calibri"/>
              </a:rPr>
            </a:br>
            <a:r>
              <a:rPr lang="en" sz="1200" b="1">
                <a:solidFill>
                  <a:srgbClr val="3C78D8"/>
                </a:solidFill>
                <a:latin typeface="Calibri"/>
                <a:ea typeface="Calibri"/>
                <a:cs typeface="Calibri"/>
                <a:sym typeface="Calibri"/>
              </a:rPr>
              <a:t>to (3) persistent, organization-wide AI entities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Anthropic’s Tag feature in Slack - generates 65% of Anthropic's internal product code !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AI can now act as an active, multiplayer "employee" deeply integrated across a company’s entire system, tools, and context.</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"Claude Tag" is currently only for Team/Enterprise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small businesses can build a similar functionality using custom Telegram bots connected via AWS and tools like Composio</a:t>
            </a:r>
            <a:endParaRPr sz="1200">
              <a:solidFill>
                <a:schemeClr val="dk1"/>
              </a:solidFill>
              <a:latin typeface="Calibri"/>
              <a:ea typeface="Calibri"/>
              <a:cs typeface="Calibri"/>
              <a:sym typeface="Calibri"/>
            </a:endParaRPr>
          </a:p>
        </p:txBody>
      </p:sp>
      <p:sp>
        <p:nvSpPr>
          <p:cNvPr id="137" name="Google Shape;137;p22"/>
          <p:cNvSpPr txBox="1"/>
          <p:nvPr/>
        </p:nvSpPr>
        <p:spPr>
          <a:xfrm>
            <a:off x="81775" y="2659725"/>
            <a:ext cx="4368300" cy="1988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Composio SKD connects agents to 100s of apps </a:t>
            </a:r>
            <a:br>
              <a:rPr lang="en" sz="1200">
                <a:solidFill>
                  <a:schemeClr val="dk1"/>
                </a:solidFill>
                <a:latin typeface="Calibri"/>
                <a:ea typeface="Calibri"/>
                <a:cs typeface="Calibri"/>
                <a:sym typeface="Calibri"/>
              </a:rPr>
            </a:br>
            <a:r>
              <a:rPr lang="en" sz="1100" b="1">
                <a:solidFill>
                  <a:srgbClr val="3C78D8"/>
                </a:solidFill>
                <a:latin typeface="Calibri"/>
                <a:ea typeface="Calibri"/>
                <a:cs typeface="Calibri"/>
                <a:sym typeface="Calibri"/>
              </a:rPr>
              <a:t>(GitHub, Slack, Salesforce, Notion, Jira, Gmail, databases, OS tools)</a:t>
            </a:r>
            <a:endParaRPr sz="11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handles </a:t>
            </a:r>
            <a:r>
              <a:rPr lang="en" sz="1200" b="1">
                <a:solidFill>
                  <a:srgbClr val="FF0000"/>
                </a:solidFill>
                <a:latin typeface="Calibri"/>
                <a:ea typeface="Calibri"/>
                <a:cs typeface="Calibri"/>
                <a:sym typeface="Calibri"/>
              </a:rPr>
              <a:t>authentication</a:t>
            </a:r>
            <a:r>
              <a:rPr lang="en" sz="1200">
                <a:solidFill>
                  <a:schemeClr val="dk1"/>
                </a:solidFill>
                <a:latin typeface="Calibri"/>
                <a:ea typeface="Calibri"/>
                <a:cs typeface="Calibri"/>
                <a:sym typeface="Calibri"/>
              </a:rPr>
              <a:t> (OAuth, API keys, JWT(JSON Web Token)), </a:t>
            </a:r>
            <a:r>
              <a:rPr lang="en" sz="1200" b="1">
                <a:solidFill>
                  <a:srgbClr val="FF0000"/>
                </a:solidFill>
                <a:latin typeface="Calibri"/>
                <a:ea typeface="Calibri"/>
                <a:cs typeface="Calibri"/>
                <a:sym typeface="Calibri"/>
              </a:rPr>
              <a:t>sandboxed execution, logging, and dashboards</a:t>
            </a:r>
            <a:r>
              <a:rPr lang="en" sz="1200">
                <a:solidFill>
                  <a:schemeClr val="dk1"/>
                </a:solidFill>
                <a:latin typeface="Calibri"/>
                <a:ea typeface="Calibri"/>
                <a:cs typeface="Calibri"/>
                <a:sym typeface="Calibri"/>
              </a:rPr>
              <a:t> so you don’t have to hand‑roll API glue and infra for each tool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makes it useful for turning agent prototypes into production workflows like code assistants, sales bots, or admin helpers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https://composio.dev</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https://github.com/ComposioHQ/composio</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https://aws.amazon.com/marketplace/pp/prodview-skjxykuajjn34</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8"/>
              </a:rPr>
              <a:t>https://github.com/ComposioHQ/composio/blob/master/docs/introduction/intro/overview.mdx</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138" name="Google Shape;138;p22"/>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581525" y="3078550"/>
            <a:ext cx="2790826" cy="941000"/>
          </a:xfrm>
          <a:prstGeom prst="rect">
            <a:avLst/>
          </a:prstGeom>
          <a:noFill/>
          <a:ln w="9525" cap="flat" cmpd="sng">
            <a:solidFill>
              <a:srgbClr val="FF0000"/>
            </a:solidFill>
            <a:prstDash val="solid"/>
            <a:round/>
            <a:headEnd type="none" w="sm" len="sm"/>
            <a:tailEnd type="none" w="sm" len="sm"/>
          </a:ln>
        </p:spPr>
      </p:pic>
      <p:pic>
        <p:nvPicPr>
          <p:cNvPr id="139" name="Google Shape;139;p22"/>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4581525" y="926879"/>
            <a:ext cx="1550999" cy="870071"/>
          </a:xfrm>
          <a:prstGeom prst="rect">
            <a:avLst/>
          </a:prstGeom>
          <a:noFill/>
          <a:ln w="9525" cap="flat" cmpd="sng">
            <a:solidFill>
              <a:srgbClr val="FF0000"/>
            </a:solidFill>
            <a:prstDash val="solid"/>
            <a:round/>
            <a:headEnd type="none" w="sm" len="sm"/>
            <a:tailEnd type="none" w="sm" len="sm"/>
          </a:ln>
        </p:spPr>
      </p:pic>
      <p:pic>
        <p:nvPicPr>
          <p:cNvPr id="140" name="Google Shape;140;p22"/>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6979925" y="703136"/>
            <a:ext cx="1076326" cy="13175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23"/>
          <p:cNvSpPr txBox="1"/>
          <p:nvPr/>
        </p:nvSpPr>
        <p:spPr>
          <a:xfrm>
            <a:off x="81775" y="8"/>
            <a:ext cx="1551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46" name="Google Shape;146;p23"/>
          <p:cNvSpPr txBox="1"/>
          <p:nvPr/>
        </p:nvSpPr>
        <p:spPr>
          <a:xfrm>
            <a:off x="81775" y="387010"/>
            <a:ext cx="43683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Tencent’s Hy3 - open MoE LLM</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Reasoning, coding, and agentic workflows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295B params, 21B active per token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Context length 256K tokens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Suitable for large codebases and extensive documents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“fast vs deep” config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Strong on SWE‑bench coding tasks and advanced math/scientific reasoning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Cost‑efficient for production use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https://www.tencent.com/en-us/articles/2202386.html</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47" name="Google Shape;147;p23"/>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10099" y="836900"/>
            <a:ext cx="1611725" cy="965600"/>
          </a:xfrm>
          <a:prstGeom prst="rect">
            <a:avLst/>
          </a:prstGeom>
          <a:noFill/>
          <a:ln w="9525" cap="flat" cmpd="sng">
            <a:solidFill>
              <a:srgbClr val="FF0000"/>
            </a:solidFill>
            <a:prstDash val="solid"/>
            <a:round/>
            <a:headEnd type="none" w="sm" len="sm"/>
            <a:tailEnd type="none" w="sm" len="sm"/>
          </a:ln>
        </p:spPr>
      </p:pic>
      <p:sp>
        <p:nvSpPr>
          <p:cNvPr id="148" name="Google Shape;148;p23"/>
          <p:cNvSpPr txBox="1"/>
          <p:nvPr/>
        </p:nvSpPr>
        <p:spPr>
          <a:xfrm>
            <a:off x="81775" y="2313010"/>
            <a:ext cx="43683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Model Routing Helps to Save 60% - 90% of costs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Planning - use highly capable, expensive "frontier" model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Execution - use a cheaper, specialized model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Because output tokens cost significantly more than input tokens, offloading the high-volume code-generation phase to cheaper models drives massive savings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https://www.youtube.com/watch?v=1KKB_UiW6ls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49" name="Google Shape;149;p2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10100" y="2200313"/>
            <a:ext cx="2739299" cy="15366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Google Shape;154;p24"/>
          <p:cNvSpPr txBox="1"/>
          <p:nvPr/>
        </p:nvSpPr>
        <p:spPr>
          <a:xfrm>
            <a:off x="81775" y="67675"/>
            <a:ext cx="2559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55" name="Google Shape;155;p24"/>
          <p:cNvSpPr txBox="1"/>
          <p:nvPr/>
        </p:nvSpPr>
        <p:spPr>
          <a:xfrm>
            <a:off x="81775" y="459250"/>
            <a:ext cx="44313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China - 140 humanoid robot companies, 330+ models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Major players - Unitree, AgiBot and UBTECH</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(80–85% of global installations)</a:t>
            </a:r>
            <a:endParaRPr sz="1200">
              <a:solidFill>
                <a:schemeClr val="dk1"/>
              </a:solidFill>
              <a:latin typeface="Calibri"/>
              <a:ea typeface="Calibri"/>
              <a:cs typeface="Calibri"/>
              <a:sym typeface="Calibri"/>
            </a:endParaRPr>
          </a:p>
        </p:txBody>
      </p:sp>
      <p:sp>
        <p:nvSpPr>
          <p:cNvPr id="156" name="Google Shape;156;p24"/>
          <p:cNvSpPr txBox="1"/>
          <p:nvPr/>
        </p:nvSpPr>
        <p:spPr>
          <a:xfrm>
            <a:off x="81775" y="1097125"/>
            <a:ext cx="4431300" cy="121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Computational archaeology </a:t>
            </a:r>
            <a:r>
              <a:rPr lang="en" sz="1200">
                <a:solidFill>
                  <a:schemeClr val="dk1"/>
                </a:solidFill>
                <a:latin typeface="Calibri"/>
                <a:ea typeface="Calibri"/>
                <a:cs typeface="Calibri"/>
                <a:sym typeface="Calibri"/>
              </a:rPr>
              <a:t> - decipher 2,000-y.old carbonized Vesuvius scrolls using high‑resolution X‑ray micro‑CT scans, virtual unwrapping algorithms, and Deep‑learning models trained to detect faint ink signals on these surfaces invisible to human eyes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From single words to fully decoded scrolls </a:t>
            </a:r>
            <a:r>
              <a:rPr lang="en" sz="900" u="sng">
                <a:solidFill>
                  <a:schemeClr val="hlink"/>
                </a:solidFill>
                <a:latin typeface="Calibri"/>
                <a:ea typeface="Calibri"/>
                <a:cs typeface="Calibri"/>
                <a:sym typeface="Calibri"/>
                <a:hlinkClick r:id="rId3"/>
              </a:rPr>
              <a:t>https://www.theguardian.com/science/2024/feb/05/ai-helps-scholars-read-scroll-buried-when-vesuvius-erupted-in-ad79</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157" name="Google Shape;157;p24"/>
          <p:cNvSpPr txBox="1"/>
          <p:nvPr/>
        </p:nvSpPr>
        <p:spPr>
          <a:xfrm>
            <a:off x="81775" y="2400775"/>
            <a:ext cx="44313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Joe Rogan Experience #2521 - </a:t>
            </a:r>
            <a:r>
              <a:rPr lang="en" sz="1200" b="1">
                <a:solidFill>
                  <a:srgbClr val="FF0000"/>
                </a:solidFill>
                <a:latin typeface="Calibri"/>
                <a:ea typeface="Calibri"/>
                <a:cs typeface="Calibri"/>
                <a:sym typeface="Calibri"/>
              </a:rPr>
              <a:t>Aravind Srinivas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https://www.youtube.com/watch?v=fOLu-pWQssQ</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Brahmastra &amp; Ancient Weapons: They discuss the Mahabharata (an ancient Hindu epic estimated to be 1,500 to 2,500 years old). The guest describes the Brahmastra as the ancient equivalent of a hydrogen bomb</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Currency of the Future - "curiosity premium." As the cost of cognition drops to the cost of compute. Status and success will shift to those who know how to ask the deepest, most original questions.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True intelligence will be defined by problem-poking, agency, execution, and the intellectual humility to self-correct when faced with new data</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Economic Shifting - "AI dividend" or subsidy system similar to the Alaska Permanent Fund or resource-abundant Gulf States</a:t>
            </a:r>
            <a:endParaRPr sz="1200">
              <a:solidFill>
                <a:schemeClr val="dk1"/>
              </a:solidFill>
              <a:latin typeface="Calibri"/>
              <a:ea typeface="Calibri"/>
              <a:cs typeface="Calibri"/>
              <a:sym typeface="Calibri"/>
            </a:endParaRPr>
          </a:p>
        </p:txBody>
      </p:sp>
      <p:pic>
        <p:nvPicPr>
          <p:cNvPr id="158" name="Google Shape;158;p2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576994" y="3411725"/>
            <a:ext cx="1555150" cy="1593351"/>
          </a:xfrm>
          <a:prstGeom prst="rect">
            <a:avLst/>
          </a:prstGeom>
          <a:noFill/>
          <a:ln>
            <a:noFill/>
          </a:ln>
        </p:spPr>
      </p:pic>
      <p:pic>
        <p:nvPicPr>
          <p:cNvPr id="159" name="Google Shape;159;p24"/>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576994" y="944353"/>
            <a:ext cx="1893942" cy="2378100"/>
          </a:xfrm>
          <a:prstGeom prst="rect">
            <a:avLst/>
          </a:prstGeom>
          <a:noFill/>
          <a:ln w="9525" cap="flat" cmpd="sng">
            <a:solidFill>
              <a:srgbClr val="FF0000"/>
            </a:solidFill>
            <a:prstDash val="solid"/>
            <a:round/>
            <a:headEnd type="none" w="sm" len="sm"/>
            <a:tailEnd type="none" w="sm" len="sm"/>
          </a:ln>
        </p:spPr>
      </p:pic>
      <p:pic>
        <p:nvPicPr>
          <p:cNvPr id="160" name="Google Shape;160;p24"/>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6510800" y="67675"/>
            <a:ext cx="2559600" cy="170795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p25"/>
          <p:cNvSpPr txBox="1"/>
          <p:nvPr/>
        </p:nvSpPr>
        <p:spPr>
          <a:xfrm>
            <a:off x="81775" y="67675"/>
            <a:ext cx="2559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Sentdex</a:t>
            </a:r>
            <a:endParaRPr sz="2000" b="1">
              <a:solidFill>
                <a:schemeClr val="dk1"/>
              </a:solidFill>
              <a:latin typeface="Calibri"/>
              <a:ea typeface="Calibri"/>
              <a:cs typeface="Calibri"/>
              <a:sym typeface="Calibri"/>
            </a:endParaRPr>
          </a:p>
        </p:txBody>
      </p:sp>
      <p:sp>
        <p:nvSpPr>
          <p:cNvPr id="166" name="Google Shape;166;p25"/>
          <p:cNvSpPr txBox="1"/>
          <p:nvPr/>
        </p:nvSpPr>
        <p:spPr>
          <a:xfrm>
            <a:off x="81775" y="459250"/>
            <a:ext cx="44061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Sentdex</a:t>
            </a:r>
            <a:r>
              <a:rPr lang="en" sz="1200">
                <a:solidFill>
                  <a:schemeClr val="dk1"/>
                </a:solidFill>
                <a:latin typeface="Calibri"/>
                <a:ea typeface="Calibri"/>
                <a:cs typeface="Calibri"/>
                <a:sym typeface="Calibri"/>
              </a:rPr>
              <a:t> - </a:t>
            </a:r>
            <a:r>
              <a:rPr lang="en" sz="1200" u="sng">
                <a:solidFill>
                  <a:schemeClr val="hlink"/>
                </a:solidFill>
                <a:latin typeface="Calibri"/>
                <a:ea typeface="Calibri"/>
                <a:cs typeface="Calibri"/>
                <a:sym typeface="Calibri"/>
                <a:hlinkClick r:id="rId3"/>
              </a:rPr>
              <a:t>https://www.youtube.com/watch?v=AgpeggCsRH4</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Running AI Locally Doesn't Require an Expensive Setup</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single consumer GPU like an RTX 3090 or 4090 can handle roughly 70% to 90% of local coding and general Q&amp;A model needs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GLM-52 Quantizations - standard 8-bit KV caching significantly degrades GLM-52's performance after 1k to 8k context lengths. Switching to a 16-bit KV cache fixes this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Using Terminal Bench v2.1 for long-horizon agentic coding tests, he found that a highly compressed 2-bit quantization of GLM-52 performs almost identically to the 4-bit version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Scaling "test-time compute" (allowing a model more tokens to actively reason through a problem before answering) significantly levels the playing field. Even a fundamentally "dumber" model can achieve incredible benchmark results if it is allowed to reason for a long time. Because of this, he argues that closed-source giants have no permanent moat over open-source alternatives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DeepSeek V4 Flash - very fast and extremely cheap via providers like Open Router (roughly 14 cents per million input tokens)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Qwen-3.6-35B-A3B / Qwen 2.5 Coder - work on single 24GB GPU (especially good when paired with Multi-Token Prediction (MTP) to maximize tokens-per-second)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Agents Hermes (general purpose) &amp; Minion (for coding) </a:t>
            </a:r>
            <a:endParaRPr sz="1200">
              <a:solidFill>
                <a:schemeClr val="dk1"/>
              </a:solidFill>
              <a:latin typeface="Calibri"/>
              <a:ea typeface="Calibri"/>
              <a:cs typeface="Calibri"/>
              <a:sym typeface="Calibri"/>
            </a:endParaRPr>
          </a:p>
        </p:txBody>
      </p:sp>
      <p:pic>
        <p:nvPicPr>
          <p:cNvPr id="167" name="Google Shape;167;p2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41125" y="459250"/>
            <a:ext cx="2469750" cy="1721700"/>
          </a:xfrm>
          <a:prstGeom prst="rect">
            <a:avLst/>
          </a:prstGeom>
          <a:noFill/>
          <a:ln w="9525" cap="flat" cmpd="sng">
            <a:solidFill>
              <a:srgbClr val="FF0000"/>
            </a:solidFill>
            <a:prstDash val="solid"/>
            <a:round/>
            <a:headEnd type="none" w="sm" len="sm"/>
            <a:tailEnd type="none" w="sm" len="sm"/>
          </a:ln>
        </p:spPr>
      </p:pic>
      <p:sp>
        <p:nvSpPr>
          <p:cNvPr id="168" name="Google Shape;168;p25"/>
          <p:cNvSpPr txBox="1"/>
          <p:nvPr/>
        </p:nvSpPr>
        <p:spPr>
          <a:xfrm>
            <a:off x="4612050" y="2674355"/>
            <a:ext cx="44061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Sentdex</a:t>
            </a:r>
            <a:r>
              <a:rPr lang="en" sz="1200">
                <a:solidFill>
                  <a:schemeClr val="dk1"/>
                </a:solidFill>
                <a:latin typeface="Calibri"/>
                <a:ea typeface="Calibri"/>
                <a:cs typeface="Calibri"/>
                <a:sym typeface="Calibri"/>
              </a:rPr>
              <a:t> - </a:t>
            </a:r>
            <a:r>
              <a:rPr lang="en" sz="1200" u="sng">
                <a:solidFill>
                  <a:schemeClr val="hlink"/>
                </a:solidFill>
                <a:latin typeface="Calibri"/>
                <a:ea typeface="Calibri"/>
                <a:cs typeface="Calibri"/>
                <a:sym typeface="Calibri"/>
                <a:hlinkClick r:id="rId5"/>
              </a:rPr>
              <a:t>https://www.youtube.com/watch?v=31MvP7yHzxM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Running AI Locally for software engineering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Half of coding tasks can be done with local models like Qwen 32B or 27B, relying on cloud APIs only when needed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DeepSeek V4 Flash is best for fully local setup. MoE, 13B active, runs fast at native precision via vLLM and tensor parallelism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Aggressive quantization, like dropping to an 8-bit KV cache, severely tanks model intelligence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Ultimately, fast local models excel when developers remain in the loop to guide them.</a:t>
            </a:r>
            <a:endParaRPr sz="12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p26"/>
          <p:cNvSpPr txBox="1"/>
          <p:nvPr/>
        </p:nvSpPr>
        <p:spPr>
          <a:xfrm>
            <a:off x="81775" y="67675"/>
            <a:ext cx="2559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74" name="Google Shape;174;p26"/>
          <p:cNvSpPr txBox="1"/>
          <p:nvPr/>
        </p:nvSpPr>
        <p:spPr>
          <a:xfrm>
            <a:off x="81775" y="459250"/>
            <a:ext cx="44061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 Knowledge Format (OKF) from Google</a:t>
            </a:r>
            <a:br>
              <a:rPr lang="en" sz="1200" b="1">
                <a:solidFill>
                  <a:srgbClr val="FF0000"/>
                </a:solidFill>
                <a:latin typeface="Calibri"/>
                <a:ea typeface="Calibri"/>
                <a:cs typeface="Calibri"/>
                <a:sym typeface="Calibri"/>
              </a:rPr>
            </a:br>
            <a:r>
              <a:rPr lang="en" sz="1200" b="1">
                <a:solidFill>
                  <a:srgbClr val="3C78D8"/>
                </a:solidFill>
                <a:latin typeface="Calibri"/>
                <a:ea typeface="Calibri"/>
                <a:cs typeface="Calibri"/>
                <a:sym typeface="Calibri"/>
              </a:rPr>
              <a:t>Open Standard for the Karpathy LLM Wiki</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https://www.youtube.com/watch?v=T33iI6izAKw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https://www.youtube.com/watch?v=VHKXIHP4i10</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OKF is a standardized file format consisting of structured Markdown documents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OKF operates like a curated, cross-linked wiki handbook that an AI agent can directly read, navigate, and update</a:t>
            </a:r>
            <a:endParaRPr sz="1200">
              <a:solidFill>
                <a:schemeClr val="dk1"/>
              </a:solidFill>
              <a:latin typeface="Calibri"/>
              <a:ea typeface="Calibri"/>
              <a:cs typeface="Calibri"/>
              <a:sym typeface="Calibri"/>
            </a:endParaRPr>
          </a:p>
        </p:txBody>
      </p:sp>
      <p:sp>
        <p:nvSpPr>
          <p:cNvPr id="175" name="Google Shape;175;p26"/>
          <p:cNvSpPr txBox="1"/>
          <p:nvPr/>
        </p:nvSpPr>
        <p:spPr>
          <a:xfrm>
            <a:off x="81775" y="2486524"/>
            <a:ext cx="44061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in Chrome is Anthropic’s official Chrome extension</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lets Claude see the page you have open, understand its structure, and then take actions like clicking buttons, following links, filling forms, and extracting or summarizing information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Combined with Claude Code, you can build or modify a web app in the terminal, then have Claude in Chrome open and exercise the running app to test flows and catch issues without manual copy‑paste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Functionally, it turns Claude from a pure chat assistant into a lightweight browser automation agent that operates within your existing authenticated Chrome session</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https://claude.com/claude-for-chrome</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https://claude.ai/chrome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https://www.anthropic.com/news/claude-for-chrome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8"/>
              </a:rPr>
              <a:t>https://code.claude.com/docs/en/chrome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176" name="Google Shape;176;p26"/>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567125" y="3132962"/>
            <a:ext cx="2901974" cy="1311424"/>
          </a:xfrm>
          <a:prstGeom prst="rect">
            <a:avLst/>
          </a:prstGeom>
          <a:noFill/>
          <a:ln w="9525" cap="flat" cmpd="sng">
            <a:solidFill>
              <a:srgbClr val="FF0000"/>
            </a:solidFill>
            <a:prstDash val="solid"/>
            <a:round/>
            <a:headEnd type="none" w="sm" len="sm"/>
            <a:tailEnd type="none" w="sm" len="sm"/>
          </a:ln>
        </p:spPr>
      </p:pic>
      <p:pic>
        <p:nvPicPr>
          <p:cNvPr id="177" name="Google Shape;177;p26"/>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4567125" y="483725"/>
            <a:ext cx="2267777" cy="144715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81"/>
        <p:cNvGrpSpPr/>
        <p:nvPr/>
      </p:nvGrpSpPr>
      <p:grpSpPr>
        <a:xfrm>
          <a:off x="0" y="0"/>
          <a:ext cx="0" cy="0"/>
          <a:chOff x="0" y="0"/>
          <a:chExt cx="0" cy="0"/>
        </a:xfrm>
      </p:grpSpPr>
      <p:sp>
        <p:nvSpPr>
          <p:cNvPr id="182" name="Google Shape;182;p27"/>
          <p:cNvSpPr txBox="1"/>
          <p:nvPr/>
        </p:nvSpPr>
        <p:spPr>
          <a:xfrm>
            <a:off x="81775" y="67675"/>
            <a:ext cx="2559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83" name="Google Shape;183;p27"/>
          <p:cNvSpPr txBox="1"/>
          <p:nvPr/>
        </p:nvSpPr>
        <p:spPr>
          <a:xfrm>
            <a:off x="81775" y="644805"/>
            <a:ext cx="44061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 Python to make Karpathy-style wiki</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https://towardsdatascience.com/llm-wikis-are-over-engineered-i-replaced-mine-with-a-pure-python-compiler/</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184" name="Google Shape;184;p27"/>
          <p:cNvSpPr txBox="1"/>
          <p:nvPr/>
        </p:nvSpPr>
        <p:spPr>
          <a:xfrm>
            <a:off x="4682700" y="394080"/>
            <a:ext cx="44061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KV (Key-Value) Cache and PagedAttention</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These are open-source mechanisms from the </a:t>
            </a:r>
            <a:r>
              <a:rPr lang="en" sz="1200" b="1">
                <a:solidFill>
                  <a:srgbClr val="3C78D8"/>
                </a:solidFill>
                <a:latin typeface="Calibri"/>
                <a:ea typeface="Calibri"/>
                <a:cs typeface="Calibri"/>
                <a:sym typeface="Calibri"/>
              </a:rPr>
              <a:t>vLLM</a:t>
            </a:r>
            <a:r>
              <a:rPr lang="en" sz="1200">
                <a:solidFill>
                  <a:schemeClr val="dk1"/>
                </a:solidFill>
                <a:latin typeface="Calibri"/>
                <a:ea typeface="Calibri"/>
                <a:cs typeface="Calibri"/>
                <a:sym typeface="Calibri"/>
              </a:rPr>
              <a:t> inference engine - used to speed up LLMs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https://www.youtube.com/watch?v=o0gkdZBtwEg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During LLM inference, the prefill phase processes the prompt, while the decode phase generates tokens sequentially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Normally, generating a new token requires recomputing all previous tokens, which degrades performance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KV caching</a:t>
            </a:r>
            <a:r>
              <a:rPr lang="en" sz="1200">
                <a:solidFill>
                  <a:schemeClr val="dk1"/>
                </a:solidFill>
                <a:latin typeface="Calibri"/>
                <a:ea typeface="Calibri"/>
                <a:cs typeface="Calibri"/>
                <a:sym typeface="Calibri"/>
              </a:rPr>
              <a:t> prevents this by saving past key-value matrices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However, standard KV caching creates fragmented memory by pre-allocating large, rigid slots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PagedAttention</a:t>
            </a:r>
            <a:r>
              <a:rPr lang="en" sz="1200">
                <a:solidFill>
                  <a:schemeClr val="dk1"/>
                </a:solidFill>
                <a:latin typeface="Calibri"/>
                <a:ea typeface="Calibri"/>
                <a:cs typeface="Calibri"/>
                <a:sym typeface="Calibri"/>
              </a:rPr>
              <a:t> solves this by breaking the cache into small, non-contiguous pages mapped dynamically, cutting memory waste by up to 80%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video concludes with optimization tips, including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tuning memory utilization</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enabling prefix caching</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using chunked prefill </a:t>
            </a:r>
            <a:endParaRPr sz="1200">
              <a:solidFill>
                <a:schemeClr val="dk1"/>
              </a:solidFill>
              <a:latin typeface="Calibri"/>
              <a:ea typeface="Calibri"/>
              <a:cs typeface="Calibri"/>
              <a:sym typeface="Calibri"/>
            </a:endParaRPr>
          </a:p>
        </p:txBody>
      </p:sp>
      <p:sp>
        <p:nvSpPr>
          <p:cNvPr id="185" name="Google Shape;185;p27"/>
          <p:cNvSpPr txBox="1"/>
          <p:nvPr/>
        </p:nvSpPr>
        <p:spPr>
          <a:xfrm>
            <a:off x="81775" y="1779330"/>
            <a:ext cx="44061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How to Talk to Claude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https://www.youtube.com/watch?v=OgT1Or4OP1k</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Cal Hyslop explains that you should shift from asking simple questions to providing 3 things:</a:t>
            </a:r>
            <a:endParaRPr sz="1200">
              <a:solidFill>
                <a:schemeClr val="dk1"/>
              </a:solidFill>
              <a:latin typeface="Calibri"/>
              <a:ea typeface="Calibri"/>
              <a:cs typeface="Calibri"/>
              <a:sym typeface="Calibri"/>
            </a:endParaRPr>
          </a:p>
          <a:p>
            <a:pPr marL="5143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 context</a:t>
            </a:r>
            <a:endParaRPr sz="1200">
              <a:solidFill>
                <a:schemeClr val="dk1"/>
              </a:solidFill>
              <a:latin typeface="Calibri"/>
              <a:ea typeface="Calibri"/>
              <a:cs typeface="Calibri"/>
              <a:sym typeface="Calibri"/>
            </a:endParaRPr>
          </a:p>
          <a:p>
            <a:pPr marL="5143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 outcome (what is required)</a:t>
            </a:r>
            <a:endParaRPr sz="1200">
              <a:solidFill>
                <a:schemeClr val="dk1"/>
              </a:solidFill>
              <a:latin typeface="Calibri"/>
              <a:ea typeface="Calibri"/>
              <a:cs typeface="Calibri"/>
              <a:sym typeface="Calibri"/>
            </a:endParaRPr>
          </a:p>
          <a:p>
            <a:pPr marL="5143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 role (to expose blind spots and analyze decisions)</a:t>
            </a:r>
            <a:endParaRPr sz="1200">
              <a:solidFill>
                <a:schemeClr val="dk1"/>
              </a:solidFill>
              <a:latin typeface="Calibri"/>
              <a:ea typeface="Calibri"/>
              <a:cs typeface="Calibri"/>
              <a:sym typeface="Calibri"/>
            </a:endParaRPr>
          </a:p>
        </p:txBody>
      </p:sp>
      <p:pic>
        <p:nvPicPr>
          <p:cNvPr id="186" name="Google Shape;186;p2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937850" y="3249500"/>
            <a:ext cx="2693956" cy="131130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28"/>
          <p:cNvSpPr txBox="1"/>
          <p:nvPr/>
        </p:nvSpPr>
        <p:spPr>
          <a:xfrm>
            <a:off x="81775" y="67675"/>
            <a:ext cx="2559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92" name="Google Shape;192;p28"/>
          <p:cNvSpPr txBox="1"/>
          <p:nvPr/>
        </p:nvSpPr>
        <p:spPr>
          <a:xfrm>
            <a:off x="81775" y="419305"/>
            <a:ext cx="4406100" cy="2511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Boston Dynamics’ fifth-generation Atlas humanoid robot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Reduced complexity by nearly an order of magnitude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Reducing number of parts, simplifying manufacturing, which improves reliability and lowers costs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Backed by Hyundai’s mass-production expertise, Atlas is being positioned for large-scale deployment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Plans for up to 30,000 units annually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Physical agility remains a core strength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Boston Dynamics is combining advanced control systems with higher-level decision-making, aiming to turn Atlas from an expensive showcase into a commercially viable, flexible industrial worker</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https://www.forbes.com/sites/johnkoetsier/2026/07/02/boston-dynamics-new-atlas-humanoid-robot-order-of-magnitude-simpler/</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193" name="Google Shape;193;p2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40275" y="152400"/>
            <a:ext cx="1755279" cy="2845476"/>
          </a:xfrm>
          <a:prstGeom prst="rect">
            <a:avLst/>
          </a:prstGeom>
          <a:noFill/>
          <a:ln>
            <a:noFill/>
          </a:ln>
        </p:spPr>
      </p:pic>
      <p:sp>
        <p:nvSpPr>
          <p:cNvPr id="194" name="Google Shape;194;p28"/>
          <p:cNvSpPr txBox="1"/>
          <p:nvPr/>
        </p:nvSpPr>
        <p:spPr>
          <a:xfrm>
            <a:off x="81775" y="3124799"/>
            <a:ext cx="44061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Chinese company Ubtech - UWorld U1 series of robots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world's first full-sized humanoid robots for mass production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Starting at $17,600</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Lifelike  - silicone skin, 88 motion joints, and an emotion-aware AI model that reads feelings with over 90% accuracy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U1 offers conversational memory and context awareness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U1 secured 13K launch-day orders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Ubtech plans to donate 100 customized units for grieving or lonely individuals (using 3D facial reconstruction to replicate faces)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https://www.ubtrobot.com</a:t>
            </a:r>
            <a:endParaRPr sz="1200">
              <a:solidFill>
                <a:schemeClr val="dk1"/>
              </a:solidFill>
              <a:latin typeface="Calibri"/>
              <a:ea typeface="Calibri"/>
              <a:cs typeface="Calibri"/>
              <a:sym typeface="Calibri"/>
            </a:endParaRPr>
          </a:p>
        </p:txBody>
      </p:sp>
      <p:pic>
        <p:nvPicPr>
          <p:cNvPr id="195" name="Google Shape;195;p28"/>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4574950" y="3255644"/>
            <a:ext cx="2461475" cy="13897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29"/>
          <p:cNvSpPr txBox="1"/>
          <p:nvPr/>
        </p:nvSpPr>
        <p:spPr>
          <a:xfrm>
            <a:off x="81775" y="67675"/>
            <a:ext cx="2559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01" name="Google Shape;201;p29"/>
          <p:cNvSpPr txBox="1"/>
          <p:nvPr/>
        </p:nvSpPr>
        <p:spPr>
          <a:xfrm>
            <a:off x="81775" y="907380"/>
            <a:ext cx="44061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Qualcomm Uses Mojo programming language</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Qualcomm recently acquired Modular, a startup founded by compiler expert </a:t>
            </a:r>
            <a:r>
              <a:rPr lang="en" sz="1200" b="1">
                <a:solidFill>
                  <a:srgbClr val="3C78D8"/>
                </a:solidFill>
                <a:latin typeface="Calibri"/>
                <a:ea typeface="Calibri"/>
                <a:cs typeface="Calibri"/>
                <a:sym typeface="Calibri"/>
              </a:rPr>
              <a:t>Chris Lattner (LLVM, Swift, Mojo)</a:t>
            </a:r>
            <a:endParaRPr sz="1200" b="1">
              <a:solidFill>
                <a:srgbClr val="3C78D8"/>
              </a:solidFill>
              <a:latin typeface="Calibri"/>
              <a:ea typeface="Calibri"/>
              <a:cs typeface="Calibri"/>
              <a:sym typeface="Calibri"/>
            </a:endParaRPr>
          </a:p>
          <a:p>
            <a:pPr marL="171450" marR="0" lvl="0" indent="-114300" algn="l" rtl="0">
              <a:lnSpc>
                <a:spcPct val="100000"/>
              </a:lnSpc>
              <a:spcBef>
                <a:spcPts val="0"/>
              </a:spcBef>
              <a:spcAft>
                <a:spcPts val="0"/>
              </a:spcAft>
              <a:buClr>
                <a:srgbClr val="3C78D8"/>
              </a:buClr>
              <a:buSzPts val="900"/>
              <a:buFont typeface="Calibri"/>
              <a:buChar char="●"/>
            </a:pPr>
            <a:r>
              <a:rPr lang="en" sz="1200" b="1">
                <a:solidFill>
                  <a:srgbClr val="3C78D8"/>
                </a:solidFill>
                <a:latin typeface="Calibri"/>
                <a:ea typeface="Calibri"/>
                <a:cs typeface="Calibri"/>
                <a:sym typeface="Calibri"/>
              </a:rPr>
              <a:t>Modular created Mojo</a:t>
            </a:r>
            <a:endParaRPr sz="1200" b="1">
              <a:solidFill>
                <a:srgbClr val="3C78D8"/>
              </a:solidFill>
              <a:latin typeface="Calibri"/>
              <a:ea typeface="Calibri"/>
              <a:cs typeface="Calibri"/>
              <a:sym typeface="Calibri"/>
            </a:endParaRPr>
          </a:p>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Mojo = Python-like syntax + high-performance execution</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Mojo can run on Nvidia, AMD, and Apple chips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In performance tests, pure Mojo kernels match Nvidia's flagship libraries on native hardware</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200">
                <a:solidFill>
                  <a:schemeClr val="dk1"/>
                </a:solidFill>
                <a:latin typeface="Calibri"/>
                <a:ea typeface="Calibri"/>
                <a:cs typeface="Calibri"/>
                <a:sym typeface="Calibri"/>
              </a:rPr>
              <a:t>By integrating Mojo with its upcoming AI data center cards, Qualcomm provides a cross-compatible software ecosystem capable of threatening Nvidia’s market chokehold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https://www.youtube.com/watch?v=aUftJ0xBmeY</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02" name="Google Shape;202;p2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599975" y="1986740"/>
            <a:ext cx="2032476" cy="1170025"/>
          </a:xfrm>
          <a:prstGeom prst="rect">
            <a:avLst/>
          </a:prstGeom>
          <a:noFill/>
          <a:ln w="9525" cap="flat" cmpd="sng">
            <a:solidFill>
              <a:srgbClr val="FF0000"/>
            </a:solidFill>
            <a:prstDash val="solid"/>
            <a:round/>
            <a:headEnd type="none" w="sm" len="sm"/>
            <a:tailEnd type="none" w="sm" len="sm"/>
          </a:ln>
        </p:spPr>
      </p:pic>
      <p:pic>
        <p:nvPicPr>
          <p:cNvPr id="203" name="Google Shape;203;p29"/>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599972" y="205600"/>
            <a:ext cx="1278200" cy="1524000"/>
          </a:xfrm>
          <a:prstGeom prst="rect">
            <a:avLst/>
          </a:prstGeom>
          <a:noFill/>
          <a:ln w="9525" cap="flat" cmpd="sng">
            <a:solidFill>
              <a:srgbClr val="FF0000"/>
            </a:solidFill>
            <a:prstDash val="solid"/>
            <a:round/>
            <a:headEnd type="none" w="sm" len="sm"/>
            <a:tailEnd type="none" w="sm" len="sm"/>
          </a:ln>
        </p:spPr>
      </p:pic>
      <p:pic>
        <p:nvPicPr>
          <p:cNvPr id="204" name="Google Shape;204;p29"/>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6866275" y="193738"/>
            <a:ext cx="2032476" cy="1547715"/>
          </a:xfrm>
          <a:prstGeom prst="rect">
            <a:avLst/>
          </a:prstGeom>
          <a:noFill/>
          <a:ln w="9525" cap="flat" cmpd="sng">
            <a:solidFill>
              <a:srgbClr val="FF0000"/>
            </a:solidFill>
            <a:prstDash val="solid"/>
            <a:round/>
            <a:headEnd type="none" w="sm" len="sm"/>
            <a:tailEnd type="none" w="sm" len="sm"/>
          </a:ln>
        </p:spPr>
      </p:pic>
      <p:sp>
        <p:nvSpPr>
          <p:cNvPr id="205" name="Google Shape;205;p29"/>
          <p:cNvSpPr txBox="1"/>
          <p:nvPr/>
        </p:nvSpPr>
        <p:spPr>
          <a:xfrm>
            <a:off x="81775" y="3676855"/>
            <a:ext cx="44061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Mobile OpenClaw now works with Android and iOS.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can talk to you, access photos, contacts, calendar, notifications, device state</a:t>
            </a:r>
            <a:endParaRPr sz="12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sp>
        <p:nvSpPr>
          <p:cNvPr id="210" name="Google Shape;210;p30"/>
          <p:cNvSpPr txBox="1"/>
          <p:nvPr/>
        </p:nvSpPr>
        <p:spPr>
          <a:xfrm>
            <a:off x="81775" y="67675"/>
            <a:ext cx="2559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11" name="Google Shape;211;p30"/>
          <p:cNvSpPr txBox="1"/>
          <p:nvPr/>
        </p:nvSpPr>
        <p:spPr>
          <a:xfrm>
            <a:off x="81775" y="457405"/>
            <a:ext cx="44061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Three AI world model paradigms:</a:t>
            </a:r>
            <a:endParaRPr sz="1200" b="1">
              <a:solidFill>
                <a:srgbClr val="FF0000"/>
              </a:solidFill>
              <a:latin typeface="Calibri"/>
              <a:ea typeface="Calibri"/>
              <a:cs typeface="Calibri"/>
              <a:sym typeface="Calibri"/>
            </a:endParaRPr>
          </a:p>
          <a:p>
            <a:pPr marL="6286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Meta’s JEPA, </a:t>
            </a:r>
            <a:endParaRPr sz="1200" b="1">
              <a:solidFill>
                <a:srgbClr val="3C78D8"/>
              </a:solidFill>
              <a:latin typeface="Calibri"/>
              <a:ea typeface="Calibri"/>
              <a:cs typeface="Calibri"/>
              <a:sym typeface="Calibri"/>
            </a:endParaRPr>
          </a:p>
          <a:p>
            <a:pPr marL="6286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WorldLabs’ taxonomy, </a:t>
            </a:r>
            <a:endParaRPr sz="1200" b="1">
              <a:solidFill>
                <a:srgbClr val="3C78D8"/>
              </a:solidFill>
              <a:latin typeface="Calibri"/>
              <a:ea typeface="Calibri"/>
              <a:cs typeface="Calibri"/>
              <a:sym typeface="Calibri"/>
            </a:endParaRPr>
          </a:p>
          <a:p>
            <a:pPr marL="6286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Einstein World Models concept</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JEPA</a:t>
            </a:r>
            <a:r>
              <a:rPr lang="en" sz="1200">
                <a:solidFill>
                  <a:schemeClr val="dk1"/>
                </a:solidFill>
                <a:latin typeface="Calibri"/>
                <a:ea typeface="Calibri"/>
                <a:cs typeface="Calibri"/>
                <a:sym typeface="Calibri"/>
              </a:rPr>
              <a:t> focuses on learning world within an abstract latent space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WorldLabs</a:t>
            </a:r>
            <a:r>
              <a:rPr lang="en" sz="1200">
                <a:solidFill>
                  <a:schemeClr val="dk1"/>
                </a:solidFill>
                <a:latin typeface="Calibri"/>
                <a:ea typeface="Calibri"/>
                <a:cs typeface="Calibri"/>
                <a:sym typeface="Calibri"/>
              </a:rPr>
              <a:t> structures world models into renderers, simulators, and planners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Einstein World Models</a:t>
            </a:r>
            <a:r>
              <a:rPr lang="en" sz="1200">
                <a:solidFill>
                  <a:schemeClr val="dk1"/>
                </a:solidFill>
                <a:latin typeface="Calibri"/>
                <a:ea typeface="Calibri"/>
                <a:cs typeface="Calibri"/>
                <a:sym typeface="Calibri"/>
              </a:rPr>
              <a:t> framework from MBZUAI (Mohamed bin Zayed University of Artificial Intelligence, Abu Dhabi, UAE) treats world models as modular tools. LLMs remain the primary reasoner, calling on visual world modules to perform thought experiments when linguistic reasoning falls short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speaker argues that unified embedding architectures like JEPA may fail, predicting that future AI will favor modular, tool-based visual physics simulations controlled by LLMs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https://www.youtube.com/watch?v=tv17bmE2FNY</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12" name="Google Shape;212;p30"/>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5370112" y="280400"/>
            <a:ext cx="2828925" cy="1171575"/>
          </a:xfrm>
          <a:prstGeom prst="rect">
            <a:avLst/>
          </a:prstGeom>
          <a:noFill/>
          <a:ln w="9525" cap="flat" cmpd="sng">
            <a:solidFill>
              <a:srgbClr val="FF0000"/>
            </a:solidFill>
            <a:prstDash val="solid"/>
            <a:round/>
            <a:headEnd type="none" w="sm" len="sm"/>
            <a:tailEnd type="none" w="sm" len="sm"/>
          </a:ln>
        </p:spPr>
      </p:pic>
      <p:sp>
        <p:nvSpPr>
          <p:cNvPr id="213" name="Google Shape;213;p30"/>
          <p:cNvSpPr txBox="1"/>
          <p:nvPr/>
        </p:nvSpPr>
        <p:spPr>
          <a:xfrm>
            <a:off x="4581525" y="1602500"/>
            <a:ext cx="44061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JEPA is just LoRA in disguise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JEPA acts as a matrix factorization mechanism creating a low-rank approximation of the world's transition dynamics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New research from Peking University and the University of Sydney provides a math explanation of Joint Embedding Predictive Architecture (JEPA)</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By filtering out high-dimensional visual noise like pixels, JEPA focuses purely on action-relevant movements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dynamic creates a critical balance between approximation error and sample complexity error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Drawing a parallel to low-rank adaptation (LoRA) in language models, the host introduces a novel concept: creating "JEPA adapters."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These specialized add-ons could efficiently fine-tune foundational world models for specific domains, such as medical robotics, without intensive retraining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https://www.youtube.com/watch?v=2RVz67hxSAU</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31"/>
          <p:cNvSpPr txBox="1"/>
          <p:nvPr/>
        </p:nvSpPr>
        <p:spPr>
          <a:xfrm>
            <a:off x="81775" y="67675"/>
            <a:ext cx="2559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19" name="Google Shape;219;p31"/>
          <p:cNvSpPr txBox="1"/>
          <p:nvPr/>
        </p:nvSpPr>
        <p:spPr>
          <a:xfrm>
            <a:off x="81775" y="457405"/>
            <a:ext cx="4406100" cy="2742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 has not made people universally better</a:t>
            </a:r>
            <a:br>
              <a:rPr lang="en" sz="1200" b="1">
                <a:solidFill>
                  <a:srgbClr val="FF0000"/>
                </a:solidFill>
                <a:latin typeface="Calibri"/>
                <a:ea typeface="Calibri"/>
                <a:cs typeface="Calibri"/>
                <a:sym typeface="Calibri"/>
              </a:rPr>
            </a:br>
            <a:r>
              <a:rPr lang="en" sz="1200" b="1">
                <a:solidFill>
                  <a:srgbClr val="FF0000"/>
                </a:solidFill>
                <a:latin typeface="Calibri"/>
                <a:ea typeface="Calibri"/>
                <a:cs typeface="Calibri"/>
                <a:sym typeface="Calibri"/>
              </a:rPr>
              <a:t>It amplifies existing skill levels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Skilled engineers use it to dramatically increase productivity, turning weeks of work into hours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Unskilled users generate fragile code, technical debt, and costly failures they cannot diagnose. Real-world incidents show how misuse leads to security breaches, data loss, and wasted resources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market reflects this divide: top-tier models drive innovation, while cheaper alternatives commoditize routine 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Meanwhile, a growing ecosystem resells access and exploits leaked API keys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Ultimately, AI rewards strong fundamentals and punishes their absence, widening the gap between competent professionals and those relying blindly on automation.</a:t>
            </a:r>
            <a:endParaRPr sz="1200" b="1">
              <a:solidFill>
                <a:srgbClr val="3C78D8"/>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https://www.linkedin.com/pulse/learned-helplessness-service-viacheslav-kasatkin-dvupc/</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220" name="Google Shape;220;p31"/>
          <p:cNvSpPr txBox="1"/>
          <p:nvPr/>
        </p:nvSpPr>
        <p:spPr>
          <a:xfrm>
            <a:off x="81775" y="3300956"/>
            <a:ext cx="44061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Meta Brain2Qwerty v2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Measures magnetic field around the head using MEG (Magneto-Encephalography scanner)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Uses AI to decode brain activity into text while the patient is typing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61% average word accuracy, peaking at 78% for the top participant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Requires giant laboratory equipment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Holds massive long-term potential for paralyzed patients</a:t>
            </a:r>
            <a:endParaRPr sz="1200">
              <a:solidFill>
                <a:schemeClr val="dk1"/>
              </a:solidFill>
              <a:latin typeface="Calibri"/>
              <a:ea typeface="Calibri"/>
              <a:cs typeface="Calibri"/>
              <a:sym typeface="Calibri"/>
            </a:endParaRPr>
          </a:p>
        </p:txBody>
      </p:sp>
      <p:pic>
        <p:nvPicPr>
          <p:cNvPr id="221" name="Google Shape;221;p3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821500" y="3215388"/>
            <a:ext cx="1785626" cy="1785626"/>
          </a:xfrm>
          <a:prstGeom prst="rect">
            <a:avLst/>
          </a:prstGeom>
          <a:noFill/>
          <a:ln w="9525" cap="flat" cmpd="sng">
            <a:solidFill>
              <a:srgbClr val="FF0000"/>
            </a:solidFill>
            <a:prstDash val="solid"/>
            <a:round/>
            <a:headEnd type="none" w="sm" len="sm"/>
            <a:tailEnd type="none" w="sm" len="sm"/>
          </a:ln>
        </p:spPr>
      </p:pic>
      <p:pic>
        <p:nvPicPr>
          <p:cNvPr id="222" name="Google Shape;222;p31"/>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821500" y="394075"/>
            <a:ext cx="3420925" cy="256569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Google Shape;227;p32"/>
          <p:cNvSpPr txBox="1"/>
          <p:nvPr/>
        </p:nvSpPr>
        <p:spPr>
          <a:xfrm>
            <a:off x="81775" y="67675"/>
            <a:ext cx="2559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28" name="Google Shape;228;p32"/>
          <p:cNvSpPr txBox="1"/>
          <p:nvPr/>
        </p:nvSpPr>
        <p:spPr>
          <a:xfrm>
            <a:off x="81775" y="457400"/>
            <a:ext cx="44157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10 core components of an AI agent harness:</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https://www.youtube.com/watch?v=mQfTdNVCOB0</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Instructions</a:t>
            </a:r>
            <a:r>
              <a:rPr lang="en" sz="1200">
                <a:solidFill>
                  <a:schemeClr val="dk1"/>
                </a:solidFill>
                <a:latin typeface="Calibri"/>
                <a:ea typeface="Calibri"/>
                <a:cs typeface="Calibri"/>
                <a:sym typeface="Calibri"/>
              </a:rPr>
              <a:t> - rules, prompts, styling guides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Context Delivery</a:t>
            </a:r>
            <a:r>
              <a:rPr lang="en" sz="1200">
                <a:solidFill>
                  <a:schemeClr val="dk1"/>
                </a:solidFill>
                <a:latin typeface="Calibri"/>
                <a:ea typeface="Calibri"/>
                <a:cs typeface="Calibri"/>
                <a:sym typeface="Calibri"/>
              </a:rPr>
              <a:t> - read files, stack traces, relevant data</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Context Management</a:t>
            </a:r>
            <a:r>
              <a:rPr lang="en" sz="1200">
                <a:solidFill>
                  <a:schemeClr val="dk1"/>
                </a:solidFill>
                <a:latin typeface="Calibri"/>
                <a:ea typeface="Calibri"/>
                <a:cs typeface="Calibri"/>
                <a:sym typeface="Calibri"/>
              </a:rPr>
              <a:t> - filter and compresses transcripts, re-rank data, reduce noise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Tool Interface</a:t>
            </a:r>
            <a:r>
              <a:rPr lang="en" sz="1200">
                <a:solidFill>
                  <a:schemeClr val="dk1"/>
                </a:solidFill>
                <a:latin typeface="Calibri"/>
                <a:ea typeface="Calibri"/>
                <a:cs typeface="Calibri"/>
                <a:sym typeface="Calibri"/>
              </a:rPr>
              <a:t> (schemas, MCP) to request actions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Execution Environment</a:t>
            </a:r>
            <a:r>
              <a:rPr lang="en" sz="1200">
                <a:solidFill>
                  <a:schemeClr val="dk1"/>
                </a:solidFill>
                <a:latin typeface="Calibri"/>
                <a:ea typeface="Calibri"/>
                <a:cs typeface="Calibri"/>
                <a:sym typeface="Calibri"/>
              </a:rPr>
              <a:t> (sandbox, container)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Durable State</a:t>
            </a:r>
            <a:r>
              <a:rPr lang="en" sz="1200">
                <a:solidFill>
                  <a:schemeClr val="dk1"/>
                </a:solidFill>
                <a:latin typeface="Calibri"/>
                <a:ea typeface="Calibri"/>
                <a:cs typeface="Calibri"/>
                <a:sym typeface="Calibri"/>
              </a:rPr>
              <a:t> - persistence mechanism (database, memory)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Orchestration</a:t>
            </a:r>
            <a:r>
              <a:rPr lang="en" sz="1200">
                <a:solidFill>
                  <a:schemeClr val="dk1"/>
                </a:solidFill>
                <a:latin typeface="Calibri"/>
                <a:ea typeface="Calibri"/>
                <a:cs typeface="Calibri"/>
                <a:sym typeface="Calibri"/>
              </a:rPr>
              <a:t> - retry, step-by-step, human approval gates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Sub-Agents</a:t>
            </a:r>
            <a:r>
              <a:rPr lang="en" sz="1200">
                <a:solidFill>
                  <a:schemeClr val="dk1"/>
                </a:solidFill>
                <a:latin typeface="Calibri"/>
                <a:ea typeface="Calibri"/>
                <a:cs typeface="Calibri"/>
                <a:sym typeface="Calibri"/>
              </a:rPr>
              <a:t> - delegating specialized sub-tasks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Skills and Procedures</a:t>
            </a:r>
            <a:r>
              <a:rPr lang="en" sz="1200">
                <a:solidFill>
                  <a:schemeClr val="dk1"/>
                </a:solidFill>
                <a:latin typeface="Calibri"/>
                <a:ea typeface="Calibri"/>
                <a:cs typeface="Calibri"/>
                <a:sym typeface="Calibri"/>
              </a:rPr>
              <a:t> - reusable playbooks and checklists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Verification &amp; Observability</a:t>
            </a:r>
            <a:r>
              <a:rPr lang="en" sz="1200">
                <a:solidFill>
                  <a:schemeClr val="dk1"/>
                </a:solidFill>
                <a:latin typeface="Calibri"/>
                <a:ea typeface="Calibri"/>
                <a:cs typeface="Calibri"/>
                <a:sym typeface="Calibri"/>
              </a:rPr>
              <a:t> - test output, logs for debugging</a:t>
            </a:r>
            <a:endParaRPr sz="1200">
              <a:solidFill>
                <a:schemeClr val="dk1"/>
              </a:solidFill>
              <a:latin typeface="Calibri"/>
              <a:ea typeface="Calibri"/>
              <a:cs typeface="Calibri"/>
              <a:sym typeface="Calibri"/>
            </a:endParaRPr>
          </a:p>
        </p:txBody>
      </p:sp>
      <p:pic>
        <p:nvPicPr>
          <p:cNvPr id="229" name="Google Shape;229;p3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00575" y="457400"/>
            <a:ext cx="1838325" cy="1730625"/>
          </a:xfrm>
          <a:prstGeom prst="rect">
            <a:avLst/>
          </a:prstGeom>
          <a:noFill/>
          <a:ln w="9525" cap="flat" cmpd="sng">
            <a:solidFill>
              <a:srgbClr val="FF0000"/>
            </a:solidFill>
            <a:prstDash val="solid"/>
            <a:round/>
            <a:headEnd type="none" w="sm" len="sm"/>
            <a:tailEnd type="none" w="sm" len="sm"/>
          </a:ln>
        </p:spPr>
      </p:pic>
      <p:sp>
        <p:nvSpPr>
          <p:cNvPr id="230" name="Google Shape;230;p32"/>
          <p:cNvSpPr txBox="1"/>
          <p:nvPr/>
        </p:nvSpPr>
        <p:spPr>
          <a:xfrm>
            <a:off x="81775" y="3119725"/>
            <a:ext cx="4415700" cy="163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Design’s June 2026 update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Adds proper design system imports, a better canvas editor, and tighter Claude Code integration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You can now use real components from your GitHub or design files, edit layouts directly on a canvas, and sync designs with code in both directions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goal is to keep work on-brand while reducing token usage in everyday product design workflows</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https://claude2video.com/blog/claude-design-june-2026-update</a:t>
            </a:r>
            <a:endParaRPr sz="900">
              <a:solidFill>
                <a:schemeClr val="dk1"/>
              </a:solidFill>
              <a:latin typeface="Calibri"/>
              <a:ea typeface="Calibri"/>
              <a:cs typeface="Calibri"/>
              <a:sym typeface="Calibri"/>
            </a:endParaRPr>
          </a:p>
        </p:txBody>
      </p:sp>
      <p:pic>
        <p:nvPicPr>
          <p:cNvPr id="231" name="Google Shape;231;p32"/>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49875" y="3119725"/>
            <a:ext cx="2807071" cy="18713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5"/>
        <p:cNvGrpSpPr/>
        <p:nvPr/>
      </p:nvGrpSpPr>
      <p:grpSpPr>
        <a:xfrm>
          <a:off x="0" y="0"/>
          <a:ext cx="0" cy="0"/>
          <a:chOff x="0" y="0"/>
          <a:chExt cx="0" cy="0"/>
        </a:xfrm>
      </p:grpSpPr>
      <p:sp>
        <p:nvSpPr>
          <p:cNvPr id="236" name="Google Shape;236;p33"/>
          <p:cNvSpPr txBox="1"/>
          <p:nvPr/>
        </p:nvSpPr>
        <p:spPr>
          <a:xfrm>
            <a:off x="81775" y="67675"/>
            <a:ext cx="2559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37" name="Google Shape;237;p33"/>
          <p:cNvSpPr txBox="1"/>
          <p:nvPr/>
        </p:nvSpPr>
        <p:spPr>
          <a:xfrm>
            <a:off x="81775" y="499200"/>
            <a:ext cx="44157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Anthropic’s Claude Certified Architect (CCA-F) Exam</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Prep in 4 weeks for test (60 questions across 5 domains)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https://www.youtube.com/watch?v=akzKBQVyFEI</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Claude is presented as a stateless model behind a single messages API, with four key layers: raw API, Agent SDK, Claude Code, and MCP for tool integration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guide then walks through each domain: </a:t>
            </a:r>
            <a:endParaRPr sz="1200">
              <a:solidFill>
                <a:schemeClr val="dk1"/>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Agentic loops and multi-agent orchestration (including correct tool_use sequencing and targeted retries)</a:t>
            </a:r>
            <a:endParaRPr sz="1200" b="1">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Claude Code configuration via claude.md hierarchy and commands</a:t>
            </a:r>
            <a:endParaRPr sz="1200" b="1">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Prompt engineering with strict, checkable rules and forced JSON tool calls</a:t>
            </a:r>
            <a:endParaRPr sz="1200" b="1">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Robust tool/MCP design with clear descriptions and structured errors</a:t>
            </a:r>
            <a:endParaRPr sz="1200" b="1">
              <a:solidFill>
                <a:srgbClr val="3C78D8"/>
              </a:solidFill>
              <a:latin typeface="Calibri"/>
              <a:ea typeface="Calibri"/>
              <a:cs typeface="Calibri"/>
              <a:sym typeface="Calibri"/>
            </a:endParaRPr>
          </a:p>
          <a:p>
            <a:pPr marL="4000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Context/reliability patterns like case blocks, prompt caching, and escalation rules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https://www.anthropiccertifications.com/learn</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https://preporato.com/certificates/claude-certified-architect</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38" name="Google Shape;238;p3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35950" y="499200"/>
            <a:ext cx="4341724" cy="243631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sp>
        <p:nvSpPr>
          <p:cNvPr id="243" name="Google Shape;243;p34"/>
          <p:cNvSpPr txBox="1"/>
          <p:nvPr/>
        </p:nvSpPr>
        <p:spPr>
          <a:xfrm>
            <a:off x="81775" y="67675"/>
            <a:ext cx="2559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44" name="Google Shape;244;p34"/>
          <p:cNvSpPr txBox="1"/>
          <p:nvPr/>
        </p:nvSpPr>
        <p:spPr>
          <a:xfrm>
            <a:off x="81775" y="499200"/>
            <a:ext cx="44157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Alex Hormozi's three-folder organization for AI Agent</a:t>
            </a:r>
            <a:endParaRPr sz="1200" b="1">
              <a:solidFill>
                <a:srgbClr val="FF0000"/>
              </a:solidFill>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t>
            </a:r>
            <a:r>
              <a:rPr lang="en" sz="1200" b="1">
                <a:solidFill>
                  <a:srgbClr val="FF0000"/>
                </a:solidFill>
                <a:latin typeface="Calibri"/>
                <a:ea typeface="Calibri"/>
                <a:cs typeface="Calibri"/>
                <a:sym typeface="Calibri"/>
              </a:rPr>
              <a:t>Business Context</a:t>
            </a:r>
            <a:r>
              <a:rPr lang="en" sz="1200">
                <a:solidFill>
                  <a:schemeClr val="dk1"/>
                </a:solidFill>
                <a:latin typeface="Calibri"/>
                <a:ea typeface="Calibri"/>
                <a:cs typeface="Calibri"/>
                <a:sym typeface="Calibri"/>
              </a:rPr>
              <a:t>" - md files - company's identity, target audience, brand voice, and goals</a:t>
            </a:r>
            <a:endParaRPr sz="1200">
              <a:solidFill>
                <a:schemeClr val="dk1"/>
              </a:solidFill>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t>
            </a:r>
            <a:r>
              <a:rPr lang="en" sz="1200" b="1">
                <a:solidFill>
                  <a:srgbClr val="FF0000"/>
                </a:solidFill>
                <a:latin typeface="Calibri"/>
                <a:ea typeface="Calibri"/>
                <a:cs typeface="Calibri"/>
                <a:sym typeface="Calibri"/>
              </a:rPr>
              <a:t>Data</a:t>
            </a:r>
            <a:r>
              <a:rPr lang="en" sz="1200">
                <a:solidFill>
                  <a:schemeClr val="dk1"/>
                </a:solidFill>
                <a:latin typeface="Calibri"/>
                <a:ea typeface="Calibri"/>
                <a:cs typeface="Calibri"/>
                <a:sym typeface="Calibri"/>
              </a:rPr>
              <a:t>" - raw training materials, such as past newsletters, to help the AI mirror specific tones and writing cadences</a:t>
            </a:r>
            <a:endParaRPr sz="1200">
              <a:solidFill>
                <a:schemeClr val="dk1"/>
              </a:solidFill>
              <a:latin typeface="Calibri"/>
              <a:ea typeface="Calibri"/>
              <a:cs typeface="Calibri"/>
              <a:sym typeface="Calibri"/>
            </a:endParaRPr>
          </a:p>
          <a:p>
            <a:pPr marL="45720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t>
            </a:r>
            <a:r>
              <a:rPr lang="en" sz="1200" b="1">
                <a:solidFill>
                  <a:srgbClr val="FF0000"/>
                </a:solidFill>
                <a:latin typeface="Calibri"/>
                <a:ea typeface="Calibri"/>
                <a:cs typeface="Calibri"/>
                <a:sym typeface="Calibri"/>
              </a:rPr>
              <a:t>Prompts</a:t>
            </a:r>
            <a:r>
              <a:rPr lang="en" sz="1200">
                <a:solidFill>
                  <a:schemeClr val="dk1"/>
                </a:solidFill>
                <a:latin typeface="Calibri"/>
                <a:ea typeface="Calibri"/>
                <a:cs typeface="Calibri"/>
                <a:sym typeface="Calibri"/>
              </a:rPr>
              <a:t>" - highly detailed, reusable prompt templates specifying strict roles, rules, and structures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https://www.youtube.com/watch?v=q1_AjJAmDGY</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45" name="Google Shape;245;p3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49875" y="325550"/>
            <a:ext cx="1580875" cy="17792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35"/>
          <p:cNvSpPr txBox="1"/>
          <p:nvPr/>
        </p:nvSpPr>
        <p:spPr>
          <a:xfrm>
            <a:off x="81775" y="67675"/>
            <a:ext cx="2559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llama.cpp</a:t>
            </a:r>
            <a:endParaRPr sz="2000" b="1">
              <a:solidFill>
                <a:schemeClr val="dk1"/>
              </a:solidFill>
              <a:latin typeface="Calibri"/>
              <a:ea typeface="Calibri"/>
              <a:cs typeface="Calibri"/>
              <a:sym typeface="Calibri"/>
            </a:endParaRPr>
          </a:p>
        </p:txBody>
      </p:sp>
      <p:sp>
        <p:nvSpPr>
          <p:cNvPr id="251" name="Google Shape;251;p35"/>
          <p:cNvSpPr txBox="1"/>
          <p:nvPr/>
        </p:nvSpPr>
        <p:spPr>
          <a:xfrm>
            <a:off x="81775" y="2398150"/>
            <a:ext cx="44157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llama.cpp "finetune" utility was removed</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Current versions focus on inference, quantization, and serving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You can fine-tune your model today using a PyTorch-based stack (e.g., TRL or LLaMA-Factory) and then convert the resulting Hugging Face model to GGUF for high-performance CPU or edge inference with llama.cpp</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lets you leverage robust training tooling while still using llama.cpp where it excels: lightweight, fast local serving of already fine-tuned models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https://github.com/ggml-org/llama.cpp/tree/213701b51a17175d0d326b566efc03f30ec7fbe6/examples/finetune</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252" name="Google Shape;252;p35"/>
          <p:cNvSpPr txBox="1"/>
          <p:nvPr/>
        </p:nvSpPr>
        <p:spPr>
          <a:xfrm>
            <a:off x="4649875" y="2398150"/>
            <a:ext cx="44157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Accelerating llama.cpp using Claude Fable 5</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Codacus uses Claude 5 Fable to optimize the llama.cpp codebase on a mid-range local AI rig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AI analyzed the software, profiled performance, and achieved a massive 64.5% speedup in prefill prompt processing.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Claude discovered that the GPU sits idle over 41% of the time waiting for MoE model weights to transfer from system RAM across the slow PCIe bus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To fix this, the AI enabled pinned mmapped memory for faster transfers and restructured the pipeline to upload expert layers in parallel while the GPU computes attention.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https://www.youtube.com/watch?v=VytSYCDhWQ0</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253" name="Google Shape;253;p35"/>
          <p:cNvSpPr txBox="1"/>
          <p:nvPr/>
        </p:nvSpPr>
        <p:spPr>
          <a:xfrm>
            <a:off x="81775" y="571000"/>
            <a:ext cx="44157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llama.cpp</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5"/>
              </a:rPr>
              <a:t>https://github.com/ggml-org/llama.cpp</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Georgi Gerganov</a:t>
            </a:r>
            <a:endParaRPr sz="1200">
              <a:solidFill>
                <a:schemeClr val="dk1"/>
              </a:solidFill>
              <a:latin typeface="Calibri"/>
              <a:ea typeface="Calibri"/>
              <a:cs typeface="Calibri"/>
              <a:sym typeface="Calibri"/>
            </a:endParaRPr>
          </a:p>
        </p:txBody>
      </p:sp>
      <p:pic>
        <p:nvPicPr>
          <p:cNvPr id="254" name="Google Shape;254;p35"/>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341275" y="67675"/>
            <a:ext cx="3724288" cy="209335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36"/>
          <p:cNvSpPr txBox="1"/>
          <p:nvPr/>
        </p:nvSpPr>
        <p:spPr>
          <a:xfrm>
            <a:off x="81775" y="67675"/>
            <a:ext cx="2559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60" name="Google Shape;260;p36"/>
          <p:cNvSpPr txBox="1"/>
          <p:nvPr/>
        </p:nvSpPr>
        <p:spPr>
          <a:xfrm>
            <a:off x="81775" y="394075"/>
            <a:ext cx="53724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 Source Repos for Claude Code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https://www.youtube.com/watch?v=IRPEfl2BD_c</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Claude Video - </a:t>
            </a:r>
            <a:r>
              <a:rPr lang="en" sz="1200" u="sng">
                <a:solidFill>
                  <a:schemeClr val="hlink"/>
                </a:solidFill>
                <a:latin typeface="Calibri"/>
                <a:ea typeface="Calibri"/>
                <a:cs typeface="Calibri"/>
                <a:sym typeface="Calibri"/>
                <a:hlinkClick r:id="rId4"/>
              </a:rPr>
              <a:t>https://github.com/bradautomates/claude-video</a:t>
            </a:r>
            <a:r>
              <a:rPr lang="en" sz="1200">
                <a:solidFill>
                  <a:schemeClr val="dk1"/>
                </a:solidFill>
                <a:latin typeface="Calibri"/>
                <a:ea typeface="Calibri"/>
                <a:cs typeface="Calibri"/>
                <a:sym typeface="Calibri"/>
              </a:rPr>
              <a:t>  - video ingestion - transcribes audio via Groq's free Whisper model and intelligently extracts keyframes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NotebookLM-MCP - </a:t>
            </a:r>
            <a:r>
              <a:rPr lang="en" sz="1200" u="sng">
                <a:solidFill>
                  <a:schemeClr val="hlink"/>
                </a:solidFill>
                <a:latin typeface="Calibri"/>
                <a:ea typeface="Calibri"/>
                <a:cs typeface="Calibri"/>
                <a:sym typeface="Calibri"/>
                <a:hlinkClick r:id="rId5"/>
              </a:rPr>
              <a:t>https://github.com/topics/google-notebooklm</a:t>
            </a:r>
            <a:r>
              <a:rPr lang="en" sz="1200">
                <a:solidFill>
                  <a:schemeClr val="dk1"/>
                </a:solidFill>
                <a:latin typeface="Calibri"/>
                <a:ea typeface="Calibri"/>
                <a:cs typeface="Calibri"/>
                <a:sym typeface="Calibri"/>
              </a:rPr>
              <a:t> - brings Google’s NotebookLM into the Claude Code terminal, allows you to offload huge document research and synthesis tasks to Google's servers for free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Graphify - </a:t>
            </a:r>
            <a:r>
              <a:rPr lang="en" sz="1200" u="sng">
                <a:solidFill>
                  <a:schemeClr val="hlink"/>
                </a:solidFill>
                <a:latin typeface="Calibri"/>
                <a:ea typeface="Calibri"/>
                <a:cs typeface="Calibri"/>
                <a:sym typeface="Calibri"/>
                <a:hlinkClick r:id="rId6"/>
              </a:rPr>
              <a:t>https://graphify.net</a:t>
            </a:r>
            <a:r>
              <a:rPr lang="en" sz="1200">
                <a:solidFill>
                  <a:schemeClr val="dk1"/>
                </a:solidFill>
                <a:latin typeface="Calibri"/>
                <a:ea typeface="Calibri"/>
                <a:cs typeface="Calibri"/>
                <a:sym typeface="Calibri"/>
              </a:rPr>
              <a:t> - maps codebases by compressing files into a knowledge graph of nodes and clusters (not needing expensive vector DBs)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Obsidian Skills - </a:t>
            </a:r>
            <a:r>
              <a:rPr lang="en" sz="1200" u="sng">
                <a:solidFill>
                  <a:schemeClr val="hlink"/>
                </a:solidFill>
                <a:latin typeface="Calibri"/>
                <a:ea typeface="Calibri"/>
                <a:cs typeface="Calibri"/>
                <a:sym typeface="Calibri"/>
                <a:hlinkClick r:id="rId5"/>
              </a:rPr>
              <a:t>https://github.com/topics/google-notebooklm</a:t>
            </a:r>
            <a:r>
              <a:rPr lang="en" sz="1200">
                <a:solidFill>
                  <a:schemeClr val="dk1"/>
                </a:solidFill>
                <a:latin typeface="Calibri"/>
                <a:ea typeface="Calibri"/>
                <a:cs typeface="Calibri"/>
                <a:sym typeface="Calibri"/>
              </a:rPr>
              <a:t> - compact repo trains Claude Code on best practices for managing markdown files, PDFs, and media assets within an Obsidian notebook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Impeccable - </a:t>
            </a:r>
            <a:r>
              <a:rPr lang="en" sz="1200" u="sng">
                <a:solidFill>
                  <a:schemeClr val="hlink"/>
                </a:solidFill>
                <a:latin typeface="Calibri"/>
                <a:ea typeface="Calibri"/>
                <a:cs typeface="Calibri"/>
                <a:sym typeface="Calibri"/>
                <a:hlinkClick r:id="rId7"/>
              </a:rPr>
              <a:t>https://github.com/pbakaus/impeccable</a:t>
            </a:r>
            <a:r>
              <a:rPr lang="en" sz="1200">
                <a:solidFill>
                  <a:schemeClr val="dk1"/>
                </a:solidFill>
                <a:latin typeface="Calibri"/>
                <a:ea typeface="Calibri"/>
                <a:cs typeface="Calibri"/>
                <a:sym typeface="Calibri"/>
              </a:rPr>
              <a:t> - open-source design tool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Ponytail - </a:t>
            </a:r>
            <a:r>
              <a:rPr lang="en" sz="1200" u="sng">
                <a:solidFill>
                  <a:schemeClr val="hlink"/>
                </a:solidFill>
                <a:latin typeface="Calibri"/>
                <a:ea typeface="Calibri"/>
                <a:cs typeface="Calibri"/>
                <a:sym typeface="Calibri"/>
                <a:hlinkClick r:id="rId8"/>
              </a:rPr>
              <a:t>https://www.youtube.com/watch?v=2xuFcmUAQUc</a:t>
            </a:r>
            <a:r>
              <a:rPr lang="en" sz="1200">
                <a:solidFill>
                  <a:schemeClr val="dk1"/>
                </a:solidFill>
                <a:latin typeface="Calibri"/>
                <a:ea typeface="Calibri"/>
                <a:cs typeface="Calibri"/>
                <a:sym typeface="Calibri"/>
              </a:rPr>
              <a:t> - A token-efficiency plugin outputting up to 54% fewer lines of code</a:t>
            </a:r>
            <a:endParaRPr sz="1200">
              <a:solidFill>
                <a:schemeClr val="dk1"/>
              </a:solidFill>
              <a:latin typeface="Calibri"/>
              <a:ea typeface="Calibri"/>
              <a:cs typeface="Calibri"/>
              <a:sym typeface="Calibri"/>
            </a:endParaRPr>
          </a:p>
        </p:txBody>
      </p:sp>
      <p:pic>
        <p:nvPicPr>
          <p:cNvPr id="261" name="Google Shape;261;p36"/>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5606575" y="394075"/>
            <a:ext cx="2185772" cy="2973900"/>
          </a:xfrm>
          <a:prstGeom prst="rect">
            <a:avLst/>
          </a:prstGeom>
          <a:noFill/>
          <a:ln w="9525" cap="flat" cmpd="sng">
            <a:solidFill>
              <a:srgbClr val="FF0000"/>
            </a:solidFill>
            <a:prstDash val="solid"/>
            <a:round/>
            <a:headEnd type="none" w="sm" len="sm"/>
            <a:tailEnd type="none" w="sm" len="sm"/>
          </a:ln>
        </p:spPr>
      </p:pic>
      <p:sp>
        <p:nvSpPr>
          <p:cNvPr id="262" name="Google Shape;262;p36"/>
          <p:cNvSpPr txBox="1"/>
          <p:nvPr/>
        </p:nvSpPr>
        <p:spPr>
          <a:xfrm>
            <a:off x="81775" y="3491575"/>
            <a:ext cx="53724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Evolution of RAG</a:t>
            </a:r>
            <a:r>
              <a:rPr lang="en" sz="1200">
                <a:solidFill>
                  <a:schemeClr val="dk1"/>
                </a:solidFill>
                <a:latin typeface="Calibri"/>
                <a:ea typeface="Calibri"/>
                <a:cs typeface="Calibri"/>
                <a:sym typeface="Calibri"/>
              </a:rPr>
              <a:t> - </a:t>
            </a:r>
            <a:r>
              <a:rPr lang="en" sz="1200" u="sng">
                <a:solidFill>
                  <a:schemeClr val="hlink"/>
                </a:solidFill>
                <a:latin typeface="Calibri"/>
                <a:ea typeface="Calibri"/>
                <a:cs typeface="Calibri"/>
                <a:sym typeface="Calibri"/>
                <a:hlinkClick r:id="rId10"/>
              </a:rPr>
              <a:t>https://www.youtube.com/watch?v=cyQ4ffFU27Y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Naive RAG - simple semantic vector searches - suffers from strict chunking limitations.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Advanced RAG  - adding pre-retrieval (multi-query expansion) and post-retrieval reranking algorithms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GraphRAG - structured knowledge graphs map relationships across documents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Agentic RAG - handles queries using autonomous reasoning loops to dynamically choose tools, trading high latency for maximum flexibility</a:t>
            </a:r>
            <a:endParaRPr sz="1200">
              <a:solidFill>
                <a:schemeClr val="dk1"/>
              </a:solidFill>
              <a:latin typeface="Calibri"/>
              <a:ea typeface="Calibri"/>
              <a:cs typeface="Calibri"/>
              <a:sym typeface="Calibri"/>
            </a:endParaRPr>
          </a:p>
        </p:txBody>
      </p:sp>
      <p:pic>
        <p:nvPicPr>
          <p:cNvPr id="263" name="Google Shape;263;p36"/>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5573026" y="3491575"/>
            <a:ext cx="2672052" cy="149610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p37"/>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269" name="Google Shape;269;p37"/>
          <p:cNvSpPr txBox="1"/>
          <p:nvPr/>
        </p:nvSpPr>
        <p:spPr>
          <a:xfrm>
            <a:off x="2134467" y="34252"/>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270" name="Google Shape;270;p37"/>
          <p:cNvSpPr txBox="1"/>
          <p:nvPr/>
        </p:nvSpPr>
        <p:spPr>
          <a:xfrm>
            <a:off x="5655225" y="3510625"/>
            <a:ext cx="33606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119K in 2026 </a:t>
            </a:r>
            <a:r>
              <a:rPr lang="en" sz="1000" b="1">
                <a:solidFill>
                  <a:schemeClr val="dk1"/>
                </a:solidFill>
                <a:latin typeface="Roboto Mono"/>
                <a:ea typeface="Roboto Mono"/>
                <a:cs typeface="Roboto Mono"/>
                <a:sym typeface="Roboto Mono"/>
              </a:rPr>
              <a:t>(as of July 3, 2026)</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124K in 2025 </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271" name="Google Shape;271;p37"/>
          <p:cNvSpPr txBox="1"/>
          <p:nvPr/>
        </p:nvSpPr>
        <p:spPr>
          <a:xfrm>
            <a:off x="5422950" y="531250"/>
            <a:ext cx="32868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2026: </a:t>
            </a:r>
            <a:r>
              <a:rPr lang="en" sz="1200" b="1">
                <a:latin typeface="Calibri"/>
                <a:ea typeface="Calibri"/>
                <a:cs typeface="Calibri"/>
                <a:sym typeface="Calibri"/>
              </a:rPr>
              <a:t>164,483</a:t>
            </a:r>
            <a:r>
              <a:rPr lang="en" sz="1200">
                <a:latin typeface="Calibri"/>
                <a:ea typeface="Calibri"/>
                <a:cs typeface="Calibri"/>
                <a:sym typeface="Calibri"/>
              </a:rPr>
              <a:t> people laid off (894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2025: </a:t>
            </a:r>
            <a:r>
              <a:rPr lang="en" sz="1200" b="1">
                <a:latin typeface="Calibri"/>
                <a:ea typeface="Calibri"/>
                <a:cs typeface="Calibri"/>
                <a:sym typeface="Calibri"/>
              </a:rPr>
              <a:t>245,953</a:t>
            </a:r>
            <a:r>
              <a:rPr lang="en" sz="1200">
                <a:latin typeface="Calibri"/>
                <a:ea typeface="Calibri"/>
                <a:cs typeface="Calibri"/>
                <a:sym typeface="Calibri"/>
              </a:rPr>
              <a:t> people laid off (674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a:t>
            </a:r>
            <a:r>
              <a:rPr lang="en" sz="1200" b="1">
                <a:latin typeface="Calibri"/>
                <a:ea typeface="Calibri"/>
                <a:cs typeface="Calibri"/>
                <a:sym typeface="Calibri"/>
              </a:rPr>
              <a:t>238,461</a:t>
            </a:r>
            <a:r>
              <a:rPr lang="en" sz="1200">
                <a:latin typeface="Calibri"/>
                <a:ea typeface="Calibri"/>
                <a:cs typeface="Calibri"/>
                <a:sym typeface="Calibri"/>
              </a:rPr>
              <a:t> people </a:t>
            </a:r>
            <a:r>
              <a:rPr lang="en" sz="1200">
                <a:solidFill>
                  <a:srgbClr val="000000"/>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8" lvl="0" indent="-57150" algn="r" rtl="0">
              <a:spcBef>
                <a:spcPts val="0"/>
              </a:spcBef>
              <a:spcAft>
                <a:spcPts val="0"/>
              </a:spcAft>
              <a:buNone/>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endParaRPr sz="1200">
              <a:latin typeface="Calibri"/>
              <a:ea typeface="Calibri"/>
              <a:cs typeface="Calibri"/>
              <a:sym typeface="Calibri"/>
            </a:endParaRPr>
          </a:p>
        </p:txBody>
      </p:sp>
      <p:sp>
        <p:nvSpPr>
          <p:cNvPr id="272" name="Google Shape;272;p37"/>
          <p:cNvSpPr txBox="1"/>
          <p:nvPr/>
        </p:nvSpPr>
        <p:spPr>
          <a:xfrm>
            <a:off x="5422950" y="2031425"/>
            <a:ext cx="32868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a:solidFill>
                  <a:schemeClr val="dk1"/>
                </a:solidFill>
                <a:latin typeface="Calibri"/>
                <a:ea typeface="Calibri"/>
                <a:cs typeface="Calibri"/>
                <a:sym typeface="Calibri"/>
              </a:rPr>
              <a:t>“Oracle sheds 21,000 jobs, shrinking the company’s headcount by 13% as it continues to invest in Artificial Intelligence.” - The Wall Street Journal</a:t>
            </a:r>
            <a:endParaRPr sz="1200">
              <a:solidFill>
                <a:schemeClr val="dk1"/>
              </a:solidFill>
              <a:latin typeface="Calibri"/>
              <a:ea typeface="Calibri"/>
              <a:cs typeface="Calibri"/>
              <a:sym typeface="Calibri"/>
            </a:endParaRPr>
          </a:p>
        </p:txBody>
      </p:sp>
      <p:pic>
        <p:nvPicPr>
          <p:cNvPr id="273" name="Google Shape;273;p37"/>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350" y="3318899"/>
            <a:ext cx="5058401" cy="1778351"/>
          </a:xfrm>
          <a:prstGeom prst="rect">
            <a:avLst/>
          </a:prstGeom>
          <a:noFill/>
          <a:ln w="9525" cap="flat" cmpd="sng">
            <a:solidFill>
              <a:srgbClr val="FF0000"/>
            </a:solidFill>
            <a:prstDash val="solid"/>
            <a:round/>
            <a:headEnd type="none" w="sm" len="sm"/>
            <a:tailEnd type="none" w="sm" len="sm"/>
          </a:ln>
        </p:spPr>
      </p:pic>
      <p:pic>
        <p:nvPicPr>
          <p:cNvPr id="274" name="Google Shape;274;p3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350" y="495540"/>
            <a:ext cx="5058399" cy="274236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78"/>
        <p:cNvGrpSpPr/>
        <p:nvPr/>
      </p:nvGrpSpPr>
      <p:grpSpPr>
        <a:xfrm>
          <a:off x="0" y="0"/>
          <a:ext cx="0" cy="0"/>
          <a:chOff x="0" y="0"/>
          <a:chExt cx="0" cy="0"/>
        </a:xfrm>
      </p:grpSpPr>
      <p:pic>
        <p:nvPicPr>
          <p:cNvPr id="279" name="Google Shape;279;p38"/>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280" name="Google Shape;280;p38"/>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281" name="Google Shape;281;p38"/>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282" name="Google Shape;282;p38"/>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283" name="Google Shape;283;p38"/>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284" name="Google Shape;284;p38"/>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88"/>
        <p:cNvGrpSpPr/>
        <p:nvPr/>
      </p:nvGrpSpPr>
      <p:grpSpPr>
        <a:xfrm>
          <a:off x="0" y="0"/>
          <a:ext cx="0" cy="0"/>
          <a:chOff x="0" y="0"/>
          <a:chExt cx="0" cy="0"/>
        </a:xfrm>
      </p:grpSpPr>
      <p:sp>
        <p:nvSpPr>
          <p:cNvPr id="289" name="Google Shape;289;p39"/>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5124</Words>
  <Application>Microsoft Macintosh PowerPoint</Application>
  <PresentationFormat>On-screen Show (16:9)</PresentationFormat>
  <Paragraphs>561</Paragraphs>
  <Slides>25</Slides>
  <Notes>25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Roboto Mono</vt:lpstr>
      <vt:lpstr>Calibri</vt:lpstr>
      <vt:lpstr>Arial</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2026-07-10T02:08:29Z</dcterms:modified>
</cp:coreProperties>
</file>