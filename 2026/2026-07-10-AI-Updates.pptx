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embeddedFontLst>
    <p:embeddedFont>
      <p:font typeface="Roboto Mono" pitchFamily="49"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4B729B7-E4CD-475E-A0ED-76918F83F912}">
  <a:tblStyle styleId="{B4B729B7-E4CD-475E-A0ED-76918F83F91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p:cViewPr varScale="1">
        <p:scale>
          <a:sx n="124" d="100"/>
          <a:sy n="124" d="100"/>
        </p:scale>
        <p:origin x="5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ed2c6c1b0f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3ed2c6c1b0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ec31c57a0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3ec31c57a0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f0524d12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g3f0524d125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f07bc85b8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3f07bc85b8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f07d2ac75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g3f07d2ac75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f0a9b10c5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 name="Google Shape;123;g3f0a9b10c5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f0c640d32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g3f0c640d32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f0caa37cf3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g3f0caa37cf3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f0caa37cf3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f0caa37cf3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d971967e09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g3d971967e09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d971967e0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 name="Google Shape;169;g3d971967e09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d971967e09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g3d971967e09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ai.meta.com/blog/introducing-muse-spark-msl/" TargetMode="External"/><Relationship Id="rId39" Type="http://schemas.openxmlformats.org/officeDocument/2006/relationships/hyperlink" Target="https://grok.com" TargetMode="External"/><Relationship Id="rId21" Type="http://schemas.openxmlformats.org/officeDocument/2006/relationships/hyperlink" Target="https://www.anthropic.com/news/claude-opus-4-6" TargetMode="External"/><Relationship Id="rId34" Type="http://schemas.openxmlformats.org/officeDocument/2006/relationships/hyperlink" Target="https://openai.com/index/introducing-gpt-5-5/" TargetMode="External"/><Relationship Id="rId7" Type="http://schemas.openxmlformats.org/officeDocument/2006/relationships/hyperlink" Target="https://openlm.ai/chatbot-arena/"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www.anthropic.com/news/claude-opus-4-7" TargetMode="External"/><Relationship Id="rId29" Type="http://schemas.openxmlformats.org/officeDocument/2006/relationships/hyperlink" Target="https://blog.google/innovation-and-ai/models-and-research/gemini-models/gemini-3-1-pro/" TargetMode="External"/><Relationship Id="rId41" Type="http://schemas.openxmlformats.org/officeDocument/2006/relationships/hyperlink" Target="https://docs.x.ai/developers/models/grok-4.20-multi-agent-beta-0309"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www.anthropic.com/news/claude-sonnet-4-6" TargetMode="External"/><Relationship Id="rId32" Type="http://schemas.openxmlformats.org/officeDocument/2006/relationships/hyperlink" Target="https://mimo.xiaomi.com/mimo-v2-5-pro/" TargetMode="External"/><Relationship Id="rId37" Type="http://schemas.openxmlformats.org/officeDocument/2006/relationships/hyperlink" Target="https://openai.com/index/gpt-5-5-instant" TargetMode="External"/><Relationship Id="rId40" Type="http://schemas.openxmlformats.org/officeDocument/2006/relationships/hyperlink" Target="https://blog.google/products/gemini/gemini-3-flash"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www.anthropic.com/news/claude-opus-4-5" TargetMode="External"/><Relationship Id="rId28" Type="http://schemas.openxmlformats.org/officeDocument/2006/relationships/hyperlink" Target="https://huggingface.co/zai-org/GLM-5.2" TargetMode="External"/><Relationship Id="rId36" Type="http://schemas.openxmlformats.org/officeDocument/2006/relationships/hyperlink" Target="https://docs.x.ai/developers/models/grok-4.20-beta-0309-reasoning"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fable-5-mythos-5" TargetMode="External"/><Relationship Id="rId31" Type="http://schemas.openxmlformats.org/officeDocument/2006/relationships/hyperlink" Target="https://www.anthropic.com/news/claude-sonnet-4-5"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www.anthropic.com/news/claude-opus-4-8" TargetMode="External"/><Relationship Id="rId27" Type="http://schemas.openxmlformats.org/officeDocument/2006/relationships/hyperlink" Target="https://huggingface.co/zai-org/GLM-5.1" TargetMode="External"/><Relationship Id="rId30" Type="http://schemas.openxmlformats.org/officeDocument/2006/relationships/hyperlink" Target="https://platform.openai.com/docs/models/gpt-5.4" TargetMode="External"/><Relationship Id="rId35" Type="http://schemas.openxmlformats.org/officeDocument/2006/relationships/hyperlink" Target="https://developers.openai.com/api/docs/models/gpt-5.2-chat-latest"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chat.qwen.ai/?models=Qwen3.7-Max-Preview" TargetMode="External"/><Relationship Id="rId33" Type="http://schemas.openxmlformats.org/officeDocument/2006/relationships/hyperlink" Target="https://aistudio.google.com/app/prompts/new_chat?model=gemini-3-pro-preview" TargetMode="External"/><Relationship Id="rId38" Type="http://schemas.openxmlformats.org/officeDocument/2006/relationships/hyperlink" Target="https://blog.google/innovation-and-ai/models-and-research/gemini-models/gemini-3-5/"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J0D7qV3nl7w"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fOLu-pWQssQ"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AgpeggCsRH4"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www.youtube.com/watch?v=T33iI6izAKw" TargetMode="External"/><Relationship Id="rId7" Type="http://schemas.openxmlformats.org/officeDocument/2006/relationships/hyperlink" Target="https://code.claude.com/docs/en/chrome"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www.anthropic.com/news/claude-for-chrome" TargetMode="External"/><Relationship Id="rId5" Type="http://schemas.openxmlformats.org/officeDocument/2006/relationships/hyperlink" Target="https://claude.ai/chrome" TargetMode="External"/><Relationship Id="rId4" Type="http://schemas.openxmlformats.org/officeDocument/2006/relationships/hyperlink" Target="https://claude.com/claude-for-chrome" TargetMode="External"/><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hyperlink" Target="https://towardsdatascience.com/llm-wikis-are-over-engineered-i-replaced-mine-with-a-pure-python-compiler/"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www.youtube.com/watch?v=o0gkdZBtwEg"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forbes.com/sites/johnkoetsier/2026/07/02/boston-dynamics-new-atlas-humanoid-robot-order-of-magnitude-simpler/"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hyperlink" Target="https://www.youtube.com/watch?v=d6R3tsSD270" TargetMode="Externa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aUftJ0xBmeY" TargetMode="External"/><Relationship Id="rId7"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www.ubtrobot.com" TargetMode="Externa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tv17bmE2FNY"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hyperlink" Target="https://www.youtube.com/watch?v=2RVz67hxSAU" TargetMode="Externa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hyperlink" Target="https://trueup.io/layoff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100175" y="498650"/>
            <a:ext cx="4330200" cy="100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Crowd-sourced "LM Arena" Leaderboard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OpenAI optimizations cut inference cost x2</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DeepSeek DSpark Speculative Decoding</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endParaRPr sz="1600" b="1">
              <a:solidFill>
                <a:srgbClr val="3C78D8"/>
              </a:solidFill>
              <a:latin typeface="Calibri"/>
              <a:ea typeface="Calibri"/>
              <a:cs typeface="Calibri"/>
              <a:sym typeface="Calibri"/>
            </a:endParaRPr>
          </a:p>
        </p:txBody>
      </p:sp>
      <p:sp>
        <p:nvSpPr>
          <p:cNvPr id="64" name="Google Shape;64;p15"/>
          <p:cNvSpPr txBox="1"/>
          <p:nvPr/>
        </p:nvSpPr>
        <p:spPr>
          <a:xfrm>
            <a:off x="55167"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July 10, 2026</a:t>
            </a:r>
            <a:endParaRPr sz="3000" b="1">
              <a:solidFill>
                <a:srgbClr val="3C78D8"/>
              </a:solidFill>
              <a:latin typeface="Calibri"/>
              <a:ea typeface="Calibri"/>
              <a:cs typeface="Calibri"/>
              <a:sym typeface="Calibri"/>
            </a:endParaRPr>
          </a:p>
        </p:txBody>
      </p:sp>
      <p:sp>
        <p:nvSpPr>
          <p:cNvPr id="65" name="Google Shape;65;p15"/>
          <p:cNvSpPr txBox="1"/>
          <p:nvPr/>
        </p:nvSpPr>
        <p:spPr>
          <a:xfrm>
            <a:off x="4536604" y="4527125"/>
            <a:ext cx="2153700" cy="5109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Jobs &amp; Layoffs</a:t>
            </a:r>
            <a:endParaRPr sz="1600" b="1">
              <a:solidFill>
                <a:srgbClr val="3C78D8"/>
              </a:solidFill>
              <a:latin typeface="Calibri"/>
              <a:ea typeface="Calibri"/>
              <a:cs typeface="Calibri"/>
              <a:sym typeface="Calibri"/>
            </a:endParaRPr>
          </a:p>
        </p:txBody>
      </p:sp>
      <p:sp>
        <p:nvSpPr>
          <p:cNvPr id="66" name="Google Shape;66;p15"/>
          <p:cNvSpPr txBox="1"/>
          <p:nvPr/>
        </p:nvSpPr>
        <p:spPr>
          <a:xfrm>
            <a:off x="4589925" y="226675"/>
            <a:ext cx="4420200" cy="40020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None/>
            </a:pPr>
            <a:r>
              <a:rPr lang="en" sz="2000" b="1" i="1">
                <a:solidFill>
                  <a:srgbClr val="FF0000"/>
                </a:solidFill>
                <a:latin typeface="Calibri"/>
                <a:ea typeface="Calibri"/>
                <a:cs typeface="Calibri"/>
                <a:sym typeface="Calibri"/>
              </a:rPr>
              <a:t>xxx</a:t>
            </a:r>
            <a:endParaRPr sz="2000" b="1" i="1">
              <a:solidFill>
                <a:srgbClr val="FF0000"/>
              </a:solidFill>
              <a:latin typeface="Calibri"/>
              <a:ea typeface="Calibri"/>
              <a:cs typeface="Calibri"/>
              <a:sym typeface="Calibri"/>
            </a:endParaRPr>
          </a:p>
        </p:txBody>
      </p:sp>
      <p:sp>
        <p:nvSpPr>
          <p:cNvPr id="67" name="Google Shape;67;p15"/>
          <p:cNvSpPr txBox="1"/>
          <p:nvPr/>
        </p:nvSpPr>
        <p:spPr>
          <a:xfrm>
            <a:off x="4536607" y="1417481"/>
            <a:ext cx="4525800" cy="510900"/>
          </a:xfrm>
          <a:prstGeom prst="rect">
            <a:avLst/>
          </a:prstGeom>
          <a:solidFill>
            <a:srgbClr val="D9EAD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JEPA is just LoRA in disguise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Mobile OpenClaw - Android and iOS</a:t>
            </a:r>
            <a:endParaRPr sz="1600" b="1">
              <a:solidFill>
                <a:srgbClr val="3C78D8"/>
              </a:solidFill>
              <a:latin typeface="Calibri"/>
              <a:ea typeface="Calibri"/>
              <a:cs typeface="Calibri"/>
              <a:sym typeface="Calibri"/>
            </a:endParaRPr>
          </a:p>
        </p:txBody>
      </p:sp>
      <p:sp>
        <p:nvSpPr>
          <p:cNvPr id="68" name="Google Shape;68;p15"/>
          <p:cNvSpPr txBox="1"/>
          <p:nvPr/>
        </p:nvSpPr>
        <p:spPr>
          <a:xfrm>
            <a:off x="100175" y="1831550"/>
            <a:ext cx="4330200" cy="3220200"/>
          </a:xfrm>
          <a:prstGeom prst="rect">
            <a:avLst/>
          </a:prstGeom>
          <a:solidFill>
            <a:srgbClr val="D0E0E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China’s 140 humanoid robot companies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Computational archaeology</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Aravind Srinivas Interview</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Sentdex</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 Standard for the Karpathy LLM Wiki</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Claude in Chrome Extension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Use Python to make Karpathy-style wiki</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KV (Key-Value) Cache and PagedAttention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Boston Dynamics 5th Gen Atlas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Anthropic Fable 5 and Mythos 5 Models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Qualcomm Uses Mojo Prog. Language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Chinese company Ubtech - UWorld U1 Robots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Three AI world model paradigms</a:t>
            </a:r>
            <a:endParaRPr sz="1600" b="1">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txBox="1"/>
          <p:nvPr/>
        </p:nvSpPr>
        <p:spPr>
          <a:xfrm>
            <a:off x="6041375" y="2449450"/>
            <a:ext cx="30510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1600" algn="l" rtl="0">
              <a:lnSpc>
                <a:spcPct val="100000"/>
              </a:lnSpc>
              <a:spcBef>
                <a:spcPts val="0"/>
              </a:spcBef>
              <a:spcAft>
                <a:spcPts val="0"/>
              </a:spcAft>
              <a:buClr>
                <a:schemeClr val="dk1"/>
              </a:buClr>
              <a:buSzPts val="700"/>
              <a:buFont typeface="Calibri"/>
              <a:buChar char="●"/>
            </a:pPr>
            <a:r>
              <a:rPr lang="en" sz="700" u="sng">
                <a:solidFill>
                  <a:schemeClr val="hlink"/>
                </a:solidFill>
                <a:latin typeface="Calibri"/>
                <a:ea typeface="Calibri"/>
                <a:cs typeface="Calibri"/>
                <a:sym typeface="Calibri"/>
                <a:hlinkClick r:id="rId4"/>
              </a:rPr>
              <a:t>https://lmarena.ai/leaderboard/text</a:t>
            </a:r>
            <a:r>
              <a:rPr lang="en" sz="700">
                <a:latin typeface="Calibri"/>
                <a:ea typeface="Calibri"/>
                <a:cs typeface="Calibri"/>
                <a:sym typeface="Calibri"/>
              </a:rPr>
              <a:t> </a:t>
            </a:r>
            <a:endParaRPr sz="700">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a:latin typeface="Calibri"/>
                <a:ea typeface="Calibri"/>
                <a:cs typeface="Calibri"/>
                <a:sym typeface="Calibri"/>
              </a:rPr>
              <a:t>Design Arena -    </a:t>
            </a:r>
            <a:br>
              <a:rPr lang="en" sz="700">
                <a:latin typeface="Calibri"/>
                <a:ea typeface="Calibri"/>
                <a:cs typeface="Calibri"/>
                <a:sym typeface="Calibri"/>
              </a:rPr>
            </a:br>
            <a:r>
              <a:rPr lang="en" sz="700" u="sng">
                <a:solidFill>
                  <a:schemeClr val="hlink"/>
                </a:solidFill>
                <a:latin typeface="Calibri"/>
                <a:ea typeface="Calibri"/>
                <a:cs typeface="Calibri"/>
                <a:sym typeface="Calibri"/>
                <a:hlinkClick r:id="rId6"/>
              </a:rPr>
              <a:t>https://www.designarena.ai</a:t>
            </a:r>
            <a:r>
              <a:rPr lang="en" sz="700">
                <a:latin typeface="Calibri"/>
                <a:ea typeface="Calibri"/>
                <a:cs typeface="Calibri"/>
                <a:sym typeface="Calibri"/>
              </a:rPr>
              <a:t> </a:t>
            </a:r>
            <a:endParaRPr sz="700">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u="sng">
                <a:solidFill>
                  <a:schemeClr val="hlink"/>
                </a:solidFill>
                <a:latin typeface="Calibri"/>
                <a:ea typeface="Calibri"/>
                <a:cs typeface="Calibri"/>
                <a:sym typeface="Calibri"/>
                <a:hlinkClick r:id="rId7"/>
              </a:rPr>
              <a:t>https://openlm.ai/chatbot-arena/</a:t>
            </a:r>
            <a:r>
              <a:rPr lang="en" sz="7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u="sng">
                <a:solidFill>
                  <a:schemeClr val="hlink"/>
                </a:solidFill>
                <a:latin typeface="Calibri"/>
                <a:ea typeface="Calibri"/>
                <a:cs typeface="Calibri"/>
                <a:sym typeface="Calibri"/>
                <a:hlinkClick r:id="rId8"/>
              </a:rPr>
              <a:t>https://beta.lmarena.ai</a:t>
            </a:r>
            <a:r>
              <a:rPr lang="en" sz="7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Web Leaderboard -  1T params</a:t>
            </a:r>
            <a:br>
              <a:rPr lang="en" sz="700" b="0" i="0" u="none" strike="noStrike" cap="none">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9"/>
              </a:rPr>
              <a:t>https://web.lmarena.ai/leaderboard</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LLM Leaderboard - by @LlmStats - </a:t>
            </a:r>
            <a:br>
              <a:rPr lang="en" sz="700" b="0" i="0" u="none" strike="noStrike" cap="none">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0"/>
              </a:rPr>
              <a:t>https://llmworld.net/llm_leaderboards/</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LLM Leaderboard - by StackAI</a:t>
            </a:r>
            <a:r>
              <a:rPr lang="en" sz="700">
                <a:solidFill>
                  <a:schemeClr val="dk1"/>
                </a:solidFill>
                <a:latin typeface="Calibri"/>
                <a:ea typeface="Calibri"/>
                <a:cs typeface="Calibri"/>
                <a:sym typeface="Calibri"/>
              </a:rPr>
              <a:t> - </a:t>
            </a:r>
            <a:br>
              <a:rPr lang="en" sz="700">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1"/>
              </a:rPr>
              <a:t>https://www.stack-ai.com/llm-leaderboard</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LLM Leaderboard - by Artificial Analysis</a:t>
            </a:r>
            <a:r>
              <a:rPr lang="en" sz="700">
                <a:solidFill>
                  <a:schemeClr val="dk1"/>
                </a:solidFill>
                <a:latin typeface="Calibri"/>
                <a:ea typeface="Calibri"/>
                <a:cs typeface="Calibri"/>
                <a:sym typeface="Calibri"/>
              </a:rPr>
              <a:t> - </a:t>
            </a:r>
            <a:br>
              <a:rPr lang="en" sz="700">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2"/>
              </a:rPr>
              <a:t>https://artificialanalysis.ai/leaderboards/models</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Open LLM Leaderboard - by Hugging Face - </a:t>
            </a:r>
            <a:br>
              <a:rPr lang="en" sz="700" b="0" i="0" u="none" strike="noStrike" cap="none">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3"/>
              </a:rPr>
              <a:t>https://huggingface.co/open-llm-leaderboard</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b="0" i="0" u="none" strike="noStrike" cap="none">
                <a:solidFill>
                  <a:schemeClr val="dk1"/>
                </a:solidFill>
                <a:latin typeface="Calibri"/>
                <a:ea typeface="Calibri"/>
                <a:cs typeface="Calibri"/>
                <a:sym typeface="Calibri"/>
              </a:rPr>
              <a:t>LLM Leaderboard - by Vellum - </a:t>
            </a:r>
            <a:br>
              <a:rPr lang="en" sz="700" b="0" i="0" u="none" strike="noStrike" cap="none">
                <a:solidFill>
                  <a:schemeClr val="dk1"/>
                </a:solidFill>
                <a:latin typeface="Calibri"/>
                <a:ea typeface="Calibri"/>
                <a:cs typeface="Calibri"/>
                <a:sym typeface="Calibri"/>
              </a:rPr>
            </a:br>
            <a:r>
              <a:rPr lang="en" sz="700" b="0" i="0" u="sng" strike="noStrike" cap="none">
                <a:solidFill>
                  <a:schemeClr val="hlink"/>
                </a:solidFill>
                <a:latin typeface="Calibri"/>
                <a:ea typeface="Calibri"/>
                <a:cs typeface="Calibri"/>
                <a:sym typeface="Calibri"/>
                <a:hlinkClick r:id="rId14"/>
              </a:rPr>
              <a:t>https://www.vellum.ai/llm-leaderboard</a:t>
            </a:r>
            <a:r>
              <a:rPr lang="en" sz="700" b="0" i="0" u="none" strike="noStrike" cap="none">
                <a:solidFill>
                  <a:schemeClr val="dk1"/>
                </a:solidFill>
                <a:latin typeface="Calibri"/>
                <a:ea typeface="Calibri"/>
                <a:cs typeface="Calibri"/>
                <a:sym typeface="Calibri"/>
              </a:rPr>
              <a:t> </a:t>
            </a:r>
            <a:endParaRPr sz="700" b="0" i="0" u="none" strike="noStrike" cap="none">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a:solidFill>
                  <a:schemeClr val="dk1"/>
                </a:solidFill>
                <a:latin typeface="Calibri"/>
                <a:ea typeface="Calibri"/>
                <a:cs typeface="Calibri"/>
                <a:sym typeface="Calibri"/>
              </a:rPr>
              <a:t>AI Benchmarking Hub - </a:t>
            </a:r>
            <a:br>
              <a:rPr lang="en" sz="700">
                <a:solidFill>
                  <a:schemeClr val="dk1"/>
                </a:solidFill>
                <a:latin typeface="Calibri"/>
                <a:ea typeface="Calibri"/>
                <a:cs typeface="Calibri"/>
                <a:sym typeface="Calibri"/>
              </a:rPr>
            </a:br>
            <a:r>
              <a:rPr lang="en" sz="700" u="sng">
                <a:solidFill>
                  <a:schemeClr val="hlink"/>
                </a:solidFill>
                <a:latin typeface="Calibri"/>
                <a:ea typeface="Calibri"/>
                <a:cs typeface="Calibri"/>
                <a:sym typeface="Calibri"/>
                <a:hlinkClick r:id="rId15"/>
              </a:rPr>
              <a:t>https://epoch.ai/data/ai-benchmarking-dashboard</a:t>
            </a:r>
            <a:endParaRPr sz="700">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a:solidFill>
                  <a:schemeClr val="dk1"/>
                </a:solidFill>
                <a:latin typeface="Calibri"/>
                <a:ea typeface="Calibri"/>
                <a:cs typeface="Calibri"/>
                <a:sym typeface="Calibri"/>
              </a:rPr>
              <a:t>Grok 4 Benchmarks - </a:t>
            </a:r>
            <a:br>
              <a:rPr lang="en" sz="700">
                <a:solidFill>
                  <a:schemeClr val="dk1"/>
                </a:solidFill>
                <a:latin typeface="Calibri"/>
                <a:ea typeface="Calibri"/>
                <a:cs typeface="Calibri"/>
                <a:sym typeface="Calibri"/>
              </a:rPr>
            </a:br>
            <a:r>
              <a:rPr lang="en" sz="700" u="sng">
                <a:solidFill>
                  <a:schemeClr val="hlink"/>
                </a:solidFill>
                <a:latin typeface="Calibri"/>
                <a:ea typeface="Calibri"/>
                <a:cs typeface="Calibri"/>
                <a:sym typeface="Calibri"/>
                <a:hlinkClick r:id="rId16"/>
              </a:rPr>
              <a:t>https://artificialanalysis.ai/models/grok-4</a:t>
            </a:r>
            <a:r>
              <a:rPr lang="en" sz="7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a:solidFill>
                  <a:schemeClr val="dk1"/>
                </a:solidFill>
                <a:latin typeface="Calibri"/>
                <a:ea typeface="Calibri"/>
                <a:cs typeface="Calibri"/>
                <a:sym typeface="Calibri"/>
              </a:rPr>
              <a:t>Image arena (alibaba) - </a:t>
            </a:r>
            <a:br>
              <a:rPr lang="en" sz="700">
                <a:solidFill>
                  <a:schemeClr val="dk1"/>
                </a:solidFill>
                <a:latin typeface="Calibri"/>
                <a:ea typeface="Calibri"/>
                <a:cs typeface="Calibri"/>
                <a:sym typeface="Calibri"/>
              </a:rPr>
            </a:br>
            <a:r>
              <a:rPr lang="en" sz="700" u="sng">
                <a:solidFill>
                  <a:schemeClr val="hlink"/>
                </a:solidFill>
                <a:latin typeface="Calibri"/>
                <a:ea typeface="Calibri"/>
                <a:cs typeface="Calibri"/>
                <a:sym typeface="Calibri"/>
                <a:hlinkClick r:id="rId17"/>
              </a:rPr>
              <a:t>http://aiarena.alibaba-inc.com/corpora/arena/leaderboard?arenaType=T2I</a:t>
            </a:r>
            <a:r>
              <a:rPr lang="en" sz="7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700">
                <a:solidFill>
                  <a:schemeClr val="dk1"/>
                </a:solidFill>
                <a:latin typeface="Calibri"/>
                <a:ea typeface="Calibri"/>
                <a:cs typeface="Calibri"/>
                <a:sym typeface="Calibri"/>
              </a:rPr>
              <a:t>image arena - </a:t>
            </a:r>
            <a:r>
              <a:rPr lang="en" sz="700" u="sng">
                <a:solidFill>
                  <a:schemeClr val="hlink"/>
                </a:solidFill>
                <a:latin typeface="Calibri"/>
                <a:ea typeface="Calibri"/>
                <a:cs typeface="Calibri"/>
                <a:sym typeface="Calibri"/>
                <a:hlinkClick r:id="rId18"/>
              </a:rPr>
              <a:t>https://lmarena.ai/leaderboard/text-to-image</a:t>
            </a:r>
            <a:r>
              <a:rPr lang="en" sz="700">
                <a:solidFill>
                  <a:schemeClr val="dk1"/>
                </a:solidFill>
                <a:latin typeface="Calibri"/>
                <a:ea typeface="Calibri"/>
                <a:cs typeface="Calibri"/>
                <a:sym typeface="Calibri"/>
              </a:rPr>
              <a:t> </a:t>
            </a:r>
            <a:endParaRPr sz="700">
              <a:solidFill>
                <a:schemeClr val="dk1"/>
              </a:solidFill>
              <a:latin typeface="Calibri"/>
              <a:ea typeface="Calibri"/>
              <a:cs typeface="Calibri"/>
              <a:sym typeface="Calibri"/>
            </a:endParaRPr>
          </a:p>
        </p:txBody>
      </p:sp>
      <p:sp>
        <p:nvSpPr>
          <p:cNvPr id="78" name="Google Shape;78;p16"/>
          <p:cNvSpPr txBox="1"/>
          <p:nvPr/>
        </p:nvSpPr>
        <p:spPr>
          <a:xfrm>
            <a:off x="3437903"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000">
                <a:latin typeface="Calibri"/>
                <a:ea typeface="Calibri"/>
                <a:cs typeface="Calibri"/>
                <a:sym typeface="Calibri"/>
              </a:rPr>
              <a:t>Data for June 25</a:t>
            </a:r>
            <a:endParaRPr sz="1000">
              <a:latin typeface="Calibri"/>
              <a:ea typeface="Calibri"/>
              <a:cs typeface="Calibri"/>
              <a:sym typeface="Calibri"/>
            </a:endParaRPr>
          </a:p>
        </p:txBody>
      </p:sp>
      <p:graphicFrame>
        <p:nvGraphicFramePr>
          <p:cNvPr id="79" name="Google Shape;79;p16"/>
          <p:cNvGraphicFramePr/>
          <p:nvPr/>
        </p:nvGraphicFramePr>
        <p:xfrm>
          <a:off x="5742420" y="430065"/>
          <a:ext cx="3000000" cy="3000000"/>
        </p:xfrm>
        <a:graphic>
          <a:graphicData uri="http://schemas.openxmlformats.org/drawingml/2006/table">
            <a:tbl>
              <a:tblPr>
                <a:noFill/>
                <a:tableStyleId>{B4B729B7-E4CD-475E-A0ED-76918F83F912}</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sp>
        <p:nvSpPr>
          <p:cNvPr id="80" name="Google Shape;80;p16"/>
          <p:cNvSpPr txBox="1"/>
          <p:nvPr/>
        </p:nvSpPr>
        <p:spPr>
          <a:xfrm>
            <a:off x="6838390" y="485738"/>
            <a:ext cx="21525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Fable-5 - 6TB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Opus-4.8 - 5TB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highlight>
                  <a:srgbClr val="C9DAF8"/>
                </a:highlight>
                <a:latin typeface="Calibri"/>
                <a:ea typeface="Calibri"/>
                <a:cs typeface="Calibri"/>
                <a:sym typeface="Calibri"/>
              </a:rPr>
              <a:t>Claude Sonnet-4.5 - 1TB</a:t>
            </a:r>
            <a:endParaRPr sz="1000">
              <a:highlight>
                <a:srgbClr val="C9DAF8"/>
              </a:highlight>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GLM-5.1 - 744B </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Meta muse-spark - 16 x 70B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Qwen3.7-max-preview - 745B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Baidu Ernie-5.1 - 800B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Deepseek-v4 - 1.6T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Kimi-k2.6 - 1T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MiMo-V2-Pro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solidFill>
                  <a:schemeClr val="dk1"/>
                </a:solidFill>
                <a:latin typeface="Calibri"/>
                <a:ea typeface="Calibri"/>
                <a:cs typeface="Calibri"/>
                <a:sym typeface="Calibri"/>
              </a:rPr>
              <a:t>ByteDance </a:t>
            </a:r>
            <a:r>
              <a:rPr lang="en" sz="1000">
                <a:latin typeface="Calibri"/>
                <a:ea typeface="Calibri"/>
                <a:cs typeface="Calibri"/>
                <a:sym typeface="Calibri"/>
              </a:rPr>
              <a:t>dola-seed-2.0-pro 400B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Minimax M3  -  456B</a:t>
            </a:r>
            <a:endParaRPr sz="1000">
              <a:latin typeface="Calibri"/>
              <a:ea typeface="Calibri"/>
              <a:cs typeface="Calibri"/>
              <a:sym typeface="Calibri"/>
            </a:endParaRPr>
          </a:p>
        </p:txBody>
      </p:sp>
      <p:graphicFrame>
        <p:nvGraphicFramePr>
          <p:cNvPr id="81" name="Google Shape;81;p16"/>
          <p:cNvGraphicFramePr/>
          <p:nvPr/>
        </p:nvGraphicFramePr>
        <p:xfrm>
          <a:off x="2956138" y="816678"/>
          <a:ext cx="3000000" cy="3000000"/>
        </p:xfrm>
        <a:graphic>
          <a:graphicData uri="http://schemas.openxmlformats.org/drawingml/2006/table">
            <a:tbl>
              <a:tblPr>
                <a:noFill/>
                <a:tableStyleId>{B4B729B7-E4CD-475E-A0ED-76918F83F912}</a:tableStyleId>
              </a:tblPr>
              <a:tblGrid>
                <a:gridCol w="276225">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claude-fable-5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1564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claude-opus-4-8</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claude-opus-4-8-thinking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qwen3.7-max-preview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glm-5.2 (max)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claude-sonnet-4-5-20250929-thinking-32k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mimo-v2.5-pro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gpt-5.4</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claude-sonnet-4-5-20250929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grok-4.20-beta-0309-reasoning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gpt-5.5-instant</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2" name="Google Shape;82;p16"/>
          <p:cNvGraphicFramePr/>
          <p:nvPr/>
        </p:nvGraphicFramePr>
        <p:xfrm>
          <a:off x="197321" y="833248"/>
          <a:ext cx="3000000" cy="3000000"/>
        </p:xfrm>
        <a:graphic>
          <a:graphicData uri="http://schemas.openxmlformats.org/drawingml/2006/table">
            <a:tbl>
              <a:tblPr>
                <a:noFill/>
                <a:tableStyleId>{B4B729B7-E4CD-475E-A0ED-76918F83F912}</a:tableStyleId>
              </a:tblPr>
              <a:tblGrid>
                <a:gridCol w="276225">
                  <a:extLst>
                    <a:ext uri="{9D8B030D-6E8A-4147-A177-3AD203B41FA5}">
                      <a16:colId xmlns:a16="http://schemas.microsoft.com/office/drawing/2014/main" val="20000"/>
                    </a:ext>
                  </a:extLst>
                </a:gridCol>
                <a:gridCol w="17240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claude-fable-5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claude-opus-4-8-thinking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claude-opus-4-8</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8"/>
                        </a:rPr>
                        <a:t>gemini-3.5-flash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grok-4.20-beta-0309-reasoning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qwen3.7-max-preview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gpt-5.5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9"/>
                        </a:rPr>
                        <a:t>grok-4.20-beta1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0"/>
                        </a:rPr>
                        <a:t>gemini-3-flash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gpt-5.5-instant</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1"/>
                        </a:rPr>
                        <a:t>grok-4.20-multi-agent-beta-0309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glm-5.2 (max)</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88" name="Google Shape;88;p17"/>
          <p:cNvSpPr txBox="1"/>
          <p:nvPr/>
        </p:nvSpPr>
        <p:spPr>
          <a:xfrm>
            <a:off x="81775" y="459238"/>
            <a:ext cx="35958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optimizations cut inference cost x2</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Serve ChatGPT for logged‑out users with only a few hundred NVIDIA GPUs, versus far larger fleets before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They have not disclosed details, but observers believe it’s a combination of aggressive quantization, smarter KV caching, highly efficient batching, and routing simpler queries to cheaper models, all backed by better low‑level kernel and serving‑stack tuning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business impact is significant: cheaper inference can support lower API prices, higher usage limits, and better profit margins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So inference efficiency is a key competitive moat</a:t>
            </a:r>
            <a:endParaRPr sz="1200">
              <a:solidFill>
                <a:schemeClr val="dk1"/>
              </a:solidFill>
              <a:latin typeface="Calibri"/>
              <a:ea typeface="Calibri"/>
              <a:cs typeface="Calibri"/>
              <a:sym typeface="Calibri"/>
            </a:endParaRPr>
          </a:p>
        </p:txBody>
      </p:sp>
      <p:sp>
        <p:nvSpPr>
          <p:cNvPr id="89" name="Google Shape;89;p17"/>
          <p:cNvSpPr txBox="1"/>
          <p:nvPr/>
        </p:nvSpPr>
        <p:spPr>
          <a:xfrm>
            <a:off x="5346525" y="1767113"/>
            <a:ext cx="35958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DeepSeek DSpark Speculative Decoding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Accelerates AI generation speed by 80+%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Increases total output capacity by 700% without losing quality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Traditional speculative decoding uses small models to draft text ahead for a larger model to verify, but drafts are often slow or error-prone due to sentence decay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DSpark fixes this by using a parallel drafter enhanced with a lightweight Markov head to eliminate errors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also introduces a confidence head that dynamically </a:t>
            </a:r>
            <a:r>
              <a:rPr lang="en" sz="1200" b="1">
                <a:solidFill>
                  <a:srgbClr val="FF0000"/>
                </a:solidFill>
                <a:latin typeface="Calibri"/>
                <a:ea typeface="Calibri"/>
                <a:cs typeface="Calibri"/>
                <a:sym typeface="Calibri"/>
              </a:rPr>
              <a:t>adjusts draft lengths based on context predictability</a:t>
            </a:r>
            <a:r>
              <a:rPr lang="en" sz="1200">
                <a:solidFill>
                  <a:schemeClr val="dk1"/>
                </a:solidFill>
                <a:latin typeface="Calibri"/>
                <a:ea typeface="Calibri"/>
                <a:cs typeface="Calibri"/>
                <a:sym typeface="Calibri"/>
              </a:rPr>
              <a:t> - like </a:t>
            </a:r>
            <a:r>
              <a:rPr lang="en" sz="1200" b="1">
                <a:solidFill>
                  <a:srgbClr val="3C78D8"/>
                </a:solidFill>
                <a:latin typeface="Calibri"/>
                <a:ea typeface="Calibri"/>
                <a:cs typeface="Calibri"/>
                <a:sym typeface="Calibri"/>
              </a:rPr>
              <a:t>shortening drafts for creative tasks and lengthening them for deterministic coding</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Finally, DSpark is hardware-aware, regulating drafts based on real-time GPU loads to optimize multi-user data centers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https://www.youtube.com/watch?v=J0D7qV3nl7w</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7K subscribers, 294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95" name="Google Shape;95;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233650" y="80363"/>
            <a:ext cx="2541900" cy="49827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9"/>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01" name="Google Shape;101;p19"/>
          <p:cNvSpPr txBox="1"/>
          <p:nvPr/>
        </p:nvSpPr>
        <p:spPr>
          <a:xfrm>
            <a:off x="81775" y="459238"/>
            <a:ext cx="3595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China’s 140 humanoid robot companies</a:t>
            </a:r>
            <a:endParaRPr sz="1200">
              <a:solidFill>
                <a:schemeClr val="dk1"/>
              </a:solidFill>
              <a:latin typeface="Calibri"/>
              <a:ea typeface="Calibri"/>
              <a:cs typeface="Calibri"/>
              <a:sym typeface="Calibri"/>
            </a:endParaRPr>
          </a:p>
        </p:txBody>
      </p:sp>
      <p:sp>
        <p:nvSpPr>
          <p:cNvPr id="102" name="Google Shape;102;p19"/>
          <p:cNvSpPr txBox="1"/>
          <p:nvPr/>
        </p:nvSpPr>
        <p:spPr>
          <a:xfrm>
            <a:off x="81775" y="1090888"/>
            <a:ext cx="35958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computational archaeology </a:t>
            </a:r>
            <a:r>
              <a:rPr lang="en" sz="1200">
                <a:solidFill>
                  <a:schemeClr val="dk1"/>
                </a:solidFill>
                <a:latin typeface="Calibri"/>
                <a:ea typeface="Calibri"/>
                <a:cs typeface="Calibri"/>
                <a:sym typeface="Calibri"/>
              </a:rPr>
              <a:t>to decipher 2,000-year-old carbonized Vesuvius scrolls</a:t>
            </a:r>
            <a:endParaRPr sz="1200">
              <a:solidFill>
                <a:schemeClr val="dk1"/>
              </a:solidFill>
              <a:latin typeface="Calibri"/>
              <a:ea typeface="Calibri"/>
              <a:cs typeface="Calibri"/>
              <a:sym typeface="Calibri"/>
            </a:endParaRPr>
          </a:p>
        </p:txBody>
      </p:sp>
      <p:sp>
        <p:nvSpPr>
          <p:cNvPr id="103" name="Google Shape;103;p19"/>
          <p:cNvSpPr txBox="1"/>
          <p:nvPr/>
        </p:nvSpPr>
        <p:spPr>
          <a:xfrm>
            <a:off x="81775" y="2400775"/>
            <a:ext cx="44313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Joe Rogan Experience #2521 - </a:t>
            </a:r>
            <a:r>
              <a:rPr lang="en" sz="1200" b="1">
                <a:solidFill>
                  <a:srgbClr val="FF0000"/>
                </a:solidFill>
                <a:latin typeface="Calibri"/>
                <a:ea typeface="Calibri"/>
                <a:cs typeface="Calibri"/>
                <a:sym typeface="Calibri"/>
              </a:rPr>
              <a:t>Aravind Srinivas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https://www.youtube.com/watch?v=fOLu-pWQssQ</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Brahmastra &amp; Ancient Weapons: They discuss the Mahabharata (an ancient Hindu epic estimated to be 1,500 to 2,500 years old). The guest describes the Brahmastra as the ancient equivalent of a hydrogen bomb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Currency of the Future - "curiosity premium." As the cost of cognition drops to the cost of compute. Status and success will shift to those who know how to ask the deepest, most original questions.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True intelligence will be defined by problem-poking, agency, execution, and the intellectual humility to self-correct when faced with new data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Economic Shifting - "AI dividend" or subsidy system similar to the Alaska Permanent Fund or resource-abundant Gulf States</a:t>
            </a:r>
            <a:endParaRPr sz="1200">
              <a:solidFill>
                <a:schemeClr val="dk1"/>
              </a:solidFill>
              <a:latin typeface="Calibri"/>
              <a:ea typeface="Calibri"/>
              <a:cs typeface="Calibri"/>
              <a:sym typeface="Calibri"/>
            </a:endParaRPr>
          </a:p>
        </p:txBody>
      </p:sp>
      <p:pic>
        <p:nvPicPr>
          <p:cNvPr id="104" name="Google Shape;104;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89627" y="2400775"/>
            <a:ext cx="2249375" cy="2304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Sentdex</a:t>
            </a:r>
            <a:endParaRPr sz="2000" b="1">
              <a:solidFill>
                <a:schemeClr val="dk1"/>
              </a:solidFill>
              <a:latin typeface="Calibri"/>
              <a:ea typeface="Calibri"/>
              <a:cs typeface="Calibri"/>
              <a:sym typeface="Calibri"/>
            </a:endParaRPr>
          </a:p>
        </p:txBody>
      </p:sp>
      <p:sp>
        <p:nvSpPr>
          <p:cNvPr id="110" name="Google Shape;110;p20"/>
          <p:cNvSpPr txBox="1"/>
          <p:nvPr/>
        </p:nvSpPr>
        <p:spPr>
          <a:xfrm>
            <a:off x="81775" y="459250"/>
            <a:ext cx="44061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Sentdex - </a:t>
            </a:r>
            <a:r>
              <a:rPr lang="en" sz="1200" u="sng">
                <a:solidFill>
                  <a:schemeClr val="hlink"/>
                </a:solidFill>
                <a:latin typeface="Calibri"/>
                <a:ea typeface="Calibri"/>
                <a:cs typeface="Calibri"/>
                <a:sym typeface="Calibri"/>
                <a:hlinkClick r:id="rId3"/>
              </a:rPr>
              <a:t>https://www.youtube.com/watch?v=AgpeggCsRH4</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Running AI Locally Doesn't Require an Expensive Setup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single consumer GPU like an RTX 3090 or 4090 can handle roughly 70% to 90% of local coding and general Q&amp;A model needs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GLM-52 Quantizations - standard 8-bit KV caching significantly degrades GLM-52's performance after 1k to 8k context lengths. Switching to a 16-bit KV cache fixes this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Using Terminal Bench v2.1 for long-horizon agentic coding tests, he found that a highly compressed 2-bit quantization of GLM-52 performs almost identically to the 4-bit version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Scaling "test-time compute" (allowing a model more tokens to actively reason through a problem before answering) significantly levels the playing field. Even a fundamentally "dumber" model can achieve incredible benchmark results if it is allowed to reason for a long time. Because of this, he argues that closed-source giants have no permanent moat over open-source alternatives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DeepSeek V4 Flash - very fast and extremely cheap via providers like Open Router (roughly 14 cents per million input tokens)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Qwen-3.6-35B-A3B / Qwen 2.5 Coder - work on single 24GB GPU (especially good when paired with Multi-Token Prediction (MTP) to maximize tokens-per-second)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Agents Hermes (general purpose) &amp; Minion (for coding) </a:t>
            </a:r>
            <a:endParaRPr sz="1200">
              <a:solidFill>
                <a:schemeClr val="dk1"/>
              </a:solidFill>
              <a:latin typeface="Calibri"/>
              <a:ea typeface="Calibri"/>
              <a:cs typeface="Calibri"/>
              <a:sym typeface="Calibri"/>
            </a:endParaRPr>
          </a:p>
        </p:txBody>
      </p:sp>
      <p:pic>
        <p:nvPicPr>
          <p:cNvPr id="111" name="Google Shape;111;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41125" y="459250"/>
            <a:ext cx="2469750" cy="17217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17" name="Google Shape;117;p21"/>
          <p:cNvSpPr txBox="1"/>
          <p:nvPr/>
        </p:nvSpPr>
        <p:spPr>
          <a:xfrm>
            <a:off x="81775" y="459250"/>
            <a:ext cx="44061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 Standard for the Karpathy LLM Wiki</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https://www.youtube.com/watch?v=T33iI6izAKw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Google's Open Knowledge Format (OKF) acts like the Model Context Protocol (MCP) but for knowledge communication</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standardizes file organization and metadata, requiring only a `type` field to classify content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Because it is lightweight and minimally opinionated, users can easily give the OKF specification to a coding assistant to build standard wikis or refactor old ones, allowing AI agents to seamlessly consume and share structured data</a:t>
            </a:r>
            <a:endParaRPr sz="1200">
              <a:solidFill>
                <a:schemeClr val="dk1"/>
              </a:solidFill>
              <a:latin typeface="Calibri"/>
              <a:ea typeface="Calibri"/>
              <a:cs typeface="Calibri"/>
              <a:sym typeface="Calibri"/>
            </a:endParaRPr>
          </a:p>
        </p:txBody>
      </p:sp>
      <p:sp>
        <p:nvSpPr>
          <p:cNvPr id="118" name="Google Shape;118;p21"/>
          <p:cNvSpPr txBox="1"/>
          <p:nvPr/>
        </p:nvSpPr>
        <p:spPr>
          <a:xfrm>
            <a:off x="74150" y="2386407"/>
            <a:ext cx="44061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in Chrome is Anthropic’s official Chrome extension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lets Claude see the page you have open, understand its structure, and then take actions like clicking buttons, following links, filling forms, and extracting or summarizing information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Combined with Claude Code, you can build or modify a web app in the terminal, then have Claude in Chrome open and exercise the running app to test flows and catch issues without manual copy‑paste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Functionally, it turns Claude from a pure chat assistant into a lightweight browser automation agent that operates within your existing authenticated Chrome session</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https://claude.com/claude-for-chrome</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https://claude.ai/chrome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https://www.anthropic.com/news/claude-for-chrome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7"/>
              </a:rPr>
              <a:t>https://code.claude.com/docs/en/chrome</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119" name="Google Shape;119;p21"/>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742325" y="2608075"/>
            <a:ext cx="3570700" cy="1613625"/>
          </a:xfrm>
          <a:prstGeom prst="rect">
            <a:avLst/>
          </a:prstGeom>
          <a:noFill/>
          <a:ln w="9525" cap="flat" cmpd="sng">
            <a:solidFill>
              <a:srgbClr val="FF0000"/>
            </a:solidFill>
            <a:prstDash val="solid"/>
            <a:round/>
            <a:headEnd type="none" w="sm" len="sm"/>
            <a:tailEnd type="none" w="sm" len="sm"/>
          </a:ln>
        </p:spPr>
      </p:pic>
      <p:pic>
        <p:nvPicPr>
          <p:cNvPr id="120" name="Google Shape;120;p21"/>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742325" y="459250"/>
            <a:ext cx="3069000" cy="17229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26" name="Google Shape;126;p22"/>
          <p:cNvSpPr txBox="1"/>
          <p:nvPr/>
        </p:nvSpPr>
        <p:spPr>
          <a:xfrm>
            <a:off x="81775" y="644805"/>
            <a:ext cx="44061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Python to make Karpathy-style wiki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https://towardsdatascience.com/llm-wikis-are-over-engineered-i-replaced-mine-with-a-pure-python-compiler/</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27" name="Google Shape;127;p22"/>
          <p:cNvSpPr txBox="1"/>
          <p:nvPr/>
        </p:nvSpPr>
        <p:spPr>
          <a:xfrm>
            <a:off x="4682700" y="394080"/>
            <a:ext cx="44061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KV (Key-Value) Cache and PagedAttention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These are open-source mechanisms from the vLLM inference engine - used to speed up LLMs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https://www.youtube.com/watch?v=o0gkdZBtwEg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During LLM inference, the prefill phase processes the prompt, while the decode phase generates tokens sequentially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Normally, generating a new token requires recomputing all previous tokens, which degrades performance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KV caching prevents this by saving past key-value matrices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However, standard KV caching creates fragmented memory by pre-allocating large, rigid slots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PagedAttention solves this by breaking the cache into small, non-contiguous pages mapped dynamically, cutting memory waste by up to 80%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video concludes with optimization tips, including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tuning memory utilization</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enabling prefix caching</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using chunked prefill </a:t>
            </a:r>
            <a:endParaRPr sz="1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3"/>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33" name="Google Shape;133;p23"/>
          <p:cNvSpPr txBox="1"/>
          <p:nvPr/>
        </p:nvSpPr>
        <p:spPr>
          <a:xfrm>
            <a:off x="81775" y="419305"/>
            <a:ext cx="4406100" cy="2511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Boston Dynamics’ fifth-generation Atlas humanoid robot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Reduced complexity by nearly an order of magnitude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Reducing number of parts, simplifying manufacturing, which improves reliability and lowers costs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Backed by Hyundai’s mass-production expertise, Atlas is being positioned for large-scale deployment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Plans for up to 30,000 units annually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Physical agility remains a core strength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Boston Dynamics is combining advanced control systems with higher-level decision-making, aiming to turn Atlas from an expensive showcase into a commercially viable, flexible industrial worker</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https://www.forbes.com/sites/johnkoetsier/2026/07/02/boston-dynamics-new-atlas-humanoid-robot-order-of-magnitude-simpler/</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134" name="Google Shape;134;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40275" y="152400"/>
            <a:ext cx="1755279" cy="2845476"/>
          </a:xfrm>
          <a:prstGeom prst="rect">
            <a:avLst/>
          </a:prstGeom>
          <a:noFill/>
          <a:ln>
            <a:noFill/>
          </a:ln>
        </p:spPr>
      </p:pic>
      <p:sp>
        <p:nvSpPr>
          <p:cNvPr id="135" name="Google Shape;135;p23"/>
          <p:cNvSpPr txBox="1"/>
          <p:nvPr/>
        </p:nvSpPr>
        <p:spPr>
          <a:xfrm>
            <a:off x="81775" y="2985005"/>
            <a:ext cx="44061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has re-released Fable 5 and Mythos 5 models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introduced a strict, government-collaborated safety classifier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However, this classifier frequently flags harmless coding or biology prompts, automatically downgrading paying users to the older, cheaper Opus 4.8 model.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Developers discovered a hidden anti-distillation mechanism inside Claude Code that secretly alters system prompt characters to track unauthorized Chinese proxies and resellers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raises significant user transparency and trust concerns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https://www.youtube.com/watch?v=d6R3tsSD270</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36" name="Google Shape;136;p2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40274" y="3222175"/>
            <a:ext cx="2688800" cy="14927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42" name="Google Shape;142;p24"/>
          <p:cNvSpPr txBox="1"/>
          <p:nvPr/>
        </p:nvSpPr>
        <p:spPr>
          <a:xfrm>
            <a:off x="81775" y="419305"/>
            <a:ext cx="44061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Qualcomm Uses Mojo programming language</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Qualcomm recently acquired Modular, a startup founded by compiler expert </a:t>
            </a:r>
            <a:r>
              <a:rPr lang="en" sz="1200" b="1">
                <a:solidFill>
                  <a:srgbClr val="3C78D8"/>
                </a:solidFill>
                <a:latin typeface="Calibri"/>
                <a:ea typeface="Calibri"/>
                <a:cs typeface="Calibri"/>
                <a:sym typeface="Calibri"/>
              </a:rPr>
              <a:t>Chris Lattner (LLVM, Swift, Mojo)</a:t>
            </a:r>
            <a:endParaRPr sz="12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Clr>
                <a:srgbClr val="3C78D8"/>
              </a:buClr>
              <a:buSzPts val="900"/>
              <a:buFont typeface="Calibri"/>
              <a:buChar char="●"/>
            </a:pPr>
            <a:r>
              <a:rPr lang="en" sz="1200" b="1">
                <a:solidFill>
                  <a:srgbClr val="3C78D8"/>
                </a:solidFill>
                <a:latin typeface="Calibri"/>
                <a:ea typeface="Calibri"/>
                <a:cs typeface="Calibri"/>
                <a:sym typeface="Calibri"/>
              </a:rPr>
              <a:t>Modular created Mojo</a:t>
            </a:r>
            <a:endParaRPr sz="12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Mojo = Python-like syntax + high-performance execution</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Mojo can run on Nvidia, AMD, and Apple chips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In performance tests, pure Mojo kernels match Nvidia's flagship libraries on native hardware</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By integrating Mojo with its upcoming AI data center cards, Qualcomm provides a cross-compatible software ecosystem capable of threatening Nvidia’s market chokehold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https://www.youtube.com/watch?v=aUftJ0xBmeY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43" name="Google Shape;143;p2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74950" y="144428"/>
            <a:ext cx="2032476" cy="1170025"/>
          </a:xfrm>
          <a:prstGeom prst="rect">
            <a:avLst/>
          </a:prstGeom>
          <a:noFill/>
          <a:ln w="9525" cap="flat" cmpd="sng">
            <a:solidFill>
              <a:srgbClr val="FF0000"/>
            </a:solidFill>
            <a:prstDash val="solid"/>
            <a:round/>
            <a:headEnd type="none" w="sm" len="sm"/>
            <a:tailEnd type="none" w="sm" len="sm"/>
          </a:ln>
        </p:spPr>
      </p:pic>
      <p:pic>
        <p:nvPicPr>
          <p:cNvPr id="144" name="Google Shape;144;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694497" y="581025"/>
            <a:ext cx="1278200" cy="1524000"/>
          </a:xfrm>
          <a:prstGeom prst="rect">
            <a:avLst/>
          </a:prstGeom>
          <a:noFill/>
          <a:ln w="9525" cap="flat" cmpd="sng">
            <a:solidFill>
              <a:srgbClr val="FF0000"/>
            </a:solidFill>
            <a:prstDash val="solid"/>
            <a:round/>
            <a:headEnd type="none" w="sm" len="sm"/>
            <a:tailEnd type="none" w="sm" len="sm"/>
          </a:ln>
        </p:spPr>
      </p:pic>
      <p:sp>
        <p:nvSpPr>
          <p:cNvPr id="145" name="Google Shape;145;p24"/>
          <p:cNvSpPr txBox="1"/>
          <p:nvPr/>
        </p:nvSpPr>
        <p:spPr>
          <a:xfrm>
            <a:off x="81775" y="2937080"/>
            <a:ext cx="44061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Chinese company Ubtech - UWorld U1 series of robots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world's first full-sized humanoid robots for mass production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Starting at $17,600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Lifelike  - silicone skin, 88 motion joints, and an emotion-aware AI model that reads feelings with over 90% accuracy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U1 offers conversational memory and context awareness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U1 secured 13K launch-day orders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Ubtech plans to donate 100 customized units for grieving or lonely individuals (using 3D facial reconstruction to replicate faces)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https://www.ubtrobot.com</a:t>
            </a:r>
            <a:endParaRPr sz="1200">
              <a:solidFill>
                <a:schemeClr val="dk1"/>
              </a:solidFill>
              <a:latin typeface="Calibri"/>
              <a:ea typeface="Calibri"/>
              <a:cs typeface="Calibri"/>
              <a:sym typeface="Calibri"/>
            </a:endParaRPr>
          </a:p>
        </p:txBody>
      </p:sp>
      <p:pic>
        <p:nvPicPr>
          <p:cNvPr id="146" name="Google Shape;146;p24"/>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574950" y="3067925"/>
            <a:ext cx="2461475" cy="13897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5"/>
          <p:cNvSpPr txBox="1"/>
          <p:nvPr/>
        </p:nvSpPr>
        <p:spPr>
          <a:xfrm>
            <a:off x="81775" y="67675"/>
            <a:ext cx="2559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52" name="Google Shape;152;p25"/>
          <p:cNvSpPr txBox="1"/>
          <p:nvPr/>
        </p:nvSpPr>
        <p:spPr>
          <a:xfrm>
            <a:off x="81775" y="457405"/>
            <a:ext cx="44061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Three AI world model paradigms:</a:t>
            </a:r>
            <a:endParaRPr sz="1200" b="1">
              <a:solidFill>
                <a:srgbClr val="FF0000"/>
              </a:solidFill>
              <a:latin typeface="Calibri"/>
              <a:ea typeface="Calibri"/>
              <a:cs typeface="Calibri"/>
              <a:sym typeface="Calibri"/>
            </a:endParaRPr>
          </a:p>
          <a:p>
            <a:pPr marL="6286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Meta’s JEPA, </a:t>
            </a:r>
            <a:endParaRPr sz="1200" b="1">
              <a:solidFill>
                <a:srgbClr val="3C78D8"/>
              </a:solidFill>
              <a:latin typeface="Calibri"/>
              <a:ea typeface="Calibri"/>
              <a:cs typeface="Calibri"/>
              <a:sym typeface="Calibri"/>
            </a:endParaRPr>
          </a:p>
          <a:p>
            <a:pPr marL="6286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WorldLabs’ taxonomy, </a:t>
            </a:r>
            <a:endParaRPr sz="1200" b="1">
              <a:solidFill>
                <a:srgbClr val="3C78D8"/>
              </a:solidFill>
              <a:latin typeface="Calibri"/>
              <a:ea typeface="Calibri"/>
              <a:cs typeface="Calibri"/>
              <a:sym typeface="Calibri"/>
            </a:endParaRPr>
          </a:p>
          <a:p>
            <a:pPr marL="6286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Einstein World Models concept</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JEPA</a:t>
            </a:r>
            <a:r>
              <a:rPr lang="en" sz="1200">
                <a:solidFill>
                  <a:schemeClr val="dk1"/>
                </a:solidFill>
                <a:latin typeface="Calibri"/>
                <a:ea typeface="Calibri"/>
                <a:cs typeface="Calibri"/>
                <a:sym typeface="Calibri"/>
              </a:rPr>
              <a:t> focuses on learning world within an abstract latent space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WorldLabs</a:t>
            </a:r>
            <a:r>
              <a:rPr lang="en" sz="1200">
                <a:solidFill>
                  <a:schemeClr val="dk1"/>
                </a:solidFill>
                <a:latin typeface="Calibri"/>
                <a:ea typeface="Calibri"/>
                <a:cs typeface="Calibri"/>
                <a:sym typeface="Calibri"/>
              </a:rPr>
              <a:t> structures world models into renderers, simulators, and planners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Einstein World Models</a:t>
            </a:r>
            <a:r>
              <a:rPr lang="en" sz="1200">
                <a:solidFill>
                  <a:schemeClr val="dk1"/>
                </a:solidFill>
                <a:latin typeface="Calibri"/>
                <a:ea typeface="Calibri"/>
                <a:cs typeface="Calibri"/>
                <a:sym typeface="Calibri"/>
              </a:rPr>
              <a:t> framework from MBZUAI (Mohamed bin Zayed University of Artificial Intelligence, Abu Dhabi, UAE) treats world models as modular tools. LLMs remain the primary reasoner, calling on visual world modules to perform thought experiments when linguistic reasoning falls short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speaker argues that unified embedding architectures like JEPA may fail, predicting that future AI will favor modular, tool-based visual physics simulations controlled by LLMs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https://www.youtube.com/watch?v=tv17bmE2FNY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53" name="Google Shape;153;p25"/>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581525" y="67675"/>
            <a:ext cx="2828925" cy="1171575"/>
          </a:xfrm>
          <a:prstGeom prst="rect">
            <a:avLst/>
          </a:prstGeom>
          <a:noFill/>
          <a:ln w="9525" cap="flat" cmpd="sng">
            <a:solidFill>
              <a:srgbClr val="FF0000"/>
            </a:solidFill>
            <a:prstDash val="solid"/>
            <a:round/>
            <a:headEnd type="none" w="sm" len="sm"/>
            <a:tailEnd type="none" w="sm" len="sm"/>
          </a:ln>
        </p:spPr>
      </p:pic>
      <p:sp>
        <p:nvSpPr>
          <p:cNvPr id="154" name="Google Shape;154;p25"/>
          <p:cNvSpPr txBox="1"/>
          <p:nvPr/>
        </p:nvSpPr>
        <p:spPr>
          <a:xfrm>
            <a:off x="81775" y="3676855"/>
            <a:ext cx="44061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Mobile OpenClaw now works with Android and iOS.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can talk to you, access photos, contacts, calendar, notifications, device state</a:t>
            </a:r>
            <a:endParaRPr sz="1200">
              <a:solidFill>
                <a:schemeClr val="dk1"/>
              </a:solidFill>
              <a:latin typeface="Calibri"/>
              <a:ea typeface="Calibri"/>
              <a:cs typeface="Calibri"/>
              <a:sym typeface="Calibri"/>
            </a:endParaRPr>
          </a:p>
        </p:txBody>
      </p:sp>
      <p:sp>
        <p:nvSpPr>
          <p:cNvPr id="155" name="Google Shape;155;p25"/>
          <p:cNvSpPr txBox="1"/>
          <p:nvPr/>
        </p:nvSpPr>
        <p:spPr>
          <a:xfrm>
            <a:off x="4581525" y="1602500"/>
            <a:ext cx="44061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JEPA is just LoRA in disguise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JEPA acts as a matrix factorization mechanism creating a low-rank approximation of the world's transition dynamics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New research from Peking University and the University of Sydney provides a math explanation of Joint Embedding Predictive Architecture (JEPA)</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filtering out high-dimensional visual noise like pixels, JEPA focuses purely on action-relevant movements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dynamic creates a critical balance between approximation error and sample complexity error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Drawing a parallel to low-rank adaptation (LoRA) in language models, the host introduces a novel concept: creating "JEPA adapters."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These specialized add-ons could efficiently fine-tune foundational world models for specific domains, such as medical robotics, without intensive retraining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https://www.youtube.com/watch?v=2RVz67hxSAU</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6"/>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161" name="Google Shape;161;p26"/>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162" name="Google Shape;162;p26"/>
          <p:cNvSpPr txBox="1"/>
          <p:nvPr/>
        </p:nvSpPr>
        <p:spPr>
          <a:xfrm>
            <a:off x="5655225" y="3510625"/>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119K in 2026 </a:t>
            </a:r>
            <a:r>
              <a:rPr lang="en" sz="1000" b="1">
                <a:solidFill>
                  <a:schemeClr val="dk1"/>
                </a:solidFill>
                <a:latin typeface="Roboto Mono"/>
                <a:ea typeface="Roboto Mono"/>
                <a:cs typeface="Roboto Mono"/>
                <a:sym typeface="Roboto Mono"/>
              </a:rPr>
              <a:t>(as of July 3,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163" name="Google Shape;163;p26"/>
          <p:cNvSpPr txBox="1"/>
          <p:nvPr/>
        </p:nvSpPr>
        <p:spPr>
          <a:xfrm>
            <a:off x="5422950" y="531250"/>
            <a:ext cx="32868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164,483</a:t>
            </a:r>
            <a:r>
              <a:rPr lang="en" sz="1200">
                <a:latin typeface="Calibri"/>
                <a:ea typeface="Calibri"/>
                <a:cs typeface="Calibri"/>
                <a:sym typeface="Calibri"/>
              </a:rPr>
              <a:t> people laid off (894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8"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sp>
        <p:nvSpPr>
          <p:cNvPr id="164" name="Google Shape;164;p26"/>
          <p:cNvSpPr txBox="1"/>
          <p:nvPr/>
        </p:nvSpPr>
        <p:spPr>
          <a:xfrm>
            <a:off x="5422950" y="2031425"/>
            <a:ext cx="32868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“Oracle sheds 21,000 jobs, shrinking the company’s headcount by 13% as it continues to invest in Artificial Intelligence.” - The Wall Street Journal</a:t>
            </a:r>
            <a:endParaRPr sz="1200">
              <a:solidFill>
                <a:schemeClr val="dk1"/>
              </a:solidFill>
              <a:latin typeface="Calibri"/>
              <a:ea typeface="Calibri"/>
              <a:cs typeface="Calibri"/>
              <a:sym typeface="Calibri"/>
            </a:endParaRPr>
          </a:p>
        </p:txBody>
      </p:sp>
      <p:pic>
        <p:nvPicPr>
          <p:cNvPr id="165" name="Google Shape;165;p2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3318899"/>
            <a:ext cx="5058401" cy="1778351"/>
          </a:xfrm>
          <a:prstGeom prst="rect">
            <a:avLst/>
          </a:prstGeom>
          <a:noFill/>
          <a:ln w="9525" cap="flat" cmpd="sng">
            <a:solidFill>
              <a:srgbClr val="FF0000"/>
            </a:solidFill>
            <a:prstDash val="solid"/>
            <a:round/>
            <a:headEnd type="none" w="sm" len="sm"/>
            <a:tailEnd type="none" w="sm" len="sm"/>
          </a:ln>
        </p:spPr>
      </p:pic>
      <p:pic>
        <p:nvPicPr>
          <p:cNvPr id="166" name="Google Shape;166;p2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495540"/>
            <a:ext cx="5058399" cy="274236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1" name="Google Shape;171;p2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172" name="Google Shape;172;p27"/>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173" name="Google Shape;173;p27"/>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174" name="Google Shape;174;p27"/>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175" name="Google Shape;175;p27"/>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176" name="Google Shape;176;p27"/>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8"/>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2498</Words>
  <Application>Microsoft Macintosh PowerPoint</Application>
  <PresentationFormat>On-screen Show (16:9)</PresentationFormat>
  <Paragraphs>367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2026-07-05T03:18:54Z</dcterms:modified>
</cp:coreProperties>
</file>