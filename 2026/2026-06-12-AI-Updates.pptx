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Roboto Mono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505C9D-7F8A-4720-BC70-9458E3D3C76F}">
  <a:tblStyle styleId="{39505C9D-7F8A-4720-BC70-9458E3D3C7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d2c6c1b0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ed2c6c1b0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57903a2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ed57903a2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699318e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e4699318e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a35d3f4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ea35d3f4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e822cba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e8e822cba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31867543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931867543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a4becdd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ea4becdd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bb57b7f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bb57b7f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adfe6e1a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eadfe6e1a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bbabc0c4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ebbabc0c4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8738a2b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e8738a2b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bbabc0c4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ebbabc0c4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51f307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ea51f307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a0e8203f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a0e8203f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a577f794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ea577f794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8f9a2299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e8f9a2299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a964ebc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ea964ebc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bb34286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ebb34286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af8f1e4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eaf8f1e4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bbabc0c4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ebbabc0c4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971967e0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d971967e0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huggingface.co/open-llm-leaderboard" TargetMode="External"/><Relationship Id="rId18" Type="http://schemas.openxmlformats.org/officeDocument/2006/relationships/hyperlink" Target="https://lmarena.ai/leaderboard/text-to-image" TargetMode="External"/><Relationship Id="rId26" Type="http://schemas.openxmlformats.org/officeDocument/2006/relationships/hyperlink" Target="https://www.anthropic.com/news/claude-sonnet-4-6" TargetMode="External"/><Relationship Id="rId39" Type="http://schemas.openxmlformats.org/officeDocument/2006/relationships/hyperlink" Target="https://grok.com" TargetMode="External"/><Relationship Id="rId21" Type="http://schemas.openxmlformats.org/officeDocument/2006/relationships/hyperlink" Target="https://www.anthropic.com/news/claude-opus-4-6" TargetMode="External"/><Relationship Id="rId34" Type="http://schemas.openxmlformats.org/officeDocument/2006/relationships/hyperlink" Target="https://ernie.baidu.com/blog/posts/ernie-5.1-0508-release/" TargetMode="External"/><Relationship Id="rId42" Type="http://schemas.openxmlformats.org/officeDocument/2006/relationships/hyperlink" Target="https://openai.com/index/gpt-5-5-instant" TargetMode="External"/><Relationship Id="rId7" Type="http://schemas.openxmlformats.org/officeDocument/2006/relationships/hyperlink" Target="https://openlm.ai/chatbot-arena/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tificialanalysis.ai/models/grok-4" TargetMode="External"/><Relationship Id="rId20" Type="http://schemas.openxmlformats.org/officeDocument/2006/relationships/hyperlink" Target="https://www.anthropic.com/news/claude-opus-4-7" TargetMode="External"/><Relationship Id="rId29" Type="http://schemas.openxmlformats.org/officeDocument/2006/relationships/hyperlink" Target="https://platform.openai.com/docs/models/gpt-5.4" TargetMode="External"/><Relationship Id="rId41" Type="http://schemas.openxmlformats.org/officeDocument/2006/relationships/hyperlink" Target="https://blog.google/products/gemini/gemini-3-flash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signarena.ai" TargetMode="External"/><Relationship Id="rId11" Type="http://schemas.openxmlformats.org/officeDocument/2006/relationships/hyperlink" Target="https://www.stack-ai.com/llm-leaderboard" TargetMode="External"/><Relationship Id="rId24" Type="http://schemas.openxmlformats.org/officeDocument/2006/relationships/hyperlink" Target="https://huggingface.co/zai-org/GLM-5.1" TargetMode="External"/><Relationship Id="rId32" Type="http://schemas.openxmlformats.org/officeDocument/2006/relationships/hyperlink" Target="https://openai.com/index/introducing-gpt-5-5/" TargetMode="External"/><Relationship Id="rId37" Type="http://schemas.openxmlformats.org/officeDocument/2006/relationships/hyperlink" Target="https://www.anthropic.com/news/claude-opus-4-1" TargetMode="External"/><Relationship Id="rId40" Type="http://schemas.openxmlformats.org/officeDocument/2006/relationships/hyperlink" Target="https://docs.x.ai/developers/models/grok-4.20-beta-0309-reasoning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epoch.ai/data/ai-benchmarking-dashboard" TargetMode="External"/><Relationship Id="rId23" Type="http://schemas.openxmlformats.org/officeDocument/2006/relationships/hyperlink" Target="https://www.anthropic.com/news/claude-opus-4-5" TargetMode="External"/><Relationship Id="rId28" Type="http://schemas.openxmlformats.org/officeDocument/2006/relationships/hyperlink" Target="https://blog.google/innovation-and-ai/models-and-research/gemini-models/gemini-3-1-pro/" TargetMode="External"/><Relationship Id="rId36" Type="http://schemas.openxmlformats.org/officeDocument/2006/relationships/hyperlink" Target="https://docs.x.ai/developers/models/grok-4.20-multi-agent-beta-0309" TargetMode="External"/><Relationship Id="rId10" Type="http://schemas.openxmlformats.org/officeDocument/2006/relationships/hyperlink" Target="https://llmworld.net/llm_leaderboards/" TargetMode="External"/><Relationship Id="rId19" Type="http://schemas.openxmlformats.org/officeDocument/2006/relationships/hyperlink" Target="https://www.anthropic.com/news/claude-fable-5-mythos-5" TargetMode="External"/><Relationship Id="rId31" Type="http://schemas.openxmlformats.org/officeDocument/2006/relationships/hyperlink" Target="https://mimo.xiaomi.com/mimo-v2-5-pro/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web.lmarena.ai/leaderboard" TargetMode="External"/><Relationship Id="rId14" Type="http://schemas.openxmlformats.org/officeDocument/2006/relationships/hyperlink" Target="https://www.vellum.ai/llm-leaderboard" TargetMode="External"/><Relationship Id="rId22" Type="http://schemas.openxmlformats.org/officeDocument/2006/relationships/hyperlink" Target="https://www.anthropic.com/news/claude-opus-4-8" TargetMode="External"/><Relationship Id="rId27" Type="http://schemas.openxmlformats.org/officeDocument/2006/relationships/hyperlink" Target="https://chat.qwen.ai/?models=Qwen3.7-Max-Preview" TargetMode="External"/><Relationship Id="rId30" Type="http://schemas.openxmlformats.org/officeDocument/2006/relationships/hyperlink" Target="https://www.anthropic.com/news/claude-sonnet-4-5" TargetMode="External"/><Relationship Id="rId35" Type="http://schemas.openxmlformats.org/officeDocument/2006/relationships/hyperlink" Target="https://developers.openai.com/api/docs/models/gpt-5.2-chat-latest" TargetMode="External"/><Relationship Id="rId8" Type="http://schemas.openxmlformats.org/officeDocument/2006/relationships/hyperlink" Target="https://beta.lmarena.ai" TargetMode="External"/><Relationship Id="rId3" Type="http://schemas.openxmlformats.org/officeDocument/2006/relationships/hyperlink" Target="https://en.wikipedia.org/wiki/Elo_rating_system" TargetMode="External"/><Relationship Id="rId12" Type="http://schemas.openxmlformats.org/officeDocument/2006/relationships/hyperlink" Target="https://artificialanalysis.ai/leaderboards/models" TargetMode="External"/><Relationship Id="rId17" Type="http://schemas.openxmlformats.org/officeDocument/2006/relationships/hyperlink" Target="http://aiarena.alibaba-inc.com/corpora/arena/leaderboard?arenaType=T2I" TargetMode="External"/><Relationship Id="rId25" Type="http://schemas.openxmlformats.org/officeDocument/2006/relationships/hyperlink" Target="https://ai.meta.com/blog/introducing-muse-spark-msl/" TargetMode="External"/><Relationship Id="rId33" Type="http://schemas.openxmlformats.org/officeDocument/2006/relationships/hyperlink" Target="https://aistudio.google.com/app/prompts/new_chat?model=gemini-3-pro-preview" TargetMode="External"/><Relationship Id="rId38" Type="http://schemas.openxmlformats.org/officeDocument/2006/relationships/hyperlink" Target="https://blog.google/innovation-and-ai/models-and-research/gemini-models/gemini-3-5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news/claude-fable-5-mythos-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youtube.com/watch?v=e-4xG1U7M7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eastdakota/status/2062212701414187452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platform.claude.com/docs/en/api/sdks/cl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hub.anthropic.com/signin/anthropi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www.anthropic.com/news/services-track-partner-hu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lly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robot.com/blog/ai-agents-as-digital-coworker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ubstack.com/home/post/p-20004538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hyperlink" Target="https://mlnotes.substack.com/p/inside-the-machine-the-anatomy-o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www.artificialintelligencemadesimple.com/p/stateful-swarms-how-persistent-memory" TargetMode="External"/><Relationship Id="rId7" Type="http://schemas.openxmlformats.org/officeDocument/2006/relationships/hyperlink" Target="https://arena.xlang.ai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icrosoft.github.io/WindowsAgentArena" TargetMode="External"/><Relationship Id="rId5" Type="http://schemas.openxmlformats.org/officeDocument/2006/relationships/hyperlink" Target="https://docs.factory.ai/benchmarks/agent-arena" TargetMode="External"/><Relationship Id="rId4" Type="http://schemas.openxmlformats.org/officeDocument/2006/relationships/hyperlink" Target="https://arena.ai/leaderboard/agent" TargetMode="External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hyperlink" Target="https://www.youtube.com/watch?v=4_x0USuQ9Ss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docs.snowflake.com/en/guides-overview-ai-features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nowflake.com/en/blog/integrated-developer-environment-ai/" TargetMode="External"/><Relationship Id="rId5" Type="http://schemas.openxmlformats.org/officeDocument/2006/relationships/hyperlink" Target="https://www.snowflake.com/en/product/ai/" TargetMode="External"/><Relationship Id="rId4" Type="http://schemas.openxmlformats.org/officeDocument/2006/relationships/hyperlink" Target="https://www.snowflake.com/en/product/features/cortex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brick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hyperlink" Target="https://www.databricks.com" TargetMode="Externa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hyperlink" Target="https://flowiseai.com" TargetMode="External"/><Relationship Id="rId18" Type="http://schemas.openxmlformats.org/officeDocument/2006/relationships/hyperlink" Target="https://stackstorm.com" TargetMode="External"/><Relationship Id="rId26" Type="http://schemas.openxmlformats.org/officeDocument/2006/relationships/hyperlink" Target="https://www.gumloop.com" TargetMode="External"/><Relationship Id="rId3" Type="http://schemas.openxmlformats.org/officeDocument/2006/relationships/hyperlink" Target="https://github.com/microsoft/agent-framework" TargetMode="External"/><Relationship Id="rId21" Type="http://schemas.openxmlformats.org/officeDocument/2006/relationships/hyperlink" Target="https://relevance.ai" TargetMode="External"/><Relationship Id="rId7" Type="http://schemas.openxmlformats.org/officeDocument/2006/relationships/hyperlink" Target="https://www.langchain.com" TargetMode="External"/><Relationship Id="rId12" Type="http://schemas.openxmlformats.org/officeDocument/2006/relationships/hyperlink" Target="https://www.crewai.com" TargetMode="External"/><Relationship Id="rId17" Type="http://schemas.openxmlformats.org/officeDocument/2006/relationships/hyperlink" Target="https://www.activepieces.com" TargetMode="External"/><Relationship Id="rId25" Type="http://schemas.openxmlformats.org/officeDocument/2006/relationships/hyperlink" Target="https://www.lindy.ai" TargetMode="External"/><Relationship Id="rId33" Type="http://schemas.openxmlformats.org/officeDocument/2006/relationships/hyperlink" Target="https://www.reddit.com/r/AI_Agents/comments/1o2117l/openai_agent_builder_or_more_like_ai_workflow/" TargetMode="External"/><Relationship Id="rId2" Type="http://schemas.openxmlformats.org/officeDocument/2006/relationships/notesSlide" Target="../notesSlides/notesSlide19.xml"/><Relationship Id="rId16" Type="http://schemas.openxmlformats.org/officeDocument/2006/relationships/hyperlink" Target="https://haystack.deepset.ai" TargetMode="External"/><Relationship Id="rId20" Type="http://schemas.openxmlformats.org/officeDocument/2006/relationships/hyperlink" Target="https://github.com/huginn/huginn" TargetMode="External"/><Relationship Id="rId29" Type="http://schemas.openxmlformats.org/officeDocument/2006/relationships/hyperlink" Target="https://github.com/Ironclad/rive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ake.com" TargetMode="External"/><Relationship Id="rId11" Type="http://schemas.openxmlformats.org/officeDocument/2006/relationships/hyperlink" Target="https://www.llamaindex.ai" TargetMode="External"/><Relationship Id="rId24" Type="http://schemas.openxmlformats.org/officeDocument/2006/relationships/hyperlink" Target="https://relay.app" TargetMode="External"/><Relationship Id="rId32" Type="http://schemas.openxmlformats.org/officeDocument/2006/relationships/hyperlink" Target="https://platform.openai.com/agents" TargetMode="External"/><Relationship Id="rId5" Type="http://schemas.openxmlformats.org/officeDocument/2006/relationships/hyperlink" Target="https://zapier.com" TargetMode="External"/><Relationship Id="rId15" Type="http://schemas.openxmlformats.org/officeDocument/2006/relationships/hyperlink" Target="https://langchain-ai.github.io/langgraph/" TargetMode="External"/><Relationship Id="rId23" Type="http://schemas.openxmlformats.org/officeDocument/2006/relationships/hyperlink" Target="https://latenode.com" TargetMode="External"/><Relationship Id="rId28" Type="http://schemas.openxmlformats.org/officeDocument/2006/relationships/hyperlink" Target="https://github.com/langgenius/dify" TargetMode="External"/><Relationship Id="rId10" Type="http://schemas.openxmlformats.org/officeDocument/2006/relationships/hyperlink" Target="https://microsoft.github.io/autogen/" TargetMode="External"/><Relationship Id="rId19" Type="http://schemas.openxmlformats.org/officeDocument/2006/relationships/hyperlink" Target="https://superagi.com" TargetMode="External"/><Relationship Id="rId31" Type="http://schemas.openxmlformats.org/officeDocument/2006/relationships/hyperlink" Target="https://www.windmill.dev/docs/intro" TargetMode="External"/><Relationship Id="rId4" Type="http://schemas.openxmlformats.org/officeDocument/2006/relationships/hyperlink" Target="https://powerautomate.microsoft.com" TargetMode="External"/><Relationship Id="rId9" Type="http://schemas.openxmlformats.org/officeDocument/2006/relationships/hyperlink" Target="https://n8n.io" TargetMode="External"/><Relationship Id="rId14" Type="http://schemas.openxmlformats.org/officeDocument/2006/relationships/hyperlink" Target="https://www.langflow.org" TargetMode="External"/><Relationship Id="rId22" Type="http://schemas.openxmlformats.org/officeDocument/2006/relationships/hyperlink" Target="https://www.letta.com" TargetMode="External"/><Relationship Id="rId27" Type="http://schemas.openxmlformats.org/officeDocument/2006/relationships/hyperlink" Target="https://www.getmaxim.ai/articles/top-5-no-code-agent-builder-tools-in-2025-build-and-evaluate-ai-agents-without-writing-code/" TargetMode="External"/><Relationship Id="rId30" Type="http://schemas.openxmlformats.org/officeDocument/2006/relationships/hyperlink" Target="https://www.windmill.dev" TargetMode="External"/><Relationship Id="rId8" Type="http://schemas.openxmlformats.org/officeDocument/2006/relationships/hyperlink" Target="https://nodered.or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cket_Interne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hyperlink" Target="https://stories.byburk.net/how-three-brothers-made-billions-by-shamelessly-copying-ideas-6ab866cd420c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trueup.io/layoff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498650"/>
            <a:ext cx="43302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Fable 5 and Mythos 5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Anthropic’s "ant" CLI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Anthropic’s 'Oceanus' leak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Internet - more bots than humans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June 15 Claude Pricing, June 22 Fable Pricing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ClaudeCode Ultracode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employees' about AI vs Human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Partner Hub, Tiered Services Track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June 12,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536607" y="4335091"/>
            <a:ext cx="4525800" cy="510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Samwer Brothers Copy-Cats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335800" y="457600"/>
            <a:ext cx="3244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your agent has no memory, 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 has no career.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36607" y="1467756"/>
            <a:ext cx="4525800" cy="2235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Fraud Detection - and AI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Stateful Swarms with Persistent Memory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 Arena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Dreambeans app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Linus Torvalds on AI’s Flood of Bugs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in Snowflake Cortex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in Databricks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Jobs by demand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Build agent workflow pipeline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2872511"/>
            <a:ext cx="4330200" cy="19887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SpaceX IPO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 WWDC 2026 - June 8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Alibaba, Baidu and BYD are Blacklisted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DiffusionGemma 26B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Lilly Medicine Company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Choose an Agent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Choose a Harness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How to make a harness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041375" y="2449450"/>
            <a:ext cx="30510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Design Arena -    </a:t>
            </a:r>
            <a:br>
              <a:rPr lang="en" sz="700"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https://www.designarena.ai</a:t>
            </a: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https://openlm.ai/chatbot-arena/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https://beta.lmarena.ai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Leaderboard -  1T params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https://web.lmarena.ai/leaderboard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@LlmStats - 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https://llmworld.net/llm_leaderboards/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StackAI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https://www.stack-ai.com/llm-leaderboard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Artificial Analysis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https://artificialanalysis.ai/leaderboards/models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LLM Leaderboard - by Hugging Face - 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https://huggingface.co/open-llm-leaderboard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Vellum - 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https://www.vellum.ai/llm-leaderboard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Benchmarking Hub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https://epoch.ai/data/ai-benchmarking-dashboard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Grok 4 Benchmarks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https://artificialanalysis.ai/models/grok-4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(alibaba)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http://aiarena.alibaba-inc.com/corpora/arena/leaderboard?arenaType=T2I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-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https://lmarena.ai/leaderboard/text-to-image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June 10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6838390" y="485738"/>
            <a:ext cx="21525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GLM-5.1 - 744B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Kimi-k2.6 - 1T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2913084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glm-5.1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claude-sonnet-4-5-20250929-thinking-32k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mimo-v2.5-pro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ernie-5.1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gpt-5.4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grok-4.20-multi-agent-beta-0309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claude-sonnet-4-5-20250929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claude-opus-4-1-20250805-thinking-16k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187367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gemini-3.5-flash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glm-5.1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/>
                        </a:rPr>
                        <a:t>grok-4.20-beta1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0"/>
                        </a:rPr>
                        <a:t>grok-4.20-beta-0309-reasoning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1"/>
                        </a:rPr>
                        <a:t>gemini-3-flash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grok-4.20-multi-agent-beta-0309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2"/>
                        </a:rPr>
                        <a:t>gpt-5.5-instant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81775" y="67675"/>
            <a:ext cx="4409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Fable 5 and Mythos 5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81775" y="472025"/>
            <a:ext cx="44097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Fable 5 and Claude Mythos 5 are Anthropic’s new top-end “Mythos‑class” models, launched on June 9,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Fable 5 is same as Mythos 5, but sensitive questions (cyber, biology, model-distillation) are routed to Opus 4.8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outperforms previous Claude models on software engineering, complex knowledge work, vision, and long‑context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x2 higher: $10 / $50 in/out for 1M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/model claude-fable-5 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https://www.anthropic.com/news/claude-fable-5-mythos-5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https://www.youtube.com/watch?v=e-4xG1U7M70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3875" y="152400"/>
            <a:ext cx="4409701" cy="486849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61" y="3507418"/>
            <a:ext cx="2756116" cy="1577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1" name="Google Shape;91;p17"/>
          <p:cNvSpPr txBox="1"/>
          <p:nvPr/>
        </p:nvSpPr>
        <p:spPr>
          <a:xfrm>
            <a:off x="81775" y="2415375"/>
            <a:ext cx="2519400" cy="634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Haiku  ~20B Small, fast model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Sonnet  ~1T Mid-to-high tier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Opus    ~5T Top regular class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Fable-5 ~6T MoE 400B active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050400" y="944675"/>
            <a:ext cx="30936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Internet - more bots than humans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https://x.com/eastdakota/status/2062212701414187452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Cloudflare CEO Matthew Prince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81775" y="478275"/>
            <a:ext cx="33645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Anthropic’s "ant" CLI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900"/>
              <a:buFont typeface="Roboto Mono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Claude Code via shell commands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brew install anthropics/tap/ant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ant auth login --no-browser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ant auth login --profile &lt;profile-name&gt;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ant auth status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ant messages create--model claude-opus-4-8 \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--max-tokens 1024 \</a:t>
            </a:r>
            <a:b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--message '{role: user, content: "Hello"}'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https://platform.claude.com/docs/en/api/sdks/cli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81775" y="2261955"/>
            <a:ext cx="37920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stops testing new Mythos model after unreleased 'Oceanus' leak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Anthropic’s Logan Graham says AI is now finding flaws faster than organizations can patch them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at the same time a secret, unreleased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version of their next Mythos model, codenamed Oceanus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was just leaked and sold via Chinese API proxies, forcing Anthropic to panic-pause its pre-launch safety testing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company just launched a massive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Partner Hub to help consulting giants like Accenture and Deloitte train hundreds of thousands of workers on Claude</a:t>
            </a: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2302" y="4050853"/>
            <a:ext cx="1881750" cy="1053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1" name="Google Shape;101;p1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2202" y="740125"/>
            <a:ext cx="1684674" cy="1111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1469" y="1544640"/>
            <a:ext cx="1463576" cy="231731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81775" y="67675"/>
            <a:ext cx="2547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Pricing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81775" y="472025"/>
            <a:ext cx="55188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Starting June 15, 2026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Anthropic splits Claude into two separate usage buckets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have a Pro or Max subscription, its limits stay the same and covers interactive use - but only when you are using Anthropic tools: Claude Code in the terminal, Cowork, and chat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Pro: ~44K tokens per 5-hour window</a:t>
            </a:r>
            <a:b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Max 5x ($100) = 5x Pro (up to 220K tokens per 5-hour window)</a:t>
            </a:r>
            <a:b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Max 20x ($200) = 20x Pro (up to 880K tokens per 5-hour window)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Additionally paid subscribers will get a new, separate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monthly Agent SDK credit (at standard API token costs)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cover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"automated" use - Agent SDK calls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claude -p, GitHub Actions, and third-party apps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dollar size of the credit is the same as subscription ($20, $100, $200). Credits don't roll over. Once depleted, SDK calls stop. You have an option to enable "extra usage" at standard API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72250" y="3361290"/>
            <a:ext cx="5518800" cy="1650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Ultracode = xhigh reasoning effort  + Dynamic Workflows (span many subagents)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/effort ultracode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Pro and Max subscribers can use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has Dynamic Workflows "ON" by default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requires Opus 4.8 or 4.7 and won't appear on Sonnet 4.6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June 15th, terminal sessions (Claude Code CLI) remain unaffected, but headless use via "claude -p" draws from the new Agent SDK credit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Beware: ultracode carries no spending cap and can exhaust your session budget extremely quickly.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5725" y="472025"/>
            <a:ext cx="3353399" cy="1230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" name="Google Shape;111;p19"/>
          <p:cNvSpPr txBox="1"/>
          <p:nvPr/>
        </p:nvSpPr>
        <p:spPr>
          <a:xfrm>
            <a:off x="81775" y="2969475"/>
            <a:ext cx="5518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Ultracode = xhigh reasoning + Dynamic Workflows</a:t>
            </a:r>
            <a:endParaRPr sz="17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5912125" y="2293150"/>
            <a:ext cx="30006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Starting June 22, 2026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Fable 5 will be removed from monthly subscriptions. It iwll be only available via credits at API token pricing.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148275" y="548225"/>
            <a:ext cx="44097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employees' about AI vs Human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"On days where everything works well, I can't help but think nothing I do matters, everything is automated and better and faster than I ever will be," they said.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"But then there are days where everything breaks and I don't understand why and I realize I have no idea what I've been up to anymore," the employee added.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employee accounts included one worker who said they had not written any code themselves in about five months, and another who predicted that AI-generated code would outperform human-written code within a year.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148275" y="3251975"/>
            <a:ext cx="44097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Partner Hub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Backed by a $100 Mln investment in partner training, technical support, ...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powered by Euler - a Partner Relationship Management (PRM)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https://partnerhub.anthropic.com/signin/anthropic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https://www.anthropic.com/news/services-track-partner-hub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148038" y="1654250"/>
            <a:ext cx="34287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added a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Tiered Services Track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and the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Partner Hub portal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June 1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There are three (3) tiers are based on measurable deployments, not company size: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20"/>
          <p:cNvGraphicFramePr/>
          <p:nvPr/>
        </p:nvGraphicFramePr>
        <p:xfrm>
          <a:off x="5413588" y="249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80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Certified Practitioners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Deployed Customers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Stories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Preferred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Premier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100+ (3+ regions)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15+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" name="Google Shape;122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5500" y="3458875"/>
            <a:ext cx="1375075" cy="16372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179326" y="478350"/>
            <a:ext cx="4917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these 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6.88K subscribers, 290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650" y="80363"/>
            <a:ext cx="2541900" cy="4982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148275" y="548225"/>
            <a:ext cx="44097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SpaceX IPO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555.6M shares at $135 each - raising $75B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Trading set to begin Friday on Nasdaq as SPCX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book was four times oversubscribed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Synthetic exposure on Hyperliquid is already pricing SPCX at $167 (a classic ~20% pop), giving underwriters the option to release another 83.3M shares for ~$11B more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Musk becomes the world's likely first trillionaire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475" y="548225"/>
            <a:ext cx="2248238" cy="1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148275" y="548225"/>
            <a:ext cx="44097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held its WWDC 2026 keynote Monday June 8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redesigned Siri powered by Google Gemini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also unveiled iOS 27, compatible with iPhone 11 and newer, featuring significant performance improvements, Liquid Glass design refinements with new customization options, and expanded Apple Intelligence capabilities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macOS 27 officially drops Intel Mac support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other platforms - iPadOS, watchOS, tvOS, and visionOS -  received "27" updates as well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keynote also marked CEO Tim Cook's final WWDC appearance, as he plans to hand leadership to hardware chief John Ternus in September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148275" y="2937375"/>
            <a:ext cx="44097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Pentagon adds Alibaba, Baidu and BYD to military blacklist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added nearly 200 other Chinese companies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bars listed companies from U.S. defense contracts, complicates access to U.S. capital markets, and signals serious risk to investors and American business partners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2750" y="2700150"/>
            <a:ext cx="2098325" cy="1179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" name="Google Shape;144;p23"/>
          <p:cNvSpPr txBox="1"/>
          <p:nvPr/>
        </p:nvSpPr>
        <p:spPr>
          <a:xfrm>
            <a:off x="148275" y="4033525"/>
            <a:ext cx="44097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DiffusionGemma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26B MoE Open Model Using Text Diffusion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4x Faster Generation, 1K tok/sec on Nvidia H100 at 4b FP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0375" y="4031775"/>
            <a:ext cx="2527500" cy="5320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6" name="Google Shape;146;p23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2749" y="179950"/>
            <a:ext cx="1501025" cy="1947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81775" y="534150"/>
            <a:ext cx="44097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Eli Lilly and Company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https://www.lilly.com/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founded in 1876 by Colonel Eli Lilly in Indianapolis, Indiana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150-year-old pharmaceutical giant employing over 50K people with a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~$1 Trillion market cap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 for GLP-1 blockbusters Mounjaro and Zepbound, Lilly is rapidly repositioning as an AI-powered drug discovery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TuneLab initiative (tunelab.lilly.com) gives biotech startups access to AI/ML models trained on Lilly's vast proprietary research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partnerships include </a:t>
            </a: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Nvidia (1,000 Blackwell GPUs), Google DeepMind's Isomorphic Labs (AlphaFold), and a $2.8B deal with Insilico Medicine</a:t>
            </a:r>
            <a:endParaRPr sz="12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core moat: 150 years of irreplaceable proprietary metabolic disease data covering diabetes and obesity that no public-data-trained AI model can replicate.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075" y="534150"/>
            <a:ext cx="2343150" cy="1409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81775" y="67675"/>
            <a:ext cx="2118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an Agent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3687900" y="238875"/>
            <a:ext cx="756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4610100" y="650355"/>
            <a:ext cx="756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25"/>
          <p:cNvGraphicFramePr/>
          <p:nvPr/>
        </p:nvGraphicFramePr>
        <p:xfrm>
          <a:off x="81775" y="52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8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/ Project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is (role)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 (personal-use angle)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OpenClaw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personal AI assistant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runs on your devices, uses Telegram, WhatsApp, etc.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Zero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agentic computer assistant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agent that runs on its own OS, uses/creates tools, self-corrects, and can be specialized as a personal assistant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CrewAI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Multi-agent “crew” for workflows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platform - define agents that collaborate; often used as personal “teams” for research and ops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Hermes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general-purpose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Listed among top open-source agents for autonomous workflows; can be adapted as a personal digital employee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OpenDevin / Devon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software dev “AI engineer”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coding agent; can act as a personal dev assistant handling tickets and PRs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AutoGPT (modern forks)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task-running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 open-source autonomous agent you can configure as a personal concierge, though still prone to drift without careful constraints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Interpreter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computer control / assistant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Lets an LLM act as a “local operator” on your machine; good base for a sysadmin / research personal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Jarvis-type agents (various repos)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general assistant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OSS “Jarvis” projects listed in open-source agent roundups; typically positioned as always-on personal helpers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Blinky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Debugging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 debugging agent that feels like a specialized engineering coworker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VoltAgent / Volt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TypeScript agent framework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OSS framework; example agents include personal assistants operating across local/cloud resources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Rowboat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dev tool with MCP/RAG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as a dev platform, but you can spin up a persistent assistant agent with tools (email, docs, etc.)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n8n + LLM agent nodes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Workflow + agent hybrid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automation tool that, combined with agent nodes, can function like a digital employee across SaaS apps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62" name="Google Shape;162;p25"/>
          <p:cNvGraphicFramePr/>
          <p:nvPr/>
        </p:nvGraphicFramePr>
        <p:xfrm>
          <a:off x="4610100" y="93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92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/ Product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is (role)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 (personal/digital employee angle)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Abacus DeepAgent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top‑tier general‑purpose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“AI super assistant” for professionals and enterprises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Marblism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/ ops digital worker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Reported as useful for ongoing admin and content tasks; better for repetitive, well-scoped work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DigitalEmployees.io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“Digital employees” for business processes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platform that sells pre-built digital workers as team members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WorkFusion AI Agents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Pre-built AI “digital employees”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 framed explicitly as digital employees embedded into back-office workflows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Workforce agents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Enterprise digital coworkers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AI agents offered as digital workers for process automation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DataRobot digital coworkers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agents in enterprise context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Positioned as digital coworkers that learn org context and support teams.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datarobot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Doozer 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worker platform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Listed as a top digital worker product; oriented toward business workflows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XAgent (commercial flavor)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General-purpose autonomous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Featured among top digital worker tools; acts like a higher-autonomy assistant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Sintra 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Ops / back-office digital worker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digital worker for repetitive knowledge work.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AiNGEL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worker / assistant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tasks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MSFT 365 Copilot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Role‑specific agents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Primarily enterprise; also M365 Copilot licenses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Gemini Spark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AI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(AI Ultra subscribers) + some business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Perplexity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research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consumer and pro tiers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9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Perplexity Computer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General‑purpose agent orchestrator / workspace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 users and teams (pro/enterprise)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2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Salesforce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 in CRM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Enterprise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2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IBM watsonx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Enterprise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163" name="Google Shape;163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728" y="81180"/>
            <a:ext cx="706548" cy="772261"/>
          </a:xfrm>
          <a:prstGeom prst="rect">
            <a:avLst/>
          </a:prstGeom>
          <a:noFill/>
          <a:ln w="15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4367" y="81194"/>
            <a:ext cx="1379038" cy="772261"/>
          </a:xfrm>
          <a:prstGeom prst="rect">
            <a:avLst/>
          </a:prstGeom>
          <a:noFill/>
          <a:ln w="15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/>
        </p:nvSpPr>
        <p:spPr>
          <a:xfrm>
            <a:off x="81775" y="67675"/>
            <a:ext cx="2118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a Harness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26"/>
          <p:cNvGraphicFramePr/>
          <p:nvPr/>
        </p:nvGraphicFramePr>
        <p:xfrm>
          <a:off x="81775" y="48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102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/ Category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OpenCode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coding agent / harness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 terminal/IDE/desktop agent; BYO model or use included free models.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Archon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Harness builder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YAML-defined harness workflows; runs via CLI/Web/Slack/GitHub.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Harness (Max)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 harness building blocks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 building blocks for creating custom coding harnesses.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OpenHarness (HKU DS)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agent harness framework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implementation modeling production-style AI agents and harness patterns.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Awesome Harness Engineering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Curated list / meta-resource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Awesome-list of harness tools, patterns, evals, MCP, permissions, observability.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Aider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Terminal / editor harness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FOSS CLI coding agent using git diffs; supports many providers and local models.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 / JetBrains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extension acting as an agent harness over LLMs and tools.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Continue.dev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 / JetBrains extension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FOSS IDE assistant; can act agentically over your codebase.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 (legacy)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 multi-agent harness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Historically open; local multi-agent harness for local models; likely in maintenance mode.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multi-agent harness (FOSS)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 multi-agent harness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FOSS harness to run local CLI agents (Claude Code–like, Codex-style, etc.).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A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1" name="Google Shape;171;p26"/>
          <p:cNvGraphicFramePr/>
          <p:nvPr/>
        </p:nvGraphicFramePr>
        <p:xfrm>
          <a:off x="4610100" y="2001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117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/ Category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Code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Agentic coding harness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Anthropic’s first‑party harness (planning, tools, multi-step edits).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Cursor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 + multi-model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IDE with strong agentic coding and workflow orchestration.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Replit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Browser IDE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Replit’s cloud IDE agent experience.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Q Developer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 assistant /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developer assistant with agent-like flows.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Copilot (Chat/Workspace)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IDE/Cloud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Workspace/Agents features approximate a coding harness around repos.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Windsurf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IDE with structured agentic coding.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CLI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 coding assistant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Google’s CLI with some harness-like flows when wired to tools.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2" name="Google Shape;172;p26"/>
          <p:cNvSpPr txBox="1"/>
          <p:nvPr/>
        </p:nvSpPr>
        <p:spPr>
          <a:xfrm>
            <a:off x="3687900" y="238875"/>
            <a:ext cx="756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610100" y="1732395"/>
            <a:ext cx="756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025" y="123375"/>
            <a:ext cx="2628900" cy="1743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81775" y="67675"/>
            <a:ext cx="440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make a harness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81775" y="472025"/>
            <a:ext cx="4409400" cy="423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Harness Engineering - by Mehdi Allahyari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Harness - execution environment, safety rails, and feedback loops around an LLM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Reliable agents come not from bigger models but from better infrastructure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LLM = car engine, Harness = chassis, brakes, and steering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harness typically provides an execution loop, context compaction, a secure sandbox, lifecycle hooks, and human-in-the-loop gates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Feedforward controls (configs), feedback controls (self-correction)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Tuning the harness beats upgrading the model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https://substack.com/home/post/p-200045389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Five architectural pillars: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State Controller maintaining durable conversation history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Tool Registry validating and dispatching tool calls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 Execution Sandbox isolating commands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Middleware hooks intercepting calls before and after execution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Boundary Controls enforcing hard limits like iteration caps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Example - in python using Anthropic API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Errors become structured feedback rather than crashes, letting the model self-correct while guaranteed termination keeps the system safe to run unsupervised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https://mlnotes.substack.com/p/inside-the-machine-the-anatomy-of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Part 3 will cover sandboxing and execution security.</a:t>
            </a:r>
            <a:endParaRPr sz="1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950" y="472025"/>
            <a:ext cx="1189125" cy="11891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81775" y="67675"/>
            <a:ext cx="3064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Detection - and AI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81775" y="472025"/>
            <a:ext cx="43602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Most fraud detection today runs on classical ML - Isolation Forest, XGBoost - plus good feature engineering and rules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Deep Learning or LLMs have narrow use cases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documents, images - and adversarial LLM-generated attacks</a:t>
            </a:r>
            <a:endParaRPr sz="1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81775" y="1271361"/>
            <a:ext cx="43602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Rules - deterministic, hand-written logic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Velocity checks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block if &gt;N transactions in T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Amount thresholds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flag big transactions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Geo-blocking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deny from specific countries or IPs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Blacklists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match against known bad accts, cards, devices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Time-of-day rules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flag outside normal business hours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Card-not-present rules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apply stricter checks for online vs. in-person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4632650" y="204963"/>
            <a:ext cx="43602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Modern AI - LLM/deep learning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LLM-based document analysis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— understanding free-text insurance claims, loan applications, or support tickets for deceptive language; requires semantic understanding, not just features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200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Multimodal forgery detection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combining vision + language models to detect forged IDs, manipulated invoices, or deepfake KYC (Know Your Customer) videos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LLM-generated attack detection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defending against AI-written phishing emails or synthetic identity narratives requires a model that understands language at the same level the attacker used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Conversational fraud probing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an LLM agent asks follow-up questions during onboarding and detects inconsistencies in answers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81775" y="2821235"/>
            <a:ext cx="43602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Classical / Adaptive ML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Isolation Forest, Random Cut Forest (AWS), One-Class SVM, Classifiers - Logistic Regression, Random Forest, XGBoost, LightGBM, etc, Clustering (K-Means / DBSCAN), Autoencoders (high reconstruction error = likely fraud ), Recurrent Neural Networks (RNNs / LSTMs) - detect unusual temporal patterns; Graph algorithms (PageRank, Louvain) - detect fraud rings and money laundering networks from account relationship graphs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1400" y="2776875"/>
            <a:ext cx="4360200" cy="211742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81775" y="472025"/>
            <a:ext cx="5473800" cy="235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Stateful Swarms: How Persistent Memory Beats Traditional Agent Architectures</a:t>
            </a:r>
            <a:br>
              <a:rPr lang="en" sz="800"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https://www.artificialintelligencemadesimple.com/p/stateful-swarms-how-persistent-memory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Stateful Swarms is an agentic architecture that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replaces long-context prompts and stateless multi-agent chains with a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persistent “blackboard” memory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shared by specialized workers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Agents read from and write to an append-only, typed knowledge base with provenance, so documents are read once and then queried cheaply and repeatedly instead of being reprocessed each run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the 1,251-task Harvey Legal Agent Benchmark, this design achieved 17.75% strict all-pass at about $1.30 per task, versus Harvey’s 10.4% at roughly $50.90, yielding about 39x cost reduction using the same Gemini models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paper argues that persistent state, auditability, and structured coordination matter more than raw model scale for scalable knowledge 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3579875" y="2985725"/>
            <a:ext cx="54738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Arena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https://arena.ai/leaderboard/agent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live, crowdsourced leaderboard ranking AI models on real-world agentic tool use across 455K+ sessions, currently led by Claude Opus 4.7 and GPT 5.5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docs.factory.ai/benchmarks/agent-arena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uses Elo-based crowdsourced voting to compare coding agents on complex autonomous tasks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microsoft.github.io/WindowsAgentArena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benchmarks multimodal desktop agents on 150+ Windows OS tasks, with the best agent reaching only 19.5% vs. 74.5% human success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arena.xlang.ai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XLang Lab's Computer Agent Arena - open platform for evaluating computer-use agents on real desktop tasks across Windows and Ubuntu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8450" y="798538"/>
            <a:ext cx="26860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3850" y="3210725"/>
            <a:ext cx="2857500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81775" y="469575"/>
            <a:ext cx="44217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Dreambeans app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Processes your data overnight while you sleep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Creates 10-14 "beans" - curated personalied story cards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for you based on your data and photos, illustrated with AI-generated artwork, detects people or places from your Photos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925" y="245700"/>
            <a:ext cx="2857500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8" name="Google Shape;208;p30"/>
          <p:cNvSpPr txBox="1"/>
          <p:nvPr/>
        </p:nvSpPr>
        <p:spPr>
          <a:xfrm>
            <a:off x="81775" y="1957425"/>
            <a:ext cx="44217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Linus Torvalds on AI’s Flood of Bugs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https://www.youtube.com/watch?v=4_x0USuQ9Ss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More commits (20% increase)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Love/hate; pain points for the maintenance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Influx of duplicate bug reports overwhelming the mailing list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 can reverse-engineer bug fixes into exploits, maintaining secrecy is no longer effective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Frustration with companies that create branding and logos for bugs, publicizing them for fame before providing patches or allowing maintainers time to address the issues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Positive about the integration of AI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5875" y="1998300"/>
            <a:ext cx="4335724" cy="196844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in Snowflake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81775" y="419100"/>
            <a:ext cx="4956000" cy="418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Snowflake Cortex - use LLMs and ML models inside Snowflake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https://docs.snowflake.com/en/guides-overview-ai-features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https://www.snowflake.com/en/product/features/cortex/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https://www.snowflake.com/en/product/ai/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https://www.snowflake.com/en/blog/integrated-developer-environment-ai/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AISQL -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Cortex AI Functions - call LLMs directly from SQL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to summarize, classify, translate, or extract from text, images, and audio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Cortex Analyst - natural language to SQL conversion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Cortex Agents - multi-step reasoning across structured and unstructured data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Cortex Search - RAG-style semantic search over your Snowflake data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Cortex Fine-tuning - fine-tune select models on your own data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Snowflake CoCo (formerly Cortex Code)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AI coding agent within Snowsight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Snowflake CoWork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- a personal work agent - query data, run deep research, and act in Slack, Gmail, Jira, and Salesforce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Snowflake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Cortex can use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various LLMs - Claude, Meta Llama, Mistral, Snowflake's own Arctic LLM, and various task-specific models for translation, summarization, sentiment analysis, and document processing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MCP servers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making Snowflake a data backend for your own agents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Snowflake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Cortex Code CLI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- with MCP and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ACP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(Agent Client Protocol) support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Snowflake ML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traditional ML models (forecasting, classification, etc.) using a feature store, model registry, and framework connectors for popular libraries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runs inside Snowflake's governance perimeter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. Your data is never used to train shared models and is not accessible to other customers. Standard RBAC, data masking, and row-level policies apply to AI features just like regular data access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Snowflake has 9K employees and current valuation is ~ 82-88 Bln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0175" y="491075"/>
            <a:ext cx="25717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70092" y="247862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81775" y="67675"/>
            <a:ext cx="4032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Databricks at $165B  Valuation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81775" y="419100"/>
            <a:ext cx="5404500" cy="425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Databricks in talks for funding at $165 billion valuation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Databricks was founded in 2013 by seven researchers from UC Berkeley's AMPLab, the same team that created Apache Spark in 2009 to fix Hadoop MapReduce's slowness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has introduced in-memory distributed computing with high-level APIs in Scala and Python, making big data processing dramatically faster and more accessible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Databricks commercialized Spark by offering managed clusters, collaborative notebooks, and a unified platform for batch and streaming workloads using distributed DataFrames as the core abstraction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 2019, Databricks introduced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Delta Lake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- an open-source storage layer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built on top of Parquet files that adds ACID transactions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, versioning, and reliable metadata handling to data lakes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This "lakehouse" architecture merges the flexibility of data lakes with the reliability of data warehouses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Today, Databricks has expanded deeply into AI: it hosts MLflow for experiment tracking, supports LLM fine-tuning, integrates models from OpenAI and Anthropic, and recently launched Agent Bricks for production-scale AI agent development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https://en.wikipedia.org/wiki/Databricks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 - 10K employees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https://www.databricks.com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Databricks has robust SQL support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Databricks has a multi-layer security model with full RBAC and fine-grained data visibility controls (RBAC - Role-Based Access Control - GRANT / REVOKE SQL statements on catalogs, schemas, and tables; Row-level security (RLS) — filter rows based on the querying user's identity; Column-level security — mask or restrict access to specific columns; ABAC (Attribute-Based Access Control) — dynamic policies based on user attributes, currently in private preview; Audit logs and data lineage — track who queried what and when).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9325" y="419100"/>
            <a:ext cx="2788950" cy="46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/>
        </p:nvSpPr>
        <p:spPr>
          <a:xfrm>
            <a:off x="5562600" y="1188700"/>
            <a:ext cx="3497700" cy="171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Snowflake vs Databricks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Pick Snowflake if you mostly doing SQL and run BI dashboards and reports from structured or semi-structured data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Pick Databricks if you need serious ML, LLM fine-tuning, or AI agent pipelines; if you work with streaming data or mixed data types (logs, unstructured text, etc.); if you want open formats (no lock-in) and multi-language flexibility with Python/Scala; when you do complex data transformations at scale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/>
        </p:nvSpPr>
        <p:spPr>
          <a:xfrm>
            <a:off x="81775" y="67675"/>
            <a:ext cx="3608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agent workflow pipeline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33"/>
          <p:cNvGraphicFramePr/>
          <p:nvPr/>
        </p:nvGraphicFramePr>
        <p:xfrm>
          <a:off x="675850" y="446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{39505C9D-7F8A-4720-BC70-9458E3D3C76F}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Agent Framework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https://github.com/microsoft/agent-framework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source, v1.0 April 2026; replaced AutoGen github+1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Power Automate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https://powerautomate.microsoft.com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Zapier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https://zapier.com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 (Integromat)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https://www.make.com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https://www.langchain.com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Node-RED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https://nodered.org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n8n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https://n8n.io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 / cloud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AutoGen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https://microsoft.github.io/autogen/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Superseded by Agent Framework; maintenance-only linkedin+1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LlamaIndex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https://www.llamaindex.ai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CrewAI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https://www.crewai.com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FlowiseAI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https://flowiseai.com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Langflow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https://www.langflow.org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LangGraph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https://langchain-ai.github.io/langgraph/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Haystack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https://haystack.deepset.ai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Activepieces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https://www.activepieces.com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StackStorm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https://stackstorm.com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SuperAGI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https://superagi.com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Huginn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https://github.com/huginn/huginn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https://relevance.ai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Letta (formerly MemGPT)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https://www.letta.com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Rebranded Sep 2024 letta+1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Latenode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https://latenode.com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Relay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https://relay.app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Lindy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https://www.lindy.ai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Gumloop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https://www.gumloop.com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open source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getmaxim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Dify (add)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https://dify.ai (GitHub: https://github.com/langgenius/dify)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source, visual canvas, very popular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github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Rivet (add)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https://github.com/Ironclad/rivet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 desktop node-based AI builder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github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Windmill (add)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https://www.windmill.dev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source, self-hostable, multi-language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windmill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10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Agent Builder (add)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https://platform.openai.com/agents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 drag-and-drop, MCP support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reddit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/>
        </p:nvSpPr>
        <p:spPr>
          <a:xfrm>
            <a:off x="81775" y="67675"/>
            <a:ext cx="4032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Samwer Brothers Copy-Cats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81775" y="419100"/>
            <a:ext cx="5404500" cy="4174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Samwer brothers - Multi-Billion Copy-cats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3 brothers from Germany - have built a Multi-Billion Empire using the following copy-cat strategy: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Find a hot U.S. startup, 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Copy it fast, 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Launch it in Europe, 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Sell it to the original company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1999 - cloned eBay as Alando, sold to eBay just 100 days later for $43M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2004 they built Jamba!, a mobile content platform, sold to Verisign for $273M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2007, they founded Rocket Internet to do this cloning massively, for example: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CityDeal - sold to Groupon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Zalando (IPO valued at €5.3B)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Lazada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Jumia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Foodpanda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... and dozens more across over 50 countries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Rocket Internet itself went public in 2014 at a €6.5 Bln valuation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Today, each brother is worth over $1 billion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https://en.wikipedia.org/wiki/Rocket_Internet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Wildest Part - the original companies (like eBay, Groupon, or Airbnb) were grateful, because the Samwer brothers were basically doing their international expansion for them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https://stories.byburk.net/how-three-brothers-made-billions-by-shamelessly-copying-ideas-6ab866cd420c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2469" y="419100"/>
            <a:ext cx="3275604" cy="1711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9" name="Google Shape;239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050" y="2345700"/>
            <a:ext cx="3236025" cy="11044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/>
        </p:nvSpPr>
        <p:spPr>
          <a:xfrm>
            <a:off x="81775" y="53350"/>
            <a:ext cx="2318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Jobs by demand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81775" y="419100"/>
            <a:ext cx="35607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1. AI Engineer / Applied AI Engineer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2. Machine Learning Engineer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3. MLOps Engineer / ML Platform Engineer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4. AI Solutions Architect / AI Architect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5. Data Scientist (AI/ML‑focused)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6. Agentic AI / AI Agent Engineer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 AI Product Manager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8. Generative AI / LLM Engineer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9. AI Security / AI Safety Engineer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10. AI Data Engineer / Data Platform Engineer (for AI)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11. AI Research Scientist / Research Engineer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12. Prompt Engineer / Prompt &amp; Workflow Designer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 Chief AI Officer (CAIO) / Head of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3779575" y="281925"/>
            <a:ext cx="4449900" cy="352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average AI‑focused roles pay more than "regular"  software engineering roles at the same level and company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Levels.fyi data: AI‑focused software engineers earn about 8–12.5% more than non‑AI peers at the same internal level, with roughly a 10% premium persisting even at staff level.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Multiple salary guides report AI/ML engineers earning 10–20% more than general software engineers, especially in US tech hubs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Example ranges: entry‑level software engineers often see 85k–105k base in the US, while entry‑level AI engineers commonly start around 100k–120k, with total comp 130k–160k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Recent guides put the median US AI engineer base around 130k+, not counting equity and bonuses, reinforcing that AI roles sit at the high end of the SWE spectrum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premium tends to grow with specialization (LLMs, generative models, MLOps, infra/agentic systems) and at companies where AI is core business, but you still see overlap: a top‑tier infra SWE in FAANG‑ish environments can match or exceed many generic "AI engineer" roles.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FAANG = Facebook, Apple, Amazon, Netflix, and Google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5680000" y="3747763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118K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June 12,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5422950" y="5312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151,801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(931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463343"/>
            <a:ext cx="4950374" cy="264283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6" name="Google Shape;256;p3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3169309"/>
            <a:ext cx="5506550" cy="19116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7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7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5475</Words>
  <Application>Microsoft Macintosh PowerPoint</Application>
  <PresentationFormat>On-screen Show (16:9)</PresentationFormat>
  <Paragraphs>731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Roboto Mono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2026-06-12T17:56:20Z</dcterms:modified>
</cp:coreProperties>
</file>