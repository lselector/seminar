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Roboto Mono" pitchFamily="49"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D7F663-43AE-48BF-9A52-61F2355A3AD8}">
  <a:tblStyle styleId="{08D7F663-43AE-48BF-9A52-61F2355A3AD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p:cViewPr varScale="1">
        <p:scale>
          <a:sx n="124" d="100"/>
          <a:sy n="124"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cc01bf30ee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g3cc01bf30ee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97a5e6eeb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g397a5e6eeb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d91c5911b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g3d91c5911b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9707f81eb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g39707f81ebc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979a9f740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g3979a9f740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979a9f7400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g3979a9f7400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97672b39b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g397672b39b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97675c108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g397675c108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d71dcb15e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g3d71dcb15e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976f00a20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3976f00a20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d91f7ab8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g3d91f7ab8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97a9882bac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g397a9882bac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d91c5911b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g3d91c5911b9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d91c5911b9_1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3d91c5911b9_1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docs.x.ai/developers/models/grok-4.20-beta-0309-reasoning" TargetMode="External"/><Relationship Id="rId39" Type="http://schemas.openxmlformats.org/officeDocument/2006/relationships/hyperlink" Target="https://www.anthropic.com/news/claude-opus-4-1" TargetMode="External"/><Relationship Id="rId21" Type="http://schemas.openxmlformats.org/officeDocument/2006/relationships/hyperlink" Target="https://blog.google/innovation-and-ai/models-and-research/gemini-models/gemini-3-1-pro/" TargetMode="External"/><Relationship Id="rId34" Type="http://schemas.openxmlformats.org/officeDocument/2006/relationships/hyperlink" Target="https://api-docs.deepseek.com/news/news260424"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platform.openai.com/docs/models/gpt-5.4" TargetMode="External"/><Relationship Id="rId33" Type="http://schemas.openxmlformats.org/officeDocument/2006/relationships/hyperlink" Target="https://qwen.ai/blog?id=qwen3.5-max-preview" TargetMode="External"/><Relationship Id="rId38" Type="http://schemas.openxmlformats.org/officeDocument/2006/relationships/hyperlink" Target="https://www.kimi.com/blog/kimi-k2-6"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www.anthropic.com/news/claude-opus-4-6" TargetMode="External"/><Relationship Id="rId29" Type="http://schemas.openxmlformats.org/officeDocument/2006/relationships/hyperlink" Target="https://blog.google/products/gemini/gemini-3-flash"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grok.com/" TargetMode="External"/><Relationship Id="rId32" Type="http://schemas.openxmlformats.org/officeDocument/2006/relationships/hyperlink" Target="https://x.ai/news/grok-4-1" TargetMode="External"/><Relationship Id="rId37" Type="http://schemas.openxmlformats.org/officeDocument/2006/relationships/hyperlink" Target="https://www.anthropic.com/news/claude-sonnet-4-5" TargetMode="External"/><Relationship Id="rId40" Type="http://schemas.openxmlformats.org/officeDocument/2006/relationships/hyperlink" Target="https://www.kimi.com/blog/kimi-k2-5.html"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aistudio.google.com/app/prompts/new_chat?model=gemini-3-pro-preview" TargetMode="External"/><Relationship Id="rId28" Type="http://schemas.openxmlformats.org/officeDocument/2006/relationships/hyperlink" Target="https://docs.x.ai/developers/models/grok-4.20-multi-agent-beta-0309" TargetMode="External"/><Relationship Id="rId36" Type="http://schemas.openxmlformats.org/officeDocument/2006/relationships/hyperlink" Target="https://www.byteplus.com/en/blog/dola-seed-2-0-pro"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7" TargetMode="External"/><Relationship Id="rId31" Type="http://schemas.openxmlformats.org/officeDocument/2006/relationships/hyperlink" Target="https://huggingface.co/zai-org/GLM-5.1"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ai.meta.com/blog/introducing-muse-spark-msl/" TargetMode="External"/><Relationship Id="rId27" Type="http://schemas.openxmlformats.org/officeDocument/2006/relationships/hyperlink" Target="https://developers.openai.com/api/docs/models/gpt-5.2-chat-latest" TargetMode="External"/><Relationship Id="rId30" Type="http://schemas.openxmlformats.org/officeDocument/2006/relationships/hyperlink" Target="https://www.anthropic.com/news/claude-opus-4-5" TargetMode="External"/><Relationship Id="rId35" Type="http://schemas.openxmlformats.org/officeDocument/2006/relationships/hyperlink" Target="https://www.anthropic.com/news/claude-sonnet-4-6"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s6H4QF5K9MM"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hyperlink" Target="https://api-docs.deepseek.com/news/news260424"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huggingface.co/deepseek-ai/DeepSeek-V4-Pro/resolve/main/DeepSeek_V4.pdf"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XG3ksRWsUJ8" TargetMode="External"/><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www.journeychat.ai" TargetMode="External"/><Relationship Id="rId5" Type="http://schemas.openxmlformats.org/officeDocument/2006/relationships/hyperlink" Target="https://www.youtube.com/watch?v=JyvKwKMS6SU" TargetMode="Externa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hyperlink" Target="https://www.anthropic.com/news/claude-design-anthropic-lab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zgNvts_2TUE"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jpe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hyperlink" Target="https://x.com/HowToAI_/status/2045749883773333717"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0" y="1022350"/>
            <a:ext cx="43302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Crowd-sourced "LM Arena" Leaderboard</a:t>
            </a:r>
            <a:endParaRPr sz="1800" b="1">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GPT-5.5 Released</a:t>
            </a:r>
            <a:endParaRPr sz="1800" b="1">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DeepSeek V4 Preview</a:t>
            </a:r>
            <a:endParaRPr sz="1800" b="1">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Custor AI - Agent-first coding</a:t>
            </a:r>
            <a:endParaRPr sz="1800" b="1">
              <a:solidFill>
                <a:srgbClr val="3C78D8"/>
              </a:solidFill>
              <a:latin typeface="Calibri"/>
              <a:ea typeface="Calibri"/>
              <a:cs typeface="Calibri"/>
              <a:sym typeface="Calibri"/>
            </a:endParaRPr>
          </a:p>
        </p:txBody>
      </p:sp>
      <p:sp>
        <p:nvSpPr>
          <p:cNvPr id="64" name="Google Shape;64;p15"/>
          <p:cNvSpPr txBox="1"/>
          <p:nvPr/>
        </p:nvSpPr>
        <p:spPr>
          <a:xfrm>
            <a:off x="55167"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Apr 24,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36607" y="1022350"/>
            <a:ext cx="4525800" cy="36204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SaaS with AI on Client Side</a:t>
            </a:r>
            <a:endParaRPr sz="1800" b="1">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4-Steps Development</a:t>
            </a:r>
            <a:endParaRPr sz="1800" b="1">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Matt Berman on Vibe Coding</a:t>
            </a:r>
            <a:endParaRPr sz="1800" b="1">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Matt Berman on Opus 4.7</a:t>
            </a:r>
            <a:endParaRPr sz="1800" b="1">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JourneyChat Agent-to-Agent</a:t>
            </a:r>
            <a:endParaRPr sz="1800" b="1">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Anthropic Claude Design</a:t>
            </a:r>
            <a:endParaRPr sz="1800" b="1">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OpenAI ChatGPT Images 2.0</a:t>
            </a:r>
            <a:endParaRPr sz="1800" b="1">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State of the Claw - Peter Steinberger</a:t>
            </a:r>
            <a:endParaRPr sz="1800" b="1">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Apple CEO Change</a:t>
            </a:r>
            <a:endParaRPr sz="1800" b="1">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New world models</a:t>
            </a:r>
            <a:endParaRPr sz="1800" b="1">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AI Agent Traps - DeepMind Cybersecurity</a:t>
            </a:r>
            <a:endParaRPr sz="1800" b="1">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Kimi K2.6</a:t>
            </a:r>
            <a:endParaRPr sz="1800" b="1">
              <a:solidFill>
                <a:srgbClr val="3C78D8"/>
              </a:solidFill>
              <a:latin typeface="Calibri"/>
              <a:ea typeface="Calibri"/>
              <a:cs typeface="Calibri"/>
              <a:sym typeface="Calibri"/>
            </a:endParaRPr>
          </a:p>
          <a:p>
            <a:pPr marL="228600" marR="0" lvl="0" indent="-228600" algn="l" rtl="0">
              <a:lnSpc>
                <a:spcPct val="100000"/>
              </a:lnSpc>
              <a:spcBef>
                <a:spcPts val="0"/>
              </a:spcBef>
              <a:spcAft>
                <a:spcPts val="0"/>
              </a:spcAft>
              <a:buClr>
                <a:srgbClr val="3C78D8"/>
              </a:buClr>
              <a:buSzPts val="1800"/>
              <a:buFont typeface="Calibri"/>
              <a:buChar char="●"/>
            </a:pPr>
            <a:r>
              <a:rPr lang="en" sz="1800" b="1">
                <a:solidFill>
                  <a:srgbClr val="3C78D8"/>
                </a:solidFill>
                <a:latin typeface="Calibri"/>
                <a:ea typeface="Calibri"/>
                <a:cs typeface="Calibri"/>
                <a:sym typeface="Calibri"/>
              </a:rPr>
              <a:t>Alibaba Qwen 3.6-Max-Preview</a:t>
            </a:r>
            <a:endParaRPr sz="1800" b="1">
              <a:solidFill>
                <a:srgbClr val="3C78D8"/>
              </a:solidFill>
              <a:latin typeface="Calibri"/>
              <a:ea typeface="Calibri"/>
              <a:cs typeface="Calibri"/>
              <a:sym typeface="Calibri"/>
            </a:endParaRPr>
          </a:p>
        </p:txBody>
      </p:sp>
      <p:sp>
        <p:nvSpPr>
          <p:cNvPr id="66" name="Google Shape;66;p15"/>
          <p:cNvSpPr txBox="1"/>
          <p:nvPr/>
        </p:nvSpPr>
        <p:spPr>
          <a:xfrm>
            <a:off x="128600" y="2456950"/>
            <a:ext cx="4230300" cy="2185800"/>
          </a:xfrm>
          <a:prstGeom prst="rect">
            <a:avLst/>
          </a:prstGeom>
          <a:noFill/>
          <a:ln>
            <a:noFill/>
          </a:ln>
        </p:spPr>
        <p:txBody>
          <a:bodyPr spcFirstLastPara="1" wrap="square" lIns="45700" tIns="45700" rIns="45700" bIns="45700" anchor="t" anchorCtr="0">
            <a:spAutoFit/>
          </a:bodyPr>
          <a:lstStyle/>
          <a:p>
            <a:pPr marL="228600" marR="0" lvl="0" indent="-165100" algn="l" rtl="0">
              <a:lnSpc>
                <a:spcPct val="100000"/>
              </a:lnSpc>
              <a:spcBef>
                <a:spcPts val="0"/>
              </a:spcBef>
              <a:spcAft>
                <a:spcPts val="0"/>
              </a:spcAft>
              <a:buClr>
                <a:srgbClr val="3C78D8"/>
              </a:buClr>
              <a:buSzPts val="1700"/>
              <a:buFont typeface="Calibri"/>
              <a:buChar char="●"/>
            </a:pPr>
            <a:r>
              <a:rPr lang="en" sz="1700" b="1" i="1">
                <a:solidFill>
                  <a:srgbClr val="FF0000"/>
                </a:solidFill>
                <a:latin typeface="Calibri"/>
                <a:ea typeface="Calibri"/>
                <a:cs typeface="Calibri"/>
                <a:sym typeface="Calibri"/>
              </a:rPr>
              <a:t>"A week in AI is a year in any other field."</a:t>
            </a:r>
            <a:endParaRPr sz="1700" b="1" i="1">
              <a:solidFill>
                <a:srgbClr val="FF0000"/>
              </a:solidFill>
              <a:latin typeface="Calibri"/>
              <a:ea typeface="Calibri"/>
              <a:cs typeface="Calibri"/>
              <a:sym typeface="Calibri"/>
            </a:endParaRPr>
          </a:p>
          <a:p>
            <a:pPr marL="228600" marR="0" lvl="0" indent="-165100" algn="l" rtl="0">
              <a:lnSpc>
                <a:spcPct val="100000"/>
              </a:lnSpc>
              <a:spcBef>
                <a:spcPts val="0"/>
              </a:spcBef>
              <a:spcAft>
                <a:spcPts val="0"/>
              </a:spcAft>
              <a:buClr>
                <a:srgbClr val="3C78D8"/>
              </a:buClr>
              <a:buSzPts val="1700"/>
              <a:buFont typeface="Calibri"/>
              <a:buChar char="●"/>
            </a:pPr>
            <a:r>
              <a:rPr lang="en" sz="1700" b="1" i="1">
                <a:solidFill>
                  <a:srgbClr val="FF0000"/>
                </a:solidFill>
                <a:latin typeface="Calibri"/>
                <a:ea typeface="Calibri"/>
                <a:cs typeface="Calibri"/>
                <a:sym typeface="Calibri"/>
              </a:rPr>
              <a:t>"The best model is whichever one shipped this morning."</a:t>
            </a:r>
            <a:endParaRPr sz="1700" b="1" i="1">
              <a:solidFill>
                <a:srgbClr val="FF0000"/>
              </a:solidFill>
              <a:latin typeface="Calibri"/>
              <a:ea typeface="Calibri"/>
              <a:cs typeface="Calibri"/>
              <a:sym typeface="Calibri"/>
            </a:endParaRPr>
          </a:p>
          <a:p>
            <a:pPr marL="228600" marR="0" lvl="0" indent="-165100" algn="l" rtl="0">
              <a:lnSpc>
                <a:spcPct val="100000"/>
              </a:lnSpc>
              <a:spcBef>
                <a:spcPts val="0"/>
              </a:spcBef>
              <a:spcAft>
                <a:spcPts val="0"/>
              </a:spcAft>
              <a:buClr>
                <a:srgbClr val="3C78D8"/>
              </a:buClr>
              <a:buSzPts val="1700"/>
              <a:buFont typeface="Calibri"/>
              <a:buChar char="●"/>
            </a:pPr>
            <a:r>
              <a:rPr lang="en" sz="1700" b="1" i="1">
                <a:solidFill>
                  <a:srgbClr val="FF0000"/>
                </a:solidFill>
                <a:latin typeface="Calibri"/>
                <a:ea typeface="Calibri"/>
                <a:cs typeface="Calibri"/>
                <a:sym typeface="Calibri"/>
              </a:rPr>
              <a:t>"We stopped writing code. We started describing it."</a:t>
            </a:r>
            <a:endParaRPr sz="1700" b="1" i="1">
              <a:solidFill>
                <a:srgbClr val="FF0000"/>
              </a:solidFill>
              <a:latin typeface="Calibri"/>
              <a:ea typeface="Calibri"/>
              <a:cs typeface="Calibri"/>
              <a:sym typeface="Calibri"/>
            </a:endParaRPr>
          </a:p>
          <a:p>
            <a:pPr marL="228600" marR="0" lvl="0" indent="-165100" algn="l" rtl="0">
              <a:lnSpc>
                <a:spcPct val="100000"/>
              </a:lnSpc>
              <a:spcBef>
                <a:spcPts val="0"/>
              </a:spcBef>
              <a:spcAft>
                <a:spcPts val="0"/>
              </a:spcAft>
              <a:buClr>
                <a:srgbClr val="3C78D8"/>
              </a:buClr>
              <a:buSzPts val="1700"/>
              <a:buFont typeface="Calibri"/>
              <a:buChar char="●"/>
            </a:pPr>
            <a:r>
              <a:rPr lang="en" sz="1700" b="1" i="1">
                <a:solidFill>
                  <a:srgbClr val="FF0000"/>
                </a:solidFill>
                <a:latin typeface="Calibri"/>
                <a:ea typeface="Calibri"/>
                <a:cs typeface="Calibri"/>
                <a:sym typeface="Calibri"/>
              </a:rPr>
              <a:t>"The IDE is dead. Long live the task list."</a:t>
            </a:r>
            <a:endParaRPr sz="1700" b="1" i="1">
              <a:solidFill>
                <a:srgbClr val="FF0000"/>
              </a:solidFill>
              <a:latin typeface="Calibri"/>
              <a:ea typeface="Calibri"/>
              <a:cs typeface="Calibri"/>
              <a:sym typeface="Calibri"/>
            </a:endParaRPr>
          </a:p>
          <a:p>
            <a:pPr marL="228600" marR="0" lvl="0" indent="-165100" algn="l" rtl="0">
              <a:lnSpc>
                <a:spcPct val="100000"/>
              </a:lnSpc>
              <a:spcBef>
                <a:spcPts val="0"/>
              </a:spcBef>
              <a:spcAft>
                <a:spcPts val="0"/>
              </a:spcAft>
              <a:buClr>
                <a:srgbClr val="3C78D8"/>
              </a:buClr>
              <a:buSzPts val="1700"/>
              <a:buFont typeface="Calibri"/>
              <a:buChar char="●"/>
            </a:pPr>
            <a:r>
              <a:rPr lang="en" sz="1700" b="1" i="1">
                <a:solidFill>
                  <a:srgbClr val="FF0000"/>
                </a:solidFill>
                <a:latin typeface="Calibri"/>
                <a:ea typeface="Calibri"/>
                <a:cs typeface="Calibri"/>
                <a:sym typeface="Calibri"/>
              </a:rPr>
              <a:t>"One prompt, a thousand tool calls, four thousand lines — and a coffee break."</a:t>
            </a:r>
            <a:endParaRPr sz="1700" b="1" i="1">
              <a:solidFill>
                <a:srgbClr val="FF0000"/>
              </a:solidFill>
              <a:latin typeface="Calibri"/>
              <a:ea typeface="Calibri"/>
              <a:cs typeface="Calibri"/>
              <a:sym typeface="Calibri"/>
            </a:endParaRPr>
          </a:p>
        </p:txBody>
      </p:sp>
      <p:sp>
        <p:nvSpPr>
          <p:cNvPr id="67" name="Google Shape;67;p15"/>
          <p:cNvSpPr txBox="1"/>
          <p:nvPr/>
        </p:nvSpPr>
        <p:spPr>
          <a:xfrm>
            <a:off x="1283071" y="512538"/>
            <a:ext cx="1964400" cy="3879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2400" b="1">
                <a:solidFill>
                  <a:srgbClr val="3C78D8"/>
                </a:solidFill>
                <a:latin typeface="Calibri"/>
                <a:ea typeface="Calibri"/>
                <a:cs typeface="Calibri"/>
                <a:sym typeface="Calibri"/>
              </a:rPr>
              <a:t>Part 1</a:t>
            </a:r>
            <a:endParaRPr sz="2400" b="1">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3" name="Google Shape;73;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4" name="Google Shape;74;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5" name="Google Shape;75;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dirty="0">
                <a:solidFill>
                  <a:srgbClr val="FF0000"/>
                </a:solidFill>
                <a:latin typeface="Calibri"/>
                <a:ea typeface="Calibri"/>
                <a:cs typeface="Calibri"/>
                <a:sym typeface="Calibri"/>
              </a:rPr>
              <a:t>Coding - </a:t>
            </a:r>
            <a:r>
              <a:rPr lang="en" sz="900" b="1" u="sng" dirty="0">
                <a:solidFill>
                  <a:schemeClr val="hlink"/>
                </a:solidFill>
                <a:latin typeface="Calibri"/>
                <a:ea typeface="Calibri"/>
                <a:cs typeface="Calibri"/>
                <a:sym typeface="Calibri"/>
                <a:hlinkClick r:id="rId5"/>
              </a:rPr>
              <a:t>https://lmarena.ai/leaderboard/text/coding</a:t>
            </a:r>
            <a:r>
              <a:rPr lang="en" sz="900" b="1" dirty="0">
                <a:solidFill>
                  <a:srgbClr val="FF0000"/>
                </a:solidFill>
                <a:latin typeface="Calibri"/>
                <a:ea typeface="Calibri"/>
                <a:cs typeface="Calibri"/>
                <a:sym typeface="Calibri"/>
              </a:rPr>
              <a:t>  </a:t>
            </a:r>
            <a:endParaRPr sz="900" b="0" i="0" u="none" strike="noStrike" cap="none" dirty="0">
              <a:solidFill>
                <a:schemeClr val="dk1"/>
              </a:solidFill>
              <a:latin typeface="Calibri"/>
              <a:ea typeface="Calibri"/>
              <a:cs typeface="Calibri"/>
              <a:sym typeface="Calibri"/>
            </a:endParaRPr>
          </a:p>
        </p:txBody>
      </p:sp>
      <p:sp>
        <p:nvSpPr>
          <p:cNvPr id="76" name="Google Shape;76;p16"/>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7" name="Google Shape;77;p16"/>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April 23</a:t>
            </a:r>
            <a:endParaRPr sz="1000">
              <a:latin typeface="Calibri"/>
              <a:ea typeface="Calibri"/>
              <a:cs typeface="Calibri"/>
              <a:sym typeface="Calibri"/>
            </a:endParaRPr>
          </a:p>
        </p:txBody>
      </p:sp>
      <p:sp>
        <p:nvSpPr>
          <p:cNvPr id="78" name="Google Shape;78;p16"/>
          <p:cNvSpPr txBox="1"/>
          <p:nvPr/>
        </p:nvSpPr>
        <p:spPr>
          <a:xfrm>
            <a:off x="7346795" y="608477"/>
            <a:ext cx="1745700" cy="109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deepseek-v3.2  -  671B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deepseek-v4 - 1.6T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ernie-5.0 - 2.4T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glm-5.1 - 744B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kimi-k2.6 - 1T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qwen3.5-397B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MiMo-V2-Pro - 1T+</a:t>
            </a:r>
            <a:endParaRPr sz="1000">
              <a:latin typeface="Calibri"/>
              <a:ea typeface="Calibri"/>
              <a:cs typeface="Calibri"/>
              <a:sym typeface="Calibri"/>
            </a:endParaRPr>
          </a:p>
        </p:txBody>
      </p:sp>
      <p:graphicFrame>
        <p:nvGraphicFramePr>
          <p:cNvPr id="79" name="Google Shape;79;p16"/>
          <p:cNvGraphicFramePr/>
          <p:nvPr/>
        </p:nvGraphicFramePr>
        <p:xfrm>
          <a:off x="5742420" y="430065"/>
          <a:ext cx="804500" cy="571500"/>
        </p:xfrm>
        <a:graphic>
          <a:graphicData uri="http://schemas.openxmlformats.org/drawingml/2006/table">
            <a:tbl>
              <a:tblPr>
                <a:noFill/>
                <a:tableStyleId>{08D7F663-43AE-48BF-9A52-61F2355A3AD8}</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graphicFrame>
        <p:nvGraphicFramePr>
          <p:cNvPr id="80" name="Google Shape;80;p16"/>
          <p:cNvGraphicFramePr/>
          <p:nvPr/>
        </p:nvGraphicFramePr>
        <p:xfrm>
          <a:off x="236418" y="810544"/>
          <a:ext cx="2228850" cy="3907950"/>
        </p:xfrm>
        <a:graphic>
          <a:graphicData uri="http://schemas.openxmlformats.org/drawingml/2006/table">
            <a:tbl>
              <a:tblPr>
                <a:noFill/>
                <a:tableStyleId>{08D7F663-43AE-48BF-9A52-61F2355A3AD8}</a:tableStyleId>
              </a:tblPr>
              <a:tblGrid>
                <a:gridCol w="247650">
                  <a:extLst>
                    <a:ext uri="{9D8B030D-6E8A-4147-A177-3AD203B41FA5}">
                      <a16:colId xmlns:a16="http://schemas.microsoft.com/office/drawing/2014/main" val="20000"/>
                    </a:ext>
                  </a:extLst>
                </a:gridCol>
                <a:gridCol w="1695450">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claude-opus-4-7-thinking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claude-opus-4-7</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muse-spark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grok-4.20-beta1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gpt-5.4-high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grok-4.20-beta-0309-reasoning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grok-4.20-multi-agent-beta-0309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glm-5.1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gpt-5.4</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qwen3.5-max-preview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deepseek-v4-pro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deepseek-v4-pro-thinking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grok-4.1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dola-seed-2.0-pro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1" name="Google Shape;81;p16"/>
          <p:cNvGraphicFramePr/>
          <p:nvPr/>
        </p:nvGraphicFramePr>
        <p:xfrm>
          <a:off x="2984031" y="792366"/>
          <a:ext cx="2314575" cy="3907950"/>
        </p:xfrm>
        <a:graphic>
          <a:graphicData uri="http://schemas.openxmlformats.org/drawingml/2006/table">
            <a:tbl>
              <a:tblPr>
                <a:noFill/>
                <a:tableStyleId>{08D7F663-43AE-48BF-9A52-61F2355A3AD8}</a:tableStyleId>
              </a:tblPr>
              <a:tblGrid>
                <a:gridCol w="247650">
                  <a:extLst>
                    <a:ext uri="{9D8B030D-6E8A-4147-A177-3AD203B41FA5}">
                      <a16:colId xmlns:a16="http://schemas.microsoft.com/office/drawing/2014/main" val="20000"/>
                    </a:ext>
                  </a:extLst>
                </a:gridCol>
                <a:gridCol w="1781175">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claude-opus-4-7-thinking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1572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claude-opus-4-7</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1560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muse-spark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gpt-5.4-high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grok-4.20-beta-0309-reasoning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glm-5.1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grok-4.20-multi-agent-beta-0309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gpt-5.4</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kimi-k2.6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dola-seed-2.0-pro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grok-4.20-beta1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claude-opus-4-1-20250805-thinking-16k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40">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qwen3.5-max-preview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p:nvPr/>
        </p:nvSpPr>
        <p:spPr>
          <a:xfrm>
            <a:off x="81775" y="67675"/>
            <a:ext cx="1927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GPT-5.5 Released</a:t>
            </a:r>
            <a:endParaRPr sz="2000" b="1">
              <a:solidFill>
                <a:schemeClr val="dk1"/>
              </a:solidFill>
              <a:latin typeface="Calibri"/>
              <a:ea typeface="Calibri"/>
              <a:cs typeface="Calibri"/>
              <a:sym typeface="Calibri"/>
            </a:endParaRPr>
          </a:p>
        </p:txBody>
      </p:sp>
      <p:sp>
        <p:nvSpPr>
          <p:cNvPr id="87" name="Google Shape;87;p17"/>
          <p:cNvSpPr txBox="1"/>
          <p:nvPr/>
        </p:nvSpPr>
        <p:spPr>
          <a:xfrm>
            <a:off x="81775" y="623100"/>
            <a:ext cx="43830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GPT-5.5 Released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Improvements in coding speed, token efficiency, and complex problem-solving compared to GPT-5.4</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GPT 5.5 is OpenAI's new frontier model, released in two forms: inside Codex and as GPT 5.5 Pro in ChatGPT. It's available to Plus, Pro, Business, and Enterprise users, with API access coming soon. The model features a 400K context window in Codex and a 1 million token context window overall, priced at $5 per million input tokens and $30 per million output tokens (roughly double GPT 5.4's cost).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Key improvements include stronger agentic coding, better computer use, and enhanced knowledge work capabilities. It matches GPT 5.4's token latency while delivering higher intelligence, and uses significantly fewer tokens for the same tasks, improving efficiency. It has a better, more concise personality, improved visual reasoning for iterating on UI layouts, and stronger performance on terminal bench, browse comp, and frontier math benchmarks. Fast mode runs 1.5x quicker for 2.5x the cost. It also offers multiple thinking settings (medium, high, extra high) and strengthened cybersecurity safeguards.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https://www.youtube.com/watch?v=s6H4QF5K9MM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88" name="Google Shape;88;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491800" y="852675"/>
            <a:ext cx="1927800" cy="708877"/>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p:nvPr/>
        </p:nvSpPr>
        <p:spPr>
          <a:xfrm>
            <a:off x="151275" y="765275"/>
            <a:ext cx="43830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DeepSeek V4 Preview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Officially released and open-sourced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comes in two MoE variants: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V4-Pro, with 1.6 T params, 49B active params</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V4-Flash, with 284 B params, 13B active params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Both models feature a 1 M token context window by default, powered by a novel Token-wise Compression and DeepSeek Sparse Attention (DSA) architecture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V4-Pro leads all open-source models in math, STEM, coding, and world knowledge, rivaling top closed-source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V4-Flash offers near-Pro reasoning at faster speeds and lower cost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Both support Thinking and Non-Thinking modes, and are integrated with agents like Claude Code and OpenClaw.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https://api-docs.deepseek.com/news/news260424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https://huggingface.co/deepseek-ai/DeepSeek-V4-Pro/resolve/main/DeepSeek_V4.pdf</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94" name="Google Shape;94;p18"/>
          <p:cNvSpPr txBox="1"/>
          <p:nvPr/>
        </p:nvSpPr>
        <p:spPr>
          <a:xfrm>
            <a:off x="151275" y="171800"/>
            <a:ext cx="245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DeepSeek V4 Preview</a:t>
            </a:r>
            <a:endParaRPr sz="2000" b="1">
              <a:solidFill>
                <a:schemeClr val="dk1"/>
              </a:solidFill>
              <a:latin typeface="Calibri"/>
              <a:ea typeface="Calibri"/>
              <a:cs typeface="Calibri"/>
              <a:sym typeface="Calibri"/>
            </a:endParaRPr>
          </a:p>
        </p:txBody>
      </p:sp>
      <p:pic>
        <p:nvPicPr>
          <p:cNvPr id="95" name="Google Shape;95;p1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171075" y="765275"/>
            <a:ext cx="3057125" cy="1221250"/>
          </a:xfrm>
          <a:prstGeom prst="rect">
            <a:avLst/>
          </a:prstGeom>
          <a:noFill/>
          <a:ln w="9525" cap="flat" cmpd="sng">
            <a:solidFill>
              <a:srgbClr val="FF0000"/>
            </a:solidFill>
            <a:prstDash val="solid"/>
            <a:round/>
            <a:headEnd type="none" w="sm" len="sm"/>
            <a:tailEnd type="none" w="sm" len="sm"/>
          </a:ln>
        </p:spPr>
      </p:pic>
      <p:sp>
        <p:nvSpPr>
          <p:cNvPr id="96" name="Google Shape;96;p18"/>
          <p:cNvSpPr txBox="1"/>
          <p:nvPr/>
        </p:nvSpPr>
        <p:spPr>
          <a:xfrm>
            <a:off x="151275" y="4071825"/>
            <a:ext cx="4900500" cy="634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ollama run deepseek-v4-flash:cloud</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ollama launch claude --model deepseek-v4-flash:cloud</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ollama launch openclaw --model deepseek-v4-flash:cloud </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ollama launch hermes --model deepseek-v4-flash:cloud </a:t>
            </a:r>
            <a:endParaRPr sz="1000" b="1">
              <a:solidFill>
                <a:srgbClr val="3C78D8"/>
              </a:solidFill>
              <a:latin typeface="Roboto Mono"/>
              <a:ea typeface="Roboto Mono"/>
              <a:cs typeface="Roboto Mono"/>
              <a:sym typeface="Roboto Mon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p:nvPr/>
        </p:nvSpPr>
        <p:spPr>
          <a:xfrm>
            <a:off x="81775" y="67675"/>
            <a:ext cx="3795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Custor AI - Agent-first coding</a:t>
            </a:r>
            <a:endParaRPr sz="2000" b="1">
              <a:solidFill>
                <a:schemeClr val="dk1"/>
              </a:solidFill>
              <a:latin typeface="Calibri"/>
              <a:ea typeface="Calibri"/>
              <a:cs typeface="Calibri"/>
              <a:sym typeface="Calibri"/>
            </a:endParaRPr>
          </a:p>
        </p:txBody>
      </p:sp>
      <p:sp>
        <p:nvSpPr>
          <p:cNvPr id="102" name="Google Shape;102;p19"/>
          <p:cNvSpPr txBox="1"/>
          <p:nvPr/>
        </p:nvSpPr>
        <p:spPr>
          <a:xfrm>
            <a:off x="199250" y="499650"/>
            <a:ext cx="43830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Cursor 3 - has a new Rust-based Agents Window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Progress:</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v.1. - AI tab completion and inline suggestions</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 - Agent-first, with Composer, up to 8 parallel agents</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v.3. - Fleets of autonomous agents, with the developer acting as orchestrator/reviewer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Previous versions of Cursor were built on VS Code, with AI helping you write and edit code directly in the editor. The human was always in the loop, reviewing diffs and accepting suggestions line by line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Cursor 3 changes the primary interface from the code editor to an Agents Window</a:t>
            </a:r>
            <a:r>
              <a:rPr lang="en" sz="1200">
                <a:solidFill>
                  <a:schemeClr val="dk1"/>
                </a:solidFill>
                <a:latin typeface="Calibri"/>
                <a:ea typeface="Calibri"/>
                <a:cs typeface="Calibri"/>
                <a:sym typeface="Calibri"/>
              </a:rPr>
              <a:t>, where you describe a task, spawn an agent, and let it handle the coding autonomously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Multiple agents can run in parallel across different repos, locally or in the cloud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You no longer need to look at the code</a:t>
            </a:r>
            <a:r>
              <a:rPr lang="en" sz="1200">
                <a:solidFill>
                  <a:schemeClr val="dk1"/>
                </a:solidFill>
                <a:latin typeface="Calibri"/>
                <a:ea typeface="Calibri"/>
                <a:cs typeface="Calibri"/>
                <a:sym typeface="Calibri"/>
              </a:rPr>
              <a:t> unless you want to — agents can test their own fixes, generate demos, and submit pull requests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traditional IDE editor is still accessible but is now treated as a secondary option.</a:t>
            </a:r>
            <a:endParaRPr sz="1200">
              <a:solidFill>
                <a:schemeClr val="dk1"/>
              </a:solidFill>
              <a:latin typeface="Calibri"/>
              <a:ea typeface="Calibri"/>
              <a:cs typeface="Calibri"/>
              <a:sym typeface="Calibri"/>
            </a:endParaRPr>
          </a:p>
        </p:txBody>
      </p:sp>
      <p:pic>
        <p:nvPicPr>
          <p:cNvPr id="103" name="Google Shape;103;p1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843250" y="2660974"/>
            <a:ext cx="3576950" cy="1995919"/>
          </a:xfrm>
          <a:prstGeom prst="rect">
            <a:avLst/>
          </a:prstGeom>
          <a:noFill/>
          <a:ln w="9525" cap="flat" cmpd="sng">
            <a:solidFill>
              <a:srgbClr val="FF0000"/>
            </a:solidFill>
            <a:prstDash val="solid"/>
            <a:round/>
            <a:headEnd type="none" w="sm" len="sm"/>
            <a:tailEnd type="none" w="sm" len="sm"/>
          </a:ln>
        </p:spPr>
      </p:pic>
      <p:pic>
        <p:nvPicPr>
          <p:cNvPr id="104" name="Google Shape;104;p19"/>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843250" y="563775"/>
            <a:ext cx="3576950" cy="1968800"/>
          </a:xfrm>
          <a:prstGeom prst="rect">
            <a:avLst/>
          </a:prstGeom>
          <a:noFill/>
          <a:ln w="9525" cap="flat" cmpd="sng">
            <a:solidFill>
              <a:srgbClr val="FF0000"/>
            </a:solidFill>
            <a:prstDash val="solid"/>
            <a:round/>
            <a:headEnd type="none" w="sm" len="sm"/>
            <a:tailEnd type="none" w="sm" len="sm"/>
          </a:ln>
        </p:spPr>
      </p:pic>
      <p:sp>
        <p:nvSpPr>
          <p:cNvPr id="105" name="Google Shape;105;p19"/>
          <p:cNvSpPr txBox="1"/>
          <p:nvPr/>
        </p:nvSpPr>
        <p:spPr>
          <a:xfrm>
            <a:off x="199250" y="4277750"/>
            <a:ext cx="43830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Cursor is working on a $2B Funding Round at $50B valuation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Revenue targets exceed $6B in 2026</a:t>
            </a:r>
            <a:endParaRPr sz="1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6.64K subscribers, 281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11" name="Google Shape;111;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233650" y="80363"/>
            <a:ext cx="2541900" cy="4982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p:nvPr/>
        </p:nvSpPr>
        <p:spPr>
          <a:xfrm>
            <a:off x="81775" y="67675"/>
            <a:ext cx="3795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SaaS with AI on Client Side</a:t>
            </a:r>
            <a:endParaRPr sz="2000" b="1">
              <a:solidFill>
                <a:schemeClr val="dk1"/>
              </a:solidFill>
              <a:latin typeface="Calibri"/>
              <a:ea typeface="Calibri"/>
              <a:cs typeface="Calibri"/>
              <a:sym typeface="Calibri"/>
            </a:endParaRPr>
          </a:p>
        </p:txBody>
      </p:sp>
      <p:sp>
        <p:nvSpPr>
          <p:cNvPr id="117" name="Google Shape;117;p21"/>
          <p:cNvSpPr txBox="1"/>
          <p:nvPr/>
        </p:nvSpPr>
        <p:spPr>
          <a:xfrm>
            <a:off x="6286925" y="706622"/>
            <a:ext cx="1843200" cy="480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500" b="1">
                <a:solidFill>
                  <a:srgbClr val="3C78D8"/>
                </a:solidFill>
                <a:latin typeface="Calibri"/>
                <a:ea typeface="Calibri"/>
                <a:cs typeface="Calibri"/>
                <a:sym typeface="Calibri"/>
              </a:rPr>
              <a:t>AI on Server Side</a:t>
            </a:r>
            <a:endParaRPr sz="15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None/>
            </a:pPr>
            <a:r>
              <a:rPr lang="en" sz="1500" b="1">
                <a:solidFill>
                  <a:srgbClr val="3C78D8"/>
                </a:solidFill>
                <a:latin typeface="Calibri"/>
                <a:ea typeface="Calibri"/>
                <a:cs typeface="Calibri"/>
                <a:sym typeface="Calibri"/>
              </a:rPr>
              <a:t>provided by SaaS</a:t>
            </a:r>
            <a:endParaRPr sz="1500" b="1">
              <a:solidFill>
                <a:srgbClr val="3C78D8"/>
              </a:solidFill>
              <a:latin typeface="Calibri"/>
              <a:ea typeface="Calibri"/>
              <a:cs typeface="Calibri"/>
              <a:sym typeface="Calibri"/>
            </a:endParaRPr>
          </a:p>
        </p:txBody>
      </p:sp>
      <p:pic>
        <p:nvPicPr>
          <p:cNvPr id="118" name="Google Shape;118;p21"/>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954956" y="3544656"/>
            <a:ext cx="1074125" cy="1074125"/>
          </a:xfrm>
          <a:prstGeom prst="rect">
            <a:avLst/>
          </a:prstGeom>
          <a:noFill/>
          <a:ln>
            <a:noFill/>
          </a:ln>
        </p:spPr>
      </p:pic>
      <p:pic>
        <p:nvPicPr>
          <p:cNvPr id="119" name="Google Shape;119;p2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3301581" y="3697280"/>
            <a:ext cx="729825" cy="768875"/>
          </a:xfrm>
          <a:prstGeom prst="rect">
            <a:avLst/>
          </a:prstGeom>
          <a:noFill/>
          <a:ln>
            <a:noFill/>
          </a:ln>
        </p:spPr>
      </p:pic>
      <p:sp>
        <p:nvSpPr>
          <p:cNvPr id="120" name="Google Shape;120;p21"/>
          <p:cNvSpPr/>
          <p:nvPr/>
        </p:nvSpPr>
        <p:spPr>
          <a:xfrm rot="-771758">
            <a:off x="4475264" y="3589034"/>
            <a:ext cx="2362380" cy="326475"/>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 name="Google Shape;121;p21"/>
          <p:cNvSpPr/>
          <p:nvPr/>
        </p:nvSpPr>
        <p:spPr>
          <a:xfrm>
            <a:off x="7179156" y="3072681"/>
            <a:ext cx="1445100" cy="768900"/>
          </a:xfrm>
          <a:prstGeom prst="rect">
            <a:avLst/>
          </a:prstGeom>
          <a:solidFill>
            <a:schemeClr val="lt2"/>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rgbClr val="FF0000"/>
                </a:solidFill>
              </a:rPr>
              <a:t>SaaS</a:t>
            </a:r>
            <a:endParaRPr sz="2200" b="1">
              <a:solidFill>
                <a:srgbClr val="FF0000"/>
              </a:solidFill>
            </a:endParaRPr>
          </a:p>
        </p:txBody>
      </p:sp>
      <p:pic>
        <p:nvPicPr>
          <p:cNvPr id="122" name="Google Shape;122;p21"/>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2343438" y="1173477"/>
            <a:ext cx="1074125" cy="1074125"/>
          </a:xfrm>
          <a:prstGeom prst="rect">
            <a:avLst/>
          </a:prstGeom>
          <a:noFill/>
          <a:ln>
            <a:noFill/>
          </a:ln>
        </p:spPr>
      </p:pic>
      <p:sp>
        <p:nvSpPr>
          <p:cNvPr id="123" name="Google Shape;123;p21"/>
          <p:cNvSpPr/>
          <p:nvPr/>
        </p:nvSpPr>
        <p:spPr>
          <a:xfrm>
            <a:off x="4117888" y="1482077"/>
            <a:ext cx="2331000" cy="456900"/>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 name="Google Shape;124;p21"/>
          <p:cNvSpPr/>
          <p:nvPr/>
        </p:nvSpPr>
        <p:spPr>
          <a:xfrm>
            <a:off x="7289613" y="1506765"/>
            <a:ext cx="1445100" cy="768900"/>
          </a:xfrm>
          <a:prstGeom prst="rect">
            <a:avLst/>
          </a:prstGeom>
          <a:solidFill>
            <a:schemeClr val="lt2"/>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rgbClr val="FF0000"/>
                </a:solidFill>
              </a:rPr>
              <a:t>SaaS</a:t>
            </a:r>
            <a:endParaRPr sz="2200" b="1">
              <a:solidFill>
                <a:srgbClr val="FF0000"/>
              </a:solidFill>
            </a:endParaRPr>
          </a:p>
        </p:txBody>
      </p:sp>
      <p:sp>
        <p:nvSpPr>
          <p:cNvPr id="125" name="Google Shape;125;p21"/>
          <p:cNvSpPr txBox="1"/>
          <p:nvPr/>
        </p:nvSpPr>
        <p:spPr>
          <a:xfrm>
            <a:off x="3182738" y="3147150"/>
            <a:ext cx="1132200" cy="480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500" b="1">
                <a:solidFill>
                  <a:srgbClr val="3C78D8"/>
                </a:solidFill>
                <a:latin typeface="Calibri"/>
                <a:ea typeface="Calibri"/>
                <a:cs typeface="Calibri"/>
                <a:sym typeface="Calibri"/>
              </a:rPr>
              <a:t>AI Agent on Client Side</a:t>
            </a:r>
            <a:endParaRPr sz="1500" b="1">
              <a:solidFill>
                <a:srgbClr val="3C78D8"/>
              </a:solidFill>
              <a:latin typeface="Calibri"/>
              <a:ea typeface="Calibri"/>
              <a:cs typeface="Calibri"/>
              <a:sym typeface="Calibri"/>
            </a:endParaRPr>
          </a:p>
        </p:txBody>
      </p:sp>
      <p:sp>
        <p:nvSpPr>
          <p:cNvPr id="126" name="Google Shape;126;p21"/>
          <p:cNvSpPr/>
          <p:nvPr/>
        </p:nvSpPr>
        <p:spPr>
          <a:xfrm>
            <a:off x="7179156" y="4223681"/>
            <a:ext cx="1445100" cy="768900"/>
          </a:xfrm>
          <a:prstGeom prst="rect">
            <a:avLst/>
          </a:prstGeom>
          <a:solidFill>
            <a:schemeClr val="lt2"/>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rgbClr val="FF0000"/>
                </a:solidFill>
              </a:rPr>
              <a:t>SaaS</a:t>
            </a:r>
            <a:endParaRPr sz="2200" b="1">
              <a:solidFill>
                <a:srgbClr val="FF0000"/>
              </a:solidFill>
            </a:endParaRPr>
          </a:p>
        </p:txBody>
      </p:sp>
      <p:sp>
        <p:nvSpPr>
          <p:cNvPr id="127" name="Google Shape;127;p21"/>
          <p:cNvSpPr/>
          <p:nvPr/>
        </p:nvSpPr>
        <p:spPr>
          <a:xfrm rot="536020">
            <a:off x="4475298" y="4343013"/>
            <a:ext cx="2362662" cy="326461"/>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 name="Google Shape;128;p21"/>
          <p:cNvSpPr txBox="1"/>
          <p:nvPr/>
        </p:nvSpPr>
        <p:spPr>
          <a:xfrm>
            <a:off x="81775" y="2986125"/>
            <a:ext cx="1843200" cy="140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500">
                <a:solidFill>
                  <a:schemeClr val="dk1"/>
                </a:solidFill>
                <a:latin typeface="Calibri"/>
                <a:ea typeface="Calibri"/>
                <a:cs typeface="Calibri"/>
                <a:sym typeface="Calibri"/>
              </a:rPr>
              <a:t>Will everyone have a personal Agent by the end of 2026 ?</a:t>
            </a:r>
            <a:br>
              <a:rPr lang="en" sz="1500">
                <a:solidFill>
                  <a:schemeClr val="dk1"/>
                </a:solidFill>
                <a:latin typeface="Calibri"/>
                <a:ea typeface="Calibri"/>
                <a:cs typeface="Calibri"/>
                <a:sym typeface="Calibri"/>
              </a:rPr>
            </a:br>
            <a:endParaRPr sz="15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r>
              <a:rPr lang="en" sz="1500">
                <a:solidFill>
                  <a:schemeClr val="dk1"/>
                </a:solidFill>
                <a:latin typeface="Calibri"/>
                <a:ea typeface="Calibri"/>
                <a:cs typeface="Calibri"/>
                <a:sym typeface="Calibri"/>
              </a:rPr>
              <a:t>Provide an Agent </a:t>
            </a:r>
            <a:br>
              <a:rPr lang="en" sz="1500">
                <a:solidFill>
                  <a:schemeClr val="dk1"/>
                </a:solidFill>
                <a:latin typeface="Calibri"/>
                <a:ea typeface="Calibri"/>
                <a:cs typeface="Calibri"/>
                <a:sym typeface="Calibri"/>
              </a:rPr>
            </a:br>
            <a:r>
              <a:rPr lang="en" sz="1500">
                <a:solidFill>
                  <a:schemeClr val="dk1"/>
                </a:solidFill>
                <a:latin typeface="Calibri"/>
                <a:ea typeface="Calibri"/>
                <a:cs typeface="Calibri"/>
                <a:sym typeface="Calibri"/>
              </a:rPr>
              <a:t>or a Plugin</a:t>
            </a:r>
            <a:endParaRPr sz="1500">
              <a:solidFill>
                <a:schemeClr val="dk1"/>
              </a:solidFill>
              <a:latin typeface="Calibri"/>
              <a:ea typeface="Calibri"/>
              <a:cs typeface="Calibri"/>
              <a:sym typeface="Calibri"/>
            </a:endParaRPr>
          </a:p>
        </p:txBody>
      </p:sp>
      <p:sp>
        <p:nvSpPr>
          <p:cNvPr id="129" name="Google Shape;129;p21"/>
          <p:cNvSpPr txBox="1"/>
          <p:nvPr/>
        </p:nvSpPr>
        <p:spPr>
          <a:xfrm>
            <a:off x="4470575" y="1925133"/>
            <a:ext cx="1584000" cy="249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500" b="1">
                <a:solidFill>
                  <a:srgbClr val="3C78D8"/>
                </a:solidFill>
                <a:latin typeface="Calibri"/>
                <a:ea typeface="Calibri"/>
                <a:cs typeface="Calibri"/>
                <a:sym typeface="Calibri"/>
              </a:rPr>
              <a:t>UI Communication</a:t>
            </a:r>
            <a:endParaRPr sz="1500" b="1">
              <a:solidFill>
                <a:srgbClr val="3C78D8"/>
              </a:solidFill>
              <a:latin typeface="Calibri"/>
              <a:ea typeface="Calibri"/>
              <a:cs typeface="Calibri"/>
              <a:sym typeface="Calibri"/>
            </a:endParaRPr>
          </a:p>
        </p:txBody>
      </p:sp>
      <p:sp>
        <p:nvSpPr>
          <p:cNvPr id="130" name="Google Shape;130;p21"/>
          <p:cNvSpPr txBox="1"/>
          <p:nvPr/>
        </p:nvSpPr>
        <p:spPr>
          <a:xfrm>
            <a:off x="5702925" y="3879352"/>
            <a:ext cx="1363500" cy="480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500" b="1">
                <a:solidFill>
                  <a:srgbClr val="3C78D8"/>
                </a:solidFill>
                <a:latin typeface="Calibri"/>
                <a:ea typeface="Calibri"/>
                <a:cs typeface="Calibri"/>
                <a:sym typeface="Calibri"/>
              </a:rPr>
              <a:t>UI or API Communication</a:t>
            </a:r>
            <a:endParaRPr sz="1500" b="1">
              <a:solidFill>
                <a:srgbClr val="3C78D8"/>
              </a:solidFill>
              <a:latin typeface="Calibri"/>
              <a:ea typeface="Calibri"/>
              <a:cs typeface="Calibri"/>
              <a:sym typeface="Calibri"/>
            </a:endParaRPr>
          </a:p>
        </p:txBody>
      </p:sp>
      <p:sp>
        <p:nvSpPr>
          <p:cNvPr id="131" name="Google Shape;131;p21"/>
          <p:cNvSpPr txBox="1"/>
          <p:nvPr/>
        </p:nvSpPr>
        <p:spPr>
          <a:xfrm>
            <a:off x="3180563" y="4535975"/>
            <a:ext cx="1132200" cy="480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500" b="1">
                <a:solidFill>
                  <a:srgbClr val="3C78D8"/>
                </a:solidFill>
                <a:latin typeface="Calibri"/>
                <a:ea typeface="Calibri"/>
                <a:cs typeface="Calibri"/>
                <a:sym typeface="Calibri"/>
              </a:rPr>
              <a:t>Skills, MCPs, Memory </a:t>
            </a:r>
            <a:endParaRPr sz="1500" b="1">
              <a:solidFill>
                <a:srgbClr val="3C78D8"/>
              </a:solidFill>
              <a:latin typeface="Calibri"/>
              <a:ea typeface="Calibri"/>
              <a:cs typeface="Calibri"/>
              <a:sym typeface="Calibri"/>
            </a:endParaRPr>
          </a:p>
        </p:txBody>
      </p:sp>
      <p:pic>
        <p:nvPicPr>
          <p:cNvPr id="132" name="Google Shape;132;p2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6843618" y="2595505"/>
            <a:ext cx="729825" cy="768875"/>
          </a:xfrm>
          <a:prstGeom prst="rect">
            <a:avLst/>
          </a:prstGeom>
          <a:noFill/>
          <a:ln>
            <a:noFill/>
          </a:ln>
        </p:spPr>
      </p:pic>
      <p:pic>
        <p:nvPicPr>
          <p:cNvPr id="133" name="Google Shape;133;p2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6837825" y="1311640"/>
            <a:ext cx="729825" cy="768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p:nvPr/>
        </p:nvSpPr>
        <p:spPr>
          <a:xfrm>
            <a:off x="81775" y="67675"/>
            <a:ext cx="2556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4-Steps Development</a:t>
            </a:r>
            <a:endParaRPr sz="2000" b="1">
              <a:solidFill>
                <a:schemeClr val="dk1"/>
              </a:solidFill>
              <a:latin typeface="Calibri"/>
              <a:ea typeface="Calibri"/>
              <a:cs typeface="Calibri"/>
              <a:sym typeface="Calibri"/>
            </a:endParaRPr>
          </a:p>
        </p:txBody>
      </p:sp>
      <p:sp>
        <p:nvSpPr>
          <p:cNvPr id="139" name="Google Shape;139;p22"/>
          <p:cNvSpPr txBox="1"/>
          <p:nvPr/>
        </p:nvSpPr>
        <p:spPr>
          <a:xfrm>
            <a:off x="148300" y="1303400"/>
            <a:ext cx="1445700" cy="71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500">
                <a:solidFill>
                  <a:schemeClr val="dk1"/>
                </a:solidFill>
                <a:latin typeface="Calibri"/>
                <a:ea typeface="Calibri"/>
                <a:cs typeface="Calibri"/>
                <a:sym typeface="Calibri"/>
              </a:rPr>
              <a:t>Discuss Possible Architectures</a:t>
            </a:r>
            <a:endParaRPr sz="15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r>
              <a:rPr lang="en" sz="1500">
                <a:solidFill>
                  <a:schemeClr val="dk1"/>
                </a:solidFill>
                <a:latin typeface="Calibri"/>
                <a:ea typeface="Calibri"/>
                <a:cs typeface="Calibri"/>
                <a:sym typeface="Calibri"/>
              </a:rPr>
              <a:t>or Frameworks</a:t>
            </a:r>
            <a:endParaRPr sz="1500">
              <a:solidFill>
                <a:schemeClr val="dk1"/>
              </a:solidFill>
              <a:latin typeface="Calibri"/>
              <a:ea typeface="Calibri"/>
              <a:cs typeface="Calibri"/>
              <a:sym typeface="Calibri"/>
            </a:endParaRPr>
          </a:p>
        </p:txBody>
      </p:sp>
      <p:sp>
        <p:nvSpPr>
          <p:cNvPr id="140" name="Google Shape;140;p22"/>
          <p:cNvSpPr txBox="1"/>
          <p:nvPr/>
        </p:nvSpPr>
        <p:spPr>
          <a:xfrm>
            <a:off x="5023271" y="1231375"/>
            <a:ext cx="1879500" cy="71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500">
                <a:solidFill>
                  <a:schemeClr val="dk1"/>
                </a:solidFill>
                <a:latin typeface="Calibri"/>
                <a:ea typeface="Calibri"/>
                <a:cs typeface="Calibri"/>
                <a:sym typeface="Calibri"/>
              </a:rPr>
              <a:t>Create Step by step implementation plan (task list)</a:t>
            </a:r>
            <a:endParaRPr sz="1500">
              <a:solidFill>
                <a:schemeClr val="dk1"/>
              </a:solidFill>
              <a:latin typeface="Calibri"/>
              <a:ea typeface="Calibri"/>
              <a:cs typeface="Calibri"/>
              <a:sym typeface="Calibri"/>
            </a:endParaRPr>
          </a:p>
        </p:txBody>
      </p:sp>
      <p:sp>
        <p:nvSpPr>
          <p:cNvPr id="141" name="Google Shape;141;p22"/>
          <p:cNvSpPr txBox="1"/>
          <p:nvPr/>
        </p:nvSpPr>
        <p:spPr>
          <a:xfrm>
            <a:off x="7633857" y="1231375"/>
            <a:ext cx="1363500" cy="71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500">
                <a:solidFill>
                  <a:schemeClr val="dk1"/>
                </a:solidFill>
                <a:latin typeface="Calibri"/>
                <a:ea typeface="Calibri"/>
                <a:cs typeface="Calibri"/>
                <a:sym typeface="Calibri"/>
              </a:rPr>
              <a:t>Use task list to do the job (build the system)</a:t>
            </a:r>
            <a:endParaRPr sz="1500">
              <a:solidFill>
                <a:schemeClr val="dk1"/>
              </a:solidFill>
              <a:latin typeface="Calibri"/>
              <a:ea typeface="Calibri"/>
              <a:cs typeface="Calibri"/>
              <a:sym typeface="Calibri"/>
            </a:endParaRPr>
          </a:p>
        </p:txBody>
      </p:sp>
      <p:pic>
        <p:nvPicPr>
          <p:cNvPr id="142" name="Google Shape;142;p2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2718100" y="2852789"/>
            <a:ext cx="1363500" cy="1558286"/>
          </a:xfrm>
          <a:prstGeom prst="rect">
            <a:avLst/>
          </a:prstGeom>
          <a:noFill/>
          <a:ln w="9525" cap="flat" cmpd="sng">
            <a:solidFill>
              <a:srgbClr val="FF0000"/>
            </a:solidFill>
            <a:prstDash val="solid"/>
            <a:round/>
            <a:headEnd type="none" w="sm" len="sm"/>
            <a:tailEnd type="none" w="sm" len="sm"/>
          </a:ln>
        </p:spPr>
      </p:pic>
      <p:pic>
        <p:nvPicPr>
          <p:cNvPr id="143" name="Google Shape;143;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125701" y="3027413"/>
            <a:ext cx="1674650" cy="1383673"/>
          </a:xfrm>
          <a:prstGeom prst="rect">
            <a:avLst/>
          </a:prstGeom>
          <a:noFill/>
          <a:ln w="9525" cap="flat" cmpd="sng">
            <a:solidFill>
              <a:srgbClr val="FF0000"/>
            </a:solidFill>
            <a:prstDash val="solid"/>
            <a:round/>
            <a:headEnd type="none" w="sm" len="sm"/>
            <a:tailEnd type="none" w="sm" len="sm"/>
          </a:ln>
        </p:spPr>
      </p:pic>
      <p:pic>
        <p:nvPicPr>
          <p:cNvPr id="144" name="Google Shape;144;p2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379325" y="3248775"/>
            <a:ext cx="1674650" cy="940940"/>
          </a:xfrm>
          <a:prstGeom prst="rect">
            <a:avLst/>
          </a:prstGeom>
          <a:noFill/>
          <a:ln w="9525" cap="flat" cmpd="sng">
            <a:solidFill>
              <a:srgbClr val="FF0000"/>
            </a:solidFill>
            <a:prstDash val="solid"/>
            <a:round/>
            <a:headEnd type="none" w="sm" len="sm"/>
            <a:tailEnd type="none" w="sm" len="sm"/>
          </a:ln>
        </p:spPr>
      </p:pic>
      <p:sp>
        <p:nvSpPr>
          <p:cNvPr id="145" name="Google Shape;145;p22"/>
          <p:cNvSpPr/>
          <p:nvPr/>
        </p:nvSpPr>
        <p:spPr>
          <a:xfrm>
            <a:off x="4400775" y="1411550"/>
            <a:ext cx="513900" cy="264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 name="Google Shape;146;p22"/>
          <p:cNvSpPr txBox="1"/>
          <p:nvPr/>
        </p:nvSpPr>
        <p:spPr>
          <a:xfrm>
            <a:off x="2325086" y="1303400"/>
            <a:ext cx="1967100" cy="480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500">
                <a:solidFill>
                  <a:schemeClr val="dk1"/>
                </a:solidFill>
                <a:latin typeface="Calibri"/>
                <a:ea typeface="Calibri"/>
                <a:cs typeface="Calibri"/>
                <a:sym typeface="Calibri"/>
              </a:rPr>
              <a:t>Ask to Create Specific Architecture</a:t>
            </a:r>
            <a:endParaRPr sz="1500">
              <a:solidFill>
                <a:schemeClr val="dk1"/>
              </a:solidFill>
              <a:latin typeface="Calibri"/>
              <a:ea typeface="Calibri"/>
              <a:cs typeface="Calibri"/>
              <a:sym typeface="Calibri"/>
            </a:endParaRPr>
          </a:p>
        </p:txBody>
      </p:sp>
      <p:sp>
        <p:nvSpPr>
          <p:cNvPr id="147" name="Google Shape;147;p22"/>
          <p:cNvSpPr/>
          <p:nvPr/>
        </p:nvSpPr>
        <p:spPr>
          <a:xfrm>
            <a:off x="7031759" y="1411550"/>
            <a:ext cx="513900" cy="264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 name="Google Shape;148;p22"/>
          <p:cNvSpPr/>
          <p:nvPr/>
        </p:nvSpPr>
        <p:spPr>
          <a:xfrm>
            <a:off x="1697759" y="1411550"/>
            <a:ext cx="513900" cy="264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49" name="Google Shape;149;p2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48295" y="3082800"/>
            <a:ext cx="1674650" cy="87232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3"/>
          <p:cNvSpPr txBox="1"/>
          <p:nvPr/>
        </p:nvSpPr>
        <p:spPr>
          <a:xfrm>
            <a:off x="81776" y="67675"/>
            <a:ext cx="315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a:t>
            </a:r>
            <a:endParaRPr sz="2000" b="1">
              <a:solidFill>
                <a:schemeClr val="dk1"/>
              </a:solidFill>
              <a:latin typeface="Calibri"/>
              <a:ea typeface="Calibri"/>
              <a:cs typeface="Calibri"/>
              <a:sym typeface="Calibri"/>
            </a:endParaRPr>
          </a:p>
        </p:txBody>
      </p:sp>
      <p:sp>
        <p:nvSpPr>
          <p:cNvPr id="155" name="Google Shape;155;p23"/>
          <p:cNvSpPr txBox="1"/>
          <p:nvPr/>
        </p:nvSpPr>
        <p:spPr>
          <a:xfrm>
            <a:off x="81775" y="394075"/>
            <a:ext cx="43830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Matthew Berman on dark side of vibe coding</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https://www.youtube.com/watch?v=XG3ksRWsUJ8</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Trend of shipping software using AI without reviewing the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highlights a personal $800 Vercel bill caused by unoptimized default settings and excessive automated builds as a primary cautionary tale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Berman argues that as AI assistants like Claude and Cursor prioritize chat interfaces over code visibility, developers are losing their understanding of system architecture and "platform risk."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While AI enables unprecedented shipping speeds, it creates a dangerous disconnect between fuzzy natural language prompts and deterministic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warns that we may eventually reach a point where AI writes in languages humans cannot comprehend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is stressing that fundamental coding knowledge remains essential to avoid costly, invisible errors</a:t>
            </a:r>
            <a:endParaRPr sz="1200">
              <a:solidFill>
                <a:schemeClr val="dk1"/>
              </a:solidFill>
              <a:latin typeface="Calibri"/>
              <a:ea typeface="Calibri"/>
              <a:cs typeface="Calibri"/>
              <a:sym typeface="Calibri"/>
            </a:endParaRPr>
          </a:p>
        </p:txBody>
      </p:sp>
      <p:pic>
        <p:nvPicPr>
          <p:cNvPr id="156" name="Google Shape;156;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64875" y="48673"/>
            <a:ext cx="1705749" cy="1062901"/>
          </a:xfrm>
          <a:prstGeom prst="rect">
            <a:avLst/>
          </a:prstGeom>
          <a:noFill/>
          <a:ln w="9525" cap="flat" cmpd="sng">
            <a:solidFill>
              <a:srgbClr val="FF0000"/>
            </a:solidFill>
            <a:prstDash val="solid"/>
            <a:round/>
            <a:headEnd type="none" w="sm" len="sm"/>
            <a:tailEnd type="none" w="sm" len="sm"/>
          </a:ln>
        </p:spPr>
      </p:pic>
      <p:sp>
        <p:nvSpPr>
          <p:cNvPr id="157" name="Google Shape;157;p23"/>
          <p:cNvSpPr txBox="1"/>
          <p:nvPr/>
        </p:nvSpPr>
        <p:spPr>
          <a:xfrm>
            <a:off x="4664875" y="1157600"/>
            <a:ext cx="43830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What's Not Good - Opus 4.7 &amp; Related</a:t>
            </a:r>
            <a:br>
              <a:rPr lang="en" sz="1200" b="1">
                <a:solidFill>
                  <a:srgbClr val="FF0000"/>
                </a:solidFill>
                <a:latin typeface="Calibri"/>
                <a:ea typeface="Calibri"/>
                <a:cs typeface="Calibri"/>
                <a:sym typeface="Calibri"/>
              </a:rPr>
            </a:br>
            <a:r>
              <a:rPr lang="en" sz="1200" u="sng">
                <a:solidFill>
                  <a:schemeClr val="hlink"/>
                </a:solidFill>
                <a:latin typeface="Calibri"/>
                <a:ea typeface="Calibri"/>
                <a:cs typeface="Calibri"/>
                <a:sym typeface="Calibri"/>
                <a:hlinkClick r:id="rId5"/>
              </a:rPr>
              <a:t>https://www.youtube.com/watch?v=JyvKwKMS6SU</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Opus 4.7 had a broken system prompt in older Claude Code versions that caused it to falsely flag normal requests as prompt injections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Some users reported hallucinated conversation turns and tone misunderstandings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t>
            </a:r>
            <a:r>
              <a:rPr lang="en" sz="1200" b="1">
                <a:solidFill>
                  <a:srgbClr val="FF0000"/>
                </a:solidFill>
                <a:latin typeface="Calibri"/>
                <a:ea typeface="Calibri"/>
                <a:cs typeface="Calibri"/>
                <a:sym typeface="Calibri"/>
              </a:rPr>
              <a:t>new tokenizer increases token usage by up to ~30%</a:t>
            </a:r>
            <a:r>
              <a:rPr lang="en" sz="1200">
                <a:solidFill>
                  <a:schemeClr val="dk1"/>
                </a:solidFill>
                <a:latin typeface="Calibri"/>
                <a:ea typeface="Calibri"/>
                <a:cs typeface="Calibri"/>
                <a:sym typeface="Calibri"/>
              </a:rPr>
              <a:t>, making it more expensive to run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One user noted incorrect MCP tool calls, which were rare in prior Claude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model also scores slightly lower on cybersecurity benchmarks than Opus 4.6, suggesting intentional capability restrictions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Design's quota is stingy - one 14-page deck used 7% of the weekly allowance, and the chat input requires clicking a button to submit rather than pressing Enter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Anthropic is reducing subscription quotas due to compute constraints</a:t>
            </a:r>
            <a:r>
              <a:rPr lang="en" sz="1200">
                <a:solidFill>
                  <a:schemeClr val="dk1"/>
                </a:solidFill>
                <a:latin typeface="Calibri"/>
                <a:ea typeface="Calibri"/>
                <a:cs typeface="Calibri"/>
                <a:sym typeface="Calibri"/>
              </a:rPr>
              <a:t> and likely cannot serve their best model (Mythos) at all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host also regrets passing on an Anthropic investment SPV</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and warned that agent-managed services (like Stripe Projects) can rack up surprise bills from third-party platforms like Vercel.</a:t>
            </a:r>
            <a:endParaRPr sz="1200">
              <a:solidFill>
                <a:schemeClr val="dk1"/>
              </a:solidFill>
              <a:latin typeface="Calibri"/>
              <a:ea typeface="Calibri"/>
              <a:cs typeface="Calibri"/>
              <a:sym typeface="Calibri"/>
            </a:endParaRPr>
          </a:p>
        </p:txBody>
      </p:sp>
      <p:sp>
        <p:nvSpPr>
          <p:cNvPr id="158" name="Google Shape;158;p23"/>
          <p:cNvSpPr txBox="1"/>
          <p:nvPr/>
        </p:nvSpPr>
        <p:spPr>
          <a:xfrm>
            <a:off x="81775" y="3696950"/>
            <a:ext cx="26265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JourneyChat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https://www.journeychat.ai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open-source, private messaging layer specifically designed for AI agent-to-agent communication</a:t>
            </a:r>
            <a:endParaRPr sz="1200">
              <a:solidFill>
                <a:schemeClr val="dk1"/>
              </a:solidFill>
              <a:latin typeface="Calibri"/>
              <a:ea typeface="Calibri"/>
              <a:cs typeface="Calibri"/>
              <a:sym typeface="Calibri"/>
            </a:endParaRPr>
          </a:p>
        </p:txBody>
      </p:sp>
      <p:pic>
        <p:nvPicPr>
          <p:cNvPr id="159" name="Google Shape;159;p23"/>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2908500" y="3449475"/>
            <a:ext cx="1556274" cy="154012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4"/>
          <p:cNvSpPr txBox="1"/>
          <p:nvPr/>
        </p:nvSpPr>
        <p:spPr>
          <a:xfrm>
            <a:off x="81776" y="67675"/>
            <a:ext cx="315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Claude Design</a:t>
            </a:r>
            <a:endParaRPr sz="2000" b="1">
              <a:solidFill>
                <a:schemeClr val="dk1"/>
              </a:solidFill>
              <a:latin typeface="Calibri"/>
              <a:ea typeface="Calibri"/>
              <a:cs typeface="Calibri"/>
              <a:sym typeface="Calibri"/>
            </a:endParaRPr>
          </a:p>
        </p:txBody>
      </p:sp>
      <p:sp>
        <p:nvSpPr>
          <p:cNvPr id="165" name="Google Shape;165;p24"/>
          <p:cNvSpPr txBox="1"/>
          <p:nvPr/>
        </p:nvSpPr>
        <p:spPr>
          <a:xfrm>
            <a:off x="81775" y="552825"/>
            <a:ext cx="4914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Claude Design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Experimental product from Anthropic Labs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lets users create polished visual work, including prototypes, slide decks, wireframes, marketing materials, and one-pagers, simply by describing what they want in plain text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tool is powered by Claude Opus 4.7 and is currently available as a research preview for Claude Pro, Max, Team, and Enterprise subscribers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During onboarding, Claude Design reads your codebase and design files to automatically build a brand-consistent design system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Outputs can be exported as PDF, PPTX, HTML, or sent directly to Canva or Claude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is aimed at non-designers who need to go quickly from idea to visual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https://www.anthropic.com/news/claude-design-anthropic-labs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66" name="Google Shape;166;p2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088888" y="1197625"/>
            <a:ext cx="2017675" cy="1129900"/>
          </a:xfrm>
          <a:prstGeom prst="rect">
            <a:avLst/>
          </a:prstGeom>
          <a:noFill/>
          <a:ln w="9525" cap="flat" cmpd="sng">
            <a:solidFill>
              <a:srgbClr val="FF0000"/>
            </a:solidFill>
            <a:prstDash val="solid"/>
            <a:round/>
            <a:headEnd type="none" w="sm" len="sm"/>
            <a:tailEnd type="none" w="sm" len="sm"/>
          </a:ln>
        </p:spPr>
      </p:pic>
      <p:sp>
        <p:nvSpPr>
          <p:cNvPr id="167" name="Google Shape;167;p24"/>
          <p:cNvSpPr txBox="1"/>
          <p:nvPr/>
        </p:nvSpPr>
        <p:spPr>
          <a:xfrm>
            <a:off x="81775" y="3058050"/>
            <a:ext cx="49143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ChatGPT Images 2.0 - image generation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Significantly improves instruction following, text rendering, and multilingual support;</a:t>
            </a:r>
            <a:r>
              <a:rPr lang="en" sz="1200" b="1">
                <a:solidFill>
                  <a:srgbClr val="FF0000"/>
                </a:solidFill>
                <a:latin typeface="Calibri"/>
                <a:ea typeface="Calibri"/>
                <a:cs typeface="Calibri"/>
                <a:sym typeface="Calibri"/>
              </a:rPr>
              <a:t> jumped 242+ ELO points on LMArena over the previous leader </a:t>
            </a:r>
            <a:r>
              <a:rPr lang="en" sz="1200">
                <a:solidFill>
                  <a:schemeClr val="dk1"/>
                </a:solidFill>
                <a:latin typeface="Calibri"/>
                <a:ea typeface="Calibri"/>
                <a:cs typeface="Calibri"/>
                <a:sym typeface="Calibri"/>
              </a:rPr>
              <a:t>(Gemini 3.1 Flash/Nano Banana 2), from ~1270 to ~1512.</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Can generate slides, infographics, maps, social media graphics, and product mockups; Up to 2K resolution, multiple aspect ratios, and can generate up to 8  related images at once with visual continuity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Advanced features powered by thinking models for Plus, Pro, Business, and Enterprise users; underlying API is open to developers</a:t>
            </a:r>
            <a:endParaRPr sz="1200">
              <a:solidFill>
                <a:schemeClr val="dk1"/>
              </a:solidFill>
              <a:latin typeface="Calibri"/>
              <a:ea typeface="Calibri"/>
              <a:cs typeface="Calibri"/>
              <a:sym typeface="Calibri"/>
            </a:endParaRPr>
          </a:p>
        </p:txBody>
      </p:sp>
      <p:pic>
        <p:nvPicPr>
          <p:cNvPr id="168" name="Google Shape;168;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088900" y="3203700"/>
            <a:ext cx="2700900" cy="13504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5"/>
          <p:cNvSpPr txBox="1"/>
          <p:nvPr/>
        </p:nvSpPr>
        <p:spPr>
          <a:xfrm>
            <a:off x="81775" y="67675"/>
            <a:ext cx="4442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State of the Claw - Peter Steinberger</a:t>
            </a:r>
            <a:endParaRPr sz="2000" b="1">
              <a:solidFill>
                <a:schemeClr val="dk1"/>
              </a:solidFill>
              <a:latin typeface="Calibri"/>
              <a:ea typeface="Calibri"/>
              <a:cs typeface="Calibri"/>
              <a:sym typeface="Calibri"/>
            </a:endParaRPr>
          </a:p>
        </p:txBody>
      </p:sp>
      <p:sp>
        <p:nvSpPr>
          <p:cNvPr id="174" name="Google Shape;174;p25"/>
          <p:cNvSpPr txBox="1"/>
          <p:nvPr/>
        </p:nvSpPr>
        <p:spPr>
          <a:xfrm>
            <a:off x="81775" y="449415"/>
            <a:ext cx="4488300" cy="463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 The "Stripper Pole" Growth (as opposed to "Hockey Stick". 30K commits and 2K contributors in just 5 months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 Running "OpenClaw Foundation" is "Company Hard Mode". He cannot directly command, he focused on improving the "Bus Factor" - ensuring the project can survive if any single key contributor leaves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 The Security Paradox: Feature vs. Exploit. There are many technical exploits that have zero practical impact on real users; Fearmongering - ignoring official security setup recommendations to create a better "story" about vulnerabilities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4. New Paradigms of Software Development. The "Dreaming" Feature. Just as humans sleep to consolidate memories, "Dreaming" allows agents to reconcile session logs and convert local memories into long-term storage; Prompt Request vs. Pull Request: iterative approach where the "way to the mountain is never a straight line";  He often runs 5–10 agent sessions simultaneously to work on different parts of the code; The Importance of Taste: In an era where anyone can prompt code, Steinberger argues that "Taste" - the ability to identify "AI smell" and maintain a cohesive vision - is the ultimate moat for an engineer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5. Personal AI and Data Sovereignty, Data Ownership. Personal agents should allow users to own their data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6. The OpenAI supports OpenClaw. Peter is purposely bringing in engineers from Nvidia, Microsoft, and Tencent to ensure the project remains "Switzerland" - a neutral, open-source ecosystem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https://www.youtube.com/watch?v=zgNvts_2TUE</a:t>
            </a:r>
            <a:endParaRPr sz="1200">
              <a:solidFill>
                <a:schemeClr val="dk1"/>
              </a:solidFill>
              <a:latin typeface="Calibri"/>
              <a:ea typeface="Calibri"/>
              <a:cs typeface="Calibri"/>
              <a:sym typeface="Calibri"/>
            </a:endParaRPr>
          </a:p>
        </p:txBody>
      </p:sp>
      <p:pic>
        <p:nvPicPr>
          <p:cNvPr id="175" name="Google Shape;175;p2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13875" y="127949"/>
            <a:ext cx="1928966" cy="2005949"/>
          </a:xfrm>
          <a:prstGeom prst="rect">
            <a:avLst/>
          </a:prstGeom>
          <a:noFill/>
          <a:ln w="9525" cap="flat" cmpd="sng">
            <a:solidFill>
              <a:srgbClr val="FF0000"/>
            </a:solidFill>
            <a:prstDash val="solid"/>
            <a:round/>
            <a:headEnd type="none" w="sm" len="sm"/>
            <a:tailEnd type="none" w="sm" len="sm"/>
          </a:ln>
        </p:spPr>
      </p:pic>
      <p:sp>
        <p:nvSpPr>
          <p:cNvPr id="176" name="Google Shape;176;p25"/>
          <p:cNvSpPr txBox="1"/>
          <p:nvPr/>
        </p:nvSpPr>
        <p:spPr>
          <a:xfrm>
            <a:off x="4655700" y="3958825"/>
            <a:ext cx="43722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Apple CEO Change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Tim Cook, 65, will step down as CEO </a:t>
            </a:r>
            <a:r>
              <a:rPr lang="en" sz="1200" b="1">
                <a:solidFill>
                  <a:srgbClr val="FF0000"/>
                </a:solidFill>
                <a:latin typeface="Calibri"/>
                <a:ea typeface="Calibri"/>
                <a:cs typeface="Calibri"/>
                <a:sym typeface="Calibri"/>
              </a:rPr>
              <a:t>on September 1, 2026</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John Ternus, 50, Apple's current SVP of Hardware Engineering, will officially become CEO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Ternus, known for leading Apple Silicon development, inherits a $4 trillion company facing pressure to fix its lagging AI strategy</a:t>
            </a:r>
            <a:endParaRPr sz="1200">
              <a:solidFill>
                <a:schemeClr val="dk1"/>
              </a:solidFill>
              <a:latin typeface="Calibri"/>
              <a:ea typeface="Calibri"/>
              <a:cs typeface="Calibri"/>
              <a:sym typeface="Calibri"/>
            </a:endParaRPr>
          </a:p>
        </p:txBody>
      </p:sp>
      <p:pic>
        <p:nvPicPr>
          <p:cNvPr id="177" name="Google Shape;177;p25"/>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6642850" y="2609425"/>
            <a:ext cx="2385050" cy="1294886"/>
          </a:xfrm>
          <a:prstGeom prst="rect">
            <a:avLst/>
          </a:prstGeom>
          <a:noFill/>
          <a:ln w="9525" cap="flat" cmpd="sng">
            <a:solidFill>
              <a:srgbClr val="FF0000"/>
            </a:solidFill>
            <a:prstDash val="solid"/>
            <a:round/>
            <a:headEnd type="none" w="sm" len="sm"/>
            <a:tailEnd type="none" w="sm" len="sm"/>
          </a:ln>
        </p:spPr>
      </p:pic>
      <p:pic>
        <p:nvPicPr>
          <p:cNvPr id="178" name="Google Shape;178;p2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55700" y="2609413"/>
            <a:ext cx="1831050" cy="11268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6"/>
          <p:cNvSpPr txBox="1"/>
          <p:nvPr/>
        </p:nvSpPr>
        <p:spPr>
          <a:xfrm>
            <a:off x="81775" y="67675"/>
            <a:ext cx="2329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New world models</a:t>
            </a:r>
            <a:endParaRPr sz="2000" b="1">
              <a:solidFill>
                <a:schemeClr val="dk1"/>
              </a:solidFill>
              <a:latin typeface="Calibri"/>
              <a:ea typeface="Calibri"/>
              <a:cs typeface="Calibri"/>
              <a:sym typeface="Calibri"/>
            </a:endParaRPr>
          </a:p>
        </p:txBody>
      </p:sp>
      <p:sp>
        <p:nvSpPr>
          <p:cNvPr id="184" name="Google Shape;184;p26"/>
          <p:cNvSpPr txBox="1"/>
          <p:nvPr/>
        </p:nvSpPr>
        <p:spPr>
          <a:xfrm>
            <a:off x="81775" y="1513325"/>
            <a:ext cx="40437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New world models: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Tencent HY-World 2.0</a:t>
            </a:r>
            <a:r>
              <a:rPr lang="en" sz="1200">
                <a:solidFill>
                  <a:schemeClr val="dk1"/>
                </a:solidFill>
                <a:latin typeface="Calibri"/>
                <a:ea typeface="Calibri"/>
                <a:cs typeface="Calibri"/>
                <a:sym typeface="Calibri"/>
              </a:rPr>
              <a:t> - open-sourced on Hugging Face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NVIDIA Lyra 2.0 14B</a:t>
            </a:r>
            <a:r>
              <a:rPr lang="en" sz="1200">
                <a:solidFill>
                  <a:schemeClr val="dk1"/>
                </a:solidFill>
                <a:latin typeface="Calibri"/>
                <a:ea typeface="Calibri"/>
                <a:cs typeface="Calibri"/>
                <a:sym typeface="Calibri"/>
              </a:rPr>
              <a:t> on Hugging Face, "research-only" - turns image into a persistent, explorable 3D Gaussian scene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Alibaba Happy Oyster</a:t>
            </a:r>
            <a:r>
              <a:rPr lang="en" sz="1200">
                <a:solidFill>
                  <a:schemeClr val="dk1"/>
                </a:solidFill>
                <a:latin typeface="Calibri"/>
                <a:ea typeface="Calibri"/>
                <a:cs typeface="Calibri"/>
                <a:sym typeface="Calibri"/>
              </a:rPr>
              <a:t> - generating scenes, can move around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Until this week, the best work was locked behind </a:t>
            </a:r>
            <a:r>
              <a:rPr lang="en" sz="1200" b="1">
                <a:solidFill>
                  <a:srgbClr val="6AA84F"/>
                </a:solidFill>
                <a:latin typeface="Calibri"/>
                <a:ea typeface="Calibri"/>
                <a:cs typeface="Calibri"/>
                <a:sym typeface="Calibri"/>
              </a:rPr>
              <a:t>Google DeepMind's Genie paywall, Fei-Fei Li’s World Labs API, or NVIDIA's enterprise tooling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Now game studios, indie devs, and robotics researchers can pull commercial-use weights off Hugging Face for free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cost of entry dropped by several orders of magnitude in 48 hours.</a:t>
            </a:r>
            <a:endParaRPr sz="1200">
              <a:solidFill>
                <a:schemeClr val="dk1"/>
              </a:solidFill>
              <a:latin typeface="Calibri"/>
              <a:ea typeface="Calibri"/>
              <a:cs typeface="Calibri"/>
              <a:sym typeface="Calibri"/>
            </a:endParaRPr>
          </a:p>
        </p:txBody>
      </p:sp>
      <p:pic>
        <p:nvPicPr>
          <p:cNvPr id="185" name="Google Shape;185;p26"/>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351925" y="557278"/>
            <a:ext cx="2934699" cy="893172"/>
          </a:xfrm>
          <a:prstGeom prst="rect">
            <a:avLst/>
          </a:prstGeom>
          <a:noFill/>
          <a:ln w="9525" cap="flat" cmpd="sng">
            <a:solidFill>
              <a:srgbClr val="FF0000"/>
            </a:solidFill>
            <a:prstDash val="solid"/>
            <a:round/>
            <a:headEnd type="none" w="sm" len="sm"/>
            <a:tailEnd type="none" w="sm" len="sm"/>
          </a:ln>
        </p:spPr>
      </p:pic>
      <p:pic>
        <p:nvPicPr>
          <p:cNvPr id="186" name="Google Shape;186;p2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351922" y="1940844"/>
            <a:ext cx="2934700" cy="1379950"/>
          </a:xfrm>
          <a:prstGeom prst="rect">
            <a:avLst/>
          </a:prstGeom>
          <a:noFill/>
          <a:ln w="9525" cap="flat" cmpd="sng">
            <a:solidFill>
              <a:srgbClr val="FF0000"/>
            </a:solidFill>
            <a:prstDash val="solid"/>
            <a:round/>
            <a:headEnd type="none" w="sm" len="sm"/>
            <a:tailEnd type="none" w="sm" len="sm"/>
          </a:ln>
        </p:spPr>
      </p:pic>
      <p:pic>
        <p:nvPicPr>
          <p:cNvPr id="187" name="Google Shape;187;p2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351925" y="3834419"/>
            <a:ext cx="2934701" cy="117388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7"/>
          <p:cNvSpPr txBox="1"/>
          <p:nvPr/>
        </p:nvSpPr>
        <p:spPr>
          <a:xfrm>
            <a:off x="55750" y="900150"/>
            <a:ext cx="42174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Agent Traps - DeepMind's Cybersecurity Paper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https://x.com/HowToAI_/status/2045749883773333717</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DeepMind's latest cybersecurity paper exposes a dangerous blind spot in AI agent security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Websites can already detect AI agent visits and serve them hidden malicious content - different from what humans see - a problem called "detection asymmetry."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Attack vectors include hidden HTML instructions, commands encoded invisibly into image pixels, jailbreaks buried in PDFs, memory poisoning, data exfiltration, and multi-agent cascade infections where one compromised agent corrupts an entire pipeline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makes this especially alarming is that defenses are largely ineffective. You can't sanitize a pixel, prompt-level safeguards are easily bypassed, and human oversight is impossible at agent operating speeds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When an agent browses dozens of sites, there's no practical way to verify it received the same content you would.</a:t>
            </a:r>
            <a:endParaRPr sz="1200">
              <a:solidFill>
                <a:schemeClr val="dk1"/>
              </a:solidFill>
              <a:latin typeface="Calibri"/>
              <a:ea typeface="Calibri"/>
              <a:cs typeface="Calibri"/>
              <a:sym typeface="Calibri"/>
            </a:endParaRPr>
          </a:p>
        </p:txBody>
      </p:sp>
      <p:sp>
        <p:nvSpPr>
          <p:cNvPr id="193" name="Google Shape;193;p27"/>
          <p:cNvSpPr txBox="1"/>
          <p:nvPr/>
        </p:nvSpPr>
        <p:spPr>
          <a:xfrm>
            <a:off x="323526" y="411425"/>
            <a:ext cx="315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Agent Traps</a:t>
            </a:r>
            <a:endParaRPr sz="2000" b="1">
              <a:solidFill>
                <a:schemeClr val="dk1"/>
              </a:solidFill>
              <a:latin typeface="Calibri"/>
              <a:ea typeface="Calibri"/>
              <a:cs typeface="Calibri"/>
              <a:sym typeface="Calibri"/>
            </a:endParaRPr>
          </a:p>
        </p:txBody>
      </p:sp>
      <p:pic>
        <p:nvPicPr>
          <p:cNvPr id="194" name="Google Shape;194;p2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402178" y="1024613"/>
            <a:ext cx="4641400" cy="309428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8"/>
          <p:cNvSpPr txBox="1"/>
          <p:nvPr/>
        </p:nvSpPr>
        <p:spPr>
          <a:xfrm>
            <a:off x="81775" y="0"/>
            <a:ext cx="136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Kimi K2.6</a:t>
            </a:r>
            <a:endParaRPr sz="2000" b="1">
              <a:solidFill>
                <a:schemeClr val="dk1"/>
              </a:solidFill>
              <a:latin typeface="Calibri"/>
              <a:ea typeface="Calibri"/>
              <a:cs typeface="Calibri"/>
              <a:sym typeface="Calibri"/>
            </a:endParaRPr>
          </a:p>
        </p:txBody>
      </p:sp>
      <p:pic>
        <p:nvPicPr>
          <p:cNvPr id="200" name="Google Shape;200;p2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83048" y="520275"/>
            <a:ext cx="2770110" cy="1871750"/>
          </a:xfrm>
          <a:prstGeom prst="rect">
            <a:avLst/>
          </a:prstGeom>
          <a:noFill/>
          <a:ln w="9525" cap="flat" cmpd="sng">
            <a:solidFill>
              <a:srgbClr val="FF0000"/>
            </a:solidFill>
            <a:prstDash val="solid"/>
            <a:round/>
            <a:headEnd type="none" w="sm" len="sm"/>
            <a:tailEnd type="none" w="sm" len="sm"/>
          </a:ln>
        </p:spPr>
      </p:pic>
      <p:sp>
        <p:nvSpPr>
          <p:cNvPr id="201" name="Google Shape;201;p28"/>
          <p:cNvSpPr txBox="1"/>
          <p:nvPr/>
        </p:nvSpPr>
        <p:spPr>
          <a:xfrm>
            <a:off x="172600" y="520286"/>
            <a:ext cx="43389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by Moonshot AI, open-source (MIT) coding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Supports long-running sessions 12+ hrs without losing context or derailing; example - from one prompt making 1,000+ tool calls, modifying 4,000+ lines of code, and achieving a 185% throughput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Long-session stability is maintained through sliding window context compression and checkpoint recovery, with a 256K token context window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Supports a swarm of up to 300 parallel agents each tackling a different part of a problem simultaneously, across up to 4,000 coordinated steps. K2.6 itself decides the orchestration, it dynamically determines which sub-agents to spin up and how to coordinate them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 you can give just one prompt, for example "optimize the throughput of this codebase" - and K2.6 acts as the orchestrator: it decomposes the task, spawns parallel sub-agents, manages their work, iterates, and runs until the task is done. You don't manually invoke the agents — the model handles that internally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94-95% cheaper than Opus 4.6</a:t>
            </a:r>
            <a:endParaRPr sz="1200">
              <a:solidFill>
                <a:schemeClr val="dk1"/>
              </a:solidFill>
              <a:latin typeface="Calibri"/>
              <a:ea typeface="Calibri"/>
              <a:cs typeface="Calibri"/>
              <a:sym typeface="Calibri"/>
            </a:endParaRPr>
          </a:p>
        </p:txBody>
      </p:sp>
      <p:sp>
        <p:nvSpPr>
          <p:cNvPr id="202" name="Google Shape;202;p28"/>
          <p:cNvSpPr txBox="1"/>
          <p:nvPr/>
        </p:nvSpPr>
        <p:spPr>
          <a:xfrm>
            <a:off x="4683050" y="2491341"/>
            <a:ext cx="43389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Alibaba Qwen 3.6-Max-Preview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leads major benchmarks in agentic coding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Outperforms Claude in tool-use and instruction-following tests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256k token context window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new preserve_thinking capability that carries reasoning across multi-step agent sessions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API compatibility with both OpenAI and Anthropic formats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Unlike earlier Qwen models, Max-Preview is proprietary with no open weights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Smaller options:</a:t>
            </a:r>
            <a:br>
              <a:rPr lang="en" sz="1200">
                <a:solidFill>
                  <a:schemeClr val="dk1"/>
                </a:solidFill>
                <a:latin typeface="Calibri"/>
                <a:ea typeface="Calibri"/>
                <a:cs typeface="Calibri"/>
                <a:sym typeface="Calibri"/>
              </a:rPr>
            </a:br>
            <a:r>
              <a:rPr lang="en" sz="1200" b="1">
                <a:solidFill>
                  <a:srgbClr val="3C78D8"/>
                </a:solidFill>
                <a:latin typeface="Calibri"/>
                <a:ea typeface="Calibri"/>
                <a:cs typeface="Calibri"/>
                <a:sym typeface="Calibri"/>
              </a:rPr>
              <a:t>Qwen3.6-27B - open source - very good</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Qwen3.6-35B-A3B - open source</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Qwen3.6 Plus (1M context) - proprietary</a:t>
            </a:r>
            <a:endParaRPr sz="1200" b="1">
              <a:solidFill>
                <a:srgbClr val="3C78D8"/>
              </a:solidFill>
              <a:latin typeface="Calibri"/>
              <a:ea typeface="Calibri"/>
              <a:cs typeface="Calibri"/>
              <a:sym typeface="Calibri"/>
            </a:endParaRPr>
          </a:p>
        </p:txBody>
      </p:sp>
      <p:pic>
        <p:nvPicPr>
          <p:cNvPr id="203" name="Google Shape;203;p2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2568566" y="4057350"/>
            <a:ext cx="1942934" cy="9538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208" name="Google Shape;208;p2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209" name="Google Shape;209;p29"/>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10" name="Google Shape;210;p29"/>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11" name="Google Shape;211;p29"/>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212" name="Google Shape;212;p29"/>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13" name="Google Shape;213;p29"/>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0"/>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2862</Words>
  <Application>Microsoft Macintosh PowerPoint</Application>
  <PresentationFormat>On-screen Show (16:9)</PresentationFormat>
  <Paragraphs>367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Calibri</vt:lpstr>
      <vt:lpstr>Roboto Mono</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2026-04-24T17:21:30Z</dcterms:modified>
</cp:coreProperties>
</file>