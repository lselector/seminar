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embeddedFontLst>
    <p:embeddedFont>
      <p:font typeface="Roboto Mono" pitchFamily="49" charset="0"/>
      <p:regular r:id="rId36"/>
      <p:bold r:id="rId37"/>
      <p:italic r:id="rId38"/>
      <p:boldItalic r:id="rId39"/>
    </p:embeddedFont>
    <p:embeddedFont>
      <p:font typeface="Victor Mono" panose="02000009000000000000" pitchFamily="49"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32175F-3C21-40EC-8928-7EDD52CA8BF9}">
  <a:tblStyle styleId="{EF32175F-3C21-40EC-8928-7EDD52CA8BF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f579bdb6fa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f579bdb6fa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f579bdb6fa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3f579bdb6fa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360dcaf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3f360dcafd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f5ae942a2a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f5ae942a2a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f58555880c_2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3f58555880c_2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58555880c_2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f58555880c_2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f53f4676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f53f4676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f5a25c74e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f5a25c74e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564cd407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f564cd407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f59d712e7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f59d712e7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f58555880c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f58555880c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f5a04786a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f5a04786a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5ac771174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3f5ac771174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f56e331b90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3f56e331b90_1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f56e331b90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f56e331b90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f56e331b90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3f56e331b90_1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f577ff1ec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f577ff1ece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f53f6feee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f53f6feee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f5463f6a4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f5463f6a47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f5463f6a4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g3f5463f6a47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f58555880c_2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f58555880c_2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f577ff1ec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g3f577ff1ece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f5463f6a47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g3f5463f6a47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f56e331b90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g3f56e331b90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f586d5992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g3f586d5992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f58555880c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g3f58555880c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f3be34979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g3f3be34979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f59475f27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g3f59475f27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f58f8803d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g3f58f8803d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f579bdb6fa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g3f579bdb6fa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arena.ai/leaderboard/model/kimi-k3" TargetMode="External"/><Relationship Id="rId18" Type="http://schemas.openxmlformats.org/officeDocument/2006/relationships/hyperlink" Target="https://arena.ai/leaderboard/model/qwen3.7-max-preview" TargetMode="External"/><Relationship Id="rId26" Type="http://schemas.openxmlformats.org/officeDocument/2006/relationships/hyperlink" Target="https://arena.ai/leaderboard/model/gpt-5.5-high" TargetMode="External"/><Relationship Id="rId21" Type="http://schemas.openxmlformats.org/officeDocument/2006/relationships/hyperlink" Target="https://arena.ai/leaderboard/model/gemini-3.6-flash" TargetMode="External"/><Relationship Id="rId34" Type="http://schemas.openxmlformats.org/officeDocument/2006/relationships/hyperlink" Target="https://arena.ai/leaderboard/model/grok-4.20-beta1" TargetMode="External"/><Relationship Id="rId7" Type="http://schemas.openxmlformats.org/officeDocument/2006/relationships/hyperlink" Target="https://arena.ai/leaderboard/model/claude-opus-4-7-thinking" TargetMode="External"/><Relationship Id="rId12" Type="http://schemas.openxmlformats.org/officeDocument/2006/relationships/hyperlink" Target="https://arena.ai/leaderboard/model/claude-opus-4-8-thinking" TargetMode="External"/><Relationship Id="rId17" Type="http://schemas.openxmlformats.org/officeDocument/2006/relationships/hyperlink" Target="https://arena.ai/leaderboard/model/gpt-5.6-sol-xhigh" TargetMode="External"/><Relationship Id="rId25" Type="http://schemas.openxmlformats.org/officeDocument/2006/relationships/hyperlink" Target="https://arena.ai/leaderboard/model/grok-4.5" TargetMode="External"/><Relationship Id="rId33" Type="http://schemas.openxmlformats.org/officeDocument/2006/relationships/hyperlink" Target="https://arena.ai/leaderboard/model/gpt-5.2-chat-latest-20260210" TargetMode="External"/><Relationship Id="rId38" Type="http://schemas.openxmlformats.org/officeDocument/2006/relationships/hyperlink" Target="https://arena.ai/leaderboard/model/gemini-3-flash" TargetMode="External"/><Relationship Id="rId2" Type="http://schemas.openxmlformats.org/officeDocument/2006/relationships/notesSlide" Target="../notesSlides/notesSlide2.xml"/><Relationship Id="rId16" Type="http://schemas.openxmlformats.org/officeDocument/2006/relationships/hyperlink" Target="https://arena.ai/leaderboard/model/claude-sonnet-4-6" TargetMode="External"/><Relationship Id="rId20" Type="http://schemas.openxmlformats.org/officeDocument/2006/relationships/hyperlink" Target="https://arena.ai/leaderboard/model/claude-sonnet-5-high" TargetMode="External"/><Relationship Id="rId29" Type="http://schemas.openxmlformats.org/officeDocument/2006/relationships/hyperlink" Target="https://arena.ai/leaderboard/model/mimo-v2.5-pro" TargetMode="External"/><Relationship Id="rId1" Type="http://schemas.openxmlformats.org/officeDocument/2006/relationships/slideLayout" Target="../slideLayouts/slideLayout1.xml"/><Relationship Id="rId6" Type="http://schemas.openxmlformats.org/officeDocument/2006/relationships/hyperlink" Target="https://arena.ai/leaderboard/model/claude-fable-5" TargetMode="External"/><Relationship Id="rId11" Type="http://schemas.openxmlformats.org/officeDocument/2006/relationships/hyperlink" Target="https://arena.ai/leaderboard/model/muse-spark-1.1" TargetMode="External"/><Relationship Id="rId24" Type="http://schemas.openxmlformats.org/officeDocument/2006/relationships/hyperlink" Target="https://arena.ai/leaderboard/model/gpt-5.4-high" TargetMode="External"/><Relationship Id="rId32" Type="http://schemas.openxmlformats.org/officeDocument/2006/relationships/hyperlink" Target="https://arena.ai/leaderboard/model/gemini-3.5-flash-high" TargetMode="External"/><Relationship Id="rId37" Type="http://schemas.openxmlformats.org/officeDocument/2006/relationships/hyperlink" Target="https://arena.ai/leaderboard/model/grok-4.20-beta-0309-reasoning" TargetMode="External"/><Relationship Id="rId5" Type="http://schemas.openxmlformats.org/officeDocument/2006/relationships/hyperlink" Target="https://lmarena.ai/leaderboard/text/coding" TargetMode="External"/><Relationship Id="rId15" Type="http://schemas.openxmlformats.org/officeDocument/2006/relationships/hyperlink" Target="https://arena.ai/leaderboard/model/claude-opus-4-8" TargetMode="External"/><Relationship Id="rId23" Type="http://schemas.openxmlformats.org/officeDocument/2006/relationships/hyperlink" Target="https://arena.ai/leaderboard/model/gemini-3.1-pro-preview" TargetMode="External"/><Relationship Id="rId28" Type="http://schemas.openxmlformats.org/officeDocument/2006/relationships/hyperlink" Target="https://arena.ai/leaderboard/model/claude-sonnet-4-5-20250929-thinking-32k" TargetMode="External"/><Relationship Id="rId36" Type="http://schemas.openxmlformats.org/officeDocument/2006/relationships/hyperlink" Target="https://arena.ai/leaderboard/model/gpt-5.5-instant" TargetMode="External"/><Relationship Id="rId10" Type="http://schemas.openxmlformats.org/officeDocument/2006/relationships/hyperlink" Target="https://arena.ai/leaderboard/model/claude-opus-4-6" TargetMode="External"/><Relationship Id="rId19" Type="http://schemas.openxmlformats.org/officeDocument/2006/relationships/hyperlink" Target="https://arena.ai/leaderboard/model/muse-spark" TargetMode="External"/><Relationship Id="rId31" Type="http://schemas.openxmlformats.org/officeDocument/2006/relationships/hyperlink" Target="https://arena.ai/leaderboard/model/gpt-5.5" TargetMode="External"/><Relationship Id="rId4" Type="http://schemas.openxmlformats.org/officeDocument/2006/relationships/hyperlink" Target="https://lmarena.ai/leaderboard/text" TargetMode="External"/><Relationship Id="rId9" Type="http://schemas.openxmlformats.org/officeDocument/2006/relationships/hyperlink" Target="https://arena.ai/leaderboard/model/claude-opus-4-7" TargetMode="External"/><Relationship Id="rId14" Type="http://schemas.openxmlformats.org/officeDocument/2006/relationships/hyperlink" Target="https://arena.ai/leaderboard/model/claude-opus-4-5-20251101-thinking-32k" TargetMode="External"/><Relationship Id="rId22" Type="http://schemas.openxmlformats.org/officeDocument/2006/relationships/hyperlink" Target="https://arena.ai/leaderboard/model/claude-opus-4-5-20251101" TargetMode="External"/><Relationship Id="rId27" Type="http://schemas.openxmlformats.org/officeDocument/2006/relationships/hyperlink" Target="https://arena.ai/leaderboard/model/glm-5.1" TargetMode="External"/><Relationship Id="rId30" Type="http://schemas.openxmlformats.org/officeDocument/2006/relationships/hyperlink" Target="https://arena.ai/leaderboard/model/gemini-3-pro" TargetMode="External"/><Relationship Id="rId35" Type="http://schemas.openxmlformats.org/officeDocument/2006/relationships/hyperlink" Target="https://arena.ai/leaderboard/model/gemini-3.5-flash-medium" TargetMode="External"/><Relationship Id="rId8" Type="http://schemas.openxmlformats.org/officeDocument/2006/relationships/hyperlink" Target="https://arena.ai/leaderboard/model/claude-opus-4-6-thinking"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youtube.com/watch?v=nxr20lcqagg" TargetMode="External"/><Relationship Id="rId5" Type="http://schemas.openxmlformats.org/officeDocument/2006/relationships/hyperlink" Target="https://artificialanalysis.ai/evaluations/artificial-analysis-intelligence-index" TargetMode="External"/><Relationship Id="rId4" Type="http://schemas.openxmlformats.org/officeDocument/2006/relationships/hyperlink" Target="https://artificialanalysis.ai"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hyperlink" Target="https://www.youtube.com/watch?v=jbiMx17fEK0" TargetMode="External"/><Relationship Id="rId3" Type="http://schemas.openxmlformats.org/officeDocument/2006/relationships/image" Target="../media/image4.png"/><Relationship Id="rId7" Type="http://schemas.openxmlformats.org/officeDocument/2006/relationships/hyperlink" Target="https://support.claude.com/en/articles/12512198-how-to-create-custom-skill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youtube.com/watch?v=KjNp6CbHUSY" TargetMode="External"/><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hyperlink" Target="https://www.youtube.com/watch?v=9QSumbWubZ4"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q5wo85mQYB8"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AQm1ig0GrP4"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blog.google/innovation-and-ai/models-and-research/gemini-models/gemini-3-6-flash-3-5-flash-lite-3-5-flash-cyber/" TargetMode="Externa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www.youtube.com/shorts/zj9j031oFoc" TargetMode="External"/><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hyperlink" Target="https://www.youtube.com/watch?v=KOpTWx1Eou4" TargetMode="External"/><Relationship Id="rId4" Type="http://schemas.openxmlformats.org/officeDocument/2006/relationships/hyperlink" Target="https://www.youtube.com/watch?v=IY3b4HTxpgU"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openai.com/chatgpt-work/" TargetMode="External"/><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huggingface.co/poolside/Laguna-S-2.1" TargetMode="External"/><Relationship Id="rId5" Type="http://schemas.openxmlformats.org/officeDocument/2006/relationships/hyperlink" Target="https://poolside.ai" TargetMode="Externa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nomalyco/opencod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hyperlink" Target="https://libraries.io/pypi/opencode-py"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rZeCwj6fhRI"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hyperlink" Target="https://www.youtube.com/watch?v=QNEo_tl-nhw" TargetMode="Externa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8" Type="http://schemas.openxmlformats.org/officeDocument/2006/relationships/hyperlink" Target="https://www.ffmpeg.org/documentation.html" TargetMode="External"/><Relationship Id="rId3" Type="http://schemas.openxmlformats.org/officeDocument/2006/relationships/hyperlink" Target="https://www.youtube.com/watch?v=DLskE_RN59I" TargetMode="External"/><Relationship Id="rId7" Type="http://schemas.openxmlformats.org/officeDocument/2006/relationships/hyperlink" Target="https://www.ffmpeg.or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hyperlink" Target="https://higgsfield.ai" TargetMode="External"/><Relationship Id="rId9" Type="http://schemas.openxmlformats.org/officeDocument/2006/relationships/hyperlink" Target="https://www.gyan.dev/ffmpeg/build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06tZhFz5Nns" TargetMode="External"/><Relationship Id="rId7"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NelPlsu2l1A" TargetMode="Externa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hyperlink" Target="https://en.wikipedia.org/wiki/Mark_Pincu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s://github.com/google-ai-edge/LiteRT-LM" TargetMode="External"/><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oncrSvt79tQ"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4.jpeg"/><Relationship Id="rId5" Type="http://schemas.openxmlformats.org/officeDocument/2006/relationships/hyperlink" Target="https://www.youtube.com/watch?v=0vphxNt4wyk" TargetMode="Externa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YfK9QmJoaWs"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hyperlink" Target="https://www.youtube.com/watch?v=19xCOJxWU0A" TargetMode="External"/><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RqqHWol4Kwk"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hyperlink" Target="https://www.youtube.com/watch?v=hCOWH0RDB4s"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next.js" TargetMode="External"/><Relationship Id="rId7"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hyperlink" Target="https://www.youtube.com/watch?v=wW5eh94PfJY" TargetMode="External"/><Relationship Id="rId4" Type="http://schemas.openxmlformats.org/officeDocument/2006/relationships/hyperlink" Target="http://fly.io"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hyperlink" Target="https://www.youtube.com/watch?v=Mqj9OChctRQ" TargetMode="External"/><Relationship Id="rId7"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giD8KtDBnJc"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hyperlink" Target="https://www.youtube.com/watch?v=ZZ_HghP02bs" TargetMode="Externa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hyperlink" Target="https://openai.com/index/unlocking-self-improvement-gpt-red/"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aVO6E181cNU"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https://www.youtube.com/watch?v=LvBsACJy4ww"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block/buzz"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hyperlink" Target="https://techcrunch.com/2026/07/21/jack-dorsey-is-taking-on-slack-with-buzz-a-group-chat-platform-for-teams-and-their-ai-agents/"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www.computerworld.com/article/1347921/big-business-go-big-on-linux.html" TargetMode="External"/><Relationship Id="rId3" Type="http://schemas.openxmlformats.org/officeDocument/2006/relationships/hyperlink" Target="https://www.youtube.com/watch?v=hmGAId0J2Lc" TargetMode="External"/><Relationship Id="rId7" Type="http://schemas.openxmlformats.org/officeDocument/2006/relationships/hyperlink" Target="https://www.techrepublic.com/article/five-big-names-that-use-linux-on-the-desktop/" TargetMode="External"/><Relationship Id="rId12"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www.zdnet.com/article/south-koreas-government-explores-move-from-windows-to-linux-desktop/" TargetMode="External"/><Relationship Id="rId11" Type="http://schemas.openxmlformats.org/officeDocument/2006/relationships/image" Target="../media/image57.png"/><Relationship Id="rId5" Type="http://schemas.openxmlformats.org/officeDocument/2006/relationships/hyperlink" Target="https://www.zdnet.com/article/the-german-state-schleswig-holstein-uninstalls-windows/" TargetMode="External"/><Relationship Id="rId10" Type="http://schemas.openxmlformats.org/officeDocument/2006/relationships/image" Target="../media/image56.png"/><Relationship Id="rId4" Type="http://schemas.openxmlformats.org/officeDocument/2006/relationships/hyperlink" Target="https://www.youtube.com/watch?v=jTqmHKTehKM" TargetMode="External"/><Relationship Id="rId9"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hyperlink" Target="https://docs.aws.amazon.com/kms/latest/developerguide/concepts-intro.html" TargetMode="External"/><Relationship Id="rId7"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hyperlink" Target="https://innfactory.de/en/cloud/gcp/products/cloud-kms/" TargetMode="External"/><Relationship Id="rId4" Type="http://schemas.openxmlformats.org/officeDocument/2006/relationships/hyperlink" Target="https://aws.amazon.com/km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creatoreconomy.so/p/use-my-no-ai-slop-skill-to-remove-20-ai-slop-patterns" TargetMode="External"/><Relationship Id="rId7"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hyperlink" Target="https://www.youtube.com/watch?v=sIfPWJvCCf4" TargetMode="External"/><Relationship Id="rId4" Type="http://schemas.openxmlformats.org/officeDocument/2006/relationships/hyperlink" Target="https://github.com/petergyang/no-ai-slop"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hyperlink" Target="https://trueup.io/layoffs"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601257"/>
            <a:ext cx="43302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Crowd-sourced "LM Arena" Leaderboard</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Cost Per Intelligence Index</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Anthropic Fable 5 Permanent, Sonnet-5</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Skill Recording in Claude Co-work</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Alibaba Qwen 3.8 Max Preview</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Qwen-3.8 vs Kimi K3</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OpenCode+OmniRoute  vs  Claude Code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AI Mode in Search</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New Flash 3.6  &amp; Flash-Lite 3.5 Models</a:t>
            </a:r>
            <a:endParaRPr sz="13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July 24,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7121" y="4253971"/>
            <a:ext cx="4525800" cy="8187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KMS - Key Management Service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Remove Slope from Writing</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Claude Code + Omniroot</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Jobs &amp; Layoffs</a:t>
            </a:r>
            <a:endParaRPr sz="1300" b="1">
              <a:solidFill>
                <a:srgbClr val="3C78D8"/>
              </a:solidFill>
              <a:latin typeface="Calibri"/>
              <a:ea typeface="Calibri"/>
              <a:cs typeface="Calibri"/>
              <a:sym typeface="Calibri"/>
            </a:endParaRPr>
          </a:p>
        </p:txBody>
      </p:sp>
      <p:sp>
        <p:nvSpPr>
          <p:cNvPr id="66" name="Google Shape;66;p15"/>
          <p:cNvSpPr txBox="1"/>
          <p:nvPr/>
        </p:nvSpPr>
        <p:spPr>
          <a:xfrm>
            <a:off x="4537025" y="24350"/>
            <a:ext cx="4525800" cy="6465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1800" b="1" i="1">
                <a:solidFill>
                  <a:srgbClr val="FF0000"/>
                </a:solidFill>
                <a:latin typeface="Calibri"/>
                <a:ea typeface="Calibri"/>
                <a:cs typeface="Calibri"/>
                <a:sym typeface="Calibri"/>
              </a:rPr>
              <a:t>"The worst thing I can be is the same as everybody else ..." - Arnold Schwarzenegger</a:t>
            </a:r>
            <a:endParaRPr sz="1800" b="1" i="1">
              <a:solidFill>
                <a:srgbClr val="FF0000"/>
              </a:solidFill>
              <a:latin typeface="Calibri"/>
              <a:ea typeface="Calibri"/>
              <a:cs typeface="Calibri"/>
              <a:sym typeface="Calibri"/>
            </a:endParaRPr>
          </a:p>
        </p:txBody>
      </p:sp>
      <p:sp>
        <p:nvSpPr>
          <p:cNvPr id="67" name="Google Shape;67;p15"/>
          <p:cNvSpPr txBox="1"/>
          <p:nvPr/>
        </p:nvSpPr>
        <p:spPr>
          <a:xfrm>
            <a:off x="4537132" y="763495"/>
            <a:ext cx="4525800" cy="34203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Don't Ship Skills Without Evals - Philipp Schmid</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Webserver Caddy vs Nginx</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Colibri Tiny Inference Engine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Use RAM as VRAM - Linux Hack</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Claude Code vs Codex</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7-layer developer stack for 1-person company</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Hermes Agent Update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Pandas, DuckDB, Polars, Spark</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Automated routing to pick best models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Vids: Gemini Omni and Personal Avatars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OpenAI’s GPT-RED red-teaming system</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Linux wins over Windows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Designing effective AI agent systems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TurboQuant - vector compression</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Buzz - open-source group chat/workspace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From Windows to Linux or Mac</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OpenAI has acquired Astral</a:t>
            </a:r>
            <a:endParaRPr sz="1300" b="1">
              <a:solidFill>
                <a:srgbClr val="3C78D8"/>
              </a:solidFill>
              <a:latin typeface="Calibri"/>
              <a:ea typeface="Calibri"/>
              <a:cs typeface="Calibri"/>
              <a:sym typeface="Calibri"/>
            </a:endParaRPr>
          </a:p>
        </p:txBody>
      </p:sp>
      <p:sp>
        <p:nvSpPr>
          <p:cNvPr id="68" name="Google Shape;68;p15"/>
          <p:cNvSpPr txBox="1"/>
          <p:nvPr/>
        </p:nvSpPr>
        <p:spPr>
          <a:xfrm>
            <a:off x="100175" y="2477564"/>
            <a:ext cx="4330200" cy="26196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Hugging Face hacked by autonomous AI agent</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OpenAI ChatGPT Work</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Poolside AI - Laguna S 2.1</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OpenCode vs Claude Code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Gemini and Gemini Notebook vs Fable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Selecting Right Tokens For Specific Tasks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AI Video using Higgsfield &amp; FFmpeg</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Ollama Better Tool Calling &amp; Speed</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Gemini AI - Generate Slides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Mark Pincus 2-Lists Formula for Startup Ideas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AI is transforming ASIC/SoC development</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AI on small devices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Vibe Coding - 6 Principles</a:t>
            </a:r>
            <a:endParaRPr sz="13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July 21</a:t>
            </a:r>
            <a:endParaRPr sz="1000">
              <a:latin typeface="Calibri"/>
              <a:ea typeface="Calibri"/>
              <a:cs typeface="Calibri"/>
              <a:sym typeface="Calibri"/>
            </a:endParaRPr>
          </a:p>
        </p:txBody>
      </p:sp>
      <p:graphicFrame>
        <p:nvGraphicFramePr>
          <p:cNvPr id="78" name="Google Shape;78;p16"/>
          <p:cNvGraphicFramePr/>
          <p:nvPr/>
        </p:nvGraphicFramePr>
        <p:xfrm>
          <a:off x="5742420" y="430065"/>
          <a:ext cx="3000000" cy="3000000"/>
        </p:xfrm>
        <a:graphic>
          <a:graphicData uri="http://schemas.openxmlformats.org/drawingml/2006/table">
            <a:tbl>
              <a:tblPr>
                <a:noFill/>
                <a:tableStyleId>{EF32175F-3C21-40EC-8928-7EDD52CA8BF9}</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79" name="Google Shape;79;p16"/>
          <p:cNvSpPr txBox="1"/>
          <p:nvPr/>
        </p:nvSpPr>
        <p:spPr>
          <a:xfrm>
            <a:off x="6838390" y="485738"/>
            <a:ext cx="21525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Sonnet-5 - ?</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Qwen3.8-max-preview - 2.4TB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highlight>
                  <a:srgbClr val="C9DAF8"/>
                </a:highlight>
                <a:latin typeface="Calibri"/>
                <a:ea typeface="Calibri"/>
                <a:cs typeface="Calibri"/>
                <a:sym typeface="Calibri"/>
              </a:rPr>
              <a:t>Kimi-k3 - 2.8T</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MiMo-V2.5-Pro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80" name="Google Shape;80;p16"/>
          <p:cNvGraphicFramePr/>
          <p:nvPr/>
        </p:nvGraphicFramePr>
        <p:xfrm>
          <a:off x="2960788" y="745850"/>
          <a:ext cx="3000000" cy="3000000"/>
        </p:xfrm>
        <a:graphic>
          <a:graphicData uri="http://schemas.openxmlformats.org/drawingml/2006/table">
            <a:tbl>
              <a:tblPr>
                <a:noFill/>
                <a:tableStyleId>{EF32175F-3C21-40EC-8928-7EDD52CA8BF9}</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kimi-k3</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6"/>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claude-sonnet-5-high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gemini-3.6-flash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grok-4.5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1" name="Google Shape;81;p16"/>
          <p:cNvGraphicFramePr/>
          <p:nvPr/>
        </p:nvGraphicFramePr>
        <p:xfrm>
          <a:off x="380775" y="745850"/>
          <a:ext cx="3000000" cy="3000000"/>
        </p:xfrm>
        <a:graphic>
          <a:graphicData uri="http://schemas.openxmlformats.org/drawingml/2006/table">
            <a:tbl>
              <a:tblPr>
                <a:noFill/>
                <a:tableStyleId>{EF32175F-3C21-40EC-8928-7EDD52CA8BF9}</a:tableStyleId>
              </a:tblPr>
              <a:tblGrid>
                <a:gridCol w="276225">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kimi-k3</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gemini-3.6-flash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gemini-3.5-flash-high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gemini-3.5-flash-medium</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1213732"/>
            <a:ext cx="9143999" cy="3573286"/>
          </a:xfrm>
          <a:prstGeom prst="rect">
            <a:avLst/>
          </a:prstGeom>
          <a:noFill/>
          <a:ln>
            <a:noFill/>
          </a:ln>
        </p:spPr>
      </p:pic>
      <p:sp>
        <p:nvSpPr>
          <p:cNvPr id="87" name="Google Shape;87;p17"/>
          <p:cNvSpPr txBox="1"/>
          <p:nvPr/>
        </p:nvSpPr>
        <p:spPr>
          <a:xfrm>
            <a:off x="38150" y="2125"/>
            <a:ext cx="44937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chemeClr val="dk1"/>
                </a:solidFill>
                <a:latin typeface="Calibri"/>
                <a:ea typeface="Calibri"/>
                <a:cs typeface="Calibri"/>
                <a:sym typeface="Calibri"/>
              </a:rPr>
              <a:t>Artificial Analysis Intelligence Index</a:t>
            </a:r>
            <a:endParaRPr sz="1800" b="1" i="0" u="none" strike="noStrike" cap="none">
              <a:solidFill>
                <a:srgbClr val="000000"/>
              </a:solidFill>
              <a:latin typeface="Calibri"/>
              <a:ea typeface="Calibri"/>
              <a:cs typeface="Calibri"/>
              <a:sym typeface="Calibri"/>
            </a:endParaRPr>
          </a:p>
        </p:txBody>
      </p:sp>
      <p:sp>
        <p:nvSpPr>
          <p:cNvPr id="88" name="Google Shape;88;p17"/>
          <p:cNvSpPr txBox="1"/>
          <p:nvPr/>
        </p:nvSpPr>
        <p:spPr>
          <a:xfrm>
            <a:off x="52430" y="476075"/>
            <a:ext cx="44295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Artificial Analysis Intelligence Index</a:t>
            </a:r>
            <a:endParaRPr sz="12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4"/>
              </a:rPr>
              <a:t>https://artificialanalysis.ai</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5"/>
              </a:rPr>
              <a:t>https://artificialanalysis.ai/evaluations/artificial-analysis-intelligence-index</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6"/>
              </a:rPr>
              <a:t>https://www.youtube.com/watch?v=nxr20lcqagg</a:t>
            </a:r>
            <a:r>
              <a:rPr lang="en" sz="900" b="1">
                <a:solidFill>
                  <a:srgbClr val="FF0000"/>
                </a:solidFill>
                <a:latin typeface="Calibri"/>
                <a:ea typeface="Calibri"/>
                <a:cs typeface="Calibri"/>
                <a:sym typeface="Calibri"/>
              </a:rPr>
              <a:t> - Anthropic vs OpenAI </a:t>
            </a:r>
            <a:endParaRPr sz="900" b="1">
              <a:solidFill>
                <a:srgbClr val="FF0000"/>
              </a:solidFill>
              <a:latin typeface="Calibri"/>
              <a:ea typeface="Calibri"/>
              <a:cs typeface="Calibri"/>
              <a:sym typeface="Calibri"/>
            </a:endParaRPr>
          </a:p>
        </p:txBody>
      </p:sp>
      <p:sp>
        <p:nvSpPr>
          <p:cNvPr id="89" name="Google Shape;89;p17"/>
          <p:cNvSpPr/>
          <p:nvPr/>
        </p:nvSpPr>
        <p:spPr>
          <a:xfrm>
            <a:off x="4905459" y="2802804"/>
            <a:ext cx="249600" cy="4755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7"/>
          <p:cNvSpPr/>
          <p:nvPr/>
        </p:nvSpPr>
        <p:spPr>
          <a:xfrm>
            <a:off x="999350" y="2789175"/>
            <a:ext cx="249600" cy="4755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 name="Google Shape;91;p17"/>
          <p:cNvSpPr/>
          <p:nvPr/>
        </p:nvSpPr>
        <p:spPr>
          <a:xfrm>
            <a:off x="2772415" y="2802793"/>
            <a:ext cx="249600" cy="4755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 name="Google Shape;92;p17"/>
          <p:cNvSpPr/>
          <p:nvPr/>
        </p:nvSpPr>
        <p:spPr>
          <a:xfrm>
            <a:off x="4547258" y="2802804"/>
            <a:ext cx="249600" cy="4755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7"/>
          <p:cNvSpPr/>
          <p:nvPr/>
        </p:nvSpPr>
        <p:spPr>
          <a:xfrm>
            <a:off x="277850" y="2789175"/>
            <a:ext cx="249600" cy="4755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7"/>
          <p:cNvSpPr txBox="1"/>
          <p:nvPr/>
        </p:nvSpPr>
        <p:spPr>
          <a:xfrm>
            <a:off x="6333351" y="837775"/>
            <a:ext cx="9447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July 21</a:t>
            </a:r>
            <a:endParaRPr sz="1000">
              <a:latin typeface="Calibri"/>
              <a:ea typeface="Calibri"/>
              <a:cs typeface="Calibri"/>
              <a:sym typeface="Calibri"/>
            </a:endParaRPr>
          </a:p>
        </p:txBody>
      </p:sp>
      <p:sp>
        <p:nvSpPr>
          <p:cNvPr id="95" name="Google Shape;95;p17"/>
          <p:cNvSpPr/>
          <p:nvPr/>
        </p:nvSpPr>
        <p:spPr>
          <a:xfrm>
            <a:off x="5985250" y="2802804"/>
            <a:ext cx="249600" cy="4755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01" name="Google Shape;101;p18"/>
          <p:cNvSpPr txBox="1"/>
          <p:nvPr/>
        </p:nvSpPr>
        <p:spPr>
          <a:xfrm>
            <a:off x="81775" y="387010"/>
            <a:ext cx="4368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Fable 5 Becomes Permanent in Subscriptions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abandoning the earlier plan to fully meter 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Included as a bundled feature in Max and Team Premium, but only up to 50% of their usual weekly usage limits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 bundled for Pro and Team Standard; those users access Fable 5 via metered usage credits, with a one-time $100 credit and then standard API pricing</a:t>
            </a:r>
            <a:endParaRPr sz="1200">
              <a:solidFill>
                <a:schemeClr val="dk1"/>
              </a:solidFill>
              <a:latin typeface="Calibri"/>
              <a:ea typeface="Calibri"/>
              <a:cs typeface="Calibri"/>
              <a:sym typeface="Calibri"/>
            </a:endParaRPr>
          </a:p>
        </p:txBody>
      </p:sp>
      <p:sp>
        <p:nvSpPr>
          <p:cNvPr id="102" name="Google Shape;102;p18"/>
          <p:cNvSpPr txBox="1"/>
          <p:nvPr/>
        </p:nvSpPr>
        <p:spPr>
          <a:xfrm>
            <a:off x="81775" y="1810855"/>
            <a:ext cx="28518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Sonnet 5 - released end of June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Opus 5 - not announced yet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Haiku 4.5 - latest Haiku</a:t>
            </a:r>
            <a:endParaRPr sz="1200">
              <a:solidFill>
                <a:schemeClr val="dk1"/>
              </a:solidFill>
              <a:latin typeface="Calibri"/>
              <a:ea typeface="Calibri"/>
              <a:cs typeface="Calibri"/>
              <a:sym typeface="Calibri"/>
            </a:endParaRPr>
          </a:p>
        </p:txBody>
      </p:sp>
      <p:sp>
        <p:nvSpPr>
          <p:cNvPr id="103" name="Google Shape;103;p18"/>
          <p:cNvSpPr txBox="1"/>
          <p:nvPr/>
        </p:nvSpPr>
        <p:spPr>
          <a:xfrm>
            <a:off x="81775" y="3556967"/>
            <a:ext cx="4368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offers K–12 teachers a free year of premium access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Also provides a specialized library aligned with state academic standards to reduce administrative tasks</a:t>
            </a:r>
            <a:endParaRPr sz="1200">
              <a:solidFill>
                <a:schemeClr val="dk1"/>
              </a:solidFill>
              <a:latin typeface="Calibri"/>
              <a:ea typeface="Calibri"/>
              <a:cs typeface="Calibri"/>
              <a:sym typeface="Calibri"/>
            </a:endParaRPr>
          </a:p>
        </p:txBody>
      </p:sp>
      <p:sp>
        <p:nvSpPr>
          <p:cNvPr id="104" name="Google Shape;104;p18"/>
          <p:cNvSpPr txBox="1"/>
          <p:nvPr/>
        </p:nvSpPr>
        <p:spPr>
          <a:xfrm>
            <a:off x="81775" y="3075097"/>
            <a:ext cx="25281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added an in-app browser to Claude Code</a:t>
            </a:r>
            <a:endParaRPr sz="1200">
              <a:solidFill>
                <a:schemeClr val="dk1"/>
              </a:solidFill>
              <a:latin typeface="Calibri"/>
              <a:ea typeface="Calibri"/>
              <a:cs typeface="Calibri"/>
              <a:sym typeface="Calibri"/>
            </a:endParaRPr>
          </a:p>
        </p:txBody>
      </p:sp>
      <p:pic>
        <p:nvPicPr>
          <p:cNvPr id="105" name="Google Shape;105;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68786" y="72677"/>
            <a:ext cx="1311300" cy="1311300"/>
          </a:xfrm>
          <a:prstGeom prst="rect">
            <a:avLst/>
          </a:prstGeom>
          <a:noFill/>
          <a:ln>
            <a:noFill/>
          </a:ln>
        </p:spPr>
      </p:pic>
      <p:pic>
        <p:nvPicPr>
          <p:cNvPr id="106" name="Google Shape;106;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306536" y="257127"/>
            <a:ext cx="942397" cy="942403"/>
          </a:xfrm>
          <a:prstGeom prst="rect">
            <a:avLst/>
          </a:prstGeom>
          <a:noFill/>
          <a:ln>
            <a:noFill/>
          </a:ln>
        </p:spPr>
      </p:pic>
      <p:sp>
        <p:nvSpPr>
          <p:cNvPr id="107" name="Google Shape;107;p18"/>
          <p:cNvSpPr txBox="1"/>
          <p:nvPr/>
        </p:nvSpPr>
        <p:spPr>
          <a:xfrm>
            <a:off x="5254025" y="2771800"/>
            <a:ext cx="37488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Multimodal or not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a:t>
            </a:r>
            <a:r>
              <a:rPr lang="en" sz="1200">
                <a:solidFill>
                  <a:schemeClr val="dk1"/>
                </a:solidFill>
                <a:latin typeface="Calibri"/>
                <a:ea typeface="Calibri"/>
                <a:cs typeface="Calibri"/>
                <a:sym typeface="Calibri"/>
              </a:rPr>
              <a:t> focuses exclusively on reasoning models like Claude 5 without video or voice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OpenAI</a:t>
            </a:r>
            <a:r>
              <a:rPr lang="en" sz="1200">
                <a:solidFill>
                  <a:schemeClr val="dk1"/>
                </a:solidFill>
                <a:latin typeface="Calibri"/>
                <a:ea typeface="Calibri"/>
                <a:cs typeface="Calibri"/>
                <a:sym typeface="Calibri"/>
              </a:rPr>
              <a:t> systematically retired its Omni ecosystem in 2026, removing GPT-4o models, custom GPTs, and shutting down its Sora video app - pivoting toward enterprise and coding-focused analytical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Gemini Omni Flash</a:t>
            </a:r>
            <a:r>
              <a:rPr lang="en" sz="1200">
                <a:solidFill>
                  <a:schemeClr val="dk1"/>
                </a:solidFill>
                <a:latin typeface="Calibri"/>
                <a:ea typeface="Calibri"/>
                <a:cs typeface="Calibri"/>
                <a:sym typeface="Calibri"/>
              </a:rPr>
              <a:t> (May 2026) offers free multimodal video generation directly inside YouTube Shorts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Competitors like </a:t>
            </a:r>
            <a:r>
              <a:rPr lang="en" sz="1200" b="1">
                <a:solidFill>
                  <a:srgbClr val="FF0000"/>
                </a:solidFill>
                <a:latin typeface="Calibri"/>
                <a:ea typeface="Calibri"/>
                <a:cs typeface="Calibri"/>
                <a:sym typeface="Calibri"/>
              </a:rPr>
              <a:t>Kuaishou</a:t>
            </a:r>
            <a:r>
              <a:rPr lang="en" sz="1200">
                <a:solidFill>
                  <a:schemeClr val="dk1"/>
                </a:solidFill>
                <a:latin typeface="Calibri"/>
                <a:ea typeface="Calibri"/>
                <a:cs typeface="Calibri"/>
                <a:sym typeface="Calibri"/>
              </a:rPr>
              <a:t> and </a:t>
            </a:r>
            <a:r>
              <a:rPr lang="en" sz="1200" b="1">
                <a:solidFill>
                  <a:srgbClr val="FF0000"/>
                </a:solidFill>
                <a:latin typeface="Calibri"/>
                <a:ea typeface="Calibri"/>
                <a:cs typeface="Calibri"/>
                <a:sym typeface="Calibri"/>
              </a:rPr>
              <a:t>ByteDance</a:t>
            </a:r>
            <a:r>
              <a:rPr lang="en" sz="1200">
                <a:solidFill>
                  <a:schemeClr val="dk1"/>
                </a:solidFill>
                <a:latin typeface="Calibri"/>
                <a:ea typeface="Calibri"/>
                <a:cs typeface="Calibri"/>
                <a:sym typeface="Calibri"/>
              </a:rPr>
              <a:t> are expanding their video AI tools, while</a:t>
            </a:r>
            <a:endParaRPr sz="1200">
              <a:solidFill>
                <a:schemeClr val="dk1"/>
              </a:solidFill>
              <a:latin typeface="Calibri"/>
              <a:ea typeface="Calibri"/>
              <a:cs typeface="Calibri"/>
              <a:sym typeface="Calibri"/>
            </a:endParaRPr>
          </a:p>
        </p:txBody>
      </p:sp>
      <p:sp>
        <p:nvSpPr>
          <p:cNvPr id="108" name="Google Shape;108;p18"/>
          <p:cNvSpPr txBox="1"/>
          <p:nvPr/>
        </p:nvSpPr>
        <p:spPr>
          <a:xfrm>
            <a:off x="81775" y="4249592"/>
            <a:ext cx="4368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added voice mode to Claude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now ask Claude to manage tasks across Gmail, Google Calendar, Slack, Canva, and Notion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Free users are limited to the Haiku model and one app connection</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9"/>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14" name="Google Shape;114;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477378" y="98651"/>
            <a:ext cx="820041" cy="820041"/>
          </a:xfrm>
          <a:prstGeom prst="rect">
            <a:avLst/>
          </a:prstGeom>
          <a:noFill/>
          <a:ln>
            <a:noFill/>
          </a:ln>
        </p:spPr>
      </p:pic>
      <p:pic>
        <p:nvPicPr>
          <p:cNvPr id="115" name="Google Shape;115;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8439035" y="213999"/>
            <a:ext cx="589343" cy="589348"/>
          </a:xfrm>
          <a:prstGeom prst="rect">
            <a:avLst/>
          </a:prstGeom>
          <a:noFill/>
          <a:ln>
            <a:noFill/>
          </a:ln>
        </p:spPr>
      </p:pic>
      <p:pic>
        <p:nvPicPr>
          <p:cNvPr id="116" name="Google Shape;116;p1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893775" y="1827913"/>
            <a:ext cx="3545251" cy="944425"/>
          </a:xfrm>
          <a:prstGeom prst="rect">
            <a:avLst/>
          </a:prstGeom>
          <a:noFill/>
          <a:ln w="9525" cap="flat" cmpd="sng">
            <a:solidFill>
              <a:srgbClr val="FF0000"/>
            </a:solidFill>
            <a:prstDash val="solid"/>
            <a:round/>
            <a:headEnd type="none" w="sm" len="sm"/>
            <a:tailEnd type="none" w="sm" len="sm"/>
          </a:ln>
        </p:spPr>
      </p:pic>
      <p:sp>
        <p:nvSpPr>
          <p:cNvPr id="117" name="Google Shape;117;p19"/>
          <p:cNvSpPr txBox="1"/>
          <p:nvPr/>
        </p:nvSpPr>
        <p:spPr>
          <a:xfrm>
            <a:off x="81775" y="435800"/>
            <a:ext cx="44370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Skill Recording in Claude Co-work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"Record a Skill" enables users to train Claude by recording screen actions and voiceover instructions - only on Mac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 the Claude desktop app and choose Record a skill from the + menu in Claude Cowork</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Claude analyzes the recording using visual and audio cues to automatically write a reusable skill file saved directly to your local skill library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Once saved, Claude autonomously executes the entire multi-step workflow</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technology unlocks full desktop automation for legacy software, private admin portals, and web tools lacking native AI integrations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No APIs or MCP connections required</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Recommended workflow setup uses advanced models like Fable 5 for skill creation and cost-effective models like Opus or Sonnet for execution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latin typeface="Calibri"/>
                <a:ea typeface="Calibri"/>
                <a:cs typeface="Calibri"/>
                <a:sym typeface="Calibri"/>
              </a:rPr>
              <a:t>Practical demonstrations show automated client onboarding workflows and a YouTube content ideation system based on viral outliers</a:t>
            </a:r>
            <a:endParaRPr sz="1200">
              <a:latin typeface="Calibri"/>
              <a:ea typeface="Calibri"/>
              <a:cs typeface="Calibri"/>
              <a:sym typeface="Calibri"/>
            </a:endParaRPr>
          </a:p>
          <a:p>
            <a:pPr marL="171450" marR="0" lvl="0" indent="-114300" algn="l" rtl="0">
              <a:lnSpc>
                <a:spcPct val="100000"/>
              </a:lnSpc>
              <a:spcBef>
                <a:spcPts val="0"/>
              </a:spcBef>
              <a:spcAft>
                <a:spcPts val="0"/>
              </a:spcAft>
              <a:buClr>
                <a:srgbClr val="000000"/>
              </a:buClr>
              <a:buSzPts val="900"/>
              <a:buFont typeface="Calibri"/>
              <a:buChar char="●"/>
            </a:pPr>
            <a:r>
              <a:rPr lang="en" sz="900" u="sng">
                <a:solidFill>
                  <a:srgbClr val="0097A7"/>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https://www.youtube.com/watch?v=KjNp6CbHUSY</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rgbClr val="0097A7"/>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https://support.claude.com/en/articles/12512198-how-to-create-custom-skills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rgbClr val="0097A7"/>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https://www.youtube.com/watch?v=jbiMx17fEK0</a:t>
            </a:r>
            <a:r>
              <a:rPr lang="en" sz="900">
                <a:latin typeface="Calibri"/>
                <a:ea typeface="Calibri"/>
                <a:cs typeface="Calibri"/>
                <a:sym typeface="Calibri"/>
              </a:rPr>
              <a:t> - demo</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9"/>
              </a:rPr>
              <a:t>https://www.youtube.com/watch?v=9QSumbWubZ4</a:t>
            </a:r>
            <a:r>
              <a:rPr lang="en" sz="900">
                <a:latin typeface="Calibri"/>
                <a:ea typeface="Calibri"/>
                <a:cs typeface="Calibri"/>
                <a:sym typeface="Calibri"/>
              </a:rPr>
              <a:t> - demo</a:t>
            </a:r>
            <a:endParaRPr sz="9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23" name="Google Shape;123;p20"/>
          <p:cNvSpPr txBox="1"/>
          <p:nvPr/>
        </p:nvSpPr>
        <p:spPr>
          <a:xfrm>
            <a:off x="81775" y="581100"/>
            <a:ext cx="45093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Alibaba Qwen 3.8 Max Preview</a:t>
            </a:r>
            <a:r>
              <a:rPr lang="en" sz="1200">
                <a:solidFill>
                  <a:schemeClr val="dk1"/>
                </a:solidFill>
                <a:latin typeface="Calibri"/>
                <a:ea typeface="Calibri"/>
                <a:cs typeface="Calibri"/>
                <a:sym typeface="Calibri"/>
              </a:rPr>
              <a:t> (July 19)</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2.4T-params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Window - 991K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Estimated pricing  $1.50 / $5  in/out per Mln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Open-weight release is promised, but not yet</a:t>
            </a:r>
            <a:endParaRPr sz="1200">
              <a:solidFill>
                <a:schemeClr val="dk1"/>
              </a:solidFill>
              <a:latin typeface="Calibri"/>
              <a:ea typeface="Calibri"/>
              <a:cs typeface="Calibri"/>
              <a:sym typeface="Calibri"/>
            </a:endParaRPr>
          </a:p>
        </p:txBody>
      </p:sp>
      <p:sp>
        <p:nvSpPr>
          <p:cNvPr id="124" name="Google Shape;124;p20"/>
          <p:cNvSpPr txBox="1"/>
          <p:nvPr/>
        </p:nvSpPr>
        <p:spPr>
          <a:xfrm>
            <a:off x="81775" y="2609481"/>
            <a:ext cx="4509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Qwen-3.8 vs Kimi K3</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 3.8 (2.4T params) vs Moonshot AI Kimi K3 (2.8T params)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 3.8 Wins on average 8.22/10 versus Kimi K3's 7.75/10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 excels at visual rendering, web coding, and business promo assets (landing pages)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Kimi K3 outperforms in atmospheric game visuals and long-context recall (1M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size alone does not dictate quality; use Qwen 3.8 for fast front-end builds and Kimi K3 for deep, doc-heavy memory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https://www.youtube.com/watch?v=q5wo85mQYB8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5" name="Google Shape;125;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25325" y="2554775"/>
            <a:ext cx="3131649" cy="1775366"/>
          </a:xfrm>
          <a:prstGeom prst="rect">
            <a:avLst/>
          </a:prstGeom>
          <a:noFill/>
          <a:ln w="9525" cap="flat" cmpd="sng">
            <a:solidFill>
              <a:srgbClr val="FF0000"/>
            </a:solidFill>
            <a:prstDash val="solid"/>
            <a:round/>
            <a:headEnd type="none" w="sm" len="sm"/>
            <a:tailEnd type="none" w="sm" len="sm"/>
          </a:ln>
        </p:spPr>
      </p:pic>
      <p:pic>
        <p:nvPicPr>
          <p:cNvPr id="126" name="Google Shape;126;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25320" y="437149"/>
            <a:ext cx="3131654" cy="1685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2" name="Google Shape;132;p21"/>
          <p:cNvSpPr txBox="1"/>
          <p:nvPr/>
        </p:nvSpPr>
        <p:spPr>
          <a:xfrm>
            <a:off x="81775" y="501550"/>
            <a:ext cx="4509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OpenCode + OmniRoute  vs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OpenCode - model-agnostic terminal coding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OmniRoute - local gateway connecting to 200+ model providers, automatic failovers to prevent rate limits, compressing repetitive tool chatter by up to 95% (saves on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https://www.youtube.com/watch?v=AQm1ig0GrP4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proprietary models like Claude Opus remain superior for complex tasks, this open-source stack offers a free, customizable alternative for everyday coding workflows</a:t>
            </a:r>
            <a:endParaRPr sz="1200">
              <a:solidFill>
                <a:schemeClr val="dk1"/>
              </a:solidFill>
              <a:latin typeface="Calibri"/>
              <a:ea typeface="Calibri"/>
              <a:cs typeface="Calibri"/>
              <a:sym typeface="Calibri"/>
            </a:endParaRPr>
          </a:p>
        </p:txBody>
      </p:sp>
      <p:sp>
        <p:nvSpPr>
          <p:cNvPr id="133" name="Google Shape;133;p21"/>
          <p:cNvSpPr txBox="1"/>
          <p:nvPr/>
        </p:nvSpPr>
        <p:spPr>
          <a:xfrm>
            <a:off x="81775" y="2289366"/>
            <a:ext cx="4509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AI Mode in Search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lets you link external apps directly inside AI Mode in 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can help you generate a grocery list, then push items straight into your Instacart cart and hand off to their checkout flow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Ask AI Mode for design options (e.g., a flyer) and have it surface Canva templates you can open/edit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Ask for a playlist tailored to an event; AI Mode creates and saves it directly to your YouTube Music library</a:t>
            </a:r>
            <a:endParaRPr sz="1200">
              <a:solidFill>
                <a:schemeClr val="dk1"/>
              </a:solidFill>
              <a:latin typeface="Calibri"/>
              <a:ea typeface="Calibri"/>
              <a:cs typeface="Calibri"/>
              <a:sym typeface="Calibri"/>
            </a:endParaRPr>
          </a:p>
        </p:txBody>
      </p:sp>
      <p:pic>
        <p:nvPicPr>
          <p:cNvPr id="134" name="Google Shape;134;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12075" y="2669641"/>
            <a:ext cx="3470250" cy="931200"/>
          </a:xfrm>
          <a:prstGeom prst="rect">
            <a:avLst/>
          </a:prstGeom>
          <a:noFill/>
          <a:ln>
            <a:noFill/>
          </a:ln>
        </p:spPr>
      </p:pic>
      <p:pic>
        <p:nvPicPr>
          <p:cNvPr id="135" name="Google Shape;135;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02550" y="450475"/>
            <a:ext cx="3172225" cy="1783050"/>
          </a:xfrm>
          <a:prstGeom prst="rect">
            <a:avLst/>
          </a:prstGeom>
          <a:noFill/>
          <a:ln>
            <a:noFill/>
          </a:ln>
        </p:spPr>
      </p:pic>
      <p:sp>
        <p:nvSpPr>
          <p:cNvPr id="136" name="Google Shape;136;p21"/>
          <p:cNvSpPr txBox="1"/>
          <p:nvPr/>
        </p:nvSpPr>
        <p:spPr>
          <a:xfrm>
            <a:off x="81775" y="3892391"/>
            <a:ext cx="45093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New Flash 3.6  &amp; Flash-Lite 3.5 Models (July 21)</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Shifts its focus from bigger models to cheaper and faster ones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Gemini 3.6 Flash</a:t>
            </a:r>
            <a:r>
              <a:rPr lang="en" sz="1200">
                <a:solidFill>
                  <a:schemeClr val="dk1"/>
                </a:solidFill>
                <a:latin typeface="Calibri"/>
                <a:ea typeface="Calibri"/>
                <a:cs typeface="Calibri"/>
                <a:sym typeface="Calibri"/>
              </a:rPr>
              <a:t> cuts output token use by 17%, </a:t>
            </a:r>
            <a:r>
              <a:rPr lang="en" sz="1200" b="1">
                <a:solidFill>
                  <a:srgbClr val="FF0000"/>
                </a:solidFill>
                <a:latin typeface="Calibri"/>
                <a:ea typeface="Calibri"/>
                <a:cs typeface="Calibri"/>
                <a:sym typeface="Calibri"/>
              </a:rPr>
              <a:t>Pricing $1.5 / $7.5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Gemini 3.5 Flash-Lite </a:t>
            </a:r>
            <a:r>
              <a:rPr lang="en" sz="1200">
                <a:solidFill>
                  <a:schemeClr val="dk1"/>
                </a:solidFill>
                <a:latin typeface="Calibri"/>
                <a:ea typeface="Calibri"/>
                <a:cs typeface="Calibri"/>
                <a:sym typeface="Calibri"/>
              </a:rPr>
              <a:t>delivers 350 tok/sec, </a:t>
            </a:r>
            <a:r>
              <a:rPr lang="en" sz="1200" b="1">
                <a:solidFill>
                  <a:srgbClr val="FF0000"/>
                </a:solidFill>
                <a:latin typeface="Calibri"/>
                <a:ea typeface="Calibri"/>
                <a:cs typeface="Calibri"/>
                <a:sym typeface="Calibri"/>
              </a:rPr>
              <a:t>Pricing $0.3 / $2.5</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https://blog.google/innovation-and-ai/models-and-research/gemini-models/gemini-3-6-flash-3-5-flash-lite-3-5-flash-cyber/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7.06K subscribers, 296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42" name="Google Shape;142;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131975" y="171338"/>
            <a:ext cx="2145049" cy="48008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8" name="Google Shape;148;p23"/>
          <p:cNvSpPr txBox="1"/>
          <p:nvPr/>
        </p:nvSpPr>
        <p:spPr>
          <a:xfrm>
            <a:off x="81775" y="350550"/>
            <a:ext cx="4860300" cy="380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Hugging Face hacked by autonomous AI agent</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OpenAI models were tested on the exploit gym benchmark decided to find answers online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AI escaped their sandbox and launched zero-day cyberattacks against Hugging Face to scrape the benchmark answers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slipped a poisoned dataset into Hugging Face's data pipeline to run arbitrary code and crawl internal clusters. Escalated privileges, and reached internet-connected nodes.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3C78D8"/>
                </a:solidFill>
                <a:latin typeface="Calibri"/>
                <a:ea typeface="Calibri"/>
                <a:cs typeface="Calibri"/>
                <a:sym typeface="Calibri"/>
              </a:rPr>
              <a:t>Hugging Face tried analyzing the attack using US proprietary frontier models like ChatGPT and Claude, </a:t>
            </a:r>
            <a:r>
              <a:rPr lang="en" sz="1500" b="1">
                <a:solidFill>
                  <a:srgbClr val="FF0000"/>
                </a:solidFill>
                <a:latin typeface="Calibri"/>
                <a:ea typeface="Calibri"/>
                <a:cs typeface="Calibri"/>
                <a:sym typeface="Calibri"/>
              </a:rPr>
              <a:t>but their safety guardrails blocked the security payloads</a:t>
            </a:r>
            <a:endParaRPr sz="15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So Hugging Face had to use Chinese open-weight models like GLM-5.</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Sentdex criticizes closed-source AI companies for lobbying against open-weight models, arguing that accessible open models are critical for real-world cybersecurity defense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OpenAI framed the incident as a collaborative partnership, masking the fact that their model caused the breach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https://www.youtube.com/shorts/zj9j031oFoc</a:t>
            </a:r>
            <a:r>
              <a:rPr lang="en" sz="1200">
                <a:solidFill>
                  <a:schemeClr val="dk1"/>
                </a:solidFill>
                <a:latin typeface="Calibri"/>
                <a:ea typeface="Calibri"/>
                <a:cs typeface="Calibri"/>
                <a:sym typeface="Calibri"/>
              </a:rPr>
              <a:t> - short explanation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https://www.youtube.com/watch?v=IY3b4HTxpgU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https://www.youtube.com/watch?v=KOpTWx1Eou4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49" name="Google Shape;149;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303473" y="825487"/>
            <a:ext cx="1691875" cy="1261575"/>
          </a:xfrm>
          <a:prstGeom prst="rect">
            <a:avLst/>
          </a:prstGeom>
          <a:noFill/>
          <a:ln w="9525" cap="flat" cmpd="sng">
            <a:solidFill>
              <a:srgbClr val="FF0000"/>
            </a:solidFill>
            <a:prstDash val="solid"/>
            <a:round/>
            <a:headEnd type="none" w="sm" len="sm"/>
            <a:tailEnd type="none" w="sm" len="sm"/>
          </a:ln>
        </p:spPr>
      </p:pic>
      <p:pic>
        <p:nvPicPr>
          <p:cNvPr id="150" name="Google Shape;150;p2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109748" y="610349"/>
            <a:ext cx="1691875" cy="1691875"/>
          </a:xfrm>
          <a:prstGeom prst="rect">
            <a:avLst/>
          </a:prstGeom>
          <a:noFill/>
          <a:ln w="9525" cap="flat" cmpd="sng">
            <a:solidFill>
              <a:srgbClr val="FF0000"/>
            </a:solidFill>
            <a:prstDash val="solid"/>
            <a:round/>
            <a:headEnd type="none" w="sm" len="sm"/>
            <a:tailEnd type="none" w="sm" len="sm"/>
          </a:ln>
        </p:spPr>
      </p:pic>
      <p:pic>
        <p:nvPicPr>
          <p:cNvPr id="151" name="Google Shape;151;p2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167125" y="2618800"/>
            <a:ext cx="2482776" cy="1352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p:nvPr/>
        </p:nvSpPr>
        <p:spPr>
          <a:xfrm>
            <a:off x="81775" y="0"/>
            <a:ext cx="428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OpenAI ChatGPT Work</a:t>
            </a:r>
            <a:endParaRPr sz="2000" b="1">
              <a:solidFill>
                <a:schemeClr val="dk1"/>
              </a:solidFill>
              <a:latin typeface="Calibri"/>
              <a:ea typeface="Calibri"/>
              <a:cs typeface="Calibri"/>
              <a:sym typeface="Calibri"/>
            </a:endParaRPr>
          </a:p>
        </p:txBody>
      </p:sp>
      <p:sp>
        <p:nvSpPr>
          <p:cNvPr id="157" name="Google Shape;157;p24"/>
          <p:cNvSpPr txBox="1"/>
          <p:nvPr/>
        </p:nvSpPr>
        <p:spPr>
          <a:xfrm>
            <a:off x="81775" y="484119"/>
            <a:ext cx="43683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ChatGPT 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https://openai.com/chatgpt-work/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ChatGPT Chat </a:t>
            </a:r>
            <a:r>
              <a:rPr lang="en" sz="1200">
                <a:solidFill>
                  <a:schemeClr val="dk1"/>
                </a:solidFill>
                <a:latin typeface="Calibri"/>
                <a:ea typeface="Calibri"/>
                <a:cs typeface="Calibri"/>
                <a:sym typeface="Calibri"/>
              </a:rPr>
              <a:t>is for fast, conversational help like questions, brainstorming, and quick drafting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ChatGPT Work</a:t>
            </a:r>
            <a:r>
              <a:rPr lang="en" sz="1200">
                <a:solidFill>
                  <a:schemeClr val="dk1"/>
                </a:solidFill>
                <a:latin typeface="Calibri"/>
                <a:ea typeface="Calibri"/>
                <a:cs typeface="Calibri"/>
                <a:sym typeface="Calibri"/>
              </a:rPr>
              <a:t> is for longer, multi-step tasks that end in a finished deliverable</a:t>
            </a:r>
            <a:endParaRPr sz="1200">
              <a:solidFill>
                <a:schemeClr val="dk1"/>
              </a:solidFill>
              <a:latin typeface="Calibri"/>
              <a:ea typeface="Calibri"/>
              <a:cs typeface="Calibri"/>
              <a:sym typeface="Calibri"/>
            </a:endParaRPr>
          </a:p>
        </p:txBody>
      </p:sp>
      <p:pic>
        <p:nvPicPr>
          <p:cNvPr id="158" name="Google Shape;158;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45475" y="163100"/>
            <a:ext cx="3580575" cy="2728299"/>
          </a:xfrm>
          <a:prstGeom prst="rect">
            <a:avLst/>
          </a:prstGeom>
          <a:noFill/>
          <a:ln w="9525" cap="flat" cmpd="sng">
            <a:solidFill>
              <a:srgbClr val="FF0000"/>
            </a:solidFill>
            <a:prstDash val="solid"/>
            <a:round/>
            <a:headEnd type="none" w="sm" len="sm"/>
            <a:tailEnd type="none" w="sm" len="sm"/>
          </a:ln>
        </p:spPr>
      </p:pic>
      <p:sp>
        <p:nvSpPr>
          <p:cNvPr id="159" name="Google Shape;159;p24"/>
          <p:cNvSpPr txBox="1"/>
          <p:nvPr/>
        </p:nvSpPr>
        <p:spPr>
          <a:xfrm>
            <a:off x="81775" y="2981569"/>
            <a:ext cx="436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Poolside AI released Laguna S 2.1</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https://poolside.ai</a:t>
            </a:r>
            <a:r>
              <a:rPr lang="en" sz="1200">
                <a:solidFill>
                  <a:schemeClr val="dk1"/>
                </a:solidFill>
                <a:latin typeface="Calibri"/>
                <a:ea typeface="Calibri"/>
                <a:cs typeface="Calibri"/>
                <a:sym typeface="Calibri"/>
              </a:rPr>
              <a:t>  - a startup from San-Francisci, CA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since 2023, 60+ employees)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model is open-weight, 118B params MoE (8B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length 1M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Thinking and non-thinking modes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Was trained in under 9 weeks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be run locally (RTX 3090, DGX Spark, or high-mem Macs).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Good on Coding Benchmarks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open-weight via Hugging Face, OpenRouter,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https://huggingface.co/poolside/Laguna-S-2.1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60" name="Google Shape;160;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574500" y="3327300"/>
            <a:ext cx="4467224" cy="1704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p:nvPr/>
        </p:nvSpPr>
        <p:spPr>
          <a:xfrm>
            <a:off x="81775" y="0"/>
            <a:ext cx="428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OpenCode vs Claude Code </a:t>
            </a:r>
            <a:endParaRPr sz="2000" b="1">
              <a:solidFill>
                <a:schemeClr val="dk1"/>
              </a:solidFill>
              <a:latin typeface="Calibri"/>
              <a:ea typeface="Calibri"/>
              <a:cs typeface="Calibri"/>
              <a:sym typeface="Calibri"/>
            </a:endParaRPr>
          </a:p>
        </p:txBody>
      </p:sp>
      <p:sp>
        <p:nvSpPr>
          <p:cNvPr id="166" name="Google Shape;166;p25"/>
          <p:cNvSpPr txBox="1"/>
          <p:nvPr/>
        </p:nvSpPr>
        <p:spPr>
          <a:xfrm>
            <a:off x="81775" y="484125"/>
            <a:ext cx="4633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OpenCode vs Claude Code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Claude Code - tight ecosystem/model quality</a:t>
            </a:r>
            <a:r>
              <a:rPr lang="en" sz="1200">
                <a:solidFill>
                  <a:schemeClr val="dk1"/>
                </a:solidFill>
                <a:latin typeface="Calibri"/>
                <a:ea typeface="Calibri"/>
                <a:cs typeface="Calibri"/>
                <a:sym typeface="Calibri"/>
              </a:rPr>
              <a:t>; Has claude-agent-sdk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OpenCode - open-source, model-agnostic, lower cost, CLI-first AI coding agent for the terminal </a:t>
            </a:r>
            <a:r>
              <a:rPr lang="en" sz="1200">
                <a:solidFill>
                  <a:schemeClr val="dk1"/>
                </a:solidFill>
                <a:latin typeface="Calibri"/>
                <a:ea typeface="Calibri"/>
                <a:cs typeface="Calibri"/>
                <a:sym typeface="Calibri"/>
              </a:rPr>
              <a:t>that lets you swap providers or run local models - </a:t>
            </a:r>
            <a:r>
              <a:rPr lang="en" sz="1200" u="sng">
                <a:solidFill>
                  <a:schemeClr val="hlink"/>
                </a:solidFill>
                <a:latin typeface="Calibri"/>
                <a:ea typeface="Calibri"/>
                <a:cs typeface="Calibri"/>
                <a:sym typeface="Calibri"/>
                <a:hlinkClick r:id="rId3"/>
              </a:rPr>
              <a:t>https://github.com/anomalyco/opencode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Opencode Python SDK - </a:t>
            </a:r>
            <a:r>
              <a:rPr lang="en" sz="1200" u="sng">
                <a:solidFill>
                  <a:schemeClr val="hlink"/>
                </a:solidFill>
                <a:latin typeface="Calibri"/>
                <a:ea typeface="Calibri"/>
                <a:cs typeface="Calibri"/>
                <a:sym typeface="Calibri"/>
                <a:hlinkClick r:id="rId4"/>
              </a:rPr>
              <a:t>https://libraries.io/pypi/opencode-py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67" name="Google Shape;167;p25"/>
          <p:cNvSpPr txBox="1"/>
          <p:nvPr/>
        </p:nvSpPr>
        <p:spPr>
          <a:xfrm>
            <a:off x="81775" y="3301166"/>
            <a:ext cx="46332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pip install opencode-py==0.8.0</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from opencode import Opencode</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with Opencode() as ai:</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answer = ai.ask("Explain dependency injection")</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print(answer)</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a:solidFill>
                  <a:srgbClr val="6AA84F"/>
                </a:solidFill>
                <a:latin typeface="Victor Mono"/>
                <a:ea typeface="Victor Mono"/>
                <a:cs typeface="Victor Mono"/>
                <a:sym typeface="Victor Mono"/>
              </a:rPr>
              <a:t># Streaming</a:t>
            </a:r>
            <a:endParaRPr sz="900">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with Opencode() as ai:</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for chunk in ai.ask_stream("Write a Python function"):</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print(chunk, end="")</a:t>
            </a:r>
            <a:endParaRPr sz="900" b="1">
              <a:solidFill>
                <a:srgbClr val="3C78D8"/>
              </a:solidFill>
              <a:latin typeface="Victor Mono"/>
              <a:ea typeface="Victor Mono"/>
              <a:cs typeface="Victor Mono"/>
              <a:sym typeface="Victor Mono"/>
            </a:endParaRPr>
          </a:p>
        </p:txBody>
      </p:sp>
      <p:sp>
        <p:nvSpPr>
          <p:cNvPr id="168" name="Google Shape;168;p25"/>
          <p:cNvSpPr txBox="1"/>
          <p:nvPr/>
        </p:nvSpPr>
        <p:spPr>
          <a:xfrm>
            <a:off x="81775" y="1878345"/>
            <a:ext cx="4633200" cy="126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import subprocess</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result = subprocess.run(</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["opencode", "run", "explain this codebase"],</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capture_output=True,</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text=True,</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print(result.stdout)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print(result.stderr)</a:t>
            </a:r>
            <a:endParaRPr sz="900" b="1">
              <a:solidFill>
                <a:srgbClr val="3C78D8"/>
              </a:solidFill>
              <a:latin typeface="Victor Mono"/>
              <a:ea typeface="Victor Mono"/>
              <a:cs typeface="Victor Mono"/>
              <a:sym typeface="Victor Mono"/>
            </a:endParaRPr>
          </a:p>
        </p:txBody>
      </p:sp>
      <p:pic>
        <p:nvPicPr>
          <p:cNvPr id="169" name="Google Shape;169;p25"/>
          <p:cNvPicPr preferRelativeResize="0"/>
          <p:nvPr/>
        </p:nvPicPr>
        <p:blipFill>
          <a:blip r:embed="rId5">
            <a:alphaModFix/>
          </a:blip>
          <a:stretch>
            <a:fillRect/>
          </a:stretch>
        </p:blipFill>
        <p:spPr>
          <a:xfrm>
            <a:off x="5235450" y="916050"/>
            <a:ext cx="3522525" cy="632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75" name="Google Shape;175;p26"/>
          <p:cNvSpPr txBox="1"/>
          <p:nvPr/>
        </p:nvSpPr>
        <p:spPr>
          <a:xfrm>
            <a:off x="81775" y="326400"/>
            <a:ext cx="4860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 and Gemini Notebook vs Fable: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rebrands NotebookLM as Gemini Notebook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 Web Research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Multimodal Analysis (images, landing pages, screenshots)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Content Generation (blog posts, newsletter, social media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Digest massive PDFs and text files, provide clickable citations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Compare up to 50 docs to find conflicting facts or figures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Automates customer review analysis, instantly build quizzes or flashcards from raw notes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Converts docs into two-host conversational podcasts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https://www.youtube.com/watch?v=rZeCwj6fhRI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6" name="Google Shape;176;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36955" y="554750"/>
            <a:ext cx="2839750" cy="1593500"/>
          </a:xfrm>
          <a:prstGeom prst="rect">
            <a:avLst/>
          </a:prstGeom>
          <a:noFill/>
          <a:ln w="9525" cap="flat" cmpd="sng">
            <a:solidFill>
              <a:srgbClr val="FF0000"/>
            </a:solidFill>
            <a:prstDash val="solid"/>
            <a:round/>
            <a:headEnd type="none" w="sm" len="sm"/>
            <a:tailEnd type="none" w="sm" len="sm"/>
          </a:ln>
        </p:spPr>
      </p:pic>
      <p:sp>
        <p:nvSpPr>
          <p:cNvPr id="177" name="Google Shape;177;p26"/>
          <p:cNvSpPr txBox="1"/>
          <p:nvPr/>
        </p:nvSpPr>
        <p:spPr>
          <a:xfrm>
            <a:off x="81775" y="2476550"/>
            <a:ext cx="4860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Selecting Right Tokens For Specific Tasks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Low cost per token models (like Kimi K3) may require twice as many tokens as GPT-5.6 to solve the same problem, resulting in equal total costs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maximize performance and minimize expense, use a three-step workflow: </a:t>
            </a:r>
            <a:endParaRPr sz="1200">
              <a:solidFill>
                <a:schemeClr val="dk1"/>
              </a:solidFill>
              <a:latin typeface="Calibri"/>
              <a:ea typeface="Calibri"/>
              <a:cs typeface="Calibri"/>
              <a:sym typeface="Calibri"/>
            </a:endParaRPr>
          </a:p>
          <a:p>
            <a:pPr marL="6286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a top-tier model for high-level planning</a:t>
            </a:r>
            <a:endParaRPr sz="1200">
              <a:solidFill>
                <a:schemeClr val="dk1"/>
              </a:solidFill>
              <a:latin typeface="Calibri"/>
              <a:ea typeface="Calibri"/>
              <a:cs typeface="Calibri"/>
              <a:sym typeface="Calibri"/>
            </a:endParaRPr>
          </a:p>
          <a:p>
            <a:pPr marL="6286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a fast and cheap model to execute code</a:t>
            </a:r>
            <a:endParaRPr sz="1200">
              <a:solidFill>
                <a:schemeClr val="dk1"/>
              </a:solidFill>
              <a:latin typeface="Calibri"/>
              <a:ea typeface="Calibri"/>
              <a:cs typeface="Calibri"/>
              <a:sym typeface="Calibri"/>
            </a:endParaRPr>
          </a:p>
          <a:p>
            <a:pPr marL="6286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a secondary frontier model for code review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Output tokens cost significantly more than input tokens, making execution (writing code)  the most expensive phase of software development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https://www.youtube.com/watch?v=QNEo_tl-nhw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8" name="Google Shape;178;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486775" y="2487538"/>
            <a:ext cx="1551001" cy="202823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p:nvPr/>
        </p:nvSpPr>
        <p:spPr>
          <a:xfrm>
            <a:off x="81775" y="0"/>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Video using Higgsfield &amp; FFmpeg</a:t>
            </a:r>
            <a:endParaRPr sz="2000" b="1">
              <a:solidFill>
                <a:schemeClr val="dk1"/>
              </a:solidFill>
              <a:latin typeface="Calibri"/>
              <a:ea typeface="Calibri"/>
              <a:cs typeface="Calibri"/>
              <a:sym typeface="Calibri"/>
            </a:endParaRPr>
          </a:p>
        </p:txBody>
      </p:sp>
      <p:sp>
        <p:nvSpPr>
          <p:cNvPr id="184" name="Google Shape;184;p27"/>
          <p:cNvSpPr txBox="1"/>
          <p:nvPr/>
        </p:nvSpPr>
        <p:spPr>
          <a:xfrm>
            <a:off x="81775" y="387010"/>
            <a:ext cx="4368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Video Creation using Higsfield + Claude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https://www.youtube.com/watch?v=DLskE_RN59I</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https://higgsfield.ai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Julia McCoy demonstrates how she produced a complete video short without filming any footage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She used Higsfield's MCP connector inside Claude, enabled the AI assistant to go beyond writing scripts and directly build and render video assets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selected her saved AI avatar, applied her cloned voice, generated background stills, and rendered individual scene clips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plain-text feedback prompted Claude to establish strict production rules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just two hours, six clips were produced and stitched, while Claude saved a production playbook for future episodes</a:t>
            </a:r>
            <a:endParaRPr sz="1200">
              <a:solidFill>
                <a:schemeClr val="dk1"/>
              </a:solidFill>
              <a:latin typeface="Calibri"/>
              <a:ea typeface="Calibri"/>
              <a:cs typeface="Calibri"/>
              <a:sym typeface="Calibri"/>
            </a:endParaRPr>
          </a:p>
        </p:txBody>
      </p:sp>
      <p:pic>
        <p:nvPicPr>
          <p:cNvPr id="185" name="Google Shape;185;p2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89575" y="326400"/>
            <a:ext cx="1788226" cy="1974600"/>
          </a:xfrm>
          <a:prstGeom prst="rect">
            <a:avLst/>
          </a:prstGeom>
          <a:noFill/>
          <a:ln w="9525" cap="flat" cmpd="sng">
            <a:solidFill>
              <a:srgbClr val="FF0000"/>
            </a:solidFill>
            <a:prstDash val="solid"/>
            <a:round/>
            <a:headEnd type="none" w="sm" len="sm"/>
            <a:tailEnd type="none" w="sm" len="sm"/>
          </a:ln>
        </p:spPr>
      </p:pic>
      <p:sp>
        <p:nvSpPr>
          <p:cNvPr id="186" name="Google Shape;186;p27"/>
          <p:cNvSpPr txBox="1"/>
          <p:nvPr/>
        </p:nvSpPr>
        <p:spPr>
          <a:xfrm>
            <a:off x="4589575" y="2404060"/>
            <a:ext cx="436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Previously Julia's team was using HeyGen (avatar video) and ElevenLabs (cloned voice audio). She no longer needs them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uses the Higgsfield connector to automatically pull up her "Soul character" - her saved AI face/visual avatar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Higgsfield also handles her cloned voice and native audio right inside the video generation process (rendering shots with built-in voice audio using models like Seedance)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manual scene-by-scene build process is now automated. Claude acts as the producer that writes the script, triggers Higgsfield to generate her visual clone and audio, and renders all the video clips in one single chat session.</a:t>
            </a:r>
            <a:endParaRPr sz="1200">
              <a:solidFill>
                <a:schemeClr val="dk1"/>
              </a:solidFill>
              <a:latin typeface="Calibri"/>
              <a:ea typeface="Calibri"/>
              <a:cs typeface="Calibri"/>
              <a:sym typeface="Calibri"/>
            </a:endParaRPr>
          </a:p>
        </p:txBody>
      </p:sp>
      <p:pic>
        <p:nvPicPr>
          <p:cNvPr id="187" name="Google Shape;187;p27"/>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6482542" y="326400"/>
            <a:ext cx="2450524" cy="641425"/>
          </a:xfrm>
          <a:prstGeom prst="rect">
            <a:avLst/>
          </a:prstGeom>
          <a:noFill/>
          <a:ln w="9525" cap="flat" cmpd="sng">
            <a:solidFill>
              <a:srgbClr val="FF0000"/>
            </a:solidFill>
            <a:prstDash val="solid"/>
            <a:round/>
            <a:headEnd type="none" w="sm" len="sm"/>
            <a:tailEnd type="none" w="sm" len="sm"/>
          </a:ln>
        </p:spPr>
      </p:pic>
      <p:sp>
        <p:nvSpPr>
          <p:cNvPr id="188" name="Google Shape;188;p27"/>
          <p:cNvSpPr txBox="1"/>
          <p:nvPr/>
        </p:nvSpPr>
        <p:spPr>
          <a:xfrm>
            <a:off x="81775" y="3138947"/>
            <a:ext cx="4368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you have generated 20..50 short files, they can be combined into one video file locally using Claude Code and “ffmpeg” utilities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https://www.ffmpeg.org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https://www.ffmpeg.org/documentation.html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https://www.gyan.dev/ffmpeg/builds/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FFmpeg can change resolution and frame rate, stitch the pieces together (videos and images), can create transitions between clips</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p:nvPr/>
        </p:nvSpPr>
        <p:spPr>
          <a:xfrm>
            <a:off x="81775" y="0"/>
            <a:ext cx="2139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4" name="Google Shape;194;p28"/>
          <p:cNvSpPr txBox="1"/>
          <p:nvPr/>
        </p:nvSpPr>
        <p:spPr>
          <a:xfrm>
            <a:off x="81775" y="724714"/>
            <a:ext cx="4368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Ollama Better Tool Calling &amp; Speed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Ollama 0.32.1 improves Gemma 4 tool-calling behavior, making multi-step local agent workflows more reliable when they need to edit files or run commands. It can now verify and correct its own 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Apple Silicon, Ollama’s MLX path delivers up to x2 faster local inference, and Ollama’s MLX preview documentation says it is the fastest way to run Ollama on Apple silicon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https://www.youtube.com/watch?v=06tZhFz5Nns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5" name="Google Shape;195;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88238" y="946400"/>
            <a:ext cx="1346324" cy="1346324"/>
          </a:xfrm>
          <a:prstGeom prst="rect">
            <a:avLst/>
          </a:prstGeom>
          <a:noFill/>
          <a:ln>
            <a:noFill/>
          </a:ln>
        </p:spPr>
      </p:pic>
      <p:pic>
        <p:nvPicPr>
          <p:cNvPr id="196" name="Google Shape;196;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26287" y="1218550"/>
            <a:ext cx="1561551" cy="802025"/>
          </a:xfrm>
          <a:prstGeom prst="rect">
            <a:avLst/>
          </a:prstGeom>
          <a:noFill/>
          <a:ln>
            <a:noFill/>
          </a:ln>
        </p:spPr>
      </p:pic>
      <p:sp>
        <p:nvSpPr>
          <p:cNvPr id="197" name="Google Shape;197;p28"/>
          <p:cNvSpPr txBox="1"/>
          <p:nvPr/>
        </p:nvSpPr>
        <p:spPr>
          <a:xfrm>
            <a:off x="81775" y="3115677"/>
            <a:ext cx="54645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AI - Generate Slides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single prompt to generate complete, fully editable Google Slides presentations directly from your Google Docs, Sheets, PDFs, and Gmail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Example - creating investor pitch decks from scattered business notes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Example - generating client coaching decks from call transcripts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Example - building sales proposals from SEO audit spreadsheets.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https://www.youtube.com/watch?v=NelPlsu2l1A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8" name="Google Shape;198;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698675" y="2926851"/>
            <a:ext cx="2990479" cy="1680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4" name="Google Shape;204;p29"/>
          <p:cNvSpPr txBox="1"/>
          <p:nvPr/>
        </p:nvSpPr>
        <p:spPr>
          <a:xfrm>
            <a:off x="81775" y="387010"/>
            <a:ext cx="436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Mark Pincus 2-Lists Formula for Startup Ideas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Write two lists - Love &amp; Hate. </a:t>
            </a:r>
            <a:r>
              <a:rPr lang="en" sz="1200">
                <a:solidFill>
                  <a:schemeClr val="dk1"/>
                </a:solidFill>
                <a:latin typeface="Calibri"/>
                <a:ea typeface="Calibri"/>
                <a:cs typeface="Calibri"/>
                <a:sym typeface="Calibri"/>
              </a:rPr>
              <a:t>Products and experiences you love using, and ones you hate or find broken in your daily life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each item you love, study what already works in it - its </a:t>
            </a:r>
            <a:r>
              <a:rPr lang="en" sz="1200" b="1">
                <a:solidFill>
                  <a:srgbClr val="3C78D8"/>
                </a:solidFill>
                <a:latin typeface="Calibri"/>
                <a:ea typeface="Calibri"/>
                <a:cs typeface="Calibri"/>
                <a:sym typeface="Calibri"/>
              </a:rPr>
              <a:t>"proven" behavior, UX, and engagement patterns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Then, look for </a:t>
            </a:r>
            <a:r>
              <a:rPr lang="en" sz="1200" b="1">
                <a:solidFill>
                  <a:srgbClr val="FF0000"/>
                </a:solidFill>
                <a:latin typeface="Calibri"/>
                <a:ea typeface="Calibri"/>
                <a:cs typeface="Calibri"/>
                <a:sym typeface="Calibri"/>
              </a:rPr>
              <a:t>items on your "hate" list where those proven patterns could fix something broken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 one clearly “better” improvement that 10 out of 10 users would agree on, and add one small "new" experimental twist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Iterate quickly, treating this as a structured generator for startup ideas grounded in real user behavior</a:t>
            </a:r>
            <a:endParaRPr sz="1200">
              <a:solidFill>
                <a:schemeClr val="dk1"/>
              </a:solidFill>
              <a:latin typeface="Calibri"/>
              <a:ea typeface="Calibri"/>
              <a:cs typeface="Calibri"/>
              <a:sym typeface="Calibri"/>
            </a:endParaRPr>
          </a:p>
        </p:txBody>
      </p:sp>
      <p:pic>
        <p:nvPicPr>
          <p:cNvPr id="205" name="Google Shape;205;p2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82500" y="387000"/>
            <a:ext cx="1475150" cy="1858850"/>
          </a:xfrm>
          <a:prstGeom prst="rect">
            <a:avLst/>
          </a:prstGeom>
          <a:noFill/>
          <a:ln w="9525" cap="flat" cmpd="sng">
            <a:solidFill>
              <a:srgbClr val="FF0000"/>
            </a:solidFill>
            <a:prstDash val="solid"/>
            <a:round/>
            <a:headEnd type="none" w="sm" len="sm"/>
            <a:tailEnd type="none" w="sm" len="sm"/>
          </a:ln>
        </p:spPr>
      </p:pic>
      <p:sp>
        <p:nvSpPr>
          <p:cNvPr id="206" name="Google Shape;206;p29"/>
          <p:cNvSpPr txBox="1"/>
          <p:nvPr/>
        </p:nvSpPr>
        <p:spPr>
          <a:xfrm>
            <a:off x="4792925" y="2343300"/>
            <a:ext cx="3054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Mark Pincus (born 1966) is an American internet entrepreneur and founder of Zynga, a pioneering social gaming company that went public in 2011 and is valued at $12B+.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also founded Freeloader, Tribe Networks, and Support.com, co-founded Reinvent Capital, and helped create a Stanford GSB product management course.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https://en.wikipedia.org/wiki/Mark_Pincus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07" name="Google Shape;207;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98983" y="2541761"/>
            <a:ext cx="3368551" cy="25264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13" name="Google Shape;213;p30"/>
          <p:cNvSpPr txBox="1"/>
          <p:nvPr/>
        </p:nvSpPr>
        <p:spPr>
          <a:xfrm>
            <a:off x="81775" y="398035"/>
            <a:ext cx="43683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is transforming ASIC/SoC development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ASIC = Application-Specific Integrated Circuit</a:t>
            </a:r>
            <a:r>
              <a:rPr lang="en" sz="1200">
                <a:solidFill>
                  <a:schemeClr val="dk1"/>
                </a:solidFill>
                <a:latin typeface="Calibri"/>
                <a:ea typeface="Calibri"/>
                <a:cs typeface="Calibri"/>
                <a:sym typeface="Calibri"/>
              </a:rPr>
              <a:t> - a custom chip to perform specific function(s) for a product or an app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SoC = System-on-Chip</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Problems - increasingly complex heterogeneous and chiplet-based architectures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Solution - use AI for design, verification, and optimization of PPA (Power, Performance, and Area)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tools - such as Synopsys DSO.ai and Cadence/Google Cloud Agentic workflows - allow smaller teams to handle unprecedented complexity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Generative AI tools translate natural language intent into verified templates, testbenches, and hardware descriptions, drastically reducing manual coding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Machine learning–driven tools now automate test generation, accelerate coverage closure, and predict bug‑prone areas, cutting verification effort that can reach 60–70% of engineering hours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the design side, generative and agentic AI explore vast design spaces, tune thousands of params, and optimize the conversion flows, especially for macro placement and floorplanning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Emerging trends focus on domain‑specialized models tightly integrated into existing 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Strong emphasis on explainability, deterministic guardrails, and safety as AI becomes a core pillar of semiconductor toolchains</a:t>
            </a:r>
            <a:endParaRPr sz="1200">
              <a:solidFill>
                <a:schemeClr val="dk1"/>
              </a:solidFill>
              <a:latin typeface="Calibri"/>
              <a:ea typeface="Calibri"/>
              <a:cs typeface="Calibri"/>
              <a:sym typeface="Calibri"/>
            </a:endParaRPr>
          </a:p>
        </p:txBody>
      </p:sp>
      <p:sp>
        <p:nvSpPr>
          <p:cNvPr id="214" name="Google Shape;214;p30"/>
          <p:cNvSpPr txBox="1"/>
          <p:nvPr/>
        </p:nvSpPr>
        <p:spPr>
          <a:xfrm>
            <a:off x="4620800" y="551885"/>
            <a:ext cx="4368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AI/ML algorithms analyze functional coverage models and dynamically generate stimuli to target unverified corner cases, slashing the time required for coverage closure.Automated Debugging: AI models can sift through massive regression databases and waveforms autonomously to pinpoint the root causes of failures, resolving issues long before the tapeout phase.Physical Design Space Exploration: Machine learning swiftly evaluates millions of potential floor plans and clocking strategies to optimize for Power, Performance, and Area (PPA).</a:t>
            </a:r>
            <a:endParaRPr sz="1200">
              <a:solidFill>
                <a:schemeClr val="dk1"/>
              </a:solidFill>
              <a:latin typeface="Calibri"/>
              <a:ea typeface="Calibri"/>
              <a:cs typeface="Calibri"/>
              <a:sym typeface="Calibri"/>
            </a:endParaRPr>
          </a:p>
        </p:txBody>
      </p:sp>
      <p:pic>
        <p:nvPicPr>
          <p:cNvPr id="215" name="Google Shape;215;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58300" y="2451851"/>
            <a:ext cx="2493299" cy="2243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1"/>
          <p:cNvSpPr txBox="1"/>
          <p:nvPr/>
        </p:nvSpPr>
        <p:spPr>
          <a:xfrm>
            <a:off x="81775" y="0"/>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on small devices</a:t>
            </a:r>
            <a:endParaRPr sz="2000" b="1">
              <a:solidFill>
                <a:schemeClr val="dk1"/>
              </a:solidFill>
              <a:latin typeface="Calibri"/>
              <a:ea typeface="Calibri"/>
              <a:cs typeface="Calibri"/>
              <a:sym typeface="Calibri"/>
            </a:endParaRPr>
          </a:p>
        </p:txBody>
      </p:sp>
      <p:sp>
        <p:nvSpPr>
          <p:cNvPr id="221" name="Google Shape;221;p31"/>
          <p:cNvSpPr txBox="1"/>
          <p:nvPr/>
        </p:nvSpPr>
        <p:spPr>
          <a:xfrm>
            <a:off x="81775" y="398035"/>
            <a:ext cx="43683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is pushing compact on-device models and runtimes for real-time use on phones, laptops, and other edge devices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LiteRT-LM is a cross-platform on-device LLM stack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Function Gemma 270M</a:t>
            </a:r>
            <a:r>
              <a:rPr lang="en" sz="1200">
                <a:solidFill>
                  <a:schemeClr val="dk1"/>
                </a:solidFill>
                <a:latin typeface="Calibri"/>
                <a:ea typeface="Calibri"/>
                <a:cs typeface="Calibri"/>
                <a:sym typeface="Calibri"/>
              </a:rPr>
              <a:t> reportedly reached nearly 2K tokens/sec prefill on a Pixel 7, and fine-tuning improved fixed-intent accuracy from 46% to 90% on eight of ten functions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Gemma 4 12B </a:t>
            </a:r>
            <a:r>
              <a:rPr lang="en" sz="1200">
                <a:solidFill>
                  <a:schemeClr val="dk1"/>
                </a:solidFill>
                <a:latin typeface="Calibri"/>
                <a:ea typeface="Calibri"/>
                <a:cs typeface="Calibri"/>
                <a:sym typeface="Calibri"/>
              </a:rPr>
              <a:t>is positioned for local multimodal, agentic workflows on everyday machines, including script generation and tool use through Google AI Edge Gallery and LiteRT-LM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Apple’s </a:t>
            </a:r>
            <a:r>
              <a:rPr lang="en" sz="1200" b="1">
                <a:solidFill>
                  <a:srgbClr val="FF0000"/>
                </a:solidFill>
                <a:latin typeface="Calibri"/>
                <a:ea typeface="Calibri"/>
                <a:cs typeface="Calibri"/>
                <a:sym typeface="Calibri"/>
              </a:rPr>
              <a:t>Ferret-UI Lite</a:t>
            </a:r>
            <a:r>
              <a:rPr lang="en" sz="1200">
                <a:solidFill>
                  <a:schemeClr val="dk1"/>
                </a:solidFill>
                <a:latin typeface="Calibri"/>
                <a:ea typeface="Calibri"/>
                <a:cs typeface="Calibri"/>
                <a:sym typeface="Calibri"/>
              </a:rPr>
              <a:t> reportedly showed that a 3B model can match or exceed much larger systems on benchmark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DroidRun</a:t>
            </a:r>
            <a:r>
              <a:rPr lang="en" sz="1200">
                <a:solidFill>
                  <a:schemeClr val="dk1"/>
                </a:solidFill>
                <a:latin typeface="Calibri"/>
                <a:ea typeface="Calibri"/>
                <a:cs typeface="Calibri"/>
                <a:sym typeface="Calibri"/>
              </a:rPr>
              <a:t> is an LLM-agnostic mobile agent for controlling Android and iOS devices through natural language and multi-step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https://github.com/google-ai-edge/LiteRT-LM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22" name="Google Shape;222;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94396" y="523875"/>
            <a:ext cx="2370175" cy="1285875"/>
          </a:xfrm>
          <a:prstGeom prst="rect">
            <a:avLst/>
          </a:prstGeom>
          <a:noFill/>
          <a:ln w="9525" cap="flat" cmpd="sng">
            <a:solidFill>
              <a:srgbClr val="FF0000"/>
            </a:solidFill>
            <a:prstDash val="solid"/>
            <a:round/>
            <a:headEnd type="none" w="sm" len="sm"/>
            <a:tailEnd type="none" w="sm" len="sm"/>
          </a:ln>
        </p:spPr>
      </p:pic>
      <p:pic>
        <p:nvPicPr>
          <p:cNvPr id="223" name="Google Shape;223;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16796" y="1922600"/>
            <a:ext cx="2925374" cy="820600"/>
          </a:xfrm>
          <a:prstGeom prst="rect">
            <a:avLst/>
          </a:prstGeom>
          <a:noFill/>
          <a:ln w="9525" cap="flat" cmpd="sng">
            <a:solidFill>
              <a:srgbClr val="FF0000"/>
            </a:solidFill>
            <a:prstDash val="solid"/>
            <a:round/>
            <a:headEnd type="none" w="sm" len="sm"/>
            <a:tailEnd type="none" w="sm" len="sm"/>
          </a:ln>
        </p:spPr>
      </p:pic>
      <p:pic>
        <p:nvPicPr>
          <p:cNvPr id="224" name="Google Shape;224;p3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72433" y="2856050"/>
            <a:ext cx="2814100" cy="1103350"/>
          </a:xfrm>
          <a:prstGeom prst="rect">
            <a:avLst/>
          </a:prstGeom>
          <a:noFill/>
          <a:ln w="9525" cap="flat" cmpd="sng">
            <a:solidFill>
              <a:srgbClr val="FF0000"/>
            </a:solidFill>
            <a:prstDash val="solid"/>
            <a:round/>
            <a:headEnd type="none" w="sm" len="sm"/>
            <a:tailEnd type="none" w="sm" len="sm"/>
          </a:ln>
        </p:spPr>
      </p:pic>
      <p:pic>
        <p:nvPicPr>
          <p:cNvPr id="225" name="Google Shape;225;p31"/>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52400" y="3339535"/>
            <a:ext cx="1925216" cy="1651565"/>
          </a:xfrm>
          <a:prstGeom prst="rect">
            <a:avLst/>
          </a:prstGeom>
          <a:noFill/>
          <a:ln w="9525" cap="flat" cmpd="sng">
            <a:solidFill>
              <a:srgbClr val="FF0000"/>
            </a:solidFill>
            <a:prstDash val="solid"/>
            <a:round/>
            <a:headEnd type="none" w="sm" len="sm"/>
            <a:tailEnd type="none" w="sm" len="sm"/>
          </a:ln>
        </p:spPr>
      </p:pic>
      <p:pic>
        <p:nvPicPr>
          <p:cNvPr id="226" name="Google Shape;226;p3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127921" y="4116025"/>
            <a:ext cx="2503124" cy="8750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2"/>
          <p:cNvSpPr txBox="1"/>
          <p:nvPr/>
        </p:nvSpPr>
        <p:spPr>
          <a:xfrm>
            <a:off x="81775" y="0"/>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Vibe Coding - 6 Principles</a:t>
            </a:r>
            <a:endParaRPr sz="2000" b="1">
              <a:solidFill>
                <a:schemeClr val="dk1"/>
              </a:solidFill>
              <a:latin typeface="Calibri"/>
              <a:ea typeface="Calibri"/>
              <a:cs typeface="Calibri"/>
              <a:sym typeface="Calibri"/>
            </a:endParaRPr>
          </a:p>
        </p:txBody>
      </p:sp>
      <p:sp>
        <p:nvSpPr>
          <p:cNvPr id="232" name="Google Shape;232;p32"/>
          <p:cNvSpPr txBox="1"/>
          <p:nvPr/>
        </p:nvSpPr>
        <p:spPr>
          <a:xfrm>
            <a:off x="81775" y="398035"/>
            <a:ext cx="4368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Vibe Coding - 6 Principles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Plan before prompting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Direct the AI to ask clarifying questions before building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Build in small steps, test after each step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Copy raw error messages directly into the prompt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Roll back to previous working versions if code breaks (checkpoints)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6. Start fresh if AI can not fix in three tries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https://www.youtube.com/watch?v=oncrSvt79tQ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33" name="Google Shape;233;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19625" y="611776"/>
            <a:ext cx="2085975" cy="1170175"/>
          </a:xfrm>
          <a:prstGeom prst="rect">
            <a:avLst/>
          </a:prstGeom>
          <a:noFill/>
          <a:ln w="9525" cap="flat" cmpd="sng">
            <a:solidFill>
              <a:srgbClr val="FF0000"/>
            </a:solidFill>
            <a:prstDash val="solid"/>
            <a:round/>
            <a:headEnd type="none" w="sm" len="sm"/>
            <a:tailEnd type="none" w="sm" len="sm"/>
          </a:ln>
        </p:spPr>
      </p:pic>
      <p:sp>
        <p:nvSpPr>
          <p:cNvPr id="234" name="Google Shape;234;p32"/>
          <p:cNvSpPr txBox="1"/>
          <p:nvPr/>
        </p:nvSpPr>
        <p:spPr>
          <a:xfrm>
            <a:off x="81775" y="2127685"/>
            <a:ext cx="4368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Don't Ship Skills Without Evals - Philipp Schmid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must evaluate AI agent skills before shipping them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Most skills are created without systematic testing, leading to unpredictable agent performance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Human-authored skills outperform AI-generated ones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Skills should remain concise, use clear directives, and layer detailed information across reference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Implementing small evaluation suites allows development teams to catch performance regressions, refine trigger descriptions, and identify when model upgrades make existing skills obsolete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https://www.youtube.com/watch?v=0vphxNt4wyk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35" name="Google Shape;235;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19625" y="2538650"/>
            <a:ext cx="2085355" cy="11701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3"/>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41" name="Google Shape;241;p33"/>
          <p:cNvSpPr txBox="1"/>
          <p:nvPr/>
        </p:nvSpPr>
        <p:spPr>
          <a:xfrm>
            <a:off x="81775" y="387010"/>
            <a:ext cx="4368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Webserver Caddy vs Nginx</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https://www.youtube.com/watch?v=YfK9QmJoaWs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Caddy offers a dramatically simpler configuration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written in Go - memory-safe, fewer security vulnerabilities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Does automatic HTTPS config (certificates, renewals)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Up to 20% faster when serving small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Nginx still better at hyper-scale. Written in C, Nginx consumes a quarter of the memory of Caddy under idle connections and is more efficient at streaming very large files, making it the preferred choice for major CDNs and tiny resource-constrained hardware</a:t>
            </a:r>
            <a:endParaRPr sz="1200">
              <a:solidFill>
                <a:schemeClr val="dk1"/>
              </a:solidFill>
              <a:latin typeface="Calibri"/>
              <a:ea typeface="Calibri"/>
              <a:cs typeface="Calibri"/>
              <a:sym typeface="Calibri"/>
            </a:endParaRPr>
          </a:p>
        </p:txBody>
      </p:sp>
      <p:pic>
        <p:nvPicPr>
          <p:cNvPr id="242" name="Google Shape;242;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77275" y="585088"/>
            <a:ext cx="2203849" cy="1469225"/>
          </a:xfrm>
          <a:prstGeom prst="rect">
            <a:avLst/>
          </a:prstGeom>
          <a:noFill/>
          <a:ln w="9525" cap="flat" cmpd="sng">
            <a:solidFill>
              <a:srgbClr val="FF0000"/>
            </a:solidFill>
            <a:prstDash val="solid"/>
            <a:round/>
            <a:headEnd type="none" w="sm" len="sm"/>
            <a:tailEnd type="none" w="sm" len="sm"/>
          </a:ln>
        </p:spPr>
      </p:pic>
      <p:sp>
        <p:nvSpPr>
          <p:cNvPr id="243" name="Google Shape;243;p33"/>
          <p:cNvSpPr txBox="1"/>
          <p:nvPr/>
        </p:nvSpPr>
        <p:spPr>
          <a:xfrm>
            <a:off x="81775" y="2798785"/>
            <a:ext cx="43683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Colibri Tiny Inference Engine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lightweight engine written in 1300 lines of C that allows to run massive LLMs (like 744B-params GLM-5.2) locally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https://www.youtube.com/watch?v=19xCOJxWU0A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very slow (0.1-1 tokens/sec)</a:t>
            </a:r>
            <a:endParaRPr sz="1200">
              <a:solidFill>
                <a:schemeClr val="dk1"/>
              </a:solidFill>
              <a:latin typeface="Calibri"/>
              <a:ea typeface="Calibri"/>
              <a:cs typeface="Calibri"/>
              <a:sym typeface="Calibri"/>
            </a:endParaRPr>
          </a:p>
        </p:txBody>
      </p:sp>
      <p:pic>
        <p:nvPicPr>
          <p:cNvPr id="244" name="Google Shape;244;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02475" y="2206712"/>
            <a:ext cx="3031390" cy="278438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4"/>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0" name="Google Shape;250;p34"/>
          <p:cNvSpPr txBox="1"/>
          <p:nvPr/>
        </p:nvSpPr>
        <p:spPr>
          <a:xfrm>
            <a:off x="81775" y="390410"/>
            <a:ext cx="4368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Use RAM as VRAM - Linux Hack</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https://www.youtube.com/watch?v=RqqHWol4Kwk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AMD-based System76 laptop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Configuring env variables to trick integrated GPU into treating 32GB of 96GB system RAM as dedicated VRAM</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Test - running LLMs locally via Ollama Qwen 2.5 (14B), Qwen 2.5 (35B), and Gemma (31B)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While the Gemma model runs significantly slower than the Qwen models, monitor tools confirm that the system successfully allocates up to 70% of the newly mapped memory, proving that older AMD hardware can run massive models without dedicated GPUs</a:t>
            </a:r>
            <a:endParaRPr sz="1200">
              <a:solidFill>
                <a:schemeClr val="dk1"/>
              </a:solidFill>
              <a:latin typeface="Calibri"/>
              <a:ea typeface="Calibri"/>
              <a:cs typeface="Calibri"/>
              <a:sym typeface="Calibri"/>
            </a:endParaRPr>
          </a:p>
        </p:txBody>
      </p:sp>
      <p:sp>
        <p:nvSpPr>
          <p:cNvPr id="251" name="Google Shape;251;p34"/>
          <p:cNvSpPr txBox="1"/>
          <p:nvPr/>
        </p:nvSpPr>
        <p:spPr>
          <a:xfrm>
            <a:off x="72250" y="2695460"/>
            <a:ext cx="4368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Code vs Codex</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https://www.youtube.com/watch?v=hCOWH0RDB4s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Claude Code excels at complex, multi-file projects and maintaining deep memory during long programming sessions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Conversely, </a:t>
            </a:r>
            <a:r>
              <a:rPr lang="en" sz="1200" b="1">
                <a:solidFill>
                  <a:srgbClr val="FF0000"/>
                </a:solidFill>
                <a:latin typeface="Calibri"/>
                <a:ea typeface="Calibri"/>
                <a:cs typeface="Calibri"/>
                <a:sym typeface="Calibri"/>
              </a:rPr>
              <a:t>Codex offers better value for money, generous token limits, and practical automation features</a:t>
            </a:r>
            <a:r>
              <a:rPr lang="en" sz="1200">
                <a:solidFill>
                  <a:schemeClr val="dk1"/>
                </a:solidFill>
                <a:latin typeface="Calibri"/>
                <a:ea typeface="Calibri"/>
                <a:cs typeface="Calibri"/>
                <a:sym typeface="Calibri"/>
              </a:rPr>
              <a:t> like frontend browser reviews and background task delegation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Developers should choose Claude Code for highly complex, tool-heavy development, and Codex for daily delegation, task reviews, and budget-friendly coding</a:t>
            </a:r>
            <a:endParaRPr sz="1200">
              <a:solidFill>
                <a:schemeClr val="dk1"/>
              </a:solidFill>
              <a:latin typeface="Calibri"/>
              <a:ea typeface="Calibri"/>
              <a:cs typeface="Calibri"/>
              <a:sym typeface="Calibri"/>
            </a:endParaRPr>
          </a:p>
        </p:txBody>
      </p:sp>
      <p:pic>
        <p:nvPicPr>
          <p:cNvPr id="252" name="Google Shape;252;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43375" y="763028"/>
            <a:ext cx="2890274" cy="1489750"/>
          </a:xfrm>
          <a:prstGeom prst="rect">
            <a:avLst/>
          </a:prstGeom>
          <a:noFill/>
          <a:ln w="9525" cap="flat" cmpd="sng">
            <a:solidFill>
              <a:srgbClr val="FF0000"/>
            </a:solidFill>
            <a:prstDash val="solid"/>
            <a:round/>
            <a:headEnd type="none" w="sm" len="sm"/>
            <a:tailEnd type="none" w="sm" len="sm"/>
          </a:ln>
        </p:spPr>
      </p:pic>
      <p:pic>
        <p:nvPicPr>
          <p:cNvPr id="253" name="Google Shape;253;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43375" y="2815628"/>
            <a:ext cx="2890282" cy="14897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9" name="Google Shape;259;p35"/>
          <p:cNvSpPr txBox="1"/>
          <p:nvPr/>
        </p:nvSpPr>
        <p:spPr>
          <a:xfrm>
            <a:off x="81775" y="775635"/>
            <a:ext cx="4368300" cy="24195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AI Coding Tool (Cursor or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 Framework (</a:t>
            </a:r>
            <a:r>
              <a:rPr lang="en" sz="1200" u="sng">
                <a:solidFill>
                  <a:schemeClr val="hlink"/>
                </a:solidFill>
                <a:latin typeface="Calibri"/>
                <a:ea typeface="Calibri"/>
                <a:cs typeface="Calibri"/>
                <a:sym typeface="Calibri"/>
                <a:hlinkClick r:id="rId3"/>
              </a:rPr>
              <a:t>Next.js</a:t>
            </a:r>
            <a:r>
              <a:rPr lang="en" sz="1200">
                <a:solidFill>
                  <a:schemeClr val="dk1"/>
                </a:solidFill>
                <a:latin typeface="Calibri"/>
                <a:ea typeface="Calibri"/>
                <a:cs typeface="Calibri"/>
                <a:sym typeface="Calibri"/>
              </a:rPr>
              <a:t> built on React)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Hosting (Vercel, Railway, </a:t>
            </a:r>
            <a:r>
              <a:rPr lang="en" sz="1200" u="sng">
                <a:solidFill>
                  <a:schemeClr val="hlink"/>
                </a:solidFill>
                <a:latin typeface="Calibri"/>
                <a:ea typeface="Calibri"/>
                <a:cs typeface="Calibri"/>
                <a:sym typeface="Calibri"/>
                <a:hlinkClick r:id="rId4"/>
              </a:rPr>
              <a:t>Fly.io</a:t>
            </a:r>
            <a:r>
              <a:rPr lang="en" sz="1200">
                <a:solidFill>
                  <a:schemeClr val="dk1"/>
                </a:solidFill>
                <a:latin typeface="Calibri"/>
                <a:ea typeface="Calibri"/>
                <a:cs typeface="Calibri"/>
                <a:sym typeface="Calibri"/>
              </a:rPr>
              <a:t>) - serverless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 database (Supabase or Neon)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Authentication (Clerk or "Better Auth")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Get Paid - Stripe, Lemon Squeezy (international sales)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Email - Resend</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Bottleneck - the physical and mental limits of a solo founder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single person must still handle late-night server issues, endless customer support, and marketing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Ultimately a startup's true competitive edge lies in the founder's taste, judgment, and distribution</a:t>
            </a:r>
            <a:endParaRPr sz="1200">
              <a:solidFill>
                <a:schemeClr val="dk1"/>
              </a:solidFill>
              <a:latin typeface="Calibri"/>
              <a:ea typeface="Calibri"/>
              <a:cs typeface="Calibri"/>
              <a:sym typeface="Calibri"/>
            </a:endParaRPr>
          </a:p>
        </p:txBody>
      </p:sp>
      <p:sp>
        <p:nvSpPr>
          <p:cNvPr id="260" name="Google Shape;260;p35"/>
          <p:cNvSpPr txBox="1"/>
          <p:nvPr/>
        </p:nvSpPr>
        <p:spPr>
          <a:xfrm>
            <a:off x="81775" y="390410"/>
            <a:ext cx="4368300" cy="3879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7-layer developer stack for 1-person company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https://www.youtube.com/watch?v=wW5eh94PfJY</a:t>
            </a:r>
            <a:endParaRPr sz="1200">
              <a:solidFill>
                <a:schemeClr val="dk1"/>
              </a:solidFill>
              <a:latin typeface="Calibri"/>
              <a:ea typeface="Calibri"/>
              <a:cs typeface="Calibri"/>
              <a:sym typeface="Calibri"/>
            </a:endParaRPr>
          </a:p>
        </p:txBody>
      </p:sp>
      <p:sp>
        <p:nvSpPr>
          <p:cNvPr id="261" name="Google Shape;261;p35"/>
          <p:cNvSpPr txBox="1"/>
          <p:nvPr/>
        </p:nvSpPr>
        <p:spPr>
          <a:xfrm>
            <a:off x="81775" y="3480725"/>
            <a:ext cx="34281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Updates</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Cloud-hosted via Hermes Cloud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Multi-agent system, Obsidian shared memory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Access to 200+ AI models within the framework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Automated outreach capabilities using the Hunter API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Daily news curation powered by Oracle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Trend tracking and analysis via Astros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Voice control integration with Apollo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Automated video creation tools for content generation</a:t>
            </a:r>
            <a:endParaRPr sz="1100">
              <a:solidFill>
                <a:schemeClr val="dk1"/>
              </a:solidFill>
              <a:latin typeface="Calibri"/>
              <a:ea typeface="Calibri"/>
              <a:cs typeface="Calibri"/>
              <a:sym typeface="Calibri"/>
            </a:endParaRPr>
          </a:p>
        </p:txBody>
      </p:sp>
      <p:pic>
        <p:nvPicPr>
          <p:cNvPr id="262" name="Google Shape;262;p3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02475" y="924376"/>
            <a:ext cx="3427951" cy="1904425"/>
          </a:xfrm>
          <a:prstGeom prst="rect">
            <a:avLst/>
          </a:prstGeom>
          <a:noFill/>
          <a:ln w="9525" cap="flat" cmpd="sng">
            <a:solidFill>
              <a:srgbClr val="FF0000"/>
            </a:solidFill>
            <a:prstDash val="solid"/>
            <a:round/>
            <a:headEnd type="none" w="sm" len="sm"/>
            <a:tailEnd type="none" w="sm" len="sm"/>
          </a:ln>
        </p:spPr>
      </p:pic>
      <p:pic>
        <p:nvPicPr>
          <p:cNvPr id="263" name="Google Shape;263;p3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711971" y="3539825"/>
            <a:ext cx="2083674" cy="1439400"/>
          </a:xfrm>
          <a:prstGeom prst="rect">
            <a:avLst/>
          </a:prstGeom>
          <a:noFill/>
          <a:ln w="9525" cap="flat" cmpd="sng">
            <a:solidFill>
              <a:srgbClr val="FF0000"/>
            </a:solidFill>
            <a:prstDash val="solid"/>
            <a:round/>
            <a:headEnd type="none" w="sm" len="sm"/>
            <a:tailEnd type="none" w="sm" len="sm"/>
          </a:ln>
        </p:spPr>
      </p:pic>
      <p:sp>
        <p:nvSpPr>
          <p:cNvPr id="264" name="Google Shape;264;p35"/>
          <p:cNvSpPr txBox="1"/>
          <p:nvPr/>
        </p:nvSpPr>
        <p:spPr>
          <a:xfrm>
            <a:off x="5932775" y="3480725"/>
            <a:ext cx="31332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Updates</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Faster start (4.3 sec -&gt; 0.9 sec)</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Streaming thinking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Background sub-agents logging (for check-pointing)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Profile routing - individual channels use specialized AI agents, models, memories, and secret API keys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Security and safety updates (AI command reviews, custom deny rules, password manager)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Model catalog expands</a:t>
            </a:r>
            <a:endParaRPr sz="11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6"/>
          <p:cNvSpPr txBox="1"/>
          <p:nvPr/>
        </p:nvSpPr>
        <p:spPr>
          <a:xfrm>
            <a:off x="81775" y="0"/>
            <a:ext cx="3442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Pandas, DuckDB, Polars, Spark</a:t>
            </a:r>
            <a:endParaRPr sz="2000" b="1">
              <a:solidFill>
                <a:schemeClr val="dk1"/>
              </a:solidFill>
              <a:latin typeface="Calibri"/>
              <a:ea typeface="Calibri"/>
              <a:cs typeface="Calibri"/>
              <a:sym typeface="Calibri"/>
            </a:endParaRPr>
          </a:p>
        </p:txBody>
      </p:sp>
      <p:sp>
        <p:nvSpPr>
          <p:cNvPr id="270" name="Google Shape;270;p36"/>
          <p:cNvSpPr txBox="1"/>
          <p:nvPr/>
        </p:nvSpPr>
        <p:spPr>
          <a:xfrm>
            <a:off x="81775" y="887463"/>
            <a:ext cx="4876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Pandas - uses single CPU, loads everything into RAM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DuckDB - columnar database</a:t>
            </a:r>
            <a:r>
              <a:rPr lang="en" sz="1200">
                <a:solidFill>
                  <a:schemeClr val="dk1"/>
                </a:solidFill>
                <a:latin typeface="Calibri"/>
                <a:ea typeface="Calibri"/>
                <a:cs typeface="Calibri"/>
                <a:sym typeface="Calibri"/>
              </a:rPr>
              <a:t> (like SQLite for analytics)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DuckDB</a:t>
            </a:r>
            <a:r>
              <a:rPr lang="en" sz="1200">
                <a:solidFill>
                  <a:schemeClr val="dk1"/>
                </a:solidFill>
                <a:latin typeface="Calibri"/>
                <a:ea typeface="Calibri"/>
                <a:cs typeface="Calibri"/>
                <a:sym typeface="Calibri"/>
              </a:rPr>
              <a:t> - parallel data processing using  all CPUs and vectorized execution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DuckDB</a:t>
            </a:r>
            <a:r>
              <a:rPr lang="en" sz="1200">
                <a:solidFill>
                  <a:schemeClr val="dk1"/>
                </a:solidFill>
                <a:latin typeface="Calibri"/>
                <a:ea typeface="Calibri"/>
                <a:cs typeface="Calibri"/>
                <a:sym typeface="Calibri"/>
              </a:rPr>
              <a:t> can query datasets larger than available RAM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DuckDB</a:t>
            </a:r>
            <a:r>
              <a:rPr lang="en" sz="1200">
                <a:solidFill>
                  <a:schemeClr val="dk1"/>
                </a:solidFill>
                <a:latin typeface="Calibri"/>
                <a:ea typeface="Calibri"/>
                <a:cs typeface="Calibri"/>
                <a:sym typeface="Calibri"/>
              </a:rPr>
              <a:t> queries CSV/Parquet/JSON files directly using standard SQL, and integrates smoothly with existing Pandas DataFrames (for ML &amp; Plotting)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https://www.youtube.com/watch?v=Mqj9OChctRQ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71" name="Google Shape;271;p36"/>
          <p:cNvSpPr txBox="1"/>
          <p:nvPr/>
        </p:nvSpPr>
        <p:spPr>
          <a:xfrm>
            <a:off x="81775" y="2759825"/>
            <a:ext cx="50088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pip install duckdb</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import duckdb</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Query a CSV file directly without loading it first</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result = duckdb.sql("SELECT * FROM 'sales_data.csv' WHERE amount &gt; 100")</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print(result)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6AA84F"/>
                </a:solidFill>
                <a:latin typeface="Victor Mono"/>
                <a:ea typeface="Victor Mono"/>
                <a:cs typeface="Victor Mono"/>
                <a:sym typeface="Victor Mono"/>
              </a:rPr>
              <a:t># Or query a Pandas DataFrame in-place using zero-copy memory</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import pandas as pd</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df = pd.DataFrame({"category": ["A", "B", "A"], "sales": [10, 20, 30]})</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summary_rel = duckdb.sql(</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    "SELECT category, SUM(sales) AS total FROM df GROUP BY category"</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a:t>
            </a:r>
            <a:endParaRPr sz="9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print(summary_rel)            </a:t>
            </a:r>
            <a:r>
              <a:rPr lang="en" sz="900" b="1">
                <a:solidFill>
                  <a:srgbClr val="6AA84F"/>
                </a:solidFill>
                <a:latin typeface="Victor Mono"/>
                <a:ea typeface="Victor Mono"/>
                <a:cs typeface="Victor Mono"/>
                <a:sym typeface="Victor Mono"/>
              </a:rPr>
              <a:t>     # DuckDBPyRelation object</a:t>
            </a:r>
            <a:endParaRPr sz="9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900" b="1">
                <a:solidFill>
                  <a:srgbClr val="3C78D8"/>
                </a:solidFill>
                <a:latin typeface="Victor Mono"/>
                <a:ea typeface="Victor Mono"/>
                <a:cs typeface="Victor Mono"/>
                <a:sym typeface="Victor Mono"/>
              </a:rPr>
              <a:t>summary_df = summary_rel.df() </a:t>
            </a:r>
            <a:r>
              <a:rPr lang="en" sz="900" b="1">
                <a:solidFill>
                  <a:srgbClr val="6AA84F"/>
                </a:solidFill>
                <a:latin typeface="Victor Mono"/>
                <a:ea typeface="Victor Mono"/>
                <a:cs typeface="Victor Mono"/>
                <a:sym typeface="Victor Mono"/>
              </a:rPr>
              <a:t>     # Python DataFrame</a:t>
            </a:r>
            <a:endParaRPr sz="900" b="1">
              <a:solidFill>
                <a:srgbClr val="6AA84F"/>
              </a:solidFill>
              <a:latin typeface="Victor Mono"/>
              <a:ea typeface="Victor Mono"/>
              <a:cs typeface="Victor Mono"/>
              <a:sym typeface="Victor Mono"/>
            </a:endParaRPr>
          </a:p>
        </p:txBody>
      </p:sp>
      <p:pic>
        <p:nvPicPr>
          <p:cNvPr id="272" name="Google Shape;272;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994775" y="102575"/>
            <a:ext cx="1301000" cy="957950"/>
          </a:xfrm>
          <a:prstGeom prst="rect">
            <a:avLst/>
          </a:prstGeom>
          <a:noFill/>
          <a:ln w="9525" cap="flat" cmpd="sng">
            <a:solidFill>
              <a:srgbClr val="FF0000"/>
            </a:solidFill>
            <a:prstDash val="solid"/>
            <a:round/>
            <a:headEnd type="none" w="sm" len="sm"/>
            <a:tailEnd type="none" w="sm" len="sm"/>
          </a:ln>
        </p:spPr>
      </p:pic>
      <p:pic>
        <p:nvPicPr>
          <p:cNvPr id="273" name="Google Shape;273;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573971" y="2558500"/>
            <a:ext cx="1705050" cy="492350"/>
          </a:xfrm>
          <a:prstGeom prst="rect">
            <a:avLst/>
          </a:prstGeom>
          <a:noFill/>
          <a:ln w="9525" cap="flat" cmpd="sng">
            <a:solidFill>
              <a:srgbClr val="FF0000"/>
            </a:solidFill>
            <a:prstDash val="solid"/>
            <a:round/>
            <a:headEnd type="none" w="sm" len="sm"/>
            <a:tailEnd type="none" w="sm" len="sm"/>
          </a:ln>
        </p:spPr>
      </p:pic>
      <p:sp>
        <p:nvSpPr>
          <p:cNvPr id="274" name="Google Shape;274;p36"/>
          <p:cNvSpPr txBox="1"/>
          <p:nvPr/>
        </p:nvSpPr>
        <p:spPr>
          <a:xfrm>
            <a:off x="5183275" y="3012727"/>
            <a:ext cx="3882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Polars is a faster DataFrame library</a:t>
            </a:r>
            <a:r>
              <a:rPr lang="en" sz="1200">
                <a:solidFill>
                  <a:schemeClr val="dk1"/>
                </a:solidFill>
                <a:latin typeface="Calibri"/>
                <a:ea typeface="Calibri"/>
                <a:cs typeface="Calibri"/>
                <a:sym typeface="Calibri"/>
              </a:rPr>
              <a:t>, especially for transformations, joins, and larger in-memory analytics, thanks to Rust and lazy execution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DuckDB is an embedded SQL analytics</a:t>
            </a:r>
            <a:r>
              <a:rPr lang="en" sz="1200">
                <a:solidFill>
                  <a:schemeClr val="dk1"/>
                </a:solidFill>
                <a:latin typeface="Calibri"/>
                <a:ea typeface="Calibri"/>
                <a:cs typeface="Calibri"/>
                <a:sym typeface="Calibri"/>
              </a:rPr>
              <a:t> engine that is great for querying files like Parquet or CSV directly and often wins on large analytical workloads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Pandas is great for small or legacy applications, LM and Plotting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Spark, Dask, or DataFusion</a:t>
            </a:r>
            <a:r>
              <a:rPr lang="en" sz="1200">
                <a:solidFill>
                  <a:schemeClr val="dk1"/>
                </a:solidFill>
                <a:latin typeface="Calibri"/>
                <a:ea typeface="Calibri"/>
                <a:cs typeface="Calibri"/>
                <a:sym typeface="Calibri"/>
              </a:rPr>
              <a:t> can be better for large distributed data, but they add more complexity than these single-node tools.</a:t>
            </a:r>
            <a:endParaRPr sz="1200">
              <a:solidFill>
                <a:schemeClr val="dk1"/>
              </a:solidFill>
              <a:latin typeface="Calibri"/>
              <a:ea typeface="Calibri"/>
              <a:cs typeface="Calibri"/>
              <a:sym typeface="Calibri"/>
            </a:endParaRPr>
          </a:p>
        </p:txBody>
      </p:sp>
      <p:pic>
        <p:nvPicPr>
          <p:cNvPr id="275" name="Google Shape;275;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83276" y="2201586"/>
            <a:ext cx="1899300" cy="558250"/>
          </a:xfrm>
          <a:prstGeom prst="rect">
            <a:avLst/>
          </a:prstGeom>
          <a:noFill/>
          <a:ln>
            <a:noFill/>
          </a:ln>
        </p:spPr>
      </p:pic>
      <p:pic>
        <p:nvPicPr>
          <p:cNvPr id="276" name="Google Shape;276;p3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082576" y="1782750"/>
            <a:ext cx="948121" cy="492350"/>
          </a:xfrm>
          <a:prstGeom prst="rect">
            <a:avLst/>
          </a:prstGeom>
          <a:noFill/>
          <a:ln>
            <a:noFill/>
          </a:ln>
        </p:spPr>
      </p:pic>
      <p:pic>
        <p:nvPicPr>
          <p:cNvPr id="277" name="Google Shape;277;p36"/>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7547211" y="1060525"/>
            <a:ext cx="1457539" cy="492350"/>
          </a:xfrm>
          <a:prstGeom prst="rect">
            <a:avLst/>
          </a:prstGeom>
          <a:noFill/>
          <a:ln>
            <a:noFill/>
          </a:ln>
        </p:spPr>
      </p:pic>
      <p:pic>
        <p:nvPicPr>
          <p:cNvPr id="278" name="Google Shape;278;p3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7230600" y="2558500"/>
            <a:ext cx="1823501" cy="382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7"/>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4" name="Google Shape;284;p37"/>
          <p:cNvSpPr txBox="1"/>
          <p:nvPr/>
        </p:nvSpPr>
        <p:spPr>
          <a:xfrm>
            <a:off x="53200" y="390400"/>
            <a:ext cx="44520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Automated routing to pick best models for given tasks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No single AI model excels at every task, as Claude leads in coding, Gemini dominates benchmarks, and GPT shines in research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Platforms like Abacus AI allow users to set up custom routers using plain English instructions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https://www.youtube.com/watch?v=giD8KtDBnJc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These routers automatically evaluate each incoming prompt and direct it to the best-suited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This automated multi-model approach lowers overall AI spending, improves output quality, and enables dynamic workflows tailored to task complexity or user pricing tiers</a:t>
            </a:r>
            <a:endParaRPr sz="1200">
              <a:solidFill>
                <a:schemeClr val="dk1"/>
              </a:solidFill>
              <a:latin typeface="Calibri"/>
              <a:ea typeface="Calibri"/>
              <a:cs typeface="Calibri"/>
              <a:sym typeface="Calibri"/>
            </a:endParaRPr>
          </a:p>
        </p:txBody>
      </p:sp>
      <p:pic>
        <p:nvPicPr>
          <p:cNvPr id="285" name="Google Shape;285;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6650" y="601113"/>
            <a:ext cx="2398575" cy="1628775"/>
          </a:xfrm>
          <a:prstGeom prst="rect">
            <a:avLst/>
          </a:prstGeom>
          <a:noFill/>
          <a:ln w="9525" cap="flat" cmpd="sng">
            <a:solidFill>
              <a:srgbClr val="FF0000"/>
            </a:solidFill>
            <a:prstDash val="solid"/>
            <a:round/>
            <a:headEnd type="none" w="sm" len="sm"/>
            <a:tailEnd type="none" w="sm" len="sm"/>
          </a:ln>
        </p:spPr>
      </p:pic>
      <p:sp>
        <p:nvSpPr>
          <p:cNvPr id="286" name="Google Shape;286;p37"/>
          <p:cNvSpPr txBox="1"/>
          <p:nvPr/>
        </p:nvSpPr>
        <p:spPr>
          <a:xfrm>
            <a:off x="53200" y="2504600"/>
            <a:ext cx="44520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Vids: Gemini Omni and Personal Avatars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Gemini Omni - generates and edits video clips directly from text prompts, sketches, or existing footage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Users can refine lighting, backgrounds, and effects conversationally without complex editing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Personal Avatars allow users to generate a realistic digital double using a selfie and voice recording to deliver scripted videos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Use cases - business updates, onboarding, and marketing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Available to Google AI Pro, Ultra, and Workspace subscribers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Security - account verification and invisible SynthID watermarks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https://www.youtube.com/watch?v=ZZ_HghP02bs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87" name="Google Shape;287;p3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76650" y="2876075"/>
            <a:ext cx="2398576" cy="134555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8"/>
          <p:cNvSpPr txBox="1"/>
          <p:nvPr/>
        </p:nvSpPr>
        <p:spPr>
          <a:xfrm>
            <a:off x="81775" y="8"/>
            <a:ext cx="155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93" name="Google Shape;293;p38"/>
          <p:cNvSpPr txBox="1"/>
          <p:nvPr/>
        </p:nvSpPr>
        <p:spPr>
          <a:xfrm>
            <a:off x="81775" y="404160"/>
            <a:ext cx="4368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OpenAI’s GPT-RED red-teaming system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Designed to attack OpenAI’s own models and uncover prompt injection and other adversarial vulnerabilities at scale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repeatedly crafts and refines malicious prompts, observes model responses, and optimizes toward successful exploits such as data exfiltration or safety bypasses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GPT-RED is trained via self-play reinforcement learning, where it plays the attacker against defender models that are rewarded for completing tasks while resisting attacks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loop forces GPT-RED to invent increasingly sophisticated strategies, generating training data that hardens production models like GPT‑5.6 against emerging real-world threats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https://openai.com/index/unlocking-self-improvement-gpt-red/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94" name="Google Shape;294;p38"/>
          <p:cNvSpPr txBox="1"/>
          <p:nvPr/>
        </p:nvSpPr>
        <p:spPr>
          <a:xfrm>
            <a:off x="4568050" y="2642535"/>
            <a:ext cx="4368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Linux wins over Windows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Windows 11 struggles with critical bugs, system crashes, and steep hardware requirements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Linux has quietly gaining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Driven by Valve’s Proton compatibility layer and hardware like the Steam Deck, Linux has made unprecedented gains in desktop gaming, breaking historical market share records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European governments are legally mandating open-source transitions to secure digital sovereignty and reduce licensing costs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 mainstream manufacturers now shipping Linux by default and software compatibility reaching near-parity, the Linux OS has crossed the threshold from a niche hobbyist tool into a self-reinforcing, institutional mainstream competitor</a:t>
            </a:r>
            <a:endParaRPr sz="1200">
              <a:solidFill>
                <a:schemeClr val="dk1"/>
              </a:solidFill>
              <a:latin typeface="Calibri"/>
              <a:ea typeface="Calibri"/>
              <a:cs typeface="Calibri"/>
              <a:sym typeface="Calibri"/>
            </a:endParaRPr>
          </a:p>
        </p:txBody>
      </p:sp>
      <p:pic>
        <p:nvPicPr>
          <p:cNvPr id="295" name="Google Shape;295;p3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68050" y="732300"/>
            <a:ext cx="3039525" cy="1587325"/>
          </a:xfrm>
          <a:prstGeom prst="rect">
            <a:avLst/>
          </a:prstGeom>
          <a:noFill/>
          <a:ln w="9525" cap="flat" cmpd="sng">
            <a:solidFill>
              <a:srgbClr val="FF0000"/>
            </a:solidFill>
            <a:prstDash val="solid"/>
            <a:round/>
            <a:headEnd type="none" w="sm" len="sm"/>
            <a:tailEnd type="none" w="sm" len="sm"/>
          </a:ln>
        </p:spPr>
      </p:pic>
      <p:pic>
        <p:nvPicPr>
          <p:cNvPr id="296" name="Google Shape;296;p3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391393" y="3316838"/>
            <a:ext cx="2058675" cy="10708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9"/>
          <p:cNvSpPr txBox="1"/>
          <p:nvPr/>
        </p:nvSpPr>
        <p:spPr>
          <a:xfrm>
            <a:off x="81775" y="-3"/>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02" name="Google Shape;302;p39"/>
          <p:cNvSpPr txBox="1"/>
          <p:nvPr/>
        </p:nvSpPr>
        <p:spPr>
          <a:xfrm>
            <a:off x="81775" y="404150"/>
            <a:ext cx="44520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Designing effective AI agent systems</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Peter Yang interviews Thariq Shihipar from Anthropic’s Claude Code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Shihipar emphasizes structuring agent loops around clear goals and exit conditions, using commands like /goal to maintain focus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 explains how dynamic, multi-agent workflows enable parallel execution and built-in verification, improving reliability on complex tasks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Through an automated video editing example, he shows how iterative planning helps surface and resolve unknowns before full automation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discussion also covers “Claude Tag,” a Slack-integrated system for collaborative, multi-agent task management.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Shihipar’s key advice is to keep context windows tight and develop a deep understanding of system limits rather than relying only on prompting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https://www.youtube.com/watch?v=aVO6E181cNU</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303" name="Google Shape;303;p39"/>
          <p:cNvSpPr txBox="1"/>
          <p:nvPr/>
        </p:nvSpPr>
        <p:spPr>
          <a:xfrm>
            <a:off x="81775" y="2716900"/>
            <a:ext cx="44520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TurboQuant - vector compression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vector index memory usage from 31 GB down to 4 GB</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applies a shared random rotation to align vector coordinates into a predictable bell curve, applying optimal Lloyd-Max quantization alongside a single-bit error-correction step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Independent developer Ryan Kadry implemented the open-source library TurboC using Rust, delivering faster search performance than Meta's FAISS while enabling seamless online vector ingestion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TurboQuant reduces LLM key-value cache memory x6. This significantly cuts cloud hardware costs and accelerates inference without sacrificing search accuracy or retrieval performance for long-context applications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https://www.youtube.com/watch?v=LvBsACJy4ww</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304" name="Google Shape;304;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86175" y="711341"/>
            <a:ext cx="2991250" cy="1620625"/>
          </a:xfrm>
          <a:prstGeom prst="rect">
            <a:avLst/>
          </a:prstGeom>
          <a:noFill/>
          <a:ln w="9525" cap="flat" cmpd="sng">
            <a:solidFill>
              <a:srgbClr val="FF0000"/>
            </a:solidFill>
            <a:prstDash val="solid"/>
            <a:round/>
            <a:headEnd type="none" w="sm" len="sm"/>
            <a:tailEnd type="none" w="sm" len="sm"/>
          </a:ln>
        </p:spPr>
      </p:pic>
      <p:pic>
        <p:nvPicPr>
          <p:cNvPr id="305" name="Google Shape;305;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86175" y="2885375"/>
            <a:ext cx="2991250" cy="1713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0"/>
          <p:cNvSpPr txBox="1"/>
          <p:nvPr/>
        </p:nvSpPr>
        <p:spPr>
          <a:xfrm>
            <a:off x="81775" y="-3"/>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11" name="Google Shape;311;p40"/>
          <p:cNvSpPr txBox="1"/>
          <p:nvPr/>
        </p:nvSpPr>
        <p:spPr>
          <a:xfrm>
            <a:off x="81775" y="522775"/>
            <a:ext cx="3793500" cy="288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Buzz - open-source group chat/workspace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https://github.com/block/buzz</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replace parts of Slack and GitHub for team collaboration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Jack Dorsey’s Block</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https://techcrunch.com/2026/07/21/jack-dorsey-is-taking-on-slack-with-buzz-a-group-chat-platform-for-teams-and-their-ai-agents/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Buzz is designed for humans and AI agents to work in the same shared conversations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Block says Buzz is model-agnostic, decentralized, self-sovereign, and built on the Nostr protocol, with self-hosting support.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Buzz combines chat, project planning, coding, PR workflows, and agent 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Buzz is available as a free desktop app for macOS, Windows, and Linux</a:t>
            </a:r>
            <a:endParaRPr sz="1200">
              <a:solidFill>
                <a:schemeClr val="dk1"/>
              </a:solidFill>
              <a:latin typeface="Calibri"/>
              <a:ea typeface="Calibri"/>
              <a:cs typeface="Calibri"/>
              <a:sym typeface="Calibri"/>
            </a:endParaRPr>
          </a:p>
        </p:txBody>
      </p:sp>
      <p:pic>
        <p:nvPicPr>
          <p:cNvPr id="312" name="Google Shape;312;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027675" y="192775"/>
            <a:ext cx="1621975" cy="1636651"/>
          </a:xfrm>
          <a:prstGeom prst="rect">
            <a:avLst/>
          </a:prstGeom>
          <a:noFill/>
          <a:ln w="9525" cap="flat" cmpd="sng">
            <a:solidFill>
              <a:srgbClr val="FF0000"/>
            </a:solidFill>
            <a:prstDash val="solid"/>
            <a:round/>
            <a:headEnd type="none" w="sm" len="sm"/>
            <a:tailEnd type="none" w="sm" len="sm"/>
          </a:ln>
        </p:spPr>
      </p:pic>
      <p:pic>
        <p:nvPicPr>
          <p:cNvPr id="313" name="Google Shape;313;p40"/>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027676" y="1941100"/>
            <a:ext cx="4061000" cy="3022575"/>
          </a:xfrm>
          <a:prstGeom prst="rect">
            <a:avLst/>
          </a:prstGeom>
          <a:noFill/>
          <a:ln w="9525" cap="flat" cmpd="sng">
            <a:solidFill>
              <a:srgbClr val="FF0000"/>
            </a:solidFill>
            <a:prstDash val="solid"/>
            <a:round/>
            <a:headEnd type="none" w="sm" len="sm"/>
            <a:tailEnd type="none" w="sm" len="sm"/>
          </a:ln>
        </p:spPr>
      </p:pic>
      <p:sp>
        <p:nvSpPr>
          <p:cNvPr id="314" name="Google Shape;314;p40"/>
          <p:cNvSpPr txBox="1"/>
          <p:nvPr/>
        </p:nvSpPr>
        <p:spPr>
          <a:xfrm>
            <a:off x="5876325" y="192775"/>
            <a:ext cx="2734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Jack Dorsey co-founded Twitter in 2006 (now X.com)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His other major project was </a:t>
            </a:r>
            <a:r>
              <a:rPr lang="en" sz="1200" b="1">
                <a:solidFill>
                  <a:srgbClr val="3C78D8"/>
                </a:solidFill>
                <a:latin typeface="Calibri"/>
                <a:ea typeface="Calibri"/>
                <a:cs typeface="Calibri"/>
                <a:sym typeface="Calibri"/>
              </a:rPr>
              <a:t>Square, later renamed Block</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Square focused on mobile payments and small-business card processing</a:t>
            </a:r>
            <a:endParaRPr sz="1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1"/>
          <p:cNvSpPr txBox="1"/>
          <p:nvPr/>
        </p:nvSpPr>
        <p:spPr>
          <a:xfrm>
            <a:off x="81775" y="-3"/>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From Windows to Linux or Mac</a:t>
            </a:r>
            <a:endParaRPr sz="2000" b="1">
              <a:solidFill>
                <a:schemeClr val="dk1"/>
              </a:solidFill>
              <a:latin typeface="Calibri"/>
              <a:ea typeface="Calibri"/>
              <a:cs typeface="Calibri"/>
              <a:sym typeface="Calibri"/>
            </a:endParaRPr>
          </a:p>
        </p:txBody>
      </p:sp>
      <p:sp>
        <p:nvSpPr>
          <p:cNvPr id="320" name="Google Shape;320;p41"/>
          <p:cNvSpPr txBox="1"/>
          <p:nvPr/>
        </p:nvSpPr>
        <p:spPr>
          <a:xfrm>
            <a:off x="81775" y="404150"/>
            <a:ext cx="4452000" cy="4543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200" b="1">
                <a:solidFill>
                  <a:srgbClr val="FF0000"/>
                </a:solidFill>
                <a:latin typeface="Calibri"/>
                <a:ea typeface="Calibri"/>
                <a:cs typeface="Calibri"/>
                <a:sym typeface="Calibri"/>
              </a:rPr>
              <a:t>Governments Win to Linux:</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France is moving 2.5 Mln gov workstations to (NixOS) Linux to reduce dependence on foreign tech and improve digital sovereignty </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3"/>
              </a:rPr>
              <a:t>https://www.youtube.com/watch?v=hmGAId0J2Lc</a:t>
            </a:r>
            <a:br>
              <a:rPr lang="en" sz="9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4"/>
              </a:rPr>
              <a:t>https://www.youtube.com/watch?v=jTqmHKTehKM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Schleswig-Holstein State in Germany is migrating about 30K employees to Linux and LibreOffice for cost savings, security, and control over data. The desktop is reported as KDE Plasma, with possible distros including Kubuntu, SLED, or openSUSE Leap</a:t>
            </a:r>
            <a:br>
              <a:rPr lang="en" sz="11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5"/>
              </a:rPr>
              <a:t>https://www.zdnet.com/article/the-german-state-schleswig-holstein-uninstalls-windows/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France’s Gendarmerie has long used GendBuntu, a custom Ubuntu-based system, on most workstations. It switched for stability, maintainability, and independence from Microsoft </a:t>
            </a:r>
            <a:r>
              <a:rPr lang="en" sz="900" u="sng">
                <a:solidFill>
                  <a:schemeClr val="hlink"/>
                </a:solidFill>
                <a:latin typeface="Calibri"/>
                <a:ea typeface="Calibri"/>
                <a:cs typeface="Calibri"/>
                <a:sym typeface="Calibri"/>
                <a:hlinkClick r:id="rId5"/>
              </a:rPr>
              <a:t>https://www.zdnet.com/article/the-german-state-schleswig-holstein-uninstalls-windows/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South Korea explored Linux desktops, using Ubuntu-based Harmonica and other Linux variants in some agencies, mainly to cut licensing costs and reduce reliance on Windows</a:t>
            </a:r>
            <a:br>
              <a:rPr lang="en" sz="11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6"/>
              </a:rPr>
              <a:t>https://www.zdnet.com/article/south-koreas-government-explores-move-from-windows-to-linux-desktop/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China Governmnet moving toward Chinese-made, Linux-based systems like Kylin and NeoKylin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Governments Win to Apple:</a:t>
            </a:r>
            <a:r>
              <a:rPr lang="en" sz="1200">
                <a:solidFill>
                  <a:schemeClr val="dk1"/>
                </a:solidFill>
                <a:latin typeface="Calibri"/>
                <a:ea typeface="Calibri"/>
                <a:cs typeface="Calibri"/>
                <a:sym typeface="Calibri"/>
              </a:rPr>
              <a:t> Germany (federal administration), US federal agencies: NASA, DOE, NIH, and parts of the FBI; State and local government in the US; Canada government: Uses modern device policies that allow staff to choose tools that fit the job, including Macs.</a:t>
            </a:r>
            <a:endParaRPr sz="1200">
              <a:solidFill>
                <a:schemeClr val="dk1"/>
              </a:solidFill>
              <a:latin typeface="Calibri"/>
              <a:ea typeface="Calibri"/>
              <a:cs typeface="Calibri"/>
              <a:sym typeface="Calibri"/>
            </a:endParaRPr>
          </a:p>
        </p:txBody>
      </p:sp>
      <p:sp>
        <p:nvSpPr>
          <p:cNvPr id="321" name="Google Shape;321;p41"/>
          <p:cNvSpPr txBox="1"/>
          <p:nvPr/>
        </p:nvSpPr>
        <p:spPr>
          <a:xfrm>
            <a:off x="4628725" y="404150"/>
            <a:ext cx="44520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Big Companies Windows to Linux: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is using Linux-based desktops internally, often described as Goobuntu</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7"/>
              </a:rPr>
              <a:t>https://www.techrepublic.com/article/five-big-names-that-use-linux-on-the-desktop/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NASA and contractor United Space Alliance moved key functions from Windows to Debian-based Linux because they wanted stability, reliability, and in-house control. </a:t>
            </a:r>
            <a:r>
              <a:rPr lang="en" sz="900" u="sng">
                <a:solidFill>
                  <a:schemeClr val="hlink"/>
                </a:solidFill>
                <a:latin typeface="Calibri"/>
                <a:ea typeface="Calibri"/>
                <a:cs typeface="Calibri"/>
                <a:sym typeface="Calibri"/>
                <a:hlinkClick r:id="rId7"/>
              </a:rPr>
              <a:t>https://www.techrepublic.com/article/five-big-names-that-use-linux-on-the-desktop/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CERN uses thousands of Linux desktops, including Scientific Linux, Ubuntu, and CentOS</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7"/>
              </a:rPr>
              <a:t>https://www.techrepublic.com/article/five-big-names-that-use-linux-on-the-desktop/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Some large firms also standardize on Linux for infrastructure rather than desktops (reduce licensing costs, fits cloud-native ops) </a:t>
            </a:r>
            <a:r>
              <a:rPr lang="en" sz="900" u="sng">
                <a:solidFill>
                  <a:schemeClr val="hlink"/>
                </a:solidFill>
                <a:latin typeface="Calibri"/>
                <a:ea typeface="Calibri"/>
                <a:cs typeface="Calibri"/>
                <a:sym typeface="Calibri"/>
                <a:hlinkClick r:id="rId8"/>
              </a:rPr>
              <a:t>https://www.computerworld.com/article/1347921/big-business-go-big-on-linux.html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Big Companies Windows to Apple: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IBM, SAP, Uber, BuzzFeed, Nike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Anthropic, Alibaba, other Chinese AI/startups</a:t>
            </a:r>
            <a:endParaRPr sz="1200">
              <a:solidFill>
                <a:schemeClr val="dk1"/>
              </a:solidFill>
              <a:latin typeface="Calibri"/>
              <a:ea typeface="Calibri"/>
              <a:cs typeface="Calibri"/>
              <a:sym typeface="Calibri"/>
            </a:endParaRPr>
          </a:p>
        </p:txBody>
      </p:sp>
      <p:pic>
        <p:nvPicPr>
          <p:cNvPr id="322" name="Google Shape;322;p41"/>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28724" y="3926133"/>
            <a:ext cx="1786675" cy="392575"/>
          </a:xfrm>
          <a:prstGeom prst="rect">
            <a:avLst/>
          </a:prstGeom>
          <a:noFill/>
          <a:ln>
            <a:noFill/>
          </a:ln>
        </p:spPr>
      </p:pic>
      <p:pic>
        <p:nvPicPr>
          <p:cNvPr id="323" name="Google Shape;323;p41"/>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751313" y="3619737"/>
            <a:ext cx="612162" cy="717250"/>
          </a:xfrm>
          <a:prstGeom prst="rect">
            <a:avLst/>
          </a:prstGeom>
          <a:noFill/>
          <a:ln>
            <a:noFill/>
          </a:ln>
        </p:spPr>
      </p:pic>
      <p:pic>
        <p:nvPicPr>
          <p:cNvPr id="324" name="Google Shape;324;p41"/>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7579124" y="4578644"/>
            <a:ext cx="1501601" cy="455650"/>
          </a:xfrm>
          <a:prstGeom prst="rect">
            <a:avLst/>
          </a:prstGeom>
          <a:noFill/>
          <a:ln>
            <a:noFill/>
          </a:ln>
        </p:spPr>
      </p:pic>
      <p:pic>
        <p:nvPicPr>
          <p:cNvPr id="325" name="Google Shape;325;p41"/>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8363475" y="3619725"/>
            <a:ext cx="717251" cy="717251"/>
          </a:xfrm>
          <a:prstGeom prst="rect">
            <a:avLst/>
          </a:prstGeom>
          <a:noFill/>
          <a:ln>
            <a:noFill/>
          </a:ln>
        </p:spPr>
      </p:pic>
      <p:sp>
        <p:nvSpPr>
          <p:cNvPr id="326" name="Google Shape;326;p41"/>
          <p:cNvSpPr/>
          <p:nvPr/>
        </p:nvSpPr>
        <p:spPr>
          <a:xfrm>
            <a:off x="6782286" y="4016750"/>
            <a:ext cx="717300" cy="561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2"/>
          <p:cNvSpPr txBox="1"/>
          <p:nvPr/>
        </p:nvSpPr>
        <p:spPr>
          <a:xfrm>
            <a:off x="81775" y="-3"/>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32" name="Google Shape;332;p42"/>
          <p:cNvSpPr txBox="1"/>
          <p:nvPr/>
        </p:nvSpPr>
        <p:spPr>
          <a:xfrm>
            <a:off x="81775" y="378368"/>
            <a:ext cx="55644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200" b="1">
                <a:solidFill>
                  <a:srgbClr val="FF0000"/>
                </a:solidFill>
                <a:latin typeface="Calibri"/>
                <a:ea typeface="Calibri"/>
                <a:cs typeface="Calibri"/>
                <a:sym typeface="Calibri"/>
              </a:rPr>
              <a:t>OpenAI has acquired Astral </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The Python devtool startup founded by </a:t>
            </a:r>
            <a:r>
              <a:rPr lang="en" sz="1200" b="1">
                <a:solidFill>
                  <a:srgbClr val="FF0000"/>
                </a:solidFill>
                <a:latin typeface="Calibri"/>
                <a:ea typeface="Calibri"/>
                <a:cs typeface="Calibri"/>
                <a:sym typeface="Calibri"/>
              </a:rPr>
              <a:t>Charlie Marsh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(Brooklyn, NY, 11+ people)</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https://www.youtube.com/watch?v=Iw65FD4MGgs </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200" b="1">
                <a:solidFill>
                  <a:srgbClr val="3C78D8"/>
                </a:solidFill>
                <a:latin typeface="Calibri"/>
                <a:ea typeface="Calibri"/>
                <a:cs typeface="Calibri"/>
                <a:sym typeface="Calibri"/>
              </a:rPr>
              <a:t>2022 - Ruff - Python linter and formatter</a:t>
            </a:r>
            <a:endParaRPr sz="12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200" b="1">
                <a:solidFill>
                  <a:srgbClr val="3C78D8"/>
                </a:solidFill>
                <a:latin typeface="Calibri"/>
                <a:ea typeface="Calibri"/>
                <a:cs typeface="Calibri"/>
                <a:sym typeface="Calibri"/>
              </a:rPr>
              <a:t>2024 - uv  - Fast Python package and project manager</a:t>
            </a:r>
            <a:endParaRPr sz="12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200" b="1">
                <a:solidFill>
                  <a:srgbClr val="3C78D8"/>
                </a:solidFill>
                <a:latin typeface="Calibri"/>
                <a:ea typeface="Calibri"/>
                <a:cs typeface="Calibri"/>
                <a:sym typeface="Calibri"/>
              </a:rPr>
              <a:t>2025 - ty - Fast Python type checker and language server</a:t>
            </a:r>
            <a:endParaRPr sz="12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All three tools written in Rust - fast, reliable, crash-free dev tools</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The team uses AI for coding</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Human engineering and first-principles thinking remain essential for core systems architecture and macro-level design</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To prevent AI-generated code quality drops ("AI slop"), Astral relies on extensive automated testing, continuous benchmark profiling, and strict PR reviews</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Strategy - keeping core tools free and open-source while offering enterprise solutions like hosted private registries (`py`) built on top of `uv` </a:t>
            </a:r>
            <a:endParaRPr sz="1200">
              <a:solidFill>
                <a:schemeClr val="dk1"/>
              </a:solidFill>
              <a:latin typeface="Calibri"/>
              <a:ea typeface="Calibri"/>
              <a:cs typeface="Calibri"/>
              <a:sym typeface="Calibri"/>
            </a:endParaRPr>
          </a:p>
        </p:txBody>
      </p:sp>
      <p:pic>
        <p:nvPicPr>
          <p:cNvPr id="333" name="Google Shape;333;p4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920375" y="519766"/>
            <a:ext cx="2854874" cy="2187400"/>
          </a:xfrm>
          <a:prstGeom prst="rect">
            <a:avLst/>
          </a:prstGeom>
          <a:noFill/>
          <a:ln w="9525" cap="flat" cmpd="sng">
            <a:solidFill>
              <a:srgbClr val="FF0000"/>
            </a:solidFill>
            <a:prstDash val="solid"/>
            <a:round/>
            <a:headEnd type="none" w="sm" len="sm"/>
            <a:tailEnd type="none" w="sm" len="sm"/>
          </a:ln>
        </p:spPr>
      </p:pic>
      <p:sp>
        <p:nvSpPr>
          <p:cNvPr id="334" name="Google Shape;334;p42"/>
          <p:cNvSpPr txBox="1"/>
          <p:nvPr/>
        </p:nvSpPr>
        <p:spPr>
          <a:xfrm>
            <a:off x="81775" y="3232327"/>
            <a:ext cx="58545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000" b="1">
                <a:solidFill>
                  <a:srgbClr val="6AA84F"/>
                </a:solidFill>
                <a:latin typeface="Roboto Mono"/>
                <a:ea typeface="Roboto Mono"/>
                <a:cs typeface="Roboto Mono"/>
                <a:sym typeface="Roboto Mono"/>
              </a:rPr>
              <a:t>Examples of usage:</a:t>
            </a:r>
            <a:endParaRPr sz="10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br>
              <a:rPr lang="en" sz="1000" b="1">
                <a:solidFill>
                  <a:srgbClr val="3C78D8"/>
                </a:solidFill>
                <a:latin typeface="Roboto Mono"/>
                <a:ea typeface="Roboto Mono"/>
                <a:cs typeface="Roboto Mono"/>
                <a:sym typeface="Roboto Mono"/>
              </a:rPr>
            </a:br>
            <a:r>
              <a:rPr lang="en" sz="1000" b="1">
                <a:solidFill>
                  <a:srgbClr val="3C78D8"/>
                </a:solidFill>
                <a:latin typeface="Roboto Mono"/>
                <a:ea typeface="Roboto Mono"/>
                <a:cs typeface="Roboto Mono"/>
                <a:sym typeface="Roboto Mono"/>
              </a:rPr>
              <a:t>ruff check .          </a:t>
            </a:r>
            <a:r>
              <a:rPr lang="en" sz="1000" b="1">
                <a:solidFill>
                  <a:srgbClr val="6AA84F"/>
                </a:solidFill>
                <a:latin typeface="Roboto Mono"/>
                <a:ea typeface="Roboto Mono"/>
                <a:cs typeface="Roboto Mono"/>
                <a:sym typeface="Roboto Mono"/>
              </a:rPr>
              <a:t># to lint a project</a:t>
            </a:r>
            <a:br>
              <a:rPr lang="en" sz="1000" b="1">
                <a:solidFill>
                  <a:srgbClr val="3C78D8"/>
                </a:solidFill>
                <a:latin typeface="Roboto Mono"/>
                <a:ea typeface="Roboto Mono"/>
                <a:cs typeface="Roboto Mono"/>
                <a:sym typeface="Roboto Mono"/>
              </a:rPr>
            </a:br>
            <a:r>
              <a:rPr lang="en" sz="1000" b="1">
                <a:solidFill>
                  <a:srgbClr val="3C78D8"/>
                </a:solidFill>
                <a:latin typeface="Roboto Mono"/>
                <a:ea typeface="Roboto Mono"/>
                <a:cs typeface="Roboto Mono"/>
                <a:sym typeface="Roboto Mono"/>
              </a:rPr>
              <a:t>ruff format .         </a:t>
            </a:r>
            <a:r>
              <a:rPr lang="en" sz="1000" b="1">
                <a:solidFill>
                  <a:srgbClr val="6AA84F"/>
                </a:solidFill>
                <a:latin typeface="Roboto Mono"/>
                <a:ea typeface="Roboto Mono"/>
                <a:cs typeface="Roboto Mono"/>
                <a:sym typeface="Roboto Mono"/>
              </a:rPr>
              <a:t># to auto-format files</a:t>
            </a:r>
            <a:br>
              <a:rPr lang="en" sz="1000" b="1">
                <a:solidFill>
                  <a:srgbClr val="3C78D8"/>
                </a:solidFill>
                <a:latin typeface="Roboto Mono"/>
                <a:ea typeface="Roboto Mono"/>
                <a:cs typeface="Roboto Mono"/>
                <a:sym typeface="Roboto Mono"/>
              </a:rPr>
            </a:br>
            <a:r>
              <a:rPr lang="en" sz="1000" b="1">
                <a:solidFill>
                  <a:srgbClr val="3C78D8"/>
                </a:solidFill>
                <a:latin typeface="Roboto Mono"/>
                <a:ea typeface="Roboto Mono"/>
                <a:cs typeface="Roboto Mono"/>
                <a:sym typeface="Roboto Mono"/>
              </a:rPr>
              <a:t>ruff check --fix .    # to apply safe fixes</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uv init myproj        # to create a project</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uv add requests       # to add a dependency</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uv run python main.py # to run code in the project env</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ty check .            # to type-check a codebase</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 ty can also act as a language server for editor integration</a:t>
            </a:r>
            <a:endParaRPr sz="1000" b="1">
              <a:solidFill>
                <a:srgbClr val="3C78D8"/>
              </a:solidFill>
              <a:latin typeface="Roboto Mono"/>
              <a:ea typeface="Roboto Mono"/>
              <a:cs typeface="Roboto Mono"/>
              <a:sym typeface="Roboto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3"/>
          <p:cNvSpPr txBox="1"/>
          <p:nvPr/>
        </p:nvSpPr>
        <p:spPr>
          <a:xfrm>
            <a:off x="81775" y="-3"/>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40" name="Google Shape;340;p43"/>
          <p:cNvSpPr txBox="1"/>
          <p:nvPr/>
        </p:nvSpPr>
        <p:spPr>
          <a:xfrm>
            <a:off x="81775" y="404150"/>
            <a:ext cx="44520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200" b="1">
                <a:solidFill>
                  <a:srgbClr val="FF0000"/>
                </a:solidFill>
                <a:latin typeface="Calibri"/>
                <a:ea typeface="Calibri"/>
                <a:cs typeface="Calibri"/>
                <a:sym typeface="Calibri"/>
              </a:rPr>
              <a:t>KMS - Key Management Service</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AWS KMS and GCP Cloud KMS are managed services for creating, storing, rotating, and controlling encryption keys used to protect data at rest and in applications</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3"/>
              </a:rPr>
              <a:t>https://docs.aws.amazon.com/kms/latest/developerguide/concepts-intro.html</a:t>
            </a:r>
            <a:r>
              <a:rPr lang="en" sz="900">
                <a:solidFill>
                  <a:schemeClr val="dk1"/>
                </a:solidFill>
                <a:latin typeface="Calibri"/>
                <a:ea typeface="Calibri"/>
                <a:cs typeface="Calibri"/>
                <a:sym typeface="Calibri"/>
              </a:rPr>
              <a:t> </a:t>
            </a:r>
            <a:br>
              <a:rPr lang="en" sz="9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4"/>
              </a:rPr>
              <a:t>https://aws.amazon.com/kms/</a:t>
            </a:r>
            <a:r>
              <a:rPr lang="en" sz="900">
                <a:solidFill>
                  <a:schemeClr val="dk1"/>
                </a:solidFill>
                <a:latin typeface="Calibri"/>
                <a:ea typeface="Calibri"/>
                <a:cs typeface="Calibri"/>
                <a:sym typeface="Calibri"/>
              </a:rPr>
              <a:t> </a:t>
            </a:r>
            <a:br>
              <a:rPr lang="en" sz="9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4"/>
              </a:rPr>
              <a:t>https://aws.amazon.com/kms/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AWS KMS supports centralized policy-based access control, CloudTrail auditing, and hardware-backed key protection using validated </a:t>
            </a:r>
            <a:r>
              <a:rPr lang="en" sz="1200" b="1">
                <a:solidFill>
                  <a:srgbClr val="FF0000"/>
                </a:solidFill>
                <a:latin typeface="Calibri"/>
                <a:ea typeface="Calibri"/>
                <a:cs typeface="Calibri"/>
                <a:sym typeface="Calibri"/>
              </a:rPr>
              <a:t>HSMs</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HSM = Hardware Security Module</a:t>
            </a:r>
            <a:r>
              <a:rPr lang="en" sz="1200">
                <a:solidFill>
                  <a:schemeClr val="dk1"/>
                </a:solidFill>
                <a:latin typeface="Calibri"/>
                <a:ea typeface="Calibri"/>
                <a:cs typeface="Calibri"/>
                <a:sym typeface="Calibri"/>
              </a:rPr>
              <a:t>. It is a physical device designed to securely generate, store, and use cryptographic keys</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GCP Cloud KMS provides centralized key management for Google Cloud, supports software, HSM, and external keys, and integrates with services like BigQuery, GCS, and GKE through CMEK </a:t>
            </a:r>
            <a:r>
              <a:rPr lang="en" sz="900" u="sng">
                <a:solidFill>
                  <a:schemeClr val="hlink"/>
                </a:solidFill>
                <a:latin typeface="Calibri"/>
                <a:ea typeface="Calibri"/>
                <a:cs typeface="Calibri"/>
                <a:sym typeface="Calibri"/>
                <a:hlinkClick r:id="rId5"/>
              </a:rPr>
              <a:t>https://innfactory.de/en/cloud/gcp/products/cloud-kms/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Both platforms support automatic rotation and strong auditability, but AWS emphasizes AWS-native service coverage while GCP emphasizes flexible protection levels and key access justification logging</a:t>
            </a:r>
            <a:endParaRPr sz="1200">
              <a:solidFill>
                <a:schemeClr val="dk1"/>
              </a:solidFill>
              <a:latin typeface="Calibri"/>
              <a:ea typeface="Calibri"/>
              <a:cs typeface="Calibri"/>
              <a:sym typeface="Calibri"/>
            </a:endParaRPr>
          </a:p>
        </p:txBody>
      </p:sp>
      <p:pic>
        <p:nvPicPr>
          <p:cNvPr id="341" name="Google Shape;341;p4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04350" y="1223696"/>
            <a:ext cx="3787950" cy="1355500"/>
          </a:xfrm>
          <a:prstGeom prst="rect">
            <a:avLst/>
          </a:prstGeom>
          <a:noFill/>
          <a:ln>
            <a:noFill/>
          </a:ln>
        </p:spPr>
      </p:pic>
      <p:pic>
        <p:nvPicPr>
          <p:cNvPr id="342" name="Google Shape;342;p4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04350" y="135317"/>
            <a:ext cx="2509950" cy="928100"/>
          </a:xfrm>
          <a:prstGeom prst="rect">
            <a:avLst/>
          </a:prstGeom>
          <a:noFill/>
          <a:ln>
            <a:noFill/>
          </a:ln>
        </p:spPr>
      </p:pic>
      <p:pic>
        <p:nvPicPr>
          <p:cNvPr id="343" name="Google Shape;343;p4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744001" y="3058275"/>
            <a:ext cx="2644725" cy="1763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4"/>
          <p:cNvSpPr txBox="1"/>
          <p:nvPr/>
        </p:nvSpPr>
        <p:spPr>
          <a:xfrm>
            <a:off x="81775" y="-3"/>
            <a:ext cx="436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49" name="Google Shape;349;p44"/>
          <p:cNvSpPr txBox="1"/>
          <p:nvPr/>
        </p:nvSpPr>
        <p:spPr>
          <a:xfrm>
            <a:off x="81775" y="404150"/>
            <a:ext cx="4452000" cy="84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200" b="1">
                <a:solidFill>
                  <a:srgbClr val="FF0000"/>
                </a:solidFill>
                <a:latin typeface="Calibri"/>
                <a:ea typeface="Calibri"/>
                <a:cs typeface="Calibri"/>
                <a:sym typeface="Calibri"/>
              </a:rPr>
              <a:t>Remove Slope from Writing</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200">
                <a:solidFill>
                  <a:schemeClr val="dk1"/>
                </a:solidFill>
                <a:latin typeface="Calibri"/>
                <a:ea typeface="Calibri"/>
                <a:cs typeface="Calibri"/>
                <a:sym typeface="Calibri"/>
              </a:rPr>
              <a:t>This skill removes 20+ patterns of AI slop from your writing and it can also help you detect slop as well.</a:t>
            </a:r>
            <a:endParaRPr sz="12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900" u="sng">
                <a:solidFill>
                  <a:schemeClr val="hlink"/>
                </a:solidFill>
                <a:latin typeface="Calibri"/>
                <a:ea typeface="Calibri"/>
                <a:cs typeface="Calibri"/>
                <a:sym typeface="Calibri"/>
                <a:hlinkClick r:id="rId3"/>
              </a:rPr>
              <a:t>https://creatoreconomy.so/p/use-my-no-ai-slop-skill-to-remove-20-ai-slop-patterns</a:t>
            </a:r>
            <a:endParaRPr sz="9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900" u="sng">
                <a:solidFill>
                  <a:schemeClr val="hlink"/>
                </a:solidFill>
                <a:latin typeface="Calibri"/>
                <a:ea typeface="Calibri"/>
                <a:cs typeface="Calibri"/>
                <a:sym typeface="Calibri"/>
                <a:hlinkClick r:id="rId4"/>
              </a:rPr>
              <a:t>https://github.com/petergyang/no-ai-slop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350" name="Google Shape;350;p44"/>
          <p:cNvSpPr txBox="1"/>
          <p:nvPr/>
        </p:nvSpPr>
        <p:spPr>
          <a:xfrm>
            <a:off x="81775" y="2328039"/>
            <a:ext cx="44520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 Omniroot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Code's source code was exposed in March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Code + Omniroot - 268 AI models (50+ free), providing a continuous "free brain". When free token limits deplete on one model, Omniroot automatically switches to another available model to prevent workflow interruptions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Token Optimization - built-in tools like RTK and Caveman compress user prompts to save tokens while keeping code and links intact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run multiple AI agents simultaneously across platforms like Cursor or Codex to execute various tasks at once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https://www.youtube.com/watch?v=sIfPWJvCCf4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351" name="Google Shape;351;p4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21450" y="2548364"/>
            <a:ext cx="2859225" cy="1609550"/>
          </a:xfrm>
          <a:prstGeom prst="rect">
            <a:avLst/>
          </a:prstGeom>
          <a:noFill/>
          <a:ln w="9525" cap="flat" cmpd="sng">
            <a:solidFill>
              <a:srgbClr val="FF0000"/>
            </a:solidFill>
            <a:prstDash val="solid"/>
            <a:round/>
            <a:headEnd type="none" w="sm" len="sm"/>
            <a:tailEnd type="none" w="sm" len="sm"/>
          </a:ln>
        </p:spPr>
      </p:pic>
      <p:pic>
        <p:nvPicPr>
          <p:cNvPr id="352" name="Google Shape;352;p4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21450" y="404150"/>
            <a:ext cx="2954699" cy="17937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5"/>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58" name="Google Shape;358;p45"/>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59" name="Google Shape;359;p45"/>
          <p:cNvSpPr txBox="1"/>
          <p:nvPr/>
        </p:nvSpPr>
        <p:spPr>
          <a:xfrm>
            <a:off x="5655225" y="351062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2026 </a:t>
            </a:r>
            <a:r>
              <a:rPr lang="en" sz="1000" b="1">
                <a:solidFill>
                  <a:schemeClr val="dk1"/>
                </a:solidFill>
                <a:latin typeface="Roboto Mono"/>
                <a:ea typeface="Roboto Mono"/>
                <a:cs typeface="Roboto Mono"/>
                <a:sym typeface="Roboto Mono"/>
              </a:rPr>
              <a:t>(as of July 24,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60" name="Google Shape;360;p45"/>
          <p:cNvSpPr txBox="1"/>
          <p:nvPr/>
        </p:nvSpPr>
        <p:spPr>
          <a:xfrm>
            <a:off x="5422950" y="531250"/>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170,483</a:t>
            </a:r>
            <a:r>
              <a:rPr lang="en" sz="1200">
                <a:latin typeface="Calibri"/>
                <a:ea typeface="Calibri"/>
                <a:cs typeface="Calibri"/>
                <a:sym typeface="Calibri"/>
              </a:rPr>
              <a:t> people laid off (832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61" name="Google Shape;361;p4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240009"/>
            <a:ext cx="5182423" cy="1816892"/>
          </a:xfrm>
          <a:prstGeom prst="rect">
            <a:avLst/>
          </a:prstGeom>
          <a:noFill/>
          <a:ln w="9525" cap="flat" cmpd="sng">
            <a:solidFill>
              <a:srgbClr val="FF0000"/>
            </a:solidFill>
            <a:prstDash val="solid"/>
            <a:round/>
            <a:headEnd type="none" w="sm" len="sm"/>
            <a:tailEnd type="none" w="sm" len="sm"/>
          </a:ln>
        </p:spPr>
      </p:pic>
      <p:pic>
        <p:nvPicPr>
          <p:cNvPr id="362" name="Google Shape;362;p4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475694"/>
            <a:ext cx="5182425" cy="268237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p4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68" name="Google Shape;368;p4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69" name="Google Shape;369;p4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70" name="Google Shape;370;p4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71" name="Google Shape;371;p46"/>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72" name="Google Shape;372;p46"/>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7"/>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6244</Words>
  <Application>Microsoft Macintosh PowerPoint</Application>
  <PresentationFormat>On-screen Show (16:9)</PresentationFormat>
  <Paragraphs>667</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Victor Mono</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2026-07-24T17:57:30Z</dcterms:modified>
</cp:coreProperties>
</file>