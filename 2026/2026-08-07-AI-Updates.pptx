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embeddedFontLst>
    <p:embeddedFont>
      <p:font typeface="Roboto Mono" pitchFamily="49" charset="0"/>
      <p:regular r:id="rId31"/>
      <p:bold r:id="rId32"/>
      <p:italic r:id="rId33"/>
      <p:boldItalic r:id="rId34"/>
    </p:embeddedFont>
    <p:embeddedFont>
      <p:font typeface="Victor Mono" panose="02000009000000000000" pitchFamily="49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9AD863-B5CA-41E3-9375-EA3E092E2F02}">
  <a:tblStyle styleId="{B39AD863-B5CA-41E3-9375-EA3E092E2F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>
      <p:cViewPr varScale="1">
        <p:scale>
          <a:sx n="124" d="100"/>
          <a:sy n="12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79bdb6f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f579bdb6f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579bdb6f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3f579bdb6f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3cb0c16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f3cb0c16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308c8833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f6308c8833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2cd9eea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3f62cd9eea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73d0cba7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f673d0cba7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3f46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f53f46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84a69e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3f684a69eb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070345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3f6070345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6308c883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f6308c883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1f83a69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f61f83a69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571775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f6571775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61f83a6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f61f83a6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308c883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f6308c883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b8b02709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8b8b02709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2cd9ee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f62cd9eea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6435e23a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f6435e23a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070345f0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f6070345f0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684b2c1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3f684b2c1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69289473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f69289473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6687dd2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f6687dd2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66944d04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f66944d04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23d45d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g3f623d45d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673d0cba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3f673d0cba7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579bdb6fa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3f579bdb6fa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qwen3.8-max" TargetMode="External"/><Relationship Id="rId18" Type="http://schemas.openxmlformats.org/officeDocument/2006/relationships/hyperlink" Target="https://arena.ai/leaderboard/model/claude-opus-5-max" TargetMode="External"/><Relationship Id="rId26" Type="http://schemas.openxmlformats.org/officeDocument/2006/relationships/hyperlink" Target="https://arena.ai/leaderboard/model/claude-opus-4-5-20251101" TargetMode="External"/><Relationship Id="rId21" Type="http://schemas.openxmlformats.org/officeDocument/2006/relationships/hyperlink" Target="https://arena.ai/leaderboard/model/muse-spark" TargetMode="External"/><Relationship Id="rId34" Type="http://schemas.openxmlformats.org/officeDocument/2006/relationships/hyperlink" Target="https://arena.ai/leaderboard/model/gemini-3.5-flash-high" TargetMode="External"/><Relationship Id="rId7" Type="http://schemas.openxmlformats.org/officeDocument/2006/relationships/hyperlink" Target="https://arena.ai/leaderboard/model/claude-opus-4-7-thinking" TargetMode="External"/><Relationship Id="rId12" Type="http://schemas.openxmlformats.org/officeDocument/2006/relationships/hyperlink" Target="https://arena.ai/leaderboard/model/claude-opus-4-8-thinking" TargetMode="External"/><Relationship Id="rId17" Type="http://schemas.openxmlformats.org/officeDocument/2006/relationships/hyperlink" Target="https://arena.ai/leaderboard/model/claude-sonnet-4-6" TargetMode="External"/><Relationship Id="rId25" Type="http://schemas.openxmlformats.org/officeDocument/2006/relationships/hyperlink" Target="https://arena.ai/leaderboard/model/gemini-3.6-flash" TargetMode="External"/><Relationship Id="rId33" Type="http://schemas.openxmlformats.org/officeDocument/2006/relationships/hyperlink" Target="https://arena.ai/leaderboard/model/gpt-5.5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claude-opus-5-high" TargetMode="External"/><Relationship Id="rId20" Type="http://schemas.openxmlformats.org/officeDocument/2006/relationships/hyperlink" Target="https://arena.ai/leaderboard/model/muse-spark-1.2%20%28xHigh%29" TargetMode="External"/><Relationship Id="rId29" Type="http://schemas.openxmlformats.org/officeDocument/2006/relationships/hyperlink" Target="https://arena.ai/leaderboard/model/gpt-5.6-terra-xhigh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claude-fable-5" TargetMode="External"/><Relationship Id="rId11" Type="http://schemas.openxmlformats.org/officeDocument/2006/relationships/hyperlink" Target="https://arena.ai/leaderboard/model/kimi-k3-max" TargetMode="External"/><Relationship Id="rId24" Type="http://schemas.openxmlformats.org/officeDocument/2006/relationships/hyperlink" Target="https://arena.ai/leaderboard/model/claude-sonnet-5-high" TargetMode="External"/><Relationship Id="rId32" Type="http://schemas.openxmlformats.org/officeDocument/2006/relationships/hyperlink" Target="https://arena.ai/leaderboard/model/gpt-5.5-high" TargetMode="External"/><Relationship Id="rId37" Type="http://schemas.openxmlformats.org/officeDocument/2006/relationships/hyperlink" Target="https://arena.ai/leaderboard/model/gemini-3.5-flash-medium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claude-opus-4-5-20251101-thinking-32k" TargetMode="External"/><Relationship Id="rId23" Type="http://schemas.openxmlformats.org/officeDocument/2006/relationships/hyperlink" Target="https://arena.ai/leaderboard/model/gpt-5.6-sol-xhigh" TargetMode="External"/><Relationship Id="rId28" Type="http://schemas.openxmlformats.org/officeDocument/2006/relationships/hyperlink" Target="https://arena.ai/leaderboard/model/gemini-3.1-pro-preview" TargetMode="External"/><Relationship Id="rId36" Type="http://schemas.openxmlformats.org/officeDocument/2006/relationships/hyperlink" Target="https://arena.ai/leaderboard/model/grok-4.20-beta1" TargetMode="External"/><Relationship Id="rId10" Type="http://schemas.openxmlformats.org/officeDocument/2006/relationships/hyperlink" Target="https://arena.ai/leaderboard/model/claude-opus-4-7" TargetMode="External"/><Relationship Id="rId19" Type="http://schemas.openxmlformats.org/officeDocument/2006/relationships/hyperlink" Target="https://arena.ai/leaderboard/model/claude-opus-4-8" TargetMode="External"/><Relationship Id="rId31" Type="http://schemas.openxmlformats.org/officeDocument/2006/relationships/hyperlink" Target="https://arena.ai/leaderboard/model/gemini-3-pro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6" TargetMode="External"/><Relationship Id="rId14" Type="http://schemas.openxmlformats.org/officeDocument/2006/relationships/hyperlink" Target="https://arena.ai/leaderboard/model/muse-spark-1.1" TargetMode="External"/><Relationship Id="rId22" Type="http://schemas.openxmlformats.org/officeDocument/2006/relationships/hyperlink" Target="https://arena.ai/leaderboard/model/qwen3.7-max-preview" TargetMode="External"/><Relationship Id="rId27" Type="http://schemas.openxmlformats.org/officeDocument/2006/relationships/hyperlink" Target="https://arena.ai/leaderboard/model/gpt-5.4-high" TargetMode="External"/><Relationship Id="rId30" Type="http://schemas.openxmlformats.org/officeDocument/2006/relationships/hyperlink" Target="https://arena.ai/leaderboard/model/grok-4.5" TargetMode="External"/><Relationship Id="rId35" Type="http://schemas.openxmlformats.org/officeDocument/2006/relationships/hyperlink" Target="https://arena.ai/leaderboard/model/gpt-5.2-chat-latest-20260210" TargetMode="External"/><Relationship Id="rId8" Type="http://schemas.openxmlformats.org/officeDocument/2006/relationships/hyperlink" Target="https://arena.ai/leaderboard/model/claude-opus-4-6-thinking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nxr20lcqagg" TargetMode="External"/><Relationship Id="rId5" Type="http://schemas.openxmlformats.org/officeDocument/2006/relationships/hyperlink" Target="https://artificialanalysis.ai/evaluations/artificial-analysis-intelligence-index" TargetMode="External"/><Relationship Id="rId4" Type="http://schemas.openxmlformats.org/officeDocument/2006/relationships/hyperlink" Target="https://artificialanalysis.ai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9313413/" TargetMode="External"/><Relationship Id="rId3" Type="http://schemas.openxmlformats.org/officeDocument/2006/relationships/hyperlink" Target="https://x.ai/blog/grok-build" TargetMode="External"/><Relationship Id="rId7" Type="http://schemas.openxmlformats.org/officeDocument/2006/relationships/hyperlink" Target="https://en.wikipedia.org/wiki/Sakana_AI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akanaai" TargetMode="External"/><Relationship Id="rId5" Type="http://schemas.openxmlformats.org/officeDocument/2006/relationships/hyperlink" Target="https://www.youtube.com/watch?v=O8Ru0Wyzk6E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www.youtube.com/watch?v=_1ETUXJ3BCQ" TargetMode="External"/><Relationship Id="rId9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thinkingmachines.ai/news/inkling-small/" TargetMode="External"/><Relationship Id="rId3" Type="http://schemas.openxmlformats.org/officeDocument/2006/relationships/hyperlink" Target="https://github.com/DeusData/codebase-memory-mcp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debase-memory.com" TargetMode="External"/><Relationship Id="rId5" Type="http://schemas.openxmlformats.org/officeDocument/2006/relationships/hyperlink" Target="https://skillsllm.com/skill/codebase-memory-mcp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www.tecmint.com/install-codebase-memory-mcp-linux/" TargetMode="Externa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BJ1NsvzatA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hyperlink" Target="https://www.youtube.com/watch?v=n7BpBCCCOWA" TargetMode="External"/><Relationship Id="rId4" Type="http://schemas.openxmlformats.org/officeDocument/2006/relationships/hyperlink" Target="https://www.youtube.com/watch?v=lexZNRYc8u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jw3ok6alY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research.meta.ai/blog/introducing-muse-code-and-muse-spark-1-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uzzy.now" TargetMode="External"/><Relationship Id="rId3" Type="http://schemas.openxmlformats.org/officeDocument/2006/relationships/hyperlink" Target="https://www.youtube.com/watch?v=gQhyMynG6x4" TargetMode="External"/><Relationship Id="rId7" Type="http://schemas.openxmlformats.org/officeDocument/2006/relationships/hyperlink" Target="https://www.youtube.com/watch?v=-Or92nOgDoc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acebook.com/groups/DesignHacker/posts/2177246519758209/" TargetMode="External"/><Relationship Id="rId5" Type="http://schemas.openxmlformats.org/officeDocument/2006/relationships/hyperlink" Target="https://github.com/bradautomates/claude-video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www.youtube.com/watch?v=QZMljuD10sU" TargetMode="Externa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hermes-agent.nousresearch.com/docs/integrations/buzz" TargetMode="External"/><Relationship Id="rId3" Type="http://schemas.openxmlformats.org/officeDocument/2006/relationships/hyperlink" Target="https://www.youtube.com/watch?v=H3OZiTbD1OU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uzz.xyz" TargetMode="External"/><Relationship Id="rId5" Type="http://schemas.openxmlformats.org/officeDocument/2006/relationships/hyperlink" Target="https://www.youtube.com/watch?v=ru07BOhF1wk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www.youtube.com/watch?v=ZhJi_npUQcQ" TargetMode="External"/><Relationship Id="rId9" Type="http://schemas.openxmlformats.org/officeDocument/2006/relationships/hyperlink" Target="https://www.youtube.com/watch?v=b42vjtH6mNM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quid.ai/blog/lfm2-5-2-6b" TargetMode="External"/><Relationship Id="rId3" Type="http://schemas.openxmlformats.org/officeDocument/2006/relationships/hyperlink" Target="https://tailscale.com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LAgkQMivp0" TargetMode="External"/><Relationship Id="rId5" Type="http://schemas.openxmlformats.org/officeDocument/2006/relationships/hyperlink" Target="https://tailscale.com/blog/what-is-tailscale" TargetMode="External"/><Relationship Id="rId10" Type="http://schemas.openxmlformats.org/officeDocument/2006/relationships/image" Target="../media/image17.png"/><Relationship Id="rId4" Type="http://schemas.openxmlformats.org/officeDocument/2006/relationships/hyperlink" Target="https://github.com/tailscale/tailscale" TargetMode="External"/><Relationship Id="rId9" Type="http://schemas.openxmlformats.org/officeDocument/2006/relationships/hyperlink" Target="https://www.youtube.com/watch?v=287bPhWHTo0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tLMQYYp5tBc" TargetMode="External"/><Relationship Id="rId3" Type="http://schemas.openxmlformats.org/officeDocument/2006/relationships/hyperlink" Target="https://platform.minimax.io" TargetMode="External"/><Relationship Id="rId7" Type="http://schemas.openxmlformats.org/officeDocument/2006/relationships/hyperlink" Target="https://neuralink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hyperlink" Target="https://www.youtube.com/watch?v=bLfF4X3F2ew" TargetMode="External"/><Relationship Id="rId4" Type="http://schemas.openxmlformats.org/officeDocument/2006/relationships/hyperlink" Target="https://github.com/MiniMax-AI" TargetMode="External"/><Relationship Id="rId9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qwen.ai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pl0E53ioEo" TargetMode="External"/><Relationship Id="rId5" Type="http://schemas.openxmlformats.org/officeDocument/2006/relationships/hyperlink" Target="https://dreamina.capcut.com" TargetMode="External"/><Relationship Id="rId10" Type="http://schemas.openxmlformats.org/officeDocument/2006/relationships/image" Target="../media/image23.jpeg"/><Relationship Id="rId4" Type="http://schemas.openxmlformats.org/officeDocument/2006/relationships/hyperlink" Target="https://github.com/QwenLM" TargetMode="External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github.com/decolua/9router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cSz_6SNEirU" TargetMode="External"/><Relationship Id="rId5" Type="http://schemas.openxmlformats.org/officeDocument/2006/relationships/hyperlink" Target="https://theaiprofit.com" TargetMode="External"/><Relationship Id="rId4" Type="http://schemas.openxmlformats.org/officeDocument/2006/relationships/hyperlink" Target="https://www.youtube.com/watch?v=bHLgidjAl9I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crosoft.com/en-us/research/publication/from-local-to-global-graph-rag/" TargetMode="External"/><Relationship Id="rId3" Type="http://schemas.openxmlformats.org/officeDocument/2006/relationships/hyperlink" Target="https://www.youtube.com/watch?v=5AkurBDSYwo" TargetMode="External"/><Relationship Id="rId7" Type="http://schemas.openxmlformats.org/officeDocument/2006/relationships/hyperlink" Target="https://www.youtube.com/watch?v=yqEekIQSVzQ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icrosoft/graphrag" TargetMode="External"/><Relationship Id="rId5" Type="http://schemas.openxmlformats.org/officeDocument/2006/relationships/image" Target="../media/image27.png"/><Relationship Id="rId4" Type="http://schemas.openxmlformats.org/officeDocument/2006/relationships/image" Target="../media/image26.jpe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www.youtube.com/watch?v=tAjhCOQjI0Q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hyperlink" Target="https://www.amazon.com/dp/B0DL9WQ4Z4" TargetMode="External"/><Relationship Id="rId10" Type="http://schemas.openxmlformats.org/officeDocument/2006/relationships/image" Target="../media/image33.jpeg"/><Relationship Id="rId4" Type="http://schemas.openxmlformats.org/officeDocument/2006/relationships/hyperlink" Target="https://shop.fieldy.ai" TargetMode="External"/><Relationship Id="rId9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autobots.abacus.ai" TargetMode="External"/><Relationship Id="rId7" Type="http://schemas.openxmlformats.org/officeDocument/2006/relationships/hyperlink" Target="https://www.youtube.com/watch?v=Mxo4fqNgX0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hyperlink" Target="https://www.youtube.com/watch?v=RAUC49M6RLE" TargetMode="External"/><Relationship Id="rId4" Type="http://schemas.openxmlformats.org/officeDocument/2006/relationships/hyperlink" Target="https://abacus.ai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s://empero.org" TargetMode="External"/><Relationship Id="rId7" Type="http://schemas.openxmlformats.org/officeDocument/2006/relationships/hyperlink" Target="https://www.youtube.com/watch?v=iZYUgrGzQ0o" TargetMode="External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8dSk8uOVxhU" TargetMode="External"/><Relationship Id="rId11" Type="http://schemas.openxmlformats.org/officeDocument/2006/relationships/hyperlink" Target="https://github.com/Kwaipilot" TargetMode="External"/><Relationship Id="rId5" Type="http://schemas.openxmlformats.org/officeDocument/2006/relationships/hyperlink" Target="https://empero.org/writing/qwythos-27b-the-long-awaited-27b" TargetMode="External"/><Relationship Id="rId10" Type="http://schemas.openxmlformats.org/officeDocument/2006/relationships/hyperlink" Target="https://huggingface.co/Kwaipilot/KAT-Coder-V2.5-Dev" TargetMode="External"/><Relationship Id="rId4" Type="http://schemas.openxmlformats.org/officeDocument/2006/relationships/hyperlink" Target="https://huggingface.co/empero-ai/Qwythos-27B-v1" TargetMode="External"/><Relationship Id="rId9" Type="http://schemas.openxmlformats.org/officeDocument/2006/relationships/hyperlink" Target="https://www.youtube.com/watch?v=cbb4KffkmMc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Nm4r-6XqEcM" TargetMode="External"/><Relationship Id="rId3" Type="http://schemas.openxmlformats.org/officeDocument/2006/relationships/hyperlink" Target="https://github.com/vosen/ZLUDA" TargetMode="External"/><Relationship Id="rId7" Type="http://schemas.openxmlformats.org/officeDocument/2006/relationships/hyperlink" Target="https://github.com/earendil-works/p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i.dev" TargetMode="External"/><Relationship Id="rId5" Type="http://schemas.openxmlformats.org/officeDocument/2006/relationships/image" Target="../media/image38.png"/><Relationship Id="rId4" Type="http://schemas.openxmlformats.org/officeDocument/2006/relationships/hyperlink" Target="https://www.youtube.com/watch?v=TRoOflwNagg" TargetMode="External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hyperlink" Target="https://blog.cloudflare.com/how-we-built-pingora-the-proxy-that-connects-cloudflare-to-the-internet/" TargetMode="External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hyperlink" Target="https://github.com/cloudflare/pingora" TargetMode="External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nspark.ai" TargetMode="External"/><Relationship Id="rId3" Type="http://schemas.openxmlformats.org/officeDocument/2006/relationships/hyperlink" Target="https://genoffice.ai" TargetMode="External"/><Relationship Id="rId7" Type="http://schemas.openxmlformats.org/officeDocument/2006/relationships/image" Target="../media/image46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hyperlink" Target="https://www.youtube.com/watch?v=O0RNqAp1wOQ" TargetMode="External"/><Relationship Id="rId5" Type="http://schemas.openxmlformats.org/officeDocument/2006/relationships/hyperlink" Target="https://github.com/genspark-ai/genoffice" TargetMode="External"/><Relationship Id="rId10" Type="http://schemas.openxmlformats.org/officeDocument/2006/relationships/hyperlink" Target="https://www.genspark.ai/blog/genspark-ai-workspace-6" TargetMode="External"/><Relationship Id="rId4" Type="http://schemas.openxmlformats.org/officeDocument/2006/relationships/hyperlink" Target="https://www.genspark.ai/genoffice" TargetMode="External"/><Relationship Id="rId9" Type="http://schemas.openxmlformats.org/officeDocument/2006/relationships/hyperlink" Target="https://www.computerweekly.com/blog/Inspect-a-Gadget/Genspark-AI-Workspace-60-SecondBrain-Note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gilmegidish/" TargetMode="External"/><Relationship Id="rId3" Type="http://schemas.openxmlformats.org/officeDocument/2006/relationships/hyperlink" Target="https://mobilenext.ai" TargetMode="External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hyperlink" Target="https://github.com/mobile-next/mobile-mcp" TargetMode="External"/><Relationship Id="rId4" Type="http://schemas.openxmlformats.org/officeDocument/2006/relationships/hyperlink" Target="https://github.com/mobile-next/mobilecli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zerodayclock.com" TargetMode="External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loud.google.com/blog/topics/threat-intelligence/2024-zero-day-trends" TargetMode="External"/><Relationship Id="rId5" Type="http://schemas.openxmlformats.org/officeDocument/2006/relationships/hyperlink" Target="https://zerodayclock.com/audit" TargetMode="External"/><Relationship Id="rId4" Type="http://schemas.openxmlformats.org/officeDocument/2006/relationships/hyperlink" Target="https://zerodayclock.com/collapse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1.png"/><Relationship Id="rId7" Type="http://schemas.openxmlformats.org/officeDocument/2006/relationships/hyperlink" Target="https://fortune.com/2026/08/06/crypto-billionaire-michael-saylor-microstrategy-founder-made-15-billion-thanks-to-chapgpt-advice-for-aspiring-builders-embrace-ai-dont-resist-automation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hyperlink" Target="https://situational-awareness.ai/wp-content/uploads/2024/06/situationalawareness.pdf" TargetMode="External"/><Relationship Id="rId4" Type="http://schemas.openxmlformats.org/officeDocument/2006/relationships/hyperlink" Target="https://situational-awareness.ai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latformer.news/p/meta-compute-cloud-infrastructure-shif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hyperlink" Target="https://trueup.io/layoffs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494335"/>
            <a:ext cx="4330200" cy="238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 Leaderboard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Cost Per Intelligence Index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xAI Launches Grok Build Mode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Sakana AI Nature-Inspired Intelligence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Codebase Memory MCP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Demis Hassabis - Chief Scientist of Alphabet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Thinking Machines Inkling-Small 276B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Gemini Spark AI personal AI Agent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Astra Solves 10 Math Problems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Muse Code vs Claude Code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/doctor is a built‑in Claude Code command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Aug 07,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4537121" y="4563359"/>
            <a:ext cx="4525800" cy="234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4791425" y="125025"/>
            <a:ext cx="40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“Manual” work is becoming a legacy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537132" y="750450"/>
            <a:ext cx="4525800" cy="3681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9Router - FREE AI Router &amp; Token Saver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System for Endless Content Ideas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Tencent Open-Source AI Memory System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GraphRAG - Better than Vectors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Julia McCoy - Liberating from Desk Work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Abacus AI Self-Improving Autobots Demo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Microsoft FARAH 1.5 Browser Agent Model  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Empero Qwythos 27B - open, local, multimodal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KAT-Coder-V2.5-Dev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ZLUDA: Running CUDA on AMD Graphics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Pi on a RTX 3060 12GB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Rust’s quiet systems takeover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GenOffice vs MS Office, GenSpark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Mobile Next, MobileCLI, MobileMCP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Zero Day Clock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Leopold Aschenbrenner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Meta Compute - renting GPU capacity to external clients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0175" y="2937645"/>
            <a:ext cx="4330200" cy="2173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/watch video skill - summarize content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Buzzy - cinematic AI canvas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Five Layers of AI Operating System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Hermes Agent 0.20, Hermes + Buzz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Tailscale Connects AI Agent to Mobile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Liquid LFM2.5-2.6B small local agentic model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Minimax H3 - Video AI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Neuralink wheelchair + BCI (Brain-Computer Interface)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Qwen 3.8 Max Open Weight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Dreamina Seedance 2.5 - AI Video Generation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Aug 6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{B39AD863-B5CA-41E3-9375-EA3E092E2F02}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" name="Google Shape;79;p16"/>
          <p:cNvSpPr txBox="1"/>
          <p:nvPr/>
        </p:nvSpPr>
        <p:spPr>
          <a:xfrm>
            <a:off x="6838390" y="485738"/>
            <a:ext cx="2152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GLM-5.1 - 744B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Qwen3.8-max-preview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" name="Google Shape;80;p16"/>
          <p:cNvGraphicFramePr/>
          <p:nvPr/>
        </p:nvGraphicFramePr>
        <p:xfrm>
          <a:off x="2994238" y="8022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{B39AD863-B5CA-41E3-9375-EA3E092E2F02}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claude-opus-4-7-thinking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claude-opus-4-6-thinking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claude-opus-4-8-thinking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claude-opus-4-5-20251101-thinking-32k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claude-sonnet-5-high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gemini-3.6-flash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gpt-5.6-terra-xhigh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grok-4.5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1" name="Google Shape;81;p16"/>
          <p:cNvGraphicFramePr/>
          <p:nvPr/>
        </p:nvGraphicFramePr>
        <p:xfrm>
          <a:off x="348875" y="80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{B39AD863-B5CA-41E3-9375-EA3E092E2F02}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claude-opus-4-6-thinking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claude-opus-4-7-thinking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gemini-3.6-flash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claude-opus-4-8-thinking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gemini-3.5-flash-high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grok-4.20-beta1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gemini-3.5-flash-medium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63" y="1010275"/>
            <a:ext cx="8610922" cy="4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2430" y="355163"/>
            <a:ext cx="44295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https://artificialanalysis.ai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https://www.youtube.com/watch?v=nxr20lcqagg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Anthropic vs OpenAI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538683" y="2683500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1061883" y="2789175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2811375" y="2804413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5179838" y="2810938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372133" y="2789175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6295251" y="578225"/>
            <a:ext cx="9447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July 21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81850" y="372100"/>
            <a:ext cx="50766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xAI Launches Grok Build Mode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https://x.ai/blog/grok-build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https://www.youtube.com/watch?v=_1ETUXJ3BCQ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Grok introduced Build Mode,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text-to-app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Allowing users to create apps from text prompts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 apps publish instantly to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grok.me links or custom domains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completely removing traditional software development delays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integrates coding agents, AI image generation, and live web browsing capabilities directly into the chat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parallel helper agents work simultaneously to build complex interactive features like dashboards, games, and quizzes.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export generated code directly to GitHub, making it easy to refine or customize their software later.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update transitions AI from answering general questions to building and shipping complete digital products in minutes.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81858" y="3270068"/>
            <a:ext cx="50766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Sakana AI Nature-Inspired Intelligence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Sakana AI - Tokyo-based research company, unusually innovative and open-source oriented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https://www.youtube.com/watch?v=O8Ru0Wyzk6E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https://github.com/sakanaai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https://en.wikipedia.org/wiki/Sakana_AI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Ideas: model merging, autonomous research agents, and biologically inspired architectures; Continuous Thought Machines - neural timing, history-aware neurons, and synchronization over time; Spike Neural Networks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https://pmc.ncbi.nlm.nih.gov/articles/PMC9313413/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6621" y="3593945"/>
            <a:ext cx="2012024" cy="1128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6624" y="461358"/>
            <a:ext cx="2246325" cy="26035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148793" y="410550"/>
            <a:ext cx="43923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Codebase Memory MCP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fast and token efficient MCP server that indexes codebases into a persistent knowledge graph for AI coding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https://github.com/DeusData/codebase-memory-mcp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parses source code with tree-sitter and stores structural relationships like functions, classes, calls, imports, and routes locally in SQLite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https://www.tecmint.com/install-codebase-memory-mcp-linux/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query the graph instead of rereading files, which can cut token usage dramatically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Reported performance is very high, with average repos indexed in milliseconds and structural queries answered in under 1 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open source, ships as a single static binary with zero dependencies, and works across major desktop operating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https://skillsllm.com/skill/codebase-memory-mcp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https://codebase-memory.com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075" y="410549"/>
            <a:ext cx="3706599" cy="14826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1" name="Google Shape;111;p19"/>
          <p:cNvSpPr txBox="1"/>
          <p:nvPr/>
        </p:nvSpPr>
        <p:spPr>
          <a:xfrm>
            <a:off x="5176575" y="3531000"/>
            <a:ext cx="38640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Thinking Machines Inkling-Small 276B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Open-weight, multimodal, x4 smaller, nearly same performance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length 1M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pricing starting at $0.58 per 1M input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https://thinkingmachines.ai/news/inkling-small/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6575" y="2292525"/>
            <a:ext cx="3864124" cy="1091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3" name="Google Shape;113;p19"/>
          <p:cNvSpPr txBox="1"/>
          <p:nvPr/>
        </p:nvSpPr>
        <p:spPr>
          <a:xfrm>
            <a:off x="148800" y="3531000"/>
            <a:ext cx="30762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Demis Hassabis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stepping down as Google DeepMind CEO and moving into a chairman role, while also becoming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Chief Scientist of Alphabet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Day‑to‑day leadership of Google DeepMind shifts to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Koray Kavukcuoglu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senior VP reporting to Sundar Pichai.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0388" y="3531000"/>
            <a:ext cx="1303838" cy="14826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81775" y="425673"/>
            <a:ext cx="53430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Gemini Spark AI personal AI Agent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https://www.youtube.com/watch?v=TBJ1NsvzatA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https://www.youtube.com/watch?v=lexZNRYc8u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on Google Gmail, Docs, Drive, Calendar, and Sheets (Google Workspace) - can run tasks even when your phone is locked or laptop is closed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Chrome Auto Browse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it can pilot web browsers to research topics, navigate web pages, fill out online forms, and compare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create custom reusable skills and scheduled triggers to automate recurring tasks such as morning briefings, inbox decluttering, and research summaries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81775" y="2652800"/>
            <a:ext cx="53430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Astra Solves 10 Math Problems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https://www.youtube.com/watch?v=n7BpBCCCOWA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announced Astra, an unreleased long-horizon model family built specifically for parallel multi-agent execution on complex, multi-hour technical assignments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testing demonstrated that an early version of Astra successfully solved ten major open problems in mathematics and theoretical computer science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long-standing open problems had resisted all human progress for at least ten years, spanning geometry, group theory, quantum complexity, and cryptography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 were generated for roughly two thousand dollars in API compute tokens, with every mathematical proof formally verified using machine-checkable Lean certificates.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7450" y="3146200"/>
            <a:ext cx="943175" cy="1248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7450" y="491300"/>
            <a:ext cx="2847975" cy="16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81775" y="425675"/>
            <a:ext cx="5404500" cy="2835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Muse Code vs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900"/>
              <a:buFont typeface="Victor Mono"/>
              <a:buChar char="●"/>
            </a:pPr>
            <a:r>
              <a:rPr lang="en" sz="900" b="1">
                <a:solidFill>
                  <a:srgbClr val="3C78D8"/>
                </a:solidFill>
                <a:latin typeface="Victor Mono"/>
                <a:ea typeface="Victor Mono"/>
                <a:cs typeface="Victor Mono"/>
                <a:sym typeface="Victor Mono"/>
              </a:rPr>
              <a:t>curl -fsSL https://dev.meta.ai/install.sh | bash </a:t>
            </a:r>
            <a:endParaRPr sz="900" b="1">
              <a:solidFill>
                <a:srgbClr val="3C78D8"/>
              </a:solidFill>
              <a:latin typeface="Victor Mono"/>
              <a:ea typeface="Victor Mono"/>
              <a:cs typeface="Victor Mono"/>
              <a:sym typeface="Victor Mono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https://www.youtube.com/watch?v=Gjw3ok6alYY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https://research.meta.ai/blog/introducing-muse-code-and-muse-spark-1-2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Muse Code is Meta’s new terminal-based AI coding agent, built as a harness around the Muse Spark 1.2 model, focused on long-horizon software engineering and large repos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Harness features: Automatic fan-out to parallel subagents with isolated project copies, append-only local event log with crash-resume, and bundled skills like /plan, /grill, and /goal for planning and interrogation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Positioning vs Claude Code: Weaker frontier-level brain than top models like Claude, but a strong, transparent harness aimed at being a cheap, fast sub-agent inside multi-model systems rather than a primary builder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Muse Spark 1.2: 1M-token context coding model, “fast, cheap worker”, co-trained inside Muse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 for long debugging sessions, multi-file changes, and persistent tool 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6900" y="492350"/>
            <a:ext cx="2276474" cy="16290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21"/>
          <p:cNvSpPr txBox="1"/>
          <p:nvPr/>
        </p:nvSpPr>
        <p:spPr>
          <a:xfrm>
            <a:off x="81775" y="3360250"/>
            <a:ext cx="54045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/doctor is a built‑in Claude Code command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runs health checks on your installation, configuration, skills, MCP servers, Claude.md, and token-heavy context, then reports what’s healthy, what’s misconfigured, and what you can safely trim or fix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just type /doctor (or run “claude doctor”) and it updates with Claude Code itself.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1875" y="3270240"/>
            <a:ext cx="2186524" cy="13068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179326" y="478350"/>
            <a:ext cx="4917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do these 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Stats: 7.19K subscribers, 302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1975" y="171338"/>
            <a:ext cx="2145049" cy="48008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81775" y="425675"/>
            <a:ext cx="58554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/watch video skill - summarize content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combining time-stamped transcripts with per‑second screenshots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https://www.youtube.com/watch?v=gQhyMynG6x4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https://www.youtube.com/watch?v=QZMljuD10sU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https://github.com/bradautomates/claude-video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https://www.facebook.com/groups/DesignHacker/posts/2177246519758209/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yt-dlp to download from 1000+ video sites, FFmpeg to slice frames, and Whisper/YouTube captions for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frame is linked to the exact transcript segment at that second, giving Claude synchronized visual and audio 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inside Claude Code via a custom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/watch skill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 simple prompt pattern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hooks, pacing, on‑screen text, visual beats, and moments transcripts would miss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well for content strategists, social media analysis, competitor ad breakdowns, and long-form educational videos.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81775" y="2912700"/>
            <a:ext cx="58554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Buzzy - cinematic AI canvas 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https://www.youtube.com/watch?v=-Or92nOgDoc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https://www.buzzy.now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Agentic infinite canvas for end‑to‑end AI video production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script, character, storyboard, and final video in one workspace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Integrates 50+ pro tools and 70+ image/video models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(Seedance 2.5, Veo, Kling, Runway, Nano Banana Pro, GPT Image)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Omni Reference to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lock faces and products from one photo, giving consistent characters and shots across scenes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Offers director-level controls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lighting and camera sliders, 9‑grid storyboard splits for shorts/Reels/TikTok; Ships clonable studio workflows (e.g., Nature’s Essence candle ad) so creators and agencies can sell cinematic AI ads without a traditional crew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0050" y="733409"/>
            <a:ext cx="2189100" cy="18040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7" name="Google Shape;147;p23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0051" y="3289712"/>
            <a:ext cx="2565399" cy="13885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Layers of AI Operating System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98937" y="408799"/>
            <a:ext cx="43689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 OS - by Julian Goldie SEO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Operating System is a unified “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mission control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where multiple AI agents (builder, designer, video, SEO, music) collaborate with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shared memory and custom workflows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are swappable (Hermes, Claude, GPT variants, local LFM2.5–2.6B), letting you trade speed, cost, and rate limits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on modest hardware (laptop is OK)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Includes loop and goal modes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you easily plug new models, tools, and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Search Console integration (now with social data) drives automated SEO content creation from ranking keywords.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20-30 min local setup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 1 - Mission-Control Dashboard - AI models and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 2 - Memory (obsidian wiki) - bus. context, prefs, logs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 3 - Router - router tasks - saves money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 4 - Agents (Workers &amp; Workflows) - parallel worker agents that carry out specific tasks using systems like a Kanban board and controlled by a single commander agent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 5 - Loop Engineering (Continuous Improvement) - updates the memory, making future outputs smarter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https://www.youtube.com/watch?v=H3OZiTbD1OU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https://www.youtube.com/watch?v=ZhJi_npUQcQ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https://www.youtube.com/watch?v=ru07BOhF1wk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https://buzz.xyz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4850" y="408788"/>
            <a:ext cx="1947551" cy="1871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5" name="Google Shape;155;p24"/>
          <p:cNvSpPr txBox="1"/>
          <p:nvPr/>
        </p:nvSpPr>
        <p:spPr>
          <a:xfrm>
            <a:off x="4549834" y="2958166"/>
            <a:ext cx="3418200" cy="480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Hermes Agent + Buzz team workspace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https://hermes-agent.nousresearch.com/docs/integrations/buzz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https://www.youtube.com/watch?v=b42vjtH6mNM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421" y="1078864"/>
            <a:ext cx="2425025" cy="10863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7" name="Google Shape;157;p24"/>
          <p:cNvSpPr txBox="1"/>
          <p:nvPr/>
        </p:nvSpPr>
        <p:spPr>
          <a:xfrm>
            <a:off x="4549846" y="2383764"/>
            <a:ext cx="3418200" cy="480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Hermes Agent + Buzz team workspace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https://hermes-agent.nousresearch.com/docs/integrations/buzz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https://www.youtube.com/watch?v=b42vjtH6mNM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4549850" y="3548900"/>
            <a:ext cx="41298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Hermes Agent 0.20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This is the "Herald" release (finding its voice)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Adds real-time voice. It can speak while thinking, accept interruptions, wake on a custom wake word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Voice notes now work across apps like WhatsApp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Grounded citations, safer approval prompts, faster responses, better compression, and agent-to-agent coordination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“Open line” idea - continuous collaboration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/>
        </p:nvSpPr>
        <p:spPr>
          <a:xfrm>
            <a:off x="81775" y="0"/>
            <a:ext cx="4368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81773" y="471100"/>
            <a:ext cx="49695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Tailscale connects local AI agent to mobile devices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https://tailscale.com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https://github.com/tailscale/tailscale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https://tailscale.com/blog/what-is-tailscale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https://www.youtube.com/watch?v=HLAgkQMivp0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encrypted mesh network without exposing ports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the connection takes around ten minutes by generating a private HTTPS address through a local Tailscale tunnel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monitor autonomous workflows, trigger new tasks, and check agent memory databases from anywhere using a smartphone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tailnets isolate traffic entirely, ensuring your local host data stays secure while avoiding third-party cloud hosting costs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mobile Tailscale application must remain toggled active to maintain seamless communication between mobile devices and host workstations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0987" y="680000"/>
            <a:ext cx="3790950" cy="10096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6" name="Google Shape;166;p25"/>
          <p:cNvSpPr txBox="1"/>
          <p:nvPr/>
        </p:nvSpPr>
        <p:spPr>
          <a:xfrm>
            <a:off x="81773" y="3162975"/>
            <a:ext cx="49695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Liquid LFM2.5-2.6B small local agentic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in under 2.5 GB of memory, targets phones and laptops, and is designed to stay responsive on CPU hardware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Liquid AI says it works out of the box with harnesses like Hermes Agent, OpenClaw, and Pi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is trained for multi-step agent workflows, including planning, calling tools, and completing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https://www.liquid.ai/blog/lfm2-5-2-6b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https://www.youtube.com/watch?v=287bPhWHTo0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7127" y="3717456"/>
            <a:ext cx="1777352" cy="5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81775" y="410625"/>
            <a:ext cx="58395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Minimax H3 - Video AI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https://platform.minimax.io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https://github.com/MiniMax-AI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https://www.youtube.com/watch?v=bLfF4X3F2ew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Minimax H3 generates video from text, images, audio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gains in realism, physics, and detail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“one prompt” video creation: script, B-roll, voiceover, avatar, and editing handled automatically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Integrates into agent-based systems for automated video pipelines and AI avatar content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Ranked highly in benchmarks, especially for video editing and image-to-video tasks.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access available; open-weights release planned under a community license.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Positions itself as a leading open video generation model with strong editing capabilities.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5800" y="740738"/>
            <a:ext cx="2757400" cy="1574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5" name="Google Shape;175;p26"/>
          <p:cNvSpPr txBox="1"/>
          <p:nvPr/>
        </p:nvSpPr>
        <p:spPr>
          <a:xfrm>
            <a:off x="81775" y="2814050"/>
            <a:ext cx="58395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Neuralink wheelchair + BCI (Brain-Computer Interface)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https://neuralink.com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https://www.youtube.com/watch?v=tLMQYYp5tBc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Mind-controlled wheelchair navigation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 trials - ALS patients experiencing restored mobility, improved posture, and seamless device integration compared to traditional manual controls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26 in Canada became the first individual to receive thread insertion directly through the dura layer at Toronto Western Hospital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Participants demonstrated simultaneous use of brain-computer interfaces alongside respiratory equipment like BiPAP machines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market valuation for Neuralink surpassed $40 Bln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5800" y="3015975"/>
            <a:ext cx="2195126" cy="16463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/>
        </p:nvSpPr>
        <p:spPr>
          <a:xfrm>
            <a:off x="81775" y="47625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 3.8 Max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81775" y="519969"/>
            <a:ext cx="44055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Qwen 3.8 Max Open Weight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https://qwen.ai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https://github.com/QwenLM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 3.8 Max is Alibaba’s newest flagship open-weight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2.4 T params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use, research, agentic workflows, science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level with top US frontier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$2 / $6 (in/out per 1M tokens)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API-compatible with OpenAI and Anthropic-style tooling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81775" y="2471557"/>
            <a:ext cx="44055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Dreamina Seedance 2.5 - AI Video Generation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https://dreamina.capcut.com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https://www.youtube.com/watch?v=Hpl0E53ioEo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3 min long, with consistency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Combines video and audio generation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editing - no need to regenerate the whole clip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many references and production-style workflows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Dreamina is ByteDance’s AI creative platform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Seedance is ByteDance’s video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CapCut is ByteDance’s editing 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9674" y="2535683"/>
            <a:ext cx="2284350" cy="165932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5" name="Google Shape;185;p27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9675" y="521594"/>
            <a:ext cx="2284350" cy="16809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6" name="Google Shape;186;p27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6425" y="843719"/>
            <a:ext cx="1916800" cy="10366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27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6427" y="2765332"/>
            <a:ext cx="1916799" cy="127786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81775" y="439044"/>
            <a:ext cx="43689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9Router - FREE AI Router &amp; Token Saver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https://github.com/decolua/9router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9Router connects locally to over 573 AI models and 40 providers - and allows switching to prevent API rate limits or token exhaustion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integrates with tools like Claude Code, Cursor, and GitHub Copilot using your existing sessions and automatic fallbacks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Built-in optimization features save 20%-40% on token usage while keeping project code and chat history locally organized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easily run local coding models to maintain workflow continuity and build complete applications without recurring costs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https://www.youtube.com/watch?v=bHLgidjAl9I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https://theaiprofit.com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81775" y="2640837"/>
            <a:ext cx="43689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System for Endless Content Ideas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https://www.youtube.com/watch?v=cSz_6SNEirU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+ ChatGPT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Craft a rich audience profile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detailing triggers, mindsets, and preferences rather than a standard ICP.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Track winning content patterns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performance data across platforms like LinkedIn, Substack, and YouTube.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Integrate real-time market trends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viral discussions using MCP tools and external web sources.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Utilize AI for high-quality research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idea generation, and structured drafting while maintaining personal creative taste.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Consistently maintain and refine an active content queue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prevent running out of creative ideas.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6125" y="171258"/>
            <a:ext cx="3352074" cy="29576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6" name="Google Shape;196;p2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6125" y="3247809"/>
            <a:ext cx="2698614" cy="17990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81775" y="372100"/>
            <a:ext cx="53775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Tencent Open-Source AI Memory System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https://www.youtube.com/watch?v=5AkurBDSYwo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context windows degrade LLM performance over time, causing AI agents to waste tokens and repeat previous mistakes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Tencent released an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open-source MIT-licensed memory plugin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to cut token overhead while drastically boosting benchmark success rates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framework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compresses raw execution logs into interactive Mermaid diagrams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keeping detailed underlying evidence stored safely on disk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Inspired by cognitive psychology, it structures memory into episodic events and four semantic layers, ranging from facts to persona defaults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locally via SQLite, it provides fast hybrid search, complete privacy, and zero API vendor dependencies for long-running workflows.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6854" y="79442"/>
            <a:ext cx="2060525" cy="1382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4" name="Google Shape;204;p2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8787" y="1151192"/>
            <a:ext cx="2365201" cy="1578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5" name="Google Shape;205;p29"/>
          <p:cNvSpPr txBox="1"/>
          <p:nvPr/>
        </p:nvSpPr>
        <p:spPr>
          <a:xfrm>
            <a:off x="81775" y="2729450"/>
            <a:ext cx="53775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GraphRAG - Better than Vectors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https://github.com/microsoft/graphrag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https://www.youtube.com/watch?v=yqEekIQSVzQ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https://www.microsoft.com/en-us/research/publication/from-local-to-global-graph-rag/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shifts retrieval from flat chunks to entities and typed links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Microsoft’s GraphRAG showed better multi-document answers, but early builds were expensive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 GraphRAG cut indexing cost dramatically by moving work to query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Stanford and Anthropic highlighted extractor quality, entity resolution, and chain-of-facts limits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lesson is to use graphs when questions depend on relationships, not simple lookup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6850" y="2988523"/>
            <a:ext cx="2738416" cy="1578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Liberating from Desk Work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81775" y="372100"/>
            <a:ext cx="43689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Julia McCoy - Liberating from Desk Work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were programmed to be a machine: how to break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https://www.youtube.com/watch?v=tAjhCOQjI0Q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Argues modern work culture is a leftover “factory mindset” equating value with hours and output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Julia describes burnout and a shift toward AI-driven automation replacing most routine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 company team of 15 outperforms a former team of 100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idea: separate “machine work” (rule-based tasks) from human work (relationships, judgment)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Recommends delegating workflows to AI gradually, like onboarding a junior employee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Encourages mobile thinking via voice instead of desk-bound typing.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Devices Julia wears: Fieldy AI notetaker, Plaud AI notetaker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https://shop.fieldy.ai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Fieldy ($130)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https://www.amazon.com/dp/B0DL9WQ4Z4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Plaud ($180)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Emphasizes redefining identity beyond productivity toward creativity and human connection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0350" y="118425"/>
            <a:ext cx="1742450" cy="20086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4" name="Google Shape;214;p3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5175" y="2268125"/>
            <a:ext cx="1692800" cy="130546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6538" y="118425"/>
            <a:ext cx="1816211" cy="20086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6" name="Google Shape;216;p30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5200" y="2279475"/>
            <a:ext cx="1029150" cy="15411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7" name="Google Shape;217;p30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1580" y="2279475"/>
            <a:ext cx="991095" cy="1541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81775" y="372100"/>
            <a:ext cx="43689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Abacus AI Self-Improving Autobots Demo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https://autobots.abacus.ai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https://abacus.ai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https://www.youtube.com/watch?v=RAUC49M6RLE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Autobots inside Chat LLM are self-evaluating agents designed to continuously grade their performance and autonomously optimize their workflow strategies over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usage: sales lead scoring, stock paper trading, YouTube thumbnail testing, and automated software bug fixing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1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92350" y="769475"/>
            <a:ext cx="3500375" cy="74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1"/>
          <p:cNvSpPr txBox="1"/>
          <p:nvPr/>
        </p:nvSpPr>
        <p:spPr>
          <a:xfrm>
            <a:off x="81775" y="2026025"/>
            <a:ext cx="43689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FARAH 1.5 Browser Agent Model 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https://www.youtube.com/watch?v=Mxo4fqNgX0g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family of browser automation models (4B, 9B, 27B) built on Qwen 3.5 with open weights under MIT license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a vision-only approach, analyzing screenshots and predicting pixel-level actions like clicks, typing, and scrolling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in an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observe–think–act loop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enabling iterative decision-making across multi-step web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Outperforms competitors on benchmarks, with 27B reaching 72.3% on OnlineMind2Web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long workflows with up to 262K context and step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Includes safety checkpoints for irreversible actions and missing info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used in sandboxed environments; smaller 4B model runs locally efficiently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2350" y="2662200"/>
            <a:ext cx="3500375" cy="87509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81775" y="372100"/>
            <a:ext cx="4368900" cy="200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Empero Qwythos 27B - open, local, multimodal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Post-trained on Qwen3.5-27B base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1M context, open-weight, Apache-2.0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 - images, screenshots, charts, handwriting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multi-token prediction, faster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also Qwythos-9B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Empero is an independent research lab (Germany ?)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https://empero.org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https://huggingface.co/empero-ai/Qwythos-27B-v1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https://empero.org/writing/qwythos-27b-the-long-awaited-27b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https://www.youtube.com/watch?v=8dSk8uOVxhU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https://www.youtube.com/watch?v=iZYUgrGzQ0o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0700" y="574000"/>
            <a:ext cx="1988026" cy="16001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4" name="Google Shape;234;p32"/>
          <p:cNvSpPr txBox="1"/>
          <p:nvPr/>
        </p:nvSpPr>
        <p:spPr>
          <a:xfrm>
            <a:off x="81775" y="2675978"/>
            <a:ext cx="46062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KAT-Coder-V2.5-Dev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Open-weight (Apache 2.0) MoE coding model from Kuaishou’s Kwaipilot team (Beijing, China)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Qwen3.6-35B-A3B with 127K supervised examples before RL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69.4 on SWE-bench Verified and 45.96 on SWE-bench Pro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reduced abnormal tool labels and single-turn repetition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https://www.youtube.com/watch?v=cbb4KffkmMc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https://huggingface.co/Kwaipilot/KAT-Coder-V2.5-Dev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https://github.com/Kwaipilot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1900" y="2941128"/>
            <a:ext cx="3479626" cy="8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3"/>
          <p:cNvSpPr txBox="1"/>
          <p:nvPr/>
        </p:nvSpPr>
        <p:spPr>
          <a:xfrm>
            <a:off x="81775" y="372100"/>
            <a:ext cx="58116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ZLUDA: Running CUDA on AMD Graphics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https://github.com/vosen/ZLUDA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https://www.youtube.com/watch?v=TRoOflwNagg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ZLUDA is an open-source software compatibility layer that allows unmodified NVIDIA CUDA applications to run directly on AMD Radeon GPUs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translates PTX instructions on the fly, enabling local AI frameworks like Llama.cpp to run at near-native speed without rewriting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written in Rust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support extends to Blender rendering and 32-bit PhysX games, while PyTorch compatibility remains actively under development by creator Andrzej Janik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Despite losing corporate funding and surviving repository takedowns, ZLUDA offers developers an effective alternative to NVIDIA proprietary hardware lock-in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project lowers deployment costs for machine learning workloads by turning budget-friendly AMD GPUs into viable choices for running CUDA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0" y="326396"/>
            <a:ext cx="2925625" cy="183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3" name="Google Shape;243;p33"/>
          <p:cNvSpPr txBox="1"/>
          <p:nvPr/>
        </p:nvSpPr>
        <p:spPr>
          <a:xfrm>
            <a:off x="81775" y="3093300"/>
            <a:ext cx="5811600" cy="158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 on a RTX 3060 12GB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 is a lightweight coding-agent harness for local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https://pi.dev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https://github.com/earendil-works/pi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https://www.youtube.com/watch?v=Nm4r-6XqEcM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prefill speed (time to first output token) vs token-per-second generation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MoE and grouped-query attention can reduce VRAM and KV-cache pressure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llama.cpp guides are outdated; correct flags and tool settings are critical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Small, focused toolsets can make local agents feel much faster and cleaner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setups win on privacy and control, but still lose on hardest long-horizon tasks.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2550" y="3131624"/>
            <a:ext cx="1465575" cy="1511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/>
        </p:nvSpPr>
        <p:spPr>
          <a:xfrm>
            <a:off x="81775" y="0"/>
            <a:ext cx="4368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Rust Is Winning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101101" y="440138"/>
            <a:ext cx="5837700" cy="2511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Rust’s quiet systems takeover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CISA (Cybersecurity and Infrastructure Security Agency) set a non-binding Jan 1, 2026 memory-safety roadmap deadline for C/C++ vendors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OMB memo M-26-05 - shifting to “risk-based” agency discretion instead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Meanwhile Rust adoption surged on its own: performance-driven rewrites like Cloudflare’s Pingora proxy and Discord’s latency-critical services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https://blog.cloudflare.com/how-we-built-pingora-the-proxy-that-connects-cloudflare-to-the-internet/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https://github.com/cloudflare/pingora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cut Android memory safety bugs from roughly 75% to under 20% by writing new systems code in Rust while leaving old C/C++ largely intact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Linux, Android, major cloud vendors, and JavaScript tooling now embed Rust as a hard dependency, making it a practical requirement in modern systems stacks.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DARPA and others explore AI-assisted C-to-Rust migration, underscoring a decade-scale transition rather than a sudden flip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1200" y="152400"/>
            <a:ext cx="1264225" cy="1264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2" name="Google Shape;252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1200" y="1569025"/>
            <a:ext cx="1595179" cy="1264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3" name="Google Shape;253;p3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0752" y="3715988"/>
            <a:ext cx="2422502" cy="6635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4" name="Google Shape;254;p3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3104438"/>
            <a:ext cx="2829992" cy="188666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5" name="Google Shape;255;p34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1200" y="3271325"/>
            <a:ext cx="2529341" cy="5803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/>
        </p:nvSpPr>
        <p:spPr>
          <a:xfrm>
            <a:off x="81775" y="0"/>
            <a:ext cx="4368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GenOffice, GenSpark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81775" y="488275"/>
            <a:ext cx="45012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GenOffice vs MS Office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https://genoffice.ai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https://www.genspark.ai/genoffice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https://github.com/genspark-ai/genoffice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GenOffice is a full desktop office suite (Docs, Sheets, Slides, PDF) for Mac (Apple Silicon) and Windows, works on local MSOffice files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Open-sourced under an open license on GitHub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initially by a single engineer in about a week (using AI)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editor has an embedded AI panel plus a “Super Agent” for research and drafting (AI requires GenSpark account &amp; Credits)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3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650" y="492315"/>
            <a:ext cx="2303826" cy="100410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3" name="Google Shape;263;p3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7775" y="1668350"/>
            <a:ext cx="2303826" cy="639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4" name="Google Shape;264;p35"/>
          <p:cNvSpPr txBox="1"/>
          <p:nvPr/>
        </p:nvSpPr>
        <p:spPr>
          <a:xfrm>
            <a:off x="84220" y="2232200"/>
            <a:ext cx="4424700" cy="192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Genspark is an all-in-one AI agent workspace</a:t>
            </a: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operates as a multi-agent orchestration platform that uses 70+ AI models (such as GPT-4, Claude, Gemini, and specialized open-source models) to handle complex, end-to-end tasks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Genspark is a product and the brand name of an AI tech company MainFunc Inc. in Palo Alto, CA</a:t>
            </a: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founded in 2023 by former Baidu and Microsoft executives (including CEO Eric Jing)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https://www.genspark.ai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https://www.computerweekly.com/blog/Inspect-a-Gadget/Genspark-AI-Workspace-60-SecondBrain-Note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https://www.genspark.ai/blog/genspark-ai-workspace-6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https://www.youtube.com/watch?v=O0RNqAp1wOQ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5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7125" y="2384600"/>
            <a:ext cx="4294475" cy="251848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/>
        </p:nvSpPr>
        <p:spPr>
          <a:xfrm>
            <a:off x="81775" y="0"/>
            <a:ext cx="4368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Next, MobileCLI, MobileMCP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81775" y="439044"/>
            <a:ext cx="4368900" cy="2281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 Next - Mobile Dev. Toolset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https://mobilenext.ai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https://github.com/mobile-next/mobilecli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https://github.com/mobile-next/mobile-mcp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mobilecli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 - run it on your laptop (Max, Linux, Windows) to control connected smartphone (android and iOS) or a local or cloud emulation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mobilecli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manages devices, takes screenshots, taps, types, streams the screen, and launches apps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Agents (Claude, ...) use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mobilecli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MobileMCP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Mobilewright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MobileMCP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provides knowledge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Mobilewright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similar to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Playwright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but for mobile automation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Next toolset provides cli and jsonrpc over http/websocket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81775" y="2971194"/>
            <a:ext cx="43689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Primarily, it’s a tool for mobile app testing and automation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AI agent can use it to do QA testing on mobile device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is a part of AI-driven development on real iOS/Android devices.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also use it for scripted app workflows, agentic demonstrations, scraping, repetitive device operations, and building higher-level mobile automation tools.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3075" y="439289"/>
            <a:ext cx="1799350" cy="18465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4" name="Google Shape;274;p3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3075" y="3090062"/>
            <a:ext cx="2329146" cy="1846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5" name="Google Shape;275;p36"/>
          <p:cNvSpPr txBox="1"/>
          <p:nvPr/>
        </p:nvSpPr>
        <p:spPr>
          <a:xfrm>
            <a:off x="4603050" y="2424687"/>
            <a:ext cx="2329200" cy="52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Gil Megidish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https://www.linkedin.com/in/gilmegidish/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/>
        </p:nvSpPr>
        <p:spPr>
          <a:xfrm>
            <a:off x="81775" y="90524"/>
            <a:ext cx="2241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Day Clock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81775" y="632375"/>
            <a:ext cx="38565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https://zerodayclock.com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https://zerodayclock.com/collapse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https://zerodayclock.com/audit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https://cloud.google.com/blog/topics/threat-intelligence/2024-zero-day-trends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ZeroDayClock tracks the shrinking time from CVE disclosure to first confirmed exploitation across thousands of exploited CVEs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CVE stands for Common Vulnerabilities and Exposures 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trend is a rapid collapse in median time-to-exploit,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from years to days, then hours, with zero-day exploitation now occurring on or before disclosure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exploit survival curves also shift left year over year, showing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attackers are moving faster than patch cycles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site argues this is an exponential decay, not a temporary dip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GTIG’s 2024 analysis supports the broader pattern: zero-day exploitation remains elevated, and enterprise technologies are taking a larger share of attacks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practical takeaway is that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patching alone is increasingly too slow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exposure reduction and faster remediation matter more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3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1661" y="632375"/>
            <a:ext cx="5000123" cy="25061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Leopold Aschenbrenner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81775" y="439044"/>
            <a:ext cx="43689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Leopold Aschenbrenner Hedge Fund lost 67%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Hedge Fund Situational Awareness was forced to sell public stock holdings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had long AI infrastructure bets and short software positions, which moved sharply against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fund was forced to de-risk and sell holdings, and its remaining assets are now reported around $10 Bln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3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525" y="1794643"/>
            <a:ext cx="1572392" cy="1403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0" name="Google Shape;290;p38"/>
          <p:cNvSpPr txBox="1"/>
          <p:nvPr/>
        </p:nvSpPr>
        <p:spPr>
          <a:xfrm>
            <a:off x="81775" y="1794643"/>
            <a:ext cx="4368900" cy="1403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Leopold Aschenbrenner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former OpenAI researcher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years ago he has published a 165-page essay that became required reading in Silicon Valley.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https://situational-awareness.ai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https://situational-awareness.ai/wp-content/uploads/2024/06/situationalawareness.pdf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has positioned himself as a kind of prophet for the coming age of artificial super intelligence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525" y="416044"/>
            <a:ext cx="3133200" cy="1357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2" name="Google Shape;292;p38"/>
          <p:cNvSpPr txBox="1"/>
          <p:nvPr/>
        </p:nvSpPr>
        <p:spPr>
          <a:xfrm>
            <a:off x="81775" y="3301474"/>
            <a:ext cx="48150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Michael Saylor claims ChatGPT-guided structuring of Bitcoin-based preferred stock helped his firm raise about $15 billion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https://fortune.com/2026/08/06/crypto-billionaire-michael-saylor-microstrategy-founder-made-15-billion-thanks-to-chapgpt-advice-for-aspiring-builders-embrace-ai-dont-resist-automation/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 core rule for ambitious builders: don’t try to outwork automation; instead, leverage AI as a force multiplier. He advises learning to ask AI for novel, high-value solutions rather than mastering tasks AI can already perform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450" y="3301475"/>
            <a:ext cx="2531720" cy="16809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/>
          <p:nvPr/>
        </p:nvSpPr>
        <p:spPr>
          <a:xfrm>
            <a:off x="81775" y="0"/>
            <a:ext cx="213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81775" y="439044"/>
            <a:ext cx="4368900" cy="218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Compute - renting GPU capacity to external clients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https://www.platformer.news/p/meta-compute-cloud-infrastructure-shift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News of Meta Compute adds about $125B to Meta’s value while CoreWeave and Nabius stocks drop sharply as their largest customer becomes a potential competitor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 commits over $180B to AI infrastructure, with mega-campuses in Ohio, El Paso, and the Hyperion site in Louisiana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 explores leasing up to $10B of compute to Anthropic, while SpaceX and others rent capacity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Meta’s ad business remains extremely profitable, while Reality Labs continues to burn cash, underscoring its history of large, uncertain platform bets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3749" y="681412"/>
            <a:ext cx="3092750" cy="1704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5655225" y="351062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126K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August 7,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5655225" y="5641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174,661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(798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4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3257658"/>
            <a:ext cx="5355602" cy="185407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0" name="Google Shape;310;p4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37" y="462196"/>
            <a:ext cx="5355038" cy="27444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1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4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1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1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5289</Words>
  <Application>Microsoft Macintosh PowerPoint</Application>
  <PresentationFormat>On-screen Show (16:9)</PresentationFormat>
  <Paragraphs>612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Victor Mono</vt:lpstr>
      <vt:lpstr>Roboto Mono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2026-08-07T15:58:02Z</dcterms:modified>
</cp:coreProperties>
</file>