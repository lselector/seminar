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embeddedFontLst>
    <p:embeddedFont>
      <p:font typeface="Roboto Mono" pitchFamily="49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B597977-5CC3-4219-94A0-1C01F0F748F7}">
  <a:tblStyle styleId="{5B597977-5CC3-4219-94A0-1C01F0F748F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579bdb6f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f579bdb6f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579bdb6f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g3f579bdb6f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3cb0c16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g3f3cb0c16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6308c8833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g3f6308c8833_1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f62cd9eea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" name="Google Shape;115;g3f62cd9eea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6070345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0" name="Google Shape;130;g3f60703457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6308c883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g3f6308c883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f61f83a69d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g3f61f83a69d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65717756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f65717756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61f83a69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f61f83a69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f6308c883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7" name="Google Shape;177;g3f6308c883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8b8b02709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g38b8b02709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62cd9eea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6" name="Google Shape;196;g3f62cd9eea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f6435e23ab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f6435e23ab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6070345f0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4" name="Google Shape;214;g3f6070345f0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623d45d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f623d45d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579bdb6f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3f579bdb6f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0" name="Google Shape;240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0" name="Google Shape;250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kimi-k3-max" TargetMode="External"/><Relationship Id="rId18" Type="http://schemas.openxmlformats.org/officeDocument/2006/relationships/hyperlink" Target="https://arena.ai/leaderboard/model/claude-sonnet-4-6" TargetMode="External"/><Relationship Id="rId26" Type="http://schemas.openxmlformats.org/officeDocument/2006/relationships/hyperlink" Target="https://arena.ai/leaderboard/model/gemini-3.1-pro-preview" TargetMode="External"/><Relationship Id="rId21" Type="http://schemas.openxmlformats.org/officeDocument/2006/relationships/hyperlink" Target="https://arena.ai/leaderboard/model/qwen3.7-max-preview" TargetMode="External"/><Relationship Id="rId34" Type="http://schemas.openxmlformats.org/officeDocument/2006/relationships/hyperlink" Target="https://arena.ai/leaderboard/model/gpt-5.2-chat-latest-20260210" TargetMode="External"/><Relationship Id="rId7" Type="http://schemas.openxmlformats.org/officeDocument/2006/relationships/hyperlink" Target="https://arena.ai/leaderboard/model/claude-opus-4-7-thinking" TargetMode="External"/><Relationship Id="rId12" Type="http://schemas.openxmlformats.org/officeDocument/2006/relationships/hyperlink" Target="https://arena.ai/leaderboard/model/claude-opus-5-high" TargetMode="External"/><Relationship Id="rId17" Type="http://schemas.openxmlformats.org/officeDocument/2006/relationships/hyperlink" Target="https://arena.ai/leaderboard/model/gpt-5.6-sol-xhigh" TargetMode="External"/><Relationship Id="rId25" Type="http://schemas.openxmlformats.org/officeDocument/2006/relationships/hyperlink" Target="https://arena.ai/leaderboard/model/gemini-3.6-flash" TargetMode="External"/><Relationship Id="rId33" Type="http://schemas.openxmlformats.org/officeDocument/2006/relationships/hyperlink" Target="https://arena.ai/leaderboard/model/gpt-5.5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8" TargetMode="External"/><Relationship Id="rId20" Type="http://schemas.openxmlformats.org/officeDocument/2006/relationships/hyperlink" Target="https://arena.ai/leaderboard/model/muse-spark" TargetMode="External"/><Relationship Id="rId29" Type="http://schemas.openxmlformats.org/officeDocument/2006/relationships/hyperlink" Target="https://arena.ai/leaderboard/model/grok-4.5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fable-5" TargetMode="External"/><Relationship Id="rId11" Type="http://schemas.openxmlformats.org/officeDocument/2006/relationships/hyperlink" Target="https://arena.ai/leaderboard/model/claude-opus-4-8-thinking" TargetMode="External"/><Relationship Id="rId24" Type="http://schemas.openxmlformats.org/officeDocument/2006/relationships/hyperlink" Target="https://arena.ai/leaderboard/model/gpt-5.4-high" TargetMode="External"/><Relationship Id="rId32" Type="http://schemas.openxmlformats.org/officeDocument/2006/relationships/hyperlink" Target="https://arena.ai/leaderboard/model/gemini-3.5-flash-high" TargetMode="External"/><Relationship Id="rId37" Type="http://schemas.openxmlformats.org/officeDocument/2006/relationships/hyperlink" Target="https://arena.ai/leaderboard/model/inkling-small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1" TargetMode="External"/><Relationship Id="rId23" Type="http://schemas.openxmlformats.org/officeDocument/2006/relationships/hyperlink" Target="https://arena.ai/leaderboard/model/claude-opus-4-5-20251101" TargetMode="External"/><Relationship Id="rId28" Type="http://schemas.openxmlformats.org/officeDocument/2006/relationships/hyperlink" Target="https://arena.ai/leaderboard/model/gpt-5.6-terra-xhigh" TargetMode="External"/><Relationship Id="rId36" Type="http://schemas.openxmlformats.org/officeDocument/2006/relationships/hyperlink" Target="https://arena.ai/leaderboard/model/gemini-3.5-flash-medium" TargetMode="External"/><Relationship Id="rId10" Type="http://schemas.openxmlformats.org/officeDocument/2006/relationships/hyperlink" Target="https://arena.ai/leaderboard/model/claude-opus-4-7" TargetMode="External"/><Relationship Id="rId19" Type="http://schemas.openxmlformats.org/officeDocument/2006/relationships/hyperlink" Target="https://arena.ai/leaderboard/model/claude-sonnet-5-high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6" TargetMode="External"/><Relationship Id="rId14" Type="http://schemas.openxmlformats.org/officeDocument/2006/relationships/hyperlink" Target="https://arena.ai/leaderboard/model/claude-opus-4-5-20251101-thinking-32k" TargetMode="External"/><Relationship Id="rId22" Type="http://schemas.openxmlformats.org/officeDocument/2006/relationships/hyperlink" Target="https://arena.ai/leaderboard/model/claude-opus-5-max" TargetMode="External"/><Relationship Id="rId27" Type="http://schemas.openxmlformats.org/officeDocument/2006/relationships/hyperlink" Target="https://arena.ai/leaderboard/model/gpt-5.5-high" TargetMode="External"/><Relationship Id="rId30" Type="http://schemas.openxmlformats.org/officeDocument/2006/relationships/hyperlink" Target="https://arena.ai/leaderboard/model/claude-sonnet-4-5-20250929-thinking-32k" TargetMode="External"/><Relationship Id="rId35" Type="http://schemas.openxmlformats.org/officeDocument/2006/relationships/hyperlink" Target="https://arena.ai/leaderboard/model/grok-4.20-beta1" TargetMode="External"/><Relationship Id="rId8" Type="http://schemas.openxmlformats.org/officeDocument/2006/relationships/hyperlink" Target="https://arena.ai/leaderboard/model/claude-opus-4-6-thinking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nxr20lcqagg" TargetMode="External"/><Relationship Id="rId5" Type="http://schemas.openxmlformats.org/officeDocument/2006/relationships/hyperlink" Target="https://artificialanalysis.ai/evaluations/artificial-analysis-intelligence-index" TargetMode="External"/><Relationship Id="rId4" Type="http://schemas.openxmlformats.org/officeDocument/2006/relationships/hyperlink" Target="https://artificialanalysis.ai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pmc.ncbi.nlm.nih.gov/articles/PMC9313413/" TargetMode="External"/><Relationship Id="rId3" Type="http://schemas.openxmlformats.org/officeDocument/2006/relationships/hyperlink" Target="https://x.ai/blog/grok-build" TargetMode="External"/><Relationship Id="rId7" Type="http://schemas.openxmlformats.org/officeDocument/2006/relationships/hyperlink" Target="https://en.wikipedia.org/wiki/Sakana_AI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akanaai" TargetMode="External"/><Relationship Id="rId5" Type="http://schemas.openxmlformats.org/officeDocument/2006/relationships/hyperlink" Target="https://www.youtube.com/watch?v=O8Ru0Wyzk6E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www.youtube.com/watch?v=_1ETUXJ3BCQ" TargetMode="External"/><Relationship Id="rId9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thinkingmachines.ai/news/inkling-small/" TargetMode="External"/><Relationship Id="rId3" Type="http://schemas.openxmlformats.org/officeDocument/2006/relationships/hyperlink" Target="https://github.com/DeusData/codebase-memory-mcp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odebase-memory.com" TargetMode="External"/><Relationship Id="rId5" Type="http://schemas.openxmlformats.org/officeDocument/2006/relationships/hyperlink" Target="https://skillsllm.com/skill/codebase-memory-mcp" TargetMode="External"/><Relationship Id="rId4" Type="http://schemas.openxmlformats.org/officeDocument/2006/relationships/hyperlink" Target="https://www.tecmint.com/install-codebase-memory-mcp-linux/" TargetMode="External"/><Relationship Id="rId9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BJ1NsvzatA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eg"/><Relationship Id="rId5" Type="http://schemas.openxmlformats.org/officeDocument/2006/relationships/hyperlink" Target="https://www.youtube.com/watch?v=n7BpBCCCOWA" TargetMode="External"/><Relationship Id="rId4" Type="http://schemas.openxmlformats.org/officeDocument/2006/relationships/hyperlink" Target="https://www.youtube.com/watch?v=lexZNRYc8ug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b42vjtH6mNM" TargetMode="External"/><Relationship Id="rId3" Type="http://schemas.openxmlformats.org/officeDocument/2006/relationships/hyperlink" Target="https://www.youtube.com/watch?v=H3OZiTbD1OU" TargetMode="External"/><Relationship Id="rId7" Type="http://schemas.openxmlformats.org/officeDocument/2006/relationships/hyperlink" Target="https://hermes-agent.nousresearch.com/docs/integrations/buzz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hyperlink" Target="https://buzz.xyz" TargetMode="External"/><Relationship Id="rId4" Type="http://schemas.openxmlformats.org/officeDocument/2006/relationships/hyperlink" Target="https://www.youtube.com/watch?v=ZhJi_npUQcQ" TargetMode="External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tailscale.com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LAgkQMivp0" TargetMode="External"/><Relationship Id="rId5" Type="http://schemas.openxmlformats.org/officeDocument/2006/relationships/hyperlink" Target="https://tailscale.com/blog/what-is-tailscale" TargetMode="External"/><Relationship Id="rId4" Type="http://schemas.openxmlformats.org/officeDocument/2006/relationships/hyperlink" Target="https://github.com/tailscale/tailscale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LMQYYp5tBc" TargetMode="External"/><Relationship Id="rId3" Type="http://schemas.openxmlformats.org/officeDocument/2006/relationships/hyperlink" Target="https://platform.minimax.io" TargetMode="External"/><Relationship Id="rId7" Type="http://schemas.openxmlformats.org/officeDocument/2006/relationships/hyperlink" Target="https://neuralink.com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hyperlink" Target="https://www.youtube.com/watch?v=bLfF4X3F2ew" TargetMode="External"/><Relationship Id="rId4" Type="http://schemas.openxmlformats.org/officeDocument/2006/relationships/hyperlink" Target="https://github.com/MiniMax-AI" TargetMode="External"/><Relationship Id="rId9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qwen.ai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Hpl0E53ioEo" TargetMode="External"/><Relationship Id="rId5" Type="http://schemas.openxmlformats.org/officeDocument/2006/relationships/hyperlink" Target="https://dreamina.capcut.com" TargetMode="External"/><Relationship Id="rId10" Type="http://schemas.openxmlformats.org/officeDocument/2006/relationships/image" Target="../media/image17.jpeg"/><Relationship Id="rId4" Type="http://schemas.openxmlformats.org/officeDocument/2006/relationships/hyperlink" Target="https://github.com/QwenLM" TargetMode="External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github.com/decolua/9router" TargetMode="Externa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cSz_6SNEirU" TargetMode="External"/><Relationship Id="rId5" Type="http://schemas.openxmlformats.org/officeDocument/2006/relationships/hyperlink" Target="https://theaiprofit.com" TargetMode="External"/><Relationship Id="rId4" Type="http://schemas.openxmlformats.org/officeDocument/2006/relationships/hyperlink" Target="https://www.youtube.com/watch?v=bHLgidjAl9I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5AkurBDSYwo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hyperlink" Target="https://www.youtube.com/watch?v=tAjhCOQjI0Q" TargetMode="Externa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hyperlink" Target="https://www.amazon.com/dp/B0DL9WQ4Z4" TargetMode="External"/><Relationship Id="rId10" Type="http://schemas.openxmlformats.org/officeDocument/2006/relationships/image" Target="../media/image26.jpeg"/><Relationship Id="rId4" Type="http://schemas.openxmlformats.org/officeDocument/2006/relationships/hyperlink" Target="https://shop.fieldy.ai" TargetMode="External"/><Relationship Id="rId9" Type="http://schemas.openxmlformats.org/officeDocument/2006/relationships/image" Target="../media/image25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hyperlink" Target="https://autobots.abacus.ai" TargetMode="External"/><Relationship Id="rId7" Type="http://schemas.openxmlformats.org/officeDocument/2006/relationships/hyperlink" Target="https://www.youtube.com/watch?v=Mxo4fqNgX0g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hyperlink" Target="https://www.youtube.com/watch?v=RAUC49M6RLE" TargetMode="External"/><Relationship Id="rId4" Type="http://schemas.openxmlformats.org/officeDocument/2006/relationships/hyperlink" Target="https://abacus.ai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empero.org" TargetMode="External"/><Relationship Id="rId7" Type="http://schemas.openxmlformats.org/officeDocument/2006/relationships/hyperlink" Target="https://www.youtube.com/watch?v=iZYUgrGzQ0o" TargetMode="External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8dSk8uOVxhU" TargetMode="External"/><Relationship Id="rId11" Type="http://schemas.openxmlformats.org/officeDocument/2006/relationships/hyperlink" Target="https://github.com/Kwaipilot" TargetMode="External"/><Relationship Id="rId5" Type="http://schemas.openxmlformats.org/officeDocument/2006/relationships/hyperlink" Target="https://empero.org/writing/qwythos-27b-the-long-awaited-27b" TargetMode="External"/><Relationship Id="rId10" Type="http://schemas.openxmlformats.org/officeDocument/2006/relationships/hyperlink" Target="https://huggingface.co/Kwaipilot/KAT-Coder-V2.5-Dev" TargetMode="External"/><Relationship Id="rId4" Type="http://schemas.openxmlformats.org/officeDocument/2006/relationships/hyperlink" Target="https://huggingface.co/empero-ai/Qwythos-27B-v1" TargetMode="External"/><Relationship Id="rId9" Type="http://schemas.openxmlformats.org/officeDocument/2006/relationships/hyperlink" Target="https://www.youtube.com/watch?v=cbb4KffkmMc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osen/ZLUDA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hyperlink" Target="https://www.youtube.com/watch?v=TRoOflwNagg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hyperlink" Target="https://situational-awareness.ai/wp-content/uploads/2024/06/situationalawareness.pdf" TargetMode="External"/><Relationship Id="rId4" Type="http://schemas.openxmlformats.org/officeDocument/2006/relationships/hyperlink" Target="https://situational-awareness.ai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hyperlink" Target="https://trueup.io/layoffs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94335"/>
            <a:ext cx="4330200" cy="1742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xAI Launches Grok Build Mode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Sakana AI Nature-Inspired Intelligence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Codebase Memory MCP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Thinking Machines Inkling-Small 276B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Gemini Spark AI personal AI Agent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Astra Solves 10 Math Problems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Aug 07,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37021" y="3748539"/>
            <a:ext cx="45258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791425" y="125025"/>
            <a:ext cx="4017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“Manual” work is becoming a legacy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37132" y="750450"/>
            <a:ext cx="4525800" cy="1742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Tencent Open-Source AI Memory System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Liberating from Desk Work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Abacus AI Self-Improving Autobots Demo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FARAH 1.5 Browser Agent Model 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Empero Qwythos 27B - open, local, multimodal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KAT-Coder-V2.5-Dev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ZLUDA: Running CUDA on AMD Graphics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Leopold Aschenbrenner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466593"/>
            <a:ext cx="4330200" cy="19578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Five Layers of AI Operating System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 0.20, Hermes + Buzz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Tailscale Connects AI Agent to Mobile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H3 - Video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Neuralink wheelchair + BCI (Brain-Computer Interface)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 3.8 Max Open Weight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Dreamina Seedance 2.5 - AI Video Generation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9Router - FREE AI Router &amp; Token Saver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System for Endless Content Ideas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July 31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8" name="Google Shape;78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{5B597977-5CC3-4219-94A0-1C01F0F748F7}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9" name="Google Shape;79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GLM-5.1 - 744B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" name="Google Shape;80;p16"/>
          <p:cNvGraphicFramePr/>
          <p:nvPr/>
        </p:nvGraphicFramePr>
        <p:xfrm>
          <a:off x="2956138" y="81048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{5B597977-5CC3-4219-94A0-1C01F0F748F7}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gemini-3.6-flash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gpt-5.6-terra-xhigh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claude-sonnet-4-5-20250929-thinking-32k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423650" y="810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{5B597977-5CC3-4219-94A0-1C01F0F748F7}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claude-opus-4-8-thinking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gemini-3.6-flash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gemini-3.5-flash-medium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inkling-small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25" y="1194400"/>
            <a:ext cx="9030251" cy="35585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476075"/>
            <a:ext cx="4429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https://artificialanalysis.ai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https://www.youtube.com/watch?v=nxr20lcqagg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Anthropic vs OpenAI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6295250" y="2662350"/>
            <a:ext cx="249600" cy="531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7"/>
          <p:cNvSpPr/>
          <p:nvPr/>
        </p:nvSpPr>
        <p:spPr>
          <a:xfrm>
            <a:off x="1051300" y="2789175"/>
            <a:ext cx="249600" cy="531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7"/>
          <p:cNvSpPr/>
          <p:nvPr/>
        </p:nvSpPr>
        <p:spPr>
          <a:xfrm>
            <a:off x="2811375" y="2804413"/>
            <a:ext cx="249600" cy="531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4534263" y="2804425"/>
            <a:ext cx="249600" cy="531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7"/>
          <p:cNvSpPr/>
          <p:nvPr/>
        </p:nvSpPr>
        <p:spPr>
          <a:xfrm>
            <a:off x="329800" y="2789175"/>
            <a:ext cx="249600" cy="5319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7"/>
          <p:cNvSpPr txBox="1"/>
          <p:nvPr/>
        </p:nvSpPr>
        <p:spPr>
          <a:xfrm>
            <a:off x="6333351" y="837775"/>
            <a:ext cx="9447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July 21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81842" y="372100"/>
            <a:ext cx="4642557" cy="2788417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xAI</a:t>
            </a:r>
            <a:r>
              <a:rPr lang="en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Launches Grok Build Mode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https://x.ai/blog/grok-build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https://www.youtube.com/watch?v=_1ETUXJ3BCQ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introduced Build Mode, </a:t>
            </a:r>
            <a:r>
              <a:rPr lang="en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text-to-app </a:t>
            </a: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 dirty="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Allowing users to create apps from text prompts</a:t>
            </a:r>
            <a:endParaRPr sz="1200" b="1" dirty="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Created apps publish instantly to </a:t>
            </a:r>
            <a:r>
              <a:rPr lang="en" sz="12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grok.me</a:t>
            </a:r>
            <a:r>
              <a:rPr lang="en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links or custom domains</a:t>
            </a: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completely removing traditional software development delays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system </a:t>
            </a:r>
            <a:r>
              <a:rPr lang="en" sz="1200" b="1" dirty="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integrates coding agents, AI image generation, and live web browsing capabilities directly into the chat</a:t>
            </a:r>
            <a:endParaRPr sz="1200" b="1" dirty="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Multiple parallel helper agents work simultaneously to build complex interactive features like dashboards, games, and quizzes.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export generated code directly to GitHub, making it easy to refine or customize their software later.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update transitions AI from answering general questions to building and shipping complete digital products in minutes.</a:t>
            </a:r>
          </a:p>
        </p:txBody>
      </p:sp>
      <p:sp>
        <p:nvSpPr>
          <p:cNvPr id="101" name="Google Shape;101;p18"/>
          <p:cNvSpPr txBox="1"/>
          <p:nvPr/>
        </p:nvSpPr>
        <p:spPr>
          <a:xfrm>
            <a:off x="81774" y="3283562"/>
            <a:ext cx="4642557" cy="1726588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Sakana AI Nature-Inspired Intelligence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Sakana AI - Tokyo-based research company, unusually innovative and open-source oriented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https://www.youtube.com/watch?v=O8Ru0Wyzk6E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https://github.com/sakanaai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https://en.wikipedia.org/wiki/Sakana_AI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Ideas: model merging, autonomous research agents, and biologically inspired architectures; Continuous Thought Machines - neural timing, history-aware neurons, and synchronization over time; Spike Neural Networks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https://pmc.ncbi.nlm.nih.gov/articles/PMC9313413/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672" y="3593945"/>
            <a:ext cx="2012024" cy="1128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3" name="Google Shape;103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675" y="461358"/>
            <a:ext cx="2246325" cy="2603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9"/>
          <p:cNvSpPr txBox="1"/>
          <p:nvPr/>
        </p:nvSpPr>
        <p:spPr>
          <a:xfrm>
            <a:off x="148793" y="410550"/>
            <a:ext cx="43923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Codebase Memory MCP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fast and token efficient MCP server that indexes codebases into a persistent knowledge graph for AI coding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https://github.com/DeusData/codebase-memory-mcp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parses source code with tree-sitter and stores structural relationships like functions, classes, calls, imports, and routes locally in SQLite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https://www.tecmint.com/install-codebase-memory-mcp-linux/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query the graph instead of rereading files, which can cut token usage dramatically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performance is very high, with average repos indexed in milliseconds and structural queries answered in under 1 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open source, ships as a single static binary with zero dependencies, and works across major desktop operating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https://skillsllm.com/skill/codebase-memory-mcp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https://codebase-memory.com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20375" y="743399"/>
            <a:ext cx="3706599" cy="1482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" name="Google Shape;111;p19"/>
          <p:cNvSpPr txBox="1"/>
          <p:nvPr/>
        </p:nvSpPr>
        <p:spPr>
          <a:xfrm>
            <a:off x="148800" y="3481375"/>
            <a:ext cx="43923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Thinking Machines Inkling-Small 276B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Open-weight, multimodal, x4 smaller, nearly same performance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length 1M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pricing starting at $0.58 per 1M input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https://thinkingmachines.ai/news/inkling-small/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1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84553" y="3481377"/>
            <a:ext cx="4339601" cy="1226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0"/>
          <p:cNvSpPr txBox="1"/>
          <p:nvPr/>
        </p:nvSpPr>
        <p:spPr>
          <a:xfrm>
            <a:off x="81775" y="425673"/>
            <a:ext cx="53430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Spark AI personal AI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https://www.youtube.com/watch?v=TBJ1NsvzatA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https://www.youtube.com/watch?v=lexZNRYc8u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Operates on Google Gmail, Docs, Drive, Calendar, and Sheets (Google Workspace) - can run tasks even when your phone is locked or laptop is closed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Chrome Auto Browse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it can pilot web browsers to research topics, navigate web pages, fill out online forms, and compare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create custom reusable skills and scheduled triggers to automate recurring tasks such as morning briefings, inbox decluttering, and research summaries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0"/>
          <p:cNvSpPr txBox="1"/>
          <p:nvPr/>
        </p:nvSpPr>
        <p:spPr>
          <a:xfrm>
            <a:off x="81775" y="2430540"/>
            <a:ext cx="44454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Astra Solves 10 Math Problems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https://www.youtube.com/watch?v=n7BpBCCCOWA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announced Astra, an unreleased long-horizon model family built specifically for parallel multi-agent execution on complex, multi-hour technical assignments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Internal testing demonstrated that an early version of Astra successfully solved ten major open problems in mathematics and theoretical computer science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These long-standing open problems had resisted all human progress for at least ten years, spanning geometry, group theory, quantum complexity, and cryptography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Solutions were generated for roughly two thousand dollars in API compute tokens, with every mathematical proof formally verified using machine-checkable Lean certificates.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20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54275" y="2842125"/>
            <a:ext cx="943175" cy="1248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21" name="Google Shape;121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97450" y="491300"/>
            <a:ext cx="2847975" cy="1600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1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7.2K subscribers, 300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31975" y="171338"/>
            <a:ext cx="2145049" cy="4800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Five Layers of AI Operating System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2"/>
          <p:cNvSpPr txBox="1"/>
          <p:nvPr/>
        </p:nvSpPr>
        <p:spPr>
          <a:xfrm>
            <a:off x="98937" y="408799"/>
            <a:ext cx="4368900" cy="463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OS for Modular AI Automation - by Julian Goldie SEO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Lets you plug models, tools, and workflows. Unified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models like DeepSeek V4 Flash integrate immediately, improving system capability without redesign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Video agent enables one-prompt generation of edited avatar videos using models like Miniax H3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Search Console integration (now with social data) drives automated SEO content creation from ranking keywords.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Fast 20-30 min local setup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1 - Mission-Control Dashboard - shows all AI models and Agents you are using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2 - Memory (obsidian wiki) - bus. context, prefs, logs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3 - Router - router tasks - saves money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4 - Agents (Workers &amp; Workflows) - parallel worker agents that carry out specific tasks (research, coding, content creation) using systems like a Kanban board and controlled by a single commander agent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Layer 5 - Loop Engineering (Continuous Improvement) - a compounding feedback loop where completed agent work updates the memory, making future outputs smarter, and new AI model releases can be easily slotted into the router without breaking the 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https://www.youtube.com/watch?v=H3OZiTbD1OU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https://www.youtube.com/watch?v=ZhJi_npUQcQ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https://buzz.xyz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4850" y="408788"/>
            <a:ext cx="1947551" cy="18715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5" name="Google Shape;135;p22"/>
          <p:cNvSpPr txBox="1"/>
          <p:nvPr/>
        </p:nvSpPr>
        <p:spPr>
          <a:xfrm>
            <a:off x="4549834" y="2958166"/>
            <a:ext cx="3418200" cy="48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Hermes Agent + Buzz team workspace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https://hermes-agent.nousresearch.com/docs/integrations/buzz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https://www.youtube.com/watch?v=b42vjtH6mNM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2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89421" y="1078864"/>
            <a:ext cx="2425025" cy="1086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7" name="Google Shape;137;p22"/>
          <p:cNvSpPr txBox="1"/>
          <p:nvPr/>
        </p:nvSpPr>
        <p:spPr>
          <a:xfrm>
            <a:off x="4549846" y="2383764"/>
            <a:ext cx="3418200" cy="480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Hermes Agent + Buzz team workspace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https://hermes-agent.nousresearch.com/docs/integrations/buzz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https://www.youtube.com/watch?v=b42vjtH6mNM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4549850" y="3548900"/>
            <a:ext cx="41298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 0.20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This is the "Herald" release (finding its voice)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Adds real-time voice. It can speak while thinking, accept interruptions, wake on a custom wake word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Voice notes now work across apps like WhatsApp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Grounded citations, safer approval prompts, faster responses, better compression, and agent-to-agent coordination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“Open line” idea - continuous collaboration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/>
        </p:nvSpPr>
        <p:spPr>
          <a:xfrm>
            <a:off x="81775" y="0"/>
            <a:ext cx="43689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Tailscale Connects AI Agent to Mobile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3"/>
          <p:cNvSpPr txBox="1"/>
          <p:nvPr/>
        </p:nvSpPr>
        <p:spPr>
          <a:xfrm>
            <a:off x="98937" y="408799"/>
            <a:ext cx="4368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Tailscale connects local AI agent to mobile devices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https://tailscale.com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https://github.com/tailscale/tailscale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https://tailscale.com/blog/what-is-tailscale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https://www.youtube.com/watch?v=HLAgkQMivp0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End-to-end encrypted mesh network without exposing ports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 up the connection takes around ten minutes by generating a private HTTPS address through a local Tailscale tunnel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monitor autonomous workflows, trigger new tasks, and check agent memory databases from anywhere using a smartphone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Private tailnets isolate traffic entirely, ensuring your local host data stays secure while avoiding third-party cloud hosting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mobile Tailscale application must remain toggled active to maintain seamless communication between mobile devices and host workstations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7962" y="693150"/>
            <a:ext cx="3790950" cy="1009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81775" y="410625"/>
            <a:ext cx="58395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H3 - Video AI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https://platform.minimax.io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https://github.com/MiniMax-AI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https://www.youtube.com/watch?v=bLfF4X3F2ew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Minimax H3 generates video from text, images,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gains in realism, physics, and detail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“one prompt” video creation: script, B-roll, voiceover, avatar, and editing handled automatically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Integrates into agent-based systems for automated video pipelines and AI avatar content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Ranked highly in benchmarks, especially for video editing and image-to-video tasks.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access available; open-weights release planned under a community license.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Positions itself as a leading open video generation model with strong editing capabilities.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2" name="Google Shape;152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5800" y="740738"/>
            <a:ext cx="2757400" cy="1574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53" name="Google Shape;153;p24"/>
          <p:cNvSpPr txBox="1"/>
          <p:nvPr/>
        </p:nvSpPr>
        <p:spPr>
          <a:xfrm>
            <a:off x="81775" y="2814050"/>
            <a:ext cx="58395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Neuralink wheelchair + BCI (Brain-Computer Interface)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https://neuralink.com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https://www.youtube.com/watch?v=tLMQYYp5tBc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Mind-controlled wheelchair navigation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Clinical trials - ALS patients experiencing restored mobility, improved posture, and seamless device integration compared to traditional manual controls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Patient 26 in Canada became the first individual to receive thread insertion directly through the dura layer at Toronto Western Hospital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Participants demonstrated simultaneous use of brain-computer interfaces alongside respiratory equipment like BiPAP machines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Private market valuation for Neuralink surpassed $40 Bln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45800" y="3015975"/>
            <a:ext cx="2195126" cy="1646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/>
        </p:nvSpPr>
        <p:spPr>
          <a:xfrm>
            <a:off x="81775" y="47625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3.8 Max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5"/>
          <p:cNvSpPr txBox="1"/>
          <p:nvPr/>
        </p:nvSpPr>
        <p:spPr>
          <a:xfrm>
            <a:off x="81775" y="519969"/>
            <a:ext cx="44055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 3.8 Max Open Weight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https://qwen.ai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https://github.com/QwenLM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Qwen 3.8 Max is Alibaba’s newest flagship open-weight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2.4 T 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General use, research, agentic workflows, science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level with top US frontier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$2 / $6 (in/out per 1M tokens)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API-compatible with OpenAI and Anthropic-style tooling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5"/>
          <p:cNvSpPr txBox="1"/>
          <p:nvPr/>
        </p:nvSpPr>
        <p:spPr>
          <a:xfrm>
            <a:off x="81775" y="2471557"/>
            <a:ext cx="44055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Dreamina Seedance 2.5 - AI Video Generation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https://dreamina.capcut.com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https://www.youtube.com/watch?v=Hpl0E53ioEo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3 min long, with consistency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video and audio generation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Interactive editing - no need to regenerate the whole clip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many references and production-style workflows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Dreamina is ByteDance’s AI creative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Seedance is ByteDance’s video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CapCut is ByteDance’s editing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674" y="2535683"/>
            <a:ext cx="2284350" cy="165932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3" name="Google Shape;163;p2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675" y="521594"/>
            <a:ext cx="2284350" cy="16809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4" name="Google Shape;164;p2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76425" y="843719"/>
            <a:ext cx="1916800" cy="1036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5" name="Google Shape;165;p25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76427" y="2765332"/>
            <a:ext cx="1916799" cy="127786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81775" y="439044"/>
            <a:ext cx="43689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9Router - FREE AI Router &amp; Token Saver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https://github.com/decolua/9router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9Router connects locally to over 573 AI models and 40 providers - and allows switching to prevent API rate limits or token exhaustion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with tools like Claude Code, Cursor, and GitHub Copilot using your existing sessions and automatic fallbacks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Built-in optimization features save 20%-40% on token usage while keeping project code and chat history locally organized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easily run local coding models to maintain workflow continuity and build complete applications without recurring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https://www.youtube.com/watch?v=bHLgidjAl9I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https://theaiprofit.com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81775" y="2640837"/>
            <a:ext cx="43689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System for Endless Content Ideas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https://www.youtube.com/watch?v=cSz_6SNEirU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+ ChatGPT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Craft a rich audience profile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detailing triggers, mindsets, and preferences rather than a standard ICP.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Track winning content patterns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performance data across platforms like LinkedIn, Substack, and YouTube.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Integrate real-time market trends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viral discussions using MCP tools and external web sources.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Utilize AI for high-quality research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idea generation, and structured drafting while maintaining personal creative taste.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Consistently maintain and refine an active content queue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prevent running out of creative ideas.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2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6125" y="171258"/>
            <a:ext cx="3352074" cy="2957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4" name="Google Shape;174;p2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6125" y="3247809"/>
            <a:ext cx="2698614" cy="17990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81775" y="372100"/>
            <a:ext cx="4368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 Open-Source AI Memory System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https://www.youtube.com/watch?v=5AkurBDSYwo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Large context windows degrade LLM performance over time, causing AI agents to waste tokens and repeat previous mistakes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Tencent released an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open-source MIT-licensed memory plugin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designed to cut token overhead while drastically boosting benchmark success rates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framework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compresses raw execution logs into interactive Mermaid diagrams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 keeping detailed underlying evidence stored safely on disk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Inspired by cognitive psychology, it structures memory into episodic events and four semantic layers, ranging from facts to persona defaults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Running locally via SQLite, it provides fast hybrid search, complete privacy, and zero API vendor dependencies for long-running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1" name="Google Shape;181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7629" y="645092"/>
            <a:ext cx="2060525" cy="1382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2" name="Google Shape;182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87662" y="1310717"/>
            <a:ext cx="2365201" cy="1578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Liberating from Desk Work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81775" y="372100"/>
            <a:ext cx="4368900" cy="3343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Julia McCoy - Liberating from Desk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were programmed to be a machine: how to break 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https://www.youtube.com/watch?v=tAjhCOQjI0Q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Argues modern work culture is a leftover “factory mindset” equating value with hours and output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Julia describes burnout and a shift toward AI-driven automation replacing most routine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 company team of 15 outperforms a former team of 100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idea: separate “machine work” (rule-based tasks) from human work (relationships, judgment)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Recommends delegating workflows to AI gradually, like onboarding a junior employee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Encourages mobile thinking via voice instead of desk-bound typing.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Devices Julia wears: Fieldy AI notetaker, Plaud AI notetaker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https://shop.fieldy.ai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Fieldy ($130)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https://www.amazon.com/dp/B0DL9WQ4Z4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Plaud ($180)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Emphasizes redefining identity beyond productivity toward creativity and human connection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0350" y="118425"/>
            <a:ext cx="1742450" cy="20086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5175" y="2268125"/>
            <a:ext cx="1692800" cy="130546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1" name="Google Shape;191;p2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46538" y="118425"/>
            <a:ext cx="1816211" cy="20086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2" name="Google Shape;192;p2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25200" y="2279475"/>
            <a:ext cx="1029150" cy="15411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3" name="Google Shape;193;p2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1580" y="2279475"/>
            <a:ext cx="991095" cy="1541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9"/>
          <p:cNvSpPr txBox="1"/>
          <p:nvPr/>
        </p:nvSpPr>
        <p:spPr>
          <a:xfrm>
            <a:off x="81775" y="372100"/>
            <a:ext cx="43689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Abacus AI Self-Improving Autobots Demo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https://autobots.abacus.ai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https://abacus.ai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https://www.youtube.com/watch?v=RAUC49M6RLE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Autobots inside Chat LLM are self-evaluating agents designed to continuously grade their performance and autonomously optimize their workflow strategies over time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 of usage: sales lead scoring, stock paper trading, YouTube thumbnail testing, and automated software bug fixing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0" name="Google Shape;200;p29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92350" y="769475"/>
            <a:ext cx="3500375" cy="74755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9"/>
          <p:cNvSpPr txBox="1"/>
          <p:nvPr/>
        </p:nvSpPr>
        <p:spPr>
          <a:xfrm>
            <a:off x="81775" y="2026025"/>
            <a:ext cx="4368900" cy="2788417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FARAH 1.5 Browser Agent Model  </a:t>
            </a:r>
            <a:endParaRPr sz="12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https://www.youtube.com/watch?v=Mxo4fqNgX0g</a:t>
            </a: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family of browser automation models (4B, 9B, 27B) built on Qwen 3.5 with open weights under MIT license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Uses a vision-only approach, analyzing screenshots and predicting pixel-level actions like clicks, typing, and scrolling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Operates in an </a:t>
            </a:r>
            <a:r>
              <a:rPr lang="en" sz="12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observe–think–act loop</a:t>
            </a: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enabling iterative decision-making across multi-step web tasks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Outperforms competitors on benchmarks, with 27B reaching 72.3% on OnlineMind2Web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long workflows with up to 262K context and step memory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Includes safety checkpoints for irreversible actions and missing info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used in sandboxed environments; smaller 4B model runs locally efficiently</a:t>
            </a:r>
          </a:p>
        </p:txBody>
      </p:sp>
      <p:pic>
        <p:nvPicPr>
          <p:cNvPr id="202" name="Google Shape;202;p2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2350" y="2662200"/>
            <a:ext cx="3500375" cy="87509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81775" y="372100"/>
            <a:ext cx="43689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Empero Qwythos 27B - open, local, multimodal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Post-trained on Qwen3.5-27B base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 context, open-weight, Apache-2.0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Vision - images, screenshots, charts, handwriting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Native multi-token prediction, faster inference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is also Qwythos-9B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Empero is an independent research lab (Germany ?)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https://empero.org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https://huggingface.co/empero-ai/Qwythos-27B-v1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https://empero.org/writing/qwythos-27b-the-long-awaited-27b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https://www.youtube.com/watch?v=8dSk8uOVxhU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https://www.youtube.com/watch?v=iZYUgrGzQ0o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3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0700" y="574000"/>
            <a:ext cx="1988026" cy="16001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0" name="Google Shape;210;p30"/>
          <p:cNvSpPr txBox="1"/>
          <p:nvPr/>
        </p:nvSpPr>
        <p:spPr>
          <a:xfrm>
            <a:off x="81775" y="2675978"/>
            <a:ext cx="46062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KAT-Coder-V2.5-Dev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(Apache 2.0) MoE coding model from Kuaishou’s Kwaipilot team (Beijing, China)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Based on Qwen3.6-35B-A3B with 127K supervised examples before RL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69.4 on SWE-bench Verified and 45.96 on SWE-bench Pro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Also reduced abnormal tool labels and single-turn repetition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https://www.youtube.com/watch?v=cbb4KffkmMc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https://huggingface.co/Kwaipilot/KAT-Coder-V2.5-Dev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https://github.com/Kwaipilot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3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1900" y="2941128"/>
            <a:ext cx="3479626" cy="84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1"/>
          <p:cNvSpPr txBox="1"/>
          <p:nvPr/>
        </p:nvSpPr>
        <p:spPr>
          <a:xfrm>
            <a:off x="81775" y="372100"/>
            <a:ext cx="43689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ZLUDA: Running CUDA on AMD Graphics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https://github.com/vosen/ZLUDA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https://www.youtube.com/watch?v=TRoOflwNagg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ZLUDA is an open-source software compatibility layer that allows unmodified NVIDIA CUDA applications to run directly on AMD Radeon GPUs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translates PTX instructions on the fly, enabling local AI frameworks like Llama.cpp to run at near-native speed without rewriting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written in Rust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support extends to Blender rendering and 32-bit PhysX games, while PyTorch compatibility remains actively under development by creator Andrzej Janik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Despite losing corporate funding and surviving repository takedowns, ZLUDA offers developers an effective alternative to NVIDIA proprietary hardware lock-in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project lowers deployment costs for machine learning workloads by turning budget-friendly AMD GPUs into viable choices for running CUDA code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8" name="Google Shape;218;p3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3075" y="1068246"/>
            <a:ext cx="2925625" cy="18316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Leopold Aschenbrenner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81775" y="439044"/>
            <a:ext cx="43689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Leopold Aschenbrenner Hedge Fund lost 67%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Hedge Fund Situational Awareness was forced to sell public stock holdings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had long AI infrastructure bets and short software positions, which moved sharply against 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fund was forced to de-risk and sell holdings, and its remaining assets are now reported around $10 Bln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2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525" y="2017735"/>
            <a:ext cx="1572392" cy="1403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6" name="Google Shape;226;p32"/>
          <p:cNvSpPr txBox="1"/>
          <p:nvPr/>
        </p:nvSpPr>
        <p:spPr>
          <a:xfrm>
            <a:off x="81775" y="2017735"/>
            <a:ext cx="43689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Leopold Aschenbrenner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former OpenAI researcher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Two years ago he has published a 165-page essay that became required reading in Silicon Valley.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https://situational-awareness.ai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https://situational-awareness.ai/wp-content/uploads/2024/06/situationalawareness.pdf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has positioned himself as a kind of prophet for the coming age of artificial super intelligence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32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0525" y="416044"/>
            <a:ext cx="3133200" cy="1357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3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121K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July 17,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33"/>
          <p:cNvSpPr txBox="1"/>
          <p:nvPr/>
        </p:nvSpPr>
        <p:spPr>
          <a:xfrm>
            <a:off x="5422950" y="5312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167,688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(847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6" name="Google Shape;236;p33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278822"/>
            <a:ext cx="5182423" cy="182195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7" name="Google Shape;237;p3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531881"/>
            <a:ext cx="5182423" cy="259999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34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4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p34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4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34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5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3346</Words>
  <Application>Microsoft Macintosh PowerPoint</Application>
  <PresentationFormat>On-screen Show (16:9)</PresentationFormat>
  <Paragraphs>475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Roboto Mono</vt:lpstr>
      <vt:lpstr>Arial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2026-08-04T20:37:45Z</dcterms:modified>
</cp:coreProperties>
</file>