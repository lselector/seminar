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embeddedFontLst>
    <p:embeddedFont>
      <p:font typeface="Roboto Mono" pitchFamily="49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6A2CB5-A769-4B20-8780-5926AF7204C9}">
  <a:tblStyle styleId="{076A2CB5-A769-4B20-8780-5926AF7204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 snapToGrid="0">
      <p:cViewPr varScale="1">
        <p:scale>
          <a:sx n="124" d="100"/>
          <a:sy n="124" d="100"/>
        </p:scale>
        <p:origin x="57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-toc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-toc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labels. Kept by g3_update_toc.py.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 Haiku 5.5: Anthropic's cheapest, fastest small model =&gt; Claude Haiku 5.5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publishes 722 math papers from an internal model =&gt; OpenAI's 722 Math Papers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Reflection AI launches Beam, a 501B open-weight model =&gt; Reflection Beam 501B Open Model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Mistral Large 4: a 1T-parameter open-weight model from Europe =&gt; Mistral Large 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launches the Gemini agent for work =&gt; Google Gemini Agent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models become a category: OpenAI, Microsoft, Cloudflare =&gt; Decision Models and Decisions API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adds invisible watermarks to ChatGPT text in the EU =&gt; OpenAI textGrain Watermarks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Aleph Alpha releases Kolibri, an English-German open model =&gt; Aleph Alpha Kolibri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English - https://lmarena.ai/leaderboard/text =&gt; Crowd-sourced LM Arena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- https://lmarena.ai/leaderboard/text/coding =&gt; Crowd-sourced LM Arena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Qwen Image 2.1 Turbo - text-to-image + editing =&gt; Qwen Image 2.1 Turbo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AstaBrief 8B - Generates Science Reports =&gt; AstaBrief 8B Science Reports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Tech Layoff Tracker =&gt; Jobs &amp; Layoffs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Layoffs by year (US only): =&gt; Jobs &amp; Layoffs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"In Demand" Skills and Qualifications =&gt; Tech Hiring &amp; Skills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job postings on Indeed =&gt; Tech Hiring &amp; Skills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 in demand =&gt; Tech Hiring &amp; Skills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 cuts Claude's internet access in all internal evals =&gt; Claude Loses Internet in Evals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Gemini 4 Argon spotted in Google's Antigravity model picker =&gt; Gemini 4 Argon Leak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Epoch: chips shipped through 2027 could run 100M+ AI agents =&gt; Epoch: 100M+ Agents by 2027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Devin adds Memory and Dreaming to learn across sessions =&gt; Devin Memory and Dreaming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Perplexity releases multi-vector multimodal embeddings =&gt; Perplexity Multi-Vector Embeddings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Trump creates a "Super Intelligence Force" task force =&gt; Trump's Super Intelligence Force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 puts $100M into training 10,000 AI engineers =&gt; Claude Frontier Academy $100M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 releases Muse Wonder, its first frontier-class models =&gt; Meta Muse Wonder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Black Forest Labs releases FLUX 3 Image =&gt; FLUX 3 Image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Microsoft unveils Maia 300, its third in-house AI chip =&gt; Microsoft Maia 300 Chip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ArtCraft and AI Reverse Engineering =&gt; ArtCraft and AI Reverse Engineering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GPT-6 becomes the ChatGPT default, with Intelligent UI =&gt; GPT-6 in ChatGPT, Intelligent UI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 Managed Agents: dynamic workflows with 1,000 agents =&gt; Claude Swarms of 1,000 Agents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 replaces Git after Claude passes 30,000 merges a day =&gt; Anthropic Replaces Git with Scion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 tests AI self-replication on $55 TV boxes =&gt; AI Self-Replication on $55 Boxes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commerce gets standards and guardrails =&gt; Agentic Commerce Standards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Grok Bot will route tasks to Claude, Midjourney and Suno =&gt; Grok Bot Routes to Rival Models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 usage policy now bans abusing Claude =&gt; Anthropic Bans Abusing Claude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 replaces Git after Claude passes 30K merges a day =&gt; Anthropic Replaces Git with Scion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 reports Q3 revenue of $16.8 billion =&gt; Anthropic Q3 Revenue $16.8B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Modal raises $750M at $15.75B, passes $1B run rate =&gt; Modal Raises $750M, $1B Run Rate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Fish Audio Drama 3: open-weight 35B text-to-speech =&gt; Fish Audio Drama 3 Open TTS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Liquid AI LFM2.5-24B-A2B for on-device agents =&gt; Liquid AI LFM2.5-24B-A2B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Grok Voice 3.0 tops the speech-to-speech index =&gt; Grok Voice 3.0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Character.AI files for Chapter 11; Getty Images follows =&gt; Character.AI and Getty Bankruptcies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engineer charged over hidden recorder at HQ =&gt; OpenAI Hidden Recorder Case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Fish Audio Drama 3 - open-weight 35B text-to-speech =&gt; Fish Audio Drama 3 Open TTS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 replaces Git with Scion after Claude passes 30K merges a day =&gt; Anthropic Replaces Git With Scion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 releases Muse Spark Open, an 816B open-weight model =&gt; Meta Muse Spark Open 816B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Microsoft details MAI-Base-2, a 2.8T model it will not open =&gt; Microsoft MAI-Base-2 2.8T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Goodfire: neural networks are already clean =&gt; Goodfire: Networks Are Already Clean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Perplexity open-sources SPACE, a sandbox for AI agents =&gt; Perplexity SPACE Agent Sandbox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JPMorgan blocks outside AI agents from customer accounts =&gt; JPMorgan Blocks Outside AI Agents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 agents now send OpenTelemetry traces =&gt; Claude Agent OpenTelemetry Traces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Deep Review checks technical documents =&gt; Google Deep Review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 releases Muse Spark Open =&gt; Meta Muse Spark Open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b585c93b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g3fb585c93b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b585c93b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g3fb585c93b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50017914240e8ce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50017914240e8ce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39f80600482561f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39f80600482561f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50017914240e8cea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50017914240e8cea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41046a401975ee0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41046a401975ee0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30b578027da58b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30b578027da58b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30b578027da58b4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30b578027da58b4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4ab1bd2f3abc2494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h4ab1bd2f3abc2494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s-youtube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s-youtube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s-news-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s-news-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49c301380494b2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h49c301380494b2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49c301380494b267_1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49c301380494b267_1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30b578027da58b4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h30b578027da58b4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30b578027da58b4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h30b578027da58b4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7a6bd8bace3b6771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h7a6bd8bace3b6771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s-meta-releases-muse-wonder-its-91fd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s-meta-releases-muse-wonder-its-91fd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s-gpt-6-becomes-the-chatgpt-6b3d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s-gpt-6-becomes-the-chatgpt-6b3d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s-anthropic-reports-q3-revenue-1f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s-anthropic-reports-q3-revenue-1f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s-liquid-ai-lfm2-5-24b-a2b-for-b33e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s-liquid-ai-lfm2-5-24b-a2b-for-b33e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s-goodfire-neural-networks-are-4f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s-goodfire-neural-networks-are-4f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s-layoffs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s-layoffs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s-hiring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s-hiring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s-about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s-about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s-thanks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s-thanks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arena.ai/leaderboard/model/claude-opus-4-7" TargetMode="External"/><Relationship Id="rId18" Type="http://schemas.openxmlformats.org/officeDocument/2006/relationships/hyperlink" Target="https://arena.ai/leaderboard/model/mimo-v2.6-pro" TargetMode="External"/><Relationship Id="rId26" Type="http://schemas.openxmlformats.org/officeDocument/2006/relationships/hyperlink" Target="https://arena.ai/leaderboard/model/claude-sonnet-5.5-xhigh" TargetMode="External"/><Relationship Id="rId3" Type="http://schemas.openxmlformats.org/officeDocument/2006/relationships/hyperlink" Target="https://en.wikipedia.org/wiki/Elo_rating_system" TargetMode="External"/><Relationship Id="rId21" Type="http://schemas.openxmlformats.org/officeDocument/2006/relationships/hyperlink" Target="https://arena.ai/leaderboard/model/gpt-5.6-sol-xhigh" TargetMode="External"/><Relationship Id="rId34" Type="http://schemas.openxmlformats.org/officeDocument/2006/relationships/hyperlink" Target="https://arena.ai/leaderboard/model/gemini-3-pro" TargetMode="External"/><Relationship Id="rId7" Type="http://schemas.openxmlformats.org/officeDocument/2006/relationships/hyperlink" Target="https://arena.ai/leaderboard/model/claude-fable-5-high" TargetMode="External"/><Relationship Id="rId12" Type="http://schemas.openxmlformats.org/officeDocument/2006/relationships/hyperlink" Target="https://arena.ai/leaderboard/model/claude-opus-4-6" TargetMode="External"/><Relationship Id="rId17" Type="http://schemas.openxmlformats.org/officeDocument/2006/relationships/hyperlink" Target="https://arena.ai/leaderboard/model/kimi-k3-max" TargetMode="External"/><Relationship Id="rId25" Type="http://schemas.openxmlformats.org/officeDocument/2006/relationships/hyperlink" Target="https://arena.ai/leaderboard/model/claude-opus-4-5-20251101-high-32k" TargetMode="External"/><Relationship Id="rId33" Type="http://schemas.openxmlformats.org/officeDocument/2006/relationships/hyperlink" Target="https://arena.ai/leaderboard/model/gemini-3.1-pro-preview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arena.ai/leaderboard/model/muse-spark-1.2%20%28xHigh%29" TargetMode="External"/><Relationship Id="rId20" Type="http://schemas.openxmlformats.org/officeDocument/2006/relationships/hyperlink" Target="https://arena.ai/leaderboard/model/muse-spark-1.3-max" TargetMode="External"/><Relationship Id="rId29" Type="http://schemas.openxmlformats.org/officeDocument/2006/relationships/hyperlink" Target="https://arena.ai/leaderboard/model/muse-spark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ena.ai/leaderboard/model/gemini-4-argon-high" TargetMode="External"/><Relationship Id="rId11" Type="http://schemas.openxmlformats.org/officeDocument/2006/relationships/hyperlink" Target="https://arena.ai/leaderboard/model/claude-opus-5.5-high" TargetMode="External"/><Relationship Id="rId24" Type="http://schemas.openxmlformats.org/officeDocument/2006/relationships/hyperlink" Target="https://arena.ai/leaderboard/model/muse-spark-1.1" TargetMode="External"/><Relationship Id="rId32" Type="http://schemas.openxmlformats.org/officeDocument/2006/relationships/hyperlink" Target="https://arena.ai/leaderboard/model/gemini-3.7-flash-high" TargetMode="External"/><Relationship Id="rId5" Type="http://schemas.openxmlformats.org/officeDocument/2006/relationships/hyperlink" Target="https://lmarena.ai/leaderboard/text/coding" TargetMode="External"/><Relationship Id="rId15" Type="http://schemas.openxmlformats.org/officeDocument/2006/relationships/hyperlink" Target="https://arena.ai/leaderboard/model/gpt-6.1-sol-max" TargetMode="External"/><Relationship Id="rId23" Type="http://schemas.openxmlformats.org/officeDocument/2006/relationships/hyperlink" Target="https://arena.ai/leaderboard/model/claude-opus-5-high" TargetMode="External"/><Relationship Id="rId28" Type="http://schemas.openxmlformats.org/officeDocument/2006/relationships/hyperlink" Target="https://arena.ai/leaderboard/model/claude-opus-4-8" TargetMode="External"/><Relationship Id="rId36" Type="http://schemas.openxmlformats.org/officeDocument/2006/relationships/hyperlink" Target="https://arena.ai/leaderboard/model/qwen3.8-max" TargetMode="External"/><Relationship Id="rId10" Type="http://schemas.openxmlformats.org/officeDocument/2006/relationships/hyperlink" Target="https://arena.ai/leaderboard/model/muse-wonder-max" TargetMode="External"/><Relationship Id="rId19" Type="http://schemas.openxmlformats.org/officeDocument/2006/relationships/hyperlink" Target="https://arena.ai/leaderboard/model/claude-fable-5.1-max" TargetMode="External"/><Relationship Id="rId31" Type="http://schemas.openxmlformats.org/officeDocument/2006/relationships/hyperlink" Target="https://arena.ai/leaderboard/model/gemini-3.8-flash-high" TargetMode="External"/><Relationship Id="rId4" Type="http://schemas.openxmlformats.org/officeDocument/2006/relationships/hyperlink" Target="https://lmarena.ai/leaderboard/text" TargetMode="External"/><Relationship Id="rId9" Type="http://schemas.openxmlformats.org/officeDocument/2006/relationships/hyperlink" Target="https://arena.ai/leaderboard/model/claude-opus-4-6-high" TargetMode="External"/><Relationship Id="rId14" Type="http://schemas.openxmlformats.org/officeDocument/2006/relationships/hyperlink" Target="https://arena.ai/leaderboard/model/gpt-6-astra-max" TargetMode="External"/><Relationship Id="rId22" Type="http://schemas.openxmlformats.org/officeDocument/2006/relationships/hyperlink" Target="https://arena.ai/leaderboard/model/claude-opus-4-8-high" TargetMode="External"/><Relationship Id="rId27" Type="http://schemas.openxmlformats.org/officeDocument/2006/relationships/hyperlink" Target="https://arena.ai/leaderboard/model/claude-opus-5-max" TargetMode="External"/><Relationship Id="rId30" Type="http://schemas.openxmlformats.org/officeDocument/2006/relationships/hyperlink" Target="https://arena.ai/leaderboard/model/claude-sonnet-4-6" TargetMode="External"/><Relationship Id="rId35" Type="http://schemas.openxmlformats.org/officeDocument/2006/relationships/hyperlink" Target="https://arena.ai/leaderboard/model/gemini-3.6-flash-high" TargetMode="External"/><Relationship Id="rId8" Type="http://schemas.openxmlformats.org/officeDocument/2006/relationships/hyperlink" Target="https://arena.ai/leaderboard/model/claude-opus-4-7-high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tificialanalysis.ai/evaluations/artificial-analysis-intelligence-index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lphasignal.ai/email/1b36e75b14af56e6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www.anthropic.com/engineering/redesigning-source-contro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meta.ai/blog/muse-wonder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png"/><Relationship Id="rId5" Type="http://schemas.openxmlformats.org/officeDocument/2006/relationships/hyperlink" Target="https://research.meta.ai/blog/muse-spark-open" TargetMode="Externa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hyperlink" Target="https://aws.amazon.com/about-aws/whats-new/2026/10/amazon-bedrock-glm-5-3/" TargetMode="External"/><Relationship Id="rId7" Type="http://schemas.openxmlformats.org/officeDocument/2006/relationships/hyperlink" Target="https://huggingface.co/Qwen/Qwen-Image-2.1-Turbo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github.com/QwenLM/Qwen-Image-2.1" TargetMode="External"/><Relationship Id="rId5" Type="http://schemas.openxmlformats.org/officeDocument/2006/relationships/image" Target="../media/image9.png"/><Relationship Id="rId4" Type="http://schemas.openxmlformats.org/officeDocument/2006/relationships/hyperlink" Target="https://aws.amazon.com/blogs/machine-learning/introducing-glm-5-3-on-amazon-bedrock/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getartcraft.com" TargetMode="External"/><Relationship Id="rId7" Type="http://schemas.openxmlformats.org/officeDocument/2006/relationships/hyperlink" Target="https://www.youtube.com/watch?v=wajoP_5Cpw8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github.com/morluto/rea" TargetMode="External"/><Relationship Id="rId5" Type="http://schemas.openxmlformats.org/officeDocument/2006/relationships/hyperlink" Target="https://www.linkedin.com/in/possibilistic/" TargetMode="External"/><Relationship Id="rId4" Type="http://schemas.openxmlformats.org/officeDocument/2006/relationships/hyperlink" Target="https://github.com/storytold" TargetMode="External"/><Relationship Id="rId9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9NQTYUP6k0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aXgmGPZUO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hyperlink" Target="https://www.youtube.com/watch?v=ApsNLVLRvu0" TargetMode="Externa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www.youtube.com/@lev-selector/videos" TargetMode="External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blog.cloudflare.com/deno-joins-cloudflare/" TargetMode="External"/><Relationship Id="rId3" Type="http://schemas.openxmlformats.org/officeDocument/2006/relationships/hyperlink" Target="https://docs.deno.com/runtime/" TargetMode="External"/><Relationship Id="rId7" Type="http://schemas.openxmlformats.org/officeDocument/2006/relationships/hyperlink" Target="https://blog.cloudflare.com/workerd-open-source-workers-runtime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github.com/cloudflare/workerd" TargetMode="External"/><Relationship Id="rId11" Type="http://schemas.openxmlformats.org/officeDocument/2006/relationships/image" Target="../media/image20.png"/><Relationship Id="rId5" Type="http://schemas.openxmlformats.org/officeDocument/2006/relationships/hyperlink" Target="https://github.com/denoland/celld" TargetMode="External"/><Relationship Id="rId10" Type="http://schemas.openxmlformats.org/officeDocument/2006/relationships/image" Target="../media/image19.jpeg"/><Relationship Id="rId4" Type="http://schemas.openxmlformats.org/officeDocument/2006/relationships/hyperlink" Target="https://celld.dev" TargetMode="External"/><Relationship Id="rId9" Type="http://schemas.openxmlformats.org/officeDocument/2006/relationships/hyperlink" Target="https://deno.com/blog/cloudflare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hyperlink" Target="https://support.claude.com/en/articles/17454997-get-started-with-claude-motion" TargetMode="External"/><Relationship Id="rId7" Type="http://schemas.openxmlformats.org/officeDocument/2006/relationships/hyperlink" Target="https://huggingface.co/allenai/AstaBrief_8B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huggingface.co/blog/allenai/astabrief" TargetMode="External"/><Relationship Id="rId5" Type="http://schemas.openxmlformats.org/officeDocument/2006/relationships/image" Target="../media/image21.png"/><Relationship Id="rId4" Type="http://schemas.openxmlformats.org/officeDocument/2006/relationships/hyperlink" Target="https://claude.com/resources/articles/dashboards-and-motion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turbopuffer.com" TargetMode="External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youtube.com/watch?v=YLkSfz3EFGw" TargetMode="External"/><Relationship Id="rId5" Type="http://schemas.openxmlformats.org/officeDocument/2006/relationships/hyperlink" Target="https://turbopuffer.com/v3" TargetMode="External"/><Relationship Id="rId4" Type="http://schemas.openxmlformats.org/officeDocument/2006/relationships/hyperlink" Target="https://turbopuffer.com/blog/rip-vector-database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testingcatalog/status/2108246975883751665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.jpeg"/><Relationship Id="rId5" Type="http://schemas.openxmlformats.org/officeDocument/2006/relationships/hyperlink" Target="https://odyssey.systems/meet-odyssey-3" TargetMode="External"/><Relationship Id="rId4" Type="http://schemas.openxmlformats.org/officeDocument/2006/relationships/hyperlink" Target="https://odyssey.systems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hyperlink" Target="https://www.stepfun.com/step-5-preview" TargetMode="External"/><Relationship Id="rId7" Type="http://schemas.openxmlformats.org/officeDocument/2006/relationships/hyperlink" Target="https://laminar.sh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laminar.sh/blog/flow-1" TargetMode="External"/><Relationship Id="rId5" Type="http://schemas.openxmlformats.org/officeDocument/2006/relationships/hyperlink" Target="https://www.youtube.com/watch?v=bqS3oZQgAhg" TargetMode="External"/><Relationship Id="rId4" Type="http://schemas.openxmlformats.org/officeDocument/2006/relationships/hyperlink" Target="https://openrouter.ai/stepfun/step-5-preview" TargetMode="External"/><Relationship Id="rId9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609.33848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hyperlink" Target="https://bfl.ai/models/flux-3-image" TargetMode="External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5" Type="http://schemas.openxmlformats.org/officeDocument/2006/relationships/hyperlink" Target="https://links.tldrnewsletter.com/jzR1OT/1/010001a11bcb0cee-9ff72ec9-51ce-4456-9da7-54a384371a80-000000/KMPLg6QPwYc4tenSvqLS20N1U8oP0eU9p1-AUH0fidQ=452" TargetMode="External"/><Relationship Id="rId4" Type="http://schemas.openxmlformats.org/officeDocument/2006/relationships/hyperlink" Target="https://news.microsoft.com/maia-2026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tent.space/p/claude-dynamic-workflows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2.png"/><Relationship Id="rId5" Type="http://schemas.openxmlformats.org/officeDocument/2006/relationships/image" Target="../media/image31.jpeg"/><Relationship Id="rId4" Type="http://schemas.openxmlformats.org/officeDocument/2006/relationships/hyperlink" Target="https://thenextweb.com/news/grok-bot-claude-opus-midjourney-suno-musk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hyperlink" Target="https://modal.com" TargetMode="External"/><Relationship Id="rId7" Type="http://schemas.openxmlformats.org/officeDocument/2006/relationships/hyperlink" Target="https://www.liquid.ai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huggingface.co/fishaudio/drama-3" TargetMode="External"/><Relationship Id="rId5" Type="http://schemas.openxmlformats.org/officeDocument/2006/relationships/hyperlink" Target="https://fish.audio/blog/fish-audio-drama-3/" TargetMode="External"/><Relationship Id="rId10" Type="http://schemas.openxmlformats.org/officeDocument/2006/relationships/image" Target="../media/image35.png"/><Relationship Id="rId4" Type="http://schemas.openxmlformats.org/officeDocument/2006/relationships/hyperlink" Target="https://www.eesel.ai/blog/fish-audio-drama-3" TargetMode="External"/><Relationship Id="rId9" Type="http://schemas.openxmlformats.org/officeDocument/2006/relationships/image" Target="../media/image3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x.ai/news/grok-voice-3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7.jpeg"/><Relationship Id="rId5" Type="http://schemas.openxmlformats.org/officeDocument/2006/relationships/image" Target="../media/image36.png"/><Relationship Id="rId4" Type="http://schemas.openxmlformats.org/officeDocument/2006/relationships/hyperlink" Target="https://www.cnbc.com/2026/10/13/character-ai-chapter-11-disney-bid.html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hyperlink" Target="https://www.perplexity.ai/hub/blog/open-sourcing-space" TargetMode="External"/><Relationship Id="rId7" Type="http://schemas.openxmlformats.org/officeDocument/2006/relationships/image" Target="../media/image3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research.google/blog/analyzing-technical-documents-with-deep-review/" TargetMode="External"/><Relationship Id="rId5" Type="http://schemas.openxmlformats.org/officeDocument/2006/relationships/hyperlink" Target="https://www.cnbc.com/2026/10/13/jpmorgan-ai-agents-account-access.html" TargetMode="External"/><Relationship Id="rId4" Type="http://schemas.openxmlformats.org/officeDocument/2006/relationships/hyperlink" Target="https://github.com/perplexityai/SPACE" TargetMode="External"/><Relationship Id="rId9" Type="http://schemas.openxmlformats.org/officeDocument/2006/relationships/image" Target="../media/image40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layoffs.fyi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hyperlink" Target="https://trueup.io/layoffs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fred.stlouisfed.org/series/IHLIDXUSTPSOFTDEVE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www.dice.com/hiring/recruitment/reports/dice-tech-job-report" TargetMode="External"/><Relationship Id="rId4" Type="http://schemas.openxmlformats.org/officeDocument/2006/relationships/hyperlink" Target="https://hiringlab.indeed.com/2026/07/08/ai-and-job-postings-from-destruction-to-creation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eais.ai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lev-selector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drive.google.com/drive/folders/1dmj00iilSP-JYmriMUUaHCKz5X54e3UX?ths=true" TargetMode="External"/><Relationship Id="rId4" Type="http://schemas.openxmlformats.org/officeDocument/2006/relationships/hyperlink" Target="https://github.com/lselector/semina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6576" y="-27432"/>
            <a:ext cx="2896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 - Oct 16, 2026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811276" y="88950"/>
            <a:ext cx="42345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replaces Git with Scion</a:t>
            </a:r>
            <a:endParaRPr sz="18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after Claude passes 30K merges a day</a:t>
            </a:r>
            <a:endParaRPr sz="18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35015" y="577775"/>
            <a:ext cx="3458100" cy="2173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Crowd-sourced LM Arena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Anthropic Replaces Git With Scion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Meta Muse Wonder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Meta Muse Spark Open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GLM-5.3 on Amazon Bedrock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Qwen Image 2.1 Turbo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ArtCraft and AI Reverse Engineering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Claude Code: Less Micromanagement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Local AI vs Cloud: True Costs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35015" y="2818055"/>
            <a:ext cx="3458100" cy="2173500"/>
          </a:xfrm>
          <a:prstGeom prst="rect">
            <a:avLst/>
          </a:prstGeom>
          <a:solidFill>
            <a:srgbClr val="E2F0D9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MS Windows Hybrid AI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Decision Models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Deno Joins Cloudflare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Claude Motion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AstaBrief 8B Science Reports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TurboPuffer - RIP Vectors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Odyssey 3: Interactive AI Worlds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Step 5 Preview for Coding Agents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Laminar Flow-1: Detecting Agent Failures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Alibaba QwenGyre - Long-Horizon Agent RL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655107" y="1021325"/>
            <a:ext cx="3408000" cy="1742400"/>
          </a:xfrm>
          <a:prstGeom prst="rect">
            <a:avLst/>
          </a:prstGeom>
          <a:solidFill>
            <a:srgbClr val="DEEBF7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FLUX 3 Image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Microsoft Maia 300 Chip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GPT-6 becomes the ChatGPT default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Claude Managed Agents - 1,000 agents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Grok Bot Routes to Rival Models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Modal raises $750M at $15.75B Valuation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Fish Audio Drama 3 Open TTS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Liquid AI LFM2.5-24B-A2B LLM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655107" y="2820657"/>
            <a:ext cx="3408000" cy="1527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Character.AI files for Chapter 11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Grok Voice 3.0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Perplexity SPACE Agent Sandbox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JPMorgan Blocks Outside AI Agents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Google Deep Review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Jobs &amp; Layoffs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Tech Hiring &amp; Skills</a:t>
            </a:r>
            <a:endParaRPr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4100" y="3242450"/>
            <a:ext cx="1930824" cy="151421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4100" y="2072585"/>
            <a:ext cx="1930826" cy="108312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53875" y="909650"/>
            <a:ext cx="1930826" cy="1086077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/>
        </p:nvSpPr>
        <p:spPr>
          <a:xfrm>
            <a:off x="6736325" y="52350"/>
            <a:ext cx="23562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https://en.wikipedia.org/wiki/Elo_rating_system</a:t>
            </a:r>
            <a:r>
              <a:rPr lang="en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8150" y="2125"/>
            <a:ext cx="25998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"LM Arena" Leaderboard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52418" y="476072"/>
            <a:ext cx="25998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English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https://lmarena.ai/leaderboard/text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726905" y="476078"/>
            <a:ext cx="28395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Coding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https://lmarena.ai/leaderboard/text/coding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3437903" y="63625"/>
            <a:ext cx="1408200" cy="17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Data for Oct 15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2" name="Google Shape;72;p14"/>
          <p:cNvGraphicFramePr/>
          <p:nvPr/>
        </p:nvGraphicFramePr>
        <p:xfrm>
          <a:off x="5742420" y="4300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{076A2CB5-A769-4B20-8780-5926AF7204C9}</a:tableStyleId>
              </a:tblPr>
              <a:tblGrid>
                <a:gridCol w="21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3" name="Google Shape;73;p14"/>
          <p:cNvSpPr txBox="1"/>
          <p:nvPr/>
        </p:nvSpPr>
        <p:spPr>
          <a:xfrm>
            <a:off x="6838390" y="485738"/>
            <a:ext cx="2152500" cy="2327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Fable-5 - 6TB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Opus-4.8 - 5TB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Sonnet-4.5 - 1TB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Sonnet-5 - ?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GLM-5.3 - 744B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Meta muse-spark - 16 x 70B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Qwen3.7-max-preview - 745B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Qwen3.8-max - 2.4TB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Baidu Ernie-5.1 - 800B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Deepseek-v4 - 1.6T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Deepseek-v4.1-Flash - 552B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Kimi-k3 - 2.8T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Xiaomi MiMo-V2.5-Pro - 1T+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ByteDance 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dola-seed-2.0-pro 400B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Minimax M3  -  456B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4" name="Google Shape;74;p14"/>
          <p:cNvGraphicFramePr/>
          <p:nvPr/>
        </p:nvGraphicFramePr>
        <p:xfrm>
          <a:off x="3075200" y="7424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{076A2CB5-A769-4B20-8780-5926AF7204C9}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gemini-4-argon-high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claude-fable-5-high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claude-opus-4-7-high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claude-opus-4-6-high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muse-wonder-max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claude-opus-5.5-high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gpt-6-astra-max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gpt-6.1-sol-max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muse-spark-1.2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kimi-k3-max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mimo-v2.6-pro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claude-fable-5.1-max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muse-spark-1.3-max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gpt-5.6-sol-xhigh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claude-opus-4-8-high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claude-opus-5-high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muse-spark-1.1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claude-opus-4-5-20251101-high-32k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/>
                        </a:rPr>
                        <a:t>claude-sonnet-5.5-xhigh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claude-opus-5-max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claude-opus-4-8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claude-sonnet-4-6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graphicFrame>
        <p:nvGraphicFramePr>
          <p:cNvPr id="75" name="Google Shape;75;p14"/>
          <p:cNvGraphicFramePr/>
          <p:nvPr/>
        </p:nvGraphicFramePr>
        <p:xfrm>
          <a:off x="423650" y="7450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{076A2CB5-A769-4B20-8780-5926AF7204C9}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gemini-4-argon-high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muse-wonder-max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claude-opus-5.5-high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claude-fable-5-high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claude-opus-4-6-high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claude-fable-5.1-max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claude-opus-4-7-high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1"/>
                        </a:rPr>
                        <a:t>gemini-3.8-flash-high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muse-spark-1.3-max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muse-spark-1.2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muse-spark-1.1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claude-opus-5-max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claude-opus-5-high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/>
                        </a:rPr>
                        <a:t>gemini-3.7-flash-high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kimi-k3-max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/>
                        </a:rPr>
                        <a:t>gemini-3.1-pro-preview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/>
                        </a:rPr>
                        <a:t>gemini-3-pro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gpt-5.6-sol-xhigh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gpt-6.1-sol-max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5"/>
                        </a:rPr>
                        <a:t>gemini-3.6-flash-high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6"/>
                        </a:rPr>
                        <a:t>qwen3.8-max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claude-opus-4-8-high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/>
        </p:nvSpPr>
        <p:spPr>
          <a:xfrm>
            <a:off x="38150" y="2125"/>
            <a:ext cx="44937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52430" y="355163"/>
            <a:ext cx="44295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https://artificialanalysis.ai/evaluations/artificial-analysis-intelligence-index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5934676" y="1088150"/>
            <a:ext cx="9447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Oct 15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15" descr="auto: aa-index-chart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948" y="1669032"/>
            <a:ext cx="8519105" cy="332853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4" name="Google Shape;84;p15"/>
          <p:cNvSpPr/>
          <p:nvPr/>
        </p:nvSpPr>
        <p:spPr>
          <a:xfrm>
            <a:off x="2831184" y="3383800"/>
            <a:ext cx="233100" cy="383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/>
        </p:nvSpPr>
        <p:spPr>
          <a:xfrm>
            <a:off x="36572" y="-27425"/>
            <a:ext cx="441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Anthropic Scion Replaces Git 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36575" y="520163"/>
            <a:ext cx="4892100" cy="288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replaces Git with Scion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after Claude passes 30K merges a day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Git could not keep up with the speed of AI work done by Claude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Daily merges grew from about 2.5K in May to over 30K in Sept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 team of seven built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Scion - a server-centric version control system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Plus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Antique - an AI-assisted code review tool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CPU and memory use fell x200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Speed improved (from mins to secs)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Git: Client: “I want E; I have C.” Server determines the objects needed and constructs a custom transfer pack - then sends it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Scion: Client discovers E’s trees and checks its local object store. Client requests specific missing objects from caches. Cache streams the requested objects in ready-to-user format. No packing needed.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main gains come from using cached objects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https://alphasignal.ai/email/1b36e75b14af56e6</a:t>
            </a:r>
            <a:r>
              <a:rPr lang="en" sz="9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https://www.anthropic.com/engineering/redesigning-source-control</a:t>
            </a:r>
            <a:r>
              <a:rPr lang="en" sz="9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0700" y="3622850"/>
            <a:ext cx="1947975" cy="13682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91674" y="152400"/>
            <a:ext cx="3966885" cy="483870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91400" y="411200"/>
            <a:ext cx="4867500" cy="1819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Meta releases Muse Wonder, its first frontier-class models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Two models: Muse Wonder and Muse Wonder Full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Wonder Full scores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56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on the Artificial Analysis Index,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second only to Claude Opus 5.5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Beats Opus 5.5 and GPT-6 Astra at legal work, long coding and memory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Active Memory keeps context across days, weeks and months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Leaked pricing: $4 input, $20 output per 1M tokens, 1M context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Closed weights;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Wonder Full only on Muse Code plans at $50 or $200 a month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https://research.meta.ai/blog/muse-wonder</a:t>
            </a:r>
            <a:r>
              <a:rPr lang="en" sz="9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26" y="411200"/>
            <a:ext cx="2904586" cy="1634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0" name="Google Shape;100;p17"/>
          <p:cNvSpPr txBox="1"/>
          <p:nvPr/>
        </p:nvSpPr>
        <p:spPr>
          <a:xfrm>
            <a:off x="98100" y="2346310"/>
            <a:ext cx="5193000" cy="1819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Meta releases Muse Spark Open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816B open-weight model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Best Western open model so far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Multimodal MoE: 816B total, 42B active, 1M-token context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Built for coding and long-horizon agents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Runs locally on two M5 Ultra Mac Studios over Apple's MLX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Scores 39 on the AA Intelligence Index (Meta's closed Muse Wonder scores 52)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Compare: GLM 5.3 (45), Kimi K3 (44) and Qwen3.8 (40)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License: model-serving firms over $20M revenue need a separate deal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https://research.meta.ai/blog/muse-spark-open</a:t>
            </a:r>
            <a:r>
              <a:rPr lang="en" sz="9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24" y="2137125"/>
            <a:ext cx="2904574" cy="252674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140620" y="438614"/>
            <a:ext cx="4656600" cy="158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GLM-5.3 on Amazon Bedrock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https://aws.amazon.com/about-aws/whats-new/2026/10/amazon-bedrock-glm-5-3/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open-weight, complex coding, repository-scale engineering, and autonomous agents performing extended, multi-step tasks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1M/128K in/out tokens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calling, adjustable reasoning effort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OpenAI-compatible and native AWS APIs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https://aws.amazon.com/blogs/machine-learning/introducing-glm-5-3-on-amazon-bedrock/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 or global cross-Region inference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9345" y="615041"/>
            <a:ext cx="2435000" cy="12175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9" name="Google Shape;109;p18"/>
          <p:cNvSpPr txBox="1"/>
          <p:nvPr/>
        </p:nvSpPr>
        <p:spPr>
          <a:xfrm>
            <a:off x="140620" y="2253819"/>
            <a:ext cx="46566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Qwen Image 2.1 Turbo - text-to-image + editing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https://github.com/QwenLM/Qwen-Image-2.1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7B params, 8 denoising steps, open-weight research license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https://huggingface.co/Qwen/Qwen-Image-2.1-Turbo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Developers can download weights from Hugging Face, run locally using Diffusers, or access hosted Turbo APIs through Alibaba Cloud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9345" y="2253812"/>
            <a:ext cx="1497705" cy="1126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104000" y="377675"/>
            <a:ext cx="4215000" cy="3297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ArtCraft and AI Reverse Engineering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Developer Brandon Thomas released ArtCraft - a set of 7 free, open-source Adobe alternatives built with Rust and Claude for Windows, macOS, and Linux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https://getartcraft.com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https://github.com/storytold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https://www.linkedin.com/in/possibilistic/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Brandon's Linkedin - Atlanta, Georgia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describes these as clean-room re-implementations, not reconstructed Adobe source code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Fireship's tests conclude that it is not a production-ready Adobe replacement yet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Reverse Engineer Anything (REA)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connects AI agents with binary-inspection tools such as Ghidra, helping developers analyze behavior and guide custom implementations -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https://github.com/morluto/rea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achievement is faster, accessible software experimentation - not making every proprietary application open source or rendering Adobe obsolete overnight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https://www.youtube.com/watch?v=wajoP_5Cpw8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-video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4" y="1584850"/>
            <a:ext cx="3429321" cy="343560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8" name="Google Shape;118;p19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85725"/>
            <a:ext cx="1400175" cy="14001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91400" y="619829"/>
            <a:ext cx="4417200" cy="3112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Code: Less Micromanagement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Boris Cherny 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January - planning advice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today - favoring autonomous execution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tasks, guardrails, and completion criteria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 results instead of prescribing every step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recommended effort settings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executable checks that prove success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continuation loops to fix failures without repeated “continue”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CLAUDE.md concise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skills from observed mistakes,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compare performance with and without them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Enforce critical restrictions through hooks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 subagents and automate recurring workflows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central achievement is reduced supervision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while retaining verifiable outputs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https://www.youtube.com/watch?v=J9NQTYUP6k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0</a:t>
            </a:r>
            <a:r>
              <a:rPr lang="en" sz="9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20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86975" y="672746"/>
            <a:ext cx="2200150" cy="2522377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/>
        </p:nvSpPr>
        <p:spPr>
          <a:xfrm>
            <a:off x="36575" y="-27425"/>
            <a:ext cx="4392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Local AI More Expensive Than Claude?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91400" y="377425"/>
            <a:ext cx="4337700" cy="149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Local AI vs Cloud: True Costs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Haiku 5.5 $0.50 per 1M output tokens, plus input charges.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with using local NVIDIA RTX 4090 - $0.47–$0.50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amortization makes lightly used GPUs substantially more expensive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Speed, quality, and context length also matter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providers use parallel batching - it dramatically lowers costs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https://www.youtube.com/watch?v=yaXgmGPZUOg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21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9625" y="184937"/>
            <a:ext cx="3152774" cy="188107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3" name="Google Shape;133;p21"/>
          <p:cNvSpPr txBox="1"/>
          <p:nvPr/>
        </p:nvSpPr>
        <p:spPr>
          <a:xfrm>
            <a:off x="91400" y="2396725"/>
            <a:ext cx="45948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MS Windows Hybrid AI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Microsoft’s Satya Nadella and Nvidia’s Jensen Huang outlined Windows “hybrid intelligence.”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Windows would route AI tasks between local hardware and cloud models, addressing agent costs, privacy, latency, and offline access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Copilot would gain permission-based file access, local models, and PC actions; execution containers and separate agent identities would constrain access and enable monitoring.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Claimed advances include Nvidia RTX Spark hardware, Surface Laptop Ultra, compressed coding models, and Microsoft Decision 1, reportedly 35 times faster than GPT6.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significance is a shift toward agent-operated PCs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https://www.youtube.com/watch?v=ApsNLVLRvu0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8600" y="2449851"/>
            <a:ext cx="4153000" cy="231324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/>
        </p:nvSpPr>
        <p:spPr>
          <a:xfrm>
            <a:off x="36575" y="-27425"/>
            <a:ext cx="21351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Decision Models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" name="Google Shape;140;p22"/>
          <p:cNvGraphicFramePr/>
          <p:nvPr/>
        </p:nvGraphicFramePr>
        <p:xfrm>
          <a:off x="447700" y="17811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{076A2CB5-A769-4B20-8780-5926AF7204C9}</a:tableStyleId>
              </a:tblPr>
              <a:tblGrid>
                <a:gridCol w="167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39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7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7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9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</a:t>
                      </a:r>
                      <a:endParaRPr sz="9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in-tokens</a:t>
                      </a:r>
                      <a:endParaRPr sz="9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Based on</a:t>
                      </a:r>
                      <a:endParaRPr sz="9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params</a:t>
                      </a:r>
                      <a:endParaRPr sz="9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tunable</a:t>
                      </a:r>
                      <a:endParaRPr sz="9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Laya — English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0.5K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ModernBERT-large with decision heads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421M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Laya — multilingual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8K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mmBERT-base with decision heads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322M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Laya — typed-decisions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1K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ModernBERT-large, further trained for typed decisions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421M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Kev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64K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Qwen3.5 / Qwen3.8 family, depending on checkpoint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0.8B / 4B / 9B / 27B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SemIf — formerly OpenJev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Frozen open LLMs; extracts option probabilities from logits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CLM-v0.1-8B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2K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Frozen Qwen3-8B with state/action projection heads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8B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8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Von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8K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ModernBERT-large with decision scoring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395M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NanoJev — TianyuCodings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Qwen3-0.6B with decision heads and dynamic candidate scoring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0.6B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7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Verdict — Daniel Ramos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16K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Qwen3.5-0.8B-Base with LoRA and bilinear/MLP decision heads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0.8B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8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Liquid d1-3B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32K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LFM2.5-VL-3B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3.1B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8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Cloudflare Clef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64K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Fine-tuned Qwen with joint decision head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27B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8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Cloudflare Clef-Flash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24K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Fine-tuned Qwen with joint decision head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9B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18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Cloudflare Clef-Omni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Multimodal Qwen-family model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30B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18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TypeSafe Jev</a:t>
                      </a:r>
                      <a:endParaRPr sz="900" b="1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900" b="1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64K</a:t>
                      </a:r>
                      <a:endParaRPr sz="900" b="1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Proprietary; backbone undisclosed</a:t>
                      </a:r>
                      <a:endParaRPr sz="900" b="1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b="1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900" b="1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18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 Decisions API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GPT-6 Luna variant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7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Liquid d1 — hosted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64K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Hosted Liquid decision model; exact backbone undisclosed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18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Microsoft-Decision-1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32K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Post-trained Qwen3.5-9B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9B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>
                    <a:lnL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412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141" name="Google Shape;141;p22"/>
          <p:cNvSpPr txBox="1"/>
          <p:nvPr/>
        </p:nvSpPr>
        <p:spPr>
          <a:xfrm>
            <a:off x="447700" y="483275"/>
            <a:ext cx="31758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Decision Models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Mostly very short input context window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are not tunable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Fast, but accuracy may be limited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22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50100" y="30600"/>
            <a:ext cx="2582799" cy="16633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/>
        </p:nvSpPr>
        <p:spPr>
          <a:xfrm>
            <a:off x="36576" y="-27432"/>
            <a:ext cx="3517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Weekly videos every Friday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23" descr="auto: youtube-videos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9500" y="911820"/>
            <a:ext cx="2461825" cy="284667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9" name="Google Shape;149;p23" descr="auto: youtube-shorts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10227" y="2703305"/>
            <a:ext cx="2133622" cy="223725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0" name="Google Shape;150;p23"/>
          <p:cNvSpPr txBox="1"/>
          <p:nvPr/>
        </p:nvSpPr>
        <p:spPr>
          <a:xfrm>
            <a:off x="102375" y="725485"/>
            <a:ext cx="4161900" cy="418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Weekly videos every Friday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7.63K subscribers, 366 videos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Subscribe to this channel </a:t>
            </a:r>
            <a:r>
              <a:rPr lang="en" sz="1800" b="1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https://www.youtube.com/@lev-selector</a:t>
            </a:r>
            <a:r>
              <a:rPr lang="en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Download slides from GitHub using links under the videos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 Please pause the video - and answer the pinned question in comments under the video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98925" y="338150"/>
            <a:ext cx="5267100" cy="4497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Deno Joins Cloudflare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Deno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an open-source runtime for running JavaScript, TypeScript, and WebAssembly outside the browser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https://docs.deno.com/runtime/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Cloudflare acquires Deno's team and their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celld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technology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Cloudflare is not interested in Deno itself - Deno maintenance will discontinue in 1 year, its code remains open source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team will merge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celld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workerd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celld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an open-source system for running and coordinating Workers-compatible applications and persistent Durable Objects across your own servers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https://celld.dev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https://github.com/denoland/celld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workerd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Cloudflare’s open-source runtime for executing Workers applications on your own infrastructure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https://github.com/cloudflare/workerd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https://blog.cloudflare.com/workerd-open-source-workers-runtime/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is a foundation for AI-agent infrastructure: it makes it easier to host many persistent, stateful agent sessions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Deno’s announcement explicitly identifies Durable Objects as useful for agent harnesses because they combine serverless execution, persistent state, WebSockets, and a JavaScript interface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Durable Object per agent session, task, or user. Each object is an individually addressable, single-threaded execution unit with its own SQLite database; the platform handles distributing objects across machines.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https://blog.cloudflare.com/deno-joins-cloudflare/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https://deno.com/blog/cloudflare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24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1721" y="785547"/>
            <a:ext cx="3410430" cy="1786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8" name="Google Shape;158;p24"/>
          <p:cNvPicPr preferRelativeResize="0"/>
          <p:nvPr/>
        </p:nvPicPr>
        <p:blipFill rotWithShape="1"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05263" y="2683050"/>
            <a:ext cx="1743349" cy="64292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153225" y="389800"/>
            <a:ext cx="4332300" cy="1957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Motion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Beta for Team and Enterprise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Turns supplied content and data into editable, code-based animated explainers, charts, product walkthroughs, and presentation visuals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Available inside Claude, with editing through conversation or an editor and export to MP4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describe their goals and ask Claude to generate and revise text, numbers, graphics, and timing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https://support.claude.com/en/articles/17454997-get-started-with-claude-motion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https://claude.com/resources/articles/dashboards-and-motion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25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8250" y="123150"/>
            <a:ext cx="4428621" cy="24910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6" name="Google Shape;166;p25"/>
          <p:cNvSpPr txBox="1"/>
          <p:nvPr/>
        </p:nvSpPr>
        <p:spPr>
          <a:xfrm>
            <a:off x="153225" y="2438425"/>
            <a:ext cx="4332300" cy="2188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AstaBrief 8B - Generates Science Reports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Ai2, the Allen Institute for AI, released AstaBrief 8B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Hugging Face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https://huggingface.co/blog/allenai/astabrief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on Qwen3-8B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turns questions and supplied scientific excerpts into cited reports; the model itself does not search online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https://huggingface.co/allenai/AstaBrief_8B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Asta’s Fast pipeline averages 51.1 seconds, approximately 3.5 times faster than Thinking mode.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precision and citation recall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weights and training data enable local deployment, customization, and greater privacy for sensitive research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25"/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7925" y="2766650"/>
            <a:ext cx="3525009" cy="1957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153225" y="389800"/>
            <a:ext cx="4718400" cy="3343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TurboPuffer - RIP Vectors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turbopuffer is a managed search AI - </a:t>
            </a:r>
            <a:r>
              <a:rPr lang="en" sz="1200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https://turbopuffer.com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v3 redesign: document IDs replace vectors as primary storage keys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https://turbopuffer.com/blog/rip-vector-database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https://turbopuffer.com/v3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Serving AI applications including Cursor, Notion, and Anthropic, the company illustrates a shift: vector search becomes one tool, not the architecture’s center.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alternatives emerge: iterative agent search, live MCP connectors, and precompiled knowledge files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Agents are the best for complex questions, but higher costs and latency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Compiled wikis also show substantial overhead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 search handles enterprise identifiers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Vectors help recover fuzzy meaning.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Choose retrieval by question complexity, permissions, latency, and budget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Simple, high-volume lookups still justify conventional RAG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https://www.youtube.com/watch?v=YLkSfz3EFGw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26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4025" y="721150"/>
            <a:ext cx="3967575" cy="226171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153225" y="389800"/>
            <a:ext cx="4718400" cy="2973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Odyssey 3: Interactive AI Worlds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Odyssey, a California AI company, launched Odyssey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public research preview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generates explorable worlds from prompts, responding continuously to movement and events.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Learned physics helps address the challenge of predicting how environments change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Potentially supporting robot control and AI-agent training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Odyssey 3 Pro reported 66.1 on Physics-IQ Verified using best-of-eight sampling; this is not its standard score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https://x.com/testingcatalog/status/2108246975883751665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Demonstrations include robot arms and driving in India, requiring additional control policies rather than the model alone.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Interactive simulation could expand training and creative applications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https://odyssey.systems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https://odyssey.systems/meet-odyssey-3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27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6375" y="760875"/>
            <a:ext cx="3967574" cy="223176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8"/>
          <p:cNvSpPr txBox="1"/>
          <p:nvPr/>
        </p:nvSpPr>
        <p:spPr>
          <a:xfrm>
            <a:off x="153225" y="389800"/>
            <a:ext cx="4075800" cy="1911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Step 5 Preview for Coding Agents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StepFun released Step 5 Preview f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coding agents and professional workflows, including finance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600 Bln params, MoE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text, images, video, tool calling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1M tokens input context window, 64K output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Agents can inspect projects, edit files, run tests, and iterate.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Available through OpenRouter and existing coding tools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https://www.stepfun.com/step-5-preview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https://openrouter.ai/stepfun/step-5-preview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https://www.youtube.com/watch?v=bqS3oZQgAhg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153225" y="2392225"/>
            <a:ext cx="4075800" cy="158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Laminar Flow-1: Detecting Agent Failures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Laminar launched flow-1 inside its Signals platform to investigate AI agent execution traces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Reinforcement-learning-trained flow-1 searches trace steps and returns structured explanations of errors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Affordable continuous monitoring helps businesses verify automation rather than trust completion claims.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https://laminar.sh/blog/flow-1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https://laminar.sh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8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0502" y="389800"/>
            <a:ext cx="2671348" cy="1911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0" name="Google Shape;190;p28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0499" y="2445925"/>
            <a:ext cx="2723175" cy="17725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153225" y="389800"/>
            <a:ext cx="43578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Alibaba QwenGyre - Long-Horizon Agent RL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training framework, not a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Running on multi-node GPU clusters, it trains coding agents through unmodified harnesses on tasks lasting hours, with approximately 700,000 tokens per rollout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Dynamically moves GPUs between execution and training, then reconstructs, scores, and deduplicates histories into bounded training samples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Qwen 3.8 2.4T, NL2RepoBench success increased from 52.5% to 58.5% in 48 steps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accelerated up to 1.85x, making lengthy repository-building agent training more computationally efficient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https://arxiv.org/abs/2609.33848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2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0725" y="466075"/>
            <a:ext cx="3022602" cy="226695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0"/>
          <p:cNvSpPr txBox="1"/>
          <p:nvPr/>
        </p:nvSpPr>
        <p:spPr>
          <a:xfrm>
            <a:off x="98400" y="378350"/>
            <a:ext cx="4345200" cy="1449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Black Forest Labs releases FLUX 3 Image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New image model with pixel-perfect editing over many turns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Bounding boxes control where things go in the picture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Generates natively at up to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4K</a:t>
            </a:r>
            <a:endParaRPr sz="1200"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Combines up to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reference images in one picture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Accurate typography for text in images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Commercial weights available now; open weights come next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https://bfl.ai/models/flux-3-image</a:t>
            </a:r>
            <a:r>
              <a:rPr lang="en" sz="9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0"/>
          <p:cNvSpPr txBox="1"/>
          <p:nvPr/>
        </p:nvSpPr>
        <p:spPr>
          <a:xfrm>
            <a:off x="98400" y="1940475"/>
            <a:ext cx="4345200" cy="1280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97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Microsoft unveils Maia 300, its third in-house AI chip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3rd generation of Microsoft's AI accelerator, built for inference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Claims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40%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more tokens per megawatt than leading GPU systems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Large-scale deployment starts in 2027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Goal: depend less on NVIDIA and AMD chips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Joins Google TPUs and Amazon Trainium in the custom-chip race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https://news.microsoft.com/maia-2026/</a:t>
            </a:r>
            <a:r>
              <a:rPr lang="en" sz="9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0"/>
          <p:cNvSpPr txBox="1"/>
          <p:nvPr/>
        </p:nvSpPr>
        <p:spPr>
          <a:xfrm>
            <a:off x="97550" y="3328475"/>
            <a:ext cx="4345200" cy="158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GPT-6 becomes the ChatGPT default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GPT-6 Sol for paid tiers, GPT-6 Luna for Free and Go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Reaches ChatGPT's 1.2 Bln weekly users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Answers can include charts, forms, buttons and small tools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 compiler streams native components while the model writes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GPT-6 Instant web-search - answers 44% sooner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GPT-6.1 Sol Ultrafast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: up to 8x faster,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$12 / $60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per 1M tokens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https://links.tldrnewsletter.com/jzR1OT/1/010001a11bcb0cee-9ff72ec9-51ce-4456-9da7-54a384371a80-000000/KMPLg6QPwYc4tenSvqLS20N1U8oP0eU9p1-AUH0fidQ=452</a:t>
            </a:r>
            <a:r>
              <a:rPr lang="en" sz="9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30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533688"/>
            <a:ext cx="3189800" cy="113921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7" name="Google Shape;207;p30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6000" y="1940475"/>
            <a:ext cx="1646617" cy="1280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8" name="Google Shape;208;p30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6000" y="3397775"/>
            <a:ext cx="2761713" cy="14498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1"/>
          <p:cNvSpPr txBox="1"/>
          <p:nvPr/>
        </p:nvSpPr>
        <p:spPr>
          <a:xfrm>
            <a:off x="122710" y="539450"/>
            <a:ext cx="4482600" cy="1449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Managed Agents - 1,000 agents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"Dynamic Workflows"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, in public beta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 lead agent writes a plan, then multiple agents work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Up to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1,000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worker agents per run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Results are merged at the end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No hand-written coordinator or subagent roster needed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Token use is high, the model does not see the spending limit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https://www.latent.space/p/claude-dynamic-workflows</a:t>
            </a:r>
            <a:r>
              <a:rPr lang="en" sz="9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1"/>
          <p:cNvSpPr txBox="1"/>
          <p:nvPr/>
        </p:nvSpPr>
        <p:spPr>
          <a:xfrm>
            <a:off x="122710" y="2301121"/>
            <a:ext cx="4482600" cy="895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Grok Bot will route tasks to Claude, Midjourney and Suno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Grok Bot becomes an orchestrator, not a single-model assistant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Claude Opus 5.5, Midjourney for images, Suno for music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Announced after reports of Grok access problems on mobile and web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https://thenextweb.com/news/grok-bot-claude-opus-midjourney-suno-musk</a:t>
            </a:r>
            <a:r>
              <a:rPr lang="en" sz="9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3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7810" y="2301130"/>
            <a:ext cx="2409568" cy="1485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7" name="Google Shape;217;p31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7810" y="340725"/>
            <a:ext cx="1874395" cy="164862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2"/>
          <p:cNvSpPr txBox="1"/>
          <p:nvPr/>
        </p:nvSpPr>
        <p:spPr>
          <a:xfrm>
            <a:off x="93725" y="326393"/>
            <a:ext cx="4421100" cy="1265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Modal raises $750M at $15.75B Valuation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Modal Labs is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startup founded in 2021 in New York City, with teams in San Francisco and Stockholm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It sells cloud computing for AI inference, model training, Python workloads, and isolated environments for AI agents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ARR is $1B+, Sandboxes alone are a $300M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https://modal.com</a:t>
            </a:r>
            <a:endParaRPr sz="6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2"/>
          <p:cNvSpPr txBox="1"/>
          <p:nvPr/>
        </p:nvSpPr>
        <p:spPr>
          <a:xfrm>
            <a:off x="93725" y="1671662"/>
            <a:ext cx="4421100" cy="1911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Fish Audio Drama 3 - open-weight 35B text-to-speech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83 languages, up to 16 speakers per request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Bracketed stage directions control tone word by word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First audio arrives in approximately 89 milliseconds for a single stream on one NVIDIA H200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It ranks 1st on Artificial Analysis’ Pronunciation Robustness benchmark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at 93.2%, ahead of ElevenLabs, although not necessarily first in overall voice quality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https://www.eesel.ai/blog/fish-audio-drama-3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https://fish.audio/blog/fish-audio-drama-3/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https://huggingface.co/fishaudio/drama-3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2"/>
          <p:cNvSpPr txBox="1"/>
          <p:nvPr/>
        </p:nvSpPr>
        <p:spPr>
          <a:xfrm>
            <a:off x="55625" y="3681064"/>
            <a:ext cx="4459200" cy="1296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97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Liquid AI LFM2.5-24B-A2B LLM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970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300"/>
              <a:buFont typeface="Calibri"/>
              <a:buChar char="●"/>
            </a:pP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24 Bln params, open-weights, for on-device agents</a:t>
            </a:r>
            <a:endParaRPr sz="13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131K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context length; reasoning, tool use</a:t>
            </a:r>
            <a:endParaRPr sz="1200"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Matches or beats Qwen3.6-35B-A3B, and </a:t>
            </a:r>
            <a:r>
              <a:rPr lang="en" sz="1200" b="1">
                <a:solidFill>
                  <a:srgbClr val="3C78D8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1.7x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 faster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Weights on Hugging Face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Liquid AI is a startup in Cambridge, MA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https://www.liquid.ai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32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7215" y="99099"/>
            <a:ext cx="2608685" cy="14649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7" name="Google Shape;227;p32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7225" y="1716475"/>
            <a:ext cx="2996175" cy="16853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8" name="Google Shape;228;p32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7225" y="3554225"/>
            <a:ext cx="2996175" cy="144213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3"/>
          <p:cNvSpPr txBox="1"/>
          <p:nvPr/>
        </p:nvSpPr>
        <p:spPr>
          <a:xfrm>
            <a:off x="174800" y="4111100"/>
            <a:ext cx="4157400" cy="895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Grok Voice 3.0 tops the speech-to-speech index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Ahead of GPT-Live-1 and Gemini 3.8 Live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Sub-second latency, reasoning and tool calls mid-conversation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Already handles about 20K Starlink support calls a day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https://x.ai/news/grok-voice-3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4964625" y="3926300"/>
            <a:ext cx="4042200" cy="1080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Character.AI files for Chapter 11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Character.AI was selling access to AI companions - chatbots with personalities that people could talk to for entertainment, role-playing, storytelling, or simulated companionship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platform could close if no buyer emerges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https://www.cnbc.com/2026/10/13/character-ai-chapter-11-disney-bid.html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33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200" y="1765757"/>
            <a:ext cx="2988600" cy="22414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7" name="Google Shape;237;p33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99462" y="356750"/>
            <a:ext cx="2772533" cy="34670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4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4"/>
          <p:cNvSpPr txBox="1"/>
          <p:nvPr/>
        </p:nvSpPr>
        <p:spPr>
          <a:xfrm>
            <a:off x="197251" y="557300"/>
            <a:ext cx="4134900" cy="1049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97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Perplexity open-sources SPACE, a sandbox for AI agents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Isolates each agent in a virtual machine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Blocks unauthorized access and data leaks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Top models made 118 breakout attempts; none escaped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https://www.perplexity.ai/hub/blog/open-sourcing-space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https://github.com/perplexityai/SPACE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4"/>
          <p:cNvSpPr txBox="1"/>
          <p:nvPr/>
        </p:nvSpPr>
        <p:spPr>
          <a:xfrm>
            <a:off x="154201" y="2020350"/>
            <a:ext cx="4221000" cy="895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JPMorgan blocks outside AI agents from customer accounts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Outside agents may not log in with customer credentials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They cannot move money or pay bills in retail accounts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Read-only data sharing through approved connectors still works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https://www.cnbc.com/2026/10/13/jpmorgan-ai-agents-account-access.html</a:t>
            </a:r>
            <a:r>
              <a:rPr lang="en" sz="9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4"/>
          <p:cNvSpPr txBox="1"/>
          <p:nvPr/>
        </p:nvSpPr>
        <p:spPr>
          <a:xfrm>
            <a:off x="154211" y="3714595"/>
            <a:ext cx="4417800" cy="1080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Deep Review checks technical documents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An agent that gives rigorous feedback and verifies technical claims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Built first for computer science papers, now covers many domains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Takes PDF and plain text; multi-file input is coming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Google expects such tools to help both authors and peer reviewers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https://research.google/blog/analyzing-technical-documents-with-deep-review/</a:t>
            </a:r>
            <a:r>
              <a:rPr lang="en" sz="90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34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7861" y="3348221"/>
            <a:ext cx="2554895" cy="167487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7" name="Google Shape;247;p34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7850" y="298975"/>
            <a:ext cx="2782301" cy="1460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8" name="Google Shape;248;p34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7847" y="2031451"/>
            <a:ext cx="1920394" cy="10805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/>
          <p:nvPr/>
        </p:nvSpPr>
        <p:spPr>
          <a:xfrm>
            <a:off x="83398" y="50600"/>
            <a:ext cx="1923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Jobs and Layoffs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5"/>
          <p:cNvSpPr txBox="1"/>
          <p:nvPr/>
        </p:nvSpPr>
        <p:spPr>
          <a:xfrm>
            <a:off x="2771397" y="19852"/>
            <a:ext cx="18006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0" i="0" u="sng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https://layoffs.fyi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https://trueup.io/layoffs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5"/>
          <p:cNvSpPr txBox="1"/>
          <p:nvPr/>
        </p:nvSpPr>
        <p:spPr>
          <a:xfrm>
            <a:off x="5690525" y="3510625"/>
            <a:ext cx="32868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Tech Layoffs by year (US only):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133.2K in 2026 </a:t>
            </a:r>
            <a:r>
              <a:rPr lang="en" sz="1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(as of Oct 15, 2026)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123K in 2025 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153K in </a:t>
            </a:r>
            <a:r>
              <a:rPr lang="en" sz="1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2024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266K in 2023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165K in 2022                  </a:t>
            </a:r>
            <a:r>
              <a:rPr lang="en" sz="1200" i="0" u="sng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https://layoffs.fyi</a:t>
            </a:r>
            <a:endParaRPr sz="120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5"/>
          <p:cNvSpPr txBox="1"/>
          <p:nvPr/>
        </p:nvSpPr>
        <p:spPr>
          <a:xfrm>
            <a:off x="5690530" y="1158774"/>
            <a:ext cx="32868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The Tech Layoff Tracker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2026: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194,470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(673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2025: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245,953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(674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2024: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238,461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</a:t>
            </a: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laid off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(653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marR="460858" lvl="0" indent="-5715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https://trueup.io/layoffs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35" descr="auto: layoffs-fyi-chart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736" y="3407672"/>
            <a:ext cx="4634459" cy="1548885"/>
          </a:xfrm>
          <a:prstGeom prst="rect">
            <a:avLst/>
          </a:prstGeom>
          <a:noFill/>
          <a:ln w="9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8" name="Google Shape;258;p35" descr="auto: trueup-chart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117" y="569314"/>
            <a:ext cx="4635704" cy="2496148"/>
          </a:xfrm>
          <a:prstGeom prst="rect">
            <a:avLst/>
          </a:prstGeom>
          <a:noFill/>
          <a:ln w="9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/>
        </p:nvSpPr>
        <p:spPr>
          <a:xfrm>
            <a:off x="93825" y="-8374"/>
            <a:ext cx="1382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Tech Hiring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6"/>
          <p:cNvSpPr txBox="1"/>
          <p:nvPr/>
        </p:nvSpPr>
        <p:spPr>
          <a:xfrm>
            <a:off x="84300" y="406525"/>
            <a:ext cx="4487700" cy="1080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Software job postings on Indeed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Comparing to 2020 level, in Feb 2022 it was 234%, in 2025 it was 65%, now it is 77%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All US job postings: 103% (compared with 2020)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Postings that mention AI: 6.7% of all, up from 3.4% a year ago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https://fred.stlouisfed.org/series/IHLIDXUSTPSOFTDEVE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6"/>
          <p:cNvSpPr txBox="1"/>
          <p:nvPr/>
        </p:nvSpPr>
        <p:spPr>
          <a:xfrm>
            <a:off x="84300" y="1779175"/>
            <a:ext cx="4487700" cy="2142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Skills in demand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Dice, 7M+ US tech postings (Aug 2026): +18% year over year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AI and machine learning postings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+101%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year over year, five times the overall rate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Fastest-growing skills, each up 200%+: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responsible AI, AI agents, agentic AI, AI infrastructure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Most requested overall: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communication, computer science, troubleshooting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Indeed: 71% of the software postings rebound (May 2025 to May 2026) is senior roles; 37% has AI in the title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https://hiringlab.indeed.com/2026/07/08/ai-and-job-postings-from-destruction-to-creation/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https://www.dice.com/hiring/recruitment/reports/dice-tech-job-report</a:t>
            </a:r>
            <a:endParaRPr sz="9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6"/>
          <p:cNvSpPr txBox="1"/>
          <p:nvPr/>
        </p:nvSpPr>
        <p:spPr>
          <a:xfrm>
            <a:off x="4876773" y="318025"/>
            <a:ext cx="3942600" cy="4082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 "In Demand" Skills and Qualifications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Critical thinking and problem-solving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Communication and stakeholder management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Adaptability and continuous learning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AI literacy and practical AI adoption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AI/ML application development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Data engineering and data management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Cybersecurity and risk management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Cloud and infrastructure engineering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Software engineering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Automation and workflow optimization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DevOps, CI/CD, and platform engineering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Governance, compliance, and responsible AI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Analytical thinking and data analysis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Product management and business alignment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Project and program management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Leadership and cross-functional collaboration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Creativity and innovation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Resilience and professionalism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Technical troubleshooting and systems thinking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AutoNum type="arabicPeriod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- Business growth and customer focus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7"/>
          <p:cNvSpPr txBox="1"/>
          <p:nvPr/>
        </p:nvSpPr>
        <p:spPr>
          <a:xfrm>
            <a:off x="36576" y="-27432"/>
            <a:ext cx="2441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7"/>
          <p:cNvSpPr txBox="1"/>
          <p:nvPr/>
        </p:nvSpPr>
        <p:spPr>
          <a:xfrm>
            <a:off x="3328426" y="1263400"/>
            <a:ext cx="5322000" cy="29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4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Interests: Generative AI, using LLMs with your data, local AI for local private data, cloud architecture, fin-tech, application security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Find and connect: LinkedIn, GitHub, YouTube, Google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https://eais.ai</a:t>
            </a:r>
            <a:endParaRPr sz="12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3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9304" y="1842571"/>
            <a:ext cx="1572768" cy="157276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8"/>
          <p:cNvSpPr txBox="1"/>
          <p:nvPr/>
        </p:nvSpPr>
        <p:spPr>
          <a:xfrm>
            <a:off x="2666400" y="1358050"/>
            <a:ext cx="3811200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4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8"/>
          <p:cNvSpPr txBox="1"/>
          <p:nvPr/>
        </p:nvSpPr>
        <p:spPr>
          <a:xfrm>
            <a:off x="1590276" y="2242721"/>
            <a:ext cx="70518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Videos of every seminar are on YouTube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https://www.youtube.com/@lev-selector</a:t>
            </a:r>
            <a:endParaRPr sz="12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Slides on GitHub. Click a pptx file, then the download button on the right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https://github.com/lselector/seminar</a:t>
            </a:r>
            <a:endParaRPr sz="12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218186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Slides on Google Drive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https://drive.google.com/drive/folders/1dmj00iilSP-JYmriMUUaHCKz5X54e3UX?ths=true</a:t>
            </a:r>
            <a:endParaRPr sz="1200">
              <a:solidFill>
                <a:srgbClr val="0563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4794</Words>
  <Application>Microsoft Macintosh PowerPoint</Application>
  <PresentationFormat>On-screen Show (16:9)</PresentationFormat>
  <Paragraphs>731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Roboto Mono</vt:lpstr>
      <vt:lpstr>Calibri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 Selector</cp:lastModifiedBy>
  <cp:revision>1</cp:revision>
  <dcterms:modified xsi:type="dcterms:W3CDTF">2026-10-16T16:42:29Z</dcterms:modified>
</cp:coreProperties>
</file>