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embeddedFontLst>
    <p:embeddedFont>
      <p:font typeface="Roboto Mono" pitchFamily="49" charset="0"/>
      <p:regular r:id="rId24"/>
      <p:bold r:id="rId25"/>
      <p:italic r:id="rId26"/>
      <p:boldItalic r:id="rId2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6756846-743A-4DAA-8DD2-9E051B32107E}">
  <a:tblStyle styleId="{96756846-743A-4DAA-8DD2-9E051B32107E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67"/>
  </p:normalViewPr>
  <p:slideViewPr>
    <p:cSldViewPr snapToGrid="0">
      <p:cViewPr varScale="1">
        <p:scale>
          <a:sx n="124" d="100"/>
          <a:sy n="124" d="100"/>
        </p:scale>
        <p:origin x="576" y="17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2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4.fnt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s-toc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s-toc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Contents labels. Kept by g3_update_toc.py.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Claude Haiku 5.5: Anthropic's cheapest, fastest small model =&gt; Claude Haiku 5.5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OpenAI publishes 722 math papers from an internal model =&gt; OpenAI's 722 Math Papers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Reflection AI launches Beam, a 501B open-weight model =&gt; Reflection Beam 501B Open Model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Mistral Large 4: a 1T-parameter open-weight model from Europe =&gt; Mistral Large 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Google launches the Gemini agent for work =&gt; Google Gemini Agent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Decision models become a category: OpenAI, Microsoft, Cloudflare =&gt; Decision Models and Decisions API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OpenAI adds invisible watermarks to ChatGPT text in the EU =&gt; OpenAI textGrain Watermarks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Aleph Alpha releases Kolibri, an English-German open model =&gt; Aleph Alpha Kolibri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English - https://lmarena.ai/leaderboard/text =&gt; Crowd-sourced LM Arena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Coding - https://lmarena.ai/leaderboard/text/coding =&gt; Crowd-sourced LM Arena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Qwen Image 2.1 Turbo - text-to-image + editing =&gt; Qwen Image 2.1 Turbo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AstaBrief 8B - Generates Science Reports =&gt; AstaBrief 8B Science Reports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Tech Layoff Tracker =&gt; Jobs &amp; Layoffs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Tech Layoffs by year (US only): =&gt; Jobs &amp; Layoffs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Top "In Demand" Skills and Qualifications =&gt; Tech Hiring &amp; Skills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Software job postings on Indeed =&gt; Tech Hiring &amp; Skills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Skills in demand =&gt; Tech Hiring &amp; Skills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Anthropic cuts Claude's internet access in all internal evals =&gt; Claude Loses Internet in Evals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Gemini 4 Argon spotted in Google's Antigravity model picker =&gt; Gemini 4 Argon Leak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Epoch: chips shipped through 2027 could run 100M+ AI agents =&gt; Epoch: 100M+ Agents by 2027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Devin adds Memory and Dreaming to learn across sessions =&gt; Devin Memory and Dreaming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Perplexity releases multi-vector multimodal embeddings =&gt; Perplexity Multi-Vector Embeddings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Trump creates a "Super Intelligence Force" task force =&gt; Trump's Super Intelligence Force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Anthropic puts $100M into training 10,000 AI engineers =&gt; Claude Frontier Academy $100M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Meta releases Muse Wonder, its first frontier-class models =&gt; Meta Muse Wonder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Black Forest Labs releases FLUX 3 Image =&gt; FLUX 3 Image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Microsoft unveils Maia 300, its third in-house AI chip =&gt; Microsoft Maia 300 Chip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ArtCraft and AI Reverse Engineering =&gt; ArtCraft and AI Reverse Engineering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GPT-6 becomes the ChatGPT default, with Intelligent UI =&gt; GPT-6 in ChatGPT, Intelligent UI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Claude Managed Agents: dynamic workflows with 1,000 agents =&gt; Claude Swarms of 1,000 Agents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Anthropic replaces Git after Claude passes 30,000 merges a day =&gt; Anthropic Replaces Git with Scion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Anthropic tests AI self-replication on $55 TV boxes =&gt; AI Self-Replication on $55 Boxes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Agentic commerce gets standards and guardrails =&gt; Agentic Commerce Standards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Grok Bot will route tasks to Claude, Midjourney and Suno =&gt; Grok Bot Routes to Rival Models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Anthropic usage policy now bans abusing Claude =&gt; Anthropic Bans Abusing Claude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Anthropic replaces Git after Claude passes 30K merges a day =&gt; Anthropic Replaces Git with Scion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fb585c93bf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2" name="Google Shape;62;g3fb585c93bf_0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3fb585c93bf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5" name="Google Shape;75;g3fb585c93bf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h39f80600482561f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h39f80600482561f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h41046a401975ee05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h41046a401975ee05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h30b578027da58b4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h30b578027da58b4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h30b578027da58b41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" name="Google Shape;112;h30b578027da58b41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h4ab1bd2f3abc2494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h4ab1bd2f3abc2494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s-youtube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s-youtube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s-news-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s-news-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h49c301380494b267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h49c301380494b267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h49c301380494b267_1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h49c301380494b267_1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h30b578027da58b41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h30b578027da58b41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h30b578027da58b4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7" name="Google Shape;167;h30b578027da58b41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h7a6bd8bace3b6771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h7a6bd8bace3b6771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s-meta-releases-muse-wonder-its-91fd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s-meta-releases-muse-wonder-its-91fd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s-gpt-6-becomes-the-chatgpt-6b3d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4" name="Google Shape;194;s-gpt-6-becomes-the-chatgpt-6b3d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s-layoffs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3" name="Google Shape;203;s-layoffs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s-hiring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3" name="Google Shape;213;s-hiring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s-about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1" name="Google Shape;221;s-about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s-thanks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s-thanks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hyperlink" Target="https://arena.ai/leaderboard/model/claude-opus-5.5-high" TargetMode="External"/><Relationship Id="rId18" Type="http://schemas.openxmlformats.org/officeDocument/2006/relationships/hyperlink" Target="https://arena.ai/leaderboard/model/mimo-v2.6-pro" TargetMode="External"/><Relationship Id="rId26" Type="http://schemas.openxmlformats.org/officeDocument/2006/relationships/hyperlink" Target="https://arena.ai/leaderboard/model/claude-opus-5-max" TargetMode="External"/><Relationship Id="rId3" Type="http://schemas.openxmlformats.org/officeDocument/2006/relationships/hyperlink" Target="https://en.wikipedia.org/wiki/Elo_rating_system" TargetMode="External"/><Relationship Id="rId21" Type="http://schemas.openxmlformats.org/officeDocument/2006/relationships/hyperlink" Target="https://arena.ai/leaderboard/model/gpt-5.6-sol-xhigh" TargetMode="External"/><Relationship Id="rId34" Type="http://schemas.openxmlformats.org/officeDocument/2006/relationships/hyperlink" Target="https://arena.ai/leaderboard/model/gemini-3.6-flash-high" TargetMode="External"/><Relationship Id="rId7" Type="http://schemas.openxmlformats.org/officeDocument/2006/relationships/hyperlink" Target="https://arena.ai/leaderboard/model/muse-wonder-max" TargetMode="External"/><Relationship Id="rId12" Type="http://schemas.openxmlformats.org/officeDocument/2006/relationships/hyperlink" Target="https://arena.ai/leaderboard/model/claude-opus-4-7" TargetMode="External"/><Relationship Id="rId17" Type="http://schemas.openxmlformats.org/officeDocument/2006/relationships/hyperlink" Target="https://arena.ai/leaderboard/model/gpt-6.1-sol-max" TargetMode="External"/><Relationship Id="rId25" Type="http://schemas.openxmlformats.org/officeDocument/2006/relationships/hyperlink" Target="https://arena.ai/leaderboard/model/claude-opus-4-5-20251101-high-32k" TargetMode="External"/><Relationship Id="rId33" Type="http://schemas.openxmlformats.org/officeDocument/2006/relationships/hyperlink" Target="https://arena.ai/leaderboard/model/gemini-3-pro" TargetMode="External"/><Relationship Id="rId2" Type="http://schemas.openxmlformats.org/officeDocument/2006/relationships/notesSlide" Target="../notesSlides/notesSlide2.xml"/><Relationship Id="rId16" Type="http://schemas.openxmlformats.org/officeDocument/2006/relationships/hyperlink" Target="https://arena.ai/leaderboard/model/muse-spark-1.2%20%28xHigh%29" TargetMode="External"/><Relationship Id="rId20" Type="http://schemas.openxmlformats.org/officeDocument/2006/relationships/hyperlink" Target="https://arena.ai/leaderboard/model/claude-fable-5.1-max" TargetMode="External"/><Relationship Id="rId29" Type="http://schemas.openxmlformats.org/officeDocument/2006/relationships/hyperlink" Target="https://arena.ai/leaderboard/model/claude-sonnet-4-6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arena.ai/leaderboard/model/gemini-4-argon-high" TargetMode="External"/><Relationship Id="rId11" Type="http://schemas.openxmlformats.org/officeDocument/2006/relationships/hyperlink" Target="https://arena.ai/leaderboard/model/claude-opus-4-6" TargetMode="External"/><Relationship Id="rId24" Type="http://schemas.openxmlformats.org/officeDocument/2006/relationships/hyperlink" Target="https://arena.ai/leaderboard/model/claude-opus-5-high" TargetMode="External"/><Relationship Id="rId32" Type="http://schemas.openxmlformats.org/officeDocument/2006/relationships/hyperlink" Target="https://arena.ai/leaderboard/model/gemini-3.1-pro-preview" TargetMode="External"/><Relationship Id="rId5" Type="http://schemas.openxmlformats.org/officeDocument/2006/relationships/hyperlink" Target="https://lmarena.ai/leaderboard/text/coding" TargetMode="External"/><Relationship Id="rId15" Type="http://schemas.openxmlformats.org/officeDocument/2006/relationships/hyperlink" Target="https://arena.ai/leaderboard/model/kimi-k3-max" TargetMode="External"/><Relationship Id="rId23" Type="http://schemas.openxmlformats.org/officeDocument/2006/relationships/hyperlink" Target="https://arena.ai/leaderboard/model/muse-spark-1.1" TargetMode="External"/><Relationship Id="rId28" Type="http://schemas.openxmlformats.org/officeDocument/2006/relationships/hyperlink" Target="https://arena.ai/leaderboard/model/muse-spark" TargetMode="External"/><Relationship Id="rId10" Type="http://schemas.openxmlformats.org/officeDocument/2006/relationships/hyperlink" Target="https://arena.ai/leaderboard/model/claude-opus-4-6-high" TargetMode="External"/><Relationship Id="rId19" Type="http://schemas.openxmlformats.org/officeDocument/2006/relationships/hyperlink" Target="https://arena.ai/leaderboard/model/muse-spark-1.3-max" TargetMode="External"/><Relationship Id="rId31" Type="http://schemas.openxmlformats.org/officeDocument/2006/relationships/hyperlink" Target="https://arena.ai/leaderboard/model/gemini-3.7-flash-high" TargetMode="External"/><Relationship Id="rId4" Type="http://schemas.openxmlformats.org/officeDocument/2006/relationships/hyperlink" Target="https://lmarena.ai/leaderboard/text" TargetMode="External"/><Relationship Id="rId9" Type="http://schemas.openxmlformats.org/officeDocument/2006/relationships/hyperlink" Target="https://arena.ai/leaderboard/model/claude-opus-4-7-high" TargetMode="External"/><Relationship Id="rId14" Type="http://schemas.openxmlformats.org/officeDocument/2006/relationships/hyperlink" Target="https://arena.ai/leaderboard/model/gpt-6-astra-max" TargetMode="External"/><Relationship Id="rId22" Type="http://schemas.openxmlformats.org/officeDocument/2006/relationships/hyperlink" Target="https://arena.ai/leaderboard/model/claude-opus-4-8-high" TargetMode="External"/><Relationship Id="rId27" Type="http://schemas.openxmlformats.org/officeDocument/2006/relationships/hyperlink" Target="https://arena.ai/leaderboard/model/claude-opus-4-8" TargetMode="External"/><Relationship Id="rId30" Type="http://schemas.openxmlformats.org/officeDocument/2006/relationships/hyperlink" Target="https://arena.ai/leaderboard/model/gemini-3.8-flash-high" TargetMode="External"/><Relationship Id="rId35" Type="http://schemas.openxmlformats.org/officeDocument/2006/relationships/hyperlink" Target="https://arena.ai/leaderboard/model/qwen3.8-max" TargetMode="External"/><Relationship Id="rId8" Type="http://schemas.openxmlformats.org/officeDocument/2006/relationships/hyperlink" Target="https://arena.ai/leaderboard/model/claude-fable-5-high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artificialanalysis.ai/evaluations/artificial-analysis-intelligence-index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jpe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research.meta.ai/blog/muse-wonder" TargetMode="External"/><Relationship Id="rId3" Type="http://schemas.openxmlformats.org/officeDocument/2006/relationships/hyperlink" Target="https://aws.amazon.com/about-aws/whats-new/2026/10/amazon-bedrock-glm-5-3/" TargetMode="External"/><Relationship Id="rId7" Type="http://schemas.openxmlformats.org/officeDocument/2006/relationships/hyperlink" Target="https://huggingface.co/Qwen/Qwen-Image-2.1-Turbo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Relationship Id="rId6" Type="http://schemas.openxmlformats.org/officeDocument/2006/relationships/hyperlink" Target="https://github.com/QwenLM/Qwen-Image-2.1" TargetMode="External"/><Relationship Id="rId5" Type="http://schemas.openxmlformats.org/officeDocument/2006/relationships/image" Target="../media/image2.png"/><Relationship Id="rId10" Type="http://schemas.openxmlformats.org/officeDocument/2006/relationships/image" Target="../media/image4.jpeg"/><Relationship Id="rId4" Type="http://schemas.openxmlformats.org/officeDocument/2006/relationships/hyperlink" Target="https://aws.amazon.com/blogs/machine-learning/introducing-glm-5-3-on-amazon-bedrock/" TargetMode="External"/><Relationship Id="rId9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hyperlink" Target="https://getartcraft.com" TargetMode="External"/><Relationship Id="rId7" Type="http://schemas.openxmlformats.org/officeDocument/2006/relationships/hyperlink" Target="https://www.youtube.com/watch?v=wajoP_5Cpw8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Relationship Id="rId6" Type="http://schemas.openxmlformats.org/officeDocument/2006/relationships/hyperlink" Target="https://github.com/morluto/rea" TargetMode="External"/><Relationship Id="rId5" Type="http://schemas.openxmlformats.org/officeDocument/2006/relationships/hyperlink" Target="https://www.linkedin.com/in/possibilistic/" TargetMode="External"/><Relationship Id="rId4" Type="http://schemas.openxmlformats.org/officeDocument/2006/relationships/hyperlink" Target="https://github.com/storytold" TargetMode="External"/><Relationship Id="rId9" Type="http://schemas.openxmlformats.org/officeDocument/2006/relationships/image" Target="../media/image6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J9NQTYUP6k0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8.png"/><Relationship Id="rId5" Type="http://schemas.openxmlformats.org/officeDocument/2006/relationships/hyperlink" Target="https://alphasignal.ai/email/1b36e75b14af56e6" TargetMode="External"/><Relationship Id="rId4" Type="http://schemas.openxmlformats.org/officeDocument/2006/relationships/image" Target="../media/image7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yaXgmGPZUOg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10.png"/><Relationship Id="rId5" Type="http://schemas.openxmlformats.org/officeDocument/2006/relationships/hyperlink" Target="https://www.youtube.com/watch?v=ApsNLVLRvu0" TargetMode="Externa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Relationship Id="rId5" Type="http://schemas.openxmlformats.org/officeDocument/2006/relationships/hyperlink" Target="https://www.youtube.com/@lev-selector/videos" TargetMode="External"/><Relationship Id="rId4" Type="http://schemas.openxmlformats.org/officeDocument/2006/relationships/image" Target="../media/image12.jpe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hyperlink" Target="https://blog.cloudflare.com/deno-joins-cloudflare/" TargetMode="External"/><Relationship Id="rId3" Type="http://schemas.openxmlformats.org/officeDocument/2006/relationships/hyperlink" Target="https://docs.deno.com/runtime/" TargetMode="External"/><Relationship Id="rId7" Type="http://schemas.openxmlformats.org/officeDocument/2006/relationships/hyperlink" Target="https://blog.cloudflare.com/workerd-open-source-workers-runtime/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Relationship Id="rId6" Type="http://schemas.openxmlformats.org/officeDocument/2006/relationships/hyperlink" Target="https://github.com/cloudflare/workerd" TargetMode="External"/><Relationship Id="rId11" Type="http://schemas.openxmlformats.org/officeDocument/2006/relationships/image" Target="../media/image14.png"/><Relationship Id="rId5" Type="http://schemas.openxmlformats.org/officeDocument/2006/relationships/hyperlink" Target="https://github.com/denoland/celld" TargetMode="External"/><Relationship Id="rId10" Type="http://schemas.openxmlformats.org/officeDocument/2006/relationships/image" Target="../media/image13.jpeg"/><Relationship Id="rId4" Type="http://schemas.openxmlformats.org/officeDocument/2006/relationships/hyperlink" Target="https://celld.dev" TargetMode="External"/><Relationship Id="rId9" Type="http://schemas.openxmlformats.org/officeDocument/2006/relationships/hyperlink" Target="https://deno.com/blog/cloudflare" TargetMode="Externa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hyperlink" Target="https://support.claude.com/en/articles/17454997-get-started-with-claude-motion" TargetMode="External"/><Relationship Id="rId7" Type="http://schemas.openxmlformats.org/officeDocument/2006/relationships/hyperlink" Target="https://huggingface.co/allenai/AstaBrief_8B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Relationship Id="rId6" Type="http://schemas.openxmlformats.org/officeDocument/2006/relationships/hyperlink" Target="https://huggingface.co/blog/allenai/astabrief" TargetMode="External"/><Relationship Id="rId5" Type="http://schemas.openxmlformats.org/officeDocument/2006/relationships/image" Target="../media/image15.png"/><Relationship Id="rId4" Type="http://schemas.openxmlformats.org/officeDocument/2006/relationships/hyperlink" Target="https://claude.com/resources/articles/dashboards-and-motion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turbopuffer.com" TargetMode="External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1.xml"/><Relationship Id="rId6" Type="http://schemas.openxmlformats.org/officeDocument/2006/relationships/hyperlink" Target="https://www.youtube.com/watch?v=YLkSfz3EFGw" TargetMode="External"/><Relationship Id="rId5" Type="http://schemas.openxmlformats.org/officeDocument/2006/relationships/hyperlink" Target="https://turbopuffer.com/v3" TargetMode="External"/><Relationship Id="rId4" Type="http://schemas.openxmlformats.org/officeDocument/2006/relationships/hyperlink" Target="https://turbopuffer.com/blog/rip-vector-database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x.com/testingcatalog/status/2108246975883751665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18.jpeg"/><Relationship Id="rId5" Type="http://schemas.openxmlformats.org/officeDocument/2006/relationships/hyperlink" Target="https://odyssey.systems/meet-odyssey-3" TargetMode="External"/><Relationship Id="rId4" Type="http://schemas.openxmlformats.org/officeDocument/2006/relationships/hyperlink" Target="https://odyssey.systems" TargetMode="Externa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hyperlink" Target="https://www.stepfun.com/step-5-preview" TargetMode="External"/><Relationship Id="rId7" Type="http://schemas.openxmlformats.org/officeDocument/2006/relationships/hyperlink" Target="https://laminar.sh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1.xml"/><Relationship Id="rId6" Type="http://schemas.openxmlformats.org/officeDocument/2006/relationships/hyperlink" Target="https://laminar.sh/blog/flow-1" TargetMode="External"/><Relationship Id="rId5" Type="http://schemas.openxmlformats.org/officeDocument/2006/relationships/hyperlink" Target="https://www.youtube.com/watch?v=bqS3oZQgAhg" TargetMode="External"/><Relationship Id="rId4" Type="http://schemas.openxmlformats.org/officeDocument/2006/relationships/hyperlink" Target="https://openrouter.ai/stepfun/step-5-preview" TargetMode="External"/><Relationship Id="rId9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609.33848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jpeg"/><Relationship Id="rId3" Type="http://schemas.openxmlformats.org/officeDocument/2006/relationships/hyperlink" Target="https://bfl.ai/models/flux-3-image" TargetMode="External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22.png"/><Relationship Id="rId5" Type="http://schemas.openxmlformats.org/officeDocument/2006/relationships/hyperlink" Target="https://links.tldrnewsletter.com/jzR1OT/1/010001a11bcb0cee-9ff72ec9-51ce-4456-9da7-54a384371a80-000000/KMPLg6QPwYc4tenSvqLS20N1U8oP0eU9p1-AUH0fidQ=452" TargetMode="External"/><Relationship Id="rId4" Type="http://schemas.openxmlformats.org/officeDocument/2006/relationships/hyperlink" Target="https://news.microsoft.com/maia-2026/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atent.space/p/claude-dynamic-workflows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26.png"/><Relationship Id="rId5" Type="http://schemas.openxmlformats.org/officeDocument/2006/relationships/image" Target="../media/image25.jpeg"/><Relationship Id="rId4" Type="http://schemas.openxmlformats.org/officeDocument/2006/relationships/hyperlink" Target="https://thenextweb.com/news/grok-bot-claude-opus-midjourney-suno-musk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layoffs.fyi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28.jpeg"/><Relationship Id="rId5" Type="http://schemas.openxmlformats.org/officeDocument/2006/relationships/image" Target="../media/image27.jpeg"/><Relationship Id="rId4" Type="http://schemas.openxmlformats.org/officeDocument/2006/relationships/hyperlink" Target="https://trueup.io/layoffs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fred.stlouisfed.org/series/IHLIDXUSTPSOFTDEVE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1.xml"/><Relationship Id="rId5" Type="http://schemas.openxmlformats.org/officeDocument/2006/relationships/hyperlink" Target="https://www.dice.com/hiring/recruitment/reports/dice-tech-job-report" TargetMode="External"/><Relationship Id="rId4" Type="http://schemas.openxmlformats.org/officeDocument/2006/relationships/hyperlink" Target="https://hiringlab.indeed.com/2026/07/08/ai-and-job-postings-from-destruction-to-creation/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eais.ai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29.jpe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@lev-selector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1.xml"/><Relationship Id="rId5" Type="http://schemas.openxmlformats.org/officeDocument/2006/relationships/hyperlink" Target="https://drive.google.com/drive/folders/1dmj00iilSP-JYmriMUUaHCKz5X54e3UX?ths=true" TargetMode="External"/><Relationship Id="rId4" Type="http://schemas.openxmlformats.org/officeDocument/2006/relationships/hyperlink" Target="https://github.com/lselector/seminar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36576" y="-27432"/>
            <a:ext cx="28965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 - Oct 16, 2026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13"/>
          <p:cNvSpPr txBox="1"/>
          <p:nvPr/>
        </p:nvSpPr>
        <p:spPr>
          <a:xfrm>
            <a:off x="5349240" y="27432"/>
            <a:ext cx="3758100" cy="6768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i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Small, cheap and open is the race this week. Big still does the math.</a:t>
            </a:r>
            <a:endParaRPr sz="1800" b="1" i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36576" y="393192"/>
            <a:ext cx="4517100" cy="2314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205486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Crowd-sourced LM Arena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05486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Artificial Analysis Intelligence Index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05486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Meta Muse Wonder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05486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GLM-5.3 on Amazon Bedrock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05486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Qwen Image 2.1 Turbo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05486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ArtCraft and AI Reverse Engineering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05486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Claude Code: Less Micromanagement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05486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Anthropic Replaces Git with Scion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05486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Local AI vs Cloud: True Costs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05486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MS Windows Hybrid AI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36576" y="2744216"/>
            <a:ext cx="4517100" cy="2314500"/>
          </a:xfrm>
          <a:prstGeom prst="rect">
            <a:avLst/>
          </a:prstGeom>
          <a:solidFill>
            <a:srgbClr val="E2F0D9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205486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Decision Models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05486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Deno Joins Cloudflare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05486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Claude Motion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05486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AstaBrief 8B Science Reports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05486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TurboPuffer - RIP Vectors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05486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Odyssey 3: Interactive AI Worlds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05486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Step 5 Preview for Coding Agents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05486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Laminar Flow-1: Detecting Agent Failures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05486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Alibaba QwenGyre - Long-Horizon Agent RL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05486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FLUX 3 Image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13"/>
          <p:cNvSpPr txBox="1"/>
          <p:nvPr/>
        </p:nvSpPr>
        <p:spPr>
          <a:xfrm>
            <a:off x="4590288" y="768240"/>
            <a:ext cx="4517100" cy="1432500"/>
          </a:xfrm>
          <a:prstGeom prst="rect">
            <a:avLst/>
          </a:prstGeom>
          <a:solidFill>
            <a:srgbClr val="DEEBF7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205486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Microsoft Maia 300 Chip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05486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GPT-6 becomes the ChatGPT default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05486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Claude Managed Agents - 1,000 agents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05486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Grok Bot Routes to Rival Models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05486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Jobs &amp; Layoffs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05486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Tech Hiring &amp; Skills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13"/>
          <p:cNvSpPr txBox="1"/>
          <p:nvPr/>
        </p:nvSpPr>
        <p:spPr>
          <a:xfrm>
            <a:off x="4590288" y="2237376"/>
            <a:ext cx="4517100" cy="330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205486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xxx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4"/>
          <p:cNvSpPr txBox="1"/>
          <p:nvPr/>
        </p:nvSpPr>
        <p:spPr>
          <a:xfrm>
            <a:off x="6736325" y="52350"/>
            <a:ext cx="2356200" cy="341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Starting Elo rating = 1000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https://en.wikipedia.org/wiki/Elo_rating_system</a:t>
            </a:r>
            <a:r>
              <a:rPr lang="en"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14"/>
          <p:cNvSpPr txBox="1"/>
          <p:nvPr/>
        </p:nvSpPr>
        <p:spPr>
          <a:xfrm>
            <a:off x="38150" y="2125"/>
            <a:ext cx="2599800" cy="29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"LM Arena" Leaderboard</a:t>
            </a:r>
            <a:endParaRPr sz="18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14"/>
          <p:cNvSpPr txBox="1"/>
          <p:nvPr/>
        </p:nvSpPr>
        <p:spPr>
          <a:xfrm>
            <a:off x="52418" y="476072"/>
            <a:ext cx="2599800" cy="203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English - </a:t>
            </a:r>
            <a:r>
              <a:rPr lang="en" sz="900" b="1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https://lmarena.ai/leaderboard/text</a:t>
            </a: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14"/>
          <p:cNvSpPr txBox="1"/>
          <p:nvPr/>
        </p:nvSpPr>
        <p:spPr>
          <a:xfrm>
            <a:off x="2726905" y="476078"/>
            <a:ext cx="2839500" cy="203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Coding - </a:t>
            </a:r>
            <a:r>
              <a:rPr lang="en" sz="900" b="1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https://lmarena.ai/leaderboard/text/coding</a:t>
            </a: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14"/>
          <p:cNvSpPr txBox="1"/>
          <p:nvPr/>
        </p:nvSpPr>
        <p:spPr>
          <a:xfrm>
            <a:off x="3437903" y="63625"/>
            <a:ext cx="1408200" cy="172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Data for Oct 13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9" name="Google Shape;69;p14"/>
          <p:cNvGraphicFramePr/>
          <p:nvPr/>
        </p:nvGraphicFramePr>
        <p:xfrm>
          <a:off x="5742420" y="430065"/>
          <a:ext cx="804500" cy="571500"/>
        </p:xfrm>
        <a:graphic>
          <a:graphicData uri="http://schemas.openxmlformats.org/drawingml/2006/table">
            <a:tbl>
              <a:tblPr>
                <a:noFill/>
                <a:tableStyleId>{96756846-743A-4DAA-8DD2-9E051B32107E}</a:tableStyleId>
              </a:tblPr>
              <a:tblGrid>
                <a:gridCol w="219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5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Claude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Gemini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OpenAI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Open Source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0" name="Google Shape;70;p14"/>
          <p:cNvSpPr txBox="1"/>
          <p:nvPr/>
        </p:nvSpPr>
        <p:spPr>
          <a:xfrm>
            <a:off x="6838390" y="485738"/>
            <a:ext cx="2152500" cy="2327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Claude Fable-5 - 6TB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Claude Opus-4.8 - 5TB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Claude Sonnet-4.5 - 1TB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Claude Sonnet-5 - ?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GLM-5.3 - 744B 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Meta muse-spark - 16 x 70B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Qwen3.7-max-preview - 745B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Qwen3.8-max - 2.4TB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Baidu Ernie-5.1 - 800B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Deepseek-v4 - 1.6T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Deepseek-v4.1-Flash - 552B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Kimi-k3 - 2.8T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Xiaomi MiMo-V2.5-Pro - 1T+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ByteDance </a:t>
            </a: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dola-seed-2.0-pro 400B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Minimax M3  -  456B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71" name="Google Shape;71;p14"/>
          <p:cNvGraphicFramePr/>
          <p:nvPr/>
        </p:nvGraphicFramePr>
        <p:xfrm>
          <a:off x="3075200" y="742403"/>
          <a:ext cx="2133600" cy="3993200"/>
        </p:xfrm>
        <a:graphic>
          <a:graphicData uri="http://schemas.openxmlformats.org/drawingml/2006/table">
            <a:tbl>
              <a:tblPr>
                <a:noFill/>
                <a:tableStyleId>{96756846-743A-4DAA-8DD2-9E051B32107E}</a:tableStyleId>
              </a:tblPr>
              <a:tblGrid>
                <a:gridCol w="27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2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5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Code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Model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Score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6"/>
                        </a:rPr>
                        <a:t>gemini-4-argon-high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1561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7"/>
                        </a:rPr>
                        <a:t>muse-wonder-max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1558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8"/>
                        </a:rPr>
                        <a:t>claude-fable-5-high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1551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9"/>
                        </a:rPr>
                        <a:t>claude-opus-4-7-high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1550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0"/>
                        </a:rPr>
                        <a:t>claude-opus-4-6-high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1548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1"/>
                        </a:rPr>
                        <a:t>claude-opus-4-6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1548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2"/>
                        </a:rPr>
                        <a:t>claude-opus-4-7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1546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3"/>
                        </a:rPr>
                        <a:t>claude-opus-5.5-high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1545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4"/>
                        </a:rPr>
                        <a:t>gpt-6-astra-max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1543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5"/>
                        </a:rPr>
                        <a:t>kimi-k3-max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6"/>
                        </a:rPr>
                        <a:t>muse-spark-1.2 (xHigh)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7"/>
                        </a:rPr>
                        <a:t>gpt-6.1-sol-max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381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8"/>
                        </a:rPr>
                        <a:t>mimo-v2.6-pro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9"/>
                        </a:rPr>
                        <a:t>muse-spark-1.3-max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0"/>
                        </a:rPr>
                        <a:t>claude-fable-5.1-max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1"/>
                        </a:rPr>
                        <a:t>gpt-5.6-sol-xhigh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2"/>
                        </a:rPr>
                        <a:t>claude-opus-4-8-high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3"/>
                        </a:rPr>
                        <a:t>muse-spark-1.1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4"/>
                        </a:rPr>
                        <a:t>claude-opus-5-high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5"/>
                        </a:rPr>
                        <a:t>claude-opus-4-5-20251101-high-32k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6"/>
                        </a:rPr>
                        <a:t>claude-opus-5-max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7"/>
                        </a:rPr>
                        <a:t>claude-opus-4-8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8"/>
                        </a:rPr>
                        <a:t>muse-spark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9"/>
                        </a:rPr>
                        <a:t>claude-sonnet-4-6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0"/>
                        </a:rPr>
                        <a:t>gemini-3.8-flash-high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  <p:graphicFrame>
        <p:nvGraphicFramePr>
          <p:cNvPr id="72" name="Google Shape;72;p14"/>
          <p:cNvGraphicFramePr/>
          <p:nvPr/>
        </p:nvGraphicFramePr>
        <p:xfrm>
          <a:off x="423650" y="745044"/>
          <a:ext cx="1828800" cy="3905278"/>
        </p:xfrm>
        <a:graphic>
          <a:graphicData uri="http://schemas.openxmlformats.org/drawingml/2006/table">
            <a:tbl>
              <a:tblPr>
                <a:noFill/>
                <a:tableStyleId>{96756846-743A-4DAA-8DD2-9E051B32107E}</a:tableStyleId>
              </a:tblPr>
              <a:tblGrid>
                <a:gridCol w="27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7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5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Code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Model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Score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6"/>
                        </a:rPr>
                        <a:t>gemini-4-argon-high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7"/>
                        </a:rPr>
                        <a:t>muse-wonder-max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1513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3"/>
                        </a:rPr>
                        <a:t>claude-opus-5.5-high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8"/>
                        </a:rPr>
                        <a:t>claude-fable-5-high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0"/>
                        </a:rPr>
                        <a:t>claude-opus-4-6-high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9"/>
                        </a:rPr>
                        <a:t>claude-opus-4-7-high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0"/>
                        </a:rPr>
                        <a:t>claude-fable-5.1-max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1"/>
                        </a:rPr>
                        <a:t>claude-opus-4-6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0"/>
                        </a:rPr>
                        <a:t>gemini-3.8-flash-high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6"/>
                        </a:rPr>
                        <a:t>muse-spark-1.2 (xHigh)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9"/>
                        </a:rPr>
                        <a:t>muse-spark-1.3-max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2"/>
                        </a:rPr>
                        <a:t>claude-opus-4-7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3"/>
                        </a:rPr>
                        <a:t>muse-spark-1.1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4"/>
                        </a:rPr>
                        <a:t>claude-opus-5-high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6"/>
                        </a:rPr>
                        <a:t>claude-opus-5-max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8"/>
                        </a:rPr>
                        <a:t>muse-spark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5"/>
                        </a:rPr>
                        <a:t>kimi-k3-max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1"/>
                        </a:rPr>
                        <a:t>gemini-3.7-flash-high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2"/>
                        </a:rPr>
                        <a:t>gemini-3.1-pro-preview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3"/>
                        </a:rPr>
                        <a:t>gemini-3-pro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1"/>
                        </a:rPr>
                        <a:t>gpt-5.6-sol-xhigh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7"/>
                        </a:rPr>
                        <a:t>gpt-6.1-sol-max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4"/>
                        </a:rPr>
                        <a:t>gemini-3.6-flash-high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5"/>
                        </a:rPr>
                        <a:t>qwen3.8-max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2"/>
                        </a:rPr>
                        <a:t>claude-opus-4-8-high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5"/>
          <p:cNvSpPr txBox="1"/>
          <p:nvPr/>
        </p:nvSpPr>
        <p:spPr>
          <a:xfrm>
            <a:off x="38150" y="2125"/>
            <a:ext cx="4493700" cy="29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8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Artificial Analysis Intelligence Index</a:t>
            </a:r>
            <a:endParaRPr sz="18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15"/>
          <p:cNvSpPr txBox="1"/>
          <p:nvPr/>
        </p:nvSpPr>
        <p:spPr>
          <a:xfrm>
            <a:off x="52430" y="355163"/>
            <a:ext cx="4429500" cy="341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Artificial Analysis Intelligence Index</a:t>
            </a:r>
            <a:endParaRPr sz="9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b="1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https://artificialanalysis.ai/evaluations/artificial-analysis-intelligence-index</a:t>
            </a:r>
            <a:endParaRPr sz="9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15"/>
          <p:cNvSpPr txBox="1"/>
          <p:nvPr/>
        </p:nvSpPr>
        <p:spPr>
          <a:xfrm>
            <a:off x="5934676" y="1088150"/>
            <a:ext cx="944700" cy="203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Oct 14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0" name="Google Shape;80;p15" descr="auto: aa-index-chart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11146" y="1669032"/>
            <a:ext cx="8534708" cy="3328536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81" name="Google Shape;81;p15"/>
          <p:cNvSpPr/>
          <p:nvPr/>
        </p:nvSpPr>
        <p:spPr>
          <a:xfrm>
            <a:off x="2995675" y="3424925"/>
            <a:ext cx="233100" cy="38370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6"/>
          <p:cNvSpPr txBox="1"/>
          <p:nvPr/>
        </p:nvSpPr>
        <p:spPr>
          <a:xfrm>
            <a:off x="36576" y="-27432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16"/>
          <p:cNvSpPr txBox="1"/>
          <p:nvPr/>
        </p:nvSpPr>
        <p:spPr>
          <a:xfrm>
            <a:off x="91400" y="2235147"/>
            <a:ext cx="4656600" cy="1588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GLM-5.3 on Amazon Bedrock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https://aws.amazon.com/about-aws/whats-new/2026/10/amazon-bedrock-glm-5-3/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open-weight, complex coding, repository-scale engineering, and autonomous agents performing extended, multi-step tasks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1M/128K in/out tokens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function calling, adjustable reasoning effort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OpenAI-compatible and native AWS APIs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https://aws.amazon.com/blogs/machine-learning/introducing-glm-5-3-on-amazon-bedrock/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 or global cross-Region inference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8" name="Google Shape;88;p16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70125" y="2411575"/>
            <a:ext cx="2435000" cy="12175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89" name="Google Shape;89;p16"/>
          <p:cNvSpPr txBox="1"/>
          <p:nvPr/>
        </p:nvSpPr>
        <p:spPr>
          <a:xfrm>
            <a:off x="91400" y="3878083"/>
            <a:ext cx="4656600" cy="1126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Qwen Image 2.1 Turbo - text-to-image + editing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https://github.com/QwenLM/Qwen-Image-2.1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7B params, 8 denoising steps, open-weight research license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https://huggingface.co/Qwen/Qwen-Image-2.1-Turbo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Developers can download weights from Hugging Face, run locally using Diffusers, or access hosted Turbo APIs through Alibaba Cloud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16"/>
          <p:cNvSpPr txBox="1"/>
          <p:nvPr/>
        </p:nvSpPr>
        <p:spPr>
          <a:xfrm>
            <a:off x="91401" y="411202"/>
            <a:ext cx="5669400" cy="1634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Meta releases Muse Wonder, its first frontier-class models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Two models: Muse Wonder and Muse Wonder Full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Wonder Full scores </a:t>
            </a:r>
            <a:r>
              <a:rPr lang="en" sz="12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56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on the Artificial Analysis Index, second only to Claude Opus 5.5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Beats Opus 5.5 and GPT-6 Astra at legal work, long coding and memory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Active Memory keeps context across days, weeks and months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Leaked pricing: $4 input, $20 output per 1M tokens, 1M context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Closed weights;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Wonder Full only on Muse Code plans at $50 or $200 a month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https://research.meta.ai/blog/muse-wonder</a:t>
            </a:r>
            <a:r>
              <a:rPr lang="en" sz="900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1" name="Google Shape;91;p16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09001" y="411200"/>
            <a:ext cx="2904586" cy="16347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92" name="Google Shape;92;p16"/>
          <p:cNvPicPr preferRelativeResize="0"/>
          <p:nvPr/>
        </p:nvPicPr>
        <p:blipFill>
          <a:blip r:embed="rId10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70125" y="3878075"/>
            <a:ext cx="1497705" cy="11268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7"/>
          <p:cNvSpPr txBox="1"/>
          <p:nvPr/>
        </p:nvSpPr>
        <p:spPr>
          <a:xfrm>
            <a:off x="36576" y="-27432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17"/>
          <p:cNvSpPr txBox="1"/>
          <p:nvPr/>
        </p:nvSpPr>
        <p:spPr>
          <a:xfrm>
            <a:off x="104000" y="377675"/>
            <a:ext cx="4420500" cy="3297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ArtCraft and AI Reverse Engineering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Developer Brandon Thomas released ArtCraft - a set of 7 free, open-source Adobe alternatives built with Rust and Claude for Windows, macOS, and Linux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https://getartcraft.com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https://github.com/storytold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https://www.linkedin.com/in/possibilistic/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Brandon's Linkedin - Atlanta, Georgia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He describes these as clean-room re-implementations, not reconstructed Adobe source code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Fireship's tests conclude that it is not a production-ready Adobe replacement yet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Reverse Engineer Anything (REA)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- connects AI agents with binary-inspection tools such as Ghidra, helping developers analyze behavior and guide custom implementations - </a:t>
            </a: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https://github.com/morluto/rea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achievement is faster, accessible software experimentation - not making every proprietary application open source or rendering Adobe obsolete overnight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https://www.youtube.com/watch?v=wajoP_5Cpw8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-video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9" name="Google Shape;99;p17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72004" y="1584850"/>
            <a:ext cx="3429321" cy="3435601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00" name="Google Shape;100;p17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72000" y="85725"/>
            <a:ext cx="1400175" cy="14001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8"/>
          <p:cNvSpPr txBox="1"/>
          <p:nvPr/>
        </p:nvSpPr>
        <p:spPr>
          <a:xfrm>
            <a:off x="36576" y="-27432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18"/>
          <p:cNvSpPr txBox="1"/>
          <p:nvPr/>
        </p:nvSpPr>
        <p:spPr>
          <a:xfrm>
            <a:off x="91400" y="324508"/>
            <a:ext cx="4417200" cy="3112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Claude Code: Less Micromanagement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Boris Cherny :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 January - planning advice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today - favoring autonomous execution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Define tasks, guardrails, and completion criteria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Review results instead of prescribing every step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Keep recommended effort settings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Provide executable checks that prove success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 continuation loops to fix failures without repeated “continue”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Keep CLAUDE.md concise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Build skills from observed mistakes, 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then compare performance with and without them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Enforce critical restrictions through hooks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Limit subagents and automate recurring workflows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The central achievement is reduced supervision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while retaining verifiable outputs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1430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https://www.youtube.com/watch?v=J9NQTYUP6k</a:t>
            </a: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0</a:t>
            </a:r>
            <a:r>
              <a:rPr lang="en" sz="9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7" name="Google Shape;107;p18"/>
          <p:cNvPicPr preferRelativeResize="0"/>
          <p:nvPr/>
        </p:nvPicPr>
        <p:blipFill rotWithShape="1"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786975" y="377425"/>
            <a:ext cx="2200150" cy="2522377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08" name="Google Shape;108;p18"/>
          <p:cNvSpPr txBox="1"/>
          <p:nvPr/>
        </p:nvSpPr>
        <p:spPr>
          <a:xfrm>
            <a:off x="91399" y="3521283"/>
            <a:ext cx="4417200" cy="1449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Anthropic replaces Git after Claude passes 30K merges a day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Git could not keep up with the speed of AI work done by Claude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Daily merges grew from about 2.5K in May to over 30K in Sept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 team of seven built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Scion, a server-centric version control system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Plus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Antique, a code review tool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CPU and memory use fell x200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Speed improved (from mins to secs)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https://alphasignal.ai/email/1b36e75b14af56e6</a:t>
            </a:r>
            <a:r>
              <a:rPr lang="en" sz="900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9" name="Google Shape;109;p18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72000" y="3117050"/>
            <a:ext cx="2815175" cy="19773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9"/>
          <p:cNvSpPr txBox="1"/>
          <p:nvPr/>
        </p:nvSpPr>
        <p:spPr>
          <a:xfrm>
            <a:off x="36575" y="-27425"/>
            <a:ext cx="43926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Local AI More Expensive Than Claude?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9"/>
          <p:cNvSpPr txBox="1"/>
          <p:nvPr/>
        </p:nvSpPr>
        <p:spPr>
          <a:xfrm>
            <a:off x="91400" y="377425"/>
            <a:ext cx="4337700" cy="1496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Local AI vs Cloud: True Costs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Haiku 5.5 $0.50 per 1M output tokens, plus input charges.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Compare with using local NVIDIA RTX 4090 - $0.47–$0.50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Hardware amortization makes lightly used GPUs substantially more expensive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Speed, quality, and context length also matter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Cloud providers use parallel batching - it dramatically lowers costs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https://www.youtube.com/watch?v=yaXgmGPZUOg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6" name="Google Shape;116;p19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19625" y="184937"/>
            <a:ext cx="3152774" cy="1881076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17" name="Google Shape;117;p19"/>
          <p:cNvSpPr txBox="1"/>
          <p:nvPr/>
        </p:nvSpPr>
        <p:spPr>
          <a:xfrm>
            <a:off x="91400" y="2396725"/>
            <a:ext cx="4594800" cy="2419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MS Windows Hybrid AI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Microsoft’s Satya Nadella and Nvidia’s Jensen Huang outlined Windows “hybrid intelligence.”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Windows would route AI tasks between local hardware and cloud models, addressing agent costs, privacy, latency, and offline access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Copilot would gain permission-based file access, local models, and PC actions; execution containers and separate agent identities would constrain access and enable monitoring.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Claimed advances include Nvidia RTX Spark hardware, Surface Laptop Ultra, compressed coding models, and Microsoft Decision 1, reportedly 35 times faster than GPT6.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significance is a shift toward agent-operated PCs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https://www.youtube.com/watch?v=ApsNLVLRvu0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8" name="Google Shape;118;p19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38600" y="2449851"/>
            <a:ext cx="4153000" cy="2313244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0"/>
          <p:cNvSpPr txBox="1"/>
          <p:nvPr/>
        </p:nvSpPr>
        <p:spPr>
          <a:xfrm>
            <a:off x="36575" y="-27425"/>
            <a:ext cx="21351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Decision Models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24" name="Google Shape;124;p20"/>
          <p:cNvGraphicFramePr/>
          <p:nvPr/>
        </p:nvGraphicFramePr>
        <p:xfrm>
          <a:off x="447700" y="146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{96756846-743A-4DAA-8DD2-9E051B32107E}</a:tableStyleId>
              </a:tblPr>
              <a:tblGrid>
                <a:gridCol w="1679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55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7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439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177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77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779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Model</a:t>
                      </a:r>
                      <a:endParaRPr sz="9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Open</a:t>
                      </a:r>
                      <a:endParaRPr sz="9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in-tokens</a:t>
                      </a:r>
                      <a:endParaRPr sz="9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Based on</a:t>
                      </a:r>
                      <a:endParaRPr sz="9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params</a:t>
                      </a:r>
                      <a:endParaRPr sz="9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tunable</a:t>
                      </a:r>
                      <a:endParaRPr sz="9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86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Laya — English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yes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0.5K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ModernBERT-large with decision heads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421M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yes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86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Laya — multilingual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yes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8K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mmBERT-base with decision heads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322M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yes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79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Laya — typed-decisions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yes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1K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ModernBERT-large, further trained for typed decisions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421M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yes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79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Kev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yes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64K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Qwen3.5 / Qwen3.8 family, depending on checkpoint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0.8B / 4B / 9B / 27B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yes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79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SemIf — formerly OpenJev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yes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—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Frozen open LLMs; extracts option probabilities from logits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—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79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CLM-v0.1-8B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yes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2K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Frozen Qwen3-8B with state/action projection heads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8B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yes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186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Von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yes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8K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ModernBERT-large with decision scoring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395M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yes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779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NanoJev — TianyuCodings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yes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—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Qwen3-0.6B with decision heads and dynamic candidate scoring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0.6B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yes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779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Verdict — Daniel Ramos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yes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16K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Qwen3.5-0.8B-Base with LoRA and bilinear/MLP decision heads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0.8B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yes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186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Liquid d1-3B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yes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32K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LFM2.5-VL-3B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3.1B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186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Cloudflare Clef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yes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64K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Fine-tuned Qwen with joint decision head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27B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yes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186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Cloudflare Clef-Flash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yes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24K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Fine-tuned Qwen with joint decision head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9B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yes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186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Cloudflare Clef-Omni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yes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—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Multimodal Qwen-family model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30B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186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TypeSafe Jev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64K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Proprietary; backbone undisclosed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—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186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OpenAI Decisions API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—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GPT-6 Luna variant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—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779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Liquid d1 — hosted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64K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Hosted Liquid decision model; exact backbone undisclosed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—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186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Microsoft-Decision-1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32K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Post-trained Qwen3.5-9B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9B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412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  <p:sp>
        <p:nvSpPr>
          <p:cNvPr id="125" name="Google Shape;125;p20"/>
          <p:cNvSpPr txBox="1"/>
          <p:nvPr/>
        </p:nvSpPr>
        <p:spPr>
          <a:xfrm>
            <a:off x="148550" y="406000"/>
            <a:ext cx="3175800" cy="572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Decision Models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Mostly very short input context window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Mostly not tunable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1"/>
          <p:cNvSpPr txBox="1"/>
          <p:nvPr/>
        </p:nvSpPr>
        <p:spPr>
          <a:xfrm>
            <a:off x="36576" y="-27432"/>
            <a:ext cx="35172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Weekly videos every Friday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1" name="Google Shape;131;p21" descr="auto: youtube-videos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49500" y="881276"/>
            <a:ext cx="2461825" cy="2907764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32" name="Google Shape;132;p21" descr="auto: youtube-shorts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10086" y="2703305"/>
            <a:ext cx="2133904" cy="223725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33" name="Google Shape;133;p21"/>
          <p:cNvSpPr txBox="1"/>
          <p:nvPr/>
        </p:nvSpPr>
        <p:spPr>
          <a:xfrm>
            <a:off x="102375" y="725485"/>
            <a:ext cx="4161900" cy="4186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Weekly videos every Friday</a:t>
            </a:r>
            <a:endParaRPr sz="2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200">
                <a:latin typeface="Calibri"/>
                <a:ea typeface="Calibri"/>
                <a:cs typeface="Calibri"/>
                <a:sym typeface="Calibri"/>
              </a:rPr>
              <a:t>7.62K subscribers, 360 videos</a:t>
            </a:r>
            <a:endParaRPr sz="2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endParaRPr sz="2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1. Subscribe to this channel </a:t>
            </a:r>
            <a:r>
              <a:rPr lang="en" sz="1800" b="1" u="sng">
                <a:solidFill>
                  <a:srgbClr val="0097A7"/>
                </a:solidFill>
                <a:latin typeface="Calibri"/>
                <a:ea typeface="Calibri"/>
                <a:cs typeface="Calibri"/>
                <a:sym typeface="Calibri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https://www.youtube.com/@lev-selector</a:t>
            </a:r>
            <a:r>
              <a:rPr lang="en" sz="18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b="1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endParaRPr sz="2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2. Download slides from GitHub using links under the videos</a:t>
            </a:r>
            <a:endParaRPr sz="2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endParaRPr sz="2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3. Please pause the video - and answer the pinned question in comments under the video</a:t>
            </a:r>
            <a:endParaRPr sz="1800" b="1" i="0" u="none" strike="noStrike" cap="none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2"/>
          <p:cNvSpPr txBox="1"/>
          <p:nvPr/>
        </p:nvSpPr>
        <p:spPr>
          <a:xfrm>
            <a:off x="36576" y="-27432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22"/>
          <p:cNvSpPr txBox="1"/>
          <p:nvPr/>
        </p:nvSpPr>
        <p:spPr>
          <a:xfrm>
            <a:off x="98925" y="338150"/>
            <a:ext cx="5267100" cy="4497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Deno Joins Cloudflare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Deno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is an open-source runtime for running JavaScript, TypeScript, and WebAssembly outside the browser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https://docs.deno.com/runtime/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Cloudflare acquires Deno's team and their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celld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technology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Cloudflare is not interested in Deno itself - Deno maintenance will discontinue in 1 year, its code remains open source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team will merge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celld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with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workerd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celld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an open-source system for running and coordinating Workers-compatible applications and persistent Durable Objects across your own servers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https://celld.dev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https://github.com/denoland/celld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workerd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Cloudflare’s open-source runtime for executing Workers applications on your own infrastructure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https://github.com/cloudflare/workerd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https://blog.cloudflare.com/workerd-open-source-workers-runtime/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This is a foundation for AI-agent infrastructure: it makes it easier to host many persistent, stateful agent sessions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Deno’s announcement explicitly identifies Durable Objects as useful for agent harnesses because they combine serverless execution, persistent state, WebSockets, and a JavaScript interface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One Durable Object per agent session, task, or user. Each object is an individually addressable, single-threaded execution unit with its own SQLite database; the platform handles distributing objects across machines.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https://blog.cloudflare.com/deno-joins-cloudflare/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https://deno.com/blog/cloudflare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0" name="Google Shape;140;p22"/>
          <p:cNvPicPr preferRelativeResize="0"/>
          <p:nvPr/>
        </p:nvPicPr>
        <p:blipFill>
          <a:blip r:embed="rId10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71721" y="785547"/>
            <a:ext cx="3410430" cy="17862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41" name="Google Shape;141;p22"/>
          <p:cNvPicPr preferRelativeResize="0"/>
          <p:nvPr/>
        </p:nvPicPr>
        <p:blipFill rotWithShape="1">
          <a:blip r:embed="rId11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405263" y="2683050"/>
            <a:ext cx="1743349" cy="642926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3"/>
          <p:cNvSpPr txBox="1"/>
          <p:nvPr/>
        </p:nvSpPr>
        <p:spPr>
          <a:xfrm>
            <a:off x="36576" y="-27432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23"/>
          <p:cNvSpPr txBox="1"/>
          <p:nvPr/>
        </p:nvSpPr>
        <p:spPr>
          <a:xfrm>
            <a:off x="153225" y="389800"/>
            <a:ext cx="4332300" cy="1957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Claude Motion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 Beta for Team and Enterprise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Turns supplied content and data into editable, code-based animated explainers, charts, product walkthroughs, and presentation visuals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Available inside Claude, with editing through conversation or an editor and export to MP4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Users describe their goals and ask Claude to generate and revise text, numbers, graphics, and timing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https://support.claude.com/en/articles/17454997-get-started-with-claude-motion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https://claude.com/resources/articles/dashboards-and-motion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8" name="Google Shape;148;p23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28250" y="123150"/>
            <a:ext cx="4428621" cy="2491099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49" name="Google Shape;149;p23"/>
          <p:cNvSpPr txBox="1"/>
          <p:nvPr/>
        </p:nvSpPr>
        <p:spPr>
          <a:xfrm>
            <a:off x="153225" y="2438425"/>
            <a:ext cx="4332300" cy="2188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AstaBrief 8B - Generates Science Reports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Ai2, the Allen Institute for AI, released AstaBrief 8B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on Hugging Face </a:t>
            </a: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https://huggingface.co/blog/allenai/astabrief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Built on Qwen3-8B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turns questions and supplied scientific excerpts into cited reports; the model itself does not search online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https://huggingface.co/allenai/AstaBrief_8B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Asta’s Fast pipeline averages 51.1 seconds, approximately 3.5 times faster than Thinking mode.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High precision and citation recall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 weights and training data enable local deployment, customization, and greater privacy for sensitive research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0" name="Google Shape;150;p23"/>
          <p:cNvPicPr preferRelativeResize="0"/>
          <p:nvPr/>
        </p:nvPicPr>
        <p:blipFill rotWithShape="1"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637925" y="2766650"/>
            <a:ext cx="3525009" cy="19578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4"/>
          <p:cNvSpPr txBox="1"/>
          <p:nvPr/>
        </p:nvSpPr>
        <p:spPr>
          <a:xfrm>
            <a:off x="36576" y="-27432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24"/>
          <p:cNvSpPr txBox="1"/>
          <p:nvPr/>
        </p:nvSpPr>
        <p:spPr>
          <a:xfrm>
            <a:off x="153225" y="389800"/>
            <a:ext cx="4718400" cy="3343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TurboPuffer - RIP Vectors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turbopuffer is a managed search AI - </a:t>
            </a:r>
            <a:r>
              <a:rPr lang="en" sz="1200" u="sng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https://turbopuffer.com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v3 redesign: document IDs replace vectors as primary storage keys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https://turbopuffer.com/blog/rip-vector-database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https://turbopuffer.com/v3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Serving AI applications including Cursor, Notion, and Anthropic, the company illustrates a shift: vector search becomes one tool, not the architecture’s center.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Three alternatives emerge: iterative agent search, live MCP connectors, and precompiled knowledge files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Agents are the best for complex questions, but higher costs and latency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Compiled wikis also show substantial overhead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Keyword search handles enterprise identifiers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Vectors help recover fuzzy meaning.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Choose retrieval by question complexity, permissions, latency, and budget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Simple, high-volume lookups still justify conventional RAG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https://www.youtube.com/watch?v=YLkSfz3EFGw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7" name="Google Shape;157;p24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24025" y="721150"/>
            <a:ext cx="3967575" cy="226171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5"/>
          <p:cNvSpPr txBox="1"/>
          <p:nvPr/>
        </p:nvSpPr>
        <p:spPr>
          <a:xfrm>
            <a:off x="36576" y="-27432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25"/>
          <p:cNvSpPr txBox="1"/>
          <p:nvPr/>
        </p:nvSpPr>
        <p:spPr>
          <a:xfrm>
            <a:off x="153225" y="389800"/>
            <a:ext cx="4718400" cy="2973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Odyssey 3: Interactive AI Worlds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Odyssey, a California AI company, launched Odyssey 3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 public research preview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generates explorable worlds from prompts, responding continuously to movement and events.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Learned physics helps address the challenge of predicting how environments change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Potentially supporting robot control and AI-agent training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Odyssey 3 Pro reported 66.1 on Physics-IQ Verified using best-of-eight sampling; this is not its standard score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https://x.com/testingcatalog/status/2108246975883751665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Demonstrations include robot arms and driving in India, requiring additional control policies rather than the model alone.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Interactive simulation could expand training and creative applications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https://odyssey.systems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https://odyssey.systems/meet-odyssey-3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4" name="Google Shape;164;p25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66375" y="760875"/>
            <a:ext cx="3967574" cy="2231761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26"/>
          <p:cNvSpPr txBox="1"/>
          <p:nvPr/>
        </p:nvSpPr>
        <p:spPr>
          <a:xfrm>
            <a:off x="36576" y="-27432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26"/>
          <p:cNvSpPr txBox="1"/>
          <p:nvPr/>
        </p:nvSpPr>
        <p:spPr>
          <a:xfrm>
            <a:off x="153225" y="389800"/>
            <a:ext cx="4075800" cy="1911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Step 5 Preview for Coding Agents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StepFun released Step 5 Preview f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or coding agents and professional workflows, including finance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600 Bln params, MoE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Supports text, images, video, tool calling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1M tokens input context window, 64K output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Agents can inspect projects, edit files, run tests, and iterate.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Available through OpenRouter and existing coding tools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https://www.stepfun.com/step-5-preview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https://openrouter.ai/stepfun/step-5-preview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https://www.youtube.com/watch?v=bqS3oZQgAhg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26"/>
          <p:cNvSpPr txBox="1"/>
          <p:nvPr/>
        </p:nvSpPr>
        <p:spPr>
          <a:xfrm>
            <a:off x="153225" y="2392225"/>
            <a:ext cx="4075800" cy="1588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Laminar Flow-1: Detecting Agent Failures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Laminar launched flow-1 inside its Signals platform to investigate AI agent execution traces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Reinforcement-learning-trained flow-1 searches trace steps and returns structured explanations of errors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Affordable continuous monitoring helps businesses verify automation rather than trust completion claims.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https://laminar.sh/blog/flow-1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https://laminar.sh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2" name="Google Shape;172;p26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10502" y="389800"/>
            <a:ext cx="2671348" cy="19116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73" name="Google Shape;173;p26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10499" y="2445925"/>
            <a:ext cx="2723175" cy="17725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7"/>
          <p:cNvSpPr txBox="1"/>
          <p:nvPr/>
        </p:nvSpPr>
        <p:spPr>
          <a:xfrm>
            <a:off x="36576" y="-27432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27"/>
          <p:cNvSpPr txBox="1"/>
          <p:nvPr/>
        </p:nvSpPr>
        <p:spPr>
          <a:xfrm>
            <a:off x="153225" y="389800"/>
            <a:ext cx="4357800" cy="2419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Alibaba QwenGyre - Long-Horizon Agent RL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training framework, not a model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Running on multi-node GPU clusters, it trains coding agents through unmodified harnesses on tasks lasting hours, with approximately 700,000 tokens per rollout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Dynamically moves GPUs between execution and training, then reconstructs, scores, and deduplicates histories into bounded training samples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On Qwen 3.8 2.4T, NL2RepoBench success increased from 52.5% to 58.5% in 48 steps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Training accelerated up to 1.85x, making lengthy repository-building agent training more computationally efficient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https://arxiv.org/abs/2609.33848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0" name="Google Shape;180;p27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30725" y="466075"/>
            <a:ext cx="3022602" cy="2266952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8"/>
          <p:cNvSpPr txBox="1"/>
          <p:nvPr/>
        </p:nvSpPr>
        <p:spPr>
          <a:xfrm>
            <a:off x="36576" y="-27432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28"/>
          <p:cNvSpPr txBox="1"/>
          <p:nvPr/>
        </p:nvSpPr>
        <p:spPr>
          <a:xfrm>
            <a:off x="98400" y="378350"/>
            <a:ext cx="4345200" cy="1449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Black Forest Labs releases FLUX 3 Image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New image model with pixel-perfect editing over many turns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Bounding boxes control where things go in the picture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Generates natively at up to </a:t>
            </a:r>
            <a:r>
              <a:rPr lang="en" sz="12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4K</a:t>
            </a:r>
            <a:endParaRPr sz="1200">
              <a:highlight>
                <a:srgbClr val="FFF2CC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Combines up to </a:t>
            </a:r>
            <a:r>
              <a:rPr lang="en" sz="12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10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reference images in one picture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Accurate typography for text in images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Commercial weights available now; open weights come next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https://bfl.ai/models/flux-3-image</a:t>
            </a:r>
            <a:r>
              <a:rPr lang="en" sz="900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28"/>
          <p:cNvSpPr txBox="1"/>
          <p:nvPr/>
        </p:nvSpPr>
        <p:spPr>
          <a:xfrm>
            <a:off x="98400" y="1940475"/>
            <a:ext cx="4345200" cy="1280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97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Microsoft unveils Maia 300, its third in-house AI chip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3rd generation of Microsoft's AI accelerator, built for inference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Claims </a:t>
            </a:r>
            <a:r>
              <a:rPr lang="en" sz="12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40%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more tokens per megawatt than leading GPU systems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Large-scale deployment starts in 2027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Goal: depend less on NVIDIA and AMD chips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Joins Google TPUs and Amazon Trainium in the custom-chip race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https://news.microsoft.com/maia-2026/</a:t>
            </a:r>
            <a:r>
              <a:rPr lang="en" sz="900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28"/>
          <p:cNvSpPr txBox="1"/>
          <p:nvPr/>
        </p:nvSpPr>
        <p:spPr>
          <a:xfrm>
            <a:off x="97550" y="3328475"/>
            <a:ext cx="4345200" cy="1588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GPT-6 becomes the ChatGPT default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GPT-6 Sol for paid tiers, GPT-6 Luna for Free and Go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Reaches ChatGPT's 1.2 Bln weekly users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Answers can include charts, forms, buttons and small tools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 compiler streams native components while the model writes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GPT-6 Instant web-search - answers 44% sooner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GPT-6.1 Sol Ultrafast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: up to 8x faster,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$12 / $60 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per 1M tokens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https://links.tldrnewsletter.com/jzR1OT/1/010001a11bcb0cee-9ff72ec9-51ce-4456-9da7-54a384371a80-000000/KMPLg6QPwYc4tenSvqLS20N1U8oP0eU9p1-AUH0fidQ=452</a:t>
            </a:r>
            <a:r>
              <a:rPr lang="en" sz="900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9" name="Google Shape;189;p28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72000" y="533688"/>
            <a:ext cx="3189800" cy="1139214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90" name="Google Shape;190;p28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96000" y="1940475"/>
            <a:ext cx="1646617" cy="12807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91" name="Google Shape;191;p28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96000" y="3397775"/>
            <a:ext cx="2761713" cy="1449899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9"/>
          <p:cNvSpPr txBox="1"/>
          <p:nvPr/>
        </p:nvSpPr>
        <p:spPr>
          <a:xfrm>
            <a:off x="36576" y="-27432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29"/>
          <p:cNvSpPr txBox="1"/>
          <p:nvPr/>
        </p:nvSpPr>
        <p:spPr>
          <a:xfrm>
            <a:off x="36575" y="354875"/>
            <a:ext cx="4482600" cy="1449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Claude Managed Agents - 1,000 agents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"Dynamic Workflows"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, in public beta</a:t>
            </a:r>
            <a:endParaRPr sz="12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 lead agent writes a plan, then multiple agents work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Up to </a:t>
            </a:r>
            <a:r>
              <a:rPr lang="en" sz="12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1,000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worker agents per run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Results are merged at the end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No hand-written coordinator or subagent roster needed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Token use is high, the model does not see the spending limit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https://www.latent.space/p/claude-dynamic-workflows</a:t>
            </a:r>
            <a:r>
              <a:rPr lang="en" sz="900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29"/>
          <p:cNvSpPr txBox="1"/>
          <p:nvPr/>
        </p:nvSpPr>
        <p:spPr>
          <a:xfrm>
            <a:off x="36575" y="1944275"/>
            <a:ext cx="4482600" cy="895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Grok Bot will route tasks to Claude, Midjourney and Suno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Grok Bot becomes an orchestrator, not a single-model assistant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Claude Opus 5.5, Midjourney for images, Suno for music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Announced after reports of Grok access problems on mobile and web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https://thenextweb.com/news/grok-bot-claude-opus-midjourney-suno-musk</a:t>
            </a:r>
            <a:r>
              <a:rPr lang="en" sz="900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9" name="Google Shape;199;p29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71675" y="1944284"/>
            <a:ext cx="2409568" cy="14859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00" name="Google Shape;200;p29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71675" y="156150"/>
            <a:ext cx="1874395" cy="1648626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0"/>
          <p:cNvSpPr txBox="1"/>
          <p:nvPr/>
        </p:nvSpPr>
        <p:spPr>
          <a:xfrm>
            <a:off x="83398" y="50600"/>
            <a:ext cx="19236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Jobs and Layoffs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30"/>
          <p:cNvSpPr txBox="1"/>
          <p:nvPr/>
        </p:nvSpPr>
        <p:spPr>
          <a:xfrm>
            <a:off x="2771397" y="19852"/>
            <a:ext cx="1800600" cy="387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b="0" i="0" u="sng" strike="noStrike" cap="none">
                <a:solidFill>
                  <a:srgbClr val="0097A7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https://layoffs.fyi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u="sng">
                <a:solidFill>
                  <a:srgbClr val="0097A7"/>
                </a:solid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https://trueup.io/layoffs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30"/>
          <p:cNvSpPr txBox="1"/>
          <p:nvPr/>
        </p:nvSpPr>
        <p:spPr>
          <a:xfrm>
            <a:off x="5690525" y="3510625"/>
            <a:ext cx="3286800" cy="1311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 Tech Layoffs by year (US only):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131.4K in 2026 </a:t>
            </a:r>
            <a:r>
              <a:rPr lang="en" sz="1000" b="1">
                <a:solidFill>
                  <a:srgbClr val="000000"/>
                </a:solidFill>
                <a:latin typeface="Roboto Mono"/>
                <a:ea typeface="Roboto Mono"/>
                <a:cs typeface="Roboto Mono"/>
                <a:sym typeface="Roboto Mono"/>
              </a:rPr>
              <a:t>(as of Oct 8, 2026)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123K in 2025 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153K in </a:t>
            </a:r>
            <a:r>
              <a:rPr lang="en" sz="1000" b="1">
                <a:solidFill>
                  <a:srgbClr val="000000"/>
                </a:solidFill>
                <a:latin typeface="Roboto Mono"/>
                <a:ea typeface="Roboto Mono"/>
                <a:cs typeface="Roboto Mono"/>
                <a:sym typeface="Roboto Mono"/>
              </a:rPr>
              <a:t>2024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266K in 2023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165K in 2022                  </a:t>
            </a:r>
            <a:r>
              <a:rPr lang="en" sz="1200" i="0" u="sng" strike="noStrike" cap="none">
                <a:solidFill>
                  <a:srgbClr val="0097A7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https://layoffs.fyi</a:t>
            </a:r>
            <a:endParaRPr sz="120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30"/>
          <p:cNvSpPr txBox="1"/>
          <p:nvPr/>
        </p:nvSpPr>
        <p:spPr>
          <a:xfrm>
            <a:off x="5690530" y="1158774"/>
            <a:ext cx="3286800" cy="942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 The Tech Layoff Tracker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 2026: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192,518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people laid off (685 per day)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 2025: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245,953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people laid off (674 per day)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 2024: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238,461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people </a:t>
            </a:r>
            <a:r>
              <a:rPr lang="en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laid off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(653 per day)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marR="460858" lvl="0" indent="-5715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u="sng">
                <a:solidFill>
                  <a:srgbClr val="0097A7"/>
                </a:solid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https://trueup.io/layoffs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9" name="Google Shape;209;p30" descr="auto: layoffs-fyi-chart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5736" y="3407672"/>
            <a:ext cx="4634459" cy="1548885"/>
          </a:xfrm>
          <a:prstGeom prst="rect">
            <a:avLst/>
          </a:prstGeom>
          <a:noFill/>
          <a:ln w="9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10" name="Google Shape;210;p30" descr="auto: trueup-chart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43109" y="569314"/>
            <a:ext cx="4839721" cy="2496148"/>
          </a:xfrm>
          <a:prstGeom prst="rect">
            <a:avLst/>
          </a:prstGeom>
          <a:noFill/>
          <a:ln w="9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31"/>
          <p:cNvSpPr txBox="1"/>
          <p:nvPr/>
        </p:nvSpPr>
        <p:spPr>
          <a:xfrm>
            <a:off x="93825" y="-8374"/>
            <a:ext cx="13827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Tech Hiring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31"/>
          <p:cNvSpPr txBox="1"/>
          <p:nvPr/>
        </p:nvSpPr>
        <p:spPr>
          <a:xfrm>
            <a:off x="84300" y="406525"/>
            <a:ext cx="4487700" cy="1080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Software job postings on Indeed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Comparing to 2020 level, in Feb 2022 it was 234%, in 2025 it was 65%, now it is 77%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All US job postings: 103% (compared with 2020)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Postings that mention AI: 6.7% of all, up from 3.4% a year ago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0563C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https://fred.stlouisfed.org/series/IHLIDXUSTPSOFTDEVE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31"/>
          <p:cNvSpPr txBox="1"/>
          <p:nvPr/>
        </p:nvSpPr>
        <p:spPr>
          <a:xfrm>
            <a:off x="84300" y="1779175"/>
            <a:ext cx="4487700" cy="2142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Skills in demand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Dice, 7M+ US tech postings (Aug 2026): +18% year over year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AI and machine learning postings </a:t>
            </a:r>
            <a:r>
              <a:rPr lang="en" sz="12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+101%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year over year, five times the overall rate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Fastest-growing skills, each up 200%+: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responsible AI, AI agents, agentic AI, AI infrastructure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Most requested overall: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communication, computer science, troubleshooting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Indeed: 71% of the software postings rebound (May 2025 to May 2026) is senior roles; 37% has AI in the title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0563C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https://hiringlab.indeed.com/2026/07/08/ai-and-job-postings-from-destruction-to-creation/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0563C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https://www.dice.com/hiring/recruitment/reports/dice-tech-job-report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31"/>
          <p:cNvSpPr txBox="1"/>
          <p:nvPr/>
        </p:nvSpPr>
        <p:spPr>
          <a:xfrm>
            <a:off x="4876773" y="318025"/>
            <a:ext cx="3942600" cy="4082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Top "In Demand" Skills and Qualifications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Critical thinking and problem-solving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Communication and stakeholder management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Adaptability and continuous learning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AI literacy and practical AI adoption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AI/ML application development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Data engineering and data management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Cybersecurity and risk management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Cloud and infrastructure engineering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Software engineering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Automation and workflow optimization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DevOps, CI/CD, and platform engineering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Governance, compliance, and responsible AI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Analytical thinking and data analysis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Product management and business alignment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Project and program management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Leadership and cross-functional collaboration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Creativity and innovation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Resilience and professionalism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Technical troubleshooting and systems thinking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Business growth and customer focus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32"/>
          <p:cNvSpPr txBox="1"/>
          <p:nvPr/>
        </p:nvSpPr>
        <p:spPr>
          <a:xfrm>
            <a:off x="36576" y="-27432"/>
            <a:ext cx="24411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About the Speaker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32"/>
          <p:cNvSpPr txBox="1"/>
          <p:nvPr/>
        </p:nvSpPr>
        <p:spPr>
          <a:xfrm>
            <a:off x="3328416" y="1263396"/>
            <a:ext cx="4572000" cy="295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Lev Selector, Ph.D.</a:t>
            </a:r>
            <a:endParaRPr sz="24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18186" algn="l" rtl="0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lang="en" sz="1600">
                <a:latin typeface="Calibri"/>
                <a:ea typeface="Calibri"/>
                <a:cs typeface="Calibri"/>
                <a:sym typeface="Calibri"/>
              </a:rPr>
              <a:t>40+ years of software engineering, data science, and building teams (hiring, training, and managing)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18186" algn="l" rtl="0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lang="en" sz="1600">
                <a:latin typeface="Calibri"/>
                <a:ea typeface="Calibri"/>
                <a:cs typeface="Calibri"/>
                <a:sym typeface="Calibri"/>
              </a:rPr>
              <a:t>Ph.D. in mathematical modeling and computer simulations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18186" algn="l" rtl="0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lang="en" sz="1600">
                <a:latin typeface="Calibri"/>
                <a:ea typeface="Calibri"/>
                <a:cs typeface="Calibri"/>
                <a:sym typeface="Calibri"/>
              </a:rPr>
              <a:t>Interests: Generative AI, using LLMs with your data, local AI for local private data, cloud architecture, fin-tech, application security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18186" algn="l" rtl="0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lang="en" sz="1600">
                <a:latin typeface="Calibri"/>
                <a:ea typeface="Calibri"/>
                <a:cs typeface="Calibri"/>
                <a:sym typeface="Calibri"/>
              </a:rPr>
              <a:t>Find and connect: LinkedIn, GitHub, YouTube, Google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https://eais.ai</a:t>
            </a:r>
            <a:endParaRPr sz="12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5" name="Google Shape;225;p32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89304" y="1952244"/>
            <a:ext cx="1572768" cy="1572768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3"/>
          <p:cNvSpPr txBox="1"/>
          <p:nvPr/>
        </p:nvSpPr>
        <p:spPr>
          <a:xfrm>
            <a:off x="36576" y="1687068"/>
            <a:ext cx="9070800" cy="77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b="1">
                <a:latin typeface="Calibri"/>
                <a:ea typeface="Calibri"/>
                <a:cs typeface="Calibri"/>
                <a:sym typeface="Calibri"/>
              </a:rPr>
              <a:t>Thank You!</a:t>
            </a:r>
            <a:endParaRPr sz="4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33"/>
          <p:cNvSpPr txBox="1"/>
          <p:nvPr/>
        </p:nvSpPr>
        <p:spPr>
          <a:xfrm>
            <a:off x="1434219" y="2554732"/>
            <a:ext cx="6275700" cy="14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218186" algn="l" rtl="0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lang="en" sz="1600">
                <a:latin typeface="Calibri"/>
                <a:ea typeface="Calibri"/>
                <a:cs typeface="Calibri"/>
                <a:sym typeface="Calibri"/>
              </a:rPr>
              <a:t>Videos of every seminar are on YouTube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https://www.youtube.com/@lev-selector</a:t>
            </a:r>
            <a:endParaRPr sz="12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18186" algn="l" rtl="0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lang="en" sz="1600">
                <a:latin typeface="Calibri"/>
                <a:ea typeface="Calibri"/>
                <a:cs typeface="Calibri"/>
                <a:sym typeface="Calibri"/>
              </a:rPr>
              <a:t>Slides on GitHub. Click a pptx file, then the download button on the right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https://github.com/lselector/seminar</a:t>
            </a:r>
            <a:endParaRPr sz="12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18186" algn="l" rtl="0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lang="en" sz="1600">
                <a:latin typeface="Calibri"/>
                <a:ea typeface="Calibri"/>
                <a:cs typeface="Calibri"/>
                <a:sym typeface="Calibri"/>
              </a:rPr>
              <a:t>Slides on Google Drive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https://drive.google.com/drive/folders/1dmj00iilSP-JYmriMUUaHCKz5X54e3UX?ths=true</a:t>
            </a:r>
            <a:endParaRPr sz="12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3849</Words>
  <Application>Microsoft Macintosh PowerPoint</Application>
  <PresentationFormat>On-screen Show (16:9)</PresentationFormat>
  <Paragraphs>639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Arial</vt:lpstr>
      <vt:lpstr>Calibri</vt:lpstr>
      <vt:lpstr>Roboto Mono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Lev Selector</cp:lastModifiedBy>
  <cp:revision>2</cp:revision>
  <dcterms:modified xsi:type="dcterms:W3CDTF">2026-10-15T02:18:21Z</dcterms:modified>
</cp:coreProperties>
</file>