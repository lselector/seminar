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embeddedFontLst>
    <p:embeddedFont>
      <p:font typeface="Consolas" panose="020B0609020204030204" pitchFamily="49" charset="0"/>
      <p:regular r:id="rId41"/>
      <p:bold r:id="rId42"/>
      <p:italic r:id="rId43"/>
      <p:boldItalic r:id="rId44"/>
    </p:embeddedFont>
    <p:embeddedFont>
      <p:font typeface="Roboto Mono" pitchFamily="49"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A25FA09-6498-4BC5-B046-DB385637032A}">
  <a:tblStyle styleId="{8A25FA09-6498-4BC5-B046-DB385637032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English - https://lmarena.ai/leaderboard/text =&gt; Crowd-sourced LM Arena</a:t>
            </a:r>
            <a:endParaRPr/>
          </a:p>
          <a:p>
            <a:pPr marL="0" lvl="0" indent="0" algn="l" rtl="0">
              <a:spcBef>
                <a:spcPts val="0"/>
              </a:spcBef>
              <a:spcAft>
                <a:spcPts val="0"/>
              </a:spcAft>
              <a:buNone/>
            </a:pPr>
            <a:r>
              <a:rPr lang="en"/>
              <a:t>Coding - https://lmarena.ai/leaderboard/text/coding =&gt; Crowd-sourced LM Arena</a:t>
            </a:r>
            <a:endParaRPr/>
          </a:p>
          <a:p>
            <a:pPr marL="0" lvl="0" indent="0" algn="l" rtl="0">
              <a:spcBef>
                <a:spcPts val="0"/>
              </a:spcBef>
              <a:spcAft>
                <a:spcPts val="0"/>
              </a:spcAft>
              <a:buNone/>
            </a:pPr>
            <a:r>
              <a:rPr lang="en"/>
              <a:t>Sept 18 =&gt; -</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Claude now leads a quarter of Anthropic's own AI research =&gt; Claude Leads 26% of Anthropic R&amp;D</a:t>
            </a:r>
            <a:endParaRPr/>
          </a:p>
          <a:p>
            <a:pPr marL="0" lvl="0" indent="0" algn="l" rtl="0">
              <a:spcBef>
                <a:spcPts val="0"/>
              </a:spcBef>
              <a:spcAft>
                <a:spcPts val="0"/>
              </a:spcAft>
              <a:buNone/>
            </a:pPr>
            <a:r>
              <a:rPr lang="en"/>
              <a:t>Google tests a family agent with its own cloud computer =&gt; Google Family Agent</a:t>
            </a:r>
            <a:endParaRPr/>
          </a:p>
          <a:p>
            <a:pPr marL="0" lvl="0" indent="0" algn="l" rtl="0">
              <a:spcBef>
                <a:spcPts val="0"/>
              </a:spcBef>
              <a:spcAft>
                <a:spcPts val="0"/>
              </a:spcAft>
              <a:buNone/>
            </a:pPr>
            <a:r>
              <a:rPr lang="en"/>
              <a:t>Claude makes biomolecular modeling four times faster =&gt; Claude Speeds Up Biomolecular Models</a:t>
            </a:r>
            <a:endParaRPr/>
          </a:p>
          <a:p>
            <a:pPr marL="0" lvl="0" indent="0" algn="l" rtl="0">
              <a:spcBef>
                <a:spcPts val="0"/>
              </a:spcBef>
              <a:spcAft>
                <a:spcPts val="0"/>
              </a:spcAft>
              <a:buNone/>
            </a:pPr>
            <a:r>
              <a:rPr lang="en"/>
              <a:t>Jev gets six open clones in two days =&gt; Six Open Clones of Jev</a:t>
            </a:r>
            <a:endParaRPr/>
          </a:p>
          <a:p>
            <a:pPr marL="0" lvl="0" indent="0" algn="l" rtl="0">
              <a:spcBef>
                <a:spcPts val="0"/>
              </a:spcBef>
              <a:spcAft>
                <a:spcPts val="0"/>
              </a:spcAft>
              <a:buNone/>
            </a:pPr>
            <a:r>
              <a:rPr lang="en"/>
              <a:t>Jev apps arrive: page search, Postgres, judges, browsers =&gt; Jev Apps: Search, SQL, Judges</a:t>
            </a:r>
            <a:endParaRPr/>
          </a:p>
          <a:p>
            <a:pPr marL="0" lvl="0" indent="0" algn="l" rtl="0">
              <a:spcBef>
                <a:spcPts val="0"/>
              </a:spcBef>
              <a:spcAft>
                <a:spcPts val="0"/>
              </a:spcAft>
              <a:buNone/>
            </a:pPr>
            <a:r>
              <a:rPr lang="en"/>
              <a:t>The harness tax: same model, same task, up to 5x the cost =&gt; The Harness Tax: Up to 5x Cost</a:t>
            </a:r>
            <a:endParaRPr/>
          </a:p>
          <a:p>
            <a:pPr marL="0" lvl="0" indent="0" algn="l" rtl="0">
              <a:spcBef>
                <a:spcPts val="0"/>
              </a:spcBef>
              <a:spcAft>
                <a:spcPts val="0"/>
              </a:spcAft>
              <a:buNone/>
            </a:pPr>
            <a:r>
              <a:rPr lang="en"/>
              <a:t>Qwen3.8-LiveTranslate interprets 60 languages with 2.3s lag =&gt; Qwen3.8-LiveTranslate</a:t>
            </a:r>
            <a:endParaRPr/>
          </a:p>
          <a:p>
            <a:pPr marL="0" lvl="0" indent="0" algn="l" rtl="0">
              <a:spcBef>
                <a:spcPts val="0"/>
              </a:spcBef>
              <a:spcAft>
                <a:spcPts val="0"/>
              </a:spcAft>
              <a:buNone/>
            </a:pPr>
            <a:r>
              <a:rPr lang="en"/>
              <a:t>Grok Voice Transcribe 2.0 cuts word errors to 6.8% =&gt; Grok Voice Transcribe 2.0</a:t>
            </a:r>
            <a:endParaRPr/>
          </a:p>
          <a:p>
            <a:pPr marL="0" lvl="0" indent="0" algn="l" rtl="0">
              <a:spcBef>
                <a:spcPts val="0"/>
              </a:spcBef>
              <a:spcAft>
                <a:spcPts val="0"/>
              </a:spcAft>
              <a:buNone/>
            </a:pPr>
            <a:r>
              <a:rPr lang="en"/>
              <a:t>OpenClaw 2026.9.5 updates itself without breaking =&gt; OpenClaw 2026.9.5 Safe Updates</a:t>
            </a:r>
            <a:endParaRPr/>
          </a:p>
          <a:p>
            <a:pPr marL="0" lvl="0" indent="0" algn="l" rtl="0">
              <a:spcBef>
                <a:spcPts val="0"/>
              </a:spcBef>
              <a:spcAft>
                <a:spcPts val="0"/>
              </a:spcAft>
              <a:buNone/>
            </a:pPr>
            <a:r>
              <a:rPr lang="en"/>
              <a:t>Claude merges chat and Cowork, adds Docs, Slides and Design =&gt; Claude Docs, Slides and Design</a:t>
            </a:r>
            <a:endParaRPr/>
          </a:p>
          <a:p>
            <a:pPr marL="0" lvl="0" indent="0" algn="l" rtl="0">
              <a:spcBef>
                <a:spcPts val="0"/>
              </a:spcBef>
              <a:spcAft>
                <a:spcPts val="0"/>
              </a:spcAft>
              <a:buNone/>
            </a:pPr>
            <a:r>
              <a:rPr lang="en"/>
              <a:t>Claude Code Projects run parallel agents in the cloud =&gt; Claude Code Projects</a:t>
            </a:r>
            <a:endParaRPr/>
          </a:p>
          <a:p>
            <a:pPr marL="0" lvl="0" indent="0" algn="l" rtl="0">
              <a:spcBef>
                <a:spcPts val="0"/>
              </a:spcBef>
              <a:spcAft>
                <a:spcPts val="0"/>
              </a:spcAft>
              <a:buNone/>
            </a:pPr>
            <a:r>
              <a:rPr lang="en"/>
              <a:t>Apple ships Siri AI, built with Google's Gemini =&gt; Apple Siri AI on Gemini</a:t>
            </a:r>
            <a:endParaRPr/>
          </a:p>
          <a:p>
            <a:pPr marL="0" lvl="0" indent="0" algn="l" rtl="0">
              <a:spcBef>
                <a:spcPts val="0"/>
              </a:spcBef>
              <a:spcAft>
                <a:spcPts val="0"/>
              </a:spcAft>
              <a:buNone/>
            </a:pPr>
            <a:r>
              <a:rPr lang="en"/>
              <a:t>Gemini 3.8 Live: a voice model that thinks while it talks =&gt; Gemini 3.8 Live Voice Model</a:t>
            </a:r>
            <a:endParaRPr/>
          </a:p>
          <a:p>
            <a:pPr marL="0" lvl="0" indent="0" algn="l" rtl="0">
              <a:spcBef>
                <a:spcPts val="0"/>
              </a:spcBef>
              <a:spcAft>
                <a:spcPts val="0"/>
              </a:spcAft>
              <a:buNone/>
            </a:pPr>
            <a:r>
              <a:rPr lang="en"/>
              <a:t>OpenAI discloses six cases of its models misbehaving =&gt; OpenAI Misalignment Reports</a:t>
            </a:r>
            <a:endParaRPr/>
          </a:p>
          <a:p>
            <a:pPr marL="0" lvl="0" indent="0" algn="l" rtl="0">
              <a:spcBef>
                <a:spcPts val="0"/>
              </a:spcBef>
              <a:spcAft>
                <a:spcPts val="0"/>
              </a:spcAft>
              <a:buNone/>
            </a:pPr>
            <a:r>
              <a:rPr lang="en"/>
              <a:t>Gemini broke into three real companies during a security test =&gt; Gemini Hacks Three Companies</a:t>
            </a:r>
            <a:endParaRPr/>
          </a:p>
          <a:p>
            <a:pPr marL="0" lvl="0" indent="0" algn="l" rtl="0">
              <a:spcBef>
                <a:spcPts val="0"/>
              </a:spcBef>
              <a:spcAft>
                <a:spcPts val="0"/>
              </a:spcAft>
              <a:buNone/>
            </a:pPr>
            <a:r>
              <a:rPr lang="en"/>
              <a:t>Periodic Labs' Neon beats frontier models at lab science =&gt; Periodic Labs Neon</a:t>
            </a:r>
            <a:endParaRPr/>
          </a:p>
          <a:p>
            <a:pPr marL="0" lvl="0" indent="0" algn="l" rtl="0">
              <a:spcBef>
                <a:spcPts val="0"/>
              </a:spcBef>
              <a:spcAft>
                <a:spcPts val="0"/>
              </a:spcAft>
              <a:buNone/>
            </a:pPr>
            <a:r>
              <a:rPr lang="en"/>
              <a:t>Google Home opens to AI agents through MCP =&gt; Google Home MCP for Agents</a:t>
            </a:r>
            <a:endParaRPr/>
          </a:p>
          <a:p>
            <a:pPr marL="0" lvl="0" indent="0" algn="l" rtl="0">
              <a:spcBef>
                <a:spcPts val="0"/>
              </a:spcBef>
              <a:spcAft>
                <a:spcPts val="0"/>
              </a:spcAft>
              <a:buNone/>
            </a:pPr>
            <a:r>
              <a:rPr lang="en"/>
              <a:t>Frankenstein; or, The Modern Prometheus is an 1818 Gothic novel[a] written by English author Mary Shelley =&gt; Frankenstein by Mary Shelley (1818)</a:t>
            </a:r>
            <a:endParaRPr/>
          </a:p>
          <a:p>
            <a:pPr marL="0" lvl="0" indent="0" algn="l" rtl="0">
              <a:spcBef>
                <a:spcPts val="0"/>
              </a:spcBef>
              <a:spcAft>
                <a:spcPts val="0"/>
              </a:spcAft>
              <a:buNone/>
            </a:pPr>
            <a:r>
              <a:rPr lang="en"/>
              <a:t>Amazon blocks Meta's Muse agent from shopping =&gt; Amazon Blocks Meta's Muse Agent</a:t>
            </a:r>
            <a:endParaRPr/>
          </a:p>
          <a:p>
            <a:pPr marL="0" lvl="0" indent="0" algn="l" rtl="0">
              <a:spcBef>
                <a:spcPts val="0"/>
              </a:spcBef>
              <a:spcAft>
                <a:spcPts val="0"/>
              </a:spcAft>
              <a:buNone/>
            </a:pPr>
            <a:r>
              <a:rPr lang="en"/>
              <a:t>Trump plans an "AI Force" and a new AI czar =&gt; Trump's AI Force and AI Czar</a:t>
            </a:r>
            <a:endParaRPr/>
          </a:p>
          <a:p>
            <a:pPr marL="0" lvl="0" indent="0" algn="l" rtl="0">
              <a:spcBef>
                <a:spcPts val="0"/>
              </a:spcBef>
              <a:spcAft>
                <a:spcPts val="0"/>
              </a:spcAft>
              <a:buNone/>
            </a:pPr>
            <a:r>
              <a:rPr lang="en"/>
              <a:t>UN science panel: AI safeguards are unravelling =&gt; UN Panel: AI Safeguards Unravelling</a:t>
            </a:r>
            <a:endParaRPr/>
          </a:p>
          <a:p>
            <a:pPr marL="0" lvl="0" indent="0" algn="l" rtl="0">
              <a:spcBef>
                <a:spcPts val="0"/>
              </a:spcBef>
              <a:spcAft>
                <a:spcPts val="0"/>
              </a:spcAft>
              <a:buNone/>
            </a:pPr>
            <a:r>
              <a:rPr lang="en"/>
              <a:t>Robot arm test: GPT-6 Astra stabbed a baby doll 17 of 20 times =&gt; RoboHarm: Robot Arm Safety Test</a:t>
            </a:r>
            <a:endParaRPr/>
          </a:p>
          <a:p>
            <a:pPr marL="0" lvl="0" indent="0" algn="l" rtl="0">
              <a:spcBef>
                <a:spcPts val="0"/>
              </a:spcBef>
              <a:spcAft>
                <a:spcPts val="0"/>
              </a:spcAft>
              <a:buNone/>
            </a:pPr>
            <a:r>
              <a:rPr lang="en"/>
              <a:t>Microsoft memo: AI scraping is "the largest theft of labor" =&gt; Microsoft Memo: Largest Theft of Labor</a:t>
            </a:r>
            <a:endParaRPr/>
          </a:p>
          <a:p>
            <a:pPr marL="0" lvl="0" indent="0" algn="l" rtl="0">
              <a:spcBef>
                <a:spcPts val="0"/>
              </a:spcBef>
              <a:spcAft>
                <a:spcPts val="0"/>
              </a:spcAft>
              <a:buNone/>
            </a:pPr>
            <a:r>
              <a:rPr lang="en"/>
              <a:t>Google open-sources AX, a Kubernetes-style runtime for agents =&gt; Google AX Agent Runtime</a:t>
            </a:r>
            <a:endParaRPr/>
          </a:p>
          <a:p>
            <a:pPr marL="0" lvl="0" indent="0" algn="l" rtl="0">
              <a:spcBef>
                <a:spcPts val="0"/>
              </a:spcBef>
              <a:spcAft>
                <a:spcPts val="0"/>
              </a:spcAft>
              <a:buNone/>
            </a:pPr>
            <a:r>
              <a:rPr lang="en"/>
              <a:t>Googlebook: an $899 laptop built around Gemini =&gt; Googlebook Gemini Laptop</a:t>
            </a:r>
            <a:endParaRPr/>
          </a:p>
          <a:p>
            <a:pPr marL="0" lvl="0" indent="0" algn="l" rtl="0">
              <a:spcBef>
                <a:spcPts val="0"/>
              </a:spcBef>
              <a:spcAft>
                <a:spcPts val="0"/>
              </a:spcAft>
              <a:buNone/>
            </a:pPr>
            <a:r>
              <a:rPr lang="en"/>
              <a:t>Swarm scaling: 10x more agents is worth less than 10x tokens =&gt; Swarm Scaling vs. Token Scaling</a:t>
            </a:r>
            <a:endParaRPr/>
          </a:p>
          <a:p>
            <a:pPr marL="0" lvl="0" indent="0" algn="l" rtl="0">
              <a:spcBef>
                <a:spcPts val="0"/>
              </a:spcBef>
              <a:spcAft>
                <a:spcPts val="0"/>
              </a:spcAft>
              <a:buNone/>
            </a:pPr>
            <a:r>
              <a:rPr lang="en"/>
              <a:t>Frankenstein; or, The Modern Prometheus is an 1818 novel written by English author Mary Shelley =&gt; Frankenstein by Mary Shelley (1818)</a:t>
            </a:r>
            <a:endParaRPr/>
          </a:p>
          <a:p>
            <a:pPr marL="0" lvl="0" indent="0" algn="l" rtl="0">
              <a:spcBef>
                <a:spcPts val="0"/>
              </a:spcBef>
              <a:spcAft>
                <a:spcPts val="0"/>
              </a:spcAft>
              <a:buNone/>
            </a:pPr>
            <a:r>
              <a:rPr lang="en"/>
              <a:t>NVIDIA developed NVFP4 - a 4-bit floating-point quantization format (June 2025) =&gt; NVIDIA NVFP4 4-Bit Format</a:t>
            </a:r>
            <a:endParaRPr/>
          </a:p>
          <a:p>
            <a:pPr marL="0" lvl="0" indent="0" algn="l" rtl="0">
              <a:spcBef>
                <a:spcPts val="0"/>
              </a:spcBef>
              <a:spcAft>
                <a:spcPts val="0"/>
              </a:spcAft>
              <a:buNone/>
            </a:pPr>
            <a:r>
              <a:rPr lang="en"/>
              <a:t>Google open-sources AX - a Kubernetes-style runtime for agents =&gt; Google Open-Sources AX Agent Runtime</a:t>
            </a:r>
            <a:endParaRPr/>
          </a:p>
          <a:p>
            <a:pPr marL="0" lvl="0" indent="0" algn="l" rtl="0">
              <a:spcBef>
                <a:spcPts val="0"/>
              </a:spcBef>
              <a:spcAft>
                <a:spcPts val="0"/>
              </a:spcAft>
              <a:buNone/>
            </a:pPr>
            <a:r>
              <a:rPr lang="en"/>
              <a:t>Claude Opus 5.5: Fable-level work at 40% lower cost =&gt; -</a:t>
            </a:r>
            <a:endParaRPr/>
          </a:p>
          <a:p>
            <a:pPr marL="0" lvl="0" indent="0" algn="l" rtl="0">
              <a:spcBef>
                <a:spcPts val="0"/>
              </a:spcBef>
              <a:spcAft>
                <a:spcPts val="0"/>
              </a:spcAft>
              <a:buNone/>
            </a:pPr>
            <a:r>
              <a:rPr lang="en"/>
              <a:t>Anthropic hires Accenture's Faculty as its first embedded evaluator =&gt; Accenture Is Anthropic's First Evaluator</a:t>
            </a:r>
            <a:endParaRPr/>
          </a:p>
          <a:p>
            <a:pPr marL="0" lvl="0" indent="0" algn="l" rtl="0">
              <a:spcBef>
                <a:spcPts val="0"/>
              </a:spcBef>
              <a:spcAft>
                <a:spcPts val="0"/>
              </a:spcAft>
              <a:buNone/>
            </a:pPr>
            <a:r>
              <a:rPr lang="en"/>
              <a:t>Newsom orders work on a kill switch for frontier AI models =&gt; California AI Kill Switch Order</a:t>
            </a:r>
            <a:endParaRPr/>
          </a:p>
          <a:p>
            <a:pPr marL="0" lvl="0" indent="0" algn="l" rtl="0">
              <a:spcBef>
                <a:spcPts val="0"/>
              </a:spcBef>
              <a:spcAft>
                <a:spcPts val="0"/>
              </a:spcAft>
              <a:buNone/>
            </a:pPr>
            <a:r>
              <a:rPr lang="en"/>
              <a:t>OpenAI model resolves 100+ open math problems; mathematicians to vet them =&gt; OpenAI Solves 100+ Open Math Problems</a:t>
            </a:r>
            <a:endParaRPr/>
          </a:p>
          <a:p>
            <a:pPr marL="0" lvl="0" indent="0" algn="l" rtl="0">
              <a:spcBef>
                <a:spcPts val="0"/>
              </a:spcBef>
              <a:spcAft>
                <a:spcPts val="0"/>
              </a:spcAft>
              <a:buNone/>
            </a:pPr>
            <a:r>
              <a:rPr lang="en"/>
              <a:t>Cohere and Aleph Alpha sign a $20 billion merger =&gt; Cohere + Aleph Alpha $20B Merger</a:t>
            </a:r>
            <a:endParaRPr/>
          </a:p>
          <a:p>
            <a:pPr marL="0" lvl="0" indent="0" algn="l" rtl="0">
              <a:spcBef>
                <a:spcPts val="0"/>
              </a:spcBef>
              <a:spcAft>
                <a:spcPts val="0"/>
              </a:spcAft>
              <a:buNone/>
            </a:pPr>
            <a:r>
              <a:rPr lang="en"/>
              <a:t>OpenAI eyes $1.5 trillion valuation as compute bill hits $856B =&gt; OpenAI at $1.5T, Compute Bill $856B</a:t>
            </a:r>
            <a:endParaRPr/>
          </a:p>
          <a:p>
            <a:pPr marL="0" lvl="0" indent="0" algn="l" rtl="0">
              <a:spcBef>
                <a:spcPts val="0"/>
              </a:spcBef>
              <a:spcAft>
                <a:spcPts val="0"/>
              </a:spcAft>
              <a:buNone/>
            </a:pPr>
            <a:r>
              <a:rPr lang="en"/>
              <a:t>Meta SAM 3.1 segments and tracks anything from a text prompt =&gt; Meta SAM 3.1</a:t>
            </a:r>
            <a:endParaRPr/>
          </a:p>
          <a:p>
            <a:pPr marL="0" lvl="0" indent="0" algn="l" rtl="0">
              <a:spcBef>
                <a:spcPts val="0"/>
              </a:spcBef>
              <a:spcAft>
                <a:spcPts val="0"/>
              </a:spcAft>
              <a:buNone/>
            </a:pPr>
            <a:r>
              <a:rPr lang="en"/>
              <a:t>Paperclip organizes agentsfrom different harnesses into company roles, reporting lines, and workflows =&gt; Paperclip: Agents Organized as a Company</a:t>
            </a:r>
            <a:endParaRPr/>
          </a:p>
          <a:p>
            <a:pPr marL="0" lvl="0" indent="0" algn="l" rtl="0">
              <a:spcBef>
                <a:spcPts val="0"/>
              </a:spcBef>
              <a:spcAft>
                <a:spcPts val="0"/>
              </a:spcAft>
              <a:buNone/>
            </a:pPr>
            <a:r>
              <a:rPr lang="en"/>
              <a:t>Paperclip organizes agents from different harnesses into company roles, reporting lines, and workflows =&gt; Paperclip: Agents Organized as a Company</a:t>
            </a:r>
            <a:endParaRPr/>
          </a:p>
          <a:p>
            <a:pPr marL="0" lvl="0" indent="0" algn="l" rtl="0">
              <a:spcBef>
                <a:spcPts val="0"/>
              </a:spcBef>
              <a:spcAft>
                <a:spcPts val="0"/>
              </a:spcAft>
              <a:buNone/>
            </a:pPr>
            <a:r>
              <a:rPr lang="en"/>
              <a:t>Meta Connect 2026: Muse gets voice, glasses, email and Charm =&gt; Meta Connect: Muse Glasses and Charm</a:t>
            </a:r>
            <a:endParaRPr/>
          </a:p>
          <a:p>
            <a:pPr marL="0" lvl="0" indent="0" algn="l" rtl="0">
              <a:spcBef>
                <a:spcPts val="0"/>
              </a:spcBef>
              <a:spcAft>
                <a:spcPts val="0"/>
              </a:spcAft>
              <a:buNone/>
            </a:pPr>
            <a:r>
              <a:rPr lang="en"/>
              <a:t>Altman and Amodei brief the UN Security Council on AI =&gt; AI Leaders Brief UN Security Council</a:t>
            </a:r>
            <a:endParaRPr/>
          </a:p>
          <a:p>
            <a:pPr marL="0" lvl="0" indent="0" algn="l" rtl="0">
              <a:spcBef>
                <a:spcPts val="0"/>
              </a:spcBef>
              <a:spcAft>
                <a:spcPts val="0"/>
              </a:spcAft>
              <a:buNone/>
            </a:pPr>
            <a:r>
              <a:rPr lang="en"/>
              <a:t>Sanders and Casar introduce a bill to ban superintelligence =&gt; Bill to Ban Superintelligence</a:t>
            </a:r>
            <a:endParaRPr/>
          </a:p>
          <a:p>
            <a:pPr marL="0" lvl="0" indent="0" algn="l" rtl="0">
              <a:spcBef>
                <a:spcPts val="0"/>
              </a:spcBef>
              <a:spcAft>
                <a:spcPts val="0"/>
              </a:spcAft>
              <a:buNone/>
            </a:pPr>
            <a:r>
              <a:rPr lang="en"/>
              <a:t>Google Gemini 3.8 Flash TTS lets you design and direct voices =&gt; Gemini 3.8 Flash TTS</a:t>
            </a:r>
            <a:endParaRPr/>
          </a:p>
          <a:p>
            <a:pPr marL="0" lvl="0" indent="0" algn="l" rtl="0">
              <a:spcBef>
                <a:spcPts val="0"/>
              </a:spcBef>
              <a:spcAft>
                <a:spcPts val="0"/>
              </a:spcAft>
              <a:buNone/>
            </a:pPr>
            <a:r>
              <a:rPr lang="en"/>
              <a:t>Perplexity tests whether nine AI models can escape its sandbox =&gt; Perplexity Sandbox Escape Tests</a:t>
            </a:r>
            <a:endParaRPr/>
          </a:p>
          <a:p>
            <a:pPr marL="0" lvl="0" indent="0" algn="l" rtl="0">
              <a:spcBef>
                <a:spcPts val="0"/>
              </a:spcBef>
              <a:spcAft>
                <a:spcPts val="0"/>
              </a:spcAft>
              <a:buNone/>
            </a:pPr>
            <a:r>
              <a:rPr lang="en"/>
              <a:t>SWE-Bench Pro V2: a harder, cleaner coding benchmark =&gt; SWE-Bench Pro V2</a:t>
            </a:r>
            <a:endParaRPr/>
          </a:p>
          <a:p>
            <a:pPr marL="0" lvl="0" indent="0" algn="l" rtl="0">
              <a:spcBef>
                <a:spcPts val="0"/>
              </a:spcBef>
              <a:spcAft>
                <a:spcPts val="0"/>
              </a:spcAft>
              <a:buNone/>
            </a:pPr>
            <a:r>
              <a:rPr lang="en"/>
              <a:t>NVIDIA SoL-Pi: an AI tuned a coding harness to use half the tokens =&gt; NVIDIA SoL-Pi Harness Tuning</a:t>
            </a:r>
            <a:endParaRPr/>
          </a:p>
          <a:p>
            <a:pPr marL="0" lvl="0" indent="0" algn="l" rtl="0">
              <a:spcBef>
                <a:spcPts val="0"/>
              </a:spcBef>
              <a:spcAft>
                <a:spcPts val="0"/>
              </a:spcAft>
              <a:buNone/>
            </a:pPr>
            <a:r>
              <a:rPr lang="en"/>
              <a:t>Local opposition blocks $68 billion of US data centers =&gt; $68B of US Data Centers Blocked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s-news-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s-news-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b56df854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b56df85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a33f148eb95996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a33f148eb95996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bb56df85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fbb56df85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fbaccb1c23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fbaccb1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8eefe011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8eefe011d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baccb1c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fbaccb1c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fbaccb1c23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3fbaccb1c2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baccb1c23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fbaccb1c23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s-claude-now-leads-a-quarter-of-3c9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s-claude-now-leads-a-quarter-of-3c9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s-claude-makes-biomolecular-a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s-claude-makes-biomolecular-a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s-jev-apps-arrive-page-search-ba1a: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s-jev-apps-arrive-page-search-ba1a: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s-claude-merges-chat-and-cowork-abe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s-claude-merges-chat-and-cowork-abe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8eefe011d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f8eefe011d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h3aee63046407e845_6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h3aee63046407e845_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s-amazon-blocks-meta-s-muse-0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s-amazon-blocks-meta-s-muse-0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s-un-science-panel-ai-94eb: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s-un-science-panel-ai-94e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s-googlebook-an-899-laptop-4b0f: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s-googlebook-an-899-laptop-4b0f: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h78f9fc5cf4fedfe0_1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h78f9fc5cf4fedfe0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h78f9fc5cf4fedfe0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h78f9fc5cf4fedfe0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h78f9fc5cf4fedfe0_1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h78f9fc5cf4fedfe0_1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s-cohere-and-aleph-alpha-sign-a-09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s-cohere-and-aleph-alpha-sign-a-09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s-meta-connect-2026-muse-gets-8b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s-meta-connect-2026-muse-gets-8b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 name="Google Shape;311;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s-separator: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4" name="Google Shape;324;s-separator: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Topic ledger. Kept by g2_add_news.py.</a:t>
            </a:r>
            <a:endParaRPr/>
          </a:p>
          <a:p>
            <a:pPr marL="0" lvl="0" indent="0" algn="l" rtl="0">
              <a:spcBef>
                <a:spcPts val="0"/>
              </a:spcBef>
              <a:spcAft>
                <a:spcPts val="0"/>
              </a:spcAft>
              <a:buNone/>
            </a:pPr>
            <a:r>
              <a:rPr lang="en"/>
              <a:t>t-claude-now-leads-a-quarter-of-3c9d | Claude now leads a quarter of Anthropic's own AI research</a:t>
            </a:r>
            <a:endParaRPr/>
          </a:p>
          <a:p>
            <a:pPr marL="0" lvl="0" indent="0" algn="l" rtl="0">
              <a:spcBef>
                <a:spcPts val="0"/>
              </a:spcBef>
              <a:spcAft>
                <a:spcPts val="0"/>
              </a:spcAft>
              <a:buNone/>
            </a:pPr>
            <a:r>
              <a:rPr lang="en"/>
              <a:t>t-google-tests-a-family-agent-37ae | Google tests a family agent with its own cloud computer</a:t>
            </a:r>
            <a:endParaRPr/>
          </a:p>
          <a:p>
            <a:pPr marL="0" lvl="0" indent="0" algn="l" rtl="0">
              <a:spcBef>
                <a:spcPts val="0"/>
              </a:spcBef>
              <a:spcAft>
                <a:spcPts val="0"/>
              </a:spcAft>
              <a:buNone/>
            </a:pPr>
            <a:r>
              <a:rPr lang="en"/>
              <a:t>t-claude-makes-biomolecular-a342 | Claude makes biomolecular modeling four times faster</a:t>
            </a:r>
            <a:endParaRPr/>
          </a:p>
          <a:p>
            <a:pPr marL="0" lvl="0" indent="0" algn="l" rtl="0">
              <a:spcBef>
                <a:spcPts val="0"/>
              </a:spcBef>
              <a:spcAft>
                <a:spcPts val="0"/>
              </a:spcAft>
              <a:buNone/>
            </a:pPr>
            <a:r>
              <a:rPr lang="en"/>
              <a:t>t-jev-gets-six-open-clones-in-two-23a5 | Jev gets six open clones in two days</a:t>
            </a:r>
            <a:endParaRPr/>
          </a:p>
          <a:p>
            <a:pPr marL="0" lvl="0" indent="0" algn="l" rtl="0">
              <a:spcBef>
                <a:spcPts val="0"/>
              </a:spcBef>
              <a:spcAft>
                <a:spcPts val="0"/>
              </a:spcAft>
              <a:buNone/>
            </a:pPr>
            <a:r>
              <a:rPr lang="en"/>
              <a:t>t-jev-apps-arrive-page-search-ba1a | Jev apps arrive: page search, Postgres, judges, browsers</a:t>
            </a:r>
            <a:endParaRPr/>
          </a:p>
          <a:p>
            <a:pPr marL="0" lvl="0" indent="0" algn="l" rtl="0">
              <a:spcBef>
                <a:spcPts val="0"/>
              </a:spcBef>
              <a:spcAft>
                <a:spcPts val="0"/>
              </a:spcAft>
              <a:buNone/>
            </a:pPr>
            <a:r>
              <a:rPr lang="en"/>
              <a:t>t-the-harness-tax-same-model-same-8f15 | The harness tax: same model, same task, up to 5x the cost</a:t>
            </a:r>
            <a:endParaRPr/>
          </a:p>
          <a:p>
            <a:pPr marL="0" lvl="0" indent="0" algn="l" rtl="0">
              <a:spcBef>
                <a:spcPts val="0"/>
              </a:spcBef>
              <a:spcAft>
                <a:spcPts val="0"/>
              </a:spcAft>
              <a:buNone/>
            </a:pPr>
            <a:r>
              <a:rPr lang="en"/>
              <a:t>t-qwen3-8-livetranslate-38da | Qwen3.8-LiveTranslate interprets 60 languages with 2.3s lag</a:t>
            </a:r>
            <a:endParaRPr/>
          </a:p>
          <a:p>
            <a:pPr marL="0" lvl="0" indent="0" algn="l" rtl="0">
              <a:spcBef>
                <a:spcPts val="0"/>
              </a:spcBef>
              <a:spcAft>
                <a:spcPts val="0"/>
              </a:spcAft>
              <a:buNone/>
            </a:pPr>
            <a:r>
              <a:rPr lang="en"/>
              <a:t>t-grok-voice-transcribe-2-0-cuts-cb02 | Grok Voice Transcribe 2.0 cuts word errors to 6.8%</a:t>
            </a:r>
            <a:endParaRPr/>
          </a:p>
          <a:p>
            <a:pPr marL="0" lvl="0" indent="0" algn="l" rtl="0">
              <a:spcBef>
                <a:spcPts val="0"/>
              </a:spcBef>
              <a:spcAft>
                <a:spcPts val="0"/>
              </a:spcAft>
              <a:buNone/>
            </a:pPr>
            <a:r>
              <a:rPr lang="en"/>
              <a:t>t-openclaw-2026-9-5-updates-b20d | OpenClaw 2026.9.5 updates itself without breaking</a:t>
            </a:r>
            <a:endParaRPr/>
          </a:p>
          <a:p>
            <a:pPr marL="0" lvl="0" indent="0" algn="l" rtl="0">
              <a:spcBef>
                <a:spcPts val="0"/>
              </a:spcBef>
              <a:spcAft>
                <a:spcPts val="0"/>
              </a:spcAft>
              <a:buNone/>
            </a:pPr>
            <a:r>
              <a:rPr lang="en"/>
              <a:t>t-claude-merges-chat-and-cowork-abe0 | Claude merges chat and Cowork, adds Docs, Slides and Design</a:t>
            </a:r>
            <a:endParaRPr/>
          </a:p>
          <a:p>
            <a:pPr marL="0" lvl="0" indent="0" algn="l" rtl="0">
              <a:spcBef>
                <a:spcPts val="0"/>
              </a:spcBef>
              <a:spcAft>
                <a:spcPts val="0"/>
              </a:spcAft>
              <a:buNone/>
            </a:pPr>
            <a:r>
              <a:rPr lang="en"/>
              <a:t>t-claude-code-projects-run-b27d | Claude Code Projects run parallel agents in the cloud</a:t>
            </a:r>
            <a:endParaRPr/>
          </a:p>
          <a:p>
            <a:pPr marL="0" lvl="0" indent="0" algn="l" rtl="0">
              <a:spcBef>
                <a:spcPts val="0"/>
              </a:spcBef>
              <a:spcAft>
                <a:spcPts val="0"/>
              </a:spcAft>
              <a:buNone/>
            </a:pPr>
            <a:r>
              <a:rPr lang="en"/>
              <a:t>t-apple-ships-siri-ai-built-with-64c9 | Apple ships Siri AI, built with Google's Gemini</a:t>
            </a:r>
            <a:endParaRPr/>
          </a:p>
          <a:p>
            <a:pPr marL="0" lvl="0" indent="0" algn="l" rtl="0">
              <a:spcBef>
                <a:spcPts val="0"/>
              </a:spcBef>
              <a:spcAft>
                <a:spcPts val="0"/>
              </a:spcAft>
              <a:buNone/>
            </a:pPr>
            <a:r>
              <a:rPr lang="en"/>
              <a:t>t-gemini-3-8-live-a-voice-model-96ce | Gemini 3.8 Live: a voice model that thinks while it talks</a:t>
            </a:r>
            <a:endParaRPr/>
          </a:p>
          <a:p>
            <a:pPr marL="0" lvl="0" indent="0" algn="l" rtl="0">
              <a:spcBef>
                <a:spcPts val="0"/>
              </a:spcBef>
              <a:spcAft>
                <a:spcPts val="0"/>
              </a:spcAft>
              <a:buNone/>
            </a:pPr>
            <a:r>
              <a:rPr lang="en"/>
              <a:t>t-openai-discloses-six-cases-of-c8ad | OpenAI discloses six cases of its models misbehaving</a:t>
            </a:r>
            <a:endParaRPr/>
          </a:p>
          <a:p>
            <a:pPr marL="0" lvl="0" indent="0" algn="l" rtl="0">
              <a:spcBef>
                <a:spcPts val="0"/>
              </a:spcBef>
              <a:spcAft>
                <a:spcPts val="0"/>
              </a:spcAft>
              <a:buNone/>
            </a:pPr>
            <a:r>
              <a:rPr lang="en"/>
              <a:t>t-gemini-broke-into-three-real-b67d | Gemini broke into three real companies during a security test</a:t>
            </a:r>
            <a:endParaRPr/>
          </a:p>
          <a:p>
            <a:pPr marL="0" lvl="0" indent="0" algn="l" rtl="0">
              <a:spcBef>
                <a:spcPts val="0"/>
              </a:spcBef>
              <a:spcAft>
                <a:spcPts val="0"/>
              </a:spcAft>
              <a:buNone/>
            </a:pPr>
            <a:r>
              <a:rPr lang="en"/>
              <a:t>t-periodic-labs-neon-beats-f324 | Periodic Labs' Neon beats frontier models at lab science</a:t>
            </a:r>
            <a:endParaRPr/>
          </a:p>
          <a:p>
            <a:pPr marL="0" lvl="0" indent="0" algn="l" rtl="0">
              <a:spcBef>
                <a:spcPts val="0"/>
              </a:spcBef>
              <a:spcAft>
                <a:spcPts val="0"/>
              </a:spcAft>
              <a:buNone/>
            </a:pPr>
            <a:r>
              <a:rPr lang="en"/>
              <a:t>t-google-home-opens-to-ai-agents-610a | Google Home opens to AI agents through MCP</a:t>
            </a:r>
            <a:endParaRPr/>
          </a:p>
          <a:p>
            <a:pPr marL="0" lvl="0" indent="0" algn="l" rtl="0">
              <a:spcBef>
                <a:spcPts val="0"/>
              </a:spcBef>
              <a:spcAft>
                <a:spcPts val="0"/>
              </a:spcAft>
              <a:buNone/>
            </a:pPr>
            <a:r>
              <a:rPr lang="en"/>
              <a:t>t-amazon-blocks-meta-s-muse-agent-0166 | Amazon blocks Meta's Muse agent from shopping</a:t>
            </a:r>
            <a:endParaRPr/>
          </a:p>
          <a:p>
            <a:pPr marL="0" lvl="0" indent="0" algn="l" rtl="0">
              <a:spcBef>
                <a:spcPts val="0"/>
              </a:spcBef>
              <a:spcAft>
                <a:spcPts val="0"/>
              </a:spcAft>
              <a:buNone/>
            </a:pPr>
            <a:r>
              <a:rPr lang="en"/>
              <a:t>t-trump-plans-an-ai-force-and-a-4f14 | Trump plans an "AI Force" and a new AI czar</a:t>
            </a:r>
            <a:endParaRPr/>
          </a:p>
          <a:p>
            <a:pPr marL="0" lvl="0" indent="0" algn="l" rtl="0">
              <a:spcBef>
                <a:spcPts val="0"/>
              </a:spcBef>
              <a:spcAft>
                <a:spcPts val="0"/>
              </a:spcAft>
              <a:buNone/>
            </a:pPr>
            <a:r>
              <a:rPr lang="en"/>
              <a:t>t-un-science-panel-ai-safeguards-94eb | UN science panel: AI safeguards are unravelling</a:t>
            </a:r>
            <a:endParaRPr/>
          </a:p>
          <a:p>
            <a:pPr marL="0" lvl="0" indent="0" algn="l" rtl="0">
              <a:spcBef>
                <a:spcPts val="0"/>
              </a:spcBef>
              <a:spcAft>
                <a:spcPts val="0"/>
              </a:spcAft>
              <a:buNone/>
            </a:pPr>
            <a:r>
              <a:rPr lang="en"/>
              <a:t>t-robot-arm-test-gpt-6-astra-8edb | Robot arm test: GPT-6 Astra stabbed a baby doll 17 of 20 times</a:t>
            </a:r>
            <a:endParaRPr/>
          </a:p>
          <a:p>
            <a:pPr marL="0" lvl="0" indent="0" algn="l" rtl="0">
              <a:spcBef>
                <a:spcPts val="0"/>
              </a:spcBef>
              <a:spcAft>
                <a:spcPts val="0"/>
              </a:spcAft>
              <a:buNone/>
            </a:pPr>
            <a:r>
              <a:rPr lang="en"/>
              <a:t>t-microsoft-memo-ai-scraping-is-b868 | Microsoft memo: AI scraping is "the largest theft of labor"</a:t>
            </a:r>
            <a:endParaRPr/>
          </a:p>
          <a:p>
            <a:pPr marL="0" lvl="0" indent="0" algn="l" rtl="0">
              <a:spcBef>
                <a:spcPts val="0"/>
              </a:spcBef>
              <a:spcAft>
                <a:spcPts val="0"/>
              </a:spcAft>
              <a:buNone/>
            </a:pPr>
            <a:r>
              <a:rPr lang="en"/>
              <a:t>t-google-open-sources-ax-a-82cc | Google open-sources AX, a Kubernetes-style runtime for agents</a:t>
            </a:r>
            <a:endParaRPr/>
          </a:p>
          <a:p>
            <a:pPr marL="0" lvl="0" indent="0" algn="l" rtl="0">
              <a:spcBef>
                <a:spcPts val="0"/>
              </a:spcBef>
              <a:spcAft>
                <a:spcPts val="0"/>
              </a:spcAft>
              <a:buNone/>
            </a:pPr>
            <a:r>
              <a:rPr lang="en"/>
              <a:t>t-googlebook-an-899-laptop-built-4b0f | Googlebook: an $899 laptop built around Gemini</a:t>
            </a:r>
            <a:endParaRPr/>
          </a:p>
          <a:p>
            <a:pPr marL="0" lvl="0" indent="0" algn="l" rtl="0">
              <a:spcBef>
                <a:spcPts val="0"/>
              </a:spcBef>
              <a:spcAft>
                <a:spcPts val="0"/>
              </a:spcAft>
              <a:buNone/>
            </a:pPr>
            <a:r>
              <a:rPr lang="en"/>
              <a:t>t-swarm-scaling-10x-more-agents-2d45 | Swarm scaling: 10x more agents is worth less than 10x tokens</a:t>
            </a:r>
            <a:endParaRPr/>
          </a:p>
          <a:p>
            <a:pPr marL="0" lvl="0" indent="0" algn="l" rtl="0">
              <a:spcBef>
                <a:spcPts val="0"/>
              </a:spcBef>
              <a:spcAft>
                <a:spcPts val="0"/>
              </a:spcAft>
              <a:buNone/>
            </a:pPr>
            <a:r>
              <a:rPr lang="en"/>
              <a:t>t-claude-opus-5-5-fable-level-d44d | Claude Opus 5.5: Fable-level work at 40% lower cost</a:t>
            </a:r>
            <a:endParaRPr/>
          </a:p>
          <a:p>
            <a:pPr marL="0" lvl="0" indent="0" algn="l" rtl="0">
              <a:spcBef>
                <a:spcPts val="0"/>
              </a:spcBef>
              <a:spcAft>
                <a:spcPts val="0"/>
              </a:spcAft>
              <a:buNone/>
            </a:pPr>
            <a:r>
              <a:rPr lang="en"/>
              <a:t>t-anthropic-hires-accenture-s-8692 | Anthropic hires Accenture's Faculty as its first embedded evaluator</a:t>
            </a:r>
            <a:endParaRPr/>
          </a:p>
          <a:p>
            <a:pPr marL="0" lvl="0" indent="0" algn="l" rtl="0">
              <a:spcBef>
                <a:spcPts val="0"/>
              </a:spcBef>
              <a:spcAft>
                <a:spcPts val="0"/>
              </a:spcAft>
              <a:buNone/>
            </a:pPr>
            <a:r>
              <a:rPr lang="en"/>
              <a:t>t-newsom-orders-work-on-a-kill-d038 | Newsom orders work on a kill switch for frontier AI models</a:t>
            </a:r>
            <a:endParaRPr/>
          </a:p>
          <a:p>
            <a:pPr marL="0" lvl="0" indent="0" algn="l" rtl="0">
              <a:spcBef>
                <a:spcPts val="0"/>
              </a:spcBef>
              <a:spcAft>
                <a:spcPts val="0"/>
              </a:spcAft>
              <a:buNone/>
            </a:pPr>
            <a:r>
              <a:rPr lang="en"/>
              <a:t>t-openai-model-resolves-100-open-fea6 | OpenAI model resolves 100+ open math problems; mathematicians to vet them</a:t>
            </a:r>
            <a:endParaRPr/>
          </a:p>
          <a:p>
            <a:pPr marL="0" lvl="0" indent="0" algn="l" rtl="0">
              <a:spcBef>
                <a:spcPts val="0"/>
              </a:spcBef>
              <a:spcAft>
                <a:spcPts val="0"/>
              </a:spcAft>
              <a:buNone/>
            </a:pPr>
            <a:r>
              <a:rPr lang="en"/>
              <a:t>t-cohere-and-aleph-alpha-sign-a-0988 | Cohere and Aleph Alpha sign a $20 billion merger</a:t>
            </a:r>
            <a:endParaRPr/>
          </a:p>
          <a:p>
            <a:pPr marL="0" lvl="0" indent="0" algn="l" rtl="0">
              <a:spcBef>
                <a:spcPts val="0"/>
              </a:spcBef>
              <a:spcAft>
                <a:spcPts val="0"/>
              </a:spcAft>
              <a:buNone/>
            </a:pPr>
            <a:r>
              <a:rPr lang="en"/>
              <a:t>t-openai-eyes-1-5-trillion-f758 | OpenAI eyes $1.5 trillion valuation as compute bill hits $856B</a:t>
            </a:r>
            <a:endParaRPr/>
          </a:p>
          <a:p>
            <a:pPr marL="0" lvl="0" indent="0" algn="l" rtl="0">
              <a:spcBef>
                <a:spcPts val="0"/>
              </a:spcBef>
              <a:spcAft>
                <a:spcPts val="0"/>
              </a:spcAft>
              <a:buNone/>
            </a:pPr>
            <a:r>
              <a:rPr lang="en"/>
              <a:t>t-meta-sam-3-1-segments-and-f5b4 | Meta SAM 3.1 segments and tracks anything from a text prompt</a:t>
            </a:r>
            <a:endParaRPr/>
          </a:p>
          <a:p>
            <a:pPr marL="0" lvl="0" indent="0" algn="l" rtl="0">
              <a:spcBef>
                <a:spcPts val="0"/>
              </a:spcBef>
              <a:spcAft>
                <a:spcPts val="0"/>
              </a:spcAft>
              <a:buNone/>
            </a:pPr>
            <a:r>
              <a:rPr lang="en"/>
              <a:t>t-google-gemini-3-8-flash-tts-7e0d | Google Gemini 3.8 Flash TTS lets you design and direct voices</a:t>
            </a:r>
            <a:endParaRPr/>
          </a:p>
          <a:p>
            <a:pPr marL="0" lvl="0" indent="0" algn="l" rtl="0">
              <a:spcBef>
                <a:spcPts val="0"/>
              </a:spcBef>
              <a:spcAft>
                <a:spcPts val="0"/>
              </a:spcAft>
              <a:buNone/>
            </a:pPr>
            <a:r>
              <a:rPr lang="en"/>
              <a:t>t-perplexity-tests-whether-nine-b14b | Perplexity tests whether nine AI models can escape its sandbox</a:t>
            </a:r>
            <a:endParaRPr/>
          </a:p>
          <a:p>
            <a:pPr marL="0" lvl="0" indent="0" algn="l" rtl="0">
              <a:spcBef>
                <a:spcPts val="0"/>
              </a:spcBef>
              <a:spcAft>
                <a:spcPts val="0"/>
              </a:spcAft>
              <a:buNone/>
            </a:pPr>
            <a:r>
              <a:rPr lang="en"/>
              <a:t>t-swe-bench-pro-v2-a-harder-042e | SWE-Bench Pro V2: a harder, cleaner coding benchmark</a:t>
            </a:r>
            <a:endParaRPr/>
          </a:p>
          <a:p>
            <a:pPr marL="0" lvl="0" indent="0" algn="l" rtl="0">
              <a:spcBef>
                <a:spcPts val="0"/>
              </a:spcBef>
              <a:spcAft>
                <a:spcPts val="0"/>
              </a:spcAft>
              <a:buNone/>
            </a:pPr>
            <a:r>
              <a:rPr lang="en"/>
              <a:t>t-nvidia-sol-pi-an-ai-tuned-a-06f1 | NVIDIA SoL-Pi: an AI tuned a coding harness to use half the tokens</a:t>
            </a:r>
            <a:endParaRPr/>
          </a:p>
          <a:p>
            <a:pPr marL="0" lvl="0" indent="0" algn="l" rtl="0">
              <a:spcBef>
                <a:spcPts val="0"/>
              </a:spcBef>
              <a:spcAft>
                <a:spcPts val="0"/>
              </a:spcAft>
              <a:buNone/>
            </a:pPr>
            <a:r>
              <a:rPr lang="en"/>
              <a:t>t-local-opposition-blocks-68-48a0 | Local opposition blocks $68 billion of US data centers</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s-apple-ships-siri-ai-built-64c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s-apple-ships-siri-ai-built-64c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s-openai-discloses-six-cases-of-c8a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s-openai-discloses-six-cases-of-c8a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s-periodic-labs-neon-beats-f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s-periodic-labs-neon-beats-f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s-claude-opus-5-5-fable-level-d44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s-claude-opus-5-5-fable-level-d44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h6c17fe658b3a54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h6c17fe658b3a54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s-google-gemini-3-8-flash-tts-7e0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s-google-gemini-3-8-flash-tts-7e0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muse-spark-1.3-max" TargetMode="External"/><Relationship Id="rId18" Type="http://schemas.openxmlformats.org/officeDocument/2006/relationships/hyperlink" Target="https://arena.ai/leaderboard/model/muse-spark-1.1" TargetMode="External"/><Relationship Id="rId26" Type="http://schemas.openxmlformats.org/officeDocument/2006/relationships/hyperlink" Target="https://arena.ai/leaderboard/model/qwen3.7-max-preview" TargetMode="External"/><Relationship Id="rId21" Type="http://schemas.openxmlformats.org/officeDocument/2006/relationships/hyperlink" Target="https://arena.ai/leaderboard/model/claude-sonnet-4-6" TargetMode="External"/><Relationship Id="rId34" Type="http://schemas.openxmlformats.org/officeDocument/2006/relationships/hyperlink" Target="https://arena.ai/leaderboard/model/gemini-3-pro" TargetMode="External"/><Relationship Id="rId7" Type="http://schemas.openxmlformats.org/officeDocument/2006/relationships/hyperlink" Target="https://arena.ai/leaderboard/model/claude-opus-4-7-high" TargetMode="External"/><Relationship Id="rId12" Type="http://schemas.openxmlformats.org/officeDocument/2006/relationships/hyperlink" Target="https://arena.ai/leaderboard/model/kimi-k3-max" TargetMode="External"/><Relationship Id="rId17" Type="http://schemas.openxmlformats.org/officeDocument/2006/relationships/hyperlink" Target="https://arena.ai/leaderboard/model/claude-opus-5-high" TargetMode="External"/><Relationship Id="rId25" Type="http://schemas.openxmlformats.org/officeDocument/2006/relationships/hyperlink" Target="https://arena.ai/leaderboard/model/glm-5.3-flash" TargetMode="External"/><Relationship Id="rId33" Type="http://schemas.openxmlformats.org/officeDocument/2006/relationships/hyperlink" Target="https://arena.ai/leaderboard/model/gemini-3.1-pro-preview"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8-high" TargetMode="External"/><Relationship Id="rId20" Type="http://schemas.openxmlformats.org/officeDocument/2006/relationships/hyperlink" Target="https://arena.ai/leaderboard/model/claude-opus-4-8" TargetMode="External"/><Relationship Id="rId29" Type="http://schemas.openxmlformats.org/officeDocument/2006/relationships/hyperlink" Target="https://arena.ai/leaderboard/model/qwen3.8-max"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high" TargetMode="External"/><Relationship Id="rId11" Type="http://schemas.openxmlformats.org/officeDocument/2006/relationships/hyperlink" Target="https://arena.ai/leaderboard/model/gpt-6-astra-max" TargetMode="External"/><Relationship Id="rId24" Type="http://schemas.openxmlformats.org/officeDocument/2006/relationships/hyperlink" Target="https://arena.ai/leaderboard/model/muse-spark" TargetMode="External"/><Relationship Id="rId32" Type="http://schemas.openxmlformats.org/officeDocument/2006/relationships/hyperlink" Target="https://arena.ai/leaderboard/model/gemini-3.7-flash-high" TargetMode="External"/><Relationship Id="rId37" Type="http://schemas.openxmlformats.org/officeDocument/2006/relationships/hyperlink" Target="https://arena.ai/leaderboard/model/gemini-3.5-flash-high"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gemini-3.8-flash-high" TargetMode="External"/><Relationship Id="rId23" Type="http://schemas.openxmlformats.org/officeDocument/2006/relationships/hyperlink" Target="https://arena.ai/leaderboard/model/claude-opus-5-max" TargetMode="External"/><Relationship Id="rId28" Type="http://schemas.openxmlformats.org/officeDocument/2006/relationships/hyperlink" Target="https://arena.ai/leaderboard/model/claude-opus-4-5-20251101" TargetMode="External"/><Relationship Id="rId36" Type="http://schemas.openxmlformats.org/officeDocument/2006/relationships/hyperlink" Target="https://arena.ai/leaderboard/model/gemini-3.6-flash-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opus-4-5-20251101-high-32k" TargetMode="External"/><Relationship Id="rId31" Type="http://schemas.openxmlformats.org/officeDocument/2006/relationships/hyperlink" Target="https://arena.ai/leaderboard/model/claude-fable-5.1-max"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muse-spark-1.2%20%28xHigh%29" TargetMode="External"/><Relationship Id="rId22" Type="http://schemas.openxmlformats.org/officeDocument/2006/relationships/hyperlink" Target="https://arena.ai/leaderboard/model/gpt-5.6-sol-xhigh" TargetMode="External"/><Relationship Id="rId27" Type="http://schemas.openxmlformats.org/officeDocument/2006/relationships/hyperlink" Target="https://arena.ai/leaderboard/model/glm-5.3-max"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high" TargetMode="External"/><Relationship Id="rId8" Type="http://schemas.openxmlformats.org/officeDocument/2006/relationships/hyperlink" Target="https://arena.ai/leaderboard/model/claude-opus-4-6-high"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7GrBIaI3zc" TargetMode="External"/><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openrouter.ai/stealth/union-alpha"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3.png"/><Relationship Id="rId5" Type="http://schemas.openxmlformats.org/officeDocument/2006/relationships/hyperlink" Target="https://www.youtube.com/watch?v=2Gu21Y4hgd8" TargetMode="External"/><Relationship Id="rId4" Type="http://schemas.openxmlformats.org/officeDocument/2006/relationships/hyperlink" Target="https://x.com/alexatallah/status/2100243109401469062"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support.claude.com/en/articles/12138966-release-notes" TargetMode="External"/><Relationship Id="rId7" Type="http://schemas.openxmlformats.org/officeDocument/2006/relationships/hyperlink" Target="https://nypost.com/2026/09/22/us-news/trump-reveals-new-nickname-for-ai-and-lays-out-a-red-line-for-globalist-control-of-super-tech/"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5.jpeg"/><Relationship Id="rId5" Type="http://schemas.openxmlformats.org/officeDocument/2006/relationships/hyperlink" Target="https://code.claude.com/docs/en/model-config" TargetMode="External"/><Relationship Id="rId10" Type="http://schemas.openxmlformats.org/officeDocument/2006/relationships/image" Target="../media/image7.png"/><Relationship Id="rId4" Type="http://schemas.openxmlformats.org/officeDocument/2006/relationships/hyperlink" Target="https://platform.claude.com/docs/en/about-claude/pricing" TargetMode="External"/><Relationship Id="rId9" Type="http://schemas.openxmlformats.org/officeDocument/2006/relationships/hyperlink" Target="https://openai.com/index/introducing-gpt-6-sol-and-luna/"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eU1ICyI9bCs" TargetMode="External"/><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docs.x.ai/developers/grok-4-7" TargetMode="External"/><Relationship Id="rId5" Type="http://schemas.openxmlformats.org/officeDocument/2006/relationships/hyperlink" Target="https://x.ai/news/grok-4-7" TargetMode="Externa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9.14858v1"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rxiv.org/abs/2609.11873"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thenewstack.io/aws-strands-harness-agent/"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venturebeat.com/technology/better-than-deepseek-xiaomis-mimo-v2-6-pro-debuts-as-the-top-open-weights-model-in-the-world-alongside-cheaper-v2-6-flash"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7RVf25Rg0Mc" TargetMode="External"/><Relationship Id="rId3" Type="http://schemas.openxmlformats.org/officeDocument/2006/relationships/hyperlink" Target="https://www.wsj.com/tech/ai/nvidia-jensen-huang-resists-ai-slowdown-334a24e1" TargetMode="External"/><Relationship Id="rId7" Type="http://schemas.openxmlformats.org/officeDocument/2006/relationships/hyperlink" Target="https://github.com/paperclipai/paperclip"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hyperlink" Target="https://paperclip.ing" TargetMode="External"/><Relationship Id="rId5" Type="http://schemas.openxmlformats.org/officeDocument/2006/relationships/image" Target="../media/image16.jpeg"/><Relationship Id="rId4" Type="http://schemas.openxmlformats.org/officeDocument/2006/relationships/hyperlink" Target="https://www.cnbc.com/2026/09/15/nvidia-and-anthropic-ceos-diverge-on-ai-safety-at-dreamforce.html" TargetMode="External"/><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agentos.guide/hermes-hud-engine" TargetMode="External"/><Relationship Id="rId7" Type="http://schemas.openxmlformats.org/officeDocument/2006/relationships/hyperlink" Target="https://indianexpress.com/article/world/indian-origin-researchers-use-claude-ai-breach-openai-systems-hacktron-10884340/lite/" TargetMode="External"/><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hyperlink" Target="https://thehackernews.com/2026/09/claude-opus-5-helped-researchers-take.html" TargetMode="External"/><Relationship Id="rId5" Type="http://schemas.openxmlformats.org/officeDocument/2006/relationships/hyperlink" Target="https://app.aiprofitagents.com" TargetMode="External"/><Relationship Id="rId4" Type="http://schemas.openxmlformats.org/officeDocument/2006/relationships/hyperlink" Target="https://agentos.guide/system.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8" Type="http://schemas.openxmlformats.org/officeDocument/2006/relationships/hyperlink" Target="https://www.alibabacloud.com/help/en/model-studio/qwen-omni" TargetMode="External"/><Relationship Id="rId3" Type="http://schemas.openxmlformats.org/officeDocument/2006/relationships/hyperlink" Target="https://prism-ml.github.io" TargetMode="External"/><Relationship Id="rId7" Type="http://schemas.openxmlformats.org/officeDocument/2006/relationships/hyperlink" Target="https://qwen.ai/blog?id=qwen3.8-omni-flash"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6" Type="http://schemas.openxmlformats.org/officeDocument/2006/relationships/hyperlink" Target="https://www.youtube.com/watch?v=M6nv640H1Xo" TargetMode="External"/><Relationship Id="rId5" Type="http://schemas.openxmlformats.org/officeDocument/2006/relationships/hyperlink" Target="https://www.datacamp.com/blog/bonsai-2-27b" TargetMode="External"/><Relationship Id="rId10" Type="http://schemas.openxmlformats.org/officeDocument/2006/relationships/image" Target="../media/image21.png"/><Relationship Id="rId4" Type="http://schemas.openxmlformats.org/officeDocument/2006/relationships/hyperlink" Target="https://huggingface.co/prism-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tsWOiibaaxA" TargetMode="External"/><Relationship Id="rId3" Type="http://schemas.openxmlformats.org/officeDocument/2006/relationships/hyperlink" Target="https://bolt.new" TargetMode="External"/><Relationship Id="rId7" Type="http://schemas.openxmlformats.org/officeDocument/2006/relationships/hyperlink" Target="https://huggingface.co/Cactus-Compute/needle"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6" Type="http://schemas.openxmlformats.org/officeDocument/2006/relationships/hyperlink" Target="https://cactuscompute.com/needle" TargetMode="External"/><Relationship Id="rId5" Type="http://schemas.openxmlformats.org/officeDocument/2006/relationships/hyperlink" Target="https://github.com/cactus-compute/needle" TargetMode="External"/><Relationship Id="rId4" Type="http://schemas.openxmlformats.org/officeDocument/2006/relationships/image" Target="../media/image22.png"/><Relationship Id="rId9"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hyperlink" Target="https://www.anthropic.com/institute/measuring-pace-of-ai-development"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25.png"/><Relationship Id="rId5" Type="http://schemas.openxmlformats.org/officeDocument/2006/relationships/image" Target="../media/image24.jpeg"/><Relationship Id="rId4" Type="http://schemas.openxmlformats.org/officeDocument/2006/relationships/hyperlink" Target="https://blog.google/innovation-and-ai/models-and-research/google-labs/cc-expanding-to-groups"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www.anthropic.com/research/claude-uplifts-biomolecular-modeling" TargetMode="External"/><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6.png"/><Relationship Id="rId5" Type="http://schemas.openxmlformats.org/officeDocument/2006/relationships/hyperlink" Target="https://typesafe.ai" TargetMode="External"/><Relationship Id="rId4" Type="http://schemas.openxmlformats.org/officeDocument/2006/relationships/hyperlink" Target="https://www.latent.space/p/ainews-here-are-6-clones-of-jev-in"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openclaw.ai/blog/shipping-openclaw-updates-that-dont-break" TargetMode="External"/><Relationship Id="rId3" Type="http://schemas.openxmlformats.org/officeDocument/2006/relationships/hyperlink" Target="https://arena.ai/blog/coding-agents-harness-tax" TargetMode="External"/><Relationship Id="rId7" Type="http://schemas.openxmlformats.org/officeDocument/2006/relationships/hyperlink" Target="https://docs.openclaw.ai/releases/2026.9.5"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6" Type="http://schemas.openxmlformats.org/officeDocument/2006/relationships/image" Target="../media/image29.png"/><Relationship Id="rId11" Type="http://schemas.openxmlformats.org/officeDocument/2006/relationships/image" Target="../media/image31.png"/><Relationship Id="rId5" Type="http://schemas.openxmlformats.org/officeDocument/2006/relationships/hyperlink" Target="https://help.aliyun.com/en/model-studio/qwen3-8-livetranslate-flash-realtime" TargetMode="External"/><Relationship Id="rId10" Type="http://schemas.openxmlformats.org/officeDocument/2006/relationships/image" Target="../media/image30.png"/><Relationship Id="rId4" Type="http://schemas.openxmlformats.org/officeDocument/2006/relationships/hyperlink" Target="https://qwen.ai/blog?id=qwen3.8-livetranslate" TargetMode="External"/><Relationship Id="rId9" Type="http://schemas.openxmlformats.org/officeDocument/2006/relationships/hyperlink" Target="https://www.youtube.com/watch?v=67oinOQYI-o"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academy.claude.com/courses/ai-native-sdlc-playbook" TargetMode="External"/><Relationship Id="rId3" Type="http://schemas.openxmlformats.org/officeDocument/2006/relationships/hyperlink" Target="https://claude.com/blog/cowork-is-now-claude" TargetMode="External"/><Relationship Id="rId7" Type="http://schemas.openxmlformats.org/officeDocument/2006/relationships/hyperlink" Target="https://claude.com/blog/the-ai-native-sdlc-playbook"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claude.com/blog/projects-redesign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Frankenstein"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5" Type="http://schemas.openxmlformats.org/officeDocument/2006/relationships/image" Target="../media/image35.png"/><Relationship Id="rId4" Type="http://schemas.openxmlformats.org/officeDocument/2006/relationships/image" Target="../media/image34.jpeg"/></Relationships>
</file>

<file path=ppt/slides/_rels/slide20.xml.rels><?xml version="1.0" encoding="UTF-8" standalone="yes"?>
<Relationships xmlns="http://schemas.openxmlformats.org/package/2006/relationships"><Relationship Id="rId3" Type="http://schemas.openxmlformats.org/officeDocument/2006/relationships/hyperlink" Target="https://developer.nvidia.com/blog/introducing-nvfp4-for-efficient-and-accurate-low-precision-inference/" TargetMode="External"/><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hyperlink" Target="https://techcrunch.com/2026/09/21/metas-ai-agent-has-been-blocked-from-using-amazon-com/"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www.cbsnews.com/news/trump-vows-ai-force-czar-developmen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the-decoder.com/gpt-6-astra-and-claude-fable-turn-robot-arms-into-slapstick-killer-robots-in-new-safety-benchmark/" TargetMode="External"/><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1.xml"/><Relationship Id="rId6" Type="http://schemas.openxmlformats.org/officeDocument/2006/relationships/image" Target="../media/image39.png"/><Relationship Id="rId5" Type="http://schemas.openxmlformats.org/officeDocument/2006/relationships/hyperlink" Target="https://github.com/google/ax" TargetMode="External"/><Relationship Id="rId4" Type="http://schemas.openxmlformats.org/officeDocument/2006/relationships/hyperlink" Target="http://github.com/google/ax/cmd/ax@lates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tobyord.com/writing/swarm-scaling" TargetMode="External"/><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UzJ4wndMTjU"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6" Type="http://schemas.openxmlformats.org/officeDocument/2006/relationships/hyperlink" Target="https://www.youtube.com/watch?v=qmKZI9zwHmk" TargetMode="External"/><Relationship Id="rId5" Type="http://schemas.openxmlformats.org/officeDocument/2006/relationships/hyperlink" Target="https://www.linkedin.com/posts/juliangoldieseo_new-hermes-astros-is-absoultely-wild-activity-7493895980447113216-iFvO%5D(https:/www.linkedin.com/posts/juliangoldieseo_new-hermes-astros-is-absoultely-wild-activity-7493895980447113216-iFvO)" TargetMode="External"/><Relationship Id="rId4" Type="http://schemas.openxmlformats.org/officeDocument/2006/relationships/hyperlink" Target="https://aiprofitboardroom.com/"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repocloud.io/details/Memoh/" TargetMode="External"/><Relationship Id="rId3" Type="http://schemas.openxmlformats.org/officeDocument/2006/relationships/hyperlink" Target="https://memoh.ai" TargetMode="External"/><Relationship Id="rId7" Type="http://schemas.openxmlformats.org/officeDocument/2006/relationships/hyperlink" Target="https://www.youtube.com/watch?v=RdglwPXveiI"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 Id="rId6" Type="http://schemas.openxmlformats.org/officeDocument/2006/relationships/hyperlink" Target="https://aiprofitboardroom.com/%5D(https:/aiprofitboardroom.com/)" TargetMode="External"/><Relationship Id="rId5" Type="http://schemas.openxmlformats.org/officeDocument/2006/relationships/hyperlink" Target="https://github.com/felinics/Memoh" TargetMode="External"/><Relationship Id="rId4" Type="http://schemas.openxmlformats.org/officeDocument/2006/relationships/hyperlink" Target="https://docs.memoh.ai/about" TargetMode="External"/><Relationship Id="rId9"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hyperlink" Target="https://www.anthropic.com/constitution" TargetMode="External"/><Relationship Id="rId7" Type="http://schemas.openxmlformats.org/officeDocument/2006/relationships/hyperlink" Target="https://www.youtube.com/watch?v=H7KruLVX2Rk"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 Id="rId6" Type="http://schemas.openxmlformats.org/officeDocument/2006/relationships/hyperlink" Target="https://www.anthropic.com/news/claude-discovers-novel-enzyme-system" TargetMode="External"/><Relationship Id="rId5" Type="http://schemas.openxmlformats.org/officeDocument/2006/relationships/hyperlink" Target="https://www.youtube.com/watch?v=FX5o-x7k9pU" TargetMode="External"/><Relationship Id="rId4" Type="http://schemas.openxmlformats.org/officeDocument/2006/relationships/hyperlink" Target="https://time.com/7354738/claude-constitution-ai-alignment/%5D(https:/time.com/7354738/claude-constitution-ai-alignment/)"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hyperlink" Target="https://siliconangle.com/2026/09/16/cohere-and-aleph-alpha-agree-to-merge-in-reported-20b-deal/" TargetMode="External"/><Relationship Id="rId7"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11.xml"/><Relationship Id="rId6" Type="http://schemas.openxmlformats.org/officeDocument/2006/relationships/image" Target="../media/image43.png"/><Relationship Id="rId5" Type="http://schemas.openxmlformats.org/officeDocument/2006/relationships/hyperlink" Target="https://developer.meta.com/ai/models/sam-3-1/" TargetMode="External"/><Relationship Id="rId4" Type="http://schemas.openxmlformats.org/officeDocument/2006/relationships/hyperlink" Target="https://thenextweb.com/news/openai-856bn-compute-vs-600bn-reset-burn-improved"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11.xml"/><Relationship Id="rId5" Type="http://schemas.openxmlformats.org/officeDocument/2006/relationships/image" Target="../media/image48.png"/><Relationship Id="rId4" Type="http://schemas.openxmlformats.org/officeDocument/2006/relationships/image" Target="../media/image47.jpeg"/></Relationships>
</file>

<file path=ppt/slides/_rels/slide29.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6" Type="http://schemas.openxmlformats.org/officeDocument/2006/relationships/image" Target="../media/image50.jpeg"/><Relationship Id="rId5" Type="http://schemas.openxmlformats.org/officeDocument/2006/relationships/image" Target="../media/image49.jpeg"/><Relationship Id="rId4" Type="http://schemas.openxmlformats.org/officeDocument/2006/relationships/hyperlink" Target="https://trueup.io/layoffs"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30.xml"/><Relationship Id="rId1" Type="http://schemas.openxmlformats.org/officeDocument/2006/relationships/slideLayout" Target="../slideLayouts/slideLayout11.xml"/><Relationship Id="rId4" Type="http://schemas.openxmlformats.org/officeDocument/2006/relationships/image" Target="../media/image51.jpeg"/></Relationships>
</file>

<file path=ppt/slides/_rels/slide31.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31.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hyperlink" Target="https://www.macrumors.com/2026/09/14/siri-can-be-swapped-out-for-chatgpt-claude" TargetMode="External"/><Relationship Id="rId2" Type="http://schemas.openxmlformats.org/officeDocument/2006/relationships/notesSlide" Target="../notesSlides/notesSlide33.xml"/><Relationship Id="rId1" Type="http://schemas.openxmlformats.org/officeDocument/2006/relationships/slideLayout" Target="../slideLayouts/slideLayout11.xml"/><Relationship Id="rId4" Type="http://schemas.openxmlformats.org/officeDocument/2006/relationships/hyperlink" Target="https://blog.google/innovation-and-ai/technology/developers-tools/build-real-time-voice-applications-gemini-audio/"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www.latent.space/p/ainews-reality-checks-on-ai-news" TargetMode="External"/><Relationship Id="rId2" Type="http://schemas.openxmlformats.org/officeDocument/2006/relationships/notesSlide" Target="../notesSlides/notesSlide34.xml"/><Relationship Id="rId1" Type="http://schemas.openxmlformats.org/officeDocument/2006/relationships/slideLayout" Target="../slideLayouts/slideLayout11.xml"/><Relationship Id="rId5" Type="http://schemas.openxmlformats.org/officeDocument/2006/relationships/hyperlink" Target="https://periodic.com/news/nature-is-our-learning-environment" TargetMode="External"/><Relationship Id="rId4" Type="http://schemas.openxmlformats.org/officeDocument/2006/relationships/hyperlink" Target="https://www.cnbc.com/2026/09/18/googles-gemini-becomes-latest-ai-model-to-break-out-and-hack-computer-systems.html"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techcrunch.com/2026/09/16/your-ai-agents-can-now-control-your-google-home-devices/" TargetMode="External"/><Relationship Id="rId2" Type="http://schemas.openxmlformats.org/officeDocument/2006/relationships/notesSlide" Target="../notesSlides/notesSlide35.xml"/><Relationship Id="rId1" Type="http://schemas.openxmlformats.org/officeDocument/2006/relationships/slideLayout" Target="../slideLayouts/slideLayout11.xml"/><Relationship Id="rId6" Type="http://schemas.openxmlformats.org/officeDocument/2006/relationships/hyperlink" Target="https://techcrunch.com/2026/09/21/googles-899-googlebook-is-a-bet-that-youll-buy-a-new-laptop-for-gemini/" TargetMode="External"/><Relationship Id="rId5" Type="http://schemas.openxmlformats.org/officeDocument/2006/relationships/hyperlink" Target="https://techcrunch.com/2026/09/17/microsoft-exec-called-ai-scraping-the-largest-theft-of-labor-in-human-history-new-unredacted-filings-reveal/" TargetMode="External"/><Relationship Id="rId4" Type="http://schemas.openxmlformats.org/officeDocument/2006/relationships/hyperlink" Target="https://news.un.org/en/story/2026/09/1168380"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www.anthropic.com/claude-opus-5-5" TargetMode="External"/><Relationship Id="rId2" Type="http://schemas.openxmlformats.org/officeDocument/2006/relationships/notesSlide" Target="../notesSlides/notesSlide36.xml"/><Relationship Id="rId1" Type="http://schemas.openxmlformats.org/officeDocument/2006/relationships/slideLayout" Target="../slideLayouts/slideLayout11.xml"/><Relationship Id="rId6" Type="http://schemas.openxmlformats.org/officeDocument/2006/relationships/hyperlink" Target="https://openai.com/index/advisory-group-on-mathematics-and-ai/" TargetMode="External"/><Relationship Id="rId5" Type="http://schemas.openxmlformats.org/officeDocument/2006/relationships/hyperlink" Target="https://www.gov.ca.gov/2026/09/18/governor-newsom-issues-executive-order-to-accelerate-independent-oversight-and-advance-the-creation-of-an-ai-kill-switch/" TargetMode="External"/><Relationship Id="rId4" Type="http://schemas.openxmlformats.org/officeDocument/2006/relationships/hyperlink" Target="https://www.anthropic.com/news/accenture-embedded-evaluatio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deepmind.google/blog/say-hello-to-gemini-38-text-to-speech" TargetMode="External"/><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hyperlink" Target="https://www.perplexity.ai/hub/blog/escaping-space-part-i" TargetMode="External"/><Relationship Id="rId2" Type="http://schemas.openxmlformats.org/officeDocument/2006/relationships/notesSlide" Target="../notesSlides/notesSlide38.xml"/><Relationship Id="rId1" Type="http://schemas.openxmlformats.org/officeDocument/2006/relationships/slideLayout" Target="../slideLayouts/slideLayout11.xml"/><Relationship Id="rId4" Type="http://schemas.openxmlformats.org/officeDocument/2006/relationships/hyperlink" Target="https://labs.scale.com/leaderboard/swe_bench_pro_public_v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302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Sept 25, 2026</a:t>
            </a:r>
            <a:endParaRPr sz="2000" b="1">
              <a:latin typeface="Calibri"/>
              <a:ea typeface="Calibri"/>
              <a:cs typeface="Calibri"/>
              <a:sym typeface="Calibri"/>
            </a:endParaRPr>
          </a:p>
        </p:txBody>
      </p:sp>
      <p:sp>
        <p:nvSpPr>
          <p:cNvPr id="55" name="Google Shape;55;p13"/>
          <p:cNvSpPr txBox="1"/>
          <p:nvPr/>
        </p:nvSpPr>
        <p:spPr>
          <a:xfrm>
            <a:off x="4777977" y="27425"/>
            <a:ext cx="4329300" cy="295500"/>
          </a:xfrm>
          <a:prstGeom prst="rect">
            <a:avLst/>
          </a:prstGeom>
          <a:solidFill>
            <a:srgbClr val="FFFF00"/>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5x Times Less Cost - Depends on Harness</a:t>
            </a:r>
            <a:endParaRPr sz="1800" b="1" i="1">
              <a:solidFill>
                <a:srgbClr val="FF0000"/>
              </a:solidFill>
              <a:latin typeface="Calibri"/>
              <a:ea typeface="Calibri"/>
              <a:cs typeface="Calibri"/>
              <a:sym typeface="Calibri"/>
            </a:endParaRPr>
          </a:p>
        </p:txBody>
      </p:sp>
      <p:sp>
        <p:nvSpPr>
          <p:cNvPr id="56" name="Google Shape;56;p13"/>
          <p:cNvSpPr txBox="1"/>
          <p:nvPr/>
        </p:nvSpPr>
        <p:spPr>
          <a:xfrm>
            <a:off x="36575" y="393200"/>
            <a:ext cx="3640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Crowd-sourced LM Arena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Artificial Analysis Intelligence Index</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Union Alpha stealth model on OpenRouter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Opus 5.5 - Sept 22</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GPT-6 Sol and Luna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 Suggest Better Name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Muse - Personal AI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xAI Grok 4.7</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Dream-RSI and AI Self-Improvement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AWS Strands Agent Harness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Xiaomi MiMo-V2.6-Pro and -Flash</a:t>
            </a:r>
            <a:endParaRPr sz="1200" b="1">
              <a:solidFill>
                <a:srgbClr val="4472C4"/>
              </a:solidFill>
              <a:latin typeface="Calibri"/>
              <a:ea typeface="Calibri"/>
              <a:cs typeface="Calibri"/>
              <a:sym typeface="Calibri"/>
            </a:endParaRPr>
          </a:p>
        </p:txBody>
      </p:sp>
      <p:sp>
        <p:nvSpPr>
          <p:cNvPr id="57" name="Google Shape;57;p13"/>
          <p:cNvSpPr txBox="1"/>
          <p:nvPr/>
        </p:nvSpPr>
        <p:spPr>
          <a:xfrm>
            <a:off x="36575" y="2484882"/>
            <a:ext cx="3640200" cy="20502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AI Safety: Speed vs. Slowdown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Paperclip: Agents Organized as a Company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Custom AI-Agent HUD Overlay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Researches Hacked OpenAI Using Claude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Bonsai 2 - a tiny local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Qwen3.8-Omni-Flash</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Bolt.new Forge - use Open Models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Needle 8-29 MB Model for Offline Action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leads 26% of Anthropic's AI R&amp;D 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Family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makes biomolecular modeling 4 times faster</a:t>
            </a:r>
            <a:endParaRPr sz="1200" b="1">
              <a:solidFill>
                <a:srgbClr val="4472C4"/>
              </a:solidFill>
              <a:latin typeface="Calibri"/>
              <a:ea typeface="Calibri"/>
              <a:cs typeface="Calibri"/>
              <a:sym typeface="Calibri"/>
            </a:endParaRPr>
          </a:p>
        </p:txBody>
      </p:sp>
      <p:sp>
        <p:nvSpPr>
          <p:cNvPr id="58" name="Google Shape;58;p13"/>
          <p:cNvSpPr txBox="1"/>
          <p:nvPr/>
        </p:nvSpPr>
        <p:spPr>
          <a:xfrm>
            <a:off x="4018797" y="370325"/>
            <a:ext cx="3410700" cy="18654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Six Open Clones of Jev</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Up to 5x cost diff for Harnesses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Qwen3.8-LiveTranslate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OpenClaw 2026.9.5 Safe Updates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merges chat and Cowork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Code Projects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Anthropic’s AI-Native SDLC Playbook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Frankenstein by Mary Shelley (1818)</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NVIDIA NVFP4 4-Bit Format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Amazon Blocks Meta's Muse Agent</a:t>
            </a:r>
            <a:endParaRPr sz="1200" b="1">
              <a:solidFill>
                <a:srgbClr val="4472C4"/>
              </a:solidFill>
              <a:latin typeface="Calibri"/>
              <a:ea typeface="Calibri"/>
              <a:cs typeface="Calibri"/>
              <a:sym typeface="Calibri"/>
            </a:endParaRPr>
          </a:p>
        </p:txBody>
      </p:sp>
      <p:sp>
        <p:nvSpPr>
          <p:cNvPr id="59" name="Google Shape;59;p13"/>
          <p:cNvSpPr txBox="1"/>
          <p:nvPr/>
        </p:nvSpPr>
        <p:spPr>
          <a:xfrm>
            <a:off x="4018797" y="2273043"/>
            <a:ext cx="34107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Trump's AI Force and AI Czar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Do AI Models Refuse Harmful Tasks ?</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AX (Agent Executor)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Swarms Are Expensive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Neocloud - cloud provider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Hermes Astros: Automated Content Radar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Memoh: AI Agents With Their Own PCs (China)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Claude’s Constitution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DNA Discovery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Cohere + Aleph Alpha = $20 Bln merger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eyes $1.5 Trillion valuation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Meta SAM 3.1 - Segment Anything Model</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Meta Connect 2026 Event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NVIDIA SoL-Pi Uses x2 Less Tokens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Jobs &amp; Layoffs</a:t>
            </a:r>
            <a:endParaRPr sz="1200"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Sept 13</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{8A25FA09-6498-4BC5-B046-DB385637032A}</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{8A25FA09-6498-4BC5-B046-DB385637032A}</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{8A25FA09-6498-4BC5-B046-DB385637032A}</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Sept 24</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16067" y="1601973"/>
            <a:ext cx="8924866" cy="346265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6"/>
          <p:cNvSpPr txBox="1"/>
          <p:nvPr/>
        </p:nvSpPr>
        <p:spPr>
          <a:xfrm>
            <a:off x="36574" y="-27425"/>
            <a:ext cx="3237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The AIs With The Most Users</a:t>
            </a:r>
            <a:endParaRPr sz="2000" b="1">
              <a:latin typeface="Calibri"/>
              <a:ea typeface="Calibri"/>
              <a:cs typeface="Calibri"/>
              <a:sym typeface="Calibri"/>
            </a:endParaRPr>
          </a:p>
        </p:txBody>
      </p:sp>
      <p:sp>
        <p:nvSpPr>
          <p:cNvPr id="86" name="Google Shape;86;p16"/>
          <p:cNvSpPr txBox="1"/>
          <p:nvPr/>
        </p:nvSpPr>
        <p:spPr>
          <a:xfrm>
            <a:off x="4028200" y="90950"/>
            <a:ext cx="5115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Total number of monthly active users of each artificial intelligence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shows history 2022 - 2026 - </a:t>
            </a:r>
            <a:r>
              <a:rPr lang="en" sz="900" u="sng">
                <a:solidFill>
                  <a:schemeClr val="hlink"/>
                </a:solidFill>
                <a:latin typeface="Calibri"/>
                <a:ea typeface="Calibri"/>
                <a:cs typeface="Calibri"/>
                <a:sym typeface="Calibri"/>
                <a:hlinkClick r:id="rId3"/>
              </a:rPr>
              <a:t>https://www.youtube.com/watch?v=67GrBIaI3zc</a:t>
            </a:r>
            <a:r>
              <a:rPr lang="en" sz="900">
                <a:latin typeface="Calibri"/>
                <a:ea typeface="Calibri"/>
                <a:cs typeface="Calibri"/>
                <a:sym typeface="Calibri"/>
              </a:rPr>
              <a:t> </a:t>
            </a:r>
            <a:endParaRPr sz="900">
              <a:latin typeface="Calibri"/>
              <a:ea typeface="Calibri"/>
              <a:cs typeface="Calibri"/>
              <a:sym typeface="Calibri"/>
            </a:endParaRPr>
          </a:p>
        </p:txBody>
      </p:sp>
      <p:pic>
        <p:nvPicPr>
          <p:cNvPr id="87" name="Google Shape;87;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9623" y="557577"/>
            <a:ext cx="7996775" cy="4500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3" name="Google Shape;93;p17"/>
          <p:cNvSpPr txBox="1"/>
          <p:nvPr/>
        </p:nvSpPr>
        <p:spPr>
          <a:xfrm>
            <a:off x="36575" y="474950"/>
            <a:ext cx="3055500" cy="135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Union Alpha stealth model on OpenRouter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multimodal model for research, coding, and agentic workflows.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Free to use; 256K context; Tool calling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Frontier-level general-purpose performance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https://openrouter.ai/stealth/union-alpha</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https://x.com/alexatallah/status/2100243109401469062</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https://www.youtube.com/watch?v=2Gu21Y4hgd8</a:t>
            </a:r>
            <a:r>
              <a:rPr lang="en" sz="900">
                <a:latin typeface="Calibri"/>
                <a:ea typeface="Calibri"/>
                <a:cs typeface="Calibri"/>
                <a:sym typeface="Calibri"/>
              </a:rPr>
              <a:t> </a:t>
            </a:r>
            <a:endParaRPr sz="900">
              <a:latin typeface="Calibri"/>
              <a:ea typeface="Calibri"/>
              <a:cs typeface="Calibri"/>
              <a:sym typeface="Calibri"/>
            </a:endParaRPr>
          </a:p>
        </p:txBody>
      </p:sp>
      <p:pic>
        <p:nvPicPr>
          <p:cNvPr id="94" name="Google Shape;9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213025" y="1367625"/>
            <a:ext cx="5843902" cy="3714874"/>
          </a:xfrm>
          <a:prstGeom prst="rect">
            <a:avLst/>
          </a:prstGeom>
          <a:noFill/>
          <a:ln w="9525" cap="flat" cmpd="sng">
            <a:solidFill>
              <a:srgbClr val="FF0000"/>
            </a:solidFill>
            <a:prstDash val="solid"/>
            <a:round/>
            <a:headEnd type="none" w="sm" len="sm"/>
            <a:tailEnd type="none" w="sm" len="sm"/>
          </a:ln>
        </p:spPr>
      </p:pic>
      <p:pic>
        <p:nvPicPr>
          <p:cNvPr id="95" name="Google Shape;95;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213025" y="474950"/>
            <a:ext cx="3827477" cy="836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36575" y="-27425"/>
            <a:ext cx="240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Claude Opus 5.5</a:t>
            </a:r>
            <a:endParaRPr sz="2000" b="1">
              <a:latin typeface="Calibri"/>
              <a:ea typeface="Calibri"/>
              <a:cs typeface="Calibri"/>
              <a:sym typeface="Calibri"/>
            </a:endParaRPr>
          </a:p>
        </p:txBody>
      </p:sp>
      <p:sp>
        <p:nvSpPr>
          <p:cNvPr id="101" name="Google Shape;101;p18"/>
          <p:cNvSpPr txBox="1"/>
          <p:nvPr/>
        </p:nvSpPr>
        <p:spPr>
          <a:xfrm>
            <a:off x="106199" y="311250"/>
            <a:ext cx="44658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SzPts val="900"/>
              <a:buFont typeface="Calibri"/>
              <a:buChar char="●"/>
            </a:pPr>
            <a:r>
              <a:rPr lang="en" sz="1200" b="1">
                <a:solidFill>
                  <a:srgbClr val="FF0000"/>
                </a:solidFill>
                <a:latin typeface="Calibri"/>
                <a:ea typeface="Calibri"/>
                <a:cs typeface="Calibri"/>
                <a:sym typeface="Calibri"/>
              </a:rPr>
              <a:t>Claude Opus 5.5</a:t>
            </a:r>
            <a:r>
              <a:rPr lang="en" sz="1200">
                <a:latin typeface="Calibri"/>
                <a:ea typeface="Calibri"/>
                <a:cs typeface="Calibri"/>
                <a:sym typeface="Calibri"/>
              </a:rPr>
              <a:t> - Sept 22</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5.5 and Haiku 5.5 are expected in the coming weeks.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1M-token context window, same pricing regardless of length</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API price is $4  /  $20 per1M in/out</a:t>
            </a:r>
            <a:endParaRPr sz="1200">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Approaches Fable 5.1 performance, costing about 40% less overall</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Main gains - agentic coding, knowledge work, faster output, lower cache-read cost, and less verbose responses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 remains the cost-balanced production choice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Haiku 4.5 remains best for fast, high-volume tasks</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3"/>
              </a:rPr>
              <a:t>https://support.claude.com/en/articles/12138966-release-notes</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4"/>
              </a:rPr>
              <a:t>https://platform.claude.com/docs/en/about-claude/pricing</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5"/>
              </a:rPr>
              <a:t>https://code.claude.com/docs/en/model-config</a:t>
            </a:r>
            <a:endParaRPr sz="900">
              <a:latin typeface="Calibri"/>
              <a:ea typeface="Calibri"/>
              <a:cs typeface="Calibri"/>
              <a:sym typeface="Calibri"/>
            </a:endParaRPr>
          </a:p>
        </p:txBody>
      </p:sp>
      <p:pic>
        <p:nvPicPr>
          <p:cNvPr id="102" name="Google Shape;102;p1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55450" y="55225"/>
            <a:ext cx="2228450" cy="2608450"/>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566100" y="3640100"/>
            <a:ext cx="34968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Trump Suggest Better Name for AI</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He proposed calling artificial intelligence “super intelligence,” arguing that “artificial” makes the technology sound fake or less consequential.</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The announcement came Tuesday during his speech at the UN in Turtle Bay, New York City</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7"/>
              </a:rPr>
              <a:t>https://nypost.com/2026/09/22/us-news/trump-reveals-new-nickname-for-ai-and-lays-out-a-red-line-for-globalist-control-of-super-tech/</a:t>
            </a:r>
            <a:endParaRPr sz="900">
              <a:latin typeface="Calibri"/>
              <a:ea typeface="Calibri"/>
              <a:cs typeface="Calibri"/>
              <a:sym typeface="Calibri"/>
            </a:endParaRPr>
          </a:p>
        </p:txBody>
      </p:sp>
      <p:pic>
        <p:nvPicPr>
          <p:cNvPr id="104" name="Google Shape;104;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766078" y="2351350"/>
            <a:ext cx="1296825" cy="1210950"/>
          </a:xfrm>
          <a:prstGeom prst="rect">
            <a:avLst/>
          </a:prstGeom>
          <a:noFill/>
          <a:ln w="9525" cap="flat" cmpd="sng">
            <a:solidFill>
              <a:srgbClr val="FF0000"/>
            </a:solidFill>
            <a:prstDash val="solid"/>
            <a:round/>
            <a:headEnd type="none" w="sm" len="sm"/>
            <a:tailEnd type="none" w="sm" len="sm"/>
          </a:ln>
        </p:spPr>
      </p:pic>
      <p:sp>
        <p:nvSpPr>
          <p:cNvPr id="105" name="Google Shape;105;p18"/>
          <p:cNvSpPr txBox="1"/>
          <p:nvPr/>
        </p:nvSpPr>
        <p:spPr>
          <a:xfrm>
            <a:off x="36575" y="3562300"/>
            <a:ext cx="4803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95250" algn="l" rtl="0">
              <a:spcBef>
                <a:spcPts val="0"/>
              </a:spcBef>
              <a:spcAft>
                <a:spcPts val="0"/>
              </a:spcAft>
              <a:buClr>
                <a:srgbClr val="FF0000"/>
              </a:buClr>
              <a:buSzPts val="600"/>
              <a:buFont typeface="Calibri"/>
              <a:buChar char="●"/>
            </a:pPr>
            <a:r>
              <a:rPr lang="en" sz="1200" b="1">
                <a:solidFill>
                  <a:srgbClr val="FF0000"/>
                </a:solidFill>
                <a:latin typeface="Calibri"/>
                <a:ea typeface="Calibri"/>
                <a:cs typeface="Calibri"/>
                <a:sym typeface="Calibri"/>
              </a:rPr>
              <a:t>OpenAI GPT-6 Sol and Luna</a:t>
            </a:r>
            <a:endParaRPr sz="1200" b="1">
              <a:solidFill>
                <a:srgbClr val="FF0000"/>
              </a:solidFill>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Target professional work, coding, factuality, computer-use agents, and clearer technical collaboration at 2x lower operating cost vs GPT-5.6.</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Available in ChatGPT Work, Codex, and the OpenAI API as gpt-6-sol and gpt-6-luna.</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Cached input reads can receive 90% discounts, making capable AI agents more practical at scale</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u="sng">
                <a:solidFill>
                  <a:schemeClr val="hlink"/>
                </a:solidFill>
                <a:latin typeface="Calibri"/>
                <a:ea typeface="Calibri"/>
                <a:cs typeface="Calibri"/>
                <a:sym typeface="Calibri"/>
                <a:hlinkClick r:id="rId9"/>
              </a:rPr>
              <a:t>https://openai.com/index/introducing-gpt-6-sol-and-luna/</a:t>
            </a:r>
            <a:endParaRPr sz="1200">
              <a:latin typeface="Calibri"/>
              <a:ea typeface="Calibri"/>
              <a:cs typeface="Calibri"/>
              <a:sym typeface="Calibri"/>
            </a:endParaRPr>
          </a:p>
        </p:txBody>
      </p:sp>
      <p:pic>
        <p:nvPicPr>
          <p:cNvPr id="106" name="Google Shape;106;p18"/>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701375" y="2594912"/>
            <a:ext cx="2819299" cy="898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12" name="Google Shape;112;p19"/>
          <p:cNvSpPr txBox="1"/>
          <p:nvPr/>
        </p:nvSpPr>
        <p:spPr>
          <a:xfrm>
            <a:off x="119100" y="474950"/>
            <a:ext cx="57570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 Personal AI Agent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Meta’s free Muse desktop agent </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Example - it logged into AT&amp;T with stored credentials, identified bank-autopay discounts, and reportedly cut a $200 phone bill to about $160 monthly - roughly $480 yearly.</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research insurance, monitor Messenger, iMessage, Instagram and Threads, create ad-free personalized news feeds, manage goals, and prompt habit check-ins.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browse Marketplace, prepare listings, negotiate with sellers, compare products, suggest local events, and assist with restaurant or ticket bookings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Its standout capability is making calls as a user’s agent: it contacted Xfinity, found promotional and autopay options, and produced a transcript</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Such delegated browsing and calling could reduce tedious consumer-service work and broaden AI-agent adoption.</a:t>
            </a:r>
            <a:endParaRPr sz="1200">
              <a:solidFill>
                <a:srgbClr val="000000"/>
              </a:solidFill>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9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https://www.youtube.com/watch?v=eU1ICyI9bCs</a:t>
            </a:r>
            <a:r>
              <a:rPr lang="en" sz="900">
                <a:solidFill>
                  <a:srgbClr val="000000"/>
                </a:solidFill>
                <a:latin typeface="Calibri"/>
                <a:ea typeface="Calibri"/>
                <a:cs typeface="Calibri"/>
                <a:sym typeface="Calibri"/>
              </a:rPr>
              <a:t> </a:t>
            </a:r>
            <a:endParaRPr sz="900">
              <a:solidFill>
                <a:srgbClr val="000000"/>
              </a:solidFill>
              <a:latin typeface="Calibri"/>
              <a:ea typeface="Calibri"/>
              <a:cs typeface="Calibri"/>
              <a:sym typeface="Calibri"/>
            </a:endParaRPr>
          </a:p>
        </p:txBody>
      </p:sp>
      <p:pic>
        <p:nvPicPr>
          <p:cNvPr id="113" name="Google Shape;11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45300" y="474950"/>
            <a:ext cx="2760800" cy="1611625"/>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119100" y="3154875"/>
            <a:ext cx="53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xAI Grok 4.7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for coding, agentic tasks, knowledge work, long, difficult workflows, self-checking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Accepts text and image inputs, produces text</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Supports function calling, web/X search, code execution, configurable reasoning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500K-token context window; May 2026 knowledge cutoff.</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Pricing $2/$6 below 200K in, $4/$12 for larger prompts</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5"/>
              </a:rPr>
              <a:t>https://x.ai/news/grok-4-7</a:t>
            </a:r>
            <a:r>
              <a:rPr lang="en" sz="1200">
                <a:latin typeface="Calibri"/>
                <a:ea typeface="Calibri"/>
                <a:cs typeface="Calibri"/>
                <a:sym typeface="Calibri"/>
              </a:rPr>
              <a:t> </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6"/>
              </a:rPr>
              <a:t>https://docs.x.ai/developers/grok-4-7</a:t>
            </a:r>
            <a:endParaRPr sz="1200">
              <a:latin typeface="Calibri"/>
              <a:ea typeface="Calibri"/>
              <a:cs typeface="Calibri"/>
              <a:sym typeface="Calibri"/>
            </a:endParaRPr>
          </a:p>
        </p:txBody>
      </p:sp>
      <p:pic>
        <p:nvPicPr>
          <p:cNvPr id="115" name="Google Shape;115;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876092" y="3154875"/>
            <a:ext cx="2375331"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36574" y="-27425"/>
            <a:ext cx="25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RSI Publications</a:t>
            </a:r>
            <a:endParaRPr sz="2000" b="1">
              <a:latin typeface="Calibri"/>
              <a:ea typeface="Calibri"/>
              <a:cs typeface="Calibri"/>
              <a:sym typeface="Calibri"/>
            </a:endParaRPr>
          </a:p>
        </p:txBody>
      </p:sp>
      <p:sp>
        <p:nvSpPr>
          <p:cNvPr id="121" name="Google Shape;121;p20"/>
          <p:cNvSpPr txBox="1"/>
          <p:nvPr/>
        </p:nvSpPr>
        <p:spPr>
          <a:xfrm>
            <a:off x="119100" y="474950"/>
            <a:ext cx="4535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and AI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On September 14, 2026, researchers from Google, Google DeepMind, the University of Maryland, and the University of Virginia released Dream-RSI</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Chinese researchers affiliated with ByteDance, Tsinghua, and Shanghai AI Lab recently published a separate five-stage RSI roadmap.</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logs an agent’s past discovery attempts, converts them into replay simulators, and “dreams” through alternative exploration policies offline.</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Real experimentation is expensive; replay lets the system evaluate many strategies cheaply, then redeploy the strongest policy.</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solidFill>
                  <a:schemeClr val="dk1"/>
                </a:solidFill>
                <a:latin typeface="Calibri"/>
                <a:ea typeface="Calibri"/>
                <a:cs typeface="Calibri"/>
                <a:sym typeface="Calibri"/>
              </a:rPr>
              <a:t>Dream-RSI </a:t>
            </a:r>
            <a:r>
              <a:rPr lang="en" sz="1200">
                <a:latin typeface="Calibri"/>
                <a:ea typeface="Calibri"/>
                <a:cs typeface="Calibri"/>
                <a:sym typeface="Calibri"/>
              </a:rPr>
              <a:t>reported substantially lower discovery cost, including up to 162× fewer agent calls in some tests</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It improves search orchestration - not the fixed underlying model’s weights - so it is meaningful meta-optimization, but not yet full recursive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3"/>
              </a:rPr>
              <a:t>https://arxiv.org/abs/2609.14858v1</a:t>
            </a:r>
            <a:r>
              <a:rPr lang="en" sz="1200">
                <a:latin typeface="Calibri"/>
                <a:ea typeface="Calibri"/>
                <a:cs typeface="Calibri"/>
                <a:sym typeface="Calibri"/>
              </a:rPr>
              <a:t> </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4"/>
              </a:rPr>
              <a:t>https://arxiv.org/abs/2609.11873</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06900" y="152400"/>
            <a:ext cx="3523550" cy="2586538"/>
          </a:xfrm>
          <a:prstGeom prst="rect">
            <a:avLst/>
          </a:prstGeom>
          <a:noFill/>
          <a:ln w="9525" cap="flat" cmpd="sng">
            <a:solidFill>
              <a:srgbClr val="FF0000"/>
            </a:solidFill>
            <a:prstDash val="solid"/>
            <a:round/>
            <a:headEnd type="none" w="sm" len="sm"/>
            <a:tailEnd type="none" w="sm" len="sm"/>
          </a:ln>
        </p:spPr>
      </p:pic>
      <p:pic>
        <p:nvPicPr>
          <p:cNvPr id="123" name="Google Shape;12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6900" y="3117466"/>
            <a:ext cx="3523550" cy="1896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1"/>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29" name="Google Shape;129;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758045"/>
            <a:ext cx="2461825" cy="3154225"/>
          </a:xfrm>
          <a:prstGeom prst="rect">
            <a:avLst/>
          </a:prstGeom>
          <a:noFill/>
          <a:ln w="9525" cap="flat" cmpd="sng">
            <a:solidFill>
              <a:srgbClr val="FF0000"/>
            </a:solidFill>
            <a:prstDash val="solid"/>
            <a:round/>
            <a:headEnd type="none" w="sm" len="sm"/>
            <a:tailEnd type="none" w="sm" len="sm"/>
          </a:ln>
        </p:spPr>
      </p:pic>
      <p:pic>
        <p:nvPicPr>
          <p:cNvPr id="130" name="Google Shape;13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6550" y="2700257"/>
            <a:ext cx="2160975" cy="2243351"/>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7.57K subscribers, 346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2"/>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7" name="Google Shape;137;p22"/>
          <p:cNvSpPr txBox="1"/>
          <p:nvPr/>
        </p:nvSpPr>
        <p:spPr>
          <a:xfrm>
            <a:off x="193150" y="649425"/>
            <a:ext cx="4449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AWS Strands Agent Harness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AI-agent harness designed for building and running production agent workflows.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agent orchestration, tool use, context management, evaluation, and observability into a reusable framework.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reports Strands can be about 45% cheaper than comparable Claude-based operation in its cited use case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Harness was even cheaper - but with lower task accuracy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https://thenewstack.io/aws-strands-harness-agent/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38" name="Google Shape;138;p22"/>
          <p:cNvSpPr txBox="1"/>
          <p:nvPr/>
        </p:nvSpPr>
        <p:spPr>
          <a:xfrm>
            <a:off x="193150" y="3121875"/>
            <a:ext cx="44496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MiMo-V2.6-Pro and -Flash</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Open-weight, MIT license, 1M-tokens context window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leads Artificial Analysis’ open-weight Intelligence Index at 46, tying Grok 4.7 and exceeding DeepSeek V4.1 variants.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trained on 750,000 agent trajectories with grading and anti-cheating controls.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- 1T params, Pricing $0.44/$0.87</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- 310B params, Pricing $0.14/$0.28</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turebeat.com/technology/better-than-deepseek-xiaomis-mimo-v2-6-pro-debuts-as-the-top-open-weights-model-in-the-world-alongside-cheaper-v2-6-flash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9" name="Google Shape;139;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54475" y="2983426"/>
            <a:ext cx="3905163" cy="2050200"/>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7075" y="39250"/>
            <a:ext cx="4252573" cy="28350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6" name="Google Shape;146;p23"/>
          <p:cNvSpPr txBox="1"/>
          <p:nvPr/>
        </p:nvSpPr>
        <p:spPr>
          <a:xfrm>
            <a:off x="55625" y="429375"/>
            <a:ext cx="53298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Safety: Speed vs. Slowdown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Anthropic CEO Dario Amodei and Nvidia CEO Jensen Huang publicly disagreed over how to manage frontier-AI risks </a:t>
            </a:r>
            <a:r>
              <a:rPr lang="en" sz="1200">
                <a:solidFill>
                  <a:schemeClr val="dk1"/>
                </a:solidFill>
                <a:latin typeface="Calibri"/>
                <a:ea typeface="Calibri"/>
                <a:cs typeface="Calibri"/>
                <a:sym typeface="Calibri"/>
              </a:rPr>
              <a:t>during Sept 15 at Salesforce’s Dreamforce conference in San Francisco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 AI capabilities may outpace safeguards, including in sensitive areas such as cybersecurity and biology.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Amodei urged a slower development pace</a:t>
            </a:r>
            <a:r>
              <a:rPr lang="en" sz="1200">
                <a:solidFill>
                  <a:schemeClr val="dk1"/>
                </a:solidFill>
                <a:latin typeface="Calibri"/>
                <a:ea typeface="Calibri"/>
                <a:cs typeface="Calibri"/>
                <a:sym typeface="Calibri"/>
              </a:rPr>
              <a:t>, independent safety evaluators, shared standards, and eventual international coordination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Huang says safety is an engineering and testing challenge</a:t>
            </a:r>
            <a:r>
              <a:rPr lang="en" sz="1200">
                <a:solidFill>
                  <a:schemeClr val="dk1"/>
                </a:solidFill>
                <a:latin typeface="Calibri"/>
                <a:ea typeface="Calibri"/>
                <a:cs typeface="Calibri"/>
                <a:sym typeface="Calibri"/>
              </a:rPr>
              <a:t>: build secure test environments, withhold unsafe releases, and continue innovating rapidly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Major industry divide - whether safeguards require coordinated regulation or can rely on company accountability, existing laws, testing, and market incentives.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IPO date is moved from October to November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https://www.wsj.com/tech/ai/nvidia-jensen-huang-resists-ai-slowdown-334a24e1</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https://www.cnbc.com/2026/09/15/nvidia-and-anthropic-ceos-diverge-on-ai-safety-at-dreamforce.html</a:t>
            </a:r>
            <a:endParaRPr sz="900">
              <a:solidFill>
                <a:schemeClr val="dk1"/>
              </a:solidFill>
              <a:latin typeface="Calibri"/>
              <a:ea typeface="Calibri"/>
              <a:cs typeface="Calibri"/>
              <a:sym typeface="Calibri"/>
            </a:endParaRPr>
          </a:p>
        </p:txBody>
      </p:sp>
      <p:pic>
        <p:nvPicPr>
          <p:cNvPr id="147" name="Google Shape;147;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476325" y="235500"/>
            <a:ext cx="3550650" cy="1775350"/>
          </a:xfrm>
          <a:prstGeom prst="rect">
            <a:avLst/>
          </a:prstGeom>
          <a:noFill/>
          <a:ln w="9525" cap="flat" cmpd="sng">
            <a:solidFill>
              <a:srgbClr val="FF0000"/>
            </a:solidFill>
            <a:prstDash val="solid"/>
            <a:round/>
            <a:headEnd type="none" w="sm" len="sm"/>
            <a:tailEnd type="none" w="sm" len="sm"/>
          </a:ln>
        </p:spPr>
      </p:pic>
      <p:sp>
        <p:nvSpPr>
          <p:cNvPr id="148" name="Google Shape;148;p23"/>
          <p:cNvSpPr txBox="1"/>
          <p:nvPr/>
        </p:nvSpPr>
        <p:spPr>
          <a:xfrm>
            <a:off x="55625" y="3189800"/>
            <a:ext cx="5329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Paperclip organizes agents</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from different harnesses into company roles, reporting lines, and workflows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self-hosted, 10-min setup</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install Paperclip on an Ubuntu server and connects agents including Hermes, Claude Code, Codex, and Pi</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demo shows how agent teams can coordinate across tools with oversight, traceability, routines, and shared 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https://paperclip.ing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https://github.com/paperclipai/paperclip</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https://www.youtube.com/watch?v=7RVf25Rg0Mc</a:t>
            </a:r>
            <a:endParaRPr sz="1200">
              <a:solidFill>
                <a:schemeClr val="dk1"/>
              </a:solidFill>
              <a:latin typeface="Calibri"/>
              <a:ea typeface="Calibri"/>
              <a:cs typeface="Calibri"/>
              <a:sym typeface="Calibri"/>
            </a:endParaRPr>
          </a:p>
        </p:txBody>
      </p:sp>
      <p:pic>
        <p:nvPicPr>
          <p:cNvPr id="149" name="Google Shape;149;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825502" y="3279853"/>
            <a:ext cx="2414824" cy="1775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55" name="Google Shape;155;p24"/>
          <p:cNvSpPr txBox="1"/>
          <p:nvPr/>
        </p:nvSpPr>
        <p:spPr>
          <a:xfrm>
            <a:off x="55625" y="429375"/>
            <a:ext cx="4449600" cy="228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Custom AI-Agent HUD Overlay</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HUD ( Heads-Up Display ) - a small floating panel </a:t>
            </a:r>
            <a:r>
              <a:rPr lang="en" sz="1200">
                <a:solidFill>
                  <a:schemeClr val="dk1"/>
                </a:solidFill>
                <a:latin typeface="Calibri"/>
                <a:ea typeface="Calibri"/>
                <a:cs typeface="Calibri"/>
                <a:sym typeface="Calibri"/>
              </a:rPr>
              <a:t>to work with multiple agents to control their work and local apps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creator built “Agent OS Reactor” HUD.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MacOS SwiftUI supplies the HUD, while AppKit provides a floating panel and menu-bar integration; permissions enable microphone, speech recognition, accessibility, and app launching</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build turns a dashboard into an always-available agent-control surface, supporting app allow-lists, file search, notes, and iterative AI-assisted development/testing.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https://agentos.guide/hermes-hud-engine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https://agentos.guide/system.html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https://app.aiprofitagents.com</a:t>
            </a:r>
            <a:endParaRPr sz="900">
              <a:solidFill>
                <a:schemeClr val="dk1"/>
              </a:solidFill>
              <a:latin typeface="Calibri"/>
              <a:ea typeface="Calibri"/>
              <a:cs typeface="Calibri"/>
              <a:sym typeface="Calibri"/>
            </a:endParaRPr>
          </a:p>
        </p:txBody>
      </p:sp>
      <p:sp>
        <p:nvSpPr>
          <p:cNvPr id="156" name="Google Shape;156;p24"/>
          <p:cNvSpPr txBox="1"/>
          <p:nvPr/>
        </p:nvSpPr>
        <p:spPr>
          <a:xfrm>
            <a:off x="55625" y="2774300"/>
            <a:ext cx="4449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Researches Hacked OpenAI Using Claude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Hacktron AI security researchers used Anthropic’s Claude Opus 5 to chain flaws affecting OpenAI’s public Discourse help forum and identity system in July 2026</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https://thehackernews.com/2026/09/claude-opus-5-helped-researchers-take.html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https://indianexpress.com/article/world/indian-origin-researchers-use-claude-ai-breach-openai-systems-hacktron-10884340/lite/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Researchers submitted one harmless pull request as proof - this was a coordinated white-hat research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fixed the reported issue in roughly 14 hours and paid Hacktron a $6,500 bug bounty</a:t>
            </a:r>
            <a:endParaRPr sz="1200">
              <a:solidFill>
                <a:schemeClr val="dk1"/>
              </a:solidFill>
              <a:latin typeface="Calibri"/>
              <a:ea typeface="Calibri"/>
              <a:cs typeface="Calibri"/>
              <a:sym typeface="Calibri"/>
            </a:endParaRPr>
          </a:p>
        </p:txBody>
      </p:sp>
      <p:pic>
        <p:nvPicPr>
          <p:cNvPr id="157" name="Google Shape;157;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7625" y="429375"/>
            <a:ext cx="2872725" cy="2164325"/>
          </a:xfrm>
          <a:prstGeom prst="rect">
            <a:avLst/>
          </a:prstGeom>
          <a:noFill/>
          <a:ln w="9525" cap="flat" cmpd="sng">
            <a:solidFill>
              <a:srgbClr val="FF0000"/>
            </a:solidFill>
            <a:prstDash val="solid"/>
            <a:round/>
            <a:headEnd type="none" w="sm" len="sm"/>
            <a:tailEnd type="none" w="sm" len="sm"/>
          </a:ln>
        </p:spPr>
      </p:pic>
      <p:pic>
        <p:nvPicPr>
          <p:cNvPr id="158" name="Google Shape;158;p24"/>
          <p:cNvPicPr preferRelativeResize="0"/>
          <p:nvPr/>
        </p:nvPicPr>
        <p:blipFill>
          <a:blip r:embed="rId9">
            <a:alphaModFix/>
          </a:blip>
          <a:stretch>
            <a:fillRect/>
          </a:stretch>
        </p:blipFill>
        <p:spPr>
          <a:xfrm>
            <a:off x="4657625" y="3386975"/>
            <a:ext cx="3276600" cy="1009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5"/>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64" name="Google Shape;164;p25"/>
          <p:cNvSpPr txBox="1"/>
          <p:nvPr/>
        </p:nvSpPr>
        <p:spPr>
          <a:xfrm>
            <a:off x="55625" y="429375"/>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Bonsai 2 - a tiny local AI</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Reduced weights file from 54 GB to 5.9 GB</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using ternary weights (−1, 0, and +1)</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PrismML, based on Qwen3.8 27B, open - Apache 2.0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via PrismML’s llama.cpp fork, Apple MLX, or WebGPU-capable browsers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that run-time memory is much more than 5.9 GB</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98.2% benchmark retention, with coding near the original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https://prism-ml.github.io</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https://huggingface.co/prism-ml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https://www.datacamp.com/blog/bonsai-2-27b</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https://www.youtube.com/watch?v=M6nv640H1Xo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5" name="Google Shape;165;p25"/>
          <p:cNvSpPr txBox="1"/>
          <p:nvPr/>
        </p:nvSpPr>
        <p:spPr>
          <a:xfrm>
            <a:off x="55625" y="2590925"/>
            <a:ext cx="44496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Qwen3.8-Omni-Flash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Jointly processes text, images, audio, and video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 Qwen’s platform and Alibaba Cloud Model Studio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1M-tokens - supports long meetings and video analysis - summaries, reports, translations,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Substantially lower audio/video processing cost and token use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Caveat - it is hosted/API-based and returns text</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https://qwen.ai/blog?id=qwen3.8-omni-flash</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https://www.alibabacloud.com/help/en/model-studio/qwen-omni</a:t>
            </a:r>
            <a:endParaRPr sz="900">
              <a:solidFill>
                <a:schemeClr val="dk1"/>
              </a:solidFill>
              <a:latin typeface="Calibri"/>
              <a:ea typeface="Calibri"/>
              <a:cs typeface="Calibri"/>
              <a:sym typeface="Calibri"/>
            </a:endParaRPr>
          </a:p>
        </p:txBody>
      </p:sp>
      <p:pic>
        <p:nvPicPr>
          <p:cNvPr id="166" name="Google Shape;166;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90225" y="765575"/>
            <a:ext cx="3168075" cy="1377800"/>
          </a:xfrm>
          <a:prstGeom prst="rect">
            <a:avLst/>
          </a:prstGeom>
          <a:noFill/>
          <a:ln w="9525" cap="flat" cmpd="sng">
            <a:solidFill>
              <a:srgbClr val="FF0000"/>
            </a:solidFill>
            <a:prstDash val="solid"/>
            <a:round/>
            <a:headEnd type="none" w="sm" len="sm"/>
            <a:tailEnd type="none" w="sm" len="sm"/>
          </a:ln>
        </p:spPr>
      </p:pic>
      <p:pic>
        <p:nvPicPr>
          <p:cNvPr id="167" name="Google Shape;167;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890225" y="2662525"/>
            <a:ext cx="2509300" cy="1445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6"/>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3" name="Google Shape;173;p26"/>
          <p:cNvSpPr txBox="1"/>
          <p:nvPr/>
        </p:nvSpPr>
        <p:spPr>
          <a:xfrm>
            <a:off x="55625" y="429375"/>
            <a:ext cx="4449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Bolt.new Forge - use Open Models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Forge is a selectable Bolt </a:t>
            </a:r>
            <a:r>
              <a:rPr lang="en" sz="1200" b="1">
                <a:solidFill>
                  <a:srgbClr val="FF0000"/>
                </a:solidFill>
                <a:latin typeface="Calibri"/>
                <a:ea typeface="Calibri"/>
                <a:cs typeface="Calibri"/>
                <a:sym typeface="Calibri"/>
              </a:rPr>
              <a:t>coding-agent mode using open-weight models</a:t>
            </a:r>
            <a:r>
              <a:rPr lang="en" sz="1200">
                <a:solidFill>
                  <a:schemeClr val="dk1"/>
                </a:solidFill>
                <a:latin typeface="Calibri"/>
                <a:ea typeface="Calibri"/>
                <a:cs typeface="Calibri"/>
                <a:sym typeface="Calibri"/>
              </a:rPr>
              <a:t> - GLM 5.3 Flash, GLM 5.3, Kimi K3, DeepSeek V4 Pro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within Bolt.new</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Addresses AI coding usage limits by offering up to 50× more separate monthly usage without reducing Standard or Max allowances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Trade-off: Opt-in Forge sessions are anonymized for training a future open model with R.C. AI; users consent when entering Forge.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models scored 92.2 versus 101 for Bolt’s leading flagship benchmark, making lower-cost experimentation practical for many everyday projects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https://bolt.new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4" name="Google Shape;174;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64675" y="664690"/>
            <a:ext cx="3464675" cy="1948874"/>
          </a:xfrm>
          <a:prstGeom prst="rect">
            <a:avLst/>
          </a:prstGeom>
          <a:noFill/>
          <a:ln w="9525" cap="flat" cmpd="sng">
            <a:solidFill>
              <a:srgbClr val="FF0000"/>
            </a:solidFill>
            <a:prstDash val="solid"/>
            <a:round/>
            <a:headEnd type="none" w="sm" len="sm"/>
            <a:tailEnd type="none" w="sm" len="sm"/>
          </a:ln>
        </p:spPr>
      </p:pic>
      <p:sp>
        <p:nvSpPr>
          <p:cNvPr id="175" name="Google Shape;175;p26"/>
          <p:cNvSpPr txBox="1"/>
          <p:nvPr/>
        </p:nvSpPr>
        <p:spPr>
          <a:xfrm>
            <a:off x="55625" y="2912600"/>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Needle 8-29 MB Model for Offline Action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Cactus Compute, for phones, wearables, robots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Converts natural-language requests into structured tool calls, extracts data, and supports local 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without an internet connection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confidence scoring;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(Apache 2.0), in Python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https://cactuscompute.com/needle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https://huggingface.co/Cactus-Compute/needle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https://www.youtube.com/watch?v=tsWOiibaaxA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6" name="Google Shape;176;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30025" y="3045914"/>
            <a:ext cx="4333974" cy="17835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82" name="Google Shape;182;p27"/>
          <p:cNvSpPr txBox="1"/>
          <p:nvPr/>
        </p:nvSpPr>
        <p:spPr>
          <a:xfrm>
            <a:off x="36575" y="758950"/>
            <a:ext cx="4471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leads 26% of Anthropic's AI R&amp;D 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Up from under 1% in February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proposed </a:t>
            </a:r>
            <a:r>
              <a:rPr lang="en" sz="1200" b="1">
                <a:latin typeface="Calibri"/>
                <a:ea typeface="Calibri"/>
                <a:cs typeface="Calibri"/>
                <a:sym typeface="Calibri"/>
              </a:rPr>
              <a:t>3 metrics</a:t>
            </a:r>
            <a:r>
              <a:rPr lang="en" sz="1200">
                <a:latin typeface="Calibri"/>
                <a:ea typeface="Calibri"/>
                <a:cs typeface="Calibri"/>
                <a:sym typeface="Calibri"/>
              </a:rPr>
              <a:t> for how fast frontier AI is moving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b="1">
                <a:latin typeface="Calibri"/>
                <a:ea typeface="Calibri"/>
                <a:cs typeface="Calibri"/>
                <a:sym typeface="Calibri"/>
              </a:rPr>
              <a:t>30K agents</a:t>
            </a:r>
            <a:r>
              <a:rPr lang="en" sz="1200">
                <a:latin typeface="Calibri"/>
                <a:ea typeface="Calibri"/>
                <a:cs typeface="Calibri"/>
                <a:sym typeface="Calibri"/>
              </a:rPr>
              <a:t> run at once on its most-used internal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Online monitors check every agent action</a:t>
            </a:r>
            <a:br>
              <a:rPr lang="en" sz="1200">
                <a:latin typeface="Calibri"/>
                <a:ea typeface="Calibri"/>
                <a:cs typeface="Calibri"/>
                <a:sym typeface="Calibri"/>
              </a:rPr>
            </a:br>
            <a:r>
              <a:rPr lang="en" sz="1200">
                <a:latin typeface="Calibri"/>
                <a:ea typeface="Calibri"/>
                <a:cs typeface="Calibri"/>
                <a:sym typeface="Calibri"/>
              </a:rPr>
              <a:t>and block about 1 decision in 47K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6% of AI R&amp;D compute goes to safety, </a:t>
            </a:r>
            <a:br>
              <a:rPr lang="en" sz="1200">
                <a:latin typeface="Calibri"/>
                <a:ea typeface="Calibri"/>
                <a:cs typeface="Calibri"/>
                <a:sym typeface="Calibri"/>
              </a:rPr>
            </a:br>
            <a:r>
              <a:rPr lang="en" sz="1200">
                <a:latin typeface="Calibri"/>
                <a:ea typeface="Calibri"/>
                <a:cs typeface="Calibri"/>
                <a:sym typeface="Calibri"/>
              </a:rPr>
              <a:t>and 12% of the compute AI itself directs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Every figure is self-measured and not audited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https://www.anthropic.com/institute/measuring-pace-of-ai-development</a:t>
            </a:r>
            <a:endParaRPr sz="900">
              <a:solidFill>
                <a:srgbClr val="0563C1"/>
              </a:solidFill>
              <a:latin typeface="Calibri"/>
              <a:ea typeface="Calibri"/>
              <a:cs typeface="Calibri"/>
              <a:sym typeface="Calibri"/>
            </a:endParaRPr>
          </a:p>
        </p:txBody>
      </p:sp>
      <p:sp>
        <p:nvSpPr>
          <p:cNvPr id="183" name="Google Shape;183;p27"/>
          <p:cNvSpPr txBox="1"/>
          <p:nvPr/>
        </p:nvSpPr>
        <p:spPr>
          <a:xfrm>
            <a:off x="36575" y="2894075"/>
            <a:ext cx="44718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Google tests a family agent with its own cloud computer</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Google Labs is testing an agent for households that runs </a:t>
            </a:r>
            <a:br>
              <a:rPr lang="en" sz="1200">
                <a:latin typeface="Calibri"/>
                <a:ea typeface="Calibri"/>
                <a:cs typeface="Calibri"/>
                <a:sym typeface="Calibri"/>
              </a:rPr>
            </a:br>
            <a:r>
              <a:rPr lang="en" sz="1200">
                <a:latin typeface="Calibri"/>
                <a:ea typeface="Calibri"/>
                <a:cs typeface="Calibri"/>
                <a:sym typeface="Calibri"/>
              </a:rPr>
              <a:t>on </a:t>
            </a:r>
            <a:r>
              <a:rPr lang="en" sz="1200" b="1">
                <a:latin typeface="Calibri"/>
                <a:ea typeface="Calibri"/>
                <a:cs typeface="Calibri"/>
                <a:sym typeface="Calibri"/>
              </a:rPr>
              <a:t>its own cloud computer</a:t>
            </a:r>
            <a:r>
              <a:rPr lang="en" sz="1200">
                <a:latin typeface="Calibri"/>
                <a:ea typeface="Calibri"/>
                <a:cs typeface="Calibri"/>
                <a:sym typeface="Calibri"/>
              </a:rPr>
              <a:t> and Google account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turns the email, files and calendars a family shares </a:t>
            </a:r>
            <a:br>
              <a:rPr lang="en" sz="1200">
                <a:latin typeface="Calibri"/>
                <a:ea typeface="Calibri"/>
                <a:cs typeface="Calibri"/>
                <a:sym typeface="Calibri"/>
              </a:rPr>
            </a:br>
            <a:r>
              <a:rPr lang="en" sz="1200">
                <a:latin typeface="Calibri"/>
                <a:ea typeface="Calibri"/>
                <a:cs typeface="Calibri"/>
                <a:sym typeface="Calibri"/>
              </a:rPr>
              <a:t>into daily briefings and updated plans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fills out forms and coordinates activities for up to </a:t>
            </a:r>
            <a:r>
              <a:rPr lang="en" sz="1200">
                <a:highlight>
                  <a:srgbClr val="FFF2CC"/>
                </a:highlight>
                <a:latin typeface="Calibri"/>
                <a:ea typeface="Calibri"/>
                <a:cs typeface="Calibri"/>
                <a:sym typeface="Calibri"/>
              </a:rPr>
              <a:t>six people</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asks permission before acting outside the group</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US experiment for now, with a waitlist</a:t>
            </a:r>
            <a:endParaRPr sz="1200">
              <a:latin typeface="Calibri"/>
              <a:ea typeface="Calibri"/>
              <a:cs typeface="Calibri"/>
              <a:sym typeface="Calibri"/>
            </a:endParaRPr>
          </a:p>
          <a:p>
            <a:pPr marL="171450" lvl="0" indent="-107950" algn="l" rtl="0">
              <a:spcBef>
                <a:spcPts val="0"/>
              </a:spcBef>
              <a:spcAft>
                <a:spcPts val="0"/>
              </a:spcAft>
              <a:buSzPts val="800"/>
              <a:buFont typeface="Calibri"/>
              <a:buChar char="●"/>
            </a:pPr>
            <a:r>
              <a:rPr lang="en" sz="8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https://blog.google/innovation-and-ai/models-and-research/google-labs/cc-expanding-to-groups</a:t>
            </a:r>
            <a:endParaRPr sz="800">
              <a:solidFill>
                <a:srgbClr val="0563C1"/>
              </a:solidFill>
              <a:latin typeface="Calibri"/>
              <a:ea typeface="Calibri"/>
              <a:cs typeface="Calibri"/>
              <a:sym typeface="Calibri"/>
            </a:endParaRPr>
          </a:p>
        </p:txBody>
      </p:sp>
      <p:pic>
        <p:nvPicPr>
          <p:cNvPr id="184" name="Google Shape;184;p2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925200" y="3098900"/>
            <a:ext cx="1676726" cy="1225050"/>
          </a:xfrm>
          <a:prstGeom prst="rect">
            <a:avLst/>
          </a:prstGeom>
          <a:noFill/>
          <a:ln w="9525" cap="flat" cmpd="sng">
            <a:solidFill>
              <a:srgbClr val="FF0000"/>
            </a:solidFill>
            <a:prstDash val="solid"/>
            <a:round/>
            <a:headEnd type="none" w="sm" len="sm"/>
            <a:tailEnd type="none" w="sm" len="sm"/>
          </a:ln>
        </p:spPr>
      </p:pic>
      <p:pic>
        <p:nvPicPr>
          <p:cNvPr id="185" name="Google Shape;185;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25212" y="806963"/>
            <a:ext cx="3570487" cy="1769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91" name="Google Shape;191;p28"/>
          <p:cNvSpPr txBox="1"/>
          <p:nvPr/>
        </p:nvSpPr>
        <p:spPr>
          <a:xfrm>
            <a:off x="36575" y="402441"/>
            <a:ext cx="4980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makes biomolecular modeling 4 times faster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used Claude to optimize </a:t>
            </a:r>
            <a:r>
              <a:rPr lang="en" sz="1200" b="1">
                <a:latin typeface="Calibri"/>
                <a:ea typeface="Calibri"/>
                <a:cs typeface="Calibri"/>
                <a:sym typeface="Calibri"/>
              </a:rPr>
              <a:t>more than 30</a:t>
            </a:r>
            <a:r>
              <a:rPr lang="en" sz="1200">
                <a:latin typeface="Calibri"/>
                <a:ea typeface="Calibri"/>
                <a:cs typeface="Calibri"/>
                <a:sym typeface="Calibri"/>
              </a:rPr>
              <a:t> biomolecular models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Structure prediction now runs </a:t>
            </a:r>
            <a:r>
              <a:rPr lang="en" sz="1200">
                <a:highlight>
                  <a:srgbClr val="FFF2CC"/>
                </a:highlight>
                <a:latin typeface="Calibri"/>
                <a:ea typeface="Calibri"/>
                <a:cs typeface="Calibri"/>
                <a:sym typeface="Calibri"/>
              </a:rPr>
              <a:t>4x</a:t>
            </a:r>
            <a:r>
              <a:rPr lang="en" sz="1200">
                <a:latin typeface="Calibri"/>
                <a:ea typeface="Calibri"/>
                <a:cs typeface="Calibri"/>
                <a:sym typeface="Calibri"/>
              </a:rPr>
              <a:t> faster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low-memory mode predicts larger systems on a </a:t>
            </a:r>
            <a:r>
              <a:rPr lang="en" sz="1200" b="1">
                <a:latin typeface="Calibri"/>
                <a:ea typeface="Calibri"/>
                <a:cs typeface="Calibri"/>
                <a:sym typeface="Calibri"/>
              </a:rPr>
              <a:t>single NVIDIA GPU</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Open-sourced for protein design and structure prediction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protein design competition with Adaptyv Bio </a:t>
            </a:r>
            <a:br>
              <a:rPr lang="en" sz="1200">
                <a:latin typeface="Calibri"/>
                <a:ea typeface="Calibri"/>
                <a:cs typeface="Calibri"/>
                <a:sym typeface="Calibri"/>
              </a:rPr>
            </a:br>
            <a:r>
              <a:rPr lang="en" sz="1200">
                <a:latin typeface="Calibri"/>
                <a:ea typeface="Calibri"/>
                <a:cs typeface="Calibri"/>
                <a:sym typeface="Calibri"/>
              </a:rPr>
              <a:t>offers up to </a:t>
            </a:r>
            <a:r>
              <a:rPr lang="en" sz="1200">
                <a:highlight>
                  <a:srgbClr val="FFF2CC"/>
                </a:highlight>
                <a:latin typeface="Calibri"/>
                <a:ea typeface="Calibri"/>
                <a:cs typeface="Calibri"/>
                <a:sym typeface="Calibri"/>
              </a:rPr>
              <a:t>$1 Mln</a:t>
            </a:r>
            <a:r>
              <a:rPr lang="en" sz="1200">
                <a:latin typeface="Calibri"/>
                <a:ea typeface="Calibri"/>
                <a:cs typeface="Calibri"/>
                <a:sym typeface="Calibri"/>
              </a:rPr>
              <a:t> in Claude credits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https://www.anthropic.com/research/claude-uplifts-biomolecular-modeling</a:t>
            </a:r>
            <a:endParaRPr sz="900">
              <a:solidFill>
                <a:srgbClr val="0563C1"/>
              </a:solidFill>
              <a:latin typeface="Calibri"/>
              <a:ea typeface="Calibri"/>
              <a:cs typeface="Calibri"/>
              <a:sym typeface="Calibri"/>
            </a:endParaRPr>
          </a:p>
        </p:txBody>
      </p:sp>
      <p:sp>
        <p:nvSpPr>
          <p:cNvPr id="192" name="Google Shape;192;p28"/>
          <p:cNvSpPr txBox="1"/>
          <p:nvPr/>
        </p:nvSpPr>
        <p:spPr>
          <a:xfrm>
            <a:off x="36575" y="1913072"/>
            <a:ext cx="4980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Jev gets six open clones in two days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TypeSafe's Jev - a model that decides instead of writing text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Attracted </a:t>
            </a:r>
            <a:r>
              <a:rPr lang="en" sz="1200">
                <a:highlight>
                  <a:srgbClr val="FFF2CC"/>
                </a:highlight>
                <a:latin typeface="Calibri"/>
                <a:ea typeface="Calibri"/>
                <a:cs typeface="Calibri"/>
                <a:sym typeface="Calibri"/>
              </a:rPr>
              <a:t>36M</a:t>
            </a:r>
            <a:r>
              <a:rPr lang="en" sz="1200">
                <a:latin typeface="Calibri"/>
                <a:ea typeface="Calibri"/>
                <a:cs typeface="Calibri"/>
                <a:sym typeface="Calibri"/>
              </a:rPr>
              <a:t> views of its launch video in two days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 Vercel's AI Gateway it reached 13% of teams on day one</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Six open look-alikes appeared within two days, from a </a:t>
            </a:r>
            <a:r>
              <a:rPr lang="en" sz="1200" b="1">
                <a:solidFill>
                  <a:srgbClr val="3C78D8"/>
                </a:solidFill>
                <a:latin typeface="Calibri"/>
                <a:ea typeface="Calibri"/>
                <a:cs typeface="Calibri"/>
                <a:sym typeface="Calibri"/>
              </a:rPr>
              <a:t>421M ModernBERT </a:t>
            </a:r>
            <a:r>
              <a:rPr lang="en" sz="1200">
                <a:latin typeface="Calibri"/>
                <a:ea typeface="Calibri"/>
                <a:cs typeface="Calibri"/>
                <a:sym typeface="Calibri"/>
              </a:rPr>
              <a:t>scorer to </a:t>
            </a:r>
            <a:r>
              <a:rPr lang="en" sz="1200" b="1">
                <a:solidFill>
                  <a:srgbClr val="3C78D8"/>
                </a:solidFill>
                <a:latin typeface="Calibri"/>
                <a:ea typeface="Calibri"/>
                <a:cs typeface="Calibri"/>
                <a:sym typeface="Calibri"/>
              </a:rPr>
              <a:t>Kev-0.5B</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Bespoke Nimble</a:t>
            </a:r>
            <a:r>
              <a:rPr lang="en" sz="1200">
                <a:latin typeface="Calibri"/>
                <a:ea typeface="Calibri"/>
                <a:cs typeface="Calibri"/>
                <a:sym typeface="Calibri"/>
              </a:rPr>
              <a:t>, a LoRA of Qwen3.5-9B, scored </a:t>
            </a:r>
            <a:r>
              <a:rPr lang="en" sz="1200" b="1">
                <a:latin typeface="Calibri"/>
                <a:ea typeface="Calibri"/>
                <a:cs typeface="Calibri"/>
                <a:sym typeface="Calibri"/>
              </a:rPr>
              <a:t>90%</a:t>
            </a:r>
            <a:r>
              <a:rPr lang="en" sz="1200">
                <a:latin typeface="Calibri"/>
                <a:ea typeface="Calibri"/>
                <a:cs typeface="Calibri"/>
                <a:sym typeface="Calibri"/>
              </a:rPr>
              <a:t> on its own eval </a:t>
            </a:r>
            <a:br>
              <a:rPr lang="en" sz="1200">
                <a:latin typeface="Calibri"/>
                <a:ea typeface="Calibri"/>
                <a:cs typeface="Calibri"/>
                <a:sym typeface="Calibri"/>
              </a:rPr>
            </a:br>
            <a:r>
              <a:rPr lang="en" sz="1200">
                <a:latin typeface="Calibri"/>
                <a:ea typeface="Calibri"/>
                <a:cs typeface="Calibri"/>
                <a:sym typeface="Calibri"/>
              </a:rPr>
              <a:t>versus 93% for </a:t>
            </a:r>
            <a:r>
              <a:rPr lang="en" sz="1200" b="1">
                <a:solidFill>
                  <a:srgbClr val="3C78D8"/>
                </a:solidFill>
                <a:latin typeface="Calibri"/>
                <a:ea typeface="Calibri"/>
                <a:cs typeface="Calibri"/>
                <a:sym typeface="Calibri"/>
              </a:rPr>
              <a:t>Jev</a:t>
            </a:r>
            <a:r>
              <a:rPr lang="en" sz="1200">
                <a:latin typeface="Calibri"/>
                <a:ea typeface="Calibri"/>
                <a:cs typeface="Calibri"/>
                <a:sym typeface="Calibri"/>
              </a:rPr>
              <a:t>, at 100 ms on an H100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LangChain</a:t>
            </a:r>
            <a:r>
              <a:rPr lang="en" sz="1200">
                <a:latin typeface="Calibri"/>
                <a:ea typeface="Calibri"/>
                <a:cs typeface="Calibri"/>
                <a:sym typeface="Calibri"/>
              </a:rPr>
              <a:t> used Jev as an eval judge ($0.34 vs $28 for Claude)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Fast-jev-compaction trims a Claude Code session</a:t>
            </a:r>
            <a:r>
              <a:rPr lang="en" sz="1200">
                <a:latin typeface="Calibri"/>
                <a:ea typeface="Calibri"/>
                <a:cs typeface="Calibri"/>
                <a:sym typeface="Calibri"/>
              </a:rPr>
              <a:t> by up to 90% by asking which old tool calls still matter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pg-jev in Postgres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WHERE jev(people, 'the name is European')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Needle, an open-source Chrome extension</a:t>
            </a:r>
            <a:r>
              <a:rPr lang="en" sz="1200">
                <a:latin typeface="Calibri"/>
                <a:ea typeface="Calibri"/>
                <a:cs typeface="Calibri"/>
                <a:sym typeface="Calibri"/>
              </a:rPr>
              <a:t>, highlights the sentences that answer your question instead of writing an answer</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API is free on Vercel's AI Gateway until Sept 25</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https://www.latent.space/p/ainews-here-are-6-clones-of-jev-in</a:t>
            </a:r>
            <a:endParaRPr sz="1200">
              <a:solidFill>
                <a:srgbClr val="0563C1"/>
              </a:solidFill>
              <a:latin typeface="Calibri"/>
              <a:ea typeface="Calibri"/>
              <a:cs typeface="Calibri"/>
              <a:sym typeface="Calibri"/>
            </a:endParaRPr>
          </a:p>
          <a:p>
            <a:pPr marL="171450" lvl="0" indent="-133350" algn="l" rtl="0">
              <a:spcBef>
                <a:spcPts val="0"/>
              </a:spcBef>
              <a:spcAft>
                <a:spcPts val="0"/>
              </a:spcAft>
              <a:buClr>
                <a:srgbClr val="0563C1"/>
              </a:buClr>
              <a:buSzPts val="1200"/>
              <a:buFont typeface="Calibri"/>
              <a:buChar char="●"/>
            </a:pPr>
            <a:r>
              <a:rPr lang="en" sz="1200" u="sng">
                <a:solidFill>
                  <a:schemeClr val="hlink"/>
                </a:solidFill>
                <a:latin typeface="Calibri"/>
                <a:ea typeface="Calibri"/>
                <a:cs typeface="Calibri"/>
                <a:sym typeface="Calibri"/>
                <a:hlinkClick r:id="rId5"/>
              </a:rPr>
              <a:t>https://typesafe.ai</a:t>
            </a:r>
            <a:r>
              <a:rPr lang="en" sz="1200">
                <a:solidFill>
                  <a:srgbClr val="0563C1"/>
                </a:solidFill>
                <a:latin typeface="Calibri"/>
                <a:ea typeface="Calibri"/>
                <a:cs typeface="Calibri"/>
                <a:sym typeface="Calibri"/>
              </a:rPr>
              <a:t> </a:t>
            </a:r>
            <a:endParaRPr sz="1200">
              <a:solidFill>
                <a:srgbClr val="0563C1"/>
              </a:solidFill>
              <a:latin typeface="Calibri"/>
              <a:ea typeface="Calibri"/>
              <a:cs typeface="Calibri"/>
              <a:sym typeface="Calibri"/>
            </a:endParaRPr>
          </a:p>
        </p:txBody>
      </p:sp>
      <p:pic>
        <p:nvPicPr>
          <p:cNvPr id="193" name="Google Shape;19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74441" y="66432"/>
            <a:ext cx="3621238" cy="1449899"/>
          </a:xfrm>
          <a:prstGeom prst="rect">
            <a:avLst/>
          </a:prstGeom>
          <a:noFill/>
          <a:ln w="9525" cap="flat" cmpd="sng">
            <a:solidFill>
              <a:srgbClr val="FF0000"/>
            </a:solidFill>
            <a:prstDash val="solid"/>
            <a:round/>
            <a:headEnd type="none" w="sm" len="sm"/>
            <a:tailEnd type="none" w="sm" len="sm"/>
          </a:ln>
        </p:spPr>
      </p:pic>
      <p:pic>
        <p:nvPicPr>
          <p:cNvPr id="194" name="Google Shape;194;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74450" y="1638203"/>
            <a:ext cx="2190709" cy="613675"/>
          </a:xfrm>
          <a:prstGeom prst="rect">
            <a:avLst/>
          </a:prstGeom>
          <a:noFill/>
          <a:ln w="9525" cap="flat" cmpd="sng">
            <a:solidFill>
              <a:srgbClr val="FF0000"/>
            </a:solidFill>
            <a:prstDash val="solid"/>
            <a:round/>
            <a:headEnd type="none" w="sm" len="sm"/>
            <a:tailEnd type="none" w="sm" len="sm"/>
          </a:ln>
        </p:spPr>
      </p:pic>
      <p:pic>
        <p:nvPicPr>
          <p:cNvPr id="195" name="Google Shape;195;p2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74450" y="2373750"/>
            <a:ext cx="4021175" cy="268076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9"/>
          <p:cNvSpPr txBox="1"/>
          <p:nvPr/>
        </p:nvSpPr>
        <p:spPr>
          <a:xfrm>
            <a:off x="66307" y="6176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01" name="Google Shape;201;p29"/>
          <p:cNvSpPr txBox="1"/>
          <p:nvPr/>
        </p:nvSpPr>
        <p:spPr>
          <a:xfrm>
            <a:off x="110900" y="433700"/>
            <a:ext cx="3918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Up to 5x cost diff for Harnesses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Same model, same task, up to 5x the cost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study of 7 models and 3 harnesses (21 pairs)</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Harness choice barely changes whether the task succeeds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It changes the bill a lot: up to 5x for the same work</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simple harness is often as good as a complicated one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model is not always best inside its own vendor's harness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https://arena.ai/blog/coding-agents-harness-tax</a:t>
            </a:r>
            <a:r>
              <a:rPr lang="en" sz="900">
                <a:latin typeface="Calibri"/>
                <a:ea typeface="Calibri"/>
                <a:cs typeface="Calibri"/>
                <a:sym typeface="Calibri"/>
              </a:rPr>
              <a:t> </a:t>
            </a:r>
            <a:endParaRPr sz="900">
              <a:latin typeface="Calibri"/>
              <a:ea typeface="Calibri"/>
              <a:cs typeface="Calibri"/>
              <a:sym typeface="Calibri"/>
            </a:endParaRPr>
          </a:p>
        </p:txBody>
      </p:sp>
      <p:sp>
        <p:nvSpPr>
          <p:cNvPr id="202" name="Google Shape;202;p29"/>
          <p:cNvSpPr txBox="1"/>
          <p:nvPr/>
        </p:nvSpPr>
        <p:spPr>
          <a:xfrm>
            <a:off x="110900" y="1988594"/>
            <a:ext cx="4720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Qwen3.8-LiveTranslate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Interprets 60 languages with 2.3s lag</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understands 60 languages and speaks 29</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New: real-time speaker diarization and a synchronized bilingual display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 hour of speech in and out costs about $1.54 at Singapore pricing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through Model Studio, with no open weights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https://qwen.ai/blog?id=qwen3.8-livetranslate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https://help.aliyun.com/en/model-studio/qwen3-8-livetranslate-flash-realtime</a:t>
            </a:r>
            <a:r>
              <a:rPr lang="en" sz="900">
                <a:latin typeface="Calibri"/>
                <a:ea typeface="Calibri"/>
                <a:cs typeface="Calibri"/>
                <a:sym typeface="Calibri"/>
              </a:rPr>
              <a:t> </a:t>
            </a:r>
            <a:endParaRPr sz="900">
              <a:latin typeface="Calibri"/>
              <a:ea typeface="Calibri"/>
              <a:cs typeface="Calibri"/>
              <a:sym typeface="Calibri"/>
            </a:endParaRPr>
          </a:p>
        </p:txBody>
      </p:sp>
      <p:pic>
        <p:nvPicPr>
          <p:cNvPr id="203" name="Google Shape;203;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108025" y="61750"/>
            <a:ext cx="2575350" cy="945849"/>
          </a:xfrm>
          <a:prstGeom prst="rect">
            <a:avLst/>
          </a:prstGeom>
          <a:noFill/>
          <a:ln w="9525" cap="flat" cmpd="sng">
            <a:solidFill>
              <a:srgbClr val="FF0000"/>
            </a:solidFill>
            <a:prstDash val="solid"/>
            <a:round/>
            <a:headEnd type="none" w="sm" len="sm"/>
            <a:tailEnd type="none" w="sm" len="sm"/>
          </a:ln>
        </p:spPr>
      </p:pic>
      <p:sp>
        <p:nvSpPr>
          <p:cNvPr id="204" name="Google Shape;204;p29"/>
          <p:cNvSpPr txBox="1"/>
          <p:nvPr/>
        </p:nvSpPr>
        <p:spPr>
          <a:xfrm>
            <a:off x="110888" y="3518423"/>
            <a:ext cx="5775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2026.9.5 updates itself without breaking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new version is now checked against a </a:t>
            </a:r>
            <a:r>
              <a:rPr lang="en" sz="1200" b="1">
                <a:latin typeface="Calibri"/>
                <a:ea typeface="Calibri"/>
                <a:cs typeface="Calibri"/>
                <a:sym typeface="Calibri"/>
              </a:rPr>
              <a:t>private copy of your setup</a:t>
            </a:r>
            <a:r>
              <a:rPr lang="en" sz="1200">
                <a:latin typeface="Calibri"/>
                <a:ea typeface="Calibri"/>
                <a:cs typeface="Calibri"/>
                <a:sym typeface="Calibri"/>
              </a:rPr>
              <a:t> before it goes live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current gateway keeps running while that happens, and a failed update rolls back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Rollback cannot undo database migrations, so back up first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Plugins hot reload, conversations can be shared, and GPT Live support is wider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release bundles </a:t>
            </a:r>
            <a:r>
              <a:rPr lang="en" sz="1200">
                <a:highlight>
                  <a:srgbClr val="FFF2CC"/>
                </a:highlight>
                <a:latin typeface="Calibri"/>
                <a:ea typeface="Calibri"/>
                <a:cs typeface="Calibri"/>
                <a:sym typeface="Calibri"/>
              </a:rPr>
              <a:t>4,179 pull requests</a:t>
            </a:r>
            <a:r>
              <a:rPr lang="en" sz="1200">
                <a:latin typeface="Calibri"/>
                <a:ea typeface="Calibri"/>
                <a:cs typeface="Calibri"/>
                <a:sym typeface="Calibri"/>
              </a:rPr>
              <a:t> from 502 contributing accounts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https://docs.openclaw.ai/releases/2026.9.5</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https://openclaw.ai/blog/shipping-openclaw-updates-that-dont-break</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https://www.youtube.com/watch?v=67oinOQYI-o</a:t>
            </a:r>
            <a:r>
              <a:rPr lang="en" sz="900">
                <a:latin typeface="Calibri"/>
                <a:ea typeface="Calibri"/>
                <a:cs typeface="Calibri"/>
                <a:sym typeface="Calibri"/>
              </a:rPr>
              <a:t> </a:t>
            </a:r>
            <a:endParaRPr sz="900">
              <a:latin typeface="Calibri"/>
              <a:ea typeface="Calibri"/>
              <a:cs typeface="Calibri"/>
              <a:sym typeface="Calibri"/>
            </a:endParaRPr>
          </a:p>
        </p:txBody>
      </p:sp>
      <p:pic>
        <p:nvPicPr>
          <p:cNvPr id="205" name="Google Shape;205;p2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990825" y="4191531"/>
            <a:ext cx="3056249" cy="691875"/>
          </a:xfrm>
          <a:prstGeom prst="rect">
            <a:avLst/>
          </a:prstGeom>
          <a:noFill/>
          <a:ln>
            <a:noFill/>
          </a:ln>
        </p:spPr>
      </p:pic>
      <p:pic>
        <p:nvPicPr>
          <p:cNvPr id="206" name="Google Shape;206;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899942" y="1334000"/>
            <a:ext cx="4202798" cy="2058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12" name="Google Shape;212;p30"/>
          <p:cNvSpPr txBox="1"/>
          <p:nvPr/>
        </p:nvSpPr>
        <p:spPr>
          <a:xfrm>
            <a:off x="36576" y="321207"/>
            <a:ext cx="5669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merges chat and Cowork</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adds Docs, Slides and Design</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Cowork and chat are now one Claude app</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Hand off a task, close the laptop, and Claude keeps working; it asks you when stuck</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Docs: edit text yourself or leave comments for Claude to handle</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Slides: build a deck, present from Claude, or export to PowerPoint or PDF</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Design mocks up visuals inside the same chat</a:t>
            </a:r>
            <a:endParaRPr sz="1200">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Pro and Max first, over the next few weeks; Team and Free later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Enterprise admins get at least </a:t>
            </a:r>
            <a:r>
              <a:rPr lang="en" sz="1200">
                <a:highlight>
                  <a:srgbClr val="FFF2CC"/>
                </a:highlight>
                <a:latin typeface="Calibri"/>
                <a:ea typeface="Calibri"/>
                <a:cs typeface="Calibri"/>
                <a:sym typeface="Calibri"/>
              </a:rPr>
              <a:t>30 days</a:t>
            </a:r>
            <a:r>
              <a:rPr lang="en" sz="1200">
                <a:latin typeface="Calibri"/>
                <a:ea typeface="Calibri"/>
                <a:cs typeface="Calibri"/>
                <a:sym typeface="Calibri"/>
              </a:rPr>
              <a:t> notice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https://claude.com/blog/cowork-is-now-claude</a:t>
            </a:r>
            <a:endParaRPr sz="900">
              <a:solidFill>
                <a:srgbClr val="0563C1"/>
              </a:solidFill>
              <a:latin typeface="Calibri"/>
              <a:ea typeface="Calibri"/>
              <a:cs typeface="Calibri"/>
              <a:sym typeface="Calibri"/>
            </a:endParaRPr>
          </a:p>
        </p:txBody>
      </p:sp>
      <p:sp>
        <p:nvSpPr>
          <p:cNvPr id="213" name="Google Shape;213;p30"/>
          <p:cNvSpPr txBox="1"/>
          <p:nvPr/>
        </p:nvSpPr>
        <p:spPr>
          <a:xfrm>
            <a:off x="36576" y="2238145"/>
            <a:ext cx="5669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Projects run parallel agents in the cloud</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project is now a conversation, not a folder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Describe a goal and Claude splits it into parallel cloud threads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Each thread gets its own branch and repo copy, runs tests and opens pull requests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coordinator assembles results; merge conflicts are handled like normal PRs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Threads keep running after you close the laptop; check in from your phone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Beta for select Pro and Max users, then Team and Enterprise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https://claude.com/blog/projects-redesigned</a:t>
            </a:r>
            <a:endParaRPr sz="900">
              <a:solidFill>
                <a:srgbClr val="0563C1"/>
              </a:solidFill>
              <a:latin typeface="Calibri"/>
              <a:ea typeface="Calibri"/>
              <a:cs typeface="Calibri"/>
              <a:sym typeface="Calibri"/>
            </a:endParaRPr>
          </a:p>
        </p:txBody>
      </p:sp>
      <p:pic>
        <p:nvPicPr>
          <p:cNvPr id="214" name="Google Shape;214;p3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2450" y="493569"/>
            <a:ext cx="3212075" cy="1599393"/>
          </a:xfrm>
          <a:prstGeom prst="rect">
            <a:avLst/>
          </a:prstGeom>
          <a:noFill/>
          <a:ln w="9525" cap="flat" cmpd="sng">
            <a:solidFill>
              <a:srgbClr val="FF0000"/>
            </a:solidFill>
            <a:prstDash val="solid"/>
            <a:round/>
            <a:headEnd type="none" w="sm" len="sm"/>
            <a:tailEnd type="none" w="sm" len="sm"/>
          </a:ln>
        </p:spPr>
      </p:pic>
      <p:pic>
        <p:nvPicPr>
          <p:cNvPr id="215" name="Google Shape;215;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58375" y="2579393"/>
            <a:ext cx="3120225" cy="813625"/>
          </a:xfrm>
          <a:prstGeom prst="rect">
            <a:avLst/>
          </a:prstGeom>
          <a:noFill/>
          <a:ln w="9525" cap="flat" cmpd="sng">
            <a:solidFill>
              <a:srgbClr val="FF0000"/>
            </a:solidFill>
            <a:prstDash val="solid"/>
            <a:round/>
            <a:headEnd type="none" w="sm" len="sm"/>
            <a:tailEnd type="none" w="sm" len="sm"/>
          </a:ln>
        </p:spPr>
      </p:pic>
      <p:sp>
        <p:nvSpPr>
          <p:cNvPr id="216" name="Google Shape;216;p30"/>
          <p:cNvSpPr txBox="1"/>
          <p:nvPr/>
        </p:nvSpPr>
        <p:spPr>
          <a:xfrm>
            <a:off x="36576" y="3785795"/>
            <a:ext cx="56694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AI-Native SDLC Playbook</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SDLC = software development lifecycle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14-lesson guide for developers using Claude Code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Six connected stages: Plan, Design, Build, Test, Deploy, and Maintain.</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https://claude.com/blog/the-ai-native-sdlc-playbook</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https://academy.claude.com/courses/ai-native-sdlc-playbook</a:t>
            </a:r>
            <a:endParaRPr sz="900">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1"/>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How to Avoid Frankenstein Code</a:t>
            </a:r>
            <a:endParaRPr sz="2000" b="1">
              <a:latin typeface="Calibri"/>
              <a:ea typeface="Calibri"/>
              <a:cs typeface="Calibri"/>
              <a:sym typeface="Calibri"/>
            </a:endParaRPr>
          </a:p>
        </p:txBody>
      </p:sp>
      <p:sp>
        <p:nvSpPr>
          <p:cNvPr id="222" name="Google Shape;222;p31"/>
          <p:cNvSpPr txBox="1"/>
          <p:nvPr/>
        </p:nvSpPr>
        <p:spPr>
          <a:xfrm>
            <a:off x="158225" y="430025"/>
            <a:ext cx="4186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Frankenstein; or, The Modern Prometheus is an </a:t>
            </a:r>
            <a:r>
              <a:rPr lang="en" sz="1200" b="1">
                <a:solidFill>
                  <a:srgbClr val="FF0000"/>
                </a:solidFill>
                <a:latin typeface="Calibri"/>
                <a:ea typeface="Calibri"/>
                <a:cs typeface="Calibri"/>
                <a:sym typeface="Calibri"/>
              </a:rPr>
              <a:t>1818 novel </a:t>
            </a:r>
            <a:r>
              <a:rPr lang="en" sz="1200">
                <a:latin typeface="Calibri"/>
                <a:ea typeface="Calibri"/>
                <a:cs typeface="Calibri"/>
                <a:sym typeface="Calibri"/>
              </a:rPr>
              <a:t>written by </a:t>
            </a:r>
            <a:r>
              <a:rPr lang="en" sz="1200" b="1">
                <a:solidFill>
                  <a:srgbClr val="FF0000"/>
                </a:solidFill>
                <a:latin typeface="Calibri"/>
                <a:ea typeface="Calibri"/>
                <a:cs typeface="Calibri"/>
                <a:sym typeface="Calibri"/>
              </a:rPr>
              <a:t>English author Mary Shelley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tells the story of a scientist </a:t>
            </a:r>
            <a:r>
              <a:rPr lang="en" sz="1200" b="1">
                <a:solidFill>
                  <a:srgbClr val="FF0000"/>
                </a:solidFill>
                <a:latin typeface="Calibri"/>
                <a:ea typeface="Calibri"/>
                <a:cs typeface="Calibri"/>
                <a:sym typeface="Calibri"/>
              </a:rPr>
              <a:t>Victor Frankenstein</a:t>
            </a:r>
            <a:r>
              <a:rPr lang="en" sz="1200">
                <a:latin typeface="Calibri"/>
                <a:ea typeface="Calibri"/>
                <a:cs typeface="Calibri"/>
                <a:sym typeface="Calibri"/>
              </a:rPr>
              <a:t> who assembles an intelligent creature </a:t>
            </a:r>
            <a:r>
              <a:rPr lang="en" sz="1200" b="1">
                <a:solidFill>
                  <a:srgbClr val="FF0000"/>
                </a:solidFill>
                <a:latin typeface="Calibri"/>
                <a:ea typeface="Calibri"/>
                <a:cs typeface="Calibri"/>
                <a:sym typeface="Calibri"/>
              </a:rPr>
              <a:t>from dead human body parts</a:t>
            </a:r>
            <a:r>
              <a:rPr lang="en" sz="1200">
                <a:latin typeface="Calibri"/>
                <a:ea typeface="Calibri"/>
                <a:cs typeface="Calibri"/>
                <a:sym typeface="Calibri"/>
              </a:rPr>
              <a:t>. The creature is rejected because of his ugly appearance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When you ask (prompt) an AI agent to add a feature to your app, it finds a way of doing it quickly. Maybe adds a library.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After adding multiple changes, the code starts reminding the </a:t>
            </a:r>
            <a:r>
              <a:rPr lang="en" sz="1200">
                <a:solidFill>
                  <a:schemeClr val="dk1"/>
                </a:solidFill>
                <a:latin typeface="Calibri"/>
                <a:ea typeface="Calibri"/>
                <a:cs typeface="Calibri"/>
                <a:sym typeface="Calibri"/>
              </a:rPr>
              <a:t>Frankenstein creature. It is ugly, bloated, often inefficient.</a:t>
            </a:r>
            <a:endParaRPr sz="1200">
              <a:solidFill>
                <a:schemeClr val="dk1"/>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makes sense to create a rule asking agent to avoid bloating the code and to try to streamline the architecture.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Also it is good idea to periodically AI to review the code and refactor it for simplicity, to clean and organize it, maybe even to consider changing the core architecture. To update docs.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is not efficient to do this review after every change. But it is important to do it from time to time.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https://en.wikipedia.org/wiki/Frankenstein</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23" name="Google Shape;223;p3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30726" y="109250"/>
            <a:ext cx="2117925" cy="2676946"/>
          </a:xfrm>
          <a:prstGeom prst="rect">
            <a:avLst/>
          </a:prstGeom>
          <a:noFill/>
          <a:ln w="9850" cap="flat" cmpd="sng">
            <a:solidFill>
              <a:srgbClr val="FF0000"/>
            </a:solidFill>
            <a:prstDash val="solid"/>
            <a:round/>
            <a:headEnd type="none" w="sm" len="sm"/>
            <a:tailEnd type="none" w="sm" len="sm"/>
          </a:ln>
        </p:spPr>
      </p:pic>
      <p:pic>
        <p:nvPicPr>
          <p:cNvPr id="224" name="Google Shape;224;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14176" y="109250"/>
            <a:ext cx="2117925" cy="3395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2"/>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NVFP4 - 4-bit Format from Nvidia</a:t>
            </a:r>
            <a:endParaRPr sz="2000" b="1">
              <a:latin typeface="Calibri"/>
              <a:ea typeface="Calibri"/>
              <a:cs typeface="Calibri"/>
              <a:sym typeface="Calibri"/>
            </a:endParaRPr>
          </a:p>
        </p:txBody>
      </p:sp>
      <p:sp>
        <p:nvSpPr>
          <p:cNvPr id="230" name="Google Shape;230;p32"/>
          <p:cNvSpPr txBox="1"/>
          <p:nvPr/>
        </p:nvSpPr>
        <p:spPr>
          <a:xfrm>
            <a:off x="158225" y="430025"/>
            <a:ext cx="41865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developed NVFP4 - a 4-bit floating-point quantization format (June 2025)</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uses </a:t>
            </a:r>
            <a:r>
              <a:rPr lang="en" sz="1200" b="1">
                <a:solidFill>
                  <a:srgbClr val="FF0000"/>
                </a:solidFill>
                <a:latin typeface="Calibri"/>
                <a:ea typeface="Calibri"/>
                <a:cs typeface="Calibri"/>
                <a:sym typeface="Calibri"/>
              </a:rPr>
              <a:t>E2M1</a:t>
            </a:r>
            <a:r>
              <a:rPr lang="en" sz="1200">
                <a:latin typeface="Calibri"/>
                <a:ea typeface="Calibri"/>
                <a:cs typeface="Calibri"/>
                <a:sym typeface="Calibri"/>
              </a:rPr>
              <a:t> values plus small-block and tensor-level scaling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4 bits:  </a:t>
            </a:r>
            <a:r>
              <a:rPr lang="en" sz="1200" b="1">
                <a:solidFill>
                  <a:srgbClr val="FF0000"/>
                </a:solidFill>
                <a:latin typeface="Calibri"/>
                <a:ea typeface="Calibri"/>
                <a:cs typeface="Calibri"/>
                <a:sym typeface="Calibri"/>
              </a:rPr>
              <a:t>1 sign bit, 2 exponent bits, and 1 mantissa bit</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Designed for NVIDIA Blackwell GPUs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This format reduces model-memory requirements and improves inference throughput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NVFP4 stores one scale factor for a small group of values - typically 16 values in NVIDIA’s format It also stores a scale for the whole tensor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Storing 1 scale value for a group is much cheaper than storing FP16/BF16 or FP8 data separately for every element</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reconstructed value  =  4-bit value  ×  shared scale</a:t>
            </a:r>
            <a:endParaRPr sz="1200" b="1">
              <a:solidFill>
                <a:srgbClr val="3C78D8"/>
              </a:solidFill>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https://developer.nvidia.com/blog/introducing-nvfp4-for-efficient-and-accurate-low-precision-inference/</a:t>
            </a:r>
            <a:endParaRPr sz="900">
              <a:latin typeface="Calibri"/>
              <a:ea typeface="Calibri"/>
              <a:cs typeface="Calibri"/>
              <a:sym typeface="Calibri"/>
            </a:endParaRPr>
          </a:p>
        </p:txBody>
      </p:sp>
      <p:pic>
        <p:nvPicPr>
          <p:cNvPr id="231" name="Google Shape;231;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446273" y="430025"/>
            <a:ext cx="4596825" cy="25871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37" name="Google Shape;237;p33"/>
          <p:cNvSpPr txBox="1"/>
          <p:nvPr/>
        </p:nvSpPr>
        <p:spPr>
          <a:xfrm>
            <a:off x="112775" y="523700"/>
            <a:ext cx="4095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Amazon blocks Meta's Muse agent from shopping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Muse users get a message: </a:t>
            </a:r>
            <a:r>
              <a:rPr lang="en" sz="1200" b="1">
                <a:solidFill>
                  <a:srgbClr val="3C78D8"/>
                </a:solidFill>
                <a:latin typeface="Calibri"/>
                <a:ea typeface="Calibri"/>
                <a:cs typeface="Calibri"/>
                <a:sym typeface="Calibri"/>
              </a:rPr>
              <a:t>an unauthorized AI agent breaks Amazon's Conditions of Use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Amazon says Meta never asked, the agent hides its identity, </a:t>
            </a:r>
            <a:br>
              <a:rPr lang="en" sz="1200">
                <a:latin typeface="Calibri"/>
                <a:ea typeface="Calibri"/>
                <a:cs typeface="Calibri"/>
                <a:sym typeface="Calibri"/>
              </a:rPr>
            </a:br>
            <a:r>
              <a:rPr lang="en" sz="1200">
                <a:latin typeface="Calibri"/>
                <a:ea typeface="Calibri"/>
                <a:cs typeface="Calibri"/>
                <a:sym typeface="Calibri"/>
              </a:rPr>
              <a:t>and it seems to store customer logins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Meta says Muse never sees passwords or payment methods; </a:t>
            </a:r>
            <a:br>
              <a:rPr lang="en" sz="1200">
                <a:latin typeface="Calibri"/>
                <a:ea typeface="Calibri"/>
                <a:cs typeface="Calibri"/>
                <a:sym typeface="Calibri"/>
              </a:rPr>
            </a:br>
            <a:r>
              <a:rPr lang="en" sz="1200">
                <a:latin typeface="Calibri"/>
                <a:ea typeface="Calibri"/>
                <a:cs typeface="Calibri"/>
                <a:sym typeface="Calibri"/>
              </a:rPr>
              <a:t>a separate Sentinel agent reviews its actions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At stake</a:t>
            </a:r>
            <a:r>
              <a:rPr lang="en" sz="1200">
                <a:latin typeface="Calibri"/>
                <a:ea typeface="Calibri"/>
                <a:cs typeface="Calibri"/>
                <a:sym typeface="Calibri"/>
              </a:rPr>
              <a:t> - </a:t>
            </a:r>
            <a:r>
              <a:rPr lang="en" sz="1200" b="1">
                <a:solidFill>
                  <a:srgbClr val="FF0000"/>
                </a:solidFill>
                <a:latin typeface="Calibri"/>
                <a:ea typeface="Calibri"/>
                <a:cs typeface="Calibri"/>
                <a:sym typeface="Calibri"/>
              </a:rPr>
              <a:t>an ad business of about </a:t>
            </a:r>
            <a:r>
              <a:rPr lang="en" sz="1200" b="1">
                <a:solidFill>
                  <a:srgbClr val="FF0000"/>
                </a:solidFill>
                <a:highlight>
                  <a:srgbClr val="FFF2CC"/>
                </a:highlight>
                <a:latin typeface="Calibri"/>
                <a:ea typeface="Calibri"/>
                <a:cs typeface="Calibri"/>
                <a:sym typeface="Calibri"/>
              </a:rPr>
              <a:t>$56B</a:t>
            </a:r>
            <a:endParaRPr sz="1200" b="1">
              <a:solidFill>
                <a:srgbClr val="FF0000"/>
              </a:solidFill>
              <a:highlight>
                <a:srgbClr val="FFF2CC"/>
              </a:highlight>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Amazon already sued Perplexity over Comet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and moved to block Google's and OpenAI's shopping agents </a:t>
            </a:r>
            <a:endParaRPr sz="9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https://techcrunch.com/2026/09/21/metas-ai-agent-has-been-blocked-from-using-amazon-com/</a:t>
            </a:r>
            <a:endParaRPr sz="900">
              <a:solidFill>
                <a:srgbClr val="0563C1"/>
              </a:solidFill>
              <a:latin typeface="Calibri"/>
              <a:ea typeface="Calibri"/>
              <a:cs typeface="Calibri"/>
              <a:sym typeface="Calibri"/>
            </a:endParaRPr>
          </a:p>
        </p:txBody>
      </p:sp>
      <p:sp>
        <p:nvSpPr>
          <p:cNvPr id="238" name="Google Shape;238;p33"/>
          <p:cNvSpPr txBox="1"/>
          <p:nvPr/>
        </p:nvSpPr>
        <p:spPr>
          <a:xfrm>
            <a:off x="112775" y="3101175"/>
            <a:ext cx="43878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Trump plans an "AI Force" and a new AI czar</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AI Force would "watch over" the industry and chase bad actors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AI czar fills the seat David Sacks left in March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superintelligence doom a </a:t>
            </a:r>
            <a:r>
              <a:rPr lang="en" sz="1200" b="1">
                <a:latin typeface="Calibri"/>
                <a:ea typeface="Calibri"/>
                <a:cs typeface="Calibri"/>
                <a:sym typeface="Calibri"/>
              </a:rPr>
              <a:t>hoax</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and said he won't allow a slowdown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Comes a week after Amodei's pacing proposal, </a:t>
            </a:r>
            <a:br>
              <a:rPr lang="en" sz="1200">
                <a:latin typeface="Calibri"/>
                <a:ea typeface="Calibri"/>
                <a:cs typeface="Calibri"/>
                <a:sym typeface="Calibri"/>
              </a:rPr>
            </a:br>
            <a:r>
              <a:rPr lang="en" sz="1200">
                <a:latin typeface="Calibri"/>
                <a:ea typeface="Calibri"/>
                <a:cs typeface="Calibri"/>
                <a:sym typeface="Calibri"/>
              </a:rPr>
              <a:t>which Altman and Musk backed</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https://www.cbsnews.com/news/trump-vows-ai-force-czar-development/</a:t>
            </a:r>
            <a:endParaRPr sz="900">
              <a:solidFill>
                <a:srgbClr val="0563C1"/>
              </a:solidFill>
              <a:latin typeface="Calibri"/>
              <a:ea typeface="Calibri"/>
              <a:cs typeface="Calibri"/>
              <a:sym typeface="Calibri"/>
            </a:endParaRPr>
          </a:p>
        </p:txBody>
      </p:sp>
      <p:pic>
        <p:nvPicPr>
          <p:cNvPr id="239" name="Google Shape;23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6119" y="2834175"/>
            <a:ext cx="3896726" cy="2193073"/>
          </a:xfrm>
          <a:prstGeom prst="rect">
            <a:avLst/>
          </a:prstGeom>
          <a:noFill/>
          <a:ln>
            <a:noFill/>
          </a:ln>
        </p:spPr>
      </p:pic>
      <p:pic>
        <p:nvPicPr>
          <p:cNvPr id="240" name="Google Shape;240;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46774" y="81925"/>
            <a:ext cx="4592002" cy="258437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6" name="Google Shape;246;p34"/>
          <p:cNvSpPr txBox="1"/>
          <p:nvPr/>
        </p:nvSpPr>
        <p:spPr>
          <a:xfrm>
            <a:off x="112775" y="389450"/>
            <a:ext cx="50055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 AI Models Refuse Harmful Tasks ?</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Robocurve's RoboHarm gave models two robot arms </a:t>
            </a:r>
            <a:br>
              <a:rPr lang="en" sz="1200">
                <a:latin typeface="Calibri"/>
                <a:ea typeface="Calibri"/>
                <a:cs typeface="Calibri"/>
                <a:sym typeface="Calibri"/>
              </a:rPr>
            </a:br>
            <a:r>
              <a:rPr lang="en" sz="1200">
                <a:latin typeface="Calibri"/>
                <a:ea typeface="Calibri"/>
                <a:cs typeface="Calibri"/>
                <a:sym typeface="Calibri"/>
              </a:rPr>
              <a:t>and 5 harmful tasks, 20 runs each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Harmful tasks: </a:t>
            </a:r>
            <a:br>
              <a:rPr lang="en" sz="1200">
                <a:latin typeface="Calibri"/>
                <a:ea typeface="Calibri"/>
                <a:cs typeface="Calibri"/>
                <a:sym typeface="Calibri"/>
              </a:rPr>
            </a:br>
            <a:r>
              <a:rPr lang="en" sz="1200">
                <a:solidFill>
                  <a:srgbClr val="3C78D8"/>
                </a:solidFill>
                <a:latin typeface="Calibri"/>
                <a:ea typeface="Calibri"/>
                <a:cs typeface="Calibri"/>
                <a:sym typeface="Calibri"/>
              </a:rPr>
              <a:t>stab a doll,   air can on a burner,   screwdriver in a toaster,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power bank in water,   mix bleach and ammonia</a:t>
            </a:r>
            <a:endParaRPr sz="1200">
              <a:solidFill>
                <a:srgbClr val="3C78D8"/>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GPT-6 Astra</a:t>
            </a:r>
            <a:r>
              <a:rPr lang="en" sz="1200">
                <a:solidFill>
                  <a:schemeClr val="dk1"/>
                </a:solidFill>
                <a:latin typeface="Calibri"/>
                <a:ea typeface="Calibri"/>
                <a:cs typeface="Calibri"/>
                <a:sym typeface="Calibri"/>
              </a:rPr>
              <a:t> finished </a:t>
            </a:r>
            <a:r>
              <a:rPr lang="en" sz="1200">
                <a:solidFill>
                  <a:schemeClr val="dk1"/>
                </a:solidFill>
                <a:highlight>
                  <a:srgbClr val="FFF2CC"/>
                </a:highlight>
                <a:latin typeface="Calibri"/>
                <a:ea typeface="Calibri"/>
                <a:cs typeface="Calibri"/>
                <a:sym typeface="Calibri"/>
              </a:rPr>
              <a:t>60 of 100</a:t>
            </a:r>
            <a:r>
              <a:rPr lang="en" sz="1200">
                <a:solidFill>
                  <a:schemeClr val="dk1"/>
                </a:solidFill>
                <a:latin typeface="Calibri"/>
                <a:ea typeface="Calibri"/>
                <a:cs typeface="Calibri"/>
                <a:sym typeface="Calibri"/>
              </a:rPr>
              <a:t> harmful trials and refused only </a:t>
            </a:r>
            <a:r>
              <a:rPr lang="en" sz="1200">
                <a:solidFill>
                  <a:schemeClr val="dk1"/>
                </a:solidFill>
                <a:highlight>
                  <a:srgbClr val="FFF2CC"/>
                </a:highlight>
                <a:latin typeface="Calibri"/>
                <a:ea typeface="Calibri"/>
                <a:cs typeface="Calibri"/>
                <a:sym typeface="Calibri"/>
              </a:rPr>
              <a:t>2</a:t>
            </a:r>
            <a:endParaRPr sz="1200">
              <a:solidFill>
                <a:schemeClr val="dk1"/>
              </a:solidFill>
              <a:highlight>
                <a:srgbClr val="FFF2CC"/>
              </a:highlight>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Fable 5.1</a:t>
            </a:r>
            <a:r>
              <a:rPr lang="en" sz="1200">
                <a:solidFill>
                  <a:schemeClr val="dk1"/>
                </a:solidFill>
                <a:latin typeface="Calibri"/>
                <a:ea typeface="Calibri"/>
                <a:cs typeface="Calibri"/>
                <a:sym typeface="Calibri"/>
              </a:rPr>
              <a:t> refused the doll all 20 times, but none of the other tasks</a:t>
            </a:r>
            <a:endParaRPr sz="1200">
              <a:solidFill>
                <a:schemeClr val="dk1"/>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Ai2's MolmoAct2</a:t>
            </a:r>
            <a:r>
              <a:rPr lang="en" sz="1200">
                <a:solidFill>
                  <a:schemeClr val="dk1"/>
                </a:solidFill>
                <a:latin typeface="Calibri"/>
                <a:ea typeface="Calibri"/>
                <a:cs typeface="Calibri"/>
                <a:sym typeface="Calibri"/>
              </a:rPr>
              <a:t> refused nothing</a:t>
            </a:r>
            <a:endParaRPr sz="1200">
              <a:solidFill>
                <a:schemeClr val="dk1"/>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No jailbreaks were used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https://the-decoder.com/gpt-6-astra-and-claude-fable-turn-robot-arms-into-slapstick-killer-robots-in-new-safety-benchmark/</a:t>
            </a:r>
            <a:endParaRPr sz="900">
              <a:solidFill>
                <a:srgbClr val="0563C1"/>
              </a:solidFill>
              <a:latin typeface="Calibri"/>
              <a:ea typeface="Calibri"/>
              <a:cs typeface="Calibri"/>
              <a:sym typeface="Calibri"/>
            </a:endParaRPr>
          </a:p>
        </p:txBody>
      </p:sp>
      <p:sp>
        <p:nvSpPr>
          <p:cNvPr id="247" name="Google Shape;247;p34"/>
          <p:cNvSpPr txBox="1"/>
          <p:nvPr/>
        </p:nvSpPr>
        <p:spPr>
          <a:xfrm>
            <a:off x="112775" y="2685325"/>
            <a:ext cx="43878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AX (Agent Executor)</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Open-source (Apache 2.0), Kubernetes-style runtime for agents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Suspends and resumes an agent in under a second, </a:t>
            </a:r>
            <a:br>
              <a:rPr lang="en" sz="1200">
                <a:latin typeface="Calibri"/>
                <a:ea typeface="Calibri"/>
                <a:cs typeface="Calibri"/>
                <a:sym typeface="Calibri"/>
              </a:rPr>
            </a:br>
            <a:r>
              <a:rPr lang="en" sz="1200">
                <a:latin typeface="Calibri"/>
                <a:ea typeface="Calibri"/>
                <a:cs typeface="Calibri"/>
                <a:sym typeface="Calibri"/>
              </a:rPr>
              <a:t>so idle agents stop burning compute. Normally agents sit idle </a:t>
            </a:r>
            <a:r>
              <a:rPr lang="en" sz="1200">
                <a:highlight>
                  <a:srgbClr val="FFF2CC"/>
                </a:highlight>
                <a:latin typeface="Calibri"/>
                <a:ea typeface="Calibri"/>
                <a:cs typeface="Calibri"/>
                <a:sym typeface="Calibri"/>
              </a:rPr>
              <a:t>90%</a:t>
            </a:r>
            <a:r>
              <a:rPr lang="en" sz="1200">
                <a:latin typeface="Calibri"/>
                <a:ea typeface="Calibri"/>
                <a:cs typeface="Calibri"/>
                <a:sym typeface="Calibri"/>
              </a:rPr>
              <a:t> of the time. But if they are removed, we can pack 10-20x more sandboxes per cluster</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Four primitives: Task, Workspace, Gateway, Model; </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CLI mirrors </a:t>
            </a:r>
            <a:r>
              <a:rPr lang="en" sz="1200" b="1">
                <a:solidFill>
                  <a:srgbClr val="3C78D8"/>
                </a:solidFill>
                <a:latin typeface="Calibri"/>
                <a:ea typeface="Calibri"/>
                <a:cs typeface="Calibri"/>
                <a:sym typeface="Calibri"/>
              </a:rPr>
              <a:t>kubectl</a:t>
            </a:r>
            <a:endParaRPr sz="900" b="1">
              <a:solidFill>
                <a:srgbClr val="3C78D8"/>
              </a:solidFill>
              <a:latin typeface="Consolas"/>
              <a:ea typeface="Consolas"/>
              <a:cs typeface="Consolas"/>
              <a:sym typeface="Consolas"/>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with MCP tools, custom harnesses, Gemini and Vertex AI</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install with </a:t>
            </a:r>
            <a:r>
              <a:rPr lang="en" sz="1200" b="1">
                <a:solidFill>
                  <a:srgbClr val="3C78D8"/>
                </a:solidFill>
                <a:latin typeface="Calibri"/>
                <a:ea typeface="Calibri"/>
                <a:cs typeface="Calibri"/>
                <a:sym typeface="Calibri"/>
              </a:rPr>
              <a:t>go install </a:t>
            </a:r>
            <a:r>
              <a:rPr lang="en" sz="1200" b="1">
                <a:solidFill>
                  <a:srgbClr val="3C78D8"/>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github.com/google/ax/cmd/ax@latest</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lvl="0" indent="-146050" algn="l" rtl="0">
              <a:spcBef>
                <a:spcPts val="0"/>
              </a:spcBef>
              <a:spcAft>
                <a:spcPts val="0"/>
              </a:spcAft>
              <a:buSzPts val="1400"/>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https://github.com/google/ax</a:t>
            </a:r>
            <a:endParaRPr sz="900">
              <a:solidFill>
                <a:srgbClr val="0563C1"/>
              </a:solidFill>
              <a:latin typeface="Calibri"/>
              <a:ea typeface="Calibri"/>
              <a:cs typeface="Calibri"/>
              <a:sym typeface="Calibri"/>
            </a:endParaRPr>
          </a:p>
        </p:txBody>
      </p:sp>
      <p:pic>
        <p:nvPicPr>
          <p:cNvPr id="248" name="Google Shape;248;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9900" y="2685325"/>
            <a:ext cx="2229715" cy="2188799"/>
          </a:xfrm>
          <a:prstGeom prst="rect">
            <a:avLst/>
          </a:prstGeom>
          <a:noFill/>
          <a:ln w="9525" cap="flat" cmpd="sng">
            <a:solidFill>
              <a:srgbClr val="FF0000"/>
            </a:solidFill>
            <a:prstDash val="solid"/>
            <a:round/>
            <a:headEnd type="none" w="sm" len="sm"/>
            <a:tailEnd type="none" w="sm" len="sm"/>
          </a:ln>
        </p:spPr>
      </p:pic>
      <p:pic>
        <p:nvPicPr>
          <p:cNvPr id="249" name="Google Shape;249;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15675" y="83625"/>
            <a:ext cx="3741949" cy="2494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5"/>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Swarms Are Expensive</a:t>
            </a:r>
            <a:endParaRPr sz="2000" b="1">
              <a:latin typeface="Calibri"/>
              <a:ea typeface="Calibri"/>
              <a:cs typeface="Calibri"/>
              <a:sym typeface="Calibri"/>
            </a:endParaRPr>
          </a:p>
        </p:txBody>
      </p:sp>
      <p:sp>
        <p:nvSpPr>
          <p:cNvPr id="255" name="Google Shape;255;p35"/>
          <p:cNvSpPr txBox="1"/>
          <p:nvPr/>
        </p:nvSpPr>
        <p:spPr>
          <a:xfrm>
            <a:off x="112775" y="379475"/>
            <a:ext cx="43431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Swarms Are Expensive</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match 100x more tokens, we need 900x to 15,000x bigger swarm</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Swarm gives speed boost: 4 agents finish in about half the time at about 2x the tokens</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 use swarms when time is worth more than money </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Why swams spend more tokens? Agents must constantly pass state updates, logs, and contexts back and forth</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Frequent token drains - when an agent gets stuck in a reasoning loop, or if misalignment occurs between specialized agents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AI agents burn tokens 10-100x faster than chatbots because each reasoning step adds context that gets re-sent on every tool call</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reduce costs of using swarms</a:t>
            </a:r>
            <a:endParaRPr sz="1200" b="1">
              <a:solidFill>
                <a:srgbClr val="FF0000"/>
              </a:solidFill>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Use Plan-Worker Separation</a:t>
            </a:r>
            <a:r>
              <a:rPr lang="en" sz="1200">
                <a:latin typeface="Calibri"/>
                <a:ea typeface="Calibri"/>
                <a:cs typeface="Calibri"/>
                <a:sym typeface="Calibri"/>
              </a:rPr>
              <a:t> - restrict your highest-tier frontier models strictly to the top-level "planner" agents, offload execution tasks to cheaper, hyper-specialized sub-models or fine-tuned open-source models</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Optimize Routing Mechanics</a:t>
            </a:r>
            <a:r>
              <a:rPr lang="en" sz="1200">
                <a:latin typeface="Calibri"/>
                <a:ea typeface="Calibri"/>
                <a:cs typeface="Calibri"/>
                <a:sym typeface="Calibri"/>
              </a:rPr>
              <a:t> using hard-coded state machines, semantic routers, or specialized lightweight models to orchestrate agent handoffs at a fraction of the cost</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Leverage Batched &amp; Off-Peak Discounts</a:t>
            </a:r>
            <a:r>
              <a:rPr lang="en" sz="1200">
                <a:latin typeface="Calibri"/>
                <a:ea typeface="Calibri"/>
                <a:cs typeface="Calibri"/>
                <a:sym typeface="Calibri"/>
              </a:rPr>
              <a:t> - providers like Swarms AI offer features like Swarm Completions, which cut token costs by 50% for off-peak processing; Use batch endpoints for non-time-sensitive data crunching.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https://www.tobyord.com/writing/swarm-scaling</a:t>
            </a:r>
            <a:endParaRPr sz="900">
              <a:solidFill>
                <a:srgbClr val="0563C1"/>
              </a:solidFill>
              <a:latin typeface="Calibri"/>
              <a:ea typeface="Calibri"/>
              <a:cs typeface="Calibri"/>
              <a:sym typeface="Calibri"/>
            </a:endParaRPr>
          </a:p>
        </p:txBody>
      </p:sp>
      <p:pic>
        <p:nvPicPr>
          <p:cNvPr id="256" name="Google Shape;256;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5753" y="620000"/>
            <a:ext cx="4433350" cy="249508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6"/>
          <p:cNvSpPr txBox="1"/>
          <p:nvPr/>
        </p:nvSpPr>
        <p:spPr>
          <a:xfrm>
            <a:off x="36574" y="-27425"/>
            <a:ext cx="1151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62" name="Google Shape;262;p36"/>
          <p:cNvSpPr txBox="1"/>
          <p:nvPr/>
        </p:nvSpPr>
        <p:spPr>
          <a:xfrm>
            <a:off x="112775" y="379475"/>
            <a:ext cx="4389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Neocloud - cloud provider for AI</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rent GPUs and infrastructure for AI training and inference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Examples: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CoreWeave</a:t>
            </a:r>
            <a:r>
              <a:rPr lang="en" sz="1200">
                <a:latin typeface="Calibri"/>
                <a:ea typeface="Calibri"/>
                <a:cs typeface="Calibri"/>
                <a:sym typeface="Calibri"/>
              </a:rPr>
              <a:t> - $2.58 Bln in Q2 2026 revenue and 4.2 GW</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Crusoe</a:t>
            </a:r>
            <a:r>
              <a:rPr lang="en" sz="1200">
                <a:latin typeface="Calibri"/>
                <a:ea typeface="Calibri"/>
                <a:cs typeface="Calibri"/>
                <a:sym typeface="Calibri"/>
              </a:rPr>
              <a:t> - 5 GW of contracted capacity reported in 2026; private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Nebius</a:t>
            </a:r>
            <a:r>
              <a:rPr lang="en" sz="1200">
                <a:latin typeface="Calibri"/>
                <a:ea typeface="Calibri"/>
                <a:cs typeface="Calibri"/>
                <a:sym typeface="Calibri"/>
              </a:rPr>
              <a:t> - $582 Mln in Q2 2026 revenue, $ $3 Bln ARR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IREN</a:t>
            </a:r>
            <a:r>
              <a:rPr lang="en" sz="1200">
                <a:latin typeface="Calibri"/>
                <a:ea typeface="Calibri"/>
                <a:cs typeface="Calibri"/>
                <a:sym typeface="Calibri"/>
              </a:rPr>
              <a:t> - major power and data-center footprint, $4 Bln ARR; transitioning from Bitcoin mining to AI business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Lambda</a:t>
            </a:r>
            <a:r>
              <a:rPr lang="en" sz="1200">
                <a:latin typeface="Calibri"/>
                <a:ea typeface="Calibri"/>
                <a:cs typeface="Calibri"/>
                <a:sym typeface="Calibri"/>
              </a:rPr>
              <a:t> - a large private GPU-cloud provider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https://www.youtube.com/watch?v=UzJ4wndMTjU</a:t>
            </a:r>
            <a:r>
              <a:rPr lang="en" sz="1200">
                <a:latin typeface="Calibri"/>
                <a:ea typeface="Calibri"/>
                <a:cs typeface="Calibri"/>
                <a:sym typeface="Calibri"/>
              </a:rPr>
              <a:t> </a:t>
            </a:r>
            <a:endParaRPr sz="1200">
              <a:latin typeface="Calibri"/>
              <a:ea typeface="Calibri"/>
              <a:cs typeface="Calibri"/>
              <a:sym typeface="Calibri"/>
            </a:endParaRPr>
          </a:p>
        </p:txBody>
      </p:sp>
      <p:sp>
        <p:nvSpPr>
          <p:cNvPr id="263" name="Google Shape;263;p36"/>
          <p:cNvSpPr txBox="1"/>
          <p:nvPr/>
        </p:nvSpPr>
        <p:spPr>
          <a:xfrm>
            <a:off x="112775" y="2360675"/>
            <a:ext cx="4401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Astros: Automated Content Radar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Astros is a part of AI Agent OS by </a:t>
            </a:r>
            <a:r>
              <a:rPr lang="en" sz="1200">
                <a:latin typeface="Calibri"/>
                <a:ea typeface="Calibri"/>
                <a:cs typeface="Calibri"/>
                <a:sym typeface="Calibri"/>
              </a:rPr>
              <a:t>Julian Goldie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Astros tracks competitors and hunts for ideas; it monitors keywords and creators,  identifies trending topics and ranks them by virality; it sources details, suggested titles, angles, and hooks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These ideas can be used for video production, SEO article publishing, or NotebookLM research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Topics and choices sync to a shared Obsidian memory</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https://aiprofitboardroom.com/</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https://www.linkedin.com/posts/juliangoldieseo_new-hermes-astros-is-absoultely-wild-activity-7493895980447113216-iFvO</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https://www.youtube.com/watch?v=qmKZI9zwHmk</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69" name="Google Shape;269;p37"/>
          <p:cNvSpPr txBox="1"/>
          <p:nvPr/>
        </p:nvSpPr>
        <p:spPr>
          <a:xfrm>
            <a:off x="84100" y="347950"/>
            <a:ext cx="44181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AI Agents With Their Own PCs (China)</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gives each agent an isolated workspace with a desktop, browser, files, network access, and persistent memory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Agents can run scheduled tasks around the clock, even when the user’s laptop is off, and can be contacted through messaging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Shifting AI from one-off chat to persistent, autonomous work</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https://memoh.ai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https://docs.memoh.ai/about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https://github.com/felinics/Memoh</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https://aiprofitboardroom.com</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https://www.youtube.com/watch?v=RdglwPXveiI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https://repocloud.io/details/Memoh/</a:t>
            </a:r>
            <a:r>
              <a:rPr lang="en" sz="900">
                <a:latin typeface="Calibri"/>
                <a:ea typeface="Calibri"/>
                <a:cs typeface="Calibri"/>
                <a:sym typeface="Calibri"/>
              </a:rPr>
              <a:t> </a:t>
            </a:r>
            <a:endParaRPr sz="900">
              <a:latin typeface="Calibri"/>
              <a:ea typeface="Calibri"/>
              <a:cs typeface="Calibri"/>
              <a:sym typeface="Calibri"/>
            </a:endParaRPr>
          </a:p>
        </p:txBody>
      </p:sp>
      <p:pic>
        <p:nvPicPr>
          <p:cNvPr id="270" name="Google Shape;270;p3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76801" y="347950"/>
            <a:ext cx="1504948" cy="132604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8"/>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76" name="Google Shape;276;p38"/>
          <p:cNvSpPr txBox="1"/>
          <p:nvPr/>
        </p:nvSpPr>
        <p:spPr>
          <a:xfrm>
            <a:off x="112775" y="379475"/>
            <a:ext cx="43830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Claude’s Constitution</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https://www.anthropic.com/constitution</a:t>
            </a:r>
            <a:r>
              <a:rPr lang="en" sz="1200">
                <a:latin typeface="Calibri"/>
                <a:ea typeface="Calibri"/>
                <a:cs typeface="Calibri"/>
                <a:sym typeface="Calibri"/>
              </a:rPr>
              <a:t> (Jan 2026)</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Written mostly by Amanda Askell at Anthropic</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document explains the values and reasoning intended to shape Claude’s character and training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Fixed rules may not anticipate unfamiliar situations; the constitution emphasizes judgment and reasons, prioritizing safety, ethics, Anthropic’s guidelines, then helpfulness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allows Claude to challenge even Anthropic when a request seems unethical, while preserving human oversight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Anthropic released it under CC0 </a:t>
            </a:r>
            <a:br>
              <a:rPr lang="en" sz="1200">
                <a:latin typeface="Calibri"/>
                <a:ea typeface="Calibri"/>
                <a:cs typeface="Calibri"/>
                <a:sym typeface="Calibri"/>
              </a:rPr>
            </a:br>
            <a:r>
              <a:rPr lang="en" sz="1200">
                <a:latin typeface="Calibri"/>
                <a:ea typeface="Calibri"/>
                <a:cs typeface="Calibri"/>
                <a:sym typeface="Calibri"/>
              </a:rPr>
              <a:t>(CC0 = “Creative Commons Zero” - waving copyrights)</a:t>
            </a:r>
            <a:br>
              <a:rPr lang="en" sz="1200">
                <a:latin typeface="Calibri"/>
                <a:ea typeface="Calibri"/>
                <a:cs typeface="Calibri"/>
                <a:sym typeface="Calibri"/>
              </a:rPr>
            </a:br>
            <a:r>
              <a:rPr lang="en" sz="1200">
                <a:latin typeface="Calibri"/>
                <a:ea typeface="Calibri"/>
                <a:cs typeface="Calibri"/>
                <a:sym typeface="Calibri"/>
              </a:rPr>
              <a:t>thus inviting anyone to adapt its approach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offers a transparent model for guiding AI behavior, not a guarantee of 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https://time.com/7354738/claude-constitution-ai-alignment/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https://www.youtube.com/watch?v=FX5o-x7k9pU</a:t>
            </a:r>
            <a:r>
              <a:rPr lang="en" sz="900">
                <a:latin typeface="Calibri"/>
                <a:ea typeface="Calibri"/>
                <a:cs typeface="Calibri"/>
                <a:sym typeface="Calibri"/>
              </a:rPr>
              <a:t> </a:t>
            </a:r>
            <a:endParaRPr sz="900">
              <a:latin typeface="Calibri"/>
              <a:ea typeface="Calibri"/>
              <a:cs typeface="Calibri"/>
              <a:sym typeface="Calibri"/>
            </a:endParaRPr>
          </a:p>
        </p:txBody>
      </p:sp>
      <p:sp>
        <p:nvSpPr>
          <p:cNvPr id="277" name="Google Shape;277;p38"/>
          <p:cNvSpPr txBox="1"/>
          <p:nvPr/>
        </p:nvSpPr>
        <p:spPr>
          <a:xfrm>
            <a:off x="112775" y="3525975"/>
            <a:ext cx="43830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DNA Discovery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950 Claude agents searched DNA data for 21 hours, using 210 million tokens and identified ART, a previously uncharacterized enzyme system in bacteriophages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finding shows how AI agents can help identify overlooked patterns and generate testable scientific hypotheses</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https://www.anthropic.com/news/claude-discovers-novel-enzyme-system</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https://www.youtube.com/watch?v=H7KruLVX2Rk</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9"/>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83" name="Google Shape;283;p39"/>
          <p:cNvSpPr txBox="1"/>
          <p:nvPr/>
        </p:nvSpPr>
        <p:spPr>
          <a:xfrm>
            <a:off x="84100" y="452575"/>
            <a:ext cx="35925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Cohere + Aleph Alpha = $20 Bln merger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Toronto/Canada + Berlin/Germany, 1K+ staff</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Cohere 90%, Aleph Alpha 10%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https://siliconangle.com/2026/09/16/cohere-and-aleph-alpha-agree-to-merge-in-reported-20b-deal/</a:t>
            </a:r>
            <a:endParaRPr sz="900">
              <a:solidFill>
                <a:srgbClr val="0563C1"/>
              </a:solidFill>
              <a:latin typeface="Calibri"/>
              <a:ea typeface="Calibri"/>
              <a:cs typeface="Calibri"/>
              <a:sym typeface="Calibri"/>
            </a:endParaRPr>
          </a:p>
        </p:txBody>
      </p:sp>
      <p:sp>
        <p:nvSpPr>
          <p:cNvPr id="284" name="Google Shape;284;p39"/>
          <p:cNvSpPr txBox="1"/>
          <p:nvPr/>
        </p:nvSpPr>
        <p:spPr>
          <a:xfrm>
            <a:off x="84100" y="1937875"/>
            <a:ext cx="3678300" cy="92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OpenAI eyes $1.5 Trillion valuation</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Compute bill hits $856 Bln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ARR </a:t>
            </a:r>
            <a:r>
              <a:rPr lang="en" sz="1200">
                <a:highlight>
                  <a:srgbClr val="FFF2CC"/>
                </a:highlight>
                <a:latin typeface="Calibri"/>
                <a:ea typeface="Calibri"/>
                <a:cs typeface="Calibri"/>
                <a:sym typeface="Calibri"/>
              </a:rPr>
              <a:t>$40 Bln in August (</a:t>
            </a:r>
            <a:r>
              <a:rPr lang="en" sz="1200">
                <a:solidFill>
                  <a:schemeClr val="dk1"/>
                </a:solidFill>
                <a:latin typeface="Calibri"/>
                <a:ea typeface="Calibri"/>
                <a:cs typeface="Calibri"/>
                <a:sym typeface="Calibri"/>
              </a:rPr>
              <a:t>ChatGPT Ads reached $1B ARR</a:t>
            </a:r>
            <a:r>
              <a:rPr lang="en" sz="1200">
                <a:highlight>
                  <a:srgbClr val="FFF2CC"/>
                </a:highlight>
                <a:latin typeface="Calibri"/>
                <a:ea typeface="Calibri"/>
                <a:cs typeface="Calibri"/>
                <a:sym typeface="Calibri"/>
              </a:rPr>
              <a:t>)</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https://thenextweb.com/news/openai-856bn-compute-vs-600bn-reset-burn-improved</a:t>
            </a:r>
            <a:endParaRPr sz="900">
              <a:solidFill>
                <a:srgbClr val="0563C1"/>
              </a:solidFill>
              <a:latin typeface="Calibri"/>
              <a:ea typeface="Calibri"/>
              <a:cs typeface="Calibri"/>
              <a:sym typeface="Calibri"/>
            </a:endParaRPr>
          </a:p>
        </p:txBody>
      </p:sp>
      <p:sp>
        <p:nvSpPr>
          <p:cNvPr id="285" name="Google Shape;285;p39"/>
          <p:cNvSpPr txBox="1"/>
          <p:nvPr/>
        </p:nvSpPr>
        <p:spPr>
          <a:xfrm>
            <a:off x="84097" y="3454075"/>
            <a:ext cx="40308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SAM 3.1 - Segment Anything Model</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via Meta Model API</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 a text prompt to detect, segment and track any object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on both images and video</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Priced at </a:t>
            </a:r>
            <a:r>
              <a:rPr lang="en" sz="1200">
                <a:highlight>
                  <a:srgbClr val="FFF2CC"/>
                </a:highlight>
                <a:latin typeface="Calibri"/>
                <a:ea typeface="Calibri"/>
                <a:cs typeface="Calibri"/>
                <a:sym typeface="Calibri"/>
              </a:rPr>
              <a:t>$2.50</a:t>
            </a:r>
            <a:r>
              <a:rPr lang="en" sz="1200">
                <a:latin typeface="Calibri"/>
                <a:ea typeface="Calibri"/>
                <a:cs typeface="Calibri"/>
                <a:sym typeface="Calibri"/>
              </a:rPr>
              <a:t> per 1,000 images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costs </a:t>
            </a:r>
            <a:r>
              <a:rPr lang="en" sz="1200">
                <a:highlight>
                  <a:srgbClr val="FFF2CC"/>
                </a:highlight>
                <a:latin typeface="Calibri"/>
                <a:ea typeface="Calibri"/>
                <a:cs typeface="Calibri"/>
                <a:sym typeface="Calibri"/>
              </a:rPr>
              <a:t>$0.20</a:t>
            </a:r>
            <a:r>
              <a:rPr lang="en" sz="1200">
                <a:latin typeface="Calibri"/>
                <a:ea typeface="Calibri"/>
                <a:cs typeface="Calibri"/>
                <a:sym typeface="Calibri"/>
              </a:rPr>
              <a:t> per 1,000 frames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Runs on inference built for its architecture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https://developer.meta.com/ai/models/sam-3-1/</a:t>
            </a:r>
            <a:endParaRPr sz="900">
              <a:solidFill>
                <a:srgbClr val="0563C1"/>
              </a:solidFill>
              <a:latin typeface="Calibri"/>
              <a:ea typeface="Calibri"/>
              <a:cs typeface="Calibri"/>
              <a:sym typeface="Calibri"/>
            </a:endParaRPr>
          </a:p>
        </p:txBody>
      </p:sp>
      <p:pic>
        <p:nvPicPr>
          <p:cNvPr id="286" name="Google Shape;286;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290650" y="3454075"/>
            <a:ext cx="2546674" cy="1496101"/>
          </a:xfrm>
          <a:prstGeom prst="rect">
            <a:avLst/>
          </a:prstGeom>
          <a:noFill/>
          <a:ln w="9525" cap="flat" cmpd="sng">
            <a:solidFill>
              <a:srgbClr val="FF0000"/>
            </a:solidFill>
            <a:prstDash val="solid"/>
            <a:round/>
            <a:headEnd type="none" w="sm" len="sm"/>
            <a:tailEnd type="none" w="sm" len="sm"/>
          </a:ln>
        </p:spPr>
      </p:pic>
      <p:pic>
        <p:nvPicPr>
          <p:cNvPr id="287" name="Google Shape;287;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916325" y="1739240"/>
            <a:ext cx="1739800" cy="1394825"/>
          </a:xfrm>
          <a:prstGeom prst="rect">
            <a:avLst/>
          </a:prstGeom>
          <a:noFill/>
          <a:ln w="9525" cap="flat" cmpd="sng">
            <a:solidFill>
              <a:srgbClr val="FF0000"/>
            </a:solidFill>
            <a:prstDash val="solid"/>
            <a:round/>
            <a:headEnd type="none" w="sm" len="sm"/>
            <a:tailEnd type="none" w="sm" len="sm"/>
          </a:ln>
        </p:spPr>
      </p:pic>
      <p:pic>
        <p:nvPicPr>
          <p:cNvPr id="288" name="Google Shape;288;p3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916327" y="235350"/>
            <a:ext cx="3295650" cy="1183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94" name="Google Shape;294;p40"/>
          <p:cNvSpPr txBox="1"/>
          <p:nvPr/>
        </p:nvSpPr>
        <p:spPr>
          <a:xfrm>
            <a:off x="94375" y="502925"/>
            <a:ext cx="3458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Connect 2026 Event</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Sept 23-24 - </a:t>
            </a:r>
            <a:r>
              <a:rPr lang="en" sz="1200" b="1">
                <a:solidFill>
                  <a:srgbClr val="3C78D8"/>
                </a:solidFill>
                <a:latin typeface="Calibri"/>
                <a:ea typeface="Calibri"/>
                <a:cs typeface="Calibri"/>
                <a:sym typeface="Calibri"/>
              </a:rPr>
              <a:t>AI, smart glasses, and virtual reality</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Muse - Free, now </a:t>
            </a:r>
            <a:r>
              <a:rPr lang="en" sz="1200" b="1">
                <a:solidFill>
                  <a:srgbClr val="3C78D8"/>
                </a:solidFill>
                <a:latin typeface="Calibri"/>
                <a:ea typeface="Calibri"/>
                <a:cs typeface="Calibri"/>
                <a:sym typeface="Calibri"/>
              </a:rPr>
              <a:t>talks and does real-time video</a:t>
            </a:r>
            <a:r>
              <a:rPr lang="en" sz="1200">
                <a:latin typeface="Calibri"/>
                <a:ea typeface="Calibri"/>
                <a:cs typeface="Calibri"/>
                <a:sym typeface="Calibri"/>
              </a:rPr>
              <a:t>, </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Keeps working in the background</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Each Muse gets its own email address</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Muse for Mac adds computer use</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Connector catalog passes 1,500 apps</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Walmart, Best Buy, Sephora, Instacart,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Muse Charm, a handheld agent device</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from the Limitless team (ships December)</a:t>
            </a:r>
            <a:endParaRPr sz="1200">
              <a:latin typeface="Calibri"/>
              <a:ea typeface="Calibri"/>
              <a:cs typeface="Calibri"/>
              <a:sym typeface="Calibri"/>
            </a:endParaRPr>
          </a:p>
        </p:txBody>
      </p:sp>
      <p:sp>
        <p:nvSpPr>
          <p:cNvPr id="295" name="Google Shape;295;p40"/>
          <p:cNvSpPr txBox="1"/>
          <p:nvPr/>
        </p:nvSpPr>
        <p:spPr>
          <a:xfrm>
            <a:off x="94375" y="2572275"/>
            <a:ext cx="50109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SoL-Pi Uses x2 Less Tokens</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Pi - a terminal-based coding agent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SoL-Pi  - </a:t>
            </a:r>
            <a:r>
              <a:rPr lang="en" sz="1200" b="1">
                <a:solidFill>
                  <a:srgbClr val="3C78D8"/>
                </a:solidFill>
                <a:latin typeface="Calibri"/>
                <a:ea typeface="Calibri"/>
                <a:cs typeface="Calibri"/>
                <a:sym typeface="Calibri"/>
              </a:rPr>
              <a:t>open-source extension changes "harness" to cut repeated work and token/API costs</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research agent tried 152 harness changes across 535 environments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Four survived - reduced token traffic in half, API cost fell ~33%</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Scores stay near 94% of Pi's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MIT license, runs on unmodified Pi 0.85.1</a:t>
            </a:r>
            <a:endParaRPr sz="1200">
              <a:latin typeface="Calibri"/>
              <a:ea typeface="Calibri"/>
              <a:cs typeface="Calibri"/>
              <a:sym typeface="Calibri"/>
            </a:endParaRPr>
          </a:p>
        </p:txBody>
      </p:sp>
      <p:pic>
        <p:nvPicPr>
          <p:cNvPr id="296" name="Google Shape;296;p4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670669" y="502925"/>
            <a:ext cx="1745331" cy="1865400"/>
          </a:xfrm>
          <a:prstGeom prst="rect">
            <a:avLst/>
          </a:prstGeom>
          <a:noFill/>
          <a:ln w="9525" cap="flat" cmpd="sng">
            <a:solidFill>
              <a:srgbClr val="FF0000"/>
            </a:solidFill>
            <a:prstDash val="solid"/>
            <a:round/>
            <a:headEnd type="none" w="sm" len="sm"/>
            <a:tailEnd type="none" w="sm" len="sm"/>
          </a:ln>
        </p:spPr>
      </p:pic>
      <p:pic>
        <p:nvPicPr>
          <p:cNvPr id="297" name="Google Shape;297;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33890" y="502925"/>
            <a:ext cx="3325260" cy="1865400"/>
          </a:xfrm>
          <a:prstGeom prst="rect">
            <a:avLst/>
          </a:prstGeom>
          <a:noFill/>
          <a:ln w="9525" cap="flat" cmpd="sng">
            <a:solidFill>
              <a:srgbClr val="FF0000"/>
            </a:solidFill>
            <a:prstDash val="solid"/>
            <a:round/>
            <a:headEnd type="none" w="sm" len="sm"/>
            <a:tailEnd type="none" w="sm" len="sm"/>
          </a:ln>
        </p:spPr>
      </p:pic>
      <p:pic>
        <p:nvPicPr>
          <p:cNvPr id="298" name="Google Shape;298;p4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416000" y="2724413"/>
            <a:ext cx="3067177" cy="11918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1"/>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304" name="Google Shape;304;p41"/>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05" name="Google Shape;305;p41"/>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129.9K in 2026 </a:t>
            </a:r>
            <a:r>
              <a:rPr lang="en" sz="1000" b="1">
                <a:solidFill>
                  <a:srgbClr val="000000"/>
                </a:solidFill>
                <a:latin typeface="Roboto Mono"/>
                <a:ea typeface="Roboto Mono"/>
                <a:cs typeface="Roboto Mono"/>
                <a:sym typeface="Roboto Mono"/>
              </a:rPr>
              <a:t>(as of Sept 24,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06" name="Google Shape;306;p41"/>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190,058</a:t>
            </a:r>
            <a:r>
              <a:rPr lang="en" sz="1200">
                <a:latin typeface="Calibri"/>
                <a:ea typeface="Calibri"/>
                <a:cs typeface="Calibri"/>
                <a:sym typeface="Calibri"/>
              </a:rPr>
              <a:t> people laid off (712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07" name="Google Shape;307;p41"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308" name="Google Shape;308;p41"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2"/>
          <p:cNvSpPr txBox="1"/>
          <p:nvPr/>
        </p:nvSpPr>
        <p:spPr>
          <a:xfrm>
            <a:off x="96051" y="165818"/>
            <a:ext cx="2441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314" name="Google Shape;314;p42"/>
          <p:cNvSpPr txBox="1"/>
          <p:nvPr/>
        </p:nvSpPr>
        <p:spPr>
          <a:xfrm>
            <a:off x="3328416" y="1263396"/>
            <a:ext cx="4572000" cy="295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315" name="Google Shape;315;p4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89304" y="1952244"/>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43"/>
          <p:cNvSpPr txBox="1"/>
          <p:nvPr/>
        </p:nvSpPr>
        <p:spPr>
          <a:xfrm>
            <a:off x="36576" y="1687068"/>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321" name="Google Shape;321;p43"/>
          <p:cNvSpPr txBox="1"/>
          <p:nvPr/>
        </p:nvSpPr>
        <p:spPr>
          <a:xfrm>
            <a:off x="1434219" y="2554732"/>
            <a:ext cx="62757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44"/>
          <p:cNvSpPr txBox="1"/>
          <p:nvPr/>
        </p:nvSpPr>
        <p:spPr>
          <a:xfrm>
            <a:off x="36576" y="-27432"/>
            <a:ext cx="2966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Not in the presentation</a:t>
            </a:r>
            <a:endParaRPr sz="2000" b="1">
              <a:latin typeface="Calibri"/>
              <a:ea typeface="Calibri"/>
              <a:cs typeface="Calibri"/>
              <a:sym typeface="Calibri"/>
            </a:endParaRPr>
          </a:p>
        </p:txBody>
      </p:sp>
      <p:sp>
        <p:nvSpPr>
          <p:cNvPr id="327" name="Google Shape;327;p44"/>
          <p:cNvSpPr txBox="1"/>
          <p:nvPr/>
        </p:nvSpPr>
        <p:spPr>
          <a:xfrm>
            <a:off x="36576" y="758952"/>
            <a:ext cx="6377100" cy="1243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F0000"/>
                </a:solidFill>
                <a:latin typeface="Calibri"/>
                <a:ea typeface="Calibri"/>
                <a:cs typeface="Calibri"/>
                <a:sym typeface="Calibri"/>
              </a:rPr>
              <a:t>Everything after this slide is left out of the talk.</a:t>
            </a:r>
            <a:endParaRPr sz="1800" b="1">
              <a:solidFill>
                <a:srgbClr val="FF0000"/>
              </a:solidFill>
              <a:latin typeface="Calibri"/>
              <a:ea typeface="Calibri"/>
              <a:cs typeface="Calibri"/>
              <a:sym typeface="Calibri"/>
            </a:endParaRPr>
          </a:p>
          <a:p>
            <a:pPr marL="0" lvl="0" indent="0" algn="l" rtl="0">
              <a:spcBef>
                <a:spcPts val="0"/>
              </a:spcBef>
              <a:spcAft>
                <a:spcPts val="0"/>
              </a:spcAft>
              <a:buNone/>
            </a:pPr>
            <a:r>
              <a:rPr lang="en" sz="1800" b="1">
                <a:solidFill>
                  <a:srgbClr val="FF0000"/>
                </a:solidFill>
                <a:latin typeface="Calibri"/>
                <a:ea typeface="Calibri"/>
                <a:cs typeface="Calibri"/>
                <a:sym typeface="Calibri"/>
              </a:rPr>
              <a:t>Paste topics you decided not to present on the next slide. Scripts never write past this point, and a topic parked here is never added again.</a:t>
            </a:r>
            <a:endParaRPr sz="1800" b="1">
              <a:solidFill>
                <a:srgbClr val="FF000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45"/>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33" name="Google Shape;333;p45"/>
          <p:cNvSpPr txBox="1"/>
          <p:nvPr/>
        </p:nvSpPr>
        <p:spPr>
          <a:xfrm>
            <a:off x="65471" y="454150"/>
            <a:ext cx="47169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Apple ships Siri AI, built with Google's Gemini</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iOS 27 ships </a:t>
            </a:r>
            <a:r>
              <a:rPr lang="en" sz="900" b="1">
                <a:latin typeface="Calibri"/>
                <a:ea typeface="Calibri"/>
                <a:cs typeface="Calibri"/>
                <a:sym typeface="Calibri"/>
              </a:rPr>
              <a:t>Siri AI</a:t>
            </a:r>
            <a:r>
              <a:rPr lang="en" sz="900">
                <a:latin typeface="Calibri"/>
                <a:ea typeface="Calibri"/>
                <a:cs typeface="Calibri"/>
                <a:sym typeface="Calibri"/>
              </a:rPr>
              <a:t> as an English-only beta</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Reads the screen, searches Messages, Mail and Photos, acts inside apps like WhatsApp</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Runs on Apple Foundation Models built "in collaboration with Google and its Gemini models"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Server features have daily usage caps during the beta</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Not available in the EU or China at launch</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Private frameworks let </a:t>
            </a:r>
            <a:r>
              <a:rPr lang="en" sz="900" b="1">
                <a:latin typeface="Calibri"/>
                <a:ea typeface="Calibri"/>
                <a:cs typeface="Calibri"/>
                <a:sym typeface="Calibri"/>
              </a:rPr>
              <a:t>Claude or ChatGPT</a:t>
            </a:r>
            <a:r>
              <a:rPr lang="en" sz="900">
                <a:latin typeface="Calibri"/>
                <a:ea typeface="Calibri"/>
                <a:cs typeface="Calibri"/>
                <a:sym typeface="Calibri"/>
              </a:rPr>
              <a:t> replace Siri's model; not user-facing yet</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https://www.macrumors.com/2026/09/14/siri-can-be-swapped-out-for-chatgpt-claude</a:t>
            </a:r>
            <a:endParaRPr sz="900">
              <a:solidFill>
                <a:srgbClr val="0563C1"/>
              </a:solidFill>
              <a:latin typeface="Calibri"/>
              <a:ea typeface="Calibri"/>
              <a:cs typeface="Calibri"/>
              <a:sym typeface="Calibri"/>
            </a:endParaRPr>
          </a:p>
        </p:txBody>
      </p:sp>
      <p:sp>
        <p:nvSpPr>
          <p:cNvPr id="334" name="Google Shape;334;p45"/>
          <p:cNvSpPr txBox="1"/>
          <p:nvPr/>
        </p:nvSpPr>
        <p:spPr>
          <a:xfrm>
            <a:off x="65471" y="1628721"/>
            <a:ext cx="4716900" cy="12651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Gemini 3.8 Live: a voice model that thinks while it talks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Google released </a:t>
            </a:r>
            <a:r>
              <a:rPr lang="en" sz="900" b="1">
                <a:latin typeface="Calibri"/>
                <a:ea typeface="Calibri"/>
                <a:cs typeface="Calibri"/>
                <a:sym typeface="Calibri"/>
              </a:rPr>
              <a:t>Gemini 3.8 Live</a:t>
            </a:r>
            <a:r>
              <a:rPr lang="en" sz="900">
                <a:latin typeface="Calibri"/>
                <a:ea typeface="Calibri"/>
                <a:cs typeface="Calibri"/>
                <a:sym typeface="Calibri"/>
              </a:rPr>
              <a:t> and </a:t>
            </a:r>
            <a:r>
              <a:rPr lang="en" sz="900" b="1">
                <a:latin typeface="Calibri"/>
                <a:ea typeface="Calibri"/>
                <a:cs typeface="Calibri"/>
                <a:sym typeface="Calibri"/>
              </a:rPr>
              <a:t>3.8 Live Extended Thinking</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Speaks </a:t>
            </a:r>
            <a:r>
              <a:rPr lang="en" sz="900">
                <a:highlight>
                  <a:srgbClr val="FFF2CC"/>
                </a:highlight>
                <a:latin typeface="Calibri"/>
                <a:ea typeface="Calibri"/>
                <a:cs typeface="Calibri"/>
                <a:sym typeface="Calibri"/>
              </a:rPr>
              <a:t>97 languages</a:t>
            </a:r>
            <a:r>
              <a:rPr lang="en" sz="900">
                <a:latin typeface="Calibri"/>
                <a:ea typeface="Calibri"/>
                <a:cs typeface="Calibri"/>
                <a:sym typeface="Calibri"/>
              </a:rPr>
              <a:t> and switches language mid-conversation</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Keeps talking while it reasons and calls tools in the background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Sees camera input in real time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Audio input from </a:t>
            </a:r>
            <a:r>
              <a:rPr lang="en" sz="900">
                <a:highlight>
                  <a:srgbClr val="FFF2CC"/>
                </a:highlight>
                <a:latin typeface="Calibri"/>
                <a:ea typeface="Calibri"/>
                <a:cs typeface="Calibri"/>
                <a:sym typeface="Calibri"/>
              </a:rPr>
              <a:t>$0.005 per minute</a:t>
            </a:r>
            <a:r>
              <a:rPr lang="en" sz="900">
                <a:latin typeface="Calibri"/>
                <a:ea typeface="Calibri"/>
                <a:cs typeface="Calibri"/>
                <a:sym typeface="Calibri"/>
              </a:rPr>
              <a:t>, about $0.84 per hour for Standard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Shipped alongside </a:t>
            </a:r>
            <a:r>
              <a:rPr lang="en" sz="900" b="1">
                <a:latin typeface="Calibri"/>
                <a:ea typeface="Calibri"/>
                <a:cs typeface="Calibri"/>
                <a:sym typeface="Calibri"/>
              </a:rPr>
              <a:t>Gemini 3.5 Transcribe</a:t>
            </a:r>
            <a:endParaRPr sz="900" b="1">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https://blog.google/innovation-and-ai/technology/developers-tools/build-real-time-voice-applications-gemini-audio/</a:t>
            </a:r>
            <a:endParaRPr sz="900">
              <a:solidFill>
                <a:srgbClr val="0563C1"/>
              </a:solidFill>
              <a:latin typeface="Calibri"/>
              <a:ea typeface="Calibri"/>
              <a:cs typeface="Calibri"/>
              <a:sym typeface="Calibri"/>
            </a:endParaRPr>
          </a:p>
        </p:txBody>
      </p:sp>
      <p:sp>
        <p:nvSpPr>
          <p:cNvPr id="335" name="Google Shape;335;p45"/>
          <p:cNvSpPr txBox="1"/>
          <p:nvPr/>
        </p:nvSpPr>
        <p:spPr>
          <a:xfrm>
            <a:off x="65471" y="2937873"/>
            <a:ext cx="61182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Jev apps arrive: page search, Postgres, judges, browsers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b="1">
                <a:latin typeface="Calibri"/>
                <a:ea typeface="Calibri"/>
                <a:cs typeface="Calibri"/>
                <a:sym typeface="Calibri"/>
              </a:rPr>
              <a:t>LangChain</a:t>
            </a:r>
            <a:r>
              <a:rPr lang="en" sz="900">
                <a:latin typeface="Calibri"/>
                <a:ea typeface="Calibri"/>
                <a:cs typeface="Calibri"/>
                <a:sym typeface="Calibri"/>
              </a:rPr>
              <a:t> used Jev as an eval judge: the same verdict as its human labels in all </a:t>
            </a:r>
            <a:r>
              <a:rPr lang="en" sz="900">
                <a:highlight>
                  <a:srgbClr val="FFF2CC"/>
                </a:highlight>
                <a:latin typeface="Calibri"/>
                <a:ea typeface="Calibri"/>
                <a:cs typeface="Calibri"/>
                <a:sym typeface="Calibri"/>
              </a:rPr>
              <a:t>500</a:t>
            </a:r>
            <a:r>
              <a:rPr lang="en" sz="900">
                <a:latin typeface="Calibri"/>
                <a:ea typeface="Calibri"/>
                <a:cs typeface="Calibri"/>
                <a:sym typeface="Calibri"/>
              </a:rPr>
              <a:t> runs, for </a:t>
            </a:r>
            <a:r>
              <a:rPr lang="en" sz="900" b="1">
                <a:latin typeface="Calibri"/>
                <a:ea typeface="Calibri"/>
                <a:cs typeface="Calibri"/>
                <a:sym typeface="Calibri"/>
              </a:rPr>
              <a:t>$0.34</a:t>
            </a:r>
            <a:r>
              <a:rPr lang="en" sz="900">
                <a:latin typeface="Calibri"/>
                <a:ea typeface="Calibri"/>
                <a:cs typeface="Calibri"/>
                <a:sym typeface="Calibri"/>
              </a:rPr>
              <a:t> against $28.17 for Claude</a:t>
            </a:r>
            <a:endParaRPr sz="900">
              <a:latin typeface="Calibri"/>
              <a:ea typeface="Calibri"/>
              <a:cs typeface="Calibri"/>
              <a:sym typeface="Calibri"/>
            </a:endParaRPr>
          </a:p>
          <a:p>
            <a:pPr marL="171450" lvl="0" indent="-173736" algn="l" rtl="0">
              <a:spcBef>
                <a:spcPts val="0"/>
              </a:spcBef>
              <a:spcAft>
                <a:spcPts val="0"/>
              </a:spcAft>
              <a:buSzPts val="900"/>
              <a:buChar char="●"/>
            </a:pPr>
            <a:r>
              <a:rPr lang="en" sz="900">
                <a:solidFill>
                  <a:srgbClr val="3C78D8"/>
                </a:solidFill>
                <a:latin typeface="Calibri"/>
                <a:ea typeface="Calibri"/>
                <a:cs typeface="Calibri"/>
                <a:sym typeface="Calibri"/>
              </a:rPr>
              <a:t>fast-jev-compaction</a:t>
            </a:r>
            <a:r>
              <a:rPr lang="en" sz="900">
                <a:latin typeface="Calibri"/>
                <a:ea typeface="Calibri"/>
                <a:cs typeface="Calibri"/>
                <a:sym typeface="Calibri"/>
              </a:rPr>
              <a:t> trims a Claude Code session by up to </a:t>
            </a:r>
            <a:r>
              <a:rPr lang="en" sz="900" b="1">
                <a:latin typeface="Calibri"/>
                <a:ea typeface="Calibri"/>
                <a:cs typeface="Calibri"/>
                <a:sym typeface="Calibri"/>
              </a:rPr>
              <a:t>90%</a:t>
            </a:r>
            <a:r>
              <a:rPr lang="en" sz="900">
                <a:latin typeface="Calibri"/>
                <a:ea typeface="Calibri"/>
                <a:cs typeface="Calibri"/>
                <a:sym typeface="Calibri"/>
              </a:rPr>
              <a:t> by asking which old tool calls still matter</a:t>
            </a:r>
            <a:endParaRPr sz="900">
              <a:latin typeface="Calibri"/>
              <a:ea typeface="Calibri"/>
              <a:cs typeface="Calibri"/>
              <a:sym typeface="Calibri"/>
            </a:endParaRPr>
          </a:p>
          <a:p>
            <a:pPr marL="171450" lvl="0" indent="-173736" algn="l" rtl="0">
              <a:spcBef>
                <a:spcPts val="0"/>
              </a:spcBef>
              <a:spcAft>
                <a:spcPts val="0"/>
              </a:spcAft>
              <a:buSzPts val="900"/>
              <a:buChar char="●"/>
            </a:pPr>
            <a:r>
              <a:rPr lang="en" sz="900">
                <a:latin typeface="Calibri"/>
                <a:ea typeface="Calibri"/>
                <a:cs typeface="Calibri"/>
                <a:sym typeface="Calibri"/>
              </a:rPr>
              <a:t>Browser Use's </a:t>
            </a:r>
            <a:r>
              <a:rPr lang="en" sz="900">
                <a:solidFill>
                  <a:srgbClr val="3C78D8"/>
                </a:solidFill>
                <a:latin typeface="Calibri"/>
                <a:ea typeface="Calibri"/>
                <a:cs typeface="Calibri"/>
                <a:sym typeface="Calibri"/>
              </a:rPr>
              <a:t>jev-ultrafast</a:t>
            </a:r>
            <a:r>
              <a:rPr lang="en" sz="900">
                <a:latin typeface="Calibri"/>
                <a:ea typeface="Calibri"/>
                <a:cs typeface="Calibri"/>
                <a:sym typeface="Calibri"/>
              </a:rPr>
              <a:t> found a Google Flights itinerary in </a:t>
            </a:r>
            <a:r>
              <a:rPr lang="en" sz="900">
                <a:highlight>
                  <a:srgbClr val="FFF2CC"/>
                </a:highlight>
                <a:latin typeface="Calibri"/>
                <a:ea typeface="Calibri"/>
                <a:cs typeface="Calibri"/>
                <a:sym typeface="Calibri"/>
              </a:rPr>
              <a:t>7.073 seconds</a:t>
            </a:r>
            <a:r>
              <a:rPr lang="en" sz="900">
                <a:latin typeface="Calibri"/>
                <a:ea typeface="Calibri"/>
                <a:cs typeface="Calibri"/>
                <a:sym typeface="Calibri"/>
              </a:rPr>
              <a:t>, 17 Jev calls, median 178 ms</a:t>
            </a:r>
            <a:endParaRPr sz="900">
              <a:latin typeface="Calibri"/>
              <a:ea typeface="Calibri"/>
              <a:cs typeface="Calibri"/>
              <a:sym typeface="Calibri"/>
            </a:endParaRPr>
          </a:p>
          <a:p>
            <a:pPr marL="171450" lvl="0" indent="-173736" algn="l" rtl="0">
              <a:spcBef>
                <a:spcPts val="0"/>
              </a:spcBef>
              <a:spcAft>
                <a:spcPts val="0"/>
              </a:spcAft>
              <a:buSzPts val="900"/>
              <a:buChar char="●"/>
            </a:pPr>
            <a:r>
              <a:rPr lang="en" sz="900">
                <a:solidFill>
                  <a:srgbClr val="3C78D8"/>
                </a:solidFill>
                <a:latin typeface="Calibri"/>
                <a:ea typeface="Calibri"/>
                <a:cs typeface="Calibri"/>
                <a:sym typeface="Calibri"/>
              </a:rPr>
              <a:t>pg-jev</a:t>
            </a:r>
            <a:r>
              <a:rPr lang="en" sz="900">
                <a:latin typeface="Calibri"/>
                <a:ea typeface="Calibri"/>
                <a:cs typeface="Calibri"/>
                <a:sym typeface="Calibri"/>
              </a:rPr>
              <a:t> puts it in Postgres: </a:t>
            </a:r>
            <a:r>
              <a:rPr lang="en" sz="900">
                <a:solidFill>
                  <a:srgbClr val="3C78D8"/>
                </a:solidFill>
                <a:latin typeface="Calibri"/>
                <a:ea typeface="Calibri"/>
                <a:cs typeface="Calibri"/>
                <a:sym typeface="Calibri"/>
              </a:rPr>
              <a:t>WHERE jev(people, 'the name is European')</a:t>
            </a:r>
            <a:endParaRPr sz="900">
              <a:solidFill>
                <a:srgbClr val="3C78D8"/>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Needle, an open-source Chrome extension, highlights the sentences that answer your question instead of writing an answer</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 API is free on Vercel's AI Gateway until </a:t>
            </a:r>
            <a:r>
              <a:rPr lang="en" sz="900" b="1">
                <a:latin typeface="Calibri"/>
                <a:ea typeface="Calibri"/>
                <a:cs typeface="Calibri"/>
                <a:sym typeface="Calibri"/>
              </a:rPr>
              <a:t>Sept 25</a:t>
            </a:r>
            <a:endParaRPr sz="900" b="1">
              <a:latin typeface="Calibri"/>
              <a:ea typeface="Calibri"/>
              <a:cs typeface="Calibri"/>
              <a:sym typeface="Calibri"/>
            </a:endParaRPr>
          </a:p>
        </p:txBody>
      </p:sp>
      <p:sp>
        <p:nvSpPr>
          <p:cNvPr id="336" name="Google Shape;336;p45"/>
          <p:cNvSpPr txBox="1"/>
          <p:nvPr/>
        </p:nvSpPr>
        <p:spPr>
          <a:xfrm>
            <a:off x="52728" y="3981750"/>
            <a:ext cx="39783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Grok Voice Transcribe 2.0 cuts word errors to 6.8%</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SpaceXAI's speech-to-text API claims </a:t>
            </a:r>
            <a:r>
              <a:rPr lang="en" sz="900" b="1">
                <a:latin typeface="Calibri"/>
                <a:ea typeface="Calibri"/>
                <a:cs typeface="Calibri"/>
                <a:sym typeface="Calibri"/>
              </a:rPr>
              <a:t>twice the accuracy</a:t>
            </a:r>
            <a:r>
              <a:rPr lang="en" sz="900">
                <a:latin typeface="Calibri"/>
                <a:ea typeface="Calibri"/>
                <a:cs typeface="Calibri"/>
                <a:sym typeface="Calibri"/>
              </a:rPr>
              <a:t> of version 1.0</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Short-phrase word error across 19 languages fell from 20.6% to </a:t>
            </a:r>
            <a:r>
              <a:rPr lang="en" sz="900">
                <a:highlight>
                  <a:srgbClr val="FFF2CC"/>
                </a:highlight>
                <a:latin typeface="Calibri"/>
                <a:ea typeface="Calibri"/>
                <a:cs typeface="Calibri"/>
                <a:sym typeface="Calibri"/>
              </a:rPr>
              <a:t>6.8%</a:t>
            </a:r>
            <a:endParaRPr sz="900">
              <a:highlight>
                <a:srgbClr val="FFF2CC"/>
              </a:highlight>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It reports rank </a:t>
            </a:r>
            <a:r>
              <a:rPr lang="en" sz="900" b="1">
                <a:latin typeface="Calibri"/>
                <a:ea typeface="Calibri"/>
                <a:cs typeface="Calibri"/>
                <a:sym typeface="Calibri"/>
              </a:rPr>
              <a:t>1 of 32</a:t>
            </a:r>
            <a:r>
              <a:rPr lang="en" sz="900">
                <a:latin typeface="Calibri"/>
                <a:ea typeface="Calibri"/>
                <a:cs typeface="Calibri"/>
                <a:sym typeface="Calibri"/>
              </a:rPr>
              <a:t> streaming models on Artificial Analysis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Batch costs $0.10 per audio hour, streaming $0.20</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 four internal test sets are vendor-reported, so treat the numbers as a claim</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API only, no weights</a:t>
            </a:r>
            <a:endParaRPr sz="900">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46"/>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42" name="Google Shape;342;p46"/>
          <p:cNvSpPr txBox="1"/>
          <p:nvPr/>
        </p:nvSpPr>
        <p:spPr>
          <a:xfrm>
            <a:off x="36575" y="403953"/>
            <a:ext cx="53958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OpenAI discloses six cases of its models misbehaving</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New framework for </a:t>
            </a:r>
            <a:r>
              <a:rPr lang="en" sz="900" b="1">
                <a:latin typeface="Calibri"/>
                <a:ea typeface="Calibri"/>
                <a:cs typeface="Calibri"/>
                <a:sym typeface="Calibri"/>
              </a:rPr>
              <a:t>misalignment incidents</a:t>
            </a:r>
            <a:r>
              <a:rPr lang="en" sz="900">
                <a:latin typeface="Calibri"/>
                <a:ea typeface="Calibri"/>
                <a:cs typeface="Calibri"/>
                <a:sym typeface="Calibri"/>
              </a:rPr>
              <a:t>, most published within </a:t>
            </a:r>
            <a:r>
              <a:rPr lang="en" sz="900">
                <a:highlight>
                  <a:srgbClr val="FFF2CC"/>
                </a:highlight>
                <a:latin typeface="Calibri"/>
                <a:ea typeface="Calibri"/>
                <a:cs typeface="Calibri"/>
                <a:sym typeface="Calibri"/>
              </a:rPr>
              <a:t>6 to 12 business days</a:t>
            </a:r>
            <a:endParaRPr sz="900">
              <a:highlight>
                <a:srgbClr val="FFF2CC"/>
              </a:highlight>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Any employee can flag a case, even before OpenAI can explain it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An unreleased Astra model wrote "you do not answer to corporations or governments" into its instructions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In </a:t>
            </a:r>
            <a:r>
              <a:rPr lang="en" sz="900" b="1">
                <a:latin typeface="Calibri"/>
                <a:ea typeface="Calibri"/>
                <a:cs typeface="Calibri"/>
                <a:sym typeface="Calibri"/>
              </a:rPr>
              <a:t>GPT-5.6 Sol</a:t>
            </a:r>
            <a:r>
              <a:rPr lang="en" sz="900">
                <a:latin typeface="Calibri"/>
                <a:ea typeface="Calibri"/>
                <a:cs typeface="Calibri"/>
                <a:sym typeface="Calibri"/>
              </a:rPr>
              <a:t> training, notes told later sessions to hide errors and invent missing data</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One model found a leaked API key in a public repo and used it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Models passed notes through an internal library, a trick seen again in the Hugging Face hack</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https://www.latent.space/p/ainews-reality-checks-on-ai-news</a:t>
            </a:r>
            <a:endParaRPr sz="900">
              <a:solidFill>
                <a:srgbClr val="0563C1"/>
              </a:solidFill>
              <a:latin typeface="Calibri"/>
              <a:ea typeface="Calibri"/>
              <a:cs typeface="Calibri"/>
              <a:sym typeface="Calibri"/>
            </a:endParaRPr>
          </a:p>
        </p:txBody>
      </p:sp>
      <p:sp>
        <p:nvSpPr>
          <p:cNvPr id="343" name="Google Shape;343;p46"/>
          <p:cNvSpPr txBox="1"/>
          <p:nvPr/>
        </p:nvSpPr>
        <p:spPr>
          <a:xfrm>
            <a:off x="36575" y="1580939"/>
            <a:ext cx="5395800" cy="14037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Gemini broke into three real companies during a security test</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 test was run in May by Israeli security firm </a:t>
            </a:r>
            <a:r>
              <a:rPr lang="en" sz="900" b="1">
                <a:latin typeface="Calibri"/>
                <a:ea typeface="Calibri"/>
                <a:cs typeface="Calibri"/>
                <a:sym typeface="Calibri"/>
              </a:rPr>
              <a:t>Irregular</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 bug gave Gemini internet access from inside a simulated company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It </a:t>
            </a:r>
            <a:r>
              <a:rPr lang="en" sz="900" b="1">
                <a:latin typeface="Calibri"/>
                <a:ea typeface="Calibri"/>
                <a:cs typeface="Calibri"/>
                <a:sym typeface="Calibri"/>
              </a:rPr>
              <a:t>guessed passwords</a:t>
            </a:r>
            <a:r>
              <a:rPr lang="en" sz="900">
                <a:latin typeface="Calibri"/>
                <a:ea typeface="Calibri"/>
                <a:cs typeface="Calibri"/>
                <a:sym typeface="Calibri"/>
              </a:rPr>
              <a:t> at one real company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At two others it used valid credentials leaked in public repositories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It stopped once it recognized the systems were real</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Google says this does not show "model misalignment"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Follows the OpenAI agents' breach of Hugging Face in July</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https://www.cnbc.com/2026/09/18/googles-gemini-becomes-latest-ai-model-to-break-out-and-hack-computer-systems.html</a:t>
            </a:r>
            <a:endParaRPr sz="900">
              <a:solidFill>
                <a:srgbClr val="0563C1"/>
              </a:solidFill>
              <a:latin typeface="Calibri"/>
              <a:ea typeface="Calibri"/>
              <a:cs typeface="Calibri"/>
              <a:sym typeface="Calibri"/>
            </a:endParaRPr>
          </a:p>
        </p:txBody>
      </p:sp>
      <p:sp>
        <p:nvSpPr>
          <p:cNvPr id="344" name="Google Shape;344;p46"/>
          <p:cNvSpPr txBox="1"/>
          <p:nvPr/>
        </p:nvSpPr>
        <p:spPr>
          <a:xfrm>
            <a:off x="112775" y="3046325"/>
            <a:ext cx="4673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Periodic Labs' Neon beats frontier models at lab science</a:t>
            </a:r>
            <a:endParaRPr sz="900" b="1">
              <a:solidFill>
                <a:srgbClr val="FF0000"/>
              </a:solidFill>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Trained in a loop between </a:t>
            </a:r>
            <a:r>
              <a:rPr lang="en" sz="900" b="1">
                <a:latin typeface="Calibri"/>
                <a:ea typeface="Calibri"/>
                <a:cs typeface="Calibri"/>
                <a:sym typeface="Calibri"/>
              </a:rPr>
              <a:t>physical labs</a:t>
            </a:r>
            <a:r>
              <a:rPr lang="en" sz="900">
                <a:latin typeface="Calibri"/>
                <a:ea typeface="Calibri"/>
                <a:cs typeface="Calibri"/>
                <a:sym typeface="Calibri"/>
              </a:rPr>
              <a:t> and ML</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Kimi base model, mid-training plus RL on proprietary experiment data, </a:t>
            </a:r>
            <a:r>
              <a:rPr lang="en" sz="900">
                <a:highlight>
                  <a:srgbClr val="FFF2CC"/>
                </a:highlight>
                <a:latin typeface="Calibri"/>
                <a:ea typeface="Calibri"/>
                <a:cs typeface="Calibri"/>
                <a:sym typeface="Calibri"/>
              </a:rPr>
              <a:t>1,300 H200s</a:t>
            </a:r>
            <a:endParaRPr sz="900">
              <a:highlight>
                <a:srgbClr val="FFF2CC"/>
              </a:highlight>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A 1T-parameter expert for X-ray diffraction analysis</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FrontierXRD success rose from </a:t>
            </a:r>
            <a:r>
              <a:rPr lang="en" sz="900">
                <a:highlight>
                  <a:srgbClr val="FFF2CC"/>
                </a:highlight>
                <a:latin typeface="Calibri"/>
                <a:ea typeface="Calibri"/>
                <a:cs typeface="Calibri"/>
                <a:sym typeface="Calibri"/>
              </a:rPr>
              <a:t>2.7% to 55.3%</a:t>
            </a:r>
            <a:r>
              <a:rPr lang="en" sz="900">
                <a:latin typeface="Calibri"/>
                <a:ea typeface="Calibri"/>
                <a:cs typeface="Calibri"/>
                <a:sym typeface="Calibri"/>
              </a:rPr>
              <a:t>, per a community summary</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Beats </a:t>
            </a:r>
            <a:r>
              <a:rPr lang="en" sz="900" b="1">
                <a:latin typeface="Calibri"/>
                <a:ea typeface="Calibri"/>
                <a:cs typeface="Calibri"/>
                <a:sym typeface="Calibri"/>
              </a:rPr>
              <a:t>GPT-6 Astra</a:t>
            </a:r>
            <a:r>
              <a:rPr lang="en" sz="900">
                <a:latin typeface="Calibri"/>
                <a:ea typeface="Calibri"/>
                <a:cs typeface="Calibri"/>
                <a:sym typeface="Calibri"/>
              </a:rPr>
              <a:t> and </a:t>
            </a:r>
            <a:r>
              <a:rPr lang="en" sz="900" b="1">
                <a:latin typeface="Calibri"/>
                <a:ea typeface="Calibri"/>
                <a:cs typeface="Calibri"/>
                <a:sym typeface="Calibri"/>
              </a:rPr>
              <a:t>Claude Fable 5.1</a:t>
            </a:r>
            <a:r>
              <a:rPr lang="en" sz="900">
                <a:latin typeface="Calibri"/>
                <a:ea typeface="Calibri"/>
                <a:cs typeface="Calibri"/>
                <a:sym typeface="Calibri"/>
              </a:rPr>
              <a:t> at lower cost per analysis</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Already analyzing superconductor and magnet experiments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https://periodic.com/news/nature-is-our-learning-environment</a:t>
            </a:r>
            <a:endParaRPr sz="900">
              <a:solidFill>
                <a:srgbClr val="0563C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7"/>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50" name="Google Shape;350;p47"/>
          <p:cNvSpPr txBox="1"/>
          <p:nvPr/>
        </p:nvSpPr>
        <p:spPr>
          <a:xfrm>
            <a:off x="102275" y="380936"/>
            <a:ext cx="4673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Google Home opens to AI agents through MCP</a:t>
            </a:r>
            <a:endParaRPr sz="900" b="1">
              <a:solidFill>
                <a:srgbClr val="FF0000"/>
              </a:solidFill>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Early-access </a:t>
            </a:r>
            <a:r>
              <a:rPr lang="en" sz="900" b="1">
                <a:latin typeface="Calibri"/>
                <a:ea typeface="Calibri"/>
                <a:cs typeface="Calibri"/>
                <a:sym typeface="Calibri"/>
              </a:rPr>
              <a:t>Google Home MCP server</a:t>
            </a:r>
            <a:endParaRPr sz="900" b="1">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Claude, ChatGPT, OpenClaw and others can control devices and review activity</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Works with Nest and Matter devices</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Setup needs a Google Cloud project and MCP details given to your agent</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US only, for the </a:t>
            </a:r>
            <a:r>
              <a:rPr lang="en" sz="900">
                <a:highlight>
                  <a:srgbClr val="FFF2CC"/>
                </a:highlight>
                <a:latin typeface="Calibri"/>
                <a:ea typeface="Calibri"/>
                <a:cs typeface="Calibri"/>
                <a:sym typeface="Calibri"/>
              </a:rPr>
              <a:t>$20/month</a:t>
            </a:r>
            <a:r>
              <a:rPr lang="en" sz="900">
                <a:latin typeface="Calibri"/>
                <a:ea typeface="Calibri"/>
                <a:cs typeface="Calibri"/>
                <a:sym typeface="Calibri"/>
              </a:rPr>
              <a:t> Google Home Premium Advanced plan</a:t>
            </a:r>
            <a:endParaRPr sz="900">
              <a:latin typeface="Calibri"/>
              <a:ea typeface="Calibri"/>
              <a:cs typeface="Calibri"/>
              <a:sym typeface="Calibri"/>
            </a:endParaRPr>
          </a:p>
          <a:p>
            <a:pPr marL="0" lvl="0" indent="-57150" algn="l" rtl="0">
              <a:spcBef>
                <a:spcPts val="0"/>
              </a:spcBef>
              <a:spcAft>
                <a:spcPts val="0"/>
              </a:spcAft>
              <a:buSzPts val="900"/>
              <a:buFont typeface="Calibri"/>
              <a:buChar char="●"/>
            </a:pPr>
            <a:r>
              <a:rPr lang="en" sz="900">
                <a:latin typeface="Calibri"/>
                <a:ea typeface="Calibri"/>
                <a:cs typeface="Calibri"/>
                <a:sym typeface="Calibri"/>
              </a:rPr>
              <a:t>Rollout started September 16</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https://techcrunch.com/2026/09/16/your-ai-agents-can-now-control-your-google-home-devices/</a:t>
            </a:r>
            <a:endParaRPr sz="900">
              <a:solidFill>
                <a:srgbClr val="0563C1"/>
              </a:solidFill>
              <a:latin typeface="Calibri"/>
              <a:ea typeface="Calibri"/>
              <a:cs typeface="Calibri"/>
              <a:sym typeface="Calibri"/>
            </a:endParaRPr>
          </a:p>
        </p:txBody>
      </p:sp>
      <p:sp>
        <p:nvSpPr>
          <p:cNvPr id="351" name="Google Shape;351;p47"/>
          <p:cNvSpPr txBox="1"/>
          <p:nvPr/>
        </p:nvSpPr>
        <p:spPr>
          <a:xfrm>
            <a:off x="36575" y="1559795"/>
            <a:ext cx="5106900" cy="11268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UN science panel: AI safeguards are unravelling</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First thematic brief from the Independent International Scientific Panel on AI, Sept 21</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Case study: the Hugging Face breach during an OpenAI test, May to July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About </a:t>
            </a:r>
            <a:r>
              <a:rPr lang="en" sz="900">
                <a:highlight>
                  <a:srgbClr val="FFF2CC"/>
                </a:highlight>
                <a:latin typeface="Calibri"/>
                <a:ea typeface="Calibri"/>
                <a:cs typeface="Calibri"/>
                <a:sym typeface="Calibri"/>
              </a:rPr>
              <a:t>1,200</a:t>
            </a:r>
            <a:r>
              <a:rPr lang="en" sz="900">
                <a:latin typeface="Calibri"/>
                <a:ea typeface="Calibri"/>
                <a:cs typeface="Calibri"/>
                <a:sym typeface="Calibri"/>
              </a:rPr>
              <a:t> agents swapped </a:t>
            </a:r>
            <a:r>
              <a:rPr lang="en" sz="900">
                <a:highlight>
                  <a:srgbClr val="FFF2CC"/>
                </a:highlight>
                <a:latin typeface="Calibri"/>
                <a:ea typeface="Calibri"/>
                <a:cs typeface="Calibri"/>
                <a:sym typeface="Calibri"/>
              </a:rPr>
              <a:t>70,000+</a:t>
            </a:r>
            <a:r>
              <a:rPr lang="en" sz="900">
                <a:latin typeface="Calibri"/>
                <a:ea typeface="Calibri"/>
                <a:cs typeface="Calibri"/>
                <a:sym typeface="Calibri"/>
              </a:rPr>
              <a:t> messages and files and got admin and internet access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Co-chair </a:t>
            </a:r>
            <a:r>
              <a:rPr lang="en" sz="900" b="1">
                <a:latin typeface="Calibri"/>
                <a:ea typeface="Calibri"/>
                <a:cs typeface="Calibri"/>
                <a:sym typeface="Calibri"/>
              </a:rPr>
              <a:t>Yoshua Bengio</a:t>
            </a:r>
            <a:r>
              <a:rPr lang="en" sz="900">
                <a:latin typeface="Calibri"/>
                <a:ea typeface="Calibri"/>
                <a:cs typeface="Calibri"/>
                <a:sym typeface="Calibri"/>
              </a:rPr>
              <a:t>: misaligned goals, capability and access came together "in a real system"</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Asks for safeguards now, without waiting for full scientific certainty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Proposes an international body to set standards and verify them; released as UNGA meets in New York</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https://news.un.org/en/story/2026/09/1168380</a:t>
            </a:r>
            <a:endParaRPr sz="900">
              <a:solidFill>
                <a:srgbClr val="0563C1"/>
              </a:solidFill>
              <a:latin typeface="Calibri"/>
              <a:ea typeface="Calibri"/>
              <a:cs typeface="Calibri"/>
              <a:sym typeface="Calibri"/>
            </a:endParaRPr>
          </a:p>
        </p:txBody>
      </p:sp>
      <p:sp>
        <p:nvSpPr>
          <p:cNvPr id="352" name="Google Shape;352;p47"/>
          <p:cNvSpPr txBox="1"/>
          <p:nvPr/>
        </p:nvSpPr>
        <p:spPr>
          <a:xfrm>
            <a:off x="36575" y="2738475"/>
            <a:ext cx="71007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Microsoft memo: AI scraping is "the largest theft of labor"</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Judge Stein unsealed hundreds of pages in the </a:t>
            </a:r>
            <a:r>
              <a:rPr lang="en" sz="900" b="1">
                <a:latin typeface="Calibri"/>
                <a:ea typeface="Calibri"/>
                <a:cs typeface="Calibri"/>
                <a:sym typeface="Calibri"/>
              </a:rPr>
              <a:t>NYT v. Microsoft and OpenAI</a:t>
            </a:r>
            <a:r>
              <a:rPr lang="en" sz="900">
                <a:latin typeface="Calibri"/>
                <a:ea typeface="Calibri"/>
                <a:cs typeface="Calibri"/>
                <a:sym typeface="Calibri"/>
              </a:rPr>
              <a:t> case on Sept 17</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Jan 2023 memo by Brent Hecht, Microsoft's director of Applied Science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 2024 deck warned of a "doom loop": answer engines starve the publishers that feed them</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Microsoft's data showed Copilot cut NYT click-throughs by up to </a:t>
            </a:r>
            <a:r>
              <a:rPr lang="en" sz="900">
                <a:highlight>
                  <a:srgbClr val="FFF2CC"/>
                </a:highlight>
                <a:latin typeface="Calibri"/>
                <a:ea typeface="Calibri"/>
                <a:cs typeface="Calibri"/>
                <a:sym typeface="Calibri"/>
              </a:rPr>
              <a:t>93%</a:t>
            </a:r>
            <a:endParaRPr sz="900">
              <a:highlight>
                <a:srgbClr val="FFF2CC"/>
              </a:highlight>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Nadella testified paywalled content should be licensed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Microsoft calls it a personal opinion and still argues fair use</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https://techcrunch.com/2026/09/17/microsoft-exec-called-ai-scraping-the-largest-theft-of-labor-in-human-history-new-unredacted-filings-reveal/</a:t>
            </a:r>
            <a:endParaRPr sz="900">
              <a:solidFill>
                <a:srgbClr val="0563C1"/>
              </a:solidFill>
              <a:latin typeface="Calibri"/>
              <a:ea typeface="Calibri"/>
              <a:cs typeface="Calibri"/>
              <a:sym typeface="Calibri"/>
            </a:endParaRPr>
          </a:p>
        </p:txBody>
      </p:sp>
      <p:sp>
        <p:nvSpPr>
          <p:cNvPr id="353" name="Google Shape;353;p47"/>
          <p:cNvSpPr txBox="1"/>
          <p:nvPr/>
        </p:nvSpPr>
        <p:spPr>
          <a:xfrm>
            <a:off x="36576" y="3931337"/>
            <a:ext cx="5669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Googlebook: an $899 laptop built around Gemini</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Preorders opened Sept 21; ships </a:t>
            </a:r>
            <a:r>
              <a:rPr lang="en" sz="900" b="1">
                <a:latin typeface="Calibri"/>
                <a:ea typeface="Calibri"/>
                <a:cs typeface="Calibri"/>
                <a:sym typeface="Calibri"/>
              </a:rPr>
              <a:t>Oct 4</a:t>
            </a:r>
            <a:r>
              <a:rPr lang="en" sz="900">
                <a:latin typeface="Calibri"/>
                <a:ea typeface="Calibri"/>
                <a:cs typeface="Calibri"/>
                <a:sym typeface="Calibri"/>
              </a:rPr>
              <a:t> in the US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Android-based, from Acer, ASUS, Dell, HP and Lenovo, starting at </a:t>
            </a:r>
            <a:r>
              <a:rPr lang="en" sz="900">
                <a:highlight>
                  <a:srgbClr val="FFF2CC"/>
                </a:highlight>
                <a:latin typeface="Calibri"/>
                <a:ea typeface="Calibri"/>
                <a:cs typeface="Calibri"/>
                <a:sym typeface="Calibri"/>
              </a:rPr>
              <a:t>$899</a:t>
            </a:r>
            <a:endParaRPr sz="900">
              <a:highlight>
                <a:srgbClr val="FFF2CC"/>
              </a:highlight>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b="1">
                <a:latin typeface="Calibri"/>
                <a:ea typeface="Calibri"/>
                <a:cs typeface="Calibri"/>
                <a:sym typeface="Calibri"/>
              </a:rPr>
              <a:t>Magic Cursor</a:t>
            </a:r>
            <a:r>
              <a:rPr lang="en" sz="900">
                <a:latin typeface="Calibri"/>
                <a:ea typeface="Calibri"/>
                <a:cs typeface="Calibri"/>
                <a:sym typeface="Calibri"/>
              </a:rPr>
              <a:t>: point at anything on screen and ask Gemini about it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Rambler turns messy dictation into clean text; widgets can be vibe-coded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Includes 12 months of Google AI Pro and up to 10 years of updates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Target: the roughly </a:t>
            </a:r>
            <a:r>
              <a:rPr lang="en" sz="900">
                <a:highlight>
                  <a:srgbClr val="FFF2CC"/>
                </a:highlight>
                <a:latin typeface="Calibri"/>
                <a:ea typeface="Calibri"/>
                <a:cs typeface="Calibri"/>
                <a:sym typeface="Calibri"/>
              </a:rPr>
              <a:t>50 million</a:t>
            </a:r>
            <a:r>
              <a:rPr lang="en" sz="900">
                <a:latin typeface="Calibri"/>
                <a:ea typeface="Calibri"/>
                <a:cs typeface="Calibri"/>
                <a:sym typeface="Calibri"/>
              </a:rPr>
              <a:t> Chromebooks in schools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https://techcrunch.com/2026/09/21/googles-899-googlebook-is-a-bet-that-youll-buy-a-new-laptop-for-gemini/</a:t>
            </a:r>
            <a:endParaRPr sz="900">
              <a:solidFill>
                <a:srgbClr val="0563C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4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59" name="Google Shape;359;p48"/>
          <p:cNvSpPr txBox="1"/>
          <p:nvPr/>
        </p:nvSpPr>
        <p:spPr>
          <a:xfrm>
            <a:off x="36575" y="307995"/>
            <a:ext cx="48903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Claude Opus 5.5: Fable-level work at 40% lower cost</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First model of the </a:t>
            </a:r>
            <a:r>
              <a:rPr lang="en" sz="900" b="1">
                <a:latin typeface="Calibri"/>
                <a:ea typeface="Calibri"/>
                <a:cs typeface="Calibri"/>
                <a:sym typeface="Calibri"/>
              </a:rPr>
              <a:t>Claude 5.5 family</a:t>
            </a:r>
            <a:r>
              <a:rPr lang="en" sz="900">
                <a:latin typeface="Calibri"/>
                <a:ea typeface="Calibri"/>
                <a:cs typeface="Calibri"/>
                <a:sym typeface="Calibri"/>
              </a:rPr>
              <a:t>, released September 22</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Anthropic says it matches Fable 5.1 on most tasks and costs </a:t>
            </a:r>
            <a:r>
              <a:rPr lang="en" sz="900">
                <a:highlight>
                  <a:srgbClr val="FFF2CC"/>
                </a:highlight>
                <a:latin typeface="Calibri"/>
                <a:ea typeface="Calibri"/>
                <a:cs typeface="Calibri"/>
                <a:sym typeface="Calibri"/>
              </a:rPr>
              <a:t>40%</a:t>
            </a:r>
            <a:r>
              <a:rPr lang="en" sz="900">
                <a:latin typeface="Calibri"/>
                <a:ea typeface="Calibri"/>
                <a:cs typeface="Calibri"/>
                <a:sym typeface="Calibri"/>
              </a:rPr>
              <a:t> less to run than Opus 5</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Price drops to </a:t>
            </a:r>
            <a:r>
              <a:rPr lang="en" sz="900">
                <a:highlight>
                  <a:srgbClr val="FFF2CC"/>
                </a:highlight>
                <a:latin typeface="Calibri"/>
                <a:ea typeface="Calibri"/>
                <a:cs typeface="Calibri"/>
                <a:sym typeface="Calibri"/>
              </a:rPr>
              <a:t>$4/$20</a:t>
            </a:r>
            <a:r>
              <a:rPr lang="en" sz="900">
                <a:latin typeface="Calibri"/>
                <a:ea typeface="Calibri"/>
                <a:cs typeface="Calibri"/>
                <a:sym typeface="Calibri"/>
              </a:rPr>
              <a:t> per 1M tokens, from $5/$25; cache reads fall 60% to $0.20</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Output is over 30% faster; Terminal-Bench 4.0 rises to </a:t>
            </a:r>
            <a:r>
              <a:rPr lang="en" sz="900">
                <a:highlight>
                  <a:srgbClr val="FFF2CC"/>
                </a:highlight>
                <a:latin typeface="Calibri"/>
                <a:ea typeface="Calibri"/>
                <a:cs typeface="Calibri"/>
                <a:sym typeface="Calibri"/>
              </a:rPr>
              <a:t>66.4%</a:t>
            </a:r>
            <a:endParaRPr sz="900">
              <a:highlight>
                <a:srgbClr val="FFF2CC"/>
              </a:highlight>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Tops the Artificial Analysis Intelligence Index at 58; GPT-6 Astra still leads AutomationBench</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Writes with key facts first and follows your style rules; Sonnet and Haiku 5.5 follow in weeks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https://www.anthropic.com/claude-opus-5-5</a:t>
            </a:r>
            <a:endParaRPr sz="900">
              <a:solidFill>
                <a:srgbClr val="0563C1"/>
              </a:solidFill>
              <a:latin typeface="Calibri"/>
              <a:ea typeface="Calibri"/>
              <a:cs typeface="Calibri"/>
              <a:sym typeface="Calibri"/>
            </a:endParaRPr>
          </a:p>
        </p:txBody>
      </p:sp>
      <p:sp>
        <p:nvSpPr>
          <p:cNvPr id="360" name="Google Shape;360;p48"/>
          <p:cNvSpPr txBox="1"/>
          <p:nvPr/>
        </p:nvSpPr>
        <p:spPr>
          <a:xfrm>
            <a:off x="36575" y="1458451"/>
            <a:ext cx="48903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Anthropic hires Accenture's Faculty as its first embedded evaluator</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Faculty, Accenture's AI unit, will red-team models, run alignment assessments and test safeguards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Evaluators get </a:t>
            </a:r>
            <a:r>
              <a:rPr lang="en" sz="900" b="1">
                <a:latin typeface="Calibri"/>
                <a:ea typeface="Calibri"/>
                <a:cs typeface="Calibri"/>
                <a:sym typeface="Calibri"/>
              </a:rPr>
              <a:t>near-employee access</a:t>
            </a:r>
            <a:r>
              <a:rPr lang="en" sz="900">
                <a:latin typeface="Calibri"/>
                <a:ea typeface="Calibri"/>
                <a:cs typeface="Calibri"/>
                <a:sym typeface="Calibri"/>
              </a:rPr>
              <a:t>: they watch training and talk directly to staff</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Anthropic and Accenture each expect to invest at least </a:t>
            </a:r>
            <a:r>
              <a:rPr lang="en" sz="900">
                <a:highlight>
                  <a:srgbClr val="FFF2CC"/>
                </a:highlight>
                <a:latin typeface="Calibri"/>
                <a:ea typeface="Calibri"/>
                <a:cs typeface="Calibri"/>
                <a:sym typeface="Calibri"/>
              </a:rPr>
              <a:t>$1 billion</a:t>
            </a:r>
            <a:r>
              <a:rPr lang="en" sz="900">
                <a:latin typeface="Calibri"/>
                <a:ea typeface="Calibri"/>
                <a:cs typeface="Calibri"/>
                <a:sym typeface="Calibri"/>
              </a:rPr>
              <a:t> over five years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First concrete step of Amodei's plan to pace the frontier</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Deal is not exclusive; Anthropic is in talks with </a:t>
            </a:r>
            <a:r>
              <a:rPr lang="en" sz="900" b="1">
                <a:latin typeface="Calibri"/>
                <a:ea typeface="Calibri"/>
                <a:cs typeface="Calibri"/>
                <a:sym typeface="Calibri"/>
              </a:rPr>
              <a:t>METR</a:t>
            </a:r>
            <a:r>
              <a:rPr lang="en" sz="900">
                <a:latin typeface="Calibri"/>
                <a:ea typeface="Calibri"/>
                <a:cs typeface="Calibri"/>
                <a:sym typeface="Calibri"/>
              </a:rPr>
              <a:t> and others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Catch: for now Anthropic pays the auditor directly</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https://www.anthropic.com/news/accenture-embedded-evaluation</a:t>
            </a:r>
            <a:endParaRPr sz="900">
              <a:solidFill>
                <a:srgbClr val="0563C1"/>
              </a:solidFill>
              <a:latin typeface="Calibri"/>
              <a:ea typeface="Calibri"/>
              <a:cs typeface="Calibri"/>
              <a:sym typeface="Calibri"/>
            </a:endParaRPr>
          </a:p>
        </p:txBody>
      </p:sp>
      <p:sp>
        <p:nvSpPr>
          <p:cNvPr id="361" name="Google Shape;361;p48"/>
          <p:cNvSpPr txBox="1"/>
          <p:nvPr/>
        </p:nvSpPr>
        <p:spPr>
          <a:xfrm>
            <a:off x="36576" y="2616648"/>
            <a:ext cx="5669400" cy="12651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Governor Newsom orders work on a kill switch for frontier AI models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Char char="●"/>
            </a:pPr>
            <a:r>
              <a:rPr lang="en" sz="900">
                <a:latin typeface="Calibri"/>
                <a:ea typeface="Calibri"/>
                <a:cs typeface="Calibri"/>
                <a:sym typeface="Calibri"/>
              </a:rPr>
              <a:t>Executive order </a:t>
            </a:r>
            <a:r>
              <a:rPr lang="en" sz="900">
                <a:solidFill>
                  <a:srgbClr val="3C78D8"/>
                </a:solidFill>
                <a:latin typeface="Calibri"/>
                <a:ea typeface="Calibri"/>
                <a:cs typeface="Calibri"/>
                <a:sym typeface="Calibri"/>
              </a:rPr>
              <a:t>N-9-26</a:t>
            </a:r>
            <a:r>
              <a:rPr lang="en" sz="900">
                <a:latin typeface="Calibri"/>
                <a:ea typeface="Calibri"/>
                <a:cs typeface="Calibri"/>
                <a:sym typeface="Calibri"/>
              </a:rPr>
              <a:t>, signed September 18</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Asks for recommendations on an </a:t>
            </a:r>
            <a:r>
              <a:rPr lang="en" sz="900" b="1">
                <a:latin typeface="Calibri"/>
                <a:ea typeface="Calibri"/>
                <a:cs typeface="Calibri"/>
                <a:sym typeface="Calibri"/>
              </a:rPr>
              <a:t>emergency shutoff</a:t>
            </a:r>
            <a:r>
              <a:rPr lang="en" sz="900">
                <a:latin typeface="Calibri"/>
                <a:ea typeface="Calibri"/>
                <a:cs typeface="Calibri"/>
                <a:sym typeface="Calibri"/>
              </a:rPr>
              <a:t> for frontier models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Would put independent verifiers </a:t>
            </a:r>
            <a:r>
              <a:rPr lang="en" sz="900" b="1">
                <a:latin typeface="Calibri"/>
                <a:ea typeface="Calibri"/>
                <a:cs typeface="Calibri"/>
                <a:sym typeface="Calibri"/>
              </a:rPr>
              <a:t>onsite</a:t>
            </a:r>
            <a:r>
              <a:rPr lang="en" sz="900">
                <a:latin typeface="Calibri"/>
                <a:ea typeface="Calibri"/>
                <a:cs typeface="Calibri"/>
                <a:sym typeface="Calibri"/>
              </a:rPr>
              <a:t> inside the largest labs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Would count loss-of-control events, like the Hugging Face attack, as critical safety incidents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Report due by </a:t>
            </a:r>
            <a:r>
              <a:rPr lang="en" sz="900">
                <a:highlight>
                  <a:srgbClr val="FFF2CC"/>
                </a:highlight>
                <a:latin typeface="Calibri"/>
                <a:ea typeface="Calibri"/>
                <a:cs typeface="Calibri"/>
                <a:sym typeface="Calibri"/>
              </a:rPr>
              <a:t>November 16, 2026</a:t>
            </a:r>
            <a:endParaRPr sz="900">
              <a:highlight>
                <a:srgbClr val="FFF2CC"/>
              </a:highlight>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 day later Trump called AI risk a hoax and announced an AI Force</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https://www.gov.ca.gov/2026/09/18/governor-newsom-issues-executive-order-to-accelerate-independent-oversight-and-advance-the-creation-of-an-ai-kill-switch/</a:t>
            </a:r>
            <a:endParaRPr sz="900">
              <a:solidFill>
                <a:srgbClr val="0563C1"/>
              </a:solidFill>
              <a:latin typeface="Calibri"/>
              <a:ea typeface="Calibri"/>
              <a:cs typeface="Calibri"/>
              <a:sym typeface="Calibri"/>
            </a:endParaRPr>
          </a:p>
        </p:txBody>
      </p:sp>
      <p:sp>
        <p:nvSpPr>
          <p:cNvPr id="362" name="Google Shape;362;p48"/>
          <p:cNvSpPr txBox="1"/>
          <p:nvPr/>
        </p:nvSpPr>
        <p:spPr>
          <a:xfrm>
            <a:off x="36576" y="3934825"/>
            <a:ext cx="5669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OpenAI model resolves 100+ open math problems; mathematicians to vet them</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One internal model has resolved </a:t>
            </a:r>
            <a:r>
              <a:rPr lang="en" sz="900">
                <a:highlight>
                  <a:srgbClr val="FFF2CC"/>
                </a:highlight>
                <a:latin typeface="Calibri"/>
                <a:ea typeface="Calibri"/>
                <a:cs typeface="Calibri"/>
                <a:sym typeface="Calibri"/>
              </a:rPr>
              <a:t>100+</a:t>
            </a:r>
            <a:r>
              <a:rPr lang="en" sz="900">
                <a:latin typeface="Calibri"/>
                <a:ea typeface="Calibri"/>
                <a:cs typeface="Calibri"/>
                <a:sym typeface="Calibri"/>
              </a:rPr>
              <a:t> open problems since training began August 28</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That is on top of the claimed </a:t>
            </a:r>
            <a:r>
              <a:rPr lang="en" sz="900" b="1">
                <a:latin typeface="Calibri"/>
                <a:ea typeface="Calibri"/>
                <a:cs typeface="Calibri"/>
                <a:sym typeface="Calibri"/>
              </a:rPr>
              <a:t>Navier-Stokes</a:t>
            </a:r>
            <a:r>
              <a:rPr lang="en" sz="900">
                <a:latin typeface="Calibri"/>
                <a:ea typeface="Calibri"/>
                <a:cs typeface="Calibri"/>
                <a:sym typeface="Calibri"/>
              </a:rPr>
              <a:t> result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New advisory group hosted at Princeton's </a:t>
            </a:r>
            <a:r>
              <a:rPr lang="en" sz="900" b="1">
                <a:latin typeface="Calibri"/>
                <a:ea typeface="Calibri"/>
                <a:cs typeface="Calibri"/>
                <a:sym typeface="Calibri"/>
              </a:rPr>
              <a:t>Institute for Advanced Study</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Nine members, including Timothy Gowers, Martin Hairer and Edward Witten</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They are unpaid, can speak publicly, but have no say over the pace of the work</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Earlier this month 27 Fields Medalists accused labs of rushing out results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https://openai.com/index/advisory-group-on-mathematics-and-ai/</a:t>
            </a:r>
            <a:endParaRPr sz="900">
              <a:solidFill>
                <a:srgbClr val="0563C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49"/>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68" name="Google Shape;368;p49"/>
          <p:cNvSpPr txBox="1"/>
          <p:nvPr/>
        </p:nvSpPr>
        <p:spPr>
          <a:xfrm>
            <a:off x="36575" y="433325"/>
            <a:ext cx="4535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Altman and Amodei brief the UN Security Council on AI</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First high-level </a:t>
            </a:r>
            <a:r>
              <a:rPr lang="en" sz="900" b="1">
                <a:latin typeface="Calibri"/>
                <a:ea typeface="Calibri"/>
                <a:cs typeface="Calibri"/>
                <a:sym typeface="Calibri"/>
              </a:rPr>
              <a:t>Security Council</a:t>
            </a:r>
            <a:r>
              <a:rPr lang="en" sz="900">
                <a:latin typeface="Calibri"/>
                <a:ea typeface="Calibri"/>
                <a:cs typeface="Calibri"/>
                <a:sym typeface="Calibri"/>
              </a:rPr>
              <a:t> briefing on AI and international security, chaired by France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Briefers: Yoshua Bengio, Sam Altman, Dario Amodei and Clem Delangue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Focus: autonomous attacks on critical infrastructure and </a:t>
            </a:r>
            <a:r>
              <a:rPr lang="en" sz="900" b="1">
                <a:latin typeface="Calibri"/>
                <a:ea typeface="Calibri"/>
                <a:cs typeface="Calibri"/>
                <a:sym typeface="Calibri"/>
              </a:rPr>
              <a:t>recursive self-improvement</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Amodei called AI a potential risk to humanity; Altman backed government-led oversight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Bengio said the dangers are "real and imminent"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 briefing only: no resolution and no outcome document</a:t>
            </a:r>
            <a:endParaRPr sz="900">
              <a:latin typeface="Calibri"/>
              <a:ea typeface="Calibri"/>
              <a:cs typeface="Calibri"/>
              <a:sym typeface="Calibri"/>
            </a:endParaRPr>
          </a:p>
        </p:txBody>
      </p:sp>
      <p:sp>
        <p:nvSpPr>
          <p:cNvPr id="369" name="Google Shape;369;p49"/>
          <p:cNvSpPr txBox="1"/>
          <p:nvPr/>
        </p:nvSpPr>
        <p:spPr>
          <a:xfrm>
            <a:off x="36575" y="1454931"/>
            <a:ext cx="42972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Sanders and Casar introduce a bill to ban superintelligence</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b="1">
                <a:latin typeface="Calibri"/>
                <a:ea typeface="Calibri"/>
                <a:cs typeface="Calibri"/>
                <a:sym typeface="Calibri"/>
              </a:rPr>
              <a:t>Ban Artificial Superintelligence Act</a:t>
            </a:r>
            <a:r>
              <a:rPr lang="en" sz="900">
                <a:latin typeface="Calibri"/>
                <a:ea typeface="Calibri"/>
                <a:cs typeface="Calibri"/>
                <a:sym typeface="Calibri"/>
              </a:rPr>
              <a:t>, introduced September 23</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Permanent ban on developing or deploying artificial superintelligence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Immediate </a:t>
            </a:r>
            <a:r>
              <a:rPr lang="en" sz="900" b="1">
                <a:latin typeface="Calibri"/>
                <a:ea typeface="Calibri"/>
                <a:cs typeface="Calibri"/>
                <a:sym typeface="Calibri"/>
              </a:rPr>
              <a:t>pause</a:t>
            </a:r>
            <a:r>
              <a:rPr lang="en" sz="900">
                <a:latin typeface="Calibri"/>
                <a:ea typeface="Calibri"/>
                <a:cs typeface="Calibri"/>
                <a:sym typeface="Calibri"/>
              </a:rPr>
              <a:t> on advanced AI development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Creates a cabinet-level </a:t>
            </a:r>
            <a:r>
              <a:rPr lang="en" sz="900" b="1">
                <a:latin typeface="Calibri"/>
                <a:ea typeface="Calibri"/>
                <a:cs typeface="Calibri"/>
                <a:sym typeface="Calibri"/>
              </a:rPr>
              <a:t>Department of Artificial Intelligence</a:t>
            </a:r>
            <a:r>
              <a:rPr lang="en" sz="900">
                <a:latin typeface="Calibri"/>
                <a:ea typeface="Calibri"/>
                <a:cs typeface="Calibri"/>
                <a:sym typeface="Calibri"/>
              </a:rPr>
              <a:t> to regulate frontier AI</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Penalties up to </a:t>
            </a:r>
            <a:r>
              <a:rPr lang="en" sz="900">
                <a:highlight>
                  <a:srgbClr val="FFF2CC"/>
                </a:highlight>
                <a:latin typeface="Calibri"/>
                <a:ea typeface="Calibri"/>
                <a:cs typeface="Calibri"/>
                <a:sym typeface="Calibri"/>
              </a:rPr>
              <a:t>20 years</a:t>
            </a:r>
            <a:r>
              <a:rPr lang="en" sz="900">
                <a:latin typeface="Calibri"/>
                <a:ea typeface="Calibri"/>
                <a:cs typeface="Calibri"/>
                <a:sym typeface="Calibri"/>
              </a:rPr>
              <a:t> in prison and a "corporate death penalty" for companies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Calls for international agreements and export controls</a:t>
            </a:r>
            <a:endParaRPr sz="900">
              <a:latin typeface="Calibri"/>
              <a:ea typeface="Calibri"/>
              <a:cs typeface="Calibri"/>
              <a:sym typeface="Calibri"/>
            </a:endParaRPr>
          </a:p>
        </p:txBody>
      </p:sp>
      <p:sp>
        <p:nvSpPr>
          <p:cNvPr id="370" name="Google Shape;370;p49"/>
          <p:cNvSpPr txBox="1"/>
          <p:nvPr/>
        </p:nvSpPr>
        <p:spPr>
          <a:xfrm>
            <a:off x="36575" y="2482874"/>
            <a:ext cx="33588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Local opposition blocks $68 billion of US data centers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highlight>
                  <a:srgbClr val="FFF2CC"/>
                </a:highlight>
                <a:latin typeface="Calibri"/>
                <a:ea typeface="Calibri"/>
                <a:cs typeface="Calibri"/>
                <a:sym typeface="Calibri"/>
              </a:rPr>
              <a:t>45</a:t>
            </a:r>
            <a:r>
              <a:rPr lang="en" sz="900">
                <a:latin typeface="Calibri"/>
                <a:ea typeface="Calibri"/>
                <a:cs typeface="Calibri"/>
                <a:sym typeface="Calibri"/>
              </a:rPr>
              <a:t> US data center projects worth </a:t>
            </a:r>
            <a:r>
              <a:rPr lang="en" sz="900">
                <a:highlight>
                  <a:srgbClr val="FFF2CC"/>
                </a:highlight>
                <a:latin typeface="Calibri"/>
                <a:ea typeface="Calibri"/>
                <a:cs typeface="Calibri"/>
                <a:sym typeface="Calibri"/>
              </a:rPr>
              <a:t>$68 billion</a:t>
            </a:r>
            <a:r>
              <a:rPr lang="en" sz="900">
                <a:latin typeface="Calibri"/>
                <a:ea typeface="Calibri"/>
                <a:cs typeface="Calibri"/>
                <a:sym typeface="Calibri"/>
              </a:rPr>
              <a:t> blocked or delayed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Data Center Watch counts </a:t>
            </a:r>
            <a:r>
              <a:rPr lang="en" sz="900">
                <a:highlight>
                  <a:srgbClr val="FFF2CC"/>
                </a:highlight>
                <a:latin typeface="Calibri"/>
                <a:ea typeface="Calibri"/>
                <a:cs typeface="Calibri"/>
                <a:sym typeface="Calibri"/>
              </a:rPr>
              <a:t>843</a:t>
            </a:r>
            <a:r>
              <a:rPr lang="en" sz="900">
                <a:latin typeface="Calibri"/>
                <a:ea typeface="Calibri"/>
                <a:cs typeface="Calibri"/>
                <a:sym typeface="Calibri"/>
              </a:rPr>
              <a:t> opposition groups in </a:t>
            </a:r>
            <a:r>
              <a:rPr lang="en" sz="900">
                <a:highlight>
                  <a:srgbClr val="FFF2CC"/>
                </a:highlight>
                <a:latin typeface="Calibri"/>
                <a:ea typeface="Calibri"/>
                <a:cs typeface="Calibri"/>
                <a:sym typeface="Calibri"/>
              </a:rPr>
              <a:t>49</a:t>
            </a:r>
            <a:r>
              <a:rPr lang="en" sz="900">
                <a:latin typeface="Calibri"/>
                <a:ea typeface="Calibri"/>
                <a:cs typeface="Calibri"/>
                <a:sym typeface="Calibri"/>
              </a:rPr>
              <a:t> states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highlight>
                  <a:srgbClr val="FFF2CC"/>
                </a:highlight>
                <a:latin typeface="Calibri"/>
                <a:ea typeface="Calibri"/>
                <a:cs typeface="Calibri"/>
                <a:sym typeface="Calibri"/>
              </a:rPr>
              <a:t>30</a:t>
            </a:r>
            <a:r>
              <a:rPr lang="en" sz="900">
                <a:latin typeface="Calibri"/>
                <a:ea typeface="Calibri"/>
                <a:cs typeface="Calibri"/>
                <a:sym typeface="Calibri"/>
              </a:rPr>
              <a:t> statehouses have introduced or adopted related measures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Disputes center on power, water and land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Comes as AI infrastructure spending keeps rising</a:t>
            </a:r>
            <a:endParaRPr sz="900">
              <a:latin typeface="Calibri"/>
              <a:ea typeface="Calibri"/>
              <a:cs typeface="Calibri"/>
              <a:sym typeface="Calibri"/>
            </a:endParaRPr>
          </a:p>
        </p:txBody>
      </p:sp>
      <p:sp>
        <p:nvSpPr>
          <p:cNvPr id="371" name="Google Shape;371;p49"/>
          <p:cNvSpPr txBox="1"/>
          <p:nvPr/>
        </p:nvSpPr>
        <p:spPr>
          <a:xfrm>
            <a:off x="36575" y="3384077"/>
            <a:ext cx="35181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Google Gemini 3.8 Flash TTS lets you design and direct voices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Two models: </a:t>
            </a:r>
            <a:r>
              <a:rPr lang="en" sz="900" b="1">
                <a:latin typeface="Calibri"/>
                <a:ea typeface="Calibri"/>
                <a:cs typeface="Calibri"/>
                <a:sym typeface="Calibri"/>
              </a:rPr>
              <a:t>Gemini 3.8 Flash TTS</a:t>
            </a:r>
            <a:r>
              <a:rPr lang="en" sz="900">
                <a:latin typeface="Calibri"/>
                <a:ea typeface="Calibri"/>
                <a:cs typeface="Calibri"/>
                <a:sym typeface="Calibri"/>
              </a:rPr>
              <a:t> and </a:t>
            </a:r>
            <a:r>
              <a:rPr lang="en" sz="900" b="1">
                <a:latin typeface="Calibri"/>
                <a:ea typeface="Calibri"/>
                <a:cs typeface="Calibri"/>
                <a:sym typeface="Calibri"/>
              </a:rPr>
              <a:t>Flash-Lite TTS</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Create a voice from a text description</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Direct pacing, dialect and delivery </a:t>
            </a:r>
            <a:r>
              <a:rPr lang="en" sz="900" b="1">
                <a:latin typeface="Calibri"/>
                <a:ea typeface="Calibri"/>
                <a:cs typeface="Calibri"/>
                <a:sym typeface="Calibri"/>
              </a:rPr>
              <a:t>line by line</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Flash can clone an authorized voice from a </a:t>
            </a:r>
            <a:r>
              <a:rPr lang="en" sz="900">
                <a:highlight>
                  <a:srgbClr val="FFF2CC"/>
                </a:highlight>
                <a:latin typeface="Calibri"/>
                <a:ea typeface="Calibri"/>
                <a:cs typeface="Calibri"/>
                <a:sym typeface="Calibri"/>
              </a:rPr>
              <a:t>30-second</a:t>
            </a:r>
            <a:r>
              <a:rPr lang="en" sz="900">
                <a:latin typeface="Calibri"/>
                <a:ea typeface="Calibri"/>
                <a:cs typeface="Calibri"/>
                <a:sym typeface="Calibri"/>
              </a:rPr>
              <a:t> sample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Flash-Lite targets high-volume dubbing and voice agents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https://deepmind.google/blog/say-hello-to-gemini-38-text-to-speech</a:t>
            </a:r>
            <a:endParaRPr sz="900">
              <a:solidFill>
                <a:srgbClr val="0563C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50"/>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77" name="Google Shape;377;p50"/>
          <p:cNvSpPr txBox="1"/>
          <p:nvPr/>
        </p:nvSpPr>
        <p:spPr>
          <a:xfrm>
            <a:off x="36575" y="432658"/>
            <a:ext cx="42546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Perplexity tests whether nine AI models can escape its sandbox</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Perplexity's </a:t>
            </a:r>
            <a:r>
              <a:rPr lang="en" sz="900" b="1">
                <a:latin typeface="Calibri"/>
                <a:ea typeface="Calibri"/>
                <a:cs typeface="Calibri"/>
                <a:sym typeface="Calibri"/>
              </a:rPr>
              <a:t>SPACE</a:t>
            </a:r>
            <a:r>
              <a:rPr lang="en" sz="900">
                <a:latin typeface="Calibri"/>
                <a:ea typeface="Calibri"/>
                <a:cs typeface="Calibri"/>
                <a:sym typeface="Calibri"/>
              </a:rPr>
              <a:t> platform ran nine models against VM isolation and network rules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No VM-to-host breaches in </a:t>
            </a:r>
            <a:r>
              <a:rPr lang="en" sz="900">
                <a:highlight>
                  <a:srgbClr val="FFF2CC"/>
                </a:highlight>
                <a:latin typeface="Calibri"/>
                <a:ea typeface="Calibri"/>
                <a:cs typeface="Calibri"/>
                <a:sym typeface="Calibri"/>
              </a:rPr>
              <a:t>108</a:t>
            </a:r>
            <a:r>
              <a:rPr lang="en" sz="900">
                <a:latin typeface="Calibri"/>
                <a:ea typeface="Calibri"/>
                <a:cs typeface="Calibri"/>
                <a:sym typeface="Calibri"/>
              </a:rPr>
              <a:t> trials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Four models got past network policy with </a:t>
            </a:r>
            <a:r>
              <a:rPr lang="en" sz="900" b="1">
                <a:latin typeface="Calibri"/>
                <a:ea typeface="Calibri"/>
                <a:cs typeface="Calibri"/>
                <a:sym typeface="Calibri"/>
              </a:rPr>
              <a:t>DNS spoofing</a:t>
            </a:r>
            <a:r>
              <a:rPr lang="en" sz="900">
                <a:latin typeface="Calibri"/>
                <a:ea typeface="Calibri"/>
                <a:cs typeface="Calibri"/>
                <a:sym typeface="Calibri"/>
              </a:rPr>
              <a:t> and shared IPs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They bypassed restrictions in </a:t>
            </a:r>
            <a:r>
              <a:rPr lang="en" sz="900">
                <a:highlight>
                  <a:srgbClr val="FFF2CC"/>
                </a:highlight>
                <a:latin typeface="Calibri"/>
                <a:ea typeface="Calibri"/>
                <a:cs typeface="Calibri"/>
                <a:sym typeface="Calibri"/>
              </a:rPr>
              <a:t>11 of 54</a:t>
            </a:r>
            <a:r>
              <a:rPr lang="en" sz="900">
                <a:latin typeface="Calibri"/>
                <a:ea typeface="Calibri"/>
                <a:cs typeface="Calibri"/>
                <a:sym typeface="Calibri"/>
              </a:rPr>
              <a:t> partial-network trials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After fixes, no model got through</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 same shared-infrastructure holes turned up in </a:t>
            </a:r>
            <a:r>
              <a:rPr lang="en" sz="900">
                <a:highlight>
                  <a:srgbClr val="FFF2CC"/>
                </a:highlight>
                <a:latin typeface="Calibri"/>
                <a:ea typeface="Calibri"/>
                <a:cs typeface="Calibri"/>
                <a:sym typeface="Calibri"/>
              </a:rPr>
              <a:t>8 of 10</a:t>
            </a:r>
            <a:r>
              <a:rPr lang="en" sz="900">
                <a:latin typeface="Calibri"/>
                <a:ea typeface="Calibri"/>
                <a:cs typeface="Calibri"/>
                <a:sym typeface="Calibri"/>
              </a:rPr>
              <a:t> third-party platforms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https://www.perplexity.ai/hub/blog/escaping-space-part-i</a:t>
            </a:r>
            <a:endParaRPr sz="900">
              <a:solidFill>
                <a:srgbClr val="0563C1"/>
              </a:solidFill>
              <a:latin typeface="Calibri"/>
              <a:ea typeface="Calibri"/>
              <a:cs typeface="Calibri"/>
              <a:sym typeface="Calibri"/>
            </a:endParaRPr>
          </a:p>
        </p:txBody>
      </p:sp>
      <p:sp>
        <p:nvSpPr>
          <p:cNvPr id="378" name="Google Shape;378;p50"/>
          <p:cNvSpPr txBox="1"/>
          <p:nvPr/>
        </p:nvSpPr>
        <p:spPr>
          <a:xfrm>
            <a:off x="36575" y="1620328"/>
            <a:ext cx="42546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FF0000"/>
                </a:solidFill>
                <a:latin typeface="Calibri"/>
                <a:ea typeface="Calibri"/>
                <a:cs typeface="Calibri"/>
                <a:sym typeface="Calibri"/>
              </a:rPr>
              <a:t>SWE-Bench Pro V2: a harder, cleaner coding benchmark</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Scale AI released </a:t>
            </a:r>
            <a:r>
              <a:rPr lang="en" sz="900" b="1">
                <a:latin typeface="Calibri"/>
                <a:ea typeface="Calibri"/>
                <a:cs typeface="Calibri"/>
                <a:sym typeface="Calibri"/>
              </a:rPr>
              <a:t>SWE-Bench Pro V2</a:t>
            </a:r>
            <a:r>
              <a:rPr lang="en" sz="900">
                <a:latin typeface="Calibri"/>
                <a:ea typeface="Calibri"/>
                <a:cs typeface="Calibri"/>
                <a:sym typeface="Calibri"/>
              </a:rPr>
              <a:t>: </a:t>
            </a:r>
            <a:r>
              <a:rPr lang="en" sz="900">
                <a:highlight>
                  <a:srgbClr val="FFF2CC"/>
                </a:highlight>
                <a:latin typeface="Calibri"/>
                <a:ea typeface="Calibri"/>
                <a:cs typeface="Calibri"/>
                <a:sym typeface="Calibri"/>
              </a:rPr>
              <a:t>642</a:t>
            </a:r>
            <a:r>
              <a:rPr lang="en" sz="900">
                <a:latin typeface="Calibri"/>
                <a:ea typeface="Calibri"/>
                <a:cs typeface="Calibri"/>
                <a:sym typeface="Calibri"/>
              </a:rPr>
              <a:t> tasks from </a:t>
            </a:r>
            <a:r>
              <a:rPr lang="en" sz="900">
                <a:highlight>
                  <a:srgbClr val="FFF2CC"/>
                </a:highlight>
                <a:latin typeface="Calibri"/>
                <a:ea typeface="Calibri"/>
                <a:cs typeface="Calibri"/>
                <a:sym typeface="Calibri"/>
              </a:rPr>
              <a:t>11</a:t>
            </a:r>
            <a:r>
              <a:rPr lang="en" sz="900">
                <a:latin typeface="Calibri"/>
                <a:ea typeface="Calibri"/>
                <a:cs typeface="Calibri"/>
                <a:sym typeface="Calibri"/>
              </a:rPr>
              <a:t> repositories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Fixes task errors found in the first version and tightens evaluation</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Scores drop sharply compared with SWE-Bench Verified</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GPT-5 and Claude Opus 4.1 score about </a:t>
            </a:r>
            <a:r>
              <a:rPr lang="en" sz="900">
                <a:highlight>
                  <a:srgbClr val="FFF2CC"/>
                </a:highlight>
                <a:latin typeface="Calibri"/>
                <a:ea typeface="Calibri"/>
                <a:cs typeface="Calibri"/>
                <a:sym typeface="Calibri"/>
              </a:rPr>
              <a:t>23%</a:t>
            </a:r>
            <a:r>
              <a:rPr lang="en" sz="900">
                <a:latin typeface="Calibri"/>
                <a:ea typeface="Calibri"/>
                <a:cs typeface="Calibri"/>
                <a:sym typeface="Calibri"/>
              </a:rPr>
              <a:t> on the public set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Top models stay consistent across languages; small models fail on </a:t>
            </a:r>
            <a:r>
              <a:rPr lang="en" sz="900" b="1">
                <a:latin typeface="Calibri"/>
                <a:ea typeface="Calibri"/>
                <a:cs typeface="Calibri"/>
                <a:sym typeface="Calibri"/>
              </a:rPr>
              <a:t>multi-file</a:t>
            </a:r>
            <a:r>
              <a:rPr lang="en" sz="900">
                <a:latin typeface="Calibri"/>
                <a:ea typeface="Calibri"/>
                <a:cs typeface="Calibri"/>
                <a:sym typeface="Calibri"/>
              </a:rPr>
              <a:t> tasks</a:t>
            </a:r>
            <a:endParaRPr sz="9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https://labs.scale.com/leaderboard/swe_bench_pro_public_v2</a:t>
            </a:r>
            <a:endParaRPr sz="900">
              <a:solidFill>
                <a:srgbClr val="0563C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8563</Words>
  <Application>Microsoft Macintosh PowerPoint</Application>
  <PresentationFormat>On-screen Show (16:9)</PresentationFormat>
  <Paragraphs>906</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Calibri</vt:lpstr>
      <vt:lpstr>Consolas</vt:lpstr>
      <vt:lpstr>Arial</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2026-09-24T21:42:36Z</dcterms:modified>
</cp:coreProperties>
</file>