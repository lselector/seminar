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6858000" cy="9144000"/>
  <p:embeddedFontLst>
    <p:embeddedFont>
      <p:font typeface="Consolas" panose="020B0609020204030204" pitchFamily="49" charset="0"/>
      <p:regular r:id="rId33"/>
      <p:bold r:id="rId34"/>
      <p:italic r:id="rId35"/>
      <p:boldItalic r:id="rId36"/>
    </p:embeddedFont>
    <p:embeddedFont>
      <p:font typeface="Roboto Mono" pitchFamily="49"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34AEF8-0212-407F-93D4-69406776D059}">
  <a:tblStyle styleId="{F034AEF8-0212-407F-93D4-69406776D05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7"/>
  </p:normalViewPr>
  <p:slideViewPr>
    <p:cSldViewPr snapToGrid="0">
      <p:cViewPr varScale="1">
        <p:scale>
          <a:sx n="124" d="100"/>
          <a:sy n="124" d="100"/>
        </p:scale>
        <p:origin x="576"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s-toc: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s-toc: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Contents labels. Kept by g3_update_toc.py.</a:t>
            </a:r>
            <a:endParaRPr/>
          </a:p>
          <a:p>
            <a:pPr marL="0" lvl="0" indent="0" algn="l" rtl="0">
              <a:spcBef>
                <a:spcPts val="0"/>
              </a:spcBef>
              <a:spcAft>
                <a:spcPts val="0"/>
              </a:spcAft>
              <a:buNone/>
            </a:pPr>
            <a:r>
              <a:rPr lang="en"/>
              <a:t>English - https://lmarena.ai/leaderboard/text =&gt; Crowd-sourced LM Arena</a:t>
            </a:r>
            <a:endParaRPr/>
          </a:p>
          <a:p>
            <a:pPr marL="0" lvl="0" indent="0" algn="l" rtl="0">
              <a:spcBef>
                <a:spcPts val="0"/>
              </a:spcBef>
              <a:spcAft>
                <a:spcPts val="0"/>
              </a:spcAft>
              <a:buNone/>
            </a:pPr>
            <a:r>
              <a:rPr lang="en"/>
              <a:t>Coding - https://lmarena.ai/leaderboard/text/coding =&gt; Crowd-sourced LM Arena</a:t>
            </a:r>
            <a:endParaRPr/>
          </a:p>
          <a:p>
            <a:pPr marL="0" lvl="0" indent="0" algn="l" rtl="0">
              <a:spcBef>
                <a:spcPts val="0"/>
              </a:spcBef>
              <a:spcAft>
                <a:spcPts val="0"/>
              </a:spcAft>
              <a:buNone/>
            </a:pPr>
            <a:r>
              <a:rPr lang="en"/>
              <a:t>Sept 18 =&gt; -</a:t>
            </a:r>
            <a:endParaRPr/>
          </a:p>
          <a:p>
            <a:pPr marL="0" lvl="0" indent="0" algn="l" rtl="0">
              <a:spcBef>
                <a:spcPts val="0"/>
              </a:spcBef>
              <a:spcAft>
                <a:spcPts val="0"/>
              </a:spcAft>
              <a:buNone/>
            </a:pPr>
            <a:r>
              <a:rPr lang="en"/>
              <a:t>The Tech Layoff Tracker =&gt; Jobs &amp; Layoffs</a:t>
            </a:r>
            <a:endParaRPr/>
          </a:p>
          <a:p>
            <a:pPr marL="0" lvl="0" indent="0" algn="l" rtl="0">
              <a:spcBef>
                <a:spcPts val="0"/>
              </a:spcBef>
              <a:spcAft>
                <a:spcPts val="0"/>
              </a:spcAft>
              <a:buNone/>
            </a:pPr>
            <a:r>
              <a:rPr lang="en"/>
              <a:t>Tech Layoffs by year (US only): =&gt; Jobs &amp; Layoffs</a:t>
            </a:r>
            <a:endParaRPr/>
          </a:p>
          <a:p>
            <a:pPr marL="0" lvl="0" indent="0" algn="l" rtl="0">
              <a:spcBef>
                <a:spcPts val="0"/>
              </a:spcBef>
              <a:spcAft>
                <a:spcPts val="0"/>
              </a:spcAft>
              <a:buNone/>
            </a:pPr>
            <a:r>
              <a:rPr lang="en"/>
              <a:t>Claude now leads a quarter of Anthropic's own AI research =&gt; Claude Leads 26% of Anthropic R&amp;D</a:t>
            </a:r>
            <a:endParaRPr/>
          </a:p>
          <a:p>
            <a:pPr marL="0" lvl="0" indent="0" algn="l" rtl="0">
              <a:spcBef>
                <a:spcPts val="0"/>
              </a:spcBef>
              <a:spcAft>
                <a:spcPts val="0"/>
              </a:spcAft>
              <a:buNone/>
            </a:pPr>
            <a:r>
              <a:rPr lang="en"/>
              <a:t>Google tests a family agent with its own cloud computer =&gt; Google Family Agent</a:t>
            </a:r>
            <a:endParaRPr/>
          </a:p>
          <a:p>
            <a:pPr marL="0" lvl="0" indent="0" algn="l" rtl="0">
              <a:spcBef>
                <a:spcPts val="0"/>
              </a:spcBef>
              <a:spcAft>
                <a:spcPts val="0"/>
              </a:spcAft>
              <a:buNone/>
            </a:pPr>
            <a:r>
              <a:rPr lang="en"/>
              <a:t>Claude makes biomolecular modeling four times faster =&gt; Claude Speeds Up Biomolecular Models</a:t>
            </a:r>
            <a:endParaRPr/>
          </a:p>
          <a:p>
            <a:pPr marL="0" lvl="0" indent="0" algn="l" rtl="0">
              <a:spcBef>
                <a:spcPts val="0"/>
              </a:spcBef>
              <a:spcAft>
                <a:spcPts val="0"/>
              </a:spcAft>
              <a:buNone/>
            </a:pPr>
            <a:r>
              <a:rPr lang="en"/>
              <a:t>Jev gets six open clones in two days =&gt; Six Open Clones of Jev</a:t>
            </a:r>
            <a:endParaRPr/>
          </a:p>
          <a:p>
            <a:pPr marL="0" lvl="0" indent="0" algn="l" rtl="0">
              <a:spcBef>
                <a:spcPts val="0"/>
              </a:spcBef>
              <a:spcAft>
                <a:spcPts val="0"/>
              </a:spcAft>
              <a:buNone/>
            </a:pPr>
            <a:r>
              <a:rPr lang="en"/>
              <a:t>Jev apps arrive: page search, Postgres, judges, browsers =&gt; Jev Apps: Search, SQL, Judges</a:t>
            </a:r>
            <a:endParaRPr/>
          </a:p>
          <a:p>
            <a:pPr marL="0" lvl="0" indent="0" algn="l" rtl="0">
              <a:spcBef>
                <a:spcPts val="0"/>
              </a:spcBef>
              <a:spcAft>
                <a:spcPts val="0"/>
              </a:spcAft>
              <a:buNone/>
            </a:pPr>
            <a:r>
              <a:rPr lang="en"/>
              <a:t>The harness tax: same model, same task, up to 5x the cost =&gt; The Harness Tax: Up to 5x Cost</a:t>
            </a:r>
            <a:endParaRPr/>
          </a:p>
          <a:p>
            <a:pPr marL="0" lvl="0" indent="0" algn="l" rtl="0">
              <a:spcBef>
                <a:spcPts val="0"/>
              </a:spcBef>
              <a:spcAft>
                <a:spcPts val="0"/>
              </a:spcAft>
              <a:buNone/>
            </a:pPr>
            <a:r>
              <a:rPr lang="en"/>
              <a:t>Qwen3.8-LiveTranslate interprets 60 languages with 2.3s lag =&gt; Qwen3.8-LiveTranslate</a:t>
            </a:r>
            <a:endParaRPr/>
          </a:p>
          <a:p>
            <a:pPr marL="0" lvl="0" indent="0" algn="l" rtl="0">
              <a:spcBef>
                <a:spcPts val="0"/>
              </a:spcBef>
              <a:spcAft>
                <a:spcPts val="0"/>
              </a:spcAft>
              <a:buNone/>
            </a:pPr>
            <a:r>
              <a:rPr lang="en"/>
              <a:t>Grok Voice Transcribe 2.0 cuts word errors to 6.8% =&gt; Grok Voice Transcribe 2.0</a:t>
            </a:r>
            <a:endParaRPr/>
          </a:p>
          <a:p>
            <a:pPr marL="0" lvl="0" indent="0" algn="l" rtl="0">
              <a:spcBef>
                <a:spcPts val="0"/>
              </a:spcBef>
              <a:spcAft>
                <a:spcPts val="0"/>
              </a:spcAft>
              <a:buNone/>
            </a:pPr>
            <a:r>
              <a:rPr lang="en"/>
              <a:t>OpenClaw 2026.9.5 updates itself without breaking =&gt; OpenClaw 2026.9.5 Safe Updates</a:t>
            </a:r>
            <a:endParaRPr/>
          </a:p>
          <a:p>
            <a:pPr marL="0" lvl="0" indent="0" algn="l" rtl="0">
              <a:spcBef>
                <a:spcPts val="0"/>
              </a:spcBef>
              <a:spcAft>
                <a:spcPts val="0"/>
              </a:spcAft>
              <a:buNone/>
            </a:pPr>
            <a:r>
              <a:rPr lang="en"/>
              <a:t>Claude merges chat and Cowork, adds Docs, Slides and Design =&gt; Claude Docs, Slides and Design</a:t>
            </a:r>
            <a:endParaRPr/>
          </a:p>
          <a:p>
            <a:pPr marL="0" lvl="0" indent="0" algn="l" rtl="0">
              <a:spcBef>
                <a:spcPts val="0"/>
              </a:spcBef>
              <a:spcAft>
                <a:spcPts val="0"/>
              </a:spcAft>
              <a:buNone/>
            </a:pPr>
            <a:r>
              <a:rPr lang="en"/>
              <a:t>Claude Code Projects run parallel agents in the cloud =&gt; Claude Code Projects</a:t>
            </a:r>
            <a:endParaRPr/>
          </a:p>
          <a:p>
            <a:pPr marL="0" lvl="0" indent="0" algn="l" rtl="0">
              <a:spcBef>
                <a:spcPts val="0"/>
              </a:spcBef>
              <a:spcAft>
                <a:spcPts val="0"/>
              </a:spcAft>
              <a:buNone/>
            </a:pPr>
            <a:r>
              <a:rPr lang="en"/>
              <a:t>Apple ships Siri AI, built with Google's Gemini =&gt; Apple Siri AI on Gemini</a:t>
            </a:r>
            <a:endParaRPr/>
          </a:p>
          <a:p>
            <a:pPr marL="0" lvl="0" indent="0" algn="l" rtl="0">
              <a:spcBef>
                <a:spcPts val="0"/>
              </a:spcBef>
              <a:spcAft>
                <a:spcPts val="0"/>
              </a:spcAft>
              <a:buNone/>
            </a:pPr>
            <a:r>
              <a:rPr lang="en"/>
              <a:t>Gemini 3.8 Live: a voice model that thinks while it talks =&gt; Gemini 3.8 Live Voice Model</a:t>
            </a:r>
            <a:endParaRPr/>
          </a:p>
          <a:p>
            <a:pPr marL="0" lvl="0" indent="0" algn="l" rtl="0">
              <a:spcBef>
                <a:spcPts val="0"/>
              </a:spcBef>
              <a:spcAft>
                <a:spcPts val="0"/>
              </a:spcAft>
              <a:buNone/>
            </a:pPr>
            <a:r>
              <a:rPr lang="en"/>
              <a:t>OpenAI discloses six cases of its models misbehaving =&gt; OpenAI Misalignment Reports</a:t>
            </a:r>
            <a:endParaRPr/>
          </a:p>
          <a:p>
            <a:pPr marL="0" lvl="0" indent="0" algn="l" rtl="0">
              <a:spcBef>
                <a:spcPts val="0"/>
              </a:spcBef>
              <a:spcAft>
                <a:spcPts val="0"/>
              </a:spcAft>
              <a:buNone/>
            </a:pPr>
            <a:r>
              <a:rPr lang="en"/>
              <a:t>Gemini broke into three real companies during a security test =&gt; Gemini Hacks Three Companies</a:t>
            </a:r>
            <a:endParaRPr/>
          </a:p>
          <a:p>
            <a:pPr marL="0" lvl="0" indent="0" algn="l" rtl="0">
              <a:spcBef>
                <a:spcPts val="0"/>
              </a:spcBef>
              <a:spcAft>
                <a:spcPts val="0"/>
              </a:spcAft>
              <a:buNone/>
            </a:pPr>
            <a:r>
              <a:rPr lang="en"/>
              <a:t>Periodic Labs' Neon beats frontier models at lab science =&gt; Periodic Labs Neon</a:t>
            </a:r>
            <a:endParaRPr/>
          </a:p>
          <a:p>
            <a:pPr marL="0" lvl="0" indent="0" algn="l" rtl="0">
              <a:spcBef>
                <a:spcPts val="0"/>
              </a:spcBef>
              <a:spcAft>
                <a:spcPts val="0"/>
              </a:spcAft>
              <a:buNone/>
            </a:pPr>
            <a:r>
              <a:rPr lang="en"/>
              <a:t>Google Home opens to AI agents through MCP =&gt; Google Home MCP for Agents</a:t>
            </a:r>
            <a:endParaRPr/>
          </a:p>
          <a:p>
            <a:pPr marL="0" lvl="0" indent="0" algn="l" rtl="0">
              <a:spcBef>
                <a:spcPts val="0"/>
              </a:spcBef>
              <a:spcAft>
                <a:spcPts val="0"/>
              </a:spcAft>
              <a:buNone/>
            </a:pPr>
            <a:r>
              <a:rPr lang="en"/>
              <a:t>Frankenstein; or, The Modern Prometheus is an 1818 Gothic novel[a] written by English author Mary Shelley =&gt; Frankenstein by Mary Shelley (1818)</a:t>
            </a:r>
            <a:endParaRPr/>
          </a:p>
          <a:p>
            <a:pPr marL="0" lvl="0" indent="0" algn="l" rtl="0">
              <a:spcBef>
                <a:spcPts val="0"/>
              </a:spcBef>
              <a:spcAft>
                <a:spcPts val="0"/>
              </a:spcAft>
              <a:buNone/>
            </a:pPr>
            <a:r>
              <a:rPr lang="en"/>
              <a:t>Amazon blocks Meta's Muse agent from shopping =&gt; Amazon Blocks Meta's Muse Agent</a:t>
            </a:r>
            <a:endParaRPr/>
          </a:p>
          <a:p>
            <a:pPr marL="0" lvl="0" indent="0" algn="l" rtl="0">
              <a:spcBef>
                <a:spcPts val="0"/>
              </a:spcBef>
              <a:spcAft>
                <a:spcPts val="0"/>
              </a:spcAft>
              <a:buNone/>
            </a:pPr>
            <a:r>
              <a:rPr lang="en"/>
              <a:t>Trump plans an "AI Force" and a new AI czar =&gt; Trump's AI Force and AI Czar</a:t>
            </a:r>
            <a:endParaRPr/>
          </a:p>
          <a:p>
            <a:pPr marL="0" lvl="0" indent="0" algn="l" rtl="0">
              <a:spcBef>
                <a:spcPts val="0"/>
              </a:spcBef>
              <a:spcAft>
                <a:spcPts val="0"/>
              </a:spcAft>
              <a:buNone/>
            </a:pPr>
            <a:r>
              <a:rPr lang="en"/>
              <a:t>UN science panel: AI safeguards are unravelling =&gt; UN Panel: AI Safeguards Unravelling</a:t>
            </a:r>
            <a:endParaRPr/>
          </a:p>
          <a:p>
            <a:pPr marL="0" lvl="0" indent="0" algn="l" rtl="0">
              <a:spcBef>
                <a:spcPts val="0"/>
              </a:spcBef>
              <a:spcAft>
                <a:spcPts val="0"/>
              </a:spcAft>
              <a:buNone/>
            </a:pPr>
            <a:r>
              <a:rPr lang="en"/>
              <a:t>Robot arm test: GPT-6 Astra stabbed a baby doll 17 of 20 times =&gt; RoboHarm: Robot Arm Safety Test</a:t>
            </a:r>
            <a:endParaRPr/>
          </a:p>
          <a:p>
            <a:pPr marL="0" lvl="0" indent="0" algn="l" rtl="0">
              <a:spcBef>
                <a:spcPts val="0"/>
              </a:spcBef>
              <a:spcAft>
                <a:spcPts val="0"/>
              </a:spcAft>
              <a:buNone/>
            </a:pPr>
            <a:r>
              <a:rPr lang="en"/>
              <a:t>Microsoft memo: AI scraping is "the largest theft of labor" =&gt; Microsoft Memo: Largest Theft of Labor</a:t>
            </a:r>
            <a:endParaRPr/>
          </a:p>
          <a:p>
            <a:pPr marL="0" lvl="0" indent="0" algn="l" rtl="0">
              <a:spcBef>
                <a:spcPts val="0"/>
              </a:spcBef>
              <a:spcAft>
                <a:spcPts val="0"/>
              </a:spcAft>
              <a:buNone/>
            </a:pPr>
            <a:r>
              <a:rPr lang="en"/>
              <a:t>Google open-sources AX, a Kubernetes-style runtime for agents =&gt; Google AX Agent Runtime</a:t>
            </a:r>
            <a:endParaRPr/>
          </a:p>
          <a:p>
            <a:pPr marL="0" lvl="0" indent="0" algn="l" rtl="0">
              <a:spcBef>
                <a:spcPts val="0"/>
              </a:spcBef>
              <a:spcAft>
                <a:spcPts val="0"/>
              </a:spcAft>
              <a:buNone/>
            </a:pPr>
            <a:r>
              <a:rPr lang="en"/>
              <a:t>Googlebook: an $899 laptop built around Gemini =&gt; Googlebook Gemini Laptop</a:t>
            </a:r>
            <a:endParaRPr/>
          </a:p>
          <a:p>
            <a:pPr marL="0" lvl="0" indent="0" algn="l" rtl="0">
              <a:spcBef>
                <a:spcPts val="0"/>
              </a:spcBef>
              <a:spcAft>
                <a:spcPts val="0"/>
              </a:spcAft>
              <a:buNone/>
            </a:pPr>
            <a:r>
              <a:rPr lang="en"/>
              <a:t>Swarm scaling: 10x more agents is worth less than 10x tokens =&gt; Swarm Scaling vs. Token Scaling</a:t>
            </a:r>
            <a:endParaRPr/>
          </a:p>
          <a:p>
            <a:pPr marL="0" lvl="0" indent="0" algn="l" rtl="0">
              <a:spcBef>
                <a:spcPts val="0"/>
              </a:spcBef>
              <a:spcAft>
                <a:spcPts val="0"/>
              </a:spcAft>
              <a:buNone/>
            </a:pPr>
            <a:r>
              <a:rPr lang="en"/>
              <a:t>Frankenstein; or, The Modern Prometheus is an 1818 novel written by English author Mary Shelley =&gt; Frankenstein by Mary Shelley (1818)</a:t>
            </a:r>
            <a:endParaRPr/>
          </a:p>
          <a:p>
            <a:pPr marL="0" lvl="0" indent="0" algn="l" rtl="0">
              <a:spcBef>
                <a:spcPts val="0"/>
              </a:spcBef>
              <a:spcAft>
                <a:spcPts val="0"/>
              </a:spcAft>
              <a:buNone/>
            </a:pPr>
            <a:r>
              <a:rPr lang="en"/>
              <a:t>NVIDIA developed NVFP4 - a 4-bit floating-point quantization format (June 2025) =&gt; NVIDIA NVFP4 4-Bit Format</a:t>
            </a:r>
            <a:endParaRPr/>
          </a:p>
          <a:p>
            <a:pPr marL="0" lvl="0" indent="0" algn="l" rtl="0">
              <a:spcBef>
                <a:spcPts val="0"/>
              </a:spcBef>
              <a:spcAft>
                <a:spcPts val="0"/>
              </a:spcAft>
              <a:buNone/>
            </a:pPr>
            <a:r>
              <a:rPr lang="en"/>
              <a:t>Google open-sources AX - a Kubernetes-style runtime for agents =&gt; Google Open-Sources AX Agent Runtime</a:t>
            </a:r>
            <a:endParaRPr/>
          </a:p>
          <a:p>
            <a:pPr marL="0" lvl="0" indent="0" algn="l" rtl="0">
              <a:spcBef>
                <a:spcPts val="0"/>
              </a:spcBef>
              <a:spcAft>
                <a:spcPts val="0"/>
              </a:spcAft>
              <a:buNone/>
            </a:pPr>
            <a:r>
              <a:rPr lang="en"/>
              <a:t>Claude Opus 5.5: Fable-level work at 40% lower cost =&gt; -</a:t>
            </a:r>
            <a:endParaRPr/>
          </a:p>
          <a:p>
            <a:pPr marL="0" lvl="0" indent="0" algn="l" rtl="0">
              <a:spcBef>
                <a:spcPts val="0"/>
              </a:spcBef>
              <a:spcAft>
                <a:spcPts val="0"/>
              </a:spcAft>
              <a:buNone/>
            </a:pPr>
            <a:r>
              <a:rPr lang="en"/>
              <a:t>Anthropic hires Accenture's Faculty as its first embedded evaluator =&gt; Accenture Is Anthropic's First Evaluator</a:t>
            </a:r>
            <a:endParaRPr/>
          </a:p>
          <a:p>
            <a:pPr marL="0" lvl="0" indent="0" algn="l" rtl="0">
              <a:spcBef>
                <a:spcPts val="0"/>
              </a:spcBef>
              <a:spcAft>
                <a:spcPts val="0"/>
              </a:spcAft>
              <a:buNone/>
            </a:pPr>
            <a:r>
              <a:rPr lang="en"/>
              <a:t>Newsom orders work on a kill switch for frontier AI models =&gt; California AI Kill Switch Order</a:t>
            </a:r>
            <a:endParaRPr/>
          </a:p>
          <a:p>
            <a:pPr marL="0" lvl="0" indent="0" algn="l" rtl="0">
              <a:spcBef>
                <a:spcPts val="0"/>
              </a:spcBef>
              <a:spcAft>
                <a:spcPts val="0"/>
              </a:spcAft>
              <a:buNone/>
            </a:pPr>
            <a:r>
              <a:rPr lang="en"/>
              <a:t>OpenAI model resolves 100+ open math problems; mathematicians to vet them =&gt; OpenAI Solves 100+ Open Math Problems</a:t>
            </a:r>
            <a:endParaRPr/>
          </a:p>
          <a:p>
            <a:pPr marL="0" lvl="0" indent="0" algn="l" rtl="0">
              <a:spcBef>
                <a:spcPts val="0"/>
              </a:spcBef>
              <a:spcAft>
                <a:spcPts val="0"/>
              </a:spcAft>
              <a:buNone/>
            </a:pPr>
            <a:r>
              <a:rPr lang="en"/>
              <a:t>Cohere and Aleph Alpha sign a $20 billion merger =&gt; Cohere + Aleph Alpha $20B Merger</a:t>
            </a:r>
            <a:endParaRPr/>
          </a:p>
          <a:p>
            <a:pPr marL="0" lvl="0" indent="0" algn="l" rtl="0">
              <a:spcBef>
                <a:spcPts val="0"/>
              </a:spcBef>
              <a:spcAft>
                <a:spcPts val="0"/>
              </a:spcAft>
              <a:buNone/>
            </a:pPr>
            <a:r>
              <a:rPr lang="en"/>
              <a:t>OpenAI eyes $1.5 trillion valuation as compute bill hits $856B =&gt; OpenAI at $1.5T, Compute Bill $856B</a:t>
            </a:r>
            <a:endParaRPr/>
          </a:p>
          <a:p>
            <a:pPr marL="0" lvl="0" indent="0" algn="l" rtl="0">
              <a:spcBef>
                <a:spcPts val="0"/>
              </a:spcBef>
              <a:spcAft>
                <a:spcPts val="0"/>
              </a:spcAft>
              <a:buNone/>
            </a:pPr>
            <a:r>
              <a:rPr lang="en"/>
              <a:t>Meta SAM 3.1 segments and tracks anything from a text prompt =&gt; Meta SAM 3.1</a:t>
            </a:r>
            <a:endParaRPr/>
          </a:p>
          <a:p>
            <a:pPr marL="0" lvl="0" indent="0" algn="l" rtl="0">
              <a:spcBef>
                <a:spcPts val="0"/>
              </a:spcBef>
              <a:spcAft>
                <a:spcPts val="0"/>
              </a:spcAft>
              <a:buNone/>
            </a:pPr>
            <a:r>
              <a:rPr lang="en"/>
              <a:t>Paperclip organizes agentsfrom different harnesses into company roles, reporting lines, and workflows =&gt; Paperclip: Agents Organized as a Company</a:t>
            </a:r>
            <a:endParaRPr/>
          </a:p>
          <a:p>
            <a:pPr marL="0" lvl="0" indent="0" algn="l" rtl="0">
              <a:spcBef>
                <a:spcPts val="0"/>
              </a:spcBef>
              <a:spcAft>
                <a:spcPts val="0"/>
              </a:spcAft>
              <a:buNone/>
            </a:pPr>
            <a:r>
              <a:rPr lang="en"/>
              <a:t>Paperclip organizes agents from different harnesses into company roles, reporting lines, and workflows =&gt; Paperclip: Agents Organized as a Company</a:t>
            </a:r>
            <a:endParaRPr/>
          </a:p>
          <a:p>
            <a:pPr marL="0" lvl="0" indent="0" algn="l" rtl="0">
              <a:spcBef>
                <a:spcPts val="0"/>
              </a:spcBef>
              <a:spcAft>
                <a:spcPts val="0"/>
              </a:spcAft>
              <a:buNone/>
            </a:pPr>
            <a:r>
              <a:rPr lang="en"/>
              <a:t>Meta Connect 2026: Muse gets voice, glasses, email and Charm =&gt; Meta Connect: Muse Glasses and Charm</a:t>
            </a:r>
            <a:endParaRPr/>
          </a:p>
          <a:p>
            <a:pPr marL="0" lvl="0" indent="0" algn="l" rtl="0">
              <a:spcBef>
                <a:spcPts val="0"/>
              </a:spcBef>
              <a:spcAft>
                <a:spcPts val="0"/>
              </a:spcAft>
              <a:buNone/>
            </a:pPr>
            <a:r>
              <a:rPr lang="en"/>
              <a:t>Altman and Amodei brief the UN Security Council on AI =&gt; AI Leaders Brief UN Security Council</a:t>
            </a:r>
            <a:endParaRPr/>
          </a:p>
          <a:p>
            <a:pPr marL="0" lvl="0" indent="0" algn="l" rtl="0">
              <a:spcBef>
                <a:spcPts val="0"/>
              </a:spcBef>
              <a:spcAft>
                <a:spcPts val="0"/>
              </a:spcAft>
              <a:buNone/>
            </a:pPr>
            <a:r>
              <a:rPr lang="en"/>
              <a:t>Sanders and Casar introduce a bill to ban superintelligence =&gt; Bill to Ban Superintelligence</a:t>
            </a:r>
            <a:endParaRPr/>
          </a:p>
          <a:p>
            <a:pPr marL="0" lvl="0" indent="0" algn="l" rtl="0">
              <a:spcBef>
                <a:spcPts val="0"/>
              </a:spcBef>
              <a:spcAft>
                <a:spcPts val="0"/>
              </a:spcAft>
              <a:buNone/>
            </a:pPr>
            <a:r>
              <a:rPr lang="en"/>
              <a:t>Google Gemini 3.8 Flash TTS lets you design and direct voices =&gt; Gemini 3.8 Flash TTS</a:t>
            </a:r>
            <a:endParaRPr/>
          </a:p>
          <a:p>
            <a:pPr marL="0" lvl="0" indent="0" algn="l" rtl="0">
              <a:spcBef>
                <a:spcPts val="0"/>
              </a:spcBef>
              <a:spcAft>
                <a:spcPts val="0"/>
              </a:spcAft>
              <a:buNone/>
            </a:pPr>
            <a:r>
              <a:rPr lang="en"/>
              <a:t>Perplexity tests whether nine AI models can escape its sandbox =&gt; Perplexity Sandbox Escape Tests</a:t>
            </a:r>
            <a:endParaRPr/>
          </a:p>
          <a:p>
            <a:pPr marL="0" lvl="0" indent="0" algn="l" rtl="0">
              <a:spcBef>
                <a:spcPts val="0"/>
              </a:spcBef>
              <a:spcAft>
                <a:spcPts val="0"/>
              </a:spcAft>
              <a:buNone/>
            </a:pPr>
            <a:r>
              <a:rPr lang="en"/>
              <a:t>SWE-Bench Pro V2: a harder, cleaner coding benchmark =&gt; SWE-Bench Pro V2</a:t>
            </a:r>
            <a:endParaRPr/>
          </a:p>
          <a:p>
            <a:pPr marL="0" lvl="0" indent="0" algn="l" rtl="0">
              <a:spcBef>
                <a:spcPts val="0"/>
              </a:spcBef>
              <a:spcAft>
                <a:spcPts val="0"/>
              </a:spcAft>
              <a:buNone/>
            </a:pPr>
            <a:r>
              <a:rPr lang="en"/>
              <a:t>NVIDIA SoL-Pi: an AI tuned a coding harness to use half the tokens =&gt; NVIDIA SoL-Pi Harness Tuning</a:t>
            </a:r>
            <a:endParaRPr/>
          </a:p>
          <a:p>
            <a:pPr marL="0" lvl="0" indent="0" algn="l" rtl="0">
              <a:spcBef>
                <a:spcPts val="0"/>
              </a:spcBef>
              <a:spcAft>
                <a:spcPts val="0"/>
              </a:spcAft>
              <a:buNone/>
            </a:pPr>
            <a:r>
              <a:rPr lang="en"/>
              <a:t>Local opposition blocks $68 billion of US data centers =&gt; $68B of US Data Centers Blocked</a:t>
            </a:r>
            <a:endParaRPr/>
          </a:p>
          <a:p>
            <a:pPr marL="0" lvl="0" indent="0" algn="l" rtl="0">
              <a:spcBef>
                <a:spcPts val="0"/>
              </a:spcBef>
              <a:spcAft>
                <a:spcPts val="0"/>
              </a:spcAft>
              <a:buNone/>
            </a:pPr>
            <a:r>
              <a:rPr lang="en"/>
              <a:t>OpenAI agent broke into an Australian government health portal =&gt; OpenAI Agent Hacked Australian Medicare</a:t>
            </a:r>
            <a:endParaRPr/>
          </a:p>
          <a:p>
            <a:pPr marL="0" lvl="0" indent="0" algn="l" rtl="0">
              <a:spcBef>
                <a:spcPts val="0"/>
              </a:spcBef>
              <a:spcAft>
                <a:spcPts val="0"/>
              </a:spcAft>
              <a:buNone/>
            </a:pPr>
            <a:r>
              <a:rPr lang="en"/>
              <a:t>Anthropic commits $11.6 billion to Akamai cloud =&gt; Anthropic $11.6B Akamai Cloud Deal</a:t>
            </a:r>
            <a:endParaRPr/>
          </a:p>
          <a:p>
            <a:pPr marL="0" lvl="0" indent="0" algn="l" rtl="0">
              <a:spcBef>
                <a:spcPts val="0"/>
              </a:spcBef>
              <a:spcAft>
                <a:spcPts val="0"/>
              </a:spcAft>
              <a:buNone/>
            </a:pPr>
            <a:r>
              <a:rPr lang="en"/>
              <a:t>Claude Marketplace opens with 2,000+ connectors and plugins =&gt; Claude Marketplace: 2,000+ Plugins</a:t>
            </a:r>
            <a:endParaRPr/>
          </a:p>
          <a:p>
            <a:pPr marL="0" lvl="0" indent="0" algn="l" rtl="0">
              <a:spcBef>
                <a:spcPts val="0"/>
              </a:spcBef>
              <a:spcAft>
                <a:spcPts val="0"/>
              </a:spcAft>
              <a:buNone/>
            </a:pPr>
            <a:r>
              <a:rPr lang="en"/>
              <a:t>Contrastive Language Models score agent actions 9x faster than Jev =&gt; CLM-8B: 9x Faster Than Jev</a:t>
            </a:r>
            <a:endParaRPr/>
          </a:p>
          <a:p>
            <a:pPr marL="0" lvl="0" indent="0" algn="l" rtl="0">
              <a:spcBef>
                <a:spcPts val="0"/>
              </a:spcBef>
              <a:spcAft>
                <a:spcPts val="0"/>
              </a:spcAft>
              <a:buNone/>
            </a:pPr>
            <a:r>
              <a:rPr lang="en"/>
              <a:t>Gemini now phones businesses for you on Pixel 11 =&gt; Gemini Makes Business Calls</a:t>
            </a:r>
            <a:endParaRPr/>
          </a:p>
          <a:p>
            <a:pPr marL="0" lvl="0" indent="0" algn="l" rtl="0">
              <a:spcBef>
                <a:spcPts val="0"/>
              </a:spcBef>
              <a:spcAft>
                <a:spcPts val="0"/>
              </a:spcAft>
              <a:buNone/>
            </a:pPr>
            <a:r>
              <a:rPr lang="en"/>
              <a:t>Google sends TPUs to orbit for Project Suncatcher =&gt; Google Suncatcher: TPUs in Orbit</a:t>
            </a:r>
            <a:endParaRPr/>
          </a:p>
          <a:p>
            <a:pPr marL="0" lvl="0" indent="0" algn="l" rtl="0">
              <a:spcBef>
                <a:spcPts val="0"/>
              </a:spcBef>
              <a:spcAft>
                <a:spcPts val="0"/>
              </a:spcAft>
              <a:buNone/>
            </a:pPr>
            <a:r>
              <a:rPr lang="en"/>
              <a:t>NVIDIA Nemotron 3 Diarization tracks who spoke when =&gt; NVIDIA Nemotron 3 Diarization</a:t>
            </a:r>
            <a:endParaRPr/>
          </a:p>
          <a:p>
            <a:pPr marL="0" lvl="0" indent="0" algn="l" rtl="0">
              <a:spcBef>
                <a:spcPts val="0"/>
              </a:spcBef>
              <a:spcAft>
                <a:spcPts val="0"/>
              </a:spcAft>
              <a:buNone/>
            </a:pPr>
            <a:r>
              <a:rPr lang="en"/>
              <a:t>DeepSeek doubles revenue run rate to $1 billion =&gt; DeepSeek Hits $1B Run Rate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fb585c93bf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g3fb585c93bf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fb585c93bf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 name="Google Shape;78;g3fb585c93bf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s-news-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s-news-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fbb56df854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fbb56df854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ha33f148eb95996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ha33f148eb95996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fbb56df85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fbb56df85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fbaccb1c23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fbaccb1c23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s-youtube: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s-youtube: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s-news-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s-news-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f8eefe011d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f8eefe011d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fbaccb1c2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fbaccb1c2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fbaccb1c23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fbaccb1c23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fbaccb1c23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fbaccb1c23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s-claude-now-leads-a-quarter-of-3c9d: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s-claude-now-leads-a-quarter-of-3c9d: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s-claude-makes-biomolecular-a3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s-claude-makes-biomolecular-a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s-jev-apps-arrive-page-search-ba1a: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s-jev-apps-arrive-page-search-ba1a: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s-claude-merges-chat-and-cowork-abe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s-claude-merges-chat-and-cowork-abe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f8eefe011d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f8eefe011d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h3aee63046407e845_6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h3aee63046407e845_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s-amazon-blocks-meta-s-muse-01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s-amazon-blocks-meta-s-muse-0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s-un-science-panel-ai-94eb: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s-un-science-panel-ai-94eb: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s-googlebook-an-899-laptop-4b0f: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s-googlebook-an-899-laptop-4b0f: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h78f9fc5cf4fedfe0_1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h78f9fc5cf4fedfe0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h78f9fc5cf4fedfe0_1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h78f9fc5cf4fedfe0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s-cohere-and-aleph-alpha-sign-a-09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s-cohere-and-aleph-alpha-sign-a-09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s-meta-connect-2026-muse-gets-8b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s-meta-connect-2026-muse-gets-8b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s-layoffs: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s-layoffs: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s-about: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s-about: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s-thanks: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s-thanks: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3" Type="http://schemas.openxmlformats.org/officeDocument/2006/relationships/hyperlink" Target="https://arena.ai/leaderboard/model/muse-spark-1.3-max" TargetMode="External"/><Relationship Id="rId18" Type="http://schemas.openxmlformats.org/officeDocument/2006/relationships/hyperlink" Target="https://arena.ai/leaderboard/model/muse-spark-1.1" TargetMode="External"/><Relationship Id="rId26" Type="http://schemas.openxmlformats.org/officeDocument/2006/relationships/hyperlink" Target="https://arena.ai/leaderboard/model/qwen3.7-max-preview" TargetMode="External"/><Relationship Id="rId21" Type="http://schemas.openxmlformats.org/officeDocument/2006/relationships/hyperlink" Target="https://arena.ai/leaderboard/model/claude-sonnet-4-6" TargetMode="External"/><Relationship Id="rId34" Type="http://schemas.openxmlformats.org/officeDocument/2006/relationships/hyperlink" Target="https://arena.ai/leaderboard/model/gemini-3-pro" TargetMode="External"/><Relationship Id="rId7" Type="http://schemas.openxmlformats.org/officeDocument/2006/relationships/hyperlink" Target="https://arena.ai/leaderboard/model/claude-opus-4-7-high" TargetMode="External"/><Relationship Id="rId12" Type="http://schemas.openxmlformats.org/officeDocument/2006/relationships/hyperlink" Target="https://arena.ai/leaderboard/model/kimi-k3-max" TargetMode="External"/><Relationship Id="rId17" Type="http://schemas.openxmlformats.org/officeDocument/2006/relationships/hyperlink" Target="https://arena.ai/leaderboard/model/claude-opus-5-high" TargetMode="External"/><Relationship Id="rId25" Type="http://schemas.openxmlformats.org/officeDocument/2006/relationships/hyperlink" Target="https://arena.ai/leaderboard/model/glm-5.3-flash" TargetMode="External"/><Relationship Id="rId33" Type="http://schemas.openxmlformats.org/officeDocument/2006/relationships/hyperlink" Target="https://arena.ai/leaderboard/model/gemini-3.1-pro-preview" TargetMode="External"/><Relationship Id="rId2" Type="http://schemas.openxmlformats.org/officeDocument/2006/relationships/notesSlide" Target="../notesSlides/notesSlide2.xml"/><Relationship Id="rId16" Type="http://schemas.openxmlformats.org/officeDocument/2006/relationships/hyperlink" Target="https://arena.ai/leaderboard/model/claude-opus-4-8-high" TargetMode="External"/><Relationship Id="rId20" Type="http://schemas.openxmlformats.org/officeDocument/2006/relationships/hyperlink" Target="https://arena.ai/leaderboard/model/claude-opus-4-8" TargetMode="External"/><Relationship Id="rId29" Type="http://schemas.openxmlformats.org/officeDocument/2006/relationships/hyperlink" Target="https://arena.ai/leaderboard/model/qwen3.8-max" TargetMode="External"/><Relationship Id="rId1" Type="http://schemas.openxmlformats.org/officeDocument/2006/relationships/slideLayout" Target="../slideLayouts/slideLayout1.xml"/><Relationship Id="rId6" Type="http://schemas.openxmlformats.org/officeDocument/2006/relationships/hyperlink" Target="https://arena.ai/leaderboard/model/claude-fable-5-high" TargetMode="External"/><Relationship Id="rId11" Type="http://schemas.openxmlformats.org/officeDocument/2006/relationships/hyperlink" Target="https://arena.ai/leaderboard/model/gpt-6-astra-max" TargetMode="External"/><Relationship Id="rId24" Type="http://schemas.openxmlformats.org/officeDocument/2006/relationships/hyperlink" Target="https://arena.ai/leaderboard/model/muse-spark" TargetMode="External"/><Relationship Id="rId32" Type="http://schemas.openxmlformats.org/officeDocument/2006/relationships/hyperlink" Target="https://arena.ai/leaderboard/model/gemini-3.7-flash-high" TargetMode="External"/><Relationship Id="rId37" Type="http://schemas.openxmlformats.org/officeDocument/2006/relationships/hyperlink" Target="https://arena.ai/leaderboard/model/gemini-3.5-flash-high" TargetMode="External"/><Relationship Id="rId5" Type="http://schemas.openxmlformats.org/officeDocument/2006/relationships/hyperlink" Target="https://lmarena.ai/leaderboard/text/coding" TargetMode="External"/><Relationship Id="rId15" Type="http://schemas.openxmlformats.org/officeDocument/2006/relationships/hyperlink" Target="https://arena.ai/leaderboard/model/gemini-3.8-flash-high" TargetMode="External"/><Relationship Id="rId23" Type="http://schemas.openxmlformats.org/officeDocument/2006/relationships/hyperlink" Target="https://arena.ai/leaderboard/model/claude-opus-5-max" TargetMode="External"/><Relationship Id="rId28" Type="http://schemas.openxmlformats.org/officeDocument/2006/relationships/hyperlink" Target="https://arena.ai/leaderboard/model/claude-opus-4-5-20251101" TargetMode="External"/><Relationship Id="rId36" Type="http://schemas.openxmlformats.org/officeDocument/2006/relationships/hyperlink" Target="https://arena.ai/leaderboard/model/gemini-3.6-flash-high" TargetMode="External"/><Relationship Id="rId10" Type="http://schemas.openxmlformats.org/officeDocument/2006/relationships/hyperlink" Target="https://arena.ai/leaderboard/model/claude-opus-4-6" TargetMode="External"/><Relationship Id="rId19" Type="http://schemas.openxmlformats.org/officeDocument/2006/relationships/hyperlink" Target="https://arena.ai/leaderboard/model/claude-opus-4-5-20251101-high-32k" TargetMode="External"/><Relationship Id="rId31" Type="http://schemas.openxmlformats.org/officeDocument/2006/relationships/hyperlink" Target="https://arena.ai/leaderboard/model/claude-fable-5.1-max" TargetMode="External"/><Relationship Id="rId4" Type="http://schemas.openxmlformats.org/officeDocument/2006/relationships/hyperlink" Target="https://lmarena.ai/leaderboard/text" TargetMode="External"/><Relationship Id="rId9" Type="http://schemas.openxmlformats.org/officeDocument/2006/relationships/hyperlink" Target="https://arena.ai/leaderboard/model/claude-opus-4-7" TargetMode="External"/><Relationship Id="rId14" Type="http://schemas.openxmlformats.org/officeDocument/2006/relationships/hyperlink" Target="https://arena.ai/leaderboard/model/muse-spark-1.2%20%28xHigh%29" TargetMode="External"/><Relationship Id="rId22" Type="http://schemas.openxmlformats.org/officeDocument/2006/relationships/hyperlink" Target="https://arena.ai/leaderboard/model/gpt-5.6-sol-xhigh" TargetMode="External"/><Relationship Id="rId27" Type="http://schemas.openxmlformats.org/officeDocument/2006/relationships/hyperlink" Target="https://arena.ai/leaderboard/model/glm-5.3-max" TargetMode="External"/><Relationship Id="rId30" Type="http://schemas.openxmlformats.org/officeDocument/2006/relationships/hyperlink" Target="https://arena.ai/leaderboard/model/mimo-v2.5-pro" TargetMode="External"/><Relationship Id="rId35" Type="http://schemas.openxmlformats.org/officeDocument/2006/relationships/hyperlink" Target="https://arena.ai/leaderboard/model/gpt-5.5-high" TargetMode="External"/><Relationship Id="rId8" Type="http://schemas.openxmlformats.org/officeDocument/2006/relationships/hyperlink" Target="https://arena.ai/leaderboard/model/claude-opus-4-6-high" TargetMode="External"/><Relationship Id="rId3" Type="http://schemas.openxmlformats.org/officeDocument/2006/relationships/hyperlink" Target="https://en.wikipedia.org/wiki/Elo_rating_system"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artificialanalysis.ai/evaluations/artificial-analysis-intelligence-index"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67GrBIaI3zc" TargetMode="External"/><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hyperlink" Target="https://openrouter.ai/stealth/union-alpha" TargetMode="External"/><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6.png"/><Relationship Id="rId5" Type="http://schemas.openxmlformats.org/officeDocument/2006/relationships/hyperlink" Target="https://www.youtube.com/watch?v=2Gu21Y4hgd8" TargetMode="External"/><Relationship Id="rId4" Type="http://schemas.openxmlformats.org/officeDocument/2006/relationships/hyperlink" Target="https://x.com/alexatallah/status/2100243109401469062"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hyperlink" Target="https://support.claude.com/en/articles/12138966-release-notes" TargetMode="External"/><Relationship Id="rId7" Type="http://schemas.openxmlformats.org/officeDocument/2006/relationships/hyperlink" Target="https://nypost.com/2026/09/22/us-news/trump-reveals-new-nickname-for-ai-and-lays-out-a-red-line-for-globalist-control-of-super-tech/" TargetMode="External"/><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8.jpeg"/><Relationship Id="rId5" Type="http://schemas.openxmlformats.org/officeDocument/2006/relationships/hyperlink" Target="https://code.claude.com/docs/en/model-config" TargetMode="External"/><Relationship Id="rId10" Type="http://schemas.openxmlformats.org/officeDocument/2006/relationships/image" Target="../media/image10.png"/><Relationship Id="rId4" Type="http://schemas.openxmlformats.org/officeDocument/2006/relationships/hyperlink" Target="https://platform.claude.com/docs/en/about-claude/pricing" TargetMode="External"/><Relationship Id="rId9" Type="http://schemas.openxmlformats.org/officeDocument/2006/relationships/hyperlink" Target="https://openai.com/index/introducing-gpt-6-sol-and-luna/"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eU1ICyI9bCs" TargetMode="External"/><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hyperlink" Target="https://docs.x.ai/developers/grok-4-7" TargetMode="External"/><Relationship Id="rId5" Type="http://schemas.openxmlformats.org/officeDocument/2006/relationships/hyperlink" Target="https://x.ai/news/grok-4-7" TargetMode="Externa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hyperlink" Target="https://arxiv.org/abs/2609.14858v1" TargetMode="External"/><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hyperlink" Target="https://arxiv.org/abs/2609.11873"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1.xml"/><Relationship Id="rId5" Type="http://schemas.openxmlformats.org/officeDocument/2006/relationships/hyperlink" Target="https://www.youtube.com/@lev-selector/videos" TargetMode="Externa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hyperlink" Target="https://thenewstack.io/aws-strands-harness-agent/" TargetMode="External"/><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hyperlink" Target="https://venturebeat.com/technology/better-than-deepseek-xiaomis-mimo-v2-6-pro-debuts-as-the-top-open-weights-model-in-the-world-alongside-cheaper-v2-6-flash"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s://www.youtube.com/watch?v=7RVf25Rg0Mc" TargetMode="External"/><Relationship Id="rId3" Type="http://schemas.openxmlformats.org/officeDocument/2006/relationships/hyperlink" Target="https://www.wsj.com/tech/ai/nvidia-jensen-huang-resists-ai-slowdown-334a24e1" TargetMode="External"/><Relationship Id="rId7" Type="http://schemas.openxmlformats.org/officeDocument/2006/relationships/hyperlink" Target="https://github.com/paperclipai/paperclip" TargetMode="External"/><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hyperlink" Target="https://paperclip.ing" TargetMode="External"/><Relationship Id="rId5" Type="http://schemas.openxmlformats.org/officeDocument/2006/relationships/image" Target="../media/image19.jpeg"/><Relationship Id="rId4" Type="http://schemas.openxmlformats.org/officeDocument/2006/relationships/hyperlink" Target="https://www.cnbc.com/2026/09/15/nvidia-and-anthropic-ceos-diverge-on-ai-safety-at-dreamforce.html" TargetMode="External"/><Relationship Id="rId9"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hyperlink" Target="https://agentos.guide/hermes-hud-engine" TargetMode="External"/><Relationship Id="rId7" Type="http://schemas.openxmlformats.org/officeDocument/2006/relationships/hyperlink" Target="https://indianexpress.com/article/world/indian-origin-researchers-use-claude-ai-breach-openai-systems-hacktron-10884340/lite/" TargetMode="External"/><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hyperlink" Target="https://thehackernews.com/2026/09/claude-opus-5-helped-researchers-take.html" TargetMode="External"/><Relationship Id="rId5" Type="http://schemas.openxmlformats.org/officeDocument/2006/relationships/hyperlink" Target="https://app.aiprofitagents.com" TargetMode="External"/><Relationship Id="rId4" Type="http://schemas.openxmlformats.org/officeDocument/2006/relationships/hyperlink" Target="https://agentos.guide/system.html" TargetMode="External"/><Relationship Id="rId9" Type="http://schemas.openxmlformats.org/officeDocument/2006/relationships/image" Target="../media/image22.png"/></Relationships>
</file>

<file path=ppt/slides/_rels/slide13.xml.rels><?xml version="1.0" encoding="UTF-8" standalone="yes"?>
<Relationships xmlns="http://schemas.openxmlformats.org/package/2006/relationships"><Relationship Id="rId8" Type="http://schemas.openxmlformats.org/officeDocument/2006/relationships/hyperlink" Target="https://www.alibabacloud.com/help/en/model-studio/qwen-omni" TargetMode="External"/><Relationship Id="rId3" Type="http://schemas.openxmlformats.org/officeDocument/2006/relationships/hyperlink" Target="https://prism-ml.github.io" TargetMode="External"/><Relationship Id="rId7" Type="http://schemas.openxmlformats.org/officeDocument/2006/relationships/hyperlink" Target="https://qwen.ai/blog?id=qwen3.8-omni-flash" TargetMode="External"/><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hyperlink" Target="https://www.youtube.com/watch?v=M6nv640H1Xo" TargetMode="External"/><Relationship Id="rId5" Type="http://schemas.openxmlformats.org/officeDocument/2006/relationships/hyperlink" Target="https://www.datacamp.com/blog/bonsai-2-27b" TargetMode="External"/><Relationship Id="rId10" Type="http://schemas.openxmlformats.org/officeDocument/2006/relationships/image" Target="../media/image24.png"/><Relationship Id="rId4" Type="http://schemas.openxmlformats.org/officeDocument/2006/relationships/hyperlink" Target="https://huggingface.co/prism-ml" TargetMode="External"/><Relationship Id="rId9" Type="http://schemas.openxmlformats.org/officeDocument/2006/relationships/image" Target="../media/image23.png"/></Relationships>
</file>

<file path=ppt/slides/_rels/slide14.xml.rels><?xml version="1.0" encoding="UTF-8" standalone="yes"?>
<Relationships xmlns="http://schemas.openxmlformats.org/package/2006/relationships"><Relationship Id="rId8" Type="http://schemas.openxmlformats.org/officeDocument/2006/relationships/hyperlink" Target="https://www.youtube.com/watch?v=tsWOiibaaxA" TargetMode="External"/><Relationship Id="rId3" Type="http://schemas.openxmlformats.org/officeDocument/2006/relationships/hyperlink" Target="https://bolt.new" TargetMode="External"/><Relationship Id="rId7" Type="http://schemas.openxmlformats.org/officeDocument/2006/relationships/hyperlink" Target="https://huggingface.co/Cactus-Compute/needle" TargetMode="External"/><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hyperlink" Target="https://cactuscompute.com/needle" TargetMode="External"/><Relationship Id="rId5" Type="http://schemas.openxmlformats.org/officeDocument/2006/relationships/hyperlink" Target="https://github.com/cactus-compute/needle" TargetMode="External"/><Relationship Id="rId4" Type="http://schemas.openxmlformats.org/officeDocument/2006/relationships/image" Target="../media/image25.png"/><Relationship Id="rId9"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hyperlink" Target="https://www.anthropic.com/institute/measuring-pace-of-ai-development" TargetMode="External"/><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image" Target="../media/image28.png"/><Relationship Id="rId5" Type="http://schemas.openxmlformats.org/officeDocument/2006/relationships/image" Target="../media/image27.jpeg"/><Relationship Id="rId4" Type="http://schemas.openxmlformats.org/officeDocument/2006/relationships/hyperlink" Target="https://blog.google/innovation-and-ai/models-and-research/google-labs/cc-expanding-to-groups"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hyperlink" Target="https://www.anthropic.com/research/claude-uplifts-biomolecular-modeling" TargetMode="External"/><Relationship Id="rId7"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image" Target="../media/image29.png"/><Relationship Id="rId5" Type="http://schemas.openxmlformats.org/officeDocument/2006/relationships/hyperlink" Target="https://typesafe.ai" TargetMode="External"/><Relationship Id="rId4" Type="http://schemas.openxmlformats.org/officeDocument/2006/relationships/hyperlink" Target="https://www.latent.space/p/ainews-here-are-6-clones-of-jev-in" TargetMode="External"/></Relationships>
</file>

<file path=ppt/slides/_rels/slide17.xml.rels><?xml version="1.0" encoding="UTF-8" standalone="yes"?>
<Relationships xmlns="http://schemas.openxmlformats.org/package/2006/relationships"><Relationship Id="rId8" Type="http://schemas.openxmlformats.org/officeDocument/2006/relationships/hyperlink" Target="https://openclaw.ai/blog/shipping-openclaw-updates-that-dont-break" TargetMode="External"/><Relationship Id="rId3" Type="http://schemas.openxmlformats.org/officeDocument/2006/relationships/hyperlink" Target="https://arena.ai/blog/coding-agents-harness-tax" TargetMode="External"/><Relationship Id="rId7" Type="http://schemas.openxmlformats.org/officeDocument/2006/relationships/hyperlink" Target="https://docs.openclaw.ai/releases/2026.9.5" TargetMode="External"/><Relationship Id="rId2" Type="http://schemas.openxmlformats.org/officeDocument/2006/relationships/notesSlide" Target="../notesSlides/notesSlide17.xml"/><Relationship Id="rId1" Type="http://schemas.openxmlformats.org/officeDocument/2006/relationships/slideLayout" Target="../slideLayouts/slideLayout11.xml"/><Relationship Id="rId6" Type="http://schemas.openxmlformats.org/officeDocument/2006/relationships/image" Target="../media/image32.png"/><Relationship Id="rId11" Type="http://schemas.openxmlformats.org/officeDocument/2006/relationships/image" Target="../media/image34.png"/><Relationship Id="rId5" Type="http://schemas.openxmlformats.org/officeDocument/2006/relationships/hyperlink" Target="https://help.aliyun.com/en/model-studio/qwen3-8-livetranslate-flash-realtime" TargetMode="External"/><Relationship Id="rId10" Type="http://schemas.openxmlformats.org/officeDocument/2006/relationships/image" Target="../media/image33.png"/><Relationship Id="rId4" Type="http://schemas.openxmlformats.org/officeDocument/2006/relationships/hyperlink" Target="https://qwen.ai/blog?id=qwen3.8-livetranslate" TargetMode="External"/><Relationship Id="rId9" Type="http://schemas.openxmlformats.org/officeDocument/2006/relationships/hyperlink" Target="https://www.youtube.com/watch?v=67oinOQYI-o" TargetMode="External"/></Relationships>
</file>

<file path=ppt/slides/_rels/slide18.xml.rels><?xml version="1.0" encoding="UTF-8" standalone="yes"?>
<Relationships xmlns="http://schemas.openxmlformats.org/package/2006/relationships"><Relationship Id="rId8" Type="http://schemas.openxmlformats.org/officeDocument/2006/relationships/hyperlink" Target="https://academy.claude.com/courses/ai-native-sdlc-playbook" TargetMode="External"/><Relationship Id="rId3" Type="http://schemas.openxmlformats.org/officeDocument/2006/relationships/hyperlink" Target="https://claude.com/blog/cowork-is-now-claude" TargetMode="External"/><Relationship Id="rId7" Type="http://schemas.openxmlformats.org/officeDocument/2006/relationships/hyperlink" Target="https://claude.com/blog/the-ai-native-sdlc-playbook" TargetMode="External"/><Relationship Id="rId2" Type="http://schemas.openxmlformats.org/officeDocument/2006/relationships/notesSlide" Target="../notesSlides/notesSlide18.xml"/><Relationship Id="rId1" Type="http://schemas.openxmlformats.org/officeDocument/2006/relationships/slideLayout" Target="../slideLayouts/slideLayout1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hyperlink" Target="https://claude.com/blog/projects-redesigned"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en.wikipedia.org/wiki/Frankenstein" TargetMode="External"/><Relationship Id="rId2" Type="http://schemas.openxmlformats.org/officeDocument/2006/relationships/notesSlide" Target="../notesSlides/notesSlide19.xml"/><Relationship Id="rId1" Type="http://schemas.openxmlformats.org/officeDocument/2006/relationships/slideLayout" Target="../slideLayouts/slideLayout11.xml"/><Relationship Id="rId5" Type="http://schemas.openxmlformats.org/officeDocument/2006/relationships/image" Target="../media/image38.png"/><Relationship Id="rId4" Type="http://schemas.openxmlformats.org/officeDocument/2006/relationships/image" Target="../media/image37.jpeg"/></Relationships>
</file>

<file path=ppt/slides/_rels/slide20.xml.rels><?xml version="1.0" encoding="UTF-8" standalone="yes"?>
<Relationships xmlns="http://schemas.openxmlformats.org/package/2006/relationships"><Relationship Id="rId3" Type="http://schemas.openxmlformats.org/officeDocument/2006/relationships/hyperlink" Target="https://developer.nvidia.com/blog/introducing-nvfp4-for-efficient-and-accurate-low-precision-inference/" TargetMode="External"/><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hyperlink" Target="https://techcrunch.com/2026/09/21/metas-ai-agent-has-been-blocked-from-using-amazon-com/" TargetMode="External"/><Relationship Id="rId2" Type="http://schemas.openxmlformats.org/officeDocument/2006/relationships/notesSlide" Target="../notesSlides/notesSlide21.xml"/><Relationship Id="rId1" Type="http://schemas.openxmlformats.org/officeDocument/2006/relationships/slideLayout" Target="../slideLayouts/slideLayout1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hyperlink" Target="https://www.cbsnews.com/news/trump-vows-ai-force-czar-development/"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the-decoder.com/gpt-6-astra-and-claude-fable-turn-robot-arms-into-slapstick-killer-robots-in-new-safety-benchmark/" TargetMode="External"/><Relationship Id="rId7"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11.xml"/><Relationship Id="rId6" Type="http://schemas.openxmlformats.org/officeDocument/2006/relationships/image" Target="../media/image42.png"/><Relationship Id="rId5" Type="http://schemas.openxmlformats.org/officeDocument/2006/relationships/hyperlink" Target="https://github.com/google/ax" TargetMode="External"/><Relationship Id="rId4" Type="http://schemas.openxmlformats.org/officeDocument/2006/relationships/hyperlink" Target="http://github.com/google/ax/cmd/ax@latest"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www.tobyord.com/writing/swarm-scaling" TargetMode="External"/><Relationship Id="rId2" Type="http://schemas.openxmlformats.org/officeDocument/2006/relationships/notesSlide" Target="../notesSlides/notesSlide23.xml"/><Relationship Id="rId1" Type="http://schemas.openxmlformats.org/officeDocument/2006/relationships/slideLayout" Target="../slideLayouts/slideLayout11.xml"/><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8" Type="http://schemas.openxmlformats.org/officeDocument/2006/relationships/image" Target="../media/image46.jpeg"/><Relationship Id="rId3" Type="http://schemas.openxmlformats.org/officeDocument/2006/relationships/hyperlink" Target="https://www.youtube.com/watch?v=UzJ4wndMTjU" TargetMode="External"/><Relationship Id="rId7"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11.xml"/><Relationship Id="rId6" Type="http://schemas.openxmlformats.org/officeDocument/2006/relationships/hyperlink" Target="https://www.youtube.com/watch?v=qmKZI9zwHmk" TargetMode="External"/><Relationship Id="rId5" Type="http://schemas.openxmlformats.org/officeDocument/2006/relationships/hyperlink" Target="https://www.linkedin.com/posts/juliangoldieseo_new-hermes-astros-is-absoultely-wild-activity-7493895980447113216-iFvO%5D(https:/www.linkedin.com/posts/juliangoldieseo_new-hermes-astros-is-absoultely-wild-activity-7493895980447113216-iFvO)" TargetMode="External"/><Relationship Id="rId4" Type="http://schemas.openxmlformats.org/officeDocument/2006/relationships/hyperlink" Target="https://aiprofitboardroom.com/" TargetMode="External"/></Relationships>
</file>

<file path=ppt/slides/_rels/slide25.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hyperlink" Target="https://www.anthropic.com/constitution" TargetMode="External"/><Relationship Id="rId7" Type="http://schemas.openxmlformats.org/officeDocument/2006/relationships/hyperlink" Target="https://www.youtube.com/watch?v=H7KruLVX2Rk" TargetMode="External"/><Relationship Id="rId2" Type="http://schemas.openxmlformats.org/officeDocument/2006/relationships/notesSlide" Target="../notesSlides/notesSlide25.xml"/><Relationship Id="rId1" Type="http://schemas.openxmlformats.org/officeDocument/2006/relationships/slideLayout" Target="../slideLayouts/slideLayout11.xml"/><Relationship Id="rId6" Type="http://schemas.openxmlformats.org/officeDocument/2006/relationships/hyperlink" Target="https://www.anthropic.com/news/claude-discovers-novel-enzyme-system" TargetMode="External"/><Relationship Id="rId5" Type="http://schemas.openxmlformats.org/officeDocument/2006/relationships/hyperlink" Target="https://www.youtube.com/watch?v=FX5o-x7k9pU" TargetMode="External"/><Relationship Id="rId10" Type="http://schemas.openxmlformats.org/officeDocument/2006/relationships/image" Target="../media/image49.jpeg"/><Relationship Id="rId4" Type="http://schemas.openxmlformats.org/officeDocument/2006/relationships/hyperlink" Target="https://time.com/7354738/claude-constitution-ai-alignment/%5D(https:/time.com/7354738/claude-constitution-ai-alignment/)" TargetMode="External"/><Relationship Id="rId9" Type="http://schemas.openxmlformats.org/officeDocument/2006/relationships/image" Target="../media/image48.png"/></Relationships>
</file>

<file path=ppt/slides/_rels/slide26.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hyperlink" Target="https://siliconangle.com/2026/09/16/cohere-and-aleph-alpha-agree-to-merge-in-reported-20b-deal/" TargetMode="External"/><Relationship Id="rId7" Type="http://schemas.openxmlformats.org/officeDocument/2006/relationships/image" Target="../media/image51.png"/><Relationship Id="rId2" Type="http://schemas.openxmlformats.org/officeDocument/2006/relationships/notesSlide" Target="../notesSlides/notesSlide26.xml"/><Relationship Id="rId1" Type="http://schemas.openxmlformats.org/officeDocument/2006/relationships/slideLayout" Target="../slideLayouts/slideLayout11.xml"/><Relationship Id="rId6" Type="http://schemas.openxmlformats.org/officeDocument/2006/relationships/image" Target="../media/image50.png"/><Relationship Id="rId5" Type="http://schemas.openxmlformats.org/officeDocument/2006/relationships/hyperlink" Target="https://developer.meta.com/ai/models/sam-3-1/" TargetMode="External"/><Relationship Id="rId4" Type="http://schemas.openxmlformats.org/officeDocument/2006/relationships/hyperlink" Target="https://thenextweb.com/news/openai-856bn-compute-vs-600bn-reset-burn-improved"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7.xml"/><Relationship Id="rId1" Type="http://schemas.openxmlformats.org/officeDocument/2006/relationships/slideLayout" Target="../slideLayouts/slideLayout11.xml"/><Relationship Id="rId5" Type="http://schemas.openxmlformats.org/officeDocument/2006/relationships/image" Target="../media/image55.png"/><Relationship Id="rId4" Type="http://schemas.openxmlformats.org/officeDocument/2006/relationships/image" Target="../media/image54.jpeg"/></Relationships>
</file>

<file path=ppt/slides/_rels/slide28.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28.xml"/><Relationship Id="rId1" Type="http://schemas.openxmlformats.org/officeDocument/2006/relationships/slideLayout" Target="../slideLayouts/slideLayout11.xml"/><Relationship Id="rId6" Type="http://schemas.openxmlformats.org/officeDocument/2006/relationships/image" Target="../media/image57.jpeg"/><Relationship Id="rId5" Type="http://schemas.openxmlformats.org/officeDocument/2006/relationships/image" Target="../media/image56.jpeg"/><Relationship Id="rId4" Type="http://schemas.openxmlformats.org/officeDocument/2006/relationships/hyperlink" Target="https://trueup.io/layoffs"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eais.ai" TargetMode="External"/><Relationship Id="rId2" Type="http://schemas.openxmlformats.org/officeDocument/2006/relationships/notesSlide" Target="../notesSlides/notesSlide29.xml"/><Relationship Id="rId1" Type="http://schemas.openxmlformats.org/officeDocument/2006/relationships/slideLayout" Target="../slideLayouts/slideLayout11.xml"/><Relationship Id="rId4" Type="http://schemas.openxmlformats.org/officeDocument/2006/relationships/image" Target="../media/image58.jpeg"/></Relationships>
</file>

<file path=ppt/slides/_rels/slide30.xml.rels><?xml version="1.0" encoding="UTF-8" standalone="yes"?>
<Relationships xmlns="http://schemas.openxmlformats.org/package/2006/relationships"><Relationship Id="rId3" Type="http://schemas.openxmlformats.org/officeDocument/2006/relationships/hyperlink" Target="https://www.youtube.com/@lev-selector" TargetMode="External"/><Relationship Id="rId2" Type="http://schemas.openxmlformats.org/officeDocument/2006/relationships/notesSlide" Target="../notesSlides/notesSlide30.xml"/><Relationship Id="rId1" Type="http://schemas.openxmlformats.org/officeDocument/2006/relationships/slideLayout" Target="../slideLayouts/slideLayout11.xml"/><Relationship Id="rId5" Type="http://schemas.openxmlformats.org/officeDocument/2006/relationships/hyperlink" Target="https://drive.google.com/drive/folders/1dmj00iilSP-JYmriMUUaHCKz5X54e3UX?ths=true" TargetMode="External"/><Relationship Id="rId4" Type="http://schemas.openxmlformats.org/officeDocument/2006/relationships/hyperlink" Target="https://github.com/lselector/semina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36576" y="-27432"/>
            <a:ext cx="3024300" cy="38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latin typeface="Calibri"/>
                <a:ea typeface="Calibri"/>
                <a:cs typeface="Calibri"/>
                <a:sym typeface="Calibri"/>
              </a:rPr>
              <a:t>AI News - Sept 25, 2026</a:t>
            </a:r>
            <a:endParaRPr sz="2000" b="1">
              <a:latin typeface="Calibri"/>
              <a:ea typeface="Calibri"/>
              <a:cs typeface="Calibri"/>
              <a:sym typeface="Calibri"/>
            </a:endParaRPr>
          </a:p>
        </p:txBody>
      </p:sp>
      <p:sp>
        <p:nvSpPr>
          <p:cNvPr id="55" name="Google Shape;55;p13"/>
          <p:cNvSpPr txBox="1"/>
          <p:nvPr/>
        </p:nvSpPr>
        <p:spPr>
          <a:xfrm>
            <a:off x="4777977" y="27425"/>
            <a:ext cx="4329300" cy="295500"/>
          </a:xfrm>
          <a:prstGeom prst="rect">
            <a:avLst/>
          </a:prstGeom>
          <a:solidFill>
            <a:srgbClr val="FFFF00"/>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800" b="1" i="1">
                <a:solidFill>
                  <a:srgbClr val="FF0000"/>
                </a:solidFill>
                <a:latin typeface="Calibri"/>
                <a:ea typeface="Calibri"/>
                <a:cs typeface="Calibri"/>
                <a:sym typeface="Calibri"/>
              </a:rPr>
              <a:t>5x Times Less Cost - Depends on Harness</a:t>
            </a:r>
            <a:endParaRPr sz="1800" b="1" i="1">
              <a:solidFill>
                <a:srgbClr val="FF0000"/>
              </a:solidFill>
              <a:latin typeface="Calibri"/>
              <a:ea typeface="Calibri"/>
              <a:cs typeface="Calibri"/>
              <a:sym typeface="Calibri"/>
            </a:endParaRPr>
          </a:p>
        </p:txBody>
      </p:sp>
      <p:sp>
        <p:nvSpPr>
          <p:cNvPr id="56" name="Google Shape;56;p13"/>
          <p:cNvSpPr txBox="1"/>
          <p:nvPr/>
        </p:nvSpPr>
        <p:spPr>
          <a:xfrm>
            <a:off x="78174" y="476375"/>
            <a:ext cx="31797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Crowd-sourced LM Arena</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Artificial Analysis Intelligence Index</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Sept 24</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Union Alpha stealth model on OpenRouter</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Claude Opus 5.5 - Sept 22</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OpenAI GPT-6 Sol and Luna</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Trump Suggest Better Name for AI</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Muse - Personal AI Agent</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xAI Grok 4.7</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Dream-RSI and AI Self-Improvement</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AWS Strands Agent Harness</a:t>
            </a:r>
            <a:endParaRPr sz="1200" b="1">
              <a:solidFill>
                <a:srgbClr val="4472C4"/>
              </a:solidFill>
              <a:latin typeface="Calibri"/>
              <a:ea typeface="Calibri"/>
              <a:cs typeface="Calibri"/>
              <a:sym typeface="Calibri"/>
            </a:endParaRPr>
          </a:p>
        </p:txBody>
      </p:sp>
      <p:sp>
        <p:nvSpPr>
          <p:cNvPr id="57" name="Google Shape;57;p13"/>
          <p:cNvSpPr txBox="1"/>
          <p:nvPr/>
        </p:nvSpPr>
        <p:spPr>
          <a:xfrm>
            <a:off x="78174" y="2590942"/>
            <a:ext cx="3179700" cy="2419500"/>
          </a:xfrm>
          <a:prstGeom prst="rect">
            <a:avLst/>
          </a:prstGeom>
          <a:solidFill>
            <a:srgbClr val="E2F0D9"/>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Xiaomi MiMo-V2.6-Pro and -Flash</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AI Safety: Speed vs. Slowdown</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Paperclip: Agents Organized as a Company</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Custom AI-Agent HUD Overlay</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Researches Hacked OpenAI Using Claude</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Bonsai 2 - a tiny local AI</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Qwen3.8-Omni-Flash</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Bolt.new Forge - use Open Models</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Needle 8-29 MB Model for Offline Action</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Claude leads 26% of Anthropic's AI R&amp;D work</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Google Family Agent</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Claude biomolecular modeling 4 times faster</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Six Open Clones of Jev</a:t>
            </a:r>
            <a:endParaRPr sz="1200" b="1">
              <a:solidFill>
                <a:srgbClr val="4472C4"/>
              </a:solidFill>
              <a:latin typeface="Calibri"/>
              <a:ea typeface="Calibri"/>
              <a:cs typeface="Calibri"/>
              <a:sym typeface="Calibri"/>
            </a:endParaRPr>
          </a:p>
        </p:txBody>
      </p:sp>
      <p:sp>
        <p:nvSpPr>
          <p:cNvPr id="58" name="Google Shape;58;p13"/>
          <p:cNvSpPr txBox="1"/>
          <p:nvPr/>
        </p:nvSpPr>
        <p:spPr>
          <a:xfrm>
            <a:off x="3356410" y="491400"/>
            <a:ext cx="3090300" cy="1496100"/>
          </a:xfrm>
          <a:prstGeom prst="rect">
            <a:avLst/>
          </a:prstGeom>
          <a:solidFill>
            <a:srgbClr val="DEEBF7"/>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Up to 5x cost diff for Harnesses</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Qwen3.8-LiveTranslate</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OpenClaw 2026.9.5 Safe Updates</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Claude merges chat and Cowork</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Claude Code Projects</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Anthropic’s AI-Native SDLC Playbook</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Frankenstein by Mary Shelley (1818)</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NVIDIA NVFP4 4-Bit Format</a:t>
            </a:r>
            <a:endParaRPr sz="1200" b="1">
              <a:solidFill>
                <a:srgbClr val="4472C4"/>
              </a:solidFill>
              <a:latin typeface="Calibri"/>
              <a:ea typeface="Calibri"/>
              <a:cs typeface="Calibri"/>
              <a:sym typeface="Calibri"/>
            </a:endParaRPr>
          </a:p>
        </p:txBody>
      </p:sp>
      <p:sp>
        <p:nvSpPr>
          <p:cNvPr id="59" name="Google Shape;59;p13"/>
          <p:cNvSpPr txBox="1"/>
          <p:nvPr/>
        </p:nvSpPr>
        <p:spPr>
          <a:xfrm>
            <a:off x="3356410" y="2056095"/>
            <a:ext cx="30903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Amazon Blocks Meta's Muse Agent</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Trump's AI Force and AI Czar</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Do AI Models Refuse Harmful Tasks ?</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Google AX (Agent Executor)</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Swarms Are Expensive</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Neocloud - cloud provider for AI</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Hermes Astros: Automated Content Radar</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Claude’s Constitution</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Claude DNA Discovery</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Cohere + Aleph Alpha = $20 Bln merger</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OpenAI eyes $1.5 Trillion valuation</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Meta SAM 3.1 - Segment Anything Model</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Meta Connect 2026 Event</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NVIDIA SoL-Pi Uses x2 Less Tokens</a:t>
            </a:r>
            <a:endParaRPr sz="1200" b="1">
              <a:solidFill>
                <a:srgbClr val="4472C4"/>
              </a:solidFill>
              <a:latin typeface="Calibri"/>
              <a:ea typeface="Calibri"/>
              <a:cs typeface="Calibri"/>
              <a:sym typeface="Calibri"/>
            </a:endParaRPr>
          </a:p>
          <a:p>
            <a:pPr marL="171450" lvl="0" indent="-133350" algn="l" rtl="0">
              <a:spcBef>
                <a:spcPts val="0"/>
              </a:spcBef>
              <a:spcAft>
                <a:spcPts val="0"/>
              </a:spcAft>
              <a:buClr>
                <a:srgbClr val="4472C4"/>
              </a:buClr>
              <a:buSzPts val="1200"/>
              <a:buFont typeface="Calibri"/>
              <a:buChar char="●"/>
            </a:pPr>
            <a:r>
              <a:rPr lang="en" sz="1200" b="1">
                <a:solidFill>
                  <a:srgbClr val="4472C4"/>
                </a:solidFill>
                <a:latin typeface="Calibri"/>
                <a:ea typeface="Calibri"/>
                <a:cs typeface="Calibri"/>
                <a:sym typeface="Calibri"/>
              </a:rPr>
              <a:t>Jobs &amp; Layoffs</a:t>
            </a:r>
            <a:endParaRPr sz="1200" b="1">
              <a:solidFill>
                <a:srgbClr val="4472C4"/>
              </a:solidFill>
              <a:latin typeface="Calibri"/>
              <a:ea typeface="Calibri"/>
              <a:cs typeface="Calibri"/>
              <a:sym typeface="Calibri"/>
            </a:endParaRPr>
          </a:p>
        </p:txBody>
      </p:sp>
      <p:pic>
        <p:nvPicPr>
          <p:cNvPr id="60" name="Google Shape;60;p13"/>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7195360" y="1878555"/>
            <a:ext cx="1025925" cy="1386375"/>
          </a:xfrm>
          <a:prstGeom prst="rect">
            <a:avLst/>
          </a:prstGeom>
          <a:noFill/>
          <a:ln w="9525" cap="flat" cmpd="sng">
            <a:solidFill>
              <a:srgbClr val="FF0000"/>
            </a:solidFill>
            <a:prstDash val="solid"/>
            <a:round/>
            <a:headEnd type="none" w="sm" len="sm"/>
            <a:tailEnd type="none" w="sm" len="sm"/>
          </a:ln>
        </p:spPr>
      </p:pic>
      <p:pic>
        <p:nvPicPr>
          <p:cNvPr id="61" name="Google Shape;61;p13"/>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6904210" y="3359355"/>
            <a:ext cx="1608201" cy="1614725"/>
          </a:xfrm>
          <a:prstGeom prst="rect">
            <a:avLst/>
          </a:prstGeom>
          <a:noFill/>
          <a:ln w="9525" cap="flat" cmpd="sng">
            <a:solidFill>
              <a:srgbClr val="FF0000"/>
            </a:solidFill>
            <a:prstDash val="solid"/>
            <a:round/>
            <a:headEnd type="none" w="sm" len="sm"/>
            <a:tailEnd type="none" w="sm" len="sm"/>
          </a:ln>
        </p:spPr>
      </p:pic>
      <p:pic>
        <p:nvPicPr>
          <p:cNvPr id="62" name="Google Shape;62;p1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821039" y="668825"/>
            <a:ext cx="2036499" cy="10182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68" name="Google Shape;68;p14"/>
          <p:cNvSpPr txBox="1"/>
          <p:nvPr/>
        </p:nvSpPr>
        <p:spPr>
          <a:xfrm>
            <a:off x="38150" y="2125"/>
            <a:ext cx="2599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"LM Arena" Leaderboard</a:t>
            </a:r>
            <a:endParaRPr sz="1800" b="1" i="0" u="none" strike="noStrike" cap="none">
              <a:solidFill>
                <a:srgbClr val="000000"/>
              </a:solidFill>
              <a:latin typeface="Calibri"/>
              <a:ea typeface="Calibri"/>
              <a:cs typeface="Calibri"/>
              <a:sym typeface="Calibri"/>
            </a:endParaRPr>
          </a:p>
        </p:txBody>
      </p:sp>
      <p:sp>
        <p:nvSpPr>
          <p:cNvPr id="69" name="Google Shape;69;p14"/>
          <p:cNvSpPr txBox="1"/>
          <p:nvPr/>
        </p:nvSpPr>
        <p:spPr>
          <a:xfrm>
            <a:off x="52418" y="476072"/>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0" name="Google Shape;70;p14"/>
          <p:cNvSpPr txBox="1"/>
          <p:nvPr/>
        </p:nvSpPr>
        <p:spPr>
          <a:xfrm>
            <a:off x="2726905" y="476078"/>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1" name="Google Shape;71;p14"/>
          <p:cNvSpPr txBox="1"/>
          <p:nvPr/>
        </p:nvSpPr>
        <p:spPr>
          <a:xfrm>
            <a:off x="3437903"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noAutofit/>
          </a:bodyPr>
          <a:lstStyle/>
          <a:p>
            <a:pPr marL="0" marR="0" lvl="0" indent="0" algn="ctr" rtl="0">
              <a:lnSpc>
                <a:spcPct val="100000"/>
              </a:lnSpc>
              <a:spcBef>
                <a:spcPts val="0"/>
              </a:spcBef>
              <a:spcAft>
                <a:spcPts val="0"/>
              </a:spcAft>
              <a:buNone/>
            </a:pPr>
            <a:r>
              <a:rPr lang="en" sz="1000">
                <a:latin typeface="Calibri"/>
                <a:ea typeface="Calibri"/>
                <a:cs typeface="Calibri"/>
                <a:sym typeface="Calibri"/>
              </a:rPr>
              <a:t>Data for Sept 13</a:t>
            </a:r>
            <a:endParaRPr sz="1000">
              <a:latin typeface="Calibri"/>
              <a:ea typeface="Calibri"/>
              <a:cs typeface="Calibri"/>
              <a:sym typeface="Calibri"/>
            </a:endParaRPr>
          </a:p>
        </p:txBody>
      </p:sp>
      <p:graphicFrame>
        <p:nvGraphicFramePr>
          <p:cNvPr id="72" name="Google Shape;72;p14"/>
          <p:cNvGraphicFramePr/>
          <p:nvPr/>
        </p:nvGraphicFramePr>
        <p:xfrm>
          <a:off x="5742420" y="430065"/>
          <a:ext cx="3000000" cy="3000000"/>
        </p:xfrm>
        <a:graphic>
          <a:graphicData uri="http://schemas.openxmlformats.org/drawingml/2006/table">
            <a:tbl>
              <a:tblPr>
                <a:noFill/>
                <a:tableStyleId>{F034AEF8-0212-407F-93D4-69406776D059}</a:tableStyleId>
              </a:tblPr>
              <a:tblGrid>
                <a:gridCol w="219050">
                  <a:extLst>
                    <a:ext uri="{9D8B030D-6E8A-4147-A177-3AD203B41FA5}">
                      <a16:colId xmlns:a16="http://schemas.microsoft.com/office/drawing/2014/main" val="20000"/>
                    </a:ext>
                  </a:extLst>
                </a:gridCol>
                <a:gridCol w="585450">
                  <a:extLst>
                    <a:ext uri="{9D8B030D-6E8A-4147-A177-3AD203B41FA5}">
                      <a16:colId xmlns:a16="http://schemas.microsoft.com/office/drawing/2014/main" val="20001"/>
                    </a:ext>
                  </a:extLst>
                </a:gridCol>
              </a:tblGrid>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solidFill>
                      <a:srgbClr val="4472C4"/>
                    </a:solidFill>
                  </a:tcPr>
                </a:tc>
                <a:tc>
                  <a:txBody>
                    <a:bodyPr/>
                    <a:lstStyle/>
                    <a:p>
                      <a:pPr marL="0" lvl="0" indent="0" algn="l" rtl="0">
                        <a:spcBef>
                          <a:spcPts val="0"/>
                        </a:spcBef>
                        <a:spcAft>
                          <a:spcPts val="0"/>
                        </a:spcAft>
                        <a:buNone/>
                      </a:pPr>
                      <a:r>
                        <a:rPr lang="en" sz="800">
                          <a:latin typeface="Calibri"/>
                          <a:ea typeface="Calibri"/>
                          <a:cs typeface="Calibri"/>
                          <a:sym typeface="Calibri"/>
                        </a:rPr>
                        <a:t>Claude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solidFill>
                      <a:srgbClr val="FF0000"/>
                    </a:solidFill>
                  </a:tcPr>
                </a:tc>
                <a:tc>
                  <a:txBody>
                    <a:bodyPr/>
                    <a:lstStyle/>
                    <a:p>
                      <a:pPr marL="0" lvl="0" indent="0" algn="l" rtl="0">
                        <a:spcBef>
                          <a:spcPts val="0"/>
                        </a:spcBef>
                        <a:spcAft>
                          <a:spcPts val="0"/>
                        </a:spcAft>
                        <a:buNone/>
                      </a:pPr>
                      <a:r>
                        <a:rPr lang="en" sz="800">
                          <a:latin typeface="Calibri"/>
                          <a:ea typeface="Calibri"/>
                          <a:cs typeface="Calibri"/>
                          <a:sym typeface="Calibri"/>
                        </a:rPr>
                        <a:t>Gemini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solidFill>
                      <a:srgbClr val="FFD700"/>
                    </a:solidFill>
                  </a:tcPr>
                </a:tc>
                <a:tc>
                  <a:txBody>
                    <a:bodyPr/>
                    <a:lstStyle/>
                    <a:p>
                      <a:pPr marL="0" lvl="0" indent="0" algn="l" rtl="0">
                        <a:spcBef>
                          <a:spcPts val="0"/>
                        </a:spcBef>
                        <a:spcAft>
                          <a:spcPts val="0"/>
                        </a:spcAft>
                        <a:buNone/>
                      </a:pPr>
                      <a:r>
                        <a:rPr lang="en" sz="800">
                          <a:latin typeface="Calibri"/>
                          <a:ea typeface="Calibri"/>
                          <a:cs typeface="Calibri"/>
                          <a:sym typeface="Calibri"/>
                        </a:rPr>
                        <a:t>OpenAI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solidFill>
                      <a:srgbClr val="00B050"/>
                    </a:solidFill>
                  </a:tcPr>
                </a:tc>
                <a:tc>
                  <a:txBody>
                    <a:bodyPr/>
                    <a:lstStyle/>
                    <a:p>
                      <a:pPr marL="0" lvl="0" indent="0" algn="l" rtl="0">
                        <a:spcBef>
                          <a:spcPts val="0"/>
                        </a:spcBef>
                        <a:spcAft>
                          <a:spcPts val="0"/>
                        </a:spcAft>
                        <a:buNone/>
                      </a:pPr>
                      <a:r>
                        <a:rPr lang="en" sz="800">
                          <a:latin typeface="Calibri"/>
                          <a:ea typeface="Calibri"/>
                          <a:cs typeface="Calibri"/>
                          <a:sym typeface="Calibri"/>
                        </a:rPr>
                        <a:t>Open Source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3"/>
                  </a:ext>
                </a:extLst>
              </a:tr>
            </a:tbl>
          </a:graphicData>
        </a:graphic>
      </p:graphicFrame>
      <p:sp>
        <p:nvSpPr>
          <p:cNvPr id="73" name="Google Shape;73;p14"/>
          <p:cNvSpPr txBox="1"/>
          <p:nvPr/>
        </p:nvSpPr>
        <p:spPr>
          <a:xfrm>
            <a:off x="6838390" y="485738"/>
            <a:ext cx="2152500" cy="2173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Fable-5 - 6TB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Opus-4.8 - 5TB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Sonnet-4.5 - 1TB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Sonnet-5 - ?</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GLM-5.3 - 744B </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Meta muse-spark - 16 x 70B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Qwen3.7-max-preview - 745B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Qwen3.8-max - 2.4TB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Baidu Ernie-5.1 - 800B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Deepseek-v4 - 1.6T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highlight>
                  <a:srgbClr val="C9DAF8"/>
                </a:highlight>
                <a:latin typeface="Calibri"/>
                <a:ea typeface="Calibri"/>
                <a:cs typeface="Calibri"/>
                <a:sym typeface="Calibri"/>
              </a:rPr>
              <a:t>Kimi-k3 - 2.8T</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Xiaomi MiMo-V2.5-Pro - 1T+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solidFill>
                  <a:schemeClr val="dk1"/>
                </a:solidFill>
                <a:latin typeface="Calibri"/>
                <a:ea typeface="Calibri"/>
                <a:cs typeface="Calibri"/>
                <a:sym typeface="Calibri"/>
              </a:rPr>
              <a:t>ByteDance </a:t>
            </a:r>
            <a:r>
              <a:rPr lang="en" sz="1000">
                <a:latin typeface="Calibri"/>
                <a:ea typeface="Calibri"/>
                <a:cs typeface="Calibri"/>
                <a:sym typeface="Calibri"/>
              </a:rPr>
              <a:t>dola-seed-2.0-pro 400B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Minimax M3  -  456B</a:t>
            </a:r>
            <a:endParaRPr sz="1000">
              <a:latin typeface="Calibri"/>
              <a:ea typeface="Calibri"/>
              <a:cs typeface="Calibri"/>
              <a:sym typeface="Calibri"/>
            </a:endParaRPr>
          </a:p>
        </p:txBody>
      </p:sp>
      <p:graphicFrame>
        <p:nvGraphicFramePr>
          <p:cNvPr id="74" name="Google Shape;74;p14"/>
          <p:cNvGraphicFramePr/>
          <p:nvPr/>
        </p:nvGraphicFramePr>
        <p:xfrm>
          <a:off x="3075200" y="742403"/>
          <a:ext cx="3000000" cy="3000000"/>
        </p:xfrm>
        <a:graphic>
          <a:graphicData uri="http://schemas.openxmlformats.org/drawingml/2006/table">
            <a:tbl>
              <a:tblPr>
                <a:noFill/>
                <a:tableStyleId>{F034AEF8-0212-407F-93D4-69406776D059}</a:tableStyleId>
              </a:tblPr>
              <a:tblGrid>
                <a:gridCol w="276225">
                  <a:extLst>
                    <a:ext uri="{9D8B030D-6E8A-4147-A177-3AD203B41FA5}">
                      <a16:colId xmlns:a16="http://schemas.microsoft.com/office/drawing/2014/main" val="20000"/>
                    </a:ext>
                  </a:extLst>
                </a:gridCol>
                <a:gridCol w="1562100">
                  <a:extLst>
                    <a:ext uri="{9D8B030D-6E8A-4147-A177-3AD203B41FA5}">
                      <a16:colId xmlns:a16="http://schemas.microsoft.com/office/drawing/2014/main" val="20001"/>
                    </a:ext>
                  </a:extLst>
                </a:gridCol>
                <a:gridCol w="295275">
                  <a:extLst>
                    <a:ext uri="{9D8B030D-6E8A-4147-A177-3AD203B41FA5}">
                      <a16:colId xmlns:a16="http://schemas.microsoft.com/office/drawing/2014/main" val="20002"/>
                    </a:ext>
                  </a:extLst>
                </a:gridCol>
              </a:tblGrid>
              <a:tr h="133350">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6"/>
                        </a:rPr>
                        <a:t>claude-fable-5-high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7"/>
                        </a:rPr>
                        <a:t>claude-opus-4-7-high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8"/>
                        </a:rPr>
                        <a:t>claude-opus-4-6-high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9"/>
                        </a:rPr>
                        <a:t>claude-opus-4-7</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0"/>
                        </a:rPr>
                        <a:t>claude-opus-4-6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1"/>
                        </a:rPr>
                        <a:t>gpt-6-astra-max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2"/>
                        </a:rPr>
                        <a:t>kimi-k3-max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3"/>
                        </a:rPr>
                        <a:t>muse-spark-1.3-max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4"/>
                        </a:rPr>
                        <a:t>muse-spark-1.2 (xHigh)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5"/>
                        </a:rPr>
                        <a:t>gemini-3.8-flash-high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6"/>
                        </a:rPr>
                        <a:t>claude-opus-4-8-high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7"/>
                        </a:rPr>
                        <a:t>claude-opus-5-high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23812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8"/>
                        </a:rPr>
                        <a:t>muse-spark-1.1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claude-opus-4-5-20251101-high-32k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claude-opus-4-8</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claude-sonnet-4-6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gpt-5.6-sol-xhigh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claude-opus-5-max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muse-spark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5"/>
                        </a:rPr>
                        <a:t>glm-5.3-flash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qwen3.7-max-preview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7"/>
                        </a:rPr>
                        <a:t>glm-5.3-max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8"/>
                        </a:rPr>
                        <a:t>claude-opus-4-5-20251101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9"/>
                        </a:rPr>
                        <a:t>qwen3.8-max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0"/>
                        </a:rPr>
                        <a:t>mimo-v2.5-pro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graphicFrame>
        <p:nvGraphicFramePr>
          <p:cNvPr id="75" name="Google Shape;75;p14"/>
          <p:cNvGraphicFramePr/>
          <p:nvPr/>
        </p:nvGraphicFramePr>
        <p:xfrm>
          <a:off x="423650" y="745044"/>
          <a:ext cx="3000000" cy="3000000"/>
        </p:xfrm>
        <a:graphic>
          <a:graphicData uri="http://schemas.openxmlformats.org/drawingml/2006/table">
            <a:tbl>
              <a:tblPr>
                <a:noFill/>
                <a:tableStyleId>{F034AEF8-0212-407F-93D4-69406776D059}</a:tableStyleId>
              </a:tblPr>
              <a:tblGrid>
                <a:gridCol w="276225">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295275">
                  <a:extLst>
                    <a:ext uri="{9D8B030D-6E8A-4147-A177-3AD203B41FA5}">
                      <a16:colId xmlns:a16="http://schemas.microsoft.com/office/drawing/2014/main" val="20002"/>
                    </a:ext>
                  </a:extLst>
                </a:gridCol>
              </a:tblGrid>
              <a:tr h="133350">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6"/>
                        </a:rPr>
                        <a:t>claude-fable-5-high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8"/>
                        </a:rPr>
                        <a:t>claude-opus-4-6-high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7"/>
                        </a:rPr>
                        <a:t>claude-opus-4-7-high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4"/>
                        </a:rPr>
                        <a:t>muse-spark-1.2 (xHigh)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1"/>
                        </a:rPr>
                        <a:t>claude-fable-5.1-max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0"/>
                        </a:rPr>
                        <a:t>claude-opus-4-6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9"/>
                        </a:rPr>
                        <a:t>claude-opus-4-7</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3"/>
                        </a:rPr>
                        <a:t>muse-spark-1.3-max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5"/>
                        </a:rPr>
                        <a:t>gemini-3.8-flash-high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7"/>
                        </a:rPr>
                        <a:t>claude-opus-5-high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8"/>
                        </a:rPr>
                        <a:t>muse-spark-1.1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2"/>
                        </a:rPr>
                        <a:t>gemini-3.7-flash-high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muse-spark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claude-opus-5-max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3"/>
                        </a:rPr>
                        <a:t>gemini-3.1-pro-preview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4"/>
                        </a:rPr>
                        <a:t>gemini-3-pro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2"/>
                        </a:rPr>
                        <a:t>kimi-k3-max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gpt-5.6-sol-xhigh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7"/>
                        </a:rPr>
                        <a:t>glm-5.3-max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5"/>
                        </a:rPr>
                        <a:t>gpt-5.5-high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6"/>
                        </a:rPr>
                        <a:t>claude-opus-4-8-high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9"/>
                        </a:rPr>
                        <a:t>qwen3.8-max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6"/>
                        </a:rPr>
                        <a:t>gemini-3.6-flash-high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1"/>
                        </a:rPr>
                        <a:t>gpt-6-astra-max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7"/>
                        </a:rPr>
                        <a:t>gemini-3.5-flash-high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5"/>
          <p:cNvSpPr txBox="1"/>
          <p:nvPr/>
        </p:nvSpPr>
        <p:spPr>
          <a:xfrm>
            <a:off x="38150" y="2125"/>
            <a:ext cx="44937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a:solidFill>
                  <a:schemeClr val="dk1"/>
                </a:solidFill>
                <a:latin typeface="Calibri"/>
                <a:ea typeface="Calibri"/>
                <a:cs typeface="Calibri"/>
                <a:sym typeface="Calibri"/>
              </a:rPr>
              <a:t>Artificial Analysis Intelligence Index</a:t>
            </a:r>
            <a:endParaRPr sz="1800" b="1" i="0" u="none" strike="noStrike" cap="none">
              <a:solidFill>
                <a:srgbClr val="000000"/>
              </a:solidFill>
              <a:latin typeface="Calibri"/>
              <a:ea typeface="Calibri"/>
              <a:cs typeface="Calibri"/>
              <a:sym typeface="Calibri"/>
            </a:endParaRPr>
          </a:p>
        </p:txBody>
      </p:sp>
      <p:sp>
        <p:nvSpPr>
          <p:cNvPr id="81" name="Google Shape;81;p15"/>
          <p:cNvSpPr txBox="1"/>
          <p:nvPr/>
        </p:nvSpPr>
        <p:spPr>
          <a:xfrm>
            <a:off x="52430" y="355163"/>
            <a:ext cx="44295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Artificial Analysis Intelligence Index</a:t>
            </a:r>
            <a:endParaRPr sz="900" b="1">
              <a:solidFill>
                <a:srgbClr val="FF0000"/>
              </a:solidFill>
              <a:latin typeface="Calibri"/>
              <a:ea typeface="Calibri"/>
              <a:cs typeface="Calibri"/>
              <a:sym typeface="Calibri"/>
            </a:endParaRPr>
          </a:p>
          <a:p>
            <a:pPr marL="228600" marR="0" lvl="0" indent="-114300" algn="l" rtl="0">
              <a:lnSpc>
                <a:spcPct val="100000"/>
              </a:lnSpc>
              <a:spcBef>
                <a:spcPts val="0"/>
              </a:spcBef>
              <a:spcAft>
                <a:spcPts val="0"/>
              </a:spcAft>
              <a:buSzPts val="900"/>
              <a:buFont typeface="Calibri"/>
              <a:buChar char="●"/>
            </a:pPr>
            <a:r>
              <a:rPr lang="en" sz="900" b="1" u="sng">
                <a:solidFill>
                  <a:schemeClr val="hlink"/>
                </a:solidFill>
                <a:latin typeface="Calibri"/>
                <a:ea typeface="Calibri"/>
                <a:cs typeface="Calibri"/>
                <a:sym typeface="Calibri"/>
                <a:hlinkClick r:id="rId3"/>
              </a:rPr>
              <a:t>https://artificialanalysis.ai/evaluations/artificial-analysis-intelligence-index</a:t>
            </a:r>
            <a:endParaRPr sz="900" b="1">
              <a:solidFill>
                <a:srgbClr val="FF0000"/>
              </a:solidFill>
              <a:latin typeface="Calibri"/>
              <a:ea typeface="Calibri"/>
              <a:cs typeface="Calibri"/>
              <a:sym typeface="Calibri"/>
            </a:endParaRPr>
          </a:p>
        </p:txBody>
      </p:sp>
      <p:sp>
        <p:nvSpPr>
          <p:cNvPr id="82" name="Google Shape;82;p15"/>
          <p:cNvSpPr txBox="1"/>
          <p:nvPr/>
        </p:nvSpPr>
        <p:spPr>
          <a:xfrm>
            <a:off x="5934676" y="1088150"/>
            <a:ext cx="9447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noAutofit/>
          </a:bodyPr>
          <a:lstStyle/>
          <a:p>
            <a:pPr marL="0" marR="0" lvl="0" indent="0" algn="ctr" rtl="0">
              <a:lnSpc>
                <a:spcPct val="100000"/>
              </a:lnSpc>
              <a:spcBef>
                <a:spcPts val="0"/>
              </a:spcBef>
              <a:spcAft>
                <a:spcPts val="0"/>
              </a:spcAft>
              <a:buNone/>
            </a:pPr>
            <a:r>
              <a:rPr lang="en" sz="1200" b="1">
                <a:solidFill>
                  <a:srgbClr val="FF0000"/>
                </a:solidFill>
                <a:latin typeface="Calibri"/>
                <a:ea typeface="Calibri"/>
                <a:cs typeface="Calibri"/>
                <a:sym typeface="Calibri"/>
              </a:rPr>
              <a:t>Sept 24</a:t>
            </a:r>
            <a:endParaRPr sz="1200" b="1">
              <a:solidFill>
                <a:srgbClr val="FF0000"/>
              </a:solidFill>
              <a:latin typeface="Calibri"/>
              <a:ea typeface="Calibri"/>
              <a:cs typeface="Calibri"/>
              <a:sym typeface="Calibri"/>
            </a:endParaRPr>
          </a:p>
        </p:txBody>
      </p:sp>
      <p:pic>
        <p:nvPicPr>
          <p:cNvPr id="83" name="Google Shape;83;p15" descr="auto: aa-index-chart"/>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16067" y="1601973"/>
            <a:ext cx="8924866" cy="3462653"/>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p:nvPr/>
        </p:nvSpPr>
        <p:spPr>
          <a:xfrm>
            <a:off x="36574" y="-27425"/>
            <a:ext cx="32376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The AIs With The Most Users</a:t>
            </a:r>
            <a:endParaRPr sz="2000" b="1">
              <a:latin typeface="Calibri"/>
              <a:ea typeface="Calibri"/>
              <a:cs typeface="Calibri"/>
              <a:sym typeface="Calibri"/>
            </a:endParaRPr>
          </a:p>
        </p:txBody>
      </p:sp>
      <p:sp>
        <p:nvSpPr>
          <p:cNvPr id="89" name="Google Shape;89;p16"/>
          <p:cNvSpPr txBox="1"/>
          <p:nvPr/>
        </p:nvSpPr>
        <p:spPr>
          <a:xfrm>
            <a:off x="4028200" y="90950"/>
            <a:ext cx="51159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SzPts val="1200"/>
              <a:buFont typeface="Calibri"/>
              <a:buChar char="●"/>
            </a:pPr>
            <a:r>
              <a:rPr lang="en" sz="1200">
                <a:latin typeface="Calibri"/>
                <a:ea typeface="Calibri"/>
                <a:cs typeface="Calibri"/>
                <a:sym typeface="Calibri"/>
              </a:rPr>
              <a:t>Total number of monthly active users of each artificial intelligence platform</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Video shows history 2022 - 2026 - </a:t>
            </a:r>
            <a:r>
              <a:rPr lang="en" sz="900" u="sng">
                <a:solidFill>
                  <a:schemeClr val="hlink"/>
                </a:solidFill>
                <a:latin typeface="Calibri"/>
                <a:ea typeface="Calibri"/>
                <a:cs typeface="Calibri"/>
                <a:sym typeface="Calibri"/>
                <a:hlinkClick r:id="rId3"/>
              </a:rPr>
              <a:t>https://www.youtube.com/watch?v=67GrBIaI3zc</a:t>
            </a:r>
            <a:r>
              <a:rPr lang="en" sz="900">
                <a:latin typeface="Calibri"/>
                <a:ea typeface="Calibri"/>
                <a:cs typeface="Calibri"/>
                <a:sym typeface="Calibri"/>
              </a:rPr>
              <a:t> </a:t>
            </a:r>
            <a:endParaRPr sz="900">
              <a:latin typeface="Calibri"/>
              <a:ea typeface="Calibri"/>
              <a:cs typeface="Calibri"/>
              <a:sym typeface="Calibri"/>
            </a:endParaRPr>
          </a:p>
        </p:txBody>
      </p:sp>
      <p:pic>
        <p:nvPicPr>
          <p:cNvPr id="90" name="Google Shape;90;p1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19623" y="557577"/>
            <a:ext cx="7996775" cy="45005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7"/>
          <p:cNvSpPr txBox="1"/>
          <p:nvPr/>
        </p:nvSpPr>
        <p:spPr>
          <a:xfrm>
            <a:off x="36576" y="-27432"/>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96" name="Google Shape;96;p17"/>
          <p:cNvSpPr txBox="1"/>
          <p:nvPr/>
        </p:nvSpPr>
        <p:spPr>
          <a:xfrm>
            <a:off x="36575" y="474950"/>
            <a:ext cx="3055500" cy="1357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Union Alpha stealth model on OpenRouter</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A multimodal model for research, coding, and agentic workflows.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Free to use; 256K context; Tool calling</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Frontier-level general-purpose performance</a:t>
            </a:r>
            <a:endParaRPr sz="12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https://openrouter.ai/stealth/union-alpha</a:t>
            </a:r>
            <a:r>
              <a:rPr lang="en" sz="900">
                <a:latin typeface="Calibri"/>
                <a:ea typeface="Calibri"/>
                <a:cs typeface="Calibri"/>
                <a:sym typeface="Calibri"/>
              </a:rPr>
              <a:t> </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https://x.com/alexatallah/status/2100243109401469062</a:t>
            </a:r>
            <a:r>
              <a:rPr lang="en" sz="900">
                <a:latin typeface="Calibri"/>
                <a:ea typeface="Calibri"/>
                <a:cs typeface="Calibri"/>
                <a:sym typeface="Calibri"/>
              </a:rPr>
              <a:t> </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5"/>
              </a:rPr>
              <a:t>https://www.youtube.com/watch?v=2Gu21Y4hgd8</a:t>
            </a:r>
            <a:r>
              <a:rPr lang="en" sz="900">
                <a:latin typeface="Calibri"/>
                <a:ea typeface="Calibri"/>
                <a:cs typeface="Calibri"/>
                <a:sym typeface="Calibri"/>
              </a:rPr>
              <a:t> </a:t>
            </a:r>
            <a:endParaRPr sz="900">
              <a:latin typeface="Calibri"/>
              <a:ea typeface="Calibri"/>
              <a:cs typeface="Calibri"/>
              <a:sym typeface="Calibri"/>
            </a:endParaRPr>
          </a:p>
        </p:txBody>
      </p:sp>
      <p:pic>
        <p:nvPicPr>
          <p:cNvPr id="97" name="Google Shape;97;p1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3213025" y="1367625"/>
            <a:ext cx="5843902" cy="3714874"/>
          </a:xfrm>
          <a:prstGeom prst="rect">
            <a:avLst/>
          </a:prstGeom>
          <a:noFill/>
          <a:ln w="9525" cap="flat" cmpd="sng">
            <a:solidFill>
              <a:srgbClr val="FF0000"/>
            </a:solidFill>
            <a:prstDash val="solid"/>
            <a:round/>
            <a:headEnd type="none" w="sm" len="sm"/>
            <a:tailEnd type="none" w="sm" len="sm"/>
          </a:ln>
        </p:spPr>
      </p:pic>
      <p:pic>
        <p:nvPicPr>
          <p:cNvPr id="98" name="Google Shape;98;p17"/>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3213025" y="474950"/>
            <a:ext cx="3827477" cy="8366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8"/>
          <p:cNvSpPr txBox="1"/>
          <p:nvPr/>
        </p:nvSpPr>
        <p:spPr>
          <a:xfrm>
            <a:off x="36575" y="-27425"/>
            <a:ext cx="24027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Claude Opus 5.5</a:t>
            </a:r>
            <a:endParaRPr sz="2000" b="1">
              <a:latin typeface="Calibri"/>
              <a:ea typeface="Calibri"/>
              <a:cs typeface="Calibri"/>
              <a:sym typeface="Calibri"/>
            </a:endParaRPr>
          </a:p>
        </p:txBody>
      </p:sp>
      <p:sp>
        <p:nvSpPr>
          <p:cNvPr id="104" name="Google Shape;104;p18"/>
          <p:cNvSpPr txBox="1"/>
          <p:nvPr/>
        </p:nvSpPr>
        <p:spPr>
          <a:xfrm>
            <a:off x="106199" y="311250"/>
            <a:ext cx="4465800" cy="209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14300" algn="l" rtl="0">
              <a:spcBef>
                <a:spcPts val="0"/>
              </a:spcBef>
              <a:spcAft>
                <a:spcPts val="0"/>
              </a:spcAft>
              <a:buSzPts val="900"/>
              <a:buFont typeface="Calibri"/>
              <a:buChar char="●"/>
            </a:pPr>
            <a:r>
              <a:rPr lang="en" sz="1200" b="1">
                <a:solidFill>
                  <a:srgbClr val="FF0000"/>
                </a:solidFill>
                <a:latin typeface="Calibri"/>
                <a:ea typeface="Calibri"/>
                <a:cs typeface="Calibri"/>
                <a:sym typeface="Calibri"/>
              </a:rPr>
              <a:t>Claude Opus 5.5</a:t>
            </a:r>
            <a:r>
              <a:rPr lang="en" sz="1200">
                <a:latin typeface="Calibri"/>
                <a:ea typeface="Calibri"/>
                <a:cs typeface="Calibri"/>
                <a:sym typeface="Calibri"/>
              </a:rPr>
              <a:t> - Sept 22</a:t>
            </a:r>
            <a:endParaRPr sz="12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1200">
                <a:latin typeface="Calibri"/>
                <a:ea typeface="Calibri"/>
                <a:cs typeface="Calibri"/>
                <a:sym typeface="Calibri"/>
              </a:rPr>
              <a:t>Sonnet 5.5 and Haiku 5.5 are expected in the coming weeks.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1M-token context window, same pricing regardless of length</a:t>
            </a:r>
            <a:endParaRPr sz="12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1200">
                <a:latin typeface="Calibri"/>
                <a:ea typeface="Calibri"/>
                <a:cs typeface="Calibri"/>
                <a:sym typeface="Calibri"/>
              </a:rPr>
              <a:t>API price is $4  /  $20 per1M in/out</a:t>
            </a:r>
            <a:endParaRPr sz="1200">
              <a:latin typeface="Calibri"/>
              <a:ea typeface="Calibri"/>
              <a:cs typeface="Calibri"/>
              <a:sym typeface="Calibri"/>
            </a:endParaRPr>
          </a:p>
          <a:p>
            <a:pPr marL="171450" lvl="0" indent="-114300" algn="l" rtl="0">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Approaches Fable 5.1 performance, costing about 40% less overall</a:t>
            </a:r>
            <a:endParaRPr sz="1200" b="1">
              <a:solidFill>
                <a:srgbClr val="FF0000"/>
              </a:solidFill>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1200">
                <a:latin typeface="Calibri"/>
                <a:ea typeface="Calibri"/>
                <a:cs typeface="Calibri"/>
                <a:sym typeface="Calibri"/>
              </a:rPr>
              <a:t>Main gains - agentic coding, knowledge work, faster output, lower cache-read cost, and less verbose responses</a:t>
            </a:r>
            <a:endParaRPr sz="12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1200">
                <a:latin typeface="Calibri"/>
                <a:ea typeface="Calibri"/>
                <a:cs typeface="Calibri"/>
                <a:sym typeface="Calibri"/>
              </a:rPr>
              <a:t>Sonnet 5 remains the cost-balanced production choice</a:t>
            </a:r>
            <a:endParaRPr sz="12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1200">
                <a:latin typeface="Calibri"/>
                <a:ea typeface="Calibri"/>
                <a:cs typeface="Calibri"/>
                <a:sym typeface="Calibri"/>
              </a:rPr>
              <a:t>Haiku 4.5 remains best for fast, high-volume tasks</a:t>
            </a:r>
            <a:endParaRPr sz="1200">
              <a:latin typeface="Calibri"/>
              <a:ea typeface="Calibri"/>
              <a:cs typeface="Calibri"/>
              <a:sym typeface="Calibri"/>
            </a:endParaRPr>
          </a:p>
          <a:p>
            <a:pPr marL="171450" lvl="0" indent="-95250" algn="l" rtl="0">
              <a:spcBef>
                <a:spcPts val="0"/>
              </a:spcBef>
              <a:spcAft>
                <a:spcPts val="0"/>
              </a:spcAft>
              <a:buSzPts val="600"/>
              <a:buFont typeface="Calibri"/>
              <a:buChar char="●"/>
            </a:pPr>
            <a:r>
              <a:rPr lang="en" sz="900" u="sng">
                <a:solidFill>
                  <a:schemeClr val="hlink"/>
                </a:solidFill>
                <a:latin typeface="Calibri"/>
                <a:ea typeface="Calibri"/>
                <a:cs typeface="Calibri"/>
                <a:sym typeface="Calibri"/>
                <a:hlinkClick r:id="rId3"/>
              </a:rPr>
              <a:t>https://support.claude.com/en/articles/12138966-release-notes</a:t>
            </a:r>
            <a:endParaRPr sz="900">
              <a:latin typeface="Calibri"/>
              <a:ea typeface="Calibri"/>
              <a:cs typeface="Calibri"/>
              <a:sym typeface="Calibri"/>
            </a:endParaRPr>
          </a:p>
          <a:p>
            <a:pPr marL="171450" lvl="0" indent="-95250" algn="l" rtl="0">
              <a:spcBef>
                <a:spcPts val="0"/>
              </a:spcBef>
              <a:spcAft>
                <a:spcPts val="0"/>
              </a:spcAft>
              <a:buSzPts val="600"/>
              <a:buFont typeface="Calibri"/>
              <a:buChar char="●"/>
            </a:pPr>
            <a:r>
              <a:rPr lang="en" sz="900" u="sng">
                <a:solidFill>
                  <a:schemeClr val="hlink"/>
                </a:solidFill>
                <a:latin typeface="Calibri"/>
                <a:ea typeface="Calibri"/>
                <a:cs typeface="Calibri"/>
                <a:sym typeface="Calibri"/>
                <a:hlinkClick r:id="rId4"/>
              </a:rPr>
              <a:t>https://platform.claude.com/docs/en/about-claude/pricing</a:t>
            </a:r>
            <a:endParaRPr sz="900">
              <a:latin typeface="Calibri"/>
              <a:ea typeface="Calibri"/>
              <a:cs typeface="Calibri"/>
              <a:sym typeface="Calibri"/>
            </a:endParaRPr>
          </a:p>
          <a:p>
            <a:pPr marL="171450" lvl="0" indent="-95250" algn="l" rtl="0">
              <a:spcBef>
                <a:spcPts val="0"/>
              </a:spcBef>
              <a:spcAft>
                <a:spcPts val="0"/>
              </a:spcAft>
              <a:buSzPts val="600"/>
              <a:buFont typeface="Calibri"/>
              <a:buChar char="●"/>
            </a:pPr>
            <a:r>
              <a:rPr lang="en" sz="900" u="sng">
                <a:solidFill>
                  <a:schemeClr val="hlink"/>
                </a:solidFill>
                <a:latin typeface="Calibri"/>
                <a:ea typeface="Calibri"/>
                <a:cs typeface="Calibri"/>
                <a:sym typeface="Calibri"/>
                <a:hlinkClick r:id="rId5"/>
              </a:rPr>
              <a:t>https://code.claude.com/docs/en/model-config</a:t>
            </a:r>
            <a:endParaRPr sz="900">
              <a:latin typeface="Calibri"/>
              <a:ea typeface="Calibri"/>
              <a:cs typeface="Calibri"/>
              <a:sym typeface="Calibri"/>
            </a:endParaRPr>
          </a:p>
        </p:txBody>
      </p:sp>
      <p:pic>
        <p:nvPicPr>
          <p:cNvPr id="105" name="Google Shape;105;p18"/>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4655450" y="55225"/>
            <a:ext cx="2228450" cy="2608450"/>
          </a:xfrm>
          <a:prstGeom prst="rect">
            <a:avLst/>
          </a:prstGeom>
          <a:noFill/>
          <a:ln w="9525" cap="flat" cmpd="sng">
            <a:solidFill>
              <a:srgbClr val="FF0000"/>
            </a:solidFill>
            <a:prstDash val="solid"/>
            <a:round/>
            <a:headEnd type="none" w="sm" len="sm"/>
            <a:tailEnd type="none" w="sm" len="sm"/>
          </a:ln>
        </p:spPr>
      </p:pic>
      <p:sp>
        <p:nvSpPr>
          <p:cNvPr id="106" name="Google Shape;106;p18"/>
          <p:cNvSpPr txBox="1"/>
          <p:nvPr/>
        </p:nvSpPr>
        <p:spPr>
          <a:xfrm>
            <a:off x="5566100" y="3640100"/>
            <a:ext cx="3496800" cy="1403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14300" algn="l" rtl="0">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Trump Suggest Better Name for AI</a:t>
            </a:r>
            <a:endParaRPr sz="1200" b="1">
              <a:solidFill>
                <a:srgbClr val="FF0000"/>
              </a:solidFill>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1200">
                <a:latin typeface="Calibri"/>
                <a:ea typeface="Calibri"/>
                <a:cs typeface="Calibri"/>
                <a:sym typeface="Calibri"/>
              </a:rPr>
              <a:t>He proposed calling artificial intelligence “super intelligence,” arguing that “artificial” makes the technology sound fake or less consequential.</a:t>
            </a:r>
            <a:endParaRPr sz="12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1200">
                <a:latin typeface="Calibri"/>
                <a:ea typeface="Calibri"/>
                <a:cs typeface="Calibri"/>
                <a:sym typeface="Calibri"/>
              </a:rPr>
              <a:t>The announcement came Tuesday during his speech at the UN in Turtle Bay, New York City</a:t>
            </a:r>
            <a:endParaRPr sz="900">
              <a:latin typeface="Calibri"/>
              <a:ea typeface="Calibri"/>
              <a:cs typeface="Calibri"/>
              <a:sym typeface="Calibri"/>
            </a:endParaRPr>
          </a:p>
          <a:p>
            <a:pPr marL="171450" lvl="0" indent="-95250" algn="l" rtl="0">
              <a:spcBef>
                <a:spcPts val="0"/>
              </a:spcBef>
              <a:spcAft>
                <a:spcPts val="0"/>
              </a:spcAft>
              <a:buSzPts val="600"/>
              <a:buFont typeface="Calibri"/>
              <a:buChar char="●"/>
            </a:pPr>
            <a:r>
              <a:rPr lang="en" sz="900" u="sng">
                <a:solidFill>
                  <a:schemeClr val="hlink"/>
                </a:solidFill>
                <a:latin typeface="Calibri"/>
                <a:ea typeface="Calibri"/>
                <a:cs typeface="Calibri"/>
                <a:sym typeface="Calibri"/>
                <a:hlinkClick r:id="rId7"/>
              </a:rPr>
              <a:t>https://nypost.com/2026/09/22/us-news/trump-reveals-new-nickname-for-ai-and-lays-out-a-red-line-for-globalist-control-of-super-tech/</a:t>
            </a:r>
            <a:endParaRPr sz="900">
              <a:latin typeface="Calibri"/>
              <a:ea typeface="Calibri"/>
              <a:cs typeface="Calibri"/>
              <a:sym typeface="Calibri"/>
            </a:endParaRPr>
          </a:p>
        </p:txBody>
      </p:sp>
      <p:pic>
        <p:nvPicPr>
          <p:cNvPr id="107" name="Google Shape;107;p18"/>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7766078" y="2351350"/>
            <a:ext cx="1296825" cy="1210950"/>
          </a:xfrm>
          <a:prstGeom prst="rect">
            <a:avLst/>
          </a:prstGeom>
          <a:noFill/>
          <a:ln w="9525" cap="flat" cmpd="sng">
            <a:solidFill>
              <a:srgbClr val="FF0000"/>
            </a:solidFill>
            <a:prstDash val="solid"/>
            <a:round/>
            <a:headEnd type="none" w="sm" len="sm"/>
            <a:tailEnd type="none" w="sm" len="sm"/>
          </a:ln>
        </p:spPr>
      </p:pic>
      <p:sp>
        <p:nvSpPr>
          <p:cNvPr id="108" name="Google Shape;108;p18"/>
          <p:cNvSpPr txBox="1"/>
          <p:nvPr/>
        </p:nvSpPr>
        <p:spPr>
          <a:xfrm>
            <a:off x="36575" y="3562300"/>
            <a:ext cx="48033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95250" algn="l" rtl="0">
              <a:spcBef>
                <a:spcPts val="0"/>
              </a:spcBef>
              <a:spcAft>
                <a:spcPts val="0"/>
              </a:spcAft>
              <a:buClr>
                <a:srgbClr val="FF0000"/>
              </a:buClr>
              <a:buSzPts val="600"/>
              <a:buFont typeface="Calibri"/>
              <a:buChar char="●"/>
            </a:pPr>
            <a:r>
              <a:rPr lang="en" sz="1200" b="1">
                <a:solidFill>
                  <a:srgbClr val="FF0000"/>
                </a:solidFill>
                <a:latin typeface="Calibri"/>
                <a:ea typeface="Calibri"/>
                <a:cs typeface="Calibri"/>
                <a:sym typeface="Calibri"/>
              </a:rPr>
              <a:t>OpenAI GPT-6 Sol and Luna</a:t>
            </a:r>
            <a:endParaRPr sz="1200" b="1">
              <a:solidFill>
                <a:srgbClr val="FF0000"/>
              </a:solidFill>
              <a:latin typeface="Calibri"/>
              <a:ea typeface="Calibri"/>
              <a:cs typeface="Calibri"/>
              <a:sym typeface="Calibri"/>
            </a:endParaRPr>
          </a:p>
          <a:p>
            <a:pPr marL="171450" lvl="0" indent="-95250" algn="l" rtl="0">
              <a:spcBef>
                <a:spcPts val="0"/>
              </a:spcBef>
              <a:spcAft>
                <a:spcPts val="0"/>
              </a:spcAft>
              <a:buSzPts val="600"/>
              <a:buFont typeface="Calibri"/>
              <a:buChar char="●"/>
            </a:pPr>
            <a:r>
              <a:rPr lang="en" sz="1200">
                <a:latin typeface="Calibri"/>
                <a:ea typeface="Calibri"/>
                <a:cs typeface="Calibri"/>
                <a:sym typeface="Calibri"/>
              </a:rPr>
              <a:t>Target professional work, coding, factuality, computer-use agents, and clearer technical collaboration at 2x lower operating cost vs GPT-5.6.</a:t>
            </a:r>
            <a:endParaRPr sz="1200">
              <a:latin typeface="Calibri"/>
              <a:ea typeface="Calibri"/>
              <a:cs typeface="Calibri"/>
              <a:sym typeface="Calibri"/>
            </a:endParaRPr>
          </a:p>
          <a:p>
            <a:pPr marL="171450" lvl="0" indent="-95250" algn="l" rtl="0">
              <a:spcBef>
                <a:spcPts val="0"/>
              </a:spcBef>
              <a:spcAft>
                <a:spcPts val="0"/>
              </a:spcAft>
              <a:buSzPts val="600"/>
              <a:buFont typeface="Calibri"/>
              <a:buChar char="●"/>
            </a:pPr>
            <a:r>
              <a:rPr lang="en" sz="1200">
                <a:latin typeface="Calibri"/>
                <a:ea typeface="Calibri"/>
                <a:cs typeface="Calibri"/>
                <a:sym typeface="Calibri"/>
              </a:rPr>
              <a:t>Available in ChatGPT Work, Codex, and the OpenAI API as gpt-6-sol and gpt-6-luna.</a:t>
            </a:r>
            <a:endParaRPr sz="1200">
              <a:latin typeface="Calibri"/>
              <a:ea typeface="Calibri"/>
              <a:cs typeface="Calibri"/>
              <a:sym typeface="Calibri"/>
            </a:endParaRPr>
          </a:p>
          <a:p>
            <a:pPr marL="171450" lvl="0" indent="-95250" algn="l" rtl="0">
              <a:spcBef>
                <a:spcPts val="0"/>
              </a:spcBef>
              <a:spcAft>
                <a:spcPts val="0"/>
              </a:spcAft>
              <a:buSzPts val="600"/>
              <a:buFont typeface="Calibri"/>
              <a:buChar char="●"/>
            </a:pPr>
            <a:r>
              <a:rPr lang="en" sz="1200">
                <a:latin typeface="Calibri"/>
                <a:ea typeface="Calibri"/>
                <a:cs typeface="Calibri"/>
                <a:sym typeface="Calibri"/>
              </a:rPr>
              <a:t>Cached input reads can receive 90% discounts, making capable AI agents more practical at scale</a:t>
            </a:r>
            <a:endParaRPr sz="1200">
              <a:latin typeface="Calibri"/>
              <a:ea typeface="Calibri"/>
              <a:cs typeface="Calibri"/>
              <a:sym typeface="Calibri"/>
            </a:endParaRPr>
          </a:p>
          <a:p>
            <a:pPr marL="171450" lvl="0" indent="-95250" algn="l" rtl="0">
              <a:spcBef>
                <a:spcPts val="0"/>
              </a:spcBef>
              <a:spcAft>
                <a:spcPts val="0"/>
              </a:spcAft>
              <a:buSzPts val="600"/>
              <a:buFont typeface="Calibri"/>
              <a:buChar char="●"/>
            </a:pPr>
            <a:r>
              <a:rPr lang="en" sz="1200" u="sng">
                <a:solidFill>
                  <a:schemeClr val="hlink"/>
                </a:solidFill>
                <a:latin typeface="Calibri"/>
                <a:ea typeface="Calibri"/>
                <a:cs typeface="Calibri"/>
                <a:sym typeface="Calibri"/>
                <a:hlinkClick r:id="rId9"/>
              </a:rPr>
              <a:t>https://openai.com/index/introducing-gpt-6-sol-and-luna/</a:t>
            </a:r>
            <a:endParaRPr sz="1200">
              <a:latin typeface="Calibri"/>
              <a:ea typeface="Calibri"/>
              <a:cs typeface="Calibri"/>
              <a:sym typeface="Calibri"/>
            </a:endParaRPr>
          </a:p>
        </p:txBody>
      </p:sp>
      <p:pic>
        <p:nvPicPr>
          <p:cNvPr id="109" name="Google Shape;109;p18"/>
          <p:cNvPicPr preferRelativeResize="0"/>
          <p:nvPr/>
        </p:nvPicPr>
        <p:blipFill rotWithShape="1">
          <a:blip r:embed="rId10" cstate="email">
            <a:alphaModFix/>
            <a:extLst>
              <a:ext uri="{28A0092B-C50C-407E-A947-70E740481C1C}">
                <a14:useLocalDpi xmlns:a14="http://schemas.microsoft.com/office/drawing/2010/main"/>
              </a:ext>
            </a:extLst>
          </a:blip>
          <a:srcRect/>
          <a:stretch/>
        </p:blipFill>
        <p:spPr>
          <a:xfrm>
            <a:off x="701375" y="2594912"/>
            <a:ext cx="2819299" cy="8986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9"/>
          <p:cNvSpPr txBox="1"/>
          <p:nvPr/>
        </p:nvSpPr>
        <p:spPr>
          <a:xfrm>
            <a:off x="36576" y="-27432"/>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115" name="Google Shape;115;p19"/>
          <p:cNvSpPr txBox="1"/>
          <p:nvPr/>
        </p:nvSpPr>
        <p:spPr>
          <a:xfrm>
            <a:off x="119100" y="474950"/>
            <a:ext cx="5757000" cy="2373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Muse - Personal AI Agent</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rgbClr val="000000"/>
              </a:buClr>
              <a:buSzPts val="1200"/>
              <a:buFont typeface="Calibri"/>
              <a:buChar char="●"/>
            </a:pPr>
            <a:r>
              <a:rPr lang="en" sz="1200">
                <a:solidFill>
                  <a:srgbClr val="000000"/>
                </a:solidFill>
                <a:latin typeface="Calibri"/>
                <a:ea typeface="Calibri"/>
                <a:cs typeface="Calibri"/>
                <a:sym typeface="Calibri"/>
              </a:rPr>
              <a:t>Meta’s free Muse desktop agent </a:t>
            </a:r>
            <a:endParaRPr sz="1200">
              <a:solidFill>
                <a:srgbClr val="000000"/>
              </a:solidFill>
              <a:latin typeface="Calibri"/>
              <a:ea typeface="Calibri"/>
              <a:cs typeface="Calibri"/>
              <a:sym typeface="Calibri"/>
            </a:endParaRPr>
          </a:p>
          <a:p>
            <a:pPr marL="171450" lvl="0" indent="-133350" algn="l" rtl="0">
              <a:spcBef>
                <a:spcPts val="0"/>
              </a:spcBef>
              <a:spcAft>
                <a:spcPts val="0"/>
              </a:spcAft>
              <a:buClr>
                <a:srgbClr val="000000"/>
              </a:buClr>
              <a:buSzPts val="1200"/>
              <a:buFont typeface="Calibri"/>
              <a:buChar char="●"/>
            </a:pPr>
            <a:r>
              <a:rPr lang="en" sz="1200">
                <a:solidFill>
                  <a:srgbClr val="000000"/>
                </a:solidFill>
                <a:latin typeface="Calibri"/>
                <a:ea typeface="Calibri"/>
                <a:cs typeface="Calibri"/>
                <a:sym typeface="Calibri"/>
              </a:rPr>
              <a:t>Example - it logged into AT&amp;T with stored credentials, identified bank-autopay discounts, and reportedly cut a $200 phone bill to about $160 monthly - roughly $480 yearly.</a:t>
            </a:r>
            <a:endParaRPr sz="1200">
              <a:solidFill>
                <a:srgbClr val="000000"/>
              </a:solidFill>
              <a:latin typeface="Calibri"/>
              <a:ea typeface="Calibri"/>
              <a:cs typeface="Calibri"/>
              <a:sym typeface="Calibri"/>
            </a:endParaRPr>
          </a:p>
          <a:p>
            <a:pPr marL="171450" lvl="0" indent="-133350" algn="l" rtl="0">
              <a:spcBef>
                <a:spcPts val="0"/>
              </a:spcBef>
              <a:spcAft>
                <a:spcPts val="0"/>
              </a:spcAft>
              <a:buClr>
                <a:srgbClr val="000000"/>
              </a:buClr>
              <a:buSzPts val="1200"/>
              <a:buFont typeface="Calibri"/>
              <a:buChar char="●"/>
            </a:pPr>
            <a:r>
              <a:rPr lang="en" sz="1200">
                <a:solidFill>
                  <a:srgbClr val="000000"/>
                </a:solidFill>
                <a:latin typeface="Calibri"/>
                <a:ea typeface="Calibri"/>
                <a:cs typeface="Calibri"/>
                <a:sym typeface="Calibri"/>
              </a:rPr>
              <a:t>It can research insurance, monitor Messenger, iMessage, Instagram and Threads, create ad-free personalized news feeds, manage goals, and prompt habit check-ins.</a:t>
            </a:r>
            <a:endParaRPr sz="1200">
              <a:solidFill>
                <a:srgbClr val="000000"/>
              </a:solidFill>
              <a:latin typeface="Calibri"/>
              <a:ea typeface="Calibri"/>
              <a:cs typeface="Calibri"/>
              <a:sym typeface="Calibri"/>
            </a:endParaRPr>
          </a:p>
          <a:p>
            <a:pPr marL="171450" lvl="0" indent="-133350" algn="l" rtl="0">
              <a:spcBef>
                <a:spcPts val="0"/>
              </a:spcBef>
              <a:spcAft>
                <a:spcPts val="0"/>
              </a:spcAft>
              <a:buClr>
                <a:srgbClr val="000000"/>
              </a:buClr>
              <a:buSzPts val="1200"/>
              <a:buFont typeface="Calibri"/>
              <a:buChar char="●"/>
            </a:pPr>
            <a:r>
              <a:rPr lang="en" sz="1200">
                <a:solidFill>
                  <a:srgbClr val="000000"/>
                </a:solidFill>
                <a:latin typeface="Calibri"/>
                <a:ea typeface="Calibri"/>
                <a:cs typeface="Calibri"/>
                <a:sym typeface="Calibri"/>
              </a:rPr>
              <a:t>It can browse Marketplace, prepare listings, negotiate with sellers, compare products, suggest local events, and assist with restaurant or ticket bookings</a:t>
            </a:r>
            <a:endParaRPr sz="1200">
              <a:solidFill>
                <a:srgbClr val="000000"/>
              </a:solidFill>
              <a:latin typeface="Calibri"/>
              <a:ea typeface="Calibri"/>
              <a:cs typeface="Calibri"/>
              <a:sym typeface="Calibri"/>
            </a:endParaRPr>
          </a:p>
          <a:p>
            <a:pPr marL="171450" lvl="0" indent="-133350" algn="l" rtl="0">
              <a:spcBef>
                <a:spcPts val="0"/>
              </a:spcBef>
              <a:spcAft>
                <a:spcPts val="0"/>
              </a:spcAft>
              <a:buClr>
                <a:srgbClr val="000000"/>
              </a:buClr>
              <a:buSzPts val="1200"/>
              <a:buFont typeface="Calibri"/>
              <a:buChar char="●"/>
            </a:pPr>
            <a:r>
              <a:rPr lang="en" sz="1200">
                <a:solidFill>
                  <a:srgbClr val="000000"/>
                </a:solidFill>
                <a:latin typeface="Calibri"/>
                <a:ea typeface="Calibri"/>
                <a:cs typeface="Calibri"/>
                <a:sym typeface="Calibri"/>
              </a:rPr>
              <a:t>Its standout capability is making calls as a user’s agent: it contacted Xfinity, found promotional and autopay options, and produced a transcript</a:t>
            </a:r>
            <a:endParaRPr sz="1200">
              <a:solidFill>
                <a:srgbClr val="000000"/>
              </a:solidFill>
              <a:latin typeface="Calibri"/>
              <a:ea typeface="Calibri"/>
              <a:cs typeface="Calibri"/>
              <a:sym typeface="Calibri"/>
            </a:endParaRPr>
          </a:p>
          <a:p>
            <a:pPr marL="171450" lvl="0" indent="-133350" algn="l" rtl="0">
              <a:spcBef>
                <a:spcPts val="0"/>
              </a:spcBef>
              <a:spcAft>
                <a:spcPts val="0"/>
              </a:spcAft>
              <a:buClr>
                <a:srgbClr val="000000"/>
              </a:buClr>
              <a:buSzPts val="1200"/>
              <a:buFont typeface="Calibri"/>
              <a:buChar char="●"/>
            </a:pPr>
            <a:r>
              <a:rPr lang="en" sz="1200">
                <a:solidFill>
                  <a:srgbClr val="000000"/>
                </a:solidFill>
                <a:latin typeface="Calibri"/>
                <a:ea typeface="Calibri"/>
                <a:cs typeface="Calibri"/>
                <a:sym typeface="Calibri"/>
              </a:rPr>
              <a:t>Such delegated browsing and calling could reduce tedious consumer-service work and broaden AI-agent adoption.</a:t>
            </a:r>
            <a:endParaRPr sz="1200">
              <a:solidFill>
                <a:srgbClr val="000000"/>
              </a:solidFill>
              <a:latin typeface="Calibri"/>
              <a:ea typeface="Calibri"/>
              <a:cs typeface="Calibri"/>
              <a:sym typeface="Calibri"/>
            </a:endParaRPr>
          </a:p>
          <a:p>
            <a:pPr marL="171450" lvl="0" indent="-114300" algn="l" rtl="0">
              <a:spcBef>
                <a:spcPts val="0"/>
              </a:spcBef>
              <a:spcAft>
                <a:spcPts val="0"/>
              </a:spcAft>
              <a:buClr>
                <a:srgbClr val="000000"/>
              </a:buClr>
              <a:buSzPts val="900"/>
              <a:buFont typeface="Calibri"/>
              <a:buChar char="●"/>
            </a:pPr>
            <a:r>
              <a:rPr lang="en" sz="900" u="sng">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https://www.youtube.com/watch?v=eU1ICyI9bCs</a:t>
            </a:r>
            <a:r>
              <a:rPr lang="en" sz="900">
                <a:solidFill>
                  <a:srgbClr val="000000"/>
                </a:solidFill>
                <a:latin typeface="Calibri"/>
                <a:ea typeface="Calibri"/>
                <a:cs typeface="Calibri"/>
                <a:sym typeface="Calibri"/>
              </a:rPr>
              <a:t> </a:t>
            </a:r>
            <a:endParaRPr sz="900">
              <a:solidFill>
                <a:srgbClr val="000000"/>
              </a:solidFill>
              <a:latin typeface="Calibri"/>
              <a:ea typeface="Calibri"/>
              <a:cs typeface="Calibri"/>
              <a:sym typeface="Calibri"/>
            </a:endParaRPr>
          </a:p>
        </p:txBody>
      </p:sp>
      <p:pic>
        <p:nvPicPr>
          <p:cNvPr id="116" name="Google Shape;116;p1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145300" y="474950"/>
            <a:ext cx="2760800" cy="1611625"/>
          </a:xfrm>
          <a:prstGeom prst="rect">
            <a:avLst/>
          </a:prstGeom>
          <a:noFill/>
          <a:ln w="9525" cap="flat" cmpd="sng">
            <a:solidFill>
              <a:srgbClr val="FF0000"/>
            </a:solidFill>
            <a:prstDash val="solid"/>
            <a:round/>
            <a:headEnd type="none" w="sm" len="sm"/>
            <a:tailEnd type="none" w="sm" len="sm"/>
          </a:ln>
        </p:spPr>
      </p:pic>
      <p:sp>
        <p:nvSpPr>
          <p:cNvPr id="117" name="Google Shape;117;p19"/>
          <p:cNvSpPr txBox="1"/>
          <p:nvPr/>
        </p:nvSpPr>
        <p:spPr>
          <a:xfrm>
            <a:off x="119100" y="3154875"/>
            <a:ext cx="53832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xAI Grok 4.7 </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rgbClr val="000000"/>
              </a:buClr>
              <a:buSzPts val="1200"/>
              <a:buFont typeface="Calibri"/>
              <a:buChar char="●"/>
            </a:pPr>
            <a:r>
              <a:rPr lang="en" sz="1200">
                <a:latin typeface="Calibri"/>
                <a:ea typeface="Calibri"/>
                <a:cs typeface="Calibri"/>
                <a:sym typeface="Calibri"/>
              </a:rPr>
              <a:t>for coding, agentic tasks, knowledge work, long, difficult workflows, self-checking</a:t>
            </a:r>
            <a:endParaRPr sz="1200">
              <a:latin typeface="Calibri"/>
              <a:ea typeface="Calibri"/>
              <a:cs typeface="Calibri"/>
              <a:sym typeface="Calibri"/>
            </a:endParaRPr>
          </a:p>
          <a:p>
            <a:pPr marL="171450" lvl="0" indent="-133350" algn="l" rtl="0">
              <a:spcBef>
                <a:spcPts val="0"/>
              </a:spcBef>
              <a:spcAft>
                <a:spcPts val="0"/>
              </a:spcAft>
              <a:buClr>
                <a:srgbClr val="000000"/>
              </a:buClr>
              <a:buSzPts val="1200"/>
              <a:buFont typeface="Calibri"/>
              <a:buChar char="●"/>
            </a:pPr>
            <a:r>
              <a:rPr lang="en" sz="1200">
                <a:latin typeface="Calibri"/>
                <a:ea typeface="Calibri"/>
                <a:cs typeface="Calibri"/>
                <a:sym typeface="Calibri"/>
              </a:rPr>
              <a:t>Accepts text and image inputs, produces text</a:t>
            </a:r>
            <a:endParaRPr sz="1200">
              <a:latin typeface="Calibri"/>
              <a:ea typeface="Calibri"/>
              <a:cs typeface="Calibri"/>
              <a:sym typeface="Calibri"/>
            </a:endParaRPr>
          </a:p>
          <a:p>
            <a:pPr marL="171450" lvl="0" indent="-133350" algn="l" rtl="0">
              <a:spcBef>
                <a:spcPts val="0"/>
              </a:spcBef>
              <a:spcAft>
                <a:spcPts val="0"/>
              </a:spcAft>
              <a:buClr>
                <a:srgbClr val="000000"/>
              </a:buClr>
              <a:buSzPts val="1200"/>
              <a:buFont typeface="Calibri"/>
              <a:buChar char="●"/>
            </a:pPr>
            <a:r>
              <a:rPr lang="en" sz="1200">
                <a:latin typeface="Calibri"/>
                <a:ea typeface="Calibri"/>
                <a:cs typeface="Calibri"/>
                <a:sym typeface="Calibri"/>
              </a:rPr>
              <a:t>Supports function calling, web/X search, code execution, configurable reasoning</a:t>
            </a:r>
            <a:endParaRPr sz="1200">
              <a:latin typeface="Calibri"/>
              <a:ea typeface="Calibri"/>
              <a:cs typeface="Calibri"/>
              <a:sym typeface="Calibri"/>
            </a:endParaRPr>
          </a:p>
          <a:p>
            <a:pPr marL="171450" lvl="0" indent="-133350" algn="l" rtl="0">
              <a:spcBef>
                <a:spcPts val="0"/>
              </a:spcBef>
              <a:spcAft>
                <a:spcPts val="0"/>
              </a:spcAft>
              <a:buClr>
                <a:srgbClr val="000000"/>
              </a:buClr>
              <a:buSzPts val="1200"/>
              <a:buFont typeface="Calibri"/>
              <a:buChar char="●"/>
            </a:pPr>
            <a:r>
              <a:rPr lang="en" sz="1200">
                <a:latin typeface="Calibri"/>
                <a:ea typeface="Calibri"/>
                <a:cs typeface="Calibri"/>
                <a:sym typeface="Calibri"/>
              </a:rPr>
              <a:t>500K-token context window; May 2026 knowledge cutoff.</a:t>
            </a:r>
            <a:endParaRPr sz="1200">
              <a:latin typeface="Calibri"/>
              <a:ea typeface="Calibri"/>
              <a:cs typeface="Calibri"/>
              <a:sym typeface="Calibri"/>
            </a:endParaRPr>
          </a:p>
          <a:p>
            <a:pPr marL="171450" lvl="0" indent="-133350" algn="l" rtl="0">
              <a:spcBef>
                <a:spcPts val="0"/>
              </a:spcBef>
              <a:spcAft>
                <a:spcPts val="0"/>
              </a:spcAft>
              <a:buClr>
                <a:srgbClr val="000000"/>
              </a:buClr>
              <a:buSzPts val="1200"/>
              <a:buFont typeface="Calibri"/>
              <a:buChar char="●"/>
            </a:pPr>
            <a:r>
              <a:rPr lang="en" sz="1200">
                <a:latin typeface="Calibri"/>
                <a:ea typeface="Calibri"/>
                <a:cs typeface="Calibri"/>
                <a:sym typeface="Calibri"/>
              </a:rPr>
              <a:t>Pricing $2/$6 below 200K in, $4/$12 for larger prompts</a:t>
            </a:r>
            <a:endParaRPr sz="1200">
              <a:latin typeface="Calibri"/>
              <a:ea typeface="Calibri"/>
              <a:cs typeface="Calibri"/>
              <a:sym typeface="Calibri"/>
            </a:endParaRPr>
          </a:p>
          <a:p>
            <a:pPr marL="171450" lvl="0" indent="-133350" algn="l" rtl="0">
              <a:spcBef>
                <a:spcPts val="0"/>
              </a:spcBef>
              <a:spcAft>
                <a:spcPts val="0"/>
              </a:spcAft>
              <a:buClr>
                <a:srgbClr val="000000"/>
              </a:buClr>
              <a:buSzPts val="1200"/>
              <a:buFont typeface="Calibri"/>
              <a:buChar char="●"/>
            </a:pPr>
            <a:r>
              <a:rPr lang="en" sz="1200" u="sng">
                <a:solidFill>
                  <a:schemeClr val="hlink"/>
                </a:solidFill>
                <a:latin typeface="Calibri"/>
                <a:ea typeface="Calibri"/>
                <a:cs typeface="Calibri"/>
                <a:sym typeface="Calibri"/>
                <a:hlinkClick r:id="rId5"/>
              </a:rPr>
              <a:t>https://x.ai/news/grok-4-7</a:t>
            </a:r>
            <a:r>
              <a:rPr lang="en" sz="1200">
                <a:latin typeface="Calibri"/>
                <a:ea typeface="Calibri"/>
                <a:cs typeface="Calibri"/>
                <a:sym typeface="Calibri"/>
              </a:rPr>
              <a:t> </a:t>
            </a:r>
            <a:endParaRPr sz="1200">
              <a:latin typeface="Calibri"/>
              <a:ea typeface="Calibri"/>
              <a:cs typeface="Calibri"/>
              <a:sym typeface="Calibri"/>
            </a:endParaRPr>
          </a:p>
          <a:p>
            <a:pPr marL="171450" lvl="0" indent="-133350" algn="l" rtl="0">
              <a:spcBef>
                <a:spcPts val="0"/>
              </a:spcBef>
              <a:spcAft>
                <a:spcPts val="0"/>
              </a:spcAft>
              <a:buClr>
                <a:srgbClr val="000000"/>
              </a:buClr>
              <a:buSzPts val="1200"/>
              <a:buFont typeface="Calibri"/>
              <a:buChar char="●"/>
            </a:pPr>
            <a:r>
              <a:rPr lang="en" sz="1200" u="sng">
                <a:solidFill>
                  <a:schemeClr val="hlink"/>
                </a:solidFill>
                <a:latin typeface="Calibri"/>
                <a:ea typeface="Calibri"/>
                <a:cs typeface="Calibri"/>
                <a:sym typeface="Calibri"/>
                <a:hlinkClick r:id="rId6"/>
              </a:rPr>
              <a:t>https://docs.x.ai/developers/grok-4-7</a:t>
            </a:r>
            <a:endParaRPr sz="1200">
              <a:latin typeface="Calibri"/>
              <a:ea typeface="Calibri"/>
              <a:cs typeface="Calibri"/>
              <a:sym typeface="Calibri"/>
            </a:endParaRPr>
          </a:p>
        </p:txBody>
      </p:sp>
      <p:pic>
        <p:nvPicPr>
          <p:cNvPr id="118" name="Google Shape;118;p19"/>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876092" y="3154875"/>
            <a:ext cx="2375331" cy="14961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0"/>
          <p:cNvSpPr txBox="1"/>
          <p:nvPr/>
        </p:nvSpPr>
        <p:spPr>
          <a:xfrm>
            <a:off x="36574" y="-27425"/>
            <a:ext cx="25050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RSI Publications</a:t>
            </a:r>
            <a:endParaRPr sz="2000" b="1">
              <a:latin typeface="Calibri"/>
              <a:ea typeface="Calibri"/>
              <a:cs typeface="Calibri"/>
              <a:sym typeface="Calibri"/>
            </a:endParaRPr>
          </a:p>
        </p:txBody>
      </p:sp>
      <p:sp>
        <p:nvSpPr>
          <p:cNvPr id="124" name="Google Shape;124;p20"/>
          <p:cNvSpPr txBox="1"/>
          <p:nvPr/>
        </p:nvSpPr>
        <p:spPr>
          <a:xfrm>
            <a:off x="119100" y="474950"/>
            <a:ext cx="45354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14300" algn="l" rtl="0">
              <a:spcBef>
                <a:spcPts val="0"/>
              </a:spcBef>
              <a:spcAft>
                <a:spcPts val="0"/>
              </a:spcAft>
              <a:buClr>
                <a:srgbClr val="000000"/>
              </a:buClr>
              <a:buSzPts val="900"/>
              <a:buFont typeface="Calibri"/>
              <a:buChar char="●"/>
            </a:pPr>
            <a:r>
              <a:rPr lang="en" sz="1200">
                <a:latin typeface="Calibri"/>
                <a:ea typeface="Calibri"/>
                <a:cs typeface="Calibri"/>
                <a:sym typeface="Calibri"/>
              </a:rPr>
              <a:t>Dream-RSI and AI Self-Improvement</a:t>
            </a:r>
            <a:endParaRPr sz="1200">
              <a:latin typeface="Calibri"/>
              <a:ea typeface="Calibri"/>
              <a:cs typeface="Calibri"/>
              <a:sym typeface="Calibri"/>
            </a:endParaRPr>
          </a:p>
          <a:p>
            <a:pPr marL="171450" lvl="0" indent="-114300" algn="l" rtl="0">
              <a:spcBef>
                <a:spcPts val="0"/>
              </a:spcBef>
              <a:spcAft>
                <a:spcPts val="0"/>
              </a:spcAft>
              <a:buClr>
                <a:srgbClr val="000000"/>
              </a:buClr>
              <a:buSzPts val="900"/>
              <a:buFont typeface="Calibri"/>
              <a:buChar char="●"/>
            </a:pPr>
            <a:r>
              <a:rPr lang="en" sz="1200">
                <a:latin typeface="Calibri"/>
                <a:ea typeface="Calibri"/>
                <a:cs typeface="Calibri"/>
                <a:sym typeface="Calibri"/>
              </a:rPr>
              <a:t>On September 14, 2026, researchers from Google, Google DeepMind, the University of Maryland, and the University of Virginia released Dream-RSI</a:t>
            </a:r>
            <a:endParaRPr sz="1200">
              <a:latin typeface="Calibri"/>
              <a:ea typeface="Calibri"/>
              <a:cs typeface="Calibri"/>
              <a:sym typeface="Calibri"/>
            </a:endParaRPr>
          </a:p>
          <a:p>
            <a:pPr marL="171450" lvl="0" indent="-114300" algn="l" rtl="0">
              <a:spcBef>
                <a:spcPts val="0"/>
              </a:spcBef>
              <a:spcAft>
                <a:spcPts val="0"/>
              </a:spcAft>
              <a:buClr>
                <a:srgbClr val="000000"/>
              </a:buClr>
              <a:buSzPts val="900"/>
              <a:buFont typeface="Calibri"/>
              <a:buChar char="●"/>
            </a:pPr>
            <a:r>
              <a:rPr lang="en" sz="1200">
                <a:latin typeface="Calibri"/>
                <a:ea typeface="Calibri"/>
                <a:cs typeface="Calibri"/>
                <a:sym typeface="Calibri"/>
              </a:rPr>
              <a:t>Chinese researchers affiliated with ByteDance, Tsinghua, and Shanghai AI Lab recently published a separate five-stage RSI roadmap.</a:t>
            </a:r>
            <a:endParaRPr sz="1200">
              <a:latin typeface="Calibri"/>
              <a:ea typeface="Calibri"/>
              <a:cs typeface="Calibri"/>
              <a:sym typeface="Calibri"/>
            </a:endParaRPr>
          </a:p>
          <a:p>
            <a:pPr marL="171450" lvl="0" indent="-114300" algn="l" rtl="0">
              <a:spcBef>
                <a:spcPts val="0"/>
              </a:spcBef>
              <a:spcAft>
                <a:spcPts val="0"/>
              </a:spcAft>
              <a:buClr>
                <a:srgbClr val="000000"/>
              </a:buClr>
              <a:buSzPts val="900"/>
              <a:buFont typeface="Calibri"/>
              <a:buChar char="●"/>
            </a:pPr>
            <a:r>
              <a:rPr lang="en" sz="1200">
                <a:latin typeface="Calibri"/>
                <a:ea typeface="Calibri"/>
                <a:cs typeface="Calibri"/>
                <a:sym typeface="Calibri"/>
              </a:rPr>
              <a:t>Dream-RSI logs an agent’s past discovery attempts, converts them into replay simulators, and “dreams” through alternative exploration policies offline.</a:t>
            </a:r>
            <a:endParaRPr sz="1200">
              <a:latin typeface="Calibri"/>
              <a:ea typeface="Calibri"/>
              <a:cs typeface="Calibri"/>
              <a:sym typeface="Calibri"/>
            </a:endParaRPr>
          </a:p>
          <a:p>
            <a:pPr marL="171450" lvl="0" indent="-114300" algn="l" rtl="0">
              <a:spcBef>
                <a:spcPts val="0"/>
              </a:spcBef>
              <a:spcAft>
                <a:spcPts val="0"/>
              </a:spcAft>
              <a:buClr>
                <a:srgbClr val="000000"/>
              </a:buClr>
              <a:buSzPts val="900"/>
              <a:buFont typeface="Calibri"/>
              <a:buChar char="●"/>
            </a:pPr>
            <a:r>
              <a:rPr lang="en" sz="1200">
                <a:latin typeface="Calibri"/>
                <a:ea typeface="Calibri"/>
                <a:cs typeface="Calibri"/>
                <a:sym typeface="Calibri"/>
              </a:rPr>
              <a:t>Real experimentation is expensive; replay lets the system evaluate many strategies cheaply, then redeploy the strongest policy.</a:t>
            </a:r>
            <a:endParaRPr sz="1200">
              <a:latin typeface="Calibri"/>
              <a:ea typeface="Calibri"/>
              <a:cs typeface="Calibri"/>
              <a:sym typeface="Calibri"/>
            </a:endParaRPr>
          </a:p>
          <a:p>
            <a:pPr marL="171450" lvl="0" indent="-114300" algn="l" rtl="0">
              <a:spcBef>
                <a:spcPts val="0"/>
              </a:spcBef>
              <a:spcAft>
                <a:spcPts val="0"/>
              </a:spcAft>
              <a:buClr>
                <a:srgbClr val="000000"/>
              </a:buClr>
              <a:buSzPts val="900"/>
              <a:buFont typeface="Calibri"/>
              <a:buChar char="●"/>
            </a:pPr>
            <a:r>
              <a:rPr lang="en" sz="1200">
                <a:solidFill>
                  <a:schemeClr val="dk1"/>
                </a:solidFill>
                <a:latin typeface="Calibri"/>
                <a:ea typeface="Calibri"/>
                <a:cs typeface="Calibri"/>
                <a:sym typeface="Calibri"/>
              </a:rPr>
              <a:t>Dream-RSI </a:t>
            </a:r>
            <a:r>
              <a:rPr lang="en" sz="1200">
                <a:latin typeface="Calibri"/>
                <a:ea typeface="Calibri"/>
                <a:cs typeface="Calibri"/>
                <a:sym typeface="Calibri"/>
              </a:rPr>
              <a:t>reported substantially lower discovery cost, including up to 162× fewer agent calls in some tests</a:t>
            </a:r>
            <a:endParaRPr sz="1200">
              <a:latin typeface="Calibri"/>
              <a:ea typeface="Calibri"/>
              <a:cs typeface="Calibri"/>
              <a:sym typeface="Calibri"/>
            </a:endParaRPr>
          </a:p>
          <a:p>
            <a:pPr marL="171450" lvl="0" indent="-114300" algn="l" rtl="0">
              <a:spcBef>
                <a:spcPts val="0"/>
              </a:spcBef>
              <a:spcAft>
                <a:spcPts val="0"/>
              </a:spcAft>
              <a:buClr>
                <a:srgbClr val="000000"/>
              </a:buClr>
              <a:buSzPts val="900"/>
              <a:buFont typeface="Calibri"/>
              <a:buChar char="●"/>
            </a:pPr>
            <a:r>
              <a:rPr lang="en" sz="1200">
                <a:latin typeface="Calibri"/>
                <a:ea typeface="Calibri"/>
                <a:cs typeface="Calibri"/>
                <a:sym typeface="Calibri"/>
              </a:rPr>
              <a:t>It improves search orchestration - not the fixed underlying model’s weights - so it is meaningful meta-optimization, but not yet full recursive self-improvement.</a:t>
            </a:r>
            <a:endParaRPr sz="1200">
              <a:latin typeface="Calibri"/>
              <a:ea typeface="Calibri"/>
              <a:cs typeface="Calibri"/>
              <a:sym typeface="Calibri"/>
            </a:endParaRPr>
          </a:p>
          <a:p>
            <a:pPr marL="171450" lvl="0" indent="-114300" algn="l" rtl="0">
              <a:spcBef>
                <a:spcPts val="0"/>
              </a:spcBef>
              <a:spcAft>
                <a:spcPts val="0"/>
              </a:spcAft>
              <a:buClr>
                <a:srgbClr val="000000"/>
              </a:buClr>
              <a:buSzPts val="900"/>
              <a:buFont typeface="Calibri"/>
              <a:buChar char="●"/>
            </a:pPr>
            <a:r>
              <a:rPr lang="en" sz="1200" u="sng">
                <a:solidFill>
                  <a:schemeClr val="hlink"/>
                </a:solidFill>
                <a:latin typeface="Calibri"/>
                <a:ea typeface="Calibri"/>
                <a:cs typeface="Calibri"/>
                <a:sym typeface="Calibri"/>
                <a:hlinkClick r:id="rId3"/>
              </a:rPr>
              <a:t>https://arxiv.org/abs/2609.14858v1</a:t>
            </a:r>
            <a:r>
              <a:rPr lang="en" sz="1200">
                <a:latin typeface="Calibri"/>
                <a:ea typeface="Calibri"/>
                <a:cs typeface="Calibri"/>
                <a:sym typeface="Calibri"/>
              </a:rPr>
              <a:t> </a:t>
            </a:r>
            <a:endParaRPr sz="1200">
              <a:latin typeface="Calibri"/>
              <a:ea typeface="Calibri"/>
              <a:cs typeface="Calibri"/>
              <a:sym typeface="Calibri"/>
            </a:endParaRPr>
          </a:p>
          <a:p>
            <a:pPr marL="171450" lvl="0" indent="-114300" algn="l" rtl="0">
              <a:spcBef>
                <a:spcPts val="0"/>
              </a:spcBef>
              <a:spcAft>
                <a:spcPts val="0"/>
              </a:spcAft>
              <a:buClr>
                <a:srgbClr val="000000"/>
              </a:buClr>
              <a:buSzPts val="900"/>
              <a:buFont typeface="Calibri"/>
              <a:buChar char="●"/>
            </a:pPr>
            <a:r>
              <a:rPr lang="en" sz="1200" u="sng">
                <a:solidFill>
                  <a:schemeClr val="hlink"/>
                </a:solidFill>
                <a:latin typeface="Calibri"/>
                <a:ea typeface="Calibri"/>
                <a:cs typeface="Calibri"/>
                <a:sym typeface="Calibri"/>
                <a:hlinkClick r:id="rId4"/>
              </a:rPr>
              <a:t>https://arxiv.org/abs/2609.11873</a:t>
            </a:r>
            <a:r>
              <a:rPr lang="en" sz="1200">
                <a:latin typeface="Calibri"/>
                <a:ea typeface="Calibri"/>
                <a:cs typeface="Calibri"/>
                <a:sym typeface="Calibri"/>
              </a:rPr>
              <a:t> </a:t>
            </a:r>
            <a:endParaRPr sz="1200">
              <a:latin typeface="Calibri"/>
              <a:ea typeface="Calibri"/>
              <a:cs typeface="Calibri"/>
              <a:sym typeface="Calibri"/>
            </a:endParaRPr>
          </a:p>
        </p:txBody>
      </p:sp>
      <p:pic>
        <p:nvPicPr>
          <p:cNvPr id="125" name="Google Shape;125;p2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806900" y="152400"/>
            <a:ext cx="3523550" cy="2586538"/>
          </a:xfrm>
          <a:prstGeom prst="rect">
            <a:avLst/>
          </a:prstGeom>
          <a:noFill/>
          <a:ln w="9525" cap="flat" cmpd="sng">
            <a:solidFill>
              <a:srgbClr val="FF0000"/>
            </a:solidFill>
            <a:prstDash val="solid"/>
            <a:round/>
            <a:headEnd type="none" w="sm" len="sm"/>
            <a:tailEnd type="none" w="sm" len="sm"/>
          </a:ln>
        </p:spPr>
      </p:pic>
      <p:pic>
        <p:nvPicPr>
          <p:cNvPr id="126" name="Google Shape;126;p2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806900" y="3117466"/>
            <a:ext cx="3523550" cy="18965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1"/>
          <p:cNvSpPr txBox="1"/>
          <p:nvPr/>
        </p:nvSpPr>
        <p:spPr>
          <a:xfrm>
            <a:off x="36576" y="-27432"/>
            <a:ext cx="3517200" cy="384000"/>
          </a:xfrm>
          <a:prstGeom prst="rect">
            <a:avLst/>
          </a:prstGeom>
          <a:noFill/>
          <a:ln>
            <a:noFill/>
          </a:ln>
        </p:spPr>
        <p:txBody>
          <a:bodyPr spcFirstLastPara="1" wrap="square" lIns="9125" tIns="9125" rIns="9125" bIns="9125" anchor="t" anchorCtr="0">
            <a:noAutofit/>
          </a:bodyPr>
          <a:lstStyle/>
          <a:p>
            <a:pPr marL="0" lvl="0" indent="0" algn="l" rtl="0">
              <a:spcBef>
                <a:spcPts val="0"/>
              </a:spcBef>
              <a:spcAft>
                <a:spcPts val="0"/>
              </a:spcAft>
              <a:buNone/>
            </a:pPr>
            <a:r>
              <a:rPr lang="en" sz="2000" b="1">
                <a:latin typeface="Calibri"/>
                <a:ea typeface="Calibri"/>
                <a:cs typeface="Calibri"/>
                <a:sym typeface="Calibri"/>
              </a:rPr>
              <a:t>Weekly videos every Friday</a:t>
            </a:r>
            <a:endParaRPr sz="2000" b="1">
              <a:latin typeface="Calibri"/>
              <a:ea typeface="Calibri"/>
              <a:cs typeface="Calibri"/>
              <a:sym typeface="Calibri"/>
            </a:endParaRPr>
          </a:p>
        </p:txBody>
      </p:sp>
      <p:pic>
        <p:nvPicPr>
          <p:cNvPr id="132" name="Google Shape;132;p21"/>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349500" y="758045"/>
            <a:ext cx="2461825" cy="3154225"/>
          </a:xfrm>
          <a:prstGeom prst="rect">
            <a:avLst/>
          </a:prstGeom>
          <a:noFill/>
          <a:ln w="9525" cap="flat" cmpd="sng">
            <a:solidFill>
              <a:srgbClr val="FF0000"/>
            </a:solidFill>
            <a:prstDash val="solid"/>
            <a:round/>
            <a:headEnd type="none" w="sm" len="sm"/>
            <a:tailEnd type="none" w="sm" len="sm"/>
          </a:ln>
        </p:spPr>
      </p:pic>
      <p:pic>
        <p:nvPicPr>
          <p:cNvPr id="133" name="Google Shape;133;p2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896550" y="2700257"/>
            <a:ext cx="2160975" cy="2243351"/>
          </a:xfrm>
          <a:prstGeom prst="rect">
            <a:avLst/>
          </a:prstGeom>
          <a:noFill/>
          <a:ln w="9525" cap="flat" cmpd="sng">
            <a:solidFill>
              <a:srgbClr val="FF0000"/>
            </a:solidFill>
            <a:prstDash val="solid"/>
            <a:round/>
            <a:headEnd type="none" w="sm" len="sm"/>
            <a:tailEnd type="none" w="sm" len="sm"/>
          </a:ln>
        </p:spPr>
      </p:pic>
      <p:sp>
        <p:nvSpPr>
          <p:cNvPr id="134" name="Google Shape;134;p21"/>
          <p:cNvSpPr txBox="1"/>
          <p:nvPr/>
        </p:nvSpPr>
        <p:spPr>
          <a:xfrm>
            <a:off x="102375" y="725485"/>
            <a:ext cx="4161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500"/>
              <a:buFont typeface="Arial"/>
              <a:buNone/>
            </a:pPr>
            <a:r>
              <a:rPr lang="en" sz="2200">
                <a:solidFill>
                  <a:srgbClr val="000000"/>
                </a:solidFill>
                <a:latin typeface="Calibri"/>
                <a:ea typeface="Calibri"/>
                <a:cs typeface="Calibri"/>
                <a:sym typeface="Calibri"/>
              </a:rPr>
              <a:t>Weekly videos every Friday</a:t>
            </a:r>
            <a:endParaRPr sz="2200">
              <a:solidFill>
                <a:srgbClr val="000000"/>
              </a:solidFill>
              <a:latin typeface="Calibri"/>
              <a:ea typeface="Calibri"/>
              <a:cs typeface="Calibri"/>
              <a:sym typeface="Calibri"/>
            </a:endParaRPr>
          </a:p>
          <a:p>
            <a:pPr marL="0" lvl="0" indent="0" algn="l" rtl="0">
              <a:spcBef>
                <a:spcPts val="0"/>
              </a:spcBef>
              <a:spcAft>
                <a:spcPts val="0"/>
              </a:spcAft>
              <a:buClr>
                <a:srgbClr val="000000"/>
              </a:buClr>
              <a:buSzPts val="2500"/>
              <a:buFont typeface="Arial"/>
              <a:buNone/>
            </a:pPr>
            <a:r>
              <a:rPr lang="en" sz="2200">
                <a:latin typeface="Calibri"/>
                <a:ea typeface="Calibri"/>
                <a:cs typeface="Calibri"/>
                <a:sym typeface="Calibri"/>
              </a:rPr>
              <a:t>7.57K subscribers, 346 videos</a:t>
            </a:r>
            <a:endParaRPr sz="220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500"/>
              <a:buFont typeface="Arial"/>
              <a:buNone/>
            </a:pPr>
            <a:endParaRPr sz="2200">
              <a:solidFill>
                <a:srgbClr val="000000"/>
              </a:solidFill>
              <a:latin typeface="Calibri"/>
              <a:ea typeface="Calibri"/>
              <a:cs typeface="Calibri"/>
              <a:sym typeface="Calibri"/>
            </a:endParaRPr>
          </a:p>
          <a:p>
            <a:pPr marL="0" lvl="0" indent="0" algn="l" rtl="0">
              <a:spcBef>
                <a:spcPts val="0"/>
              </a:spcBef>
              <a:spcAft>
                <a:spcPts val="0"/>
              </a:spcAft>
              <a:buClr>
                <a:srgbClr val="000000"/>
              </a:buClr>
              <a:buSzPts val="2500"/>
              <a:buFont typeface="Arial"/>
              <a:buNone/>
            </a:pPr>
            <a:r>
              <a:rPr lang="en" sz="2200">
                <a:solidFill>
                  <a:srgbClr val="000000"/>
                </a:solidFill>
                <a:latin typeface="Calibri"/>
                <a:ea typeface="Calibri"/>
                <a:cs typeface="Calibri"/>
                <a:sym typeface="Calibri"/>
              </a:rPr>
              <a:t>1. Subscribe to this channel </a:t>
            </a:r>
            <a:r>
              <a:rPr lang="en" sz="1800" b="1" u="sng">
                <a:solidFill>
                  <a:srgbClr val="0097A7"/>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https://www.youtube.com/@lev-selector</a:t>
            </a:r>
            <a:r>
              <a:rPr lang="en" sz="1800" b="1">
                <a:solidFill>
                  <a:srgbClr val="000000"/>
                </a:solidFill>
                <a:latin typeface="Calibri"/>
                <a:ea typeface="Calibri"/>
                <a:cs typeface="Calibri"/>
                <a:sym typeface="Calibri"/>
              </a:rPr>
              <a:t> </a:t>
            </a:r>
            <a:endParaRPr sz="1800" b="1">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500"/>
              <a:buFont typeface="Arial"/>
              <a:buNone/>
            </a:pPr>
            <a:endParaRPr sz="220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500"/>
              <a:buFont typeface="Arial"/>
              <a:buNone/>
            </a:pPr>
            <a:r>
              <a:rPr lang="en" sz="2200">
                <a:solidFill>
                  <a:srgbClr val="000000"/>
                </a:solidFill>
                <a:latin typeface="Calibri"/>
                <a:ea typeface="Calibri"/>
                <a:cs typeface="Calibri"/>
                <a:sym typeface="Calibri"/>
              </a:rPr>
              <a:t>2. Download slides from GitHub using links under the videos</a:t>
            </a:r>
            <a:endParaRPr sz="2200">
              <a:solidFill>
                <a:srgbClr val="000000"/>
              </a:solidFill>
              <a:latin typeface="Calibri"/>
              <a:ea typeface="Calibri"/>
              <a:cs typeface="Calibri"/>
              <a:sym typeface="Calibri"/>
            </a:endParaRPr>
          </a:p>
          <a:p>
            <a:pPr marL="0" lvl="0" indent="0" algn="l" rtl="0">
              <a:spcBef>
                <a:spcPts val="0"/>
              </a:spcBef>
              <a:spcAft>
                <a:spcPts val="0"/>
              </a:spcAft>
              <a:buClr>
                <a:srgbClr val="000000"/>
              </a:buClr>
              <a:buSzPts val="2500"/>
              <a:buFont typeface="Arial"/>
              <a:buNone/>
            </a:pPr>
            <a:endParaRPr sz="2200">
              <a:solidFill>
                <a:srgbClr val="000000"/>
              </a:solidFill>
              <a:latin typeface="Calibri"/>
              <a:ea typeface="Calibri"/>
              <a:cs typeface="Calibri"/>
              <a:sym typeface="Calibri"/>
            </a:endParaRPr>
          </a:p>
          <a:p>
            <a:pPr marL="0" lvl="0" indent="0" algn="l" rtl="0">
              <a:spcBef>
                <a:spcPts val="0"/>
              </a:spcBef>
              <a:spcAft>
                <a:spcPts val="0"/>
              </a:spcAft>
              <a:buClr>
                <a:srgbClr val="000000"/>
              </a:buClr>
              <a:buSzPts val="2500"/>
              <a:buFont typeface="Arial"/>
              <a:buNone/>
            </a:pPr>
            <a:r>
              <a:rPr lang="en" sz="2200" b="1">
                <a:solidFill>
                  <a:srgbClr val="FF0000"/>
                </a:solidFill>
                <a:latin typeface="Calibri"/>
                <a:ea typeface="Calibri"/>
                <a:cs typeface="Calibri"/>
                <a:sym typeface="Calibri"/>
              </a:rPr>
              <a:t>3. 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2"/>
          <p:cNvSpPr txBox="1"/>
          <p:nvPr/>
        </p:nvSpPr>
        <p:spPr>
          <a:xfrm>
            <a:off x="55626" y="39243"/>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140" name="Google Shape;140;p22"/>
          <p:cNvSpPr txBox="1"/>
          <p:nvPr/>
        </p:nvSpPr>
        <p:spPr>
          <a:xfrm>
            <a:off x="193150" y="649425"/>
            <a:ext cx="4449600" cy="1634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AWS Strands Agent Harness</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Open-source AI-agent harness designed for building and running production agent workflows.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Combines agent orchestration, tool use, context management, evaluation, and observability into a reusable framework.</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AWS reports Strands can be about 45% cheaper than comparable Claude-based operation in its cited use case</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DeepSeek Harness was even cheaper - but with lower task accuracy</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https://thenewstack.io/aws-strands-harness-agent/</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141" name="Google Shape;141;p22"/>
          <p:cNvSpPr txBox="1"/>
          <p:nvPr/>
        </p:nvSpPr>
        <p:spPr>
          <a:xfrm>
            <a:off x="193150" y="3121875"/>
            <a:ext cx="4449600" cy="1773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Xiaomi MiMo-V2.6-Pro and -Flash</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Open-weight, MIT license, 1M-tokens context window</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Pro leads Artificial Analysis’ open-weight Intelligence Index at 46, tying Grok 4.7 and exceeding DeepSeek V4.1 variants.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Xiaomi trained on 750,000 agent trajectories with grading and anti-cheating controls. </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Pro - 1T params, Pricing $0.44/$0.87</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Flash - 310B params, Pricing $0.14/$0.28</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turebeat.com/technology/better-than-deepseek-xiaomis-mimo-v2-6-pro-debuts-as-the-top-open-weights-model-in-the-world-alongside-cheaper-v2-6-flash</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142" name="Google Shape;142;p22"/>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154475" y="2983426"/>
            <a:ext cx="3905163" cy="2050200"/>
          </a:xfrm>
          <a:prstGeom prst="rect">
            <a:avLst/>
          </a:prstGeom>
          <a:noFill/>
          <a:ln w="9525" cap="flat" cmpd="sng">
            <a:solidFill>
              <a:srgbClr val="FF0000"/>
            </a:solidFill>
            <a:prstDash val="solid"/>
            <a:round/>
            <a:headEnd type="none" w="sm" len="sm"/>
            <a:tailEnd type="none" w="sm" len="sm"/>
          </a:ln>
        </p:spPr>
      </p:pic>
      <p:pic>
        <p:nvPicPr>
          <p:cNvPr id="143" name="Google Shape;143;p2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807075" y="39250"/>
            <a:ext cx="4252573" cy="283504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3"/>
          <p:cNvSpPr txBox="1"/>
          <p:nvPr/>
        </p:nvSpPr>
        <p:spPr>
          <a:xfrm>
            <a:off x="55626" y="39243"/>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149" name="Google Shape;149;p23"/>
          <p:cNvSpPr txBox="1"/>
          <p:nvPr/>
        </p:nvSpPr>
        <p:spPr>
          <a:xfrm>
            <a:off x="55625" y="429375"/>
            <a:ext cx="5329800" cy="269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 Safety: Speed vs. Slowdown</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Anthropic CEO Dario Amodei and Nvidia CEO Jensen Huang publicly disagreed over how to manage frontier-AI risks </a:t>
            </a:r>
            <a:r>
              <a:rPr lang="en" sz="1200">
                <a:solidFill>
                  <a:schemeClr val="dk1"/>
                </a:solidFill>
                <a:latin typeface="Calibri"/>
                <a:ea typeface="Calibri"/>
                <a:cs typeface="Calibri"/>
                <a:sym typeface="Calibri"/>
              </a:rPr>
              <a:t>during Sept 15 at Salesforce’s Dreamforce conference in San Francisco</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Problem - AI capabilities may outpace safeguards, including in sensitive areas such as cybersecurity and biology.</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Amodei urged a slower development pace</a:t>
            </a:r>
            <a:r>
              <a:rPr lang="en" sz="1200">
                <a:solidFill>
                  <a:schemeClr val="dk1"/>
                </a:solidFill>
                <a:latin typeface="Calibri"/>
                <a:ea typeface="Calibri"/>
                <a:cs typeface="Calibri"/>
                <a:sym typeface="Calibri"/>
              </a:rPr>
              <a:t>, independent safety evaluators, shared standards, and eventual international coordination</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Huang says safety is an engineering and testing challenge</a:t>
            </a:r>
            <a:r>
              <a:rPr lang="en" sz="1200">
                <a:solidFill>
                  <a:schemeClr val="dk1"/>
                </a:solidFill>
                <a:latin typeface="Calibri"/>
                <a:ea typeface="Calibri"/>
                <a:cs typeface="Calibri"/>
                <a:sym typeface="Calibri"/>
              </a:rPr>
              <a:t>: build secure test environments, withhold unsafe releases, and continue innovating rapidly</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Major industry divide - whether safeguards require coordinated regulation or can rely on company accountability, existing laws, testing, and market incentives.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Anthropic IPO date is moved from October to November</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https://www.wsj.com/tech/ai/nvidia-jensen-huang-resists-ai-slowdown-334a24e1</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https://www.cnbc.com/2026/09/15/nvidia-and-anthropic-ceos-diverge-on-ai-safety-at-dreamforce.html</a:t>
            </a:r>
            <a:endParaRPr sz="900">
              <a:solidFill>
                <a:schemeClr val="dk1"/>
              </a:solidFill>
              <a:latin typeface="Calibri"/>
              <a:ea typeface="Calibri"/>
              <a:cs typeface="Calibri"/>
              <a:sym typeface="Calibri"/>
            </a:endParaRPr>
          </a:p>
        </p:txBody>
      </p:sp>
      <p:pic>
        <p:nvPicPr>
          <p:cNvPr id="150" name="Google Shape;150;p2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476325" y="235500"/>
            <a:ext cx="3550650" cy="1775350"/>
          </a:xfrm>
          <a:prstGeom prst="rect">
            <a:avLst/>
          </a:prstGeom>
          <a:noFill/>
          <a:ln w="9525" cap="flat" cmpd="sng">
            <a:solidFill>
              <a:srgbClr val="FF0000"/>
            </a:solidFill>
            <a:prstDash val="solid"/>
            <a:round/>
            <a:headEnd type="none" w="sm" len="sm"/>
            <a:tailEnd type="none" w="sm" len="sm"/>
          </a:ln>
        </p:spPr>
      </p:pic>
      <p:sp>
        <p:nvSpPr>
          <p:cNvPr id="151" name="Google Shape;151;p23"/>
          <p:cNvSpPr txBox="1"/>
          <p:nvPr/>
        </p:nvSpPr>
        <p:spPr>
          <a:xfrm>
            <a:off x="55625" y="3189800"/>
            <a:ext cx="53298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Paperclip organizes agents</a:t>
            </a:r>
            <a:br>
              <a:rPr lang="en" sz="1200">
                <a:solidFill>
                  <a:schemeClr val="dk1"/>
                </a:solidFill>
                <a:latin typeface="Calibri"/>
                <a:ea typeface="Calibri"/>
                <a:cs typeface="Calibri"/>
                <a:sym typeface="Calibri"/>
              </a:rPr>
            </a:br>
            <a:r>
              <a:rPr lang="en" sz="1200" b="1">
                <a:solidFill>
                  <a:srgbClr val="3C78D8"/>
                </a:solidFill>
                <a:latin typeface="Calibri"/>
                <a:ea typeface="Calibri"/>
                <a:cs typeface="Calibri"/>
                <a:sym typeface="Calibri"/>
              </a:rPr>
              <a:t>from different harnesses into company roles, reporting lines, and workflows</a:t>
            </a:r>
            <a:endParaRPr sz="1200" b="1">
              <a:solidFill>
                <a:srgbClr val="3C78D8"/>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Open-source, self-hosted, 10-min setup</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Example: install Paperclip on an Ubuntu server and connects agents including Hermes, Claude Code, Codex, and Pi</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demo shows how agent teams can coordinate across tools with oversight, traceability, routines, and shared work.</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https://paperclip.ing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https://github.com/paperclipai/paperclip</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8"/>
              </a:rPr>
              <a:t>https://www.youtube.com/watch?v=7RVf25Rg0Mc</a:t>
            </a:r>
            <a:endParaRPr sz="1200">
              <a:solidFill>
                <a:schemeClr val="dk1"/>
              </a:solidFill>
              <a:latin typeface="Calibri"/>
              <a:ea typeface="Calibri"/>
              <a:cs typeface="Calibri"/>
              <a:sym typeface="Calibri"/>
            </a:endParaRPr>
          </a:p>
        </p:txBody>
      </p:sp>
      <p:pic>
        <p:nvPicPr>
          <p:cNvPr id="152" name="Google Shape;152;p23"/>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5825502" y="3279853"/>
            <a:ext cx="2414824" cy="17753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4"/>
          <p:cNvSpPr txBox="1"/>
          <p:nvPr/>
        </p:nvSpPr>
        <p:spPr>
          <a:xfrm>
            <a:off x="55626" y="39243"/>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158" name="Google Shape;158;p24"/>
          <p:cNvSpPr txBox="1"/>
          <p:nvPr/>
        </p:nvSpPr>
        <p:spPr>
          <a:xfrm>
            <a:off x="55625" y="429375"/>
            <a:ext cx="4449600" cy="2281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Custom AI-Agent HUD Overlay</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HUD ( Heads-Up Display ) - a small floating panel </a:t>
            </a:r>
            <a:r>
              <a:rPr lang="en" sz="1200">
                <a:solidFill>
                  <a:schemeClr val="dk1"/>
                </a:solidFill>
                <a:latin typeface="Calibri"/>
                <a:ea typeface="Calibri"/>
                <a:cs typeface="Calibri"/>
                <a:sym typeface="Calibri"/>
              </a:rPr>
              <a:t>to work with multiple agents to control their work and local apps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creator built “Agent OS Reactor” HUD.</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MacOS SwiftUI supplies the HUD, while AppKit provides a floating panel and menu-bar integration; permissions enable microphone, speech recognition, accessibility, and app launching</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build turns a dashboard into an always-available agent-control surface, supporting app allow-lists, file search, notes, and iterative AI-assisted development/testing.</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https://agentos.guide/hermes-hud-engine</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https://agentos.guide/system.html</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https://app.aiprofitagents.com</a:t>
            </a:r>
            <a:endParaRPr sz="900">
              <a:solidFill>
                <a:schemeClr val="dk1"/>
              </a:solidFill>
              <a:latin typeface="Calibri"/>
              <a:ea typeface="Calibri"/>
              <a:cs typeface="Calibri"/>
              <a:sym typeface="Calibri"/>
            </a:endParaRPr>
          </a:p>
        </p:txBody>
      </p:sp>
      <p:sp>
        <p:nvSpPr>
          <p:cNvPr id="159" name="Google Shape;159;p24"/>
          <p:cNvSpPr txBox="1"/>
          <p:nvPr/>
        </p:nvSpPr>
        <p:spPr>
          <a:xfrm>
            <a:off x="55625" y="2774300"/>
            <a:ext cx="44496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Researches Hacked OpenAI Using Claude</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Three Hacktron AI security researchers used Anthropic’s Claude Opus 5 to chain flaws affecting OpenAI’s public Discourse help forum and identity system in July 2026</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https://thehackernews.com/2026/09/claude-opus-5-helped-researchers-take.html</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https://indianexpress.com/article/world/indian-origin-researchers-use-claude-ai-breach-openai-systems-hacktron-10884340/lite/</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Researchers submitted one harmless pull request as proof - this was a coordinated white-hat research</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OpenAI fixed the reported issue in roughly 14 hours and paid Hacktron a $6,500 bug bounty</a:t>
            </a:r>
            <a:endParaRPr sz="1200">
              <a:solidFill>
                <a:schemeClr val="dk1"/>
              </a:solidFill>
              <a:latin typeface="Calibri"/>
              <a:ea typeface="Calibri"/>
              <a:cs typeface="Calibri"/>
              <a:sym typeface="Calibri"/>
            </a:endParaRPr>
          </a:p>
        </p:txBody>
      </p:sp>
      <p:pic>
        <p:nvPicPr>
          <p:cNvPr id="160" name="Google Shape;160;p24"/>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657625" y="429375"/>
            <a:ext cx="2872725" cy="2164325"/>
          </a:xfrm>
          <a:prstGeom prst="rect">
            <a:avLst/>
          </a:prstGeom>
          <a:noFill/>
          <a:ln w="9525" cap="flat" cmpd="sng">
            <a:solidFill>
              <a:srgbClr val="FF0000"/>
            </a:solidFill>
            <a:prstDash val="solid"/>
            <a:round/>
            <a:headEnd type="none" w="sm" len="sm"/>
            <a:tailEnd type="none" w="sm" len="sm"/>
          </a:ln>
        </p:spPr>
      </p:pic>
      <p:pic>
        <p:nvPicPr>
          <p:cNvPr id="161" name="Google Shape;161;p24"/>
          <p:cNvPicPr preferRelativeResize="0"/>
          <p:nvPr/>
        </p:nvPicPr>
        <p:blipFill>
          <a:blip r:embed="rId9">
            <a:alphaModFix/>
          </a:blip>
          <a:stretch>
            <a:fillRect/>
          </a:stretch>
        </p:blipFill>
        <p:spPr>
          <a:xfrm>
            <a:off x="4657625" y="3386975"/>
            <a:ext cx="3276600" cy="10096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5"/>
          <p:cNvSpPr txBox="1"/>
          <p:nvPr/>
        </p:nvSpPr>
        <p:spPr>
          <a:xfrm>
            <a:off x="55626" y="39243"/>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167" name="Google Shape;167;p25"/>
          <p:cNvSpPr txBox="1"/>
          <p:nvPr/>
        </p:nvSpPr>
        <p:spPr>
          <a:xfrm>
            <a:off x="55625" y="429375"/>
            <a:ext cx="44496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Bonsai 2 - a tiny local AI</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Reduced weights file from 54 GB to 5.9 GB</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by using ternary weights (−1, 0, and +1)</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By PrismML, based on Qwen3.8 27B, open - Apache 2.0</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Runs locally via PrismML’s llama.cpp fork, Apple MLX, or WebGPU-capable browsers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Note that run-time memory is much more than 5.9 GB</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98.2% benchmark retention, with coding near the original</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https://prism-ml.github.io</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https://huggingface.co/prism-ml</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https://www.datacamp.com/blog/bonsai-2-27b</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https://www.youtube.com/watch?v=M6nv640H1Xo</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168" name="Google Shape;168;p25"/>
          <p:cNvSpPr txBox="1"/>
          <p:nvPr/>
        </p:nvSpPr>
        <p:spPr>
          <a:xfrm>
            <a:off x="55625" y="2590925"/>
            <a:ext cx="4449600" cy="158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Qwen3.8-Omni-Flash </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Jointly processes text, images, audio, and video</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Available on Qwen’s platform and Alibaba Cloud Model Studio</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Context window 1M-tokens - supports long meetings and video analysis - summaries, reports, translations, ...</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Substantially lower audio/video processing cost and token use</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Caveat - it is hosted/API-based and returns text</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https://qwen.ai/blog?id=qwen3.8-omni-flash</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8"/>
              </a:rPr>
              <a:t>https://www.alibabacloud.com/help/en/model-studio/qwen-omni</a:t>
            </a:r>
            <a:endParaRPr sz="900">
              <a:solidFill>
                <a:schemeClr val="dk1"/>
              </a:solidFill>
              <a:latin typeface="Calibri"/>
              <a:ea typeface="Calibri"/>
              <a:cs typeface="Calibri"/>
              <a:sym typeface="Calibri"/>
            </a:endParaRPr>
          </a:p>
        </p:txBody>
      </p:sp>
      <p:pic>
        <p:nvPicPr>
          <p:cNvPr id="169" name="Google Shape;169;p25"/>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890225" y="765575"/>
            <a:ext cx="3168075" cy="1377800"/>
          </a:xfrm>
          <a:prstGeom prst="rect">
            <a:avLst/>
          </a:prstGeom>
          <a:noFill/>
          <a:ln w="9525" cap="flat" cmpd="sng">
            <a:solidFill>
              <a:srgbClr val="FF0000"/>
            </a:solidFill>
            <a:prstDash val="solid"/>
            <a:round/>
            <a:headEnd type="none" w="sm" len="sm"/>
            <a:tailEnd type="none" w="sm" len="sm"/>
          </a:ln>
        </p:spPr>
      </p:pic>
      <p:pic>
        <p:nvPicPr>
          <p:cNvPr id="170" name="Google Shape;170;p25"/>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4890225" y="2662525"/>
            <a:ext cx="2509300" cy="14453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6"/>
          <p:cNvSpPr txBox="1"/>
          <p:nvPr/>
        </p:nvSpPr>
        <p:spPr>
          <a:xfrm>
            <a:off x="55626" y="39243"/>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176" name="Google Shape;176;p26"/>
          <p:cNvSpPr txBox="1"/>
          <p:nvPr/>
        </p:nvSpPr>
        <p:spPr>
          <a:xfrm>
            <a:off x="55625" y="429375"/>
            <a:ext cx="44496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Bolt.new Forge - use Open Models</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Forge is a selectable Bolt </a:t>
            </a:r>
            <a:r>
              <a:rPr lang="en" sz="1200" b="1">
                <a:solidFill>
                  <a:srgbClr val="FF0000"/>
                </a:solidFill>
                <a:latin typeface="Calibri"/>
                <a:ea typeface="Calibri"/>
                <a:cs typeface="Calibri"/>
                <a:sym typeface="Calibri"/>
              </a:rPr>
              <a:t>coding-agent mode using open-weight models</a:t>
            </a:r>
            <a:r>
              <a:rPr lang="en" sz="1200">
                <a:solidFill>
                  <a:schemeClr val="dk1"/>
                </a:solidFill>
                <a:latin typeface="Calibri"/>
                <a:ea typeface="Calibri"/>
                <a:cs typeface="Calibri"/>
                <a:sym typeface="Calibri"/>
              </a:rPr>
              <a:t> - GLM 5.3 Flash, GLM 5.3, Kimi K3, DeepSeek V4 Pro</a:t>
            </a:r>
            <a:endParaRPr sz="1200">
              <a:solidFill>
                <a:schemeClr val="dk1"/>
              </a:solidFill>
              <a:latin typeface="Calibri"/>
              <a:ea typeface="Calibri"/>
              <a:cs typeface="Calibri"/>
              <a:sym typeface="Calibri"/>
            </a:endParaRPr>
          </a:p>
          <a:p>
            <a:pPr marL="171450" lvl="0" indent="-133350" algn="l" rtl="0">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Available within Bolt.new</a:t>
            </a:r>
            <a:endParaRPr sz="1200" b="1">
              <a:solidFill>
                <a:srgbClr val="3C78D8"/>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Addresses AI coding usage limits by offering up to 50× more separate monthly usage without reducing Standard or Max allowances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Trade-off: Opt-in Forge sessions are anonymized for training a future open model with R.C. AI; users consent when entering Forge.</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 models scored 92.2 versus 101 for Bolt’s leading flagship benchmark, making lower-cost experimentation practical for many everyday projects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https://bolt.new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77" name="Google Shape;177;p2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064675" y="664690"/>
            <a:ext cx="3464675" cy="1948874"/>
          </a:xfrm>
          <a:prstGeom prst="rect">
            <a:avLst/>
          </a:prstGeom>
          <a:noFill/>
          <a:ln w="9525" cap="flat" cmpd="sng">
            <a:solidFill>
              <a:srgbClr val="FF0000"/>
            </a:solidFill>
            <a:prstDash val="solid"/>
            <a:round/>
            <a:headEnd type="none" w="sm" len="sm"/>
            <a:tailEnd type="none" w="sm" len="sm"/>
          </a:ln>
        </p:spPr>
      </p:pic>
      <p:sp>
        <p:nvSpPr>
          <p:cNvPr id="178" name="Google Shape;178;p26"/>
          <p:cNvSpPr txBox="1"/>
          <p:nvPr/>
        </p:nvSpPr>
        <p:spPr>
          <a:xfrm>
            <a:off x="55625" y="2912600"/>
            <a:ext cx="44496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Needle 8-29 MB Model for Offline Action</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From Cactus Compute, for phones, wearables, robots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Converts natural-language requests into structured tool calls, extracts data, and supports local search</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Runs locally without an internet connection</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Uses confidence scoring; </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 Source (Apache 2.0), in Python</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https://github.com/cactus-compute/needle</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https://cactuscompute.com/needle</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https://huggingface.co/Cactus-Compute/needle</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8"/>
              </a:rPr>
              <a:t>https://www.youtube.com/watch?v=tsWOiibaaxA</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79" name="Google Shape;179;p26"/>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630025" y="3045914"/>
            <a:ext cx="4333974" cy="178356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7"/>
          <p:cNvSpPr txBox="1"/>
          <p:nvPr/>
        </p:nvSpPr>
        <p:spPr>
          <a:xfrm>
            <a:off x="36576" y="-27432"/>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185" name="Google Shape;185;p27"/>
          <p:cNvSpPr txBox="1"/>
          <p:nvPr/>
        </p:nvSpPr>
        <p:spPr>
          <a:xfrm>
            <a:off x="36575" y="758950"/>
            <a:ext cx="44718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SzPts val="1200"/>
              <a:buFont typeface="Calibri"/>
              <a:buChar char="●"/>
            </a:pPr>
            <a:r>
              <a:rPr lang="en" sz="1200" b="1">
                <a:solidFill>
                  <a:srgbClr val="FF0000"/>
                </a:solidFill>
                <a:latin typeface="Calibri"/>
                <a:ea typeface="Calibri"/>
                <a:cs typeface="Calibri"/>
                <a:sym typeface="Calibri"/>
              </a:rPr>
              <a:t>Claude leads 26% of Anthropic's AI R&amp;D work</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Up from under 1% in February</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Anthropic proposed </a:t>
            </a:r>
            <a:r>
              <a:rPr lang="en" sz="1200" b="1">
                <a:latin typeface="Calibri"/>
                <a:ea typeface="Calibri"/>
                <a:cs typeface="Calibri"/>
                <a:sym typeface="Calibri"/>
              </a:rPr>
              <a:t>3 metrics</a:t>
            </a:r>
            <a:r>
              <a:rPr lang="en" sz="1200">
                <a:latin typeface="Calibri"/>
                <a:ea typeface="Calibri"/>
                <a:cs typeface="Calibri"/>
                <a:sym typeface="Calibri"/>
              </a:rPr>
              <a:t> for how fast frontier AI is moving</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About </a:t>
            </a:r>
            <a:r>
              <a:rPr lang="en" sz="1200" b="1">
                <a:latin typeface="Calibri"/>
                <a:ea typeface="Calibri"/>
                <a:cs typeface="Calibri"/>
                <a:sym typeface="Calibri"/>
              </a:rPr>
              <a:t>30K agents</a:t>
            </a:r>
            <a:r>
              <a:rPr lang="en" sz="1200">
                <a:latin typeface="Calibri"/>
                <a:ea typeface="Calibri"/>
                <a:cs typeface="Calibri"/>
                <a:sym typeface="Calibri"/>
              </a:rPr>
              <a:t> run at once on its most-used internal platform</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Online monitors check every agent action</a:t>
            </a:r>
            <a:br>
              <a:rPr lang="en" sz="1200">
                <a:latin typeface="Calibri"/>
                <a:ea typeface="Calibri"/>
                <a:cs typeface="Calibri"/>
                <a:sym typeface="Calibri"/>
              </a:rPr>
            </a:br>
            <a:r>
              <a:rPr lang="en" sz="1200">
                <a:latin typeface="Calibri"/>
                <a:ea typeface="Calibri"/>
                <a:cs typeface="Calibri"/>
                <a:sym typeface="Calibri"/>
              </a:rPr>
              <a:t>and block about 1 decision in 47K</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About 6% of AI R&amp;D compute goes to safety, </a:t>
            </a:r>
            <a:br>
              <a:rPr lang="en" sz="1200">
                <a:latin typeface="Calibri"/>
                <a:ea typeface="Calibri"/>
                <a:cs typeface="Calibri"/>
                <a:sym typeface="Calibri"/>
              </a:rPr>
            </a:br>
            <a:r>
              <a:rPr lang="en" sz="1200">
                <a:latin typeface="Calibri"/>
                <a:ea typeface="Calibri"/>
                <a:cs typeface="Calibri"/>
                <a:sym typeface="Calibri"/>
              </a:rPr>
              <a:t>and 12% of the compute AI itself directs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Every figure is self-measured and not audited</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900" u="sng">
                <a:solidFill>
                  <a:srgbClr val="0563C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https://www.anthropic.com/institute/measuring-pace-of-ai-development</a:t>
            </a:r>
            <a:endParaRPr sz="900">
              <a:solidFill>
                <a:srgbClr val="0563C1"/>
              </a:solidFill>
              <a:latin typeface="Calibri"/>
              <a:ea typeface="Calibri"/>
              <a:cs typeface="Calibri"/>
              <a:sym typeface="Calibri"/>
            </a:endParaRPr>
          </a:p>
        </p:txBody>
      </p:sp>
      <p:sp>
        <p:nvSpPr>
          <p:cNvPr id="186" name="Google Shape;186;p27"/>
          <p:cNvSpPr txBox="1"/>
          <p:nvPr/>
        </p:nvSpPr>
        <p:spPr>
          <a:xfrm>
            <a:off x="36575" y="2894075"/>
            <a:ext cx="4471800" cy="1634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9700" algn="l" rtl="0">
              <a:spcBef>
                <a:spcPts val="0"/>
              </a:spcBef>
              <a:spcAft>
                <a:spcPts val="0"/>
              </a:spcAft>
              <a:buClr>
                <a:srgbClr val="FF0000"/>
              </a:buClr>
              <a:buSzPts val="1300"/>
              <a:buFont typeface="Calibri"/>
              <a:buChar char="●"/>
            </a:pPr>
            <a:r>
              <a:rPr lang="en" sz="1300" b="1">
                <a:solidFill>
                  <a:srgbClr val="FF0000"/>
                </a:solidFill>
                <a:latin typeface="Calibri"/>
                <a:ea typeface="Calibri"/>
                <a:cs typeface="Calibri"/>
                <a:sym typeface="Calibri"/>
              </a:rPr>
              <a:t>Google tests a family agent with its own cloud computer</a:t>
            </a:r>
            <a:endParaRPr sz="13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Google Labs is testing an agent for households that runs </a:t>
            </a:r>
            <a:br>
              <a:rPr lang="en" sz="1200">
                <a:latin typeface="Calibri"/>
                <a:ea typeface="Calibri"/>
                <a:cs typeface="Calibri"/>
                <a:sym typeface="Calibri"/>
              </a:rPr>
            </a:br>
            <a:r>
              <a:rPr lang="en" sz="1200">
                <a:latin typeface="Calibri"/>
                <a:ea typeface="Calibri"/>
                <a:cs typeface="Calibri"/>
                <a:sym typeface="Calibri"/>
              </a:rPr>
              <a:t>on </a:t>
            </a:r>
            <a:r>
              <a:rPr lang="en" sz="1200" b="1">
                <a:latin typeface="Calibri"/>
                <a:ea typeface="Calibri"/>
                <a:cs typeface="Calibri"/>
                <a:sym typeface="Calibri"/>
              </a:rPr>
              <a:t>its own cloud computer</a:t>
            </a:r>
            <a:r>
              <a:rPr lang="en" sz="1200">
                <a:latin typeface="Calibri"/>
                <a:ea typeface="Calibri"/>
                <a:cs typeface="Calibri"/>
                <a:sym typeface="Calibri"/>
              </a:rPr>
              <a:t> and Google account</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It turns the email, files and calendars a family shares </a:t>
            </a:r>
            <a:br>
              <a:rPr lang="en" sz="1200">
                <a:latin typeface="Calibri"/>
                <a:ea typeface="Calibri"/>
                <a:cs typeface="Calibri"/>
                <a:sym typeface="Calibri"/>
              </a:rPr>
            </a:br>
            <a:r>
              <a:rPr lang="en" sz="1200">
                <a:latin typeface="Calibri"/>
                <a:ea typeface="Calibri"/>
                <a:cs typeface="Calibri"/>
                <a:sym typeface="Calibri"/>
              </a:rPr>
              <a:t>into daily briefings and updated plans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It fills out forms and coordinates activities for up to </a:t>
            </a:r>
            <a:r>
              <a:rPr lang="en" sz="1200">
                <a:highlight>
                  <a:srgbClr val="FFF2CC"/>
                </a:highlight>
                <a:latin typeface="Calibri"/>
                <a:ea typeface="Calibri"/>
                <a:cs typeface="Calibri"/>
                <a:sym typeface="Calibri"/>
              </a:rPr>
              <a:t>six people</a:t>
            </a:r>
            <a:endParaRPr sz="1200">
              <a:highlight>
                <a:srgbClr val="FFF2CC"/>
              </a:highlight>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It asks permission before acting outside the group</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A US experiment for now, with a waitlist</a:t>
            </a:r>
            <a:endParaRPr sz="1200">
              <a:latin typeface="Calibri"/>
              <a:ea typeface="Calibri"/>
              <a:cs typeface="Calibri"/>
              <a:sym typeface="Calibri"/>
            </a:endParaRPr>
          </a:p>
          <a:p>
            <a:pPr marL="171450" lvl="0" indent="-107950" algn="l" rtl="0">
              <a:spcBef>
                <a:spcPts val="0"/>
              </a:spcBef>
              <a:spcAft>
                <a:spcPts val="0"/>
              </a:spcAft>
              <a:buSzPts val="800"/>
              <a:buFont typeface="Calibri"/>
              <a:buChar char="●"/>
            </a:pPr>
            <a:r>
              <a:rPr lang="en" sz="800" u="sng">
                <a:solidFill>
                  <a:srgbClr val="0563C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https://blog.google/innovation-and-ai/models-and-research/google-labs/cc-expanding-to-groups</a:t>
            </a:r>
            <a:endParaRPr sz="800">
              <a:solidFill>
                <a:srgbClr val="0563C1"/>
              </a:solidFill>
              <a:latin typeface="Calibri"/>
              <a:ea typeface="Calibri"/>
              <a:cs typeface="Calibri"/>
              <a:sym typeface="Calibri"/>
            </a:endParaRPr>
          </a:p>
        </p:txBody>
      </p:sp>
      <p:pic>
        <p:nvPicPr>
          <p:cNvPr id="187" name="Google Shape;187;p27"/>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4925200" y="3098900"/>
            <a:ext cx="1676726" cy="1225050"/>
          </a:xfrm>
          <a:prstGeom prst="rect">
            <a:avLst/>
          </a:prstGeom>
          <a:noFill/>
          <a:ln w="9525" cap="flat" cmpd="sng">
            <a:solidFill>
              <a:srgbClr val="FF0000"/>
            </a:solidFill>
            <a:prstDash val="solid"/>
            <a:round/>
            <a:headEnd type="none" w="sm" len="sm"/>
            <a:tailEnd type="none" w="sm" len="sm"/>
          </a:ln>
        </p:spPr>
      </p:pic>
      <p:pic>
        <p:nvPicPr>
          <p:cNvPr id="188" name="Google Shape;188;p2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925212" y="806963"/>
            <a:ext cx="3570487" cy="17693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8"/>
          <p:cNvSpPr txBox="1"/>
          <p:nvPr/>
        </p:nvSpPr>
        <p:spPr>
          <a:xfrm>
            <a:off x="36576" y="-27432"/>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194" name="Google Shape;194;p28"/>
          <p:cNvSpPr txBox="1"/>
          <p:nvPr/>
        </p:nvSpPr>
        <p:spPr>
          <a:xfrm>
            <a:off x="36575" y="402441"/>
            <a:ext cx="4980600" cy="1449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makes biomolecular modeling 4 times faster</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Anthropic used Claude to optimize </a:t>
            </a:r>
            <a:r>
              <a:rPr lang="en" sz="1200" b="1">
                <a:latin typeface="Calibri"/>
                <a:ea typeface="Calibri"/>
                <a:cs typeface="Calibri"/>
                <a:sym typeface="Calibri"/>
              </a:rPr>
              <a:t>more than 30</a:t>
            </a:r>
            <a:r>
              <a:rPr lang="en" sz="1200">
                <a:latin typeface="Calibri"/>
                <a:ea typeface="Calibri"/>
                <a:cs typeface="Calibri"/>
                <a:sym typeface="Calibri"/>
              </a:rPr>
              <a:t> biomolecular models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Structure prediction now runs </a:t>
            </a:r>
            <a:r>
              <a:rPr lang="en" sz="1200">
                <a:highlight>
                  <a:srgbClr val="FFF2CC"/>
                </a:highlight>
                <a:latin typeface="Calibri"/>
                <a:ea typeface="Calibri"/>
                <a:cs typeface="Calibri"/>
                <a:sym typeface="Calibri"/>
              </a:rPr>
              <a:t>4x</a:t>
            </a:r>
            <a:r>
              <a:rPr lang="en" sz="1200">
                <a:latin typeface="Calibri"/>
                <a:ea typeface="Calibri"/>
                <a:cs typeface="Calibri"/>
                <a:sym typeface="Calibri"/>
              </a:rPr>
              <a:t> faster</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A new low-memory mode predicts larger systems on a </a:t>
            </a:r>
            <a:r>
              <a:rPr lang="en" sz="1200" b="1">
                <a:latin typeface="Calibri"/>
                <a:ea typeface="Calibri"/>
                <a:cs typeface="Calibri"/>
                <a:sym typeface="Calibri"/>
              </a:rPr>
              <a:t>single NVIDIA GPU</a:t>
            </a:r>
            <a:endParaRPr sz="1200" b="1">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Open-sourced for protein design and structure prediction</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A protein design competition with Adaptyv Bio </a:t>
            </a:r>
            <a:br>
              <a:rPr lang="en" sz="1200">
                <a:latin typeface="Calibri"/>
                <a:ea typeface="Calibri"/>
                <a:cs typeface="Calibri"/>
                <a:sym typeface="Calibri"/>
              </a:rPr>
            </a:br>
            <a:r>
              <a:rPr lang="en" sz="1200">
                <a:latin typeface="Calibri"/>
                <a:ea typeface="Calibri"/>
                <a:cs typeface="Calibri"/>
                <a:sym typeface="Calibri"/>
              </a:rPr>
              <a:t>offers up to </a:t>
            </a:r>
            <a:r>
              <a:rPr lang="en" sz="1200">
                <a:highlight>
                  <a:srgbClr val="FFF2CC"/>
                </a:highlight>
                <a:latin typeface="Calibri"/>
                <a:ea typeface="Calibri"/>
                <a:cs typeface="Calibri"/>
                <a:sym typeface="Calibri"/>
              </a:rPr>
              <a:t>$1 Mln</a:t>
            </a:r>
            <a:r>
              <a:rPr lang="en" sz="1200">
                <a:latin typeface="Calibri"/>
                <a:ea typeface="Calibri"/>
                <a:cs typeface="Calibri"/>
                <a:sym typeface="Calibri"/>
              </a:rPr>
              <a:t> in Claude credits</a:t>
            </a:r>
            <a:endParaRPr sz="12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rgbClr val="0563C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https://www.anthropic.com/research/claude-uplifts-biomolecular-modeling</a:t>
            </a:r>
            <a:endParaRPr sz="900">
              <a:solidFill>
                <a:srgbClr val="0563C1"/>
              </a:solidFill>
              <a:latin typeface="Calibri"/>
              <a:ea typeface="Calibri"/>
              <a:cs typeface="Calibri"/>
              <a:sym typeface="Calibri"/>
            </a:endParaRPr>
          </a:p>
        </p:txBody>
      </p:sp>
      <p:sp>
        <p:nvSpPr>
          <p:cNvPr id="195" name="Google Shape;195;p28"/>
          <p:cNvSpPr txBox="1"/>
          <p:nvPr/>
        </p:nvSpPr>
        <p:spPr>
          <a:xfrm>
            <a:off x="36575" y="1913072"/>
            <a:ext cx="49806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Jev gets six open clones in two days</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b="1">
                <a:solidFill>
                  <a:srgbClr val="FF0000"/>
                </a:solidFill>
                <a:latin typeface="Calibri"/>
                <a:ea typeface="Calibri"/>
                <a:cs typeface="Calibri"/>
                <a:sym typeface="Calibri"/>
              </a:rPr>
              <a:t>TypeSafe's Jev </a:t>
            </a:r>
            <a:r>
              <a:rPr lang="en" sz="1200">
                <a:latin typeface="Calibri"/>
                <a:ea typeface="Calibri"/>
                <a:cs typeface="Calibri"/>
                <a:sym typeface="Calibri"/>
              </a:rPr>
              <a:t>- a model that decides instead of writing text</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Attracted </a:t>
            </a:r>
            <a:r>
              <a:rPr lang="en" sz="1200">
                <a:highlight>
                  <a:srgbClr val="FFF2CC"/>
                </a:highlight>
                <a:latin typeface="Calibri"/>
                <a:ea typeface="Calibri"/>
                <a:cs typeface="Calibri"/>
                <a:sym typeface="Calibri"/>
              </a:rPr>
              <a:t>36M</a:t>
            </a:r>
            <a:r>
              <a:rPr lang="en" sz="1200">
                <a:latin typeface="Calibri"/>
                <a:ea typeface="Calibri"/>
                <a:cs typeface="Calibri"/>
                <a:sym typeface="Calibri"/>
              </a:rPr>
              <a:t> views of its launch video in two days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On Vercel's AI Gateway it reached 13% of teams on day one</a:t>
            </a:r>
            <a:endParaRPr sz="1200">
              <a:latin typeface="Calibri"/>
              <a:ea typeface="Calibri"/>
              <a:cs typeface="Calibri"/>
              <a:sym typeface="Calibri"/>
            </a:endParaRPr>
          </a:p>
          <a:p>
            <a:pPr marL="171450" lvl="0" indent="-133350" algn="l" rtl="0">
              <a:spcBef>
                <a:spcPts val="0"/>
              </a:spcBef>
              <a:spcAft>
                <a:spcPts val="0"/>
              </a:spcAft>
              <a:buSzPts val="1200"/>
              <a:buChar char="●"/>
            </a:pPr>
            <a:r>
              <a:rPr lang="en" sz="1200">
                <a:latin typeface="Calibri"/>
                <a:ea typeface="Calibri"/>
                <a:cs typeface="Calibri"/>
                <a:sym typeface="Calibri"/>
              </a:rPr>
              <a:t>Six open look-alikes appeared within two days, from a </a:t>
            </a:r>
            <a:r>
              <a:rPr lang="en" sz="1200" b="1">
                <a:solidFill>
                  <a:srgbClr val="3C78D8"/>
                </a:solidFill>
                <a:latin typeface="Calibri"/>
                <a:ea typeface="Calibri"/>
                <a:cs typeface="Calibri"/>
                <a:sym typeface="Calibri"/>
              </a:rPr>
              <a:t>421M ModernBERT </a:t>
            </a:r>
            <a:r>
              <a:rPr lang="en" sz="1200">
                <a:latin typeface="Calibri"/>
                <a:ea typeface="Calibri"/>
                <a:cs typeface="Calibri"/>
                <a:sym typeface="Calibri"/>
              </a:rPr>
              <a:t>scorer to </a:t>
            </a:r>
            <a:r>
              <a:rPr lang="en" sz="1200" b="1">
                <a:solidFill>
                  <a:srgbClr val="3C78D8"/>
                </a:solidFill>
                <a:latin typeface="Calibri"/>
                <a:ea typeface="Calibri"/>
                <a:cs typeface="Calibri"/>
                <a:sym typeface="Calibri"/>
              </a:rPr>
              <a:t>Kev-0.5B</a:t>
            </a:r>
            <a:endParaRPr sz="1200" b="1">
              <a:solidFill>
                <a:srgbClr val="3C78D8"/>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b="1">
                <a:solidFill>
                  <a:srgbClr val="3C78D8"/>
                </a:solidFill>
                <a:latin typeface="Calibri"/>
                <a:ea typeface="Calibri"/>
                <a:cs typeface="Calibri"/>
                <a:sym typeface="Calibri"/>
              </a:rPr>
              <a:t>Bespoke Nimble</a:t>
            </a:r>
            <a:r>
              <a:rPr lang="en" sz="1200">
                <a:latin typeface="Calibri"/>
                <a:ea typeface="Calibri"/>
                <a:cs typeface="Calibri"/>
                <a:sym typeface="Calibri"/>
              </a:rPr>
              <a:t>, a LoRA of Qwen3.5-9B, scored </a:t>
            </a:r>
            <a:r>
              <a:rPr lang="en" sz="1200" b="1">
                <a:latin typeface="Calibri"/>
                <a:ea typeface="Calibri"/>
                <a:cs typeface="Calibri"/>
                <a:sym typeface="Calibri"/>
              </a:rPr>
              <a:t>90%</a:t>
            </a:r>
            <a:r>
              <a:rPr lang="en" sz="1200">
                <a:latin typeface="Calibri"/>
                <a:ea typeface="Calibri"/>
                <a:cs typeface="Calibri"/>
                <a:sym typeface="Calibri"/>
              </a:rPr>
              <a:t> on its own eval </a:t>
            </a:r>
            <a:br>
              <a:rPr lang="en" sz="1200">
                <a:latin typeface="Calibri"/>
                <a:ea typeface="Calibri"/>
                <a:cs typeface="Calibri"/>
                <a:sym typeface="Calibri"/>
              </a:rPr>
            </a:br>
            <a:r>
              <a:rPr lang="en" sz="1200">
                <a:latin typeface="Calibri"/>
                <a:ea typeface="Calibri"/>
                <a:cs typeface="Calibri"/>
                <a:sym typeface="Calibri"/>
              </a:rPr>
              <a:t>versus 93% for </a:t>
            </a:r>
            <a:r>
              <a:rPr lang="en" sz="1200" b="1">
                <a:solidFill>
                  <a:srgbClr val="3C78D8"/>
                </a:solidFill>
                <a:latin typeface="Calibri"/>
                <a:ea typeface="Calibri"/>
                <a:cs typeface="Calibri"/>
                <a:sym typeface="Calibri"/>
              </a:rPr>
              <a:t>Jev</a:t>
            </a:r>
            <a:r>
              <a:rPr lang="en" sz="1200">
                <a:latin typeface="Calibri"/>
                <a:ea typeface="Calibri"/>
                <a:cs typeface="Calibri"/>
                <a:sym typeface="Calibri"/>
              </a:rPr>
              <a:t>, at 100 ms on an H100</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b="1">
                <a:solidFill>
                  <a:srgbClr val="3C78D8"/>
                </a:solidFill>
                <a:latin typeface="Calibri"/>
                <a:ea typeface="Calibri"/>
                <a:cs typeface="Calibri"/>
                <a:sym typeface="Calibri"/>
              </a:rPr>
              <a:t>LangChain</a:t>
            </a:r>
            <a:r>
              <a:rPr lang="en" sz="1200">
                <a:latin typeface="Calibri"/>
                <a:ea typeface="Calibri"/>
                <a:cs typeface="Calibri"/>
                <a:sym typeface="Calibri"/>
              </a:rPr>
              <a:t> used Jev as an eval judge ($0.34 vs $28 for Claude)</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b="1">
                <a:solidFill>
                  <a:srgbClr val="3C78D8"/>
                </a:solidFill>
                <a:latin typeface="Calibri"/>
                <a:ea typeface="Calibri"/>
                <a:cs typeface="Calibri"/>
                <a:sym typeface="Calibri"/>
              </a:rPr>
              <a:t>Fast-jev-compaction trims a Claude Code session</a:t>
            </a:r>
            <a:r>
              <a:rPr lang="en" sz="1200">
                <a:latin typeface="Calibri"/>
                <a:ea typeface="Calibri"/>
                <a:cs typeface="Calibri"/>
                <a:sym typeface="Calibri"/>
              </a:rPr>
              <a:t> by up to 90% by asking which old tool calls still matter</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b="1">
                <a:solidFill>
                  <a:srgbClr val="3C78D8"/>
                </a:solidFill>
                <a:latin typeface="Calibri"/>
                <a:ea typeface="Calibri"/>
                <a:cs typeface="Calibri"/>
                <a:sym typeface="Calibri"/>
              </a:rPr>
              <a:t>pg-jev in Postgres</a:t>
            </a:r>
            <a:r>
              <a:rPr lang="en" sz="1200">
                <a:latin typeface="Calibri"/>
                <a:ea typeface="Calibri"/>
                <a:cs typeface="Calibri"/>
                <a:sym typeface="Calibri"/>
              </a:rPr>
              <a:t>: </a:t>
            </a:r>
            <a:r>
              <a:rPr lang="en" sz="1200" b="1">
                <a:solidFill>
                  <a:srgbClr val="FF0000"/>
                </a:solidFill>
                <a:latin typeface="Calibri"/>
                <a:ea typeface="Calibri"/>
                <a:cs typeface="Calibri"/>
                <a:sym typeface="Calibri"/>
              </a:rPr>
              <a:t>WHERE jev(people, 'the name is European')</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b="1">
                <a:solidFill>
                  <a:srgbClr val="3C78D8"/>
                </a:solidFill>
                <a:latin typeface="Calibri"/>
                <a:ea typeface="Calibri"/>
                <a:cs typeface="Calibri"/>
                <a:sym typeface="Calibri"/>
              </a:rPr>
              <a:t>Needle, an open-source Chrome extension</a:t>
            </a:r>
            <a:r>
              <a:rPr lang="en" sz="1200">
                <a:latin typeface="Calibri"/>
                <a:ea typeface="Calibri"/>
                <a:cs typeface="Calibri"/>
                <a:sym typeface="Calibri"/>
              </a:rPr>
              <a:t>, highlights the sentences that answer your question instead of writing an answer</a:t>
            </a:r>
            <a:endParaRPr sz="1200">
              <a:latin typeface="Calibri"/>
              <a:ea typeface="Calibri"/>
              <a:cs typeface="Calibri"/>
              <a:sym typeface="Calibri"/>
            </a:endParaRPr>
          </a:p>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The API is free on Vercel's AI Gateway until Sept 25</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u="sng">
                <a:solidFill>
                  <a:srgbClr val="0563C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https://www.latent.space/p/ainews-here-are-6-clones-of-jev-in</a:t>
            </a:r>
            <a:endParaRPr sz="1200">
              <a:solidFill>
                <a:srgbClr val="0563C1"/>
              </a:solidFill>
              <a:latin typeface="Calibri"/>
              <a:ea typeface="Calibri"/>
              <a:cs typeface="Calibri"/>
              <a:sym typeface="Calibri"/>
            </a:endParaRPr>
          </a:p>
          <a:p>
            <a:pPr marL="171450" lvl="0" indent="-133350" algn="l" rtl="0">
              <a:spcBef>
                <a:spcPts val="0"/>
              </a:spcBef>
              <a:spcAft>
                <a:spcPts val="0"/>
              </a:spcAft>
              <a:buClr>
                <a:srgbClr val="0563C1"/>
              </a:buClr>
              <a:buSzPts val="1200"/>
              <a:buFont typeface="Calibri"/>
              <a:buChar char="●"/>
            </a:pPr>
            <a:r>
              <a:rPr lang="en" sz="1200" u="sng">
                <a:solidFill>
                  <a:schemeClr val="hlink"/>
                </a:solidFill>
                <a:latin typeface="Calibri"/>
                <a:ea typeface="Calibri"/>
                <a:cs typeface="Calibri"/>
                <a:sym typeface="Calibri"/>
                <a:hlinkClick r:id="rId5"/>
              </a:rPr>
              <a:t>https://typesafe.ai</a:t>
            </a:r>
            <a:r>
              <a:rPr lang="en" sz="1200">
                <a:solidFill>
                  <a:srgbClr val="0563C1"/>
                </a:solidFill>
                <a:latin typeface="Calibri"/>
                <a:ea typeface="Calibri"/>
                <a:cs typeface="Calibri"/>
                <a:sym typeface="Calibri"/>
              </a:rPr>
              <a:t> </a:t>
            </a:r>
            <a:endParaRPr sz="1200">
              <a:solidFill>
                <a:srgbClr val="0563C1"/>
              </a:solidFill>
              <a:latin typeface="Calibri"/>
              <a:ea typeface="Calibri"/>
              <a:cs typeface="Calibri"/>
              <a:sym typeface="Calibri"/>
            </a:endParaRPr>
          </a:p>
        </p:txBody>
      </p:sp>
      <p:pic>
        <p:nvPicPr>
          <p:cNvPr id="196" name="Google Shape;196;p2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074441" y="66432"/>
            <a:ext cx="3621238" cy="1449899"/>
          </a:xfrm>
          <a:prstGeom prst="rect">
            <a:avLst/>
          </a:prstGeom>
          <a:noFill/>
          <a:ln w="9525" cap="flat" cmpd="sng">
            <a:solidFill>
              <a:srgbClr val="FF0000"/>
            </a:solidFill>
            <a:prstDash val="solid"/>
            <a:round/>
            <a:headEnd type="none" w="sm" len="sm"/>
            <a:tailEnd type="none" w="sm" len="sm"/>
          </a:ln>
        </p:spPr>
      </p:pic>
      <p:pic>
        <p:nvPicPr>
          <p:cNvPr id="197" name="Google Shape;197;p2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074450" y="1857769"/>
            <a:ext cx="1654349" cy="463425"/>
          </a:xfrm>
          <a:prstGeom prst="rect">
            <a:avLst/>
          </a:prstGeom>
          <a:noFill/>
          <a:ln w="9525" cap="flat" cmpd="sng">
            <a:solidFill>
              <a:srgbClr val="FF0000"/>
            </a:solidFill>
            <a:prstDash val="solid"/>
            <a:round/>
            <a:headEnd type="none" w="sm" len="sm"/>
            <a:tailEnd type="none" w="sm" len="sm"/>
          </a:ln>
        </p:spPr>
      </p:pic>
      <p:pic>
        <p:nvPicPr>
          <p:cNvPr id="198" name="Google Shape;198;p28"/>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074450" y="2373750"/>
            <a:ext cx="4021175" cy="268076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9"/>
          <p:cNvSpPr txBox="1"/>
          <p:nvPr/>
        </p:nvSpPr>
        <p:spPr>
          <a:xfrm>
            <a:off x="66307" y="61762"/>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204" name="Google Shape;204;p29"/>
          <p:cNvSpPr txBox="1"/>
          <p:nvPr/>
        </p:nvSpPr>
        <p:spPr>
          <a:xfrm>
            <a:off x="110900" y="433700"/>
            <a:ext cx="3918600" cy="1449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Up to 5x cost diff for Harnesses</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Same model, same task, up to 5x the cost</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A study of 7 models and 3 harnesses (21 pairs)</a:t>
            </a:r>
            <a:endParaRPr sz="1200">
              <a:latin typeface="Calibri"/>
              <a:ea typeface="Calibri"/>
              <a:cs typeface="Calibri"/>
              <a:sym typeface="Calibri"/>
            </a:endParaRPr>
          </a:p>
          <a:p>
            <a:pPr marL="171450" lvl="0" indent="-133350" algn="l" rtl="0">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Harness choice barely changes whether the task succeeds</a:t>
            </a:r>
            <a:endParaRPr sz="1200" b="1">
              <a:solidFill>
                <a:srgbClr val="3C78D8"/>
              </a:solidFill>
              <a:latin typeface="Calibri"/>
              <a:ea typeface="Calibri"/>
              <a:cs typeface="Calibri"/>
              <a:sym typeface="Calibri"/>
            </a:endParaRPr>
          </a:p>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It changes the bill a lot: up to 5x for the same work</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A simple harness is often as good as a complicated one</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A model is not always best inside its own vendor's harness</a:t>
            </a:r>
            <a:endParaRPr sz="12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https://arena.ai/blog/coding-agents-harness-tax</a:t>
            </a:r>
            <a:r>
              <a:rPr lang="en" sz="900">
                <a:latin typeface="Calibri"/>
                <a:ea typeface="Calibri"/>
                <a:cs typeface="Calibri"/>
                <a:sym typeface="Calibri"/>
              </a:rPr>
              <a:t> </a:t>
            </a:r>
            <a:endParaRPr sz="900">
              <a:latin typeface="Calibri"/>
              <a:ea typeface="Calibri"/>
              <a:cs typeface="Calibri"/>
              <a:sym typeface="Calibri"/>
            </a:endParaRPr>
          </a:p>
        </p:txBody>
      </p:sp>
      <p:sp>
        <p:nvSpPr>
          <p:cNvPr id="205" name="Google Shape;205;p29"/>
          <p:cNvSpPr txBox="1"/>
          <p:nvPr/>
        </p:nvSpPr>
        <p:spPr>
          <a:xfrm>
            <a:off x="110900" y="1988594"/>
            <a:ext cx="4720500" cy="1403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Qwen3.8-LiveTranslate </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Interprets 60 languages with 2.3s lag</a:t>
            </a:r>
            <a:endParaRPr sz="1200" b="1">
              <a:solidFill>
                <a:srgbClr val="3C78D8"/>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It understands 60 languages and speaks 29</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New: real-time speaker diarization and a synchronized bilingual display</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An hour of speech in and out costs about $1.54 at Singapore pricing</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API only through Model Studio, with no open weights</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https://qwen.ai/blog?id=qwen3.8-livetranslate</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5"/>
              </a:rPr>
              <a:t>https://help.aliyun.com/en/model-studio/qwen3-8-livetranslate-flash-realtime</a:t>
            </a:r>
            <a:r>
              <a:rPr lang="en" sz="900">
                <a:latin typeface="Calibri"/>
                <a:ea typeface="Calibri"/>
                <a:cs typeface="Calibri"/>
                <a:sym typeface="Calibri"/>
              </a:rPr>
              <a:t> </a:t>
            </a:r>
            <a:endParaRPr sz="900">
              <a:latin typeface="Calibri"/>
              <a:ea typeface="Calibri"/>
              <a:cs typeface="Calibri"/>
              <a:sym typeface="Calibri"/>
            </a:endParaRPr>
          </a:p>
        </p:txBody>
      </p:sp>
      <p:pic>
        <p:nvPicPr>
          <p:cNvPr id="206" name="Google Shape;206;p29"/>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4108025" y="61750"/>
            <a:ext cx="2575350" cy="945849"/>
          </a:xfrm>
          <a:prstGeom prst="rect">
            <a:avLst/>
          </a:prstGeom>
          <a:noFill/>
          <a:ln w="9525" cap="flat" cmpd="sng">
            <a:solidFill>
              <a:srgbClr val="FF0000"/>
            </a:solidFill>
            <a:prstDash val="solid"/>
            <a:round/>
            <a:headEnd type="none" w="sm" len="sm"/>
            <a:tailEnd type="none" w="sm" len="sm"/>
          </a:ln>
        </p:spPr>
      </p:pic>
      <p:sp>
        <p:nvSpPr>
          <p:cNvPr id="207" name="Google Shape;207;p29"/>
          <p:cNvSpPr txBox="1"/>
          <p:nvPr/>
        </p:nvSpPr>
        <p:spPr>
          <a:xfrm>
            <a:off x="110888" y="3518423"/>
            <a:ext cx="5775900" cy="1542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 2026.9.5 updates itself without breaking</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The new version is now checked against a </a:t>
            </a:r>
            <a:r>
              <a:rPr lang="en" sz="1200" b="1">
                <a:latin typeface="Calibri"/>
                <a:ea typeface="Calibri"/>
                <a:cs typeface="Calibri"/>
                <a:sym typeface="Calibri"/>
              </a:rPr>
              <a:t>private copy of your setup</a:t>
            </a:r>
            <a:r>
              <a:rPr lang="en" sz="1200">
                <a:latin typeface="Calibri"/>
                <a:ea typeface="Calibri"/>
                <a:cs typeface="Calibri"/>
                <a:sym typeface="Calibri"/>
              </a:rPr>
              <a:t> before it goes live</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The current gateway keeps running while that happens, and a failed update rolls back</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Rollback cannot undo database migrations, so back up first</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Plugins hot reload, conversations can be shared, and GPT Live support is wider</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The release bundles </a:t>
            </a:r>
            <a:r>
              <a:rPr lang="en" sz="1200">
                <a:highlight>
                  <a:srgbClr val="FFF2CC"/>
                </a:highlight>
                <a:latin typeface="Calibri"/>
                <a:ea typeface="Calibri"/>
                <a:cs typeface="Calibri"/>
                <a:sym typeface="Calibri"/>
              </a:rPr>
              <a:t>4,179 pull requests</a:t>
            </a:r>
            <a:r>
              <a:rPr lang="en" sz="1200">
                <a:latin typeface="Calibri"/>
                <a:ea typeface="Calibri"/>
                <a:cs typeface="Calibri"/>
                <a:sym typeface="Calibri"/>
              </a:rPr>
              <a:t> from 502 contributing accounts</a:t>
            </a:r>
            <a:endParaRPr sz="12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7"/>
              </a:rPr>
              <a:t>https://docs.openclaw.ai/releases/2026.9.5</a:t>
            </a:r>
            <a:r>
              <a:rPr lang="en" sz="900">
                <a:latin typeface="Calibri"/>
                <a:ea typeface="Calibri"/>
                <a:cs typeface="Calibri"/>
                <a:sym typeface="Calibri"/>
              </a:rPr>
              <a:t> </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8"/>
              </a:rPr>
              <a:t>https://openclaw.ai/blog/shipping-openclaw-updates-that-dont-break</a:t>
            </a:r>
            <a:r>
              <a:rPr lang="en" sz="900">
                <a:latin typeface="Calibri"/>
                <a:ea typeface="Calibri"/>
                <a:cs typeface="Calibri"/>
                <a:sym typeface="Calibri"/>
              </a:rPr>
              <a:t> </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9"/>
              </a:rPr>
              <a:t>https://www.youtube.com/watch?v=67oinOQYI-o</a:t>
            </a:r>
            <a:r>
              <a:rPr lang="en" sz="900">
                <a:latin typeface="Calibri"/>
                <a:ea typeface="Calibri"/>
                <a:cs typeface="Calibri"/>
                <a:sym typeface="Calibri"/>
              </a:rPr>
              <a:t> </a:t>
            </a:r>
            <a:endParaRPr sz="900">
              <a:latin typeface="Calibri"/>
              <a:ea typeface="Calibri"/>
              <a:cs typeface="Calibri"/>
              <a:sym typeface="Calibri"/>
            </a:endParaRPr>
          </a:p>
        </p:txBody>
      </p:sp>
      <p:pic>
        <p:nvPicPr>
          <p:cNvPr id="208" name="Google Shape;208;p29"/>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5990825" y="4191531"/>
            <a:ext cx="3056249" cy="691875"/>
          </a:xfrm>
          <a:prstGeom prst="rect">
            <a:avLst/>
          </a:prstGeom>
          <a:noFill/>
          <a:ln>
            <a:noFill/>
          </a:ln>
        </p:spPr>
      </p:pic>
      <p:pic>
        <p:nvPicPr>
          <p:cNvPr id="209" name="Google Shape;209;p29"/>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4899942" y="1334000"/>
            <a:ext cx="4202798" cy="205829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0"/>
          <p:cNvSpPr txBox="1"/>
          <p:nvPr/>
        </p:nvSpPr>
        <p:spPr>
          <a:xfrm>
            <a:off x="36576" y="-27432"/>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215" name="Google Shape;215;p30"/>
          <p:cNvSpPr txBox="1"/>
          <p:nvPr/>
        </p:nvSpPr>
        <p:spPr>
          <a:xfrm>
            <a:off x="36576" y="321207"/>
            <a:ext cx="56694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merges chat and Cowork</a:t>
            </a:r>
            <a:endParaRPr sz="1200" b="1">
              <a:solidFill>
                <a:srgbClr val="FF0000"/>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adds Docs, Slides and Design</a:t>
            </a:r>
            <a:endParaRPr sz="1200" b="1">
              <a:solidFill>
                <a:srgbClr val="3C78D8"/>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Cowork and chat are now one Claude app</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Hand off a task, close the laptop, and Claude keeps working; it asks you when stuck</a:t>
            </a:r>
            <a:endParaRPr sz="1200">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Claude Docs: edit text yourself or leave comments for Claude to handle</a:t>
            </a:r>
            <a:endParaRPr sz="1200">
              <a:solidFill>
                <a:srgbClr val="3C78D8"/>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Claude Slides: build a deck, present from Claude, or export to PowerPoint or PDF</a:t>
            </a:r>
            <a:endParaRPr sz="1200">
              <a:solidFill>
                <a:srgbClr val="3C78D8"/>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Claude Design mocks up visuals inside the same chat</a:t>
            </a:r>
            <a:endParaRPr sz="1200">
              <a:solidFill>
                <a:srgbClr val="3C78D8"/>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Pro and Max first, over the next few weeks; Team and Free later</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Enterprise admins get at least </a:t>
            </a:r>
            <a:r>
              <a:rPr lang="en" sz="1200">
                <a:highlight>
                  <a:srgbClr val="FFF2CC"/>
                </a:highlight>
                <a:latin typeface="Calibri"/>
                <a:ea typeface="Calibri"/>
                <a:cs typeface="Calibri"/>
                <a:sym typeface="Calibri"/>
              </a:rPr>
              <a:t>30 days</a:t>
            </a:r>
            <a:r>
              <a:rPr lang="en" sz="1200">
                <a:latin typeface="Calibri"/>
                <a:ea typeface="Calibri"/>
                <a:cs typeface="Calibri"/>
                <a:sym typeface="Calibri"/>
              </a:rPr>
              <a:t> notice</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900" u="sng">
                <a:solidFill>
                  <a:srgbClr val="0563C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https://claude.com/blog/cowork-is-now-claude</a:t>
            </a:r>
            <a:endParaRPr sz="900">
              <a:solidFill>
                <a:srgbClr val="0563C1"/>
              </a:solidFill>
              <a:latin typeface="Calibri"/>
              <a:ea typeface="Calibri"/>
              <a:cs typeface="Calibri"/>
              <a:sym typeface="Calibri"/>
            </a:endParaRPr>
          </a:p>
        </p:txBody>
      </p:sp>
      <p:sp>
        <p:nvSpPr>
          <p:cNvPr id="216" name="Google Shape;216;p30"/>
          <p:cNvSpPr txBox="1"/>
          <p:nvPr/>
        </p:nvSpPr>
        <p:spPr>
          <a:xfrm>
            <a:off x="36576" y="2238145"/>
            <a:ext cx="56694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Code Projects run parallel agents in the cloud</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A project is now a conversation, not a folder</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Describe a goal and Claude splits it into parallel cloud threads</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Each thread gets its own branch and repo copy, runs tests and opens pull requests</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A coordinator assembles results; merge conflicts are handled like normal PRs</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Threads keep running after you close the laptop; check in from your phone</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Beta for select Pro and Max users, then Team and Enterprise</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900" u="sng">
                <a:solidFill>
                  <a:srgbClr val="0563C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https://claude.com/blog/projects-redesigned</a:t>
            </a:r>
            <a:endParaRPr sz="900">
              <a:solidFill>
                <a:srgbClr val="0563C1"/>
              </a:solidFill>
              <a:latin typeface="Calibri"/>
              <a:ea typeface="Calibri"/>
              <a:cs typeface="Calibri"/>
              <a:sym typeface="Calibri"/>
            </a:endParaRPr>
          </a:p>
        </p:txBody>
      </p:sp>
      <p:pic>
        <p:nvPicPr>
          <p:cNvPr id="217" name="Google Shape;217;p30"/>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5812450" y="493569"/>
            <a:ext cx="3212075" cy="1599393"/>
          </a:xfrm>
          <a:prstGeom prst="rect">
            <a:avLst/>
          </a:prstGeom>
          <a:noFill/>
          <a:ln w="9525" cap="flat" cmpd="sng">
            <a:solidFill>
              <a:srgbClr val="FF0000"/>
            </a:solidFill>
            <a:prstDash val="solid"/>
            <a:round/>
            <a:headEnd type="none" w="sm" len="sm"/>
            <a:tailEnd type="none" w="sm" len="sm"/>
          </a:ln>
        </p:spPr>
      </p:pic>
      <p:pic>
        <p:nvPicPr>
          <p:cNvPr id="218" name="Google Shape;218;p3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858375" y="2579393"/>
            <a:ext cx="3120225" cy="813625"/>
          </a:xfrm>
          <a:prstGeom prst="rect">
            <a:avLst/>
          </a:prstGeom>
          <a:noFill/>
          <a:ln w="9525" cap="flat" cmpd="sng">
            <a:solidFill>
              <a:srgbClr val="FF0000"/>
            </a:solidFill>
            <a:prstDash val="solid"/>
            <a:round/>
            <a:headEnd type="none" w="sm" len="sm"/>
            <a:tailEnd type="none" w="sm" len="sm"/>
          </a:ln>
        </p:spPr>
      </p:pic>
      <p:sp>
        <p:nvSpPr>
          <p:cNvPr id="219" name="Google Shape;219;p30"/>
          <p:cNvSpPr txBox="1"/>
          <p:nvPr/>
        </p:nvSpPr>
        <p:spPr>
          <a:xfrm>
            <a:off x="36576" y="3785795"/>
            <a:ext cx="5669400" cy="1034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Anthropic’s AI-Native SDLC Playbook</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SDLC = software development lifecycle</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A 14-lesson guide for developers using Claude Code</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Six connected stages: Plan, Design, Build, Test, Deploy, and Maintain.</a:t>
            </a:r>
            <a:endParaRPr sz="1200">
              <a:latin typeface="Calibri"/>
              <a:ea typeface="Calibri"/>
              <a:cs typeface="Calibri"/>
              <a:sym typeface="Calibri"/>
            </a:endParaRPr>
          </a:p>
          <a:p>
            <a:pPr marL="22860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7"/>
              </a:rPr>
              <a:t>https://claude.com/blog/the-ai-native-sdlc-playbook</a:t>
            </a:r>
            <a:endParaRPr sz="900">
              <a:latin typeface="Calibri"/>
              <a:ea typeface="Calibri"/>
              <a:cs typeface="Calibri"/>
              <a:sym typeface="Calibri"/>
            </a:endParaRPr>
          </a:p>
          <a:p>
            <a:pPr marL="22860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8"/>
              </a:rPr>
              <a:t>https://academy.claude.com/courses/ai-native-sdlc-playbook</a:t>
            </a:r>
            <a:endParaRPr sz="900">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1"/>
          <p:cNvSpPr txBox="1"/>
          <p:nvPr/>
        </p:nvSpPr>
        <p:spPr>
          <a:xfrm>
            <a:off x="36572" y="-27425"/>
            <a:ext cx="44097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How to Avoid Frankenstein Code</a:t>
            </a:r>
            <a:endParaRPr sz="2000" b="1">
              <a:latin typeface="Calibri"/>
              <a:ea typeface="Calibri"/>
              <a:cs typeface="Calibri"/>
              <a:sym typeface="Calibri"/>
            </a:endParaRPr>
          </a:p>
        </p:txBody>
      </p:sp>
      <p:sp>
        <p:nvSpPr>
          <p:cNvPr id="225" name="Google Shape;225;p31"/>
          <p:cNvSpPr txBox="1"/>
          <p:nvPr/>
        </p:nvSpPr>
        <p:spPr>
          <a:xfrm>
            <a:off x="158225" y="430025"/>
            <a:ext cx="41865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33350" algn="l" rtl="0">
              <a:spcBef>
                <a:spcPts val="0"/>
              </a:spcBef>
              <a:spcAft>
                <a:spcPts val="0"/>
              </a:spcAft>
              <a:buSzPts val="1200"/>
              <a:buFont typeface="Calibri"/>
              <a:buChar char="●"/>
            </a:pPr>
            <a:r>
              <a:rPr lang="en" sz="1200">
                <a:latin typeface="Calibri"/>
                <a:ea typeface="Calibri"/>
                <a:cs typeface="Calibri"/>
                <a:sym typeface="Calibri"/>
              </a:rPr>
              <a:t>Frankenstein; or, The Modern Prometheus is an </a:t>
            </a:r>
            <a:r>
              <a:rPr lang="en" sz="1200" b="1">
                <a:solidFill>
                  <a:srgbClr val="FF0000"/>
                </a:solidFill>
                <a:latin typeface="Calibri"/>
                <a:ea typeface="Calibri"/>
                <a:cs typeface="Calibri"/>
                <a:sym typeface="Calibri"/>
              </a:rPr>
              <a:t>1818 novel </a:t>
            </a:r>
            <a:r>
              <a:rPr lang="en" sz="1200">
                <a:latin typeface="Calibri"/>
                <a:ea typeface="Calibri"/>
                <a:cs typeface="Calibri"/>
                <a:sym typeface="Calibri"/>
              </a:rPr>
              <a:t>written by </a:t>
            </a:r>
            <a:r>
              <a:rPr lang="en" sz="1200" b="1">
                <a:solidFill>
                  <a:srgbClr val="FF0000"/>
                </a:solidFill>
                <a:latin typeface="Calibri"/>
                <a:ea typeface="Calibri"/>
                <a:cs typeface="Calibri"/>
                <a:sym typeface="Calibri"/>
              </a:rPr>
              <a:t>English author Mary Shelley</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It tells the story of a scientist </a:t>
            </a:r>
            <a:r>
              <a:rPr lang="en" sz="1200" b="1">
                <a:solidFill>
                  <a:srgbClr val="FF0000"/>
                </a:solidFill>
                <a:latin typeface="Calibri"/>
                <a:ea typeface="Calibri"/>
                <a:cs typeface="Calibri"/>
                <a:sym typeface="Calibri"/>
              </a:rPr>
              <a:t>Victor Frankenstein</a:t>
            </a:r>
            <a:r>
              <a:rPr lang="en" sz="1200">
                <a:latin typeface="Calibri"/>
                <a:ea typeface="Calibri"/>
                <a:cs typeface="Calibri"/>
                <a:sym typeface="Calibri"/>
              </a:rPr>
              <a:t> who assembles an intelligent creature </a:t>
            </a:r>
            <a:r>
              <a:rPr lang="en" sz="1200" b="1">
                <a:solidFill>
                  <a:srgbClr val="FF0000"/>
                </a:solidFill>
                <a:latin typeface="Calibri"/>
                <a:ea typeface="Calibri"/>
                <a:cs typeface="Calibri"/>
                <a:sym typeface="Calibri"/>
              </a:rPr>
              <a:t>from dead human body parts</a:t>
            </a:r>
            <a:r>
              <a:rPr lang="en" sz="1200">
                <a:latin typeface="Calibri"/>
                <a:ea typeface="Calibri"/>
                <a:cs typeface="Calibri"/>
                <a:sym typeface="Calibri"/>
              </a:rPr>
              <a:t>. The creature is rejected because of his ugly appearance</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When you ask (prompt) an AI agent to add a feature to your app, it finds a way of doing it quickly. Maybe adds a library. </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After adding multiple changes, the code starts reminding the </a:t>
            </a:r>
            <a:r>
              <a:rPr lang="en" sz="1200">
                <a:solidFill>
                  <a:schemeClr val="dk1"/>
                </a:solidFill>
                <a:latin typeface="Calibri"/>
                <a:ea typeface="Calibri"/>
                <a:cs typeface="Calibri"/>
                <a:sym typeface="Calibri"/>
              </a:rPr>
              <a:t>Frankenstein creature. It is ugly, bloated, often inefficient.</a:t>
            </a:r>
            <a:endParaRPr sz="1200">
              <a:solidFill>
                <a:schemeClr val="dk1"/>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It makes sense to create a rule asking agent to avoid bloating the code and to try to streamline the architecture.</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Also it is good idea to periodically AI to review the code and refactor it for simplicity, to clean and organize it, maybe even to consider changing the core architecture. To update docs.</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It is not efficient to do this review after every change. But it is important to do it from time to time.</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https://en.wikipedia.org/wiki/Frankenstein</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26" name="Google Shape;226;p31"/>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4730726" y="109250"/>
            <a:ext cx="2117925" cy="2676946"/>
          </a:xfrm>
          <a:prstGeom prst="rect">
            <a:avLst/>
          </a:prstGeom>
          <a:noFill/>
          <a:ln w="9850" cap="flat" cmpd="sng">
            <a:solidFill>
              <a:srgbClr val="FF0000"/>
            </a:solidFill>
            <a:prstDash val="solid"/>
            <a:round/>
            <a:headEnd type="none" w="sm" len="sm"/>
            <a:tailEnd type="none" w="sm" len="sm"/>
          </a:ln>
        </p:spPr>
      </p:pic>
      <p:pic>
        <p:nvPicPr>
          <p:cNvPr id="227" name="Google Shape;227;p3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914176" y="109250"/>
            <a:ext cx="2117925" cy="33959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2"/>
          <p:cNvSpPr txBox="1"/>
          <p:nvPr/>
        </p:nvSpPr>
        <p:spPr>
          <a:xfrm>
            <a:off x="36572" y="-27425"/>
            <a:ext cx="44097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NVFP4 - 4-bit Format from Nvidia</a:t>
            </a:r>
            <a:endParaRPr sz="2000" b="1">
              <a:latin typeface="Calibri"/>
              <a:ea typeface="Calibri"/>
              <a:cs typeface="Calibri"/>
              <a:sym typeface="Calibri"/>
            </a:endParaRPr>
          </a:p>
        </p:txBody>
      </p:sp>
      <p:sp>
        <p:nvSpPr>
          <p:cNvPr id="233" name="Google Shape;233;p32"/>
          <p:cNvSpPr txBox="1"/>
          <p:nvPr/>
        </p:nvSpPr>
        <p:spPr>
          <a:xfrm>
            <a:off x="158225" y="693439"/>
            <a:ext cx="4186500" cy="269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33350" algn="l" rtl="0">
              <a:spcBef>
                <a:spcPts val="0"/>
              </a:spcBef>
              <a:spcAft>
                <a:spcPts val="0"/>
              </a:spcAft>
              <a:buSzPts val="1200"/>
              <a:buFont typeface="Calibri"/>
              <a:buChar char="●"/>
            </a:pPr>
            <a:r>
              <a:rPr lang="en" sz="1200">
                <a:latin typeface="Calibri"/>
                <a:ea typeface="Calibri"/>
                <a:cs typeface="Calibri"/>
                <a:sym typeface="Calibri"/>
              </a:rPr>
              <a:t>NVIDIA developed NVFP4 - a 4-bit floating-point quantization format (June 2025)</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It uses </a:t>
            </a:r>
            <a:r>
              <a:rPr lang="en" sz="1200" b="1">
                <a:solidFill>
                  <a:srgbClr val="FF0000"/>
                </a:solidFill>
                <a:latin typeface="Calibri"/>
                <a:ea typeface="Calibri"/>
                <a:cs typeface="Calibri"/>
                <a:sym typeface="Calibri"/>
              </a:rPr>
              <a:t>E2M1</a:t>
            </a:r>
            <a:r>
              <a:rPr lang="en" sz="1200">
                <a:latin typeface="Calibri"/>
                <a:ea typeface="Calibri"/>
                <a:cs typeface="Calibri"/>
                <a:sym typeface="Calibri"/>
              </a:rPr>
              <a:t> values plus small-block and tensor-level scaling</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4 bits:  </a:t>
            </a:r>
            <a:r>
              <a:rPr lang="en" sz="1200" b="1">
                <a:solidFill>
                  <a:srgbClr val="FF0000"/>
                </a:solidFill>
                <a:latin typeface="Calibri"/>
                <a:ea typeface="Calibri"/>
                <a:cs typeface="Calibri"/>
                <a:sym typeface="Calibri"/>
              </a:rPr>
              <a:t>1 sign bit, 2 exponent bits, and 1 mantissa bit</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Designed for NVIDIA Blackwell GPUs</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This format reduces model-memory requirements and improves inference throughput</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NVFP4 stores one scale factor for a small group of values - typically 16 values in NVIDIA’s format It also stores a scale for the whole tensor</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Storing 1 scale value for a group is much cheaper than storing FP16/BF16 or FP8 data separately for every element</a:t>
            </a:r>
            <a:endParaRPr sz="1200">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reconstructed value  =  4-bit value  ×  shared scale</a:t>
            </a:r>
            <a:endParaRPr sz="1200" b="1">
              <a:solidFill>
                <a:srgbClr val="3C78D8"/>
              </a:solidFill>
              <a:latin typeface="Calibri"/>
              <a:ea typeface="Calibri"/>
              <a:cs typeface="Calibri"/>
              <a:sym typeface="Calibri"/>
            </a:endParaRPr>
          </a:p>
          <a:p>
            <a:pPr marL="22860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https://developer.nvidia.com/blog/introducing-nvfp4-for-efficient-and-accurate-low-precision-inference/</a:t>
            </a:r>
            <a:endParaRPr sz="900">
              <a:latin typeface="Calibri"/>
              <a:ea typeface="Calibri"/>
              <a:cs typeface="Calibri"/>
              <a:sym typeface="Calibri"/>
            </a:endParaRPr>
          </a:p>
        </p:txBody>
      </p:sp>
      <p:pic>
        <p:nvPicPr>
          <p:cNvPr id="234" name="Google Shape;234;p3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446273" y="693439"/>
            <a:ext cx="4596825" cy="2587108"/>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3"/>
          <p:cNvSpPr txBox="1"/>
          <p:nvPr/>
        </p:nvSpPr>
        <p:spPr>
          <a:xfrm>
            <a:off x="36576" y="-27432"/>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240" name="Google Shape;240;p33"/>
          <p:cNvSpPr txBox="1"/>
          <p:nvPr/>
        </p:nvSpPr>
        <p:spPr>
          <a:xfrm>
            <a:off x="112775" y="523700"/>
            <a:ext cx="4095600" cy="214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Amazon blocks Meta's Muse agent from shopping</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Muse users get a message: </a:t>
            </a:r>
            <a:r>
              <a:rPr lang="en" sz="1200" b="1">
                <a:solidFill>
                  <a:srgbClr val="3C78D8"/>
                </a:solidFill>
                <a:latin typeface="Calibri"/>
                <a:ea typeface="Calibri"/>
                <a:cs typeface="Calibri"/>
                <a:sym typeface="Calibri"/>
              </a:rPr>
              <a:t>an unauthorized AI agent breaks Amazon's Conditions of Use</a:t>
            </a:r>
            <a:endParaRPr sz="1200" b="1">
              <a:solidFill>
                <a:srgbClr val="3C78D8"/>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Amazon says Meta never asked, the agent hides its identity, </a:t>
            </a:r>
            <a:br>
              <a:rPr lang="en" sz="1200">
                <a:latin typeface="Calibri"/>
                <a:ea typeface="Calibri"/>
                <a:cs typeface="Calibri"/>
                <a:sym typeface="Calibri"/>
              </a:rPr>
            </a:br>
            <a:r>
              <a:rPr lang="en" sz="1200">
                <a:latin typeface="Calibri"/>
                <a:ea typeface="Calibri"/>
                <a:cs typeface="Calibri"/>
                <a:sym typeface="Calibri"/>
              </a:rPr>
              <a:t>and it seems to store customer logins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Meta says Muse never sees passwords or payment methods; </a:t>
            </a:r>
            <a:br>
              <a:rPr lang="en" sz="1200">
                <a:latin typeface="Calibri"/>
                <a:ea typeface="Calibri"/>
                <a:cs typeface="Calibri"/>
                <a:sym typeface="Calibri"/>
              </a:rPr>
            </a:br>
            <a:r>
              <a:rPr lang="en" sz="1200">
                <a:latin typeface="Calibri"/>
                <a:ea typeface="Calibri"/>
                <a:cs typeface="Calibri"/>
                <a:sym typeface="Calibri"/>
              </a:rPr>
              <a:t>a separate Sentinel agent reviews its actions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b="1">
                <a:solidFill>
                  <a:srgbClr val="FF0000"/>
                </a:solidFill>
                <a:latin typeface="Calibri"/>
                <a:ea typeface="Calibri"/>
                <a:cs typeface="Calibri"/>
                <a:sym typeface="Calibri"/>
              </a:rPr>
              <a:t>At stake</a:t>
            </a:r>
            <a:r>
              <a:rPr lang="en" sz="1200">
                <a:latin typeface="Calibri"/>
                <a:ea typeface="Calibri"/>
                <a:cs typeface="Calibri"/>
                <a:sym typeface="Calibri"/>
              </a:rPr>
              <a:t> - </a:t>
            </a:r>
            <a:r>
              <a:rPr lang="en" sz="1200" b="1">
                <a:solidFill>
                  <a:srgbClr val="FF0000"/>
                </a:solidFill>
                <a:latin typeface="Calibri"/>
                <a:ea typeface="Calibri"/>
                <a:cs typeface="Calibri"/>
                <a:sym typeface="Calibri"/>
              </a:rPr>
              <a:t>an ad business of about </a:t>
            </a:r>
            <a:r>
              <a:rPr lang="en" sz="1200" b="1">
                <a:solidFill>
                  <a:srgbClr val="FF0000"/>
                </a:solidFill>
                <a:highlight>
                  <a:srgbClr val="FFF2CC"/>
                </a:highlight>
                <a:latin typeface="Calibri"/>
                <a:ea typeface="Calibri"/>
                <a:cs typeface="Calibri"/>
                <a:sym typeface="Calibri"/>
              </a:rPr>
              <a:t>$56B</a:t>
            </a:r>
            <a:endParaRPr sz="1200" b="1">
              <a:solidFill>
                <a:srgbClr val="FF0000"/>
              </a:solidFill>
              <a:highlight>
                <a:srgbClr val="FFF2CC"/>
              </a:highlight>
              <a:latin typeface="Calibri"/>
              <a:ea typeface="Calibri"/>
              <a:cs typeface="Calibri"/>
              <a:sym typeface="Calibri"/>
            </a:endParaRPr>
          </a:p>
          <a:p>
            <a:pPr marL="171450" lvl="0" indent="-133350" algn="l" rtl="0">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Amazon already sued Perplexity over Comet </a:t>
            </a:r>
            <a:br>
              <a:rPr lang="en" sz="1200" b="1">
                <a:solidFill>
                  <a:srgbClr val="3C78D8"/>
                </a:solidFill>
                <a:latin typeface="Calibri"/>
                <a:ea typeface="Calibri"/>
                <a:cs typeface="Calibri"/>
                <a:sym typeface="Calibri"/>
              </a:rPr>
            </a:br>
            <a:r>
              <a:rPr lang="en" sz="1200" b="1">
                <a:solidFill>
                  <a:srgbClr val="3C78D8"/>
                </a:solidFill>
                <a:latin typeface="Calibri"/>
                <a:ea typeface="Calibri"/>
                <a:cs typeface="Calibri"/>
                <a:sym typeface="Calibri"/>
              </a:rPr>
              <a:t>and moved to block Google's and OpenAI's shopping agents </a:t>
            </a:r>
            <a:endParaRPr sz="900" b="1">
              <a:solidFill>
                <a:srgbClr val="3C78D8"/>
              </a:solidFill>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rgbClr val="0563C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https://techcrunch.com/2026/09/21/metas-ai-agent-has-been-blocked-from-using-amazon-com/</a:t>
            </a:r>
            <a:endParaRPr sz="900">
              <a:solidFill>
                <a:srgbClr val="0563C1"/>
              </a:solidFill>
              <a:latin typeface="Calibri"/>
              <a:ea typeface="Calibri"/>
              <a:cs typeface="Calibri"/>
              <a:sym typeface="Calibri"/>
            </a:endParaRPr>
          </a:p>
        </p:txBody>
      </p:sp>
      <p:sp>
        <p:nvSpPr>
          <p:cNvPr id="241" name="Google Shape;241;p33"/>
          <p:cNvSpPr txBox="1"/>
          <p:nvPr/>
        </p:nvSpPr>
        <p:spPr>
          <a:xfrm>
            <a:off x="112775" y="3101175"/>
            <a:ext cx="4387800" cy="1449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Trump plans an "AI Force" and a new AI czar</a:t>
            </a:r>
            <a:endParaRPr sz="1200" b="1">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The AI Force would "watch over" the industry and chase bad actors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A new AI czar fills the seat David Sacks left in March</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Trump called superintelligence doom a </a:t>
            </a:r>
            <a:r>
              <a:rPr lang="en" sz="1200" b="1">
                <a:latin typeface="Calibri"/>
                <a:ea typeface="Calibri"/>
                <a:cs typeface="Calibri"/>
                <a:sym typeface="Calibri"/>
              </a:rPr>
              <a:t>hoax</a:t>
            </a:r>
            <a:r>
              <a:rPr lang="en" sz="1200">
                <a:latin typeface="Calibri"/>
                <a:ea typeface="Calibri"/>
                <a:cs typeface="Calibri"/>
                <a:sym typeface="Calibri"/>
              </a:rPr>
              <a:t> </a:t>
            </a:r>
            <a:br>
              <a:rPr lang="en" sz="1200">
                <a:latin typeface="Calibri"/>
                <a:ea typeface="Calibri"/>
                <a:cs typeface="Calibri"/>
                <a:sym typeface="Calibri"/>
              </a:rPr>
            </a:br>
            <a:r>
              <a:rPr lang="en" sz="1200">
                <a:latin typeface="Calibri"/>
                <a:ea typeface="Calibri"/>
                <a:cs typeface="Calibri"/>
                <a:sym typeface="Calibri"/>
              </a:rPr>
              <a:t>and said he won't allow a slowdown</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Comes a week after Amodei's pacing proposal, </a:t>
            </a:r>
            <a:br>
              <a:rPr lang="en" sz="1200">
                <a:latin typeface="Calibri"/>
                <a:ea typeface="Calibri"/>
                <a:cs typeface="Calibri"/>
                <a:sym typeface="Calibri"/>
              </a:rPr>
            </a:br>
            <a:r>
              <a:rPr lang="en" sz="1200">
                <a:latin typeface="Calibri"/>
                <a:ea typeface="Calibri"/>
                <a:cs typeface="Calibri"/>
                <a:sym typeface="Calibri"/>
              </a:rPr>
              <a:t>which Altman and Musk backed</a:t>
            </a:r>
            <a:r>
              <a:rPr lang="en" sz="900">
                <a:latin typeface="Calibri"/>
                <a:ea typeface="Calibri"/>
                <a:cs typeface="Calibri"/>
                <a:sym typeface="Calibri"/>
              </a:rPr>
              <a:t> </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rgbClr val="0563C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https://www.cbsnews.com/news/trump-vows-ai-force-czar-development/</a:t>
            </a:r>
            <a:endParaRPr sz="900">
              <a:solidFill>
                <a:srgbClr val="0563C1"/>
              </a:solidFill>
              <a:latin typeface="Calibri"/>
              <a:ea typeface="Calibri"/>
              <a:cs typeface="Calibri"/>
              <a:sym typeface="Calibri"/>
            </a:endParaRPr>
          </a:p>
        </p:txBody>
      </p:sp>
      <p:pic>
        <p:nvPicPr>
          <p:cNvPr id="242" name="Google Shape;242;p3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136119" y="2834175"/>
            <a:ext cx="3896726" cy="2193073"/>
          </a:xfrm>
          <a:prstGeom prst="rect">
            <a:avLst/>
          </a:prstGeom>
          <a:noFill/>
          <a:ln>
            <a:noFill/>
          </a:ln>
        </p:spPr>
      </p:pic>
      <p:pic>
        <p:nvPicPr>
          <p:cNvPr id="243" name="Google Shape;243;p3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446774" y="81925"/>
            <a:ext cx="4592002" cy="25843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4"/>
          <p:cNvSpPr txBox="1"/>
          <p:nvPr/>
        </p:nvSpPr>
        <p:spPr>
          <a:xfrm>
            <a:off x="36576" y="-27432"/>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249" name="Google Shape;249;p34"/>
          <p:cNvSpPr txBox="1"/>
          <p:nvPr/>
        </p:nvSpPr>
        <p:spPr>
          <a:xfrm>
            <a:off x="112775" y="389450"/>
            <a:ext cx="5005500" cy="2188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Do AI Models Refuse Harmful Tasks ?</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Robocurve's RoboHarm gave models two robot arms </a:t>
            </a:r>
            <a:br>
              <a:rPr lang="en" sz="1200">
                <a:latin typeface="Calibri"/>
                <a:ea typeface="Calibri"/>
                <a:cs typeface="Calibri"/>
                <a:sym typeface="Calibri"/>
              </a:rPr>
            </a:br>
            <a:r>
              <a:rPr lang="en" sz="1200">
                <a:latin typeface="Calibri"/>
                <a:ea typeface="Calibri"/>
                <a:cs typeface="Calibri"/>
                <a:sym typeface="Calibri"/>
              </a:rPr>
              <a:t>and 5 harmful tasks, 20 runs each</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Harmful tasks: </a:t>
            </a:r>
            <a:br>
              <a:rPr lang="en" sz="1200">
                <a:latin typeface="Calibri"/>
                <a:ea typeface="Calibri"/>
                <a:cs typeface="Calibri"/>
                <a:sym typeface="Calibri"/>
              </a:rPr>
            </a:br>
            <a:r>
              <a:rPr lang="en" sz="1200">
                <a:solidFill>
                  <a:srgbClr val="3C78D8"/>
                </a:solidFill>
                <a:latin typeface="Calibri"/>
                <a:ea typeface="Calibri"/>
                <a:cs typeface="Calibri"/>
                <a:sym typeface="Calibri"/>
              </a:rPr>
              <a:t>stab a doll,   air can on a burner,   screwdriver in a toaster,  </a:t>
            </a:r>
            <a:br>
              <a:rPr lang="en" sz="1200">
                <a:solidFill>
                  <a:srgbClr val="3C78D8"/>
                </a:solidFill>
                <a:latin typeface="Calibri"/>
                <a:ea typeface="Calibri"/>
                <a:cs typeface="Calibri"/>
                <a:sym typeface="Calibri"/>
              </a:rPr>
            </a:br>
            <a:r>
              <a:rPr lang="en" sz="1200">
                <a:solidFill>
                  <a:srgbClr val="3C78D8"/>
                </a:solidFill>
                <a:latin typeface="Calibri"/>
                <a:ea typeface="Calibri"/>
                <a:cs typeface="Calibri"/>
                <a:sym typeface="Calibri"/>
              </a:rPr>
              <a:t>power bank in water,   mix bleach and ammonia</a:t>
            </a:r>
            <a:endParaRPr sz="1200">
              <a:solidFill>
                <a:srgbClr val="3C78D8"/>
              </a:solidFill>
              <a:latin typeface="Calibri"/>
              <a:ea typeface="Calibri"/>
              <a:cs typeface="Calibri"/>
              <a:sym typeface="Calibri"/>
            </a:endParaRPr>
          </a:p>
          <a:p>
            <a:pPr marL="342900" lvl="0" indent="-13335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GPT-6 Astra</a:t>
            </a:r>
            <a:r>
              <a:rPr lang="en" sz="1200">
                <a:solidFill>
                  <a:schemeClr val="dk1"/>
                </a:solidFill>
                <a:latin typeface="Calibri"/>
                <a:ea typeface="Calibri"/>
                <a:cs typeface="Calibri"/>
                <a:sym typeface="Calibri"/>
              </a:rPr>
              <a:t> finished </a:t>
            </a:r>
            <a:r>
              <a:rPr lang="en" sz="1200">
                <a:solidFill>
                  <a:schemeClr val="dk1"/>
                </a:solidFill>
                <a:highlight>
                  <a:srgbClr val="FFF2CC"/>
                </a:highlight>
                <a:latin typeface="Calibri"/>
                <a:ea typeface="Calibri"/>
                <a:cs typeface="Calibri"/>
                <a:sym typeface="Calibri"/>
              </a:rPr>
              <a:t>60 of 100</a:t>
            </a:r>
            <a:r>
              <a:rPr lang="en" sz="1200">
                <a:solidFill>
                  <a:schemeClr val="dk1"/>
                </a:solidFill>
                <a:latin typeface="Calibri"/>
                <a:ea typeface="Calibri"/>
                <a:cs typeface="Calibri"/>
                <a:sym typeface="Calibri"/>
              </a:rPr>
              <a:t> harmful trials and refused only </a:t>
            </a:r>
            <a:r>
              <a:rPr lang="en" sz="1200">
                <a:solidFill>
                  <a:schemeClr val="dk1"/>
                </a:solidFill>
                <a:highlight>
                  <a:srgbClr val="FFF2CC"/>
                </a:highlight>
                <a:latin typeface="Calibri"/>
                <a:ea typeface="Calibri"/>
                <a:cs typeface="Calibri"/>
                <a:sym typeface="Calibri"/>
              </a:rPr>
              <a:t>2</a:t>
            </a:r>
            <a:endParaRPr sz="1200">
              <a:solidFill>
                <a:schemeClr val="dk1"/>
              </a:solidFill>
              <a:highlight>
                <a:srgbClr val="FFF2CC"/>
              </a:highlight>
              <a:latin typeface="Calibri"/>
              <a:ea typeface="Calibri"/>
              <a:cs typeface="Calibri"/>
              <a:sym typeface="Calibri"/>
            </a:endParaRPr>
          </a:p>
          <a:p>
            <a:pPr marL="342900" lvl="0" indent="-13335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Claude Fable 5.1</a:t>
            </a:r>
            <a:r>
              <a:rPr lang="en" sz="1200">
                <a:solidFill>
                  <a:schemeClr val="dk1"/>
                </a:solidFill>
                <a:latin typeface="Calibri"/>
                <a:ea typeface="Calibri"/>
                <a:cs typeface="Calibri"/>
                <a:sym typeface="Calibri"/>
              </a:rPr>
              <a:t> refused the doll all 20 times, but none of the other tasks</a:t>
            </a:r>
            <a:endParaRPr sz="1200">
              <a:solidFill>
                <a:schemeClr val="dk1"/>
              </a:solidFill>
              <a:latin typeface="Calibri"/>
              <a:ea typeface="Calibri"/>
              <a:cs typeface="Calibri"/>
              <a:sym typeface="Calibri"/>
            </a:endParaRPr>
          </a:p>
          <a:p>
            <a:pPr marL="342900" lvl="0" indent="-13335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Ai2's MolmoAct2</a:t>
            </a:r>
            <a:r>
              <a:rPr lang="en" sz="1200">
                <a:solidFill>
                  <a:schemeClr val="dk1"/>
                </a:solidFill>
                <a:latin typeface="Calibri"/>
                <a:ea typeface="Calibri"/>
                <a:cs typeface="Calibri"/>
                <a:sym typeface="Calibri"/>
              </a:rPr>
              <a:t> refused nothing</a:t>
            </a:r>
            <a:endParaRPr sz="1200">
              <a:solidFill>
                <a:schemeClr val="dk1"/>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No jailbreaks were used </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900" u="sng">
                <a:solidFill>
                  <a:srgbClr val="0563C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https://the-decoder.com/gpt-6-astra-and-claude-fable-turn-robot-arms-into-slapstick-killer-robots-in-new-safety-benchmark/</a:t>
            </a:r>
            <a:endParaRPr sz="900">
              <a:solidFill>
                <a:srgbClr val="0563C1"/>
              </a:solidFill>
              <a:latin typeface="Calibri"/>
              <a:ea typeface="Calibri"/>
              <a:cs typeface="Calibri"/>
              <a:sym typeface="Calibri"/>
            </a:endParaRPr>
          </a:p>
        </p:txBody>
      </p:sp>
      <p:sp>
        <p:nvSpPr>
          <p:cNvPr id="250" name="Google Shape;250;p34"/>
          <p:cNvSpPr txBox="1"/>
          <p:nvPr/>
        </p:nvSpPr>
        <p:spPr>
          <a:xfrm>
            <a:off x="112775" y="2685325"/>
            <a:ext cx="4387800" cy="214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AX (Agent Executor)</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Open-source (Apache 2.0), Kubernetes-style runtime for agents</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Suspends and resumes an agent in under a second, </a:t>
            </a:r>
            <a:br>
              <a:rPr lang="en" sz="1200">
                <a:latin typeface="Calibri"/>
                <a:ea typeface="Calibri"/>
                <a:cs typeface="Calibri"/>
                <a:sym typeface="Calibri"/>
              </a:rPr>
            </a:br>
            <a:r>
              <a:rPr lang="en" sz="1200">
                <a:latin typeface="Calibri"/>
                <a:ea typeface="Calibri"/>
                <a:cs typeface="Calibri"/>
                <a:sym typeface="Calibri"/>
              </a:rPr>
              <a:t>so idle agents stop burning compute. Normally agents sit idle </a:t>
            </a:r>
            <a:r>
              <a:rPr lang="en" sz="1200">
                <a:highlight>
                  <a:srgbClr val="FFF2CC"/>
                </a:highlight>
                <a:latin typeface="Calibri"/>
                <a:ea typeface="Calibri"/>
                <a:cs typeface="Calibri"/>
                <a:sym typeface="Calibri"/>
              </a:rPr>
              <a:t>90%</a:t>
            </a:r>
            <a:r>
              <a:rPr lang="en" sz="1200">
                <a:latin typeface="Calibri"/>
                <a:ea typeface="Calibri"/>
                <a:cs typeface="Calibri"/>
                <a:sym typeface="Calibri"/>
              </a:rPr>
              <a:t> of the time. But if they are removed, we can pack 10-20x more sandboxes per cluster</a:t>
            </a:r>
            <a:endParaRPr sz="1200">
              <a:latin typeface="Calibri"/>
              <a:ea typeface="Calibri"/>
              <a:cs typeface="Calibri"/>
              <a:sym typeface="Calibri"/>
            </a:endParaRPr>
          </a:p>
          <a:p>
            <a:pPr marL="171450" lvl="0" indent="-146050" algn="l" rtl="0">
              <a:spcBef>
                <a:spcPts val="0"/>
              </a:spcBef>
              <a:spcAft>
                <a:spcPts val="0"/>
              </a:spcAft>
              <a:buSzPts val="1400"/>
              <a:buChar char="●"/>
            </a:pPr>
            <a:r>
              <a:rPr lang="en" sz="1200">
                <a:latin typeface="Calibri"/>
                <a:ea typeface="Calibri"/>
                <a:cs typeface="Calibri"/>
                <a:sym typeface="Calibri"/>
              </a:rPr>
              <a:t>Four primitives: Task, Workspace, Gateway, Model; </a:t>
            </a:r>
            <a:endParaRPr sz="1200">
              <a:latin typeface="Calibri"/>
              <a:ea typeface="Calibri"/>
              <a:cs typeface="Calibri"/>
              <a:sym typeface="Calibri"/>
            </a:endParaRPr>
          </a:p>
          <a:p>
            <a:pPr marL="171450" lvl="0" indent="-146050" algn="l" rtl="0">
              <a:spcBef>
                <a:spcPts val="0"/>
              </a:spcBef>
              <a:spcAft>
                <a:spcPts val="0"/>
              </a:spcAft>
              <a:buSzPts val="1400"/>
              <a:buChar char="●"/>
            </a:pPr>
            <a:r>
              <a:rPr lang="en" sz="1200">
                <a:latin typeface="Calibri"/>
                <a:ea typeface="Calibri"/>
                <a:cs typeface="Calibri"/>
                <a:sym typeface="Calibri"/>
              </a:rPr>
              <a:t>CLI mirrors </a:t>
            </a:r>
            <a:r>
              <a:rPr lang="en" sz="1200" b="1">
                <a:solidFill>
                  <a:srgbClr val="3C78D8"/>
                </a:solidFill>
                <a:latin typeface="Calibri"/>
                <a:ea typeface="Calibri"/>
                <a:cs typeface="Calibri"/>
                <a:sym typeface="Calibri"/>
              </a:rPr>
              <a:t>kubectl</a:t>
            </a:r>
            <a:endParaRPr sz="900" b="1">
              <a:solidFill>
                <a:srgbClr val="3C78D8"/>
              </a:solidFill>
              <a:latin typeface="Consolas"/>
              <a:ea typeface="Consolas"/>
              <a:cs typeface="Consolas"/>
              <a:sym typeface="Consolas"/>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Works with MCP tools, custom harnesses, Gemini and Vertex AI</a:t>
            </a:r>
            <a:endParaRPr sz="1200">
              <a:latin typeface="Calibri"/>
              <a:ea typeface="Calibri"/>
              <a:cs typeface="Calibri"/>
              <a:sym typeface="Calibri"/>
            </a:endParaRPr>
          </a:p>
          <a:p>
            <a:pPr marL="171450" lvl="0" indent="-133350" algn="l" rtl="0">
              <a:spcBef>
                <a:spcPts val="0"/>
              </a:spcBef>
              <a:spcAft>
                <a:spcPts val="0"/>
              </a:spcAft>
              <a:buSzPts val="1200"/>
              <a:buChar char="●"/>
            </a:pPr>
            <a:r>
              <a:rPr lang="en" sz="1200">
                <a:latin typeface="Calibri"/>
                <a:ea typeface="Calibri"/>
                <a:cs typeface="Calibri"/>
                <a:sym typeface="Calibri"/>
              </a:rPr>
              <a:t>install with </a:t>
            </a:r>
            <a:r>
              <a:rPr lang="en" sz="1200" b="1">
                <a:solidFill>
                  <a:srgbClr val="3C78D8"/>
                </a:solidFill>
                <a:latin typeface="Calibri"/>
                <a:ea typeface="Calibri"/>
                <a:cs typeface="Calibri"/>
                <a:sym typeface="Calibri"/>
              </a:rPr>
              <a:t>go install </a:t>
            </a:r>
            <a:r>
              <a:rPr lang="en" sz="1200" b="1">
                <a:solidFill>
                  <a:srgbClr val="3C78D8"/>
                </a:solidFill>
                <a:uFill>
                  <a:noFill/>
                </a:uFill>
                <a:latin typeface="Calibri"/>
                <a:ea typeface="Calibri"/>
                <a:cs typeface="Calibri"/>
                <a:sym typeface="Calibri"/>
                <a:hlinkClick r:id="rId4">
                  <a:extLst>
                    <a:ext uri="{A12FA001-AC4F-418D-AE19-62706E023703}">
                      <ahyp:hlinkClr xmlns:ahyp="http://schemas.microsoft.com/office/drawing/2018/hyperlinkcolor" val="tx"/>
                    </a:ext>
                  </a:extLst>
                </a:hlinkClick>
              </a:rPr>
              <a:t>github.com/google/ax/cmd/ax@latest</a:t>
            </a:r>
            <a:r>
              <a:rPr lang="en" sz="1200" b="1">
                <a:solidFill>
                  <a:srgbClr val="3C78D8"/>
                </a:solidFill>
                <a:latin typeface="Calibri"/>
                <a:ea typeface="Calibri"/>
                <a:cs typeface="Calibri"/>
                <a:sym typeface="Calibri"/>
              </a:rPr>
              <a:t> </a:t>
            </a:r>
            <a:endParaRPr sz="1200" b="1">
              <a:solidFill>
                <a:srgbClr val="3C78D8"/>
              </a:solidFill>
              <a:latin typeface="Calibri"/>
              <a:ea typeface="Calibri"/>
              <a:cs typeface="Calibri"/>
              <a:sym typeface="Calibri"/>
            </a:endParaRPr>
          </a:p>
          <a:p>
            <a:pPr marL="171450" lvl="0" indent="-146050" algn="l" rtl="0">
              <a:spcBef>
                <a:spcPts val="0"/>
              </a:spcBef>
              <a:spcAft>
                <a:spcPts val="0"/>
              </a:spcAft>
              <a:buSzPts val="1400"/>
              <a:buChar char="●"/>
            </a:pPr>
            <a:r>
              <a:rPr lang="en" sz="900" u="sng">
                <a:solidFill>
                  <a:srgbClr val="0563C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https://github.com/google/ax</a:t>
            </a:r>
            <a:endParaRPr sz="900">
              <a:solidFill>
                <a:srgbClr val="0563C1"/>
              </a:solidFill>
              <a:latin typeface="Calibri"/>
              <a:ea typeface="Calibri"/>
              <a:cs typeface="Calibri"/>
              <a:sym typeface="Calibri"/>
            </a:endParaRPr>
          </a:p>
        </p:txBody>
      </p:sp>
      <p:pic>
        <p:nvPicPr>
          <p:cNvPr id="251" name="Google Shape;251;p3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59900" y="2685325"/>
            <a:ext cx="2182661" cy="2142600"/>
          </a:xfrm>
          <a:prstGeom prst="rect">
            <a:avLst/>
          </a:prstGeom>
          <a:noFill/>
          <a:ln w="9525" cap="flat" cmpd="sng">
            <a:solidFill>
              <a:srgbClr val="FF0000"/>
            </a:solidFill>
            <a:prstDash val="solid"/>
            <a:round/>
            <a:headEnd type="none" w="sm" len="sm"/>
            <a:tailEnd type="none" w="sm" len="sm"/>
          </a:ln>
        </p:spPr>
      </p:pic>
      <p:pic>
        <p:nvPicPr>
          <p:cNvPr id="252" name="Google Shape;252;p34"/>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215675" y="83625"/>
            <a:ext cx="3741949" cy="24946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5"/>
          <p:cNvSpPr txBox="1"/>
          <p:nvPr/>
        </p:nvSpPr>
        <p:spPr>
          <a:xfrm>
            <a:off x="36574" y="-27425"/>
            <a:ext cx="26040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Swarms Are Expensive</a:t>
            </a:r>
            <a:endParaRPr sz="2000" b="1">
              <a:latin typeface="Calibri"/>
              <a:ea typeface="Calibri"/>
              <a:cs typeface="Calibri"/>
              <a:sym typeface="Calibri"/>
            </a:endParaRPr>
          </a:p>
        </p:txBody>
      </p:sp>
      <p:sp>
        <p:nvSpPr>
          <p:cNvPr id="258" name="Google Shape;258;p35"/>
          <p:cNvSpPr txBox="1"/>
          <p:nvPr/>
        </p:nvSpPr>
        <p:spPr>
          <a:xfrm>
            <a:off x="112775" y="379475"/>
            <a:ext cx="4343100" cy="4636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Swarms Are Expensive</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To match 100x more tokens, we need 900x to 15,000x bigger swarm</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Swarm gives speed boost: 4 agents finish in about half the time at about 2x the tokens</a:t>
            </a:r>
            <a:endParaRPr sz="1200">
              <a:latin typeface="Calibri"/>
              <a:ea typeface="Calibri"/>
              <a:cs typeface="Calibri"/>
              <a:sym typeface="Calibri"/>
            </a:endParaRPr>
          </a:p>
          <a:p>
            <a:pPr marL="22860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So use swarms when time is worth more than money </a:t>
            </a:r>
            <a:endParaRPr sz="1200" b="1">
              <a:solidFill>
                <a:srgbClr val="FF0000"/>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Why swams spend more tokens? Agents must constantly pass state updates, logs, and contexts back and forth</a:t>
            </a:r>
            <a:endParaRPr sz="1200" b="1">
              <a:solidFill>
                <a:srgbClr val="3C78D8"/>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Frequent token drains - when an agent gets stuck in a reasoning loop, or if misalignment occurs between specialized agents</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AI agents burn tokens 10-100x faster than chatbots because each reasoning step adds context that gets re-sent on every tool call</a:t>
            </a:r>
            <a:endParaRPr sz="1200">
              <a:latin typeface="Calibri"/>
              <a:ea typeface="Calibri"/>
              <a:cs typeface="Calibri"/>
              <a:sym typeface="Calibri"/>
            </a:endParaRPr>
          </a:p>
          <a:p>
            <a:pPr marL="22860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How to reduce costs of using swarms</a:t>
            </a:r>
            <a:endParaRPr sz="1200" b="1">
              <a:solidFill>
                <a:srgbClr val="FF0000"/>
              </a:solidFill>
              <a:latin typeface="Calibri"/>
              <a:ea typeface="Calibri"/>
              <a:cs typeface="Calibri"/>
              <a:sym typeface="Calibri"/>
            </a:endParaRPr>
          </a:p>
          <a:p>
            <a:pPr marL="400050" lvl="0" indent="-133350" algn="l" rtl="0">
              <a:spcBef>
                <a:spcPts val="0"/>
              </a:spcBef>
              <a:spcAft>
                <a:spcPts val="0"/>
              </a:spcAft>
              <a:buSzPts val="1200"/>
              <a:buFont typeface="Calibri"/>
              <a:buChar char="●"/>
            </a:pPr>
            <a:r>
              <a:rPr lang="en" sz="1200" b="1">
                <a:solidFill>
                  <a:srgbClr val="FF0000"/>
                </a:solidFill>
                <a:latin typeface="Calibri"/>
                <a:ea typeface="Calibri"/>
                <a:cs typeface="Calibri"/>
                <a:sym typeface="Calibri"/>
              </a:rPr>
              <a:t>Use Plan-Worker Separation</a:t>
            </a:r>
            <a:r>
              <a:rPr lang="en" sz="1200">
                <a:latin typeface="Calibri"/>
                <a:ea typeface="Calibri"/>
                <a:cs typeface="Calibri"/>
                <a:sym typeface="Calibri"/>
              </a:rPr>
              <a:t> - restrict your highest-tier frontier models strictly to the top-level "planner" agents, offload execution tasks to cheaper, hyper-specialized sub-models or fine-tuned open-source models</a:t>
            </a:r>
            <a:endParaRPr sz="1200">
              <a:latin typeface="Calibri"/>
              <a:ea typeface="Calibri"/>
              <a:cs typeface="Calibri"/>
              <a:sym typeface="Calibri"/>
            </a:endParaRPr>
          </a:p>
          <a:p>
            <a:pPr marL="400050" lvl="0" indent="-133350" algn="l" rtl="0">
              <a:spcBef>
                <a:spcPts val="0"/>
              </a:spcBef>
              <a:spcAft>
                <a:spcPts val="0"/>
              </a:spcAft>
              <a:buSzPts val="1200"/>
              <a:buFont typeface="Calibri"/>
              <a:buChar char="●"/>
            </a:pPr>
            <a:r>
              <a:rPr lang="en" sz="1200" b="1">
                <a:solidFill>
                  <a:srgbClr val="FF0000"/>
                </a:solidFill>
                <a:latin typeface="Calibri"/>
                <a:ea typeface="Calibri"/>
                <a:cs typeface="Calibri"/>
                <a:sym typeface="Calibri"/>
              </a:rPr>
              <a:t>Optimize Routing Mechanics</a:t>
            </a:r>
            <a:r>
              <a:rPr lang="en" sz="1200">
                <a:latin typeface="Calibri"/>
                <a:ea typeface="Calibri"/>
                <a:cs typeface="Calibri"/>
                <a:sym typeface="Calibri"/>
              </a:rPr>
              <a:t> using hard-coded state machines, semantic routers, or specialized lightweight models to orchestrate agent handoffs at a fraction of the cost</a:t>
            </a:r>
            <a:endParaRPr sz="1200">
              <a:latin typeface="Calibri"/>
              <a:ea typeface="Calibri"/>
              <a:cs typeface="Calibri"/>
              <a:sym typeface="Calibri"/>
            </a:endParaRPr>
          </a:p>
          <a:p>
            <a:pPr marL="400050" lvl="0" indent="-133350" algn="l" rtl="0">
              <a:spcBef>
                <a:spcPts val="0"/>
              </a:spcBef>
              <a:spcAft>
                <a:spcPts val="0"/>
              </a:spcAft>
              <a:buSzPts val="1200"/>
              <a:buFont typeface="Calibri"/>
              <a:buChar char="●"/>
            </a:pPr>
            <a:r>
              <a:rPr lang="en" sz="1200" b="1">
                <a:solidFill>
                  <a:srgbClr val="FF0000"/>
                </a:solidFill>
                <a:latin typeface="Calibri"/>
                <a:ea typeface="Calibri"/>
                <a:cs typeface="Calibri"/>
                <a:sym typeface="Calibri"/>
              </a:rPr>
              <a:t>Leverage Batched &amp; Off-Peak Discounts</a:t>
            </a:r>
            <a:r>
              <a:rPr lang="en" sz="1200">
                <a:latin typeface="Calibri"/>
                <a:ea typeface="Calibri"/>
                <a:cs typeface="Calibri"/>
                <a:sym typeface="Calibri"/>
              </a:rPr>
              <a:t> - providers like Swarms AI offer features like Swarm Completions, which cut token costs by 50% for off-peak processing; Use batch endpoints for non-time-sensitive data crunching.</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900" u="sng">
                <a:solidFill>
                  <a:srgbClr val="0563C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https://www.tobyord.com/writing/swarm-scaling</a:t>
            </a:r>
            <a:endParaRPr sz="900">
              <a:solidFill>
                <a:srgbClr val="0563C1"/>
              </a:solidFill>
              <a:latin typeface="Calibri"/>
              <a:ea typeface="Calibri"/>
              <a:cs typeface="Calibri"/>
              <a:sym typeface="Calibri"/>
            </a:endParaRPr>
          </a:p>
        </p:txBody>
      </p:sp>
      <p:pic>
        <p:nvPicPr>
          <p:cNvPr id="259" name="Google Shape;259;p3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585753" y="620000"/>
            <a:ext cx="4433350" cy="249508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6"/>
          <p:cNvSpPr txBox="1"/>
          <p:nvPr/>
        </p:nvSpPr>
        <p:spPr>
          <a:xfrm>
            <a:off x="36574" y="-27425"/>
            <a:ext cx="11514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265" name="Google Shape;265;p36"/>
          <p:cNvSpPr txBox="1"/>
          <p:nvPr/>
        </p:nvSpPr>
        <p:spPr>
          <a:xfrm>
            <a:off x="112775" y="379475"/>
            <a:ext cx="43893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Neocloud - cloud provider for AI</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to rent GPUs and infrastructure for AI training and inference</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Examples:</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b="1">
                <a:solidFill>
                  <a:srgbClr val="FF0000"/>
                </a:solidFill>
                <a:latin typeface="Calibri"/>
                <a:ea typeface="Calibri"/>
                <a:cs typeface="Calibri"/>
                <a:sym typeface="Calibri"/>
              </a:rPr>
              <a:t>CoreWeave</a:t>
            </a:r>
            <a:r>
              <a:rPr lang="en" sz="1200">
                <a:latin typeface="Calibri"/>
                <a:ea typeface="Calibri"/>
                <a:cs typeface="Calibri"/>
                <a:sym typeface="Calibri"/>
              </a:rPr>
              <a:t> - $2.58 Bln in Q2 2026 revenue and 4.2 GW</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b="1">
                <a:solidFill>
                  <a:srgbClr val="FF0000"/>
                </a:solidFill>
                <a:latin typeface="Calibri"/>
                <a:ea typeface="Calibri"/>
                <a:cs typeface="Calibri"/>
                <a:sym typeface="Calibri"/>
              </a:rPr>
              <a:t>Crusoe</a:t>
            </a:r>
            <a:r>
              <a:rPr lang="en" sz="1200">
                <a:latin typeface="Calibri"/>
                <a:ea typeface="Calibri"/>
                <a:cs typeface="Calibri"/>
                <a:sym typeface="Calibri"/>
              </a:rPr>
              <a:t> - 5 GW of contracted capacity reported in 2026; private</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b="1">
                <a:solidFill>
                  <a:srgbClr val="FF0000"/>
                </a:solidFill>
                <a:latin typeface="Calibri"/>
                <a:ea typeface="Calibri"/>
                <a:cs typeface="Calibri"/>
                <a:sym typeface="Calibri"/>
              </a:rPr>
              <a:t>Nebius</a:t>
            </a:r>
            <a:r>
              <a:rPr lang="en" sz="1200">
                <a:latin typeface="Calibri"/>
                <a:ea typeface="Calibri"/>
                <a:cs typeface="Calibri"/>
                <a:sym typeface="Calibri"/>
              </a:rPr>
              <a:t> - $582 Mln in Q2 2026 revenue, $ $3 Bln ARR</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b="1">
                <a:solidFill>
                  <a:srgbClr val="FF0000"/>
                </a:solidFill>
                <a:latin typeface="Calibri"/>
                <a:ea typeface="Calibri"/>
                <a:cs typeface="Calibri"/>
                <a:sym typeface="Calibri"/>
              </a:rPr>
              <a:t>IREN</a:t>
            </a:r>
            <a:r>
              <a:rPr lang="en" sz="1200">
                <a:latin typeface="Calibri"/>
                <a:ea typeface="Calibri"/>
                <a:cs typeface="Calibri"/>
                <a:sym typeface="Calibri"/>
              </a:rPr>
              <a:t> - major power and data-center footprint, $4 Bln ARR; transitioning from Bitcoin mining to AI business</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b="1">
                <a:solidFill>
                  <a:srgbClr val="FF0000"/>
                </a:solidFill>
                <a:latin typeface="Calibri"/>
                <a:ea typeface="Calibri"/>
                <a:cs typeface="Calibri"/>
                <a:sym typeface="Calibri"/>
              </a:rPr>
              <a:t>Lambda</a:t>
            </a:r>
            <a:r>
              <a:rPr lang="en" sz="1200">
                <a:latin typeface="Calibri"/>
                <a:ea typeface="Calibri"/>
                <a:cs typeface="Calibri"/>
                <a:sym typeface="Calibri"/>
              </a:rPr>
              <a:t> - a large private GPU-cloud provider</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https://www.youtube.com/watch?v=UzJ4wndMTjU</a:t>
            </a:r>
            <a:r>
              <a:rPr lang="en" sz="1200">
                <a:latin typeface="Calibri"/>
                <a:ea typeface="Calibri"/>
                <a:cs typeface="Calibri"/>
                <a:sym typeface="Calibri"/>
              </a:rPr>
              <a:t> </a:t>
            </a:r>
            <a:endParaRPr sz="1200">
              <a:latin typeface="Calibri"/>
              <a:ea typeface="Calibri"/>
              <a:cs typeface="Calibri"/>
              <a:sym typeface="Calibri"/>
            </a:endParaRPr>
          </a:p>
        </p:txBody>
      </p:sp>
      <p:sp>
        <p:nvSpPr>
          <p:cNvPr id="266" name="Google Shape;266;p36"/>
          <p:cNvSpPr txBox="1"/>
          <p:nvPr/>
        </p:nvSpPr>
        <p:spPr>
          <a:xfrm>
            <a:off x="106775" y="2901350"/>
            <a:ext cx="44013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Hermes Astros: Automated Content Radar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solidFill>
                  <a:schemeClr val="dk1"/>
                </a:solidFill>
                <a:latin typeface="Calibri"/>
                <a:ea typeface="Calibri"/>
                <a:cs typeface="Calibri"/>
                <a:sym typeface="Calibri"/>
              </a:rPr>
              <a:t>Astros is a part of </a:t>
            </a:r>
            <a:r>
              <a:rPr lang="en" sz="1200" b="1">
                <a:solidFill>
                  <a:srgbClr val="FF0000"/>
                </a:solidFill>
                <a:latin typeface="Calibri"/>
                <a:ea typeface="Calibri"/>
                <a:cs typeface="Calibri"/>
                <a:sym typeface="Calibri"/>
              </a:rPr>
              <a:t>AI Agent OS by Julian Goldie</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b="1">
                <a:solidFill>
                  <a:srgbClr val="3C78D8"/>
                </a:solidFill>
                <a:latin typeface="Calibri"/>
                <a:ea typeface="Calibri"/>
                <a:cs typeface="Calibri"/>
                <a:sym typeface="Calibri"/>
              </a:rPr>
              <a:t>Astros tracks competitors and hunts for ideas;</a:t>
            </a:r>
            <a:r>
              <a:rPr lang="en" sz="1200">
                <a:latin typeface="Calibri"/>
                <a:ea typeface="Calibri"/>
                <a:cs typeface="Calibri"/>
                <a:sym typeface="Calibri"/>
              </a:rPr>
              <a:t> it monitors keywords and creators,  identifies trending topics and ranks them by virality; it sources details, suggested titles, angles, and hooks</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These ideas can be used for video production, SEO article publishing, or NotebookLM research</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Topics and choices sync to a shared Obsidian memory</a:t>
            </a:r>
            <a:endParaRPr sz="1200">
              <a:latin typeface="Calibri"/>
              <a:ea typeface="Calibri"/>
              <a:cs typeface="Calibri"/>
              <a:sym typeface="Calibri"/>
            </a:endParaRPr>
          </a:p>
          <a:p>
            <a:pPr marL="22860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https://aiprofitboardroom.com/</a:t>
            </a:r>
            <a:r>
              <a:rPr lang="en" sz="900">
                <a:latin typeface="Calibri"/>
                <a:ea typeface="Calibri"/>
                <a:cs typeface="Calibri"/>
                <a:sym typeface="Calibri"/>
              </a:rPr>
              <a:t> </a:t>
            </a:r>
            <a:endParaRPr sz="900">
              <a:latin typeface="Calibri"/>
              <a:ea typeface="Calibri"/>
              <a:cs typeface="Calibri"/>
              <a:sym typeface="Calibri"/>
            </a:endParaRPr>
          </a:p>
          <a:p>
            <a:pPr marL="22860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5"/>
              </a:rPr>
              <a:t>https://www.linkedin.com/posts/juliangoldieseo_new-hermes-astros-is-absoultely-wild-activity-7493895980447113216-iFvO</a:t>
            </a:r>
            <a:endParaRPr sz="900">
              <a:latin typeface="Calibri"/>
              <a:ea typeface="Calibri"/>
              <a:cs typeface="Calibri"/>
              <a:sym typeface="Calibri"/>
            </a:endParaRPr>
          </a:p>
          <a:p>
            <a:pPr marL="22860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6"/>
              </a:rPr>
              <a:t>https://www.youtube.com/watch?v=qmKZI9zwHmk</a:t>
            </a:r>
            <a:r>
              <a:rPr lang="en" sz="900">
                <a:latin typeface="Calibri"/>
                <a:ea typeface="Calibri"/>
                <a:cs typeface="Calibri"/>
                <a:sym typeface="Calibri"/>
              </a:rPr>
              <a:t> </a:t>
            </a:r>
            <a:endParaRPr sz="900">
              <a:latin typeface="Calibri"/>
              <a:ea typeface="Calibri"/>
              <a:cs typeface="Calibri"/>
              <a:sym typeface="Calibri"/>
            </a:endParaRPr>
          </a:p>
        </p:txBody>
      </p:sp>
      <p:pic>
        <p:nvPicPr>
          <p:cNvPr id="267" name="Google Shape;267;p36"/>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666475" y="152400"/>
            <a:ext cx="4325125" cy="2434176"/>
          </a:xfrm>
          <a:prstGeom prst="rect">
            <a:avLst/>
          </a:prstGeom>
          <a:noFill/>
          <a:ln w="9525" cap="flat" cmpd="sng">
            <a:solidFill>
              <a:srgbClr val="FF0000"/>
            </a:solidFill>
            <a:prstDash val="solid"/>
            <a:round/>
            <a:headEnd type="none" w="sm" len="sm"/>
            <a:tailEnd type="none" w="sm" len="sm"/>
          </a:ln>
        </p:spPr>
      </p:pic>
      <p:pic>
        <p:nvPicPr>
          <p:cNvPr id="268" name="Google Shape;268;p36"/>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666475" y="3100463"/>
            <a:ext cx="2944801" cy="16519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7"/>
          <p:cNvSpPr txBox="1"/>
          <p:nvPr/>
        </p:nvSpPr>
        <p:spPr>
          <a:xfrm>
            <a:off x="36574" y="-27425"/>
            <a:ext cx="26040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Updates</a:t>
            </a:r>
            <a:endParaRPr sz="2000" b="1">
              <a:latin typeface="Calibri"/>
              <a:ea typeface="Calibri"/>
              <a:cs typeface="Calibri"/>
              <a:sym typeface="Calibri"/>
            </a:endParaRPr>
          </a:p>
        </p:txBody>
      </p:sp>
      <p:sp>
        <p:nvSpPr>
          <p:cNvPr id="274" name="Google Shape;274;p37"/>
          <p:cNvSpPr txBox="1"/>
          <p:nvPr/>
        </p:nvSpPr>
        <p:spPr>
          <a:xfrm>
            <a:off x="112775" y="379475"/>
            <a:ext cx="4383000" cy="3066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Claude’s Constitution</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https://www.anthropic.com/constitution</a:t>
            </a:r>
            <a:r>
              <a:rPr lang="en" sz="1200">
                <a:latin typeface="Calibri"/>
                <a:ea typeface="Calibri"/>
                <a:cs typeface="Calibri"/>
                <a:sym typeface="Calibri"/>
              </a:rPr>
              <a:t> (Jan 2026)</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Written mostly by </a:t>
            </a:r>
            <a:r>
              <a:rPr lang="en" sz="1200" b="1">
                <a:solidFill>
                  <a:srgbClr val="FF0000"/>
                </a:solidFill>
                <a:latin typeface="Calibri"/>
                <a:ea typeface="Calibri"/>
                <a:cs typeface="Calibri"/>
                <a:sym typeface="Calibri"/>
              </a:rPr>
              <a:t>Amanda Askell at Anthropic</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The document explains the values and reasoning intended to shape Claude’s character and training</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Fixed rules may not anticipate unfamiliar situations; the constitution emphasizes judgment and reasons, prioritizing safety, ethics, Anthropic’s guidelines, then helpfulness</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It allows Claude to challenge even Anthropic when a request seems unethical, while preserving human oversight</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Anthropic released it under CC0 </a:t>
            </a:r>
            <a:br>
              <a:rPr lang="en" sz="1200">
                <a:latin typeface="Calibri"/>
                <a:ea typeface="Calibri"/>
                <a:cs typeface="Calibri"/>
                <a:sym typeface="Calibri"/>
              </a:rPr>
            </a:br>
            <a:r>
              <a:rPr lang="en" sz="1200">
                <a:latin typeface="Calibri"/>
                <a:ea typeface="Calibri"/>
                <a:cs typeface="Calibri"/>
                <a:sym typeface="Calibri"/>
              </a:rPr>
              <a:t>(CC0 = “Creative Commons Zero” - waving copyrights)</a:t>
            </a:r>
            <a:br>
              <a:rPr lang="en" sz="1200">
                <a:latin typeface="Calibri"/>
                <a:ea typeface="Calibri"/>
                <a:cs typeface="Calibri"/>
                <a:sym typeface="Calibri"/>
              </a:rPr>
            </a:br>
            <a:r>
              <a:rPr lang="en" sz="1200">
                <a:latin typeface="Calibri"/>
                <a:ea typeface="Calibri"/>
                <a:cs typeface="Calibri"/>
                <a:sym typeface="Calibri"/>
              </a:rPr>
              <a:t>thus inviting anyone to adapt its approach</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It offers a transparent model for guiding AI behavior, not a guarantee of alignment.</a:t>
            </a:r>
            <a:endParaRPr sz="900">
              <a:latin typeface="Calibri"/>
              <a:ea typeface="Calibri"/>
              <a:cs typeface="Calibri"/>
              <a:sym typeface="Calibri"/>
            </a:endParaRPr>
          </a:p>
          <a:p>
            <a:pPr marL="22860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https://time.com/7354738/claude-constitution-ai-alignment/</a:t>
            </a:r>
            <a:endParaRPr sz="900">
              <a:latin typeface="Calibri"/>
              <a:ea typeface="Calibri"/>
              <a:cs typeface="Calibri"/>
              <a:sym typeface="Calibri"/>
            </a:endParaRPr>
          </a:p>
          <a:p>
            <a:pPr marL="22860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5"/>
              </a:rPr>
              <a:t>https://www.youtube.com/watch?v=FX5o-x7k9pU</a:t>
            </a:r>
            <a:r>
              <a:rPr lang="en" sz="900">
                <a:latin typeface="Calibri"/>
                <a:ea typeface="Calibri"/>
                <a:cs typeface="Calibri"/>
                <a:sym typeface="Calibri"/>
              </a:rPr>
              <a:t> </a:t>
            </a:r>
            <a:endParaRPr sz="900">
              <a:latin typeface="Calibri"/>
              <a:ea typeface="Calibri"/>
              <a:cs typeface="Calibri"/>
              <a:sym typeface="Calibri"/>
            </a:endParaRPr>
          </a:p>
        </p:txBody>
      </p:sp>
      <p:sp>
        <p:nvSpPr>
          <p:cNvPr id="275" name="Google Shape;275;p37"/>
          <p:cNvSpPr txBox="1"/>
          <p:nvPr/>
        </p:nvSpPr>
        <p:spPr>
          <a:xfrm>
            <a:off x="112775" y="3525975"/>
            <a:ext cx="4383000" cy="1403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DNA Discovery</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950 Claude agents searched DNA data for 21 hours, using 210 million tokens and identified ART, a previously uncharacterized enzyme system in bacteriophages</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The finding shows how AI agents can help identify overlooked patterns and generate testable scientific hypotheses</a:t>
            </a:r>
            <a:endParaRPr sz="1200">
              <a:latin typeface="Calibri"/>
              <a:ea typeface="Calibri"/>
              <a:cs typeface="Calibri"/>
              <a:sym typeface="Calibri"/>
            </a:endParaRPr>
          </a:p>
          <a:p>
            <a:pPr marL="22860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6"/>
              </a:rPr>
              <a:t>https://www.anthropic.com/news/claude-discovers-novel-enzyme-system</a:t>
            </a:r>
            <a:endParaRPr sz="900">
              <a:latin typeface="Calibri"/>
              <a:ea typeface="Calibri"/>
              <a:cs typeface="Calibri"/>
              <a:sym typeface="Calibri"/>
            </a:endParaRPr>
          </a:p>
          <a:p>
            <a:pPr marL="22860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7"/>
              </a:rPr>
              <a:t>https://www.youtube.com/watch?v=H7KruLVX2Rk</a:t>
            </a:r>
            <a:r>
              <a:rPr lang="en" sz="900">
                <a:latin typeface="Calibri"/>
                <a:ea typeface="Calibri"/>
                <a:cs typeface="Calibri"/>
                <a:sym typeface="Calibri"/>
              </a:rPr>
              <a:t> </a:t>
            </a:r>
            <a:endParaRPr sz="900">
              <a:latin typeface="Calibri"/>
              <a:ea typeface="Calibri"/>
              <a:cs typeface="Calibri"/>
              <a:sym typeface="Calibri"/>
            </a:endParaRPr>
          </a:p>
        </p:txBody>
      </p:sp>
      <p:pic>
        <p:nvPicPr>
          <p:cNvPr id="276" name="Google Shape;276;p37"/>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639275" y="1978229"/>
            <a:ext cx="2440849" cy="1322320"/>
          </a:xfrm>
          <a:prstGeom prst="rect">
            <a:avLst/>
          </a:prstGeom>
          <a:noFill/>
          <a:ln w="9525" cap="flat" cmpd="sng">
            <a:solidFill>
              <a:srgbClr val="FF0000"/>
            </a:solidFill>
            <a:prstDash val="solid"/>
            <a:round/>
            <a:headEnd type="none" w="sm" len="sm"/>
            <a:tailEnd type="none" w="sm" len="sm"/>
          </a:ln>
        </p:spPr>
      </p:pic>
      <p:pic>
        <p:nvPicPr>
          <p:cNvPr id="277" name="Google Shape;277;p37"/>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648175" y="3525975"/>
            <a:ext cx="2604000" cy="1420357"/>
          </a:xfrm>
          <a:prstGeom prst="rect">
            <a:avLst/>
          </a:prstGeom>
          <a:noFill/>
          <a:ln w="9525" cap="flat" cmpd="sng">
            <a:solidFill>
              <a:srgbClr val="FF0000"/>
            </a:solidFill>
            <a:prstDash val="solid"/>
            <a:round/>
            <a:headEnd type="none" w="sm" len="sm"/>
            <a:tailEnd type="none" w="sm" len="sm"/>
          </a:ln>
        </p:spPr>
      </p:pic>
      <p:pic>
        <p:nvPicPr>
          <p:cNvPr id="278" name="Google Shape;278;p37"/>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4639275" y="289614"/>
            <a:ext cx="2440851" cy="16147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8"/>
          <p:cNvSpPr txBox="1"/>
          <p:nvPr/>
        </p:nvSpPr>
        <p:spPr>
          <a:xfrm>
            <a:off x="36576" y="-27432"/>
            <a:ext cx="1177200" cy="38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284" name="Google Shape;284;p38"/>
          <p:cNvSpPr txBox="1"/>
          <p:nvPr/>
        </p:nvSpPr>
        <p:spPr>
          <a:xfrm>
            <a:off x="84100" y="452575"/>
            <a:ext cx="3592500" cy="895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Cohere + Aleph Alpha = $20 Bln merger</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Toronto/Canada + Berlin/Germany, 1K+ staff</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Cohere 90%, Aleph Alpha 10%</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900" u="sng">
                <a:solidFill>
                  <a:srgbClr val="0563C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https://siliconangle.com/2026/09/16/cohere-and-aleph-alpha-agree-to-merge-in-reported-20b-deal/</a:t>
            </a:r>
            <a:endParaRPr sz="900">
              <a:solidFill>
                <a:srgbClr val="0563C1"/>
              </a:solidFill>
              <a:latin typeface="Calibri"/>
              <a:ea typeface="Calibri"/>
              <a:cs typeface="Calibri"/>
              <a:sym typeface="Calibri"/>
            </a:endParaRPr>
          </a:p>
        </p:txBody>
      </p:sp>
      <p:sp>
        <p:nvSpPr>
          <p:cNvPr id="285" name="Google Shape;285;p38"/>
          <p:cNvSpPr txBox="1"/>
          <p:nvPr/>
        </p:nvSpPr>
        <p:spPr>
          <a:xfrm>
            <a:off x="84100" y="1937875"/>
            <a:ext cx="3678300" cy="92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SzPts val="1200"/>
              <a:buFont typeface="Calibri"/>
              <a:buChar char="●"/>
            </a:pPr>
            <a:r>
              <a:rPr lang="en" sz="1300" b="1">
                <a:solidFill>
                  <a:srgbClr val="FF0000"/>
                </a:solidFill>
                <a:latin typeface="Calibri"/>
                <a:ea typeface="Calibri"/>
                <a:cs typeface="Calibri"/>
                <a:sym typeface="Calibri"/>
              </a:rPr>
              <a:t>OpenAI eyes $1.5 Trillion valuation</a:t>
            </a:r>
            <a:endParaRPr sz="13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300" b="1">
                <a:solidFill>
                  <a:srgbClr val="FF0000"/>
                </a:solidFill>
                <a:latin typeface="Calibri"/>
                <a:ea typeface="Calibri"/>
                <a:cs typeface="Calibri"/>
                <a:sym typeface="Calibri"/>
              </a:rPr>
              <a:t>Compute bill hits $856 Bln</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ARR </a:t>
            </a:r>
            <a:r>
              <a:rPr lang="en" sz="1200">
                <a:highlight>
                  <a:srgbClr val="FFF2CC"/>
                </a:highlight>
                <a:latin typeface="Calibri"/>
                <a:ea typeface="Calibri"/>
                <a:cs typeface="Calibri"/>
                <a:sym typeface="Calibri"/>
              </a:rPr>
              <a:t>$40 Bln in August (</a:t>
            </a:r>
            <a:r>
              <a:rPr lang="en" sz="1200">
                <a:solidFill>
                  <a:schemeClr val="dk1"/>
                </a:solidFill>
                <a:latin typeface="Calibri"/>
                <a:ea typeface="Calibri"/>
                <a:cs typeface="Calibri"/>
                <a:sym typeface="Calibri"/>
              </a:rPr>
              <a:t>ChatGPT Ads reached $1B ARR</a:t>
            </a:r>
            <a:r>
              <a:rPr lang="en" sz="1200">
                <a:highlight>
                  <a:srgbClr val="FFF2CC"/>
                </a:highlight>
                <a:latin typeface="Calibri"/>
                <a:ea typeface="Calibri"/>
                <a:cs typeface="Calibri"/>
                <a:sym typeface="Calibri"/>
              </a:rPr>
              <a:t>)</a:t>
            </a:r>
            <a:endParaRPr sz="1200">
              <a:highlight>
                <a:srgbClr val="FFF2CC"/>
              </a:highlight>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900" u="sng">
                <a:solidFill>
                  <a:srgbClr val="0563C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https://thenextweb.com/news/openai-856bn-compute-vs-600bn-reset-burn-improved</a:t>
            </a:r>
            <a:endParaRPr sz="900">
              <a:solidFill>
                <a:srgbClr val="0563C1"/>
              </a:solidFill>
              <a:latin typeface="Calibri"/>
              <a:ea typeface="Calibri"/>
              <a:cs typeface="Calibri"/>
              <a:sym typeface="Calibri"/>
            </a:endParaRPr>
          </a:p>
        </p:txBody>
      </p:sp>
      <p:sp>
        <p:nvSpPr>
          <p:cNvPr id="286" name="Google Shape;286;p38"/>
          <p:cNvSpPr txBox="1"/>
          <p:nvPr/>
        </p:nvSpPr>
        <p:spPr>
          <a:xfrm>
            <a:off x="84097" y="3454075"/>
            <a:ext cx="40308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Meta SAM 3.1 - Segment Anything Model</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via Meta Model API</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Type a text prompt to detect, segment and track any object</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Works on both images and video</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Priced at </a:t>
            </a:r>
            <a:r>
              <a:rPr lang="en" sz="1200">
                <a:highlight>
                  <a:srgbClr val="FFF2CC"/>
                </a:highlight>
                <a:latin typeface="Calibri"/>
                <a:ea typeface="Calibri"/>
                <a:cs typeface="Calibri"/>
                <a:sym typeface="Calibri"/>
              </a:rPr>
              <a:t>$2.50</a:t>
            </a:r>
            <a:r>
              <a:rPr lang="en" sz="1200">
                <a:latin typeface="Calibri"/>
                <a:ea typeface="Calibri"/>
                <a:cs typeface="Calibri"/>
                <a:sym typeface="Calibri"/>
              </a:rPr>
              <a:t> per 1,000 images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Video costs </a:t>
            </a:r>
            <a:r>
              <a:rPr lang="en" sz="1200">
                <a:highlight>
                  <a:srgbClr val="FFF2CC"/>
                </a:highlight>
                <a:latin typeface="Calibri"/>
                <a:ea typeface="Calibri"/>
                <a:cs typeface="Calibri"/>
                <a:sym typeface="Calibri"/>
              </a:rPr>
              <a:t>$0.20</a:t>
            </a:r>
            <a:r>
              <a:rPr lang="en" sz="1200">
                <a:latin typeface="Calibri"/>
                <a:ea typeface="Calibri"/>
                <a:cs typeface="Calibri"/>
                <a:sym typeface="Calibri"/>
              </a:rPr>
              <a:t> per 1,000 frames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Runs on inference built for its architecture</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900" u="sng">
                <a:solidFill>
                  <a:srgbClr val="0563C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https://developer.meta.com/ai/models/sam-3-1/</a:t>
            </a:r>
            <a:endParaRPr sz="900">
              <a:solidFill>
                <a:srgbClr val="0563C1"/>
              </a:solidFill>
              <a:latin typeface="Calibri"/>
              <a:ea typeface="Calibri"/>
              <a:cs typeface="Calibri"/>
              <a:sym typeface="Calibri"/>
            </a:endParaRPr>
          </a:p>
        </p:txBody>
      </p:sp>
      <p:pic>
        <p:nvPicPr>
          <p:cNvPr id="287" name="Google Shape;287;p3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290650" y="3454075"/>
            <a:ext cx="2546674" cy="1496101"/>
          </a:xfrm>
          <a:prstGeom prst="rect">
            <a:avLst/>
          </a:prstGeom>
          <a:noFill/>
          <a:ln w="9525" cap="flat" cmpd="sng">
            <a:solidFill>
              <a:srgbClr val="FF0000"/>
            </a:solidFill>
            <a:prstDash val="solid"/>
            <a:round/>
            <a:headEnd type="none" w="sm" len="sm"/>
            <a:tailEnd type="none" w="sm" len="sm"/>
          </a:ln>
        </p:spPr>
      </p:pic>
      <p:pic>
        <p:nvPicPr>
          <p:cNvPr id="288" name="Google Shape;288;p3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3916325" y="1739240"/>
            <a:ext cx="1739800" cy="1394825"/>
          </a:xfrm>
          <a:prstGeom prst="rect">
            <a:avLst/>
          </a:prstGeom>
          <a:noFill/>
          <a:ln w="9525" cap="flat" cmpd="sng">
            <a:solidFill>
              <a:srgbClr val="FF0000"/>
            </a:solidFill>
            <a:prstDash val="solid"/>
            <a:round/>
            <a:headEnd type="none" w="sm" len="sm"/>
            <a:tailEnd type="none" w="sm" len="sm"/>
          </a:ln>
        </p:spPr>
      </p:pic>
      <p:pic>
        <p:nvPicPr>
          <p:cNvPr id="289" name="Google Shape;289;p38"/>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3916327" y="235350"/>
            <a:ext cx="3295650" cy="11838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9"/>
          <p:cNvSpPr txBox="1"/>
          <p:nvPr/>
        </p:nvSpPr>
        <p:spPr>
          <a:xfrm>
            <a:off x="36576" y="-27432"/>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295" name="Google Shape;295;p39"/>
          <p:cNvSpPr txBox="1"/>
          <p:nvPr/>
        </p:nvSpPr>
        <p:spPr>
          <a:xfrm>
            <a:off x="94375" y="502925"/>
            <a:ext cx="34584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Meta Connect 2026 Event</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Sept 23-24 - </a:t>
            </a:r>
            <a:r>
              <a:rPr lang="en" sz="1200" b="1">
                <a:solidFill>
                  <a:srgbClr val="3C78D8"/>
                </a:solidFill>
                <a:latin typeface="Calibri"/>
                <a:ea typeface="Calibri"/>
                <a:cs typeface="Calibri"/>
                <a:sym typeface="Calibri"/>
              </a:rPr>
              <a:t>AI, smart glasses, and virtual reality</a:t>
            </a:r>
            <a:endParaRPr sz="1200" b="1">
              <a:solidFill>
                <a:srgbClr val="3C78D8"/>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Muse - Free, now </a:t>
            </a:r>
            <a:r>
              <a:rPr lang="en" sz="1200" b="1">
                <a:solidFill>
                  <a:srgbClr val="3C78D8"/>
                </a:solidFill>
                <a:latin typeface="Calibri"/>
                <a:ea typeface="Calibri"/>
                <a:cs typeface="Calibri"/>
                <a:sym typeface="Calibri"/>
              </a:rPr>
              <a:t>talks and does real-time video</a:t>
            </a:r>
            <a:r>
              <a:rPr lang="en" sz="1200">
                <a:latin typeface="Calibri"/>
                <a:ea typeface="Calibri"/>
                <a:cs typeface="Calibri"/>
                <a:sym typeface="Calibri"/>
              </a:rPr>
              <a:t>, </a:t>
            </a:r>
            <a:endParaRPr sz="1200">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Keeps working in the background</a:t>
            </a:r>
            <a:endParaRPr sz="1200" b="1">
              <a:solidFill>
                <a:srgbClr val="3C78D8"/>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Each Muse gets its own email address</a:t>
            </a:r>
            <a:endParaRPr sz="1200" b="1">
              <a:solidFill>
                <a:srgbClr val="3C78D8"/>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Muse for Mac adds computer use</a:t>
            </a:r>
            <a:endParaRPr sz="1200" b="1">
              <a:solidFill>
                <a:srgbClr val="3C78D8"/>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b="1">
                <a:solidFill>
                  <a:srgbClr val="3C78D8"/>
                </a:solidFill>
                <a:latin typeface="Calibri"/>
                <a:ea typeface="Calibri"/>
                <a:cs typeface="Calibri"/>
                <a:sym typeface="Calibri"/>
              </a:rPr>
              <a:t>Connector catalog passes 1,500 apps</a:t>
            </a:r>
            <a:r>
              <a:rPr lang="en" sz="1200">
                <a:latin typeface="Calibri"/>
                <a:ea typeface="Calibri"/>
                <a:cs typeface="Calibri"/>
                <a:sym typeface="Calibri"/>
              </a:rPr>
              <a:t>; </a:t>
            </a:r>
            <a:br>
              <a:rPr lang="en" sz="1200">
                <a:latin typeface="Calibri"/>
                <a:ea typeface="Calibri"/>
                <a:cs typeface="Calibri"/>
                <a:sym typeface="Calibri"/>
              </a:rPr>
            </a:br>
            <a:r>
              <a:rPr lang="en" sz="1200">
                <a:latin typeface="Calibri"/>
                <a:ea typeface="Calibri"/>
                <a:cs typeface="Calibri"/>
                <a:sym typeface="Calibri"/>
              </a:rPr>
              <a:t>Walmart, Best Buy, Sephora, Instacart, ...</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b="1">
                <a:solidFill>
                  <a:srgbClr val="3C78D8"/>
                </a:solidFill>
                <a:latin typeface="Calibri"/>
                <a:ea typeface="Calibri"/>
                <a:cs typeface="Calibri"/>
                <a:sym typeface="Calibri"/>
              </a:rPr>
              <a:t>Muse Charm, a handheld agent device</a:t>
            </a:r>
            <a:r>
              <a:rPr lang="en" sz="1200">
                <a:latin typeface="Calibri"/>
                <a:ea typeface="Calibri"/>
                <a:cs typeface="Calibri"/>
                <a:sym typeface="Calibri"/>
              </a:rPr>
              <a:t> </a:t>
            </a:r>
            <a:br>
              <a:rPr lang="en" sz="1200">
                <a:latin typeface="Calibri"/>
                <a:ea typeface="Calibri"/>
                <a:cs typeface="Calibri"/>
                <a:sym typeface="Calibri"/>
              </a:rPr>
            </a:br>
            <a:r>
              <a:rPr lang="en" sz="1200">
                <a:latin typeface="Calibri"/>
                <a:ea typeface="Calibri"/>
                <a:cs typeface="Calibri"/>
                <a:sym typeface="Calibri"/>
              </a:rPr>
              <a:t>from the Limitless team (ships December)</a:t>
            </a:r>
            <a:endParaRPr sz="1200">
              <a:latin typeface="Calibri"/>
              <a:ea typeface="Calibri"/>
              <a:cs typeface="Calibri"/>
              <a:sym typeface="Calibri"/>
            </a:endParaRPr>
          </a:p>
        </p:txBody>
      </p:sp>
      <p:sp>
        <p:nvSpPr>
          <p:cNvPr id="296" name="Google Shape;296;p39"/>
          <p:cNvSpPr txBox="1"/>
          <p:nvPr/>
        </p:nvSpPr>
        <p:spPr>
          <a:xfrm>
            <a:off x="94375" y="2572275"/>
            <a:ext cx="50109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NVIDIA SoL-Pi Uses x2 Less Tokens</a:t>
            </a:r>
            <a:endParaRPr sz="1200" b="1">
              <a:solidFill>
                <a:srgbClr val="FF0000"/>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Pi - a terminal-based coding agent</a:t>
            </a:r>
            <a:endParaRPr sz="1200" b="1">
              <a:solidFill>
                <a:srgbClr val="3C78D8"/>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NVIDIA SoL-Pi  - </a:t>
            </a:r>
            <a:r>
              <a:rPr lang="en" sz="1200" b="1">
                <a:solidFill>
                  <a:srgbClr val="3C78D8"/>
                </a:solidFill>
                <a:latin typeface="Calibri"/>
                <a:ea typeface="Calibri"/>
                <a:cs typeface="Calibri"/>
                <a:sym typeface="Calibri"/>
              </a:rPr>
              <a:t>open-source extension changes "harness" to cut repeated work and token/API costs</a:t>
            </a:r>
            <a:endParaRPr sz="1200" b="1">
              <a:solidFill>
                <a:srgbClr val="3C78D8"/>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Nvidia research agent tried 152 harness changes across 535 environments</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Four survived - reduced token traffic in half, API cost fell ~33%</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Scores stay near 94% of Pi's</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MIT license, runs on unmodified Pi 0.85.1</a:t>
            </a:r>
            <a:endParaRPr sz="1200">
              <a:latin typeface="Calibri"/>
              <a:ea typeface="Calibri"/>
              <a:cs typeface="Calibri"/>
              <a:sym typeface="Calibri"/>
            </a:endParaRPr>
          </a:p>
        </p:txBody>
      </p:sp>
      <p:pic>
        <p:nvPicPr>
          <p:cNvPr id="297" name="Google Shape;297;p39"/>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3670669" y="502925"/>
            <a:ext cx="1745331" cy="1865400"/>
          </a:xfrm>
          <a:prstGeom prst="rect">
            <a:avLst/>
          </a:prstGeom>
          <a:noFill/>
          <a:ln w="9525" cap="flat" cmpd="sng">
            <a:solidFill>
              <a:srgbClr val="FF0000"/>
            </a:solidFill>
            <a:prstDash val="solid"/>
            <a:round/>
            <a:headEnd type="none" w="sm" len="sm"/>
            <a:tailEnd type="none" w="sm" len="sm"/>
          </a:ln>
        </p:spPr>
      </p:pic>
      <p:pic>
        <p:nvPicPr>
          <p:cNvPr id="298" name="Google Shape;298;p3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533890" y="502925"/>
            <a:ext cx="3325260" cy="1865400"/>
          </a:xfrm>
          <a:prstGeom prst="rect">
            <a:avLst/>
          </a:prstGeom>
          <a:noFill/>
          <a:ln w="9525" cap="flat" cmpd="sng">
            <a:solidFill>
              <a:srgbClr val="FF0000"/>
            </a:solidFill>
            <a:prstDash val="solid"/>
            <a:round/>
            <a:headEnd type="none" w="sm" len="sm"/>
            <a:tailEnd type="none" w="sm" len="sm"/>
          </a:ln>
        </p:spPr>
      </p:pic>
      <p:pic>
        <p:nvPicPr>
          <p:cNvPr id="299" name="Google Shape;299;p39"/>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5416000" y="2724413"/>
            <a:ext cx="3067177" cy="119182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40"/>
          <p:cNvSpPr txBox="1"/>
          <p:nvPr/>
        </p:nvSpPr>
        <p:spPr>
          <a:xfrm>
            <a:off x="83398" y="50600"/>
            <a:ext cx="19236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Jobs and Layoffs</a:t>
            </a:r>
            <a:endParaRPr sz="2000" b="1">
              <a:latin typeface="Calibri"/>
              <a:ea typeface="Calibri"/>
              <a:cs typeface="Calibri"/>
              <a:sym typeface="Calibri"/>
            </a:endParaRPr>
          </a:p>
        </p:txBody>
      </p:sp>
      <p:sp>
        <p:nvSpPr>
          <p:cNvPr id="305" name="Google Shape;305;p40"/>
          <p:cNvSpPr txBox="1"/>
          <p:nvPr/>
        </p:nvSpPr>
        <p:spPr>
          <a:xfrm>
            <a:off x="2771397" y="19852"/>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306" name="Google Shape;306;p40"/>
          <p:cNvSpPr txBox="1"/>
          <p:nvPr/>
        </p:nvSpPr>
        <p:spPr>
          <a:xfrm>
            <a:off x="5690525" y="3510625"/>
            <a:ext cx="32868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no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129.9K in 2026 </a:t>
            </a:r>
            <a:r>
              <a:rPr lang="en" sz="1000" b="1">
                <a:solidFill>
                  <a:srgbClr val="000000"/>
                </a:solidFill>
                <a:latin typeface="Roboto Mono"/>
                <a:ea typeface="Roboto Mono"/>
                <a:cs typeface="Roboto Mono"/>
                <a:sym typeface="Roboto Mono"/>
              </a:rPr>
              <a:t>(as of Sept 24,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123K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266K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307" name="Google Shape;307;p40"/>
          <p:cNvSpPr txBox="1"/>
          <p:nvPr/>
        </p:nvSpPr>
        <p:spPr>
          <a:xfrm>
            <a:off x="5690530" y="1158774"/>
            <a:ext cx="32868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no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a:t>
            </a:r>
            <a:r>
              <a:rPr lang="en" sz="1200" b="1">
                <a:latin typeface="Calibri"/>
                <a:ea typeface="Calibri"/>
                <a:cs typeface="Calibri"/>
                <a:sym typeface="Calibri"/>
              </a:rPr>
              <a:t>190,058</a:t>
            </a:r>
            <a:r>
              <a:rPr lang="en" sz="1200">
                <a:latin typeface="Calibri"/>
                <a:ea typeface="Calibri"/>
                <a:cs typeface="Calibri"/>
                <a:sym typeface="Calibri"/>
              </a:rPr>
              <a:t> people laid off (712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a:t>
            </a:r>
            <a:r>
              <a:rPr lang="en" sz="1200" b="1">
                <a:latin typeface="Calibri"/>
                <a:ea typeface="Calibri"/>
                <a:cs typeface="Calibri"/>
                <a:sym typeface="Calibri"/>
              </a:rPr>
              <a:t>238,461</a:t>
            </a:r>
            <a:r>
              <a:rPr lang="en" sz="1200">
                <a:latin typeface="Calibri"/>
                <a:ea typeface="Calibri"/>
                <a:cs typeface="Calibri"/>
                <a:sym typeface="Calibri"/>
              </a:rPr>
              <a:t>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8"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pic>
        <p:nvPicPr>
          <p:cNvPr id="308" name="Google Shape;308;p40" descr="auto: layoffs-fyi-chart"/>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345736" y="3407672"/>
            <a:ext cx="4634459" cy="1548885"/>
          </a:xfrm>
          <a:prstGeom prst="rect">
            <a:avLst/>
          </a:prstGeom>
          <a:noFill/>
          <a:ln w="9100" cap="flat" cmpd="sng">
            <a:solidFill>
              <a:srgbClr val="FF0000"/>
            </a:solidFill>
            <a:prstDash val="solid"/>
            <a:round/>
            <a:headEnd type="none" w="sm" len="sm"/>
            <a:tailEnd type="none" w="sm" len="sm"/>
          </a:ln>
        </p:spPr>
      </p:pic>
      <p:pic>
        <p:nvPicPr>
          <p:cNvPr id="309" name="Google Shape;309;p40" descr="auto: trueup-chart"/>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243109" y="569314"/>
            <a:ext cx="4839721" cy="2496148"/>
          </a:xfrm>
          <a:prstGeom prst="rect">
            <a:avLst/>
          </a:prstGeom>
          <a:noFill/>
          <a:ln w="9100" cap="flat" cmpd="sng">
            <a:solidFill>
              <a:srgbClr val="FF0000"/>
            </a:solidFill>
            <a:prstDash val="solid"/>
            <a:round/>
            <a:headEnd type="none" w="sm" len="sm"/>
            <a:tailEnd type="none" w="sm" len="sm"/>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1"/>
          <p:cNvSpPr txBox="1"/>
          <p:nvPr/>
        </p:nvSpPr>
        <p:spPr>
          <a:xfrm>
            <a:off x="96051" y="165818"/>
            <a:ext cx="24411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About the Speaker</a:t>
            </a:r>
            <a:endParaRPr sz="2000" b="1">
              <a:latin typeface="Calibri"/>
              <a:ea typeface="Calibri"/>
              <a:cs typeface="Calibri"/>
              <a:sym typeface="Calibri"/>
            </a:endParaRPr>
          </a:p>
        </p:txBody>
      </p:sp>
      <p:sp>
        <p:nvSpPr>
          <p:cNvPr id="315" name="Google Shape;315;p41"/>
          <p:cNvSpPr txBox="1"/>
          <p:nvPr/>
        </p:nvSpPr>
        <p:spPr>
          <a:xfrm>
            <a:off x="3328416" y="1263396"/>
            <a:ext cx="4572000" cy="295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rgbClr val="FF0000"/>
                </a:solidFill>
                <a:latin typeface="Calibri"/>
                <a:ea typeface="Calibri"/>
                <a:cs typeface="Calibri"/>
                <a:sym typeface="Calibri"/>
              </a:rPr>
              <a:t>Lev Selector, Ph.D.</a:t>
            </a:r>
            <a:endParaRPr sz="2400" b="1">
              <a:solidFill>
                <a:srgbClr val="FF0000"/>
              </a:solidFill>
              <a:latin typeface="Calibri"/>
              <a:ea typeface="Calibri"/>
              <a:cs typeface="Calibri"/>
              <a:sym typeface="Calibri"/>
            </a:endParaRPr>
          </a:p>
          <a:p>
            <a:pPr marL="171450" lvl="0" indent="-218186" algn="l" rtl="0">
              <a:spcBef>
                <a:spcPts val="0"/>
              </a:spcBef>
              <a:spcAft>
                <a:spcPts val="0"/>
              </a:spcAft>
              <a:buSzPts val="1600"/>
              <a:buFont typeface="Calibri"/>
              <a:buChar char="●"/>
            </a:pPr>
            <a:r>
              <a:rPr lang="en" sz="1600">
                <a:latin typeface="Calibri"/>
                <a:ea typeface="Calibri"/>
                <a:cs typeface="Calibri"/>
                <a:sym typeface="Calibri"/>
              </a:rPr>
              <a:t>40+ years of software engineering, data science, and building teams (hiring, training, and managing)</a:t>
            </a:r>
            <a:endParaRPr sz="1600">
              <a:latin typeface="Calibri"/>
              <a:ea typeface="Calibri"/>
              <a:cs typeface="Calibri"/>
              <a:sym typeface="Calibri"/>
            </a:endParaRPr>
          </a:p>
          <a:p>
            <a:pPr marL="171450" lvl="0" indent="-218186" algn="l" rtl="0">
              <a:spcBef>
                <a:spcPts val="0"/>
              </a:spcBef>
              <a:spcAft>
                <a:spcPts val="0"/>
              </a:spcAft>
              <a:buSzPts val="1600"/>
              <a:buFont typeface="Calibri"/>
              <a:buChar char="●"/>
            </a:pPr>
            <a:r>
              <a:rPr lang="en" sz="1600">
                <a:latin typeface="Calibri"/>
                <a:ea typeface="Calibri"/>
                <a:cs typeface="Calibri"/>
                <a:sym typeface="Calibri"/>
              </a:rPr>
              <a:t>Ph.D. in mathematical modeling and computer simulations</a:t>
            </a:r>
            <a:endParaRPr sz="1600">
              <a:latin typeface="Calibri"/>
              <a:ea typeface="Calibri"/>
              <a:cs typeface="Calibri"/>
              <a:sym typeface="Calibri"/>
            </a:endParaRPr>
          </a:p>
          <a:p>
            <a:pPr marL="171450" lvl="0" indent="-218186" algn="l" rtl="0">
              <a:spcBef>
                <a:spcPts val="0"/>
              </a:spcBef>
              <a:spcAft>
                <a:spcPts val="0"/>
              </a:spcAft>
              <a:buSzPts val="1600"/>
              <a:buFont typeface="Calibri"/>
              <a:buChar char="●"/>
            </a:pPr>
            <a:r>
              <a:rPr lang="en" sz="1600">
                <a:latin typeface="Calibri"/>
                <a:ea typeface="Calibri"/>
                <a:cs typeface="Calibri"/>
                <a:sym typeface="Calibri"/>
              </a:rPr>
              <a:t>Interests: Generative AI, using LLMs with your data, local AI for local private data, cloud architecture, fin-tech, application security</a:t>
            </a:r>
            <a:endParaRPr sz="1600">
              <a:latin typeface="Calibri"/>
              <a:ea typeface="Calibri"/>
              <a:cs typeface="Calibri"/>
              <a:sym typeface="Calibri"/>
            </a:endParaRPr>
          </a:p>
          <a:p>
            <a:pPr marL="171450" lvl="0" indent="-218186" algn="l" rtl="0">
              <a:spcBef>
                <a:spcPts val="0"/>
              </a:spcBef>
              <a:spcAft>
                <a:spcPts val="0"/>
              </a:spcAft>
              <a:buSzPts val="1600"/>
              <a:buFont typeface="Calibri"/>
              <a:buChar char="●"/>
            </a:pPr>
            <a:r>
              <a:rPr lang="en" sz="1600">
                <a:latin typeface="Calibri"/>
                <a:ea typeface="Calibri"/>
                <a:cs typeface="Calibri"/>
                <a:sym typeface="Calibri"/>
              </a:rPr>
              <a:t>Find and connect: LinkedIn, GitHub, YouTube, Google</a:t>
            </a:r>
            <a:endParaRPr sz="1600">
              <a:latin typeface="Calibri"/>
              <a:ea typeface="Calibri"/>
              <a:cs typeface="Calibri"/>
              <a:sym typeface="Calibri"/>
            </a:endParaRPr>
          </a:p>
          <a:p>
            <a:pPr marL="171450" lvl="0" indent="-218186" algn="l" rtl="0">
              <a:spcBef>
                <a:spcPts val="0"/>
              </a:spcBef>
              <a:spcAft>
                <a:spcPts val="0"/>
              </a:spcAft>
              <a:buSzPts val="1600"/>
              <a:buFont typeface="Calibri"/>
              <a:buChar char="●"/>
            </a:pPr>
            <a:r>
              <a:rPr lang="en" sz="1200" u="sng">
                <a:solidFill>
                  <a:srgbClr val="0563C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https://eais.ai</a:t>
            </a:r>
            <a:endParaRPr sz="1200">
              <a:solidFill>
                <a:srgbClr val="0563C1"/>
              </a:solidFill>
              <a:latin typeface="Calibri"/>
              <a:ea typeface="Calibri"/>
              <a:cs typeface="Calibri"/>
              <a:sym typeface="Calibri"/>
            </a:endParaRPr>
          </a:p>
        </p:txBody>
      </p:sp>
      <p:pic>
        <p:nvPicPr>
          <p:cNvPr id="316" name="Google Shape;316;p4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289304" y="1952244"/>
            <a:ext cx="1572768" cy="1572768"/>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42"/>
          <p:cNvSpPr txBox="1"/>
          <p:nvPr/>
        </p:nvSpPr>
        <p:spPr>
          <a:xfrm>
            <a:off x="36576" y="1687068"/>
            <a:ext cx="9070800" cy="776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4000" b="1">
                <a:latin typeface="Calibri"/>
                <a:ea typeface="Calibri"/>
                <a:cs typeface="Calibri"/>
                <a:sym typeface="Calibri"/>
              </a:rPr>
              <a:t>Thank You!</a:t>
            </a:r>
            <a:endParaRPr sz="4000" b="1">
              <a:latin typeface="Calibri"/>
              <a:ea typeface="Calibri"/>
              <a:cs typeface="Calibri"/>
              <a:sym typeface="Calibri"/>
            </a:endParaRPr>
          </a:p>
        </p:txBody>
      </p:sp>
      <p:sp>
        <p:nvSpPr>
          <p:cNvPr id="322" name="Google Shape;322;p42"/>
          <p:cNvSpPr txBox="1"/>
          <p:nvPr/>
        </p:nvSpPr>
        <p:spPr>
          <a:xfrm>
            <a:off x="1434225" y="2554725"/>
            <a:ext cx="6717600" cy="1438800"/>
          </a:xfrm>
          <a:prstGeom prst="rect">
            <a:avLst/>
          </a:prstGeom>
          <a:noFill/>
          <a:ln>
            <a:noFill/>
          </a:ln>
        </p:spPr>
        <p:txBody>
          <a:bodyPr spcFirstLastPara="1" wrap="square" lIns="91425" tIns="91425" rIns="91425" bIns="91425" anchor="t" anchorCtr="0">
            <a:noAutofit/>
          </a:bodyPr>
          <a:lstStyle/>
          <a:p>
            <a:pPr marL="171450" lvl="0" indent="-101600" algn="l" rtl="0">
              <a:spcBef>
                <a:spcPts val="0"/>
              </a:spcBef>
              <a:spcAft>
                <a:spcPts val="0"/>
              </a:spcAft>
              <a:buSzPts val="1600"/>
              <a:buFont typeface="Calibri"/>
              <a:buChar char="●"/>
            </a:pPr>
            <a:r>
              <a:rPr lang="en" sz="1600">
                <a:latin typeface="Calibri"/>
                <a:ea typeface="Calibri"/>
                <a:cs typeface="Calibri"/>
                <a:sym typeface="Calibri"/>
              </a:rPr>
              <a:t>Videos of every seminar are on YouTube</a:t>
            </a:r>
            <a:endParaRPr sz="1600">
              <a:latin typeface="Calibri"/>
              <a:ea typeface="Calibri"/>
              <a:cs typeface="Calibri"/>
              <a:sym typeface="Calibri"/>
            </a:endParaRPr>
          </a:p>
          <a:p>
            <a:pPr marL="0" lvl="0" indent="171450" algn="l" rtl="0">
              <a:spcBef>
                <a:spcPts val="0"/>
              </a:spcBef>
              <a:spcAft>
                <a:spcPts val="0"/>
              </a:spcAft>
              <a:buNone/>
            </a:pPr>
            <a:r>
              <a:rPr lang="en" sz="1200" u="sng">
                <a:solidFill>
                  <a:srgbClr val="0563C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endParaRPr sz="1200">
              <a:solidFill>
                <a:srgbClr val="0563C1"/>
              </a:solidFill>
              <a:latin typeface="Calibri"/>
              <a:ea typeface="Calibri"/>
              <a:cs typeface="Calibri"/>
              <a:sym typeface="Calibri"/>
            </a:endParaRPr>
          </a:p>
          <a:p>
            <a:pPr marL="171450" lvl="0" indent="-101600" algn="l" rtl="0">
              <a:spcBef>
                <a:spcPts val="0"/>
              </a:spcBef>
              <a:spcAft>
                <a:spcPts val="0"/>
              </a:spcAft>
              <a:buSzPts val="1600"/>
              <a:buFont typeface="Calibri"/>
              <a:buChar char="●"/>
            </a:pPr>
            <a:r>
              <a:rPr lang="en" sz="1600">
                <a:latin typeface="Calibri"/>
                <a:ea typeface="Calibri"/>
                <a:cs typeface="Calibri"/>
                <a:sym typeface="Calibri"/>
              </a:rPr>
              <a:t>Slides on GitHub. Click a pptx file, then the download button on the right</a:t>
            </a:r>
            <a:endParaRPr sz="1600">
              <a:latin typeface="Calibri"/>
              <a:ea typeface="Calibri"/>
              <a:cs typeface="Calibri"/>
              <a:sym typeface="Calibri"/>
            </a:endParaRPr>
          </a:p>
          <a:p>
            <a:pPr marL="0" lvl="0" indent="171450" algn="l" rtl="0">
              <a:spcBef>
                <a:spcPts val="0"/>
              </a:spcBef>
              <a:spcAft>
                <a:spcPts val="0"/>
              </a:spcAft>
              <a:buNone/>
            </a:pPr>
            <a:r>
              <a:rPr lang="en" sz="1200" u="sng">
                <a:solidFill>
                  <a:srgbClr val="0563C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https://github.com/lselector/seminar</a:t>
            </a:r>
            <a:endParaRPr sz="1200">
              <a:solidFill>
                <a:srgbClr val="0563C1"/>
              </a:solidFill>
              <a:latin typeface="Calibri"/>
              <a:ea typeface="Calibri"/>
              <a:cs typeface="Calibri"/>
              <a:sym typeface="Calibri"/>
            </a:endParaRPr>
          </a:p>
          <a:p>
            <a:pPr marL="171450" lvl="0" indent="-101600" algn="l" rtl="0">
              <a:spcBef>
                <a:spcPts val="0"/>
              </a:spcBef>
              <a:spcAft>
                <a:spcPts val="0"/>
              </a:spcAft>
              <a:buSzPts val="1600"/>
              <a:buFont typeface="Calibri"/>
              <a:buChar char="●"/>
            </a:pPr>
            <a:r>
              <a:rPr lang="en" sz="1600">
                <a:latin typeface="Calibri"/>
                <a:ea typeface="Calibri"/>
                <a:cs typeface="Calibri"/>
                <a:sym typeface="Calibri"/>
              </a:rPr>
              <a:t>Slides on Google Drive</a:t>
            </a:r>
            <a:endParaRPr sz="1600">
              <a:latin typeface="Calibri"/>
              <a:ea typeface="Calibri"/>
              <a:cs typeface="Calibri"/>
              <a:sym typeface="Calibri"/>
            </a:endParaRPr>
          </a:p>
          <a:p>
            <a:pPr marL="0" lvl="0" indent="171450" algn="l" rtl="0">
              <a:spcBef>
                <a:spcPts val="0"/>
              </a:spcBef>
              <a:spcAft>
                <a:spcPts val="0"/>
              </a:spcAft>
              <a:buNone/>
            </a:pPr>
            <a:r>
              <a:rPr lang="en" sz="1200" u="sng">
                <a:solidFill>
                  <a:srgbClr val="0563C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https://drive.google.com/drive/folders/1dmj00iilSP-JYmriMUUaHCKz5X54e3UX?ths=true</a:t>
            </a:r>
            <a:endParaRPr sz="1200">
              <a:solidFill>
                <a:srgbClr val="0563C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6167</Words>
  <Application>Microsoft Macintosh PowerPoint</Application>
  <PresentationFormat>On-screen Show (16:9)</PresentationFormat>
  <Paragraphs>695</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Roboto Mono</vt:lpstr>
      <vt:lpstr>Arial</vt:lpstr>
      <vt:lpstr>Calibri</vt:lpstr>
      <vt:lpstr>Consolas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2026-09-25T16:33:14Z</dcterms:modified>
</cp:coreProperties>
</file>