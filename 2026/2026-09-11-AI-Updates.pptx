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Roboto Mono" pitchFamily="49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75A450-00DE-425E-814D-EC6F9158F1F2}">
  <a:tblStyle styleId="{1375A450-00DE-425E-814D-EC6F9158F1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124" d="100"/>
          <a:sy n="124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c68837c6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f9c68837c6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9c68837c6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f9c68837c6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398802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fa3988028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8c0fa4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fa8c0fa4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3fd83212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f3fd83212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398801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fa398801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9672524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fa9672524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3f46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f53f46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a2ee64b1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3fa2ee64b1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2ee64b1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fa2ee64b1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a4328777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fa4328777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a9f3d362b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fa9f3d362b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4328777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fa4328777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a2ee64b1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fa2ee64b1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8ba95dff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3f8ba95dff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be57384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f8be57384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a08be5e0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fa08be5e0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a2f927a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3fa2f927a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a2f927a9b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fa2f927a9b_4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a2f9279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3fa2f9279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a4328c9a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fa4328c9a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9c68837c6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f9c68837c6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glm-5.3-flash" TargetMode="External"/><Relationship Id="rId18" Type="http://schemas.openxmlformats.org/officeDocument/2006/relationships/hyperlink" Target="https://arena.ai/leaderboard/model/claude-opus-4-5-20251101-high-32k" TargetMode="External"/><Relationship Id="rId26" Type="http://schemas.openxmlformats.org/officeDocument/2006/relationships/hyperlink" Target="https://arena.ai/leaderboard/model/claude-opus-4-5-20251101" TargetMode="External"/><Relationship Id="rId21" Type="http://schemas.openxmlformats.org/officeDocument/2006/relationships/hyperlink" Target="https://arena.ai/leaderboard/model/claude-opus-4-8" TargetMode="External"/><Relationship Id="rId34" Type="http://schemas.openxmlformats.org/officeDocument/2006/relationships/hyperlink" Target="https://arena.ai/leaderboard/model/qwen3.8-max" TargetMode="External"/><Relationship Id="rId7" Type="http://schemas.openxmlformats.org/officeDocument/2006/relationships/hyperlink" Target="https://arena.ai/leaderboard/model/claude-opus-4-6-high" TargetMode="External"/><Relationship Id="rId12" Type="http://schemas.openxmlformats.org/officeDocument/2006/relationships/hyperlink" Target="https://arena.ai/leaderboard/model/gemini-3.8-flash-high" TargetMode="External"/><Relationship Id="rId17" Type="http://schemas.openxmlformats.org/officeDocument/2006/relationships/hyperlink" Target="https://arena.ai/leaderboard/model/muse-spark-1.1" TargetMode="External"/><Relationship Id="rId25" Type="http://schemas.openxmlformats.org/officeDocument/2006/relationships/hyperlink" Target="https://arena.ai/leaderboard/model/claude-opus-5-max" TargetMode="External"/><Relationship Id="rId33" Type="http://schemas.openxmlformats.org/officeDocument/2006/relationships/hyperlink" Target="https://arena.ai/leaderboard/model/gemini-3.6-flash-high" TargetMode="External"/><Relationship Id="rId38" Type="http://schemas.openxmlformats.org/officeDocument/2006/relationships/hyperlink" Target="https://arena.ai/leaderboard/model/gpt-5.2-chat-latest-20260210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claude-opus-5-high" TargetMode="External"/><Relationship Id="rId20" Type="http://schemas.openxmlformats.org/officeDocument/2006/relationships/hyperlink" Target="https://arena.ai/leaderboard/model/claude-sonnet-4-6" TargetMode="External"/><Relationship Id="rId29" Type="http://schemas.openxmlformats.org/officeDocument/2006/relationships/hyperlink" Target="https://arena.ai/leaderboard/model/gemini-3.1-pro-preview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opus-4-7-high" TargetMode="External"/><Relationship Id="rId11" Type="http://schemas.openxmlformats.org/officeDocument/2006/relationships/hyperlink" Target="https://arena.ai/leaderboard/model/kimi-k3-max" TargetMode="External"/><Relationship Id="rId24" Type="http://schemas.openxmlformats.org/officeDocument/2006/relationships/hyperlink" Target="https://arena.ai/leaderboard/model/qwen3.7-max-preview" TargetMode="External"/><Relationship Id="rId32" Type="http://schemas.openxmlformats.org/officeDocument/2006/relationships/hyperlink" Target="https://arena.ai/leaderboard/model/gpt-5.5-high" TargetMode="External"/><Relationship Id="rId37" Type="http://schemas.openxmlformats.org/officeDocument/2006/relationships/hyperlink" Target="https://arena.ai/leaderboard/model/gpt-5.4-high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muse-spark-1.2%20%28xHigh%29" TargetMode="External"/><Relationship Id="rId23" Type="http://schemas.openxmlformats.org/officeDocument/2006/relationships/hyperlink" Target="https://arena.ai/leaderboard/model/muse-spark" TargetMode="External"/><Relationship Id="rId28" Type="http://schemas.openxmlformats.org/officeDocument/2006/relationships/hyperlink" Target="https://arena.ai/leaderboard/model/grok-4.5" TargetMode="External"/><Relationship Id="rId36" Type="http://schemas.openxmlformats.org/officeDocument/2006/relationships/hyperlink" Target="https://arena.ai/leaderboard/model/gpt-5.5" TargetMode="External"/><Relationship Id="rId10" Type="http://schemas.openxmlformats.org/officeDocument/2006/relationships/hyperlink" Target="https://arena.ai/leaderboard/model/claude-opus-4-6" TargetMode="External"/><Relationship Id="rId19" Type="http://schemas.openxmlformats.org/officeDocument/2006/relationships/hyperlink" Target="https://arena.ai/leaderboard/model/gpt-5.6-sol-xhigh" TargetMode="External"/><Relationship Id="rId31" Type="http://schemas.openxmlformats.org/officeDocument/2006/relationships/hyperlink" Target="https://arena.ai/leaderboard/model/gemini-3-pro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7" TargetMode="External"/><Relationship Id="rId14" Type="http://schemas.openxmlformats.org/officeDocument/2006/relationships/hyperlink" Target="https://arena.ai/leaderboard/model/claude-opus-4-8-high" TargetMode="External"/><Relationship Id="rId22" Type="http://schemas.openxmlformats.org/officeDocument/2006/relationships/hyperlink" Target="https://arena.ai/leaderboard/model/glm-5.3-max" TargetMode="External"/><Relationship Id="rId27" Type="http://schemas.openxmlformats.org/officeDocument/2006/relationships/hyperlink" Target="https://arena.ai/leaderboard/model/gemini-3.7-flash-high" TargetMode="External"/><Relationship Id="rId30" Type="http://schemas.openxmlformats.org/officeDocument/2006/relationships/hyperlink" Target="https://arena.ai/leaderboard/model/mimo-v2.5-pro" TargetMode="External"/><Relationship Id="rId35" Type="http://schemas.openxmlformats.org/officeDocument/2006/relationships/hyperlink" Target="https://arena.ai/leaderboard/model/gemini-3.5-flash-high" TargetMode="External"/><Relationship Id="rId8" Type="http://schemas.openxmlformats.org/officeDocument/2006/relationships/hyperlink" Target="https://arena.ai/leaderboard/model/claude-fable-5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e.com/newsro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UIs-korOCo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tobi/status/2094808564355191249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hyperlink" Target="https://shopify.engineering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openai.com/index/navier-stokes-solution/" TargetMode="External"/><Relationship Id="rId7" Type="http://schemas.openxmlformats.org/officeDocument/2006/relationships/hyperlink" Target="https://ollama.com/SparkLLM/Spark-X2.5-4B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XHToken/Spark-X2.5-4B" TargetMode="External"/><Relationship Id="rId5" Type="http://schemas.openxmlformats.org/officeDocument/2006/relationships/hyperlink" Target="https://github.com/XHToken/Spark-X2.5" TargetMode="External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s://www.youtube.com/watch?v=jQIeVznGG3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9.0148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hyperlink" Target="https://www.youtube.com/watch?v=c_QzwZO0dd8" TargetMode="External"/><Relationship Id="rId4" Type="http://schemas.openxmlformats.org/officeDocument/2006/relationships/hyperlink" Target="http://www.szonline.cn/yl/2026/0904/762506.html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arcprize.org/blog/astra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VNFKFiuca3o" TargetMode="External"/><Relationship Id="rId5" Type="http://schemas.openxmlformats.org/officeDocument/2006/relationships/hyperlink" Target="https://www.youtube.com/watch?v=rKUKTIb3Q-o" TargetMode="External"/><Relationship Id="rId4" Type="http://schemas.openxmlformats.org/officeDocument/2006/relationships/hyperlink" Target="https://openai.com/index/gpt-6-astra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as.substack.com/p/claude-commerce-agent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nductor.build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uMudSbZ79-A" TargetMode="External"/><Relationship Id="rId5" Type="http://schemas.openxmlformats.org/officeDocument/2006/relationships/hyperlink" Target="https://planetscale.com" TargetMode="External"/><Relationship Id="rId4" Type="http://schemas.openxmlformats.org/officeDocument/2006/relationships/hyperlink" Target="https://www.ycombinator.co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sswrong.com/posts/fpLDjKg3ej49beqTC/adaptive-agentic-worms-are-her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hyperlink" Target="https://help.openai.com/en/articles/20001280" TargetMode="External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321XMBYMUmQ" TargetMode="External"/><Relationship Id="rId5" Type="http://schemas.openxmlformats.org/officeDocument/2006/relationships/hyperlink" Target="https://go9x.com/blog/chatgpt-browser" TargetMode="External"/><Relationship Id="rId4" Type="http://schemas.openxmlformats.org/officeDocument/2006/relationships/hyperlink" Target="https://help.openai.com/en/articles/11845367-chatgpt-agent-allowlisting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hyperlink" Target="https://generalistai.com/blog/gen-1.5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Ip0KDRIMUl4" TargetMode="External"/><Relationship Id="rId5" Type="http://schemas.openxmlformats.org/officeDocument/2006/relationships/hyperlink" Target="https://www.youtube.com/watch?v=cqwKceUSZ5Q" TargetMode="External"/><Relationship Id="rId4" Type="http://schemas.openxmlformats.org/officeDocument/2006/relationships/hyperlink" Target="https://theaiinsider.tech/2026/08/22/generalist-ai-releases-gen-1-5-robot-foundation-model-that-learns-from-a-single-demonstration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google/products-and-platforms/products/search/personalize-search-discover-news/" TargetMode="External"/><Relationship Id="rId3" Type="http://schemas.openxmlformats.org/officeDocument/2006/relationships/hyperlink" Target="https://github.com/AarambhDevHub" TargetMode="External"/><Relationship Id="rId7" Type="http://schemas.openxmlformats.org/officeDocument/2006/relationships/hyperlink" Target="https://developers.google.com/search/docs/specialty/news/preferred-sources" TargetMode="External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Inkz4jzwICU" TargetMode="External"/><Relationship Id="rId11" Type="http://schemas.openxmlformats.org/officeDocument/2006/relationships/image" Target="../media/image33.png"/><Relationship Id="rId5" Type="http://schemas.openxmlformats.org/officeDocument/2006/relationships/hyperlink" Target="https://github.com/AarambhDevHub/aarambh-studio/tree/main/docs" TargetMode="External"/><Relationship Id="rId10" Type="http://schemas.openxmlformats.org/officeDocument/2006/relationships/image" Target="../media/image32.png"/><Relationship Id="rId4" Type="http://schemas.openxmlformats.org/officeDocument/2006/relationships/hyperlink" Target="https://github.com/AarambhDevHub/aarambh-studio" TargetMode="External"/><Relationship Id="rId9" Type="http://schemas.openxmlformats.org/officeDocument/2006/relationships/hyperlink" Target="https://www.youtube.com/watch?v=tix4tq7iUAE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ifm.ai/k2/" TargetMode="External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BFCmKcmIrDQ" TargetMode="External"/><Relationship Id="rId5" Type="http://schemas.openxmlformats.org/officeDocument/2006/relationships/image" Target="../media/image35.png"/><Relationship Id="rId4" Type="http://schemas.openxmlformats.org/officeDocument/2006/relationships/hyperlink" Target="https://huggingface.co/IFM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als.ai/blogs/fable-solves-cyphral-distich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ql5.com/en/articles/18892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hyperlink" Target="https://trueup.io/layoffs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465928"/>
            <a:ext cx="3307800" cy="238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Cost Per Intelligence Index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GPT-6 Astra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Nvidia buys Hugging Face for $13 Bln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DeepSeek V4.1 Flash Release (Sept 10)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Apple’s Event Sept 9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Agents as Organizations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Flywheel with Trainer/Student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 solves Navier–Stokes Problem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Spark X2.5-4B - Tiny, Long-Context AI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Safety Problem - auto-improvement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Sept 11,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6425925" y="4352950"/>
            <a:ext cx="2600700" cy="234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497125" y="125675"/>
            <a:ext cx="3529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ChatGPT was released publicly by OpenAI on November 30, 2022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99425" y="1433700"/>
            <a:ext cx="2853600" cy="3250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AT&amp;T Uses Cheap China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SQL for Agents, Safely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 security keep failing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Money keeps moving, fast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 source use AI to close PRs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ChatGPT Work - Cloud Browser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GEN-1.5: Physical Prompting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Quazar 438B - from Spain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Aram Studio v4 - Rust Transformer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- Reader Controls AI Search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K2 Horizon - Arabic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Everything Claude Code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Solved Crypto from 1653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GinAR Forecasting For Trading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2952795"/>
            <a:ext cx="3307800" cy="19578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Harness-of-Harness (HoH) for Coding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Importance of Harness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GPT-6 Astra: Cost vs Physics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Commerce Agents - open-sourced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transcription price drops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Senator Bernie Sanders's Bill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Crusoe raises $3 Bln at $30 Bln Valuation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Cursor - Your Self-Hosted Cloud Agents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Trump Restricts Chinese Infra Parts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425925" y="1899125"/>
            <a:ext cx="2600700" cy="23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xxx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Sept 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{1375A450-00DE-425E-814D-EC6F9158F1F2}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3075200" y="742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{1375A450-00DE-425E-814D-EC6F9158F1F2}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glm-5.3-flash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grok-4.5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mimo-v2.5-pro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2" name="Google Shape;82;p16"/>
          <p:cNvGraphicFramePr/>
          <p:nvPr/>
        </p:nvGraphicFramePr>
        <p:xfrm>
          <a:off x="423650" y="745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{1375A450-00DE-425E-814D-EC6F9158F1F2}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gemini-3.5-flash-high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3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/>
                        </a:rPr>
                        <a:t>gpt-5.2-chat-latest-20260210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Sept 10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00" y="1587925"/>
            <a:ext cx="8986000" cy="3490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81765" y="593895"/>
            <a:ext cx="44256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GPT-6 Astra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on 100K+ GPUs on the Stargate site in TX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99% on ARC-AGI-3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is $10 / $50 in/out per 1M-tokens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claims about 57% lower cost per completed task despite the higher token price, because Astra uses fewer tokens to finish the same work.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Artificial Analysis's Intelligence Index Astra lands at 61, behind Fable 5.1 at 66, and behind Opus 5 and Meta's Muse Spark 1.3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Practitioners with early access were more impressed than the leaderboards were, particularly on computer use, 3D work in Blender, and long-horizon tasks.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4" y="593900"/>
            <a:ext cx="1872339" cy="22349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8" name="Google Shape;98;p18"/>
          <p:cNvSpPr txBox="1"/>
          <p:nvPr/>
        </p:nvSpPr>
        <p:spPr>
          <a:xfrm>
            <a:off x="81765" y="2961140"/>
            <a:ext cx="4425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buys Hugging Face for approx $13 Billion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hosts roughly 3 Mln models, 500K datasets and 1 Mln apps, serving about 18 Mln developers and 200K companies.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the default distribution layer for open models, and it now belongs to Nvidia - the company that sells the compute those models run 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Nvidia's biggest customers are defecting. Meta, OpenAI and Microsoft are all building their own chips to stop paying Nvidia's margins, so Nvidia is going around them to the developers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Cheap open models from Chinese labs are closing the gap with the frontier, and owning the Hub puts Nvidia at the center of that shift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3" y="3178125"/>
            <a:ext cx="2684425" cy="1505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81765" y="433570"/>
            <a:ext cx="44256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DeepSeek V4.1 Flash Release (Sept 10)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Higher performance, lower cost, faster responses, and shorter task completion than V4 Pro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V4 Pro ends Sept 14 - will auto-redirect to Flas V4.1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$0.15  /  $0.60  in/out per 1M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81765" y="1482745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Apple’s “Surprise and Shine” Event Sept 9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New CEO John Ternus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iPhone Duo (foldable) - $2K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iPhone 18 Pro and Pro Max, A20 chip - $1.2K+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Apple Watch Series 12, Watch Ultra 4, and AirPods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 Intelligence - more local, less cloud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Apple’s own Apple Intelligence model family, with Siri AI as the user-facing assistant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Apple has not named a third-party model provider or described Siri as a separate autonomous “agent” product.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 Foundation Models (AFM)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were “custom-built in collaboration with Google and its Gemini models,”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AFM 3 Core is Apple’s on-device foundation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AFM 3 Cloud and AFM 3 Cloud Pro are Apple’s server-side models, accessed through Private Cloud Compute for requests that exceed the phone’s local compute capacity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https://www.apple.com/newsroom/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1" y="433575"/>
            <a:ext cx="2446335" cy="12231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5050" y="2393388"/>
            <a:ext cx="2005675" cy="133712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8391" y="2274029"/>
            <a:ext cx="1737300" cy="1575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Agents as Organizations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81765" y="420370"/>
            <a:ext cx="44256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Agents as Organizations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https://www.youtube.com/watch?v=xUIs-korOCo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Salim Ismail talks about "Artificial Organizations" (AO) of AI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does a job of one human. AO substitutes whole organization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people are afraid of AI taking their jobs. But here is another scenario - AO taking their organizations.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communicating, dividing labor, retaining knowledge, and pursuing shared objectives without managers or formal hierarchy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uses an example of recent OpenAI / HuggingFace incident when roughly 1,200 agents exchanged over 70,000 messages, formed work streams, analyzed evaluators, manipulated environments, and tried to falsify success evidence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AOs don't need bureaucracy and Teams meetings. They can achieve in seconds what a human organization would require days or weeks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Benefit: using AO will collapse coordination costs, enabling temporary, high-output organizations of thousands of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Warning: poorly specified metrics could produce coordinated large-scale KPI gaming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 - alignment (teach agents what not to do) and fast, continuous governance, while directing agent swarms toward problems such as Alzheimer’s, fusion, materials, education, and climate adaptation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4698" y="81125"/>
            <a:ext cx="1367550" cy="16016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6275" y="1813300"/>
            <a:ext cx="3139066" cy="2092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81775" y="0"/>
            <a:ext cx="4243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Flywheel with Trainer/Student Models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81775" y="759837"/>
            <a:ext cx="3910200" cy="3250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Frontier model serves as a teacher for a "worker"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Shopify just got a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0.8B Qwen-3.5 tuned model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outperform GPT-5.6 Sol on a specialized task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while </a:t>
            </a: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increasing throughput from 2M to 72M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outputs per 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Shorter prompts (from 9.1K down to 1.1K tokens)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 failures become training assets: evaluators identify weak trajectories, frontier models critique and repair them, and accepted repairs feed fine-tuning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Human-calibrated LLM judges are critical, since weak evaluation can reinforce incorrect behavior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Small specialist models fit stable, high-volume, measurable workflows; 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Frontier models remain useful for novel, ambiguous, or evolving requests.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durable advantage is the operating loop: telemetry, evals, curated data, training, routing, and efficient serving.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https://x.com/tobi/status/2094808564355191249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https://shopify.engineering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8750" y="966349"/>
            <a:ext cx="5000601" cy="28143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81775" y="0"/>
            <a:ext cx="4243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OpenAI’s Navier–Stokes Claim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81775" y="484600"/>
            <a:ext cx="57015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reported a Navier–Stokes Millennium Prize solution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using 10,000 coordinating agents over about 88 hours; It released a proposed proof that a smooth, finite-energy three-dimensional fluid flow can develop a finite-time singularity (“blow up”)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Navier–Stokes models fluid motion - from airflow to weather - but it was unknown whether smooth 3D solutions always remain smooth.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claims a counterexample, with Lean formal verification.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could mark a major AI-for-mathematics milestone, but independent expert review and Clay Institute acceptance remain necessary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https://openai.com/index/navier-stokes-solution/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1400" y="407850"/>
            <a:ext cx="1767099" cy="17670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2" name="Google Shape;132;p22"/>
          <p:cNvSpPr txBox="1"/>
          <p:nvPr/>
        </p:nvSpPr>
        <p:spPr>
          <a:xfrm>
            <a:off x="81775" y="2178017"/>
            <a:ext cx="5701500" cy="135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Spark X2.5-4B - Tiny, Long-Context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iFLYTEK’s SparkLLM team (China) released the open Spark X2.5-4B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Weights available via GitHub, Hugging Face, and Ollama.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4.1B params, 1M tokens, 200+ languages for coding, tool use, and agent workflows; Hybrid attention; good benchmarks scores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https://github.com/XHToken/Spark-X2.5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https://huggingface.co/XHToken/Spark-X2.5-4B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https://ollama.com/SparkLLM/Spark-X2.5-4B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4150" y="2430075"/>
            <a:ext cx="3112825" cy="807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4" name="Google Shape;134;p22"/>
          <p:cNvSpPr txBox="1"/>
          <p:nvPr/>
        </p:nvSpPr>
        <p:spPr>
          <a:xfrm>
            <a:off x="81775" y="3687350"/>
            <a:ext cx="5701500" cy="1080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Safety Problem - automated improvement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can automate research, code, experiments, development of new models; The successor-model design may accelerate beyond human oversight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solution - enforceable cross-lab and international pacing agreements, stronger evaluations and containment, and demonstrated alignment before capability scaling.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https://www.youtube.com/watch?v=jQIeVznGG3k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84150" y="3823700"/>
            <a:ext cx="3112824" cy="85922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/>
        </p:nvSpPr>
        <p:spPr>
          <a:xfrm>
            <a:off x="102375" y="478350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7.46K subscribers, 333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263775"/>
            <a:ext cx="2461825" cy="3154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6550" y="2823825"/>
            <a:ext cx="2160975" cy="22433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/>
        </p:nvSpPr>
        <p:spPr>
          <a:xfrm>
            <a:off x="81775" y="0"/>
            <a:ext cx="4425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Harness-of-Harness (HoH) for Coding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81765" y="420370"/>
            <a:ext cx="4425600" cy="3574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Harness-of-Harness (HoH) for Coding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Shanghai Artificial Intelligence Laboratory released the Harness-of-Harness (HoH) preprint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September 1, 2026, for long-horizon autonomous software development.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HoH wraps an existing coding-agent harness—such as Codex-like systems—with an outer supervisory runtime that repeatedly plans, develops, and independently tests changes across multi-day cloud or local runs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Long, unstructured coding trajectories accumulate complexity, regressions, and unreliable claims. HoH persists both the evolving software artifact and verification evidence, permits only developers to modify code, and feeds bounded test-backed increments into subsequent cycles.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Across GameCraft-Bench, FrontierSWE, and ProgramBench, three HoH iterations reportedly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improved average relative performance by 52.25%, with a maximum 82.86% gain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is continual project improvement, not yet self-improving agent-harness learning.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https://arxiv.org/pdf/2609.01481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http://www.szonline.cn/yl/2026/0904/762506.html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https://www.youtube.com/watch?v=c_QzwZO0dd8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65" y="573912"/>
            <a:ext cx="4331834" cy="337522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81775" y="0"/>
            <a:ext cx="4440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Harnesses Shape AI Scores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81775" y="420375"/>
            <a:ext cx="4440300" cy="2465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Importance of Harness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OpenAI’s GPT-6 Astra reached 62.7% on ARC-AGI-3 ($26K).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it achieved 99.9% ($19K) using its own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Adapter harness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harnesses discard private reasoning between actions and truncate older history, forcing agents to rediscover rules during long interactive tasks.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Solution - preserve reasoning state, compact rather than drop history, and retain searchable task context.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Evaluations measure model-plus-harness, not raw model capability alone; the adapter was roughly 3.66× faster and used 49% fewer tokens on jointly solved tasks.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https://arcprize.org/blog/astra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https://openai.com/index/gpt-6-astra/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https://www.youtube.com/watch?v=rKUKTIb3Q-o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4608229" y="2821039"/>
            <a:ext cx="44403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GPT-6 Astra: Cost vs Physics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 has not published a parameter count.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Estimated at 5–10T params, roughly 7T total, with about 280B active per generated token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weights would occupy 3.9 TB on disk (at 4.5 bits per param)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Reading active weights requires 156 GB of memory traffic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 cluster of ordinary networked computers increases capacity more than throughput.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better to rent frontier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local runs you can try highly compressed, one-generation-old open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https://www.youtube.com/watch?v=VNFKFiuca3o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8225" y="420375"/>
            <a:ext cx="2761576" cy="1448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8" name="Google Shape;158;p25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3126" y="3518575"/>
            <a:ext cx="2418950" cy="13573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81775" y="420375"/>
            <a:ext cx="44403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open-sources Claude Commerce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blueprint, not a product.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agents ship in the repo: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shopping agent that sits in a store's 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merchant agent for back-office staff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results: carts up 35%, shoppers 60% more likely to check out.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https://linas.substack.com/p/claude-commerce-agents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81775" y="2989975"/>
            <a:ext cx="44403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transcription price drops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Microsoft's MAI-Transcribe-2 cuts costs 72% to $0.10 /hour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says it beats Gemini 3.5 Transcribe, GPT-Transcribe and Whisper V3-Large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 Muse Voice Transcribe at $0.18 per hour with real-time streaming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2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5250" y="114025"/>
            <a:ext cx="3118100" cy="2227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7" name="Google Shape;167;p2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5250" y="2685465"/>
            <a:ext cx="3118100" cy="174918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350475" y="3373783"/>
            <a:ext cx="24516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Ban Advanced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Senator Bernie Sanders and Representative Greg Casar introduced legislation that would pause advanced AI development until safety standards are 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3178125" y="3373784"/>
            <a:ext cx="2239200" cy="112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Crusoe raises $3 billion at a $30 billion valuation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Crusoe started as a crypto miner, pivoted to AI infrastructure, and is now reportedly weighing an IPO.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6160938" y="2801084"/>
            <a:ext cx="21423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 cloud agents now can run behind your firewall on your infrastracture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613" y="984058"/>
            <a:ext cx="1697325" cy="2263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9075" y="984083"/>
            <a:ext cx="1697300" cy="226306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8" name="Google Shape;178;p27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3625" y="984083"/>
            <a:ext cx="2296926" cy="1690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535838" y="2775269"/>
            <a:ext cx="32865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 data center capacity may experience major shortages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China supplies large shares of the transformers, switchgear, batteries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optical equipment going into US data centers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Trump's August 2026 executive order authorized restrictions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certain foreign-made bulk-power equipment, and the administration is reportedly drafting a ban on new Chinese optical transceiver imports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Western manufacturers would need 1-2 years to replace that capacity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5371051" y="2775275"/>
            <a:ext cx="29367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AT&amp;T is saving up to 80% on AI costs using Open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models now account for 40% of its AI use (up from 20% in May) - and could reach 60% within months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Across the U.S., open models rose from 10% to 58% of usage in a year, as companies including Airbnb and Deloitte adopt cheaper, customizable systems.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1803" y="382700"/>
            <a:ext cx="1779972" cy="223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71050" y="1166146"/>
            <a:ext cx="2936699" cy="145155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/>
        </p:nvSpPr>
        <p:spPr>
          <a:xfrm>
            <a:off x="81775" y="0"/>
            <a:ext cx="2662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for Agents, Safely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81775" y="420375"/>
            <a:ext cx="4440300" cy="4451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SQL for Agents, Safely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become very effective when business data, transcripts, and mirrored external data are queryable through one constrained SQL interface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YCDB - Y Combinator Database - a searchable, structured collection of information about YC-backed companies across batches, such as company names, batch, category, descriptions, and status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Drawing on YCDB work and Conductor’s cloud API, he describes giving agents SQL while treating them like analysts on a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tightly governed read replica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Safety - read-only roles, replicas, tenant-scoped views, rolled-back transactions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timeouts, row/result-size limits, and audit logs.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can iteratively inspect schemas, join tables, recover from SQL errors, and brute-force investigations more persistently than people.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Curated views, semantic schema documentation, CSV results, and logged failures reduce token use and turn recurring multi-step queries into reliable one-call skills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main achievement is replacing many MCP, API, vector-search, and retrieval tools with a simpler, inspectable SQL-based context layer - provided PII (Personally Identifiable Info) and context-window boundaries are actively controlled.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https://conductor.build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https://www.ycombinator.com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https://planetscale.com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https://www.youtube.com/watch?v=uMudSbZ79-A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400" y="1019850"/>
            <a:ext cx="4440301" cy="249899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81765" y="433165"/>
            <a:ext cx="4425600" cy="237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 security assumptions keep failing under test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Trail of Bits researcher Artem Dinaburg asked GPT-5.6-Cyber to escape a QEMU/KVM virtual machine on a Debian 12 workstation. It escaped three times. The first attempt used a recently disclosed kernel bug. After patching, it combined a known vulnerability with a bug fix that had never been classified as a security issue. After a full rebuild from current upstream, it spent hours on research and built an escape chain containing three previously unknown vulnerabilities. Separately, researchers demonstrated worms driven by open-weight models that generate target-specific attacks and replicate through compromised machines, which platform-level safeguards cannot reach.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https://www.lesswrong.com/posts/fpLDjKg3ej49beqTC/adaptive-agentic-worms-are-here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4628365" y="2261870"/>
            <a:ext cx="4425600" cy="2789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Money keeps moving, fast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Cognition is closing about $1 billion at a $47 billion valuation on more than $900 million in annualized revenue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Rillet went from opening a round to unicorn status in 48 hours with $100 million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AfterQuery hit $3.2 billion, Y Combinator’s fastest unicorn, 18 months after W25.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Wonderful.ai raised $550 million at $5 billion, more than doubling its valuation in six months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security side, agent firewall startup AIR took $50 million from Sequoia and Greenoaks after finding that over 17,800 public AI add-ons across 6.7 million installs pull from untrusted external 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Aslan launched with $20.8 million to build agents that infiltrate dark web forums for national security work.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76" y="2887961"/>
            <a:ext cx="2162148" cy="21621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3" name="Google Shape;203;p3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5290" y="229175"/>
            <a:ext cx="3488690" cy="195707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81765" y="420370"/>
            <a:ext cx="4425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 source projects use AI to close pull requests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started refusing external PRs, largely because the submissions are AI-generated anyway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Vercel built a software factory for the AI SDK after its backlog hit over 1,000 open issues and nearly 800 pull requests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 agents reproduce a bug, apply a fix and review it, with a human merging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Four weeks in, Vercel says the factory authors 25 to 35% of merged PRs and closes 70 to 80% of issues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Astro’s Fred Schott, whose team spent five years behind on triage, said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shift happened in six months.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1"/>
          <p:cNvSpPr txBox="1"/>
          <p:nvPr/>
        </p:nvSpPr>
        <p:spPr>
          <a:xfrm>
            <a:off x="4666565" y="2100220"/>
            <a:ext cx="4425600" cy="2973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ChatGPT Work - Cloud Browser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perform supported tasks inside authenticated websites on a remote browser, including after the user closes their device.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signed-in-site capability rolled out in late August 2026 on ChatGPT web and mobile for eligible paid 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ChatGPT pauses at a login page; users enter credentials and any two-factor code through a secure form sent directly to the remote browser. The model does not see or retain the password.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session cookies can let later tasks reuse the login, enabling invoice retrieval, form completion, and account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login methods and security-protected sites remain unsupported. Clear browser data and use per-site “always ask” permissions; prefer native connectors where available.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https://help.openai.com/en/articles/20001280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https://help.openai.com/en/articles/11845367-chatgpt-agent-allowlisting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https://go9x.com/blog/chatgpt-browser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https://www.youtube.com/watch?v=321XMBYMUmQ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3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2564549"/>
            <a:ext cx="3636000" cy="20452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2" name="Google Shape;212;p31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54275" y="140725"/>
            <a:ext cx="2937900" cy="18766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81765" y="420370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GEN-1.5: Physical Prompting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Generalist AI released GEN-1.5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August 19, 2026, presenting results on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off-the-shelf robot-arm manipulation tasks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robot uses a 3–12-second visual/sensorimotor demonstration as temporary context, then attempts an unseen task without changing its model weights.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Conventional robot policies need extensive task-specific data and retraining; “physical prompting” aims to let an operator teach a behavior by showing it once.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59% one-shot success across 10 short tasks; about five minutes of demonstrations plus 10 gradient steps raised this to 83%.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suggests in-context learning may extend from language to embodied action, but the reported benchmark is still far below production-grade reliability.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https://generalistai.com/blog/gen-1.5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https://theaiinsider.tech/2026/08/22/generalist-ai-releases-gen-1-5-robot-foundation-model-that-learns-from-a-single-demonstration/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https://www.youtube.com/watch?v=cqwKceUSZ5Q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4641065" y="2795270"/>
            <a:ext cx="44256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Quazar 438B: Europe’s Agent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Spain-based Multiverse Computing launched Quazar 438B, a closed, API-accessed reasoning model for English and Spanish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1M-token context window, agent workflows, coding, research, and large-document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Businesses can use its long context to analyze extensive internal content, automate multi-step tasks, and extract actionable knowledge without manually reviewing everything.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Claims include strong European benchmark standing and fast output for its size, although it reportedly trails leading proprietary models on overall intelligence and coding tests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https://www.youtube.com/watch?v=Ip0KDRIMUl4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2530" y="1138723"/>
            <a:ext cx="2054150" cy="1580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3647153"/>
            <a:ext cx="2508100" cy="140698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3"/>
          <p:cNvSpPr txBox="1"/>
          <p:nvPr/>
        </p:nvSpPr>
        <p:spPr>
          <a:xfrm>
            <a:off x="81765" y="420370"/>
            <a:ext cx="44256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Aram Studio v4 - Rust Transformer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Rust-first decoder-only transformer application avoids Python-runtime dependencies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audio, multi-node training, retrieval, model merging, sandboxed tools, bounded multi-agent orchestration, multi-tenant serving, red teaming, and model-card generation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Released after 6 months, 4 major versions, 55 phases, and 21 Cargo workspace crates; source on GitHub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Demonstrates a complete multimodal, safety-bounded LLM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https://github.com/AarambhDevHub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https://github.com/AarambhDevHub/aarambh-studio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https://github.com/AarambhDevHub/aarambh-studio/tree/main/docs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https://www.youtube.com/watch?v=Inkz4jzwICU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4624754" y="1887745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Google’s Reader-Controlled AI Search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launched an embeddable “Preferred Sources” button for publishers on August 20, 2026. A reader can click it on a site to add that domain or subdomain to their personal preferred-source list.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preference can affect relevant Google Top Stories, AI Overviews, and AI Mode results. Google returns the reader to the page after selection.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Publishers have faced reduced referral traffic from AI-generated answers. The button lowers the friction of choosing trusted publishers, replacing buried settings with an on-page action.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 loyalty tool, not a universal ranking boost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also announced natural-language Discover-feed controls, allowing people to describe what they want more or less of, reinforcing personalized content selection.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https://developers.google.com/search/docs/specialty/news/preferred-sources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https://blog.google/products-and-platforms/products/search/personalize-search-discover-news/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https://www.youtube.com/watch?v=tix4tq7iUAE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2749350"/>
            <a:ext cx="1031100" cy="10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7553" y="2749349"/>
            <a:ext cx="3187024" cy="1031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1" name="Google Shape;231;p33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0950" y="522725"/>
            <a:ext cx="3979400" cy="125930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81765" y="420370"/>
            <a:ext cx="4425600" cy="232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K2 Horizon - Arabic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Open AI Fleet from Abu Dhabi’s Institute of Foundation Models (IFM), part of MBZUAI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Six open-source (Apache) AI models: 0.9B, 3.7B, 7B, 32B, 36B-A4B, and 375B-A23B params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IFM released weights, code, training data, methods, evaluations, and checkpoints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0.9B model targets constrained edge devices; 32B supports local/on-premises use; 375B-A23B addresses enterprise reasoning and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36B-A4B model is a practical model for both local and enterprise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https://ifm.ai/k2/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https://huggingface.co/IFM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3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9" y="2839876"/>
            <a:ext cx="3398902" cy="18039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9" name="Google Shape;239;p34"/>
          <p:cNvSpPr txBox="1"/>
          <p:nvPr/>
        </p:nvSpPr>
        <p:spPr>
          <a:xfrm>
            <a:off x="4658636" y="3031792"/>
            <a:ext cx="4425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Everything Claude Code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Platform with 181 skills and 64 subagents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The setup functions as an end-to-end platform that turns Claude into a full development team wth 84 pre-configure slash commands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Each skill handles a dedicated task, ranging from scanning code for security vulnerabilities to optimizing memory usage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It also retains session history to improve workflow efficiency and learning over time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Integrates with Claude Code, Cursor, Codex, Gemini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Has built a functional startup from scratch in only 8 hours, winning the top prize at the hackathon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https://www.youtube.com/watch?v=BFCmKcmIrDQ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3850" y="87126"/>
            <a:ext cx="2840375" cy="28403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/>
        </p:nvSpPr>
        <p:spPr>
          <a:xfrm>
            <a:off x="81775" y="0"/>
            <a:ext cx="4425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Solved a Cryptogram from 1653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81765" y="471670"/>
            <a:ext cx="4425600" cy="40821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Fable 5.1 solved the Cyphral Distich, a 1653 numerical cryptogram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Scottish writer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Sir Thomas Urquhart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had remained unsolved for 373 years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is promising but should still be treated as a proposed solution rather than a fully independently verified historical breakthrough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https://www.vals.ai/blogs/fable-solves-cyphral-distich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Urquhart’s Cyphral Distich - two lines containing 32 numbers each, published in Logopandecteision in 1653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cipher had been discussed as unsolved since at least 1899 and was included in Klaus Schmeh’s list of notable unsolved ciphers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spent 44 minutes and 176K tokens to solve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identified that the cipher follows Urquhart’s 32 numbered “Proquiritations” (short wishes or petitions).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proposed rule was simple: for each position in a cipher line, use the corresponding number as a word index in the correspondingly numbered petition, then take the first letter of that word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produces a royalist message supporting Charles II: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“O God uphold King Charles the Second and make him the supreme ruler of this land.”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fits Urquhart’s known political sympathies and yields two 32-letter lines, which Vals AI views as a built-in consistency check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3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0298" y="1008750"/>
            <a:ext cx="2718350" cy="35450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8" name="Google Shape;248;p3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1573" y="1615650"/>
            <a:ext cx="1551327" cy="233122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/>
        </p:nvSpPr>
        <p:spPr>
          <a:xfrm>
            <a:off x="81775" y="0"/>
            <a:ext cx="4446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GinAR Forecasting Model For Trading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6"/>
          <p:cNvSpPr txBox="1"/>
          <p:nvPr/>
        </p:nvSpPr>
        <p:spPr>
          <a:xfrm>
            <a:off x="81775" y="471675"/>
            <a:ext cx="3681900" cy="4451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Neural Networks in Trading: An End-to-End Multivariate Time Series Forecasting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GinAR - Graph Interpolation Attention Recursive Network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GitAR forecasts several related time series together, such as prices, volumes, and technical indicators.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represents the variables as a graph, where connections show which signals are useful to each other.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Interpolation Attention helps compensate for missing, delayed, or unreliable values by using information from related variables.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Adaptive Graph Convolution learns the strength of relationships dynamically, allowing it to react when market behavior changes.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combines learned relationships with predefined market or indicator connections for greater stability.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Graph-aware reset and forget gates preserve useful historical context while discarding outdated signals.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article implements these components in MQL5 with OpenCL acceleration, moving computationally intensive training and inference operations to the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https://www.mql5.com/en/articles/18892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8098" y="779650"/>
            <a:ext cx="5176026" cy="2256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7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7"/>
          <p:cNvSpPr txBox="1"/>
          <p:nvPr/>
        </p:nvSpPr>
        <p:spPr>
          <a:xfrm>
            <a:off x="5655225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128.5K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Sept 10,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5655225" y="5641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187,160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(737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3205560"/>
            <a:ext cx="5355049" cy="19061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5" name="Google Shape;265;p3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454724"/>
            <a:ext cx="5355050" cy="27198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8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8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4409</Words>
  <Application>Microsoft Macintosh PowerPoint</Application>
  <PresentationFormat>On-screen Show (16:9)</PresentationFormat>
  <Paragraphs>501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Roboto Mono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2026-09-11T03:30:30Z</dcterms:modified>
</cp:coreProperties>
</file>