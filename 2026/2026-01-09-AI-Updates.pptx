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Roboto Mono" pitchFamily="49"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32FF2A-B645-4F28-9B57-2AE27475BA0E}">
  <a:tblStyle styleId="{BA32FF2A-B645-4F28-9B57-2AE27475BA0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b58b3504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g3b58b3504a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9261b5b1fe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39261b5b1fe_1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922f3eca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3922f3eca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b59ac19f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b59ac19f4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b6c7aaa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ab6c7aaab3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9216b480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9216b480c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b595b316e5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b595b316e5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9243dd21e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9243dd21e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b45cfdb34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3b45cfdb34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b46bafaff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g3b46bafaffb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922ccfc05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3922ccfc05a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b46bafaf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b46bafaff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922ccfc05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g3922ccfc05a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b46bafaff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b46bafaff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9261b5b1f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g39261b5b1fe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9261b5b1fe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39261b5b1fe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9263d01d0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g39263d01d0b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9263d01d0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39263d01d0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9263d01d0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g39263d01d0b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9263d01d0b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g39263d01d0b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9261b5b1fe_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g39261b5b1fe_1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9261b5b1fe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g39261b5b1fe_1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0" name="Google Shape;34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openai.com/index/introducing-gpt-5-2" TargetMode="External"/><Relationship Id="rId39" Type="http://schemas.openxmlformats.org/officeDocument/2006/relationships/hyperlink" Target="https://platform.openai.com/docs/models/gpt-5" TargetMode="External"/><Relationship Id="rId21" Type="http://schemas.openxmlformats.org/officeDocument/2006/relationships/hyperlink" Target="https://aistudio.google.com/app/prompts/new_chat?model=gemini-3-pro-preview" TargetMode="External"/><Relationship Id="rId34" Type="http://schemas.openxmlformats.org/officeDocument/2006/relationships/hyperlink" Target="https://api-docs.deepseek.com/news/news250929"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sonnet-4-5" TargetMode="External"/><Relationship Id="rId29" Type="http://schemas.openxmlformats.org/officeDocument/2006/relationships/hyperlink" Target="https://huggingface.co/zai-org/GLM-4.7" TargetMode="External"/><Relationship Id="rId41" Type="http://schemas.openxmlformats.org/officeDocument/2006/relationships/hyperlink" Target="https://x.ai/news/grok-4-1-fas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blog.google/products/gemini/gemini-3-flash" TargetMode="External"/><Relationship Id="rId32" Type="http://schemas.openxmlformats.org/officeDocument/2006/relationships/hyperlink" Target="https://huggingface.co/meituan-longcat/LongCat-Flash-Chat" TargetMode="External"/><Relationship Id="rId37" Type="http://schemas.openxmlformats.org/officeDocument/2006/relationships/hyperlink" Target="https://openai.com/index/introducing-gpt-4-5/" TargetMode="External"/><Relationship Id="rId40" Type="http://schemas.openxmlformats.org/officeDocument/2006/relationships/hyperlink" Target="https://openai.com/index/introducing-o3-and-o4-mini/"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x.ai/news/grok-4-1" TargetMode="External"/><Relationship Id="rId28" Type="http://schemas.openxmlformats.org/officeDocument/2006/relationships/hyperlink" Target="https://huggingface.co/moonshotai/Kimi-K2-Thinking" TargetMode="External"/><Relationship Id="rId36" Type="http://schemas.openxmlformats.org/officeDocument/2006/relationships/hyperlink" Target="https://ernie.baidu.com/blog/posts/ernie-5.0-preview-1203-release-on-lmarena/"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5" TargetMode="External"/><Relationship Id="rId31" Type="http://schemas.openxmlformats.org/officeDocument/2006/relationships/hyperlink" Target="https://qwen.ai/blog?id=241398b9cd6353de490b0f82806c7848c5d2777d&amp;from=research.latest-advancements-list"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1" TargetMode="External"/><Relationship Id="rId27" Type="http://schemas.openxmlformats.org/officeDocument/2006/relationships/hyperlink" Target="https://openai.com/index/gpt-5-1/" TargetMode="External"/><Relationship Id="rId30" Type="http://schemas.openxmlformats.org/officeDocument/2006/relationships/hyperlink" Target="https://www.alibabacloud.com/help/en/model-studio/models" TargetMode="External"/><Relationship Id="rId35" Type="http://schemas.openxmlformats.org/officeDocument/2006/relationships/hyperlink" Target="https://aistudio.google.com/app/prompts/new_chat?model=gemini-2.5-pro"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www.anthropic.com/news/claude-4" TargetMode="External"/><Relationship Id="rId33" Type="http://schemas.openxmlformats.org/officeDocument/2006/relationships/hyperlink" Target="https://www.anthropic.com/news/claude-haiku-4-5" TargetMode="External"/><Relationship Id="rId38" Type="http://schemas.openxmlformats.org/officeDocument/2006/relationships/hyperlink" Target="https://x.com/OpenAI/status/1905331956856050135"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theaidigest.org/time-horizons"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metr.org/blog/2025-03-19-measuring-ai-ability-to-complete-long-task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hyperlink" Target="https://www.nvidia.com/en-us/solutions/autonomous-vehicles/alpamayo/" TargetMode="External"/><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nvidia.com/en-us/ai/cosmo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qjA__5-Byb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hyperlink" Target="https://developers.googleblog.com/en/architecting-efficient-context-aware-multi-agent-framework-for-production/"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arxiv.org/pdf/2512.24601v1"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marktechpost.com/2025/12/31/tencent-released-tencent-hy-motion-1-0-a-billion-parameter-text-to-motion-model-built-on-the-diffusion-transformer-dit-architecture-and-flow-matching/"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hyperlink" Target="https://www.youtube.com/watch?v=tK2MOxGsB-o"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0rinBUI6Vi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hyperlink" Target="https://www.youtube.com/watch?v=HmhV76_3nuA" TargetMode="External"/><Relationship Id="rId4" Type="http://schemas.openxmlformats.org/officeDocument/2006/relationships/hyperlink" Target="https://www.arxiv.org/abs/2512.24880"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S06CDLDiFhk"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s://ltx.io/model/model-blog/ltx-2-is-now-open-source" TargetMode="External"/><Relationship Id="rId7"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hyperlink" Target="https://github.com/Lightricks/LTX-2"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aqtseECSdtY"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pK-EvgvR_ms"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code-yeongyu/oh-my-opencode"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www.youtube.com/watch?v=YuKUMEDGTF0"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rocket.new"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hyperlink" Target="https://www.youtube.com/watch?v=S2MP49Xr9PI"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PbNdaP0szhw"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hyperlink" Target="https://trueup.io/layoff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801555"/>
            <a:ext cx="44202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Best 14-40B Params Open LLMs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New Moore's Law - 2x every 4 months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Yann LeCun AMI Startup</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Gemini AI in Gmail</a:t>
            </a:r>
            <a:endParaRPr sz="16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Jan 0</a:t>
            </a:r>
            <a:r>
              <a:rPr lang="en" sz="2200" b="1">
                <a:solidFill>
                  <a:srgbClr val="3C78D8"/>
                </a:solidFill>
                <a:latin typeface="Calibri"/>
                <a:ea typeface="Calibri"/>
                <a:cs typeface="Calibri"/>
                <a:sym typeface="Calibri"/>
              </a:rPr>
              <a:t>9</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90536" y="3717101"/>
            <a:ext cx="45024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Julia McCoy - AI Business 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Create Content for for AI chat citations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171059"/>
            <a:ext cx="4420200" cy="2727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ChatGPT Health</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CES 2026 Consumer Electronics Show</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Alpamayo &amp; Cosmos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Rubin Supercomputer Platform</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Humanoid Robots Security Problems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ADK - Agent Development Kit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MIT RLM - Recursive Language 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Tencent HY-Motion 1.0</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Combining Tools and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DeepSeek  MHC</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Changes Structure of Startups</a:t>
            </a:r>
            <a:endParaRPr sz="1600" b="1">
              <a:solidFill>
                <a:srgbClr val="3C78D8"/>
              </a:solidFill>
              <a:latin typeface="Calibri"/>
              <a:ea typeface="Calibri"/>
              <a:cs typeface="Calibri"/>
              <a:sym typeface="Calibri"/>
            </a:endParaRPr>
          </a:p>
        </p:txBody>
      </p:sp>
      <p:sp>
        <p:nvSpPr>
          <p:cNvPr id="67" name="Google Shape;67;p15"/>
          <p:cNvSpPr txBox="1"/>
          <p:nvPr/>
        </p:nvSpPr>
        <p:spPr>
          <a:xfrm>
            <a:off x="4590536" y="1106427"/>
            <a:ext cx="4502400" cy="19887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Lightricks LTX-2 Open-Source Video 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Memory Shortage Causes GPU Price Increase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raised $10 Bln at $350 Bln Valuation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Claude Code 2.1.0 Released January 7</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Boris Cherny Work Setup</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Google's Gemini CLI - Agent Skills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Oh My Open Code Framework</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Rocket.new - text to app Framework</a:t>
            </a:r>
            <a:endParaRPr sz="1600" b="1">
              <a:solidFill>
                <a:srgbClr val="3C78D8"/>
              </a:solidFill>
              <a:latin typeface="Calibri"/>
              <a:ea typeface="Calibri"/>
              <a:cs typeface="Calibri"/>
              <a:sym typeface="Calibri"/>
            </a:endParaRPr>
          </a:p>
        </p:txBody>
      </p:sp>
      <p:sp>
        <p:nvSpPr>
          <p:cNvPr id="68" name="Google Shape;68;p15"/>
          <p:cNvSpPr txBox="1"/>
          <p:nvPr/>
        </p:nvSpPr>
        <p:spPr>
          <a:xfrm>
            <a:off x="4811980" y="211712"/>
            <a:ext cx="4149300" cy="7572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i="1">
                <a:solidFill>
                  <a:srgbClr val="FF0000"/>
                </a:solidFill>
                <a:latin typeface="Roboto Mono"/>
                <a:ea typeface="Roboto Mono"/>
                <a:cs typeface="Roboto Mono"/>
                <a:sym typeface="Roboto Mono"/>
              </a:rPr>
              <a:t>"Machine intelligence is the last invention that humanity will ever need to make." - Nick Bostrom</a:t>
            </a:r>
            <a:endParaRPr sz="1600"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351315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605693" y="78105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txBox="1"/>
          <p:nvPr/>
        </p:nvSpPr>
        <p:spPr>
          <a:xfrm>
            <a:off x="6352650" y="1703475"/>
            <a:ext cx="2599800" cy="322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p:nvPr/>
        </p:nvSpPr>
        <p:spPr>
          <a:xfrm>
            <a:off x="3751244" y="77870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p:nvPr/>
        </p:nvSpPr>
        <p:spPr>
          <a:xfrm>
            <a:off x="609666" y="203630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603081" y="149281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748244" y="96137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txBox="1"/>
          <p:nvPr/>
        </p:nvSpPr>
        <p:spPr>
          <a:xfrm>
            <a:off x="460065" y="474713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4" name="Google Shape;84;p16"/>
          <p:cNvSpPr txBox="1"/>
          <p:nvPr/>
        </p:nvSpPr>
        <p:spPr>
          <a:xfrm>
            <a:off x="4566100"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December 30</a:t>
            </a:r>
            <a:endParaRPr sz="1000">
              <a:solidFill>
                <a:schemeClr val="dk1"/>
              </a:solidFill>
              <a:latin typeface="Calibri"/>
              <a:ea typeface="Calibri"/>
              <a:cs typeface="Calibri"/>
              <a:sym typeface="Calibri"/>
            </a:endParaRPr>
          </a:p>
        </p:txBody>
      </p:sp>
      <p:sp>
        <p:nvSpPr>
          <p:cNvPr id="85" name="Google Shape;85;p16"/>
          <p:cNvSpPr/>
          <p:nvPr/>
        </p:nvSpPr>
        <p:spPr>
          <a:xfrm>
            <a:off x="3750579" y="130802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6"/>
          <p:cNvSpPr txBox="1"/>
          <p:nvPr/>
        </p:nvSpPr>
        <p:spPr>
          <a:xfrm>
            <a:off x="3466409" y="43883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7" name="Google Shape;87;p16"/>
          <p:cNvSpPr/>
          <p:nvPr/>
        </p:nvSpPr>
        <p:spPr>
          <a:xfrm>
            <a:off x="3757278" y="439673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6"/>
          <p:cNvSpPr/>
          <p:nvPr/>
        </p:nvSpPr>
        <p:spPr>
          <a:xfrm>
            <a:off x="3748357" y="114647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p:cNvSpPr txBox="1"/>
          <p:nvPr/>
        </p:nvSpPr>
        <p:spPr>
          <a:xfrm flipH="1">
            <a:off x="3679393" y="166720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0" name="Google Shape;90;p16"/>
          <p:cNvSpPr txBox="1"/>
          <p:nvPr/>
        </p:nvSpPr>
        <p:spPr>
          <a:xfrm flipH="1">
            <a:off x="3691285" y="293197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1" name="Google Shape;91;p16"/>
          <p:cNvSpPr/>
          <p:nvPr/>
        </p:nvSpPr>
        <p:spPr>
          <a:xfrm>
            <a:off x="3750579" y="148991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6"/>
          <p:cNvSpPr/>
          <p:nvPr/>
        </p:nvSpPr>
        <p:spPr>
          <a:xfrm>
            <a:off x="3750579" y="204008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p:nvPr/>
        </p:nvSpPr>
        <p:spPr>
          <a:xfrm>
            <a:off x="613313" y="186768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6"/>
          <p:cNvSpPr txBox="1"/>
          <p:nvPr/>
        </p:nvSpPr>
        <p:spPr>
          <a:xfrm flipH="1">
            <a:off x="539953" y="112592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5" name="Google Shape;95;p16"/>
          <p:cNvSpPr txBox="1"/>
          <p:nvPr/>
        </p:nvSpPr>
        <p:spPr>
          <a:xfrm flipH="1">
            <a:off x="547573" y="4925939"/>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6" name="Google Shape;96;p16"/>
          <p:cNvSpPr/>
          <p:nvPr/>
        </p:nvSpPr>
        <p:spPr>
          <a:xfrm>
            <a:off x="609673" y="330297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6"/>
          <p:cNvSpPr/>
          <p:nvPr/>
        </p:nvSpPr>
        <p:spPr>
          <a:xfrm>
            <a:off x="3754343" y="4930031"/>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txBox="1"/>
          <p:nvPr/>
        </p:nvSpPr>
        <p:spPr>
          <a:xfrm flipH="1">
            <a:off x="544177" y="167169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9" name="Google Shape;99;p16"/>
          <p:cNvSpPr/>
          <p:nvPr/>
        </p:nvSpPr>
        <p:spPr>
          <a:xfrm>
            <a:off x="603081" y="131376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6"/>
          <p:cNvSpPr/>
          <p:nvPr/>
        </p:nvSpPr>
        <p:spPr>
          <a:xfrm>
            <a:off x="611444" y="25762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p:nvPr/>
        </p:nvSpPr>
        <p:spPr>
          <a:xfrm>
            <a:off x="3750579" y="221795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6"/>
          <p:cNvSpPr/>
          <p:nvPr/>
        </p:nvSpPr>
        <p:spPr>
          <a:xfrm>
            <a:off x="3751782" y="312554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txBox="1"/>
          <p:nvPr/>
        </p:nvSpPr>
        <p:spPr>
          <a:xfrm>
            <a:off x="3466409" y="347545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4" name="Google Shape;104;p16"/>
          <p:cNvSpPr/>
          <p:nvPr/>
        </p:nvSpPr>
        <p:spPr>
          <a:xfrm>
            <a:off x="3757278" y="348384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txBox="1"/>
          <p:nvPr/>
        </p:nvSpPr>
        <p:spPr>
          <a:xfrm>
            <a:off x="3595949" y="420082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6" name="Google Shape;106;p16"/>
          <p:cNvSpPr/>
          <p:nvPr/>
        </p:nvSpPr>
        <p:spPr>
          <a:xfrm>
            <a:off x="6718499" y="65061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p:nvPr/>
        </p:nvSpPr>
        <p:spPr>
          <a:xfrm>
            <a:off x="6718499" y="85567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6"/>
          <p:cNvSpPr/>
          <p:nvPr/>
        </p:nvSpPr>
        <p:spPr>
          <a:xfrm>
            <a:off x="6718499" y="1060731"/>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p:nvPr/>
        </p:nvSpPr>
        <p:spPr>
          <a:xfrm>
            <a:off x="6718499" y="126578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txBox="1"/>
          <p:nvPr/>
        </p:nvSpPr>
        <p:spPr>
          <a:xfrm>
            <a:off x="6898625" y="608901"/>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11" name="Google Shape;111;p16"/>
          <p:cNvSpPr txBox="1"/>
          <p:nvPr/>
        </p:nvSpPr>
        <p:spPr>
          <a:xfrm>
            <a:off x="6895175" y="813958"/>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12" name="Google Shape;112;p16"/>
          <p:cNvSpPr txBox="1"/>
          <p:nvPr/>
        </p:nvSpPr>
        <p:spPr>
          <a:xfrm>
            <a:off x="6901750" y="1019015"/>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13" name="Google Shape;113;p16"/>
          <p:cNvSpPr txBox="1"/>
          <p:nvPr/>
        </p:nvSpPr>
        <p:spPr>
          <a:xfrm>
            <a:off x="6903075" y="1224073"/>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sp>
        <p:nvSpPr>
          <p:cNvPr id="114" name="Google Shape;114;p16"/>
          <p:cNvSpPr/>
          <p:nvPr/>
        </p:nvSpPr>
        <p:spPr>
          <a:xfrm>
            <a:off x="605693" y="95631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p:nvPr/>
        </p:nvSpPr>
        <p:spPr>
          <a:xfrm>
            <a:off x="611444" y="239599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6"/>
          <p:cNvSpPr/>
          <p:nvPr/>
        </p:nvSpPr>
        <p:spPr>
          <a:xfrm>
            <a:off x="603824" y="34906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p:nvPr/>
        </p:nvSpPr>
        <p:spPr>
          <a:xfrm>
            <a:off x="609673" y="36718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6"/>
          <p:cNvSpPr/>
          <p:nvPr/>
        </p:nvSpPr>
        <p:spPr>
          <a:xfrm>
            <a:off x="609673" y="38547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3748357" y="186783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p:nvPr/>
        </p:nvSpPr>
        <p:spPr>
          <a:xfrm>
            <a:off x="3750579" y="257609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6"/>
          <p:cNvSpPr txBox="1"/>
          <p:nvPr/>
        </p:nvSpPr>
        <p:spPr>
          <a:xfrm>
            <a:off x="3602289" y="384541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2" name="Google Shape;122;p16"/>
          <p:cNvSpPr/>
          <p:nvPr/>
        </p:nvSpPr>
        <p:spPr>
          <a:xfrm>
            <a:off x="3750579" y="457507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txBox="1"/>
          <p:nvPr/>
        </p:nvSpPr>
        <p:spPr>
          <a:xfrm>
            <a:off x="456671" y="275315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4" name="Google Shape;124;p16"/>
          <p:cNvSpPr/>
          <p:nvPr/>
        </p:nvSpPr>
        <p:spPr>
          <a:xfrm>
            <a:off x="609673" y="312771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p:nvPr/>
        </p:nvSpPr>
        <p:spPr>
          <a:xfrm>
            <a:off x="609673" y="42052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6"/>
          <p:cNvSpPr/>
          <p:nvPr/>
        </p:nvSpPr>
        <p:spPr>
          <a:xfrm>
            <a:off x="3751782" y="276486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27" name="Google Shape;127;p16"/>
          <p:cNvGraphicFramePr/>
          <p:nvPr>
            <p:extLst>
              <p:ext uri="{D42A27DB-BD31-4B8C-83A1-F6EECF244321}">
                <p14:modId xmlns:p14="http://schemas.microsoft.com/office/powerpoint/2010/main" val="2729122456"/>
              </p:ext>
            </p:extLst>
          </p:nvPr>
        </p:nvGraphicFramePr>
        <p:xfrm>
          <a:off x="3886449" y="561054"/>
          <a:ext cx="2447827" cy="4490500"/>
        </p:xfrm>
        <a:graphic>
          <a:graphicData uri="http://schemas.openxmlformats.org/drawingml/2006/table">
            <a:tbl>
              <a:tblPr>
                <a:noFill/>
                <a:tableStyleId>{BA32FF2A-B645-4F28-9B57-2AE27475BA0E}</a:tableStyleId>
              </a:tblPr>
              <a:tblGrid>
                <a:gridCol w="1999059">
                  <a:extLst>
                    <a:ext uri="{9D8B030D-6E8A-4147-A177-3AD203B41FA5}">
                      <a16:colId xmlns:a16="http://schemas.microsoft.com/office/drawing/2014/main" val="20000"/>
                    </a:ext>
                  </a:extLst>
                </a:gridCol>
                <a:gridCol w="448768">
                  <a:extLst>
                    <a:ext uri="{9D8B030D-6E8A-4147-A177-3AD203B41FA5}">
                      <a16:colId xmlns:a16="http://schemas.microsoft.com/office/drawing/2014/main" val="20001"/>
                    </a:ext>
                  </a:extLst>
                </a:gridCol>
              </a:tblGrid>
              <a:tr h="17962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28" name="Google Shape;128;p16"/>
          <p:cNvGraphicFramePr/>
          <p:nvPr>
            <p:extLst>
              <p:ext uri="{D42A27DB-BD31-4B8C-83A1-F6EECF244321}">
                <p14:modId xmlns:p14="http://schemas.microsoft.com/office/powerpoint/2010/main" val="4205092207"/>
              </p:ext>
            </p:extLst>
          </p:nvPr>
        </p:nvGraphicFramePr>
        <p:xfrm>
          <a:off x="748699" y="564934"/>
          <a:ext cx="2447827" cy="4490500"/>
        </p:xfrm>
        <a:graphic>
          <a:graphicData uri="http://schemas.openxmlformats.org/drawingml/2006/table">
            <a:tbl>
              <a:tblPr>
                <a:noFill/>
                <a:tableStyleId>{BA32FF2A-B645-4F28-9B57-2AE27475BA0E}</a:tableStyleId>
              </a:tblPr>
              <a:tblGrid>
                <a:gridCol w="1999059">
                  <a:extLst>
                    <a:ext uri="{9D8B030D-6E8A-4147-A177-3AD203B41FA5}">
                      <a16:colId xmlns:a16="http://schemas.microsoft.com/office/drawing/2014/main" val="20000"/>
                    </a:ext>
                  </a:extLst>
                </a:gridCol>
                <a:gridCol w="448768">
                  <a:extLst>
                    <a:ext uri="{9D8B030D-6E8A-4147-A177-3AD203B41FA5}">
                      <a16:colId xmlns:a16="http://schemas.microsoft.com/office/drawing/2014/main" val="20001"/>
                    </a:ext>
                  </a:extLst>
                </a:gridCol>
              </a:tblGrid>
              <a:tr h="17962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ernie-5.0-preview-1203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1">
                            <a:extLst>
                              <a:ext uri="{A12FA001-AC4F-418D-AE19-62706E023703}">
                                <ahyp:hlinkClr xmlns:ahyp="http://schemas.microsoft.com/office/drawing/2018/hyperlinkcolor" val="tx"/>
                              </a:ext>
                            </a:extLst>
                          </a:hlinkClick>
                        </a:rPr>
                        <a:t>grok-4-1-fast-reasoning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dirty="0">
                          <a:solidFill>
                            <a:srgbClr val="636879"/>
                          </a:solidFill>
                          <a:latin typeface="Calibri"/>
                          <a:ea typeface="Calibri"/>
                          <a:cs typeface="Calibri"/>
                          <a:sym typeface="Calibri"/>
                        </a:rPr>
                        <a:t>1431</a:t>
                      </a:r>
                      <a:endParaRPr sz="800" dirty="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
        <p:nvSpPr>
          <p:cNvPr id="129" name="Google Shape;129;p16"/>
          <p:cNvSpPr/>
          <p:nvPr/>
        </p:nvSpPr>
        <p:spPr>
          <a:xfrm>
            <a:off x="613313" y="221820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p:nvPr/>
        </p:nvSpPr>
        <p:spPr>
          <a:xfrm>
            <a:off x="603824" y="294203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txBox="1"/>
          <p:nvPr/>
        </p:nvSpPr>
        <p:spPr>
          <a:xfrm>
            <a:off x="311891" y="403090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2" name="Google Shape;132;p16"/>
          <p:cNvSpPr/>
          <p:nvPr/>
        </p:nvSpPr>
        <p:spPr>
          <a:xfrm>
            <a:off x="611157" y="403815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6"/>
          <p:cNvSpPr/>
          <p:nvPr/>
        </p:nvSpPr>
        <p:spPr>
          <a:xfrm>
            <a:off x="609673" y="43881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p:nvPr/>
        </p:nvSpPr>
        <p:spPr>
          <a:xfrm>
            <a:off x="609673" y="45710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3748357" y="240123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txBox="1"/>
          <p:nvPr/>
        </p:nvSpPr>
        <p:spPr>
          <a:xfrm>
            <a:off x="3466409" y="365071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7" name="Google Shape;137;p16"/>
          <p:cNvSpPr/>
          <p:nvPr/>
        </p:nvSpPr>
        <p:spPr>
          <a:xfrm>
            <a:off x="3757278" y="365910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6"/>
          <p:cNvSpPr/>
          <p:nvPr/>
        </p:nvSpPr>
        <p:spPr>
          <a:xfrm>
            <a:off x="3751782" y="33084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16"/>
          <p:cNvSpPr txBox="1"/>
          <p:nvPr/>
        </p:nvSpPr>
        <p:spPr>
          <a:xfrm>
            <a:off x="3466409" y="474647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0" name="Google Shape;140;p16"/>
          <p:cNvSpPr/>
          <p:nvPr/>
        </p:nvSpPr>
        <p:spPr>
          <a:xfrm>
            <a:off x="3757278" y="475487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16"/>
          <p:cNvSpPr/>
          <p:nvPr/>
        </p:nvSpPr>
        <p:spPr>
          <a:xfrm>
            <a:off x="3751782" y="40323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7"/>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Best 14-40B Params Open LLMs</a:t>
            </a:r>
            <a:endParaRPr sz="2000" b="1">
              <a:solidFill>
                <a:schemeClr val="dk1"/>
              </a:solidFill>
              <a:latin typeface="Calibri"/>
              <a:ea typeface="Calibri"/>
              <a:cs typeface="Calibri"/>
              <a:sym typeface="Calibri"/>
            </a:endParaRPr>
          </a:p>
        </p:txBody>
      </p:sp>
      <p:sp>
        <p:nvSpPr>
          <p:cNvPr id="147" name="Google Shape;147;p17"/>
          <p:cNvSpPr txBox="1"/>
          <p:nvPr/>
        </p:nvSpPr>
        <p:spPr>
          <a:xfrm>
            <a:off x="55075" y="614350"/>
            <a:ext cx="44652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top open-source medium-sized LLMs </a:t>
            </a:r>
            <a:br>
              <a:rPr lang="en" sz="1200">
                <a:latin typeface="Calibri"/>
                <a:ea typeface="Calibri"/>
                <a:cs typeface="Calibri"/>
                <a:sym typeface="Calibri"/>
              </a:rPr>
            </a:br>
            <a:r>
              <a:rPr lang="en" sz="1200">
                <a:latin typeface="Calibri"/>
                <a:ea typeface="Calibri"/>
                <a:cs typeface="Calibri"/>
                <a:sym typeface="Calibri"/>
              </a:rPr>
              <a:t>(mostly 14-40B parameters) for fine-tuning and local deployment:</a:t>
            </a:r>
            <a:endParaRPr sz="1200">
              <a:latin typeface="Calibri"/>
              <a:ea typeface="Calibri"/>
              <a:cs typeface="Calibri"/>
              <a:sym typeface="Calibri"/>
            </a:endParaRPr>
          </a:p>
        </p:txBody>
      </p:sp>
      <p:graphicFrame>
        <p:nvGraphicFramePr>
          <p:cNvPr id="148" name="Google Shape;148;p17"/>
          <p:cNvGraphicFramePr/>
          <p:nvPr/>
        </p:nvGraphicFramePr>
        <p:xfrm>
          <a:off x="1085475" y="1247164"/>
          <a:ext cx="3000000" cy="3000000"/>
        </p:xfrm>
        <a:graphic>
          <a:graphicData uri="http://schemas.openxmlformats.org/drawingml/2006/table">
            <a:tbl>
              <a:tblPr>
                <a:noFill/>
                <a:tableStyleId>{BA32FF2A-B645-4F28-9B57-2AE27475BA0E}</a:tableStyleId>
              </a:tblPr>
              <a:tblGrid>
                <a:gridCol w="2037850">
                  <a:extLst>
                    <a:ext uri="{9D8B030D-6E8A-4147-A177-3AD203B41FA5}">
                      <a16:colId xmlns:a16="http://schemas.microsoft.com/office/drawing/2014/main" val="20000"/>
                    </a:ext>
                  </a:extLst>
                </a:gridCol>
                <a:gridCol w="1081725">
                  <a:extLst>
                    <a:ext uri="{9D8B030D-6E8A-4147-A177-3AD203B41FA5}">
                      <a16:colId xmlns:a16="http://schemas.microsoft.com/office/drawing/2014/main" val="20001"/>
                    </a:ext>
                  </a:extLst>
                </a:gridCol>
                <a:gridCol w="837475">
                  <a:extLst>
                    <a:ext uri="{9D8B030D-6E8A-4147-A177-3AD203B41FA5}">
                      <a16:colId xmlns:a16="http://schemas.microsoft.com/office/drawing/2014/main" val="20002"/>
                    </a:ext>
                  </a:extLst>
                </a:gridCol>
                <a:gridCol w="900275">
                  <a:extLst>
                    <a:ext uri="{9D8B030D-6E8A-4147-A177-3AD203B41FA5}">
                      <a16:colId xmlns:a16="http://schemas.microsoft.com/office/drawing/2014/main" val="20003"/>
                    </a:ext>
                  </a:extLst>
                </a:gridCol>
                <a:gridCol w="1828450">
                  <a:extLst>
                    <a:ext uri="{9D8B030D-6E8A-4147-A177-3AD203B41FA5}">
                      <a16:colId xmlns:a16="http://schemas.microsoft.com/office/drawing/2014/main" val="20004"/>
                    </a:ext>
                  </a:extLst>
                </a:gridCol>
              </a:tblGrid>
              <a:tr h="97300">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Name</a:t>
                      </a:r>
                      <a:endParaRPr sz="1000" b="1">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Size (Params)</a:t>
                      </a:r>
                      <a:endParaRPr sz="1000" b="1">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Architecture</a:t>
                      </a:r>
                      <a:endParaRPr sz="1000" b="1">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Quality Score</a:t>
                      </a:r>
                      <a:endParaRPr sz="1000" b="1">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Memory</a:t>
                      </a:r>
                      <a:endParaRPr sz="1000" b="1">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Qwen3-235B-A22B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235B (22B active)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9.2/10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~470GB (FP16), ~118GB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1"/>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MiniMax M2</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230B (10B active)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8.8/10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~460GB (FP16), ~115GB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2"/>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GLM-4.7</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355B (32B active)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9.0/10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sz="1000">
                          <a:latin typeface="Calibri"/>
                          <a:ea typeface="Calibri"/>
                          <a:cs typeface="Calibri"/>
                          <a:sym typeface="Calibri"/>
                        </a:rPr>
                        <a:t>~710GB (FP16), ~178GB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3"/>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Qwen3-30B-A3B-Instruct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30B (3B active)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8.5/10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~60GB (FP16), ~15GB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NVIDIA Nemotron-3-Nano-30B-A3B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30B (3B active)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MoE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8.3/10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~60GB (FP16), ~15GB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OLMo 3 32B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8.6/10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Qwen2.5-32B-Instruct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8.4/10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OLMo 2 32B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8.5/10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8"/>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DeepSeek-R1-Distill-Qwen-32B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8.2/10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9"/>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Qwen2.5-Coder-32B-Instruct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32B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8.1/10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~64GB (FP16), ~16GB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0"/>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Mistral Small 3.1 24B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24B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8.4/10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~48GB (FP16), ~12GB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1"/>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Devstral Small 2 24B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24B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8.0/10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~48GB (FP16), ~12GB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2"/>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Gemma 3-27B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27B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7.8/10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~54GB (FP16), ~14GB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3"/>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OLMo 2 13B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13B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7.5/10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~26GB (FP16), ~7GB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4"/>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Phi-4</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14B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7.6/10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~28GB (FP16), ~7GB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5"/>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Ministral 3-14B (dense)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14B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7.4/10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~28GB (FP16), ~7GB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6"/>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Qwen2.5-14B-Instruct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14B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7.5/10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~28GB (FP16), ~7GB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7"/>
                  </a:ext>
                </a:extLst>
              </a:tr>
              <a:tr h="97300">
                <a:tc>
                  <a:txBody>
                    <a:bodyPr/>
                    <a:lstStyle/>
                    <a:p>
                      <a:pPr marL="0" lvl="0" indent="0" algn="l" rtl="0">
                        <a:spcBef>
                          <a:spcPts val="0"/>
                        </a:spcBef>
                        <a:spcAft>
                          <a:spcPts val="0"/>
                        </a:spcAft>
                        <a:buNone/>
                      </a:pPr>
                      <a:r>
                        <a:rPr lang="en" sz="1000">
                          <a:latin typeface="Calibri"/>
                          <a:ea typeface="Calibri"/>
                          <a:cs typeface="Calibri"/>
                          <a:sym typeface="Calibri"/>
                        </a:rPr>
                        <a:t>OLMo 3 7B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7B</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Dense</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7.2/10</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000">
                          <a:latin typeface="Calibri"/>
                          <a:ea typeface="Calibri"/>
                          <a:cs typeface="Calibri"/>
                          <a:sym typeface="Calibri"/>
                        </a:rPr>
                        <a:t>~14GB (FP16), ~4GB (4-bit)</a:t>
                      </a:r>
                      <a:endParaRPr sz="1000">
                        <a:latin typeface="Calibri"/>
                        <a:ea typeface="Calibri"/>
                        <a:cs typeface="Calibri"/>
                        <a:sym typeface="Calibri"/>
                      </a:endParaRPr>
                    </a:p>
                  </a:txBody>
                  <a:tcPr marL="18275" marR="18275" marT="18275" marB="1827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8"/>
          <p:cNvSpPr txBox="1"/>
          <p:nvPr/>
        </p:nvSpPr>
        <p:spPr>
          <a:xfrm>
            <a:off x="55075" y="43025"/>
            <a:ext cx="4425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New Moore's Law - 2x every 4 months</a:t>
            </a:r>
            <a:endParaRPr sz="2000" b="1">
              <a:solidFill>
                <a:schemeClr val="dk1"/>
              </a:solidFill>
              <a:latin typeface="Calibri"/>
              <a:ea typeface="Calibri"/>
              <a:cs typeface="Calibri"/>
              <a:sym typeface="Calibri"/>
            </a:endParaRPr>
          </a:p>
        </p:txBody>
      </p:sp>
      <p:sp>
        <p:nvSpPr>
          <p:cNvPr id="154" name="Google Shape;154;p18"/>
          <p:cNvSpPr txBox="1"/>
          <p:nvPr/>
        </p:nvSpPr>
        <p:spPr>
          <a:xfrm>
            <a:off x="127650" y="696775"/>
            <a:ext cx="43527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New Moore's Law - 2x every 4 months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length of coding tasks frontier systems can complete is growing exponentially - </a:t>
            </a:r>
            <a:r>
              <a:rPr lang="en" sz="1200" b="1">
                <a:solidFill>
                  <a:srgbClr val="FF0000"/>
                </a:solidFill>
                <a:latin typeface="Calibri"/>
                <a:ea typeface="Calibri"/>
                <a:cs typeface="Calibri"/>
                <a:sym typeface="Calibri"/>
              </a:rPr>
              <a:t>doubling every 7 months</a:t>
            </a:r>
            <a:r>
              <a:rPr lang="en" sz="1200">
                <a:latin typeface="Calibri"/>
                <a:ea typeface="Calibri"/>
                <a:cs typeface="Calibri"/>
                <a:sym typeface="Calibri"/>
              </a:rPr>
              <a: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Recently, the trend has accelerated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 2024-2025, time horizons </a:t>
            </a:r>
            <a:r>
              <a:rPr lang="en" sz="1200" b="1">
                <a:solidFill>
                  <a:srgbClr val="FF0000"/>
                </a:solidFill>
                <a:latin typeface="Calibri"/>
                <a:ea typeface="Calibri"/>
                <a:cs typeface="Calibri"/>
                <a:sym typeface="Calibri"/>
              </a:rPr>
              <a:t>doubled every 4 months</a:t>
            </a:r>
            <a:r>
              <a:rPr lang="en" sz="1200">
                <a:latin typeface="Calibri"/>
                <a:ea typeface="Calibri"/>
                <a:cs typeface="Calibri"/>
                <a:sym typeface="Calibri"/>
              </a:rPr>
              <a:t>, </a:t>
            </a:r>
            <a:r>
              <a:rPr lang="en" sz="1200" b="1">
                <a:solidFill>
                  <a:srgbClr val="3C78D8"/>
                </a:solidFill>
                <a:latin typeface="Calibri"/>
                <a:ea typeface="Calibri"/>
                <a:cs typeface="Calibri"/>
                <a:sym typeface="Calibri"/>
              </a:rPr>
              <a:t>down from every 7 months over 2019-2025</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https://theaidigest.org/time-horizons</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https://metr.org/blog/2025-03-19-measuring-ai-ability-to-complete-long-tasks/</a:t>
            </a:r>
            <a:endParaRPr sz="1200">
              <a:latin typeface="Calibri"/>
              <a:ea typeface="Calibri"/>
              <a:cs typeface="Calibri"/>
              <a:sym typeface="Calibri"/>
            </a:endParaRPr>
          </a:p>
        </p:txBody>
      </p:sp>
      <p:pic>
        <p:nvPicPr>
          <p:cNvPr id="155" name="Google Shape;155;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14477" y="1105275"/>
            <a:ext cx="4352776" cy="26860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9"/>
          <p:cNvSpPr txBox="1"/>
          <p:nvPr/>
        </p:nvSpPr>
        <p:spPr>
          <a:xfrm>
            <a:off x="55075" y="43024"/>
            <a:ext cx="3343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Yann LeCun AMI Startup</a:t>
            </a:r>
            <a:endParaRPr sz="2000" b="1" i="0" u="none" strike="noStrike" cap="none">
              <a:solidFill>
                <a:schemeClr val="dk1"/>
              </a:solidFill>
              <a:latin typeface="Calibri"/>
              <a:ea typeface="Calibri"/>
              <a:cs typeface="Calibri"/>
              <a:sym typeface="Calibri"/>
            </a:endParaRPr>
          </a:p>
        </p:txBody>
      </p:sp>
      <p:sp>
        <p:nvSpPr>
          <p:cNvPr id="161" name="Google Shape;161;p19"/>
          <p:cNvSpPr txBox="1"/>
          <p:nvPr/>
        </p:nvSpPr>
        <p:spPr>
          <a:xfrm>
            <a:off x="127650" y="696775"/>
            <a:ext cx="4465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Yann LeCun startup AMI ("Advanced Machine Intelligence Labs")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Launched in 2026 in Paris, France (LeCun is French)</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Seeking to raise €500 million (~$586 million) at a valuation €3 .. €5 billion before even officially launching</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LeCun - Executive Chairman, Alex LeBrun - CEO</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Technology Focus: World Models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These systems train on video and spatial data rather than text alone to understand how the physical world works, enabling them to plan, reason, and maintain persistent memory over time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 technology builds on V-JEPA architecture LeCun created at Meta</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LeCun has been vocal that "we are not going to get to human-level AI just by scaling LLMs" because they simply predict text rather than truly understand the world</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AMI Labs has formed a strategic partnership with </a:t>
            </a:r>
            <a:r>
              <a:rPr lang="en" sz="1200">
                <a:solidFill>
                  <a:schemeClr val="dk1"/>
                </a:solidFill>
                <a:latin typeface="Calibri"/>
                <a:ea typeface="Calibri"/>
                <a:cs typeface="Calibri"/>
                <a:sym typeface="Calibri"/>
              </a:rPr>
              <a:t>health-tech company </a:t>
            </a:r>
            <a:r>
              <a:rPr lang="en" sz="1200">
                <a:latin typeface="Calibri"/>
                <a:ea typeface="Calibri"/>
                <a:cs typeface="Calibri"/>
                <a:sym typeface="Calibri"/>
              </a:rPr>
              <a:t>Nabla (Alex LeBrun)</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They will develop FDA-certifiable AI agents for healthcare</a:t>
            </a:r>
            <a:endParaRPr sz="1200">
              <a:latin typeface="Calibri"/>
              <a:ea typeface="Calibri"/>
              <a:cs typeface="Calibri"/>
              <a:sym typeface="Calibri"/>
            </a:endParaRPr>
          </a:p>
        </p:txBody>
      </p:sp>
      <p:pic>
        <p:nvPicPr>
          <p:cNvPr id="162" name="Google Shape;162;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72675" y="152400"/>
            <a:ext cx="1814100" cy="2097325"/>
          </a:xfrm>
          <a:prstGeom prst="rect">
            <a:avLst/>
          </a:prstGeom>
          <a:noFill/>
          <a:ln w="9525" cap="flat" cmpd="sng">
            <a:solidFill>
              <a:srgbClr val="FF0000"/>
            </a:solidFill>
            <a:prstDash val="solid"/>
            <a:round/>
            <a:headEnd type="none" w="sm" len="sm"/>
            <a:tailEnd type="none" w="sm" len="sm"/>
          </a:ln>
        </p:spPr>
      </p:pic>
      <p:pic>
        <p:nvPicPr>
          <p:cNvPr id="163" name="Google Shape;163;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639175" y="210475"/>
            <a:ext cx="1734450" cy="17344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0"/>
          <p:cNvSpPr txBox="1"/>
          <p:nvPr/>
        </p:nvSpPr>
        <p:spPr>
          <a:xfrm>
            <a:off x="55075" y="43024"/>
            <a:ext cx="3343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Gemini AI in Gmail</a:t>
            </a:r>
            <a:endParaRPr sz="2000" b="1" i="0" u="none" strike="noStrike" cap="none">
              <a:solidFill>
                <a:schemeClr val="dk1"/>
              </a:solidFill>
              <a:latin typeface="Calibri"/>
              <a:ea typeface="Calibri"/>
              <a:cs typeface="Calibri"/>
              <a:sym typeface="Calibri"/>
            </a:endParaRPr>
          </a:p>
        </p:txBody>
      </p:sp>
      <p:sp>
        <p:nvSpPr>
          <p:cNvPr id="169" name="Google Shape;169;p20"/>
          <p:cNvSpPr txBox="1"/>
          <p:nvPr/>
        </p:nvSpPr>
        <p:spPr>
          <a:xfrm>
            <a:off x="55075" y="766300"/>
            <a:ext cx="4465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Google announced major Gemini AI updates for Gmail on Jan 7-8</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Expanding AI to all of Gmail's 3+ billion users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Email Thread Summaries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Overviews in Search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Enhanced Writing Tools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Smarter Suggested Replies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Inbox view (Coming Soon) - replaces chronological email lists with a personalized briefing. This view automatically highlights to-dos, pending bills, upcoming appointments, and emails from important contacts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updates are rolling out gradually, starting with English-speaking users in the United States</a:t>
            </a:r>
            <a:endParaRPr sz="1200">
              <a:latin typeface="Calibri"/>
              <a:ea typeface="Calibri"/>
              <a:cs typeface="Calibri"/>
              <a:sym typeface="Calibri"/>
            </a:endParaRPr>
          </a:p>
        </p:txBody>
      </p:sp>
      <p:pic>
        <p:nvPicPr>
          <p:cNvPr id="170" name="Google Shape;170;p2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730000" y="501150"/>
            <a:ext cx="1842650" cy="1193075"/>
          </a:xfrm>
          <a:prstGeom prst="rect">
            <a:avLst/>
          </a:prstGeom>
          <a:noFill/>
          <a:ln>
            <a:noFill/>
          </a:ln>
        </p:spPr>
      </p:pic>
      <p:pic>
        <p:nvPicPr>
          <p:cNvPr id="171" name="Google Shape;171;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09000" y="2005700"/>
            <a:ext cx="2684650" cy="1510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1"/>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5.97K subscribers, 260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77" name="Google Shape;177;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56600" y="133600"/>
            <a:ext cx="3597800" cy="48762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2"/>
          <p:cNvSpPr txBox="1"/>
          <p:nvPr/>
        </p:nvSpPr>
        <p:spPr>
          <a:xfrm>
            <a:off x="55075" y="43025"/>
            <a:ext cx="215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ChatGPT Health</a:t>
            </a:r>
            <a:endParaRPr sz="2000" b="1" i="0" u="none" strike="noStrike" cap="none">
              <a:solidFill>
                <a:schemeClr val="dk1"/>
              </a:solidFill>
              <a:latin typeface="Calibri"/>
              <a:ea typeface="Calibri"/>
              <a:cs typeface="Calibri"/>
              <a:sym typeface="Calibri"/>
            </a:endParaRPr>
          </a:p>
        </p:txBody>
      </p:sp>
      <p:sp>
        <p:nvSpPr>
          <p:cNvPr id="183" name="Google Shape;183;p22"/>
          <p:cNvSpPr txBox="1"/>
          <p:nvPr/>
        </p:nvSpPr>
        <p:spPr>
          <a:xfrm>
            <a:off x="55075" y="686747"/>
            <a:ext cx="4465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ChatGPT Health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Prepare for a doctor’s appointment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Choose the right insurance plan for you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Personalized nutrition tips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Securely connecting your information and apps with ChatGPT Health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When you choose to connect your health data, such as medical records or wellness apps, your responses are grounded in your own health information.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You can also connect your Apple Health information and other wellness apps, such as Function, MyFitnessPal, Peloton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Apps may only be connected to your health data with your explicit permission</a:t>
            </a:r>
            <a:endParaRPr sz="1200">
              <a:latin typeface="Calibri"/>
              <a:ea typeface="Calibri"/>
              <a:cs typeface="Calibri"/>
              <a:sym typeface="Calibri"/>
            </a:endParaRPr>
          </a:p>
        </p:txBody>
      </p:sp>
      <p:pic>
        <p:nvPicPr>
          <p:cNvPr id="184" name="Google Shape;184;p2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007675" y="2815695"/>
            <a:ext cx="3185950" cy="1835850"/>
          </a:xfrm>
          <a:prstGeom prst="rect">
            <a:avLst/>
          </a:prstGeom>
          <a:noFill/>
          <a:ln w="9525" cap="flat" cmpd="sng">
            <a:solidFill>
              <a:srgbClr val="FF0000"/>
            </a:solidFill>
            <a:prstDash val="solid"/>
            <a:round/>
            <a:headEnd type="none" w="sm" len="sm"/>
            <a:tailEnd type="none" w="sm" len="sm"/>
          </a:ln>
        </p:spPr>
      </p:pic>
      <p:pic>
        <p:nvPicPr>
          <p:cNvPr id="185" name="Google Shape;185;p22"/>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529100" y="777825"/>
            <a:ext cx="2143125" cy="1555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3"/>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CES 2026 Consumer Electronics Show</a:t>
            </a:r>
            <a:endParaRPr sz="2000" b="1" i="0" u="none" strike="noStrike" cap="none">
              <a:solidFill>
                <a:schemeClr val="dk1"/>
              </a:solidFill>
              <a:latin typeface="Calibri"/>
              <a:ea typeface="Calibri"/>
              <a:cs typeface="Calibri"/>
              <a:sym typeface="Calibri"/>
            </a:endParaRPr>
          </a:p>
        </p:txBody>
      </p:sp>
      <p:sp>
        <p:nvSpPr>
          <p:cNvPr id="191" name="Google Shape;191;p23"/>
          <p:cNvSpPr txBox="1"/>
          <p:nvPr/>
        </p:nvSpPr>
        <p:spPr>
          <a:xfrm>
            <a:off x="132575" y="567395"/>
            <a:ext cx="43878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CES 2026 Consumer Electronics Show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Las Vegas January 5-8 - AI, robotics, semiconductors, consumer electronics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Nvidia CEO Jensen Huang dominated the show with major announcements including Cosmos, an AI foundation model trained to replicate real-world physics, and Alpamayo, a specialized AI model for autonomous vehicles.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also revealed that Nvidia's next-generation AI superchip platform, Vera Rubin, has entered full-scale production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AMD CEO Lisa Su introduced new Ryzen AI processors for AI-driven personal computing and the Ryzen 9 85X3D for gaming enthusiasts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She also unveiled the Helios rack-scale system for the Instinct MI445X GPU and previewed next-generation MI500 chips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Intel announced Core Ultra 3 PC processors (Panther Lake) and plans for a handheld gaming device platform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Qualcomm showcased the Snapdragon X 2 for AI applications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Robotics everywhere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Lenovo - Qira AI platform, new ThinkPads in the Aura edition, and Motorola's first book-style folding phone, the Razr Fold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Google presented Gemini 3 integration with Google TV for natural language searches and image editing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Samsung showcased the Galaxy Zifold in the United States for the first time, featuring built-in AI functionalities</a:t>
            </a:r>
            <a:endParaRPr sz="1200">
              <a:latin typeface="Calibri"/>
              <a:ea typeface="Calibri"/>
              <a:cs typeface="Calibri"/>
              <a:sym typeface="Calibri"/>
            </a:endParaRPr>
          </a:p>
        </p:txBody>
      </p:sp>
      <p:pic>
        <p:nvPicPr>
          <p:cNvPr id="192" name="Google Shape;192;p2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30311" y="872300"/>
            <a:ext cx="2780049" cy="1564300"/>
          </a:xfrm>
          <a:prstGeom prst="rect">
            <a:avLst/>
          </a:prstGeom>
          <a:noFill/>
          <a:ln w="9525" cap="flat" cmpd="sng">
            <a:solidFill>
              <a:srgbClr val="FF0000"/>
            </a:solidFill>
            <a:prstDash val="solid"/>
            <a:round/>
            <a:headEnd type="none" w="sm" len="sm"/>
            <a:tailEnd type="none" w="sm" len="sm"/>
          </a:ln>
        </p:spPr>
      </p:pic>
      <p:sp>
        <p:nvSpPr>
          <p:cNvPr id="193" name="Google Shape;193;p23"/>
          <p:cNvSpPr txBox="1"/>
          <p:nvPr/>
        </p:nvSpPr>
        <p:spPr>
          <a:xfrm>
            <a:off x="4656826" y="3145728"/>
            <a:ext cx="43878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TCL announced the RayNeo Air 4 Pro smart glasses with HDR-capable Micro-OLED displays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Siemens unveiled the Digital Twin Composer, launching mid-year on the Siemens Xcelerator Marketplace, which combines digital twin technology with Nvidia Omniverse simulations for visualizing products, processes, and plants in virtual 3D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Caterpillar CEO Joe Creed introduced the Cat AI Assistant, bringing the company's digital ecosystem into one conversational interface for construction sites</a:t>
            </a:r>
            <a:endParaRPr sz="1200">
              <a:latin typeface="Calibri"/>
              <a:ea typeface="Calibri"/>
              <a:cs typeface="Calibri"/>
              <a:sym typeface="Calibri"/>
            </a:endParaRPr>
          </a:p>
        </p:txBody>
      </p:sp>
      <p:pic>
        <p:nvPicPr>
          <p:cNvPr id="194" name="Google Shape;194;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20301" y="1129461"/>
            <a:ext cx="1524325" cy="1919518"/>
          </a:xfrm>
          <a:prstGeom prst="rect">
            <a:avLst/>
          </a:prstGeom>
          <a:noFill/>
          <a:ln w="9525" cap="flat" cmpd="sng">
            <a:solidFill>
              <a:srgbClr val="FF0000"/>
            </a:solidFill>
            <a:prstDash val="solid"/>
            <a:round/>
            <a:headEnd type="none" w="sm" len="sm"/>
            <a:tailEnd type="none" w="sm" len="sm"/>
          </a:ln>
        </p:spPr>
      </p:pic>
      <p:sp>
        <p:nvSpPr>
          <p:cNvPr id="195" name="Google Shape;195;p23"/>
          <p:cNvSpPr txBox="1"/>
          <p:nvPr/>
        </p:nvSpPr>
        <p:spPr>
          <a:xfrm>
            <a:off x="7916463" y="829599"/>
            <a:ext cx="7320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latin typeface="Calibri"/>
                <a:ea typeface="Calibri"/>
                <a:cs typeface="Calibri"/>
                <a:sym typeface="Calibri"/>
              </a:rPr>
              <a:t>Atlas</a:t>
            </a:r>
            <a:endParaRPr sz="12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4"/>
          <p:cNvSpPr txBox="1"/>
          <p:nvPr/>
        </p:nvSpPr>
        <p:spPr>
          <a:xfrm>
            <a:off x="55075" y="43024"/>
            <a:ext cx="3343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Nvidia Alpamayo &amp; Cosmos </a:t>
            </a:r>
            <a:endParaRPr sz="2000" b="1" i="0" u="none" strike="noStrike" cap="none">
              <a:solidFill>
                <a:schemeClr val="dk1"/>
              </a:solidFill>
              <a:latin typeface="Calibri"/>
              <a:ea typeface="Calibri"/>
              <a:cs typeface="Calibri"/>
              <a:sym typeface="Calibri"/>
            </a:endParaRPr>
          </a:p>
        </p:txBody>
      </p:sp>
      <p:sp>
        <p:nvSpPr>
          <p:cNvPr id="201" name="Google Shape;201;p24"/>
          <p:cNvSpPr txBox="1"/>
          <p:nvPr/>
        </p:nvSpPr>
        <p:spPr>
          <a:xfrm>
            <a:off x="55075" y="369425"/>
            <a:ext cx="44448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NVIDIA Alpamayo - Open AI for Driving</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Full stack autonomous driving framework</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Open AI models, simulation, and datasets for reasoning-based autonomous vehicles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Using synthetic data for training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Kosmos</a:t>
            </a:r>
            <a:endParaRPr sz="1200">
              <a:latin typeface="Calibri"/>
              <a:ea typeface="Calibri"/>
              <a:cs typeface="Calibri"/>
              <a:sym typeface="Calibri"/>
            </a:endParaRPr>
          </a:p>
          <a:p>
            <a:pPr marL="171450" marR="0" lvl="0" indent="-95250" algn="l" rtl="0">
              <a:lnSpc>
                <a:spcPct val="100000"/>
              </a:lnSpc>
              <a:spcBef>
                <a:spcPts val="0"/>
              </a:spcBef>
              <a:spcAft>
                <a:spcPts val="0"/>
              </a:spcAft>
              <a:buSzPts val="600"/>
              <a:buFont typeface="Calibri"/>
              <a:buChar char="●"/>
            </a:pPr>
            <a:r>
              <a:rPr lang="en" sz="900" u="sng">
                <a:solidFill>
                  <a:schemeClr val="hlink"/>
                </a:solidFill>
                <a:latin typeface="Calibri"/>
                <a:ea typeface="Calibri"/>
                <a:cs typeface="Calibri"/>
                <a:sym typeface="Calibri"/>
                <a:hlinkClick r:id="rId3"/>
              </a:rPr>
              <a:t>https://www.nvidia.com/en-us/solutions/autonomous-vehicles/alpamayo/</a:t>
            </a:r>
            <a:r>
              <a:rPr lang="en" sz="900">
                <a:latin typeface="Calibri"/>
                <a:ea typeface="Calibri"/>
                <a:cs typeface="Calibri"/>
                <a:sym typeface="Calibri"/>
              </a:rPr>
              <a:t> </a:t>
            </a:r>
            <a:endParaRPr sz="9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NVIDIA Cosmos - A platform for physical AI,</a:t>
            </a:r>
            <a:r>
              <a:rPr lang="en" sz="1200">
                <a:latin typeface="Calibri"/>
                <a:ea typeface="Calibri"/>
                <a:cs typeface="Calibri"/>
                <a:sym typeface="Calibri"/>
              </a:rPr>
              <a:t> featuring state-of-the-art generative world foundation models (WFMs),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https://www.nvidia.com/en-us/ai/cosmos/</a:t>
            </a:r>
            <a:r>
              <a:rPr lang="en" sz="900">
                <a:latin typeface="Calibri"/>
                <a:ea typeface="Calibri"/>
                <a:cs typeface="Calibri"/>
                <a:sym typeface="Calibri"/>
              </a:rPr>
              <a:t> </a:t>
            </a:r>
            <a:endParaRPr sz="9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Announced at Consumer Electronics Show (CES) Jan 6-9, 2006 in Las Vegas</a:t>
            </a:r>
            <a:endParaRPr sz="1200">
              <a:latin typeface="Calibri"/>
              <a:ea typeface="Calibri"/>
              <a:cs typeface="Calibri"/>
              <a:sym typeface="Calibri"/>
            </a:endParaRPr>
          </a:p>
        </p:txBody>
      </p:sp>
      <p:pic>
        <p:nvPicPr>
          <p:cNvPr id="202" name="Google Shape;202;p24"/>
          <p:cNvPicPr preferRelativeResize="0"/>
          <p:nvPr/>
        </p:nvPicPr>
        <p:blipFill>
          <a:blip r:embed="rId5">
            <a:alphaModFix/>
          </a:blip>
          <a:stretch>
            <a:fillRect/>
          </a:stretch>
        </p:blipFill>
        <p:spPr>
          <a:xfrm>
            <a:off x="4875750" y="369425"/>
            <a:ext cx="2962275" cy="1653363"/>
          </a:xfrm>
          <a:prstGeom prst="rect">
            <a:avLst/>
          </a:prstGeom>
          <a:noFill/>
          <a:ln w="9525" cap="flat" cmpd="sng">
            <a:solidFill>
              <a:srgbClr val="FF0000"/>
            </a:solidFill>
            <a:prstDash val="solid"/>
            <a:round/>
            <a:headEnd type="none" w="sm" len="sm"/>
            <a:tailEnd type="none" w="sm" len="sm"/>
          </a:ln>
        </p:spPr>
      </p:pic>
      <p:pic>
        <p:nvPicPr>
          <p:cNvPr id="203" name="Google Shape;203;p24"/>
          <p:cNvPicPr preferRelativeResize="0"/>
          <p:nvPr/>
        </p:nvPicPr>
        <p:blipFill>
          <a:blip r:embed="rId6">
            <a:alphaModFix/>
          </a:blip>
          <a:stretch>
            <a:fillRect/>
          </a:stretch>
        </p:blipFill>
        <p:spPr>
          <a:xfrm>
            <a:off x="4875750" y="2163050"/>
            <a:ext cx="2962275" cy="1543050"/>
          </a:xfrm>
          <a:prstGeom prst="rect">
            <a:avLst/>
          </a:prstGeom>
          <a:noFill/>
          <a:ln w="9525" cap="flat" cmpd="sng">
            <a:solidFill>
              <a:srgbClr val="FF0000"/>
            </a:solidFill>
            <a:prstDash val="solid"/>
            <a:round/>
            <a:headEnd type="none" w="sm" len="sm"/>
            <a:tailEnd type="none" w="sm" len="sm"/>
          </a:ln>
        </p:spPr>
      </p:pic>
      <p:sp>
        <p:nvSpPr>
          <p:cNvPr id="204" name="Google Shape;204;p24"/>
          <p:cNvSpPr txBox="1"/>
          <p:nvPr/>
        </p:nvSpPr>
        <p:spPr>
          <a:xfrm>
            <a:off x="44875" y="2602218"/>
            <a:ext cx="44652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Rubin Supercomputer Platform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Nvidia announced the Vera Rubin platform at CES 2026, their next-generation AI architecture succeeding Blackwell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 system delivers 10x cost reduction in inference and 4x reduction in GPUs required to train mixture-of-experts models compared to Blackwell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Rubin comprises six chips forming one AI supercomputer, including Vera CPU and Rubin GPUs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 platform uses 45°C hot water cooling without requiring water chillers, making it highly power efficient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Each system contains 1,152 GPUs across 16 racks, with 72 Rubins per rack. The platform is already in production and will be available to partners later in 2026</a:t>
            </a:r>
            <a:endParaRPr sz="1200">
              <a:solidFill>
                <a:schemeClr val="dk1"/>
              </a:solidFill>
              <a:latin typeface="Calibri"/>
              <a:ea typeface="Calibri"/>
              <a:cs typeface="Calibri"/>
              <a:sym typeface="Calibri"/>
            </a:endParaRPr>
          </a:p>
        </p:txBody>
      </p:sp>
      <p:pic>
        <p:nvPicPr>
          <p:cNvPr id="205" name="Google Shape;205;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75750" y="3846350"/>
            <a:ext cx="3486284" cy="1132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5"/>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Humanoid Robots Security Problems</a:t>
            </a:r>
            <a:endParaRPr sz="2000" b="1" i="0" u="none" strike="noStrike" cap="none">
              <a:solidFill>
                <a:schemeClr val="dk1"/>
              </a:solidFill>
              <a:latin typeface="Calibri"/>
              <a:ea typeface="Calibri"/>
              <a:cs typeface="Calibri"/>
              <a:sym typeface="Calibri"/>
            </a:endParaRPr>
          </a:p>
        </p:txBody>
      </p:sp>
      <p:sp>
        <p:nvSpPr>
          <p:cNvPr id="211" name="Google Shape;211;p25"/>
          <p:cNvSpPr txBox="1"/>
          <p:nvPr/>
        </p:nvSpPr>
        <p:spPr>
          <a:xfrm>
            <a:off x="55075" y="580675"/>
            <a:ext cx="44652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Humanoid Robot Unitree G1 can be purchased online, but there are problems with their security</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Video "39C3 -: From Embodied AI Jailbreak to Remote Takeover of Humanoid Robots" by the security research group Dark Navy.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http://www.youtube.com/watch?v=qjA__5-Bybs</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Security analysis of the Unitree G1 humanoid robot, demonstrate  how researchers were able to bypass security measures to gain full remote control and jailbreak the device to unlock premium features.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Key Vulnerabilities and Attacks: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Remote Control Hijacking (RF Layer):</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Network Service Exploits - Bluetooth Command Injection, Authentication Bypass, Cloud Token Theft</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AI and LLM Attacks: LLM voice assistant, Unsafe Code Execution using eval(), Prompt Injection, redirecting the LLM API traffic via a WebRTC interface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Jailbreaking and "Unlock" Features - De-obfuscating Code, Runtime Patching, Physical Accessvia hidden internal Ethernet interface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Conclusion - security is bad</a:t>
            </a:r>
            <a:endParaRPr sz="1200">
              <a:latin typeface="Calibri"/>
              <a:ea typeface="Calibri"/>
              <a:cs typeface="Calibri"/>
              <a:sym typeface="Calibri"/>
            </a:endParaRPr>
          </a:p>
        </p:txBody>
      </p:sp>
      <p:pic>
        <p:nvPicPr>
          <p:cNvPr id="212" name="Google Shape;212;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2675" y="580675"/>
            <a:ext cx="4318923" cy="322409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6"/>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ADK - Agent Development Kit</a:t>
            </a:r>
            <a:endParaRPr sz="2000" b="1" i="0" u="none" strike="noStrike" cap="none">
              <a:solidFill>
                <a:schemeClr val="dk1"/>
              </a:solidFill>
              <a:latin typeface="Calibri"/>
              <a:ea typeface="Calibri"/>
              <a:cs typeface="Calibri"/>
              <a:sym typeface="Calibri"/>
            </a:endParaRPr>
          </a:p>
        </p:txBody>
      </p:sp>
      <p:sp>
        <p:nvSpPr>
          <p:cNvPr id="218" name="Google Shape;218;p26"/>
          <p:cNvSpPr txBox="1"/>
          <p:nvPr/>
        </p:nvSpPr>
        <p:spPr>
          <a:xfrm>
            <a:off x="55075" y="499575"/>
            <a:ext cx="4465200" cy="4590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Google ADK - Agent Development Kit - Open Source</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rgbClr val="3C78D8"/>
              </a:buClr>
              <a:buSzPts val="800"/>
              <a:buFont typeface="Calibri"/>
              <a:buChar char="●"/>
            </a:pPr>
            <a:r>
              <a:rPr lang="en" sz="1100" b="1">
                <a:solidFill>
                  <a:srgbClr val="3C78D8"/>
                </a:solidFill>
                <a:latin typeface="Calibri"/>
                <a:ea typeface="Calibri"/>
                <a:cs typeface="Calibri"/>
                <a:sym typeface="Calibri"/>
              </a:rPr>
              <a:t>Architecting efficient context-aware multi-agent framework for production</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https://developers.googleblog.com/en/architecting-efficient-context-aware-multi-agent-framework-for-production/</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ADK is addressing the critical challenge of managing large context  in production-grade AI agent systems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Rather than relying solely on ever-larger context windows, ADK structures context, uses compressed summaries, searching for only relevant data, etc - treating context as a first-class architectural concern requiring systematic engineering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Context length explosion causes problems:</a:t>
            </a:r>
            <a:r>
              <a:rPr lang="en" sz="1100">
                <a:latin typeface="Calibri"/>
                <a:ea typeface="Calibri"/>
                <a:cs typeface="Calibri"/>
                <a:sym typeface="Calibri"/>
              </a:rPr>
              <a:t> increased latency from processing massive contexts, escalating token costs, and reduced accuracy as </a:t>
            </a:r>
            <a:r>
              <a:rPr lang="en" sz="1100" b="1">
                <a:solidFill>
                  <a:srgbClr val="FF0000"/>
                </a:solidFill>
                <a:latin typeface="Calibri"/>
                <a:ea typeface="Calibri"/>
                <a:cs typeface="Calibri"/>
                <a:sym typeface="Calibri"/>
              </a:rPr>
              <a:t>critical information gets buried in noise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framework separates three distinct layers: </a:t>
            </a:r>
            <a:endParaRPr sz="1100">
              <a:latin typeface="Calibri"/>
              <a:ea typeface="Calibri"/>
              <a:cs typeface="Calibri"/>
              <a:sym typeface="Calibri"/>
            </a:endParaRPr>
          </a:p>
          <a:p>
            <a:pPr marL="3429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Session State (the ground truth storage of all events), </a:t>
            </a:r>
            <a:endParaRPr sz="1100">
              <a:solidFill>
                <a:srgbClr val="3C78D8"/>
              </a:solidFill>
              <a:latin typeface="Calibri"/>
              <a:ea typeface="Calibri"/>
              <a:cs typeface="Calibri"/>
              <a:sym typeface="Calibri"/>
            </a:endParaRPr>
          </a:p>
          <a:p>
            <a:pPr marL="3429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Working Context (an ephemeral, model-specific view compiled for each invocation), </a:t>
            </a:r>
            <a:endParaRPr sz="1100">
              <a:solidFill>
                <a:srgbClr val="3C78D8"/>
              </a:solidFill>
              <a:latin typeface="Calibri"/>
              <a:ea typeface="Calibri"/>
              <a:cs typeface="Calibri"/>
              <a:sym typeface="Calibri"/>
            </a:endParaRPr>
          </a:p>
          <a:p>
            <a:pPr marL="3429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Memory/Artifacts (external searchable knowledge and large data objects). </a:t>
            </a:r>
            <a:endParaRPr sz="1100">
              <a:solidFill>
                <a:srgbClr val="3C78D8"/>
              </a:solidFill>
              <a:latin typeface="Calibri"/>
              <a:ea typeface="Calibri"/>
              <a:cs typeface="Calibri"/>
              <a:sym typeface="Calibri"/>
            </a:endParaRPr>
          </a:p>
          <a:p>
            <a:pPr marL="171450" lvl="0" indent="-127000" algn="l" rtl="0">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Agents use Context Compilation Pipeline </a:t>
            </a:r>
            <a:r>
              <a:rPr lang="en" sz="1100">
                <a:solidFill>
                  <a:schemeClr val="dk1"/>
                </a:solidFill>
                <a:latin typeface="Calibri"/>
                <a:ea typeface="Calibri"/>
                <a:cs typeface="Calibri"/>
                <a:sym typeface="Calibri"/>
              </a:rPr>
              <a:t>to transform the Session's event stream into a Working Context by </a:t>
            </a:r>
            <a:r>
              <a:rPr lang="en" sz="1100" b="1">
                <a:solidFill>
                  <a:srgbClr val="FF0000"/>
                </a:solidFill>
                <a:latin typeface="Calibri"/>
                <a:ea typeface="Calibri"/>
                <a:cs typeface="Calibri"/>
                <a:sym typeface="Calibri"/>
              </a:rPr>
              <a:t>filtering events, formatting them for specific model APIs, and applying compaction or caching strategies</a:t>
            </a:r>
            <a:endParaRPr sz="1100" b="1">
              <a:solidFill>
                <a:srgbClr val="FF0000"/>
              </a:solidFill>
              <a:latin typeface="Calibri"/>
              <a:ea typeface="Calibri"/>
              <a:cs typeface="Calibri"/>
              <a:sym typeface="Calibri"/>
            </a:endParaRPr>
          </a:p>
          <a:p>
            <a:pPr marL="171450" lvl="0" indent="-12700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When sessions exceed configurable thresholds, ADK triggers asynchronous compaction that </a:t>
            </a:r>
            <a:r>
              <a:rPr lang="en" sz="1100" b="1">
                <a:solidFill>
                  <a:srgbClr val="FF0000"/>
                </a:solidFill>
                <a:latin typeface="Calibri"/>
                <a:ea typeface="Calibri"/>
                <a:cs typeface="Calibri"/>
                <a:sym typeface="Calibri"/>
              </a:rPr>
              <a:t>uses an LLM to summarize older events over sliding windows</a:t>
            </a:r>
            <a:r>
              <a:rPr lang="en" sz="1100">
                <a:solidFill>
                  <a:schemeClr val="dk1"/>
                </a:solidFill>
                <a:latin typeface="Calibri"/>
                <a:ea typeface="Calibri"/>
                <a:cs typeface="Calibri"/>
                <a:sym typeface="Calibri"/>
              </a:rPr>
              <a:t>, writing summaries back as new events. This reduces token usage while preserving conversation history</a:t>
            </a:r>
            <a:endParaRPr sz="1100">
              <a:solidFill>
                <a:schemeClr val="dk1"/>
              </a:solidFill>
              <a:latin typeface="Calibri"/>
              <a:ea typeface="Calibri"/>
              <a:cs typeface="Calibri"/>
              <a:sym typeface="Calibri"/>
            </a:endParaRPr>
          </a:p>
        </p:txBody>
      </p:sp>
      <p:sp>
        <p:nvSpPr>
          <p:cNvPr id="219" name="Google Shape;219;p26"/>
          <p:cNvSpPr txBox="1"/>
          <p:nvPr/>
        </p:nvSpPr>
        <p:spPr>
          <a:xfrm>
            <a:off x="4577400" y="499568"/>
            <a:ext cx="4465200" cy="323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ADK also supports </a:t>
            </a:r>
            <a:r>
              <a:rPr lang="en" sz="1100" b="1">
                <a:solidFill>
                  <a:srgbClr val="FF0000"/>
                </a:solidFill>
                <a:latin typeface="Calibri"/>
                <a:ea typeface="Calibri"/>
                <a:cs typeface="Calibri"/>
                <a:sym typeface="Calibri"/>
              </a:rPr>
              <a:t>context caching </a:t>
            </a:r>
            <a:r>
              <a:rPr lang="en" sz="1100">
                <a:latin typeface="Calibri"/>
                <a:ea typeface="Calibri"/>
                <a:cs typeface="Calibri"/>
                <a:sym typeface="Calibri"/>
              </a:rPr>
              <a:t>by dividing the context window into a stable prefix (instructions and identity) and dynamic suffix (recent history), </a:t>
            </a:r>
            <a:r>
              <a:rPr lang="en" sz="1100" b="1">
                <a:solidFill>
                  <a:srgbClr val="3C78D8"/>
                </a:solidFill>
                <a:latin typeface="Calibri"/>
                <a:ea typeface="Calibri"/>
                <a:cs typeface="Calibri"/>
                <a:sym typeface="Calibri"/>
              </a:rPr>
              <a:t>allowing inference engines to reuse attention computation across calls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Relevance Management - Instead of dumping all data into prompts, ADK uses two specialized patterns:</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Artifacts—large objects like CSVs or PDFs—live in an external store, with agents seeing only lightweight references until they explicitly load specific items using LoadArtifactsTool</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Memory layer - provides searchable, long-lived knowledge from past sessions that agents retrieve on-demand rather than carrying permanently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Multi-Agent Context Scoping - ADK prevents context explosion in multi-agent systems by allowing explicit control over what sub-agents see during handoffs</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Developers can configure whether a called agent receives full conversation history, only the latest query, or a custom subset</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When transferring control, ADK reframes the conversation from each agent's perspective, translating prior agents' messages into contextual references to prevent role confusion</a:t>
            </a:r>
            <a:endParaRPr sz="1100">
              <a:latin typeface="Calibri"/>
              <a:ea typeface="Calibri"/>
              <a:cs typeface="Calibri"/>
              <a:sym typeface="Calibri"/>
            </a:endParaRPr>
          </a:p>
        </p:txBody>
      </p:sp>
      <p:pic>
        <p:nvPicPr>
          <p:cNvPr id="220" name="Google Shape;220;p2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224927" y="3962800"/>
            <a:ext cx="3111500" cy="678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7"/>
          <p:cNvSpPr txBox="1"/>
          <p:nvPr/>
        </p:nvSpPr>
        <p:spPr>
          <a:xfrm>
            <a:off x="55075" y="43025"/>
            <a:ext cx="423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MIT RLM - Recursive Language Model</a:t>
            </a:r>
            <a:endParaRPr sz="2000" b="1" i="0" u="none" strike="noStrike" cap="none">
              <a:solidFill>
                <a:schemeClr val="dk1"/>
              </a:solidFill>
              <a:latin typeface="Calibri"/>
              <a:ea typeface="Calibri"/>
              <a:cs typeface="Calibri"/>
              <a:sym typeface="Calibri"/>
            </a:endParaRPr>
          </a:p>
        </p:txBody>
      </p:sp>
      <p:sp>
        <p:nvSpPr>
          <p:cNvPr id="226" name="Google Shape;226;p27"/>
          <p:cNvSpPr txBox="1"/>
          <p:nvPr/>
        </p:nvSpPr>
        <p:spPr>
          <a:xfrm>
            <a:off x="55075" y="580575"/>
            <a:ext cx="41163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MIT researchers developed a Recursive Language Model (RLM)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 </a:t>
            </a:r>
            <a:r>
              <a:rPr lang="en" sz="1100" b="1">
                <a:solidFill>
                  <a:srgbClr val="3C78D8"/>
                </a:solidFill>
                <a:latin typeface="Calibri"/>
                <a:ea typeface="Calibri"/>
                <a:cs typeface="Calibri"/>
                <a:sym typeface="Calibri"/>
              </a:rPr>
              <a:t>extends GPT-5's effective context window</a:t>
            </a:r>
            <a:r>
              <a:rPr lang="en" sz="1100">
                <a:latin typeface="Calibri"/>
                <a:ea typeface="Calibri"/>
                <a:cs typeface="Calibri"/>
                <a:sym typeface="Calibri"/>
              </a:rPr>
              <a:t> from its failing point at 16-33K tokens to 1 million tokens and beyond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 treats long prompts as external environment files rather than feeding them directly into the transformer</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The LLM writes Python code to programmatically chunk, inspect, and recursively process data through spawned sub-instances of itself, similar to an operating system using virtual memory</a:t>
            </a:r>
            <a:endParaRPr sz="1100">
              <a:latin typeface="Calibri"/>
              <a:ea typeface="Calibri"/>
              <a:cs typeface="Calibri"/>
              <a:sym typeface="Calibri"/>
            </a:endParaRPr>
          </a:p>
        </p:txBody>
      </p:sp>
      <p:pic>
        <p:nvPicPr>
          <p:cNvPr id="227" name="Google Shape;227;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81000" y="2367925"/>
            <a:ext cx="8954999" cy="2699675"/>
          </a:xfrm>
          <a:prstGeom prst="rect">
            <a:avLst/>
          </a:prstGeom>
          <a:noFill/>
          <a:ln w="9525" cap="flat" cmpd="sng">
            <a:solidFill>
              <a:srgbClr val="FF0000"/>
            </a:solidFill>
            <a:prstDash val="solid"/>
            <a:round/>
            <a:headEnd type="none" w="sm" len="sm"/>
            <a:tailEnd type="none" w="sm" len="sm"/>
          </a:ln>
        </p:spPr>
      </p:pic>
      <p:sp>
        <p:nvSpPr>
          <p:cNvPr id="228" name="Google Shape;228;p27"/>
          <p:cNvSpPr txBox="1"/>
          <p:nvPr/>
        </p:nvSpPr>
        <p:spPr>
          <a:xfrm>
            <a:off x="4560900" y="84975"/>
            <a:ext cx="44652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On complex reasoning tasks with quadratic complexity, standard GPT-5 achieves only 0.04% accuracy at 32K context while costing $0.16.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RLM-wrapped GPT-5 achieves 58% accuracy for $0.33 - doubling the cost but delivering over 1000x performance improvement.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architecture has three components: </a:t>
            </a:r>
            <a:endParaRPr sz="1100">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a root LLM that generates orchestration code, </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deterministic Python execution handling loops and logic, </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recursive sub-LLM instances that perform actual text processing and summarization.</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demonstrates that neural attention mechanisms alone are insufficient for large-scale reasoning over information-dense tasks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Symbolic logic structures help maintain coherence and avoid hallucination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https://arxiv.org/pdf/2512.24601v1</a:t>
            </a:r>
            <a:r>
              <a:rPr lang="en" sz="1100">
                <a:latin typeface="Calibri"/>
                <a:ea typeface="Calibri"/>
                <a:cs typeface="Calibri"/>
                <a:sym typeface="Calibri"/>
              </a:rPr>
              <a:t> - paper</a:t>
            </a:r>
            <a:endParaRPr sz="11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8"/>
          <p:cNvSpPr txBox="1"/>
          <p:nvPr/>
        </p:nvSpPr>
        <p:spPr>
          <a:xfrm>
            <a:off x="55075" y="43024"/>
            <a:ext cx="3343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34" name="Google Shape;234;p28"/>
          <p:cNvSpPr txBox="1"/>
          <p:nvPr/>
        </p:nvSpPr>
        <p:spPr>
          <a:xfrm>
            <a:off x="55075" y="580675"/>
            <a:ext cx="4465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Tencent HY-Motion 1.0</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A Billion-Parameter Text-to-Motion Model</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Built on the Diffusion Transformer (DiT) Architecture and Flow Matching</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3"/>
              </a:rPr>
              <a:t>https://www.marktechpost.com/2025/12/31/tencent-released-tencent-hy-motion-1-0-a-billion-parameter-text-to-motion-model-built-on-the-diffusion-transformer-dit-architecture-and-flow-matching/</a:t>
            </a:r>
            <a:r>
              <a:rPr lang="en" sz="1200">
                <a:latin typeface="Calibri"/>
                <a:ea typeface="Calibri"/>
                <a:cs typeface="Calibri"/>
                <a:sym typeface="Calibri"/>
              </a:rPr>
              <a:t> </a:t>
            </a:r>
            <a:endParaRPr sz="1200">
              <a:solidFill>
                <a:srgbClr val="3C78D8"/>
              </a:solidFill>
              <a:latin typeface="Calibri"/>
              <a:ea typeface="Calibri"/>
              <a:cs typeface="Calibri"/>
              <a:sym typeface="Calibri"/>
            </a:endParaRPr>
          </a:p>
        </p:txBody>
      </p:sp>
      <p:sp>
        <p:nvSpPr>
          <p:cNvPr id="235" name="Google Shape;235;p28"/>
          <p:cNvSpPr txBox="1"/>
          <p:nvPr/>
        </p:nvSpPr>
        <p:spPr>
          <a:xfrm>
            <a:off x="55075" y="2262425"/>
            <a:ext cx="4465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Combining Tools and Models</a:t>
            </a: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Claude Code + GLM-4.7</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AntiGravity + ClaudeCode (Gemini &amp; Clause models)</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https://www.youtube.com/watch?v=tK2MOxGsB-o</a:t>
            </a:r>
            <a:r>
              <a:rPr lang="en" sz="1200">
                <a:latin typeface="Calibri"/>
                <a:ea typeface="Calibri"/>
                <a:cs typeface="Calibri"/>
                <a:sym typeface="Calibri"/>
              </a:rPr>
              <a:t> </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Gemini CLI + Conductor plugin + GLM-4.7</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Kilo Code + MiniMax M2.1</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etc.</a:t>
            </a:r>
            <a:endParaRPr sz="1200">
              <a:solidFill>
                <a:srgbClr val="3C78D8"/>
              </a:solidFill>
              <a:latin typeface="Calibri"/>
              <a:ea typeface="Calibri"/>
              <a:cs typeface="Calibri"/>
              <a:sym typeface="Calibri"/>
            </a:endParaRPr>
          </a:p>
        </p:txBody>
      </p:sp>
      <p:pic>
        <p:nvPicPr>
          <p:cNvPr id="236" name="Google Shape;236;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53625" y="580675"/>
            <a:ext cx="2884525" cy="1256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9"/>
          <p:cNvSpPr txBox="1"/>
          <p:nvPr/>
        </p:nvSpPr>
        <p:spPr>
          <a:xfrm>
            <a:off x="55075" y="0"/>
            <a:ext cx="2536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DeepSeek  MHC</a:t>
            </a:r>
            <a:endParaRPr sz="2000" b="1" i="0" u="none" strike="noStrike" cap="none">
              <a:solidFill>
                <a:schemeClr val="dk1"/>
              </a:solidFill>
              <a:latin typeface="Calibri"/>
              <a:ea typeface="Calibri"/>
              <a:cs typeface="Calibri"/>
              <a:sym typeface="Calibri"/>
            </a:endParaRPr>
          </a:p>
        </p:txBody>
      </p:sp>
      <p:sp>
        <p:nvSpPr>
          <p:cNvPr id="242" name="Google Shape;242;p29"/>
          <p:cNvSpPr txBox="1"/>
          <p:nvPr/>
        </p:nvSpPr>
        <p:spPr>
          <a:xfrm>
            <a:off x="55075" y="369425"/>
            <a:ext cx="44652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b="1">
                <a:solidFill>
                  <a:srgbClr val="FF0000"/>
                </a:solidFill>
                <a:latin typeface="Calibri"/>
                <a:ea typeface="Calibri"/>
                <a:cs typeface="Calibri"/>
                <a:sym typeface="Calibri"/>
              </a:rPr>
              <a:t>DeepSeek</a:t>
            </a:r>
            <a:r>
              <a:rPr lang="en" sz="1200">
                <a:latin typeface="Calibri"/>
                <a:ea typeface="Calibri"/>
                <a:cs typeface="Calibri"/>
                <a:sym typeface="Calibri"/>
              </a:rPr>
              <a:t> published research introducing </a:t>
            </a:r>
            <a:r>
              <a:rPr lang="en" sz="1200" b="1">
                <a:solidFill>
                  <a:srgbClr val="FF0000"/>
                </a:solidFill>
                <a:latin typeface="Calibri"/>
                <a:ea typeface="Calibri"/>
                <a:cs typeface="Calibri"/>
                <a:sym typeface="Calibri"/>
              </a:rPr>
              <a:t>Manifold-Constrained Hyperconnections (MHC)</a:t>
            </a:r>
            <a:r>
              <a:rPr lang="en" sz="1200">
                <a:latin typeface="Calibri"/>
                <a:ea typeface="Calibri"/>
                <a:cs typeface="Calibri"/>
                <a:sym typeface="Calibri"/>
              </a:rPr>
              <a:t>, a new AI architecture that challenges the decade-old residual connection design used in all major models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Traditional residual connections create a bottleneck by forcing information through a narrow single stream. Previous attempts to widen this with hyper connections failed due to training instability and sudden collapse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MHC solves this by mathematically constraining how multiple information streams mix, using the Sinkhorn-Knopp algorithm to keep signal strength constant while allowing controlled information redistribution</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DeepSeek tested this on models from 3 to 27 billion parameters, showing significant performance gains on reasoning tasks - for example, their 27B model jumped from 46.7 to 53.8 on GSM8K math benchmarks.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Through custom GPU kernels and memory optimization, they </a:t>
            </a:r>
            <a:r>
              <a:rPr lang="en" sz="1200" b="1">
                <a:solidFill>
                  <a:srgbClr val="FF0000"/>
                </a:solidFill>
                <a:latin typeface="Calibri"/>
                <a:ea typeface="Calibri"/>
                <a:cs typeface="Calibri"/>
                <a:sym typeface="Calibri"/>
              </a:rPr>
              <a:t>expanded internal data flow by 400% while increasing training time only 6.7%.</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 openly published research </a:t>
            </a:r>
            <a:r>
              <a:rPr lang="en" sz="1200" b="1">
                <a:solidFill>
                  <a:srgbClr val="FF0000"/>
                </a:solidFill>
                <a:latin typeface="Calibri"/>
                <a:ea typeface="Calibri"/>
                <a:cs typeface="Calibri"/>
                <a:sym typeface="Calibri"/>
              </a:rPr>
              <a:t>follows their R1 model </a:t>
            </a:r>
            <a:r>
              <a:rPr lang="en" sz="1200">
                <a:latin typeface="Calibri"/>
                <a:ea typeface="Calibri"/>
                <a:cs typeface="Calibri"/>
                <a:sym typeface="Calibri"/>
              </a:rPr>
              <a:t>release that disrupted the industry, and may appear in their upcoming R2 or V4 models. This architectural innovation addresses both stability and efficiency, potentially reshaping how large AI models are built.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https://www.youtube.com/watch?v=0rinBUI6ViE</a:t>
            </a:r>
            <a:r>
              <a:rPr lang="en" sz="1200">
                <a:latin typeface="Calibri"/>
                <a:ea typeface="Calibri"/>
                <a:cs typeface="Calibri"/>
                <a:sym typeface="Calibri"/>
              </a:rPr>
              <a:t> - video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https://www.arxiv.org/abs/2512.24880</a:t>
            </a:r>
            <a:r>
              <a:rPr lang="en" sz="1200">
                <a:latin typeface="Calibri"/>
                <a:ea typeface="Calibri"/>
                <a:cs typeface="Calibri"/>
                <a:sym typeface="Calibri"/>
              </a:rPr>
              <a:t> - paper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https://www.youtube.com/watch?v=HmhV76_3nuA</a:t>
            </a:r>
            <a:r>
              <a:rPr lang="en" sz="1200">
                <a:latin typeface="Calibri"/>
                <a:ea typeface="Calibri"/>
                <a:cs typeface="Calibri"/>
                <a:sym typeface="Calibri"/>
              </a:rPr>
              <a:t> - amination</a:t>
            </a:r>
            <a:endParaRPr sz="1200">
              <a:latin typeface="Calibri"/>
              <a:ea typeface="Calibri"/>
              <a:cs typeface="Calibri"/>
              <a:sym typeface="Calibri"/>
            </a:endParaRPr>
          </a:p>
        </p:txBody>
      </p:sp>
      <p:pic>
        <p:nvPicPr>
          <p:cNvPr id="243" name="Google Shape;243;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13050" y="384113"/>
            <a:ext cx="4465201" cy="2349336"/>
          </a:xfrm>
          <a:prstGeom prst="rect">
            <a:avLst/>
          </a:prstGeom>
          <a:noFill/>
          <a:ln w="9525" cap="flat" cmpd="sng">
            <a:solidFill>
              <a:srgbClr val="FF0000"/>
            </a:solidFill>
            <a:prstDash val="solid"/>
            <a:round/>
            <a:headEnd type="none" w="sm" len="sm"/>
            <a:tailEnd type="none" w="sm" len="sm"/>
          </a:ln>
        </p:spPr>
      </p:pic>
      <p:sp>
        <p:nvSpPr>
          <p:cNvPr id="244" name="Google Shape;244;p29"/>
          <p:cNvSpPr txBox="1"/>
          <p:nvPr/>
        </p:nvSpPr>
        <p:spPr>
          <a:xfrm>
            <a:off x="4613038" y="2826425"/>
            <a:ext cx="4465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Transformer architecture fundamentally relies on residual connections</a:t>
            </a:r>
            <a:r>
              <a:rPr lang="en" sz="1200">
                <a:latin typeface="Calibri"/>
                <a:ea typeface="Calibri"/>
                <a:cs typeface="Calibri"/>
                <a:sym typeface="Calibri"/>
              </a:rPr>
              <a:t>. They exist since the original transformer design and appear in both the encoder and decoder.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Residual connections are applied around each sub-layer within transformer blocks (around the self-attention mechanism and the feedforward neural network) in each layer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RCs mitigate vanishing gradients by providing direct pathways for gradient flow during backpropagation, which is crucial when training deep networks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They also enable the construction of much deeper transformer architectures without performance degradation, allowing models to capture complex long-range dependencies in sequential data</a:t>
            </a:r>
            <a:endParaRPr sz="12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0"/>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Changes Structure of Startups </a:t>
            </a:r>
            <a:endParaRPr sz="2000" b="1" i="0" u="none" strike="noStrike" cap="none">
              <a:solidFill>
                <a:schemeClr val="dk1"/>
              </a:solidFill>
              <a:latin typeface="Calibri"/>
              <a:ea typeface="Calibri"/>
              <a:cs typeface="Calibri"/>
              <a:sym typeface="Calibri"/>
            </a:endParaRPr>
          </a:p>
        </p:txBody>
      </p:sp>
      <p:sp>
        <p:nvSpPr>
          <p:cNvPr id="250" name="Google Shape;250;p30"/>
          <p:cNvSpPr txBox="1"/>
          <p:nvPr/>
        </p:nvSpPr>
        <p:spPr>
          <a:xfrm>
            <a:off x="55075" y="580675"/>
            <a:ext cx="4219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AI fundamentally changes how startups organize</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Traditional hierarchies optimize for control over creativity</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AI now enables single person to accomplish what previously required entire teams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Speed over coordination. The fastest seed-stage companies optimize for shipping speed, creative iteration, and decision velocity</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Early hires should own outcomes not functions, with AI handling repetitive work while humans provide judgment and critical decisions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Teams work as integrated units rather than departments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Success requires hiring adaptable people who experiment thoughtfully with AI rather than rejecting or blindly trusting it</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Leadership in flat organizations demands clear vision and designing systems that enable movement rather than micromanaging</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 strongest founders delegate early, know when to trust or override AI, and create clean boundaries between automated and human work</a:t>
            </a:r>
            <a:endParaRPr sz="1200">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Companies structured for speed will outpace those using outdated models.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https://www.youtube.com/watch?v=S06CDLDiFhk</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51" name="Google Shape;251;p3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358600" y="580675"/>
            <a:ext cx="4678801" cy="24876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1"/>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57" name="Google Shape;257;p31"/>
          <p:cNvSpPr txBox="1"/>
          <p:nvPr/>
        </p:nvSpPr>
        <p:spPr>
          <a:xfrm>
            <a:off x="55075" y="580675"/>
            <a:ext cx="44652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Lightricks LTX-2 Open-Source Video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Generates up to 20-sec videos at 4K resolution and 50 frames per second with synchronized audio and accurate lip sync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Users can control first and last frames to chain clips together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 includes LoRA adapters for customization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LTX-2 is optimized for consumer GPUs like the RTX 5090</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Ranks #1 on the artificial analysis open weights leaderboard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https://ltx.io/model/model-blog/ltx-2-is-now-open-source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https://github.com/Lightricks/LTX-2</a:t>
            </a:r>
            <a:r>
              <a:rPr lang="en" sz="1200">
                <a:latin typeface="Calibri"/>
                <a:ea typeface="Calibri"/>
                <a:cs typeface="Calibri"/>
                <a:sym typeface="Calibri"/>
              </a:rPr>
              <a:t> </a:t>
            </a:r>
            <a:endParaRPr sz="1200">
              <a:latin typeface="Calibri"/>
              <a:ea typeface="Calibri"/>
              <a:cs typeface="Calibri"/>
              <a:sym typeface="Calibri"/>
            </a:endParaRPr>
          </a:p>
        </p:txBody>
      </p:sp>
      <p:sp>
        <p:nvSpPr>
          <p:cNvPr id="258" name="Google Shape;258;p31"/>
          <p:cNvSpPr txBox="1"/>
          <p:nvPr/>
        </p:nvSpPr>
        <p:spPr>
          <a:xfrm>
            <a:off x="55075" y="4290800"/>
            <a:ext cx="37629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raised $10 Bln at $350 Bln Valuation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nearly doubles its valuation from four months prior</a:t>
            </a:r>
            <a:endParaRPr sz="1200">
              <a:latin typeface="Calibri"/>
              <a:ea typeface="Calibri"/>
              <a:cs typeface="Calibri"/>
              <a:sym typeface="Calibri"/>
            </a:endParaRPr>
          </a:p>
        </p:txBody>
      </p:sp>
      <p:sp>
        <p:nvSpPr>
          <p:cNvPr id="259" name="Google Shape;259;p31"/>
          <p:cNvSpPr txBox="1"/>
          <p:nvPr/>
        </p:nvSpPr>
        <p:spPr>
          <a:xfrm>
            <a:off x="55075" y="2645150"/>
            <a:ext cx="37629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Memory Shortage Causes GPU Price Increase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Price of RTX 5090 could rise from $2K to $5K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Memory component scarcity is affecting supply chains</a:t>
            </a:r>
            <a:endParaRPr sz="1200">
              <a:latin typeface="Calibri"/>
              <a:ea typeface="Calibri"/>
              <a:cs typeface="Calibri"/>
              <a:sym typeface="Calibri"/>
            </a:endParaRPr>
          </a:p>
        </p:txBody>
      </p:sp>
      <p:pic>
        <p:nvPicPr>
          <p:cNvPr id="260" name="Google Shape;260;p31"/>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778725" y="738413"/>
            <a:ext cx="2466975" cy="1365425"/>
          </a:xfrm>
          <a:prstGeom prst="rect">
            <a:avLst/>
          </a:prstGeom>
          <a:noFill/>
          <a:ln w="9525" cap="flat" cmpd="sng">
            <a:solidFill>
              <a:srgbClr val="FF0000"/>
            </a:solidFill>
            <a:prstDash val="solid"/>
            <a:round/>
            <a:headEnd type="none" w="sm" len="sm"/>
            <a:tailEnd type="none" w="sm" len="sm"/>
          </a:ln>
        </p:spPr>
      </p:pic>
      <p:pic>
        <p:nvPicPr>
          <p:cNvPr id="261" name="Google Shape;261;p31"/>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3930325" y="2472813"/>
            <a:ext cx="2857500" cy="1049875"/>
          </a:xfrm>
          <a:prstGeom prst="rect">
            <a:avLst/>
          </a:prstGeom>
          <a:noFill/>
          <a:ln w="9525" cap="flat" cmpd="sng">
            <a:solidFill>
              <a:srgbClr val="FF0000"/>
            </a:solidFill>
            <a:prstDash val="solid"/>
            <a:round/>
            <a:headEnd type="none" w="sm" len="sm"/>
            <a:tailEnd type="none" w="sm" len="sm"/>
          </a:ln>
        </p:spPr>
      </p:pic>
      <p:pic>
        <p:nvPicPr>
          <p:cNvPr id="262" name="Google Shape;262;p31"/>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3930325" y="4104788"/>
            <a:ext cx="2287325" cy="759925"/>
          </a:xfrm>
          <a:prstGeom prst="rect">
            <a:avLst/>
          </a:prstGeom>
          <a:noFill/>
          <a:ln w="9525" cap="flat" cmpd="sng">
            <a:solidFill>
              <a:srgbClr val="FF0000"/>
            </a:solidFill>
            <a:prstDash val="solid"/>
            <a:round/>
            <a:headEnd type="none" w="sm" len="sm"/>
            <a:tailEnd type="none" w="sm" len="sm"/>
          </a:ln>
        </p:spPr>
      </p:pic>
      <p:pic>
        <p:nvPicPr>
          <p:cNvPr id="263" name="Google Shape;263;p3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330002" y="4008091"/>
            <a:ext cx="1702375" cy="953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2"/>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2.1.0 Released January 7</a:t>
            </a:r>
            <a:endParaRPr sz="2000" b="1" i="0" u="none" strike="noStrike" cap="none">
              <a:solidFill>
                <a:schemeClr val="dk1"/>
              </a:solidFill>
              <a:latin typeface="Calibri"/>
              <a:ea typeface="Calibri"/>
              <a:cs typeface="Calibri"/>
              <a:sym typeface="Calibri"/>
            </a:endParaRPr>
          </a:p>
        </p:txBody>
      </p:sp>
      <p:sp>
        <p:nvSpPr>
          <p:cNvPr id="269" name="Google Shape;269;p32"/>
          <p:cNvSpPr txBox="1"/>
          <p:nvPr/>
        </p:nvSpPr>
        <p:spPr>
          <a:xfrm>
            <a:off x="55075" y="437461"/>
            <a:ext cx="44652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Automatic skill hot-reload - skills created or modified in `~/.claude/skills` or `.claude/skills` immediately available without restarting sessions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Skills now show progress while executing, displaying tool uses as they happen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Skills can now run in forked sub-agent contexts using `context: fork` in frontmatter, preventing unintended side effects on the main agent's state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Skills support an `agent` field to specify which agent type should execute them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Enhanced hooks - support across agents, skills, and slash commands with PreToolUse, PostToolUse, and Stop logic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Agent frontmatter can now define hooks scoped to the agent's lifecycle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PreToolUse hooks can modify tool inputs when returning `ask` permission decisions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Subagents resilience improvements - they now continue working after permission denial by exploring alternative approaches rather than halting entirely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Session teleportation via `/teleport` and `/remote-env` commands allows resuming sessions between local terminals and claude.ai/code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Wildcard tool permissions like `Bash(npm *)` or `Bash(*-h*)` simplify rule configuration with fewer entries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Permission prompts received UX improvements with cleaner input labels and contextual placeholders</a:t>
            </a:r>
            <a:endParaRPr sz="1200">
              <a:latin typeface="Calibri"/>
              <a:ea typeface="Calibri"/>
              <a:cs typeface="Calibri"/>
              <a:sym typeface="Calibri"/>
            </a:endParaRPr>
          </a:p>
        </p:txBody>
      </p:sp>
      <p:sp>
        <p:nvSpPr>
          <p:cNvPr id="270" name="Google Shape;270;p32"/>
          <p:cNvSpPr txBox="1"/>
          <p:nvPr/>
        </p:nvSpPr>
        <p:spPr>
          <a:xfrm>
            <a:off x="4599825" y="1545650"/>
            <a:ext cx="44652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Shift+Enter now works out of the box in iTerm2, WezTerm, Ghostty, and Kitty without configuration changes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new language setting supports workflows requiring outputs in specific languages like Japanese or Spanish, eliminating post-processing steps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New Vim motions include `;` and `,` to repeat f/F/t/T motions, `y` operator for yank with `yy`/`Y`, `p`/`P` for paste, text objects (`iw`, `aw`, `i"`, `a"`, etc.), `&gt;&gt;` and `&lt;&lt;` for indent/dedent, and `J` to join lines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MCP servers can now send `list_changed` notifications to dynamically update tools and resources without reconnection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Unified Ctrl+B backgrounding works for both bash commands and agents simultaneously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`/plan` command provides quick entry to plan mode directly from prompts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release also includes a critical security fix preventing OAuth tokens, API keys, and passwords from appearing in debug logs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plus 45+ bug fixes addressing session persistence, file discovery, and API context overflow issues</a:t>
            </a:r>
            <a:endParaRPr sz="1200">
              <a:latin typeface="Calibri"/>
              <a:ea typeface="Calibri"/>
              <a:cs typeface="Calibri"/>
              <a:sym typeface="Calibri"/>
            </a:endParaRPr>
          </a:p>
        </p:txBody>
      </p:sp>
      <p:pic>
        <p:nvPicPr>
          <p:cNvPr id="271" name="Google Shape;271;p3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753504" y="282141"/>
            <a:ext cx="2157824" cy="11183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3"/>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Boris Cherny Work Setup</a:t>
            </a:r>
            <a:endParaRPr sz="2000" b="1" i="0" u="none" strike="noStrike" cap="none">
              <a:solidFill>
                <a:schemeClr val="dk1"/>
              </a:solidFill>
              <a:latin typeface="Calibri"/>
              <a:ea typeface="Calibri"/>
              <a:cs typeface="Calibri"/>
              <a:sym typeface="Calibri"/>
            </a:endParaRPr>
          </a:p>
        </p:txBody>
      </p:sp>
      <p:sp>
        <p:nvSpPr>
          <p:cNvPr id="277" name="Google Shape;277;p33"/>
          <p:cNvSpPr txBox="1"/>
          <p:nvPr/>
        </p:nvSpPr>
        <p:spPr>
          <a:xfrm>
            <a:off x="55075" y="437461"/>
            <a:ext cx="44652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Boris Cherny, creator of Claude Code at Anthropic</a:t>
            </a:r>
            <a:r>
              <a:rPr lang="en" sz="1100">
                <a:latin typeface="Calibri"/>
                <a:ea typeface="Calibri"/>
                <a:cs typeface="Calibri"/>
                <a:sym typeface="Calibri"/>
              </a:rPr>
              <a:t>, shared his detailed workflow - running multiple AI coding sessions in parallel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Cherny runs 5 Claude CLI sessions simultaneously in his terminal, numbering tabs 1-5 and using system notifications to track when each session needs input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also runs 5-10 additional sessions on claude.ai/code in parallel with his local sessions, treating them as one fluid workflow</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CLI and web interfaces aren't separate - sessions can be handed off between them using the `&amp;` operator to send tasks to the web or the `--teleport` command to pull web sessions back to the terminal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To avoid conflicts when running parallel agents, Cherny uses separate git checkouts for each session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If something goes wrong, pressing escape twice cancels the session and rolls back changes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https://www.youtube.com/watch?v=aqtseECSdtY</a:t>
            </a:r>
            <a:r>
              <a:rPr lang="en" sz="1100">
                <a:latin typeface="Calibri"/>
                <a:ea typeface="Calibri"/>
                <a:cs typeface="Calibri"/>
                <a:sym typeface="Calibri"/>
              </a:rPr>
              <a:t> </a:t>
            </a:r>
            <a:endParaRPr sz="1100">
              <a:latin typeface="Calibri"/>
              <a:ea typeface="Calibri"/>
              <a:cs typeface="Calibri"/>
              <a:sym typeface="Calibri"/>
            </a:endParaRPr>
          </a:p>
        </p:txBody>
      </p:sp>
      <p:sp>
        <p:nvSpPr>
          <p:cNvPr id="278" name="Google Shape;278;p33"/>
          <p:cNvSpPr txBox="1"/>
          <p:nvPr/>
        </p:nvSpPr>
        <p:spPr>
          <a:xfrm>
            <a:off x="4613800" y="440730"/>
            <a:ext cx="4465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CLAUDE.md for Shared Context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Cherny's team maintains a single CLAUDE.md file at the repo root that every Claude session automatically reads. This file captures project conventions, expectations, and lessons learned—especially mistakes Claude has made that shouldn't be repeated. The team updates it multiple times per week, and it serves as shared memory across all sessions, keeping behavior consistent even when running multiple agents. During code reviews, tagging `@claude` on pull requests automatically adds new learnings to CLAUDE.md through a GitHub Action</a:t>
            </a:r>
            <a:endParaRPr sz="1200">
              <a:latin typeface="Calibri"/>
              <a:ea typeface="Calibri"/>
              <a:cs typeface="Calibri"/>
              <a:sym typeface="Calibri"/>
            </a:endParaRPr>
          </a:p>
        </p:txBody>
      </p:sp>
      <p:sp>
        <p:nvSpPr>
          <p:cNvPr id="279" name="Google Shape;279;p33"/>
          <p:cNvSpPr txBox="1"/>
          <p:nvPr/>
        </p:nvSpPr>
        <p:spPr>
          <a:xfrm>
            <a:off x="55075" y="3063586"/>
            <a:ext cx="44652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Handing Off Between Terminal and Web</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web interface acts as a session manager for longer-running or background tasks. When a task is well-defined in the terminal, Cherny uses the `&amp;` prefix to create a new web session that persists even after closing the laptop.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These sessions can be monitored from anywhere, including from a phone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`/teleport` command brings web sessions back into the terminal for hands-on work</a:t>
            </a:r>
            <a:endParaRPr sz="1100">
              <a:latin typeface="Calibri"/>
              <a:ea typeface="Calibri"/>
              <a:cs typeface="Calibri"/>
              <a:sym typeface="Calibri"/>
            </a:endParaRPr>
          </a:p>
        </p:txBody>
      </p:sp>
      <p:sp>
        <p:nvSpPr>
          <p:cNvPr id="280" name="Google Shape;280;p33"/>
          <p:cNvSpPr txBox="1"/>
          <p:nvPr/>
        </p:nvSpPr>
        <p:spPr>
          <a:xfrm>
            <a:off x="4613800" y="2382805"/>
            <a:ext cx="4465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Cherny almost always starts in Plan Mode (accessed by pressing Shift+Tab twice) to iterate on a solid plan before writing code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Once the plan is good, he switches to "accept edits on" mode and lets Claude execute the entire implementation in one shot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approach significantly improves results compared to jumping straight into coding</a:t>
            </a:r>
            <a:endParaRPr sz="1200">
              <a:latin typeface="Calibri"/>
              <a:ea typeface="Calibri"/>
              <a:cs typeface="Calibri"/>
              <a:sym typeface="Calibri"/>
            </a:endParaRPr>
          </a:p>
        </p:txBody>
      </p:sp>
      <p:sp>
        <p:nvSpPr>
          <p:cNvPr id="281" name="Google Shape;281;p33"/>
          <p:cNvSpPr txBox="1"/>
          <p:nvPr/>
        </p:nvSpPr>
        <p:spPr>
          <a:xfrm>
            <a:off x="4613800" y="3573023"/>
            <a:ext cx="4465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Verification and Quality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most important factor for quality is giving Claude a way to verify its own work, which can improve quality 2-3×.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For example, Claude uses a Chrome extension to test UI changes and ensure the user experience feels good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self-verification capability combined with the continuously improving CLAUDE.md file creates a workflow where the system gets smarter over time</a:t>
            </a:r>
            <a:endParaRPr sz="12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4"/>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Google's Gemini CLI - Agent Skills </a:t>
            </a:r>
            <a:endParaRPr sz="2000" b="1" i="0" u="none" strike="noStrike" cap="none">
              <a:solidFill>
                <a:schemeClr val="dk1"/>
              </a:solidFill>
              <a:latin typeface="Calibri"/>
              <a:ea typeface="Calibri"/>
              <a:cs typeface="Calibri"/>
              <a:sym typeface="Calibri"/>
            </a:endParaRPr>
          </a:p>
        </p:txBody>
      </p:sp>
      <p:sp>
        <p:nvSpPr>
          <p:cNvPr id="287" name="Google Shape;287;p34"/>
          <p:cNvSpPr txBox="1"/>
          <p:nvPr/>
        </p:nvSpPr>
        <p:spPr>
          <a:xfrm>
            <a:off x="55075" y="437461"/>
            <a:ext cx="4465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Google's Gemini CLI version 0.23.0 introduced experimental support for Agent Skills, following Anthropic's earlier implementation of the same feature for Claude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update enables the terminal-based AI agent to dynamically load specialized expertise for specific tasks without cluttering the context window</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Agent Skills allow users to extend Gemini CLI with modular, task-specific capabilities including specialized expertise, procedural workflows, and domain-specific resources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Skills are discovered from three tiers: </a:t>
            </a:r>
            <a:br>
              <a:rPr lang="en" sz="1200">
                <a:latin typeface="Calibri"/>
                <a:ea typeface="Calibri"/>
                <a:cs typeface="Calibri"/>
                <a:sym typeface="Calibri"/>
              </a:rPr>
            </a:br>
            <a:r>
              <a:rPr lang="en" sz="1200">
                <a:latin typeface="Calibri"/>
                <a:ea typeface="Calibri"/>
                <a:cs typeface="Calibri"/>
                <a:sym typeface="Calibri"/>
              </a:rPr>
              <a:t>.. project-level (`.gemini/skills/`), </a:t>
            </a:r>
            <a:br>
              <a:rPr lang="en" sz="1200">
                <a:latin typeface="Calibri"/>
                <a:ea typeface="Calibri"/>
                <a:cs typeface="Calibri"/>
                <a:sym typeface="Calibri"/>
              </a:rPr>
            </a:br>
            <a:r>
              <a:rPr lang="en" sz="1200">
                <a:latin typeface="Calibri"/>
                <a:ea typeface="Calibri"/>
                <a:cs typeface="Calibri"/>
                <a:sym typeface="Calibri"/>
              </a:rPr>
              <a:t>.. user-level (`~/.gemini/skills/`),</a:t>
            </a:r>
            <a:br>
              <a:rPr lang="en" sz="1200">
                <a:latin typeface="Calibri"/>
                <a:ea typeface="Calibri"/>
                <a:cs typeface="Calibri"/>
                <a:sym typeface="Calibri"/>
              </a:rPr>
            </a:br>
            <a:r>
              <a:rPr lang="en" sz="1200">
                <a:latin typeface="Calibri"/>
                <a:ea typeface="Calibri"/>
                <a:cs typeface="Calibri"/>
                <a:sym typeface="Calibri"/>
              </a:rPr>
              <a:t>.. and extension-bundled skills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To enable the feature, users must install the preview build (`npm install -g @google/gemini-cli@preview`), activate it in `/settings`, and toggle the experimental skills option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Skills can be managed via the `/skills` command to list, enable, disable, or reload available capabilities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release also includes full integration of Gemini Conductor, which brings context-driven development by storing project context in persistent markdown files alongside code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https://www.youtube.com/watch?v=pK-EvgvR_ms</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88" name="Google Shape;288;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46175" y="695900"/>
            <a:ext cx="4318925" cy="21945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5"/>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a:t>
            </a:r>
            <a:endParaRPr sz="2000" b="1" i="0" u="none" strike="noStrike" cap="none">
              <a:solidFill>
                <a:schemeClr val="dk1"/>
              </a:solidFill>
              <a:latin typeface="Calibri"/>
              <a:ea typeface="Calibri"/>
              <a:cs typeface="Calibri"/>
              <a:sym typeface="Calibri"/>
            </a:endParaRPr>
          </a:p>
        </p:txBody>
      </p:sp>
      <p:sp>
        <p:nvSpPr>
          <p:cNvPr id="294" name="Google Shape;294;p35"/>
          <p:cNvSpPr txBox="1"/>
          <p:nvPr/>
        </p:nvSpPr>
        <p:spPr>
          <a:xfrm>
            <a:off x="55075" y="437461"/>
            <a:ext cx="4465200" cy="84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Oh My Open Code Framework</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https://github.com/code-yeongyu/oh-my-opencode</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https://www.youtube.com/watch?v=YuKUMEDGTF0</a:t>
            </a:r>
            <a:endParaRPr sz="9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Enhances the open-source AI coding agent OpenCode by adding advanced multi-agent orchestration capabilities</a:t>
            </a:r>
            <a:endParaRPr sz="12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6"/>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Rocket.new - text to app Framework</a:t>
            </a:r>
            <a:endParaRPr sz="2000" b="1" i="0" u="none" strike="noStrike" cap="none">
              <a:solidFill>
                <a:schemeClr val="dk1"/>
              </a:solidFill>
              <a:latin typeface="Calibri"/>
              <a:ea typeface="Calibri"/>
              <a:cs typeface="Calibri"/>
              <a:sym typeface="Calibri"/>
            </a:endParaRPr>
          </a:p>
        </p:txBody>
      </p:sp>
      <p:sp>
        <p:nvSpPr>
          <p:cNvPr id="300" name="Google Shape;300;p36"/>
          <p:cNvSpPr txBox="1"/>
          <p:nvPr/>
        </p:nvSpPr>
        <p:spPr>
          <a:xfrm>
            <a:off x="55075" y="477234"/>
            <a:ext cx="44652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Rocket.new - text to app Framework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Includes backend infrastructure, integrations, and deployment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"vibe solutioning" to transform single-sentence descriptions into working applications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Automatically handles database schema generation, authentication configuration, API endpoint creation, payment gateway integration, and cloud infrastructure provisioning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supports multiple AI models including OpenAI, Claude, Gemini, and Perplexity, allowing users to orchestrate different models within a single application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Generates clean React and Next.js code with TypeScript support, and can also build Flutter mobile apps that can be downloaded as APKs and installed directly on devices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All generated code is exportable and can be pushed to GitHub or self-hosted, giving users full ownership rather than locking them into a proprietary platform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platform includes over 100 structured commands that perform specific actions like adding Stripe payments or fixing layout issues. It integrates seamlessly with services including Supabase for databases, Stripe for payments, and Resend for email functionality. A Figma import feature translates design hierarchies into responsive, interactive components rather than just converting pixels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https://www.rocket.new</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https://www.youtube.com/watch?v=S2MP49Xr9PI</a:t>
            </a:r>
            <a:r>
              <a:rPr lang="en" sz="1200">
                <a:latin typeface="Calibri"/>
                <a:ea typeface="Calibri"/>
                <a:cs typeface="Calibri"/>
                <a:sym typeface="Calibri"/>
              </a:rPr>
              <a:t> </a:t>
            </a:r>
            <a:endParaRPr sz="1200">
              <a:latin typeface="Calibri"/>
              <a:ea typeface="Calibri"/>
              <a:cs typeface="Calibri"/>
              <a:sym typeface="Calibri"/>
            </a:endParaRPr>
          </a:p>
        </p:txBody>
      </p:sp>
      <p:sp>
        <p:nvSpPr>
          <p:cNvPr id="301" name="Google Shape;301;p36"/>
          <p:cNvSpPr txBox="1"/>
          <p:nvPr/>
        </p:nvSpPr>
        <p:spPr>
          <a:xfrm>
            <a:off x="4608625" y="1954734"/>
            <a:ext cx="4465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interface combines a chat window, live preview, visual editor, and code panel that sync in real-time, allowing users to interact at whichever layer they prefer. The platform also offers a mobile companion app for tracking builds and reviewing projects on the go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Rocket.new offers a free tier with 1 Mln tokens, though data may be used for training at this level.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Paid plans start at $25/month for the Personal plan with 5 million tokens, and $50/month for the Rocket plan with over 10 million tokens. Users can opt out of data training on paid plans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platform raised $15 million in seed funding led by Salesforce Ventures in September 2025, just three months after launching in beta. Since launch, it has attracted over 400,000 users across 180 countries, including more than 10,000 paid subscribers, and reached $4.5 million in annual recurring revenue. The company projects scaling to $20-25 million in revenue by year-end and $60-70 million by mid-2026</a:t>
            </a:r>
            <a:endParaRPr sz="1200">
              <a:latin typeface="Calibri"/>
              <a:ea typeface="Calibri"/>
              <a:cs typeface="Calibri"/>
              <a:sym typeface="Calibri"/>
            </a:endParaRPr>
          </a:p>
        </p:txBody>
      </p:sp>
      <p:pic>
        <p:nvPicPr>
          <p:cNvPr id="302" name="Google Shape;302;p36"/>
          <p:cNvPicPr preferRelativeResize="0"/>
          <p:nvPr/>
        </p:nvPicPr>
        <p:blipFill>
          <a:blip r:embed="rId5">
            <a:alphaModFix/>
          </a:blip>
          <a:stretch>
            <a:fillRect/>
          </a:stretch>
        </p:blipFill>
        <p:spPr>
          <a:xfrm>
            <a:off x="4608625" y="477225"/>
            <a:ext cx="2438400" cy="1257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7"/>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Julia McCoy - AI Business Model</a:t>
            </a:r>
            <a:endParaRPr sz="2000" b="1" i="0" u="none" strike="noStrike" cap="none">
              <a:solidFill>
                <a:schemeClr val="dk1"/>
              </a:solidFill>
              <a:latin typeface="Calibri"/>
              <a:ea typeface="Calibri"/>
              <a:cs typeface="Calibri"/>
              <a:sym typeface="Calibri"/>
            </a:endParaRPr>
          </a:p>
        </p:txBody>
      </p:sp>
      <p:sp>
        <p:nvSpPr>
          <p:cNvPr id="308" name="Google Shape;308;p37"/>
          <p:cNvSpPr txBox="1"/>
          <p:nvPr/>
        </p:nvSpPr>
        <p:spPr>
          <a:xfrm>
            <a:off x="55075" y="437461"/>
            <a:ext cx="44652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How AI Brings Me Customers on Autopilot (While I Sleep)</a:t>
            </a:r>
            <a:br>
              <a:rPr lang="en" sz="1200">
                <a:latin typeface="Calibri"/>
                <a:ea typeface="Calibri"/>
                <a:cs typeface="Calibri"/>
                <a:sym typeface="Calibri"/>
              </a:rPr>
            </a:br>
            <a:r>
              <a:rPr lang="en" sz="1200" b="1">
                <a:solidFill>
                  <a:srgbClr val="3C78D8"/>
                </a:solidFill>
                <a:latin typeface="Calibri"/>
                <a:ea typeface="Calibri"/>
                <a:cs typeface="Calibri"/>
                <a:sym typeface="Calibri"/>
              </a:rPr>
              <a:t>- by Julia McCoy</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https://www.youtube.com/watch?v=PbNdaP0szhw</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Julia McCoy demonstrates her AI-powered customer acquisition system that generates millions of impressions monthly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She uses </a:t>
            </a:r>
            <a:r>
              <a:rPr lang="en" sz="1200" b="1">
                <a:solidFill>
                  <a:srgbClr val="FF0000"/>
                </a:solidFill>
                <a:latin typeface="Calibri"/>
                <a:ea typeface="Calibri"/>
                <a:cs typeface="Calibri"/>
                <a:sym typeface="Calibri"/>
              </a:rPr>
              <a:t>Claude Projects to create YouTube scripts</a:t>
            </a:r>
            <a:r>
              <a:rPr lang="en" sz="1200">
                <a:latin typeface="Calibri"/>
                <a:ea typeface="Calibri"/>
                <a:cs typeface="Calibri"/>
                <a:sym typeface="Calibri"/>
              </a:rPr>
              <a:t>, then deploys an AI clone (</a:t>
            </a:r>
            <a:r>
              <a:rPr lang="en" sz="1200" b="1">
                <a:solidFill>
                  <a:srgbClr val="FF0000"/>
                </a:solidFill>
                <a:latin typeface="Calibri"/>
                <a:ea typeface="Calibri"/>
                <a:cs typeface="Calibri"/>
                <a:sym typeface="Calibri"/>
              </a:rPr>
              <a:t>HeyGen, ElevenLabs</a:t>
            </a:r>
            <a:r>
              <a:rPr lang="en" sz="1200">
                <a:latin typeface="Calibri"/>
                <a:ea typeface="Calibri"/>
                <a:cs typeface="Calibri"/>
                <a:sym typeface="Calibri"/>
              </a:rPr>
              <a:t>) to deliver content while a production team handles editing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Her strategy focuses exclusively on </a:t>
            </a:r>
            <a:r>
              <a:rPr lang="en" sz="1200" b="1">
                <a:solidFill>
                  <a:srgbClr val="FF0000"/>
                </a:solidFill>
                <a:latin typeface="Calibri"/>
                <a:ea typeface="Calibri"/>
                <a:cs typeface="Calibri"/>
                <a:sym typeface="Calibri"/>
              </a:rPr>
              <a:t>YouTube</a:t>
            </a:r>
            <a:r>
              <a:rPr lang="en" sz="1200">
                <a:latin typeface="Calibri"/>
                <a:ea typeface="Calibri"/>
                <a:cs typeface="Calibri"/>
                <a:sym typeface="Calibri"/>
              </a:rPr>
              <a:t>, publishing 3-4 long-form videos weekly, which are repurposed into </a:t>
            </a:r>
            <a:r>
              <a:rPr lang="en" sz="1200" b="1">
                <a:solidFill>
                  <a:srgbClr val="FF0000"/>
                </a:solidFill>
                <a:latin typeface="Calibri"/>
                <a:ea typeface="Calibri"/>
                <a:cs typeface="Calibri"/>
                <a:sym typeface="Calibri"/>
              </a:rPr>
              <a:t>shorts, tweets, LinkedIn posts, and emails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Her business model features a three-tier funnel: </a:t>
            </a:r>
            <a:br>
              <a:rPr lang="en" sz="1200">
                <a:latin typeface="Calibri"/>
                <a:ea typeface="Calibri"/>
                <a:cs typeface="Calibri"/>
                <a:sym typeface="Calibri"/>
              </a:rPr>
            </a:br>
            <a:r>
              <a:rPr lang="en" sz="1200">
                <a:latin typeface="Calibri"/>
                <a:ea typeface="Calibri"/>
                <a:cs typeface="Calibri"/>
                <a:sym typeface="Calibri"/>
              </a:rPr>
              <a:t>1. free YouTube content </a:t>
            </a:r>
            <a:br>
              <a:rPr lang="en" sz="1200">
                <a:latin typeface="Calibri"/>
                <a:ea typeface="Calibri"/>
                <a:cs typeface="Calibri"/>
                <a:sym typeface="Calibri"/>
              </a:rPr>
            </a:br>
            <a:r>
              <a:rPr lang="en" sz="1200">
                <a:latin typeface="Calibri"/>
                <a:ea typeface="Calibri"/>
                <a:cs typeface="Calibri"/>
                <a:sym typeface="Calibri"/>
              </a:rPr>
              <a:t>2. leads to a $250 AI training program (AI Labs)</a:t>
            </a:r>
            <a:br>
              <a:rPr lang="en" sz="1200">
                <a:latin typeface="Calibri"/>
                <a:ea typeface="Calibri"/>
                <a:cs typeface="Calibri"/>
                <a:sym typeface="Calibri"/>
              </a:rPr>
            </a:br>
            <a:r>
              <a:rPr lang="en" sz="1200">
                <a:latin typeface="Calibri"/>
                <a:ea typeface="Calibri"/>
                <a:cs typeface="Calibri"/>
                <a:sym typeface="Calibri"/>
              </a:rPr>
              <a:t>3. or $10,000 consulting services</a:t>
            </a:r>
            <a:br>
              <a:rPr lang="en" sz="1200">
                <a:latin typeface="Calibri"/>
                <a:ea typeface="Calibri"/>
                <a:cs typeface="Calibri"/>
                <a:sym typeface="Calibri"/>
              </a:rPr>
            </a:br>
            <a:r>
              <a:rPr lang="en" sz="1200">
                <a:latin typeface="Calibri"/>
                <a:ea typeface="Calibri"/>
                <a:cs typeface="Calibri"/>
                <a:sym typeface="Calibri"/>
              </a:rPr>
              <a:t>With 320,000 monthly YouTube views generating 1,500-2,000 email subscribers, she converts approximately 185 AI Labs sales and 6 consulting clients monthly, totaling around $106,000</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She employs a small team including video producers, community managers, and AI integrators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She spends just 12-17 hours weekly on strategic work while AI and her team handle execution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video provides a detailed roadmap for building a similar automated business system from scratch</a:t>
            </a:r>
            <a:endParaRPr sz="1200">
              <a:latin typeface="Calibri"/>
              <a:ea typeface="Calibri"/>
              <a:cs typeface="Calibri"/>
              <a:sym typeface="Calibri"/>
            </a:endParaRPr>
          </a:p>
        </p:txBody>
      </p:sp>
      <p:pic>
        <p:nvPicPr>
          <p:cNvPr id="309" name="Google Shape;309;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42725" y="734621"/>
            <a:ext cx="2711174" cy="1808974"/>
          </a:xfrm>
          <a:prstGeom prst="rect">
            <a:avLst/>
          </a:prstGeom>
          <a:noFill/>
          <a:ln w="9525" cap="flat" cmpd="sng">
            <a:solidFill>
              <a:srgbClr val="FF0000"/>
            </a:solidFill>
            <a:prstDash val="solid"/>
            <a:round/>
            <a:headEnd type="none" w="sm" len="sm"/>
            <a:tailEnd type="none" w="sm" len="sm"/>
          </a:ln>
        </p:spPr>
      </p:pic>
      <p:sp>
        <p:nvSpPr>
          <p:cNvPr id="310" name="Google Shape;310;p37"/>
          <p:cNvSpPr txBox="1"/>
          <p:nvPr/>
        </p:nvSpPr>
        <p:spPr>
          <a:xfrm>
            <a:off x="5989613" y="2691048"/>
            <a:ext cx="121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3C78D8"/>
                </a:solidFill>
                <a:latin typeface="Calibri"/>
                <a:ea typeface="Calibri"/>
                <a:cs typeface="Calibri"/>
                <a:sym typeface="Calibri"/>
              </a:rPr>
              <a:t>Julia McCoy</a:t>
            </a:r>
            <a:endParaRPr sz="12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8"/>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Create Content for for AI chat citations</a:t>
            </a:r>
            <a:endParaRPr sz="2000" b="1" i="0" u="none" strike="noStrike" cap="none">
              <a:solidFill>
                <a:schemeClr val="dk1"/>
              </a:solidFill>
              <a:latin typeface="Calibri"/>
              <a:ea typeface="Calibri"/>
              <a:cs typeface="Calibri"/>
              <a:sym typeface="Calibri"/>
            </a:endParaRPr>
          </a:p>
        </p:txBody>
      </p:sp>
      <p:sp>
        <p:nvSpPr>
          <p:cNvPr id="316" name="Google Shape;316;p38"/>
          <p:cNvSpPr txBox="1"/>
          <p:nvPr/>
        </p:nvSpPr>
        <p:spPr>
          <a:xfrm>
            <a:off x="55075" y="541759"/>
            <a:ext cx="4465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Optimizing for AI chat citations is becoming increasingly important alongside traditional Google SEO</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NotebookLM offers a powerful workflow for this purpose. This approach is often called "AI Search Engine Optimization" (AEO) or "Generative Engine Optimization" (GEO)</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NotebookLM serves as a research and content planning hub that helps you create citation-worthy content by analyzing what already works. The tool can simulate how AI systems select sources and references, making it valuable for understanding citation patterns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Once you create content - you can </a:t>
            </a:r>
            <a:r>
              <a:rPr lang="en" sz="1100" b="1">
                <a:solidFill>
                  <a:srgbClr val="FF0000"/>
                </a:solidFill>
                <a:latin typeface="Calibri"/>
                <a:ea typeface="Calibri"/>
                <a:cs typeface="Calibri"/>
                <a:sym typeface="Calibri"/>
              </a:rPr>
              <a:t>publish it to your actual website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core workflow involves uploading competitor content, top-ranking pages, and research materials into NotebookLM, which then analyzes patterns across these sources to identify what makes content "AI-friendly"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Since NotebookLM is built by Google and powered by Gemini, it understands how information should be structured to match search intent and AI citation preferences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Step-by-Step NotebookLM Strategy: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Research and upload sources - gather the top 10 ranking URLs for your target keyword and upload them to a new NotebookLM notebook. Include competitor articles, keyword research documents, and backlink data</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Analyze citation patterns - Ask NotebookLM to identify keyword clusters, search intent, content gaps, and structural patterns across all competitors. This reveals what attributes make content more likely to be cited by AI systems</a:t>
            </a:r>
            <a:endParaRPr sz="1100">
              <a:latin typeface="Calibri"/>
              <a:ea typeface="Calibri"/>
              <a:cs typeface="Calibri"/>
              <a:sym typeface="Calibri"/>
            </a:endParaRPr>
          </a:p>
        </p:txBody>
      </p:sp>
      <p:sp>
        <p:nvSpPr>
          <p:cNvPr id="317" name="Google Shape;317;p38"/>
          <p:cNvSpPr txBox="1"/>
          <p:nvPr/>
        </p:nvSpPr>
        <p:spPr>
          <a:xfrm>
            <a:off x="4608625" y="563329"/>
            <a:ext cx="44652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Generate optimized outlines - Request SEO content outlines that include title, meta description, headings, recommended word count, search intent, LSI keywords, and suggested external links. NotebookLM can create data tables comparing your content with competitors to identify missing subtopics and opportunities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Create structured content - Transfer your notebook to Gemini 3 to generate content optimized with real sources and contextual understanding. Request FAQ schema in JSON-LD format that you can embed directly into your pages for rich results eligibility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Key Principles for AI Citation Success</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Structured formatting - Use clear headings, bullet points, short paragraphs, and schema markup (Q&amp;A, HowTo, Article, FactCheck) to make content easily parsable</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Concise, direct answers - AI favors content that directly addresses user questions with factual utility and specificity</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Authority signals - Include citations, quotations from relevant sources, statistics, and references to authoritative sites</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Topic clusters - Build interconnected content clusters with strong internal linking that demonstrates topical authority</a:t>
            </a:r>
            <a:endParaRPr sz="1100">
              <a:latin typeface="Calibri"/>
              <a:ea typeface="Calibri"/>
              <a:cs typeface="Calibri"/>
              <a:sym typeface="Calibri"/>
            </a:endParaRPr>
          </a:p>
          <a:p>
            <a:pPr marL="4000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Freshness signals - Maintain publication dates, update timestamps, and temporal relevance markers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Research shows that retrieval-augmented AI systems like Perplexity achieve citation density 2-3 times higher than other models and prioritize structured, fresh content with clear source attribution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Interestingly, AI citations often come from pages ranking in positions 21 and lower, not just top-ranking results</a:t>
            </a:r>
            <a:endParaRPr sz="11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9"/>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23" name="Google Shape;323;p39"/>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24" name="Google Shape;324;p39"/>
          <p:cNvSpPr txBox="1"/>
          <p:nvPr/>
        </p:nvSpPr>
        <p:spPr>
          <a:xfrm>
            <a:off x="5144548" y="507700"/>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123K in 2025 (as of January 8,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25" name="Google Shape;325;p39"/>
          <p:cNvSpPr txBox="1"/>
          <p:nvPr/>
        </p:nvSpPr>
        <p:spPr>
          <a:xfrm>
            <a:off x="5162100" y="4133325"/>
            <a:ext cx="394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454 people laid off </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326" name="Google Shape;326;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2446575"/>
            <a:ext cx="5030177" cy="2628750"/>
          </a:xfrm>
          <a:prstGeom prst="rect">
            <a:avLst/>
          </a:prstGeom>
          <a:noFill/>
          <a:ln w="9525" cap="flat" cmpd="sng">
            <a:solidFill>
              <a:srgbClr val="FF0000"/>
            </a:solidFill>
            <a:prstDash val="solid"/>
            <a:round/>
            <a:headEnd type="none" w="sm" len="sm"/>
            <a:tailEnd type="none" w="sm" len="sm"/>
          </a:ln>
        </p:spPr>
      </p:pic>
      <p:pic>
        <p:nvPicPr>
          <p:cNvPr id="327" name="Google Shape;327;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20190"/>
            <a:ext cx="5030173" cy="187156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4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33" name="Google Shape;333;p40"/>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34" name="Google Shape;334;p40"/>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35" name="Google Shape;335;p4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36" name="Google Shape;336;p40"/>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37" name="Google Shape;337;p40"/>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1"/>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5609</Words>
  <Application>Microsoft Macintosh PowerPoint</Application>
  <PresentationFormat>On-screen Show (16:9)</PresentationFormat>
  <Paragraphs>566</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2</cp:revision>
  <dcterms:modified xsi:type="dcterms:W3CDTF">2026-01-09T05:45:12Z</dcterms:modified>
</cp:coreProperties>
</file>