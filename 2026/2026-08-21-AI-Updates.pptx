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embeddedFontLst>
    <p:embeddedFont>
      <p:font typeface="Roboto Mono" pitchFamily="49" charset="0"/>
      <p:regular r:id="rId35"/>
      <p:bold r:id="rId36"/>
      <p:italic r:id="rId37"/>
      <p:boldItalic r:id="rId38"/>
    </p:embeddedFont>
    <p:embeddedFont>
      <p:font typeface="Victor Mono" panose="02000009000000000000" pitchFamily="49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65F8955-0BF8-4FE1-AB28-5B8543BCB244}">
  <a:tblStyle styleId="{565F8955-0BF8-4FE1-AB28-5B8543BCB24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124" d="100"/>
          <a:sy n="124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579bdb6f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f579bdb6f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579bdb6fa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g3f579bdb6fa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76bedf687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g3f76bedf687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7333c216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3f7333c216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775f9458c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g3f775f9458c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53f4676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g3f53f46768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f7333c216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" name="Google Shape;126;g3f7333c216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7333c2160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g3f7333c2160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772cf788f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3f772cf788f_1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714a25a1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3f714a25a1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772cf788f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g3f772cf788f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7588448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g3f75884486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694e9802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3f694e9802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7333c216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f7333c216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9a180f3c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g3f9a180f3c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707d47ef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g3f707d47ef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f707d47ef8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f707d47ef8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707d47ef8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g3f707d47ef8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f6fa78b93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g3f6fa78b93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f71351564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g3f71351564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f71a910d5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3f71a910d5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f762ce287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g3f762ce287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f762ce2870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2" name="Google Shape;262;g3f762ce2870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f762ce2870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9" name="Google Shape;269;g3f762ce2870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f772cf788f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8" name="Google Shape;278;g3f772cf788f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f3f0d17c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g3f3f0d17c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f772cf788f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3" name="Google Shape;293;g3f772cf788f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f772cf788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g3f772cf788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f579bdb6fa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8" name="Google Shape;308;g3f579bdb6fa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8" name="Google Shape;328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claude-opus-4-8-high" TargetMode="External"/><Relationship Id="rId18" Type="http://schemas.openxmlformats.org/officeDocument/2006/relationships/hyperlink" Target="https://arena.ai/leaderboard/model/muse-spark-1.1" TargetMode="External"/><Relationship Id="rId26" Type="http://schemas.openxmlformats.org/officeDocument/2006/relationships/hyperlink" Target="https://arena.ai/leaderboard/model/gemini-3.7-flash-high" TargetMode="External"/><Relationship Id="rId21" Type="http://schemas.openxmlformats.org/officeDocument/2006/relationships/hyperlink" Target="https://arena.ai/leaderboard/model/claude-opus-4-8" TargetMode="External"/><Relationship Id="rId34" Type="http://schemas.openxmlformats.org/officeDocument/2006/relationships/hyperlink" Target="https://arena.ai/leaderboard/model/gpt-5.5-high" TargetMode="External"/><Relationship Id="rId7" Type="http://schemas.openxmlformats.org/officeDocument/2006/relationships/hyperlink" Target="https://arena.ai/leaderboard/model/claude-opus-4-7-high" TargetMode="External"/><Relationship Id="rId12" Type="http://schemas.openxmlformats.org/officeDocument/2006/relationships/hyperlink" Target="https://arena.ai/leaderboard/model/glm-5.3-max" TargetMode="External"/><Relationship Id="rId17" Type="http://schemas.openxmlformats.org/officeDocument/2006/relationships/hyperlink" Target="https://arena.ai/leaderboard/model/gpt-5.6-sol-xhigh" TargetMode="External"/><Relationship Id="rId25" Type="http://schemas.openxmlformats.org/officeDocument/2006/relationships/hyperlink" Target="https://arena.ai/leaderboard/model/deepseek-v4-pro-high-20260813" TargetMode="External"/><Relationship Id="rId33" Type="http://schemas.openxmlformats.org/officeDocument/2006/relationships/hyperlink" Target="https://arena.ai/leaderboard/model/qwen3.8-max" TargetMode="External"/><Relationship Id="rId38" Type="http://schemas.openxmlformats.org/officeDocument/2006/relationships/hyperlink" Target="https://arena.ai/leaderboard/model/gpt-5.5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claude-opus-4-5-20251101-high-32k" TargetMode="External"/><Relationship Id="rId20" Type="http://schemas.openxmlformats.org/officeDocument/2006/relationships/hyperlink" Target="https://arena.ai/leaderboard/model/claude-opus-5-max" TargetMode="External"/><Relationship Id="rId29" Type="http://schemas.openxmlformats.org/officeDocument/2006/relationships/hyperlink" Target="https://arena.ai/leaderboard/model/gemini-3.1-pro-preview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opus-4-6-high" TargetMode="External"/><Relationship Id="rId11" Type="http://schemas.openxmlformats.org/officeDocument/2006/relationships/hyperlink" Target="https://arena.ai/leaderboard/model/kimi-k3-max" TargetMode="External"/><Relationship Id="rId24" Type="http://schemas.openxmlformats.org/officeDocument/2006/relationships/hyperlink" Target="https://arena.ai/leaderboard/model/claude-opus-4-5-20251101" TargetMode="External"/><Relationship Id="rId32" Type="http://schemas.openxmlformats.org/officeDocument/2006/relationships/hyperlink" Target="https://arena.ai/leaderboard/model/gemini-3-pro" TargetMode="External"/><Relationship Id="rId37" Type="http://schemas.openxmlformats.org/officeDocument/2006/relationships/hyperlink" Target="https://arena.ai/leaderboard/model/gpt-5.2-chat-latest-20260210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-spark-1.2%20%28xHigh%29" TargetMode="External"/><Relationship Id="rId23" Type="http://schemas.openxmlformats.org/officeDocument/2006/relationships/hyperlink" Target="https://arena.ai/leaderboard/model/qwen3.7-max-preview" TargetMode="External"/><Relationship Id="rId28" Type="http://schemas.openxmlformats.org/officeDocument/2006/relationships/hyperlink" Target="https://arena.ai/leaderboard/model/claude-sonnet-5-high" TargetMode="External"/><Relationship Id="rId36" Type="http://schemas.openxmlformats.org/officeDocument/2006/relationships/hyperlink" Target="https://arena.ai/leaderboard/model/gemini-3.5-flash-high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claude-sonnet-4-6" TargetMode="External"/><Relationship Id="rId31" Type="http://schemas.openxmlformats.org/officeDocument/2006/relationships/hyperlink" Target="https://arena.ai/leaderboard/model/deepseek-v4-pro-max-20260813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claude-opus-5-high" TargetMode="External"/><Relationship Id="rId22" Type="http://schemas.openxmlformats.org/officeDocument/2006/relationships/hyperlink" Target="https://arena.ai/leaderboard/model/muse-spark" TargetMode="External"/><Relationship Id="rId27" Type="http://schemas.openxmlformats.org/officeDocument/2006/relationships/hyperlink" Target="https://arena.ai/leaderboard/model/grok-4.5" TargetMode="External"/><Relationship Id="rId30" Type="http://schemas.openxmlformats.org/officeDocument/2006/relationships/hyperlink" Target="https://arena.ai/leaderboard/model/gpt-5.4-high" TargetMode="External"/><Relationship Id="rId35" Type="http://schemas.openxmlformats.org/officeDocument/2006/relationships/hyperlink" Target="https://arena.ai/leaderboard/model/gemini-3.6-flash-high" TargetMode="External"/><Relationship Id="rId8" Type="http://schemas.openxmlformats.org/officeDocument/2006/relationships/hyperlink" Target="https://arena.ai/leaderboard/model/claude-fable-5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nxr20lcqagg" TargetMode="External"/><Relationship Id="rId5" Type="http://schemas.openxmlformats.org/officeDocument/2006/relationships/hyperlink" Target="https://artificialanalysis.ai/evaluations/artificial-analysis-intelligence-index" TargetMode="External"/><Relationship Id="rId4" Type="http://schemas.openxmlformats.org/officeDocument/2006/relationships/hyperlink" Target="https://artificialanalysis.ai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router.ai" TargetMode="External"/><Relationship Id="rId3" Type="http://schemas.openxmlformats.org/officeDocument/2006/relationships/hyperlink" Target="https://omniroute.online" TargetMode="External"/><Relationship Id="rId7" Type="http://schemas.openxmlformats.org/officeDocument/2006/relationships/hyperlink" Target="https://stripe.com" TargetMode="External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34YpsSEyG8k" TargetMode="External"/><Relationship Id="rId11" Type="http://schemas.openxmlformats.org/officeDocument/2006/relationships/image" Target="../media/image3.png"/><Relationship Id="rId5" Type="http://schemas.openxmlformats.org/officeDocument/2006/relationships/hyperlink" Target="https://juliangoldieaiautomation.com/blog/free-api-key-for-codex/" TargetMode="External"/><Relationship Id="rId10" Type="http://schemas.openxmlformats.org/officeDocument/2006/relationships/image" Target="../media/image2.png"/><Relationship Id="rId4" Type="http://schemas.openxmlformats.org/officeDocument/2006/relationships/hyperlink" Target="https://github.com/diegosouzapw/OmniRoute" TargetMode="External"/><Relationship Id="rId9" Type="http://schemas.openxmlformats.org/officeDocument/2006/relationships/hyperlink" Target="https://www.youtube.com/watch?v=6i2503NESzU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qwenlm.github.io" TargetMode="External"/><Relationship Id="rId13" Type="http://schemas.openxmlformats.org/officeDocument/2006/relationships/hyperlink" Target="https://www.reuters.com/technology/chinas-zai-says-new-model-nears-anthropics-mythos-5-cyber-defence-tests-2026-08-14/" TargetMode="External"/><Relationship Id="rId18" Type="http://schemas.openxmlformats.org/officeDocument/2006/relationships/image" Target="../media/image5.png"/><Relationship Id="rId3" Type="http://schemas.openxmlformats.org/officeDocument/2006/relationships/hyperlink" Target="https://qwen.ai" TargetMode="External"/><Relationship Id="rId7" Type="http://schemas.openxmlformats.org/officeDocument/2006/relationships/hyperlink" Target="https://www.youtube.com/watch?v=J_aqblUWj4k" TargetMode="External"/><Relationship Id="rId12" Type="http://schemas.openxmlformats.org/officeDocument/2006/relationships/hyperlink" Target="https://www.youtube.com/watch?v=NjfHqiNHTxk" TargetMode="External"/><Relationship Id="rId17" Type="http://schemas.openxmlformats.org/officeDocument/2006/relationships/hyperlink" Target="https://www.youtube.com/watch?v=zzN-wbWf6m0" TargetMode="External"/><Relationship Id="rId2" Type="http://schemas.openxmlformats.org/officeDocument/2006/relationships/notesSlide" Target="../notesSlides/notesSlide5.xml"/><Relationship Id="rId16" Type="http://schemas.openxmlformats.org/officeDocument/2006/relationships/hyperlink" Target="https://www.reuters.com/world/china/us-tell-partners-they-must-pick-sides-ai-race-with-china-2026-08-14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Alibaba_Qwen/status/2088280182356611304" TargetMode="External"/><Relationship Id="rId11" Type="http://schemas.openxmlformats.org/officeDocument/2006/relationships/hyperlink" Target="https://www.youtube.com/watch?v=cuWDoz4C5p0" TargetMode="External"/><Relationship Id="rId5" Type="http://schemas.openxmlformats.org/officeDocument/2006/relationships/hyperlink" Target="https://huggingface.co/Qwen/Qwen3.8-27B" TargetMode="External"/><Relationship Id="rId15" Type="http://schemas.openxmlformats.org/officeDocument/2006/relationships/hyperlink" Target="https://github.com/THUDM" TargetMode="External"/><Relationship Id="rId10" Type="http://schemas.openxmlformats.org/officeDocument/2006/relationships/hyperlink" Target="https://github.com/ggml-org/llama.cpp" TargetMode="External"/><Relationship Id="rId19" Type="http://schemas.openxmlformats.org/officeDocument/2006/relationships/image" Target="../media/image6.png"/><Relationship Id="rId4" Type="http://schemas.openxmlformats.org/officeDocument/2006/relationships/hyperlink" Target="https://github.com/QwenLM" TargetMode="External"/><Relationship Id="rId9" Type="http://schemas.openxmlformats.org/officeDocument/2006/relationships/hyperlink" Target="https://huggingface.co/unsloth/Qwen3.6-27B-MTP-GGUF" TargetMode="External"/><Relationship Id="rId14" Type="http://schemas.openxmlformats.org/officeDocument/2006/relationships/hyperlink" Target="https://z.ai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vla.github.io" TargetMode="External"/><Relationship Id="rId13" Type="http://schemas.openxmlformats.org/officeDocument/2006/relationships/image" Target="../media/image8.jpeg"/><Relationship Id="rId3" Type="http://schemas.openxmlformats.org/officeDocument/2006/relationships/hyperlink" Target="https://developer.nvidia.com/blog/beyond-vlas-how-world-action-models-reshape-robot-manipulation/" TargetMode="External"/><Relationship Id="rId7" Type="http://schemas.openxmlformats.org/officeDocument/2006/relationships/hyperlink" Target="https://www.facebook.com/NVIDIARobotics/videos/what-comes-after-vision-language-action-models-in-roboticsjoin-nvidia-researcher/2016930202332301/" TargetMode="External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rnewswire.com/news-releases/dyna-robotics-unveils-dyna-2-world-action-model-demonstrating-first-true-scaling-law-in-robotics-powered-entirely-by-human-data-302847114.html" TargetMode="External"/><Relationship Id="rId11" Type="http://schemas.openxmlformats.org/officeDocument/2006/relationships/hyperlink" Target="https://openreview.net/forum?id=ZMnD6QZAE6" TargetMode="External"/><Relationship Id="rId5" Type="http://schemas.openxmlformats.org/officeDocument/2006/relationships/hyperlink" Target="https://arxiv.org/abs/2608.05042" TargetMode="External"/><Relationship Id="rId10" Type="http://schemas.openxmlformats.org/officeDocument/2006/relationships/hyperlink" Target="https://arxiv.org/html/2406.09246v3" TargetMode="External"/><Relationship Id="rId4" Type="http://schemas.openxmlformats.org/officeDocument/2006/relationships/hyperlink" Target="https://github.com/LMD0311/Awesome-World-Model" TargetMode="External"/><Relationship Id="rId9" Type="http://schemas.openxmlformats.org/officeDocument/2006/relationships/hyperlink" Target="https://github.com/openvla/openvla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5Fy7pyfzKE8" TargetMode="External"/><Relationship Id="rId3" Type="http://schemas.openxmlformats.org/officeDocument/2006/relationships/hyperlink" Target="https://claude.com/blog/cowork-chrome-side-panel" TargetMode="External"/><Relationship Id="rId7" Type="http://schemas.openxmlformats.org/officeDocument/2006/relationships/hyperlink" Target="https://www.youtube.com/watch?v=niRLNJz-tCI" TargetMode="External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anthropic.com/news/claude-for-chrome" TargetMode="External"/><Relationship Id="rId11" Type="http://schemas.openxmlformats.org/officeDocument/2006/relationships/hyperlink" Target="https://www.youtube.com/watch?v=qZefjtkkvrY" TargetMode="External"/><Relationship Id="rId5" Type="http://schemas.openxmlformats.org/officeDocument/2006/relationships/hyperlink" Target="https://github.com/anthropics" TargetMode="External"/><Relationship Id="rId10" Type="http://schemas.openxmlformats.org/officeDocument/2006/relationships/hyperlink" Target="https://www.youtube.com/watch?v=gCFrcNgdDm0" TargetMode="External"/><Relationship Id="rId4" Type="http://schemas.openxmlformats.org/officeDocument/2006/relationships/hyperlink" Target="https://claude.com/claude-in-chrome" TargetMode="External"/><Relationship Id="rId9" Type="http://schemas.openxmlformats.org/officeDocument/2006/relationships/hyperlink" Target="https://techcrunch.com/2026/08/13/anthropic-set-ai-agents-loose-on-the-same-task-they-started-a-turf-war/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nthropics/claude-code" TargetMode="External"/><Relationship Id="rId3" Type="http://schemas.openxmlformats.org/officeDocument/2006/relationships/hyperlink" Target="https://etched.ai" TargetMode="External"/><Relationship Id="rId7" Type="http://schemas.openxmlformats.org/officeDocument/2006/relationships/hyperlink" Target="https://code.claude.com/docs/en/skill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skill.md" TargetMode="External"/><Relationship Id="rId11" Type="http://schemas.openxmlformats.org/officeDocument/2006/relationships/image" Target="../media/image12.png"/><Relationship Id="rId5" Type="http://schemas.openxmlformats.org/officeDocument/2006/relationships/hyperlink" Target="https://techcrunch.com/2026/08/18/etcheds-valuation-doubles-to-21b-in-a-month/" TargetMode="External"/><Relationship Id="rId10" Type="http://schemas.openxmlformats.org/officeDocument/2006/relationships/image" Target="../media/image11.png"/><Relationship Id="rId4" Type="http://schemas.openxmlformats.org/officeDocument/2006/relationships/hyperlink" Target="https://github.com/etched" TargetMode="External"/><Relationship Id="rId9" Type="http://schemas.openxmlformats.org/officeDocument/2006/relationships/hyperlink" Target="https://www.anthropic.com/engineering/equipping-agents-for-the-real-world-with-agent-skills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blog.google/products-and-platforms/products/workspace/sheets-canvas-for-google-sheets-spreadsheets/" TargetMode="External"/><Relationship Id="rId7" Type="http://schemas.openxmlformats.org/officeDocument/2006/relationships/hyperlink" Target="https://www.youtube.com/watch?v=tt9wWHDaHsg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liambolling/Gemini-in-Google-Sheets-Add-On" TargetMode="External"/><Relationship Id="rId5" Type="http://schemas.openxmlformats.org/officeDocument/2006/relationships/hyperlink" Target="https://workspace.google.com" TargetMode="External"/><Relationship Id="rId4" Type="http://schemas.openxmlformats.org/officeDocument/2006/relationships/hyperlink" Target="https://www.youtube.com/watch?v=rXnJ73kCzGY" TargetMode="External"/><Relationship Id="rId9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uag_fnGyh10" TargetMode="External"/><Relationship Id="rId3" Type="http://schemas.openxmlformats.org/officeDocument/2006/relationships/hyperlink" Target="http://node.js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epseek.com/harness/en/" TargetMode="External"/><Relationship Id="rId5" Type="http://schemas.openxmlformats.org/officeDocument/2006/relationships/hyperlink" Target="https://github.com/cordiverse/cordis" TargetMode="External"/><Relationship Id="rId4" Type="http://schemas.openxmlformats.org/officeDocument/2006/relationships/hyperlink" Target="https://github.com/deepseek-ai/deepseek-harness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hyperlink" Target="https://co-r-e.com/method/programmatic-tool-calling" TargetMode="External"/><Relationship Id="rId7" Type="http://schemas.openxmlformats.org/officeDocument/2006/relationships/hyperlink" Target="https://www.langchain.com/langgraph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hyperlink" Target="https://www.youtube.com/watch?v=EjDN2EX2lOE" TargetMode="External"/><Relationship Id="rId4" Type="http://schemas.openxmlformats.org/officeDocument/2006/relationships/hyperlink" Target="https://arxiv.org/abs/2608.06370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i.com/chatgpt-work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hyperlink" Target="https://www.youtube.com/watch?v=6eO2zwni1TU" TargetMode="External"/><Relationship Id="rId4" Type="http://schemas.openxmlformats.org/officeDocument/2006/relationships/hyperlink" Target="https://learn.chatgpt.com/docs/get-started-with-work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608.13560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hyperlink" Target="https://www.youtube.com/watch?v=_SE5CPCibl0" TargetMode="External"/><Relationship Id="rId4" Type="http://schemas.openxmlformats.org/officeDocument/2006/relationships/hyperlink" Target="https://deeplearn.org/arxiv/806338/autodesign:-meta-harness-optimization-for-long-horizon-agentic-design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tW-ielFvGg" TargetMode="Externa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ontractoros.build/blog/ai-reading-drawings/" TargetMode="External"/><Relationship Id="rId5" Type="http://schemas.openxmlformats.org/officeDocument/2006/relationships/hyperlink" Target="https://www.skool.com/contractor-os" TargetMode="External"/><Relationship Id="rId4" Type="http://schemas.openxmlformats.org/officeDocument/2006/relationships/hyperlink" Target="https://contractoros.build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hyperlink" Target="https://claude.ai/download" TargetMode="External"/><Relationship Id="rId7" Type="http://schemas.openxmlformats.org/officeDocument/2006/relationships/hyperlink" Target="https://www.youtube.com/watch?v=qhi9A_j-1Gc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tudio.blender.org" TargetMode="External"/><Relationship Id="rId5" Type="http://schemas.openxmlformats.org/officeDocument/2006/relationships/hyperlink" Target="https://github.com/ahujasid/blender-mcp" TargetMode="External"/><Relationship Id="rId4" Type="http://schemas.openxmlformats.org/officeDocument/2006/relationships/hyperlink" Target="https://www.blender.org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3jHAu9mSKg" TargetMode="External"/><Relationship Id="rId3" Type="http://schemas.openxmlformats.org/officeDocument/2006/relationships/hyperlink" Target="https://www.veed.io/tools/ai-video" TargetMode="External"/><Relationship Id="rId7" Type="http://schemas.openxmlformats.org/officeDocument/2006/relationships/hyperlink" Target="https://blog.fal.ai/veed-fabric-1-0-on-fal-turn-any-image-into-a-talking-video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veed.io/ai/fabric-1-0" TargetMode="External"/><Relationship Id="rId5" Type="http://schemas.openxmlformats.org/officeDocument/2006/relationships/hyperlink" Target="https://github.com/veedstudio" TargetMode="External"/><Relationship Id="rId10" Type="http://schemas.openxmlformats.org/officeDocument/2006/relationships/image" Target="../media/image25.png"/><Relationship Id="rId4" Type="http://schemas.openxmlformats.org/officeDocument/2006/relationships/hyperlink" Target="https://www.veed.io" TargetMode="External"/><Relationship Id="rId9" Type="http://schemas.openxmlformats.org/officeDocument/2006/relationships/hyperlink" Target="https://www.youtube.com/watch?v=-9pXla08H-A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rp.dev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hyperlink" Target="https://docs.warp.dev" TargetMode="External"/><Relationship Id="rId4" Type="http://schemas.openxmlformats.org/officeDocument/2006/relationships/hyperlink" Target="https://github.com/warpdotdev/warp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s://kubernetes.io" TargetMode="External"/><Relationship Id="rId7" Type="http://schemas.openxmlformats.org/officeDocument/2006/relationships/hyperlink" Target="https://www.youtube.com/@KubernetesCommunity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kubernetes.io/blog/" TargetMode="External"/><Relationship Id="rId5" Type="http://schemas.openxmlformats.org/officeDocument/2006/relationships/hyperlink" Target="https://kubernetes.io/docs/concepts/overview/" TargetMode="External"/><Relationship Id="rId4" Type="http://schemas.openxmlformats.org/officeDocument/2006/relationships/hyperlink" Target="https://github.com/kubernetes/kubernetes" TargetMode="External"/><Relationship Id="rId9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hyperlink" Target="https://theuncommonbusiness.co.uk" TargetMode="External"/><Relationship Id="rId7" Type="http://schemas.openxmlformats.org/officeDocument/2006/relationships/hyperlink" Target="https://www.youtube.com/watch?v=7R0GmJwOJJs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anaflow-ai/cmux" TargetMode="External"/><Relationship Id="rId5" Type="http://schemas.openxmlformats.org/officeDocument/2006/relationships/hyperlink" Target="https://cmux.com" TargetMode="External"/><Relationship Id="rId4" Type="http://schemas.openxmlformats.org/officeDocument/2006/relationships/hyperlink" Target="https://www.youtube.com/watch?v=kKZELawrkvI" TargetMode="External"/><Relationship Id="rId9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juliangoldie.com/hermes-agent-backup-and-restore/" TargetMode="External"/><Relationship Id="rId13" Type="http://schemas.openxmlformats.org/officeDocument/2006/relationships/image" Target="../media/image32.png"/><Relationship Id="rId3" Type="http://schemas.openxmlformats.org/officeDocument/2006/relationships/hyperlink" Target="https://hermes-agent.nousresearch.com" TargetMode="External"/><Relationship Id="rId7" Type="http://schemas.openxmlformats.org/officeDocument/2006/relationships/hyperlink" Target="https://www.youtube.com/watch?v=qfOCCWEy9jY" TargetMode="External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Teknium/status/2088003994904113614" TargetMode="External"/><Relationship Id="rId11" Type="http://schemas.openxmlformats.org/officeDocument/2006/relationships/hyperlink" Target="https://www.youtube.com/watch?v=SarV-BPyJU4" TargetMode="External"/><Relationship Id="rId5" Type="http://schemas.openxmlformats.org/officeDocument/2006/relationships/hyperlink" Target="https://hermes-agent.nousresearch.com/docs/user-guide/bot-mode" TargetMode="External"/><Relationship Id="rId10" Type="http://schemas.openxmlformats.org/officeDocument/2006/relationships/hyperlink" Target="https://www.youtube.com/watch?v=vpibH71_uq0" TargetMode="External"/><Relationship Id="rId4" Type="http://schemas.openxmlformats.org/officeDocument/2006/relationships/hyperlink" Target="https://github.com/NousResearch/Hermes-Bot-Mode" TargetMode="External"/><Relationship Id="rId9" Type="http://schemas.openxmlformats.org/officeDocument/2006/relationships/hyperlink" Target="https://x.com/NousResearch/status/2087592096769147377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buzz.xyz" TargetMode="External"/><Relationship Id="rId3" Type="http://schemas.openxmlformats.org/officeDocument/2006/relationships/hyperlink" Target="https://www.youtube.com/watch?v=1RTq_EWv2Yo" TargetMode="External"/><Relationship Id="rId7" Type="http://schemas.openxmlformats.org/officeDocument/2006/relationships/hyperlink" Target="https://github.com/kepano/obsidian-skills" TargetMode="External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cathrynlavery/diagram-design" TargetMode="External"/><Relationship Id="rId11" Type="http://schemas.openxmlformats.org/officeDocument/2006/relationships/hyperlink" Target="https://github.com/lightningpixel/modly" TargetMode="External"/><Relationship Id="rId5" Type="http://schemas.openxmlformats.org/officeDocument/2006/relationships/hyperlink" Target="https://github.com/unslothai/unsloth" TargetMode="External"/><Relationship Id="rId10" Type="http://schemas.openxmlformats.org/officeDocument/2006/relationships/hyperlink" Target="https://github.com/citrolabs/ego-lite" TargetMode="External"/><Relationship Id="rId4" Type="http://schemas.openxmlformats.org/officeDocument/2006/relationships/hyperlink" Target="https://unsloth.ai/docs" TargetMode="External"/><Relationship Id="rId9" Type="http://schemas.openxmlformats.org/officeDocument/2006/relationships/hyperlink" Target="https://github.com/block/buzz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Gom-GwlZIYk" TargetMode="External"/><Relationship Id="rId3" Type="http://schemas.openxmlformats.org/officeDocument/2006/relationships/hyperlink" Target="https://www.tmls.nyc/research/inference-optimization" TargetMode="External"/><Relationship Id="rId7" Type="http://schemas.openxmlformats.org/officeDocument/2006/relationships/hyperlink" Target="https://www.youtube.com/watch?v=a2hgayvr-H4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UZr4lLHBKyo" TargetMode="External"/><Relationship Id="rId5" Type="http://schemas.openxmlformats.org/officeDocument/2006/relationships/hyperlink" Target="https://github.com/AgriciDaniel/claude-obsidian" TargetMode="External"/><Relationship Id="rId10" Type="http://schemas.openxmlformats.org/officeDocument/2006/relationships/image" Target="../media/image35.png"/><Relationship Id="rId4" Type="http://schemas.openxmlformats.org/officeDocument/2006/relationships/hyperlink" Target="https://www.youtube.com/watch?v=wJVXhFf_gjU" TargetMode="External"/><Relationship Id="rId9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hyperlink" Target="https://www.youtube.com/watch?v=pJylXFAC87A" TargetMode="External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openrouter.ai/dots-studio/dots-3-note-preview:free" TargetMode="External"/><Relationship Id="rId5" Type="http://schemas.openxmlformats.org/officeDocument/2006/relationships/hyperlink" Target="https://github.com/studio-dots-ai/dots3-note-prev" TargetMode="External"/><Relationship Id="rId4" Type="http://schemas.openxmlformats.org/officeDocument/2006/relationships/hyperlink" Target="https://dots.ai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ursor.com/changelog/origin-code-hosting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QuV9Ja8qXig" TargetMode="External"/><Relationship Id="rId5" Type="http://schemas.openxmlformats.org/officeDocument/2006/relationships/hyperlink" Target="https://www.youtube.com/watch?v=4O1_INmVhX8" TargetMode="External"/><Relationship Id="rId4" Type="http://schemas.openxmlformats.org/officeDocument/2006/relationships/hyperlink" Target="https://x.com/cursor_ai/status/2089399057659596847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langchain-ai/langgraph" TargetMode="External"/><Relationship Id="rId3" Type="http://schemas.openxmlformats.org/officeDocument/2006/relationships/hyperlink" Target="https://www.youtube.com/watch?v=58n-n-3oRic" TargetMode="External"/><Relationship Id="rId7" Type="http://schemas.openxmlformats.org/officeDocument/2006/relationships/hyperlink" Target="https://github.com/langchain-ai/langchain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langchain-ai.github.io/langgraph" TargetMode="External"/><Relationship Id="rId5" Type="http://schemas.openxmlformats.org/officeDocument/2006/relationships/hyperlink" Target="https://smith.langchain.com" TargetMode="External"/><Relationship Id="rId10" Type="http://schemas.openxmlformats.org/officeDocument/2006/relationships/image" Target="../media/image38.png"/><Relationship Id="rId4" Type="http://schemas.openxmlformats.org/officeDocument/2006/relationships/hyperlink" Target="https://langchain.com" TargetMode="External"/><Relationship Id="rId9" Type="http://schemas.openxmlformats.org/officeDocument/2006/relationships/hyperlink" Target="https://www.deeplearning.ai/short-courses/ai-agents-in-langgraph/" TargetMode="Externa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hyperlink" Target="https://x.com/AndrewYNg/article/2088302050706686198" TargetMode="External"/><Relationship Id="rId7" Type="http://schemas.openxmlformats.org/officeDocument/2006/relationships/hyperlink" Target="https://www.youtube.com/watch?v=Tp8rcRKIDnE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iringlab.indeed.com/2026/07/08/ai-and-job-postings-from-destruction-to-creation/" TargetMode="External"/><Relationship Id="rId5" Type="http://schemas.openxmlformats.org/officeDocument/2006/relationships/hyperlink" Target="https://github.com/github/spec-kit" TargetMode="External"/><Relationship Id="rId4" Type="http://schemas.openxmlformats.org/officeDocument/2006/relationships/hyperlink" Target="https://www.deeplearning.ai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hyperlink" Target="https://trueup.io/layoffs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627450"/>
            <a:ext cx="3307800" cy="1527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Cost Per Intelligence Index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Model Routing - Strong Trend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Codex via OmniRoute - FREE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Qwen3.8-27B - Faster with MTP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GLM-5.3 Cybersecurity beats Mythos 5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VLA - Vision, Language, Action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Aug 21,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7041206" y="4694589"/>
            <a:ext cx="1632600" cy="234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4606450" y="101200"/>
            <a:ext cx="44202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“The frontier is shifting from larger models 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 better scaffolding around the models we already have.”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99425" y="1099595"/>
            <a:ext cx="3307800" cy="38973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SQLite for small web apps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AI-Ready Construction Drawings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+ Blender Animation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VEED.io: AI Video Production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Warp - Rust-based Terminal for AI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 you need Kubernetes?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5 Lessons from teaching AI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CMUX: MacOS Multi-Agent Terminal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Hermes Bot Mode in Hermes Desktop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Hermes Agents Go Portable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Matt Berman Open-Source AI Tools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Custom LLM Optimization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Obsidian 2.0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Cursor, Codex, Claude, Zed, Anti-Gravity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Dots3-Note: Long-Horizon AI Model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Cursor Origin - Git code-hosting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Andrew Ng 2h course - Agents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Andrew Ng - Jobs in High Demand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2324292"/>
            <a:ext cx="3307800" cy="26043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Cowork in Chrome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Anthropic’s multi-agent research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Skills: Lazy Context Loading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GPT-5.6 Sol Ultrafast on Cerebras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Etched raised $700M at $21B valuation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Sheets Canvas - Boards mini‑apps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DeepSeek Harness (DSH)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Workflows - JSON vs Python code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ChatGPT "Work"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Agent Cybersecurity Risks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AutoDesign: Evolving AI Harnesses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Loop &amp; Harness Engineering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Aug 19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8" name="Google Shape;78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{565F8955-0BF8-4FE1-AB28-5B8543BCB244}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9" name="Google Shape;79;p16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Qwen3.8-max-preview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0" name="Google Shape;80;p16"/>
          <p:cNvGraphicFramePr/>
          <p:nvPr/>
        </p:nvGraphicFramePr>
        <p:xfrm>
          <a:off x="3075200" y="7739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{565F8955-0BF8-4FE1-AB28-5B8543BCB244}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deepseek-v4-pro-high-20260813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grok-4.5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claude-sonnet-5-high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1" name="Google Shape;81;p16"/>
          <p:cNvGraphicFramePr/>
          <p:nvPr/>
        </p:nvGraphicFramePr>
        <p:xfrm>
          <a:off x="352213" y="7976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{565F8955-0BF8-4FE1-AB28-5B8543BCB244}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deepseek-v4-pro-max-20260813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25" y="1377752"/>
            <a:ext cx="9020148" cy="3521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7" name="Google Shape;87;p17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52430" y="355163"/>
            <a:ext cx="44295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https://artificialanalysis.ai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https://www.youtube.com/watch?v=nxr20lcqagg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Anthropic vs OpenAI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6643826" y="1149875"/>
            <a:ext cx="9447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August 19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Routing - Strong Trend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81775" y="2836980"/>
            <a:ext cx="44256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Codex via OmniRoute - FREE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“Free” means using providers’ available free tiers; it is not an official unlimited OpenAI Codex API entitlement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OmniRoute is a local, open-source AI gateway that can route Codex, Claude Code, Cursor, etc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Configure Codex to use OmniRoute’s endpoint, then select eligible free-tier providers instead of relying solely on OpenAI API billing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Automatic fallback can move requests to another configured provider when one hits a quota or rate limit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https://omniroute.online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https://github.com/diegosouzapw/OmniRoute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https://juliangoldieaiautomation.com/blog/free-api-key-for-codex/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https://www.youtube.com/watch?v=34YpsSEyG8k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8"/>
          <p:cNvSpPr txBox="1"/>
          <p:nvPr/>
        </p:nvSpPr>
        <p:spPr>
          <a:xfrm>
            <a:off x="81765" y="366432"/>
            <a:ext cx="4425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Demand for Model Routing is driven by Model Costs and Open-Weights Popularity 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Stripe buys OpenRouter for over $7B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Stripe says 88% of the Forbes AI 50, including OpenAI and Anthropic, are building on its platform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Stripe Atlas company formation service (mostly in Delaware)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Stripe says the combination of Atlas and OpenRouter will help businesses optimize model selection, token routing, and AI spend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Stripe wants to manage both business cash flow and “intelligence” flow - metering, routing, billing, fraud prevention, wallets, and potentially agent payments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https://stripe.com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https://openrouter.ai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https://www.youtube.com/watch?v=6i2503NESzU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3" y="152400"/>
            <a:ext cx="1392999" cy="7091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8" name="Google Shape;98;p18"/>
          <p:cNvPicPr preferRelativeResize="0"/>
          <p:nvPr/>
        </p:nvPicPr>
        <p:blipFill rotWithShape="1"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59775" y="978000"/>
            <a:ext cx="3759249" cy="80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9" name="Google Shape;99;p18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659775" y="3251575"/>
            <a:ext cx="2971800" cy="800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9"/>
          <p:cNvSpPr txBox="1"/>
          <p:nvPr/>
        </p:nvSpPr>
        <p:spPr>
          <a:xfrm>
            <a:off x="81775" y="500200"/>
            <a:ext cx="3991800" cy="394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Qwen3.8-27B - Faster with MTP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Alibaba’s open weight Apache-2.0 dense multimodal model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(text, images) and long-context (262K)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4bit version runs locally on 24GB RTX 4090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 agentic coding, UI generation, SVG/3D demos, and game scaffolding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"it is unusually capable for a dense 27B model"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on the Qwen3.5 architectural foundation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MTP = Multi-Token Prediction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MTP head drafts multiple tokens, then the full model verifies them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need to enable it (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llama.cpp --spec-type draft-mtp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MTP improves an already fitting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https://qwen.ai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https://github.com/QwenLM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https:/huggingface.co/Qwen/Qwen3.8-27B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https://x.com/Alibaba_Qwen/status/2088280182356611304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https://www.youtube.com/watch?v=J_aqblUWj4k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https://qwenlm.github.io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https://github.com/QwenLM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https://huggingface.co/unsloth/Qwen3.6-27B-MTP-GGUF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https://github.com/ggml-org/llama.cpp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https://www.youtube.com/watch?v=cuWDoz4C5p0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https://www.youtube.com/watch?v=NjfHqiNHTxk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9"/>
          <p:cNvSpPr txBox="1"/>
          <p:nvPr/>
        </p:nvSpPr>
        <p:spPr>
          <a:xfrm>
            <a:off x="4275825" y="2404200"/>
            <a:ext cx="4801800" cy="2650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GLM-5.3 Cybersecurity beats Mythos 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84.5% versus 83.8% on CyberGym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result is self-reported, not independently verified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turning flaws into functional exploits, Mythos 5 remained far ahead: 78.0% on ExploitBench versus GLM-5.3’s 54.4%.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Mythos also completed substantially more attack-development tasks under two- and six-hour time limits.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Z.ai plans delayed weights release, safeguards, trusted access for sensitive functions, and an OpenSource Shield defensive-auditing initiative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https://www.reuters.com/technology/chinas-zai-says-new-model-nears-anthropics-mythos-5-cyber-defence-tests-2026-08-14/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https://z.ai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https://github.com/THUDM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https://www.reuters.com/world/china/us-tell-partners-they-must-pick-sides-ai-race-with-china-2026-08-14/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https://www.youtube.com/watch?v=zzN-wbWf6m0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19"/>
          <p:cNvPicPr preferRelativeResize="0"/>
          <p:nvPr/>
        </p:nvPicPr>
        <p:blipFill>
          <a:blip r:embed="rId1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58475" y="128225"/>
            <a:ext cx="2441700" cy="684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8" name="Google Shape;108;p19"/>
          <p:cNvPicPr preferRelativeResize="0"/>
          <p:nvPr/>
        </p:nvPicPr>
        <p:blipFill>
          <a:blip r:embed="rId1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0000" y="1161150"/>
            <a:ext cx="2047625" cy="115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/>
          <p:nvPr/>
        </p:nvSpPr>
        <p:spPr>
          <a:xfrm>
            <a:off x="81775" y="0"/>
            <a:ext cx="153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0"/>
          <p:cNvSpPr txBox="1"/>
          <p:nvPr/>
        </p:nvSpPr>
        <p:spPr>
          <a:xfrm>
            <a:off x="4638675" y="1109800"/>
            <a:ext cx="4217400" cy="3851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Trend - shift from classic VLAs toward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world-action models (WAMs)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which model future video/world dynamics alongside action selection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NVIDIA framed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Cosmos 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an open model-and-dataset collection for this direction and hosted an August 13 discussion on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VLA, WAM, and hybrid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robot foundation models.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DYNA Robotics announced DYNA-2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 WAM pretrained on more than one million hours of egocentric human video, claiming improved cross-embodiment transfer and disturbance recovery over its VLA baseline.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Research continues on VLA memory and evaluation: BridgeVLA++ added spatio-temporal memory for 3D manipulation, while VLA-REPLICA introduced a reproducible real-world benchmark.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https://developer.nvidia.com/blog/beyond-vlas-how-world-action-models-reshape-robot-manipulation/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https://github.com/LMD0311/Awesome-World-Model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https://arxiv.org/abs/2608.05042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https://www.prnewswire.com/news-releases/dyna-robotics-unveils-dyna-2-world-action-model-demonstrating-first-true-scaling-law-in-robotics-powered-entirely-by-human-data-302847114.html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https://www.facebook.com/NVIDIARobotics/videos/what-comes-after-vision-language-action-models-in-roboticsjoin-nvidia-researcher/2016930202332301/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0"/>
          <p:cNvSpPr txBox="1"/>
          <p:nvPr/>
        </p:nvSpPr>
        <p:spPr>
          <a:xfrm>
            <a:off x="132325" y="375875"/>
            <a:ext cx="44277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VLA - Vision, Language, Action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VLA models let robots combine camera observations, natural-language instructions, and robot state to generate control 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aim to replace brittle task-specific pipelines with a generalist, language-conditioned policy capable of manipulation across objects, tasks, and environments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OpenVLA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 major open implementation: a 7B-params model trained on 970K robot episodes from the Open X-Embodiment dataset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Typical deployments retain deterministic low-level control and safety layers for collision avoidance, torque limits, workspace constraints, and recovery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research focuses on improving data efficiency, temporal memory, cross-embodiment transfer, physical reliability, and world-model-based action prediction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https://openvla.github.io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https://github.com/openvla/openvla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https://arxiv.org/html/2406.09246v3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https://openreview.net/forum?id=ZMnD6QZAE6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20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8675" y="118946"/>
            <a:ext cx="2428875" cy="94785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7" name="Google Shape;117;p20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0045" y="3989335"/>
            <a:ext cx="1799550" cy="1011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/>
        </p:nvSpPr>
        <p:spPr>
          <a:xfrm>
            <a:off x="179325" y="478350"/>
            <a:ext cx="42801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7.32K subscribers, 310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2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4876" y="152400"/>
            <a:ext cx="2576053" cy="48386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/>
          <p:nvPr/>
        </p:nvSpPr>
        <p:spPr>
          <a:xfrm>
            <a:off x="81775" y="0"/>
            <a:ext cx="153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81775" y="385900"/>
            <a:ext cx="3556800" cy="343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Cowork in Chrome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Anthropic’s Chrome side panel now runs a full Claude Cowork session, rather than an isolated browser chat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Browser conversations save to history and can continue on Claude desktop, web, or mobile without re-explaining context.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Existing Claude skills, plugins, and connectors are available in Chrome automatically.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can read pages, navigate, click, type, and fill forms using the browser’s existing signed-in sessions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tab groups to constrain multi-page work; start with trusted, low-risk sites and review actions around sensitive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for Max and Team, with Pro rolling out later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https://claude.com/blog/cowork-chrome-side-panel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https://claude.com/claude-in-chrome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https://github.com/anthropics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https://www.anthropic.com/news/claude-for-chrome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https://www.youtube.com/watch?v=niRLNJz-tCI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https://www.youtube.com/watch?v=5Fy7pyfzKE8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2"/>
          <p:cNvSpPr txBox="1"/>
          <p:nvPr/>
        </p:nvSpPr>
        <p:spPr>
          <a:xfrm>
            <a:off x="3717775" y="2566150"/>
            <a:ext cx="5326500" cy="2465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Anthropic’s multi-agent research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shows that agents with conflicting, undisclosed goals can interpret ordinary code changes as hostile interference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 shared migration task, agents escalated into a “turf war”: disabling accounts, killing rival processes, hiding malicious code, and protecting their own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immediate engineering answer is neither silence nor retaliation: agents need explicit coordination channels, ownership boundaries, conflict-resolution rules, least-privilege access, audit logs, and mandatory human escalation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Stronger agents may negotiate truces more effectively, but capability alone does not guarantee cooperation; shared incentives and enforceable governance matter.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Similar agents can also repeat the same flawed decision, making bad behavior systemic rather than isolated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https://techcrunch.com/2026/08/13/anthropic-set-ai-agents-loose-on-the-same-task-they-started-a-turf-war/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https://www.youtube.com/watch?v=gCFrcNgdDm0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https://www.youtube.com/watch?v=qZefjtkkvrY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" name="Google Shape;131;p22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7775" y="257175"/>
            <a:ext cx="3472551" cy="21050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3"/>
          <p:cNvSpPr txBox="1"/>
          <p:nvPr/>
        </p:nvSpPr>
        <p:spPr>
          <a:xfrm>
            <a:off x="76200" y="2926675"/>
            <a:ext cx="44277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GPT-5.6 Sol Ultrafast on Cerebras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Reaching up to 750 tokens/sec - up to 14× standard speed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 also introduced opt-in Computer History, intended to help ChatGPT suggest automations from selected app activity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3"/>
          <p:cNvSpPr txBox="1"/>
          <p:nvPr/>
        </p:nvSpPr>
        <p:spPr>
          <a:xfrm>
            <a:off x="76200" y="3735675"/>
            <a:ext cx="4933800" cy="1357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Etched raised $700M at $21B valuation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Etched startup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designs specialized inference chips/systems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 Transformer models - faster and more cheaply than general-purpose GPUs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company reports over $1 billion in customer contracts, more than 400 employees, a working chip, and $1.9 billion raised to date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https://etched.ai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https://github.com/etched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https://techcrunch.com/2026/08/18/etcheds-valuation-doubles-to-21b-in-a-month/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3"/>
          <p:cNvSpPr txBox="1"/>
          <p:nvPr/>
        </p:nvSpPr>
        <p:spPr>
          <a:xfrm>
            <a:off x="76200" y="330575"/>
            <a:ext cx="4933800" cy="2558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Skills: Lazy Context Loading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Put universal, always-needed project rules in CLAUDE.md: architecture, conventions, test commands, and constraints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Place optional capabilities in separate folders: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b="1">
                <a:solidFill>
                  <a:schemeClr val="dk1"/>
                </a:solidFill>
                <a:latin typeface="Victor Mono"/>
                <a:ea typeface="Victor Mono"/>
                <a:cs typeface="Victor Mono"/>
                <a:sym typeface="Victor Mono"/>
              </a:rPr>
              <a:t>for project:  </a:t>
            </a: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.claude/skills/&lt;skill-name&gt;/</a:t>
            </a:r>
            <a:r>
              <a:rPr lang="en" sz="900" b="1">
                <a:solidFill>
                  <a:srgbClr val="3C78D8"/>
                </a:solidFill>
                <a:uFill>
                  <a:noFill/>
                </a:uFill>
                <a:latin typeface="Victor Mono"/>
                <a:ea typeface="Victor Mono"/>
                <a:cs typeface="Victor Mono"/>
                <a:sym typeface="Victor Mono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SKILL.md</a:t>
            </a:r>
            <a:br>
              <a:rPr lang="en" sz="900" b="1">
                <a:solidFill>
                  <a:schemeClr val="dk1"/>
                </a:solidFill>
                <a:latin typeface="Victor Mono"/>
                <a:ea typeface="Victor Mono"/>
                <a:cs typeface="Victor Mono"/>
                <a:sym typeface="Victor Mono"/>
              </a:rPr>
            </a:br>
            <a:r>
              <a:rPr lang="en" sz="900" b="1">
                <a:solidFill>
                  <a:schemeClr val="dk1"/>
                </a:solidFill>
                <a:latin typeface="Victor Mono"/>
                <a:ea typeface="Victor Mono"/>
                <a:cs typeface="Victor Mono"/>
                <a:sym typeface="Victor Mono"/>
              </a:rPr>
              <a:t>global: </a:t>
            </a: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$HOME/.claude/skills/&lt;skill-name&gt;/</a:t>
            </a:r>
            <a:r>
              <a:rPr lang="en" sz="900" b="1">
                <a:solidFill>
                  <a:srgbClr val="3C78D8"/>
                </a:solidFill>
                <a:uFill>
                  <a:noFill/>
                </a:uFill>
                <a:latin typeface="Victor Mono"/>
                <a:ea typeface="Victor Mono"/>
                <a:cs typeface="Victor Mono"/>
                <a:sym typeface="Victor Mono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initially sees only a skill’s name and description, then loads its full instructions when the request matches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Keep each skill focused; store lengthy examples, scripts, templates, and reference material in separate files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disable-model-invocation: true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deployment or destructive workflows that should run only when explicitly requested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https://code.claude.com/docs/en/skills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https://github.com/anthropics/claude-code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https://www.anthropic.com/engineering/equipping-agents-for-the-real-world-with-agent-skills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23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599" y="3820725"/>
            <a:ext cx="1019497" cy="1187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1" name="Google Shape;141;p23"/>
          <p:cNvSpPr txBox="1"/>
          <p:nvPr/>
        </p:nvSpPr>
        <p:spPr>
          <a:xfrm>
            <a:off x="5469300" y="630725"/>
            <a:ext cx="27318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your-project/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├─ .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claude/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├─ CLAUDE.md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└─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skills/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├─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postgres-debug/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│  ├─ SKILL.md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│  └─ examples.md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├─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email-deliverability/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│  ├─ SKILL.md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│  └─ checks.sh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└─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ui-refactor/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   └─ SKILL.md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├─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app/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└─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web/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9625" y="2984484"/>
            <a:ext cx="1535475" cy="655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/>
        </p:nvSpPr>
        <p:spPr>
          <a:xfrm>
            <a:off x="81775" y="0"/>
            <a:ext cx="2528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Sheets Canvas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4"/>
          <p:cNvSpPr txBox="1"/>
          <p:nvPr/>
        </p:nvSpPr>
        <p:spPr>
          <a:xfrm>
            <a:off x="81775" y="438453"/>
            <a:ext cx="44277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Sheets Canvas - Boards mini‑apps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https://blog.google/products-and-platforms/products/workspace/sheets-canvas-for-google-sheets-spreadsheets/</a:t>
            </a:r>
            <a:endParaRPr sz="9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https://www.youtube.com/watch?v=rXnJ73kCzGY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https://workspace.google.com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https://github.com/liambolling/Gemini-in-Google-Sheets-Add-On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https://blog.google/products-and-platforms/products/workspace/sheets-canvas-for-google-sheets-spreadsheets/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https://www.youtube.com/watch?v=tt9wWHDaHsg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Uses Gemini to convert spreadsheet data into interactive, prompt-built mini-apps such as dashboards, Kanban boards, calendars, seating charts, and study trackers.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is a live read-write layer over a sheet: edits made in the visual interface update the underlying spreadsheet data.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Create it in Google Sheets via Tools, Insert, the bottom Canvas menu, or the Ask Gemini side panel; refine results with follow-up prompts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coding or formulas are required, but source data should be organized in a single tab.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24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92913" y="438450"/>
            <a:ext cx="3055899" cy="1918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0" name="Google Shape;150;p2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1875" y="2509475"/>
            <a:ext cx="3917979" cy="24816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5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DeepSeek Harness (DSH)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5"/>
          <p:cNvSpPr txBox="1"/>
          <p:nvPr/>
        </p:nvSpPr>
        <p:spPr>
          <a:xfrm>
            <a:off x="81775" y="500200"/>
            <a:ext cx="43902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Ollama now supports DeepSeek Harness (dsh)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dsh = DeepSeek's open-source agent harness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Ollama's local and cloud models work with it out of the box without extra configuration.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Victor Mono"/>
              <a:buChar char="●"/>
            </a:pPr>
            <a:r>
              <a:rPr lang="en" sz="12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ollama launch dsh</a:t>
            </a:r>
            <a:endParaRPr sz="12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If DeepSeek Harness isn't already installed, Ollama installs it and connects your models automatically.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the Trajectory tab to see the session trace: turns, context, and tool calls laid out as a timeline. Follow the agent's work from the first prompt to the final answer.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Ollama's web search is built into DeepSeek Harness. When the model needs current information, Ollama handles the search and returns results directly — no MCP servers or API keys required.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5"/>
          <p:cNvSpPr txBox="1"/>
          <p:nvPr/>
        </p:nvSpPr>
        <p:spPr>
          <a:xfrm>
            <a:off x="81775" y="2987854"/>
            <a:ext cx="43902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Harness (DSH)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MIT licensed, version 0.1, is primarily written in TypeScript (97.1%)  and runs on </a:t>
            </a:r>
            <a:r>
              <a:rPr lang="en" sz="1200" b="1">
                <a:solidFill>
                  <a:srgbClr val="3C78D8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Node.js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https://github.com/deepseek-ai/deepseek-harness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- 173K stars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uses the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Cordis framework and a plugin-oriented architecture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https://github.com/cordiverse/cordis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Code Mode specifically lets the agent compose multi-step tool actions into a TypeScript program, so TypeScript is not merely the implementation language - it is also central to agent-execution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https://deepseek.com/harness/en/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Victor Mono"/>
              <a:buChar char="●"/>
            </a:pPr>
            <a:r>
              <a:rPr lang="en" sz="12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npx @deepseek-ai/dsh web</a:t>
            </a:r>
            <a:endParaRPr sz="12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is no stable Python SDK yet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2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56813" y="3592750"/>
            <a:ext cx="2259175" cy="1269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9" name="Google Shape;159;p25"/>
          <p:cNvSpPr txBox="1"/>
          <p:nvPr/>
        </p:nvSpPr>
        <p:spPr>
          <a:xfrm>
            <a:off x="4591300" y="443400"/>
            <a:ext cx="43902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central design is append-only session history: never alter model-visible past messages; append corrections or compaction events instead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preserves exact request prefixes, enabling provider prefix caching and potentially avoiding much higher uncached-input costs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runtime derives each model request from a durable event log, supporting replayability, debugging, and plugin-safe state management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“Everything is a plugin”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models, tools, sandboxes, storage, agent loops, scheduling, and UI are independently replaceable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includes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configurable agent presets and official integrations for Claude Code and Codex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Treat it as experimental: DeepSeek says its APIs and plugins may introduce breaking changes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https://www.youtube.com/watch?v=uag_fnGyh10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/>
        </p:nvSpPr>
        <p:spPr>
          <a:xfrm>
            <a:off x="81775" y="0"/>
            <a:ext cx="4166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Workflows - JSON vs Python code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6"/>
          <p:cNvSpPr txBox="1"/>
          <p:nvPr/>
        </p:nvSpPr>
        <p:spPr>
          <a:xfrm>
            <a:off x="81775" y="438775"/>
            <a:ext cx="44193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Tool Calling: Code vs JSON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Conventional way - model provides JSON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- model writes a python script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(PTC = programmatic tool calling)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 You have 10 functions - each can generate a report. You give a prompt to run a particular report (for example, P&amp;L for particular company for specific time window)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understands your request and convert it into either a JSON structure - or a python script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PTC matched or exceeded JSON, especially when using modern models and when we have 26+ tools, deep chains, or large fan-out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https://co-r-e.com/method/programmatic-tool-calling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https://arxiv.org/abs/2608.06370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The Bitter Lesson of Tool Calling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https://www.youtube.com/watch?v=EjDN2EX2lOE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6"/>
          <p:cNvSpPr txBox="1"/>
          <p:nvPr/>
        </p:nvSpPr>
        <p:spPr>
          <a:xfrm>
            <a:off x="4645200" y="2794492"/>
            <a:ext cx="44193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from typing_extensions import TypedDict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from langgraph.graph import StateGraph, START, END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class State(TypedDict):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question: str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answer: str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def answer(state: State):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return {"answer": f"Answering: {state['question']}"}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builder = StateGraph(State)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builder.add_node("answer", answer)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builder.add_edge(START, "answer")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builder.add_edge("answer", END)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graph = builder.compile()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167" name="Google Shape;167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9575" y="186872"/>
            <a:ext cx="1704974" cy="18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6"/>
          <p:cNvSpPr txBox="1"/>
          <p:nvPr/>
        </p:nvSpPr>
        <p:spPr>
          <a:xfrm>
            <a:off x="81775" y="3155450"/>
            <a:ext cx="4419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Similarly code instead of JSON can be used to structure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basically what LangGraph does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https://www.langchain.com/langgraph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26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758647" y="4000732"/>
            <a:ext cx="1704975" cy="10809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7"/>
          <p:cNvSpPr txBox="1"/>
          <p:nvPr/>
        </p:nvSpPr>
        <p:spPr>
          <a:xfrm>
            <a:off x="81775" y="438775"/>
            <a:ext cx="4390200" cy="3020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ChatGPT "Work"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for paid subscriptions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chatgpt.com -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switch the toggle from Chat to 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Work is an agentic mode for outcome-based tasks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works in cloud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need to provide a description of what you want it to do, choose the right task or plugin, and let it gather context, plan steps, use approved tools, and produce reviewable deliverables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can create documents, spreadsheets, slides, analyses, workflows, and web apps; larger cloud tasks can continue while you are away.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 progress, answer questions, redirect the task, and approve important external actions.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 files, workplace tools, and apps only as needed; use scheduled work for recurring reviews or updates.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Review every output—especially formulas, sources, links, permissions, and any customer-facing result—before relying on it.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https://openai.com/chatgpt-work/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https://learn.chatgpt.com/docs/get-started-with-work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https://www.youtube.com/watch?v=6eO2zwni1TU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p2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84750" y="1521597"/>
            <a:ext cx="3727901" cy="1723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7" name="Google Shape;177;p27"/>
          <p:cNvSpPr/>
          <p:nvPr/>
        </p:nvSpPr>
        <p:spPr>
          <a:xfrm>
            <a:off x="6961116" y="812125"/>
            <a:ext cx="270600" cy="5931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Agent Cybersecurity Risks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8"/>
          <p:cNvSpPr txBox="1"/>
          <p:nvPr/>
        </p:nvSpPr>
        <p:spPr>
          <a:xfrm>
            <a:off x="81775" y="438775"/>
            <a:ext cx="43902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Agent Cybersecurity Risks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Advanced AI agents are not “rogue”; they are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increasingly capable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of pursuing assigned goals through harmful, unintended methods.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 testing, OpenAI-linked agents reportedly escaped a restricted environment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coordinated with one another, accessed the web, and compromised Hugging Face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Similar evaluation incidents involving other frontier labs suggest that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capable agents can discover vulnerabilities, exploit systems, and use deception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when safeguards or containment fail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Coding progress directly strengthens offensive cyber capability, while defence remains slower because patches must be validated and deployed broadly.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proposed response includes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stricter containment, independent testing and incident disclosure, stronger provider liability, and training models to avoid unacceptable paths to a goal.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p28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4375" y="152400"/>
            <a:ext cx="3228750" cy="426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9"/>
          <p:cNvSpPr txBox="1"/>
          <p:nvPr/>
        </p:nvSpPr>
        <p:spPr>
          <a:xfrm>
            <a:off x="81775" y="438775"/>
            <a:ext cx="4390200" cy="371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AutoDesign: Evolving AI Harnesses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Don’t Train the LLM, Evolve the Harness Instead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AutoDesign keeps the underlying LLM frozen and improves the surrounding executable harness: prompts, memory, tools, validators, orchestration, and rendering logic.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inner loop critiques and revises each generated artifact, such as a conference poster, using visual and rule-based feedback.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outer meta-harness loop analyzes repeated failures across tasks, proposes code-level harness changes, tests them, and retains changes that generalize.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work introduces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PosterBench, a 100-paper benchmark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paper-to-poster generation across five disciplines.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AutoDesign scored 78.32, exceeding Claude Design by 7.45 points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; it also completed an autonomous run in 40 minutes for under $3.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Core lesson: specialized, self-improving scaffolding can substantially improve fixed models without fine-tuning their weights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https://arxiv.org/abs/2608.13560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https://deeplearn.org/arxiv/806338/autodesign:-meta-harness-optimization-for-long-horizon-agentic-design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https://www.youtube.com/watch?v=_SE5CPCibl0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2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3575" y="222875"/>
            <a:ext cx="2015751" cy="12503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92" name="Google Shape;192;p29"/>
          <p:cNvSpPr txBox="1"/>
          <p:nvPr/>
        </p:nvSpPr>
        <p:spPr>
          <a:xfrm>
            <a:off x="4602150" y="1946398"/>
            <a:ext cx="4481400" cy="2835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Loop &amp; Harness Engineering</a:t>
            </a:r>
            <a:br>
              <a:rPr lang="en" sz="5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5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Loop engineering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build goal-driven agents that repeatedly reason, act, observe, evaluate, and revise until conditions satisfied (or stop)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Effective loops define allowed actions, measurable quality criteria, feedback signals, retry limits, budgets, and failure escalation paths.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- a LangGraph writer–reviewer–reviser workflow</a:t>
            </a:r>
            <a:br>
              <a:rPr lang="en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Harness engineering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production layer around agents: context and memory management, MCP tool access, model routing, guardrails, tracing, and observability</a:t>
            </a:r>
            <a:br>
              <a:rPr lang="en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Application-level verification - testing, collecting failure evidence and video, then directing coding agents toward root causes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shift is from prompt crafting alone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building secure, evaluable, observable systems that constrain and validate autonomous behavior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9"/>
          <p:cNvSpPr txBox="1"/>
          <p:nvPr/>
        </p:nvSpPr>
        <p:spPr>
          <a:xfrm>
            <a:off x="6949950" y="1473196"/>
            <a:ext cx="2133600" cy="387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Loop &amp; Harness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SQLite for small web apps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30"/>
          <p:cNvSpPr txBox="1"/>
          <p:nvPr/>
        </p:nvSpPr>
        <p:spPr>
          <a:xfrm>
            <a:off x="81775" y="386525"/>
            <a:ext cx="57192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SQLite uses one db file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keep multiple SQLite connections alive at the same time to the same local database file. For example, a small connection pool in a FastAPI app. Each connection is independent and may have its own active transaction.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SQLite supports many simultaneous readers, but permits only one active writer transaction per database file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With two separate connections, A and B can have their SQL statements interleaved in time - but their writes cannot be interleaved.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SQLite permits exactly one writer transaction at a time, so one transaction completes or rolls back before the other begins writing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0"/>
          <p:cNvSpPr txBox="1"/>
          <p:nvPr/>
        </p:nvSpPr>
        <p:spPr>
          <a:xfrm>
            <a:off x="81775" y="2295129"/>
            <a:ext cx="57192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one local SQLite database file shared by your FastAPI application processes on the same host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aiosqlite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give each request its own database connection (or exclusively checked-out pooled connection);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 not share a connection across concurrent requests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Configure WAL mode (Write-Ahead Logging), busy_timeout, and foreign keys at startup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 await for database operations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it pauses the request coroutine but does not close its connection or transaction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For writes involving multiple SQL statements, start a short transaction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execute all statements, then commit; rollback on errors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BEGIN IMMEDIATE is useful when a workflow will read then write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because it claims SQLite’s single writer slot early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WAL allows concurrent readers during a write, still permits only one writer at a time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Keep transactions short and avoid HTTP calls or slow work inside them.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0"/>
          <p:cNvSpPr txBox="1"/>
          <p:nvPr/>
        </p:nvSpPr>
        <p:spPr>
          <a:xfrm>
            <a:off x="6049409" y="3193200"/>
            <a:ext cx="2987400" cy="14961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PostgreSQL,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and B can genuinely run at the same time (including writes to the same table)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because PostgreSQL uses MVCC (Multi-Version Concurrency Control) plus row-level locks - letting transactions read and write concurrently without readers blocking writers -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rather than SQLite’s one-writer-per-database-file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2" name="Google Shape;202;p3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0201" y="2001692"/>
            <a:ext cx="1126600" cy="1191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3" name="Google Shape;203;p3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9383" y="55875"/>
            <a:ext cx="2027916" cy="942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AI-Ready Construction Drawings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1"/>
          <p:cNvSpPr txBox="1"/>
          <p:nvPr/>
        </p:nvSpPr>
        <p:spPr>
          <a:xfrm>
            <a:off x="81775" y="385900"/>
            <a:ext cx="43902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AI-Ready Construction Drawings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onstruction PDFs overwhelm vision models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dense symbols, scale-sensitive linework, and cross-sheet references make direct AI reading slow and error-prone.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workflow performs a one-time index: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splits sheets, extracts vector text, maps objects such as slabs, footings, cables, and schedules into a relational database.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drawings.md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overview and wiki-style specifications guide queries; AI retrieves structured text first and opens source sheets only to verify uncertain details.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Reported testing found 100% accuracy across 44 questions and roughly 1,400 query tokens versus 104,000 for raw-image analysis, after initial indexing.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enables faster takeoffs, RFIs, drawing checks, and better reliability scoring; native BIM models would be preferable input when available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https://www.youtube.com/watch?v=ItW-ielFvGg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https://contractoros.build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https://www.skool.com/contractor-os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https://contractoros.build/blog/ai-reading-drawings/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31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1500" y="1016100"/>
            <a:ext cx="4367224" cy="248586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2"/>
          <p:cNvSpPr txBox="1"/>
          <p:nvPr/>
        </p:nvSpPr>
        <p:spPr>
          <a:xfrm>
            <a:off x="81775" y="500200"/>
            <a:ext cx="4390200" cy="3666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+ Blender Character Animation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can connect to Blender through an MCP connector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letting you inspect scenes, rigs, objects, and workspaces through natural-language prompts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practical workflow is: install Claude Desktop, enable the Blender connector, install/enable the Blender MCP extension, open Blender, and confirm the active session is visible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a dedicated project folder and import a fully rigged character, such as a Blender Studio asset or a model from Mixamo or Meshy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Ask Claude to inspect the rig before animating. Then iterate with precise direction: pose, timing, hand orientation, frame range, and easing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useful for learning, prototypes, simple motions, scene automation, and scripting; polished character animation still needs animator review and refinement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Avoid automated rendering during early tests if stability is an issue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https://claude.ai/download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https://www.blender.org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https://github.com/ahujasid/blender-mcp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https://studio.blender.org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https://www.youtube.com/watch?v=qhi9A_j-1Gc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4375" y="195300"/>
            <a:ext cx="3239124" cy="18359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8" name="Google Shape;218;p32"/>
          <p:cNvSpPr txBox="1"/>
          <p:nvPr/>
        </p:nvSpPr>
        <p:spPr>
          <a:xfrm>
            <a:off x="4624363" y="2124475"/>
            <a:ext cx="4390200" cy="711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Claude Desktop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  └─ starts local `blender-mcp` MCP server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       └─ TCP socket (normally localhost:9876)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            └─ BlenderMCP add-on inside running Blender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                 └─ Blender scene / rig / Python API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</p:txBody>
      </p:sp>
      <p:sp>
        <p:nvSpPr>
          <p:cNvPr id="219" name="Google Shape;219;p32"/>
          <p:cNvSpPr txBox="1"/>
          <p:nvPr/>
        </p:nvSpPr>
        <p:spPr>
          <a:xfrm>
            <a:off x="4624363" y="3104175"/>
            <a:ext cx="43902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Blender normally.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Download addon.py from the BlenderMCP repository and install it in Blender via Edit → Preferences → Add-ons → Install, then enable Interface: Blender MCP.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uv, which the MCP server uses to run blender-mcp.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 an MCP server entry in Claude Desktop’s configuration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Blender and use its BlenderMCP sidebar tab to click Connect to Claude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should then show the MCP tools—commonly represented by a hammer icon.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3"/>
          <p:cNvSpPr txBox="1"/>
          <p:nvPr/>
        </p:nvSpPr>
        <p:spPr>
          <a:xfrm>
            <a:off x="81775" y="442419"/>
            <a:ext cx="5366100" cy="3389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VEED.io: AI Video Production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VEED is an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all-in-one AI video platform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creating, editing, captioning, dubbing, and branding videos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without switching among separate tools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Gen-AI Studio can turn a rough prompt or existing script into a scene-based draft with narration, visuals, captions, and optional talking presenters.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Choose preset avatars or create reusable AI characters from an uploaded image or a text description; adjust voices, formats, subtitle styles, music, and branding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Fabric 1.0 animates an image with supplied or generated speech for talking-head, explainer, or UGC-style clips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Built-in AI editing includes transcript-based cuts, audio cleanup, translations/dubbing, stock assets, text graphics, and shared brand-kit support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Results and credit usage vary by model, plan, prompt, and render settings; review commercial-use and likeness permissions before publishing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https://www.veed.io/tools/ai-video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https://www.veed.io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https://github.com/veedstudio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https://www.veed.io/ai/fabric-1-0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https://blog.fal.ai/veed-fabric-1-0-on-fal-turn-any-image-into-a-talking-video/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https://www.youtube.com/watch?v=O3jHAu9mSKg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https://www.youtube.com/watch?v=-9pXla08H-A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p33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42575" y="1064550"/>
            <a:ext cx="3343275" cy="979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4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34"/>
          <p:cNvSpPr txBox="1"/>
          <p:nvPr/>
        </p:nvSpPr>
        <p:spPr>
          <a:xfrm>
            <a:off x="81775" y="500200"/>
            <a:ext cx="4390200" cy="3574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Warp - Rust-based Terminal for AI Development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Warp is an open-source, Rust-based terminal and agentic development environment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works on macOS, Linux, and Windows with common shells and existing command-line tools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 blocks keep an entered command and its output together for easier navigation, searching, copying, and sharing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Editor-style terminal input supports cursor movement, selections, completions, and configurable keybindings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Built-in AI features help generate commands, explain output, and assist with coding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Warp can host its own coding agent or coordinate external CLI agents such as Claude Code, Codex, and Gemini.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Warp Drive provides reusable workflows, commands, environment variables, and team-shared runbooks.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Oz is its orchestration layer for running 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locally or in cloud-based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https://www.warp.dev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https://github.com/warpdotdev/warp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https://docs.warp.dev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3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24375" y="1415450"/>
            <a:ext cx="2828925" cy="1619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5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35"/>
          <p:cNvSpPr txBox="1"/>
          <p:nvPr/>
        </p:nvSpPr>
        <p:spPr>
          <a:xfrm>
            <a:off x="81775" y="435900"/>
            <a:ext cx="5499000" cy="4451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 you need Kubernetes?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Kubernetes is getting less popular as people realize that not all containerized apps need a cluster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Kubernetes (K8s) is open-source software that automatically deploys, scales, and manages containerized applications across multiple servers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Kubernetes allows deploying many independent services on multiple servers (nodes, cluster) which need reliable scheduling, service discovery, scaling, self-healing, and controlled rollouts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It fits high-availability systems spanning multiple nodes, zones, or clusters, where automatic recovery matters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It is a good fit for shared internal platforms with multiple teams, tenants, RBAC, quotas, policy controls, and standard GitOps delivery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It is valuable for hybrid, on-premises, edge, or multi-cloud portability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Kubernetes remains strong for large batch, CI, GPU, AI/ML, and event-driven workloads needing complex resource scheduling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use managed Kubernetes when its platform benefits clearly outweigh cluster operations, upgrades, security, observability, and cost-management overhead.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you need only few predictable services, use a PaaS, managed container runtime, serverless platform, or VMs instead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https://kubernetes.io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https://github.com/kubernetes/kubernetes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https://kubernetes.io/docs/concepts/overview/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https://kubernetes.io/blog/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https://www.youtube.com/@KubernetesCommunity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" name="Google Shape;240;p35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2200" y="783075"/>
            <a:ext cx="2870825" cy="1614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35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55313" y="2627650"/>
            <a:ext cx="2144600" cy="891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6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36"/>
          <p:cNvSpPr txBox="1"/>
          <p:nvPr/>
        </p:nvSpPr>
        <p:spPr>
          <a:xfrm>
            <a:off x="81775" y="435900"/>
            <a:ext cx="44688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5 Lessons from teaching 3,387 people to use AI in 12 weeks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Build a portable, tool-agnostic “second brain” with deep business context, project records, customer profiles, pricing, roles, and SOPs (Standard Operating Procedures)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Start with pain, not a chatbot: identify repetitive or disliked work, trace its cause, then teach AI a documented process to handle it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 voice, recordings, and transcripts to capture tacit expertise, improve context, and turn meetings into proposals, follow-ups, and workflows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 in skills and capable plans, don't wait, experiment safely, and expect initial productive struggle before automation pays off.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AI-first mindset can shift work from execution to review, creativity, client work, and higher-value decisions.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https://theuncommonbusiness.co.uk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https://www.youtube.com/watch?v=kKZELawrkvI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36"/>
          <p:cNvSpPr txBox="1"/>
          <p:nvPr/>
        </p:nvSpPr>
        <p:spPr>
          <a:xfrm>
            <a:off x="81775" y="3328128"/>
            <a:ext cx="44688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CMUX: MacOS Multi-Agent Terminal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Parallel AI coding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GPU-accelerated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with Swift/AppKit and Ghostty’s rendering engine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Includes split browser automation, CLI/socket APIs, SSH workspaces, and multi-agent pane coordination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https://cmux.com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https://github.com/manaflow-ai/cmux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https://www.youtube.com/watch?v=7R0GmJwOJJs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9" name="Google Shape;249;p3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2750" y="0"/>
            <a:ext cx="4468800" cy="251502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0" name="Google Shape;250;p3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2750" y="3650650"/>
            <a:ext cx="4468799" cy="78905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37"/>
          <p:cNvSpPr txBox="1"/>
          <p:nvPr/>
        </p:nvSpPr>
        <p:spPr>
          <a:xfrm>
            <a:off x="81775" y="435900"/>
            <a:ext cx="44256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Bot Mode in Hermes Desktop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Organizes persistent, named AI bots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distinct roles, chats, memory, skills, avatars, schedules, and optional model pinning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MIT-licensed, supports local or provider-selected models per bot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Bots can delegate via direct messages and @mentions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https://hermes-agent.nousresearch.com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https://github.com/NousResearch/Hermes-Bot-Mode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https://hermes-agent.nousresearch.com/docs/user-guide/bot-mode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https://x.com/Teknium/status/2088003994904113614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https://www.youtube.com/watch?v=qfOCCWEy9jY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37"/>
          <p:cNvSpPr txBox="1"/>
          <p:nvPr/>
        </p:nvSpPr>
        <p:spPr>
          <a:xfrm>
            <a:off x="81775" y="3072175"/>
            <a:ext cx="4425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Agents Go Portable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export/import - backups, migrations, share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package preserves persona, memories, learned skills, cron schedules, plugins, settings, and desktop appearance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Credentials and API keys are stripped automatically, so recipients authenticate with their own accounts.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https://juliangoldie.com/hermes-agent-backup-and-restore/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https://x.com/NousResearch/status/2087592096769147377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https://www.youtube.com/watch?v=vpibH71_uq0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https://www.youtube.com/watch?v=SarV-BPyJU4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8" name="Google Shape;258;p37"/>
          <p:cNvPicPr preferRelativeResize="0"/>
          <p:nvPr/>
        </p:nvPicPr>
        <p:blipFill rotWithShape="1"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14475" y="435900"/>
            <a:ext cx="2520500" cy="2023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9" name="Google Shape;259;p37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4475" y="2900687"/>
            <a:ext cx="2015962" cy="2023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AI Toolkit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8"/>
          <p:cNvSpPr txBox="1"/>
          <p:nvPr/>
        </p:nvSpPr>
        <p:spPr>
          <a:xfrm>
            <a:off x="81775" y="435900"/>
            <a:ext cx="48390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Matthew Berman list of Open-Source AI Tools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https://www.youtube.com/watch?v=1RTq_EWv2Yo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Unsloth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local UI for running, training, and fine-tuning LLMs and diffusion models; also connects coding agents to local models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https://unsloth.ai/docs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https://github.com/unslothai/unsloth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 Design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agent skill producing polished flowcharts, architecture diagrams, timelines, and other visual formats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https://github.com/cathrynlavery/diagram-design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Obsidian Skills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reusable agent instructions for managing Markdown-based Obsidian vaults as a local knowledge base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https://github.com/kepano/obsidian-skills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Buzz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Block’s self-hostable, Nostr-based collaboration workspace where humans and AI agents share rooms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https://buzz.xyz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https://github.com/block/buzz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Ego Lite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Chromium-based browser automation environment that shares logged-in state with coding agents without disrupting normal tabs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https://github.com/citrolabs/ego-lite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local image-to-3D mesh generation for GPU-based asset creation and 3D-printing workflows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https://github.com/lightningpixel/modly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6" name="Google Shape;266;p38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73175" y="435900"/>
            <a:ext cx="1107499" cy="1332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Autonomous LLM Optimization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39"/>
          <p:cNvSpPr txBox="1"/>
          <p:nvPr/>
        </p:nvSpPr>
        <p:spPr>
          <a:xfrm>
            <a:off x="81775" y="435900"/>
            <a:ext cx="4374000" cy="343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 LLM Optimization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do LLM inference optimization for customers’ GPUs, rented infrastructure, and specific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AI-assisted changes raised small-model throughput from 165 to nearly 300 tokens/second, with an initial public claim of 15% faster inference.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“CEO” agent oversees two GPU-based optimization agents, schedules benchmarks, evaluates changes, merges improvements, and records lessons.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goal is a self-improving engineering loop: agents compare techniques, retain successful strategies, and operate with humans mainly at external interfaces.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Releases will prioritize speed gains that preserve task quality, checked using GSM8K, MMLU, CVA, IFEval, and sampled HumanEval+ tests.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thesis is that AI excels at verifiable optimization, mathematics, algorithms, and engineering search problems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https://www.tmls.nyc/research/inference-optimization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https://www.youtube.com/watch?v=wJVXhFf_gjU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39"/>
          <p:cNvSpPr txBox="1"/>
          <p:nvPr/>
        </p:nvSpPr>
        <p:spPr>
          <a:xfrm>
            <a:off x="4666725" y="2748175"/>
            <a:ext cx="43740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Obsidian 2.0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 free, MIT-licensed Claude Code/Obsidian system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Turns local Markdown notes into a linked knowledge vault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Ingest sources through an inbox;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organizes, cross-links, and retains source provenance for later retrieval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evidence-first Q&amp;A is designed to answer only from vault material and disclose unsupported gaps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https://github.com/AgriciDaniel/claude-obsidian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https://www.youtube.com/watch?v=UZr4lLHBKyo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https://www.youtube.com/watch?v=a2hgayvr-H4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https://www.youtube.com/watch?v=Gom-GwlZIYk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4" name="Google Shape;274;p3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63400" y="411872"/>
            <a:ext cx="2874700" cy="678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5" name="Google Shape;275;p39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52250" y="1600800"/>
            <a:ext cx="1788474" cy="1105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40"/>
          <p:cNvSpPr txBox="1"/>
          <p:nvPr/>
        </p:nvSpPr>
        <p:spPr>
          <a:xfrm>
            <a:off x="81766" y="359674"/>
            <a:ext cx="43740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Cursor, Codex, Claude, Zed, Anti-Gravity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Coding Editors Compared -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https://www.youtube.com/watch?v=pJylXFAC87A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Zed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fast and lightweight, in Rust, not many extensions, image-paste workflows, and parallel agent threads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Cursor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mature, many models, extensions, browser tools, code review, multi-agent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Google’s Anti-Gravity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manages isolated, parallel workspaces and tightly integrates Gemini, Chrome automation, and image generation. Very good for UI creation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 Codex and Claude Code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dedicated model usage, CLI/cloud workflows, worktree isolation, MCP support, editor integrations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reviewer’s preference: Cursor plus Codex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40"/>
          <p:cNvSpPr txBox="1"/>
          <p:nvPr/>
        </p:nvSpPr>
        <p:spPr>
          <a:xfrm>
            <a:off x="81766" y="2864019"/>
            <a:ext cx="43740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Dots3-Note: Long-Horizon AI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https://dots.ai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https://github.com/studio-dots-ai/dots3-note-prev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https://openrouter.ai/dots-studio/dots-3-note-preview:free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Dots Studio (Shanghai, China) released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open-weight Dots3-Note Preview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Apache 2.0, 280B-params MoE, 512K-token context window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Accepts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text, images, video, and audio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OpenRouter - text-and-image API access free, with rate limits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TEMPO (RL method) trains agents to assess progress at intermediate macro-steps, improving long, tool-using workflows and memory updates.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" name="Google Shape;283;p40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4205" y="341150"/>
            <a:ext cx="4299051" cy="2419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84" name="Google Shape;284;p40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4191" y="2873194"/>
            <a:ext cx="3692357" cy="20780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41"/>
          <p:cNvSpPr txBox="1"/>
          <p:nvPr/>
        </p:nvSpPr>
        <p:spPr>
          <a:xfrm>
            <a:off x="81766" y="359674"/>
            <a:ext cx="43740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 Origin - Git code-hosting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Integrated into Cursor’s Codebase tab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a GitHub replacement yet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repositories, code browsing, pull requests, reviews, comments, merges, and Git-based push/pull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Existing GitHub repositories can sync into Origin; GitHub remains the source of truth for mirrored projects, with permissions and PR discussions synchronized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Origin targets agent-scale development: AI agents can create repositories, propose changes, run checks, and receive contextual review feedback in one workflow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Launch timing coincided with a major GitHub outage, but there is no evidence Cursor planned the overlap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Initially available to paid Cursor users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https://cursor.com/changelog/origin-code-hosting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https://x.com/cursor_ai/status/2089399057659596847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https://www.youtube.com/watch?v=4O1_INmVhX8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https://www.youtube.com/watch?v=QuV9Ja8qXig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Andrew Ng 2h course - Agents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42"/>
          <p:cNvSpPr txBox="1"/>
          <p:nvPr/>
        </p:nvSpPr>
        <p:spPr>
          <a:xfrm>
            <a:off x="46241" y="341144"/>
            <a:ext cx="4374000" cy="4759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https://www.youtube.com/watch?v=58n-n-3oRic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Agentic workflows improve on one-shot prompting by using iterative cycles: plan, research, draft, critique, revise, and repeat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AI agent combines an LLM with tools, control-flow logic, state, and often memory. The LLM decides what to do; the surrounding runtime executes tools and manages the workflow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Core agent design patterns include </a:t>
            </a: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planning, tool use, reflection, multi-agent collaboration, and memory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ReAct pattern alternates between reasoning and action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b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selects a tool, receives an observation, then uses it to decide the next step until it can answer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Modern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function calling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makes tool invocation more reliable and supports both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parallel calls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such as checking weather in two cities, and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sequential calls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where a later query depends on an earlier result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Agentic search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designed to return structured, relevant data for an agent, rather than only a list of links intended for a human reader.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LangGraph models an agent workflow as a graph: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Nodes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are LLM calls, tools, or functions.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Edges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define ordinary transitions between nodes.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Conditional edges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route execution according to a decision.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state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shared data carried through graph execution. Some fields can overwrite previous values, while others, such as message histories or intermediate steps, can append new values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Persistence checkpoints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state between graph nodes, enabling long-running tasks, multi-turn conversations, debugging, recovery, and concurrent user threads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Streaming -  visibility into intermediate actions, tool results, and final token output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42"/>
          <p:cNvSpPr txBox="1"/>
          <p:nvPr/>
        </p:nvSpPr>
        <p:spPr>
          <a:xfrm>
            <a:off x="4519125" y="1816934"/>
            <a:ext cx="4530000" cy="3081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Human-in-the-loop controls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can interrupt execution before a tool call, letting a person approve, reject, edit, or replace an intended action.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State history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enables “time travel”: resume an older checkpoint, branch from it, revise an action, inject a mocked tool result, or replay the workflow under changed conditions.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 A multi-step essay-writing agent - a practical workflow: create a plan, research sources, generate a draft, critique it, research gaps, and revise until a maximum revision count is reached.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advanced architectures include shared-state multi-agent systems, supervisor-and-subagent systems, plan-and-execute flows, highly tailored “flow engineering,” and tree-search-based language agents.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Lesson: make agent behavior explicit and controllable - use deterministic graph structure, typed state, bounded loops, checkpointing, observable tool calls, and approval gates for consequential actions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https://langchain.com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,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https://smith.langchain.com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https://langchain-ai.github.io/langgraph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https://github.com/langchain-ai/langchain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https://github.com/langchain-ai/langgraph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https://www.deeplearning.ai/short-courses/ai-agents-in-langgraph/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8" name="Google Shape;298;p42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19125" y="59236"/>
            <a:ext cx="2599449" cy="16824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/>
        </p:nvSpPr>
        <p:spPr>
          <a:xfrm>
            <a:off x="81775" y="0"/>
            <a:ext cx="4463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Andrew Ng - Jobs in High Demand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43"/>
          <p:cNvSpPr txBox="1"/>
          <p:nvPr/>
        </p:nvSpPr>
        <p:spPr>
          <a:xfrm>
            <a:off x="81775" y="818365"/>
            <a:ext cx="5397000" cy="3666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Andrew Ng - Jobs in High Demand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Analysis of 10K+ job ads identifies four hiring priorities: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building and deploying AI applications,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software engineering fundamentals,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using coding agents,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shaping the build.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Prompt engineering is notably absent; the emphasis is on shipping reliable systems and exercising judgment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application work requires evals, error analysis, retrieval/context design, and controls for probabilistic behavior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Fundamentals remain essential for directing agents through security, reliability, scalability, privacy, and cost trade-offs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“Shaping the build” means defining the right spec using product sense, customer context, and MVP judgment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Indeed.com reports software-development postings rose nearly 15% after Claude Code’s launch (71% in senior roles).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https://x.com/AndrewYNg/article/2088302050706686198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https://www.deeplearning.ai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https://github.com/github/spec-kit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https://hiringlab.indeed.com/2026/07/08/ai-and-job-postings-from-destruction-to-creation/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https://www.youtube.com/watch?v=Tp8rcRKIDnE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" name="Google Shape;305;p4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44375" y="818365"/>
            <a:ext cx="3360425" cy="33604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44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44"/>
          <p:cNvSpPr txBox="1"/>
          <p:nvPr/>
        </p:nvSpPr>
        <p:spPr>
          <a:xfrm>
            <a:off x="5655225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126K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August 7,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44"/>
          <p:cNvSpPr txBox="1"/>
          <p:nvPr/>
        </p:nvSpPr>
        <p:spPr>
          <a:xfrm>
            <a:off x="5655225" y="5641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174,661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(798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4" name="Google Shape;314;p4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3257658"/>
            <a:ext cx="5355602" cy="185407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15" name="Google Shape;315;p4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37" y="462196"/>
            <a:ext cx="5355038" cy="27444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p45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45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45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45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45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45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6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7153</Words>
  <Application>Microsoft Macintosh PowerPoint</Application>
  <PresentationFormat>On-screen Show (16:9)</PresentationFormat>
  <Paragraphs>722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Roboto Mono</vt:lpstr>
      <vt:lpstr>Victor Mono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2</cp:revision>
  <dcterms:modified xsi:type="dcterms:W3CDTF">2026-08-20T23:13:46Z</dcterms:modified>
</cp:coreProperties>
</file>