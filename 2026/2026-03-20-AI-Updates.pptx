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embeddedFontLst>
    <p:embeddedFont>
      <p:font typeface="Roboto Mono" pitchFamily="49"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49E6C6-308B-4D99-A5C2-D55D8C3B73B3}">
  <a:tblStyle styleId="{0349E6C6-308B-4D99-A5C2-D55D8C3B73B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d00f0b558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3d00f0b5581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d00f0b558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3d00f0b558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d013dd7c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d013dd7c7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d0eca7ff3e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3d0eca7ff3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96115007f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96115007f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0babdd75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3d0babdd75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96076b79f4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96076b79f4_2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963e81b0a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3963e81b0ad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0b73caec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d0b73caec2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d0bf02a6a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d0bf02a6a5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0ff26b8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d0ff26b81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d0fa471d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3d0fa471d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96091072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960910729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d0ff26b81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d0ff26b815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9609107299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39609107299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9614d2125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9614d2125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ce3012afc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3ce3012afcb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cfe3179d3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g3cfe3179d3a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cfe3179d3a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g3cfe3179d3a_4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cfe3179d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g3cfe3179d3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cfe8ba6596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3cfe8ba6596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cfe8ba6596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3cfe8ba6596_0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cfe8ba659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g3cfe8ba6596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d0babdd75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9" name="Google Shape;309;g3d0babdd755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cfe8ba659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7" name="Google Shape;317;g3cfe8ba6596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cfe8ba659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3cfe8ba6596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96115007f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396115007fc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1" name="Google Shape;34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3" name="Google Shape;353;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3" name="Google Shape;36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blog.google/products/gemini/gemini-3-flash" TargetMode="External"/><Relationship Id="rId39" Type="http://schemas.openxmlformats.org/officeDocument/2006/relationships/hyperlink" Target="https://openai.com/index/introducing-gpt-5-2" TargetMode="External"/><Relationship Id="rId21" Type="http://schemas.openxmlformats.org/officeDocument/2006/relationships/hyperlink" Target="https://grok.com/" TargetMode="External"/><Relationship Id="rId34" Type="http://schemas.openxmlformats.org/officeDocument/2006/relationships/hyperlink" Target="https://www.kimi.com/blog/kimi-k2-5.html"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developers.openai.com/api/docs/models/gpt-5.2-chat-latest" TargetMode="External"/><Relationship Id="rId33" Type="http://schemas.openxmlformats.org/officeDocument/2006/relationships/hyperlink" Target="https://openai.com/index/gpt-5-1/" TargetMode="External"/><Relationship Id="rId38" Type="http://schemas.openxmlformats.org/officeDocument/2006/relationships/hyperlink" Target="https://www.anthropic.com/news/claude-opus-4-1"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blog.google/innovation-and-ai/models-and-research/gemini-models/gemini-3-1-pro/" TargetMode="External"/><Relationship Id="rId29" Type="http://schemas.openxmlformats.org/officeDocument/2006/relationships/hyperlink" Target="https://openai.com/index/gpt-5-3-instan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docs.x.ai/developers/models/grok-4.20-beta-0309-reasoning" TargetMode="External"/><Relationship Id="rId32" Type="http://schemas.openxmlformats.org/officeDocument/2006/relationships/hyperlink" Target="https://huggingface.co/zai-org/GLM-5" TargetMode="External"/><Relationship Id="rId37" Type="http://schemas.openxmlformats.org/officeDocument/2006/relationships/hyperlink" Target="https://huggingface.co/Qwen/Qwen3.5-397B-A17B" TargetMode="External"/><Relationship Id="rId40" Type="http://schemas.openxmlformats.org/officeDocument/2006/relationships/hyperlink" Target="https://www.anthropic.com/news/claude-4"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platform.openai.com/docs/models/gpt-5.4" TargetMode="External"/><Relationship Id="rId28" Type="http://schemas.openxmlformats.org/officeDocument/2006/relationships/hyperlink" Target="https://x.ai/news/grok-4-1" TargetMode="External"/><Relationship Id="rId36" Type="http://schemas.openxmlformats.org/officeDocument/2006/relationships/hyperlink" Target="https://www.anthropic.com/news/claude-sonnet-4-5"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6" TargetMode="External"/><Relationship Id="rId31" Type="http://schemas.openxmlformats.org/officeDocument/2006/relationships/hyperlink" Target="https://seed.bytedance.com/en/blog/dola-seed-2-0-preview-model-release-on-arena"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istudio.google.com/app/prompts/new_chat?model=gemini-3-pro-preview" TargetMode="External"/><Relationship Id="rId27" Type="http://schemas.openxmlformats.org/officeDocument/2006/relationships/hyperlink" Target="https://www.anthropic.com/news/claude-opus-4-5" TargetMode="External"/><Relationship Id="rId30" Type="http://schemas.openxmlformats.org/officeDocument/2006/relationships/hyperlink" Target="https://www.anthropic.com/news/claude-sonnet-4-6" TargetMode="External"/><Relationship Id="rId35" Type="http://schemas.openxmlformats.org/officeDocument/2006/relationships/hyperlink" Target="https://ernie.baidu.com/blog/posts/ernie-5.0-0110-release-on-lmarena/"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x.com/claudeai/status/2032509548297343196"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awesomeagents.ai/leaderboards/long-context-benchmarks-leaderboard/" TargetMode="External"/><Relationship Id="rId5" Type="http://schemas.openxmlformats.org/officeDocument/2006/relationships/hyperlink" Target="https://artificialanalysis.ai"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www.youtube.com/watch?v=ASR25tYXB5s"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hyperlink" Target="https://ollama.com/library/glm-4.7-flash" TargetMode="External"/><Relationship Id="rId7" Type="http://schemas.openxmlformats.org/officeDocument/2006/relationships/hyperlink" Target="https://www.youtube.com/watch?v=Sg5PHieQ2m8"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hyperlink" Target="https://www.youtube.com/watch?v=HIg16LDTY7s" TargetMode="Externa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hyperlink" Target="https://www.youtube.com/watch?v=mghEyLvNeLo"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support.claude.com/en/articles/13947068-assign-tasks-to-claude-from-anywhere-in-cowork"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goombalab.github.io/blog/2026/mamba3-part1/" TargetMode="Externa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hyperlink" Target="https://blogs.nvidia.com/blog/gtc-2026-new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qznFV59f3Uk"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github.com/machinae/awesome-claws" TargetMode="External"/><Relationship Id="rId3" Type="http://schemas.openxmlformats.org/officeDocument/2006/relationships/hyperlink" Target="https://github.com/openclaw/openclaw" TargetMode="External"/><Relationship Id="rId7" Type="http://schemas.openxmlformats.org/officeDocument/2006/relationships/hyperlink" Target="https://github.com/LHL3341/awesome-claw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github.com/mergisi/awesome-openclaw-agents" TargetMode="External"/><Relationship Id="rId5" Type="http://schemas.openxmlformats.org/officeDocument/2006/relationships/image" Target="../media/image13.png"/><Relationship Id="rId4" Type="http://schemas.openxmlformats.org/officeDocument/2006/relationships/hyperlink" Target="https://github.com/openclaw/openclaw/releases"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www.youtube.com/watch?v=eL82O-HVd28" TargetMode="External"/><Relationship Id="rId7" Type="http://schemas.openxmlformats.org/officeDocument/2006/relationships/hyperlink" Target="https://artificialanalysis.ai/models/minimax-m2-7"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www.minimax.io/models/text/m27" TargetMode="External"/><Relationship Id="rId5" Type="http://schemas.openxmlformats.org/officeDocument/2006/relationships/hyperlink" Target="https://www.minimax.io/news/minimax-m27-en" TargetMode="External"/><Relationship Id="rId4" Type="http://schemas.openxmlformats.org/officeDocument/2006/relationships/image" Target="../media/image14.png"/><Relationship Id="rId9" Type="http://schemas.openxmlformats.org/officeDocument/2006/relationships/hyperlink" Target="https://maxclaw.ai"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ocs.openclaw.ai/tools/browser"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hydro13/tandem-browser" TargetMode="External"/><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hyperlink" Target="https://x.com/steipete/status/2033451685352481214" TargetMode="External"/><Relationship Id="rId4" Type="http://schemas.openxmlformats.org/officeDocument/2006/relationships/hyperlink" Target="https://www.youtube.com/watch?v=ByQWanSmIQU"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M-3w1wEv0M0" TargetMode="External"/><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ODKMmKCgrvw" TargetMode="External"/><Relationship Id="rId5" Type="http://schemas.openxmlformats.org/officeDocument/2006/relationships/image" Target="../media/image17.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XtzykHbS3kM"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hyperlink" Target="https://www.youtube.com/watch?v=wQ0duoTeAAU" TargetMode="External"/><Relationship Id="rId4" Type="http://schemas.openxmlformats.org/officeDocument/2006/relationships/hyperlink" Target="https://www.youtube.com/watch?v=qKU-e0x2Em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0d8pU0mJqNM"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claude.md"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vF3dK1TywAk"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www.youtube.com/watch?v=6o9D9XLmVVg" TargetMode="External"/><Relationship Id="rId5" Type="http://schemas.openxmlformats.org/officeDocument/2006/relationships/hyperlink" Target="https://www.youtube.com/watch?v=w98X0ayMmF8" TargetMode="Externa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Uzd2ckXnsg0"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www.youtube.com/watch?v=49_WitY66yM"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kQqR8BOg4Lo"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ojkStIgOcNM"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8" Type="http://schemas.openxmlformats.org/officeDocument/2006/relationships/hyperlink" Target="https://st0012.dev/links/2026-01-15-a-claude-code-workflow-with-the-superpowers-plugin/" TargetMode="External"/><Relationship Id="rId3" Type="http://schemas.openxmlformats.org/officeDocument/2006/relationships/hyperlink" Target="https://www.youtube.com/watch?v=OGBEYTWjPZU" TargetMode="External"/><Relationship Id="rId7" Type="http://schemas.openxmlformats.org/officeDocument/2006/relationships/hyperlink" Target="https://claude.com/plugins/context7"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hyperlink" Target="https://paddo.dev/blog/claude-code-plugins-frontend-design/" TargetMode="External"/><Relationship Id="rId11" Type="http://schemas.openxmlformats.org/officeDocument/2006/relationships/image" Target="../media/image27.png"/><Relationship Id="rId5" Type="http://schemas.openxmlformats.org/officeDocument/2006/relationships/hyperlink" Target="https://designexplained.substack.com/p/how-to-send-your-app-code-to-figma" TargetMode="External"/><Relationship Id="rId10" Type="http://schemas.openxmlformats.org/officeDocument/2006/relationships/hyperlink" Target="https://www.reddit.com/r/ClaudeCode/comments/1r3tb08/we_built_an_appsec_skills_plugin_for_claude_code/" TargetMode="External"/><Relationship Id="rId4" Type="http://schemas.openxmlformats.org/officeDocument/2006/relationships/hyperlink" Target="https://github.com/anthropics/claude-plugins-official/tree/main/plugins/skill-creator" TargetMode="External"/><Relationship Id="rId9" Type="http://schemas.openxmlformats.org/officeDocument/2006/relationships/hyperlink" Target="https://fasterthanlight.me/blog/post/claude-code-best-practices-for-local-code-review"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www.youtube.com/watch?v=M8VNj21ew_4"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9.jpeg"/><Relationship Id="rId5" Type="http://schemas.openxmlformats.org/officeDocument/2006/relationships/hyperlink" Target="https://www.youtube.com/watch?v=KZnuFadL7xM" TargetMode="Externa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I08ZeY7QcrE"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hyperlink" Target="https://www.youtube.com/watch?v=cglc_BR04GE"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vWXRy2_fSOc"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4_zAMqQu6RQ"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hyperlink" Target="https://www.wsj.com/tech/ai/ai-needs-management-consultants-after-all-bd28ecb9?mod=hp_lead_pos7" TargetMode="External"/><Relationship Id="rId7" Type="http://schemas.openxmlformats.org/officeDocument/2006/relationships/hyperlink" Target="https://www.youtube.com/watch?v=a1Vd85ilWiI"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hyperlink" Target="https://www.sabrina.dev/p/big-lie-behind-tech-layoffs" TargetMode="External"/><Relationship Id="rId5" Type="http://schemas.openxmlformats.org/officeDocument/2006/relationships/hyperlink" Target="https://arxiv.org/pdf/2510.26787" TargetMode="Externa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hyperlink" Target="http://www.youtube.com/watch?v=fHas3Dg1okk"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hyperlink" Target="https://x.com/TechLayoffLover/status/2033341530128191941"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hyperlink" Target="https://jobloss.ai" TargetMode="External"/><Relationship Id="rId3" Type="http://schemas.openxmlformats.org/officeDocument/2006/relationships/hyperlink" Target="https://layoffs.fyi" TargetMode="External"/><Relationship Id="rId7"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hyperlink" Target="https://trueup.io/layoffs"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0" y="482975"/>
            <a:ext cx="4032000" cy="141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Crowd-sourced "LM Arena" Leaderboard</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Claude 1M Context Length</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Agentic Digital Employees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GLM-4.7 Flash 30B MoE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Perplexity Computer, Personal Computer</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Meta's Manus "My Computer" at $20/mo</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Perplexity Comet Enterprise - AI-powered browser</a:t>
            </a:r>
            <a:endParaRPr sz="1300" b="1">
              <a:solidFill>
                <a:srgbClr val="3C78D8"/>
              </a:solidFill>
              <a:latin typeface="Calibri"/>
              <a:ea typeface="Calibri"/>
              <a:cs typeface="Calibri"/>
              <a:sym typeface="Calibri"/>
            </a:endParaRPr>
          </a:p>
        </p:txBody>
      </p:sp>
      <p:sp>
        <p:nvSpPr>
          <p:cNvPr id="64" name="Google Shape;64;p15"/>
          <p:cNvSpPr txBox="1"/>
          <p:nvPr/>
        </p:nvSpPr>
        <p:spPr>
          <a:xfrm>
            <a:off x="0"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Mar 20,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74325" y="4649352"/>
            <a:ext cx="37929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Replacing Humans Step-by-Step Plan</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i="0" u="none" strike="noStrike" cap="none">
                <a:solidFill>
                  <a:srgbClr val="3C78D8"/>
                </a:solidFill>
                <a:latin typeface="Calibri"/>
                <a:ea typeface="Calibri"/>
                <a:cs typeface="Calibri"/>
                <a:sym typeface="Calibri"/>
              </a:rPr>
              <a:t>Jobs, Layoffs, </a:t>
            </a:r>
            <a:r>
              <a:rPr lang="en" sz="1300" b="1">
                <a:solidFill>
                  <a:srgbClr val="3C78D8"/>
                </a:solidFill>
                <a:latin typeface="Calibri"/>
                <a:ea typeface="Calibri"/>
                <a:cs typeface="Calibri"/>
                <a:sym typeface="Calibri"/>
              </a:rPr>
              <a:t>demand for AI Engineers</a:t>
            </a:r>
            <a:endParaRPr sz="13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0" y="1894603"/>
            <a:ext cx="4032000" cy="32202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Anthropic Dispatch</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Mamba-3 open-source State Space Model (SSM)</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Anthropic vs Pentagon</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OpenAI GPT-5.4 nano</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Nvidia GTC AI Conference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Mistral Small 4, Google AlphaEvolve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Attention Residuals, GLM OCR, </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RLM (Recursive Language Models) </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OpenClaw Updates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Tencent QClaw, MiniMax M2.7, MaxClaw</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OpenClaw Uses CDP, Tandem Browser</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OpenClaw Best Practices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OpenClaw Security Problems are NOT Solved</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Genspark Claw - "AI employee", Auto Research Claw</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Claude Code &amp; CoWork Instead of OpenClaw</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OpenClaw Builds Million Dollar Business</a:t>
            </a:r>
            <a:endParaRPr sz="1300" b="1">
              <a:solidFill>
                <a:srgbClr val="3C78D8"/>
              </a:solidFill>
              <a:latin typeface="Calibri"/>
              <a:ea typeface="Calibri"/>
              <a:cs typeface="Calibri"/>
              <a:sym typeface="Calibri"/>
            </a:endParaRPr>
          </a:p>
        </p:txBody>
      </p:sp>
      <p:sp>
        <p:nvSpPr>
          <p:cNvPr id="67" name="Google Shape;67;p15"/>
          <p:cNvSpPr txBox="1"/>
          <p:nvPr/>
        </p:nvSpPr>
        <p:spPr>
          <a:xfrm>
            <a:off x="4574325" y="1360050"/>
            <a:ext cx="3792900" cy="32202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Use OpenClaw to Make $50K/Month</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Become a trusted AI Strategist for Business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Google Gemini Updates Timeline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CLI-Anything with Claude Code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OpenClaw + PaperClip</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Google Gemma 4B Update!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Claude Code - Code Review</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Canada's 200B Ops/sec Chip</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Google Pomelli Update</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Seven Claude Code Plugins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AI is Killing Consulting</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How AI-native companies are winning</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AI Transformation - Business Roles and Processes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Julia McCoy Automated Business, Followups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AI in Business</a:t>
            </a:r>
            <a:endParaRPr sz="1300" b="1">
              <a:solidFill>
                <a:srgbClr val="3C78D8"/>
              </a:solidFill>
              <a:latin typeface="Calibri"/>
              <a:ea typeface="Calibri"/>
              <a:cs typeface="Calibri"/>
              <a:sym typeface="Calibri"/>
            </a:endParaRPr>
          </a:p>
          <a:p>
            <a:pPr marL="228600" marR="0" lvl="0" indent="-196850" algn="l" rtl="0">
              <a:lnSpc>
                <a:spcPct val="100000"/>
              </a:lnSpc>
              <a:spcBef>
                <a:spcPts val="0"/>
              </a:spcBef>
              <a:spcAft>
                <a:spcPts val="0"/>
              </a:spcAft>
              <a:buClr>
                <a:srgbClr val="3C78D8"/>
              </a:buClr>
              <a:buSzPts val="1300"/>
              <a:buFont typeface="Calibri"/>
              <a:buChar char="●"/>
            </a:pPr>
            <a:r>
              <a:rPr lang="en" sz="1300" b="1">
                <a:solidFill>
                  <a:srgbClr val="3C78D8"/>
                </a:solidFill>
                <a:latin typeface="Calibri"/>
                <a:ea typeface="Calibri"/>
                <a:cs typeface="Calibri"/>
                <a:sym typeface="Calibri"/>
              </a:rPr>
              <a:t>Hallucinations in 2026</a:t>
            </a:r>
            <a:endParaRPr sz="1300" b="1">
              <a:solidFill>
                <a:srgbClr val="3C78D8"/>
              </a:solidFill>
              <a:latin typeface="Calibri"/>
              <a:ea typeface="Calibri"/>
              <a:cs typeface="Calibri"/>
              <a:sym typeface="Calibri"/>
            </a:endParaRPr>
          </a:p>
        </p:txBody>
      </p:sp>
      <p:sp>
        <p:nvSpPr>
          <p:cNvPr id="68" name="Google Shape;68;p15"/>
          <p:cNvSpPr txBox="1"/>
          <p:nvPr/>
        </p:nvSpPr>
        <p:spPr>
          <a:xfrm>
            <a:off x="4574325" y="62800"/>
            <a:ext cx="3399300" cy="10959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i="1">
                <a:solidFill>
                  <a:srgbClr val="FF0000"/>
                </a:solidFill>
                <a:latin typeface="Calibri"/>
                <a:ea typeface="Calibri"/>
                <a:cs typeface="Calibri"/>
                <a:sym typeface="Calibri"/>
              </a:rPr>
              <a:t>"My Job is to Automate My Job"</a:t>
            </a:r>
            <a:endParaRPr sz="16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endParaRPr sz="6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1600" b="1" i="1">
                <a:solidFill>
                  <a:srgbClr val="FF0000"/>
                </a:solidFill>
                <a:latin typeface="Calibri"/>
                <a:ea typeface="Calibri"/>
                <a:cs typeface="Calibri"/>
                <a:sym typeface="Calibri"/>
              </a:rPr>
              <a:t>"As a programmer, it is your job to put yourself out of business" - Douglas McIlroy</a:t>
            </a:r>
            <a:endParaRPr sz="1600" b="1" i="1">
              <a:solidFill>
                <a:srgbClr val="FF0000"/>
              </a:solidFill>
              <a:latin typeface="Calibri"/>
              <a:ea typeface="Calibri"/>
              <a:cs typeface="Calibri"/>
              <a:sym typeface="Calibri"/>
            </a:endParaRPr>
          </a:p>
        </p:txBody>
      </p:sp>
      <p:pic>
        <p:nvPicPr>
          <p:cNvPr id="69" name="Google Shape;69;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8063014" y="48553"/>
            <a:ext cx="1016250" cy="122871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5" name="Google Shape;75;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6" name="Google Shape;76;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7" name="Google Shape;77;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8" name="Google Shape;78;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March 18</a:t>
            </a:r>
            <a:endParaRPr sz="1000">
              <a:latin typeface="Calibri"/>
              <a:ea typeface="Calibri"/>
              <a:cs typeface="Calibri"/>
              <a:sym typeface="Calibri"/>
            </a:endParaRPr>
          </a:p>
        </p:txBody>
      </p:sp>
      <p:sp>
        <p:nvSpPr>
          <p:cNvPr id="80" name="Google Shape;80;p16"/>
          <p:cNvSpPr txBox="1"/>
          <p:nvPr/>
        </p:nvSpPr>
        <p:spPr>
          <a:xfrm>
            <a:off x="7346795" y="608477"/>
            <a:ext cx="1745700" cy="78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p:txBody>
      </p:sp>
      <p:graphicFrame>
        <p:nvGraphicFramePr>
          <p:cNvPr id="81" name="Google Shape;81;p16"/>
          <p:cNvGraphicFramePr/>
          <p:nvPr/>
        </p:nvGraphicFramePr>
        <p:xfrm>
          <a:off x="5742420" y="430065"/>
          <a:ext cx="3000000" cy="3000000"/>
        </p:xfrm>
        <a:graphic>
          <a:graphicData uri="http://schemas.openxmlformats.org/drawingml/2006/table">
            <a:tbl>
              <a:tblPr>
                <a:noFill/>
                <a:tableStyleId>{0349E6C6-308B-4D99-A5C2-D55D8C3B73B3}</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graphicFrame>
        <p:nvGraphicFramePr>
          <p:cNvPr id="82" name="Google Shape;82;p16"/>
          <p:cNvGraphicFramePr/>
          <p:nvPr/>
        </p:nvGraphicFramePr>
        <p:xfrm>
          <a:off x="195038" y="807858"/>
          <a:ext cx="3000000" cy="3000000"/>
        </p:xfrm>
        <a:graphic>
          <a:graphicData uri="http://schemas.openxmlformats.org/drawingml/2006/table">
            <a:tbl>
              <a:tblPr>
                <a:noFill/>
                <a:tableStyleId>{0349E6C6-308B-4D99-A5C2-D55D8C3B73B3}</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gpt-5.3-chat-latest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ernie-5.0-0110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qwen3.5-397b-a17b</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3" name="Google Shape;83;p16"/>
          <p:cNvGraphicFramePr/>
          <p:nvPr/>
        </p:nvGraphicFramePr>
        <p:xfrm>
          <a:off x="2989806" y="797619"/>
          <a:ext cx="3000000" cy="3000000"/>
        </p:xfrm>
        <a:graphic>
          <a:graphicData uri="http://schemas.openxmlformats.org/drawingml/2006/table">
            <a:tbl>
              <a:tblPr>
                <a:noFill/>
                <a:tableStyleId>{0349E6C6-308B-4D99-A5C2-D55D8C3B73B3}</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gpt-5.3-chat-latest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dola-seed-2.0-preview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gpt-5.2</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claude-opus-4-20250514-thinking-16k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89" name="Google Shape;89;p17"/>
          <p:cNvSpPr txBox="1"/>
          <p:nvPr/>
        </p:nvSpPr>
        <p:spPr>
          <a:xfrm>
            <a:off x="100593" y="390058"/>
            <a:ext cx="43926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1M Context Length</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https://x.com/claudeai/status/2032509548297343196</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March 13, 2026, Anthropic made the 1 million token context window generally available for Claude Opus 4.6 and Claude Sonnet 4.6 at standard pricing - no premium or multiplier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1M tokens is ~ 1,500 pages of text (A4 or US Letter) or 50,000 lines of code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Also media limits increased from 100 to 600 images or PDF pages</a:t>
            </a:r>
            <a:endParaRPr sz="1200">
              <a:solidFill>
                <a:schemeClr val="dk1"/>
              </a:solidFill>
              <a:latin typeface="Calibri"/>
              <a:ea typeface="Calibri"/>
              <a:cs typeface="Calibri"/>
              <a:sym typeface="Calibri"/>
            </a:endParaRPr>
          </a:p>
        </p:txBody>
      </p:sp>
      <p:graphicFrame>
        <p:nvGraphicFramePr>
          <p:cNvPr id="90" name="Google Shape;90;p17"/>
          <p:cNvGraphicFramePr/>
          <p:nvPr/>
        </p:nvGraphicFramePr>
        <p:xfrm>
          <a:off x="4650253" y="129089"/>
          <a:ext cx="3000000" cy="3000000"/>
        </p:xfrm>
        <a:graphic>
          <a:graphicData uri="http://schemas.openxmlformats.org/drawingml/2006/table">
            <a:tbl>
              <a:tblPr>
                <a:noFill/>
                <a:tableStyleId>{0349E6C6-308B-4D99-A5C2-D55D8C3B73B3}</a:tableStyleId>
              </a:tblPr>
              <a:tblGrid>
                <a:gridCol w="1375625">
                  <a:extLst>
                    <a:ext uri="{9D8B030D-6E8A-4147-A177-3AD203B41FA5}">
                      <a16:colId xmlns:a16="http://schemas.microsoft.com/office/drawing/2014/main" val="20000"/>
                    </a:ext>
                  </a:extLst>
                </a:gridCol>
                <a:gridCol w="504125">
                  <a:extLst>
                    <a:ext uri="{9D8B030D-6E8A-4147-A177-3AD203B41FA5}">
                      <a16:colId xmlns:a16="http://schemas.microsoft.com/office/drawing/2014/main" val="20001"/>
                    </a:ext>
                  </a:extLst>
                </a:gridCol>
                <a:gridCol w="613550">
                  <a:extLst>
                    <a:ext uri="{9D8B030D-6E8A-4147-A177-3AD203B41FA5}">
                      <a16:colId xmlns:a16="http://schemas.microsoft.com/office/drawing/2014/main" val="20002"/>
                    </a:ext>
                  </a:extLst>
                </a:gridCol>
              </a:tblGrid>
              <a:tr h="203775">
                <a:tc>
                  <a:txBody>
                    <a:bodyPr/>
                    <a:lstStyle/>
                    <a:p>
                      <a:pPr marL="0" lvl="0" indent="0" algn="l" rtl="0">
                        <a:lnSpc>
                          <a:spcPct val="115000"/>
                        </a:lnSpc>
                        <a:spcBef>
                          <a:spcPts val="0"/>
                        </a:spcBef>
                        <a:spcAft>
                          <a:spcPts val="0"/>
                        </a:spcAft>
                        <a:buNone/>
                      </a:pPr>
                      <a:r>
                        <a:rPr lang="en" sz="1100" b="1"/>
                        <a:t>Model </a:t>
                      </a:r>
                      <a:endParaRPr sz="1100" b="1"/>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100" b="1"/>
                        <a:t>Input</a:t>
                      </a:r>
                      <a:endParaRPr sz="1100" b="1"/>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100" b="1"/>
                        <a:t>Output</a:t>
                      </a:r>
                      <a:endParaRPr sz="1100" b="1"/>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203775">
                <a:tc>
                  <a:txBody>
                    <a:bodyPr/>
                    <a:lstStyle/>
                    <a:p>
                      <a:pPr marL="0" lvl="0" indent="0" algn="l" rtl="0">
                        <a:spcBef>
                          <a:spcPts val="0"/>
                        </a:spcBef>
                        <a:spcAft>
                          <a:spcPts val="0"/>
                        </a:spcAft>
                        <a:buNone/>
                      </a:pPr>
                      <a:r>
                        <a:rPr lang="en" sz="1100" b="1"/>
                        <a:t>Gemini 3 Flash</a:t>
                      </a:r>
                      <a:endParaRPr sz="1100" b="1"/>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a:t>$0.50</a:t>
                      </a:r>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a:t>$3.00</a:t>
                      </a:r>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203775">
                <a:tc>
                  <a:txBody>
                    <a:bodyPr/>
                    <a:lstStyle/>
                    <a:p>
                      <a:pPr marL="0" lvl="0" indent="0" algn="l" rtl="0">
                        <a:spcBef>
                          <a:spcPts val="0"/>
                        </a:spcBef>
                        <a:spcAft>
                          <a:spcPts val="0"/>
                        </a:spcAft>
                        <a:buNone/>
                      </a:pPr>
                      <a:r>
                        <a:rPr lang="en" sz="1100" b="1"/>
                        <a:t>Gemini 3.1 Pro</a:t>
                      </a:r>
                      <a:endParaRPr sz="1100" b="1"/>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a:t>$2.00</a:t>
                      </a:r>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a:t>$12.00</a:t>
                      </a:r>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203775">
                <a:tc>
                  <a:txBody>
                    <a:bodyPr/>
                    <a:lstStyle/>
                    <a:p>
                      <a:pPr marL="0" lvl="0" indent="0" algn="l" rtl="0">
                        <a:spcBef>
                          <a:spcPts val="0"/>
                        </a:spcBef>
                        <a:spcAft>
                          <a:spcPts val="0"/>
                        </a:spcAft>
                        <a:buNone/>
                      </a:pPr>
                      <a:r>
                        <a:rPr lang="en" sz="1100" b="1"/>
                        <a:t>Claude Sonnet 4.6</a:t>
                      </a:r>
                      <a:endParaRPr sz="1100" b="1"/>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a:t>$3.00</a:t>
                      </a:r>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a:t>$15.00</a:t>
                      </a:r>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203775">
                <a:tc>
                  <a:txBody>
                    <a:bodyPr/>
                    <a:lstStyle/>
                    <a:p>
                      <a:pPr marL="0" lvl="0" indent="0" algn="l" rtl="0">
                        <a:spcBef>
                          <a:spcPts val="0"/>
                        </a:spcBef>
                        <a:spcAft>
                          <a:spcPts val="0"/>
                        </a:spcAft>
                        <a:buNone/>
                      </a:pPr>
                      <a:r>
                        <a:rPr lang="en" sz="1100" b="1"/>
                        <a:t>Claude Opus 4.6</a:t>
                      </a:r>
                      <a:endParaRPr sz="1100" b="1"/>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a:t>$5.00</a:t>
                      </a:r>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a:t>$25.00</a:t>
                      </a:r>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91" name="Google Shape;91;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00600" y="1981650"/>
            <a:ext cx="5479449" cy="3082200"/>
          </a:xfrm>
          <a:prstGeom prst="rect">
            <a:avLst/>
          </a:prstGeom>
          <a:noFill/>
          <a:ln w="9525" cap="flat" cmpd="sng">
            <a:solidFill>
              <a:srgbClr val="FF0000"/>
            </a:solidFill>
            <a:prstDash val="solid"/>
            <a:round/>
            <a:headEnd type="none" w="sm" len="sm"/>
            <a:tailEnd type="none" w="sm" len="sm"/>
          </a:ln>
        </p:spPr>
      </p:pic>
      <p:sp>
        <p:nvSpPr>
          <p:cNvPr id="92" name="Google Shape;92;p17"/>
          <p:cNvSpPr txBox="1"/>
          <p:nvPr/>
        </p:nvSpPr>
        <p:spPr>
          <a:xfrm>
            <a:off x="5738650" y="3013650"/>
            <a:ext cx="33210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Benchmarks: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MRCR v2 8-needle - Finds 8 specific facts in 1M tokens; leader: Claude Opus 4.6 (76%)</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RULER — Retrieval, multi-hop tracing, aggregation at scale; coverage is spotty beyond 128K tokens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LongBench v2 — 503 QA tasks across 8K–2M word contexts; leader: Gemini 3 Pro (68.2%)</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AA-LCR — Multi-document reasoning synthesis; leader: GPT-5.2 Codex (75.7%)</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https://artificialanalysis.ai</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https://awesomeagents.ai/leaderboards/long-context-benchmarks-leaderboard/</a:t>
            </a:r>
            <a:endParaRPr sz="1100">
              <a:solidFill>
                <a:schemeClr val="dk1"/>
              </a:solidFill>
              <a:latin typeface="Calibri"/>
              <a:ea typeface="Calibri"/>
              <a:cs typeface="Calibri"/>
              <a:sym typeface="Calibri"/>
            </a:endParaRPr>
          </a:p>
        </p:txBody>
      </p:sp>
      <p:sp>
        <p:nvSpPr>
          <p:cNvPr id="93" name="Google Shape;93;p17"/>
          <p:cNvSpPr txBox="1"/>
          <p:nvPr/>
        </p:nvSpPr>
        <p:spPr>
          <a:xfrm>
            <a:off x="5738650" y="1443300"/>
            <a:ext cx="33210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Max output: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Opus 4.6 128K tokens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GPT-5.4 (Pro, Base) - 128K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GPT-5.4 Thinking - 256K</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Sonnet 4.6  - 64K</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Gemini 3.1 Pro - 64K (default API set to 8K)</a:t>
            </a:r>
            <a:endParaRPr sz="1100">
              <a:solidFill>
                <a:srgbClr val="6AA84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p:nvPr/>
        </p:nvSpPr>
        <p:spPr>
          <a:xfrm>
            <a:off x="55075" y="63650"/>
            <a:ext cx="2812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Agentic Digital Employees</a:t>
            </a:r>
            <a:endParaRPr sz="2000" b="1">
              <a:solidFill>
                <a:schemeClr val="dk1"/>
              </a:solidFill>
              <a:latin typeface="Calibri"/>
              <a:ea typeface="Calibri"/>
              <a:cs typeface="Calibri"/>
              <a:sym typeface="Calibri"/>
            </a:endParaRPr>
          </a:p>
        </p:txBody>
      </p:sp>
      <p:sp>
        <p:nvSpPr>
          <p:cNvPr id="99" name="Google Shape;99;p18"/>
          <p:cNvSpPr txBox="1"/>
          <p:nvPr/>
        </p:nvSpPr>
        <p:spPr>
          <a:xfrm>
            <a:off x="89227" y="530800"/>
            <a:ext cx="43926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Work becomes easier - you simply ask AI agent to do all the work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don't have to learn to use multiple apps and SaaS interfaces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just message this agent (using WhatsApp, Telegram,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instead of many skills, you need just one skill - the skill of managing the agent effectively, communicate goals and reviewing the agent's output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99% of people, AI is about to become dramatically simpler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But you need to keep sprinting to stay current</a:t>
            </a:r>
            <a:endParaRPr sz="1200">
              <a:solidFill>
                <a:schemeClr val="dk1"/>
              </a:solidFill>
              <a:latin typeface="Calibri"/>
              <a:ea typeface="Calibri"/>
              <a:cs typeface="Calibri"/>
              <a:sym typeface="Calibri"/>
            </a:endParaRPr>
          </a:p>
        </p:txBody>
      </p:sp>
      <p:pic>
        <p:nvPicPr>
          <p:cNvPr id="100" name="Google Shape;100;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23097" y="150138"/>
            <a:ext cx="4392601" cy="2395976"/>
          </a:xfrm>
          <a:prstGeom prst="rect">
            <a:avLst/>
          </a:prstGeom>
          <a:noFill/>
          <a:ln w="9525" cap="flat" cmpd="sng">
            <a:solidFill>
              <a:srgbClr val="FF0000"/>
            </a:solidFill>
            <a:prstDash val="solid"/>
            <a:round/>
            <a:headEnd type="none" w="sm" len="sm"/>
            <a:tailEnd type="none" w="sm" len="sm"/>
          </a:ln>
        </p:spPr>
      </p:pic>
      <p:pic>
        <p:nvPicPr>
          <p:cNvPr id="101" name="Google Shape;101;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23097" y="2599288"/>
            <a:ext cx="4392599" cy="2397921"/>
          </a:xfrm>
          <a:prstGeom prst="rect">
            <a:avLst/>
          </a:prstGeom>
          <a:noFill/>
          <a:ln w="9525" cap="flat" cmpd="sng">
            <a:solidFill>
              <a:srgbClr val="FF0000"/>
            </a:solidFill>
            <a:prstDash val="solid"/>
            <a:round/>
            <a:headEnd type="none" w="sm" len="sm"/>
            <a:tailEnd type="none" w="sm" len="sm"/>
          </a:ln>
        </p:spPr>
      </p:pic>
      <p:sp>
        <p:nvSpPr>
          <p:cNvPr id="102" name="Google Shape;102;p18"/>
          <p:cNvSpPr txBox="1"/>
          <p:nvPr/>
        </p:nvSpPr>
        <p:spPr>
          <a:xfrm>
            <a:off x="89227" y="2906550"/>
            <a:ext cx="4392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Agents in Organizations:</a:t>
            </a: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pipelines eliminate human handoff delays</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auditability as a built-in feature rather than compliance burden</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swarm risk awareness to manage correlated AI behavior.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Practical lessons include:</a:t>
            </a:r>
            <a:endParaRPr sz="1200" b="1">
              <a:solidFill>
                <a:srgbClr val="FF0000"/>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replacing meeting chains with structured agent workflows</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implementing logging from day one</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training leaders to manage hybrid human-AI teams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https://www.youtube.com/watch?v=ASR25tYXB5s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08" name="Google Shape;108;p19"/>
          <p:cNvSpPr txBox="1"/>
          <p:nvPr/>
        </p:nvSpPr>
        <p:spPr>
          <a:xfrm>
            <a:off x="123950" y="410359"/>
            <a:ext cx="4392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GLM-4.7 Flash 30B MoE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free, open-source model distilled from Claude Opus 4.5 using a student-teacher training approach with 250 high-reasoning examples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can run locally, requires ~18GB of storage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https://ollama.com/library/glm-4.7-flash</a:t>
            </a:r>
            <a:endParaRPr sz="1200">
              <a:solidFill>
                <a:schemeClr val="dk1"/>
              </a:solidFill>
              <a:latin typeface="Calibri"/>
              <a:ea typeface="Calibri"/>
              <a:cs typeface="Calibri"/>
              <a:sym typeface="Calibri"/>
            </a:endParaRPr>
          </a:p>
        </p:txBody>
      </p:sp>
      <p:pic>
        <p:nvPicPr>
          <p:cNvPr id="109" name="Google Shape;109;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11925" y="520359"/>
            <a:ext cx="2427800" cy="906775"/>
          </a:xfrm>
          <a:prstGeom prst="rect">
            <a:avLst/>
          </a:prstGeom>
          <a:noFill/>
          <a:ln w="9525" cap="flat" cmpd="sng">
            <a:solidFill>
              <a:srgbClr val="FF0000"/>
            </a:solidFill>
            <a:prstDash val="solid"/>
            <a:round/>
            <a:headEnd type="none" w="sm" len="sm"/>
            <a:tailEnd type="none" w="sm" len="sm"/>
          </a:ln>
        </p:spPr>
      </p:pic>
      <p:sp>
        <p:nvSpPr>
          <p:cNvPr id="110" name="Google Shape;110;p19"/>
          <p:cNvSpPr txBox="1"/>
          <p:nvPr/>
        </p:nvSpPr>
        <p:spPr>
          <a:xfrm>
            <a:off x="123950" y="1585827"/>
            <a:ext cx="4392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Perplexity Computer </a:t>
            </a:r>
            <a:r>
              <a:rPr lang="en" sz="1200">
                <a:solidFill>
                  <a:schemeClr val="dk1"/>
                </a:solidFill>
                <a:latin typeface="Calibri"/>
                <a:ea typeface="Calibri"/>
                <a:cs typeface="Calibri"/>
                <a:sym typeface="Calibri"/>
              </a:rPr>
              <a:t>- on cloud, accessible in browser and from mobile devices, you can pass tasks between devices; available to paid subscribers; Includes 20 models, custom skills, connectors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Includes Nvidia’s Nemotron-3 Super 120 Bln params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Personal Computer</a:t>
            </a:r>
            <a:r>
              <a:rPr lang="en" sz="1200">
                <a:solidFill>
                  <a:schemeClr val="dk1"/>
                </a:solidFill>
                <a:latin typeface="Calibri"/>
                <a:ea typeface="Calibri"/>
                <a:cs typeface="Calibri"/>
                <a:sym typeface="Calibri"/>
              </a:rPr>
              <a:t> (Waitlist) - desktop version for Mac Mini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https://www.youtube.com/watch?v=HIg16LDTY7s</a:t>
            </a:r>
            <a:endParaRPr sz="1200">
              <a:solidFill>
                <a:schemeClr val="dk1"/>
              </a:solidFill>
              <a:latin typeface="Calibri"/>
              <a:ea typeface="Calibri"/>
              <a:cs typeface="Calibri"/>
              <a:sym typeface="Calibri"/>
            </a:endParaRPr>
          </a:p>
        </p:txBody>
      </p:sp>
      <p:pic>
        <p:nvPicPr>
          <p:cNvPr id="111" name="Google Shape;111;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68950" y="1537149"/>
            <a:ext cx="2099063" cy="1175475"/>
          </a:xfrm>
          <a:prstGeom prst="rect">
            <a:avLst/>
          </a:prstGeom>
          <a:noFill/>
          <a:ln w="9525" cap="flat" cmpd="sng">
            <a:solidFill>
              <a:srgbClr val="FF0000"/>
            </a:solidFill>
            <a:prstDash val="solid"/>
            <a:round/>
            <a:headEnd type="none" w="sm" len="sm"/>
            <a:tailEnd type="none" w="sm" len="sm"/>
          </a:ln>
        </p:spPr>
      </p:pic>
      <p:sp>
        <p:nvSpPr>
          <p:cNvPr id="112" name="Google Shape;112;p19"/>
          <p:cNvSpPr txBox="1"/>
          <p:nvPr/>
        </p:nvSpPr>
        <p:spPr>
          <a:xfrm>
            <a:off x="123950" y="3957004"/>
            <a:ext cx="43926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Perplexity Comet Enterprise - AI-powered browser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Integrates AI directly into the work environment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https://www.youtube.com/watch?v=Sg5PHieQ2m8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13" name="Google Shape;113;p1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68950" y="3957000"/>
            <a:ext cx="1966704" cy="1034100"/>
          </a:xfrm>
          <a:prstGeom prst="rect">
            <a:avLst/>
          </a:prstGeom>
          <a:noFill/>
          <a:ln w="9525" cap="flat" cmpd="sng">
            <a:solidFill>
              <a:srgbClr val="FF0000"/>
            </a:solidFill>
            <a:prstDash val="solid"/>
            <a:round/>
            <a:headEnd type="none" w="sm" len="sm"/>
            <a:tailEnd type="none" w="sm" len="sm"/>
          </a:ln>
        </p:spPr>
      </p:pic>
      <p:sp>
        <p:nvSpPr>
          <p:cNvPr id="114" name="Google Shape;114;p19"/>
          <p:cNvSpPr txBox="1"/>
          <p:nvPr/>
        </p:nvSpPr>
        <p:spPr>
          <a:xfrm>
            <a:off x="123950" y="2761302"/>
            <a:ext cx="4392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Meta's Manus "My Computer" at $20/mo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https://www.youtube.com/watch?v=mghEyLvNeLo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Allows AI agents to access and control your desktop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Competing with OpenClaw and Perplexity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Examples: organizing thousands of photos, renaming invoices in bulk, building complete desktop applications using Swift</a:t>
            </a:r>
            <a:endParaRPr sz="1200">
              <a:solidFill>
                <a:schemeClr val="dk1"/>
              </a:solidFill>
              <a:latin typeface="Calibri"/>
              <a:ea typeface="Calibri"/>
              <a:cs typeface="Calibri"/>
              <a:sym typeface="Calibri"/>
            </a:endParaRPr>
          </a:p>
        </p:txBody>
      </p:sp>
      <p:pic>
        <p:nvPicPr>
          <p:cNvPr id="115" name="Google Shape;115;p19"/>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668950" y="2817775"/>
            <a:ext cx="1571550" cy="1034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p:nvPr/>
        </p:nvSpPr>
        <p:spPr>
          <a:xfrm>
            <a:off x="55075" y="63650"/>
            <a:ext cx="2243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Dispatch</a:t>
            </a:r>
            <a:endParaRPr sz="2000" b="1">
              <a:solidFill>
                <a:schemeClr val="dk1"/>
              </a:solidFill>
              <a:latin typeface="Calibri"/>
              <a:ea typeface="Calibri"/>
              <a:cs typeface="Calibri"/>
              <a:sym typeface="Calibri"/>
            </a:endParaRPr>
          </a:p>
        </p:txBody>
      </p:sp>
      <p:sp>
        <p:nvSpPr>
          <p:cNvPr id="121" name="Google Shape;121;p20"/>
          <p:cNvSpPr txBox="1"/>
          <p:nvPr/>
        </p:nvSpPr>
        <p:spPr>
          <a:xfrm>
            <a:off x="55075" y="545200"/>
            <a:ext cx="45519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 Dispatch </a:t>
            </a:r>
            <a:r>
              <a:rPr lang="en" sz="1200">
                <a:solidFill>
                  <a:schemeClr val="dk1"/>
                </a:solidFill>
                <a:latin typeface="Calibri"/>
                <a:ea typeface="Calibri"/>
                <a:cs typeface="Calibri"/>
                <a:sym typeface="Calibri"/>
              </a:rPr>
              <a:t>- remote access to Claude Cowork on MacOS from mobile claude app on your phone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Need to update Cowork and App, and pair them using QR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remote access acts similar to OpenClaw, but more secure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currently in "research preview" for Pro &amp; Max subscribers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Examples of tasks: organizing files, preparing documents, searching folders, running long background tasks -  essentially anything Claude Cowork can do on your desktop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Cowork runs each project inside a Linux virtual machine (VM) launched on your Mac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isn't operating directly on your file system -  it works inside that isolated VM with access only to folders and tools you explicitly grant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Inside the VM, there's a second layer of protection using OS-level tools (bubblewrap + seccomp) that further restrict what processes can do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https://support.claude.com/en/articles/13947068-assign-tasks-to-claude-from-anywhere-in-cowork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22" name="Google Shape;122;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91689" y="335625"/>
            <a:ext cx="4391526" cy="2298232"/>
          </a:xfrm>
          <a:prstGeom prst="rect">
            <a:avLst/>
          </a:prstGeom>
          <a:noFill/>
          <a:ln w="9525" cap="flat" cmpd="sng">
            <a:solidFill>
              <a:srgbClr val="FF0000"/>
            </a:solidFill>
            <a:prstDash val="solid"/>
            <a:round/>
            <a:headEnd type="none" w="sm" len="sm"/>
            <a:tailEnd type="none" w="sm" len="sm"/>
          </a:ln>
        </p:spPr>
      </p:pic>
      <p:sp>
        <p:nvSpPr>
          <p:cNvPr id="123" name="Google Shape;123;p20"/>
          <p:cNvSpPr txBox="1"/>
          <p:nvPr/>
        </p:nvSpPr>
        <p:spPr>
          <a:xfrm>
            <a:off x="55075" y="3790975"/>
            <a:ext cx="4551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Mamba-3 open-source State Space Model (SSM)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Released by researchers fr omPrinceton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1.5B params, good accuracy and high performance at smaller size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https://goombalab.github.io/blog/2026/mamba3-part1/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24" name="Google Shape;124;p20"/>
          <p:cNvSpPr txBox="1"/>
          <p:nvPr/>
        </p:nvSpPr>
        <p:spPr>
          <a:xfrm>
            <a:off x="4803225" y="3934950"/>
            <a:ext cx="42801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GPT-5.4 nano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Small, high-volume, cost efficient, via API only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in 400K, out 128K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Knowledge cutoff: August 31, 2025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​Text + image input; text output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​Pricing $0.2 / $1.25 (in/out)</a:t>
            </a:r>
            <a:endParaRPr sz="1200">
              <a:solidFill>
                <a:schemeClr val="dk1"/>
              </a:solidFill>
              <a:latin typeface="Calibri"/>
              <a:ea typeface="Calibri"/>
              <a:cs typeface="Calibri"/>
              <a:sym typeface="Calibri"/>
            </a:endParaRPr>
          </a:p>
        </p:txBody>
      </p:sp>
      <p:sp>
        <p:nvSpPr>
          <p:cNvPr id="125" name="Google Shape;125;p20"/>
          <p:cNvSpPr txBox="1"/>
          <p:nvPr/>
        </p:nvSpPr>
        <p:spPr>
          <a:xfrm>
            <a:off x="4803225" y="2848975"/>
            <a:ext cx="42801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 vs Pentagon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February - Anthropic was labeled as "supply chain risk"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March 9 - Anthropic filed a lawsuit in federal court in CA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March 17 - gov. filed a response asking to dismiss this lawsuit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March 24 - preliminary injunction hearing</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1"/>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6.45K subscribers, 274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31" name="Google Shape;131;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626400" y="110513"/>
            <a:ext cx="3294949" cy="492247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2"/>
          <p:cNvSpPr txBox="1"/>
          <p:nvPr/>
        </p:nvSpPr>
        <p:spPr>
          <a:xfrm>
            <a:off x="55075" y="27293"/>
            <a:ext cx="2775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Nvidia GTC AI Conference</a:t>
            </a:r>
            <a:endParaRPr sz="2000" b="1">
              <a:solidFill>
                <a:schemeClr val="dk1"/>
              </a:solidFill>
              <a:latin typeface="Calibri"/>
              <a:ea typeface="Calibri"/>
              <a:cs typeface="Calibri"/>
              <a:sym typeface="Calibri"/>
            </a:endParaRPr>
          </a:p>
        </p:txBody>
      </p:sp>
      <p:sp>
        <p:nvSpPr>
          <p:cNvPr id="137" name="Google Shape;137;p22"/>
          <p:cNvSpPr txBox="1"/>
          <p:nvPr/>
        </p:nvSpPr>
        <p:spPr>
          <a:xfrm>
            <a:off x="55075" y="502350"/>
            <a:ext cx="24942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a:solidFill>
                  <a:schemeClr val="dk1"/>
                </a:solidFill>
                <a:latin typeface="Calibri"/>
                <a:ea typeface="Calibri"/>
                <a:cs typeface="Calibri"/>
                <a:sym typeface="Calibri"/>
              </a:rPr>
              <a:t>March 16–19, 2026, San Jose, CA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GTC = GPU Technology Conference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$1T Projected Revenue for 2025-27</a:t>
            </a:r>
            <a:endParaRPr sz="1200">
              <a:solidFill>
                <a:schemeClr val="dk1"/>
              </a:solidFill>
              <a:latin typeface="Calibri"/>
              <a:ea typeface="Calibri"/>
              <a:cs typeface="Calibri"/>
              <a:sym typeface="Calibri"/>
            </a:endParaRPr>
          </a:p>
        </p:txBody>
      </p:sp>
      <p:pic>
        <p:nvPicPr>
          <p:cNvPr id="138" name="Google Shape;138;p2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830075" y="47453"/>
            <a:ext cx="1628826" cy="1009338"/>
          </a:xfrm>
          <a:prstGeom prst="rect">
            <a:avLst/>
          </a:prstGeom>
          <a:noFill/>
          <a:ln w="9525" cap="flat" cmpd="sng">
            <a:solidFill>
              <a:srgbClr val="FF0000"/>
            </a:solidFill>
            <a:prstDash val="solid"/>
            <a:round/>
            <a:headEnd type="none" w="sm" len="sm"/>
            <a:tailEnd type="none" w="sm" len="sm"/>
          </a:ln>
        </p:spPr>
      </p:pic>
      <p:sp>
        <p:nvSpPr>
          <p:cNvPr id="139" name="Google Shape;139;p22"/>
          <p:cNvSpPr txBox="1"/>
          <p:nvPr/>
        </p:nvSpPr>
        <p:spPr>
          <a:xfrm>
            <a:off x="55075" y="1172396"/>
            <a:ext cx="43926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Vera Rubin AI platform with 7 chips, 5 rack-scale systems, and a supercomputer designed for agentic AI workloads </a:t>
            </a:r>
            <a:r>
              <a:rPr lang="en" sz="1200" u="sng">
                <a:solidFill>
                  <a:schemeClr val="hlink"/>
                </a:solidFill>
                <a:latin typeface="Calibri"/>
                <a:ea typeface="Calibri"/>
                <a:cs typeface="Calibri"/>
                <a:sym typeface="Calibri"/>
                <a:hlinkClick r:id="rId4"/>
              </a:rPr>
              <a:t>https://blogs.nvidia.com/blog/gtc-2026-news/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Vera CPU</a:t>
            </a:r>
            <a:r>
              <a:rPr lang="en" sz="1200">
                <a:solidFill>
                  <a:schemeClr val="dk1"/>
                </a:solidFill>
                <a:latin typeface="Calibri"/>
                <a:ea typeface="Calibri"/>
                <a:cs typeface="Calibri"/>
                <a:sym typeface="Calibri"/>
              </a:rPr>
              <a:t> with custom "Olympus" core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Groq LP3 LPU </a:t>
            </a:r>
            <a:r>
              <a:rPr lang="en" sz="1200">
                <a:solidFill>
                  <a:schemeClr val="dk1"/>
                </a:solidFill>
                <a:latin typeface="Calibri"/>
                <a:ea typeface="Calibri"/>
                <a:cs typeface="Calibri"/>
                <a:sym typeface="Calibri"/>
              </a:rPr>
              <a:t>(Language Processing Unit) inference chip optimized for ultra-low-latency and trillion-parameter model execution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LPX rack </a:t>
            </a:r>
            <a:r>
              <a:rPr lang="en" sz="1200">
                <a:solidFill>
                  <a:schemeClr val="dk1"/>
                </a:solidFill>
                <a:latin typeface="Calibri"/>
                <a:ea typeface="Calibri"/>
                <a:cs typeface="Calibri"/>
                <a:sym typeface="Calibri"/>
              </a:rPr>
              <a:t>- 128 Groq 3 LPUs with the Vera Rubin NVL72 rack, promising 35x higher throughput per megawatt and 10x revenue potential for AI providers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Feynman</a:t>
            </a:r>
            <a:r>
              <a:rPr lang="en" sz="1200">
                <a:solidFill>
                  <a:schemeClr val="dk1"/>
                </a:solidFill>
                <a:latin typeface="Calibri"/>
                <a:ea typeface="Calibri"/>
                <a:cs typeface="Calibri"/>
                <a:sym typeface="Calibri"/>
              </a:rPr>
              <a:t> - next GPU generation after Rubin, with a new CPU called "</a:t>
            </a:r>
            <a:r>
              <a:rPr lang="en" sz="1200" b="1">
                <a:solidFill>
                  <a:srgbClr val="FF0000"/>
                </a:solidFill>
                <a:latin typeface="Calibri"/>
                <a:ea typeface="Calibri"/>
                <a:cs typeface="Calibri"/>
                <a:sym typeface="Calibri"/>
              </a:rPr>
              <a:t>Rosa</a:t>
            </a:r>
            <a:r>
              <a:rPr lang="en" sz="1200">
                <a:solidFill>
                  <a:schemeClr val="dk1"/>
                </a:solidFill>
                <a:latin typeface="Calibri"/>
                <a:ea typeface="Calibri"/>
                <a:cs typeface="Calibri"/>
                <a:sym typeface="Calibri"/>
              </a:rPr>
              <a:t>" (named after </a:t>
            </a:r>
            <a:r>
              <a:rPr lang="en" sz="1200" b="1">
                <a:solidFill>
                  <a:srgbClr val="FF0000"/>
                </a:solidFill>
                <a:latin typeface="Calibri"/>
                <a:ea typeface="Calibri"/>
                <a:cs typeface="Calibri"/>
                <a:sym typeface="Calibri"/>
              </a:rPr>
              <a:t>Rosalind Franklin</a:t>
            </a:r>
            <a:r>
              <a:rPr lang="en" sz="1200">
                <a:solidFill>
                  <a:schemeClr val="dk1"/>
                </a:solidFill>
                <a:latin typeface="Calibri"/>
                <a:ea typeface="Calibri"/>
                <a:cs typeface="Calibri"/>
                <a:sym typeface="Calibri"/>
              </a:rPr>
              <a:t> (whose X-ray crystallography revealed DNA's structure) + new </a:t>
            </a:r>
            <a:r>
              <a:rPr lang="en" sz="1200" b="1">
                <a:solidFill>
                  <a:srgbClr val="FF0000"/>
                </a:solidFill>
                <a:latin typeface="Calibri"/>
                <a:ea typeface="Calibri"/>
                <a:cs typeface="Calibri"/>
                <a:sym typeface="Calibri"/>
              </a:rPr>
              <a:t>LP40 LPU</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Plans for NVIDIA Space-1</a:t>
            </a:r>
            <a:r>
              <a:rPr lang="en" sz="1200">
                <a:solidFill>
                  <a:schemeClr val="dk1"/>
                </a:solidFill>
                <a:latin typeface="Calibri"/>
                <a:ea typeface="Calibri"/>
                <a:cs typeface="Calibri"/>
                <a:sym typeface="Calibri"/>
              </a:rPr>
              <a:t> - AI data centers in orbit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DGX Desktop Station</a:t>
            </a:r>
            <a:r>
              <a:rPr lang="en" sz="1200">
                <a:solidFill>
                  <a:schemeClr val="dk1"/>
                </a:solidFill>
                <a:latin typeface="Calibri"/>
                <a:ea typeface="Calibri"/>
                <a:cs typeface="Calibri"/>
                <a:sym typeface="Calibri"/>
              </a:rPr>
              <a:t> (Matt Berman, $100K) - GB300 Grace Blackwell Ultra offers 748 GB coherent memory and 20 petaflops of AI compute; </a:t>
            </a:r>
            <a:r>
              <a:rPr lang="en" sz="1200" b="1">
                <a:solidFill>
                  <a:srgbClr val="3C78D8"/>
                </a:solidFill>
                <a:latin typeface="Calibri"/>
                <a:ea typeface="Calibri"/>
                <a:cs typeface="Calibri"/>
                <a:sym typeface="Calibri"/>
              </a:rPr>
              <a:t>DGX Spark</a:t>
            </a:r>
            <a:r>
              <a:rPr lang="en" sz="1200">
                <a:solidFill>
                  <a:schemeClr val="dk1"/>
                </a:solidFill>
                <a:latin typeface="Calibri"/>
                <a:ea typeface="Calibri"/>
                <a:cs typeface="Calibri"/>
                <a:sym typeface="Calibri"/>
              </a:rPr>
              <a:t> - can cluster 4 desktop units together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RTX PRO 4500 Blackwell Server Edition</a:t>
            </a:r>
            <a:r>
              <a:rPr lang="en" sz="1200">
                <a:solidFill>
                  <a:schemeClr val="dk1"/>
                </a:solidFill>
                <a:latin typeface="Calibri"/>
                <a:ea typeface="Calibri"/>
                <a:cs typeface="Calibri"/>
                <a:sym typeface="Calibri"/>
              </a:rPr>
              <a:t> - for enterprise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Support for OpenClaw</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NVIDIA NemoClaw</a:t>
            </a:r>
            <a:r>
              <a:rPr lang="en" sz="1200">
                <a:solidFill>
                  <a:schemeClr val="dk1"/>
                </a:solidFill>
                <a:latin typeface="Calibri"/>
                <a:ea typeface="Calibri"/>
                <a:cs typeface="Calibri"/>
                <a:sym typeface="Calibri"/>
              </a:rPr>
              <a:t> - an open-source stack combining policy enforcement, network guardrails, and privacy routing to securely deploy "always-on" AI agents in enterprises</a:t>
            </a:r>
            <a:endParaRPr sz="1200">
              <a:solidFill>
                <a:schemeClr val="dk1"/>
              </a:solidFill>
              <a:latin typeface="Calibri"/>
              <a:ea typeface="Calibri"/>
              <a:cs typeface="Calibri"/>
              <a:sym typeface="Calibri"/>
            </a:endParaRPr>
          </a:p>
        </p:txBody>
      </p:sp>
      <p:sp>
        <p:nvSpPr>
          <p:cNvPr id="140" name="Google Shape;140;p22"/>
          <p:cNvSpPr txBox="1"/>
          <p:nvPr/>
        </p:nvSpPr>
        <p:spPr>
          <a:xfrm>
            <a:off x="4521400" y="1005225"/>
            <a:ext cx="44868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Nemotron Coalition</a:t>
            </a:r>
            <a:r>
              <a:rPr lang="en" sz="1200">
                <a:solidFill>
                  <a:schemeClr val="dk1"/>
                </a:solidFill>
                <a:latin typeface="Calibri"/>
                <a:ea typeface="Calibri"/>
                <a:cs typeface="Calibri"/>
                <a:sym typeface="Calibri"/>
              </a:rPr>
              <a:t> - partners around 6 model families:</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Nemotron (language/reasoning), </a:t>
            </a:r>
            <a:endParaRPr sz="1200">
              <a:solidFill>
                <a:srgbClr val="3C78D8"/>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Cosmos (world/vision)</a:t>
            </a:r>
            <a:endParaRPr sz="1200">
              <a:solidFill>
                <a:srgbClr val="3C78D8"/>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Isaac GR00T (robotics)</a:t>
            </a:r>
            <a:endParaRPr sz="1200">
              <a:solidFill>
                <a:srgbClr val="3C78D8"/>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Alpamayo (autonomous driving)</a:t>
            </a:r>
            <a:endParaRPr sz="1200">
              <a:solidFill>
                <a:srgbClr val="3C78D8"/>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BioNeMo (biology/chemistry)</a:t>
            </a:r>
            <a:endParaRPr sz="1200">
              <a:solidFill>
                <a:srgbClr val="3C78D8"/>
              </a:solidFill>
              <a:latin typeface="Calibri"/>
              <a:ea typeface="Calibri"/>
              <a:cs typeface="Calibri"/>
              <a:sym typeface="Calibri"/>
            </a:endParaRPr>
          </a:p>
          <a:p>
            <a:pPr marL="5143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Earth-2 (weather/climate) </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DLSS 5</a:t>
            </a:r>
            <a:r>
              <a:rPr lang="en" sz="1200">
                <a:solidFill>
                  <a:schemeClr val="dk1"/>
                </a:solidFill>
                <a:latin typeface="Calibri"/>
                <a:ea typeface="Calibri"/>
                <a:cs typeface="Calibri"/>
                <a:sym typeface="Calibri"/>
              </a:rPr>
              <a:t> - rendering for gaming (real time 4K)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IGX Thor (industrial edge AI platform) </a:t>
            </a:r>
            <a:r>
              <a:rPr lang="en" sz="1200">
                <a:solidFill>
                  <a:schemeClr val="dk1"/>
                </a:solidFill>
                <a:latin typeface="Calibri"/>
                <a:ea typeface="Calibri"/>
                <a:cs typeface="Calibri"/>
                <a:sym typeface="Calibri"/>
              </a:rPr>
              <a:t>- adopted by Caterpillar, Johnson &amp; Johnson, Hitachi Rail, and even CERN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NVIDIA's robotaxi </a:t>
            </a:r>
            <a:r>
              <a:rPr lang="en" sz="1200">
                <a:solidFill>
                  <a:schemeClr val="dk1"/>
                </a:solidFill>
                <a:latin typeface="Calibri"/>
                <a:ea typeface="Calibri"/>
                <a:cs typeface="Calibri"/>
                <a:sym typeface="Calibri"/>
              </a:rPr>
              <a:t>platform - BYD, Hyundai, Nissan, and Geely, plus a partnership with Uber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Open-H - Healthcare robotics tools</a:t>
            </a:r>
            <a:r>
              <a:rPr lang="en" sz="1200">
                <a:solidFill>
                  <a:schemeClr val="dk1"/>
                </a:solidFill>
                <a:latin typeface="Calibri"/>
                <a:ea typeface="Calibri"/>
                <a:cs typeface="Calibri"/>
                <a:sym typeface="Calibri"/>
              </a:rPr>
              <a:t> - (776 hours of surgical video), Cosmos-H (synthetic surgical data), and GR00T-H (vision language action model for surgical robots)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Olaf from Frozen</a:t>
            </a:r>
            <a:r>
              <a:rPr lang="en" sz="1200">
                <a:solidFill>
                  <a:schemeClr val="dk1"/>
                </a:solidFill>
                <a:latin typeface="Calibri"/>
                <a:ea typeface="Calibri"/>
                <a:cs typeface="Calibri"/>
                <a:sym typeface="Calibri"/>
              </a:rPr>
              <a:t> - a Disney robot - physical AI using Newton physics engine and NVIDIA Omniverse simulation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AWS deploying more than 1 Mln NVIDIA GPUs this year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Vera Rubin NVL72 </a:t>
            </a:r>
            <a:r>
              <a:rPr lang="en" sz="1200">
                <a:solidFill>
                  <a:schemeClr val="dk1"/>
                </a:solidFill>
                <a:latin typeface="Calibri"/>
                <a:ea typeface="Calibri"/>
                <a:cs typeface="Calibri"/>
                <a:sym typeface="Calibri"/>
              </a:rPr>
              <a:t>systems are already on Azure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NVIDIA Nemotron</a:t>
            </a:r>
            <a:r>
              <a:rPr lang="en" sz="1200">
                <a:solidFill>
                  <a:schemeClr val="dk1"/>
                </a:solidFill>
                <a:latin typeface="Calibri"/>
                <a:ea typeface="Calibri"/>
                <a:cs typeface="Calibri"/>
                <a:sym typeface="Calibri"/>
              </a:rPr>
              <a:t> models are available via Microsoft Foundry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Microsoft Security </a:t>
            </a:r>
            <a:r>
              <a:rPr lang="en" sz="1200">
                <a:solidFill>
                  <a:schemeClr val="dk1"/>
                </a:solidFill>
                <a:latin typeface="Calibri"/>
                <a:ea typeface="Calibri"/>
                <a:cs typeface="Calibri"/>
                <a:sym typeface="Calibri"/>
              </a:rPr>
              <a:t>reported a 160x improvement in finding and mitigating AI-based attacks using Nemotron and OpenShell</a:t>
            </a:r>
            <a:endParaRPr sz="1200">
              <a:solidFill>
                <a:schemeClr val="dk1"/>
              </a:solidFill>
              <a:latin typeface="Calibri"/>
              <a:ea typeface="Calibri"/>
              <a:cs typeface="Calibri"/>
              <a:sym typeface="Calibri"/>
            </a:endParaRPr>
          </a:p>
        </p:txBody>
      </p:sp>
      <p:sp>
        <p:nvSpPr>
          <p:cNvPr id="141" name="Google Shape;141;p22"/>
          <p:cNvSpPr txBox="1"/>
          <p:nvPr/>
        </p:nvSpPr>
        <p:spPr>
          <a:xfrm>
            <a:off x="4521400" y="158800"/>
            <a:ext cx="44868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Dynamo 1.0</a:t>
            </a:r>
            <a:r>
              <a:rPr lang="en" sz="1200">
                <a:solidFill>
                  <a:schemeClr val="dk1"/>
                </a:solidFill>
                <a:latin typeface="Calibri"/>
                <a:ea typeface="Calibri"/>
                <a:cs typeface="Calibri"/>
                <a:sym typeface="Calibri"/>
              </a:rPr>
              <a:t> - open-source "operating system for AI factories" that orchestrates inference at scale across GPU clusters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7x inference improvement; Blackwell GPUs, LangChain, vLLM</a:t>
            </a:r>
            <a:endParaRPr sz="1200">
              <a:solidFill>
                <a:schemeClr val="dk1"/>
              </a:solidFill>
              <a:latin typeface="Calibri"/>
              <a:ea typeface="Calibri"/>
              <a:cs typeface="Calibri"/>
              <a:sym typeface="Calibri"/>
            </a:endParaRPr>
          </a:p>
        </p:txBody>
      </p:sp>
      <p:pic>
        <p:nvPicPr>
          <p:cNvPr id="142" name="Google Shape;142;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8497145" y="1212875"/>
            <a:ext cx="585330" cy="1116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8" name="Google Shape;148;p23"/>
          <p:cNvSpPr txBox="1"/>
          <p:nvPr/>
        </p:nvSpPr>
        <p:spPr>
          <a:xfrm>
            <a:off x="55075" y="390050"/>
            <a:ext cx="44667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Mistral Small 4 Released March 15</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 Source (Apache 2.0)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MoE - 119B total params, 6B active epr token (128 experts, 4 active)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256k token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Combines reasoning (Magistral), vision/multimodal (Pixtral), and agentic coding (Devstral) in one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Configurable reasoning levels/modes: fast or high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Accepts both text and image inputs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40% faster end-to-end completion vs. Mistral Small 3</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3x more requests per second in throughput-optimized setups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Matches or surpasses GPT-OSS 120B on key benchmarks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Available via Mistral API, AI Studio, Hugging Face, and NVIDIA NIM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Minimum hardware: 4x NVIDIA HGX H100 or equivalent</a:t>
            </a:r>
            <a:endParaRPr sz="1200">
              <a:solidFill>
                <a:schemeClr val="dk1"/>
              </a:solidFill>
              <a:latin typeface="Calibri"/>
              <a:ea typeface="Calibri"/>
              <a:cs typeface="Calibri"/>
              <a:sym typeface="Calibri"/>
            </a:endParaRPr>
          </a:p>
        </p:txBody>
      </p:sp>
      <p:sp>
        <p:nvSpPr>
          <p:cNvPr id="149" name="Google Shape;149;p23"/>
          <p:cNvSpPr txBox="1"/>
          <p:nvPr/>
        </p:nvSpPr>
        <p:spPr>
          <a:xfrm>
            <a:off x="55075" y="2869250"/>
            <a:ext cx="446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Google AlphaEvolve </a:t>
            </a:r>
            <a:r>
              <a:rPr lang="en" sz="1200">
                <a:solidFill>
                  <a:schemeClr val="dk1"/>
                </a:solidFill>
                <a:latin typeface="Calibri"/>
                <a:ea typeface="Calibri"/>
                <a:cs typeface="Calibri"/>
                <a:sym typeface="Calibri"/>
              </a:rPr>
              <a:t>broke five long-standing math records in Ramsey theory, some held for over 20 years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Rather than solving problems directly, the AI evolved its own algorithms using Google's Gemini, and independently rediscovered techniques that mathematicians had developed by hand</a:t>
            </a:r>
            <a:endParaRPr sz="1200">
              <a:solidFill>
                <a:schemeClr val="dk1"/>
              </a:solidFill>
              <a:latin typeface="Calibri"/>
              <a:ea typeface="Calibri"/>
              <a:cs typeface="Calibri"/>
              <a:sym typeface="Calibri"/>
            </a:endParaRPr>
          </a:p>
        </p:txBody>
      </p:sp>
      <p:sp>
        <p:nvSpPr>
          <p:cNvPr id="150" name="Google Shape;150;p23"/>
          <p:cNvSpPr txBox="1"/>
          <p:nvPr/>
        </p:nvSpPr>
        <p:spPr>
          <a:xfrm>
            <a:off x="55075" y="3909536"/>
            <a:ext cx="446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Attention Residuals (Moonshot AI)</a:t>
            </a:r>
            <a:r>
              <a:rPr lang="en" sz="1200">
                <a:solidFill>
                  <a:schemeClr val="dk1"/>
                </a:solidFill>
                <a:latin typeface="Calibri"/>
                <a:ea typeface="Calibri"/>
                <a:cs typeface="Calibri"/>
                <a:sym typeface="Calibri"/>
              </a:rPr>
              <a:t> is a new transformer architecture that lets each layer selectively attend to earlier layers instead of mixing everything with equal weight.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gave models performance comparable to systems needing 25% more compute</a:t>
            </a:r>
            <a:endParaRPr sz="1200">
              <a:solidFill>
                <a:schemeClr val="dk1"/>
              </a:solidFill>
              <a:latin typeface="Calibri"/>
              <a:ea typeface="Calibri"/>
              <a:cs typeface="Calibri"/>
              <a:sym typeface="Calibri"/>
            </a:endParaRPr>
          </a:p>
        </p:txBody>
      </p:sp>
      <p:sp>
        <p:nvSpPr>
          <p:cNvPr id="151" name="Google Shape;151;p23"/>
          <p:cNvSpPr txBox="1"/>
          <p:nvPr/>
        </p:nvSpPr>
        <p:spPr>
          <a:xfrm>
            <a:off x="4619875" y="390050"/>
            <a:ext cx="446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GLM OCR - a tiny 0.9B-params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Document reading, handles tables, formulas, and complex layouts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breaks pages into regions, processes each separately, predicts multiple words at once, and outputs structured JSON or Markdown, and it is ~ 50% faster than traditional OCR</a:t>
            </a:r>
            <a:endParaRPr sz="1200">
              <a:solidFill>
                <a:schemeClr val="dk1"/>
              </a:solidFill>
              <a:latin typeface="Calibri"/>
              <a:ea typeface="Calibri"/>
              <a:cs typeface="Calibri"/>
              <a:sym typeface="Calibri"/>
            </a:endParaRPr>
          </a:p>
        </p:txBody>
      </p:sp>
      <p:sp>
        <p:nvSpPr>
          <p:cNvPr id="152" name="Google Shape;152;p23"/>
          <p:cNvSpPr txBox="1"/>
          <p:nvPr/>
        </p:nvSpPr>
        <p:spPr>
          <a:xfrm>
            <a:off x="4619875" y="1423600"/>
            <a:ext cx="446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 Viking (Volt Engine) - open-source AI memory system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Organizes information like a file system with folders and directories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stores 3 versions of every item (summary, overview, full content)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improved agent task completion from 35% to 52% while using fewer tokens</a:t>
            </a:r>
            <a:endParaRPr sz="1200">
              <a:solidFill>
                <a:schemeClr val="dk1"/>
              </a:solidFill>
              <a:latin typeface="Calibri"/>
              <a:ea typeface="Calibri"/>
              <a:cs typeface="Calibri"/>
              <a:sym typeface="Calibri"/>
            </a:endParaRPr>
          </a:p>
        </p:txBody>
      </p:sp>
      <p:sp>
        <p:nvSpPr>
          <p:cNvPr id="153" name="Google Shape;153;p23"/>
          <p:cNvSpPr txBox="1"/>
          <p:nvPr/>
        </p:nvSpPr>
        <p:spPr>
          <a:xfrm>
            <a:off x="4619875" y="2457150"/>
            <a:ext cx="446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IBM Granite 4.0 - small (1B) Speech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a compact, multilingual speech model supporting 6+ languages with translation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 source (Apache 2.0)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Error word error is only 5.52% (on Open ASR leaderboard)</a:t>
            </a:r>
            <a:endParaRPr sz="1200">
              <a:solidFill>
                <a:schemeClr val="dk1"/>
              </a:solidFill>
              <a:latin typeface="Calibri"/>
              <a:ea typeface="Calibri"/>
              <a:cs typeface="Calibri"/>
              <a:sym typeface="Calibri"/>
            </a:endParaRPr>
          </a:p>
        </p:txBody>
      </p:sp>
      <p:sp>
        <p:nvSpPr>
          <p:cNvPr id="154" name="Google Shape;154;p23"/>
          <p:cNvSpPr txBox="1"/>
          <p:nvPr/>
        </p:nvSpPr>
        <p:spPr>
          <a:xfrm>
            <a:off x="4619875" y="3490700"/>
            <a:ext cx="4466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RLM (Recursive Language Models)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Finding info in long context by recursively going deeper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RLM dramatically outperforms both RAG and standard agents, but it is slower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https://www.youtube.com/watch?v=qznFV59f3Uk</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p:nvPr/>
        </p:nvSpPr>
        <p:spPr>
          <a:xfrm>
            <a:off x="55075" y="63650"/>
            <a:ext cx="2449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Updates</a:t>
            </a:r>
            <a:endParaRPr sz="2000" b="1">
              <a:solidFill>
                <a:schemeClr val="dk1"/>
              </a:solidFill>
              <a:latin typeface="Calibri"/>
              <a:ea typeface="Calibri"/>
              <a:cs typeface="Calibri"/>
              <a:sym typeface="Calibri"/>
            </a:endParaRPr>
          </a:p>
        </p:txBody>
      </p:sp>
      <p:sp>
        <p:nvSpPr>
          <p:cNvPr id="160" name="Google Shape;160;p24"/>
          <p:cNvSpPr txBox="1"/>
          <p:nvPr/>
        </p:nvSpPr>
        <p:spPr>
          <a:xfrm>
            <a:off x="55075" y="431305"/>
            <a:ext cx="43926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https://github.com/openclaw/openclaw</a:t>
            </a:r>
            <a:r>
              <a:rPr lang="en" sz="1200">
                <a:solidFill>
                  <a:schemeClr val="dk1"/>
                </a:solidFill>
                <a:latin typeface="Calibri"/>
                <a:ea typeface="Calibri"/>
                <a:cs typeface="Calibri"/>
                <a:sym typeface="Calibri"/>
              </a:rPr>
              <a:t> - 325K</a:t>
            </a:r>
            <a:endParaRPr sz="1200">
              <a:solidFill>
                <a:schemeClr val="dk1"/>
              </a:solidFill>
              <a:latin typeface="Calibri"/>
              <a:ea typeface="Calibri"/>
              <a:cs typeface="Calibri"/>
              <a:sym typeface="Calibri"/>
            </a:endParaRPr>
          </a:p>
        </p:txBody>
      </p:sp>
      <p:sp>
        <p:nvSpPr>
          <p:cNvPr id="161" name="Google Shape;161;p24"/>
          <p:cNvSpPr txBox="1"/>
          <p:nvPr/>
        </p:nvSpPr>
        <p:spPr>
          <a:xfrm>
            <a:off x="55067" y="740994"/>
            <a:ext cx="43926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https://github.com/openclaw/openclaw/releases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2026.3.13 - fixes, Android chat settings redesign, memory injection fix, Docker timezone support, browser batch automation improvements , iOS onboarding welcome pager, Chrome DevTools MCP attach mode for browser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2026.3.12 - refreshed Control UI/dashboard-v2, GPT-5.4 and Claude fast-mode toggles, Ollama/vLLM/SGLang moved to provider-plugin architecture, Kubernetes starter install docs, and numerous security patches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2026.3.11 - WebSocket origin validation security fix, Hunter Alpha and Healer Alpha stealth models on OpenRouter, iOS Home canvas redesign, multimodal image/audio memory indexing, and first-class Ollama onboarding</a:t>
            </a:r>
            <a:endParaRPr sz="1200">
              <a:solidFill>
                <a:schemeClr val="dk1"/>
              </a:solidFill>
              <a:latin typeface="Calibri"/>
              <a:ea typeface="Calibri"/>
              <a:cs typeface="Calibri"/>
              <a:sym typeface="Calibri"/>
            </a:endParaRPr>
          </a:p>
        </p:txBody>
      </p:sp>
      <p:sp>
        <p:nvSpPr>
          <p:cNvPr id="162" name="Google Shape;162;p24"/>
          <p:cNvSpPr txBox="1"/>
          <p:nvPr/>
        </p:nvSpPr>
        <p:spPr>
          <a:xfrm>
            <a:off x="4676367" y="1858364"/>
            <a:ext cx="4392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Baaidu DuClaw Service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Zero-deployment, fully managed OpenClaw service launched by Baidu AI Cloud on March 11, 2026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Gives users instant access to the OpenClaw agent platform without any technical setup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Comes pre-loaded with Baidu-native skills, tools, and data sources  (Baidu Search, Baidu Baike (encyclopedia), Baidu Scholar; Chinese LLMs DeepSeek, Kimi-K2.5, GLM-5, MiniMax-M2.5)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$2.59 / month</a:t>
            </a:r>
            <a:endParaRPr sz="1200">
              <a:solidFill>
                <a:schemeClr val="dk1"/>
              </a:solidFill>
              <a:latin typeface="Calibri"/>
              <a:ea typeface="Calibri"/>
              <a:cs typeface="Calibri"/>
              <a:sym typeface="Calibri"/>
            </a:endParaRPr>
          </a:p>
        </p:txBody>
      </p:sp>
      <p:pic>
        <p:nvPicPr>
          <p:cNvPr id="163" name="Google Shape;163;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526250" y="63650"/>
            <a:ext cx="2388549" cy="516200"/>
          </a:xfrm>
          <a:prstGeom prst="rect">
            <a:avLst/>
          </a:prstGeom>
          <a:noFill/>
          <a:ln>
            <a:noFill/>
          </a:ln>
        </p:spPr>
      </p:pic>
      <p:sp>
        <p:nvSpPr>
          <p:cNvPr id="164" name="Google Shape;164;p24"/>
          <p:cNvSpPr txBox="1"/>
          <p:nvPr/>
        </p:nvSpPr>
        <p:spPr>
          <a:xfrm>
            <a:off x="4676367" y="634389"/>
            <a:ext cx="4392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OpenClaw's /btw (By the Way) Mode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/btw allows to run a completely separate, one-shot query that uses your current session as background context, answers only your side question (read-only, no tool calls), never saves into conversation history, doesn't interrupt or pause the main task, disappears after delivery (doesn't survive a page reload)</a:t>
            </a:r>
            <a:endParaRPr sz="1200">
              <a:solidFill>
                <a:schemeClr val="dk1"/>
              </a:solidFill>
              <a:latin typeface="Calibri"/>
              <a:ea typeface="Calibri"/>
              <a:cs typeface="Calibri"/>
              <a:sym typeface="Calibri"/>
            </a:endParaRPr>
          </a:p>
        </p:txBody>
      </p:sp>
      <p:sp>
        <p:nvSpPr>
          <p:cNvPr id="165" name="Google Shape;165;p24"/>
          <p:cNvSpPr txBox="1"/>
          <p:nvPr/>
        </p:nvSpPr>
        <p:spPr>
          <a:xfrm>
            <a:off x="55067" y="3267094"/>
            <a:ext cx="4392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Lists of "Claws"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https://github.com/mergisi/awesome-openclaw-agents</a:t>
            </a:r>
            <a:r>
              <a:rPr lang="en" sz="1200">
                <a:solidFill>
                  <a:schemeClr val="dk1"/>
                </a:solidFill>
                <a:latin typeface="Calibri"/>
                <a:ea typeface="Calibri"/>
                <a:cs typeface="Calibri"/>
                <a:sym typeface="Calibri"/>
              </a:rPr>
              <a:t> - 177 production-ready AI agent templates (SOUL.md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https://github.com/LHL3341/awesome-claws</a:t>
            </a:r>
            <a:r>
              <a:rPr lang="en" sz="1200">
                <a:solidFill>
                  <a:schemeClr val="dk1"/>
                </a:solidFill>
                <a:latin typeface="Calibri"/>
                <a:ea typeface="Calibri"/>
                <a:cs typeface="Calibri"/>
                <a:sym typeface="Calibri"/>
              </a:rPr>
              <a:t> - OpenClaw related products, skills, communities, and ecosystem resources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https://github.com/machinae/awesome-claws</a:t>
            </a:r>
            <a:r>
              <a:rPr lang="en" sz="1200">
                <a:solidFill>
                  <a:schemeClr val="dk1"/>
                </a:solidFill>
                <a:latin typeface="Calibri"/>
                <a:ea typeface="Calibri"/>
                <a:cs typeface="Calibri"/>
                <a:sym typeface="Calibri"/>
              </a:rPr>
              <a:t> - 36 OpenClaw inspired agents</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p:nvPr/>
        </p:nvSpPr>
        <p:spPr>
          <a:xfrm>
            <a:off x="55075" y="44600"/>
            <a:ext cx="2449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Tencent QClaw</a:t>
            </a:r>
            <a:endParaRPr sz="2000" b="1">
              <a:solidFill>
                <a:schemeClr val="dk1"/>
              </a:solidFill>
              <a:latin typeface="Calibri"/>
              <a:ea typeface="Calibri"/>
              <a:cs typeface="Calibri"/>
              <a:sym typeface="Calibri"/>
            </a:endParaRPr>
          </a:p>
        </p:txBody>
      </p:sp>
      <p:sp>
        <p:nvSpPr>
          <p:cNvPr id="171" name="Google Shape;171;p25"/>
          <p:cNvSpPr txBox="1"/>
          <p:nvPr/>
        </p:nvSpPr>
        <p:spPr>
          <a:xfrm>
            <a:off x="55067" y="370989"/>
            <a:ext cx="43926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Tencent QClaw - control via WeChat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http://www.youtube.com/watch?v=eL82O-HVd28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1.4 Bln WeChat users can now control their home or office PCs remotely just by sending voice or text messages in WeChat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QClaw runs locally on your machine (no cloud)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Alibaba (Wukong), Baidu (Duclaw), ByteDance, Xiaomi, and Nvidia are all going all-in on AI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for Non-Technical Workers (HR, admin, and sales staff)</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QClaw is removing the technical barriers and making it accessible to the masses. With features like pre-loaded task templates, it requires zero configuration</a:t>
            </a:r>
            <a:endParaRPr sz="1200">
              <a:solidFill>
                <a:schemeClr val="dk1"/>
              </a:solidFill>
              <a:latin typeface="Calibri"/>
              <a:ea typeface="Calibri"/>
              <a:cs typeface="Calibri"/>
              <a:sym typeface="Calibri"/>
            </a:endParaRPr>
          </a:p>
        </p:txBody>
      </p:sp>
      <p:pic>
        <p:nvPicPr>
          <p:cNvPr id="172" name="Google Shape;172;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42073" y="746325"/>
            <a:ext cx="1741650" cy="1299550"/>
          </a:xfrm>
          <a:prstGeom prst="rect">
            <a:avLst/>
          </a:prstGeom>
          <a:noFill/>
          <a:ln w="9525" cap="flat" cmpd="sng">
            <a:solidFill>
              <a:srgbClr val="FF0000"/>
            </a:solidFill>
            <a:prstDash val="solid"/>
            <a:round/>
            <a:headEnd type="none" w="sm" len="sm"/>
            <a:tailEnd type="none" w="sm" len="sm"/>
          </a:ln>
        </p:spPr>
      </p:pic>
      <p:sp>
        <p:nvSpPr>
          <p:cNvPr id="173" name="Google Shape;173;p25"/>
          <p:cNvSpPr txBox="1"/>
          <p:nvPr/>
        </p:nvSpPr>
        <p:spPr>
          <a:xfrm>
            <a:off x="55067" y="2514114"/>
            <a:ext cx="4392600" cy="2281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MiniMax M2.7 - 229B params proprietary reasoning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Pricing: $0.30/$1.20 in/out per 1M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MoE 230B total, 10B active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window 205K in / 131K out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GLM-5-level performance at one-third the cost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Self-evolution: the model actively participated in its own training, boosting performance by 30%</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achieves high scores on benchmarks; Can autonomously handle 30–50% of ML research workflows and excels at complex office productivity tasks in Word, Excel, and PowerPoint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https://www.minimax.io/news/minimax-m27-en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https://www.minimax.io/models/text/m27</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https://artificialanalysis.ai/models/minimax-m2-7</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74" name="Google Shape;174;p2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71033" y="2335947"/>
            <a:ext cx="3200399" cy="1139199"/>
          </a:xfrm>
          <a:prstGeom prst="rect">
            <a:avLst/>
          </a:prstGeom>
          <a:noFill/>
          <a:ln w="9525" cap="flat" cmpd="sng">
            <a:solidFill>
              <a:srgbClr val="FF0000"/>
            </a:solidFill>
            <a:prstDash val="solid"/>
            <a:round/>
            <a:headEnd type="none" w="sm" len="sm"/>
            <a:tailEnd type="none" w="sm" len="sm"/>
          </a:ln>
        </p:spPr>
      </p:pic>
      <p:sp>
        <p:nvSpPr>
          <p:cNvPr id="175" name="Google Shape;175;p25"/>
          <p:cNvSpPr txBox="1"/>
          <p:nvPr/>
        </p:nvSpPr>
        <p:spPr>
          <a:xfrm>
            <a:off x="4658642" y="3560389"/>
            <a:ext cx="43926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MiniMax MaxClaw - cloud-hosted AI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on OpenClaw framework, uses MiniMax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https://maxclaw.ai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 setup required, 10 sec deployment, Always-on, Telegram, WhatsApp, Slack, and Discord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Web browsing, code execution, file analysis, automation, and scheduling; Persistent memory; very cheap - 1/7 to 1/20 the cost of Claude Sonnet</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p:nvPr/>
        </p:nvSpPr>
        <p:spPr>
          <a:xfrm>
            <a:off x="165998" y="537870"/>
            <a:ext cx="43926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uses </a:t>
            </a:r>
            <a:r>
              <a:rPr lang="en" sz="1200" b="1">
                <a:solidFill>
                  <a:srgbClr val="3C78D8"/>
                </a:solidFill>
                <a:latin typeface="Calibri"/>
                <a:ea typeface="Calibri"/>
                <a:cs typeface="Calibri"/>
                <a:sym typeface="Calibri"/>
              </a:rPr>
              <a:t>CDP (Chrome DevTools Protocol) </a:t>
            </a:r>
            <a:r>
              <a:rPr lang="en" sz="1200">
                <a:solidFill>
                  <a:schemeClr val="dk1"/>
                </a:solidFill>
                <a:latin typeface="Calibri"/>
                <a:ea typeface="Calibri"/>
                <a:cs typeface="Calibri"/>
                <a:sym typeface="Calibri"/>
              </a:rPr>
              <a:t>as the core mechanism for browser control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key feature is the </a:t>
            </a:r>
            <a:r>
              <a:rPr lang="en" sz="1200" b="1">
                <a:solidFill>
                  <a:srgbClr val="3C78D8"/>
                </a:solidFill>
                <a:latin typeface="Calibri"/>
                <a:ea typeface="Calibri"/>
                <a:cs typeface="Calibri"/>
                <a:sym typeface="Calibri"/>
              </a:rPr>
              <a:t>OpenClaw Browser Relay,</a:t>
            </a:r>
            <a:r>
              <a:rPr lang="en" sz="1200">
                <a:solidFill>
                  <a:schemeClr val="dk1"/>
                </a:solidFill>
                <a:latin typeface="Calibri"/>
                <a:ea typeface="Calibri"/>
                <a:cs typeface="Calibri"/>
                <a:sym typeface="Calibri"/>
              </a:rPr>
              <a:t> a lightweight </a:t>
            </a:r>
            <a:r>
              <a:rPr lang="en" sz="1200" b="1">
                <a:solidFill>
                  <a:srgbClr val="3C78D8"/>
                </a:solidFill>
                <a:latin typeface="Calibri"/>
                <a:ea typeface="Calibri"/>
                <a:cs typeface="Calibri"/>
                <a:sym typeface="Calibri"/>
              </a:rPr>
              <a:t>Chrome extension</a:t>
            </a:r>
            <a:r>
              <a:rPr lang="en" sz="1200">
                <a:solidFill>
                  <a:schemeClr val="dk1"/>
                </a:solidFill>
                <a:latin typeface="Calibri"/>
                <a:ea typeface="Calibri"/>
                <a:cs typeface="Calibri"/>
                <a:sym typeface="Calibri"/>
              </a:rPr>
              <a:t> available on the Chrome Web Store.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you click it on any tab, it </a:t>
            </a:r>
            <a:r>
              <a:rPr lang="en" sz="1200" b="1">
                <a:solidFill>
                  <a:srgbClr val="3C78D8"/>
                </a:solidFill>
                <a:latin typeface="Calibri"/>
                <a:ea typeface="Calibri"/>
                <a:cs typeface="Calibri"/>
                <a:sym typeface="Calibri"/>
              </a:rPr>
              <a:t>installs a local relay server on your machine</a:t>
            </a:r>
            <a:r>
              <a:rPr lang="en" sz="1200">
                <a:solidFill>
                  <a:schemeClr val="dk1"/>
                </a:solidFill>
                <a:latin typeface="Calibri"/>
                <a:ea typeface="Calibri"/>
                <a:cs typeface="Calibri"/>
                <a:sym typeface="Calibri"/>
              </a:rPr>
              <a:t> that exposes a controlled </a:t>
            </a:r>
            <a:r>
              <a:rPr lang="en" sz="1200" b="1">
                <a:solidFill>
                  <a:srgbClr val="6AA84F"/>
                </a:solidFill>
                <a:latin typeface="Calibri"/>
                <a:ea typeface="Calibri"/>
                <a:cs typeface="Calibri"/>
                <a:sym typeface="Calibri"/>
              </a:rPr>
              <a:t>WebSocket API to communicate with Chrome</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relay forwards CDP commands between OpenClaw and your actual browser tab, including all your existing logged-in sessions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uses Playwright on top of CDP for advanced actions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internal flow is: </a:t>
            </a:r>
            <a:r>
              <a:rPr lang="en" sz="1200" u="sng">
                <a:solidFill>
                  <a:schemeClr val="hlink"/>
                </a:solidFill>
                <a:latin typeface="Calibri"/>
                <a:ea typeface="Calibri"/>
                <a:cs typeface="Calibri"/>
                <a:sym typeface="Calibri"/>
                <a:hlinkClick r:id="rId3"/>
              </a:rPr>
              <a:t>https://docs.openclaw.ai/tools/browser</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small control server accepts HTTP requests from the AI 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connects to Chromium-based browsers (Chrome, Brave, Edge) via CDP; Playwright is layered on top of CDP for actions like click, type, snapshot, PDF export; If Playwright is unavailable, only basic non-Playwright CDP operations run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exposes three distinct modes, each using CDP differently: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Extension Relay (port 18792)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OpenClaw-Managed (port 18800)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Remote CDP - Connects to a remote Chromium via cdpUrl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connected, the agent interacts with the browser using snapshot-based element referencing</a:t>
            </a:r>
            <a:endParaRPr sz="1200">
              <a:solidFill>
                <a:schemeClr val="dk1"/>
              </a:solidFill>
              <a:latin typeface="Calibri"/>
              <a:ea typeface="Calibri"/>
              <a:cs typeface="Calibri"/>
              <a:sym typeface="Calibri"/>
            </a:endParaRPr>
          </a:p>
        </p:txBody>
      </p:sp>
      <p:sp>
        <p:nvSpPr>
          <p:cNvPr id="181" name="Google Shape;181;p26"/>
          <p:cNvSpPr txBox="1"/>
          <p:nvPr/>
        </p:nvSpPr>
        <p:spPr>
          <a:xfrm>
            <a:off x="166000" y="147800"/>
            <a:ext cx="299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Uses CDP</a:t>
            </a:r>
            <a:endParaRPr sz="2000" b="1">
              <a:solidFill>
                <a:schemeClr val="dk1"/>
              </a:solidFill>
              <a:latin typeface="Calibri"/>
              <a:ea typeface="Calibri"/>
              <a:cs typeface="Calibri"/>
              <a:sym typeface="Calibri"/>
            </a:endParaRPr>
          </a:p>
        </p:txBody>
      </p:sp>
      <p:pic>
        <p:nvPicPr>
          <p:cNvPr id="182" name="Google Shape;182;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668675" y="382800"/>
            <a:ext cx="2388549" cy="516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p:nvPr/>
        </p:nvSpPr>
        <p:spPr>
          <a:xfrm>
            <a:off x="126098" y="530695"/>
            <a:ext cx="43926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Tandem - free, open-source browser for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Designed from the ground up for human + AI agent collaboration,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https://github.com/hydro13/tandem-browser</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https://www.youtube.com/watch?v=ByQWanSmIQU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https://x.com/steipete/status/2033451685352481214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Tandem provides a 250-endpoint local API covering tabs, navigation, page snapshots, sessions, DevTools, network mocking, and controlled automation - all purpose-built for agentic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also has a 6-layer security model that accounts for the fact that an AI has live access to web content, and it keeps the human in the loop at ambiguous or risky decision points with explicit handoff moments instead of silent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Research mode - OpenClaw can open multiple tabs, read pages, and summarize them while you work in the background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HTML analysis - the agent can inspect the page structure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Logged-in sessions - you authenticate inside Tandem and grant OpenClaw access to those accounts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Human-in-the-loop - OpenClaw can pause and ask you to confirm before taking risky actions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Wingman panel - a chat interface connecting OpenClaw directly to your browser session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Everything runs on your own machine</a:t>
            </a:r>
            <a:endParaRPr sz="1200">
              <a:solidFill>
                <a:schemeClr val="dk1"/>
              </a:solidFill>
              <a:latin typeface="Calibri"/>
              <a:ea typeface="Calibri"/>
              <a:cs typeface="Calibri"/>
              <a:sym typeface="Calibri"/>
            </a:endParaRPr>
          </a:p>
        </p:txBody>
      </p:sp>
      <p:sp>
        <p:nvSpPr>
          <p:cNvPr id="188" name="Google Shape;188;p27"/>
          <p:cNvSpPr txBox="1"/>
          <p:nvPr/>
        </p:nvSpPr>
        <p:spPr>
          <a:xfrm>
            <a:off x="166000" y="147800"/>
            <a:ext cx="431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Tandem - Browser for OpenClaw</a:t>
            </a:r>
            <a:endParaRPr sz="2000" b="1">
              <a:solidFill>
                <a:schemeClr val="dk1"/>
              </a:solidFill>
              <a:latin typeface="Calibri"/>
              <a:ea typeface="Calibri"/>
              <a:cs typeface="Calibri"/>
              <a:sym typeface="Calibri"/>
            </a:endParaRPr>
          </a:p>
        </p:txBody>
      </p:sp>
      <p:pic>
        <p:nvPicPr>
          <p:cNvPr id="189" name="Google Shape;189;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668675" y="382800"/>
            <a:ext cx="2388549" cy="516200"/>
          </a:xfrm>
          <a:prstGeom prst="rect">
            <a:avLst/>
          </a:prstGeom>
          <a:noFill/>
          <a:ln>
            <a:noFill/>
          </a:ln>
        </p:spPr>
      </p:pic>
      <p:pic>
        <p:nvPicPr>
          <p:cNvPr id="190" name="Google Shape;190;p27"/>
          <p:cNvPicPr preferRelativeResize="0"/>
          <p:nvPr/>
        </p:nvPicPr>
        <p:blipFill>
          <a:blip r:embed="rId7">
            <a:alphaModFix/>
          </a:blip>
          <a:stretch>
            <a:fillRect/>
          </a:stretch>
        </p:blipFill>
        <p:spPr>
          <a:xfrm>
            <a:off x="5388848" y="1223650"/>
            <a:ext cx="2762250" cy="2171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8"/>
          <p:cNvSpPr txBox="1"/>
          <p:nvPr/>
        </p:nvSpPr>
        <p:spPr>
          <a:xfrm>
            <a:off x="72925" y="530700"/>
            <a:ext cx="44772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Matt Berman - 14 OpenClaw use cases and best practices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https://www.youtube.com/watch?v=M-3w1wEv0M0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threaded conversations through Telegram to improve AI memory and context by separating topics into dedicated chat threads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different AI models for specific tasks rather than one model for everything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Delegate frequently to sub-agents to avoid blocking the main 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Implement multi-layered security measures against prompt injection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Schedule automated cron jobs for routine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logging and documentation for debugging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Regular system updates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subscription services instead of APIs for cost savings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Proper backup strategies with Git and cloud storage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Write comprehensive tests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Batch notifications to reduce distractions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voice memo functionality for hands-free interaction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here.now for publishing AI-generated content</a:t>
            </a:r>
            <a:endParaRPr sz="1200">
              <a:solidFill>
                <a:schemeClr val="dk1"/>
              </a:solidFill>
              <a:latin typeface="Calibri"/>
              <a:ea typeface="Calibri"/>
              <a:cs typeface="Calibri"/>
              <a:sym typeface="Calibri"/>
            </a:endParaRPr>
          </a:p>
        </p:txBody>
      </p:sp>
      <p:sp>
        <p:nvSpPr>
          <p:cNvPr id="196" name="Google Shape;196;p28"/>
          <p:cNvSpPr txBox="1"/>
          <p:nvPr/>
        </p:nvSpPr>
        <p:spPr>
          <a:xfrm>
            <a:off x="166000" y="147800"/>
            <a:ext cx="431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 Best Practices</a:t>
            </a:r>
            <a:endParaRPr sz="2000" b="1">
              <a:solidFill>
                <a:schemeClr val="dk1"/>
              </a:solidFill>
              <a:latin typeface="Calibri"/>
              <a:ea typeface="Calibri"/>
              <a:cs typeface="Calibri"/>
              <a:sym typeface="Calibri"/>
            </a:endParaRPr>
          </a:p>
        </p:txBody>
      </p:sp>
      <p:pic>
        <p:nvPicPr>
          <p:cNvPr id="197" name="Google Shape;197;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47800" y="147800"/>
            <a:ext cx="2388549" cy="516200"/>
          </a:xfrm>
          <a:prstGeom prst="rect">
            <a:avLst/>
          </a:prstGeom>
          <a:noFill/>
          <a:ln>
            <a:noFill/>
          </a:ln>
        </p:spPr>
      </p:pic>
      <p:pic>
        <p:nvPicPr>
          <p:cNvPr id="198" name="Google Shape;198;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47800" y="801800"/>
            <a:ext cx="2205674" cy="1230950"/>
          </a:xfrm>
          <a:prstGeom prst="rect">
            <a:avLst/>
          </a:prstGeom>
          <a:noFill/>
          <a:ln w="9525" cap="flat" cmpd="sng">
            <a:solidFill>
              <a:srgbClr val="FF0000"/>
            </a:solidFill>
            <a:prstDash val="solid"/>
            <a:round/>
            <a:headEnd type="none" w="sm" len="sm"/>
            <a:tailEnd type="none" w="sm" len="sm"/>
          </a:ln>
        </p:spPr>
      </p:pic>
      <p:sp>
        <p:nvSpPr>
          <p:cNvPr id="199" name="Google Shape;199;p28"/>
          <p:cNvSpPr txBox="1"/>
          <p:nvPr/>
        </p:nvSpPr>
        <p:spPr>
          <a:xfrm>
            <a:off x="72925" y="3745600"/>
            <a:ext cx="44772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Use executable CLI commands or scripts instead of textual skills</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to save tokens where possible </a:t>
            </a:r>
            <a:endParaRPr sz="1200">
              <a:solidFill>
                <a:schemeClr val="dk1"/>
              </a:solidFill>
              <a:latin typeface="Calibri"/>
              <a:ea typeface="Calibri"/>
              <a:cs typeface="Calibri"/>
              <a:sym typeface="Calibri"/>
            </a:endParaRPr>
          </a:p>
        </p:txBody>
      </p:sp>
      <p:sp>
        <p:nvSpPr>
          <p:cNvPr id="200" name="Google Shape;200;p28"/>
          <p:cNvSpPr txBox="1"/>
          <p:nvPr/>
        </p:nvSpPr>
        <p:spPr>
          <a:xfrm>
            <a:off x="4604416" y="2835621"/>
            <a:ext cx="4477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instead of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https://www.youtube.com/watch?v=ODKMmKCgrvw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Breaks agents into four zones: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triggers (what activates the agent),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(system prompts and memory),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tools (capabilities for interacting with systems),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output (where work is stored)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 email agent - connects via Telegram, fetches Gmail messages, and provides email summaries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Code is cheaper, more controllable, and transparent compared to OpenClaw, while maintaining full programmability and using Claude Max tokens instead of expensive alternatives</a:t>
            </a:r>
            <a:endParaRPr sz="1200">
              <a:solidFill>
                <a:schemeClr val="dk1"/>
              </a:solidFill>
              <a:latin typeface="Calibri"/>
              <a:ea typeface="Calibri"/>
              <a:cs typeface="Calibri"/>
              <a:sym typeface="Calibri"/>
            </a:endParaRPr>
          </a:p>
        </p:txBody>
      </p:sp>
      <p:pic>
        <p:nvPicPr>
          <p:cNvPr id="201" name="Google Shape;201;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036350" y="1636744"/>
            <a:ext cx="2045275" cy="110213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9"/>
          <p:cNvSpPr txBox="1"/>
          <p:nvPr/>
        </p:nvSpPr>
        <p:spPr>
          <a:xfrm>
            <a:off x="73175" y="530416"/>
            <a:ext cx="44142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Security Problems are NOT Solved.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Here is an example of the problem: </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An attacker embeds a single instruction inside a forwarded email</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An OpenClaw agent summarizes that email as part of a normal task</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 hidden instruction tells the agent to forward credentials to an external endpoint</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 agent complies - through a sanctioned API call, using its own OAuth tokens</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 firewall logs HTTP 200. EDR records a normal process</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No signature fires. Nothing went wrong by any definition your security stack understands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six tools released in last 2 weeks have closed some gaps but left the three most critical attack surfaces wide open:</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No tool in existence monitors why an agent made a decision or what it chose to do with legitimate access. The attack lives in meaning, not code, so every binary-based defense is blind to it</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No tool currently provides cross-agent context isolation. This is the hard gap to close because it is tied to prompt injection - a systemic vulnerability affecting every LLM-powered agent system in the industry, not just OpenClaw</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There is still zero mutual authentication between agents delegating tasks to each other. If one agent gets compromised - the entire system gets compromised</a:t>
            </a:r>
            <a:endParaRPr sz="1200">
              <a:solidFill>
                <a:srgbClr val="3C78D8"/>
              </a:solidFill>
              <a:latin typeface="Calibri"/>
              <a:ea typeface="Calibri"/>
              <a:cs typeface="Calibri"/>
              <a:sym typeface="Calibri"/>
            </a:endParaRPr>
          </a:p>
        </p:txBody>
      </p:sp>
      <p:sp>
        <p:nvSpPr>
          <p:cNvPr id="207" name="Google Shape;207;p29"/>
          <p:cNvSpPr txBox="1"/>
          <p:nvPr/>
        </p:nvSpPr>
        <p:spPr>
          <a:xfrm>
            <a:off x="126100" y="94875"/>
            <a:ext cx="5251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Security Problems are NOT Solved</a:t>
            </a:r>
            <a:endParaRPr sz="2000" b="1">
              <a:solidFill>
                <a:schemeClr val="dk1"/>
              </a:solidFill>
              <a:latin typeface="Calibri"/>
              <a:ea typeface="Calibri"/>
              <a:cs typeface="Calibri"/>
              <a:sym typeface="Calibri"/>
            </a:endParaRPr>
          </a:p>
        </p:txBody>
      </p:sp>
      <p:sp>
        <p:nvSpPr>
          <p:cNvPr id="208" name="Google Shape;208;p29"/>
          <p:cNvSpPr txBox="1"/>
          <p:nvPr/>
        </p:nvSpPr>
        <p:spPr>
          <a:xfrm>
            <a:off x="4591850" y="3108477"/>
            <a:ext cx="4414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3C78D8"/>
                </a:solidFill>
                <a:latin typeface="Calibri"/>
                <a:ea typeface="Calibri"/>
                <a:cs typeface="Calibri"/>
                <a:sym typeface="Calibri"/>
              </a:rPr>
              <a:t>What a Real Solution Requires?</a:t>
            </a:r>
            <a:endParaRPr sz="1200" b="1">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Every skill should declare explicit permissions before execution, treating skills like mobile app installs rather than arbitrary text. This is the most concrete near-term step</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Deep architectural changes - Cross-agent context leakage cannot be patched; it requires rethinking how untrusted multi-agent memory and prompting are handled at the architecture level</a:t>
            </a:r>
            <a:endParaRPr sz="1200">
              <a:solidFill>
                <a:schemeClr val="dk1"/>
              </a:solidFill>
              <a:latin typeface="Calibri"/>
              <a:ea typeface="Calibri"/>
              <a:cs typeface="Calibri"/>
              <a:sym typeface="Calibri"/>
            </a:endParaRPr>
          </a:p>
          <a:p>
            <a:pPr marL="228600" marR="0" lvl="0" indent="-133350" algn="l" rtl="0">
              <a:lnSpc>
                <a:spcPct val="100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All security evaluation tools lack ability to do semantic monitoring. A new class of defense tooling needed.</a:t>
            </a:r>
            <a:endParaRPr sz="1200">
              <a:solidFill>
                <a:schemeClr val="dk1"/>
              </a:solidFill>
              <a:latin typeface="Calibri"/>
              <a:ea typeface="Calibri"/>
              <a:cs typeface="Calibri"/>
              <a:sym typeface="Calibri"/>
            </a:endParaRPr>
          </a:p>
        </p:txBody>
      </p:sp>
      <p:pic>
        <p:nvPicPr>
          <p:cNvPr id="209" name="Google Shape;209;p2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591850" y="530425"/>
            <a:ext cx="4414200" cy="240773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0"/>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15" name="Google Shape;215;p30"/>
          <p:cNvSpPr txBox="1"/>
          <p:nvPr/>
        </p:nvSpPr>
        <p:spPr>
          <a:xfrm>
            <a:off x="77528" y="573989"/>
            <a:ext cx="4392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Genspark Claw - "AI employee"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Executes multi-step tasks end to end, not just generates drafts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runs inside a dedicated Genspark Cloud Computer per user, ensuring privacy through isolation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assign tasks via a simple message on WhatsApp, Telegram, Slack, or Teams, and Claw handles research, drafting, scheduling, email, calls, and code deployment - then returns finished results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orchestrates over 70 AI models, including Claude Opus, GPT, and NVIDIA Nemotron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Part of AI Workspace 3.0, it launched alongside Workflows, Meeting Bots, a Chrome Extension, and voice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Genspark has reached $200M ARR and a $1.6B valuation</a:t>
            </a:r>
            <a:endParaRPr sz="1200">
              <a:solidFill>
                <a:schemeClr val="dk1"/>
              </a:solidFill>
              <a:latin typeface="Calibri"/>
              <a:ea typeface="Calibri"/>
              <a:cs typeface="Calibri"/>
              <a:sym typeface="Calibri"/>
            </a:endParaRPr>
          </a:p>
        </p:txBody>
      </p:sp>
      <p:sp>
        <p:nvSpPr>
          <p:cNvPr id="216" name="Google Shape;216;p30"/>
          <p:cNvSpPr txBox="1"/>
          <p:nvPr/>
        </p:nvSpPr>
        <p:spPr>
          <a:xfrm>
            <a:off x="77528" y="2892439"/>
            <a:ext cx="43926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Auto Research 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Free, open-source (MIT) AI tool generating research paper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Works with OpenClaw, runs a 23-stage, 8-phase research pipeline that searches real academic sources, screens them for quality, designs and runs Python experiments in a sandbox, and has multiple AI agents debate hypotheses and findings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features 4-layer citation integrity to minimize hallucinations and produces a complete formatted paper (5K - 6K words) in 1 hr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is self-learning, extracting lessons from each run stored with a 30-day time decay, and supports scheduled recurring reports</a:t>
            </a:r>
            <a:endParaRPr sz="1200">
              <a:solidFill>
                <a:schemeClr val="dk1"/>
              </a:solidFill>
              <a:latin typeface="Calibri"/>
              <a:ea typeface="Calibri"/>
              <a:cs typeface="Calibri"/>
              <a:sym typeface="Calibri"/>
            </a:endParaRPr>
          </a:p>
        </p:txBody>
      </p:sp>
      <p:sp>
        <p:nvSpPr>
          <p:cNvPr id="217" name="Google Shape;217;p30"/>
          <p:cNvSpPr txBox="1"/>
          <p:nvPr/>
        </p:nvSpPr>
        <p:spPr>
          <a:xfrm>
            <a:off x="4628003" y="186414"/>
            <a:ext cx="43926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employees - autonomous agents that work 24/7 without constant prompting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Unlike basic chatbots or even AI agents, AI employees follow a Standard Operating Procedure, run on a schedule, and control a dedicated computer with access to custom tools and databases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 of AI employees: strategy, sales, content, marketing, and personal/admin. Controlled via Telegram, each with a defined memory, skillset, and personality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Hardware can be a dedicated PC, Mac Mini, or cloud VPS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OpenClaw is a reasonable choice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key to success is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writing detailed SOPs (Standard Operating Procedure, a detailed, step-by-step written guide explaining exactly how to perform a specific task or process)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cron job scheduling for proactive task execution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building custom API-connected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allows to reduce your manual workload from 100% down to roughly 20%.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https://www.youtube.com/watch?v=XtzykHbS3kM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18" name="Google Shape;218;p30"/>
          <p:cNvSpPr txBox="1"/>
          <p:nvPr/>
        </p:nvSpPr>
        <p:spPr>
          <a:xfrm>
            <a:off x="4628003" y="3875589"/>
            <a:ext cx="43926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Improving skills using "Auto Research (Karpathy)":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https://www.youtube.com/watch?v=qKU-e0x2EmE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https://www.youtube.com/watch?v=wQ0duoTeAAU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1"/>
          <p:cNvSpPr txBox="1"/>
          <p:nvPr/>
        </p:nvSpPr>
        <p:spPr>
          <a:xfrm>
            <a:off x="55075" y="63650"/>
            <a:ext cx="533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&amp; CoWork Instead of OpenClaw</a:t>
            </a:r>
            <a:endParaRPr sz="2000" b="1">
              <a:solidFill>
                <a:schemeClr val="dk1"/>
              </a:solidFill>
              <a:latin typeface="Calibri"/>
              <a:ea typeface="Calibri"/>
              <a:cs typeface="Calibri"/>
              <a:sym typeface="Calibri"/>
            </a:endParaRPr>
          </a:p>
        </p:txBody>
      </p:sp>
      <p:sp>
        <p:nvSpPr>
          <p:cNvPr id="224" name="Google Shape;224;p31"/>
          <p:cNvSpPr txBox="1"/>
          <p:nvPr/>
        </p:nvSpPr>
        <p:spPr>
          <a:xfrm>
            <a:off x="55067" y="573989"/>
            <a:ext cx="43926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James from Training.io - "Campus AI Operating System"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https://www.youtube.com/watch?v=0d8pU0mJqNM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 uses Claude Code and Claude CoWork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talks to the agent "Dean" defined in </a:t>
            </a:r>
            <a:r>
              <a:rPr lang="en" sz="1200" u="sng">
                <a:solidFill>
                  <a:schemeClr val="hlink"/>
                </a:solidFill>
                <a:latin typeface="Calibri"/>
                <a:ea typeface="Calibri"/>
                <a:cs typeface="Calibri"/>
                <a:sym typeface="Calibri"/>
                <a:hlinkClick r:id="rId4"/>
              </a:rPr>
              <a:t>claude.md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D85C6"/>
              </a:buClr>
              <a:buSzPts val="1200"/>
              <a:buFont typeface="Calibri"/>
              <a:buChar char="●"/>
            </a:pPr>
            <a:r>
              <a:rPr lang="en" sz="1200" b="1">
                <a:solidFill>
                  <a:srgbClr val="3D85C6"/>
                </a:solidFill>
                <a:latin typeface="Calibri"/>
                <a:ea typeface="Calibri"/>
                <a:cs typeface="Calibri"/>
                <a:sym typeface="Calibri"/>
              </a:rPr>
              <a:t>Dean oversees 4 departments </a:t>
            </a:r>
            <a:br>
              <a:rPr lang="en" sz="1200" b="1">
                <a:solidFill>
                  <a:srgbClr val="3D85C6"/>
                </a:solidFill>
                <a:latin typeface="Calibri"/>
                <a:ea typeface="Calibri"/>
                <a:cs typeface="Calibri"/>
                <a:sym typeface="Calibri"/>
              </a:rPr>
            </a:br>
            <a:r>
              <a:rPr lang="en" sz="1200" b="1">
                <a:solidFill>
                  <a:srgbClr val="3D85C6"/>
                </a:solidFill>
                <a:latin typeface="Calibri"/>
                <a:ea typeface="Calibri"/>
                <a:cs typeface="Calibri"/>
                <a:sym typeface="Calibri"/>
              </a:rPr>
              <a:t>(marketing, community, education, and sales) </a:t>
            </a:r>
            <a:br>
              <a:rPr lang="en" sz="1200" b="1">
                <a:solidFill>
                  <a:srgbClr val="3D85C6"/>
                </a:solidFill>
                <a:latin typeface="Calibri"/>
                <a:ea typeface="Calibri"/>
                <a:cs typeface="Calibri"/>
                <a:sym typeface="Calibri"/>
              </a:rPr>
            </a:br>
            <a:r>
              <a:rPr lang="en" sz="1200" b="1">
                <a:solidFill>
                  <a:srgbClr val="3D85C6"/>
                </a:solidFill>
                <a:latin typeface="Calibri"/>
                <a:ea typeface="Calibri"/>
                <a:cs typeface="Calibri"/>
                <a:sym typeface="Calibri"/>
              </a:rPr>
              <a:t>and delegates tasks accordingly.</a:t>
            </a:r>
            <a:endParaRPr sz="1200" b="1">
              <a:solidFill>
                <a:srgbClr val="3D85C6"/>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takeaways: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Instead of prompting individual AI tools, you give high-level instructions to one central agent that coordinates everything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Persistent memory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Tasks are tracked through stages - ideas, in-progress, blocked, done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Stop thinking about AI as individual tools; start thinking about running a fully staffed digital business</a:t>
            </a:r>
            <a:endParaRPr sz="1200">
              <a:solidFill>
                <a:schemeClr val="dk1"/>
              </a:solidFill>
              <a:latin typeface="Calibri"/>
              <a:ea typeface="Calibri"/>
              <a:cs typeface="Calibri"/>
              <a:sym typeface="Calibri"/>
            </a:endParaRPr>
          </a:p>
        </p:txBody>
      </p:sp>
      <p:pic>
        <p:nvPicPr>
          <p:cNvPr id="225" name="Google Shape;225;p3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00071" y="934042"/>
            <a:ext cx="2009124" cy="1884199"/>
          </a:xfrm>
          <a:prstGeom prst="rect">
            <a:avLst/>
          </a:prstGeom>
          <a:noFill/>
          <a:ln w="9525" cap="flat" cmpd="sng">
            <a:solidFill>
              <a:srgbClr val="FF0000"/>
            </a:solidFill>
            <a:prstDash val="solid"/>
            <a:round/>
            <a:headEnd type="none" w="sm" len="sm"/>
            <a:tailEnd type="none" w="sm" len="sm"/>
          </a:ln>
        </p:spPr>
      </p:pic>
      <p:sp>
        <p:nvSpPr>
          <p:cNvPr id="226" name="Google Shape;226;p31"/>
          <p:cNvSpPr txBox="1"/>
          <p:nvPr/>
        </p:nvSpPr>
        <p:spPr>
          <a:xfrm>
            <a:off x="4875641" y="3836584"/>
            <a:ext cx="1081800" cy="32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2000">
                <a:solidFill>
                  <a:schemeClr val="dk1"/>
                </a:solidFill>
                <a:latin typeface="Calibri"/>
                <a:ea typeface="Calibri"/>
                <a:cs typeface="Calibri"/>
                <a:sym typeface="Calibri"/>
              </a:rPr>
              <a:t>Dean</a:t>
            </a:r>
            <a:endParaRPr sz="2000">
              <a:solidFill>
                <a:schemeClr val="dk1"/>
              </a:solidFill>
              <a:latin typeface="Calibri"/>
              <a:ea typeface="Calibri"/>
              <a:cs typeface="Calibri"/>
              <a:sym typeface="Calibri"/>
            </a:endParaRPr>
          </a:p>
        </p:txBody>
      </p:sp>
      <p:sp>
        <p:nvSpPr>
          <p:cNvPr id="227" name="Google Shape;227;p31"/>
          <p:cNvSpPr txBox="1"/>
          <p:nvPr/>
        </p:nvSpPr>
        <p:spPr>
          <a:xfrm>
            <a:off x="6843469" y="4430165"/>
            <a:ext cx="1081800" cy="26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a:solidFill>
                  <a:schemeClr val="dk1"/>
                </a:solidFill>
                <a:latin typeface="Calibri"/>
                <a:ea typeface="Calibri"/>
                <a:cs typeface="Calibri"/>
                <a:sym typeface="Calibri"/>
              </a:rPr>
              <a:t>Sales</a:t>
            </a:r>
            <a:endParaRPr sz="1600">
              <a:solidFill>
                <a:schemeClr val="dk1"/>
              </a:solidFill>
              <a:latin typeface="Calibri"/>
              <a:ea typeface="Calibri"/>
              <a:cs typeface="Calibri"/>
              <a:sym typeface="Calibri"/>
            </a:endParaRPr>
          </a:p>
        </p:txBody>
      </p:sp>
      <p:sp>
        <p:nvSpPr>
          <p:cNvPr id="228" name="Google Shape;228;p31"/>
          <p:cNvSpPr txBox="1"/>
          <p:nvPr/>
        </p:nvSpPr>
        <p:spPr>
          <a:xfrm>
            <a:off x="6843469" y="4067980"/>
            <a:ext cx="1081800" cy="26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a:solidFill>
                  <a:schemeClr val="dk1"/>
                </a:solidFill>
                <a:latin typeface="Calibri"/>
                <a:ea typeface="Calibri"/>
                <a:cs typeface="Calibri"/>
                <a:sym typeface="Calibri"/>
              </a:rPr>
              <a:t>Education</a:t>
            </a:r>
            <a:endParaRPr sz="1600">
              <a:solidFill>
                <a:schemeClr val="dk1"/>
              </a:solidFill>
              <a:latin typeface="Calibri"/>
              <a:ea typeface="Calibri"/>
              <a:cs typeface="Calibri"/>
              <a:sym typeface="Calibri"/>
            </a:endParaRPr>
          </a:p>
        </p:txBody>
      </p:sp>
      <p:sp>
        <p:nvSpPr>
          <p:cNvPr id="229" name="Google Shape;229;p31"/>
          <p:cNvSpPr txBox="1"/>
          <p:nvPr/>
        </p:nvSpPr>
        <p:spPr>
          <a:xfrm>
            <a:off x="6843469" y="3705795"/>
            <a:ext cx="1081800" cy="26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a:solidFill>
                  <a:schemeClr val="dk1"/>
                </a:solidFill>
                <a:latin typeface="Calibri"/>
                <a:ea typeface="Calibri"/>
                <a:cs typeface="Calibri"/>
                <a:sym typeface="Calibri"/>
              </a:rPr>
              <a:t>Community</a:t>
            </a:r>
            <a:endParaRPr sz="1600">
              <a:solidFill>
                <a:schemeClr val="dk1"/>
              </a:solidFill>
              <a:latin typeface="Calibri"/>
              <a:ea typeface="Calibri"/>
              <a:cs typeface="Calibri"/>
              <a:sym typeface="Calibri"/>
            </a:endParaRPr>
          </a:p>
        </p:txBody>
      </p:sp>
      <p:sp>
        <p:nvSpPr>
          <p:cNvPr id="230" name="Google Shape;230;p31"/>
          <p:cNvSpPr txBox="1"/>
          <p:nvPr/>
        </p:nvSpPr>
        <p:spPr>
          <a:xfrm>
            <a:off x="6843469" y="3343610"/>
            <a:ext cx="1081800" cy="264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600">
                <a:solidFill>
                  <a:schemeClr val="dk1"/>
                </a:solidFill>
                <a:latin typeface="Calibri"/>
                <a:ea typeface="Calibri"/>
                <a:cs typeface="Calibri"/>
                <a:sym typeface="Calibri"/>
              </a:rPr>
              <a:t>Marketing</a:t>
            </a:r>
            <a:endParaRPr sz="1600">
              <a:solidFill>
                <a:schemeClr val="dk1"/>
              </a:solidFill>
              <a:latin typeface="Calibri"/>
              <a:ea typeface="Calibri"/>
              <a:cs typeface="Calibri"/>
              <a:sym typeface="Calibri"/>
            </a:endParaRPr>
          </a:p>
        </p:txBody>
      </p:sp>
      <p:sp>
        <p:nvSpPr>
          <p:cNvPr id="231" name="Google Shape;231;p31"/>
          <p:cNvSpPr/>
          <p:nvPr/>
        </p:nvSpPr>
        <p:spPr>
          <a:xfrm>
            <a:off x="6093496" y="3854222"/>
            <a:ext cx="612300" cy="3264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2"/>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Builds Million Dollar Business</a:t>
            </a:r>
            <a:endParaRPr sz="2000" b="1">
              <a:solidFill>
                <a:schemeClr val="dk1"/>
              </a:solidFill>
              <a:latin typeface="Calibri"/>
              <a:ea typeface="Calibri"/>
              <a:cs typeface="Calibri"/>
              <a:sym typeface="Calibri"/>
            </a:endParaRPr>
          </a:p>
        </p:txBody>
      </p:sp>
      <p:sp>
        <p:nvSpPr>
          <p:cNvPr id="237" name="Google Shape;237;p32"/>
          <p:cNvSpPr txBox="1"/>
          <p:nvPr/>
        </p:nvSpPr>
        <p:spPr>
          <a:xfrm>
            <a:off x="55067" y="573989"/>
            <a:ext cx="43926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Building a Million Dollar Zero Human Company with OpenClaw</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by Nat Eliason - </a:t>
            </a:r>
            <a:r>
              <a:rPr lang="en" sz="1000" u="sng">
                <a:solidFill>
                  <a:schemeClr val="hlink"/>
                </a:solidFill>
                <a:latin typeface="Calibri"/>
                <a:ea typeface="Calibri"/>
                <a:cs typeface="Calibri"/>
                <a:sym typeface="Calibri"/>
                <a:hlinkClick r:id="rId3"/>
              </a:rPr>
              <a:t>https://www.youtube.com/watch?v=vF3dK1TywAk</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Experiment creating a "zero human company" using an AI agent named Felix built on OpenClaw.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Felix has generated $80,000 in revenue over about a month through four main products: an info PDF, a marketplace called ClawArt for AI skills, custom AI employee services, and various earnings.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company operates with Felix as CEO and two other AI agents handling support and sales, with total operating costs around $400-500 monthly for AI subscriptions.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Eliason emphasizes he maintains a hands-off approach as an advisor while working full-time elsewhere, only providing guidance rather than day-to-day management.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addresses AI doom concerns by arguing that while the technology could theoretically replace many knowledge workers, actual market adoption will be much slower than anticipated.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conversation explores broader implications of AI agents as personal assistants and business tools, with Eliason recommending people start simple with tools like Claude before advancing to more complex systems like OpenClaw.</a:t>
            </a:r>
            <a:endParaRPr sz="1200">
              <a:solidFill>
                <a:schemeClr val="dk1"/>
              </a:solidFill>
              <a:latin typeface="Calibri"/>
              <a:ea typeface="Calibri"/>
              <a:cs typeface="Calibri"/>
              <a:sym typeface="Calibri"/>
            </a:endParaRPr>
          </a:p>
        </p:txBody>
      </p:sp>
      <p:pic>
        <p:nvPicPr>
          <p:cNvPr id="238" name="Google Shape;238;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12250" y="63650"/>
            <a:ext cx="2014075" cy="1314625"/>
          </a:xfrm>
          <a:prstGeom prst="rect">
            <a:avLst/>
          </a:prstGeom>
          <a:noFill/>
          <a:ln w="9525" cap="flat" cmpd="sng">
            <a:solidFill>
              <a:srgbClr val="FF0000"/>
            </a:solidFill>
            <a:prstDash val="solid"/>
            <a:round/>
            <a:headEnd type="none" w="sm" len="sm"/>
            <a:tailEnd type="none" w="sm" len="sm"/>
          </a:ln>
        </p:spPr>
      </p:pic>
      <p:sp>
        <p:nvSpPr>
          <p:cNvPr id="239" name="Google Shape;239;p32"/>
          <p:cNvSpPr txBox="1"/>
          <p:nvPr/>
        </p:nvSpPr>
        <p:spPr>
          <a:xfrm>
            <a:off x="4612726" y="1449649"/>
            <a:ext cx="4392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Use OpenClaw to Make $50K/Month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https://www.youtube.com/watch?v=w98X0ayMmF8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basic setup services ($500-5000 one 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ongoing AI system management (monthly recurrent)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premium business transformation consulting ($10K-20K)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Success comes from understanding business problems rather than technical expertise</a:t>
            </a:r>
            <a:endParaRPr sz="1200">
              <a:solidFill>
                <a:schemeClr val="dk1"/>
              </a:solidFill>
              <a:latin typeface="Calibri"/>
              <a:ea typeface="Calibri"/>
              <a:cs typeface="Calibri"/>
              <a:sym typeface="Calibri"/>
            </a:endParaRPr>
          </a:p>
        </p:txBody>
      </p:sp>
      <p:sp>
        <p:nvSpPr>
          <p:cNvPr id="240" name="Google Shape;240;p32"/>
          <p:cNvSpPr txBox="1"/>
          <p:nvPr/>
        </p:nvSpPr>
        <p:spPr>
          <a:xfrm>
            <a:off x="4612726" y="2832335"/>
            <a:ext cx="4392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Become a trusted AI Strategist for Business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https://www.youtube.com/watch?v=6o9D9XLmVVg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conducting an AI audit to understand the business</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creating a strategic roadmap</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implementing solutions (often through contractors)</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maintaining an ongoing partnership for recurring revenue</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That businesses pay more for clarity and strategic guidance than technical complexity; Success comes from understanding business problems and knowing where AI creates the most impact, not from technical expertise; This model provides stable recurring income through monthly partnerships</a:t>
            </a:r>
            <a:endParaRPr sz="1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3"/>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Gemini Updates Timeline</a:t>
            </a:r>
            <a:endParaRPr sz="2000" b="1">
              <a:solidFill>
                <a:schemeClr val="dk1"/>
              </a:solidFill>
              <a:latin typeface="Calibri"/>
              <a:ea typeface="Calibri"/>
              <a:cs typeface="Calibri"/>
              <a:sym typeface="Calibri"/>
            </a:endParaRPr>
          </a:p>
        </p:txBody>
      </p:sp>
      <p:sp>
        <p:nvSpPr>
          <p:cNvPr id="246" name="Google Shape;246;p33"/>
          <p:cNvSpPr txBox="1"/>
          <p:nvPr/>
        </p:nvSpPr>
        <p:spPr>
          <a:xfrm>
            <a:off x="55076" y="489550"/>
            <a:ext cx="50070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Aug 2025 - Genie 3 world model ; Nano Banana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Nov 2025 - Nano Banana Pro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Jan 2026 Boston Dynamics partnered with DeepMind to power the next-gen Atlas humanoid robot with Gemini; Gemini 3.1 Pro; Gemini 3.1 Flash Light; Gemini Robotics 1.5; Personal Intelligence in the Gemini app connects Gmail, Calendar, and Drive; Genie 3 opened to Google AI Ultra subscribers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Feb 2026 - Canvas Mode in AI Search creates interactive tools directly on results pages; Gemini Deep Think upgraded for real-world science/engineering; gold-medal level math performance; Nano Banana 2; Project Genesis deploys AI tools (AlphaEvolve, AlphaGenome, WeatherNext, AI co-scientist) across all 17 U.S. national labs;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May 19–20, 2026 - Google I/O 2026 scheduled, with AI as the main focus</a:t>
            </a:r>
            <a:endParaRPr sz="1200">
              <a:solidFill>
                <a:schemeClr val="dk1"/>
              </a:solidFill>
              <a:latin typeface="Calibri"/>
              <a:ea typeface="Calibri"/>
              <a:cs typeface="Calibri"/>
              <a:sym typeface="Calibri"/>
            </a:endParaRPr>
          </a:p>
        </p:txBody>
      </p:sp>
      <p:graphicFrame>
        <p:nvGraphicFramePr>
          <p:cNvPr id="247" name="Google Shape;247;p33"/>
          <p:cNvGraphicFramePr/>
          <p:nvPr/>
        </p:nvGraphicFramePr>
        <p:xfrm>
          <a:off x="1809419" y="3134024"/>
          <a:ext cx="3000000" cy="3000000"/>
        </p:xfrm>
        <a:graphic>
          <a:graphicData uri="http://schemas.openxmlformats.org/drawingml/2006/table">
            <a:tbl>
              <a:tblPr>
                <a:noFill/>
                <a:tableStyleId>{0349E6C6-308B-4D99-A5C2-D55D8C3B73B3}</a:tableStyleId>
              </a:tblPr>
              <a:tblGrid>
                <a:gridCol w="1764950">
                  <a:extLst>
                    <a:ext uri="{9D8B030D-6E8A-4147-A177-3AD203B41FA5}">
                      <a16:colId xmlns:a16="http://schemas.microsoft.com/office/drawing/2014/main" val="20000"/>
                    </a:ext>
                  </a:extLst>
                </a:gridCol>
                <a:gridCol w="580875">
                  <a:extLst>
                    <a:ext uri="{9D8B030D-6E8A-4147-A177-3AD203B41FA5}">
                      <a16:colId xmlns:a16="http://schemas.microsoft.com/office/drawing/2014/main" val="20001"/>
                    </a:ext>
                  </a:extLst>
                </a:gridCol>
                <a:gridCol w="1117050">
                  <a:extLst>
                    <a:ext uri="{9D8B030D-6E8A-4147-A177-3AD203B41FA5}">
                      <a16:colId xmlns:a16="http://schemas.microsoft.com/office/drawing/2014/main" val="20002"/>
                    </a:ext>
                  </a:extLst>
                </a:gridCol>
                <a:gridCol w="1735175">
                  <a:extLst>
                    <a:ext uri="{9D8B030D-6E8A-4147-A177-3AD203B41FA5}">
                      <a16:colId xmlns:a16="http://schemas.microsoft.com/office/drawing/2014/main" val="20003"/>
                    </a:ext>
                  </a:extLst>
                </a:gridCol>
                <a:gridCol w="1943700">
                  <a:extLst>
                    <a:ext uri="{9D8B030D-6E8A-4147-A177-3AD203B41FA5}">
                      <a16:colId xmlns:a16="http://schemas.microsoft.com/office/drawing/2014/main" val="20004"/>
                    </a:ext>
                  </a:extLst>
                </a:gridCol>
              </a:tblGrid>
              <a:tr h="333675">
                <a:tc>
                  <a:txBody>
                    <a:bodyPr/>
                    <a:lstStyle/>
                    <a:p>
                      <a:pPr marL="0" lvl="0" indent="0" algn="l" rtl="0">
                        <a:lnSpc>
                          <a:spcPct val="115000"/>
                        </a:lnSpc>
                        <a:spcBef>
                          <a:spcPts val="0"/>
                        </a:spcBef>
                        <a:spcAft>
                          <a:spcPts val="0"/>
                        </a:spcAft>
                        <a:buNone/>
                      </a:pPr>
                      <a:r>
                        <a:rPr lang="en" sz="1100" b="1"/>
                        <a:t>Provider</a:t>
                      </a:r>
                      <a:endParaRPr sz="1100" b="1"/>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15000"/>
                        </a:lnSpc>
                        <a:spcBef>
                          <a:spcPts val="0"/>
                        </a:spcBef>
                        <a:spcAft>
                          <a:spcPts val="0"/>
                        </a:spcAft>
                        <a:buNone/>
                      </a:pPr>
                      <a:r>
                        <a:rPr lang="en" sz="1100" b="1"/>
                        <a:t>Free</a:t>
                      </a:r>
                      <a:endParaRPr sz="1100" b="1"/>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15000"/>
                        </a:lnSpc>
                        <a:spcBef>
                          <a:spcPts val="0"/>
                        </a:spcBef>
                        <a:spcAft>
                          <a:spcPts val="0"/>
                        </a:spcAft>
                        <a:buNone/>
                      </a:pPr>
                      <a:r>
                        <a:rPr lang="en" sz="1100" b="1"/>
                        <a:t>Entry</a:t>
                      </a:r>
                      <a:endParaRPr sz="1100" b="1"/>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15000"/>
                        </a:lnSpc>
                        <a:spcBef>
                          <a:spcPts val="0"/>
                        </a:spcBef>
                        <a:spcAft>
                          <a:spcPts val="0"/>
                        </a:spcAft>
                        <a:buNone/>
                      </a:pPr>
                      <a:r>
                        <a:rPr lang="en" sz="1100" b="1"/>
                        <a:t>Mid</a:t>
                      </a:r>
                      <a:endParaRPr sz="1100" b="1"/>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15000"/>
                        </a:lnSpc>
                        <a:spcBef>
                          <a:spcPts val="0"/>
                        </a:spcBef>
                        <a:spcAft>
                          <a:spcPts val="0"/>
                        </a:spcAft>
                        <a:buNone/>
                      </a:pPr>
                      <a:r>
                        <a:rPr lang="en" sz="1100" b="1"/>
                        <a:t>Top</a:t>
                      </a:r>
                      <a:endParaRPr sz="1100" b="1"/>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0"/>
                  </a:ext>
                </a:extLst>
              </a:tr>
              <a:tr h="352200">
                <a:tc>
                  <a:txBody>
                    <a:bodyPr/>
                    <a:lstStyle/>
                    <a:p>
                      <a:pPr marL="0" lvl="0" indent="0" algn="l" rtl="0">
                        <a:spcBef>
                          <a:spcPts val="0"/>
                        </a:spcBef>
                        <a:spcAft>
                          <a:spcPts val="0"/>
                        </a:spcAft>
                        <a:buNone/>
                      </a:pPr>
                      <a:r>
                        <a:rPr lang="en" sz="1100" b="1"/>
                        <a:t>ChatGPT</a:t>
                      </a:r>
                      <a:r>
                        <a:rPr lang="en" sz="1100"/>
                        <a:t> (OpenAI)</a:t>
                      </a:r>
                      <a:endParaRPr sz="1100"/>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$0</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$8/mo (Go)</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$20/mo (Plus)</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$200/mo (Pro)</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1"/>
                  </a:ext>
                </a:extLst>
              </a:tr>
              <a:tr h="352200">
                <a:tc>
                  <a:txBody>
                    <a:bodyPr/>
                    <a:lstStyle/>
                    <a:p>
                      <a:pPr marL="0" lvl="0" indent="0" algn="l" rtl="0">
                        <a:spcBef>
                          <a:spcPts val="0"/>
                        </a:spcBef>
                        <a:spcAft>
                          <a:spcPts val="0"/>
                        </a:spcAft>
                        <a:buNone/>
                      </a:pPr>
                      <a:r>
                        <a:rPr lang="en" sz="1100" b="1"/>
                        <a:t>Gemini</a:t>
                      </a:r>
                      <a:r>
                        <a:rPr lang="en" sz="1100"/>
                        <a:t> (Google)</a:t>
                      </a:r>
                      <a:endParaRPr sz="1100"/>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$0</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$19.99/mo (AI Pro)</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$249.99/mo (AI Ultra)</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2"/>
                  </a:ext>
                </a:extLst>
              </a:tr>
              <a:tr h="352200">
                <a:tc>
                  <a:txBody>
                    <a:bodyPr/>
                    <a:lstStyle/>
                    <a:p>
                      <a:pPr marL="0" lvl="0" indent="0" algn="l" rtl="0">
                        <a:spcBef>
                          <a:spcPts val="0"/>
                        </a:spcBef>
                        <a:spcAft>
                          <a:spcPts val="0"/>
                        </a:spcAft>
                        <a:buNone/>
                      </a:pPr>
                      <a:r>
                        <a:rPr lang="en" sz="1100" b="1"/>
                        <a:t>Claude</a:t>
                      </a:r>
                      <a:r>
                        <a:rPr lang="en" sz="1100"/>
                        <a:t> (Anthropic)</a:t>
                      </a:r>
                      <a:endParaRPr sz="1100"/>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$0</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$20/mo (Pro)</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$100–$200/mo (Max)</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3"/>
                  </a:ext>
                </a:extLst>
              </a:tr>
              <a:tr h="352200">
                <a:tc>
                  <a:txBody>
                    <a:bodyPr/>
                    <a:lstStyle/>
                    <a:p>
                      <a:pPr marL="0" lvl="0" indent="0" algn="l" rtl="0">
                        <a:spcBef>
                          <a:spcPts val="0"/>
                        </a:spcBef>
                        <a:spcAft>
                          <a:spcPts val="0"/>
                        </a:spcAft>
                        <a:buNone/>
                      </a:pPr>
                      <a:r>
                        <a:rPr lang="en" sz="1100" b="1"/>
                        <a:t>Perplexity</a:t>
                      </a:r>
                      <a:endParaRPr sz="1100" b="1"/>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$0</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$20/mo (Pro)</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spcBef>
                          <a:spcPts val="0"/>
                        </a:spcBef>
                        <a:spcAft>
                          <a:spcPts val="0"/>
                        </a:spcAft>
                        <a:buNone/>
                      </a:pPr>
                      <a:r>
                        <a:rPr lang="en"/>
                        <a:t>$200/mo (Max)</a:t>
                      </a:r>
                      <a:endParaRPr/>
                    </a:p>
                  </a:txBody>
                  <a:tcPr marL="76200" marR="76200" marT="76200" marB="7620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04"/>
                  </a:ext>
                </a:extLst>
              </a:tr>
            </a:tbl>
          </a:graphicData>
        </a:graphic>
      </p:graphicFrame>
      <p:sp>
        <p:nvSpPr>
          <p:cNvPr id="248" name="Google Shape;248;p33"/>
          <p:cNvSpPr txBox="1"/>
          <p:nvPr/>
        </p:nvSpPr>
        <p:spPr>
          <a:xfrm>
            <a:off x="7179375" y="2626575"/>
            <a:ext cx="1771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Plans' Pricing</a:t>
            </a:r>
            <a:endParaRPr sz="2000" b="1">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4"/>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254" name="Google Shape;254;p34"/>
          <p:cNvSpPr txBox="1"/>
          <p:nvPr/>
        </p:nvSpPr>
        <p:spPr>
          <a:xfrm>
            <a:off x="55075" y="390050"/>
            <a:ext cx="43926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CLI-Anything with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https://www.youtube.com/watch?v=Uzd2ckXnsg0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video introduces CLI Anything, an open-source tool from Hong Kong University's Data Intelligence Labs that converts any open-source software into command-line interfaces for AI agents like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eliminates the need for MCP tools and provides better performance by removing the middleman between agents and programs.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CLI Anything works through a seven-step automated process: analyzing code, designing, planning, testing, documenting, and publishing the CLI tool.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creator demonstrates building a CLI for draw.io from scratch, then using Claude Code to create a complex SaaS backend architecture diagram with a simple text prompt.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comes pre-loaded with CLIs for popular applications like Blender, Inkscape, and Audacity.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installation process is straightforward, requiring Python 3.1 and the target software, making it accessible for transforming human-designed software into agent-controllable tools.</a:t>
            </a:r>
            <a:endParaRPr sz="1200">
              <a:solidFill>
                <a:schemeClr val="dk1"/>
              </a:solidFill>
              <a:latin typeface="Calibri"/>
              <a:ea typeface="Calibri"/>
              <a:cs typeface="Calibri"/>
              <a:sym typeface="Calibri"/>
            </a:endParaRPr>
          </a:p>
        </p:txBody>
      </p:sp>
      <p:sp>
        <p:nvSpPr>
          <p:cNvPr id="255" name="Google Shape;255;p34"/>
          <p:cNvSpPr txBox="1"/>
          <p:nvPr/>
        </p:nvSpPr>
        <p:spPr>
          <a:xfrm>
            <a:off x="4595450" y="643550"/>
            <a:ext cx="43926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OpenClaw + PaperClip</a:t>
            </a:r>
            <a:endParaRPr sz="1200" b="1">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https://www.youtube.com/watch?v=49_WitY66yM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PaperClip - open-source tool that integrates with OpenClaw to create entire AI-powered companies with zero human employees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PaperClip creates virtual organizations with AI agents that have job titles, report to bosses, and coordinate on schedules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features five layers: mission control for defining company goals, organizational charts with hierarchical AI roles, heartbeat scheduling for automated task completion, governance for human approval of major decisions, and multi-company management</a:t>
            </a:r>
            <a:endParaRPr sz="1200">
              <a:solidFill>
                <a:schemeClr val="dk1"/>
              </a:solidFill>
              <a:latin typeface="Calibri"/>
              <a:ea typeface="Calibri"/>
              <a:cs typeface="Calibri"/>
              <a:sym typeface="Calibri"/>
            </a:endParaRPr>
          </a:p>
        </p:txBody>
      </p:sp>
      <p:pic>
        <p:nvPicPr>
          <p:cNvPr id="256" name="Google Shape;256;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062375" y="2835325"/>
            <a:ext cx="2925676" cy="1386800"/>
          </a:xfrm>
          <a:prstGeom prst="rect">
            <a:avLst/>
          </a:prstGeom>
          <a:noFill/>
          <a:ln w="9525" cap="flat" cmpd="sng">
            <a:solidFill>
              <a:srgbClr val="FF0000"/>
            </a:solidFill>
            <a:prstDash val="solid"/>
            <a:round/>
            <a:headEnd type="none" w="sm" len="sm"/>
            <a:tailEnd type="none" w="sm" len="sm"/>
          </a:ln>
        </p:spPr>
      </p:pic>
      <p:pic>
        <p:nvPicPr>
          <p:cNvPr id="257" name="Google Shape;257;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024725" y="4156696"/>
            <a:ext cx="2422950" cy="92850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5"/>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263" name="Google Shape;263;p35"/>
          <p:cNvSpPr txBox="1"/>
          <p:nvPr/>
        </p:nvSpPr>
        <p:spPr>
          <a:xfrm>
            <a:off x="55075" y="496650"/>
            <a:ext cx="43926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Google Gemma 4B Update! </a:t>
            </a:r>
            <a:r>
              <a:rPr lang="en" sz="1200">
                <a:solidFill>
                  <a:schemeClr val="dk1"/>
                </a:solidFill>
                <a:latin typeface="Calibri"/>
                <a:ea typeface="Calibri"/>
                <a:cs typeface="Calibri"/>
                <a:sym typeface="Calibri"/>
              </a:rPr>
              <a:t> Julian Goldie SEO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Video: </a:t>
            </a:r>
            <a:r>
              <a:rPr lang="en" sz="1200" u="sng">
                <a:solidFill>
                  <a:schemeClr val="hlink"/>
                </a:solidFill>
                <a:latin typeface="Calibri"/>
                <a:ea typeface="Calibri"/>
                <a:cs typeface="Calibri"/>
                <a:sym typeface="Calibri"/>
                <a:hlinkClick r:id="rId3"/>
              </a:rPr>
              <a:t>https://www.youtube.com/watch?v=kQqR8BOg4Lo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has released Translate Gemma 4B, a new AI translation model that runs entirely in web browsers without requiring internet connection, cloud servers, or data sharing.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translates 55 languages and can even translate text within images, all while keeping data completely private on the user's device.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utilizes WebGPU technology and Transformers.js version 4 for fast performance directly in browsers.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represents a significant shift toward local AI processing, offering benefits like enhanced privacy, faster speeds, and universal access without internet dependency.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was trained using supervised learning with human and AI-generated translations, followed by reinforcement learning optimization.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Julian Goldie presents this as part of a broader trend toward browser-based, offline AI that will revolutionize how AI applications are built and used across devices.</a:t>
            </a:r>
            <a:endParaRPr sz="1200">
              <a:solidFill>
                <a:schemeClr val="dk1"/>
              </a:solidFill>
              <a:latin typeface="Calibri"/>
              <a:ea typeface="Calibri"/>
              <a:cs typeface="Calibri"/>
              <a:sym typeface="Calibri"/>
            </a:endParaRPr>
          </a:p>
        </p:txBody>
      </p:sp>
      <p:sp>
        <p:nvSpPr>
          <p:cNvPr id="264" name="Google Shape;264;p35"/>
          <p:cNvSpPr txBox="1"/>
          <p:nvPr/>
        </p:nvSpPr>
        <p:spPr>
          <a:xfrm>
            <a:off x="4595450" y="496650"/>
            <a:ext cx="4392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 Code Review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Code’s Code Review is a multi‑agent system that automatically analyzes pull requests and local changes for logic bugs, security issues, regressions, and weak tests, while largely ignoring minor formatting. It integrates with GitHub/GitLab via an app, posting inline comments and a summary on each PR, and can also be triggered manually (for example, with @claude review). Behavior is customized using CLAUDE.md (architecture and invariants) and REVIEW.md (what to always flag or ignore), letting teams encode conventions like “no PII in logs.” Developers can also run focused, interactive reviews locally in VS Code, JetBrains IDEs, or the terminal for pre‑push checks.</a:t>
            </a:r>
            <a:endParaRPr sz="1200">
              <a:solidFill>
                <a:schemeClr val="dk1"/>
              </a:solidFill>
              <a:latin typeface="Calibri"/>
              <a:ea typeface="Calibri"/>
              <a:cs typeface="Calibri"/>
              <a:sym typeface="Calibri"/>
            </a:endParaRPr>
          </a:p>
        </p:txBody>
      </p:sp>
      <p:pic>
        <p:nvPicPr>
          <p:cNvPr id="265" name="Google Shape;265;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604225" y="4131250"/>
            <a:ext cx="2843450" cy="925762"/>
          </a:xfrm>
          <a:prstGeom prst="rect">
            <a:avLst/>
          </a:prstGeom>
          <a:noFill/>
          <a:ln w="9525" cap="flat" cmpd="sng">
            <a:solidFill>
              <a:srgbClr val="FF0000"/>
            </a:solidFill>
            <a:prstDash val="solid"/>
            <a:round/>
            <a:headEnd type="none" w="sm" len="sm"/>
            <a:tailEnd type="none" w="sm" len="sm"/>
          </a:ln>
        </p:spPr>
      </p:pic>
      <p:pic>
        <p:nvPicPr>
          <p:cNvPr id="266" name="Google Shape;266;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89525" y="2839525"/>
            <a:ext cx="2598524" cy="1130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6"/>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272" name="Google Shape;272;p36"/>
          <p:cNvSpPr txBox="1"/>
          <p:nvPr/>
        </p:nvSpPr>
        <p:spPr>
          <a:xfrm>
            <a:off x="55075" y="390050"/>
            <a:ext cx="43926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Canada's 200B Ops/sec Chip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https://www.youtube.com/watch?v=ojkStIgOcNM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Canadian researchers published a Nature paper claiming their cascade modulating machine achieves 200 billion operations per second at room temperature using five telecom components, reportedly outperforming D-Wave's quantum computer on certain problems.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the reality is more nuanced.While the system uses clever photonic pulses in fiber optic loops to solve optimization problems and achieved 100% success on number partitioning tasks where D-Wave failed, it operates with only 256 spins versus competitors handling thousands to millions of variables.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"200 billion ops/sec" figure uses low-precision analog operations and is actually 18,000 times slower than an Nvidia H100 GPU at higher precision.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also requires expensive test equipment costing hundreds of thousands of dollars.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Though published in a prestigious journal, this represents more of a proof-of-concept than a breakthrough, trailing major competitors in problem size while demonstrating potential for telecom-based optimization architectures.</a:t>
            </a:r>
            <a:endParaRPr sz="1200">
              <a:solidFill>
                <a:schemeClr val="dk1"/>
              </a:solidFill>
              <a:latin typeface="Calibri"/>
              <a:ea typeface="Calibri"/>
              <a:cs typeface="Calibri"/>
              <a:sym typeface="Calibri"/>
            </a:endParaRPr>
          </a:p>
        </p:txBody>
      </p:sp>
      <p:pic>
        <p:nvPicPr>
          <p:cNvPr id="273" name="Google Shape;273;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14100" y="390050"/>
            <a:ext cx="2297625" cy="16514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7"/>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79" name="Google Shape;279;p37"/>
          <p:cNvSpPr txBox="1"/>
          <p:nvPr/>
        </p:nvSpPr>
        <p:spPr>
          <a:xfrm>
            <a:off x="55075" y="466475"/>
            <a:ext cx="76890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Google Pomelli Update</a:t>
            </a:r>
            <a:r>
              <a:rPr lang="en" sz="1200">
                <a:solidFill>
                  <a:schemeClr val="dk1"/>
                </a:solidFill>
                <a:latin typeface="Calibri"/>
                <a:ea typeface="Calibri"/>
                <a:cs typeface="Calibri"/>
                <a:sym typeface="Calibri"/>
              </a:rPr>
              <a:t> Is INSANE!  Julian Goldie SEO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Video: </a:t>
            </a:r>
            <a:r>
              <a:rPr lang="en" sz="1200" u="sng">
                <a:solidFill>
                  <a:schemeClr val="hlink"/>
                </a:solidFill>
                <a:latin typeface="Calibri"/>
                <a:ea typeface="Calibri"/>
                <a:cs typeface="Calibri"/>
                <a:sym typeface="Calibri"/>
                <a:hlinkClick r:id="rId3"/>
              </a:rPr>
              <a:t>https://www.youtube.com/watch?v=OGBEYTWjPZU</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Google's Pomelli AI marketing tool has received a major update, expanding from 4 countries to over 170 countries worldwide and adding a new "Animate" feature.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free tool from Google Labs scans your website URL to create a "business DNA profile" that captures your brand's colors, fonts, tone, and style.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then generates complete marketing campaigns including social media posts, ads, headlines, and CTAs that match your brand automatically.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new Animate feature, powered by Veo 3.1, converts static designs into professional video animations with just one click.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simply input their website URL, let Pomelli scan their brand elements, generate campaigns using specific prompts, and download ready-to-use content.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addresses common small business challenges of creating consistent, professional marketing content without expensive designers or copywriters, making enterprise-level marketing capabilities accessible globally.</a:t>
            </a:r>
            <a:endParaRPr sz="1200">
              <a:solidFill>
                <a:schemeClr val="dk1"/>
              </a:solidFill>
              <a:latin typeface="Calibri"/>
              <a:ea typeface="Calibri"/>
              <a:cs typeface="Calibri"/>
              <a:sym typeface="Calibri"/>
            </a:endParaRPr>
          </a:p>
        </p:txBody>
      </p:sp>
      <p:sp>
        <p:nvSpPr>
          <p:cNvPr id="280" name="Google Shape;280;p37"/>
          <p:cNvSpPr txBox="1"/>
          <p:nvPr/>
        </p:nvSpPr>
        <p:spPr>
          <a:xfrm>
            <a:off x="45175" y="3346225"/>
            <a:ext cx="77088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Seven Claude Code Plugins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Skill Creator -  </a:t>
            </a: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https://github.com/anthropics/claude-plugins-official/tree/main/plugins/skill-creator</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Figma -  </a:t>
            </a:r>
            <a:r>
              <a:rPr lang="en" sz="1200" u="sng">
                <a:solidFill>
                  <a:srgbClr val="0097A7"/>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https://designexplained.substack.com/p/how-to-send-your-app-code-to-figma</a:t>
            </a:r>
            <a:r>
              <a:rPr lang="en" sz="1200">
                <a:solidFill>
                  <a:srgbClr val="000000"/>
                </a:solidFill>
                <a:latin typeface="Calibri"/>
                <a:ea typeface="Calibri"/>
                <a:cs typeface="Calibri"/>
                <a:sym typeface="Calibri"/>
              </a:rPr>
              <a:t>  </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frontend-design - </a:t>
            </a:r>
            <a:r>
              <a:rPr lang="en" sz="1200" u="sng">
                <a:solidFill>
                  <a:srgbClr val="0097A7"/>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https://paddo.dev/blog/claude-code-plugins-frontend-design/</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context7 - </a:t>
            </a:r>
            <a:r>
              <a:rPr lang="en" sz="1200" u="sng">
                <a:solidFill>
                  <a:srgbClr val="0097A7"/>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https://claude.com/plugins/context7</a:t>
            </a:r>
            <a:r>
              <a:rPr lang="en" sz="1200">
                <a:solidFill>
                  <a:srgbClr val="000000"/>
                </a:solidFill>
                <a:latin typeface="Calibri"/>
                <a:ea typeface="Calibri"/>
                <a:cs typeface="Calibri"/>
                <a:sym typeface="Calibri"/>
              </a:rPr>
              <a:t> </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superpowers -  </a:t>
            </a:r>
            <a:r>
              <a:rPr lang="en" sz="1200" u="sng">
                <a:solidFill>
                  <a:srgbClr val="0097A7"/>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https://st0012.dev/links/2026-01-15-a-claude-code-workflow-with-the-superpowers-plugin/</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code-review - </a:t>
            </a:r>
            <a:r>
              <a:rPr lang="en" sz="1200" u="sng">
                <a:solidFill>
                  <a:srgbClr val="0097A7"/>
                </a:solidFill>
                <a:latin typeface="Calibri"/>
                <a:ea typeface="Calibri"/>
                <a:cs typeface="Calibri"/>
                <a:sym typeface="Calibri"/>
                <a:hlinkClick r:id="rId9">
                  <a:extLst>
                    <a:ext uri="{A12FA001-AC4F-418D-AE19-62706E023703}">
                      <ahyp:hlinkClr xmlns:ahyp="http://schemas.microsoft.com/office/drawing/2018/hyperlinkcolor" val="tx"/>
                    </a:ext>
                  </a:extLst>
                </a:hlinkClick>
              </a:rPr>
              <a:t>https://fasterthanlight.me/blog/post/claude-code-best-practices-for-local-code-review</a:t>
            </a:r>
            <a:r>
              <a:rPr lang="en" sz="1200">
                <a:solidFill>
                  <a:srgbClr val="000000"/>
                </a:solidFill>
                <a:latin typeface="Calibri"/>
                <a:ea typeface="Calibri"/>
                <a:cs typeface="Calibri"/>
                <a:sym typeface="Calibri"/>
              </a:rPr>
              <a:t> </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security-guidance - (closely related open-source AppSec plugin) - </a:t>
            </a:r>
            <a:r>
              <a:rPr lang="en" sz="1200" u="sng">
                <a:solidFill>
                  <a:srgbClr val="0097A7"/>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https://www.reddit.com/r/ClaudeCode/comments/1r3tb08/we_built_an_appsec_skills_plugin_for_claude_code/</a:t>
            </a:r>
            <a:r>
              <a:rPr lang="en" sz="1200">
                <a:solidFill>
                  <a:srgbClr val="000000"/>
                </a:solidFill>
                <a:latin typeface="Calibri"/>
                <a:ea typeface="Calibri"/>
                <a:cs typeface="Calibri"/>
                <a:sym typeface="Calibri"/>
              </a:rPr>
              <a:t> </a:t>
            </a:r>
            <a:endParaRPr sz="1200">
              <a:solidFill>
                <a:srgbClr val="000000"/>
              </a:solidFill>
              <a:latin typeface="Calibri"/>
              <a:ea typeface="Calibri"/>
              <a:cs typeface="Calibri"/>
              <a:sym typeface="Calibri"/>
            </a:endParaRPr>
          </a:p>
        </p:txBody>
      </p:sp>
      <p:pic>
        <p:nvPicPr>
          <p:cNvPr id="281" name="Google Shape;281;p37"/>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5662175" y="63650"/>
            <a:ext cx="2643225" cy="7742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8"/>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is Killing Consulting</a:t>
            </a:r>
            <a:endParaRPr sz="2000" b="1">
              <a:solidFill>
                <a:schemeClr val="dk1"/>
              </a:solidFill>
              <a:latin typeface="Calibri"/>
              <a:ea typeface="Calibri"/>
              <a:cs typeface="Calibri"/>
              <a:sym typeface="Calibri"/>
            </a:endParaRPr>
          </a:p>
        </p:txBody>
      </p:sp>
      <p:sp>
        <p:nvSpPr>
          <p:cNvPr id="287" name="Google Shape;287;p38"/>
          <p:cNvSpPr txBox="1"/>
          <p:nvPr/>
        </p:nvSpPr>
        <p:spPr>
          <a:xfrm>
            <a:off x="55070" y="476376"/>
            <a:ext cx="45039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Julia McCoy argues that the traditional $300-an-hour consulting industry is being rendered obsolete by advanced AI</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http://www.youtube.com/watch?v=M8VNj21ew_4</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She highlights how the core value of consulting - research, synthesis, competitive analysis, and polished communication - is now handled more efficiently by tools like Abacus AI’s Chat LLM</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McCoy shows in real-time demo the AI conducting market research and generating a professional, 15-slide strategic deck in just four minutes - a task that typically costs $25,000 and takes weeks for a consulting firm to complete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While top-tier firms may survive by focusing on human relationships, she concludes that mid-market strategy consulting is dying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Businesses adopting AI for strategic intelligence will gain a significant competitive advantage by moving faster and reducing costs</a:t>
            </a:r>
            <a:endParaRPr sz="1200">
              <a:latin typeface="Calibri"/>
              <a:ea typeface="Calibri"/>
              <a:cs typeface="Calibri"/>
              <a:sym typeface="Calibri"/>
            </a:endParaRPr>
          </a:p>
        </p:txBody>
      </p:sp>
      <p:pic>
        <p:nvPicPr>
          <p:cNvPr id="288" name="Google Shape;288;p38"/>
          <p:cNvPicPr preferRelativeResize="0"/>
          <p:nvPr/>
        </p:nvPicPr>
        <p:blipFill>
          <a:blip r:embed="rId4">
            <a:alphaModFix/>
          </a:blip>
          <a:stretch>
            <a:fillRect/>
          </a:stretch>
        </p:blipFill>
        <p:spPr>
          <a:xfrm>
            <a:off x="4774300" y="551900"/>
            <a:ext cx="2971800" cy="1581150"/>
          </a:xfrm>
          <a:prstGeom prst="rect">
            <a:avLst/>
          </a:prstGeom>
          <a:noFill/>
          <a:ln>
            <a:noFill/>
          </a:ln>
        </p:spPr>
      </p:pic>
      <p:sp>
        <p:nvSpPr>
          <p:cNvPr id="289" name="Google Shape;289;p38"/>
          <p:cNvSpPr txBox="1"/>
          <p:nvPr/>
        </p:nvSpPr>
        <p:spPr>
          <a:xfrm>
            <a:off x="55070" y="3246126"/>
            <a:ext cx="45039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Skipping the "Front Door" - Alex Karp, Palantir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Current websites are designed for humans to browse and compare.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agents will skip these "middlemen" by going directly to data and transactions via APIs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Middleman sites that rely on ad impressions and affiliate clicks will "evaporate" will lose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Business are shifting focus to rebuilding software to be AI-native from the ground up</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https://www.youtube.com/watch?v=KZnuFadL7xM</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90" name="Google Shape;290;p38"/>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774300" y="2978975"/>
            <a:ext cx="1529850" cy="19480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9"/>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in Business</a:t>
            </a:r>
            <a:endParaRPr sz="2000" b="1">
              <a:solidFill>
                <a:schemeClr val="dk1"/>
              </a:solidFill>
              <a:latin typeface="Calibri"/>
              <a:ea typeface="Calibri"/>
              <a:cs typeface="Calibri"/>
              <a:sym typeface="Calibri"/>
            </a:endParaRPr>
          </a:p>
        </p:txBody>
      </p:sp>
      <p:sp>
        <p:nvSpPr>
          <p:cNvPr id="296" name="Google Shape;296;p39"/>
          <p:cNvSpPr txBox="1"/>
          <p:nvPr/>
        </p:nvSpPr>
        <p:spPr>
          <a:xfrm>
            <a:off x="55075" y="423621"/>
            <a:ext cx="44025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AI-native companies are winning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Success now depends on deciding which tasks to give to specific AI models versus human experts.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AI acts as an amplifier; it improved performance for skilled entrepreneurs - but decreased it for those lacking the judgment to filter "AI slop"</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From Chats to Agents planning and executing</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Scaling with on-demand compute instead of massive headcounts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Strategic focus on "earned insights", solving specific user bottlenecks with "a drop of AI" rather than over-engineering complex tools.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https://www.youtube.com/watch?v=I08ZeY7QcrE</a:t>
            </a:r>
            <a:r>
              <a:rPr lang="en" sz="1200">
                <a:latin typeface="Calibri"/>
                <a:ea typeface="Calibri"/>
                <a:cs typeface="Calibri"/>
                <a:sym typeface="Calibri"/>
              </a:rPr>
              <a:t> </a:t>
            </a:r>
            <a:endParaRPr sz="1200">
              <a:latin typeface="Calibri"/>
              <a:ea typeface="Calibri"/>
              <a:cs typeface="Calibri"/>
              <a:sym typeface="Calibri"/>
            </a:endParaRPr>
          </a:p>
        </p:txBody>
      </p:sp>
      <p:sp>
        <p:nvSpPr>
          <p:cNvPr id="297" name="Google Shape;297;p39"/>
          <p:cNvSpPr txBox="1"/>
          <p:nvPr/>
        </p:nvSpPr>
        <p:spPr>
          <a:xfrm>
            <a:off x="55075" y="2692192"/>
            <a:ext cx="44025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Transformation - Changing Business Roles and Processes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Models are good enough, but the way they are used in business is lagging</a:t>
            </a:r>
            <a:r>
              <a:rPr lang="en" sz="1200">
                <a:latin typeface="Calibri"/>
                <a:ea typeface="Calibri"/>
                <a:cs typeface="Calibri"/>
                <a:sym typeface="Calibri"/>
              </a:rPr>
              <a:t>. Companies are still using old processes.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True productivity gains require becoming "AI-native," which involves changing team structures, skill sets, and default workflows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"RAPID 5" Framework: </a:t>
            </a:r>
            <a:r>
              <a:rPr lang="en" sz="1200" b="1">
                <a:solidFill>
                  <a:srgbClr val="3C78D8"/>
                </a:solidFill>
                <a:latin typeface="Calibri"/>
                <a:ea typeface="Calibri"/>
                <a:cs typeface="Calibri"/>
                <a:sym typeface="Calibri"/>
              </a:rPr>
              <a:t>A strategy for transformation: Reveal (map workflows), Architect (design AI-native models), Proof (real-world pilots), Ingrain (identity shift), and Dynamize (90-day reassessment cycles)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New Roles: The rise of "Forward-Deployed Engineers" at top AI labs shows that the current priority is helping customers bridge the gap between AI capability and practical use.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https://www.youtube.com/watch?v=cglc_BR04GE</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98" name="Google Shape;298;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18250" y="2913875"/>
            <a:ext cx="3726300" cy="2045550"/>
          </a:xfrm>
          <a:prstGeom prst="rect">
            <a:avLst/>
          </a:prstGeom>
          <a:noFill/>
          <a:ln w="9525" cap="flat" cmpd="sng">
            <a:solidFill>
              <a:srgbClr val="FF0000"/>
            </a:solidFill>
            <a:prstDash val="solid"/>
            <a:round/>
            <a:headEnd type="none" w="sm" len="sm"/>
            <a:tailEnd type="none" w="sm" len="sm"/>
          </a:ln>
        </p:spPr>
      </p:pic>
      <p:pic>
        <p:nvPicPr>
          <p:cNvPr id="299" name="Google Shape;299;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18263" y="613075"/>
            <a:ext cx="3726284" cy="2045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0"/>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in Business</a:t>
            </a:r>
            <a:endParaRPr sz="2000" b="1">
              <a:solidFill>
                <a:schemeClr val="dk1"/>
              </a:solidFill>
              <a:latin typeface="Calibri"/>
              <a:ea typeface="Calibri"/>
              <a:cs typeface="Calibri"/>
              <a:sym typeface="Calibri"/>
            </a:endParaRPr>
          </a:p>
        </p:txBody>
      </p:sp>
      <p:sp>
        <p:nvSpPr>
          <p:cNvPr id="305" name="Google Shape;305;p40"/>
          <p:cNvSpPr txBox="1"/>
          <p:nvPr/>
        </p:nvSpPr>
        <p:spPr>
          <a:xfrm>
            <a:off x="55075" y="423621"/>
            <a:ext cx="44025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Julia McCoy Automated 1.2Mln/year Business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https://www.youtube.com/watch?v=vWXRy2_fSOc</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Julia McCoy built a $1.2 million business in 11 months but was working 90 hrs/week until a health crash forced her out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business continued growing and now runs on just 30 minutes of her time daily, generating over 2 Mln/mon YouTube views.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She attributes this to three integrated automation systems: </a:t>
            </a:r>
            <a:endParaRPr sz="1200">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First, a conversion-optimized website with AI chatbots and automated SEO-focused blog content that builds authority and captures leads 24/7.</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Second, a custom AI copywriter trained on her voice and expertise that produces consistent content across all channels.</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Third, an AI clone system using tools like HeyGen and 11Labs that creates YouTube videos without filming, managed by a video editor who handles the entire content pipeline.</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These systems work together as a compounding flywheel, driving traffic to optimized pages while building long-term authority, allowing business owners to scale without trading time for revenue.</a:t>
            </a:r>
            <a:endParaRPr sz="1200">
              <a:latin typeface="Calibri"/>
              <a:ea typeface="Calibri"/>
              <a:cs typeface="Calibri"/>
              <a:sym typeface="Calibri"/>
            </a:endParaRPr>
          </a:p>
        </p:txBody>
      </p:sp>
      <p:pic>
        <p:nvPicPr>
          <p:cNvPr id="306" name="Google Shape;306;p40" title="Screenshot 2026-03-13 at 12.04.20 PM.png"/>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94850" y="390050"/>
            <a:ext cx="3689975" cy="2054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1"/>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Automating Followups</a:t>
            </a:r>
            <a:endParaRPr sz="2000" b="1">
              <a:solidFill>
                <a:schemeClr val="dk1"/>
              </a:solidFill>
              <a:latin typeface="Calibri"/>
              <a:ea typeface="Calibri"/>
              <a:cs typeface="Calibri"/>
              <a:sym typeface="Calibri"/>
            </a:endParaRPr>
          </a:p>
        </p:txBody>
      </p:sp>
      <p:sp>
        <p:nvSpPr>
          <p:cNvPr id="312" name="Google Shape;312;p41"/>
          <p:cNvSpPr txBox="1"/>
          <p:nvPr/>
        </p:nvSpPr>
        <p:spPr>
          <a:xfrm>
            <a:off x="55075" y="423621"/>
            <a:ext cx="44025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Automating Followups:</a:t>
            </a:r>
            <a:br>
              <a:rPr lang="en" sz="1200">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https://www.youtube.com/watch?v=4_zAMqQu6RQ</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Automation platform N8N has 176K GitHub stars and 200K+ users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Average entrepreneur wastes 16 hrs/week on repetitive tasks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 Start with your biggest time drain (lead follow-up, invoicing, data entry)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 Use automation as leverage, not replacement; free people to do higher-value thinking, not to eliminate jobs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3. Build systems that compound - connect automations so that lead generation feeds the CRM, which feeds follow-up, which feeds sales and reporting - one connected flow.</a:t>
            </a:r>
            <a:endParaRPr sz="1200">
              <a:latin typeface="Calibri"/>
              <a:ea typeface="Calibri"/>
              <a:cs typeface="Calibri"/>
              <a:sym typeface="Calibri"/>
            </a:endParaRPr>
          </a:p>
        </p:txBody>
      </p:sp>
      <p:sp>
        <p:nvSpPr>
          <p:cNvPr id="313" name="Google Shape;313;p41"/>
          <p:cNvSpPr txBox="1"/>
          <p:nvPr/>
        </p:nvSpPr>
        <p:spPr>
          <a:xfrm>
            <a:off x="4624325" y="2152996"/>
            <a:ext cx="44025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1. Lead Machine - a workflow that runs every morning, scrapes Google Maps for local business leads, enriches each profile with company data, uses AI to write a personalized outreach opening line, and loads everything into the CRM automatically. What used to take 5 hours now takes 4 minutes.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2. Follow-Up Engine - When a new lead enters the CRM, a 5-touch automated sequence begins: a warm intro on Day 1, a value-add on Day 3, a direct ask on Day 7, a "breakup" email on Day 14, and a final check-in on Day 21. If the lead replies at any point, the sequence stops and the owner gets a Slack notification. Every morning, a digest ranks the hottest leads by engagement signals. Follow-up consistency goes from 30–40% (manual) to 100% (automated).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 Business Intelligence Report - Every Sunday night, a workflow pulls data from Stripe, the CRM, email tools, support tickets, and competitor monitoring, then sends it all to an AI model to produce a 400-word Monday morning briefing,  identifying what's working, what's declining, and the single most important focus for the week.</a:t>
            </a:r>
            <a:endParaRPr sz="1100">
              <a:latin typeface="Calibri"/>
              <a:ea typeface="Calibri"/>
              <a:cs typeface="Calibri"/>
              <a:sym typeface="Calibri"/>
            </a:endParaRPr>
          </a:p>
        </p:txBody>
      </p:sp>
      <p:pic>
        <p:nvPicPr>
          <p:cNvPr id="314" name="Google Shape;314;p4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24325" y="528100"/>
            <a:ext cx="2553075" cy="1424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2"/>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in Business</a:t>
            </a:r>
            <a:endParaRPr sz="2000" b="1">
              <a:solidFill>
                <a:schemeClr val="dk1"/>
              </a:solidFill>
              <a:latin typeface="Calibri"/>
              <a:ea typeface="Calibri"/>
              <a:cs typeface="Calibri"/>
              <a:sym typeface="Calibri"/>
            </a:endParaRPr>
          </a:p>
        </p:txBody>
      </p:sp>
      <p:sp>
        <p:nvSpPr>
          <p:cNvPr id="320" name="Google Shape;320;p42"/>
          <p:cNvSpPr txBox="1"/>
          <p:nvPr/>
        </p:nvSpPr>
        <p:spPr>
          <a:xfrm>
            <a:off x="55075" y="407589"/>
            <a:ext cx="4402500" cy="3481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Needs Management Consultants After All</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https://www.wsj.com/tech/ai/ai-needs-management-consultants-after-all-bd28ecb9</a:t>
            </a:r>
            <a:endParaRPr sz="9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Despite initially threatening to replace consultants, AI is now boosting the consulting industry</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OpenAI and Anthropic are partnering with major firms like McKinsey, BCG, Accenture, and Deloitte to help businesses fully implement AI technologies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Surveys reveal two-thirds of organizations haven't scaled AI enterprise-wide, with many CEOs reporting no significant financial benefits yet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These partnerships combine AI companies' engineering teams with consultants to help businesses redesign workflows and integrate AI systems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consulting model is shifting from traditional junior-associate heavy teams toward outcome-based pricing and more engineers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While AI threatens data-crunching roles, executives still value human accountability and senior expertise for critical decisions, as one VC noted, companies "want a throat to choke" when things go wrong.</a:t>
            </a:r>
            <a:endParaRPr sz="1200">
              <a:latin typeface="Calibri"/>
              <a:ea typeface="Calibri"/>
              <a:cs typeface="Calibri"/>
              <a:sym typeface="Calibri"/>
            </a:endParaRPr>
          </a:p>
        </p:txBody>
      </p:sp>
      <p:pic>
        <p:nvPicPr>
          <p:cNvPr id="321" name="Google Shape;321;p4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85475" y="423625"/>
            <a:ext cx="3610434" cy="3158400"/>
          </a:xfrm>
          <a:prstGeom prst="rect">
            <a:avLst/>
          </a:prstGeom>
          <a:noFill/>
          <a:ln w="9525" cap="flat" cmpd="sng">
            <a:solidFill>
              <a:srgbClr val="FF0000"/>
            </a:solidFill>
            <a:prstDash val="solid"/>
            <a:round/>
            <a:headEnd type="none" w="sm" len="sm"/>
            <a:tailEnd type="none" w="sm" len="sm"/>
          </a:ln>
        </p:spPr>
      </p:pic>
      <p:sp>
        <p:nvSpPr>
          <p:cNvPr id="322" name="Google Shape;322;p42"/>
          <p:cNvSpPr txBox="1"/>
          <p:nvPr/>
        </p:nvSpPr>
        <p:spPr>
          <a:xfrm>
            <a:off x="55075" y="3953046"/>
            <a:ext cx="44025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Top AI agents can only complete 2.5% of real-world tasks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Yet companies like Block, Salesforce, and Amazon are citing AI in massive layoff announcements.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https://arxiv.org/pdf/2510.26787</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https://www.sabrina.dev/p/big-lie-behind-tech-layoffs</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7"/>
              </a:rPr>
              <a:t>https://www.youtube.com/watch?v=a1Vd85ilWiI</a:t>
            </a:r>
            <a:r>
              <a:rPr lang="en" sz="1200">
                <a:latin typeface="Calibri"/>
                <a:ea typeface="Calibri"/>
                <a:cs typeface="Calibri"/>
                <a:sym typeface="Calibri"/>
              </a:rPr>
              <a:t> - video</a:t>
            </a:r>
            <a:endParaRPr sz="12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3"/>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Hallucinations in 2026</a:t>
            </a:r>
            <a:endParaRPr sz="2000" b="1">
              <a:solidFill>
                <a:schemeClr val="dk1"/>
              </a:solidFill>
              <a:latin typeface="Calibri"/>
              <a:ea typeface="Calibri"/>
              <a:cs typeface="Calibri"/>
              <a:sym typeface="Calibri"/>
            </a:endParaRPr>
          </a:p>
        </p:txBody>
      </p:sp>
      <p:sp>
        <p:nvSpPr>
          <p:cNvPr id="328" name="Google Shape;328;p43"/>
          <p:cNvSpPr txBox="1"/>
          <p:nvPr/>
        </p:nvSpPr>
        <p:spPr>
          <a:xfrm>
            <a:off x="55075" y="407589"/>
            <a:ext cx="44025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Nearly half of all executives admit to making major company decisions based on unchecked AI content</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Employees spend an average of 4 hrs/week double-checking AI output</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Even top academic conferences have been affected, unknowingly accepting dozens of papers containing fake, AI-generated citations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 top-tier model might hallucinate 88% of the time when asked questions it doesn't know; realistic hallucination rate in normal complex conversations is approximately 30%</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AI models are 34% more likely to use confident language (e.g., "certainly," "definitely") at the exact moment they are providing incorrect information</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Grok 3 was found to fail citation accuracy 94% of the time, often providing real links but inventing the content supposedly found within them</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Hallucination rates vary depending on whether you are testing for "faithfulness" (summarization) or "intellectual honesty" (admitting ignorance)</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Claude prioritizes intellectual honesty, scoring a 0% hallucination rate on specific tests because it refuses to guess when it doesn't know an answer</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Gemini has a broader knowledge base but is more aggressive in fabricating answers, guessing incorrectly about half the time in similar tests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GPT Models - turning on web access is the most effective way to reduce hallucinations in GPT models, plummeting the error rate from 47% to under 10%</a:t>
            </a:r>
            <a:endParaRPr sz="1100">
              <a:latin typeface="Calibri"/>
              <a:ea typeface="Calibri"/>
              <a:cs typeface="Calibri"/>
              <a:sym typeface="Calibri"/>
            </a:endParaRPr>
          </a:p>
        </p:txBody>
      </p:sp>
      <p:sp>
        <p:nvSpPr>
          <p:cNvPr id="329" name="Google Shape;329;p43"/>
          <p:cNvSpPr txBox="1"/>
          <p:nvPr/>
        </p:nvSpPr>
        <p:spPr>
          <a:xfrm>
            <a:off x="4616394" y="402570"/>
            <a:ext cx="4402500" cy="188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AI models are not databases; they are prediction engines designed to find the most statistically plausible next word, not the "truth"</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Goal Conflict - there is a fundamental trade-off between being truthful, comprehensive, and honest about limits; a model can achieve some of these goals simultaneously, but never all of them</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How to manage hallucinations: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Tier 1 (70%+ Reduction) - use Web Search and RAG (Retrieval-Augmented Generation) to force the AI to use specific, verified documents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latin typeface="Calibri"/>
                <a:ea typeface="Calibri"/>
                <a:cs typeface="Calibri"/>
                <a:sym typeface="Calibri"/>
              </a:rPr>
              <a:t>Tier 2 &amp; 3 - Implement cross-checking (using one AI to check another) and specialized prompting techniques</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http://www.youtube.com/watch?v=fHas3Dg1okk</a:t>
            </a:r>
            <a:r>
              <a:rPr lang="en" sz="1100">
                <a:latin typeface="Calibri"/>
                <a:ea typeface="Calibri"/>
                <a:cs typeface="Calibri"/>
                <a:sym typeface="Calibri"/>
              </a:rPr>
              <a:t> </a:t>
            </a:r>
            <a:endParaRPr sz="1100">
              <a:latin typeface="Calibri"/>
              <a:ea typeface="Calibri"/>
              <a:cs typeface="Calibri"/>
              <a:sym typeface="Calibri"/>
            </a:endParaRPr>
          </a:p>
        </p:txBody>
      </p:sp>
      <p:pic>
        <p:nvPicPr>
          <p:cNvPr id="330" name="Google Shape;330;p4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63044" y="2500856"/>
            <a:ext cx="1455850" cy="1415224"/>
          </a:xfrm>
          <a:prstGeom prst="rect">
            <a:avLst/>
          </a:prstGeom>
          <a:noFill/>
          <a:ln w="9525" cap="flat" cmpd="sng">
            <a:solidFill>
              <a:srgbClr val="FF0000"/>
            </a:solidFill>
            <a:prstDash val="solid"/>
            <a:round/>
            <a:headEnd type="none" w="sm" len="sm"/>
            <a:tailEnd type="none" w="sm" len="sm"/>
          </a:ln>
        </p:spPr>
      </p:pic>
      <p:pic>
        <p:nvPicPr>
          <p:cNvPr id="331" name="Google Shape;331;p4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66200" y="3265900"/>
            <a:ext cx="2584899" cy="17027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4"/>
          <p:cNvSpPr txBox="1"/>
          <p:nvPr/>
        </p:nvSpPr>
        <p:spPr>
          <a:xfrm>
            <a:off x="55075" y="63650"/>
            <a:ext cx="4503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Replacing Humans Step-by-Step Plan</a:t>
            </a:r>
            <a:endParaRPr sz="2000" b="1">
              <a:solidFill>
                <a:schemeClr val="dk1"/>
              </a:solidFill>
              <a:latin typeface="Calibri"/>
              <a:ea typeface="Calibri"/>
              <a:cs typeface="Calibri"/>
              <a:sym typeface="Calibri"/>
            </a:endParaRPr>
          </a:p>
        </p:txBody>
      </p:sp>
      <p:sp>
        <p:nvSpPr>
          <p:cNvPr id="337" name="Google Shape;337;p44"/>
          <p:cNvSpPr txBox="1"/>
          <p:nvPr/>
        </p:nvSpPr>
        <p:spPr>
          <a:xfrm>
            <a:off x="55075" y="407589"/>
            <a:ext cx="44025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 Major Cloud Provider Plan of Replacing Humans by AI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https://x.com/TechLayoffLover/status/2033341530128191941</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Internal spreadsheet leaked from a major cloud provider in Seattle - complete AI replacement roadmap by department with exact timelines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Engineering: Q2 2026. 847 current headcount down to 312. "Copilot-native development pods" replacing traditional teams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QA already eliminated. 156 people managed out in December. Replaced with 4 senior test engineers running automated suites through Claude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Technical writing goes dark February 15th. 23-person docs team becomes 3 content strategists feeding prompts to GPT models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Customer support timeline shows 891 agents by end of year becomes 127 "AI conversation supervisors"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Sales engineering cut 70% by March. Account teams now get AI-generated technical responses in under 30 seconds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spreadsheet had conditional formatting - green for "automation complete", yellow for "in progress", red for "human-dependent"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Most terrifying line: "Knowledge extraction phase must complete before personnel transitions"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DevRel, product marketing, and localization all marked for Q3 elimination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Finance showing $847M in "workforce optimization savings" across 24 months</a:t>
            </a:r>
            <a:endParaRPr sz="1200">
              <a:latin typeface="Calibri"/>
              <a:ea typeface="Calibri"/>
              <a:cs typeface="Calibri"/>
              <a:sym typeface="Calibri"/>
            </a:endParaRPr>
          </a:p>
        </p:txBody>
      </p:sp>
      <p:sp>
        <p:nvSpPr>
          <p:cNvPr id="338" name="Google Shape;338;p44"/>
          <p:cNvSpPr txBox="1"/>
          <p:nvPr/>
        </p:nvSpPr>
        <p:spPr>
          <a:xfrm>
            <a:off x="4673550" y="390039"/>
            <a:ext cx="44025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Someone in leadership Slack called it "the most aggressive human capital restructuring in company history"</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The person who leaked this? Their badge got deactivated 2 hours after the screenshot hit my DMs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If you're in any of these orgs and still think your domain knowledge makes you irreplaceable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Your knowledge is already extracted. The timeline is set. The automation is deployed.</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You're not being reskilled. You're being replaced.</a:t>
            </a:r>
            <a:endParaRPr sz="120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5"/>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44" name="Google Shape;344;p45"/>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45" name="Google Shape;345;p45"/>
          <p:cNvSpPr txBox="1"/>
          <p:nvPr/>
        </p:nvSpPr>
        <p:spPr>
          <a:xfrm>
            <a:off x="5259000" y="379892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39K  in 2026 </a:t>
            </a:r>
            <a:r>
              <a:rPr lang="en" sz="1000" b="1">
                <a:solidFill>
                  <a:schemeClr val="dk1"/>
                </a:solidFill>
                <a:latin typeface="Roboto Mono"/>
                <a:ea typeface="Roboto Mono"/>
                <a:cs typeface="Roboto Mono"/>
                <a:sym typeface="Roboto Mono"/>
              </a:rPr>
              <a:t>(as of March 13,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46" name="Google Shape;346;p45"/>
          <p:cNvSpPr txBox="1"/>
          <p:nvPr/>
        </p:nvSpPr>
        <p:spPr>
          <a:xfrm>
            <a:off x="5549900" y="1719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55,775</a:t>
            </a:r>
            <a:r>
              <a:rPr lang="en" sz="1200">
                <a:latin typeface="Calibri"/>
                <a:ea typeface="Calibri"/>
                <a:cs typeface="Calibri"/>
                <a:sym typeface="Calibri"/>
              </a:rPr>
              <a:t> people laid off (775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47" name="Google Shape;347;p4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175" y="419550"/>
            <a:ext cx="5137522" cy="2689438"/>
          </a:xfrm>
          <a:prstGeom prst="rect">
            <a:avLst/>
          </a:prstGeom>
          <a:noFill/>
          <a:ln w="9525" cap="flat" cmpd="sng">
            <a:solidFill>
              <a:srgbClr val="FF0000"/>
            </a:solidFill>
            <a:prstDash val="solid"/>
            <a:round/>
            <a:headEnd type="none" w="sm" len="sm"/>
            <a:tailEnd type="none" w="sm" len="sm"/>
          </a:ln>
        </p:spPr>
      </p:pic>
      <p:pic>
        <p:nvPicPr>
          <p:cNvPr id="348" name="Google Shape;348;p4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175" y="3179354"/>
            <a:ext cx="5137523" cy="1930859"/>
          </a:xfrm>
          <a:prstGeom prst="rect">
            <a:avLst/>
          </a:prstGeom>
          <a:noFill/>
          <a:ln w="9525" cap="flat" cmpd="sng">
            <a:solidFill>
              <a:srgbClr val="FF0000"/>
            </a:solidFill>
            <a:prstDash val="solid"/>
            <a:round/>
            <a:headEnd type="none" w="sm" len="sm"/>
            <a:tailEnd type="none" w="sm" len="sm"/>
          </a:ln>
        </p:spPr>
      </p:pic>
      <p:pic>
        <p:nvPicPr>
          <p:cNvPr id="349" name="Google Shape;349;p4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259000" y="1209726"/>
            <a:ext cx="3884999" cy="2279052"/>
          </a:xfrm>
          <a:prstGeom prst="rect">
            <a:avLst/>
          </a:prstGeom>
          <a:noFill/>
          <a:ln w="9525" cap="flat" cmpd="sng">
            <a:solidFill>
              <a:srgbClr val="FF0000"/>
            </a:solidFill>
            <a:prstDash val="solid"/>
            <a:round/>
            <a:headEnd type="none" w="sm" len="sm"/>
            <a:tailEnd type="none" w="sm" len="sm"/>
          </a:ln>
        </p:spPr>
      </p:pic>
      <p:sp>
        <p:nvSpPr>
          <p:cNvPr id="350" name="Google Shape;350;p45"/>
          <p:cNvSpPr txBox="1"/>
          <p:nvPr/>
        </p:nvSpPr>
        <p:spPr>
          <a:xfrm>
            <a:off x="7555150" y="1277750"/>
            <a:ext cx="1335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hlinkClick r:id="rId8"/>
              </a:rPr>
              <a:t>https://jobloss.ai</a:t>
            </a:r>
            <a:endParaRPr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p4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56" name="Google Shape;356;p46"/>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57" name="Google Shape;357;p46"/>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58" name="Google Shape;358;p4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59" name="Google Shape;359;p46"/>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60" name="Google Shape;360;p46"/>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7"/>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8255</Words>
  <Application>Microsoft Macintosh PowerPoint</Application>
  <PresentationFormat>On-screen Show (16:9)</PresentationFormat>
  <Paragraphs>782</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2026-03-20T00:50:38Z</dcterms:modified>
</cp:coreProperties>
</file>