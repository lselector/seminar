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embeddedFontLst>
    <p:embeddedFont>
      <p:font typeface="Roboto Mono" pitchFamily="49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3EA60D2-7656-4957-A7AF-97D730CD5C2E}">
  <a:tblStyle styleId="{C3EA60D2-7656-4957-A7AF-97D730CD5C2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>
      <p:cViewPr varScale="1">
        <p:scale>
          <a:sx n="124" d="100"/>
          <a:sy n="124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579bdb6f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f579bdb6f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579bdb6fa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g3f579bdb6fa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3fd83212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g3f3fd83212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76bedf687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3f76bedf687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3fd39980d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g3f3fd39980d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3fd832125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f3fd832125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865444de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g3f865444de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f3f9bb16c5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g3f3f9bb16c5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53f4676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g3f53f46768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40119bdba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3f40119bdba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79234be8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g3f79234be8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79234be8e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9" name="Google Shape;169;g3f79234be8e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795cd0b6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g3f795cd0b6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795cd0b60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4" name="Google Shape;184;g3f795cd0b60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f795cd0b6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3" name="Google Shape;193;g3f795cd0b6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f3f9bb16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g3f3f9bb16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f865444de0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g3f865444de0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3f988cd8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3f3f988cd8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f3f9bb16c5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3f3f9bb16c5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f86f7a38a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8" name="Google Shape;238;g3f86f7a38a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f86f7a38a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f86f7a38a1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f865444de0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2" name="Google Shape;252;g3f865444de0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3f9bb16c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9" name="Google Shape;259;g3f3f9bb16c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f4059ad9d6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8" name="Google Shape;268;g3f4059ad9d6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f579bdb6fa_0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g3f579bdb6fa_0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d971967e0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5" name="Google Shape;285;g3d971967e0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d971967e0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5" name="Google Shape;295;g3d971967e0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claude-opus-4-8-high" TargetMode="External"/><Relationship Id="rId18" Type="http://schemas.openxmlformats.org/officeDocument/2006/relationships/hyperlink" Target="https://arena.ai/leaderboard/model/muse-spark-1.1" TargetMode="External"/><Relationship Id="rId26" Type="http://schemas.openxmlformats.org/officeDocument/2006/relationships/hyperlink" Target="https://arena.ai/leaderboard/model/gemini-3.7-flash-high" TargetMode="External"/><Relationship Id="rId21" Type="http://schemas.openxmlformats.org/officeDocument/2006/relationships/hyperlink" Target="https://arena.ai/leaderboard/model/muse-spark" TargetMode="External"/><Relationship Id="rId34" Type="http://schemas.openxmlformats.org/officeDocument/2006/relationships/hyperlink" Target="https://arena.ai/leaderboard/model/gemini-3.5-flash-high" TargetMode="External"/><Relationship Id="rId7" Type="http://schemas.openxmlformats.org/officeDocument/2006/relationships/hyperlink" Target="https://arena.ai/leaderboard/model/claude-opus-4-6-high" TargetMode="External"/><Relationship Id="rId12" Type="http://schemas.openxmlformats.org/officeDocument/2006/relationships/hyperlink" Target="https://arena.ai/leaderboard/model/claude-opus-5-high" TargetMode="External"/><Relationship Id="rId17" Type="http://schemas.openxmlformats.org/officeDocument/2006/relationships/hyperlink" Target="https://arena.ai/leaderboard/model/claude-opus-4-5-20251101-high-32k" TargetMode="External"/><Relationship Id="rId25" Type="http://schemas.openxmlformats.org/officeDocument/2006/relationships/hyperlink" Target="https://arena.ai/leaderboard/model/grok-4.5" TargetMode="External"/><Relationship Id="rId33" Type="http://schemas.openxmlformats.org/officeDocument/2006/relationships/hyperlink" Target="https://arena.ai/leaderboard/model/gemini-3.6-flash-high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gpt-5.6-sol-xhigh" TargetMode="External"/><Relationship Id="rId20" Type="http://schemas.openxmlformats.org/officeDocument/2006/relationships/hyperlink" Target="https://arena.ai/leaderboard/model/claude-opus-4-8" TargetMode="External"/><Relationship Id="rId29" Type="http://schemas.openxmlformats.org/officeDocument/2006/relationships/hyperlink" Target="https://arena.ai/leaderboard/model/gpt-5.4-high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opus-4-7-high" TargetMode="External"/><Relationship Id="rId11" Type="http://schemas.openxmlformats.org/officeDocument/2006/relationships/hyperlink" Target="https://arena.ai/leaderboard/model/kimi-k3-max" TargetMode="External"/><Relationship Id="rId24" Type="http://schemas.openxmlformats.org/officeDocument/2006/relationships/hyperlink" Target="https://arena.ai/leaderboard/model/claude-opus-4-5-20251101" TargetMode="External"/><Relationship Id="rId32" Type="http://schemas.openxmlformats.org/officeDocument/2006/relationships/hyperlink" Target="https://arena.ai/leaderboard/model/gpt-5.5-high" TargetMode="External"/><Relationship Id="rId37" Type="http://schemas.openxmlformats.org/officeDocument/2006/relationships/hyperlink" Target="https://arena.ai/leaderboard/model/grok-4.20-beta1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glm-5.3-max" TargetMode="External"/><Relationship Id="rId23" Type="http://schemas.openxmlformats.org/officeDocument/2006/relationships/hyperlink" Target="https://arena.ai/leaderboard/model/claude-opus-5-max" TargetMode="External"/><Relationship Id="rId28" Type="http://schemas.openxmlformats.org/officeDocument/2006/relationships/hyperlink" Target="https://arena.ai/leaderboard/model/claude-sonnet-5-high" TargetMode="External"/><Relationship Id="rId36" Type="http://schemas.openxmlformats.org/officeDocument/2006/relationships/hyperlink" Target="https://arena.ai/leaderboard/model/gpt-5.2-chat-latest-20260210" TargetMode="External"/><Relationship Id="rId10" Type="http://schemas.openxmlformats.org/officeDocument/2006/relationships/hyperlink" Target="https://arena.ai/leaderboard/model/claude-opus-4-6" TargetMode="External"/><Relationship Id="rId19" Type="http://schemas.openxmlformats.org/officeDocument/2006/relationships/hyperlink" Target="https://arena.ai/leaderboard/model/claude-sonnet-4-6" TargetMode="External"/><Relationship Id="rId31" Type="http://schemas.openxmlformats.org/officeDocument/2006/relationships/hyperlink" Target="https://arena.ai/leaderboard/model/gemini-3-pro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" TargetMode="External"/><Relationship Id="rId14" Type="http://schemas.openxmlformats.org/officeDocument/2006/relationships/hyperlink" Target="https://arena.ai/leaderboard/model/muse-spark-1.2%20%28xHigh%29" TargetMode="External"/><Relationship Id="rId22" Type="http://schemas.openxmlformats.org/officeDocument/2006/relationships/hyperlink" Target="https://arena.ai/leaderboard/model/qwen3.7-max-preview" TargetMode="External"/><Relationship Id="rId27" Type="http://schemas.openxmlformats.org/officeDocument/2006/relationships/hyperlink" Target="https://arena.ai/leaderboard/model/gemini-3.1-pro-preview" TargetMode="External"/><Relationship Id="rId30" Type="http://schemas.openxmlformats.org/officeDocument/2006/relationships/hyperlink" Target="https://arena.ai/leaderboard/model/qwen3.8-max" TargetMode="External"/><Relationship Id="rId35" Type="http://schemas.openxmlformats.org/officeDocument/2006/relationships/hyperlink" Target="https://arena.ai/leaderboard/model/gpt-5.5" TargetMode="External"/><Relationship Id="rId8" Type="http://schemas.openxmlformats.org/officeDocument/2006/relationships/hyperlink" Target="https://arena.ai/leaderboard/model/claude-fable-5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nxr20lcqagg" TargetMode="External"/><Relationship Id="rId5" Type="http://schemas.openxmlformats.org/officeDocument/2006/relationships/hyperlink" Target="https://artificialanalysis.ai/evaluations/artificial-analysis-intelligence-index" TargetMode="External"/><Relationship Id="rId4" Type="http://schemas.openxmlformats.org/officeDocument/2006/relationships/hyperlink" Target="https://artificialanalysis.ai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kaggle.com/competitions/arc-prize-2026-arc-agi-3" TargetMode="External"/><Relationship Id="rId3" Type="http://schemas.openxmlformats.org/officeDocument/2006/relationships/hyperlink" Target="https://developer.nvidia.com/blog/nvidia-avo-reaches-100-on-arc-agi-3-demonstrating-a-frontier-level-general-purpose-architecture-for-long-horizon-autonomous-agents/" TargetMode="External"/><Relationship Id="rId7" Type="http://schemas.openxmlformats.org/officeDocument/2006/relationships/hyperlink" Target="https://arxiv.org/html/2603.24621v1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cprize.org/competitions/2026/arc-agi-3" TargetMode="External"/><Relationship Id="rId5" Type="http://schemas.openxmlformats.org/officeDocument/2006/relationships/hyperlink" Target="https://arcprize.org/arc-agi/3" TargetMode="External"/><Relationship Id="rId4" Type="http://schemas.openxmlformats.org/officeDocument/2006/relationships/hyperlink" Target="https://arxiv.org/abs/2603.24517" TargetMode="External"/><Relationship Id="rId9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nfoq.com/news/2026/08/deep-seek-harness/" TargetMode="External"/><Relationship Id="rId3" Type="http://schemas.openxmlformats.org/officeDocument/2006/relationships/hyperlink" Target="https://api-docs.deepseek.com/news/news260821/" TargetMode="External"/><Relationship Id="rId7" Type="http://schemas.openxmlformats.org/officeDocument/2006/relationships/hyperlink" Target="https://api-docs.deepseek.com/news/" TargetMode="External"/><Relationship Id="rId12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deepseek-ai/deepseek-harness" TargetMode="External"/><Relationship Id="rId11" Type="http://schemas.openxmlformats.org/officeDocument/2006/relationships/image" Target="../media/image3.png"/><Relationship Id="rId5" Type="http://schemas.openxmlformats.org/officeDocument/2006/relationships/hyperlink" Target="https://x.com/deepseek_ai/status/2090730032574631962" TargetMode="External"/><Relationship Id="rId10" Type="http://schemas.openxmlformats.org/officeDocument/2006/relationships/hyperlink" Target="https://www.youtube.com/watch?v=qHMxtIuuKso" TargetMode="External"/><Relationship Id="rId4" Type="http://schemas.openxmlformats.org/officeDocument/2006/relationships/hyperlink" Target="https://api-docs.deepseek.com/guides/vision/" TargetMode="External"/><Relationship Id="rId9" Type="http://schemas.openxmlformats.org/officeDocument/2006/relationships/hyperlink" Target="https://www.datacamp.com/tutorial/deepseek-harness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langchain-ai/langchain" TargetMode="External"/><Relationship Id="rId3" Type="http://schemas.openxmlformats.org/officeDocument/2006/relationships/hyperlink" Target="https://github.com/ultraworkers/claw-code" TargetMode="External"/><Relationship Id="rId7" Type="http://schemas.openxmlformats.org/officeDocument/2006/relationships/hyperlink" Target="https://github.com/Significant-Gravitas/AutoGPT" TargetMode="External"/><Relationship Id="rId12" Type="http://schemas.openxmlformats.org/officeDocument/2006/relationships/hyperlink" Target="https://github.com/ggml-org/llama.cpp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NousResearch/hermes-agent" TargetMode="External"/><Relationship Id="rId11" Type="http://schemas.openxmlformats.org/officeDocument/2006/relationships/hyperlink" Target="https://github.com/ollama/ollama" TargetMode="External"/><Relationship Id="rId5" Type="http://schemas.openxmlformats.org/officeDocument/2006/relationships/hyperlink" Target="https://github.com/openclaw/openclaw" TargetMode="External"/><Relationship Id="rId10" Type="http://schemas.openxmlformats.org/officeDocument/2006/relationships/hyperlink" Target="https://github.com/n8n-io/n8n" TargetMode="External"/><Relationship Id="rId4" Type="http://schemas.openxmlformats.org/officeDocument/2006/relationships/hyperlink" Target="https://github.com/deepseek-ai/deepseek-harness" TargetMode="External"/><Relationship Id="rId9" Type="http://schemas.openxmlformats.org/officeDocument/2006/relationships/hyperlink" Target="https://github.com/langgenius/dify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Im2c-7jvKz8" TargetMode="External"/><Relationship Id="rId3" Type="http://schemas.openxmlformats.org/officeDocument/2006/relationships/hyperlink" Target="https://github.com/openai/codex" TargetMode="External"/><Relationship Id="rId7" Type="http://schemas.openxmlformats.org/officeDocument/2006/relationships/hyperlink" Target="http://www.youtube.com/watch?v=mlc9JSTQoxc" TargetMode="External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6.jpeg"/><Relationship Id="rId5" Type="http://schemas.openxmlformats.org/officeDocument/2006/relationships/hyperlink" Target="https://aidisruption.ai/p/deepseek-harness-vs-codex-harness" TargetMode="External"/><Relationship Id="rId10" Type="http://schemas.openxmlformats.org/officeDocument/2006/relationships/hyperlink" Target="https://newsletter.semianalysis.com/p/openai-jalapeno-better-than-nvidia" TargetMode="External"/><Relationship Id="rId4" Type="http://schemas.openxmlformats.org/officeDocument/2006/relationships/hyperlink" Target="https://developers.openai.com/blog/codex-as-a-platform" TargetMode="External"/><Relationship Id="rId9" Type="http://schemas.openxmlformats.org/officeDocument/2006/relationships/hyperlink" Target="https://openai.com/index/openai-broadcom-jalapeno-inference-chip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9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@WesRothAI" TargetMode="External"/><Relationship Id="rId5" Type="http://schemas.openxmlformats.org/officeDocument/2006/relationships/hyperlink" Target="https://cisa.gov/news-events/cybersecurity-advisories/aa26-231a" TargetMode="External"/><Relationship Id="rId10" Type="http://schemas.openxmlformats.org/officeDocument/2006/relationships/image" Target="../media/image13.png"/><Relationship Id="rId4" Type="http://schemas.openxmlformats.org/officeDocument/2006/relationships/hyperlink" Target="https://openrouter.ai/stealth" TargetMode="External"/><Relationship Id="rId9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510.26692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businessinsider.com/google-unveils-gemini-enterprise-for-legal-law-tech-push-2026-8" TargetMode="External"/><Relationship Id="rId5" Type="http://schemas.openxmlformats.org/officeDocument/2006/relationships/hyperlink" Target="https://www.digitalocean.com/community/tutorials/kimi-linear-moonshot-ai" TargetMode="External"/><Relationship Id="rId4" Type="http://schemas.openxmlformats.org/officeDocument/2006/relationships/hyperlink" Target="https://github.com/MoonshotAI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crunch.com/2026/08/20/chatgpt-can-now-send-texts-for-you-with-new-apple-messages-plugin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hyperlink" Target="https://venturebeat.com/infrastructure/perplexity-partners-with-nvidia-to-launch-portable-computer-a-fully-local-ai-agent-with-zero-token-costs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abit-hooks/habit-hooks" TargetMode="External"/><Relationship Id="rId7" Type="http://schemas.openxmlformats.org/officeDocument/2006/relationships/hyperlink" Target="https://www.youtube.com/watch?v=Mlo16hrA5wQ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atent.space/p/ainews-10-worse-100x-cheaper-10000x" TargetMode="External"/><Relationship Id="rId5" Type="http://schemas.openxmlformats.org/officeDocument/2006/relationships/hyperlink" Target="https://arxiv.org/pdf/2608.16157" TargetMode="External"/><Relationship Id="rId4" Type="http://schemas.openxmlformats.org/officeDocument/2006/relationships/hyperlink" Target="https://github.com/FlashML-org/FreeToken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hyperlink" Target="https://www.mixedbread.com" TargetMode="Externa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rimeintellect.ai/case-study/mixedbread" TargetMode="External"/><Relationship Id="rId5" Type="http://schemas.openxmlformats.org/officeDocument/2006/relationships/hyperlink" Target="https://www.mixedbread.com/blog/toast-1" TargetMode="External"/><Relationship Id="rId4" Type="http://schemas.openxmlformats.org/officeDocument/2006/relationships/hyperlink" Target="https://github.com/mixedbread-ai/toast-harness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hyperlink" Target="https://www.copilotkit.ai/openbot" TargetMode="External"/><Relationship Id="rId7" Type="http://schemas.openxmlformats.org/officeDocument/2006/relationships/hyperlink" Target="https://www.youtube.com/watch?v=qJQzYj9Pw2k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ataiiam/status/2090125716767773120" TargetMode="External"/><Relationship Id="rId5" Type="http://schemas.openxmlformats.org/officeDocument/2006/relationships/hyperlink" Target="https://github.com/CopilotKit/openbot" TargetMode="External"/><Relationship Id="rId10" Type="http://schemas.openxmlformats.org/officeDocument/2006/relationships/image" Target="../media/image21.png"/><Relationship Id="rId4" Type="http://schemas.openxmlformats.org/officeDocument/2006/relationships/hyperlink" Target="https://www.copilotkit.ai" TargetMode="External"/><Relationship Id="rId9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pytorch.org/blog/pytorch-ecosystem-landscape-q126/" TargetMode="External"/><Relationship Id="rId3" Type="http://schemas.openxmlformats.org/officeDocument/2006/relationships/hyperlink" Target="https://unsloth.ai" TargetMode="External"/><Relationship Id="rId7" Type="http://schemas.openxmlformats.org/officeDocument/2006/relationships/hyperlink" Target="https://unsloth.ai/docs/desktop" TargetMode="External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nsloth.ai/docs/basics/unsloth-benchmarks" TargetMode="External"/><Relationship Id="rId11" Type="http://schemas.openxmlformats.org/officeDocument/2006/relationships/image" Target="../media/image22.jpeg"/><Relationship Id="rId5" Type="http://schemas.openxmlformats.org/officeDocument/2006/relationships/hyperlink" Target="https://unsloth.ai/blog/reintroducing" TargetMode="External"/><Relationship Id="rId10" Type="http://schemas.openxmlformats.org/officeDocument/2006/relationships/hyperlink" Target="https://www.youtube.com/watch?v=nWbZmJMWg6E" TargetMode="External"/><Relationship Id="rId4" Type="http://schemas.openxmlformats.org/officeDocument/2006/relationships/hyperlink" Target="https://github.com/unslothai/unsloth" TargetMode="External"/><Relationship Id="rId9" Type="http://schemas.openxmlformats.org/officeDocument/2006/relationships/hyperlink" Target="https://www.youtube.com/@unslothai" TargetMode="Externa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huggingface.co/ornith-ai/Ornith-1.5-397B" TargetMode="External"/><Relationship Id="rId3" Type="http://schemas.openxmlformats.org/officeDocument/2006/relationships/hyperlink" Target="https://huggingface.co/Qwen/Qwen3.8-27B" TargetMode="External"/><Relationship Id="rId7" Type="http://schemas.openxmlformats.org/officeDocument/2006/relationships/hyperlink" Target="https://www.youtube.com/watch?v=629J4G3aek4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velopers.googleblog.com/gemma-explained-whats-new-in-gemma-3" TargetMode="External"/><Relationship Id="rId5" Type="http://schemas.openxmlformats.org/officeDocument/2006/relationships/hyperlink" Target="https://arxiv.org/html/2508.10925v1" TargetMode="External"/><Relationship Id="rId10" Type="http://schemas.openxmlformats.org/officeDocument/2006/relationships/hyperlink" Target="https://www.mindstudio.ai/blog/ornith-1-5-35b-a3b-benchmarks" TargetMode="External"/><Relationship Id="rId4" Type="http://schemas.openxmlformats.org/officeDocument/2006/relationships/hyperlink" Target="https://github.com/ggml-org/llama.cpp" TargetMode="External"/><Relationship Id="rId9" Type="http://schemas.openxmlformats.org/officeDocument/2006/relationships/hyperlink" Target="https://github.com/ornith-ai/Ornith-1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news.ycombinator.com/item?id=49098510" TargetMode="External"/><Relationship Id="rId3" Type="http://schemas.openxmlformats.org/officeDocument/2006/relationships/hyperlink" Target="https://github.com/syv-ai/qwen38-27b-rtx3090/blob/main/docs/docker.md" TargetMode="External"/><Relationship Id="rId7" Type="http://schemas.openxmlformats.org/officeDocument/2006/relationships/hyperlink" Target="https://github.com/drumih/turbo-fieldfar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urbo-fieldfare.dev" TargetMode="External"/><Relationship Id="rId5" Type="http://schemas.openxmlformats.org/officeDocument/2006/relationships/hyperlink" Target="https://www.youtube.com/watch?v=Nu0TsGmreRk" TargetMode="External"/><Relationship Id="rId4" Type="http://schemas.openxmlformats.org/officeDocument/2006/relationships/hyperlink" Target="https://syv.ai" TargetMode="External"/><Relationship Id="rId9" Type="http://schemas.openxmlformats.org/officeDocument/2006/relationships/hyperlink" Target="https://www.youtube.com/watch?v=TAUgUdWb51s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hyperlink" Target="https://www.mdpi.com/2079-9292/15/13/2839" TargetMode="External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jpeg"/><Relationship Id="rId5" Type="http://schemas.openxmlformats.org/officeDocument/2006/relationships/hyperlink" Target="https://www.epri.com/research/products/000000003002034220" TargetMode="External"/><Relationship Id="rId10" Type="http://schemas.openxmlformats.org/officeDocument/2006/relationships/image" Target="../media/image28.png"/><Relationship Id="rId4" Type="http://schemas.openxmlformats.org/officeDocument/2006/relationships/hyperlink" Target="https://www.powermag.com/the-solid-state-shift-reinventing-the-transformer-for-modern-grids/" TargetMode="External"/><Relationship Id="rId9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hyperlink" Target="https://github.com/hamelsmu/error-discovery-skill" TargetMode="External"/><Relationship Id="rId7" Type="http://schemas.openxmlformats.org/officeDocument/2006/relationships/hyperlink" Target="https://www.youtube.com/watch?v=bdMHQLvtVaQ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@peter_yang" TargetMode="External"/><Relationship Id="rId5" Type="http://schemas.openxmlformats.org/officeDocument/2006/relationships/hyperlink" Target="https://evals.work" TargetMode="External"/><Relationship Id="rId4" Type="http://schemas.openxmlformats.org/officeDocument/2006/relationships/hyperlink" Target="https://hamel.dev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stgresql.org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ling.ai" TargetMode="External"/><Relationship Id="rId5" Type="http://schemas.openxmlformats.org/officeDocument/2006/relationships/hyperlink" Target="https://github.com/docling-project/docling" TargetMode="External"/><Relationship Id="rId4" Type="http://schemas.openxmlformats.org/officeDocument/2006/relationships/hyperlink" Target="https://github.com/pgvector/pgvecto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promptadvisers/claudex" TargetMode="External"/><Relationship Id="rId3" Type="http://schemas.openxmlformats.org/officeDocument/2006/relationships/hyperlink" Target="https://www.qwencloud.com/models/wan3.0-video" TargetMode="External"/><Relationship Id="rId7" Type="http://schemas.openxmlformats.org/officeDocument/2006/relationships/hyperlink" Target="https://github.com/chaseai-yt/claudex-loop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atlascloud.ai/blog/tips/wan-3-0-preview" TargetMode="External"/><Relationship Id="rId5" Type="http://schemas.openxmlformats.org/officeDocument/2006/relationships/hyperlink" Target="https://github.com/Wan-Video" TargetMode="External"/><Relationship Id="rId10" Type="http://schemas.openxmlformats.org/officeDocument/2006/relationships/hyperlink" Target="https://www.youtube.com/watch?v=rZQDZWayzNo" TargetMode="External"/><Relationship Id="rId4" Type="http://schemas.openxmlformats.org/officeDocument/2006/relationships/hyperlink" Target="https://www.alibabacloud.com/help/en/model-studio/models" TargetMode="External"/><Relationship Id="rId9" Type="http://schemas.openxmlformats.org/officeDocument/2006/relationships/hyperlink" Target="https://onexiang.cc/en/skills/claudex-loop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uters.com/world/china/xiaomi-launches-new-xring-chip-partners-with-tsmc-production-sources-say-2026-08-24/" TargetMode="External"/><Relationship Id="rId3" Type="http://schemas.openxmlformats.org/officeDocument/2006/relationships/hyperlink" Target="https://www.youtube.com/watch?v=PgJ2i7TtnkY" TargetMode="External"/><Relationship Id="rId7" Type="http://schemas.openxmlformats.org/officeDocument/2006/relationships/hyperlink" Target="https://github.com/XiaomiMiMo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.com" TargetMode="External"/><Relationship Id="rId5" Type="http://schemas.openxmlformats.org/officeDocument/2006/relationships/hyperlink" Target="https://www.guru3d.com/story/xiaomi-ai-cube-uses-three-xring-chips-and-lpddr6-memory/" TargetMode="External"/><Relationship Id="rId10" Type="http://schemas.openxmlformats.org/officeDocument/2006/relationships/image" Target="../media/image32.jpeg"/><Relationship Id="rId4" Type="http://schemas.openxmlformats.org/officeDocument/2006/relationships/image" Target="../media/image31.jpeg"/><Relationship Id="rId9" Type="http://schemas.openxmlformats.org/officeDocument/2006/relationships/hyperlink" Target="https://www.youtube.com/watch?v=H0CJAlVjhDo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jpeg"/><Relationship Id="rId3" Type="http://schemas.openxmlformats.org/officeDocument/2006/relationships/hyperlink" Target="https://podman.io" TargetMode="External"/><Relationship Id="rId7" Type="http://schemas.openxmlformats.org/officeDocument/2006/relationships/hyperlink" Target="https://oneuptime.com/blog/post/2026-03-18-choose-between-podman-and-docker/view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oby/moby" TargetMode="External"/><Relationship Id="rId5" Type="http://schemas.openxmlformats.org/officeDocument/2006/relationships/hyperlink" Target="https://github.com/containers/podman" TargetMode="External"/><Relationship Id="rId4" Type="http://schemas.openxmlformats.org/officeDocument/2006/relationships/hyperlink" Target="https://www.docker.com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hyperlink" Target="https://trueup.io/layoffs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00175" y="627450"/>
            <a:ext cx="33078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Cost Per Intelligence Index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NVIDIA’s AVO - 100% on ARC-AGI-3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DeepSeek Flash Gets Vision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Time to 100K Stars on GitHub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Open-Sourced Codex Harness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Jalapeño: OpenAI’s AI Chip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52 Open Harnesses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2026 World Humanoid Robot Games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Ox Alpha on OpenRouter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Aug 28,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7041206" y="4694589"/>
            <a:ext cx="1632600" cy="234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4606450" y="101200"/>
            <a:ext cx="4420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Reviewing and Validating is the New Bottleneck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99425" y="1099600"/>
            <a:ext cx="4092900" cy="28197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Unsloth - Efficient LLM Training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4x more Context from the same GPU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Ornith 1.5 by by DeepReinforce - Self-Teaching AI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Qwen3.8-27B on 24GB RTX 3090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TurboFieldfare: SSD-streamed LLM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SST - Solid State Transformers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Evals: Human Taste at Scale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Task - Build a RAG  service for millions of docs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Alibaba Wan 3.0: Document-to-Video AI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Claudex Loop Skill for Dual Model Work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silicon team for custom Claude chips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Xiaomi Aluminum AI Cube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Podman vs Docker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00175" y="2885908"/>
            <a:ext cx="3307800" cy="17424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Kimi Linear: cheaper long context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Google’s Gemini Enterprise for Legal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Apple Messages for ChatGPT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Perplexity + Nvidia - Local AI Agent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Habit-Hooks - Avoid Agent Slop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FreeToken - Open Local Inference Engine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Mixedbread’s Toast 1 - AI Search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OpenBot: Self-Hosted AI Coworkers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Aug 21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8" name="Google Shape;78;p16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{C3EA60D2-7656-4957-A7AF-97D730CD5C2E}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9" name="Google Shape;79;p16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Qwen3.8-max-preview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0" name="Google Shape;80;p16"/>
          <p:cNvGraphicFramePr/>
          <p:nvPr/>
        </p:nvGraphicFramePr>
        <p:xfrm>
          <a:off x="3048287" y="73090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{C3EA60D2-7656-4957-A7AF-97D730CD5C2E}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grok-4.5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claude-sonnet-5-high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1" name="Google Shape;81;p16"/>
          <p:cNvGraphicFramePr/>
          <p:nvPr/>
        </p:nvGraphicFramePr>
        <p:xfrm>
          <a:off x="433214" y="7315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{C3EA60D2-7656-4957-A7AF-97D730CD5C2E}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gemini-3.5-flash-high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gpt-5.5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grok-4.20-beta1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425" y="1377752"/>
            <a:ext cx="9020148" cy="3521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7" name="Google Shape;87;p17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52430" y="355163"/>
            <a:ext cx="44295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https://artificialanalysis.ai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https://www.youtube.com/watch?v=nxr20lcqagg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Anthropic vs OpenAI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6643826" y="1149875"/>
            <a:ext cx="9447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August 19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4632640" y="1518132"/>
            <a:ext cx="4425600" cy="3574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AVO 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 - Agentic Variation Operators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NVIDIA’s research architecture for long-horizon autonomous agents.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Works as evolutionary optimizer rather than relying on fixed mutation and crossover rules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agent inspects code, proposes changes, executes tests and benchmarks, reads profiler feedback, and iterates over many attempts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Persistent memory retains prior experiments, failures, performance data, and successful approaches across the optimization process.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NVIDIA first used AVO for autonomous GPU-kernel optimization, where real compilation and hardware measurements guide decisions.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NVIDIA later applied the architecture to ARC-AGI-3 interactive reasoning tasks, reporting a perfect public-environment score.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 is an agent system design, not a standalone foundation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https://developer.nvidia.com/blog/nvidia-avo-reaches-100-on-arc-agi-3-demonstrating-a-frontier-level-general-purpose-architecture-for-long-horizon-autonomous-agents/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https://arxiv.org/abs/2603.24517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8"/>
          <p:cNvSpPr txBox="1"/>
          <p:nvPr/>
        </p:nvSpPr>
        <p:spPr>
          <a:xfrm>
            <a:off x="81765" y="420370"/>
            <a:ext cx="44256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NVIDIA’s AVO agent improves Claude Opus 5 performance on ARC-AGI-3 from a 30% baseline to 100%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agent completes all 183 levels across the benchmark’s 25 public environments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 uses persistent memory, external tools and supervision to sustain progress across unfamiliar tasks, building on a seven-day GPU-kernel optimization run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 that the official base-model leaderboard evaluates individual models under its specified evaluation setup: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1	Claude Opus-5   - 30.2%</a:t>
            </a:r>
            <a:b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2	GPT-5.6 Sol     -  7.8%</a:t>
            </a:r>
            <a:b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3	Claude Opus-4.8 -  3.6%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97" name="Google Shape;97;p18"/>
          <p:cNvSpPr txBox="1"/>
          <p:nvPr/>
        </p:nvSpPr>
        <p:spPr>
          <a:xfrm>
            <a:off x="81765" y="2831995"/>
            <a:ext cx="44256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ARC-AGI-3 Interactive Benchmark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Evaluates learning through interaction and adaptation from limited experience (similar to learning a computer game)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 Prize runs a competition around ARC-AGI-3 with more than $2M in total prizes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https://arcprize.org/arc-agi/3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https://arcprize.org/competitions/2026/arc-agi-3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https://arxiv.org/html/2603.24621v1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https://www.kaggle.com/competitions/arc-prize-2026-arc-agi-3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Google Shape;98;p1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2643" y="128206"/>
            <a:ext cx="2271276" cy="13288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9"/>
          <p:cNvSpPr txBox="1"/>
          <p:nvPr/>
        </p:nvSpPr>
        <p:spPr>
          <a:xfrm>
            <a:off x="81765" y="366432"/>
            <a:ext cx="4425600" cy="2465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Flash Gets Vision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DeepSeek released experimental V4 Flash Vision Exp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Adds image understanding to text, reasoning, coding, and agent capabilities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Agents can now inspect screenshots, extract text, interpret charts, and compare visual UI output—not just operate from text context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name: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deepseek-v4-flash-vision-exp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Supply JPEG, PNG, GIF, or WebP through base64, a public URL, or reusable Files API file IDs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Files API avoids repeat uploads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Pricing: up to 384 tokens per image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https://api-docs.deepseek.com/news/news260821/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https://api-docs.deepseek.com/guides/vision/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https://x.com/deepseek_ai/status/2090730032574631962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9"/>
          <p:cNvSpPr txBox="1"/>
          <p:nvPr/>
        </p:nvSpPr>
        <p:spPr>
          <a:xfrm>
            <a:off x="4642340" y="2712157"/>
            <a:ext cx="4425600" cy="2373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Harness (dsh) - Early Dev Preview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(MIT) agent runtime, launched Aug 13, 191K stars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Operates model, tools, workspace, state, policies, and agent loop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“everything is a plugin”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local web and headless profiles, with configurable bundles and patches rather than a monolithic application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Four baseline configs: Standard, Code, Minimal, and Creator.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Append-only session log - replay, forking, persistence, and traceability of model-visible context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https://github.com/deepseek-ai/deepseek-harness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https://api-docs.deepseek.com/news/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https://www.infoq.com/news/2026/08/deep-seek-harness/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https://www.datacamp.com/tutorial/deepseek-harness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https://www.youtube.com/watch?v=qHMxtIuuKso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9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93276" y="226125"/>
            <a:ext cx="4167598" cy="240735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7" name="Google Shape;107;p19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2872157"/>
            <a:ext cx="3569894" cy="20065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Time to 100K Stars on GitHub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3" name="Google Shape;113;p20"/>
          <p:cNvGraphicFramePr/>
          <p:nvPr/>
        </p:nvGraphicFramePr>
        <p:xfrm>
          <a:off x="223275" y="54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{C3EA60D2-7656-4957-A7AF-97D730CD5C2E}</a:tableStyleId>
              </a:tblPr>
              <a:tblGrid>
                <a:gridCol w="25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2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824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GitHub URL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Launched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Time to </a:t>
                      </a:r>
                      <a:b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100K stars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Current stars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age on Aug 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Notes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Claw Code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"/>
                        </a:rPr>
                        <a:t>https://github.com/ultraworkers/claw-code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2026-03-31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 day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~195.1K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 AI coding-agent harness inspired by the architecture of Anthropic’s Claude Code (created on the day when Claude Code was leaked on March 31)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DeepSeek Harness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/>
                        </a:rPr>
                        <a:t>https://github.com/deepseek-ai/deepseek-harness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2026-08-13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&lt;48 hours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191K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Crossed 100K in under two days.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OpenClaw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/>
                        </a:rPr>
                        <a:t>https://github.com/openclaw/openclaw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2025-11-24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~387.3K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273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Timing is not cleanly comparable because of predecessor names/rebrands; public claims conflict.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Hermes Agent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https://github.com/NousResearch/hermes-agent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2026-02-25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~7–10 weeks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&gt;100K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open-source, self-hosted autonomous AI assistant built by Nous Research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AutoGPT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https://github.com/Significant-Gravitas/AutoGPT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2023-03-30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~3–4 weeks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176K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1,243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AutoGPT is an open-source agent platform that lets you build, deploy, and run AI agents for multi-step digital workflows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LangChain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https://github.com/langchain-ai/langchain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2022-10-17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~3.5 years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140K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1,407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 Python and JavaScript framework for building AI applications - assistants, RAG systems, tool-using agents, and multi-step AI workflows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Dify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https://github.com/langgenius/dify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2023-05-15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~2.1 years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153.2K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1,197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 LLM app development platform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n8n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https://github.com/n8n-io/n8n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2019-06-04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~6 years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200K+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2,638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Platform for AI Agents and Workflow Automation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Ollama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https://github.com/ollama/ollama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2023-06-26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 established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173K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1,155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 AI-model runtime and developer platform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llama.cpp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https://github.com/ggml-org/llama.cpp</a:t>
                      </a:r>
                      <a:endParaRPr sz="6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2023-03-10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 years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100K+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1,263 days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open-source, low-level C/C++ inference engine for running LLMs and VLMs locally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C7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1"/>
          <p:cNvSpPr txBox="1"/>
          <p:nvPr/>
        </p:nvSpPr>
        <p:spPr>
          <a:xfrm>
            <a:off x="81765" y="366432"/>
            <a:ext cx="4425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Open-Sourced Codex Harness - Aug 19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Codex Harness powers the ChatGPT desktop app, CLI, and VS Code extension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includes Codex CLI, app-server, and official SDK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https://github.com/openai/codex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https://developers.openai.com/blog/codex-as-a-platform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https://aidisruption.ai/p/deepseek-harness-vs-codex-harness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21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07375" y="90000"/>
            <a:ext cx="4360800" cy="23705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1" name="Google Shape;121;p21"/>
          <p:cNvSpPr txBox="1"/>
          <p:nvPr/>
        </p:nvSpPr>
        <p:spPr>
          <a:xfrm>
            <a:off x="81775" y="1717750"/>
            <a:ext cx="39735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Merges ChatGPT and Codex into the ChatGPT app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Phasing out the standalone Codex branding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updated interface emphasizes coding and developer tasks, relegating standard chat to a minimized secondary window.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eading AI companies are shifting their focus heavily toward practical knowledge work rather than basic question-and-answer use cases.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http://www.youtube.com/watch?v=mlc9JSTQoxc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1"/>
          <p:cNvSpPr txBox="1"/>
          <p:nvPr/>
        </p:nvSpPr>
        <p:spPr>
          <a:xfrm>
            <a:off x="4672665" y="3682357"/>
            <a:ext cx="4425600" cy="1357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Jalapeño: OpenAI’s AI Chip - deployment by the end of 2026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OpenAI and Broadcom’s Jalapeño is a custom ASIC for serving LLM inference, not a general-purpose GPU or training chip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SemiAnalysis reports 1.5–1.9× higher throughput per watt than Nvidia Blackwell, with lower end-to-end latency in tested scenarios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https://www.youtube.com/watch?v=Im2c-7jvKz8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https://openai.com/index/openai-broadcom-jalapeno-inference-chip/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https://newsletter.semianalysis.com/p/openai-jalapeno-better-than-nvidia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21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36425" y="3682350"/>
            <a:ext cx="2036249" cy="1357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4" name="Google Shape;124;p21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3398650"/>
            <a:ext cx="1795425" cy="1570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 Open Harnesses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2"/>
          <p:cNvSpPr txBox="1"/>
          <p:nvPr/>
        </p:nvSpPr>
        <p:spPr>
          <a:xfrm>
            <a:off x="81765" y="368245"/>
            <a:ext cx="4425600" cy="4590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Codex CLI 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— Rust terminal coding-agent harness from OpenAI with tools and sandboxing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Minimal TypeScript terminal harness with extensible tools, skills, and prompts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TypeScript coding harness for terminal, desktop, IDE, tools, and providers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Claw Code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Rust CLI implementation of the Claw coding-agent harness architecture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Grok Build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xAI Rust TUI coding agent with shell access, web search, and subagents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Harness (dsh) 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— Plugin-first Node.js coding and general agent runtime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Aider — Git-aware Python terminal coding agent for controlled repository edits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Cline — TypeScript coding agent for VS Code, CLI, and SDK with approvals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Roo Code — VS Code coding agent with task modes, tools, and multi-provider support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Kilo Code — Coding agent for VS Code, JetBrains, CLI, and cloud with BYOK access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Goose — Rust local agent for coding, research, analysis, writing, and automation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OpenHands — Python autonomous coding agent for sandboxed self-hosted tasks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SWE-agent — Python agent that resolves repository issues by generating patches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mini-SWE-agent — Compact Python harness for reproducible issue-solving and coding runs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Continue — TypeScript IDE and CLI coding assistant with agent and local-model support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Qwen Code — Qwen-first TypeScript terminal coding agent with configurable providers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Qwen Agent — Qwen-first Python framework for tools, planning, memory, and GUI use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Crush — Charm’s Go terminal/TUI coding agent with multi-provider support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Plandex — Go plan-driven coding agent for controlled multi-step changes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Interpreter — Python local computer-use agent for terminal commands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Agent 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— Self-hosted Python agent with persistent memory, skills, and subagents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Autonomous agent runtime with memory, messaging, tools, and automation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LangGraph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Python/TypeScript framework for stateful, human-supervised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AutoGen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Microsoft multi-agent framework for conversations, tools, and workflows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PydanticAI — Typed Python framework for structured, testable, tool-using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smolagents — Lightweight Hugging Face Python framework for code-first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Semantic Kernel — Microsoft SDK for agent applications, plugins, and workflows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Agents SDK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OpenAI-first Python/TypeScript framework with tools and guardrails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Mastra — TypeScript framework for agents, workflows, memory, RAG, and observability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AutoGPT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Python platform for autonomous, continuous task-oriented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BabyAGI — Lightweight Python task-planning autonomous-agent reference framework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CrewAI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Python framework for role-based multi-agent crews and automated flows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Letta — Stateful agent platform centered on persistent managed memory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2"/>
          <p:cNvSpPr txBox="1"/>
          <p:nvPr/>
        </p:nvSpPr>
        <p:spPr>
          <a:xfrm>
            <a:off x="4608290" y="2307745"/>
            <a:ext cx="4425600" cy="2650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Agent Framework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for multi-agent systems and workflows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Dify — Platform for building, deploying, and operating LLM apps and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Flowise — Visual low-code platform for LLM flows, tools, and agent applications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Langflow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Visual builder for LangChain-oriented agents, flows, and deployment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n8n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Workflow-automation platform with AI-agent nodes and tool integrations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Haystack — Python framework for RAG pipelines, tools, and agent workflows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Agno — Python framework for multi-agent systems, memory, knowledge, and tools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CAMEL — Research-oriented Python framework for communicative multi-agent systems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MetaGPT — Python framework for role-specialized software-development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SuperAGI — Platform for deploying and managing autonomous agent systems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OpenDevin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Autonomous software-engineering agent and predecessor to OpenHands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OpenManus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Python autonomous agent inspired by Manus-style workflows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Browser Use — Python framework for LLM-driven browser automation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Skyvern — Browser automation agent for website navigation and task completion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Stagehand — TypeScript framework for AI-driven Playwright browser automation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Composio — Open-core integration layer supplying external application tools to agents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MCP Servers — Ecosystem of reusable tool servers, rather than a standalone harness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Zero — Personal autonomous-agent framework with tools and long-running tasks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TaskWeaver — Microsoft Python framework for code-first planning and data workflows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2" name="Google Shape;132;p2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53800" y="368250"/>
            <a:ext cx="907850" cy="11121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3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3"/>
          <p:cNvSpPr txBox="1"/>
          <p:nvPr/>
        </p:nvSpPr>
        <p:spPr>
          <a:xfrm>
            <a:off x="81765" y="366432"/>
            <a:ext cx="44256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Chinese humanoid robots broke records set by humans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2026 World Humanoid Robot Games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100-meter sprint: 9.39 sec vs 9.58 sec set by Usain Bolt in 2009.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Beijing’s 2026 World Humanoid Robot Games began August 22 at the National Speed Skating Oval and runs for five days.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than 2,000 humanoid robots, 16 countries, 51 sports, arts, and practical-work events, including sprints, football, boxing, table tennis, factory tasks, rescue, and household activities.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Chinese teams dominate, reflecting China’s large state-backed robotics push and commercialization focus.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9" name="Google Shape;139;p2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14529" y="115550"/>
            <a:ext cx="3913955" cy="24490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0" name="Google Shape;140;p23"/>
          <p:cNvSpPr txBox="1"/>
          <p:nvPr/>
        </p:nvSpPr>
        <p:spPr>
          <a:xfrm>
            <a:off x="81765" y="2995332"/>
            <a:ext cx="44256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Rumors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has confirmed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4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pre-training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Ox Alpha on OpenRouter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for coding and agentic workloads, with text, image, video, 1M-token context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SSI (Ilya Sutskever)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promised their release in August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 agencies warn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an active campaign targeting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exposed industrial controllers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(Siemens S7 PLCs)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https://openrouter.ai/stealth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https://cisa.gov/news-events/cybersecurity-advisories/aa26-231a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https://www.youtube.com/@WesRothAI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1" name="Google Shape;141;p2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1" y="2995325"/>
            <a:ext cx="2321550" cy="4455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2" name="Google Shape;142;p2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66325" y="2995325"/>
            <a:ext cx="2025675" cy="1309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3" name="Google Shape;143;p23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5" y="3555175"/>
            <a:ext cx="954950" cy="11756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4" name="Google Shape;144;p23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86838" y="3526919"/>
            <a:ext cx="1107350" cy="154968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4"/>
          <p:cNvSpPr txBox="1"/>
          <p:nvPr/>
        </p:nvSpPr>
        <p:spPr>
          <a:xfrm>
            <a:off x="179325" y="478350"/>
            <a:ext cx="42801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7.32K subscribers, 310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2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4876" y="152400"/>
            <a:ext cx="2576053" cy="48386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5"/>
          <p:cNvSpPr txBox="1"/>
          <p:nvPr/>
        </p:nvSpPr>
        <p:spPr>
          <a:xfrm>
            <a:off x="81775" y="0"/>
            <a:ext cx="1757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5"/>
          <p:cNvSpPr txBox="1"/>
          <p:nvPr/>
        </p:nvSpPr>
        <p:spPr>
          <a:xfrm>
            <a:off x="81765" y="405846"/>
            <a:ext cx="4425600" cy="3020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Kimi Linear: cheaper long context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Moonshot AI’s Kimi Linear is a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hybrid transformer architecture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intended to reduce the cost of long-context inference.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Kimi Delta Attention (KDA) layers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use recurrent, linear-style attention rather than storing standard key/value information for every earlier token.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proposed design generally combines three KDA layers with one conventional full-attention layer, retaining periodic global token interactions.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main advantage is a much smaller KV cache, which can lower VRAM pressure and improve decoding throughput at very long contexts.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does not automatically mean a large model needs fewer GPUs for weights, MoE routing, training, or peak compute.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https://arxiv.org/abs/2510.26692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https://github.com/MoonshotAI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https://www.digitalocean.com/community/tutorials/kimi-linear-moonshot-ai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5"/>
          <p:cNvSpPr txBox="1"/>
          <p:nvPr/>
        </p:nvSpPr>
        <p:spPr>
          <a:xfrm>
            <a:off x="4642490" y="2730996"/>
            <a:ext cx="4425600" cy="2327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Google’s Gemini Enterprise for Legal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suite of AI skills and agents for legal teams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contract review and negotiation, regulatory tracking, and search across case files and internal documents.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product integrates with legal-data platforms including Everlaw, Relativity, iManage, NetDocuments, DocuSign, Thomson Reuters, Harvey, and Legora.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says customer data and model outputs will not train its foundation models.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launch intensifies competition with Anthropic, OpenAI, and Microsoft as legal organizations seek faster work and lower costs.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https://www.businessinsider.com/google-unveils-gemini-enterprise-for-legal-law-tech-push-2026-8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6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6"/>
          <p:cNvSpPr txBox="1"/>
          <p:nvPr/>
        </p:nvSpPr>
        <p:spPr>
          <a:xfrm>
            <a:off x="133650" y="399150"/>
            <a:ext cx="54000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launched an Apple Messages plugin for ChatGPT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lets users connect their inbox to the chatbot for sorting, editing, deleting, and drafting or sending messages on their behalf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Promo clip shows ChatGPT suggesting follow-ups based on yesterday's inbound texts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Privacy questions came immediately: OpenAI told Bloomberg the plugin runs locally and "doesn't create an index of all someone's messages."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https://techcrunch.com/2026/08/20/chatgpt-can-now-send-texts-for-you-with-new-apple-messages-plugin/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6"/>
          <p:cNvSpPr txBox="1"/>
          <p:nvPr/>
        </p:nvSpPr>
        <p:spPr>
          <a:xfrm>
            <a:off x="81775" y="2393300"/>
            <a:ext cx="5400000" cy="2511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Perplexity + Nvidia - Local AI 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Perplexity and Nvidia launched Portable Computer, a local-first version of Perplexity Computer for running agent workflows on compatible Nvidia GPU systems.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packages models, inference, tools, connectors, security sandboxing, and the agent harness into one application rather than requiring a DIY local-AI stack.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 begins locally, keeping files and inference on-device with no cloud-token charges; users can explicitly permit escalation to cloud frontier models.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Initial models include Qwen 3.8 27B and Perplexity’s post-trained PPLX 27B; Nemotron 3.5 Lightning is planned.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Linux support targets RTX GPUs with at least 24 GB VRAM, including RTX 3090-class hardware; Windows is planned next.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supports Gmail, Google Drive, GitHub, and Slack.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https://venturebeat.com/infrastructure/perplexity-partners-with-nvidia-to-launch-portable-computer-a-fully-local-ai-agent-with-zero-token-costs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2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2575" y="2900548"/>
            <a:ext cx="2855499" cy="1497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6" name="Google Shape;166;p2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7925" y="399150"/>
            <a:ext cx="2784799" cy="1449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7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7"/>
          <p:cNvSpPr txBox="1"/>
          <p:nvPr/>
        </p:nvSpPr>
        <p:spPr>
          <a:xfrm>
            <a:off x="81765" y="366432"/>
            <a:ext cx="44256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Habit-Hooks - Avoid Agent Slop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Coding agents can rapidly produce code, but unchecked output can compound technical debt into “slop”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Habit Hooks - turns linter JSON findings into targeted refactoring guidance, pairing a detected smell with advice on resolving its underlying design problem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https://github.com/habit-hooks/habit-hooks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steers agents away from gaming metrics, such as merely splitting functions to satisfy line-count limits.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goal is cohesive modules, clear naming, separation of concerns, and code that remains understandable for humans and agents.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small independent evaluation reported that smell-specific guidance properly fixed issues in over 80% of cases, outperforming generic or metric-only prompts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7"/>
          <p:cNvSpPr txBox="1"/>
          <p:nvPr/>
        </p:nvSpPr>
        <p:spPr>
          <a:xfrm>
            <a:off x="4655740" y="2415632"/>
            <a:ext cx="44256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FreeToken - Open Local Inference Engine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GLM-5.2, a 753B-parameter MoE, at 15 tok/sec on 96GB RTX PRO 6000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Qwen3.6-35B reaches 39 tok/sec on 8GB RTX 4060 laptop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Routing-aware caching and dynamically choosing CPU computation versus PCIe transfers for unavailable experts, rather than llama.cpp’s fixed layer split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FreeToken currently targets NVIDIA CUDA/Linux and remains beta; llama.cpp is far broader and more mature.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fit: recent NVIDIA hardware, ample RAM, and sustained MoE/agent workloads where tail latency matters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https://github.com/FlashML-org/FreeToken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https://arxiv.org/pdf/2608.16157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https://www.latent.space/p/ainews-10-worse-100x-cheaper-10000x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https://www.youtube.com/watch?v=Mlo16hrA5wQ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8"/>
          <p:cNvSpPr txBox="1"/>
          <p:nvPr/>
        </p:nvSpPr>
        <p:spPr>
          <a:xfrm>
            <a:off x="81774" y="366425"/>
            <a:ext cx="3784800" cy="375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Mixedbread’s Toast 1 - AI Search Subagent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Retrieval-focused AI subagent for iterative search, reading, filtering, and evidence curation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decomposes questions, runs multi-step searches, inspects sources, and returns a compact evidence package for a downstream model to reason over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to 12× lower latency and 10× lower cost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Prime Intellect reports Toast 1 plus GPT-5.6 Sol outperformed Claude Fable 5 by roughly 10 points on OfficeQA Pro V2 at 27% of the cost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supports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Mixedbread Search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other search backends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via API, fitting document, Slack, PDF, legal, finance, and enterprise-RAG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Pricing: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Toast 1 - $0.30 / $0.72 in/out per 1M tokens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Semantic search - $4 per 1K queries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     ($7.50 with re-ranking)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https://www.mixedbread.com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https://github.com/mixedbread-ai/toast-harness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https://www.mixedbread.com/blog/toast-1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https://www.primeintellect.ai/case-study/mixedbread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2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8975" y="366425"/>
            <a:ext cx="2843300" cy="107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8975" y="2041925"/>
            <a:ext cx="5038449" cy="1741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9"/>
          <p:cNvSpPr txBox="1"/>
          <p:nvPr/>
        </p:nvSpPr>
        <p:spPr>
          <a:xfrm>
            <a:off x="81765" y="425553"/>
            <a:ext cx="44256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OpenBot: Self-Hosted AI Coworkers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OpenBot is an MIT-licensed, alpha-stage platform for running isolated AI coworkers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Each coworker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receive a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separate browser, files, tools, credentials, and human-handoff workflow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central policy gateway evaluates and records actions before allowing browser, file, or MCP activity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supports AG-UI-compatible agent harnesses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rather than bundling a specific model; bring your own model key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Deployment uses Docker and requires Bun plus a CopilotKit Intelligence project/license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Treat it as experimental: review policies carefully and avoid granting production credentials until security behavior is validated.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https://www.copilotkit.ai/openbot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https://www.copilotkit.ai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https://github.com/CopilotKit/openbot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https://x.com/ataiiam/status/2090125716767773120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https://www.youtube.com/watch?v=qJQzYj9Pw2k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p29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8900" y="655249"/>
            <a:ext cx="2685401" cy="634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89" name="Google Shape;189;p2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8890" y="2246575"/>
            <a:ext cx="4331836" cy="277715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0" name="Google Shape;190;p29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8900" y="1382100"/>
            <a:ext cx="2685400" cy="74865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Unsloth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0"/>
          <p:cNvSpPr txBox="1"/>
          <p:nvPr/>
        </p:nvSpPr>
        <p:spPr>
          <a:xfrm>
            <a:off x="81765" y="558581"/>
            <a:ext cx="44256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Unsloth - Efficient LLM Training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"sloth" - slow (slow animal)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Unsloth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an open-source toolkit that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speeds up and reduces GPU-memory use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training and running language models locally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(mostly used for single-GPU fine-tuning)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Founded in late 2023 by brothers Daniel and Michael Han, it focuses on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efficient LoRA and QLoRA fine-tuning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Unsloth builds on PyTorch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adding specialized Triton kernels, hand-optimized gradient calculations, memory-efficient loss computation, and activation checkpointing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Training math with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less temporary GPU memory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allowing longer contexts or larger models on the same card.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https://unsloth.ai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https://github.com/unslothai/unsloth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https://unsloth.ai/blog/reintroducing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https://unsloth.ai/docs/basics/unsloth-benchmarks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https://unsloth.ai/docs/desktop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https://pytorch.org/blog/pytorch-ecosystem-landscape-q126/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https://www.youtube.com/@unslothai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https://www.youtube.com/watch?v=nWbZmJMWg6E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claims “same accuracy”, cut Cross-Entropy avoids materializing full vocabulary logits; “2× faster” and “70% less VRAM”.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30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2178" y="558573"/>
            <a:ext cx="3135675" cy="20904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98" name="Google Shape;198;p30"/>
          <p:cNvSpPr txBox="1"/>
          <p:nvPr/>
        </p:nvSpPr>
        <p:spPr>
          <a:xfrm>
            <a:off x="5942177" y="2711573"/>
            <a:ext cx="31356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sloth animal—a slow-moving, tree-dwelling mammal from Central and South America. Sloths spend much of their lives hanging in trees and mainly eat leaves.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30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9138" y="558573"/>
            <a:ext cx="1151275" cy="1133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1"/>
          <p:cNvSpPr txBox="1"/>
          <p:nvPr/>
        </p:nvSpPr>
        <p:spPr>
          <a:xfrm>
            <a:off x="81765" y="375706"/>
            <a:ext cx="4425600" cy="2742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4x more Context from the same GPU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Modern models use less KV cache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Standard: 2 × layers × KV heads × head dim × bytes × tokens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Modern models have hybrid architectures. For example, Qwen uses 48 Gated DeltaNet layers and 16 full-attention layers; only the latter have token-growing KV state, potentially cutting that component by roughly 4×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Gemma 3 interleaves five 1,024-token sliding-attention layers with one global layer, so cache growth becomes lower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gpt-oss alternates 128-token sliding and full attention, uses 8 KV heads of dimension 64, and stores MoE projections in MXFP4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https://huggingface.co/Qwen/Qwen3.8-27B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https://github.com/ggml-org/llama.cpp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https://arxiv.org/html/2508.10925v1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https://developers.googleblog.com/gemma-explained-whats-new-in-gemma-3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https://www.youtube.com/watch?v=629J4G3aek4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1"/>
          <p:cNvSpPr txBox="1"/>
          <p:nvPr/>
        </p:nvSpPr>
        <p:spPr>
          <a:xfrm>
            <a:off x="81765" y="3267506"/>
            <a:ext cx="4425600" cy="1357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Ornith 1.5 by by DeepReinforce - Self-Teaching AI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Open-weight agentic-coding models - 9B dense, 35B &amp; 397B MoE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397B model is close to Claude Opus 4.8 on benchmarks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35B model prioritizes efficient inference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9B is a mobile variant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https://huggingface.co/ornith-ai/Ornith-1.5-397B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https://github.com/ornith-ai/Ornith-1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https://www.mindstudio.ai/blog/ornith-1-5-35b-a3b-benchmarks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32"/>
          <p:cNvSpPr txBox="1"/>
          <p:nvPr/>
        </p:nvSpPr>
        <p:spPr>
          <a:xfrm>
            <a:off x="81765" y="375706"/>
            <a:ext cx="44256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Qwen3.8-27B on 24GB RTX 3090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vLLM stack, power-capped at 250 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Software tuning raises single-user throughput from roughly 46 to 133 tokens/s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Optimized batching reaches about 1,000 tokens/s across 64 requests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changes include W4A8 tensor-core compute, FP16 DeltaNet state, quantized embeddings, improved speculative decoding, and prompt-based copying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Quantization serves two roles: 4-bit weights make the model fit; 8-bit activations accelerate compute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Quality validation matters: an early INT8 kernel produced garbage despite excellent benchmark throughput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Trade-offs include version-specific patches, reduced multi-user latency, and weaker performance when every request has unique long context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https://github.com/syv-ai/qwen38-27b-rtx3090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https://syv.ai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https://www.youtube.com/watch?v=Nu0TsGmreRk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32"/>
          <p:cNvSpPr txBox="1"/>
          <p:nvPr/>
        </p:nvSpPr>
        <p:spPr>
          <a:xfrm>
            <a:off x="4656565" y="1551006"/>
            <a:ext cx="44256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TurboFieldfare: SSD-streamed LLM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Runs Gemma 4 26B-A4B on Apple Silicon with roughly 2 GB resident memory by retaining its 1.35 GB shared core and KV cache, while streaming routed MoE experts from SSD.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It reports 5.1–6.3 tokens/sec on an 8 GB M2 MacBook Air, demonstrating feasibility rather than conventional performance.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Explicit parallel reads and a small expert cache beat memory-mapped page faults; the project’s key advantage is controlling I/O around expert routing.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The “2 GB” figure is process footprint, not total system memory cost: macOS file cache can consume spare RAM.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MLX remains much faster where RAM permits; TurboFieldfare’s value is enabling otherwise impractical models on fixed-memory Macs. [github](https://github.com/drumih/turbo-fieldfare)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https://turbo-fieldfare.dev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https://github.com/drumih/turbo-fieldfare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https://news.ycombinator.com/item?id=49098510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https://www.youtube.com/watch?v=TAUgUdWb51s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3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SST - Solid State Transformers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81777" y="420025"/>
            <a:ext cx="5404500" cy="2465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SST - High-Freq Solid State Transformers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Conventional transformers used in electric grids to convert 100-600 kV of 60Hz AC to lower levels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massive transformers can be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substituted by x100 times smaller SSTs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operating at tens or hundreds of kilohertz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SSTS ALSO enable fast voltage regulation, bidirectional power flow, battery and solar integration, and direct DC connections for EV chargers, microgrids, and data centers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remain more complex and expensive than traditional transformers, requiring power electronics, cooling, control software, filtering, and robust protection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Adoption is most likely first in specialized medium-voltage applications, rather than universal residential replacement.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https://www.mdpi.com/2079-9292/15/13/2839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https://www.powermag.com/the-solid-state-shift-reinventing-the-transformer-for-modern-grids/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https://www.epri.com/research/products/000000003002034220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p3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7571" y="172225"/>
            <a:ext cx="2565401" cy="171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3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7575" y="3162025"/>
            <a:ext cx="2035526" cy="135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3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7578" y="1949775"/>
            <a:ext cx="2035523" cy="1144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33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3740427"/>
            <a:ext cx="1335550" cy="1301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33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98971" y="4107700"/>
            <a:ext cx="3530288" cy="991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33"/>
          <p:cNvSpPr txBox="1"/>
          <p:nvPr/>
        </p:nvSpPr>
        <p:spPr>
          <a:xfrm>
            <a:off x="1876093" y="3828850"/>
            <a:ext cx="1183200" cy="2031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 Voltage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3"/>
          <p:cNvSpPr txBox="1"/>
          <p:nvPr/>
        </p:nvSpPr>
        <p:spPr>
          <a:xfrm>
            <a:off x="4303068" y="3828850"/>
            <a:ext cx="1183200" cy="2031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Low Voltage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33"/>
          <p:cNvSpPr txBox="1"/>
          <p:nvPr/>
        </p:nvSpPr>
        <p:spPr>
          <a:xfrm>
            <a:off x="3280835" y="3717565"/>
            <a:ext cx="800700" cy="3879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Frequency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4"/>
          <p:cNvSpPr txBox="1"/>
          <p:nvPr/>
        </p:nvSpPr>
        <p:spPr>
          <a:xfrm>
            <a:off x="81775" y="0"/>
            <a:ext cx="162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Evals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34"/>
          <p:cNvSpPr txBox="1"/>
          <p:nvPr/>
        </p:nvSpPr>
        <p:spPr>
          <a:xfrm>
            <a:off x="81775" y="407550"/>
            <a:ext cx="44331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Evals: Human Taste at Scale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evals (short for evaluations) are systematic tests used to measure the quality, accuracy, safety, and performance of artificial intelligence models and applications.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evals from real outputs and traces, not an abstract checklist. Review failures before writing criteria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Split criteria into Top-down and Bottom-up: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Top-down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known task requirements, such as format, length, actionability, or policy compliance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Bottom-up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recurring flaws discovered by comparing generated outputs with human-approved results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can help cluster examples, build a review interface, identify repeated patterns, and draft rubric items - but humans supply the taste and product judgment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 specific pass/fail checks over vague scores.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Examples: “uses sentence fragments,” “answers a sales objection,” or “contains required structure.”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separate LLM-judge passes or subagents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many criteria; one large prompt can overlook requirements.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Annotate outputs in context. For writing, flag issues directly in the draft; for agents, review end-to-end traces.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Turn validated patterns into regression tests, dashboards, CI checks, and production monitoring.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34"/>
          <p:cNvSpPr txBox="1"/>
          <p:nvPr/>
        </p:nvSpPr>
        <p:spPr>
          <a:xfrm>
            <a:off x="4638535" y="2864995"/>
            <a:ext cx="4433100" cy="218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Automated eval tools find obvious problems but often miss domain-specific judgment calls and may produce false positives. Review their findings.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podcast takeaways, compare generated drafts against your final human edits across many past episodes to discover high-value bottom-up evals.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Evals enable safe cost optimization: benchmark cheaper models, prompts, and workflows against the same rubric.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https://github.com/hamelsmu/error-discovery-skill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https://hamel.dev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https://evals.work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https://www.youtube.com/@peter_yang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https://www.youtube.com/watch?v=bdMHQLvtVaQ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Google Shape;235;p3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8525" y="129550"/>
            <a:ext cx="4433099" cy="249495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5"/>
          <p:cNvSpPr txBox="1"/>
          <p:nvPr/>
        </p:nvSpPr>
        <p:spPr>
          <a:xfrm>
            <a:off x="81775" y="0"/>
            <a:ext cx="4433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Modern RAG System Architecture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35"/>
          <p:cNvSpPr txBox="1"/>
          <p:nvPr/>
        </p:nvSpPr>
        <p:spPr>
          <a:xfrm>
            <a:off x="81775" y="407550"/>
            <a:ext cx="44331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Task - Build a RAG  service for millions of docs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Internal financial and legal documents, including PDFs, Office files, email archives, spreadsheets, web content, and scanned records.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35"/>
          <p:cNvSpPr txBox="1"/>
          <p:nvPr/>
        </p:nvSpPr>
        <p:spPr>
          <a:xfrm>
            <a:off x="4604100" y="1666900"/>
            <a:ext cx="44331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Combine BM25 lexical search with HNSW vector search using reciprocal-rank fusion, then optionally rerank candidates on internal GPUs. Broad questions first search document summaries; identifier and clause queries search chunks directly.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Require page-, slide-, section-, or table-level citations tied to an exact document version. The agent abstains when evidence is insufficient or contradictory.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Target 20–25 million indexed chunks, retrieval p95 below 1.5 seconds, Recall@20 of at least 88%, citation faithfulness above 92%, and zero permission leaks.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Begin with a 500,000-document pilot, then scale through staged backfill and governance reviews. Introduce external search infrastructure only above 50 million chunks or after measured latency/write-churn failures.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https://www.postgresql.org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https://github.com/pgvector/pgvecto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https://github.com/docling-project/docling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https://docling.ai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35"/>
          <p:cNvSpPr txBox="1"/>
          <p:nvPr/>
        </p:nvSpPr>
        <p:spPr>
          <a:xfrm>
            <a:off x="81775" y="1482100"/>
            <a:ext cx="4433100" cy="3528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RAG Architecture: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Store original files and immutable Docling JSON/Markdown derivatives in S3-compatible object storage. Content hashes enable byte-level deduplication; normalized derivatives allow re-chunking and re-embedding without reparsing originals.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PostgreSQL as the transactional system of record for document lineage, versions, ACLs (Access Control Lists), ingestion jobs, search indices, evaluations, and immutable query audit logs.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Enforce source-system permissions before retrieval ranking through SQL ACL filters and collection partitions. This prevents unauthorized chunks from entering candidate results and supports ethical-wall segregation.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Process born-digital documents through a fast extraction path;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route scans and complex layouts to Docling OCR/layout workers. Preserve headings, pages, slides, tables, notes, footnotes, and OCR confidence.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Apply structure-aware chunks: 400–800-token narrative sections, one slide per presentation chunk, and header-preserving table or spreadsheet regions.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6"/>
          <p:cNvSpPr txBox="1"/>
          <p:nvPr/>
        </p:nvSpPr>
        <p:spPr>
          <a:xfrm>
            <a:off x="81775" y="0"/>
            <a:ext cx="4433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Modern RAG System Architecture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9" name="Google Shape;249;p36" title="docling-ocr-architecture.jpg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2163" y="478800"/>
            <a:ext cx="7219680" cy="4512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7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37"/>
          <p:cNvSpPr txBox="1"/>
          <p:nvPr/>
        </p:nvSpPr>
        <p:spPr>
          <a:xfrm>
            <a:off x="81775" y="407550"/>
            <a:ext cx="43725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Alibaba Wan 3.0: Document-to-Video AI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closed, API-hosted video model in public beta, available through Qwen Cloud and Alibaba Cloud Model Studio.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can generate up to 30-second videos with native audio in a single pass, at 480p, 720p, or 1080p—not native 4K.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Omni Reference workflow accepts mixed source material, including PDFs, presentations, spreadsheets, web pages, images, video, audio, and text.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enables a practical “document-to-video” workflow: upload a deck or report, specify the desired tone, then review and refine the result.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Claims of universally open access, open weights, or high production throughput need caution: reported beta access and rate limits have varied.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https://www.qwencloud.com/models/wan3.0-video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https://www.alibabacloud.com/help/en/model-studio/models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https://github.com/Wan-Video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https://www.atlascloud.ai/blog/tips/wan-3-0-preview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37"/>
          <p:cNvSpPr txBox="1"/>
          <p:nvPr/>
        </p:nvSpPr>
        <p:spPr>
          <a:xfrm>
            <a:off x="4687200" y="1884450"/>
            <a:ext cx="43725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Claudex Loop Skill for Dual Model 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Claudex Loop is a Claude Code skill that separates planning, implementation, and evaluation across Claude and Codex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uses four phases: reconnaissance/research, structured interrogation, adversarial plan review, and cross-model building with code verification.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Codex reviews Claude’s plan in a read-only sandbox, returns specific issues, and the models iterate until approval or a configurable loop limit.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fresh reviewer session checks the finished implementation against the approved specification, reducing self-review bias and catching edge cases.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supports new projects and major features, with tunable review limits and optional model-role reversal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https://github.com/chaseai-yt/claudex-loop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https://github.com/promptadvisers/claudex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https://onexiang.cc/en/skills/claudex-loop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https://www.youtube.com/watch?v=rZQDZWayzNo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38"/>
          <p:cNvSpPr txBox="1"/>
          <p:nvPr/>
        </p:nvSpPr>
        <p:spPr>
          <a:xfrm>
            <a:off x="81775" y="407550"/>
            <a:ext cx="44268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in-house silicon team for custom Claude chips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Hiring experienced “shipped silicon” engineers at $320,000–$485,000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 chips are likely a long-term efficiency and inference-cost strategy, not an imminent replacement for rented accelerators.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https://www.youtube.com/watch?v=PgJ2i7TtnkY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3" name="Google Shape;263;p3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68875" y="98450"/>
            <a:ext cx="2806175" cy="1574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64" name="Google Shape;264;p38"/>
          <p:cNvSpPr txBox="1"/>
          <p:nvPr/>
        </p:nvSpPr>
        <p:spPr>
          <a:xfrm>
            <a:off x="81775" y="1569300"/>
            <a:ext cx="45045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Xiaomi Aluminum AI Cube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prototype, not a released DGX Spark rival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Uses wafer-on-wafer stacking to achieve dramatically wider memory-to-compute path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https://www.guru3d.com/story/xiaomi-ai-cube-uses-three-xring-chips-and-lpddr6-memory/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https://www.mi.com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https://github.com/XiaomiMiMo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https://www.reuters.com/world/china/xiaomi-launches-new-xring-chip-partners-with-tsmc-production-sources-say-2026-08-24/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https://www.youtube.com/watch?v=H0CJAlVjhDo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5" name="Google Shape;265;p38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8675" y="1825050"/>
            <a:ext cx="2292650" cy="1724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39"/>
          <p:cNvSpPr txBox="1"/>
          <p:nvPr/>
        </p:nvSpPr>
        <p:spPr>
          <a:xfrm>
            <a:off x="81775" y="390830"/>
            <a:ext cx="51207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Podman vs Docker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Both build and run containers using familiar Dockerfile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Docker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offers the broadest ecosystem, polished Docker Desktop experience, and widespread Compose/tooling compatibility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Podman is daemonless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does not require one long-running central background service - such as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Docker’s dockerd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Podman starts and manages container-related processes directly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A running container can continue independently of the podman CLI invocation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Podman supports rootless containers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run under an ordinary, unprivileged Linux user account instead of requiring host root access or sudo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Podman’s CLI is largely Docker-compatible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https://podman.io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,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https://www.docker.com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https://github.com/containers/podman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https://github.com/moby/moby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https://oneuptime.com/blog/post/2026-03-18-choose-between-podman-and-docker/view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2" name="Google Shape;272;p39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78075" y="580063"/>
            <a:ext cx="3338749" cy="22258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0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40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40"/>
          <p:cNvSpPr txBox="1"/>
          <p:nvPr/>
        </p:nvSpPr>
        <p:spPr>
          <a:xfrm>
            <a:off x="5655225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127K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August 20,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40"/>
          <p:cNvSpPr txBox="1"/>
          <p:nvPr/>
        </p:nvSpPr>
        <p:spPr>
          <a:xfrm>
            <a:off x="5655225" y="5641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176,306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(757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1" name="Google Shape;281;p4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25" y="3263983"/>
            <a:ext cx="5355049" cy="184864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82" name="Google Shape;282;p4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25" y="465595"/>
            <a:ext cx="5355050" cy="272587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41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41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41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0" name="Google Shape;290;p41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1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41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5950</Words>
  <Application>Microsoft Macintosh PowerPoint</Application>
  <PresentationFormat>On-screen Show (16:9)</PresentationFormat>
  <Paragraphs>712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Roboto Mono</vt:lpstr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2026-08-26T17:01:15Z</dcterms:modified>
</cp:coreProperties>
</file>