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Roboto Mono" pitchFamily="49"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FF2078A-F8D7-4489-AB39-CA86143F9668}">
  <a:tblStyle styleId="{2FF2078A-F8D7-4489-AB39-CA86143F966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5"/>
  </p:normalViewPr>
  <p:slideViewPr>
    <p:cSldViewPr>
      <p:cViewPr varScale="1">
        <p:scale>
          <a:sx n="154" d="100"/>
          <a:sy n="154" d="100"/>
        </p:scale>
        <p:origin x="8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8e16650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8e1665059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06a678b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3a06a678b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6fb7c3e4a1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6fb7c3e4a1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6659435892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6659435892_1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6fb67d4f6c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6fb67d4f6c_1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6fb67d4f6c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g36fb67d4f6c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6fb67d4f6c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g36fb67d4f6c_1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a04d5152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a04d51529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6fde45550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36fde45550a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6fde45550a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g36fde45550a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a1272b12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g3a1272b127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9f2c5113c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g39f2c5113c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6fb67d4f6c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g36fb67d4f6c_1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6fd377f936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g36fd377f936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6fb67d4f6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g36fb67d4f6c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6fbf44f22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36fbf44f22a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a118dbb0a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g3a118dbb0a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reflection.a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www.anthropic.com/news/claude-opus-4-1" TargetMode="External"/><Relationship Id="rId26" Type="http://schemas.openxmlformats.org/officeDocument/2006/relationships/hyperlink" Target="https://platform.openai.com/docs/models/gpt-5-chat-latest" TargetMode="External"/><Relationship Id="rId39" Type="http://schemas.openxmlformats.org/officeDocument/2006/relationships/hyperlink" Target="https://huggingface.co/meituan-longcat/LongCat-Flash-Chat" TargetMode="External"/><Relationship Id="rId21" Type="http://schemas.openxmlformats.org/officeDocument/2006/relationships/hyperlink" Target="https://x.com/OpenAI/status/1905331956856050135" TargetMode="External"/><Relationship Id="rId34" Type="http://schemas.openxmlformats.org/officeDocument/2006/relationships/hyperlink" Target="https://api-docs.deepseek.com/news/news250821"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studio.google.com/app/prompts/new_chat?model=gemini-2.5-pro" TargetMode="External"/><Relationship Id="rId25" Type="http://schemas.openxmlformats.org/officeDocument/2006/relationships/hyperlink" Target="https://docs.z.ai/guides/llm/glm-4.6" TargetMode="External"/><Relationship Id="rId33" Type="http://schemas.openxmlformats.org/officeDocument/2006/relationships/hyperlink" Target="https://huggingface.co/moonshotai/Kimi-K2-Instruct-0905" TargetMode="External"/><Relationship Id="rId38" Type="http://schemas.openxmlformats.org/officeDocument/2006/relationships/hyperlink" Target="https://www.anthropic.com/news/claude-haiku-4-5"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openai.com/index/introducing-gpt-4-5/" TargetMode="External"/><Relationship Id="rId29" Type="http://schemas.openxmlformats.org/officeDocument/2006/relationships/hyperlink" Target="https://api-docs.deepseek.com/news/news250929"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www.alibabacloud.com/help/en/model-studio/models" TargetMode="External"/><Relationship Id="rId32" Type="http://schemas.openxmlformats.org/officeDocument/2006/relationships/hyperlink" Target="https://api-docs.deepseek.com/news/news250528" TargetMode="External"/><Relationship Id="rId37" Type="http://schemas.openxmlformats.org/officeDocument/2006/relationships/hyperlink" Target="https://api-docs.deepseek.com/news/news250922"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openai.com/index/introducing-o3-and-o4-mini/" TargetMode="External"/><Relationship Id="rId28" Type="http://schemas.openxmlformats.org/officeDocument/2006/relationships/hyperlink" Target="https://www.anthropic.com/news/claude-4" TargetMode="External"/><Relationship Id="rId36" Type="http://schemas.openxmlformats.org/officeDocument/2006/relationships/hyperlink" Target="https://qwen.ai/blog?id=99f0335c4ad9ff6153e517418d48535ab6d8afef&amp;from=research.latest-advancements-list"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sonnet-4-5" TargetMode="External"/><Relationship Id="rId31" Type="http://schemas.openxmlformats.org/officeDocument/2006/relationships/hyperlink" Target="https://x.ai/news/grok-4-fast"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platform.openai.com/docs/models/gpt-5" TargetMode="External"/><Relationship Id="rId27" Type="http://schemas.openxmlformats.org/officeDocument/2006/relationships/hyperlink" Target="https://qwen.ai/blog?id=241398b9cd6353de490b0f82806c7848c5d2777d&amp;from=research.latest-advancements-list" TargetMode="External"/><Relationship Id="rId30" Type="http://schemas.openxmlformats.org/officeDocument/2006/relationships/hyperlink" Target="https://huggingface.co/Qwen/Qwen3-235B-A22B-Instruct-2507" TargetMode="External"/><Relationship Id="rId35" Type="http://schemas.openxmlformats.org/officeDocument/2006/relationships/hyperlink" Target="https://moonshotai.github.io/Kimi-K2/"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abacus.ai" TargetMode="External"/><Relationship Id="rId3" Type="http://schemas.openxmlformats.org/officeDocument/2006/relationships/image" Target="../media/image1.png"/><Relationship Id="rId7" Type="http://schemas.openxmlformats.org/officeDocument/2006/relationships/hyperlink" Target="https://abacus.ai/help/howTo/chatllm/deepagent_desktop_how_to"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abacus.ai/help/howTo/chatllm/deepagent_how_to" TargetMode="External"/><Relationship Id="rId5" Type="http://schemas.openxmlformats.org/officeDocument/2006/relationships/hyperlink" Target="https://deepagent.abacus.ai" TargetMode="External"/><Relationship Id="rId4" Type="http://schemas.openxmlformats.org/officeDocument/2006/relationships/hyperlink" Target="https://www.youtube.com/watch?v=BWnfGzWXAp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JF70OiDo-QQ" TargetMode="External"/><Relationship Id="rId7" Type="http://schemas.openxmlformats.org/officeDocument/2006/relationships/hyperlink" Target="https://www.scmp.com/news/china/science/article/3331241/chinas-atomic-quantum-computer-reports-first-sales-orders-worth-us56-million"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www.anthropic.com/research/introspection"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hyperlink" Target="https://www.youtube.com/watch?v=qF9uOCxcvro"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Yu4ZWy1GjlE" TargetMode="External"/><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cs231n.stanford.edu/slides/2023/lecture_15.pdf" TargetMode="External"/><Relationship Id="rId5" Type="http://schemas.openxmlformats.org/officeDocument/2006/relationships/hyperlink" Target="https://arxiv.org/abs/2502.09992" TargetMode="External"/><Relationship Id="rId4" Type="http://schemas.openxmlformats.org/officeDocument/2006/relationships/hyperlink" Target="https://www.ibm.com/think/news/diffusion-models-llms"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hyperlink" Target="https://arxiv.org/pdf/2508.03680" TargetMode="External"/><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hyperlink" Target="https://www.youtube.com/watch?v=Oh0oQnKn9dw" TargetMode="External"/><Relationship Id="rId4" Type="http://schemas.openxmlformats.org/officeDocument/2006/relationships/hyperlink" Target="https://www.safetykit.com/news/openai-introduces-safety-models-in-collaboration-with-safetykit" TargetMode="External"/><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jpe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hyperlink" Target="https://www.bloomberg.com/news/articles/2025-08-22/apple-explores-using-google-gemini-ai-to-power-revamped-siri"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github.blog/ai-and-ml/github-copilot/meet-the-github-mcp-registry-the-fastest-way-to-discover-mcp-servers/" TargetMode="External"/><Relationship Id="rId3" Type="http://schemas.openxmlformats.org/officeDocument/2006/relationships/hyperlink" Target="https://www.futurehouse.org" TargetMode="External"/><Relationship Id="rId7" Type="http://schemas.openxmlformats.org/officeDocument/2006/relationships/hyperlink" Target="https://modelcontextprotocol.info/tools/registry/"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github.com/mcp" TargetMode="External"/><Relationship Id="rId11" Type="http://schemas.openxmlformats.org/officeDocument/2006/relationships/image" Target="../media/image22.png"/><Relationship Id="rId5" Type="http://schemas.openxmlformats.org/officeDocument/2006/relationships/image" Target="../media/image20.png"/><Relationship Id="rId10" Type="http://schemas.openxmlformats.org/officeDocument/2006/relationships/image" Target="../media/image21.png"/><Relationship Id="rId4" Type="http://schemas.openxmlformats.org/officeDocument/2006/relationships/hyperlink" Target="https://edisonscientific.com" TargetMode="External"/><Relationship Id="rId9" Type="http://schemas.openxmlformats.org/officeDocument/2006/relationships/hyperlink" Target="https://github.com/modelcontextprotocol/registry"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kegJPEoYBjw"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github.com/amrrs/hybrid-search/tree/main"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hyperlink" Target="http://reflection.ai" TargetMode="External"/><Relationship Id="rId7" Type="http://schemas.openxmlformats.org/officeDocument/2006/relationships/hyperlink" Target="https://www.linkedin.com/company/reflectionai"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sequoiacap.com/article/reflection-ai-asimov/" TargetMode="External"/><Relationship Id="rId5" Type="http://schemas.openxmlformats.org/officeDocument/2006/relationships/hyperlink" Target="https://docs.reflection.ai/docs/about-asimov" TargetMode="External"/><Relationship Id="rId4" Type="http://schemas.openxmlformats.org/officeDocument/2006/relationships/hyperlink" Target="https://reflection.ai" TargetMode="External"/><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CaviraOSS/OpenMemory"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hyperlink" Target="https://openmemory.cavira.app/docs/introduction" TargetMode="External"/><Relationship Id="rId4" Type="http://schemas.openxmlformats.org/officeDocument/2006/relationships/hyperlink" Target="https://openmemory.cavira.app"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ANICPVqJ2ps"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hyperlink" Target="https://research.google/blog/accelerating-scientific-breakthroughs-with-an-ai-co-scientist/" TargetMode="External"/><Relationship Id="rId4" Type="http://schemas.openxmlformats.org/officeDocument/2006/relationships/hyperlink" Target="https://arxiv.org/abs/2510.25992"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XlSQZKY_gCg"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mGBh2EAk7j0"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jpeg"/></Relationships>
</file>

<file path=ppt/slides/_rels/slide18.xml.rels><?xml version="1.0" encoding="UTF-8" standalone="yes"?>
<Relationships xmlns="http://schemas.openxmlformats.org/package/2006/relationships"><Relationship Id="rId3" Type="http://schemas.openxmlformats.org/officeDocument/2006/relationships/hyperlink" Target="https://medium.com/realworld-ai-use-cases/how-has-ai-changed-the-cost-of-software-20-000-is-the-new-200-000-5f98ae364e24"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20.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trueup.io/layoff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630966"/>
            <a:ext cx="4420200" cy="1742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Abacus AI DeepAgent - AI browser automation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AWS $38 Bln deal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AWS Trainium vs Nvidia</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China sells a quantum computer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Energy shortages Limit AI Growth</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Nathaniel Whittemore &amp; Sean “Swyx” Wang</a:t>
            </a:r>
            <a:endParaRPr sz="1600" b="1">
              <a:solidFill>
                <a:srgbClr val="3C78D8"/>
              </a:solidFill>
              <a:latin typeface="Calibri"/>
              <a:ea typeface="Calibri"/>
              <a:cs typeface="Calibri"/>
              <a:sym typeface="Calibri"/>
            </a:endParaRPr>
          </a:p>
        </p:txBody>
      </p:sp>
      <p:sp>
        <p:nvSpPr>
          <p:cNvPr id="64" name="Google Shape;64;p15"/>
          <p:cNvSpPr txBox="1"/>
          <p:nvPr/>
        </p:nvSpPr>
        <p:spPr>
          <a:xfrm>
            <a:off x="0" y="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November 07</a:t>
            </a:r>
            <a:r>
              <a:rPr lang="en" sz="2200" b="1">
                <a:solidFill>
                  <a:srgbClr val="3C78D8"/>
                </a:solidFill>
                <a:latin typeface="Calibri"/>
                <a:ea typeface="Calibri"/>
                <a:cs typeface="Calibri"/>
                <a:sym typeface="Calibri"/>
              </a:rPr>
              <a:t>, </a:t>
            </a:r>
            <a:r>
              <a:rPr lang="en" sz="2200" b="1" i="0" u="none" strike="noStrike" cap="none">
                <a:solidFill>
                  <a:srgbClr val="3C78D8"/>
                </a:solidFill>
                <a:latin typeface="Calibri"/>
                <a:ea typeface="Calibri"/>
                <a:cs typeface="Calibri"/>
                <a:sym typeface="Calibri"/>
              </a:rPr>
              <a:t>2025</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76975" y="4245105"/>
            <a:ext cx="45024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IT Projects Costs are now 10x lower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FDE - Hottest new job in AI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i="0" u="none" strike="noStrike" cap="none">
                <a:solidFill>
                  <a:srgbClr val="3C78D8"/>
                </a:solidFill>
                <a:latin typeface="Calibri"/>
                <a:ea typeface="Calibri"/>
                <a:cs typeface="Calibri"/>
                <a:sym typeface="Calibri"/>
              </a:rPr>
              <a:t>Jobs, Layoffs, </a:t>
            </a:r>
            <a:r>
              <a:rPr lang="en" sz="1600" b="1">
                <a:solidFill>
                  <a:srgbClr val="3C78D8"/>
                </a:solidFill>
                <a:latin typeface="Calibri"/>
                <a:ea typeface="Calibri"/>
                <a:cs typeface="Calibri"/>
                <a:sym typeface="Calibri"/>
              </a:rPr>
              <a:t>demand for AI Engineers</a:t>
            </a:r>
            <a:endParaRPr sz="16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533357"/>
            <a:ext cx="4420200" cy="2481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Thinking about Thinking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Diffusion Models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Microsoft Agent Lightning Platform</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YouTube "Super Resolution" Upscaling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Human&amp; startup $5 Bln valuation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safety models: GPT-OSS Safeguard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Microsoft signs $9.7 Bln cloud deal with IREN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Qwen3-Max-Thinking - early preview</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Kimi-K2-Thinking Open Model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Microsoft’s $15.2 Bln investment in the UAE</a:t>
            </a:r>
            <a:endParaRPr sz="1600" b="1">
              <a:solidFill>
                <a:srgbClr val="3C78D8"/>
              </a:solidFill>
              <a:latin typeface="Calibri"/>
              <a:ea typeface="Calibri"/>
              <a:cs typeface="Calibri"/>
              <a:sym typeface="Calibri"/>
            </a:endParaRPr>
          </a:p>
        </p:txBody>
      </p:sp>
      <p:sp>
        <p:nvSpPr>
          <p:cNvPr id="67" name="Google Shape;67;p15"/>
          <p:cNvSpPr txBox="1"/>
          <p:nvPr/>
        </p:nvSpPr>
        <p:spPr>
          <a:xfrm>
            <a:off x="4576975" y="630947"/>
            <a:ext cx="4502400" cy="22350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Apple Siri powered by Google - in Spring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GitHub MCP Registry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Edison Scientific &amp; Kosmos AI scientist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Keyword+Semantic search instead of RAG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u="sng">
                <a:solidFill>
                  <a:schemeClr val="hlink"/>
                </a:solidFill>
                <a:latin typeface="Calibri"/>
                <a:ea typeface="Calibri"/>
                <a:cs typeface="Calibri"/>
                <a:sym typeface="Calibri"/>
                <a:hlinkClick r:id="rId3"/>
              </a:rPr>
              <a:t>Reflection.AI</a:t>
            </a:r>
            <a:r>
              <a:rPr lang="en" sz="1600" b="1">
                <a:solidFill>
                  <a:srgbClr val="3C78D8"/>
                </a:solidFill>
                <a:latin typeface="Calibri"/>
                <a:ea typeface="Calibri"/>
                <a:cs typeface="Calibri"/>
                <a:sym typeface="Calibri"/>
              </a:rPr>
              <a:t> raised $2B at $8B valuation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OpenMemory VS-Code Extension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Supervised Reinforcement Learning (SRL)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Project Suncatcher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Why Sam Altman was fired in 2023</a:t>
            </a:r>
            <a:endParaRPr sz="1600" b="1">
              <a:solidFill>
                <a:srgbClr val="3C78D8"/>
              </a:solidFill>
              <a:latin typeface="Calibri"/>
              <a:ea typeface="Calibri"/>
              <a:cs typeface="Calibri"/>
              <a:sym typeface="Calibri"/>
            </a:endParaRPr>
          </a:p>
        </p:txBody>
      </p:sp>
      <p:sp>
        <p:nvSpPr>
          <p:cNvPr id="68" name="Google Shape;68;p15"/>
          <p:cNvSpPr txBox="1"/>
          <p:nvPr/>
        </p:nvSpPr>
        <p:spPr>
          <a:xfrm>
            <a:off x="4643498" y="75375"/>
            <a:ext cx="4420200" cy="3570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i="1">
                <a:solidFill>
                  <a:srgbClr val="FF0000"/>
                </a:solidFill>
                <a:latin typeface="Roboto Mono"/>
                <a:ea typeface="Roboto Mono"/>
                <a:cs typeface="Roboto Mono"/>
                <a:sym typeface="Roboto Mono"/>
              </a:rPr>
              <a:t>Jobs that used to cost $200K can now be done for $20K</a:t>
            </a:r>
            <a:endParaRPr sz="1100" b="1" i="1">
              <a:solidFill>
                <a:srgbClr val="FF0000"/>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100" b="1" i="1">
                <a:solidFill>
                  <a:srgbClr val="FF0000"/>
                </a:solidFill>
                <a:latin typeface="Roboto Mono"/>
                <a:ea typeface="Roboto Mono"/>
                <a:cs typeface="Roboto Mono"/>
                <a:sym typeface="Roboto Mono"/>
              </a:rPr>
              <a:t>The timeframes went down from 6 months to 6 weeks</a:t>
            </a:r>
            <a:endParaRPr sz="1100"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469100"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3536012"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594668" y="220317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p:nvPr/>
        </p:nvSpPr>
        <p:spPr>
          <a:xfrm>
            <a:off x="598073" y="77343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6"/>
          <p:cNvSpPr/>
          <p:nvPr/>
        </p:nvSpPr>
        <p:spPr>
          <a:xfrm>
            <a:off x="603516" y="3119795"/>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txBox="1"/>
          <p:nvPr/>
        </p:nvSpPr>
        <p:spPr>
          <a:xfrm>
            <a:off x="6549674" y="1522475"/>
            <a:ext cx="2356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1" name="Google Shape;81;p16"/>
          <p:cNvSpPr/>
          <p:nvPr/>
        </p:nvSpPr>
        <p:spPr>
          <a:xfrm>
            <a:off x="3748357" y="276191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3748244" y="94915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p:nvPr/>
        </p:nvSpPr>
        <p:spPr>
          <a:xfrm>
            <a:off x="3749985" y="4747523"/>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6"/>
          <p:cNvSpPr/>
          <p:nvPr/>
        </p:nvSpPr>
        <p:spPr>
          <a:xfrm>
            <a:off x="594775" y="166180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6"/>
          <p:cNvSpPr/>
          <p:nvPr/>
        </p:nvSpPr>
        <p:spPr>
          <a:xfrm>
            <a:off x="588586" y="1123914"/>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6"/>
          <p:cNvSpPr/>
          <p:nvPr/>
        </p:nvSpPr>
        <p:spPr>
          <a:xfrm>
            <a:off x="3741162" y="438755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p:cNvSpPr txBox="1"/>
          <p:nvPr/>
        </p:nvSpPr>
        <p:spPr>
          <a:xfrm>
            <a:off x="3447212" y="1857705"/>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8" name="Google Shape;88;p16"/>
          <p:cNvSpPr/>
          <p:nvPr/>
        </p:nvSpPr>
        <p:spPr>
          <a:xfrm>
            <a:off x="3747669" y="186899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6"/>
          <p:cNvSpPr/>
          <p:nvPr/>
        </p:nvSpPr>
        <p:spPr>
          <a:xfrm>
            <a:off x="3748846" y="420507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6"/>
          <p:cNvSpPr/>
          <p:nvPr/>
        </p:nvSpPr>
        <p:spPr>
          <a:xfrm>
            <a:off x="592125" y="1300284"/>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6"/>
          <p:cNvSpPr txBox="1"/>
          <p:nvPr/>
        </p:nvSpPr>
        <p:spPr>
          <a:xfrm>
            <a:off x="301758" y="2571870"/>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2" name="Google Shape;92;p16"/>
          <p:cNvSpPr/>
          <p:nvPr/>
        </p:nvSpPr>
        <p:spPr>
          <a:xfrm>
            <a:off x="600160" y="2580752"/>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p:nvPr/>
        </p:nvSpPr>
        <p:spPr>
          <a:xfrm>
            <a:off x="3745030" y="384389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6"/>
          <p:cNvSpPr/>
          <p:nvPr/>
        </p:nvSpPr>
        <p:spPr>
          <a:xfrm>
            <a:off x="3748244" y="112563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6"/>
          <p:cNvSpPr/>
          <p:nvPr/>
        </p:nvSpPr>
        <p:spPr>
          <a:xfrm>
            <a:off x="592353" y="94808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6"/>
          <p:cNvSpPr/>
          <p:nvPr/>
        </p:nvSpPr>
        <p:spPr>
          <a:xfrm>
            <a:off x="594765" y="147211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6"/>
          <p:cNvSpPr/>
          <p:nvPr/>
        </p:nvSpPr>
        <p:spPr>
          <a:xfrm>
            <a:off x="594775" y="1850683"/>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txBox="1"/>
          <p:nvPr/>
        </p:nvSpPr>
        <p:spPr>
          <a:xfrm>
            <a:off x="300894" y="32785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9" name="Google Shape;99;p16"/>
          <p:cNvSpPr/>
          <p:nvPr/>
        </p:nvSpPr>
        <p:spPr>
          <a:xfrm>
            <a:off x="600160" y="328578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6"/>
          <p:cNvSpPr/>
          <p:nvPr/>
        </p:nvSpPr>
        <p:spPr>
          <a:xfrm>
            <a:off x="3748244" y="77644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txBox="1"/>
          <p:nvPr/>
        </p:nvSpPr>
        <p:spPr>
          <a:xfrm>
            <a:off x="3447377" y="3661855"/>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2" name="Google Shape;102;p16"/>
          <p:cNvSpPr/>
          <p:nvPr/>
        </p:nvSpPr>
        <p:spPr>
          <a:xfrm>
            <a:off x="3747834" y="367314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txBox="1"/>
          <p:nvPr/>
        </p:nvSpPr>
        <p:spPr>
          <a:xfrm>
            <a:off x="296748" y="3462726"/>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4" name="Google Shape;104;p16"/>
          <p:cNvSpPr/>
          <p:nvPr/>
        </p:nvSpPr>
        <p:spPr>
          <a:xfrm>
            <a:off x="596014" y="346997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6"/>
          <p:cNvSpPr txBox="1"/>
          <p:nvPr/>
        </p:nvSpPr>
        <p:spPr>
          <a:xfrm>
            <a:off x="3448497" y="3476478"/>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6" name="Google Shape;106;p16"/>
          <p:cNvSpPr/>
          <p:nvPr/>
        </p:nvSpPr>
        <p:spPr>
          <a:xfrm>
            <a:off x="3748954" y="3487767"/>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6"/>
          <p:cNvSpPr txBox="1"/>
          <p:nvPr/>
        </p:nvSpPr>
        <p:spPr>
          <a:xfrm>
            <a:off x="3592839" y="1485668"/>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8" name="Google Shape;108;p16"/>
          <p:cNvSpPr txBox="1"/>
          <p:nvPr/>
        </p:nvSpPr>
        <p:spPr>
          <a:xfrm>
            <a:off x="440410" y="238258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9" name="Google Shape;109;p16"/>
          <p:cNvSpPr txBox="1"/>
          <p:nvPr/>
        </p:nvSpPr>
        <p:spPr>
          <a:xfrm>
            <a:off x="296748" y="383268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0" name="Google Shape;110;p16"/>
          <p:cNvSpPr/>
          <p:nvPr/>
        </p:nvSpPr>
        <p:spPr>
          <a:xfrm>
            <a:off x="596014" y="383993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6"/>
          <p:cNvSpPr txBox="1"/>
          <p:nvPr/>
        </p:nvSpPr>
        <p:spPr>
          <a:xfrm>
            <a:off x="304271" y="456475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2" name="Google Shape;112;p16"/>
          <p:cNvSpPr/>
          <p:nvPr/>
        </p:nvSpPr>
        <p:spPr>
          <a:xfrm>
            <a:off x="603537" y="457199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6"/>
          <p:cNvSpPr txBox="1"/>
          <p:nvPr/>
        </p:nvSpPr>
        <p:spPr>
          <a:xfrm flipH="1">
            <a:off x="534531" y="3649751"/>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14" name="Google Shape;114;p16"/>
          <p:cNvSpPr/>
          <p:nvPr/>
        </p:nvSpPr>
        <p:spPr>
          <a:xfrm>
            <a:off x="3748244" y="1301385"/>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6"/>
          <p:cNvSpPr txBox="1"/>
          <p:nvPr/>
        </p:nvSpPr>
        <p:spPr>
          <a:xfrm>
            <a:off x="3593829" y="2202188"/>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6" name="Google Shape;116;p16"/>
          <p:cNvSpPr/>
          <p:nvPr/>
        </p:nvSpPr>
        <p:spPr>
          <a:xfrm>
            <a:off x="3748244" y="166719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6"/>
          <p:cNvSpPr txBox="1"/>
          <p:nvPr/>
        </p:nvSpPr>
        <p:spPr>
          <a:xfrm>
            <a:off x="3440038" y="2381080"/>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8" name="Google Shape;118;p16"/>
          <p:cNvSpPr/>
          <p:nvPr/>
        </p:nvSpPr>
        <p:spPr>
          <a:xfrm>
            <a:off x="3740495" y="239236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6"/>
          <p:cNvSpPr/>
          <p:nvPr/>
        </p:nvSpPr>
        <p:spPr>
          <a:xfrm>
            <a:off x="590309" y="201944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p:nvPr/>
        </p:nvSpPr>
        <p:spPr>
          <a:xfrm>
            <a:off x="586813" y="2752536"/>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6"/>
          <p:cNvSpPr txBox="1"/>
          <p:nvPr/>
        </p:nvSpPr>
        <p:spPr>
          <a:xfrm>
            <a:off x="296748" y="401481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2" name="Google Shape;122;p16"/>
          <p:cNvSpPr/>
          <p:nvPr/>
        </p:nvSpPr>
        <p:spPr>
          <a:xfrm>
            <a:off x="596014" y="402206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txBox="1"/>
          <p:nvPr/>
        </p:nvSpPr>
        <p:spPr>
          <a:xfrm>
            <a:off x="296748" y="419694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4" name="Google Shape;124;p16"/>
          <p:cNvSpPr/>
          <p:nvPr/>
        </p:nvSpPr>
        <p:spPr>
          <a:xfrm>
            <a:off x="596014" y="420419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6"/>
          <p:cNvSpPr txBox="1"/>
          <p:nvPr/>
        </p:nvSpPr>
        <p:spPr>
          <a:xfrm>
            <a:off x="296748" y="437164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6" name="Google Shape;126;p16"/>
          <p:cNvSpPr/>
          <p:nvPr/>
        </p:nvSpPr>
        <p:spPr>
          <a:xfrm>
            <a:off x="596014" y="437889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6"/>
          <p:cNvSpPr txBox="1"/>
          <p:nvPr/>
        </p:nvSpPr>
        <p:spPr>
          <a:xfrm>
            <a:off x="304271" y="4746882"/>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8" name="Google Shape;128;p16"/>
          <p:cNvSpPr/>
          <p:nvPr/>
        </p:nvSpPr>
        <p:spPr>
          <a:xfrm>
            <a:off x="603537" y="475412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16"/>
          <p:cNvSpPr txBox="1"/>
          <p:nvPr/>
        </p:nvSpPr>
        <p:spPr>
          <a:xfrm>
            <a:off x="304271" y="492158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0" name="Google Shape;130;p16"/>
          <p:cNvSpPr/>
          <p:nvPr/>
        </p:nvSpPr>
        <p:spPr>
          <a:xfrm>
            <a:off x="603537" y="492882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6"/>
          <p:cNvSpPr txBox="1"/>
          <p:nvPr/>
        </p:nvSpPr>
        <p:spPr>
          <a:xfrm>
            <a:off x="446720" y="2921750"/>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2" name="Google Shape;132;p16"/>
          <p:cNvSpPr txBox="1"/>
          <p:nvPr/>
        </p:nvSpPr>
        <p:spPr>
          <a:xfrm>
            <a:off x="3440038" y="2014085"/>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3" name="Google Shape;133;p16"/>
          <p:cNvSpPr/>
          <p:nvPr/>
        </p:nvSpPr>
        <p:spPr>
          <a:xfrm>
            <a:off x="3740495" y="202537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6"/>
          <p:cNvSpPr/>
          <p:nvPr/>
        </p:nvSpPr>
        <p:spPr>
          <a:xfrm>
            <a:off x="3748386" y="329566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6"/>
          <p:cNvSpPr/>
          <p:nvPr/>
        </p:nvSpPr>
        <p:spPr>
          <a:xfrm>
            <a:off x="3748244" y="2942146"/>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6"/>
          <p:cNvSpPr txBox="1"/>
          <p:nvPr/>
        </p:nvSpPr>
        <p:spPr>
          <a:xfrm>
            <a:off x="3458789" y="401118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7" name="Google Shape;137;p16"/>
          <p:cNvSpPr/>
          <p:nvPr/>
        </p:nvSpPr>
        <p:spPr>
          <a:xfrm>
            <a:off x="3749658" y="401958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16"/>
          <p:cNvSpPr txBox="1"/>
          <p:nvPr/>
        </p:nvSpPr>
        <p:spPr>
          <a:xfrm>
            <a:off x="3458789" y="4561666"/>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9" name="Google Shape;139;p16"/>
          <p:cNvSpPr/>
          <p:nvPr/>
        </p:nvSpPr>
        <p:spPr>
          <a:xfrm>
            <a:off x="3749658" y="4570060"/>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6"/>
          <p:cNvSpPr txBox="1"/>
          <p:nvPr/>
        </p:nvSpPr>
        <p:spPr>
          <a:xfrm>
            <a:off x="4551777" y="63625"/>
            <a:ext cx="13500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November 5</a:t>
            </a:r>
            <a:endParaRPr sz="1000">
              <a:solidFill>
                <a:schemeClr val="dk1"/>
              </a:solidFill>
              <a:latin typeface="Calibri"/>
              <a:ea typeface="Calibri"/>
              <a:cs typeface="Calibri"/>
              <a:sym typeface="Calibri"/>
            </a:endParaRPr>
          </a:p>
        </p:txBody>
      </p:sp>
      <p:graphicFrame>
        <p:nvGraphicFramePr>
          <p:cNvPr id="141" name="Google Shape;141;p16"/>
          <p:cNvGraphicFramePr/>
          <p:nvPr/>
        </p:nvGraphicFramePr>
        <p:xfrm>
          <a:off x="731370" y="550745"/>
          <a:ext cx="3000000" cy="3000000"/>
        </p:xfrm>
        <a:graphic>
          <a:graphicData uri="http://schemas.openxmlformats.org/drawingml/2006/table">
            <a:tbl>
              <a:tblPr>
                <a:noFill/>
                <a:tableStyleId>{2FF2078A-F8D7-4489-AB39-CA86143F9668}</a:tableStyleId>
              </a:tblPr>
              <a:tblGrid>
                <a:gridCol w="1828800">
                  <a:extLst>
                    <a:ext uri="{9D8B030D-6E8A-4147-A177-3AD203B41FA5}">
                      <a16:colId xmlns:a16="http://schemas.microsoft.com/office/drawing/2014/main" val="20000"/>
                    </a:ext>
                  </a:extLst>
                </a:gridCol>
                <a:gridCol w="314325">
                  <a:extLst>
                    <a:ext uri="{9D8B030D-6E8A-4147-A177-3AD203B41FA5}">
                      <a16:colId xmlns:a16="http://schemas.microsoft.com/office/drawing/2014/main" val="20001"/>
                    </a:ext>
                  </a:extLst>
                </a:gridCol>
              </a:tblGrid>
              <a:tr h="13627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glm-4.6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qwen3-235b-a22b-instruct-2507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grok-4-fast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deepseek-r1-0528</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kimi-k2-0905-preview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kimi-k2-0711-preview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qwen3-vl-235b-a22b-instruct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36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deepseek-v3.1-terminus</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42" name="Google Shape;142;p16"/>
          <p:cNvGraphicFramePr/>
          <p:nvPr/>
        </p:nvGraphicFramePr>
        <p:xfrm>
          <a:off x="3881740" y="558207"/>
          <a:ext cx="3000000" cy="3000000"/>
        </p:xfrm>
        <a:graphic>
          <a:graphicData uri="http://schemas.openxmlformats.org/drawingml/2006/table">
            <a:tbl>
              <a:tblPr>
                <a:noFill/>
                <a:tableStyleId>{2FF2078A-F8D7-4489-AB39-CA86143F9668}</a:tableStyleId>
              </a:tblPr>
              <a:tblGrid>
                <a:gridCol w="1828800">
                  <a:extLst>
                    <a:ext uri="{9D8B030D-6E8A-4147-A177-3AD203B41FA5}">
                      <a16:colId xmlns:a16="http://schemas.microsoft.com/office/drawing/2014/main" val="20000"/>
                    </a:ext>
                  </a:extLst>
                </a:gridCol>
                <a:gridCol w="314325">
                  <a:extLst>
                    <a:ext uri="{9D8B030D-6E8A-4147-A177-3AD203B41FA5}">
                      <a16:colId xmlns:a16="http://schemas.microsoft.com/office/drawing/2014/main" val="20001"/>
                    </a:ext>
                  </a:extLst>
                </a:gridCol>
              </a:tblGrid>
              <a:tr h="15385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glm-4.6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claude-sonnet-4-20250514-thinking-32k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qwen3-235b-a22b-instruct-2507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kimi-k2-0905-preview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qwen3-vl-235b-a22b-instruct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deepseek-r1-0528</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claude-opus-4-20250514</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deepseek-v3.1-terminus-thinking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538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sp>
        <p:nvSpPr>
          <p:cNvPr id="143" name="Google Shape;143;p16"/>
          <p:cNvSpPr/>
          <p:nvPr/>
        </p:nvSpPr>
        <p:spPr>
          <a:xfrm>
            <a:off x="3742516" y="2575342"/>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16"/>
          <p:cNvSpPr txBox="1"/>
          <p:nvPr/>
        </p:nvSpPr>
        <p:spPr>
          <a:xfrm>
            <a:off x="3448497" y="311244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5" name="Google Shape;145;p16"/>
          <p:cNvSpPr/>
          <p:nvPr/>
        </p:nvSpPr>
        <p:spPr>
          <a:xfrm>
            <a:off x="3748954" y="3123732"/>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16"/>
          <p:cNvSpPr/>
          <p:nvPr/>
        </p:nvSpPr>
        <p:spPr>
          <a:xfrm>
            <a:off x="3749702" y="492537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7"/>
          <p:cNvSpPr txBox="1"/>
          <p:nvPr/>
        </p:nvSpPr>
        <p:spPr>
          <a:xfrm>
            <a:off x="55075" y="20375"/>
            <a:ext cx="321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Abacus AI DeepAgent</a:t>
            </a:r>
            <a:endParaRPr sz="2000" b="1" i="0" u="none" strike="noStrike" cap="none">
              <a:solidFill>
                <a:schemeClr val="dk1"/>
              </a:solidFill>
              <a:latin typeface="Calibri"/>
              <a:ea typeface="Calibri"/>
              <a:cs typeface="Calibri"/>
              <a:sym typeface="Calibri"/>
            </a:endParaRPr>
          </a:p>
        </p:txBody>
      </p:sp>
      <p:sp>
        <p:nvSpPr>
          <p:cNvPr id="152" name="Google Shape;152;p17"/>
          <p:cNvSpPr txBox="1"/>
          <p:nvPr/>
        </p:nvSpPr>
        <p:spPr>
          <a:xfrm>
            <a:off x="55075" y="443276"/>
            <a:ext cx="44445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Abacus AI DeepAgent - AI browser automation &amp; scheduling tool</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Can schedule and execute recurring browser tasks autonomously:</a:t>
            </a:r>
            <a:endParaRPr sz="1100">
              <a:solidFill>
                <a:schemeClr val="dk1"/>
              </a:solidFill>
              <a:latin typeface="Calibri"/>
              <a:ea typeface="Calibri"/>
              <a:cs typeface="Calibri"/>
              <a:sym typeface="Calibri"/>
            </a:endParaRPr>
          </a:p>
          <a:p>
            <a:pPr marL="2857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general AI reasoning</a:t>
            </a:r>
            <a:endParaRPr sz="1100">
              <a:solidFill>
                <a:srgbClr val="3C78D8"/>
              </a:solidFill>
              <a:latin typeface="Calibri"/>
              <a:ea typeface="Calibri"/>
              <a:cs typeface="Calibri"/>
              <a:sym typeface="Calibri"/>
            </a:endParaRPr>
          </a:p>
          <a:p>
            <a:pPr marL="2857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real browser control</a:t>
            </a:r>
            <a:endParaRPr sz="1100">
              <a:solidFill>
                <a:srgbClr val="3C78D8"/>
              </a:solidFill>
              <a:latin typeface="Calibri"/>
              <a:ea typeface="Calibri"/>
              <a:cs typeface="Calibri"/>
              <a:sym typeface="Calibri"/>
            </a:endParaRPr>
          </a:p>
          <a:p>
            <a:pPr marL="2857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task scheduling</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Opening websites, clicking through pages, gathering data, and sending results automatically at specified times (repeat daily, weekly, or monthly,...). Here are some examples:</a:t>
            </a:r>
            <a:endParaRPr sz="1100">
              <a:solidFill>
                <a:schemeClr val="dk1"/>
              </a:solidFill>
              <a:latin typeface="Calibri"/>
              <a:ea typeface="Calibri"/>
              <a:cs typeface="Calibri"/>
              <a:sym typeface="Calibri"/>
            </a:endParaRPr>
          </a:p>
          <a:p>
            <a:pPr marL="2857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Opens LinkedIn, searches based on criteria, gathers contacts, drafts personalized outreach emails, and repeats the process every morning</a:t>
            </a:r>
            <a:endParaRPr sz="1100">
              <a:solidFill>
                <a:srgbClr val="3C78D8"/>
              </a:solidFill>
              <a:latin typeface="Calibri"/>
              <a:ea typeface="Calibri"/>
              <a:cs typeface="Calibri"/>
              <a:sym typeface="Calibri"/>
            </a:endParaRPr>
          </a:p>
          <a:p>
            <a:pPr marL="2857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Job applications: Uploads resumes, processes job listings from Google Sheets, fills out forms, answers screening questions, and updates spreadsheets with submission status</a:t>
            </a:r>
            <a:endParaRPr sz="1100">
              <a:solidFill>
                <a:srgbClr val="3C78D8"/>
              </a:solidFill>
              <a:latin typeface="Calibri"/>
              <a:ea typeface="Calibri"/>
              <a:cs typeface="Calibri"/>
              <a:sym typeface="Calibri"/>
            </a:endParaRPr>
          </a:p>
          <a:p>
            <a:pPr marL="2857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Invoice management: Logs into billing portals, downloads invoices, extracts data into spreadsheets, and emails summaries at scheduled times</a:t>
            </a:r>
            <a:endParaRPr sz="1100">
              <a:solidFill>
                <a:srgbClr val="3C78D8"/>
              </a:solidFill>
              <a:latin typeface="Calibri"/>
              <a:ea typeface="Calibri"/>
              <a:cs typeface="Calibri"/>
              <a:sym typeface="Calibri"/>
            </a:endParaRPr>
          </a:p>
          <a:p>
            <a:pPr marL="2857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Website testing: Checks login systems, verifies order history updates, confirms download functionality, and reports results with screenshots</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Platform uses Abacus AI's Chat LLM, can use Claude, Gemini, ChatGPT, and Grok within one interface; combines reasoning modules with browser control APIs in a virtualized Chromium environment that maintains session state across runs. The system supports multilingual prompts and browser interactions, handling regional workflows across different languages</a:t>
            </a:r>
            <a:endParaRPr sz="1100">
              <a:solidFill>
                <a:schemeClr val="dk1"/>
              </a:solidFill>
              <a:latin typeface="Calibri"/>
              <a:ea typeface="Calibri"/>
              <a:cs typeface="Calibri"/>
              <a:sym typeface="Calibri"/>
            </a:endParaRPr>
          </a:p>
        </p:txBody>
      </p:sp>
      <p:pic>
        <p:nvPicPr>
          <p:cNvPr id="153" name="Google Shape;153;p17"/>
          <p:cNvPicPr preferRelativeResize="0"/>
          <p:nvPr/>
        </p:nvPicPr>
        <p:blipFill>
          <a:blip r:embed="rId3">
            <a:alphaModFix/>
          </a:blip>
          <a:stretch>
            <a:fillRect/>
          </a:stretch>
        </p:blipFill>
        <p:spPr>
          <a:xfrm>
            <a:off x="5344800" y="443275"/>
            <a:ext cx="3028950" cy="1514475"/>
          </a:xfrm>
          <a:prstGeom prst="rect">
            <a:avLst/>
          </a:prstGeom>
          <a:noFill/>
          <a:ln w="9525" cap="flat" cmpd="sng">
            <a:solidFill>
              <a:srgbClr val="FF0000"/>
            </a:solidFill>
            <a:prstDash val="solid"/>
            <a:round/>
            <a:headEnd type="none" w="sm" len="sm"/>
            <a:tailEnd type="none" w="sm" len="sm"/>
          </a:ln>
        </p:spPr>
      </p:pic>
      <p:sp>
        <p:nvSpPr>
          <p:cNvPr id="154" name="Google Shape;154;p17"/>
          <p:cNvSpPr txBox="1"/>
          <p:nvPr/>
        </p:nvSpPr>
        <p:spPr>
          <a:xfrm>
            <a:off x="4637024" y="2136467"/>
            <a:ext cx="4444500" cy="272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Deep Agent completes standard browser tasks up to 2x as fast as competitors due to optimized latency between reasoning and execution steps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Deep Agent Listener - desktop companion that records and transcribes meetings in real-time, answers questions about on-screen content, and integrates with Slack, CRM, and project management tools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Coding agent can generate full-stack applications with payment integrations while the listener simultaneously documents the development process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Pricing: $10 per month, providing full access to browser use, scheduling, and Chat LLM integration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https://www.youtube.com/watch?v=BWnfGzWXAps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https://deepagent.abacus.ai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https://abacus.ai/help/howTo/chatllm/deepagent_how_to</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7"/>
              </a:rPr>
              <a:t>https://abacus.ai/help/howTo/chatllm/deepagent_desktop_how_to</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8"/>
              </a:rPr>
              <a:t>https://abacus.ai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8"/>
          <p:cNvSpPr txBox="1"/>
          <p:nvPr/>
        </p:nvSpPr>
        <p:spPr>
          <a:xfrm>
            <a:off x="55075" y="20375"/>
            <a:ext cx="321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- 1</a:t>
            </a:r>
            <a:endParaRPr sz="2000" b="1" i="0" u="none" strike="noStrike" cap="none">
              <a:solidFill>
                <a:schemeClr val="dk1"/>
              </a:solidFill>
              <a:latin typeface="Calibri"/>
              <a:ea typeface="Calibri"/>
              <a:cs typeface="Calibri"/>
              <a:sym typeface="Calibri"/>
            </a:endParaRPr>
          </a:p>
        </p:txBody>
      </p:sp>
      <p:sp>
        <p:nvSpPr>
          <p:cNvPr id="160" name="Google Shape;160;p18"/>
          <p:cNvSpPr txBox="1"/>
          <p:nvPr/>
        </p:nvSpPr>
        <p:spPr>
          <a:xfrm>
            <a:off x="55075" y="443276"/>
            <a:ext cx="44445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OpenAI AWS $38 Bln deal</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OpenAI has signed a 7-year, $38 Bln deal with Amazon Web Services for cloud computing and AI infrastructure, including Nvidia GPUs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OpenAI gets immediate access to crucial compute power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deal is marking a strategic shift of OpenAI to a multi-cloud approach beyond its existing Microsoft partnership</a:t>
            </a:r>
            <a:endParaRPr sz="1100">
              <a:solidFill>
                <a:schemeClr val="dk1"/>
              </a:solidFill>
              <a:latin typeface="Calibri"/>
              <a:ea typeface="Calibri"/>
              <a:cs typeface="Calibri"/>
              <a:sym typeface="Calibri"/>
            </a:endParaRPr>
          </a:p>
        </p:txBody>
      </p:sp>
      <p:sp>
        <p:nvSpPr>
          <p:cNvPr id="161" name="Google Shape;161;p18"/>
          <p:cNvSpPr txBox="1"/>
          <p:nvPr/>
        </p:nvSpPr>
        <p:spPr>
          <a:xfrm>
            <a:off x="55075" y="1537612"/>
            <a:ext cx="4444500" cy="340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AWS Trainium vs Nvidia</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Nvidia Blackwell GB200 outperforms Trainium2 by 3.85x in FP16 FLOPs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Trainium2 excels in memory bandwidth per total cost of ownership (TCO), making it particularly competitive for memory-bound workloads like reinforcement learning and post-training techniques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Amazon's strategy isn't to replace Nvidia but to provide choice and cost alternatives for AWS customers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Major customers like Anthropic have committed to Trainium, reporting significant cost savings while helping design future chips through tight hardware-software co-design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Nvidia's CUDA platform remains Trainium's biggest obstacle. Switching requires hundreds of hours of code rewriting and testing. AWS counters with its Neuron SDK, but it's still immature compared to CUDA's decade-long ecosystem of tools and developer support.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Trainium3 is planned for late 2025, promises 4x performance over Trainium2 with 40% better energy efficiency, though it will consume over 1,000 watts per chip requiring liquid cooling. While Nvidia will likely maintain dominance for most AI workloads short-term, Trainium could capture significant market share in cost-sensitive enterprise training within AWS ecosystems</a:t>
            </a:r>
            <a:endParaRPr sz="1100">
              <a:solidFill>
                <a:schemeClr val="dk1"/>
              </a:solidFill>
              <a:latin typeface="Calibri"/>
              <a:ea typeface="Calibri"/>
              <a:cs typeface="Calibri"/>
              <a:sym typeface="Calibri"/>
            </a:endParaRPr>
          </a:p>
        </p:txBody>
      </p:sp>
      <p:pic>
        <p:nvPicPr>
          <p:cNvPr id="162" name="Google Shape;162;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98509" y="2047787"/>
            <a:ext cx="1750626" cy="1247725"/>
          </a:xfrm>
          <a:prstGeom prst="rect">
            <a:avLst/>
          </a:prstGeom>
          <a:noFill/>
          <a:ln w="9525" cap="flat" cmpd="sng">
            <a:solidFill>
              <a:srgbClr val="FF0000"/>
            </a:solidFill>
            <a:prstDash val="solid"/>
            <a:round/>
            <a:headEnd type="none" w="sm" len="sm"/>
            <a:tailEnd type="none" w="sm" len="sm"/>
          </a:ln>
        </p:spPr>
      </p:pic>
      <p:pic>
        <p:nvPicPr>
          <p:cNvPr id="163" name="Google Shape;163;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98509" y="3421573"/>
            <a:ext cx="1955150" cy="1094875"/>
          </a:xfrm>
          <a:prstGeom prst="rect">
            <a:avLst/>
          </a:prstGeom>
          <a:noFill/>
          <a:ln w="9525" cap="flat" cmpd="sng">
            <a:solidFill>
              <a:srgbClr val="FF0000"/>
            </a:solidFill>
            <a:prstDash val="solid"/>
            <a:round/>
            <a:headEnd type="none" w="sm" len="sm"/>
            <a:tailEnd type="none" w="sm" len="sm"/>
          </a:ln>
        </p:spPr>
      </p:pic>
      <p:pic>
        <p:nvPicPr>
          <p:cNvPr id="164" name="Google Shape;164;p1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98500" y="443275"/>
            <a:ext cx="2383306" cy="1034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txBox="1"/>
          <p:nvPr/>
        </p:nvSpPr>
        <p:spPr>
          <a:xfrm>
            <a:off x="55075" y="20375"/>
            <a:ext cx="321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- 2</a:t>
            </a:r>
            <a:endParaRPr sz="2000" b="1" i="0" u="none" strike="noStrike" cap="none">
              <a:solidFill>
                <a:schemeClr val="dk1"/>
              </a:solidFill>
              <a:latin typeface="Calibri"/>
              <a:ea typeface="Calibri"/>
              <a:cs typeface="Calibri"/>
              <a:sym typeface="Calibri"/>
            </a:endParaRPr>
          </a:p>
        </p:txBody>
      </p:sp>
      <p:sp>
        <p:nvSpPr>
          <p:cNvPr id="170" name="Google Shape;170;p19"/>
          <p:cNvSpPr txBox="1"/>
          <p:nvPr/>
        </p:nvSpPr>
        <p:spPr>
          <a:xfrm>
            <a:off x="55075" y="3036109"/>
            <a:ext cx="44445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Nathaniel Whittemore interviews Sean “Swyx” Wang</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3"/>
              </a:rPr>
              <a:t>https://www.youtube.com/watch?v=JF70OiDo-QQ</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"model labs" - build frontier models (OpenAI, Anthropic, DeepMind)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"agent labs" - companies that ship products first, then work backward to build custom models based on real user data and domain understanding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"Code AGI will be achieved in 20% of the time of full AGI"</a:t>
            </a:r>
            <a:r>
              <a:rPr lang="en" sz="1100">
                <a:solidFill>
                  <a:schemeClr val="dk1"/>
                </a:solidFill>
                <a:latin typeface="Calibri"/>
                <a:ea typeface="Calibri"/>
                <a:cs typeface="Calibri"/>
                <a:sym typeface="Calibri"/>
              </a:rPr>
              <a:t>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"and will capture 80% of the value of AGI".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Coding is a verifiable domain with fast feedback loops</a:t>
            </a:r>
            <a:r>
              <a:rPr lang="en" sz="1100">
                <a:solidFill>
                  <a:schemeClr val="dk1"/>
                </a:solidFill>
                <a:latin typeface="Calibri"/>
                <a:ea typeface="Calibri"/>
                <a:cs typeface="Calibri"/>
                <a:sym typeface="Calibri"/>
              </a:rPr>
              <a:t> where developers are both builders and consumers, creating a virtuous cycle.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Tools like Claude Code already demonstrate generalization beyond coding tasks, suggesting that coding agents may become the foundation for broader agentic systems.</a:t>
            </a:r>
            <a:endParaRPr sz="1100">
              <a:solidFill>
                <a:schemeClr val="dk1"/>
              </a:solidFill>
              <a:latin typeface="Calibri"/>
              <a:ea typeface="Calibri"/>
              <a:cs typeface="Calibri"/>
              <a:sym typeface="Calibri"/>
            </a:endParaRPr>
          </a:p>
        </p:txBody>
      </p:sp>
      <p:sp>
        <p:nvSpPr>
          <p:cNvPr id="171" name="Google Shape;171;p19"/>
          <p:cNvSpPr txBox="1"/>
          <p:nvPr/>
        </p:nvSpPr>
        <p:spPr>
          <a:xfrm>
            <a:off x="55075" y="1979567"/>
            <a:ext cx="4444500" cy="86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Energy shortages Limit AI Growth</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Microsoft CEO Satya Nadella said racks of NVIDIA GPUs can’t be used due to power shortages, highlighting energy, not compute, as the new AI bottleneck. Hyperscalers face years-long delays securing megawatts for data centers, making energy access the key to scaling AI capacity.</a:t>
            </a:r>
            <a:endParaRPr sz="1100">
              <a:solidFill>
                <a:schemeClr val="dk1"/>
              </a:solidFill>
              <a:latin typeface="Calibri"/>
              <a:ea typeface="Calibri"/>
              <a:cs typeface="Calibri"/>
              <a:sym typeface="Calibri"/>
            </a:endParaRPr>
          </a:p>
        </p:txBody>
      </p:sp>
      <p:pic>
        <p:nvPicPr>
          <p:cNvPr id="172" name="Google Shape;172;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51975" y="346775"/>
            <a:ext cx="1703528" cy="1143975"/>
          </a:xfrm>
          <a:prstGeom prst="rect">
            <a:avLst/>
          </a:prstGeom>
          <a:noFill/>
          <a:ln w="9525" cap="flat" cmpd="sng">
            <a:solidFill>
              <a:srgbClr val="FF0000"/>
            </a:solidFill>
            <a:prstDash val="solid"/>
            <a:round/>
            <a:headEnd type="none" w="sm" len="sm"/>
            <a:tailEnd type="none" w="sm" len="sm"/>
          </a:ln>
        </p:spPr>
      </p:pic>
      <p:pic>
        <p:nvPicPr>
          <p:cNvPr id="173" name="Google Shape;173;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51975" y="3241173"/>
            <a:ext cx="3033523" cy="1581951"/>
          </a:xfrm>
          <a:prstGeom prst="rect">
            <a:avLst/>
          </a:prstGeom>
          <a:noFill/>
          <a:ln w="9525" cap="flat" cmpd="sng">
            <a:solidFill>
              <a:srgbClr val="FF0000"/>
            </a:solidFill>
            <a:prstDash val="solid"/>
            <a:round/>
            <a:headEnd type="none" w="sm" len="sm"/>
            <a:tailEnd type="none" w="sm" len="sm"/>
          </a:ln>
        </p:spPr>
      </p:pic>
      <p:pic>
        <p:nvPicPr>
          <p:cNvPr id="174" name="Google Shape;174;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51975" y="1812232"/>
            <a:ext cx="2191910" cy="1143975"/>
          </a:xfrm>
          <a:prstGeom prst="rect">
            <a:avLst/>
          </a:prstGeom>
          <a:noFill/>
          <a:ln w="9525" cap="flat" cmpd="sng">
            <a:solidFill>
              <a:srgbClr val="FF0000"/>
            </a:solidFill>
            <a:prstDash val="solid"/>
            <a:round/>
            <a:headEnd type="none" w="sm" len="sm"/>
            <a:tailEnd type="none" w="sm" len="sm"/>
          </a:ln>
        </p:spPr>
      </p:pic>
      <p:sp>
        <p:nvSpPr>
          <p:cNvPr id="175" name="Google Shape;175;p19"/>
          <p:cNvSpPr txBox="1"/>
          <p:nvPr/>
        </p:nvSpPr>
        <p:spPr>
          <a:xfrm>
            <a:off x="55087" y="346768"/>
            <a:ext cx="4444500" cy="144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China sells a Room Temperature Quantum Computer Hanyuan-1</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Orders exceeding $5.6 Mln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Hanyuan-1 uses lasers to manipulate neutral atoms as qubits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100 qubits can exist as both 0 and 1 (quantum superposition)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entire system fits within three standard equipment racks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Hanyuan-1 can handle complex calculations for financial modeling, logistics optimization, drug discovery, and materials design</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https://www.scmp.com/news/china/science/article/3331241/chinas-atomic-quantum-computer-reports-first-sales-orders-worth-us56-million</a:t>
            </a:r>
            <a:r>
              <a:rPr lang="en" sz="8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0"/>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5.57K subscribers, 250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81" name="Google Shape;181;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52850" y="69200"/>
            <a:ext cx="3823975" cy="49483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1"/>
          <p:cNvSpPr txBox="1"/>
          <p:nvPr/>
        </p:nvSpPr>
        <p:spPr>
          <a:xfrm>
            <a:off x="55075" y="20375"/>
            <a:ext cx="321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Thinking about Thinking</a:t>
            </a:r>
            <a:endParaRPr sz="2000" b="1" i="0" u="none" strike="noStrike" cap="none">
              <a:solidFill>
                <a:schemeClr val="dk1"/>
              </a:solidFill>
              <a:latin typeface="Calibri"/>
              <a:ea typeface="Calibri"/>
              <a:cs typeface="Calibri"/>
              <a:sym typeface="Calibri"/>
            </a:endParaRPr>
          </a:p>
        </p:txBody>
      </p:sp>
      <p:sp>
        <p:nvSpPr>
          <p:cNvPr id="187" name="Google Shape;187;p21"/>
          <p:cNvSpPr txBox="1"/>
          <p:nvPr/>
        </p:nvSpPr>
        <p:spPr>
          <a:xfrm>
            <a:off x="55075" y="466843"/>
            <a:ext cx="4444500" cy="272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Anthropic paper titled "Emergent Introspective Awareness in Large Language Models - </a:t>
            </a:r>
            <a:r>
              <a:rPr lang="en" sz="1100" u="sng">
                <a:solidFill>
                  <a:schemeClr val="hlink"/>
                </a:solidFill>
                <a:latin typeface="Calibri"/>
                <a:ea typeface="Calibri"/>
                <a:cs typeface="Calibri"/>
                <a:sym typeface="Calibri"/>
                <a:hlinkClick r:id="rId3"/>
              </a:rPr>
              <a:t>https://www.anthropic.com/research/introspection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Can AI models actually identify their own internal thoughts and distinguish them from externally injected concepts?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Injected Thought Detection, Distinguishing Real vs. Injected Thoughts, Prefilled Response Awareness, Thought Control (Models were instructed to think or not think about specific words)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Claude Opus 4.1 achieved roughly 20% success rates at detecting injected concepts when applied at appropriate layers and strengths, while other models performed at lower rates. Post-training was crucial for eliciting introspective awareness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research raises fundamental questions about AI consciousness by invoking Descartes' "I think, therefore I am". If models can genuinely identify their own thoughts versus injected ones, it challenges the prevailing view that LLMs are merely sophisticated next-token predictors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https://www.youtube.com/watch?v=qF9uOCxcvro</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88" name="Google Shape;188;p21"/>
          <p:cNvSpPr txBox="1"/>
          <p:nvPr/>
        </p:nvSpPr>
        <p:spPr>
          <a:xfrm>
            <a:off x="4569841" y="369234"/>
            <a:ext cx="4500900" cy="4590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Meta-Thinking. Thinking about thinking. Can AI do Philosophy?</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TL;DR: Useful Tool, Not Philosopher</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LLMs have developed significant meta-cognitive capabilities—the ability to reflect on and regulate their own thinking processes—though whether they can genuinely "do philosophy" remains deeply contested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Recent research reveals that frontier AI models demonstrate multiple forms of meta-thinking. Modern LLMs exhibit self-evaluation abilities, error correction, and even latent-space planning behaviors.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instance, Claude-3.5-Haiku shows advanced goal-directed planning when composing poetry, first anticipating suitable rhyme words and then generating preceding content accordingly—demonstrating structured, multi-faceted meta-cognition rather than simple token-by-token generation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Chain-of-thought prompting exemplifies AI meta-cognition by having models articulate intermediate reasoning steps before producing answers, significantly enhancing performance on complex tasks.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Models fine-tuned on high-risk domains can independently identify and label their outputs as "dangerous" without explicit instructions, indicating internalized risk-awareness characteristic of meta-cognitive systems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But current systems struggle with autonomous philosophical innovation—they excel at recapitulating classic arguments and identifying established lines of reasoning but fail to produce truly novel philosophical insights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Genuine philosophical thinking operates to solve problems pertinent to oneself, requiring the kind of embodied, phenomenological experience that non-sentient systems cannot possess. AI cannot draw on personal experiences, physical sensations, or the awareness of mortality that often drives philosophical inquiry.</a:t>
            </a:r>
            <a:endParaRPr sz="1100">
              <a:solidFill>
                <a:schemeClr val="dk1"/>
              </a:solidFill>
              <a:latin typeface="Calibri"/>
              <a:ea typeface="Calibri"/>
              <a:cs typeface="Calibri"/>
              <a:sym typeface="Calibri"/>
            </a:endParaRPr>
          </a:p>
        </p:txBody>
      </p:sp>
      <p:pic>
        <p:nvPicPr>
          <p:cNvPr id="189" name="Google Shape;189;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815763" y="3314518"/>
            <a:ext cx="2923123" cy="164425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2"/>
          <p:cNvSpPr txBox="1"/>
          <p:nvPr/>
        </p:nvSpPr>
        <p:spPr>
          <a:xfrm>
            <a:off x="55075" y="20375"/>
            <a:ext cx="321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Diffusion Models</a:t>
            </a:r>
            <a:endParaRPr sz="2000" b="1" i="0" u="none" strike="noStrike" cap="none">
              <a:solidFill>
                <a:schemeClr val="dk1"/>
              </a:solidFill>
              <a:latin typeface="Calibri"/>
              <a:ea typeface="Calibri"/>
              <a:cs typeface="Calibri"/>
              <a:sym typeface="Calibri"/>
            </a:endParaRPr>
          </a:p>
        </p:txBody>
      </p:sp>
      <p:sp>
        <p:nvSpPr>
          <p:cNvPr id="195" name="Google Shape;195;p22"/>
          <p:cNvSpPr txBox="1"/>
          <p:nvPr/>
        </p:nvSpPr>
        <p:spPr>
          <a:xfrm>
            <a:off x="55075" y="466843"/>
            <a:ext cx="4444500" cy="374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Diffusion Models as powerful alternatives to LLLMs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DMs generate outputs through iterative refinement of entire sequences simultaneously, unlike LLMs which produce tokens sequentially from left to right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DMs outperform autoregressive models when trained on the same amount of data, and critically, they can reuse training data up to 100 times compared to only 4 times for LLMs before diminishing returns occur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Since data scarcity has become a more significant bottleneck than compute power for scaling AI systems, this efficiency of using data makes diffusion models increasingly attractive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Diffusion models map inputs into an n-dimensional vector space using variational autoencoders, where real data occupies high-value regions resembling "mountains"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During training, noise is progressively added to original inputs, creating paths from high-value (original) to low-value (noisy) regions. Generation works by taking an input query, converting it to a vector, then using gradient descent to navigate toward the nearest "tallest mountain" representing optimal output.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https://www.youtube.com/watch?v=Yu4ZWy1GjlE</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https://www.ibm.com/think/news/diffusion-models-llms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https://arxiv.org/abs/2502.09992</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https://cs231n.stanford.edu/slides/2023/lecture_15.pdf</a:t>
            </a:r>
            <a:endParaRPr sz="1100">
              <a:solidFill>
                <a:schemeClr val="dk1"/>
              </a:solidFill>
              <a:latin typeface="Calibri"/>
              <a:ea typeface="Calibri"/>
              <a:cs typeface="Calibri"/>
              <a:sym typeface="Calibri"/>
            </a:endParaRPr>
          </a:p>
        </p:txBody>
      </p:sp>
      <p:pic>
        <p:nvPicPr>
          <p:cNvPr id="196" name="Google Shape;196;p2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75550" y="466850"/>
            <a:ext cx="1609000" cy="1969226"/>
          </a:xfrm>
          <a:prstGeom prst="rect">
            <a:avLst/>
          </a:prstGeom>
          <a:noFill/>
          <a:ln w="9525" cap="flat" cmpd="sng">
            <a:solidFill>
              <a:srgbClr val="FF0000"/>
            </a:solidFill>
            <a:prstDash val="solid"/>
            <a:round/>
            <a:headEnd type="none" w="sm" len="sm"/>
            <a:tailEnd type="none" w="sm" len="sm"/>
          </a:ln>
        </p:spPr>
      </p:pic>
      <p:sp>
        <p:nvSpPr>
          <p:cNvPr id="197" name="Google Shape;197;p22"/>
          <p:cNvSpPr txBox="1"/>
          <p:nvPr/>
        </p:nvSpPr>
        <p:spPr>
          <a:xfrm>
            <a:off x="4917750" y="2525227"/>
            <a:ext cx="1052700" cy="18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100">
                <a:solidFill>
                  <a:schemeClr val="dk1"/>
                </a:solidFill>
                <a:latin typeface="Calibri"/>
                <a:ea typeface="Calibri"/>
                <a:cs typeface="Calibri"/>
                <a:sym typeface="Calibri"/>
              </a:rPr>
              <a:t>Gaurav Sen</a:t>
            </a: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p:nvPr/>
        </p:nvSpPr>
        <p:spPr>
          <a:xfrm>
            <a:off x="55075" y="20375"/>
            <a:ext cx="321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3</a:t>
            </a:r>
            <a:endParaRPr sz="2000" b="1" i="0" u="none" strike="noStrike" cap="none">
              <a:solidFill>
                <a:schemeClr val="dk1"/>
              </a:solidFill>
              <a:latin typeface="Calibri"/>
              <a:ea typeface="Calibri"/>
              <a:cs typeface="Calibri"/>
              <a:sym typeface="Calibri"/>
            </a:endParaRPr>
          </a:p>
        </p:txBody>
      </p:sp>
      <p:sp>
        <p:nvSpPr>
          <p:cNvPr id="203" name="Google Shape;203;p23"/>
          <p:cNvSpPr txBox="1"/>
          <p:nvPr/>
        </p:nvSpPr>
        <p:spPr>
          <a:xfrm>
            <a:off x="94325" y="358963"/>
            <a:ext cx="44445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Microsoft Agent Lightning Platform</a:t>
            </a:r>
            <a:r>
              <a:rPr lang="en" sz="1100">
                <a:solidFill>
                  <a:schemeClr val="dk1"/>
                </a:solidFill>
                <a:latin typeface="Calibri"/>
                <a:ea typeface="Calibri"/>
                <a:cs typeface="Calibri"/>
                <a:sym typeface="Calibri"/>
              </a:rPr>
              <a:t> - open-source reinforcement learning framework that enables AI agents to learn from their own experiences without requiring code rewrites.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system operates through a lightning server handling training behind the scenes and a lightning client that collects performance data in real-world applications - </a:t>
            </a:r>
            <a:r>
              <a:rPr lang="en" sz="800" u="sng">
                <a:solidFill>
                  <a:schemeClr val="hlink"/>
                </a:solidFill>
                <a:latin typeface="Calibri"/>
                <a:ea typeface="Calibri"/>
                <a:cs typeface="Calibri"/>
                <a:sym typeface="Calibri"/>
                <a:hlinkClick r:id="rId3"/>
              </a:rPr>
              <a:t>https://arxiv.org/pdf/2508.03680</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204" name="Google Shape;204;p23"/>
          <p:cNvSpPr txBox="1"/>
          <p:nvPr/>
        </p:nvSpPr>
        <p:spPr>
          <a:xfrm>
            <a:off x="6268650" y="3897800"/>
            <a:ext cx="27873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OpenAI safety models: GPT-OSS Safeguard 120B and 20B</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"open-weight", designed to detect harmful or fake online content</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https://www.safetykit.com/news/openai-introduces-safety-models-in-collaboration-with-safetykit</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205" name="Google Shape;205;p23"/>
          <p:cNvSpPr txBox="1"/>
          <p:nvPr/>
        </p:nvSpPr>
        <p:spPr>
          <a:xfrm>
            <a:off x="94328" y="1513845"/>
            <a:ext cx="32745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YouTube "Super Resolution" Upscaling</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used to upscale videos to HD quality (1080p), with plans to extend support to 4K in the future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Creators can opt out of AI upscaling for their videos, either during upload or for existing content in their library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YouTube also has expanded the thumbnail file size limit from 2MB to 50MB</a:t>
            </a:r>
            <a:endParaRPr sz="1100">
              <a:solidFill>
                <a:schemeClr val="dk1"/>
              </a:solidFill>
              <a:latin typeface="Calibri"/>
              <a:ea typeface="Calibri"/>
              <a:cs typeface="Calibri"/>
              <a:sym typeface="Calibri"/>
            </a:endParaRPr>
          </a:p>
        </p:txBody>
      </p:sp>
      <p:sp>
        <p:nvSpPr>
          <p:cNvPr id="206" name="Google Shape;206;p23"/>
          <p:cNvSpPr txBox="1"/>
          <p:nvPr/>
        </p:nvSpPr>
        <p:spPr>
          <a:xfrm>
            <a:off x="94337" y="3042503"/>
            <a:ext cx="44445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100" b="1">
                <a:solidFill>
                  <a:srgbClr val="FF0000"/>
                </a:solidFill>
                <a:latin typeface="Calibri"/>
                <a:ea typeface="Calibri"/>
                <a:cs typeface="Calibri"/>
                <a:sym typeface="Calibri"/>
              </a:rPr>
              <a:t>Human&amp; (a.k.a. "Humans&amp;") - a new AI startup</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Founded by </a:t>
            </a:r>
            <a:r>
              <a:rPr lang="en" sz="1100" b="1">
                <a:solidFill>
                  <a:srgbClr val="FF0000"/>
                </a:solidFill>
                <a:latin typeface="Calibri"/>
                <a:ea typeface="Calibri"/>
                <a:cs typeface="Calibri"/>
                <a:sym typeface="Calibri"/>
              </a:rPr>
              <a:t>Eric Zelikman</a:t>
            </a:r>
            <a:r>
              <a:rPr lang="en" sz="1100">
                <a:solidFill>
                  <a:schemeClr val="dk1"/>
                </a:solidFill>
                <a:latin typeface="Calibri"/>
                <a:ea typeface="Calibri"/>
                <a:cs typeface="Calibri"/>
                <a:sym typeface="Calibri"/>
              </a:rPr>
              <a:t>, a former researcher at xAI</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rgbClr val="FF0000"/>
              </a:buClr>
              <a:buSzPts val="800"/>
              <a:buFont typeface="Calibri"/>
              <a:buChar char="●"/>
            </a:pPr>
            <a:r>
              <a:rPr lang="en" sz="1100" b="1">
                <a:solidFill>
                  <a:srgbClr val="FF0000"/>
                </a:solidFill>
                <a:latin typeface="Calibri"/>
                <a:ea typeface="Calibri"/>
                <a:cs typeface="Calibri"/>
                <a:sym typeface="Calibri"/>
              </a:rPr>
              <a:t>Raising $1 Bln at a $5 Bln valuation</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To develop a "human-centered" AI to effectively collaborate with humans</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AI that better understands users and strengthens human abilities</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Build systems that make human teams more effective together, rather than from achieving superintelligence in isolation</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Training: prioritize collaboration over automation. Usability and ethical considerations over speed and cost</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Goal is to create AI systems that work with humans as partners rather than simply working for humans as tools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https://www.youtube.com/watch?v=Oh0oQnKn9dw</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07" name="Google Shape;207;p2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599777" y="3127203"/>
            <a:ext cx="1309775" cy="1487225"/>
          </a:xfrm>
          <a:prstGeom prst="rect">
            <a:avLst/>
          </a:prstGeom>
          <a:noFill/>
          <a:ln w="9525" cap="flat" cmpd="sng">
            <a:solidFill>
              <a:srgbClr val="FF0000"/>
            </a:solidFill>
            <a:prstDash val="solid"/>
            <a:round/>
            <a:headEnd type="none" w="sm" len="sm"/>
            <a:tailEnd type="none" w="sm" len="sm"/>
          </a:ln>
        </p:spPr>
      </p:pic>
      <p:pic>
        <p:nvPicPr>
          <p:cNvPr id="208" name="Google Shape;208;p2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599775" y="152400"/>
            <a:ext cx="3124557" cy="1373101"/>
          </a:xfrm>
          <a:prstGeom prst="rect">
            <a:avLst/>
          </a:prstGeom>
          <a:noFill/>
          <a:ln>
            <a:noFill/>
          </a:ln>
        </p:spPr>
      </p:pic>
      <p:pic>
        <p:nvPicPr>
          <p:cNvPr id="209" name="Google Shape;209;p2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3432125" y="1688982"/>
            <a:ext cx="2152300" cy="1205250"/>
          </a:xfrm>
          <a:prstGeom prst="rect">
            <a:avLst/>
          </a:prstGeom>
          <a:noFill/>
          <a:ln w="9525" cap="flat" cmpd="sng">
            <a:solidFill>
              <a:srgbClr val="FF0000"/>
            </a:solidFill>
            <a:prstDash val="solid"/>
            <a:round/>
            <a:headEnd type="none" w="sm" len="sm"/>
            <a:tailEnd type="none" w="sm" len="sm"/>
          </a:ln>
        </p:spPr>
      </p:pic>
      <p:pic>
        <p:nvPicPr>
          <p:cNvPr id="210" name="Google Shape;210;p23"/>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6888070" y="3086700"/>
            <a:ext cx="2032675" cy="704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4"/>
          <p:cNvSpPr txBox="1"/>
          <p:nvPr/>
        </p:nvSpPr>
        <p:spPr>
          <a:xfrm>
            <a:off x="55075" y="20375"/>
            <a:ext cx="321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4</a:t>
            </a:r>
            <a:endParaRPr sz="2000" b="1" i="0" u="none" strike="noStrike" cap="none">
              <a:solidFill>
                <a:schemeClr val="dk1"/>
              </a:solidFill>
              <a:latin typeface="Calibri"/>
              <a:ea typeface="Calibri"/>
              <a:cs typeface="Calibri"/>
              <a:sym typeface="Calibri"/>
            </a:endParaRPr>
          </a:p>
        </p:txBody>
      </p:sp>
      <p:sp>
        <p:nvSpPr>
          <p:cNvPr id="216" name="Google Shape;216;p24"/>
          <p:cNvSpPr txBox="1"/>
          <p:nvPr/>
        </p:nvSpPr>
        <p:spPr>
          <a:xfrm>
            <a:off x="94325" y="358963"/>
            <a:ext cx="44445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Microsoft signs $9.7 Bln cloud deal with IREN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IREN is a data-center operator with Nvidia's advanced chips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five-year partnership allows Microsoft to boost capacity without constructing new facilities or securing additional power</a:t>
            </a:r>
            <a:endParaRPr sz="1100">
              <a:solidFill>
                <a:schemeClr val="dk1"/>
              </a:solidFill>
              <a:latin typeface="Calibri"/>
              <a:ea typeface="Calibri"/>
              <a:cs typeface="Calibri"/>
              <a:sym typeface="Calibri"/>
            </a:endParaRPr>
          </a:p>
        </p:txBody>
      </p:sp>
      <p:sp>
        <p:nvSpPr>
          <p:cNvPr id="217" name="Google Shape;217;p24"/>
          <p:cNvSpPr txBox="1"/>
          <p:nvPr/>
        </p:nvSpPr>
        <p:spPr>
          <a:xfrm>
            <a:off x="94325" y="1180188"/>
            <a:ext cx="44445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Qwen3-Max-Thinking - early preview</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1T params, MoE, 256k window, on Qwen Chat and the Alibaba Cloud API</a:t>
            </a:r>
            <a:endParaRPr sz="1100">
              <a:solidFill>
                <a:schemeClr val="dk1"/>
              </a:solidFill>
              <a:latin typeface="Calibri"/>
              <a:ea typeface="Calibri"/>
              <a:cs typeface="Calibri"/>
              <a:sym typeface="Calibri"/>
            </a:endParaRPr>
          </a:p>
        </p:txBody>
      </p:sp>
      <p:sp>
        <p:nvSpPr>
          <p:cNvPr id="218" name="Google Shape;218;p24"/>
          <p:cNvSpPr txBox="1"/>
          <p:nvPr/>
        </p:nvSpPr>
        <p:spPr>
          <a:xfrm>
            <a:off x="94325" y="2380688"/>
            <a:ext cx="44445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Microsoft’s $15.2 Bln investment in the UAE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investment in the United Arab Emirates in 2023-2029</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2023-2025 (Already deployed): $7.3 Bln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2026-2029 (Planned):$7.9 Bln - AI and cloud infrastructure, Nvidia GPUs (approved by Trump administration)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Microsoft pledged to train 1M+ UAE residents and upskill more than 300K people in AI, including 250K+ students and staff</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Microsoft will use Abu Dhabi as a hub for AI research and  development</a:t>
            </a:r>
            <a:endParaRPr sz="1100">
              <a:solidFill>
                <a:schemeClr val="dk1"/>
              </a:solidFill>
              <a:latin typeface="Calibri"/>
              <a:ea typeface="Calibri"/>
              <a:cs typeface="Calibri"/>
              <a:sym typeface="Calibri"/>
            </a:endParaRPr>
          </a:p>
        </p:txBody>
      </p:sp>
      <p:pic>
        <p:nvPicPr>
          <p:cNvPr id="219" name="Google Shape;219;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91225" y="2543351"/>
            <a:ext cx="1889774" cy="1259850"/>
          </a:xfrm>
          <a:prstGeom prst="rect">
            <a:avLst/>
          </a:prstGeom>
          <a:noFill/>
          <a:ln w="9525" cap="flat" cmpd="sng">
            <a:solidFill>
              <a:srgbClr val="FF0000"/>
            </a:solidFill>
            <a:prstDash val="solid"/>
            <a:round/>
            <a:headEnd type="none" w="sm" len="sm"/>
            <a:tailEnd type="none" w="sm" len="sm"/>
          </a:ln>
        </p:spPr>
      </p:pic>
      <p:sp>
        <p:nvSpPr>
          <p:cNvPr id="220" name="Google Shape;220;p24"/>
          <p:cNvSpPr txBox="1"/>
          <p:nvPr/>
        </p:nvSpPr>
        <p:spPr>
          <a:xfrm>
            <a:off x="94325" y="3801643"/>
            <a:ext cx="44445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Apple Siri powered by Google - planned for Spring</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Future deal - Apple to pay Google $1B/year for custom 1.2T params Gemini model to power Siri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Apple had also considered using AI models from OpenAI and Anthropic earlier this year. After testing models from all three companies, Apple chose to move forward with Google.</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https://www.bloomberg.com/news/articles/2025-08-22/apple-explores-using-google-gemini-ai-to-power-revamped-siri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21" name="Google Shape;221;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91225" y="4040001"/>
            <a:ext cx="1825341" cy="1026750"/>
          </a:xfrm>
          <a:prstGeom prst="rect">
            <a:avLst/>
          </a:prstGeom>
          <a:noFill/>
          <a:ln w="9525" cap="flat" cmpd="sng">
            <a:solidFill>
              <a:srgbClr val="FF0000"/>
            </a:solidFill>
            <a:prstDash val="solid"/>
            <a:round/>
            <a:headEnd type="none" w="sm" len="sm"/>
            <a:tailEnd type="none" w="sm" len="sm"/>
          </a:ln>
        </p:spPr>
      </p:pic>
      <p:pic>
        <p:nvPicPr>
          <p:cNvPr id="222" name="Google Shape;222;p24"/>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701475" y="1138775"/>
            <a:ext cx="1815100" cy="462323"/>
          </a:xfrm>
          <a:prstGeom prst="rect">
            <a:avLst/>
          </a:prstGeom>
          <a:noFill/>
          <a:ln w="9525" cap="flat" cmpd="sng">
            <a:solidFill>
              <a:srgbClr val="FF0000"/>
            </a:solidFill>
            <a:prstDash val="solid"/>
            <a:round/>
            <a:headEnd type="none" w="sm" len="sm"/>
            <a:tailEnd type="none" w="sm" len="sm"/>
          </a:ln>
        </p:spPr>
      </p:pic>
      <p:pic>
        <p:nvPicPr>
          <p:cNvPr id="223" name="Google Shape;223;p24"/>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691225" y="230800"/>
            <a:ext cx="1627901" cy="823875"/>
          </a:xfrm>
          <a:prstGeom prst="rect">
            <a:avLst/>
          </a:prstGeom>
          <a:noFill/>
          <a:ln w="9525" cap="flat" cmpd="sng">
            <a:solidFill>
              <a:srgbClr val="FF0000"/>
            </a:solidFill>
            <a:prstDash val="solid"/>
            <a:round/>
            <a:headEnd type="none" w="sm" len="sm"/>
            <a:tailEnd type="none" w="sm" len="sm"/>
          </a:ln>
        </p:spPr>
      </p:pic>
      <p:sp>
        <p:nvSpPr>
          <p:cNvPr id="224" name="Google Shape;224;p24"/>
          <p:cNvSpPr txBox="1"/>
          <p:nvPr/>
        </p:nvSpPr>
        <p:spPr>
          <a:xfrm>
            <a:off x="94325" y="1634137"/>
            <a:ext cx="44445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Kimi-K2-Thinking</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1T params, MoE, 256k window, open weight, on HuggingFace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Autonomous multi-step agentic workflows with 300+ of tool calls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Beats GPT-5 and Claude-4.5-Sonnet</a:t>
            </a:r>
            <a:endParaRPr sz="1100">
              <a:solidFill>
                <a:schemeClr val="dk1"/>
              </a:solidFill>
              <a:latin typeface="Calibri"/>
              <a:ea typeface="Calibri"/>
              <a:cs typeface="Calibri"/>
              <a:sym typeface="Calibri"/>
            </a:endParaRPr>
          </a:p>
        </p:txBody>
      </p:sp>
      <p:pic>
        <p:nvPicPr>
          <p:cNvPr id="225" name="Google Shape;225;p24"/>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01475" y="1715999"/>
            <a:ext cx="1932288" cy="526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5"/>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5</a:t>
            </a:r>
            <a:endParaRPr sz="2000" b="1">
              <a:solidFill>
                <a:schemeClr val="dk1"/>
              </a:solidFill>
              <a:latin typeface="Calibri"/>
              <a:ea typeface="Calibri"/>
              <a:cs typeface="Calibri"/>
              <a:sym typeface="Calibri"/>
            </a:endParaRPr>
          </a:p>
        </p:txBody>
      </p:sp>
      <p:sp>
        <p:nvSpPr>
          <p:cNvPr id="231" name="Google Shape;231;p25"/>
          <p:cNvSpPr txBox="1"/>
          <p:nvPr/>
        </p:nvSpPr>
        <p:spPr>
          <a:xfrm>
            <a:off x="90925" y="2824218"/>
            <a:ext cx="44445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Edison Scientific &amp; Kosmos AI scientist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Kosmos - an autonomous AI research 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Futurehouse launches Edison Scientific as a commercial variant</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https://www.futurehouse.org</a:t>
            </a:r>
            <a:r>
              <a:rPr lang="en" sz="1200">
                <a:solidFill>
                  <a:schemeClr val="dk1"/>
                </a:solidFill>
                <a:latin typeface="Calibri"/>
                <a:ea typeface="Calibri"/>
                <a:cs typeface="Calibri"/>
                <a:sym typeface="Calibri"/>
              </a:rPr>
              <a:t> - non-profit</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https://edisonscientific.com</a:t>
            </a:r>
            <a:r>
              <a:rPr lang="en" sz="1200">
                <a:solidFill>
                  <a:schemeClr val="dk1"/>
                </a:solidFill>
                <a:latin typeface="Calibri"/>
                <a:ea typeface="Calibri"/>
                <a:cs typeface="Calibri"/>
                <a:sym typeface="Calibri"/>
              </a:rPr>
              <a:t> - commercial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Kosmos coordinates cycles of literature review, data analysis, and hypothesis generation, processing 1,500 papers and executing 42k lines of code per run. 79% of Kosmos’ outputs were validated as accurate, with the AI reproducing unpublished findings and making new discoveries across multiple fields.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Edison Scientific will commercialize the platform following pharma demand</a:t>
            </a:r>
            <a:endParaRPr sz="1200">
              <a:solidFill>
                <a:schemeClr val="dk1"/>
              </a:solidFill>
              <a:latin typeface="Calibri"/>
              <a:ea typeface="Calibri"/>
              <a:cs typeface="Calibri"/>
              <a:sym typeface="Calibri"/>
            </a:endParaRPr>
          </a:p>
        </p:txBody>
      </p:sp>
      <p:pic>
        <p:nvPicPr>
          <p:cNvPr id="232" name="Google Shape;232;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51975" y="397425"/>
            <a:ext cx="2533653" cy="2419500"/>
          </a:xfrm>
          <a:prstGeom prst="rect">
            <a:avLst/>
          </a:prstGeom>
          <a:noFill/>
          <a:ln w="9525" cap="flat" cmpd="sng">
            <a:solidFill>
              <a:srgbClr val="FF0000"/>
            </a:solidFill>
            <a:prstDash val="solid"/>
            <a:round/>
            <a:headEnd type="none" w="sm" len="sm"/>
            <a:tailEnd type="none" w="sm" len="sm"/>
          </a:ln>
        </p:spPr>
      </p:pic>
      <p:sp>
        <p:nvSpPr>
          <p:cNvPr id="233" name="Google Shape;233;p25"/>
          <p:cNvSpPr txBox="1"/>
          <p:nvPr/>
        </p:nvSpPr>
        <p:spPr>
          <a:xfrm>
            <a:off x="90925" y="375743"/>
            <a:ext cx="44445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GitHub MCP Registry</a:t>
            </a:r>
            <a:r>
              <a:rPr lang="en" sz="1200">
                <a:solidFill>
                  <a:schemeClr val="dk1"/>
                </a:solidFill>
                <a:latin typeface="Calibri"/>
                <a:ea typeface="Calibri"/>
                <a:cs typeface="Calibri"/>
                <a:sym typeface="Calibri"/>
              </a:rPr>
              <a:t> launched on Sept 17th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Open-source centralized hub for discovering MCP servers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One-click installation for VS Code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Sort servers by GitHub stars and community activity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Collaborating with Anthropic and the MCP Steering Committee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Developers can self-publish MCP servers to the OSS MCP Community Registry, which then automatically appear in the GitHub MCP Registry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https://github.com/mcp</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https://modelcontextprotocol.info/tools/registry/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https://github.blog/ai-and-ml/github-copilot/meet-the-github-mcp-registry-the-fastest-way-to-discover-mcp-servers/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9"/>
              </a:rPr>
              <a:t>https://github.com/modelcontextprotocol/registry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34" name="Google Shape;234;p25"/>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651975" y="3141100"/>
            <a:ext cx="1997473" cy="1783676"/>
          </a:xfrm>
          <a:prstGeom prst="rect">
            <a:avLst/>
          </a:prstGeom>
          <a:noFill/>
          <a:ln w="9525" cap="flat" cmpd="sng">
            <a:solidFill>
              <a:srgbClr val="FF0000"/>
            </a:solidFill>
            <a:prstDash val="solid"/>
            <a:round/>
            <a:headEnd type="none" w="sm" len="sm"/>
            <a:tailEnd type="none" w="sm" len="sm"/>
          </a:ln>
        </p:spPr>
      </p:pic>
      <p:pic>
        <p:nvPicPr>
          <p:cNvPr id="235" name="Google Shape;235;p25"/>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6766000" y="3141100"/>
            <a:ext cx="1997474" cy="18024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6"/>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6</a:t>
            </a:r>
            <a:endParaRPr sz="2000" b="1">
              <a:solidFill>
                <a:schemeClr val="dk1"/>
              </a:solidFill>
              <a:latin typeface="Calibri"/>
              <a:ea typeface="Calibri"/>
              <a:cs typeface="Calibri"/>
              <a:sym typeface="Calibri"/>
            </a:endParaRPr>
          </a:p>
        </p:txBody>
      </p:sp>
      <p:sp>
        <p:nvSpPr>
          <p:cNvPr id="241" name="Google Shape;241;p26"/>
          <p:cNvSpPr txBox="1"/>
          <p:nvPr/>
        </p:nvSpPr>
        <p:spPr>
          <a:xfrm>
            <a:off x="90925" y="375743"/>
            <a:ext cx="4444500" cy="1742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Keyword+Semantic search instead of RAG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BM25 keyword search + Semantic search wirth embeddings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Hybrid search stops at retrieval, while RAG adds a generation step using an LLM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Without LLM we get simpler much pipelines compared to RAG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Using </a:t>
            </a:r>
            <a:r>
              <a:rPr lang="en" sz="1200" b="1">
                <a:solidFill>
                  <a:srgbClr val="3C78D8"/>
                </a:solidFill>
                <a:latin typeface="Calibri"/>
                <a:ea typeface="Calibri"/>
                <a:cs typeface="Calibri"/>
                <a:sym typeface="Calibri"/>
              </a:rPr>
              <a:t>Reciprocal Rank Fusion (RRF)</a:t>
            </a:r>
            <a:r>
              <a:rPr lang="en" sz="1200">
                <a:solidFill>
                  <a:schemeClr val="dk1"/>
                </a:solidFill>
                <a:latin typeface="Calibri"/>
                <a:ea typeface="Calibri"/>
                <a:cs typeface="Calibri"/>
                <a:sym typeface="Calibri"/>
              </a:rPr>
              <a:t> to combine results together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Tiger Data's - Agentic Postgres - a specialized PostgreSQL variant designed for AI agent workflows</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3"/>
              </a:rPr>
              <a:t>https://www.youtube.com/watch?v=kegJPEoYBjw</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https://github.com/amrrs/hybrid-search/tree/main</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242" name="Google Shape;242;p26"/>
          <p:cNvSpPr txBox="1"/>
          <p:nvPr/>
        </p:nvSpPr>
        <p:spPr>
          <a:xfrm>
            <a:off x="90925" y="2215995"/>
            <a:ext cx="4444500" cy="280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don't need two separate tables - the best practice is to use a single table with both a BM25 index and a vector index on different columns, then combine results using  RRF</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PostgreSQL with extensions:</a:t>
            </a:r>
            <a:endParaRPr sz="1200">
              <a:solidFill>
                <a:schemeClr val="dk1"/>
              </a:solidFill>
              <a:latin typeface="Calibri"/>
              <a:ea typeface="Calibri"/>
              <a:cs typeface="Calibri"/>
              <a:sym typeface="Calibri"/>
            </a:endParaRPr>
          </a:p>
          <a:p>
            <a:pPr marL="400050" marR="0" lvl="1"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ParadeDB for BM25 + pgvector for vectors (most popular)</a:t>
            </a:r>
            <a:endParaRPr sz="1200">
              <a:solidFill>
                <a:srgbClr val="6AA84F"/>
              </a:solidFill>
              <a:latin typeface="Calibri"/>
              <a:ea typeface="Calibri"/>
              <a:cs typeface="Calibri"/>
              <a:sym typeface="Calibri"/>
            </a:endParaRPr>
          </a:p>
          <a:p>
            <a:pPr marL="400050" marR="0" lvl="1"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pg_textsearch for BM25 + pgvector​</a:t>
            </a:r>
            <a:endParaRPr sz="1200">
              <a:solidFill>
                <a:srgbClr val="6AA84F"/>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CREATE TABLE documents (</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id SERIAL PRIMARY KEY,</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title TEXT,</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content TEXT,</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embedding VECTOR(1536)  -- or your embedding dimension</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CREATE INDEX ON documents USING bm25(content);</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CREATE INDEX ON documents USING hnsw (embedding vector_cosine_ops);</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 two separate queries against the same table, then merge results using </a:t>
            </a:r>
            <a:r>
              <a:rPr lang="en" sz="1200" b="1">
                <a:solidFill>
                  <a:srgbClr val="3C78D8"/>
                </a:solidFill>
                <a:latin typeface="Calibri"/>
                <a:ea typeface="Calibri"/>
                <a:cs typeface="Calibri"/>
                <a:sym typeface="Calibri"/>
              </a:rPr>
              <a:t>Reciprocal Rank Fusion (RRF)</a:t>
            </a:r>
            <a:endParaRPr sz="1200" b="1">
              <a:solidFill>
                <a:srgbClr val="3C78D8"/>
              </a:solidFill>
              <a:latin typeface="Calibri"/>
              <a:ea typeface="Calibri"/>
              <a:cs typeface="Calibri"/>
              <a:sym typeface="Calibri"/>
            </a:endParaRPr>
          </a:p>
        </p:txBody>
      </p:sp>
      <p:sp>
        <p:nvSpPr>
          <p:cNvPr id="243" name="Google Shape;243;p26"/>
          <p:cNvSpPr txBox="1"/>
          <p:nvPr/>
        </p:nvSpPr>
        <p:spPr>
          <a:xfrm>
            <a:off x="4624550" y="384198"/>
            <a:ext cx="4444500" cy="432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WITH </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bm25_results AS (</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SELECT id, pdb.score(id) AS score</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FROM documents</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WHERE content ||| 'your search query'</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ORDER BY score DESC</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LIMIT 20</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vector_results AS (</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SELECT id, 1 - (embedding &lt;=&gt; query_embedding) AS score</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FROM documents</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ORDER BY embedding &lt;=&gt; query_embedding</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LIMIT 20</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rrf_scores AS (</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SELECT id, </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SUM(1.0 / (60 + rank)) AS rrf_score</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FROM (</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SELECT id, ROW_NUMBER() OVER (ORDER BY score DESC) AS rank </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FROM bm25_results</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UNION ALL</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SELECT id, ROW_NUMBER() OVER (ORDER BY score DESC) AS rank </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FROM vector_results</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 combined</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  GROUP BY id</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SELECT d.*, r.rrf_score</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FROM documents d</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JOIN rrf_scores r ON d.id = r.id</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ORDER BY r.rrf_score DESC</a:t>
            </a:r>
            <a:endParaRPr sz="8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800" b="1">
                <a:solidFill>
                  <a:srgbClr val="3C78D8"/>
                </a:solidFill>
                <a:latin typeface="Roboto Mono"/>
                <a:ea typeface="Roboto Mono"/>
                <a:cs typeface="Roboto Mono"/>
                <a:sym typeface="Roboto Mono"/>
              </a:rPr>
              <a:t>LIMIT 10;</a:t>
            </a:r>
            <a:endParaRPr sz="800" b="1">
              <a:solidFill>
                <a:srgbClr val="3C78D8"/>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7"/>
          <p:cNvSpPr txBox="1"/>
          <p:nvPr/>
        </p:nvSpPr>
        <p:spPr>
          <a:xfrm>
            <a:off x="55075" y="20375"/>
            <a:ext cx="4485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u="sng">
                <a:solidFill>
                  <a:schemeClr val="hlink"/>
                </a:solidFill>
                <a:latin typeface="Calibri"/>
                <a:ea typeface="Calibri"/>
                <a:cs typeface="Calibri"/>
                <a:sym typeface="Calibri"/>
                <a:hlinkClick r:id="rId3"/>
              </a:rPr>
              <a:t>Reflection.AI</a:t>
            </a:r>
            <a:r>
              <a:rPr lang="en" sz="2000" b="1">
                <a:solidFill>
                  <a:schemeClr val="dk1"/>
                </a:solidFill>
                <a:latin typeface="Calibri"/>
                <a:ea typeface="Calibri"/>
                <a:cs typeface="Calibri"/>
                <a:sym typeface="Calibri"/>
              </a:rPr>
              <a:t> - $2 Bln at $8 Bln valuation</a:t>
            </a:r>
            <a:endParaRPr sz="2000" b="1">
              <a:solidFill>
                <a:schemeClr val="dk1"/>
              </a:solidFill>
              <a:latin typeface="Calibri"/>
              <a:ea typeface="Calibri"/>
              <a:cs typeface="Calibri"/>
              <a:sym typeface="Calibri"/>
            </a:endParaRPr>
          </a:p>
        </p:txBody>
      </p:sp>
      <p:sp>
        <p:nvSpPr>
          <p:cNvPr id="249" name="Google Shape;249;p27"/>
          <p:cNvSpPr txBox="1"/>
          <p:nvPr/>
        </p:nvSpPr>
        <p:spPr>
          <a:xfrm>
            <a:off x="90925" y="375743"/>
            <a:ext cx="4444500" cy="425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Reflection AI is a startup</a:t>
            </a:r>
            <a:r>
              <a:rPr lang="en" sz="1100">
                <a:solidFill>
                  <a:schemeClr val="dk1"/>
                </a:solidFill>
                <a:latin typeface="Calibri"/>
                <a:ea typeface="Calibri"/>
                <a:cs typeface="Calibri"/>
                <a:sym typeface="Calibri"/>
              </a:rPr>
              <a:t> founded in San Francisco, CA in March 2024 by two former Google DeepMind researchers—</a:t>
            </a:r>
            <a:r>
              <a:rPr lang="en" sz="1100" b="1">
                <a:solidFill>
                  <a:srgbClr val="FF0000"/>
                </a:solidFill>
                <a:latin typeface="Calibri"/>
                <a:ea typeface="Calibri"/>
                <a:cs typeface="Calibri"/>
                <a:sym typeface="Calibri"/>
              </a:rPr>
              <a:t>Misha Laskin</a:t>
            </a:r>
            <a:r>
              <a:rPr lang="en" sz="1100">
                <a:solidFill>
                  <a:schemeClr val="dk1"/>
                </a:solidFill>
                <a:latin typeface="Calibri"/>
                <a:ea typeface="Calibri"/>
                <a:cs typeface="Calibri"/>
                <a:sym typeface="Calibri"/>
              </a:rPr>
              <a:t> (who led reward modeling for Gemini) and </a:t>
            </a:r>
            <a:r>
              <a:rPr lang="en" sz="1100" b="1">
                <a:solidFill>
                  <a:srgbClr val="FF0000"/>
                </a:solidFill>
                <a:latin typeface="Calibri"/>
                <a:ea typeface="Calibri"/>
                <a:cs typeface="Calibri"/>
                <a:sym typeface="Calibri"/>
              </a:rPr>
              <a:t>Ioannis Antonoglou</a:t>
            </a:r>
            <a:r>
              <a:rPr lang="en" sz="1100">
                <a:solidFill>
                  <a:schemeClr val="dk1"/>
                </a:solidFill>
                <a:latin typeface="Calibri"/>
                <a:ea typeface="Calibri"/>
                <a:cs typeface="Calibri"/>
                <a:sym typeface="Calibri"/>
              </a:rPr>
              <a:t> (co-creator of AlphaGo)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company is building superintelligent autonomous coding systems using reinforcement learning and LLMs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Reflection AI positions itself as an </a:t>
            </a:r>
            <a:r>
              <a:rPr lang="en" sz="1100" b="1">
                <a:solidFill>
                  <a:srgbClr val="FF0000"/>
                </a:solidFill>
                <a:latin typeface="Calibri"/>
                <a:ea typeface="Calibri"/>
                <a:cs typeface="Calibri"/>
                <a:sym typeface="Calibri"/>
              </a:rPr>
              <a:t>open-source</a:t>
            </a:r>
            <a:r>
              <a:rPr lang="en" sz="1100">
                <a:solidFill>
                  <a:schemeClr val="dk1"/>
                </a:solidFill>
                <a:latin typeface="Calibri"/>
                <a:ea typeface="Calibri"/>
                <a:cs typeface="Calibri"/>
                <a:sym typeface="Calibri"/>
              </a:rPr>
              <a:t> alternative to closed frontier AI labs like OpenAI and Anthropic, and as a Western counterpart to Chinese AI firms like DeepSeek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Rather than building general-purpose AI tools, the company focuses specifically on creating the best autonomous coding systems in the world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company </a:t>
            </a:r>
            <a:r>
              <a:rPr lang="en" sz="1100" b="1">
                <a:solidFill>
                  <a:srgbClr val="FF0000"/>
                </a:solidFill>
                <a:latin typeface="Calibri"/>
                <a:ea typeface="Calibri"/>
                <a:cs typeface="Calibri"/>
                <a:sym typeface="Calibri"/>
              </a:rPr>
              <a:t>launched Asimov (July 2025)</a:t>
            </a:r>
            <a:r>
              <a:rPr lang="en" sz="1100">
                <a:solidFill>
                  <a:schemeClr val="dk1"/>
                </a:solidFill>
                <a:latin typeface="Calibri"/>
                <a:ea typeface="Calibri"/>
                <a:cs typeface="Calibri"/>
                <a:sym typeface="Calibri"/>
              </a:rPr>
              <a:t>, a breakthrough code comprehension agent designed to help engineers deeply understand complex codebases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Unlike traditional AI coding tools like Copilot that provide autocompletion, Reflection AI's systems act as true software engineers capable of writing, debugging, and optimizing code autonomously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 reinforcement learning to train AI models that can simulate problem-solving, similar to how AlphaGo mastered the game of Go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In October 2025, Reflection AI raised $2 Bln at $8 Bln valuation. This is a remarkable 15x increase from its $545 Mln valuation 7 months earlier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company has recruited top talent from DeepMind and OpenAI and built an advanced AI training stack that will be open for all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With a team of about 60 AI researchers and engineers, Reflection AI has secured a compute cluster and plans to release a frontier language model in 2026 trained on "tens of trillions of tokens"</a:t>
            </a:r>
            <a:endParaRPr sz="1100">
              <a:solidFill>
                <a:schemeClr val="dk1"/>
              </a:solidFill>
              <a:latin typeface="Calibri"/>
              <a:ea typeface="Calibri"/>
              <a:cs typeface="Calibri"/>
              <a:sym typeface="Calibri"/>
            </a:endParaRPr>
          </a:p>
        </p:txBody>
      </p:sp>
      <p:sp>
        <p:nvSpPr>
          <p:cNvPr id="250" name="Google Shape;250;p27"/>
          <p:cNvSpPr txBox="1"/>
          <p:nvPr/>
        </p:nvSpPr>
        <p:spPr>
          <a:xfrm>
            <a:off x="4606850" y="4394250"/>
            <a:ext cx="36945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https://reflection.ai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https://docs.reflection.ai/docs/about-asimov</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https://www.sequoiacap.com/article/reflection-ai-asimov/</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7"/>
              </a:rPr>
              <a:t>https://www.linkedin.com/company/reflectionai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51" name="Google Shape;251;p27"/>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606850" y="84608"/>
            <a:ext cx="2761274" cy="1965200"/>
          </a:xfrm>
          <a:prstGeom prst="rect">
            <a:avLst/>
          </a:prstGeom>
          <a:noFill/>
          <a:ln w="9525" cap="flat" cmpd="sng">
            <a:solidFill>
              <a:srgbClr val="FF0000"/>
            </a:solidFill>
            <a:prstDash val="solid"/>
            <a:round/>
            <a:headEnd type="none" w="sm" len="sm"/>
            <a:tailEnd type="none" w="sm" len="sm"/>
          </a:ln>
        </p:spPr>
      </p:pic>
      <p:pic>
        <p:nvPicPr>
          <p:cNvPr id="252" name="Google Shape;252;p27"/>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06850" y="2127559"/>
            <a:ext cx="2761276" cy="1893201"/>
          </a:xfrm>
          <a:prstGeom prst="rect">
            <a:avLst/>
          </a:prstGeom>
          <a:noFill/>
          <a:ln w="9525" cap="flat" cmpd="sng">
            <a:solidFill>
              <a:srgbClr val="FF0000"/>
            </a:solidFill>
            <a:prstDash val="solid"/>
            <a:round/>
            <a:headEnd type="none" w="sm" len="sm"/>
            <a:tailEnd type="none" w="sm" len="sm"/>
          </a:ln>
        </p:spPr>
      </p:pic>
      <p:sp>
        <p:nvSpPr>
          <p:cNvPr id="253" name="Google Shape;253;p27"/>
          <p:cNvSpPr txBox="1"/>
          <p:nvPr/>
        </p:nvSpPr>
        <p:spPr>
          <a:xfrm>
            <a:off x="4808488" y="4068639"/>
            <a:ext cx="2358000" cy="18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100">
                <a:solidFill>
                  <a:schemeClr val="dk1"/>
                </a:solidFill>
                <a:latin typeface="Calibri"/>
                <a:ea typeface="Calibri"/>
                <a:cs typeface="Calibri"/>
                <a:sym typeface="Calibri"/>
              </a:rPr>
              <a:t>Misha Laskin and Ioannis Antonoglou</a:t>
            </a:r>
            <a:endParaRPr sz="1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8"/>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OpenMemory VSCode Extension</a:t>
            </a:r>
            <a:endParaRPr sz="2000" b="1" i="0" u="none" strike="noStrike" cap="none">
              <a:solidFill>
                <a:schemeClr val="dk1"/>
              </a:solidFill>
              <a:latin typeface="Calibri"/>
              <a:ea typeface="Calibri"/>
              <a:cs typeface="Calibri"/>
              <a:sym typeface="Calibri"/>
            </a:endParaRPr>
          </a:p>
        </p:txBody>
      </p:sp>
      <p:sp>
        <p:nvSpPr>
          <p:cNvPr id="259" name="Google Shape;259;p28"/>
          <p:cNvSpPr txBox="1"/>
          <p:nvPr/>
        </p:nvSpPr>
        <p:spPr>
          <a:xfrm>
            <a:off x="55075" y="440293"/>
            <a:ext cx="44445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OpenMemory VS-Code Extension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https://github.com/CaviraOSS/OpenMemory</a:t>
            </a:r>
            <a:r>
              <a:rPr lang="en" sz="1200">
                <a:solidFill>
                  <a:schemeClr val="dk1"/>
                </a:solidFill>
                <a:latin typeface="Calibri"/>
                <a:ea typeface="Calibri"/>
                <a:cs typeface="Calibri"/>
                <a:sym typeface="Calibri"/>
              </a:rPr>
              <a:t> - MIT License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u="sng">
                <a:solidFill>
                  <a:schemeClr val="hlink"/>
                </a:solidFill>
                <a:latin typeface="Calibri"/>
                <a:ea typeface="Calibri"/>
                <a:cs typeface="Calibri"/>
                <a:sym typeface="Calibri"/>
                <a:hlinkClick r:id="rId4"/>
              </a:rPr>
              <a:t>https://openmemory.cavira.app</a:t>
            </a:r>
            <a:r>
              <a:rPr lang="en" sz="1200">
                <a:solidFill>
                  <a:srgbClr val="3C78D8"/>
                </a:solidFill>
                <a:latin typeface="Calibri"/>
                <a:ea typeface="Calibri"/>
                <a:cs typeface="Calibri"/>
                <a:sym typeface="Calibri"/>
              </a:rPr>
              <a:t> </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u="sng">
                <a:solidFill>
                  <a:schemeClr val="hlink"/>
                </a:solidFill>
                <a:latin typeface="Calibri"/>
                <a:ea typeface="Calibri"/>
                <a:cs typeface="Calibri"/>
                <a:sym typeface="Calibri"/>
                <a:hlinkClick r:id="rId5"/>
              </a:rPr>
              <a:t>https://openmemory.cavira.app/docs/introduction</a:t>
            </a:r>
            <a:r>
              <a:rPr lang="en" sz="1200">
                <a:solidFill>
                  <a:srgbClr val="3C78D8"/>
                </a:solidFill>
                <a:latin typeface="Calibri"/>
                <a:ea typeface="Calibri"/>
                <a:cs typeface="Calibri"/>
                <a:sym typeface="Calibri"/>
              </a:rPr>
              <a:t> </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Modular AI memory engine provides persistent, structured, and semantic memory for LLM applications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Enables AI agents, assistants, and copilots to remember user data, preferences, and prior interactions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extension automatically integrates with GitHub Copilot, Cursor, Claude Desktop, Windsurf, Codex, and any </a:t>
            </a:r>
            <a:r>
              <a:rPr lang="en" sz="1200" b="1">
                <a:solidFill>
                  <a:srgbClr val="FF0000"/>
                </a:solidFill>
                <a:latin typeface="Calibri"/>
                <a:ea typeface="Calibri"/>
                <a:cs typeface="Calibri"/>
                <a:sym typeface="Calibri"/>
              </a:rPr>
              <a:t>MCP-compatible 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Install the extension, start the OpenMemory server, and your AI tools instantly access your entire coding memory.</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Auto-configuration on first run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Tracks every file edit, save, and open automatically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Smart compression reduces token usage by 30-70%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Query responses under 80ms with intelligent caching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Real-time token savings and compression metrics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Supports both Direct HTTP and MCP protocol modes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2–3× faster contextual recall, 6–10× lower cost, and full transparency compared to hosted “memory APIs” like Zep or Supermemory.</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multi-sector cognitive model allows explainable recall paths, hybrid embeddings (OpenAI / Gemini / Ollama / local), and real-time decay</a:t>
            </a:r>
            <a:endParaRPr sz="1200">
              <a:solidFill>
                <a:schemeClr val="dk1"/>
              </a:solidFill>
              <a:latin typeface="Calibri"/>
              <a:ea typeface="Calibri"/>
              <a:cs typeface="Calibri"/>
              <a:sym typeface="Calibri"/>
            </a:endParaRPr>
          </a:p>
        </p:txBody>
      </p:sp>
      <p:sp>
        <p:nvSpPr>
          <p:cNvPr id="260" name="Google Shape;260;p28"/>
          <p:cNvSpPr txBox="1"/>
          <p:nvPr/>
        </p:nvSpPr>
        <p:spPr>
          <a:xfrm>
            <a:off x="4594325" y="440300"/>
            <a:ext cx="45066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OpenMemory was created by:</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                   </a:t>
            </a:r>
            <a:r>
              <a:rPr lang="en" sz="1200" b="1">
                <a:solidFill>
                  <a:srgbClr val="3C78D8"/>
                </a:solidFill>
                <a:latin typeface="Calibri"/>
                <a:ea typeface="Calibri"/>
                <a:cs typeface="Calibri"/>
                <a:sym typeface="Calibri"/>
              </a:rPr>
              <a:t>CaviraOSS (Cavira Open Source Software)</a:t>
            </a:r>
            <a:endParaRPr sz="1200" b="1">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endParaRPr sz="1200" b="1">
              <a:solidFill>
                <a:srgbClr val="3C78D8"/>
              </a:solidFill>
              <a:latin typeface="Calibri"/>
              <a:ea typeface="Calibri"/>
              <a:cs typeface="Calibri"/>
              <a:sym typeface="Calibri"/>
            </a:endParaRPr>
          </a:p>
        </p:txBody>
      </p:sp>
      <p:sp>
        <p:nvSpPr>
          <p:cNvPr id="261" name="Google Shape;261;p28"/>
          <p:cNvSpPr txBox="1"/>
          <p:nvPr/>
        </p:nvSpPr>
        <p:spPr>
          <a:xfrm>
            <a:off x="4596100" y="3949693"/>
            <a:ext cx="44445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git clone https://github.com/caviraoss/openmemory.git</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cd openmemory/backend</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cp .env.example .env</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npm install</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3C78D8"/>
                </a:solidFill>
                <a:latin typeface="Roboto Mono"/>
                <a:ea typeface="Roboto Mono"/>
                <a:cs typeface="Roboto Mono"/>
                <a:sym typeface="Roboto Mono"/>
              </a:rPr>
              <a:t>npm run dev</a:t>
            </a:r>
            <a:endParaRPr sz="10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1000" b="1">
                <a:solidFill>
                  <a:srgbClr val="6AA84F"/>
                </a:solidFill>
                <a:latin typeface="Roboto Mono"/>
                <a:ea typeface="Roboto Mono"/>
                <a:cs typeface="Roboto Mono"/>
                <a:sym typeface="Roboto Mono"/>
              </a:rPr>
              <a:t># The server runs on</a:t>
            </a:r>
            <a:r>
              <a:rPr lang="en" sz="1000" b="1">
                <a:solidFill>
                  <a:srgbClr val="3C78D8"/>
                </a:solidFill>
                <a:latin typeface="Roboto Mono"/>
                <a:ea typeface="Roboto Mono"/>
                <a:cs typeface="Roboto Mono"/>
                <a:sym typeface="Roboto Mono"/>
              </a:rPr>
              <a:t> </a:t>
            </a:r>
            <a:r>
              <a:rPr lang="en" sz="1000" b="1" u="sng">
                <a:solidFill>
                  <a:srgbClr val="3C78D8"/>
                </a:solidFill>
                <a:latin typeface="Roboto Mono"/>
                <a:ea typeface="Roboto Mono"/>
                <a:cs typeface="Roboto Mono"/>
                <a:sym typeface="Roboto Mono"/>
              </a:rPr>
              <a:t>http://localhost:8080</a:t>
            </a:r>
            <a:endParaRPr sz="1000" b="1" u="sng">
              <a:solidFill>
                <a:srgbClr val="3C78D8"/>
              </a:solidFill>
              <a:latin typeface="Roboto Mono"/>
              <a:ea typeface="Roboto Mono"/>
              <a:cs typeface="Roboto Mono"/>
              <a:sym typeface="Roboto Mono"/>
            </a:endParaRPr>
          </a:p>
        </p:txBody>
      </p:sp>
      <p:sp>
        <p:nvSpPr>
          <p:cNvPr id="262" name="Google Shape;262;p28"/>
          <p:cNvSpPr txBox="1"/>
          <p:nvPr/>
        </p:nvSpPr>
        <p:spPr>
          <a:xfrm>
            <a:off x="4594325" y="1559500"/>
            <a:ext cx="45066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a:solidFill>
                  <a:schemeClr val="dk1"/>
                </a:solidFill>
                <a:latin typeface="Calibri"/>
                <a:ea typeface="Calibri"/>
                <a:cs typeface="Calibri"/>
                <a:sym typeface="Calibri"/>
              </a:rPr>
              <a:t>Note on Naming Confusion: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There's a separate </a:t>
            </a:r>
            <a:r>
              <a:rPr lang="en" sz="1100" b="1">
                <a:solidFill>
                  <a:srgbClr val="3C78D8"/>
                </a:solidFill>
                <a:latin typeface="Calibri"/>
                <a:ea typeface="Calibri"/>
                <a:cs typeface="Calibri"/>
                <a:sym typeface="Calibri"/>
              </a:rPr>
              <a:t>OpenMemory Chrome Extension</a:t>
            </a:r>
            <a:r>
              <a:rPr lang="en" sz="1100">
                <a:solidFill>
                  <a:schemeClr val="dk1"/>
                </a:solidFill>
                <a:latin typeface="Calibri"/>
                <a:ea typeface="Calibri"/>
                <a:cs typeface="Calibri"/>
                <a:sym typeface="Calibri"/>
              </a:rPr>
              <a:t> and </a:t>
            </a:r>
            <a:r>
              <a:rPr lang="en" sz="1100" b="1">
                <a:solidFill>
                  <a:srgbClr val="3C78D8"/>
                </a:solidFill>
                <a:latin typeface="Calibri"/>
                <a:ea typeface="Calibri"/>
                <a:cs typeface="Calibri"/>
                <a:sym typeface="Calibri"/>
              </a:rPr>
              <a:t>OpenMemory MCP</a:t>
            </a:r>
            <a:r>
              <a:rPr lang="en" sz="1100">
                <a:solidFill>
                  <a:schemeClr val="dk1"/>
                </a:solidFill>
                <a:latin typeface="Calibri"/>
                <a:ea typeface="Calibri"/>
                <a:cs typeface="Calibri"/>
                <a:sym typeface="Calibri"/>
              </a:rPr>
              <a:t> created by the </a:t>
            </a:r>
            <a:r>
              <a:rPr lang="en" sz="1100" b="1">
                <a:solidFill>
                  <a:srgbClr val="3C78D8"/>
                </a:solidFill>
                <a:latin typeface="Calibri"/>
                <a:ea typeface="Calibri"/>
                <a:cs typeface="Calibri"/>
                <a:sym typeface="Calibri"/>
              </a:rPr>
              <a:t>Mem0 team</a:t>
            </a:r>
            <a:r>
              <a:rPr lang="en" sz="1100">
                <a:solidFill>
                  <a:schemeClr val="dk1"/>
                </a:solidFill>
                <a:latin typeface="Calibri"/>
                <a:ea typeface="Calibri"/>
                <a:cs typeface="Calibri"/>
                <a:sym typeface="Calibri"/>
              </a:rPr>
              <a:t>, which is a different project despite sharing a similar name.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Mem0 version focuses on browser-based memory syncing across AI tools like ChatGPT, Claude, and Perplexity, while the CaviraOSS OpenMemory is a more comprehensive self-hosted memory engine with hierarchical memory decomposition architecture</a:t>
            </a:r>
            <a:endParaRPr sz="11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9"/>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AI for Science</a:t>
            </a:r>
            <a:endParaRPr sz="2000" b="1" i="0" u="none" strike="noStrike" cap="none">
              <a:solidFill>
                <a:schemeClr val="dk1"/>
              </a:solidFill>
              <a:latin typeface="Calibri"/>
              <a:ea typeface="Calibri"/>
              <a:cs typeface="Calibri"/>
              <a:sym typeface="Calibri"/>
            </a:endParaRPr>
          </a:p>
        </p:txBody>
      </p:sp>
      <p:sp>
        <p:nvSpPr>
          <p:cNvPr id="268" name="Google Shape;268;p29"/>
          <p:cNvSpPr txBox="1"/>
          <p:nvPr/>
        </p:nvSpPr>
        <p:spPr>
          <a:xfrm>
            <a:off x="55075" y="417634"/>
            <a:ext cx="44445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Supervised Reinforcement Learning (SRL)</a:t>
            </a:r>
            <a:r>
              <a:rPr lang="en" sz="1100">
                <a:solidFill>
                  <a:schemeClr val="dk1"/>
                </a:solidFill>
                <a:latin typeface="Calibri"/>
                <a:ea typeface="Calibri"/>
                <a:cs typeface="Calibri"/>
                <a:sym typeface="Calibri"/>
              </a:rPr>
              <a:t> - a novel training framework that teaches small 7B parameter models to reason through complex problems by combining two traditionally opposite approaches. The method </a:t>
            </a:r>
            <a:r>
              <a:rPr lang="en" sz="1100" b="1">
                <a:solidFill>
                  <a:srgbClr val="3C78D8"/>
                </a:solidFill>
                <a:latin typeface="Calibri"/>
                <a:ea typeface="Calibri"/>
                <a:cs typeface="Calibri"/>
                <a:sym typeface="Calibri"/>
              </a:rPr>
              <a:t>breaks expert solutions into step-wise trajectories</a:t>
            </a:r>
            <a:r>
              <a:rPr lang="en" sz="1100">
                <a:solidFill>
                  <a:schemeClr val="dk1"/>
                </a:solidFill>
                <a:latin typeface="Calibri"/>
                <a:ea typeface="Calibri"/>
                <a:cs typeface="Calibri"/>
                <a:sym typeface="Calibri"/>
              </a:rPr>
              <a:t>, where models </a:t>
            </a:r>
            <a:r>
              <a:rPr lang="en" sz="1100" b="1">
                <a:solidFill>
                  <a:srgbClr val="3C78D8"/>
                </a:solidFill>
                <a:latin typeface="Calibri"/>
                <a:ea typeface="Calibri"/>
                <a:cs typeface="Calibri"/>
                <a:sym typeface="Calibri"/>
              </a:rPr>
              <a:t>generate hidden reasoning in "think tags"</a:t>
            </a:r>
            <a:r>
              <a:rPr lang="en" sz="1100">
                <a:solidFill>
                  <a:schemeClr val="dk1"/>
                </a:solidFill>
                <a:latin typeface="Calibri"/>
                <a:ea typeface="Calibri"/>
                <a:cs typeface="Calibri"/>
                <a:sym typeface="Calibri"/>
              </a:rPr>
              <a:t> before producing each action, then </a:t>
            </a:r>
            <a:r>
              <a:rPr lang="en" sz="1100" b="1">
                <a:solidFill>
                  <a:srgbClr val="3C78D8"/>
                </a:solidFill>
                <a:latin typeface="Calibri"/>
                <a:ea typeface="Calibri"/>
                <a:cs typeface="Calibri"/>
                <a:sym typeface="Calibri"/>
              </a:rPr>
              <a:t>receive immediate dense rewards based on string similarity comparisons</a:t>
            </a:r>
            <a:r>
              <a:rPr lang="en" sz="1100">
                <a:solidFill>
                  <a:schemeClr val="dk1"/>
                </a:solidFill>
                <a:latin typeface="Calibri"/>
                <a:ea typeface="Calibri"/>
                <a:cs typeface="Calibri"/>
                <a:sym typeface="Calibri"/>
              </a:rPr>
              <a:t>. Testing on the Qwen 2.5 7B model has shown dramatic improvements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Google's Gemini-powered </a:t>
            </a:r>
            <a:r>
              <a:rPr lang="en" sz="1100" b="1">
                <a:solidFill>
                  <a:srgbClr val="3C78D8"/>
                </a:solidFill>
                <a:latin typeface="Calibri"/>
                <a:ea typeface="Calibri"/>
                <a:cs typeface="Calibri"/>
                <a:sym typeface="Calibri"/>
              </a:rPr>
              <a:t>multi-agent system</a:t>
            </a:r>
            <a:r>
              <a:rPr lang="en" sz="1100">
                <a:solidFill>
                  <a:schemeClr val="dk1"/>
                </a:solidFill>
                <a:latin typeface="Calibri"/>
                <a:ea typeface="Calibri"/>
                <a:cs typeface="Calibri"/>
                <a:sym typeface="Calibri"/>
              </a:rPr>
              <a:t> functions as a collaborative research tool that </a:t>
            </a:r>
            <a:r>
              <a:rPr lang="en" sz="1100" b="1">
                <a:solidFill>
                  <a:srgbClr val="3C78D8"/>
                </a:solidFill>
                <a:latin typeface="Calibri"/>
                <a:ea typeface="Calibri"/>
                <a:cs typeface="Calibri"/>
                <a:sym typeface="Calibri"/>
              </a:rPr>
              <a:t>generates hypotheses, designs experiments, and analyzes complex datasets</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system uses specialized agents:</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t>
            </a:r>
            <a:r>
              <a:rPr lang="en" sz="1100" b="1">
                <a:solidFill>
                  <a:srgbClr val="3C78D8"/>
                </a:solidFill>
                <a:latin typeface="Calibri"/>
                <a:ea typeface="Calibri"/>
                <a:cs typeface="Calibri"/>
                <a:sym typeface="Calibri"/>
              </a:rPr>
              <a:t>generation agents brainstorm ideas</a:t>
            </a:r>
            <a:r>
              <a:rPr lang="en" sz="1100">
                <a:solidFill>
                  <a:schemeClr val="dk1"/>
                </a:solidFill>
                <a:latin typeface="Calibri"/>
                <a:ea typeface="Calibri"/>
                <a:cs typeface="Calibri"/>
                <a:sym typeface="Calibri"/>
              </a:rPr>
              <a:t> through internal debate</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t>
            </a:r>
            <a:r>
              <a:rPr lang="en" sz="1100" b="1">
                <a:solidFill>
                  <a:srgbClr val="3C78D8"/>
                </a:solidFill>
                <a:latin typeface="Calibri"/>
                <a:ea typeface="Calibri"/>
                <a:cs typeface="Calibri"/>
                <a:sym typeface="Calibri"/>
              </a:rPr>
              <a:t>reflection agents act as peer reviewers</a:t>
            </a:r>
            <a:r>
              <a:rPr lang="en" sz="1100">
                <a:solidFill>
                  <a:schemeClr val="dk1"/>
                </a:solidFill>
                <a:latin typeface="Calibri"/>
                <a:ea typeface="Calibri"/>
                <a:cs typeface="Calibri"/>
                <a:sym typeface="Calibri"/>
              </a:rPr>
              <a:t>,</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t>
            </a:r>
            <a:r>
              <a:rPr lang="en" sz="1100" b="1">
                <a:solidFill>
                  <a:srgbClr val="3C78D8"/>
                </a:solidFill>
                <a:latin typeface="Calibri"/>
                <a:ea typeface="Calibri"/>
                <a:cs typeface="Calibri"/>
                <a:sym typeface="Calibri"/>
              </a:rPr>
              <a:t>ranking agents use ELO tournaments to select top hypotheses</a:t>
            </a:r>
            <a:r>
              <a:rPr lang="en" sz="1100">
                <a:solidFill>
                  <a:schemeClr val="dk1"/>
                </a:solidFill>
                <a:latin typeface="Calibri"/>
                <a:ea typeface="Calibri"/>
                <a:cs typeface="Calibri"/>
                <a:sym typeface="Calibri"/>
              </a:rPr>
              <a:t>,</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t>
            </a:r>
            <a:r>
              <a:rPr lang="en" sz="1100" b="1">
                <a:solidFill>
                  <a:srgbClr val="3C78D8"/>
                </a:solidFill>
                <a:latin typeface="Calibri"/>
                <a:ea typeface="Calibri"/>
                <a:cs typeface="Calibri"/>
                <a:sym typeface="Calibri"/>
              </a:rPr>
              <a:t>evolution agents</a:t>
            </a:r>
            <a:r>
              <a:rPr lang="en" sz="1100">
                <a:solidFill>
                  <a:schemeClr val="dk1"/>
                </a:solidFill>
                <a:latin typeface="Calibri"/>
                <a:ea typeface="Calibri"/>
                <a:cs typeface="Calibri"/>
                <a:sym typeface="Calibri"/>
              </a:rPr>
              <a:t> merge promising concepts,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t>
            </a:r>
            <a:r>
              <a:rPr lang="en" sz="1100" b="1">
                <a:solidFill>
                  <a:srgbClr val="3C78D8"/>
                </a:solidFill>
                <a:latin typeface="Calibri"/>
                <a:ea typeface="Calibri"/>
                <a:cs typeface="Calibri"/>
                <a:sym typeface="Calibri"/>
              </a:rPr>
              <a:t>meta-review agents</a:t>
            </a:r>
            <a:r>
              <a:rPr lang="en" sz="1100">
                <a:solidFill>
                  <a:schemeClr val="dk1"/>
                </a:solidFill>
                <a:latin typeface="Calibri"/>
                <a:ea typeface="Calibri"/>
                <a:cs typeface="Calibri"/>
                <a:sym typeface="Calibri"/>
              </a:rPr>
              <a:t> continuously improve the system</a:t>
            </a:r>
            <a:endParaRPr sz="800">
              <a:solidFill>
                <a:schemeClr val="dk1"/>
              </a:solidFill>
              <a:latin typeface="Calibri"/>
              <a:ea typeface="Calibri"/>
              <a:cs typeface="Calibri"/>
              <a:sym typeface="Calibri"/>
            </a:endParaRPr>
          </a:p>
        </p:txBody>
      </p:sp>
      <p:sp>
        <p:nvSpPr>
          <p:cNvPr id="269" name="Google Shape;269;p29"/>
          <p:cNvSpPr txBox="1"/>
          <p:nvPr/>
        </p:nvSpPr>
        <p:spPr>
          <a:xfrm>
            <a:off x="4614275" y="2425169"/>
            <a:ext cx="44445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Example: In partnership with Stanford University, the AI co-scientist identified vorinostat—an </a:t>
            </a:r>
            <a:r>
              <a:rPr lang="en" sz="1100" b="1">
                <a:solidFill>
                  <a:srgbClr val="3C78D8"/>
                </a:solidFill>
                <a:latin typeface="Calibri"/>
                <a:ea typeface="Calibri"/>
                <a:cs typeface="Calibri"/>
                <a:sym typeface="Calibri"/>
              </a:rPr>
              <a:t>FDA-approved cancer drug</a:t>
            </a:r>
            <a:r>
              <a:rPr lang="en" sz="1100">
                <a:solidFill>
                  <a:schemeClr val="dk1"/>
                </a:solidFill>
                <a:latin typeface="Calibri"/>
                <a:ea typeface="Calibri"/>
                <a:cs typeface="Calibri"/>
                <a:sym typeface="Calibri"/>
              </a:rPr>
              <a:t>—as a potential treatment for liver fibrosis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Example: working with Imperial College London on a decade-long bacterial mystery about </a:t>
            </a:r>
            <a:r>
              <a:rPr lang="en" sz="1100" b="1">
                <a:solidFill>
                  <a:srgbClr val="3C78D8"/>
                </a:solidFill>
                <a:latin typeface="Calibri"/>
                <a:ea typeface="Calibri"/>
                <a:cs typeface="Calibri"/>
                <a:sym typeface="Calibri"/>
              </a:rPr>
              <a:t>CFPICs (capsid-forming phage inducible chromosomal islands)</a:t>
            </a:r>
            <a:r>
              <a:rPr lang="en" sz="1100">
                <a:solidFill>
                  <a:schemeClr val="dk1"/>
                </a:solidFill>
                <a:latin typeface="Calibri"/>
                <a:ea typeface="Calibri"/>
                <a:cs typeface="Calibri"/>
                <a:sym typeface="Calibri"/>
              </a:rPr>
              <a:t>, the AI independently reconstructed the "tail piracy" mechanism—where genetic hitchhikers build DNA-filled heads but steal tails from other phages—using only pre-discovery data. What took human researchers 10 years to solve, the AI figured out in days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Human oversight remains essential for evaluating AI output, but the acceleration in discovery speed represents a fundamental shift in how scientific research can be conducted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3"/>
              </a:rPr>
              <a:t>https://www.youtube.com/watch?v=ANICPVqJ2ps</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https://arxiv.org/abs/2510.25992</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5"/>
              </a:rPr>
              <a:t>https://research.google/blog/accelerating-scientific-breakthroughs-with-an-ai-co-scientist/</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pic>
        <p:nvPicPr>
          <p:cNvPr id="270" name="Google Shape;270;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255725" y="573634"/>
            <a:ext cx="2721905" cy="152426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0"/>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Project Suncatcher</a:t>
            </a:r>
            <a:endParaRPr sz="2000" b="1" i="0" u="none" strike="noStrike" cap="none">
              <a:solidFill>
                <a:schemeClr val="dk1"/>
              </a:solidFill>
              <a:latin typeface="Calibri"/>
              <a:ea typeface="Calibri"/>
              <a:cs typeface="Calibri"/>
              <a:sym typeface="Calibri"/>
            </a:endParaRPr>
          </a:p>
        </p:txBody>
      </p:sp>
      <p:sp>
        <p:nvSpPr>
          <p:cNvPr id="276" name="Google Shape;276;p30"/>
          <p:cNvSpPr txBox="1"/>
          <p:nvPr/>
        </p:nvSpPr>
        <p:spPr>
          <a:xfrm>
            <a:off x="55075" y="417634"/>
            <a:ext cx="4444500" cy="340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 Project Suncatcher - AI data centers in space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Using solar-powered satellite constellations (81 satellites) on sun-synchronous low-Earth orbit (400 miles above earth surface)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Space-based solar panels can generate 8x more energy than on the surface (because there is no atmospheric interference).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Equipped with TPUs (Tensor Processing Units) and connected by optical lasers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Trillium-generation TPUs survived particle accelerator tests simulating space radiation at nearly three times the expected 5-year mission dose; Off-the-shelf components achieved required bandwidth for distributed machine learning tasks;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critical barrier is launch cost. Launch prices must drop below $200 per kilogram. Current costs range from $1,500 to $20,000 per kilogram. However, based on SpaceX's 20% learning rate (price drops 20% for every doubling of cumulative mass launched), Google projects launch costs could reach $200 per kilogram by around 2035 if SpaceX maintains approximately 180 Starship launches annually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 plans to launch two prototype satellites in partnership with Planet Labs by early 2027</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https://www.youtube.com/watch?v=XlSQZKY_gCg</a:t>
            </a:r>
            <a:endParaRPr sz="1100">
              <a:solidFill>
                <a:schemeClr val="dk1"/>
              </a:solidFill>
              <a:latin typeface="Calibri"/>
              <a:ea typeface="Calibri"/>
              <a:cs typeface="Calibri"/>
              <a:sym typeface="Calibri"/>
            </a:endParaRPr>
          </a:p>
        </p:txBody>
      </p:sp>
      <p:pic>
        <p:nvPicPr>
          <p:cNvPr id="277" name="Google Shape;277;p30"/>
          <p:cNvPicPr preferRelativeResize="0"/>
          <p:nvPr/>
        </p:nvPicPr>
        <p:blipFill>
          <a:blip r:embed="rId4">
            <a:alphaModFix/>
          </a:blip>
          <a:stretch>
            <a:fillRect/>
          </a:stretch>
        </p:blipFill>
        <p:spPr>
          <a:xfrm>
            <a:off x="5040125" y="847450"/>
            <a:ext cx="2876550" cy="1590675"/>
          </a:xfrm>
          <a:prstGeom prst="rect">
            <a:avLst/>
          </a:prstGeom>
          <a:noFill/>
          <a:ln w="9525" cap="flat" cmpd="sng">
            <a:solidFill>
              <a:srgbClr val="FF0000"/>
            </a:solidFill>
            <a:prstDash val="solid"/>
            <a:round/>
            <a:headEnd type="none" w="sm" len="sm"/>
            <a:tailEnd type="none" w="sm" len="sm"/>
          </a:ln>
        </p:spPr>
      </p:pic>
      <p:pic>
        <p:nvPicPr>
          <p:cNvPr id="278" name="Google Shape;278;p30"/>
          <p:cNvPicPr preferRelativeResize="0"/>
          <p:nvPr/>
        </p:nvPicPr>
        <p:blipFill>
          <a:blip r:embed="rId5">
            <a:alphaModFix/>
          </a:blip>
          <a:stretch>
            <a:fillRect/>
          </a:stretch>
        </p:blipFill>
        <p:spPr>
          <a:xfrm>
            <a:off x="5049650" y="2500275"/>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1"/>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Why Sam Altman was fired in 2023</a:t>
            </a:r>
            <a:endParaRPr sz="2000" b="1" i="0" u="none" strike="noStrike" cap="none">
              <a:solidFill>
                <a:schemeClr val="dk1"/>
              </a:solidFill>
              <a:latin typeface="Calibri"/>
              <a:ea typeface="Calibri"/>
              <a:cs typeface="Calibri"/>
              <a:sym typeface="Calibri"/>
            </a:endParaRPr>
          </a:p>
        </p:txBody>
      </p:sp>
      <p:sp>
        <p:nvSpPr>
          <p:cNvPr id="284" name="Google Shape;284;p31"/>
          <p:cNvSpPr txBox="1"/>
          <p:nvPr/>
        </p:nvSpPr>
        <p:spPr>
          <a:xfrm>
            <a:off x="55075" y="456018"/>
            <a:ext cx="4444500" cy="425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November 2023 Sam Altman was fired from OpenAI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Ilya Sutskever's deposition in the Elon Musk v. Sam Altman lawsuit reveals that he and Mira Murati plotted for over a year to remove Sam Altman from OpenAI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Ilya has created a 52-page memo and separate document about Greg Brockman to present to independent board directors (Helen Toner, Adam D'Angelo, and Tasha McCaulay) because he feared Sam would "make the discussions disappear" if he learned about them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memo accused Sam of exhibiting "a consistent pattern of lying, undermining his execs, and pitting his execs against one another," with Ilya recommending termination as the appropriate action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Most screenshots and information came from Mira Murati, and Ilya used disappearing emails to prevent leaks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deposition revealed several conflicts within OpenAI's leadership. Dario Amodei (before founding Anthropic) wanted Greg Brockman fired and himself placed in charge of all research, but Sam didn't accept or reject these conditions, which Ilya viewed as problematic</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Ilya found board member Helen Toner's October 2023 article praising Anthropic and criticizing OpenAI "not far from obviously inappropriate" and discussed potentially removing her from the board with Sam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Within 24-48 hours of Sam's removal, Anthropic proposed merging with OpenAI and taking over its leadership. Ilya opposed the merger.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Ilya characterized the removal process as "rushed" due to the board's inexperience in board matters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https://www.youtube.com/watch?v=mGBh2EAk7j0</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85" name="Google Shape;285;p3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975325" y="1088300"/>
            <a:ext cx="3715950" cy="27725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2"/>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IT Projects Costs are now 10x lower</a:t>
            </a:r>
            <a:endParaRPr sz="2000" b="1">
              <a:solidFill>
                <a:schemeClr val="dk1"/>
              </a:solidFill>
              <a:latin typeface="Calibri"/>
              <a:ea typeface="Calibri"/>
              <a:cs typeface="Calibri"/>
              <a:sym typeface="Calibri"/>
            </a:endParaRPr>
          </a:p>
        </p:txBody>
      </p:sp>
      <p:sp>
        <p:nvSpPr>
          <p:cNvPr id="291" name="Google Shape;291;p32"/>
          <p:cNvSpPr txBox="1"/>
          <p:nvPr/>
        </p:nvSpPr>
        <p:spPr>
          <a:xfrm>
            <a:off x="101275" y="579218"/>
            <a:ext cx="44445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Software projects that previously cost $200K and took 6 months now cost around $20K and complete in 6 weeks.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Savings Come From</a:t>
            </a:r>
            <a:endParaRPr sz="1200">
              <a:solidFill>
                <a:schemeClr val="dk1"/>
              </a:solidFill>
              <a:latin typeface="Calibri"/>
              <a:ea typeface="Calibri"/>
              <a:cs typeface="Calibri"/>
              <a:sym typeface="Calibri"/>
            </a:endParaRPr>
          </a:p>
          <a:p>
            <a:pPr marL="342900" marR="0" lvl="1"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Requirements Gathering by LLM</a:t>
            </a:r>
            <a:endParaRPr sz="1200">
              <a:solidFill>
                <a:schemeClr val="dk1"/>
              </a:solidFill>
              <a:latin typeface="Calibri"/>
              <a:ea typeface="Calibri"/>
              <a:cs typeface="Calibri"/>
              <a:sym typeface="Calibri"/>
            </a:endParaRPr>
          </a:p>
          <a:p>
            <a:pPr marL="342900" marR="0" lvl="1"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Development Efficiency using AI Coding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Large dev companies haven't reduced prices despite lower costs, so smaller companies can now underbid competitors</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Recommendations for Hiring</a:t>
            </a:r>
            <a:endParaRPr sz="1200">
              <a:solidFill>
                <a:schemeClr val="dk1"/>
              </a:solidFill>
              <a:latin typeface="Calibri"/>
              <a:ea typeface="Calibri"/>
              <a:cs typeface="Calibri"/>
              <a:sym typeface="Calibri"/>
            </a:endParaRPr>
          </a:p>
          <a:p>
            <a:pPr marL="342900" marR="0" lvl="1"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Ask if developers use AI coding tools</a:t>
            </a:r>
            <a:endParaRPr sz="1200">
              <a:solidFill>
                <a:schemeClr val="dk1"/>
              </a:solidFill>
              <a:latin typeface="Calibri"/>
              <a:ea typeface="Calibri"/>
              <a:cs typeface="Calibri"/>
              <a:sym typeface="Calibri"/>
            </a:endParaRPr>
          </a:p>
          <a:p>
            <a:pPr marL="342900" marR="0" lvl="1"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Request prototypes after 1 week with $5,000 budget</a:t>
            </a:r>
            <a:endParaRPr sz="1200">
              <a:solidFill>
                <a:schemeClr val="dk1"/>
              </a:solidFill>
              <a:latin typeface="Calibri"/>
              <a:ea typeface="Calibri"/>
              <a:cs typeface="Calibri"/>
              <a:sym typeface="Calibri"/>
            </a:endParaRPr>
          </a:p>
          <a:p>
            <a:pPr marL="342900" marR="0" lvl="1"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Start with time-boxed projects around $25,000</a:t>
            </a:r>
            <a:endParaRPr sz="1200">
              <a:solidFill>
                <a:schemeClr val="dk1"/>
              </a:solidFill>
              <a:latin typeface="Calibri"/>
              <a:ea typeface="Calibri"/>
              <a:cs typeface="Calibri"/>
              <a:sym typeface="Calibri"/>
            </a:endParaRPr>
          </a:p>
          <a:p>
            <a:pPr marL="342900" marR="0" lvl="1"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Build trust through smaller tests before committing to large builds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99% of projects should start under $50K to maintain momentum and avoid feature creep</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https://medium.com/realworld-ai-use-cases/how-has-ai-changed-the-cost-of-software-20-000-is-the-new-200-000-5f98ae364e24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92" name="Google Shape;292;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75275" y="734588"/>
            <a:ext cx="2755274" cy="275527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3"/>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FDE - Hottest new job in AI</a:t>
            </a:r>
            <a:endParaRPr sz="2000" b="1">
              <a:solidFill>
                <a:schemeClr val="dk1"/>
              </a:solidFill>
              <a:latin typeface="Calibri"/>
              <a:ea typeface="Calibri"/>
              <a:cs typeface="Calibri"/>
              <a:sym typeface="Calibri"/>
            </a:endParaRPr>
          </a:p>
        </p:txBody>
      </p:sp>
      <p:sp>
        <p:nvSpPr>
          <p:cNvPr id="298" name="Google Shape;298;p33"/>
          <p:cNvSpPr txBox="1"/>
          <p:nvPr/>
        </p:nvSpPr>
        <p:spPr>
          <a:xfrm>
            <a:off x="55075" y="456018"/>
            <a:ext cx="44445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a:t>
            </a:r>
            <a:r>
              <a:rPr lang="en" sz="1200" b="1">
                <a:solidFill>
                  <a:srgbClr val="FF0000"/>
                </a:solidFill>
                <a:latin typeface="Calibri"/>
                <a:ea typeface="Calibri"/>
                <a:cs typeface="Calibri"/>
                <a:sym typeface="Calibri"/>
              </a:rPr>
              <a:t>Forward-Deployed Engineer (FDE)</a:t>
            </a:r>
            <a:r>
              <a:rPr lang="en" sz="1200">
                <a:solidFill>
                  <a:schemeClr val="dk1"/>
                </a:solidFill>
                <a:latin typeface="Calibri"/>
                <a:ea typeface="Calibri"/>
                <a:cs typeface="Calibri"/>
                <a:sym typeface="Calibri"/>
              </a:rPr>
              <a:t> is a software engineer who embeds directly with customer teams on-site (or work closely) to build and deploy custom AI solutions tailored to their specific business problems.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AI implementation has become the new bottleneck</a:t>
            </a:r>
            <a:r>
              <a:rPr lang="en" sz="1200">
                <a:solidFill>
                  <a:schemeClr val="dk1"/>
                </a:solidFill>
                <a:latin typeface="Calibri"/>
                <a:ea typeface="Calibri"/>
                <a:cs typeface="Calibri"/>
                <a:sym typeface="Calibri"/>
              </a:rPr>
              <a:t> - </a:t>
            </a:r>
            <a:r>
              <a:rPr lang="en" sz="1200" b="1">
                <a:solidFill>
                  <a:srgbClr val="3C78D8"/>
                </a:solidFill>
                <a:latin typeface="Calibri"/>
                <a:ea typeface="Calibri"/>
                <a:cs typeface="Calibri"/>
                <a:sym typeface="Calibri"/>
              </a:rPr>
              <a:t>the challenge is no longer building models, but deploying them effectively</a:t>
            </a:r>
            <a:r>
              <a:rPr lang="en" sz="1200">
                <a:solidFill>
                  <a:schemeClr val="dk1"/>
                </a:solidFill>
                <a:latin typeface="Calibri"/>
                <a:ea typeface="Calibri"/>
                <a:cs typeface="Calibri"/>
                <a:sym typeface="Calibri"/>
              </a:rPr>
              <a:t> in complex, real-world environments.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6AA84F"/>
                </a:solidFill>
                <a:latin typeface="Calibri"/>
                <a:ea typeface="Calibri"/>
                <a:cs typeface="Calibri"/>
                <a:sym typeface="Calibri"/>
              </a:rPr>
              <a:t>OpenAI established its FDE team at the start of 2025 and expects to grow it to about 50 engineers this year.</a:t>
            </a:r>
            <a:r>
              <a:rPr lang="en" sz="1200">
                <a:solidFill>
                  <a:schemeClr val="dk1"/>
                </a:solidFill>
                <a:latin typeface="Calibri"/>
                <a:ea typeface="Calibri"/>
                <a:cs typeface="Calibri"/>
                <a:sym typeface="Calibri"/>
              </a:rPr>
              <a:t> Anthropic, and Cohere are rapidly hiring these hybrid professionals too.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The term “forward-deployed” originates from the military (like "airborne troops") and was popularized by Palantir</a:t>
            </a:r>
            <a:r>
              <a:rPr lang="en" sz="1200">
                <a:solidFill>
                  <a:schemeClr val="dk1"/>
                </a:solidFill>
                <a:latin typeface="Calibri"/>
                <a:ea typeface="Calibri"/>
                <a:cs typeface="Calibri"/>
                <a:sym typeface="Calibri"/>
              </a:rPr>
              <a:t>, which sends embedded engineers into client environments to co-create solutions.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role has been dubbed "</a:t>
            </a:r>
            <a:r>
              <a:rPr lang="en" sz="1200" b="1">
                <a:solidFill>
                  <a:srgbClr val="FF0000"/>
                </a:solidFill>
                <a:latin typeface="Calibri"/>
                <a:ea typeface="Calibri"/>
                <a:cs typeface="Calibri"/>
                <a:sym typeface="Calibri"/>
              </a:rPr>
              <a:t>the hottest job in tech</a:t>
            </a:r>
            <a:r>
              <a:rPr lang="en" sz="1200">
                <a:solidFill>
                  <a:schemeClr val="dk1"/>
                </a:solidFill>
                <a:latin typeface="Calibri"/>
                <a:ea typeface="Calibri"/>
                <a:cs typeface="Calibri"/>
                <a:sym typeface="Calibri"/>
              </a:rPr>
              <a:t>" by venture capital firm </a:t>
            </a:r>
            <a:r>
              <a:rPr lang="en" sz="1200" b="1">
                <a:solidFill>
                  <a:srgbClr val="FF0000"/>
                </a:solidFill>
                <a:latin typeface="Calibri"/>
                <a:ea typeface="Calibri"/>
                <a:cs typeface="Calibri"/>
                <a:sym typeface="Calibri"/>
              </a:rPr>
              <a:t>a16z (Andreessen Horowitz)</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FDEs command top salaries due to their high-impact nature</a:t>
            </a:r>
            <a:r>
              <a:rPr lang="en" sz="1200">
                <a:solidFill>
                  <a:schemeClr val="dk1"/>
                </a:solidFill>
                <a:latin typeface="Calibri"/>
                <a:ea typeface="Calibri"/>
                <a:cs typeface="Calibri"/>
                <a:sym typeface="Calibri"/>
              </a:rPr>
              <a:t>. Many FDEs become trusted advisors within organizations and later transition to founding startups or leadership roles, thanks to their unique blend of technical and business experience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FDE is the Hottest new job in AI. </a:t>
            </a:r>
            <a:r>
              <a:rPr lang="en" sz="1200" b="1">
                <a:solidFill>
                  <a:srgbClr val="3C78D8"/>
                </a:solidFill>
                <a:latin typeface="Calibri"/>
                <a:ea typeface="Calibri"/>
                <a:cs typeface="Calibri"/>
                <a:sym typeface="Calibri"/>
              </a:rPr>
              <a:t>Job listings for FDEs have surged over 800% in 2025</a:t>
            </a:r>
            <a:r>
              <a:rPr lang="en" sz="1200">
                <a:solidFill>
                  <a:schemeClr val="dk1"/>
                </a:solidFill>
                <a:latin typeface="Calibri"/>
                <a:ea typeface="Calibri"/>
                <a:cs typeface="Calibri"/>
                <a:sym typeface="Calibri"/>
              </a:rPr>
              <a:t>. A year ago the hottest AI job was prompt engineer</a:t>
            </a:r>
            <a:endParaRPr sz="1200">
              <a:solidFill>
                <a:schemeClr val="dk1"/>
              </a:solidFill>
              <a:latin typeface="Calibri"/>
              <a:ea typeface="Calibri"/>
              <a:cs typeface="Calibri"/>
              <a:sym typeface="Calibri"/>
            </a:endParaRPr>
          </a:p>
        </p:txBody>
      </p:sp>
      <p:pic>
        <p:nvPicPr>
          <p:cNvPr id="299" name="Google Shape;299;p3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162500" y="456029"/>
            <a:ext cx="2491750" cy="2491750"/>
          </a:xfrm>
          <a:prstGeom prst="rect">
            <a:avLst/>
          </a:prstGeom>
          <a:noFill/>
          <a:ln w="9525" cap="flat" cmpd="sng">
            <a:solidFill>
              <a:srgbClr val="FF0000"/>
            </a:solidFill>
            <a:prstDash val="solid"/>
            <a:round/>
            <a:headEnd type="none" w="sm" len="sm"/>
            <a:tailEnd type="none" w="sm" len="sm"/>
          </a:ln>
        </p:spPr>
      </p:pic>
      <p:pic>
        <p:nvPicPr>
          <p:cNvPr id="300" name="Google Shape;300;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62500" y="3070492"/>
            <a:ext cx="2491750" cy="165213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4"/>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06" name="Google Shape;306;p34"/>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07" name="Google Shape;307;p34"/>
          <p:cNvSpPr txBox="1"/>
          <p:nvPr/>
        </p:nvSpPr>
        <p:spPr>
          <a:xfrm>
            <a:off x="5097525" y="77475"/>
            <a:ext cx="398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 112.7K in 2025 (as of October 30)</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08" name="Google Shape;308;p34"/>
          <p:cNvSpPr txBox="1"/>
          <p:nvPr/>
        </p:nvSpPr>
        <p:spPr>
          <a:xfrm>
            <a:off x="5097525" y="4233900"/>
            <a:ext cx="3981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So far in 2025, 177,097 people laid off (584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309" name="Google Shape;309;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2420750"/>
            <a:ext cx="4951699" cy="2630588"/>
          </a:xfrm>
          <a:prstGeom prst="rect">
            <a:avLst/>
          </a:prstGeom>
          <a:noFill/>
          <a:ln w="9525" cap="flat" cmpd="sng">
            <a:solidFill>
              <a:srgbClr val="FF0000"/>
            </a:solidFill>
            <a:prstDash val="solid"/>
            <a:round/>
            <a:headEnd type="none" w="sm" len="sm"/>
            <a:tailEnd type="none" w="sm" len="sm"/>
          </a:ln>
        </p:spPr>
      </p:pic>
      <p:pic>
        <p:nvPicPr>
          <p:cNvPr id="310" name="Google Shape;310;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565775"/>
            <a:ext cx="4951702" cy="181524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pic>
        <p:nvPicPr>
          <p:cNvPr id="315" name="Google Shape;315;p3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16" name="Google Shape;316;p35"/>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17" name="Google Shape;317;p35"/>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18" name="Google Shape;318;p3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19" name="Google Shape;319;p35"/>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20" name="Google Shape;320;p35"/>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6"/>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5132</Words>
  <Application>Microsoft Macintosh PowerPoint</Application>
  <PresentationFormat>On-screen Show (16:9)</PresentationFormat>
  <Paragraphs>497</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Calibri</vt:lpstr>
      <vt:lpstr>Roboto Mono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2025-11-07T02:51:30Z</dcterms:modified>
</cp:coreProperties>
</file>