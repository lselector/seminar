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Roboto Mono" pitchFamily="49"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3BE3B-BB2A-4B15-9F26-9AF589F24190}">
  <a:tblStyle styleId="{BDB3BE3B-BB2A-4B15-9F26-9AF589F2419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a9e4b4f92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g3a9e4b4f92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8e166505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38e1665059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9e4b4f92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a9e4b4f929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6659435892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6659435892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a9e4b4f929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g3a9e4b4f929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80316f57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3a80316f57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80a8b0d19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5" name="Google Shape;185;g3a80a8b0d19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a8dcf4b2c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g3a8dcf4b2c6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a8dcf4b2c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a8dcf4b2c6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a81f090af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3a81f090af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9bee61fc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g3a9bee61fc8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aa2d07e80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3aa2d07e80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a8364b075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3a8364b075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a8dcf4b2c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g3a8dcf4b2c6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a8dcf4b2c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g3a8dcf4b2c6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aistudio.google.com/app/prompts/new_chat?model=gemini-3-pro-preview" TargetMode="External"/><Relationship Id="rId26" Type="http://schemas.openxmlformats.org/officeDocument/2006/relationships/hyperlink" Target="https://www.anthropic.com/news/claude-haiku-4-5" TargetMode="External"/><Relationship Id="rId39" Type="http://schemas.openxmlformats.org/officeDocument/2006/relationships/hyperlink" Target="https://x.ai/news/grok-4-1-fast" TargetMode="External"/><Relationship Id="rId21" Type="http://schemas.openxmlformats.org/officeDocument/2006/relationships/hyperlink" Target="https://x.ai/news/grok-4-1" TargetMode="External"/><Relationship Id="rId34" Type="http://schemas.openxmlformats.org/officeDocument/2006/relationships/hyperlink" Target="https://openai.com/index/introducing-gpt-4-5/" TargetMode="External"/><Relationship Id="rId7" Type="http://schemas.openxmlformats.org/officeDocument/2006/relationships/hyperlink" Target="https://openlm.ai/chatbot-arena/"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s://www.anthropic.com/news/claude-opus-4-5" TargetMode="External"/><Relationship Id="rId25" Type="http://schemas.openxmlformats.org/officeDocument/2006/relationships/hyperlink" Target="https://huggingface.co/moonshotai/Kimi-K2-Thinking" TargetMode="External"/><Relationship Id="rId33" Type="http://schemas.openxmlformats.org/officeDocument/2006/relationships/hyperlink" Target="https://huggingface.co/moonshotai/Kimi-K2-Instruct-0905" TargetMode="External"/><Relationship Id="rId38" Type="http://schemas.openxmlformats.org/officeDocument/2006/relationships/hyperlink" Target="https://platform.openai.com/docs/models/gpt-5-chat-latest"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1" TargetMode="External"/><Relationship Id="rId29" Type="http://schemas.openxmlformats.org/officeDocument/2006/relationships/hyperlink" Target="https://huggingface.co/Qwen/Qwen3-235B-A22B-Instruct-2507"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www.alibabacloud.com/help/en/model-studio/models" TargetMode="External"/><Relationship Id="rId32" Type="http://schemas.openxmlformats.org/officeDocument/2006/relationships/hyperlink" Target="https://platform.openai.com/docs/models/gpt-5" TargetMode="External"/><Relationship Id="rId37" Type="http://schemas.openxmlformats.org/officeDocument/2006/relationships/hyperlink" Target="https://docs.z.ai/guides/llm/glm-4.6"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www.anthropic.com/news/claude-4" TargetMode="External"/><Relationship Id="rId28" Type="http://schemas.openxmlformats.org/officeDocument/2006/relationships/hyperlink" Target="https://huggingface.co/meituan-longcat/LongCat-Flash-Chat" TargetMode="External"/><Relationship Id="rId36" Type="http://schemas.openxmlformats.org/officeDocument/2006/relationships/hyperlink" Target="https://openai.com/index/introducing-o3-and-o4-mini/"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sonnet-4-5" TargetMode="External"/><Relationship Id="rId31" Type="http://schemas.openxmlformats.org/officeDocument/2006/relationships/hyperlink" Target="http://aistudio.google.com/app/prompts/new_chat?model=gemini-2.5-pro"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openai.com/index/gpt-5-1/" TargetMode="External"/><Relationship Id="rId27" Type="http://schemas.openxmlformats.org/officeDocument/2006/relationships/hyperlink" Target="https://qwen.ai/blog?id=241398b9cd6353de490b0f82806c7848c5d2777d&amp;from=research.latest-advancements-list" TargetMode="External"/><Relationship Id="rId30" Type="http://schemas.openxmlformats.org/officeDocument/2006/relationships/hyperlink" Target="https://api-docs.deepseek.com/news/news250929" TargetMode="External"/><Relationship Id="rId35" Type="http://schemas.openxmlformats.org/officeDocument/2006/relationships/hyperlink" Target="https://x.com/OpenAI/status/1905331956856050135"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watch?v=VhuUcVhwqi8"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anthropic.com/news/claude-opus-4-5"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63XNYlMrlJY"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aR20FWCCjA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hyperlink" Target="https://www.greptile.com" TargetMode="External"/><Relationship Id="rId3" Type="http://schemas.openxmlformats.org/officeDocument/2006/relationships/hyperlink" Target="https://www.youtube.com/watch?v=ocjhUqO428Q" TargetMode="External"/><Relationship Id="rId7" Type="http://schemas.openxmlformats.org/officeDocument/2006/relationships/hyperlink" Target="https://www.greptile.com/what-is-ai-code-review"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youtube.com/watch?v=tlZNo3g0urY" TargetMode="External"/><Relationship Id="rId5" Type="http://schemas.openxmlformats.org/officeDocument/2006/relationships/image" Target="../media/image6.png"/><Relationship Id="rId10" Type="http://schemas.openxmlformats.org/officeDocument/2006/relationships/image" Target="../media/image7.png"/><Relationship Id="rId4" Type="http://schemas.openxmlformats.org/officeDocument/2006/relationships/hyperlink" Target="http://linguang.com" TargetMode="External"/><Relationship Id="rId9" Type="http://schemas.openxmlformats.org/officeDocument/2006/relationships/hyperlink" Target="https://www.greptile.com/docs/code-review-bot/key-features"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hyperlink" Target="https://x.com/Rainmaker1973/status/1991186630133125405" TargetMode="External"/><Relationship Id="rId7" Type="http://schemas.openxmlformats.org/officeDocument/2006/relationships/hyperlink" Target="https://cdss.berkeley.edu/news/uc-berkeley-and-ucsf-researchers-release-top-performing-ai-model-medical-imaging"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teletype.in/@mrvladd/W5E88Tzx1dv" TargetMode="External"/><Relationship Id="rId5" Type="http://schemas.openxmlformats.org/officeDocument/2006/relationships/hyperlink" Target="https://www.youtube.com/watch?v=zqv1eELa7fs" TargetMode="External"/><Relationship Id="rId4" Type="http://schemas.openxmlformats.org/officeDocument/2006/relationships/hyperlink" Target="https://x.com/_avichawla/status/1991393941493805096"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mJxCdZB4RRY"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hyperlink" Target="https://www.youtube.com/watch?v=utnLVMzxX4U"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deepagent.abacus.ai"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facebookresearch/sam3"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DtePicx_kFY"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hyperlink" Target="https://sakana.ai/ai-scientist/"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3K-R4yVjJfU"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hyperlink" Target="https://marimo.io"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https://github.com/marimo-team/marimo"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http://decart.ai" TargetMode="External"/><Relationship Id="rId7" Type="http://schemas.openxmlformats.org/officeDocument/2006/relationships/hyperlink" Target="https://decart.ai/api-platform"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decart.ai" TargetMode="External"/><Relationship Id="rId5" Type="http://schemas.openxmlformats.org/officeDocument/2006/relationships/hyperlink" Target="https://docs.platform.decart.ai/getting-started/pricing" TargetMode="External"/><Relationship Id="rId4" Type="http://schemas.openxmlformats.org/officeDocument/2006/relationships/hyperlink" Target="https://www.youtube.com/watch?v=xAICmrzPJjA" TargetMode="External"/><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r8RGYw1n-5k"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hyperlink" Target="https://trueup.io/layoff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630966"/>
            <a:ext cx="4420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Anthropic Claude Opus 4.5</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NotebookLM - Infographics &amp; Slide Decks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Ilya Sutskever on the Age of Research</a:t>
            </a:r>
            <a:endParaRPr sz="1500" b="1">
              <a:solidFill>
                <a:srgbClr val="3C78D8"/>
              </a:solidFill>
              <a:latin typeface="Calibri"/>
              <a:ea typeface="Calibri"/>
              <a:cs typeface="Calibri"/>
              <a:sym typeface="Calibri"/>
            </a:endParaRPr>
          </a:p>
        </p:txBody>
      </p:sp>
      <p:sp>
        <p:nvSpPr>
          <p:cNvPr id="64" name="Google Shape;64;p15"/>
          <p:cNvSpPr txBox="1"/>
          <p:nvPr/>
        </p:nvSpPr>
        <p:spPr>
          <a:xfrm>
            <a:off x="0" y="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November </a:t>
            </a:r>
            <a:r>
              <a:rPr lang="en" sz="2200" b="1">
                <a:solidFill>
                  <a:srgbClr val="3C78D8"/>
                </a:solidFill>
                <a:latin typeface="Calibri"/>
                <a:ea typeface="Calibri"/>
                <a:cs typeface="Calibri"/>
                <a:sym typeface="Calibri"/>
              </a:rPr>
              <a:t>28, </a:t>
            </a:r>
            <a:r>
              <a:rPr lang="en" sz="2200" b="1" i="0" u="none" strike="noStrike" cap="none">
                <a:solidFill>
                  <a:srgbClr val="3C78D8"/>
                </a:solidFill>
                <a:latin typeface="Calibri"/>
                <a:ea typeface="Calibri"/>
                <a:cs typeface="Calibri"/>
                <a:sym typeface="Calibri"/>
              </a:rPr>
              <a:t>2025</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6975" y="4166684"/>
            <a:ext cx="45024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xxx</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i="0" u="none" strike="noStrike" cap="none">
                <a:solidFill>
                  <a:srgbClr val="3C78D8"/>
                </a:solidFill>
                <a:latin typeface="Calibri"/>
                <a:ea typeface="Calibri"/>
                <a:cs typeface="Calibri"/>
                <a:sym typeface="Calibri"/>
              </a:rPr>
              <a:t>Jobs, Layoffs, </a:t>
            </a:r>
            <a:r>
              <a:rPr lang="en" sz="1500" b="1">
                <a:solidFill>
                  <a:srgbClr val="3C78D8"/>
                </a:solidFill>
                <a:latin typeface="Calibri"/>
                <a:ea typeface="Calibri"/>
                <a:cs typeface="Calibri"/>
                <a:sym typeface="Calibri"/>
              </a:rPr>
              <a:t>demand for AI Engineers</a:t>
            </a:r>
            <a:endParaRPr sz="1500"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1630622"/>
            <a:ext cx="4420200" cy="2558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LingGuang's Viral Success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Greptile: AI Self-Healing Code Review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Suno AI Music Raises $250M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group chat feature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Lovable hits $200M ARR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Federated Learning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Google's Willow quantum processor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RAG without vectors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Kimi K2 Thinking in Perplexity</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Zoer: NEW Agentic AI Full-Stack Engineer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Creating AI Videos - 6 methods</a:t>
            </a:r>
            <a:endParaRPr sz="1500" b="1">
              <a:solidFill>
                <a:srgbClr val="3C78D8"/>
              </a:solidFill>
              <a:latin typeface="Calibri"/>
              <a:ea typeface="Calibri"/>
              <a:cs typeface="Calibri"/>
              <a:sym typeface="Calibri"/>
            </a:endParaRPr>
          </a:p>
        </p:txBody>
      </p:sp>
      <p:sp>
        <p:nvSpPr>
          <p:cNvPr id="67" name="Google Shape;67;p15"/>
          <p:cNvSpPr txBox="1"/>
          <p:nvPr/>
        </p:nvSpPr>
        <p:spPr>
          <a:xfrm>
            <a:off x="4576975" y="630947"/>
            <a:ext cx="4502400" cy="23274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Abacus AI DeepAgent upgrade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GPT-5.1-Codex-Max</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GPT-5.1 Pro</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Meta SAM-3 Segment Anything Model 3</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Shopping Research in ChatGPT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Transformer Architecture Under Question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Łukasz Kaiser about GPT-5.1 &amp; the AI Frontier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Marimo instead of Jupyter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Decart.AI Real-time Video Transformation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Peter H. Diamandis - AI Roundtable</a:t>
            </a:r>
            <a:endParaRPr sz="1500" b="1">
              <a:solidFill>
                <a:srgbClr val="3C78D8"/>
              </a:solidFill>
              <a:latin typeface="Calibri"/>
              <a:ea typeface="Calibri"/>
              <a:cs typeface="Calibri"/>
              <a:sym typeface="Calibri"/>
            </a:endParaRPr>
          </a:p>
        </p:txBody>
      </p:sp>
      <p:sp>
        <p:nvSpPr>
          <p:cNvPr id="68" name="Google Shape;68;p15"/>
          <p:cNvSpPr txBox="1"/>
          <p:nvPr/>
        </p:nvSpPr>
        <p:spPr>
          <a:xfrm>
            <a:off x="4832825" y="44155"/>
            <a:ext cx="4246500" cy="2340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b="1" i="1">
                <a:solidFill>
                  <a:srgbClr val="FF0000"/>
                </a:solidFill>
                <a:latin typeface="Roboto Mono"/>
                <a:ea typeface="Roboto Mono"/>
                <a:cs typeface="Roboto Mono"/>
                <a:sym typeface="Roboto Mono"/>
              </a:rPr>
              <a:t>xxx</a:t>
            </a:r>
            <a:endParaRPr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469100"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3536012"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592698" y="419154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p:nvPr/>
        </p:nvSpPr>
        <p:spPr>
          <a:xfrm>
            <a:off x="598073" y="77343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16"/>
          <p:cNvSpPr txBox="1"/>
          <p:nvPr/>
        </p:nvSpPr>
        <p:spPr>
          <a:xfrm>
            <a:off x="6549674" y="1522475"/>
            <a:ext cx="2356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0" name="Google Shape;80;p16"/>
          <p:cNvSpPr/>
          <p:nvPr/>
        </p:nvSpPr>
        <p:spPr>
          <a:xfrm>
            <a:off x="3743624" y="75584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594761" y="1486635"/>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595461" y="168232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p:nvPr/>
        </p:nvSpPr>
        <p:spPr>
          <a:xfrm>
            <a:off x="3748244" y="11137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6"/>
          <p:cNvSpPr txBox="1"/>
          <p:nvPr/>
        </p:nvSpPr>
        <p:spPr>
          <a:xfrm>
            <a:off x="3447377" y="3633587"/>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5" name="Google Shape;85;p16"/>
          <p:cNvSpPr/>
          <p:nvPr/>
        </p:nvSpPr>
        <p:spPr>
          <a:xfrm>
            <a:off x="3747834" y="364487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6"/>
          <p:cNvSpPr txBox="1"/>
          <p:nvPr/>
        </p:nvSpPr>
        <p:spPr>
          <a:xfrm>
            <a:off x="3448497" y="3110294"/>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7" name="Google Shape;87;p16"/>
          <p:cNvSpPr/>
          <p:nvPr/>
        </p:nvSpPr>
        <p:spPr>
          <a:xfrm>
            <a:off x="3748954" y="312158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6"/>
          <p:cNvSpPr txBox="1"/>
          <p:nvPr/>
        </p:nvSpPr>
        <p:spPr>
          <a:xfrm>
            <a:off x="3587049" y="2944237"/>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9" name="Google Shape;89;p16"/>
          <p:cNvSpPr txBox="1"/>
          <p:nvPr/>
        </p:nvSpPr>
        <p:spPr>
          <a:xfrm>
            <a:off x="437205" y="4564751"/>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0" name="Google Shape;90;p16"/>
          <p:cNvSpPr txBox="1"/>
          <p:nvPr/>
        </p:nvSpPr>
        <p:spPr>
          <a:xfrm>
            <a:off x="446720" y="367611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1" name="Google Shape;91;p16"/>
          <p:cNvSpPr/>
          <p:nvPr/>
        </p:nvSpPr>
        <p:spPr>
          <a:xfrm>
            <a:off x="3751768" y="329113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6"/>
          <p:cNvSpPr txBox="1"/>
          <p:nvPr/>
        </p:nvSpPr>
        <p:spPr>
          <a:xfrm>
            <a:off x="3458789" y="3829654"/>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3" name="Google Shape;93;p16"/>
          <p:cNvSpPr/>
          <p:nvPr/>
        </p:nvSpPr>
        <p:spPr>
          <a:xfrm>
            <a:off x="3749658" y="3838048"/>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16"/>
          <p:cNvSpPr txBox="1"/>
          <p:nvPr/>
        </p:nvSpPr>
        <p:spPr>
          <a:xfrm>
            <a:off x="4566100"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November 26</a:t>
            </a:r>
            <a:endParaRPr sz="1000">
              <a:solidFill>
                <a:schemeClr val="dk1"/>
              </a:solidFill>
              <a:latin typeface="Calibri"/>
              <a:ea typeface="Calibri"/>
              <a:cs typeface="Calibri"/>
              <a:sym typeface="Calibri"/>
            </a:endParaRPr>
          </a:p>
        </p:txBody>
      </p:sp>
      <p:sp>
        <p:nvSpPr>
          <p:cNvPr id="95" name="Google Shape;95;p16"/>
          <p:cNvSpPr/>
          <p:nvPr/>
        </p:nvSpPr>
        <p:spPr>
          <a:xfrm>
            <a:off x="3751782" y="2209622"/>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16"/>
          <p:cNvSpPr/>
          <p:nvPr/>
        </p:nvSpPr>
        <p:spPr>
          <a:xfrm>
            <a:off x="3750579" y="129278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6"/>
          <p:cNvSpPr txBox="1"/>
          <p:nvPr/>
        </p:nvSpPr>
        <p:spPr>
          <a:xfrm>
            <a:off x="3458789" y="489887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98" name="Google Shape;98;p16"/>
          <p:cNvSpPr/>
          <p:nvPr/>
        </p:nvSpPr>
        <p:spPr>
          <a:xfrm>
            <a:off x="3749658" y="490727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p:nvPr/>
        </p:nvSpPr>
        <p:spPr>
          <a:xfrm>
            <a:off x="3748357" y="91787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txBox="1"/>
          <p:nvPr/>
        </p:nvSpPr>
        <p:spPr>
          <a:xfrm flipH="1">
            <a:off x="3679393" y="146146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1" name="Google Shape;101;p16"/>
          <p:cNvSpPr txBox="1"/>
          <p:nvPr/>
        </p:nvSpPr>
        <p:spPr>
          <a:xfrm flipH="1">
            <a:off x="3691285" y="256113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2" name="Google Shape;102;p16"/>
          <p:cNvSpPr/>
          <p:nvPr/>
        </p:nvSpPr>
        <p:spPr>
          <a:xfrm>
            <a:off x="3750579" y="16651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3750579" y="184958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p:nvPr/>
        </p:nvSpPr>
        <p:spPr>
          <a:xfrm>
            <a:off x="3750579" y="237848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6"/>
          <p:cNvSpPr/>
          <p:nvPr/>
        </p:nvSpPr>
        <p:spPr>
          <a:xfrm>
            <a:off x="598073" y="187530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16"/>
          <p:cNvSpPr txBox="1"/>
          <p:nvPr/>
        </p:nvSpPr>
        <p:spPr>
          <a:xfrm flipH="1">
            <a:off x="532333" y="94304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07" name="Google Shape;107;p16"/>
          <p:cNvSpPr/>
          <p:nvPr/>
        </p:nvSpPr>
        <p:spPr>
          <a:xfrm>
            <a:off x="596204" y="2037155"/>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6"/>
          <p:cNvSpPr/>
          <p:nvPr/>
        </p:nvSpPr>
        <p:spPr>
          <a:xfrm>
            <a:off x="596204" y="221292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594433" y="2577276"/>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p:nvPr/>
        </p:nvSpPr>
        <p:spPr>
          <a:xfrm>
            <a:off x="594433" y="312100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6"/>
          <p:cNvSpPr txBox="1"/>
          <p:nvPr/>
        </p:nvSpPr>
        <p:spPr>
          <a:xfrm>
            <a:off x="446720" y="4016786"/>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2" name="Google Shape;112;p16"/>
          <p:cNvSpPr txBox="1"/>
          <p:nvPr/>
        </p:nvSpPr>
        <p:spPr>
          <a:xfrm flipH="1">
            <a:off x="532333" y="4918816"/>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13" name="Google Shape;113;p16"/>
          <p:cNvSpPr txBox="1"/>
          <p:nvPr/>
        </p:nvSpPr>
        <p:spPr>
          <a:xfrm>
            <a:off x="304271" y="438142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4" name="Google Shape;114;p16"/>
          <p:cNvSpPr/>
          <p:nvPr/>
        </p:nvSpPr>
        <p:spPr>
          <a:xfrm>
            <a:off x="603537" y="438867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p:nvPr/>
        </p:nvSpPr>
        <p:spPr>
          <a:xfrm>
            <a:off x="594433" y="329327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16"/>
          <p:cNvSpPr/>
          <p:nvPr/>
        </p:nvSpPr>
        <p:spPr>
          <a:xfrm>
            <a:off x="594433" y="292959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16"/>
          <p:cNvSpPr/>
          <p:nvPr/>
        </p:nvSpPr>
        <p:spPr>
          <a:xfrm>
            <a:off x="3754343" y="457216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18" name="Google Shape;118;p16"/>
          <p:cNvGraphicFramePr/>
          <p:nvPr/>
        </p:nvGraphicFramePr>
        <p:xfrm>
          <a:off x="3887476" y="549725"/>
          <a:ext cx="3000000" cy="3000000"/>
        </p:xfrm>
        <a:graphic>
          <a:graphicData uri="http://schemas.openxmlformats.org/drawingml/2006/table">
            <a:tbl>
              <a:tblPr>
                <a:noFill/>
                <a:tableStyleId>{BDB3BE3B-BB2A-4B15-9F26-9AF589F24190}</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167450">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1535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qwen3-235b-a22b-instruct-2507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deepseek-v3.2-exp</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claude-sonnet-4-20250514-thinking-32k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674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kimi-k2-0905-preview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graphicFrame>
        <p:nvGraphicFramePr>
          <p:cNvPr id="119" name="Google Shape;119;p16"/>
          <p:cNvGraphicFramePr/>
          <p:nvPr/>
        </p:nvGraphicFramePr>
        <p:xfrm>
          <a:off x="731323" y="558472"/>
          <a:ext cx="3000000" cy="3000000"/>
        </p:xfrm>
        <a:graphic>
          <a:graphicData uri="http://schemas.openxmlformats.org/drawingml/2006/table">
            <a:tbl>
              <a:tblPr>
                <a:noFill/>
                <a:tableStyleId>{BDB3BE3B-BB2A-4B15-9F26-9AF589F24190}</a:tableStyleId>
              </a:tblPr>
              <a:tblGrid>
                <a:gridCol w="1800225">
                  <a:extLst>
                    <a:ext uri="{9D8B030D-6E8A-4147-A177-3AD203B41FA5}">
                      <a16:colId xmlns:a16="http://schemas.microsoft.com/office/drawing/2014/main" val="20000"/>
                    </a:ext>
                  </a:extLst>
                </a:gridCol>
                <a:gridCol w="295275">
                  <a:extLst>
                    <a:ext uri="{9D8B030D-6E8A-4147-A177-3AD203B41FA5}">
                      <a16:colId xmlns:a16="http://schemas.microsoft.com/office/drawing/2014/main" val="20001"/>
                    </a:ext>
                  </a:extLst>
                </a:gridCol>
              </a:tblGrid>
              <a:tr h="110425">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8">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577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7">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577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57750">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glm-4.6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gpt-5-chat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deepseek-v3.2-exp</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1042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grok-4-1-fast-reasoning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1422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bl>
          </a:graphicData>
        </a:graphic>
      </p:graphicFrame>
      <p:sp>
        <p:nvSpPr>
          <p:cNvPr id="120" name="Google Shape;120;p16"/>
          <p:cNvSpPr txBox="1"/>
          <p:nvPr/>
        </p:nvSpPr>
        <p:spPr>
          <a:xfrm flipH="1">
            <a:off x="532333" y="1278520"/>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121" name="Google Shape;121;p16"/>
          <p:cNvSpPr/>
          <p:nvPr/>
        </p:nvSpPr>
        <p:spPr>
          <a:xfrm>
            <a:off x="595461" y="110802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p:nvPr/>
        </p:nvSpPr>
        <p:spPr>
          <a:xfrm>
            <a:off x="596204" y="239599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16"/>
          <p:cNvSpPr/>
          <p:nvPr/>
        </p:nvSpPr>
        <p:spPr>
          <a:xfrm>
            <a:off x="596204" y="27667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p:nvPr/>
        </p:nvSpPr>
        <p:spPr>
          <a:xfrm>
            <a:off x="594433" y="34661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txBox="1"/>
          <p:nvPr/>
        </p:nvSpPr>
        <p:spPr>
          <a:xfrm>
            <a:off x="304271" y="382757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6" name="Google Shape;126;p16"/>
          <p:cNvSpPr/>
          <p:nvPr/>
        </p:nvSpPr>
        <p:spPr>
          <a:xfrm>
            <a:off x="603537" y="383482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p:nvPr/>
        </p:nvSpPr>
        <p:spPr>
          <a:xfrm>
            <a:off x="596204" y="47479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16"/>
          <p:cNvSpPr/>
          <p:nvPr/>
        </p:nvSpPr>
        <p:spPr>
          <a:xfrm>
            <a:off x="3750579" y="201221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p:nvPr/>
        </p:nvSpPr>
        <p:spPr>
          <a:xfrm>
            <a:off x="3751782" y="2743022"/>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txBox="1"/>
          <p:nvPr/>
        </p:nvSpPr>
        <p:spPr>
          <a:xfrm>
            <a:off x="3587049" y="3446960"/>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1" name="Google Shape;131;p16"/>
          <p:cNvSpPr txBox="1"/>
          <p:nvPr/>
        </p:nvSpPr>
        <p:spPr>
          <a:xfrm>
            <a:off x="3458789" y="400250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2" name="Google Shape;132;p16"/>
          <p:cNvSpPr/>
          <p:nvPr/>
        </p:nvSpPr>
        <p:spPr>
          <a:xfrm>
            <a:off x="3749658" y="401089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6"/>
          <p:cNvSpPr txBox="1"/>
          <p:nvPr/>
        </p:nvSpPr>
        <p:spPr>
          <a:xfrm>
            <a:off x="3458789" y="4185582"/>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4" name="Google Shape;134;p16"/>
          <p:cNvSpPr/>
          <p:nvPr/>
        </p:nvSpPr>
        <p:spPr>
          <a:xfrm>
            <a:off x="3749658" y="4193976"/>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16"/>
          <p:cNvSpPr/>
          <p:nvPr/>
        </p:nvSpPr>
        <p:spPr>
          <a:xfrm>
            <a:off x="3751768" y="473893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16"/>
          <p:cNvSpPr/>
          <p:nvPr/>
        </p:nvSpPr>
        <p:spPr>
          <a:xfrm>
            <a:off x="3748357" y="4377553"/>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7"/>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Claude Opus 4.5</a:t>
            </a:r>
            <a:endParaRPr sz="2000" b="1" i="0" u="none" strike="noStrike" cap="none">
              <a:solidFill>
                <a:schemeClr val="dk1"/>
              </a:solidFill>
              <a:latin typeface="Calibri"/>
              <a:ea typeface="Calibri"/>
              <a:cs typeface="Calibri"/>
              <a:sym typeface="Calibri"/>
            </a:endParaRPr>
          </a:p>
        </p:txBody>
      </p:sp>
      <p:sp>
        <p:nvSpPr>
          <p:cNvPr id="142" name="Google Shape;142;p17"/>
          <p:cNvSpPr txBox="1"/>
          <p:nvPr/>
        </p:nvSpPr>
        <p:spPr>
          <a:xfrm>
            <a:off x="55075" y="387790"/>
            <a:ext cx="44445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Anthropic released Claude Opus 4.5</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https://www.youtube.com/watch?v=VhuUcVhwqi8</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https://www.anthropic.com/news/claude-opus-4-5</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80.9% on SWE-bench Verified. Compare:</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OpenAI's GPT-5.1-Codex-Max (77.9%)</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Anthropic Sonnet 4.5 (77.2%)</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Google's Gemini 3 Pro (76.2%)</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59.3% on Terminal-bench 2.0 - compare  54.2% Gemini 3 Pro</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Pro still leads in: GPQA Diamond, MMLU, ARC-AGI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Opus 4.5 scored higher than human candidates on hiring exam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is using approx 2x less tokens than Sonnet while achieving higher accuracy.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Pricing: $5/$25 (in/out per 1M tokens). This is 50-100% more expensive than Gemini 3 Pro ($2/$12 for standard usage, $4/$18 for contexts over 200K tokens) but represents a 67% reduction from the previous Opus model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Addressing context window consumption by MCP tool definitions: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Tool Search Tool - Allows Claude to search for needed tools rather than loading all tools into context, reducing usage from 40% to just 5% of the context window</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Programmatic tool executing in safe environments to minimize context impact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Tool use examples - standardized demonstrations for effective tool usage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Early users calling the model the "best coding model"</a:t>
            </a:r>
            <a:endParaRPr sz="1100">
              <a:solidFill>
                <a:schemeClr val="dk1"/>
              </a:solidFill>
              <a:latin typeface="Calibri"/>
              <a:ea typeface="Calibri"/>
              <a:cs typeface="Calibri"/>
              <a:sym typeface="Calibri"/>
            </a:endParaRPr>
          </a:p>
        </p:txBody>
      </p:sp>
      <p:pic>
        <p:nvPicPr>
          <p:cNvPr id="143" name="Google Shape;143;p17"/>
          <p:cNvPicPr preferRelativeResize="0"/>
          <p:nvPr/>
        </p:nvPicPr>
        <p:blipFill>
          <a:blip r:embed="rId5">
            <a:alphaModFix/>
          </a:blip>
          <a:stretch>
            <a:fillRect/>
          </a:stretch>
        </p:blipFill>
        <p:spPr>
          <a:xfrm>
            <a:off x="4740750" y="2325950"/>
            <a:ext cx="2857500" cy="1600200"/>
          </a:xfrm>
          <a:prstGeom prst="rect">
            <a:avLst/>
          </a:prstGeom>
          <a:noFill/>
          <a:ln w="9525" cap="flat" cmpd="sng">
            <a:solidFill>
              <a:srgbClr val="FF0000"/>
            </a:solidFill>
            <a:prstDash val="solid"/>
            <a:round/>
            <a:headEnd type="none" w="sm" len="sm"/>
            <a:tailEnd type="none" w="sm" len="sm"/>
          </a:ln>
        </p:spPr>
      </p:pic>
      <p:pic>
        <p:nvPicPr>
          <p:cNvPr id="144" name="Google Shape;144;p17"/>
          <p:cNvPicPr preferRelativeResize="0"/>
          <p:nvPr/>
        </p:nvPicPr>
        <p:blipFill>
          <a:blip r:embed="rId6">
            <a:alphaModFix/>
          </a:blip>
          <a:stretch>
            <a:fillRect/>
          </a:stretch>
        </p:blipFill>
        <p:spPr>
          <a:xfrm>
            <a:off x="4740750" y="387800"/>
            <a:ext cx="2857500" cy="1600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8"/>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NotebookLM - Infographics &amp; Slide Decks</a:t>
            </a:r>
            <a:endParaRPr sz="2000" b="1" i="0" u="none" strike="noStrike" cap="none">
              <a:solidFill>
                <a:schemeClr val="dk1"/>
              </a:solidFill>
              <a:latin typeface="Calibri"/>
              <a:ea typeface="Calibri"/>
              <a:cs typeface="Calibri"/>
              <a:sym typeface="Calibri"/>
            </a:endParaRPr>
          </a:p>
        </p:txBody>
      </p:sp>
      <p:sp>
        <p:nvSpPr>
          <p:cNvPr id="150" name="Google Shape;150;p18"/>
          <p:cNvSpPr txBox="1"/>
          <p:nvPr/>
        </p:nvSpPr>
        <p:spPr>
          <a:xfrm>
            <a:off x="55075" y="416575"/>
            <a:ext cx="44445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 Notebook LM New Visual Features: Infographics &amp; Slide Decks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https://www.youtube.com/watch?v=63XNYlMrlJY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Infographics - powered by Nano Banana Pro, transforms documents into visual summaries with charts, diagrams, and relationship maps. Connected to Google's knowledge base, it ensures context-aware accuracy. Use cases include research summaries, concept relationships, and shareable infographics.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Slide Decks - converts research into full presentation decks with customizable content based on audience (beginners, executives, technical experts). The AI auto-generates diagrams, icons, and backgrounds, with PDF export capabilities.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Key benefits: Speed (create presentation in minutes vs. hours) and Quality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Prompt Tips: Be specific about structure (number of slides, content types); Define your audience clearly; Request specific visual elements (icons, layouts, metrics)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NotebookLM now bridges research, visualization, and presentation - saving hours of manual work while maintaining professional quality.</a:t>
            </a:r>
            <a:endParaRPr sz="1100">
              <a:solidFill>
                <a:schemeClr val="dk1"/>
              </a:solidFill>
              <a:latin typeface="Calibri"/>
              <a:ea typeface="Calibri"/>
              <a:cs typeface="Calibri"/>
              <a:sym typeface="Calibri"/>
            </a:endParaRPr>
          </a:p>
        </p:txBody>
      </p:sp>
      <p:pic>
        <p:nvPicPr>
          <p:cNvPr id="151" name="Google Shape;151;p1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586875" y="737750"/>
            <a:ext cx="4488676" cy="1744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9"/>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Ilya Sutskever on the Age of Research</a:t>
            </a:r>
            <a:endParaRPr sz="2000" b="1" i="0" u="none" strike="noStrike" cap="none">
              <a:solidFill>
                <a:schemeClr val="dk1"/>
              </a:solidFill>
              <a:latin typeface="Calibri"/>
              <a:ea typeface="Calibri"/>
              <a:cs typeface="Calibri"/>
              <a:sym typeface="Calibri"/>
            </a:endParaRPr>
          </a:p>
        </p:txBody>
      </p:sp>
      <p:sp>
        <p:nvSpPr>
          <p:cNvPr id="157" name="Google Shape;157;p19"/>
          <p:cNvSpPr txBox="1"/>
          <p:nvPr/>
        </p:nvSpPr>
        <p:spPr>
          <a:xfrm>
            <a:off x="55075" y="387790"/>
            <a:ext cx="44445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Ilya Sutskever on the Age of Research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https://www.youtube.com/watch?v=aR20FWCCjAs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Eval-Reality Gap - why models ace benchmarks but show limited real-world impact.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Ilya's explanation: RL training has become too focused on specific evals. He compares it to a student who practices 10,000 hours of competitive programming versus one with natural aptitude who practices 100. The latter generalizes better.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From Scaling to Research:</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We've transitioned from the "age of scaling" (2020-2025) back to an "age of research." Pre-training data is becoming finite, and there are now "more companies than ideas by quite a bit." New breakthroughs require genuine research, not just bigger computers.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Generalization Problem:</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The core challenge: models generalize dramatically worse than humans. A child learns to drive in 10 hours with far less data than any model, yet rarely makes AI-like errors. Sutskever believes humans have "better machine learning, period" - evidenced by our ability to excel at math and coding, domains too recent for evolutionary priors. He declines specifics, citing competitive concerns.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Emotions as Value Functions: Sutskever discusses someone who lost emotional processing due to brain damage - remaining cognitively functional but unable to make simple decisions. This suggests emotions serve as evolution-tuned value functions, mysteriously encoding high-level social desires into our genes.</a:t>
            </a:r>
            <a:endParaRPr sz="1100">
              <a:solidFill>
                <a:schemeClr val="dk1"/>
              </a:solidFill>
              <a:latin typeface="Calibri"/>
              <a:ea typeface="Calibri"/>
              <a:cs typeface="Calibri"/>
              <a:sym typeface="Calibri"/>
            </a:endParaRPr>
          </a:p>
        </p:txBody>
      </p:sp>
      <p:sp>
        <p:nvSpPr>
          <p:cNvPr id="158" name="Google Shape;158;p19"/>
          <p:cNvSpPr txBox="1"/>
          <p:nvPr/>
        </p:nvSpPr>
        <p:spPr>
          <a:xfrm>
            <a:off x="4604325" y="387790"/>
            <a:ext cx="44445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SSI's Vision: Safe Superintelligence Inc. is an "age of research company" pursuing different technical approaches around generalization.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Sutskever's vision for superintelligence: not a finished omniscient mind, but a system with human-like learning efficiency deployed to learn on the job—instances specializing across the economy, merging learnings.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Alignment - As AI becomes visibly powerful, Sutskever predicts companies will naturally converge on safety. He advocates for AI that "cares about sentient life" broadly. His reluctant long-term solution: humans becoming "part-AI" through neural interfaces to remain genuine participants.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 estimates 5-20 years to human-like learning systems.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Sutskever describes seeking "beauty, simplicity, elegance, correct inspiration from the brain" - simultaneously. This aesthetic provides the "top-down belief" that sustains you through failed experiments.</a:t>
            </a:r>
            <a:endParaRPr sz="1100">
              <a:solidFill>
                <a:schemeClr val="dk1"/>
              </a:solidFill>
              <a:latin typeface="Calibri"/>
              <a:ea typeface="Calibri"/>
              <a:cs typeface="Calibri"/>
              <a:sym typeface="Calibri"/>
            </a:endParaRPr>
          </a:p>
        </p:txBody>
      </p:sp>
      <p:pic>
        <p:nvPicPr>
          <p:cNvPr id="159" name="Google Shape;159;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04325" y="2707748"/>
            <a:ext cx="3050623" cy="17103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148651" y="61930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5.76K subscribers, 255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Subscribe to this channel</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65" name="Google Shape;165;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227443" y="79125"/>
            <a:ext cx="3828725" cy="49852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1"/>
          <p:cNvSpPr txBox="1"/>
          <p:nvPr/>
        </p:nvSpPr>
        <p:spPr>
          <a:xfrm>
            <a:off x="55075" y="0"/>
            <a:ext cx="2931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LingGuang's Viral Success</a:t>
            </a:r>
            <a:endParaRPr sz="2000" b="1" i="0" u="none" strike="noStrike" cap="none">
              <a:solidFill>
                <a:schemeClr val="dk1"/>
              </a:solidFill>
              <a:latin typeface="Calibri"/>
              <a:ea typeface="Calibri"/>
              <a:cs typeface="Calibri"/>
              <a:sym typeface="Calibri"/>
            </a:endParaRPr>
          </a:p>
        </p:txBody>
      </p:sp>
      <p:sp>
        <p:nvSpPr>
          <p:cNvPr id="171" name="Google Shape;171;p21"/>
          <p:cNvSpPr txBox="1"/>
          <p:nvPr/>
        </p:nvSpPr>
        <p:spPr>
          <a:xfrm>
            <a:off x="55075" y="370685"/>
            <a:ext cx="5078100" cy="171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LingGuang - Ant Group's multimodal AI assistant from China</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https://www.youtube.com/watch?v=ocjhUqO428Q</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2 Mln downloads in 6 days, beating ChatGPT and Sora's early adoption rates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app's "Flash Program" feature generates working mini-apps in 30 seconds from simple prompts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LingGuang delivers code-driven outputs including 3D models, animations, interactive charts, and maps rather than just text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Its "AGI Camera" provides real-time scene understanding and instant visual analysis.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app is now available globally at </a:t>
            </a:r>
            <a:r>
              <a:rPr lang="en" sz="1100" u="sng">
                <a:solidFill>
                  <a:schemeClr val="hlink"/>
                </a:solidFill>
                <a:latin typeface="Calibri"/>
                <a:ea typeface="Calibri"/>
                <a:cs typeface="Calibri"/>
                <a:sym typeface="Calibri"/>
                <a:hlinkClick r:id="rId4"/>
              </a:rPr>
              <a:t>linguang.com</a:t>
            </a:r>
            <a:r>
              <a:rPr lang="en" sz="1100">
                <a:solidFill>
                  <a:schemeClr val="dk1"/>
                </a:solidFill>
                <a:latin typeface="Calibri"/>
                <a:ea typeface="Calibri"/>
                <a:cs typeface="Calibri"/>
                <a:sym typeface="Calibri"/>
              </a:rPr>
              <a:t> (actually the site is not reachable at the moment)</a:t>
            </a:r>
            <a:endParaRPr sz="1100">
              <a:solidFill>
                <a:schemeClr val="dk1"/>
              </a:solidFill>
              <a:latin typeface="Calibri"/>
              <a:ea typeface="Calibri"/>
              <a:cs typeface="Calibri"/>
              <a:sym typeface="Calibri"/>
            </a:endParaRPr>
          </a:p>
        </p:txBody>
      </p:sp>
      <p:pic>
        <p:nvPicPr>
          <p:cNvPr id="172" name="Google Shape;172;p21"/>
          <p:cNvPicPr preferRelativeResize="0"/>
          <p:nvPr/>
        </p:nvPicPr>
        <p:blipFill>
          <a:blip r:embed="rId5">
            <a:alphaModFix/>
          </a:blip>
          <a:stretch>
            <a:fillRect/>
          </a:stretch>
        </p:blipFill>
        <p:spPr>
          <a:xfrm>
            <a:off x="5409975" y="443275"/>
            <a:ext cx="2847975" cy="1600200"/>
          </a:xfrm>
          <a:prstGeom prst="rect">
            <a:avLst/>
          </a:prstGeom>
          <a:noFill/>
          <a:ln w="9525" cap="flat" cmpd="sng">
            <a:solidFill>
              <a:srgbClr val="FF0000"/>
            </a:solidFill>
            <a:prstDash val="solid"/>
            <a:round/>
            <a:headEnd type="none" w="sm" len="sm"/>
            <a:tailEnd type="none" w="sm" len="sm"/>
          </a:ln>
        </p:spPr>
      </p:pic>
      <p:sp>
        <p:nvSpPr>
          <p:cNvPr id="173" name="Google Shape;173;p21"/>
          <p:cNvSpPr txBox="1"/>
          <p:nvPr/>
        </p:nvSpPr>
        <p:spPr>
          <a:xfrm>
            <a:off x="55075" y="2126835"/>
            <a:ext cx="50781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Greptile: AI Self-Healing Code Review Agent</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https://www.youtube.com/watch?v=tlZNo3g0urY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Greptile is an AI coding agent that reviews pull requests with complete codebase context by building a detailed graph of all functions, classes, files, and their relationships. Unlike traditional tools that only analyze code diffs, it understands how changes affect the entire system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tool automatically catches critical bugs like SQL injection, XSS vulnerabilities, and memory leaks while providing confidence scores (1-5) to indicate merge safety. It integrates with GitHub and GitLab, learns your team's coding practices from PR comments and reactions, and generates PR summaries with sequence diagrams. Teams can chat with their repository for code understanding and add custom rules for context-specific reviews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Greptile helps teams merge PRs up to 4X faster and catch 3X more bugs, supporting 30+ programming languages with SOC2 compliance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7"/>
              </a:rPr>
              <a:t>https://www.greptile.com/what-is-ai-code-review</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8"/>
              </a:rPr>
              <a:t>https://www.greptile.com</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9"/>
              </a:rPr>
              <a:t>https://www.greptile.com/docs/code-review-bot/key-features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74" name="Google Shape;174;p21"/>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409975" y="2126825"/>
            <a:ext cx="2847975" cy="142398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2"/>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- 1</a:t>
            </a:r>
            <a:endParaRPr sz="2000" b="1" i="0" u="none" strike="noStrike" cap="none">
              <a:solidFill>
                <a:schemeClr val="dk1"/>
              </a:solidFill>
              <a:latin typeface="Calibri"/>
              <a:ea typeface="Calibri"/>
              <a:cs typeface="Calibri"/>
              <a:sym typeface="Calibri"/>
            </a:endParaRPr>
          </a:p>
        </p:txBody>
      </p:sp>
      <p:sp>
        <p:nvSpPr>
          <p:cNvPr id="180" name="Google Shape;180;p22"/>
          <p:cNvSpPr txBox="1"/>
          <p:nvPr/>
        </p:nvSpPr>
        <p:spPr>
          <a:xfrm>
            <a:off x="55075" y="443275"/>
            <a:ext cx="44445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Suno AI Music Raises $250M</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Suno closed a $250M Series C led by Menlo Ventures, valuing the company at $2.45B. The funding will advance tools for music pros and casual creators. Suno plans to boost social features that let people connect through music. The company says it’s building a community where creators and listeners participate together.</a:t>
            </a:r>
            <a:endParaRPr sz="1100">
              <a:solidFill>
                <a:schemeClr val="dk1"/>
              </a:solidFill>
              <a:latin typeface="Calibri"/>
              <a:ea typeface="Calibri"/>
              <a:cs typeface="Calibri"/>
              <a:sym typeface="Calibri"/>
            </a:endParaRPr>
          </a:p>
        </p:txBody>
      </p:sp>
      <p:sp>
        <p:nvSpPr>
          <p:cNvPr id="181" name="Google Shape;181;p22"/>
          <p:cNvSpPr txBox="1"/>
          <p:nvPr/>
        </p:nvSpPr>
        <p:spPr>
          <a:xfrm>
            <a:off x="55075" y="1536050"/>
            <a:ext cx="4444500" cy="171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group chat feature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Up to 20 users can simultaneously collaborate with each other and with ChatGPT in the same thread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Shared chats are accessed through invite links, with ChatGPT gauging conversation flow and interjecting when appropriate or directly mentioned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Rate limits apply to AI responses rather than human messages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usage counting against the user who triggered the model reply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Privacy features isolate group sessions from individual memory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ChatGPT doesn't retain info from collaborative threads or applying personal context</a:t>
            </a:r>
            <a:endParaRPr sz="1100">
              <a:solidFill>
                <a:schemeClr val="dk1"/>
              </a:solidFill>
              <a:latin typeface="Calibri"/>
              <a:ea typeface="Calibri"/>
              <a:cs typeface="Calibri"/>
              <a:sym typeface="Calibri"/>
            </a:endParaRPr>
          </a:p>
        </p:txBody>
      </p:sp>
      <p:sp>
        <p:nvSpPr>
          <p:cNvPr id="182" name="Google Shape;182;p22"/>
          <p:cNvSpPr txBox="1"/>
          <p:nvPr/>
        </p:nvSpPr>
        <p:spPr>
          <a:xfrm>
            <a:off x="55075" y="3322125"/>
            <a:ext cx="4444500" cy="69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Lovable hits $200M ARR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Swedish AI coding startup Lovable doubled its annual recurring revenue to $200 million in four months. CEO Anton Osika credits the company's European base for its rapid growth, defying advice to</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3"/>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- 2</a:t>
            </a:r>
            <a:endParaRPr sz="2000" b="1" i="0" u="none" strike="noStrike" cap="none">
              <a:solidFill>
                <a:schemeClr val="dk1"/>
              </a:solidFill>
              <a:latin typeface="Calibri"/>
              <a:ea typeface="Calibri"/>
              <a:cs typeface="Calibri"/>
              <a:sym typeface="Calibri"/>
            </a:endParaRPr>
          </a:p>
        </p:txBody>
      </p:sp>
      <p:sp>
        <p:nvSpPr>
          <p:cNvPr id="188" name="Google Shape;188;p23"/>
          <p:cNvSpPr txBox="1"/>
          <p:nvPr/>
        </p:nvSpPr>
        <p:spPr>
          <a:xfrm>
            <a:off x="55075" y="1908792"/>
            <a:ext cx="44445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Google's Willow quantum processor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achieved the seemingly impossible: solving an extraordinarily complex computational problem in under five minutes—a feat that would require the world's most advanced supercomputer approximately 10 septillion years to complete (10²⁵).</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https://x.com/Rainmaker1973/status/1991186630133125405</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89" name="Google Shape;189;p23"/>
          <p:cNvSpPr txBox="1"/>
          <p:nvPr/>
        </p:nvSpPr>
        <p:spPr>
          <a:xfrm>
            <a:off x="55075" y="336639"/>
            <a:ext cx="4444500" cy="148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Federated Learning</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Instead of aggregating data on a central server, dispatch a model to an end device.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Train the model on the user’s private data on their device.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Fetch the trained model back to the central server.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 Aggregate all models obtained from all end devices to form a complete model.</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https://x.com/_avichawla/status/1991393941493805096</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https://www.youtube.com/watch?v=zqv1eELa7fs</a:t>
            </a:r>
            <a:r>
              <a:rPr lang="en" sz="900">
                <a:solidFill>
                  <a:schemeClr val="dk1"/>
                </a:solidFill>
                <a:latin typeface="Calibri"/>
                <a:ea typeface="Calibri"/>
                <a:cs typeface="Calibri"/>
                <a:sym typeface="Calibri"/>
              </a:rPr>
              <a:t> - tutorial </a:t>
            </a:r>
            <a:endParaRPr sz="900">
              <a:solidFill>
                <a:schemeClr val="dk1"/>
              </a:solidFill>
              <a:latin typeface="Calibri"/>
              <a:ea typeface="Calibri"/>
              <a:cs typeface="Calibri"/>
              <a:sym typeface="Calibri"/>
            </a:endParaRPr>
          </a:p>
        </p:txBody>
      </p:sp>
      <p:sp>
        <p:nvSpPr>
          <p:cNvPr id="190" name="Google Shape;190;p23"/>
          <p:cNvSpPr txBox="1"/>
          <p:nvPr/>
        </p:nvSpPr>
        <p:spPr>
          <a:xfrm>
            <a:off x="55075" y="2973045"/>
            <a:ext cx="44445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RAG without vectors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https://teletype.in/@mrvladd/W5E88Tzx1dv</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191" name="Google Shape;191;p23"/>
          <p:cNvSpPr txBox="1"/>
          <p:nvPr/>
        </p:nvSpPr>
        <p:spPr>
          <a:xfrm>
            <a:off x="55075" y="3372980"/>
            <a:ext cx="4444500" cy="60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AI model for medical imaging</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from UC Berkeley and UCSF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https://cdss.berkeley.edu/news/uc-berkeley-and-ucsf-researchers-release-top-performing-ai-model-medical-imaging</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192" name="Google Shape;192;p23"/>
          <p:cNvSpPr txBox="1"/>
          <p:nvPr/>
        </p:nvSpPr>
        <p:spPr>
          <a:xfrm>
            <a:off x="55075" y="4062780"/>
            <a:ext cx="4444500" cy="18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Kimi K2 Thinking in Perplexity</a:t>
            </a:r>
            <a:endParaRPr sz="1100" b="1">
              <a:solidFill>
                <a:srgbClr val="FF0000"/>
              </a:solidFill>
              <a:latin typeface="Calibri"/>
              <a:ea typeface="Calibri"/>
              <a:cs typeface="Calibri"/>
              <a:sym typeface="Calibri"/>
            </a:endParaRPr>
          </a:p>
        </p:txBody>
      </p:sp>
      <p:pic>
        <p:nvPicPr>
          <p:cNvPr id="193" name="Google Shape;193;p2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04225" y="2764975"/>
            <a:ext cx="4339624" cy="22603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4"/>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- 3</a:t>
            </a:r>
            <a:endParaRPr sz="2000" b="1" i="0" u="none" strike="noStrike" cap="none">
              <a:solidFill>
                <a:schemeClr val="dk1"/>
              </a:solidFill>
              <a:latin typeface="Calibri"/>
              <a:ea typeface="Calibri"/>
              <a:cs typeface="Calibri"/>
              <a:sym typeface="Calibri"/>
            </a:endParaRPr>
          </a:p>
        </p:txBody>
      </p:sp>
      <p:sp>
        <p:nvSpPr>
          <p:cNvPr id="199" name="Google Shape;199;p24"/>
          <p:cNvSpPr txBox="1"/>
          <p:nvPr/>
        </p:nvSpPr>
        <p:spPr>
          <a:xfrm>
            <a:off x="55075" y="336639"/>
            <a:ext cx="4444500" cy="120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Zor (Zoer) - a full‑stack AI engineer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Generate complete, production‑ready web apps end‑to‑end from a natural‑language prompt.​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Combining the roles of Lovable, Supabase, Netlify, and AI image services into a single environment that designs, wires, deploys, and hosts full applications.​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https://www.youtube.com/watch?v=mJxCdZB4RRY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sp>
        <p:nvSpPr>
          <p:cNvPr id="200" name="Google Shape;200;p24"/>
          <p:cNvSpPr txBox="1"/>
          <p:nvPr/>
        </p:nvSpPr>
        <p:spPr>
          <a:xfrm>
            <a:off x="55075" y="1620289"/>
            <a:ext cx="4444500" cy="323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Creating AI Videos - 6 methods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https://www.youtube.com/watch?v=utnLVMzxX4U</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Text to Video - Describe setting, characters, and action sequences.</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Tools: Google Veo 3.1 (excellent for dialogue), Sora 2 (realistic), Clean 2.5.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Image to Video - Starts with reference images for consistent characters and styles. Supports time-stamped prompting and start/end frame controls. Tools: Google Veo 3.1, Clean 2.5 Turbo, Cling AI, Nano Banana.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Video to Video - Converts real footage into AI characters while preserving motion and dialogue. High control but potentially unstable backgrounds. Tools: One Animate, Luma Labs.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Lip Sync - Animates AI avatars from audio files with realistic expressions and gestures. Tools: Hun's Avatar 4, Dreamina's Omnihuman 1.5.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Ingredients to Video - Combines multiple images (characters, backgrounds) into one scene. Quick but less dynamic. Best do image generators first.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Chat to Edit - Modifies existing videos (weather, lighting, object removal). Tool: Runway ML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Key Tradeoffs: Text/image-to-video offers consistency; video-to-video provides control; ingredients-to-video is fast but stilted; editing can be inconsistent</a:t>
            </a:r>
            <a:endParaRPr sz="1100">
              <a:solidFill>
                <a:schemeClr val="dk1"/>
              </a:solidFill>
              <a:latin typeface="Calibri"/>
              <a:ea typeface="Calibri"/>
              <a:cs typeface="Calibri"/>
              <a:sym typeface="Calibri"/>
            </a:endParaRPr>
          </a:p>
        </p:txBody>
      </p:sp>
      <p:pic>
        <p:nvPicPr>
          <p:cNvPr id="201" name="Google Shape;201;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62200" y="1620299"/>
            <a:ext cx="1810625" cy="2051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5"/>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Abacus AI DeepAgent upgrade</a:t>
            </a:r>
            <a:endParaRPr sz="2000" b="1" i="0" u="none" strike="noStrike" cap="none">
              <a:solidFill>
                <a:schemeClr val="dk1"/>
              </a:solidFill>
              <a:latin typeface="Calibri"/>
              <a:ea typeface="Calibri"/>
              <a:cs typeface="Calibri"/>
              <a:sym typeface="Calibri"/>
            </a:endParaRPr>
          </a:p>
        </p:txBody>
      </p:sp>
      <p:sp>
        <p:nvSpPr>
          <p:cNvPr id="207" name="Google Shape;207;p25"/>
          <p:cNvSpPr txBox="1"/>
          <p:nvPr/>
        </p:nvSpPr>
        <p:spPr>
          <a:xfrm>
            <a:off x="55071" y="459330"/>
            <a:ext cx="4444500" cy="459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Abacus AI DeepAgent upgrade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Autonomously building complete web services in minutes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Handles every aspect of production including API contracts, schemas, business logic, third-party integrations like Stripe, deployment pipelines, logging, observability, versioning, and error handling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Development went from 6 months, $100K-s and full dev teams to 30 min prototyping. Some implementations completed in just 10 minutes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Deep Agent operates as a comprehensive back-end engineer, managing API design, logic wiring, integration setup, workflow construction, deployment, and maintenance while debugging and testing in real time through a virtual computer environment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platform enables practical applications across multiple domains. It can deploy stock insights APIs with live data feeds, create Telegram chatbots featuring long-term memory and persistent context, build invoice extraction systems that learn structure from examples, generate sentiment analysis endpoints for unstructured text processing, and develop resume review systems with integrated feedback mechanisms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advancement represents a fundamental shift from traditional coding assistants to autonomous systems that build, test, and maintain complete infrastructures end-to-end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Future development directions include expansion into physical systems control through embodied intelligence, self-improving platforms, and community-driven innovation through weekly build challenges with prizes for top projects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technology leverages leading LLM capabilities including Gemini 3 to deliver production-quality infrastructure and automated workflows.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https://deepagent.abacus.ai</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08" name="Google Shape;208;p25"/>
          <p:cNvPicPr preferRelativeResize="0"/>
          <p:nvPr/>
        </p:nvPicPr>
        <p:blipFill>
          <a:blip r:embed="rId4">
            <a:alphaModFix/>
          </a:blip>
          <a:stretch>
            <a:fillRect/>
          </a:stretch>
        </p:blipFill>
        <p:spPr>
          <a:xfrm>
            <a:off x="4744000" y="857975"/>
            <a:ext cx="3028950" cy="1514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6"/>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- 4</a:t>
            </a:r>
            <a:endParaRPr sz="2000" b="1" i="0" u="none" strike="noStrike" cap="none">
              <a:solidFill>
                <a:schemeClr val="dk1"/>
              </a:solidFill>
              <a:latin typeface="Calibri"/>
              <a:ea typeface="Calibri"/>
              <a:cs typeface="Calibri"/>
              <a:sym typeface="Calibri"/>
            </a:endParaRPr>
          </a:p>
        </p:txBody>
      </p:sp>
      <p:sp>
        <p:nvSpPr>
          <p:cNvPr id="214" name="Google Shape;214;p26"/>
          <p:cNvSpPr txBox="1"/>
          <p:nvPr/>
        </p:nvSpPr>
        <p:spPr>
          <a:xfrm>
            <a:off x="55075" y="339569"/>
            <a:ext cx="44445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GPT-5.1-Codex-Max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Trained to operate across multiple context windows through "compaction", allowing it to work over millions of tokens and complete tasks spanning 24+ hours.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model achieves 77.9% on SWE-bench Verified while using 30% fewer thinking tokens than its predecessor.</a:t>
            </a:r>
            <a:endParaRPr sz="1100">
              <a:solidFill>
                <a:schemeClr val="dk1"/>
              </a:solidFill>
              <a:latin typeface="Calibri"/>
              <a:ea typeface="Calibri"/>
              <a:cs typeface="Calibri"/>
              <a:sym typeface="Calibri"/>
            </a:endParaRPr>
          </a:p>
        </p:txBody>
      </p:sp>
      <p:sp>
        <p:nvSpPr>
          <p:cNvPr id="215" name="Google Shape;215;p26"/>
          <p:cNvSpPr txBox="1"/>
          <p:nvPr/>
        </p:nvSpPr>
        <p:spPr>
          <a:xfrm>
            <a:off x="55075" y="1429728"/>
            <a:ext cx="44445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GPT-5.1 Pro</a:t>
            </a:r>
            <a:r>
              <a:rPr lang="en" sz="1100">
                <a:solidFill>
                  <a:schemeClr val="dk1"/>
                </a:solidFill>
                <a:latin typeface="Calibri"/>
                <a:ea typeface="Calibri"/>
                <a:cs typeface="Calibri"/>
                <a:sym typeface="Calibri"/>
              </a:rPr>
              <a:t> is a slow, heavy-weight reasoning model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can handle tough problems, follows instructions well without going off the rails, making it feel like a contract engineer working from a spec rather than an assistant. It lives in ChatGPT.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Gemini 3 is still better for most day-to-day work. However, GPT-5.1-Pro wins in deep thought, planning, and research.</a:t>
            </a:r>
            <a:endParaRPr sz="1100">
              <a:solidFill>
                <a:schemeClr val="dk1"/>
              </a:solidFill>
              <a:latin typeface="Calibri"/>
              <a:ea typeface="Calibri"/>
              <a:cs typeface="Calibri"/>
              <a:sym typeface="Calibri"/>
            </a:endParaRPr>
          </a:p>
        </p:txBody>
      </p:sp>
      <p:sp>
        <p:nvSpPr>
          <p:cNvPr id="216" name="Google Shape;216;p26"/>
          <p:cNvSpPr txBox="1"/>
          <p:nvPr/>
        </p:nvSpPr>
        <p:spPr>
          <a:xfrm>
            <a:off x="55075" y="2505331"/>
            <a:ext cx="4444500" cy="255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Meta SAM-3 Segment Anything Model 3</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Unified Detection, Segmentation &amp; Tracking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both images and videos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 Source, 848 Mln params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Reaching 75-80% of human-level performance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It processes images at approximately 30ms per frame on an H200 GPU while handling 100+ objects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SAM-3 is a foundation model designed for open-vocabulary, promptable segmentation. It can segment any concept described by text prompts, image examples, points, boxes, or masks without prior training on those specific categories. For example, you can ask it to find "yellow school bus" or "person wearing red hat". In contrast, YOLO models are optimized for real-time object detection and segmentation on predefined categories that the model was trained 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https://github.com/facebookresearch/sam3</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17" name="Google Shape;217;p26"/>
          <p:cNvPicPr preferRelativeResize="0"/>
          <p:nvPr/>
        </p:nvPicPr>
        <p:blipFill>
          <a:blip r:embed="rId4">
            <a:alphaModFix/>
          </a:blip>
          <a:stretch>
            <a:fillRect/>
          </a:stretch>
        </p:blipFill>
        <p:spPr>
          <a:xfrm>
            <a:off x="4721175" y="2610625"/>
            <a:ext cx="2867025" cy="15906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7"/>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- 5</a:t>
            </a:r>
            <a:endParaRPr sz="2000" b="1" i="0" u="none" strike="noStrike" cap="none">
              <a:solidFill>
                <a:schemeClr val="dk1"/>
              </a:solidFill>
              <a:latin typeface="Calibri"/>
              <a:ea typeface="Calibri"/>
              <a:cs typeface="Calibri"/>
              <a:sym typeface="Calibri"/>
            </a:endParaRPr>
          </a:p>
        </p:txBody>
      </p:sp>
      <p:sp>
        <p:nvSpPr>
          <p:cNvPr id="223" name="Google Shape;223;p27"/>
          <p:cNvSpPr txBox="1"/>
          <p:nvPr/>
        </p:nvSpPr>
        <p:spPr>
          <a:xfrm>
            <a:off x="55075" y="439206"/>
            <a:ext cx="4444500" cy="35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OpenAI Shopping Research in ChatGPT</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Does the research to help you find the right products</a:t>
            </a:r>
            <a:endParaRPr sz="1100">
              <a:solidFill>
                <a:schemeClr val="dk1"/>
              </a:solidFill>
              <a:latin typeface="Calibri"/>
              <a:ea typeface="Calibri"/>
              <a:cs typeface="Calibri"/>
              <a:sym typeface="Calibri"/>
            </a:endParaRPr>
          </a:p>
        </p:txBody>
      </p:sp>
      <p:sp>
        <p:nvSpPr>
          <p:cNvPr id="224" name="Google Shape;224;p27"/>
          <p:cNvSpPr txBox="1"/>
          <p:nvPr/>
        </p:nvSpPr>
        <p:spPr>
          <a:xfrm>
            <a:off x="55075" y="1012593"/>
            <a:ext cx="4444500" cy="323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Transformer Architecture Under Question</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https://www.youtube.com/watch?v=DtePicx_kFY</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Llion Jones, co-author of the foundational "Attention Is All You Need" paper, argues the AI industry is suffering from "success capture"—trapped in a local minimum where everyone tweaks transformers rather than discovering fundamentally new architectures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Models are "faking" intelligence by mimicking patterns without genuine conceptual understanding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Continuous Thought Machines (CTM, Sakana AI):)</a:t>
            </a:r>
            <a:endParaRPr sz="1100">
              <a:solidFill>
                <a:schemeClr val="dk1"/>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Sequential internal thought dimension - races paths sequentially rather than instantly predicting the entire solution</a:t>
            </a:r>
            <a:endParaRPr sz="1100">
              <a:solidFill>
                <a:srgbClr val="3C78D8"/>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Biology-inspired neuron models - rather than simple on/off units, each neuron functions as a small dynamic model</a:t>
            </a:r>
            <a:endParaRPr sz="1100">
              <a:solidFill>
                <a:srgbClr val="3C78D8"/>
              </a:solidFill>
              <a:latin typeface="Calibri"/>
              <a:ea typeface="Calibri"/>
              <a:cs typeface="Calibri"/>
              <a:sym typeface="Calibri"/>
            </a:endParaRPr>
          </a:p>
          <a:p>
            <a:pPr marL="342900" marR="0" lvl="1"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Synchronization-based representation - thoughts are captured through how neurons synchronize over time</a:t>
            </a:r>
            <a:endParaRPr sz="1100">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CTM naturally exhibits adaptive computation—spending more time on harder problems and allowing genuine backtracking and error correction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https://sakana.ai/ai-scientist/</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Sakana AI is in Tokyo, Japan, since 2023</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8"/>
          <p:cNvSpPr txBox="1"/>
          <p:nvPr/>
        </p:nvSpPr>
        <p:spPr>
          <a:xfrm>
            <a:off x="55075" y="20375"/>
            <a:ext cx="166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 - 5</a:t>
            </a:r>
            <a:endParaRPr sz="2000" b="1" i="0" u="none" strike="noStrike" cap="none">
              <a:solidFill>
                <a:schemeClr val="dk1"/>
              </a:solidFill>
              <a:latin typeface="Calibri"/>
              <a:ea typeface="Calibri"/>
              <a:cs typeface="Calibri"/>
              <a:sym typeface="Calibri"/>
            </a:endParaRPr>
          </a:p>
        </p:txBody>
      </p:sp>
      <p:sp>
        <p:nvSpPr>
          <p:cNvPr id="230" name="Google Shape;230;p28"/>
          <p:cNvSpPr txBox="1"/>
          <p:nvPr/>
        </p:nvSpPr>
        <p:spPr>
          <a:xfrm>
            <a:off x="55075" y="439206"/>
            <a:ext cx="4444500" cy="357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Łukasz Kaiser about GPT-5.1 &amp; the AI Frontier</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https://www.youtube.com/watch?v=3K-R4yVjJfU</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Łukasz Kaiser, transformer co-author and OpenAI research scientist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Progress follows a smooth exponential curve from inside labs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Reasoning models now deliver greater capability gains than pre-training for the same cost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Reasoning models generate internal "chain of thought" tokens before answering, trained via reinforcement learning on verifiable domains like math and coding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Kaiser identifies substantial improvement opportunities in infrastructure, data quality, and especially multimodal capabilities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"jagged" abilities - frontier models fail simple visual reasoning tasks that five-year-olds solve instantly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Economic pressures from serving billions of users shifted focus from maximally large models to efficient distillation, transferring knowledge from large to small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Kaiser emphasizes generalization as AI's central unsolved question: whether reasoning alone enables human-like learning, or if fundamentally different architectures are needed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He advocates solving current limitations before determining if architectural breakthroughs are necessary</a:t>
            </a:r>
            <a:endParaRPr sz="1100">
              <a:solidFill>
                <a:schemeClr val="dk1"/>
              </a:solidFill>
              <a:latin typeface="Calibri"/>
              <a:ea typeface="Calibri"/>
              <a:cs typeface="Calibri"/>
              <a:sym typeface="Calibri"/>
            </a:endParaRPr>
          </a:p>
        </p:txBody>
      </p:sp>
      <p:pic>
        <p:nvPicPr>
          <p:cNvPr id="231" name="Google Shape;231;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22850" y="439200"/>
            <a:ext cx="1492950" cy="16185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9"/>
          <p:cNvSpPr txBox="1"/>
          <p:nvPr/>
        </p:nvSpPr>
        <p:spPr>
          <a:xfrm>
            <a:off x="55075" y="20375"/>
            <a:ext cx="304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Marimo instead of Jupyter</a:t>
            </a:r>
            <a:endParaRPr sz="2000" b="1" i="0" u="none" strike="noStrike" cap="none">
              <a:solidFill>
                <a:schemeClr val="dk1"/>
              </a:solidFill>
              <a:latin typeface="Calibri"/>
              <a:ea typeface="Calibri"/>
              <a:cs typeface="Calibri"/>
              <a:sym typeface="Calibri"/>
            </a:endParaRPr>
          </a:p>
        </p:txBody>
      </p:sp>
      <p:sp>
        <p:nvSpPr>
          <p:cNvPr id="237" name="Google Shape;237;p29"/>
          <p:cNvSpPr txBox="1"/>
          <p:nvPr/>
        </p:nvSpPr>
        <p:spPr>
          <a:xfrm>
            <a:off x="55075" y="455085"/>
            <a:ext cx="4444500" cy="317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Marimo Python notebook system</a:t>
            </a:r>
            <a:endParaRPr sz="1100" b="1">
              <a:solidFill>
                <a:srgbClr val="FF0000"/>
              </a:solidFill>
              <a:latin typeface="Calibri"/>
              <a:ea typeface="Calibri"/>
              <a:cs typeface="Calibri"/>
              <a:sym typeface="Calibri"/>
            </a:endParaRPr>
          </a:p>
          <a:p>
            <a:pPr marL="17145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open-source, better than Jupyter</a:t>
            </a:r>
            <a:endParaRPr sz="1100">
              <a:solidFill>
                <a:schemeClr val="dk1"/>
              </a:solidFill>
              <a:latin typeface="Calibri"/>
              <a:ea typeface="Calibri"/>
              <a:cs typeface="Calibri"/>
              <a:sym typeface="Calibri"/>
            </a:endParaRPr>
          </a:p>
          <a:p>
            <a:pPr marL="17145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uses reactive execution, so code cells automatically re-run when any dependency changes</a:t>
            </a:r>
            <a:endParaRPr sz="1100">
              <a:solidFill>
                <a:schemeClr val="dk1"/>
              </a:solidFill>
              <a:latin typeface="Calibri"/>
              <a:ea typeface="Calibri"/>
              <a:cs typeface="Calibri"/>
              <a:sym typeface="Calibri"/>
            </a:endParaRPr>
          </a:p>
          <a:p>
            <a:pPr marL="17145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Notebooks are stored as standard .py files - so you can run them as scripts and reuse as modules</a:t>
            </a:r>
            <a:endParaRPr sz="1100">
              <a:solidFill>
                <a:schemeClr val="dk1"/>
              </a:solidFill>
              <a:latin typeface="Calibri"/>
              <a:ea typeface="Calibri"/>
              <a:cs typeface="Calibri"/>
              <a:sym typeface="Calibri"/>
            </a:endParaRPr>
          </a:p>
          <a:p>
            <a:pPr marL="17145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Marimo ships with interactive widgets, tight SQL integration (like DuckDB), and allows sharing notebooks as web apps via HTML or the CLI</a:t>
            </a:r>
            <a:endParaRPr sz="1100">
              <a:solidFill>
                <a:schemeClr val="dk1"/>
              </a:solidFill>
              <a:latin typeface="Calibri"/>
              <a:ea typeface="Calibri"/>
              <a:cs typeface="Calibri"/>
              <a:sym typeface="Calibri"/>
            </a:endParaRPr>
          </a:p>
          <a:p>
            <a:pPr marL="17145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editor offers features like autocomplete, Vim keybindings, code formatting, and a VS Code extension</a:t>
            </a:r>
            <a:endParaRPr sz="1100">
              <a:solidFill>
                <a:schemeClr val="dk1"/>
              </a:solidFill>
              <a:latin typeface="Calibri"/>
              <a:ea typeface="Calibri"/>
              <a:cs typeface="Calibri"/>
              <a:sym typeface="Calibri"/>
            </a:endParaRPr>
          </a:p>
          <a:p>
            <a:pPr marL="17145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Workflows involve managing reproducible dependencies and sharing or running notebooks flexibly</a:t>
            </a:r>
            <a:endParaRPr sz="1100">
              <a:solidFill>
                <a:schemeClr val="dk1"/>
              </a:solidFill>
              <a:latin typeface="Calibri"/>
              <a:ea typeface="Calibri"/>
              <a:cs typeface="Calibri"/>
              <a:sym typeface="Calibri"/>
            </a:endParaRPr>
          </a:p>
          <a:p>
            <a:pPr marL="17145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Compared to Jupyter, Marimo is more Git-friendly, automatically reactive, includes built-in interactivity, and offers enhanced developer tools and environment management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https://marimo.io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https://github.com/marimo-team/marimo</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pip install marimo</a:t>
            </a:r>
            <a:endParaRPr sz="900" b="1">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b="1">
                <a:solidFill>
                  <a:srgbClr val="3C78D8"/>
                </a:solidFill>
                <a:latin typeface="Roboto Mono"/>
                <a:ea typeface="Roboto Mono"/>
                <a:cs typeface="Roboto Mono"/>
                <a:sym typeface="Roboto Mono"/>
              </a:rPr>
              <a:t>marimo tutorial intro</a:t>
            </a:r>
            <a:endParaRPr sz="900" b="1">
              <a:solidFill>
                <a:srgbClr val="3C78D8"/>
              </a:solidFill>
              <a:latin typeface="Roboto Mono"/>
              <a:ea typeface="Roboto Mono"/>
              <a:cs typeface="Roboto Mono"/>
              <a:sym typeface="Roboto Mono"/>
            </a:endParaRPr>
          </a:p>
        </p:txBody>
      </p:sp>
      <p:pic>
        <p:nvPicPr>
          <p:cNvPr id="238" name="Google Shape;238;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452375" y="183075"/>
            <a:ext cx="2474275" cy="824750"/>
          </a:xfrm>
          <a:prstGeom prst="rect">
            <a:avLst/>
          </a:prstGeom>
          <a:noFill/>
          <a:ln w="9525" cap="flat" cmpd="sng">
            <a:solidFill>
              <a:srgbClr val="FF0000"/>
            </a:solidFill>
            <a:prstDash val="solid"/>
            <a:round/>
            <a:headEnd type="none" w="sm" len="sm"/>
            <a:tailEnd type="none" w="sm" len="sm"/>
          </a:ln>
        </p:spPr>
      </p:pic>
      <p:pic>
        <p:nvPicPr>
          <p:cNvPr id="239" name="Google Shape;239;p29"/>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4857175" y="1230425"/>
            <a:ext cx="2382577" cy="239865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0"/>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u="sng">
                <a:solidFill>
                  <a:schemeClr val="hlink"/>
                </a:solidFill>
                <a:latin typeface="Calibri"/>
                <a:ea typeface="Calibri"/>
                <a:cs typeface="Calibri"/>
                <a:sym typeface="Calibri"/>
                <a:hlinkClick r:id="rId3"/>
              </a:rPr>
              <a:t>Decart.AI</a:t>
            </a:r>
            <a:r>
              <a:rPr lang="en" sz="2000" b="1">
                <a:solidFill>
                  <a:schemeClr val="dk1"/>
                </a:solidFill>
                <a:latin typeface="Calibri"/>
                <a:ea typeface="Calibri"/>
                <a:cs typeface="Calibri"/>
                <a:sym typeface="Calibri"/>
              </a:rPr>
              <a:t> Real-time Video Transformation</a:t>
            </a:r>
            <a:endParaRPr sz="2000" b="1" i="0" u="none" strike="noStrike" cap="none">
              <a:solidFill>
                <a:schemeClr val="dk1"/>
              </a:solidFill>
              <a:latin typeface="Calibri"/>
              <a:ea typeface="Calibri"/>
              <a:cs typeface="Calibri"/>
              <a:sym typeface="Calibri"/>
            </a:endParaRPr>
          </a:p>
        </p:txBody>
      </p:sp>
      <p:sp>
        <p:nvSpPr>
          <p:cNvPr id="245" name="Google Shape;245;p30"/>
          <p:cNvSpPr txBox="1"/>
          <p:nvPr/>
        </p:nvSpPr>
        <p:spPr>
          <a:xfrm>
            <a:off x="55075" y="414600"/>
            <a:ext cx="5221500" cy="425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Decart.ai - Real-time AI Video Transformation</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4"/>
              </a:rPr>
              <a:t>https://www.youtube.com/watch?v=xAICmrzPJjA</a:t>
            </a:r>
            <a:r>
              <a:rPr lang="en" sz="1100">
                <a:solidFill>
                  <a:schemeClr val="dk1"/>
                </a:solidFill>
                <a:latin typeface="Calibri"/>
                <a:ea typeface="Calibri"/>
                <a:cs typeface="Calibri"/>
                <a:sym typeface="Calibri"/>
              </a:rPr>
              <a:t> </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5"/>
              </a:rPr>
              <a:t>https://docs.platform.decart.ai/getting-started/pricing</a:t>
            </a:r>
            <a:br>
              <a:rPr lang="en" sz="1100">
                <a:solidFill>
                  <a:schemeClr val="dk1"/>
                </a:solidFill>
                <a:latin typeface="Calibri"/>
                <a:ea typeface="Calibri"/>
                <a:cs typeface="Calibri"/>
                <a:sym typeface="Calibri"/>
              </a:rPr>
            </a:br>
            <a:r>
              <a:rPr lang="en" sz="1100" u="sng">
                <a:solidFill>
                  <a:schemeClr val="hlink"/>
                </a:solidFill>
                <a:latin typeface="Calibri"/>
                <a:ea typeface="Calibri"/>
                <a:cs typeface="Calibri"/>
                <a:sym typeface="Calibri"/>
                <a:hlinkClick r:id="rId6"/>
              </a:rPr>
              <a:t>https://decart.ai</a:t>
            </a:r>
            <a:r>
              <a:rPr lang="en" sz="1100">
                <a:solidFill>
                  <a:schemeClr val="dk1"/>
                </a:solidFill>
                <a:latin typeface="Calibri"/>
                <a:ea typeface="Calibri"/>
                <a:cs typeface="Calibri"/>
                <a:sym typeface="Calibri"/>
              </a:rPr>
              <a:t>  - </a:t>
            </a:r>
            <a:r>
              <a:rPr lang="en" sz="1100" u="sng">
                <a:solidFill>
                  <a:schemeClr val="hlink"/>
                </a:solidFill>
                <a:latin typeface="Calibri"/>
                <a:ea typeface="Calibri"/>
                <a:cs typeface="Calibri"/>
                <a:sym typeface="Calibri"/>
                <a:hlinkClick r:id="rId7"/>
              </a:rPr>
              <a:t>https://decart.ai/api-platform</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Decart.ai offers free-tier access to real-time AI video transformation capabilities including three core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Mirage LSD enables instant style transfers and reskinning through presets and custom prompts, transforming appearances into various characters like pirates, anime figures, or Van Gogh paintings.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LucyEdit Live adds, removes, or modifies video elements such as virtual overlays.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LipSync Live provides real-time AI-driven lip synchronization for virtual characters.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platform operates through a web interface with zero-latency autoregressive video models accessible via API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Free users receive 1,000 credits allowing approximately 8 minutes of live video processing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service supports VR reskinning and live-stream integration for dynamic transformations during streaming sessions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Alternative tools like Runway ACT2, Google Nano Banana, and ElevenLabs voice changer offer higher-fidelity asynchronous processing for pre-recorded content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technology raises ethical concerns regarding deepfakes, impersonation, and misinformation risks while simultaneously opening creative possibilities for filmmakers, streamers, and virtual creators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Future developments may integrate with robotics and agent-driven AI systems, as referenced by Google's SEMA 2 model for agent gameplay, balancing innovation with risks of scams and misinformation</a:t>
            </a:r>
            <a:endParaRPr sz="1100">
              <a:solidFill>
                <a:schemeClr val="dk1"/>
              </a:solidFill>
              <a:latin typeface="Calibri"/>
              <a:ea typeface="Calibri"/>
              <a:cs typeface="Calibri"/>
              <a:sym typeface="Calibri"/>
            </a:endParaRPr>
          </a:p>
        </p:txBody>
      </p:sp>
      <p:pic>
        <p:nvPicPr>
          <p:cNvPr id="246" name="Google Shape;246;p30"/>
          <p:cNvPicPr preferRelativeResize="0"/>
          <p:nvPr/>
        </p:nvPicPr>
        <p:blipFill>
          <a:blip r:embed="rId8">
            <a:alphaModFix/>
          </a:blip>
          <a:stretch>
            <a:fillRect/>
          </a:stretch>
        </p:blipFill>
        <p:spPr>
          <a:xfrm>
            <a:off x="5705075" y="612550"/>
            <a:ext cx="2438400" cy="1876425"/>
          </a:xfrm>
          <a:prstGeom prst="rect">
            <a:avLst/>
          </a:prstGeom>
          <a:noFill/>
          <a:ln w="9525" cap="flat" cmpd="sng">
            <a:solidFill>
              <a:srgbClr val="FF0000"/>
            </a:solidFill>
            <a:prstDash val="solid"/>
            <a:round/>
            <a:headEnd type="none" w="sm" len="sm"/>
            <a:tailEnd type="none" w="sm" len="sm"/>
          </a:ln>
        </p:spPr>
      </p:pic>
      <p:pic>
        <p:nvPicPr>
          <p:cNvPr id="247" name="Google Shape;247;p30"/>
          <p:cNvPicPr preferRelativeResize="0"/>
          <p:nvPr/>
        </p:nvPicPr>
        <p:blipFill>
          <a:blip r:embed="rId9">
            <a:alphaModFix/>
          </a:blip>
          <a:stretch>
            <a:fillRect/>
          </a:stretch>
        </p:blipFill>
        <p:spPr>
          <a:xfrm>
            <a:off x="5705075" y="2620925"/>
            <a:ext cx="2466975" cy="18478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1"/>
          <p:cNvSpPr txBox="1"/>
          <p:nvPr/>
        </p:nvSpPr>
        <p:spPr>
          <a:xfrm>
            <a:off x="55075" y="20375"/>
            <a:ext cx="4444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Roundtable</a:t>
            </a:r>
            <a:endParaRPr sz="2000" b="1" i="0" u="none" strike="noStrike" cap="none">
              <a:solidFill>
                <a:schemeClr val="dk1"/>
              </a:solidFill>
              <a:latin typeface="Calibri"/>
              <a:ea typeface="Calibri"/>
              <a:cs typeface="Calibri"/>
              <a:sym typeface="Calibri"/>
            </a:endParaRPr>
          </a:p>
        </p:txBody>
      </p:sp>
      <p:sp>
        <p:nvSpPr>
          <p:cNvPr id="253" name="Google Shape;253;p31"/>
          <p:cNvSpPr txBox="1"/>
          <p:nvPr/>
        </p:nvSpPr>
        <p:spPr>
          <a:xfrm>
            <a:off x="55075" y="414600"/>
            <a:ext cx="44445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Peter H. Diamandis - AI Roundtable</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3"/>
              </a:rPr>
              <a:t>https://www.youtube.com/watch?v=r8RGYw1n-5k</a:t>
            </a:r>
            <a:endParaRPr sz="1100">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Google's Gemini 3 - strong multimodal reasoning, generative UIs, and agentic features; SOTA benchmark scores on tests like Humanity's Last Exam and ARC-AGI2, PhD-level problem-solving in math, science, and engineering. In the competitive race with OpenAI's GPT-5 and xAI's Grok 4.1, Gemini 3 currently leads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On practical benchmarks like VendingBench, where AI agents simulate running a vending business, Gemini 3 far outperforms competitors, delivering roughly 30 times more profit and illustrating potential for AI as autonomous economic actors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Improved voice interfaces in Gemini Live, real-time translation for AR glasses, and agentic shopping where AI calls stores to check inventory and prices, effectively indexing the physical world.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Development tools like Cursor and Google's Anti-gravity environment enable fully agentic coding where developers specify features and AI handles implementation.</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Safety concerns center on biosecurity, with OpenAI-backed Red Queen Bio developing defensive systems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hosts advocating for pervasive biosensing infrastructure, though this raises privacy tensions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Jeff Bezos's $6.2 billion Prometheus project targets industrial AI for engineering and manufacturing, representing a pivot toward applying superintelligence to domain-specific problems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hosts argue </a:t>
            </a:r>
            <a:r>
              <a:rPr lang="en" sz="1100" b="1">
                <a:solidFill>
                  <a:srgbClr val="FF0000"/>
                </a:solidFill>
                <a:latin typeface="Calibri"/>
                <a:ea typeface="Calibri"/>
                <a:cs typeface="Calibri"/>
                <a:sym typeface="Calibri"/>
              </a:rPr>
              <a:t>intelligence costs are deflating 40 times annually</a:t>
            </a:r>
            <a:r>
              <a:rPr lang="en" sz="1100">
                <a:solidFill>
                  <a:schemeClr val="dk1"/>
                </a:solidFill>
                <a:latin typeface="Calibri"/>
                <a:ea typeface="Calibri"/>
                <a:cs typeface="Calibri"/>
                <a:sym typeface="Calibri"/>
              </a:rPr>
              <a:t>, potentially driving abundance in housing, transport, food, and healthcare</a:t>
            </a:r>
            <a:endParaRPr sz="1100">
              <a:solidFill>
                <a:schemeClr val="dk1"/>
              </a:solidFill>
              <a:latin typeface="Calibri"/>
              <a:ea typeface="Calibri"/>
              <a:cs typeface="Calibri"/>
              <a:sym typeface="Calibri"/>
            </a:endParaRPr>
          </a:p>
        </p:txBody>
      </p:sp>
      <p:pic>
        <p:nvPicPr>
          <p:cNvPr id="254" name="Google Shape;254;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51975" y="414600"/>
            <a:ext cx="2769976" cy="165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2"/>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60" name="Google Shape;260;p32"/>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61" name="Google Shape;261;p32"/>
          <p:cNvSpPr txBox="1"/>
          <p:nvPr/>
        </p:nvSpPr>
        <p:spPr>
          <a:xfrm>
            <a:off x="5097525" y="77475"/>
            <a:ext cx="3981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113K in 2025 (as of November 21)</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62" name="Google Shape;262;p32"/>
          <p:cNvSpPr txBox="1"/>
          <p:nvPr/>
        </p:nvSpPr>
        <p:spPr>
          <a:xfrm>
            <a:off x="5162100" y="4228625"/>
            <a:ext cx="39819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So far in 2025, 199,799 people laid off (615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chemeClr val="dk1"/>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chemeClr val="hlink"/>
                </a:solidFill>
                <a:latin typeface="Calibri"/>
                <a:ea typeface="Calibri"/>
                <a:cs typeface="Calibri"/>
                <a:sym typeface="Calibri"/>
                <a:hlinkClick r:id="rId4"/>
              </a:rPr>
              <a:t>https://trueup.io/layoffs</a:t>
            </a:r>
            <a:endParaRPr sz="1200">
              <a:latin typeface="Calibri"/>
              <a:ea typeface="Calibri"/>
              <a:cs typeface="Calibri"/>
              <a:sym typeface="Calibri"/>
            </a:endParaRPr>
          </a:p>
        </p:txBody>
      </p:sp>
      <p:pic>
        <p:nvPicPr>
          <p:cNvPr id="263" name="Google Shape;263;p3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2522048"/>
            <a:ext cx="4951698" cy="2537763"/>
          </a:xfrm>
          <a:prstGeom prst="rect">
            <a:avLst/>
          </a:prstGeom>
          <a:noFill/>
          <a:ln w="9525" cap="flat" cmpd="sng">
            <a:solidFill>
              <a:srgbClr val="FF0000"/>
            </a:solidFill>
            <a:prstDash val="solid"/>
            <a:round/>
            <a:headEnd type="none" w="sm" len="sm"/>
            <a:tailEnd type="none" w="sm" len="sm"/>
          </a:ln>
        </p:spPr>
      </p:pic>
      <p:pic>
        <p:nvPicPr>
          <p:cNvPr id="264" name="Google Shape;264;p3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546330"/>
            <a:ext cx="4951701" cy="187363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69" name="Google Shape;269;p3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70" name="Google Shape;270;p33"/>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71" name="Google Shape;271;p33"/>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72" name="Google Shape;272;p33"/>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73" name="Google Shape;273;p33"/>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74" name="Google Shape;274;p33"/>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4"/>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3967</Words>
  <Application>Microsoft Macintosh PowerPoint</Application>
  <PresentationFormat>On-screen Show (16:9)</PresentationFormat>
  <Paragraphs>383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2025-11-26T19:37:07Z</dcterms:modified>
</cp:coreProperties>
</file>