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1" r:id="rId1"/>
  </p:sldMasterIdLst>
  <p:notesMasterIdLst>
    <p:notesMasterId r:id="rId2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sldSz cx="9144000" cy="5143500" type="screen16x9"/>
  <p:notesSz cx="6858000" cy="9144000"/>
  <p:embeddedFontLst>
    <p:embeddedFont>
      <p:font typeface="Roboto Mono" pitchFamily="49" charset="0"/>
      <p:regular r:id="rId27"/>
      <p:bold r:id="rId28"/>
      <p:italic r:id="rId29"/>
      <p:boldItalic r:id="rId3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4CAF02FB-ADDB-40AC-A3BE-46AA5666B36A}">
  <a:tblStyle styleId="{4CAF02FB-ADDB-40AC-A3BE-46AA5666B36A}"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711"/>
  </p:normalViewPr>
  <p:slideViewPr>
    <p:cSldViewPr>
      <p:cViewPr varScale="1">
        <p:scale>
          <a:sx n="125" d="100"/>
          <a:sy n="125" d="100"/>
        </p:scale>
        <p:origin x="536"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2.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1.fntdata"/><Relationship Id="rId30" Type="http://schemas.openxmlformats.org/officeDocument/2006/relationships/font" Target="fonts/font4.fntdata"/><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9"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
        <p:cNvGrpSpPr/>
        <p:nvPr/>
      </p:nvGrpSpPr>
      <p:grpSpPr>
        <a:xfrm>
          <a:off x="0" y="0"/>
          <a:ext cx="0" cy="0"/>
          <a:chOff x="0" y="0"/>
          <a:chExt cx="0" cy="0"/>
        </a:xfrm>
      </p:grpSpPr>
      <p:sp>
        <p:nvSpPr>
          <p:cNvPr id="60" name="Google Shape;60;g3633c15ed8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1" name="Google Shape;61;g3633c15ed82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
        <p:cNvGrpSpPr/>
        <p:nvPr/>
      </p:nvGrpSpPr>
      <p:grpSpPr>
        <a:xfrm>
          <a:off x="0" y="0"/>
          <a:ext cx="0" cy="0"/>
          <a:chOff x="0" y="0"/>
          <a:chExt cx="0" cy="0"/>
        </a:xfrm>
      </p:grpSpPr>
      <p:sp>
        <p:nvSpPr>
          <p:cNvPr id="72" name="Google Shape;72;p2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3" name="Google Shape;73;p2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p:cNvGrpSpPr/>
        <p:nvPr/>
      </p:nvGrpSpPr>
      <p:grpSpPr>
        <a:xfrm>
          <a:off x="0" y="0"/>
          <a:ext cx="0" cy="0"/>
          <a:chOff x="0" y="0"/>
          <a:chExt cx="0" cy="0"/>
        </a:xfrm>
      </p:grpSpPr>
      <p:sp>
        <p:nvSpPr>
          <p:cNvPr id="140" name="Google Shape;140;g3a9e4b4f929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1" name="Google Shape;141;g3a9e4b4f929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7"/>
        <p:cNvGrpSpPr/>
        <p:nvPr/>
      </p:nvGrpSpPr>
      <p:grpSpPr>
        <a:xfrm>
          <a:off x="0" y="0"/>
          <a:ext cx="0" cy="0"/>
          <a:chOff x="0" y="0"/>
          <a:chExt cx="0" cy="0"/>
        </a:xfrm>
      </p:grpSpPr>
      <p:sp>
        <p:nvSpPr>
          <p:cNvPr id="148" name="Google Shape;148;g38e1665059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9" name="Google Shape;149;g38e16650599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3a9e4b4f929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8" name="Google Shape;158;g3a9e4b4f929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4"/>
        <p:cNvGrpSpPr/>
        <p:nvPr/>
      </p:nvGrpSpPr>
      <p:grpSpPr>
        <a:xfrm>
          <a:off x="0" y="0"/>
          <a:ext cx="0" cy="0"/>
          <a:chOff x="0" y="0"/>
          <a:chExt cx="0" cy="0"/>
        </a:xfrm>
      </p:grpSpPr>
      <p:sp>
        <p:nvSpPr>
          <p:cNvPr id="165" name="Google Shape;165;g36659435892_1_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6" name="Google Shape;166;g36659435892_1_2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g3a9e4b4f929_1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2" name="Google Shape;172;g3a9e4b4f929_1_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9"/>
        <p:cNvGrpSpPr/>
        <p:nvPr/>
      </p:nvGrpSpPr>
      <p:grpSpPr>
        <a:xfrm>
          <a:off x="0" y="0"/>
          <a:ext cx="0" cy="0"/>
          <a:chOff x="0" y="0"/>
          <a:chExt cx="0" cy="0"/>
        </a:xfrm>
      </p:grpSpPr>
      <p:sp>
        <p:nvSpPr>
          <p:cNvPr id="180" name="Google Shape;180;g3a80316f57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1" name="Google Shape;181;g3a80316f578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g3a80a8b0d19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9" name="Google Shape;189;g3a80a8b0d19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8"/>
        <p:cNvGrpSpPr/>
        <p:nvPr/>
      </p:nvGrpSpPr>
      <p:grpSpPr>
        <a:xfrm>
          <a:off x="0" y="0"/>
          <a:ext cx="0" cy="0"/>
          <a:chOff x="0" y="0"/>
          <a:chExt cx="0" cy="0"/>
        </a:xfrm>
      </p:grpSpPr>
      <p:sp>
        <p:nvSpPr>
          <p:cNvPr id="199" name="Google Shape;199;g3a8dcf4b2c6_0_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0" name="Google Shape;200;g3a8dcf4b2c6_0_2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
        <p:cNvGrpSpPr/>
        <p:nvPr/>
      </p:nvGrpSpPr>
      <p:grpSpPr>
        <a:xfrm>
          <a:off x="0" y="0"/>
          <a:ext cx="0" cy="0"/>
          <a:chOff x="0" y="0"/>
          <a:chExt cx="0" cy="0"/>
        </a:xfrm>
      </p:grpSpPr>
      <p:sp>
        <p:nvSpPr>
          <p:cNvPr id="207" name="Google Shape;207;g3a8dcf4b2c6_0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8" name="Google Shape;208;g3a8dcf4b2c6_0_1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3"/>
        <p:cNvGrpSpPr/>
        <p:nvPr/>
      </p:nvGrpSpPr>
      <p:grpSpPr>
        <a:xfrm>
          <a:off x="0" y="0"/>
          <a:ext cx="0" cy="0"/>
          <a:chOff x="0" y="0"/>
          <a:chExt cx="0" cy="0"/>
        </a:xfrm>
      </p:grpSpPr>
      <p:sp>
        <p:nvSpPr>
          <p:cNvPr id="214" name="Google Shape;214;g3a81f090af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5" name="Google Shape;215;g3a81f090af8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g3a9bee61fc8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4" name="Google Shape;224;g3a9bee61fc8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3aa36c4866f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5" name="Google Shape;235;g3aa36c4866f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3"/>
        <p:cNvGrpSpPr/>
        <p:nvPr/>
      </p:nvGrpSpPr>
      <p:grpSpPr>
        <a:xfrm>
          <a:off x="0" y="0"/>
          <a:ext cx="0" cy="0"/>
          <a:chOff x="0" y="0"/>
          <a:chExt cx="0" cy="0"/>
        </a:xfrm>
      </p:grpSpPr>
      <p:sp>
        <p:nvSpPr>
          <p:cNvPr id="244" name="Google Shape;244;g3aa70136d21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5" name="Google Shape;245;g3aa70136d21_0_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0"/>
        <p:cNvGrpSpPr/>
        <p:nvPr/>
      </p:nvGrpSpPr>
      <p:grpSpPr>
        <a:xfrm>
          <a:off x="0" y="0"/>
          <a:ext cx="0" cy="0"/>
          <a:chOff x="0" y="0"/>
          <a:chExt cx="0" cy="0"/>
        </a:xfrm>
      </p:grpSpPr>
      <p:sp>
        <p:nvSpPr>
          <p:cNvPr id="251" name="Google Shape;251;g3aa70136d21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2" name="Google Shape;252;g3aa70136d21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7"/>
        <p:cNvGrpSpPr/>
        <p:nvPr/>
      </p:nvGrpSpPr>
      <p:grpSpPr>
        <a:xfrm>
          <a:off x="0" y="0"/>
          <a:ext cx="0" cy="0"/>
          <a:chOff x="0" y="0"/>
          <a:chExt cx="0" cy="0"/>
        </a:xfrm>
      </p:grpSpPr>
      <p:sp>
        <p:nvSpPr>
          <p:cNvPr id="258" name="Google Shape;258;g3aa2d07e806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9" name="Google Shape;259;g3aa2d07e806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g3a8364b075d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8" name="Google Shape;268;g3a8364b075d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4"/>
        <p:cNvGrpSpPr/>
        <p:nvPr/>
      </p:nvGrpSpPr>
      <p:grpSpPr>
        <a:xfrm>
          <a:off x="0" y="0"/>
          <a:ext cx="0" cy="0"/>
          <a:chOff x="0" y="0"/>
          <a:chExt cx="0" cy="0"/>
        </a:xfrm>
      </p:grpSpPr>
      <p:sp>
        <p:nvSpPr>
          <p:cNvPr id="275" name="Google Shape;275;g3a8dcf4b2c6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76" name="Google Shape;276;g3a8dcf4b2c6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2"/>
        <p:cNvGrpSpPr/>
        <p:nvPr/>
      </p:nvGrpSpPr>
      <p:grpSpPr>
        <a:xfrm>
          <a:off x="0" y="0"/>
          <a:ext cx="0" cy="0"/>
          <a:chOff x="0" y="0"/>
          <a:chExt cx="0" cy="0"/>
        </a:xfrm>
      </p:grpSpPr>
      <p:sp>
        <p:nvSpPr>
          <p:cNvPr id="283" name="Google Shape;283;g3a8dcf4b2c6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84" name="Google Shape;284;g3a8dcf4b2c6_0_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0"/>
        <p:cNvGrpSpPr/>
        <p:nvPr/>
      </p:nvGrpSpPr>
      <p:grpSpPr>
        <a:xfrm>
          <a:off x="0" y="0"/>
          <a:ext cx="0" cy="0"/>
          <a:chOff x="0" y="0"/>
          <a:chExt cx="0" cy="0"/>
        </a:xfrm>
      </p:grpSpPr>
      <p:sp>
        <p:nvSpPr>
          <p:cNvPr id="291" name="Google Shape;291;g3aa78ee9924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92" name="Google Shape;292;g3aa78ee9924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p:cNvGrpSpPr/>
        <p:nvPr/>
      </p:nvGrpSpPr>
      <p:grpSpPr>
        <a:xfrm>
          <a:off x="0" y="0"/>
          <a:ext cx="0" cy="0"/>
          <a:chOff x="0" y="0"/>
          <a:chExt cx="0" cy="0"/>
        </a:xfrm>
      </p:grpSpPr>
      <p:sp>
        <p:nvSpPr>
          <p:cNvPr id="298" name="Google Shape;298;p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99" name="Google Shape;299;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7"/>
        <p:cNvGrpSpPr/>
        <p:nvPr/>
      </p:nvGrpSpPr>
      <p:grpSpPr>
        <a:xfrm>
          <a:off x="0" y="0"/>
          <a:ext cx="0" cy="0"/>
          <a:chOff x="0" y="0"/>
          <a:chExt cx="0" cy="0"/>
        </a:xfrm>
      </p:grpSpPr>
      <p:sp>
        <p:nvSpPr>
          <p:cNvPr id="308" name="Google Shape;308;p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09" name="Google Shape;309;p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p:cNvGrpSpPr/>
        <p:nvPr/>
      </p:nvGrpSpPr>
      <p:grpSpPr>
        <a:xfrm>
          <a:off x="0" y="0"/>
          <a:ext cx="0" cy="0"/>
          <a:chOff x="0" y="0"/>
          <a:chExt cx="0" cy="0"/>
        </a:xfrm>
      </p:grpSpPr>
      <p:sp>
        <p:nvSpPr>
          <p:cNvPr id="318" name="Google Shape;318;p2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19" name="Google Shape;319;p2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7" name="Google Shape;37;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57172" y="205067"/>
            <a:ext cx="8228700" cy="858600"/>
          </a:xfrm>
          <a:prstGeom prst="rect">
            <a:avLst/>
          </a:prstGeom>
          <a:noFill/>
          <a:ln>
            <a:noFill/>
          </a:ln>
        </p:spPr>
        <p:txBody>
          <a:bodyPr spcFirstLastPara="1" wrap="square" lIns="0" tIns="0" rIns="0" bIns="0" anchor="ctr"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52" name="Google Shape;52;p13"/>
          <p:cNvSpPr txBox="1">
            <a:spLocks noGrp="1"/>
          </p:cNvSpPr>
          <p:nvPr>
            <p:ph type="body" idx="1"/>
          </p:nvPr>
        </p:nvSpPr>
        <p:spPr>
          <a:xfrm>
            <a:off x="457172" y="1203299"/>
            <a:ext cx="8228700" cy="2982600"/>
          </a:xfrm>
          <a:prstGeom prst="rect">
            <a:avLst/>
          </a:prstGeom>
          <a:noFill/>
          <a:ln>
            <a:noFill/>
          </a:ln>
        </p:spPr>
        <p:txBody>
          <a:bodyPr spcFirstLastPara="1" wrap="square" lIns="0" tIns="0" rIns="0" bIns="0" anchor="t" anchorCtr="0">
            <a:normAutofit/>
          </a:bodyPr>
          <a:lstStyle>
            <a:lvl1pPr marL="457200" lvl="0" indent="-228600" algn="l">
              <a:lnSpc>
                <a:spcPct val="115000"/>
              </a:lnSpc>
              <a:spcBef>
                <a:spcPts val="0"/>
              </a:spcBef>
              <a:spcAft>
                <a:spcPts val="0"/>
              </a:spcAft>
              <a:buSzPts val="1800"/>
              <a:buNone/>
              <a:defRPr/>
            </a:lvl1pPr>
            <a:lvl2pPr marL="914400" lvl="1" indent="-228600" algn="l">
              <a:lnSpc>
                <a:spcPct val="115000"/>
              </a:lnSpc>
              <a:spcBef>
                <a:spcPts val="0"/>
              </a:spcBef>
              <a:spcAft>
                <a:spcPts val="0"/>
              </a:spcAft>
              <a:buSzPts val="1400"/>
              <a:buNone/>
              <a:defRPr/>
            </a:lvl2pPr>
            <a:lvl3pPr marL="1371600" lvl="2" indent="-228600" algn="l">
              <a:lnSpc>
                <a:spcPct val="115000"/>
              </a:lnSpc>
              <a:spcBef>
                <a:spcPts val="0"/>
              </a:spcBef>
              <a:spcAft>
                <a:spcPts val="0"/>
              </a:spcAft>
              <a:buSzPts val="1400"/>
              <a:buNone/>
              <a:defRPr/>
            </a:lvl3pPr>
            <a:lvl4pPr marL="1828800" lvl="3" indent="-228600" algn="l">
              <a:lnSpc>
                <a:spcPct val="115000"/>
              </a:lnSpc>
              <a:spcBef>
                <a:spcPts val="0"/>
              </a:spcBef>
              <a:spcAft>
                <a:spcPts val="0"/>
              </a:spcAft>
              <a:buSzPts val="1400"/>
              <a:buNone/>
              <a:defRPr/>
            </a:lvl4pPr>
            <a:lvl5pPr marL="2286000" lvl="4" indent="-228600" algn="l">
              <a:lnSpc>
                <a:spcPct val="115000"/>
              </a:lnSpc>
              <a:spcBef>
                <a:spcPts val="0"/>
              </a:spcBef>
              <a:spcAft>
                <a:spcPts val="0"/>
              </a:spcAft>
              <a:buSzPts val="1400"/>
              <a:buNone/>
              <a:defRPr/>
            </a:lvl5pPr>
            <a:lvl6pPr marL="2743200" lvl="5" indent="-228600" algn="l">
              <a:lnSpc>
                <a:spcPct val="115000"/>
              </a:lnSpc>
              <a:spcBef>
                <a:spcPts val="0"/>
              </a:spcBef>
              <a:spcAft>
                <a:spcPts val="0"/>
              </a:spcAft>
              <a:buSzPts val="1400"/>
              <a:buNone/>
              <a:defRPr/>
            </a:lvl6pPr>
            <a:lvl7pPr marL="3200400" lvl="6" indent="-228600" algn="l">
              <a:lnSpc>
                <a:spcPct val="115000"/>
              </a:lnSpc>
              <a:spcBef>
                <a:spcPts val="0"/>
              </a:spcBef>
              <a:spcAft>
                <a:spcPts val="0"/>
              </a:spcAft>
              <a:buSzPts val="1400"/>
              <a:buNone/>
              <a:defRPr/>
            </a:lvl7pPr>
            <a:lvl8pPr marL="3657600" lvl="7" indent="-228600" algn="l">
              <a:lnSpc>
                <a:spcPct val="115000"/>
              </a:lnSpc>
              <a:spcBef>
                <a:spcPts val="0"/>
              </a:spcBef>
              <a:spcAft>
                <a:spcPts val="0"/>
              </a:spcAft>
              <a:buSzPts val="1400"/>
              <a:buNone/>
              <a:defRPr/>
            </a:lvl8pPr>
            <a:lvl9pPr marL="4114800" lvl="8" indent="-228600" algn="l">
              <a:lnSpc>
                <a:spcPct val="115000"/>
              </a:lnSpc>
              <a:spcBef>
                <a:spcPts val="0"/>
              </a:spcBef>
              <a:spcAft>
                <a:spcPts val="0"/>
              </a:spcAft>
              <a:buSzPts val="14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p:cSld name="SECTION_HEADER_1">
    <p:spTree>
      <p:nvGrpSpPr>
        <p:cNvPr id="1" name="Shape 53"/>
        <p:cNvGrpSpPr/>
        <p:nvPr/>
      </p:nvGrpSpPr>
      <p:grpSpPr>
        <a:xfrm>
          <a:off x="0" y="0"/>
          <a:ext cx="0" cy="0"/>
          <a:chOff x="0" y="0"/>
          <a:chExt cx="0" cy="0"/>
        </a:xfrm>
      </p:grpSpPr>
      <p:sp>
        <p:nvSpPr>
          <p:cNvPr id="54" name="Google Shape;54;p14"/>
          <p:cNvSpPr txBox="1">
            <a:spLocks noGrp="1"/>
          </p:cNvSpPr>
          <p:nvPr>
            <p:ph type="title"/>
          </p:nvPr>
        </p:nvSpPr>
        <p:spPr>
          <a:xfrm>
            <a:off x="623888" y="1282303"/>
            <a:ext cx="7886700" cy="2139600"/>
          </a:xfrm>
          <a:prstGeom prst="rect">
            <a:avLst/>
          </a:prstGeom>
          <a:noFill/>
          <a:ln>
            <a:noFill/>
          </a:ln>
        </p:spPr>
        <p:txBody>
          <a:bodyPr spcFirstLastPara="1" wrap="square" lIns="68575" tIns="68575" rIns="68575" bIns="68575" anchor="b" anchorCtr="0">
            <a:noAutofit/>
          </a:bodyPr>
          <a:lstStyle>
            <a:lvl1pPr marR="0" lvl="0" algn="l">
              <a:lnSpc>
                <a:spcPct val="90000"/>
              </a:lnSpc>
              <a:spcBef>
                <a:spcPts val="0"/>
              </a:spcBef>
              <a:spcAft>
                <a:spcPts val="0"/>
              </a:spcAft>
              <a:buClr>
                <a:schemeClr val="dk1"/>
              </a:buClr>
              <a:buSzPts val="4500"/>
              <a:buFont typeface="Calibri"/>
              <a:buNone/>
              <a:defRPr sz="4500" b="0" i="0" u="none" strike="noStrike" cap="none">
                <a:solidFill>
                  <a:schemeClr val="dk1"/>
                </a:solidFill>
                <a:latin typeface="Calibri"/>
                <a:ea typeface="Calibri"/>
                <a:cs typeface="Calibri"/>
                <a:sym typeface="Calibri"/>
              </a:defRPr>
            </a:lvl1pPr>
            <a:lvl2pPr lvl="1" algn="l">
              <a:lnSpc>
                <a:spcPct val="100000"/>
              </a:lnSpc>
              <a:spcBef>
                <a:spcPts val="0"/>
              </a:spcBef>
              <a:spcAft>
                <a:spcPts val="0"/>
              </a:spcAft>
              <a:buSzPts val="1100"/>
              <a:buNone/>
              <a:defRPr sz="1400"/>
            </a:lvl2pPr>
            <a:lvl3pPr lvl="2" algn="l">
              <a:lnSpc>
                <a:spcPct val="100000"/>
              </a:lnSpc>
              <a:spcBef>
                <a:spcPts val="0"/>
              </a:spcBef>
              <a:spcAft>
                <a:spcPts val="0"/>
              </a:spcAft>
              <a:buSzPts val="1100"/>
              <a:buNone/>
              <a:defRPr sz="1400"/>
            </a:lvl3pPr>
            <a:lvl4pPr lvl="3" algn="l">
              <a:lnSpc>
                <a:spcPct val="100000"/>
              </a:lnSpc>
              <a:spcBef>
                <a:spcPts val="0"/>
              </a:spcBef>
              <a:spcAft>
                <a:spcPts val="0"/>
              </a:spcAft>
              <a:buSzPts val="1100"/>
              <a:buNone/>
              <a:defRPr sz="1400"/>
            </a:lvl4pPr>
            <a:lvl5pPr lvl="4" algn="l">
              <a:lnSpc>
                <a:spcPct val="100000"/>
              </a:lnSpc>
              <a:spcBef>
                <a:spcPts val="0"/>
              </a:spcBef>
              <a:spcAft>
                <a:spcPts val="0"/>
              </a:spcAft>
              <a:buSzPts val="1100"/>
              <a:buNone/>
              <a:defRPr sz="1400"/>
            </a:lvl5pPr>
            <a:lvl6pPr lvl="5" algn="l">
              <a:lnSpc>
                <a:spcPct val="100000"/>
              </a:lnSpc>
              <a:spcBef>
                <a:spcPts val="0"/>
              </a:spcBef>
              <a:spcAft>
                <a:spcPts val="0"/>
              </a:spcAft>
              <a:buSzPts val="1100"/>
              <a:buNone/>
              <a:defRPr sz="1400"/>
            </a:lvl6pPr>
            <a:lvl7pPr lvl="6" algn="l">
              <a:lnSpc>
                <a:spcPct val="100000"/>
              </a:lnSpc>
              <a:spcBef>
                <a:spcPts val="0"/>
              </a:spcBef>
              <a:spcAft>
                <a:spcPts val="0"/>
              </a:spcAft>
              <a:buSzPts val="1100"/>
              <a:buNone/>
              <a:defRPr sz="1400"/>
            </a:lvl7pPr>
            <a:lvl8pPr lvl="7" algn="l">
              <a:lnSpc>
                <a:spcPct val="100000"/>
              </a:lnSpc>
              <a:spcBef>
                <a:spcPts val="0"/>
              </a:spcBef>
              <a:spcAft>
                <a:spcPts val="0"/>
              </a:spcAft>
              <a:buSzPts val="1100"/>
              <a:buNone/>
              <a:defRPr sz="1400"/>
            </a:lvl8pPr>
            <a:lvl9pPr lvl="8" algn="l">
              <a:lnSpc>
                <a:spcPct val="100000"/>
              </a:lnSpc>
              <a:spcBef>
                <a:spcPts val="0"/>
              </a:spcBef>
              <a:spcAft>
                <a:spcPts val="0"/>
              </a:spcAft>
              <a:buSzPts val="1100"/>
              <a:buNone/>
              <a:defRPr sz="1400"/>
            </a:lvl9pPr>
          </a:lstStyle>
          <a:p>
            <a:endParaRPr/>
          </a:p>
        </p:txBody>
      </p:sp>
      <p:sp>
        <p:nvSpPr>
          <p:cNvPr id="55" name="Google Shape;55;p14"/>
          <p:cNvSpPr txBox="1">
            <a:spLocks noGrp="1"/>
          </p:cNvSpPr>
          <p:nvPr>
            <p:ph type="body" idx="1"/>
          </p:nvPr>
        </p:nvSpPr>
        <p:spPr>
          <a:xfrm>
            <a:off x="623888" y="3442097"/>
            <a:ext cx="7886700" cy="1125300"/>
          </a:xfrm>
          <a:prstGeom prst="rect">
            <a:avLst/>
          </a:prstGeom>
          <a:noFill/>
          <a:ln>
            <a:noFill/>
          </a:ln>
        </p:spPr>
        <p:txBody>
          <a:bodyPr spcFirstLastPara="1" wrap="square" lIns="68575" tIns="68575" rIns="68575" bIns="68575" anchor="t" anchorCtr="0">
            <a:noAutofit/>
          </a:bodyPr>
          <a:lstStyle>
            <a:lvl1pPr marL="457200" marR="0" lvl="0" indent="-228600" algn="l">
              <a:lnSpc>
                <a:spcPct val="90000"/>
              </a:lnSpc>
              <a:spcBef>
                <a:spcPts val="8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1pPr>
            <a:lvl2pPr marL="914400" marR="0" lvl="1" indent="-228600" algn="l">
              <a:lnSpc>
                <a:spcPct val="90000"/>
              </a:lnSpc>
              <a:spcBef>
                <a:spcPts val="400"/>
              </a:spcBef>
              <a:spcAft>
                <a:spcPts val="0"/>
              </a:spcAft>
              <a:buClr>
                <a:srgbClr val="888888"/>
              </a:buClr>
              <a:buSzPts val="1500"/>
              <a:buFont typeface="Arial"/>
              <a:buNone/>
              <a:defRPr sz="1500" b="0" i="0" u="none" strike="noStrike" cap="none">
                <a:solidFill>
                  <a:srgbClr val="888888"/>
                </a:solidFill>
                <a:latin typeface="Calibri"/>
                <a:ea typeface="Calibri"/>
                <a:cs typeface="Calibri"/>
                <a:sym typeface="Calibri"/>
              </a:defRPr>
            </a:lvl2pPr>
            <a:lvl3pPr marL="1371600" marR="0" lvl="2" indent="-228600" algn="l">
              <a:lnSpc>
                <a:spcPct val="90000"/>
              </a:lnSpc>
              <a:spcBef>
                <a:spcPts val="400"/>
              </a:spcBef>
              <a:spcAft>
                <a:spcPts val="0"/>
              </a:spcAft>
              <a:buClr>
                <a:srgbClr val="888888"/>
              </a:buClr>
              <a:buSzPts val="1400"/>
              <a:buFont typeface="Arial"/>
              <a:buNone/>
              <a:defRPr sz="1400" b="0" i="0" u="none" strike="noStrike" cap="none">
                <a:solidFill>
                  <a:srgbClr val="888888"/>
                </a:solidFill>
                <a:latin typeface="Calibri"/>
                <a:ea typeface="Calibri"/>
                <a:cs typeface="Calibri"/>
                <a:sym typeface="Calibri"/>
              </a:defRPr>
            </a:lvl3pPr>
            <a:lvl4pPr marL="1828800" marR="0" lvl="3"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4pPr>
            <a:lvl5pPr marL="2286000" marR="0" lvl="4"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5pPr>
            <a:lvl6pPr marL="2743200" marR="0" lvl="5"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6pPr>
            <a:lvl7pPr marL="3200400" marR="0" lvl="6"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7pPr>
            <a:lvl8pPr marL="3657600" marR="0" lvl="7"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8pPr>
            <a:lvl9pPr marL="4114800" marR="0" lvl="8"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9pPr>
          </a:lstStyle>
          <a:p>
            <a:endParaRPr/>
          </a:p>
        </p:txBody>
      </p:sp>
      <p:sp>
        <p:nvSpPr>
          <p:cNvPr id="56" name="Google Shape;56;p14"/>
          <p:cNvSpPr txBox="1">
            <a:spLocks noGrp="1"/>
          </p:cNvSpPr>
          <p:nvPr>
            <p:ph type="dt" idx="10"/>
          </p:nvPr>
        </p:nvSpPr>
        <p:spPr>
          <a:xfrm>
            <a:off x="628650" y="4767263"/>
            <a:ext cx="2057400" cy="273900"/>
          </a:xfrm>
          <a:prstGeom prst="rect">
            <a:avLst/>
          </a:prstGeom>
          <a:noFill/>
          <a:ln>
            <a:noFill/>
          </a:ln>
        </p:spPr>
        <p:txBody>
          <a:bodyPr spcFirstLastPara="1" wrap="square" lIns="68575" tIns="68575" rIns="68575" bIns="685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7" name="Google Shape;57;p14"/>
          <p:cNvSpPr txBox="1">
            <a:spLocks noGrp="1"/>
          </p:cNvSpPr>
          <p:nvPr>
            <p:ph type="ftr" idx="11"/>
          </p:nvPr>
        </p:nvSpPr>
        <p:spPr>
          <a:xfrm>
            <a:off x="3028950" y="4767263"/>
            <a:ext cx="3086100" cy="273900"/>
          </a:xfrm>
          <a:prstGeom prst="rect">
            <a:avLst/>
          </a:prstGeom>
          <a:noFill/>
          <a:ln>
            <a:noFill/>
          </a:ln>
        </p:spPr>
        <p:txBody>
          <a:bodyPr spcFirstLastPara="1" wrap="square" lIns="68575" tIns="68575" rIns="68575" bIns="685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8" name="Google Shape;58;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3" Type="http://schemas.openxmlformats.org/officeDocument/2006/relationships/hyperlink" Target="https://huggingface.co/open-llm-leaderboard" TargetMode="External"/><Relationship Id="rId18" Type="http://schemas.openxmlformats.org/officeDocument/2006/relationships/hyperlink" Target="http://aistudio.google.com/app/prompts/new_chat?model=gemini-3-pro-preview" TargetMode="External"/><Relationship Id="rId26" Type="http://schemas.openxmlformats.org/officeDocument/2006/relationships/hyperlink" Target="https://www.anthropic.com/news/claude-haiku-4-5" TargetMode="External"/><Relationship Id="rId39" Type="http://schemas.openxmlformats.org/officeDocument/2006/relationships/hyperlink" Target="https://x.ai/news/grok-4-1-fast" TargetMode="External"/><Relationship Id="rId21" Type="http://schemas.openxmlformats.org/officeDocument/2006/relationships/hyperlink" Target="https://x.ai/news/grok-4-1" TargetMode="External"/><Relationship Id="rId34" Type="http://schemas.openxmlformats.org/officeDocument/2006/relationships/hyperlink" Target="https://openai.com/index/introducing-gpt-4-5/" TargetMode="External"/><Relationship Id="rId7" Type="http://schemas.openxmlformats.org/officeDocument/2006/relationships/hyperlink" Target="https://openlm.ai/chatbot-arena/" TargetMode="External"/><Relationship Id="rId12" Type="http://schemas.openxmlformats.org/officeDocument/2006/relationships/hyperlink" Target="https://artificialanalysis.ai/leaderboards/models" TargetMode="External"/><Relationship Id="rId17" Type="http://schemas.openxmlformats.org/officeDocument/2006/relationships/hyperlink" Target="https://www.anthropic.com/news/claude-opus-4-5" TargetMode="External"/><Relationship Id="rId25" Type="http://schemas.openxmlformats.org/officeDocument/2006/relationships/hyperlink" Target="https://huggingface.co/moonshotai/Kimi-K2-Thinking" TargetMode="External"/><Relationship Id="rId33" Type="http://schemas.openxmlformats.org/officeDocument/2006/relationships/hyperlink" Target="https://huggingface.co/moonshotai/Kimi-K2-Instruct-0905" TargetMode="External"/><Relationship Id="rId38" Type="http://schemas.openxmlformats.org/officeDocument/2006/relationships/hyperlink" Target="https://platform.openai.com/docs/models/gpt-5-chat-latest" TargetMode="External"/><Relationship Id="rId2" Type="http://schemas.openxmlformats.org/officeDocument/2006/relationships/notesSlide" Target="../notesSlides/notesSlide2.xml"/><Relationship Id="rId16" Type="http://schemas.openxmlformats.org/officeDocument/2006/relationships/hyperlink" Target="https://artificialanalysis.ai/models/grok-4" TargetMode="External"/><Relationship Id="rId20" Type="http://schemas.openxmlformats.org/officeDocument/2006/relationships/hyperlink" Target="https://www.anthropic.com/news/claude-opus-4-1" TargetMode="External"/><Relationship Id="rId29" Type="http://schemas.openxmlformats.org/officeDocument/2006/relationships/hyperlink" Target="https://huggingface.co/Qwen/Qwen3-235B-A22B-Instruct-2507" TargetMode="External"/><Relationship Id="rId1" Type="http://schemas.openxmlformats.org/officeDocument/2006/relationships/slideLayout" Target="../slideLayouts/slideLayout1.xml"/><Relationship Id="rId6" Type="http://schemas.openxmlformats.org/officeDocument/2006/relationships/hyperlink" Target="https://www.designarena.ai" TargetMode="External"/><Relationship Id="rId11" Type="http://schemas.openxmlformats.org/officeDocument/2006/relationships/hyperlink" Target="https://www.stack-ai.com/llm-leaderboard" TargetMode="External"/><Relationship Id="rId24" Type="http://schemas.openxmlformats.org/officeDocument/2006/relationships/hyperlink" Target="https://www.alibabacloud.com/help/en/model-studio/models" TargetMode="External"/><Relationship Id="rId32" Type="http://schemas.openxmlformats.org/officeDocument/2006/relationships/hyperlink" Target="https://platform.openai.com/docs/models/gpt-5" TargetMode="External"/><Relationship Id="rId37" Type="http://schemas.openxmlformats.org/officeDocument/2006/relationships/hyperlink" Target="https://docs.z.ai/guides/llm/glm-4.6" TargetMode="External"/><Relationship Id="rId5" Type="http://schemas.openxmlformats.org/officeDocument/2006/relationships/hyperlink" Target="https://lmarena.ai/leaderboard/text/coding" TargetMode="External"/><Relationship Id="rId15" Type="http://schemas.openxmlformats.org/officeDocument/2006/relationships/hyperlink" Target="https://epoch.ai/data/ai-benchmarking-dashboard" TargetMode="External"/><Relationship Id="rId23" Type="http://schemas.openxmlformats.org/officeDocument/2006/relationships/hyperlink" Target="https://www.anthropic.com/news/claude-4" TargetMode="External"/><Relationship Id="rId28" Type="http://schemas.openxmlformats.org/officeDocument/2006/relationships/hyperlink" Target="https://huggingface.co/meituan-longcat/LongCat-Flash-Chat" TargetMode="External"/><Relationship Id="rId36" Type="http://schemas.openxmlformats.org/officeDocument/2006/relationships/hyperlink" Target="https://openai.com/index/introducing-o3-and-o4-mini/" TargetMode="External"/><Relationship Id="rId10" Type="http://schemas.openxmlformats.org/officeDocument/2006/relationships/hyperlink" Target="https://llmworld.net/llm_leaderboards/" TargetMode="External"/><Relationship Id="rId19" Type="http://schemas.openxmlformats.org/officeDocument/2006/relationships/hyperlink" Target="https://www.anthropic.com/news/claude-sonnet-4-5" TargetMode="External"/><Relationship Id="rId31" Type="http://schemas.openxmlformats.org/officeDocument/2006/relationships/hyperlink" Target="http://aistudio.google.com/app/prompts/new_chat?model=gemini-2.5-pro" TargetMode="External"/><Relationship Id="rId4" Type="http://schemas.openxmlformats.org/officeDocument/2006/relationships/hyperlink" Target="https://lmarena.ai/leaderboard/text" TargetMode="External"/><Relationship Id="rId9" Type="http://schemas.openxmlformats.org/officeDocument/2006/relationships/hyperlink" Target="https://web.lmarena.ai/leaderboard" TargetMode="External"/><Relationship Id="rId14" Type="http://schemas.openxmlformats.org/officeDocument/2006/relationships/hyperlink" Target="https://www.vellum.ai/llm-leaderboard" TargetMode="External"/><Relationship Id="rId22" Type="http://schemas.openxmlformats.org/officeDocument/2006/relationships/hyperlink" Target="https://openai.com/index/gpt-5-1/" TargetMode="External"/><Relationship Id="rId27" Type="http://schemas.openxmlformats.org/officeDocument/2006/relationships/hyperlink" Target="https://qwen.ai/blog?id=241398b9cd6353de490b0f82806c7848c5d2777d&amp;from=research.latest-advancements-list" TargetMode="External"/><Relationship Id="rId30" Type="http://schemas.openxmlformats.org/officeDocument/2006/relationships/hyperlink" Target="https://api-docs.deepseek.com/news/news250929" TargetMode="External"/><Relationship Id="rId35" Type="http://schemas.openxmlformats.org/officeDocument/2006/relationships/hyperlink" Target="https://x.com/OpenAI/status/1905331956856050135" TargetMode="External"/><Relationship Id="rId8" Type="http://schemas.openxmlformats.org/officeDocument/2006/relationships/hyperlink" Target="https://beta.lmarena.ai" TargetMode="External"/><Relationship Id="rId3" Type="http://schemas.openxmlformats.org/officeDocument/2006/relationships/hyperlink" Target="https://en.wikipedia.org/wiki/Elo_rating_system" TargetMode="External"/></Relationships>
</file>

<file path=ppt/slides/_rels/slide3.xml.rels><?xml version="1.0" encoding="UTF-8" standalone="yes"?>
<Relationships xmlns="http://schemas.openxmlformats.org/package/2006/relationships"><Relationship Id="rId3" Type="http://schemas.openxmlformats.org/officeDocument/2006/relationships/hyperlink" Target="https://www.youtube.com/watch?v=VhuUcVhwqi8" TargetMode="External"/><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hyperlink" Target="https://www.anthropic.com/news/claude-opus-4-5" TargetMode="External"/></Relationships>
</file>

<file path=ppt/slides/_rels/slide4.xml.rels><?xml version="1.0" encoding="UTF-8" standalone="yes"?>
<Relationships xmlns="http://schemas.openxmlformats.org/package/2006/relationships"><Relationship Id="rId3" Type="http://schemas.openxmlformats.org/officeDocument/2006/relationships/hyperlink" Target="https://www.youtube.com/watch?v=63XNYlMrlJY" TargetMode="External"/><Relationship Id="rId7"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hyperlink" Target="https://huggingface.co/allenai/Olmo-3-7B-Think" TargetMode="External"/><Relationship Id="rId5" Type="http://schemas.openxmlformats.org/officeDocument/2006/relationships/hyperlink" Target="https://allenai.org/blog/olmo3" TargetMode="Externa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hyperlink" Target="https://www.youtube.com/watch?v=aR20FWCCjAs" TargetMode="External"/><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hyperlink" Target="https://www.youtube.com/@lev-selector/videos" TargetMode="External"/><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8" Type="http://schemas.openxmlformats.org/officeDocument/2006/relationships/hyperlink" Target="https://www.greptile.com" TargetMode="External"/><Relationship Id="rId3" Type="http://schemas.openxmlformats.org/officeDocument/2006/relationships/hyperlink" Target="https://www.youtube.com/watch?v=ocjhUqO428Q" TargetMode="External"/><Relationship Id="rId7" Type="http://schemas.openxmlformats.org/officeDocument/2006/relationships/hyperlink" Target="https://www.greptile.com/what-is-ai-code-review" TargetMode="External"/><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hyperlink" Target="https://www.youtube.com/watch?v=tlZNo3g0urY" TargetMode="External"/><Relationship Id="rId5" Type="http://schemas.openxmlformats.org/officeDocument/2006/relationships/image" Target="../media/image9.png"/><Relationship Id="rId10" Type="http://schemas.openxmlformats.org/officeDocument/2006/relationships/image" Target="../media/image10.png"/><Relationship Id="rId4" Type="http://schemas.openxmlformats.org/officeDocument/2006/relationships/hyperlink" Target="http://linguang.com" TargetMode="External"/><Relationship Id="rId9" Type="http://schemas.openxmlformats.org/officeDocument/2006/relationships/hyperlink" Target="https://www.greptile.com/docs/code-review-bot/key-features" TargetMode="Externa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hyperlink" Target="https://x.com/Rainmaker1973/status/1991186630133125405" TargetMode="External"/><Relationship Id="rId7" Type="http://schemas.openxmlformats.org/officeDocument/2006/relationships/hyperlink" Target="https://cdss.berkeley.edu/news/uc-berkeley-and-ucsf-researchers-release-top-performing-ai-model-medical-imaging" TargetMode="External"/><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hyperlink" Target="https://teletype.in/@mrvladd/W5E88Tzx1dv" TargetMode="External"/><Relationship Id="rId5" Type="http://schemas.openxmlformats.org/officeDocument/2006/relationships/hyperlink" Target="https://www.youtube.com/watch?v=zqv1eELa7fs" TargetMode="External"/><Relationship Id="rId4" Type="http://schemas.openxmlformats.org/officeDocument/2006/relationships/hyperlink" Target="https://x.com/_avichawla/status/1991393941493805096" TargetMode="External"/></Relationships>
</file>

<file path=ppt/slides/_rels/slide10.xml.rels><?xml version="1.0" encoding="UTF-8" standalone="yes"?>
<Relationships xmlns="http://schemas.openxmlformats.org/package/2006/relationships"><Relationship Id="rId3" Type="http://schemas.openxmlformats.org/officeDocument/2006/relationships/hyperlink" Target="https://www.youtube.com/watch?v=mJxCdZB4RRY" TargetMode="External"/><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12.png"/><Relationship Id="rId4" Type="http://schemas.openxmlformats.org/officeDocument/2006/relationships/hyperlink" Target="https://www.youtube.com/watch?v=utnLVMzxX4U" TargetMode="External"/></Relationships>
</file>

<file path=ppt/slides/_rels/slide11.xml.rels><?xml version="1.0" encoding="UTF-8" standalone="yes"?>
<Relationships xmlns="http://schemas.openxmlformats.org/package/2006/relationships"><Relationship Id="rId3" Type="http://schemas.openxmlformats.org/officeDocument/2006/relationships/hyperlink" Target="https://deepagent.abacus.ai" TargetMode="External"/><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facebookresearch/sam3" TargetMode="External"/><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13.xml.rels><?xml version="1.0" encoding="UTF-8" standalone="yes"?>
<Relationships xmlns="http://schemas.openxmlformats.org/package/2006/relationships"><Relationship Id="rId3" Type="http://schemas.openxmlformats.org/officeDocument/2006/relationships/hyperlink" Target="https://www.youtube.com/watch?v=DtePicx_kFY" TargetMode="External"/><Relationship Id="rId7" Type="http://schemas.openxmlformats.org/officeDocument/2006/relationships/image" Target="../media/image17.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hyperlink" Target="https://sakana.ai/ai-scientist/" TargetMode="External"/></Relationships>
</file>

<file path=ppt/slides/_rels/slide14.xml.rels><?xml version="1.0" encoding="UTF-8" standalone="yes"?>
<Relationships xmlns="http://schemas.openxmlformats.org/package/2006/relationships"><Relationship Id="rId3" Type="http://schemas.openxmlformats.org/officeDocument/2006/relationships/hyperlink" Target="https://www.youtube.com/watch?v=lpVAj4KPOwU" TargetMode="External"/><Relationship Id="rId7" Type="http://schemas.openxmlformats.org/officeDocument/2006/relationships/image" Target="../media/image19.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18.jpeg"/><Relationship Id="rId5" Type="http://schemas.openxmlformats.org/officeDocument/2006/relationships/hyperlink" Target="https://lovable.dev" TargetMode="External"/><Relationship Id="rId4" Type="http://schemas.openxmlformats.org/officeDocument/2006/relationships/hyperlink" Target="https://docs.lovable.dev/features/design" TargetMode="External"/></Relationships>
</file>

<file path=ppt/slides/_rels/slide15.xml.rels><?xml version="1.0" encoding="UTF-8" standalone="yes"?>
<Relationships xmlns="http://schemas.openxmlformats.org/package/2006/relationships"><Relationship Id="rId3" Type="http://schemas.openxmlformats.org/officeDocument/2006/relationships/hyperlink" Target="https://bfl.ai/blog/flux-2" TargetMode="External"/><Relationship Id="rId7" Type="http://schemas.openxmlformats.org/officeDocument/2006/relationships/image" Target="../media/image20.jpe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hyperlink" Target="https://higgsfield.ai/blog/FLUX-2-is-on-Higgsfield-Full-Guide" TargetMode="External"/><Relationship Id="rId5" Type="http://schemas.openxmlformats.org/officeDocument/2006/relationships/hyperlink" Target="https://blogs.nvidia.com/blog/rtx-ai-garage-flux-2-comfyui/" TargetMode="External"/><Relationship Id="rId4" Type="http://schemas.openxmlformats.org/officeDocument/2006/relationships/hyperlink" Target="https://huggingface.co/blog/flux-2" TargetMode="External"/></Relationships>
</file>

<file path=ppt/slides/_rels/slide16.xml.rels><?xml version="1.0" encoding="UTF-8" standalone="yes"?>
<Relationships xmlns="http://schemas.openxmlformats.org/package/2006/relationships"><Relationship Id="rId3" Type="http://schemas.openxmlformats.org/officeDocument/2006/relationships/hyperlink" Target="https://ai.plainenglish.io/stanford-just-ended-prompt-engineering-with-a-single-sentence-9bfe702eb82c" TargetMode="External"/><Relationship Id="rId2" Type="http://schemas.openxmlformats.org/officeDocument/2006/relationships/notesSlide" Target="../notesSlides/notesSlide16.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hyperlink" Target="https://arxiv.org/pdf/2510.01171v2" TargetMode="External"/></Relationships>
</file>

<file path=ppt/slides/_rels/slide17.xml.rels><?xml version="1.0" encoding="UTF-8" standalone="yes"?>
<Relationships xmlns="http://schemas.openxmlformats.org/package/2006/relationships"><Relationship Id="rId3" Type="http://schemas.openxmlformats.org/officeDocument/2006/relationships/hyperlink" Target="https://www.youtube.com/watch?v=3K-R4yVjJfU" TargetMode="External"/><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23.png"/><Relationship Id="rId5" Type="http://schemas.openxmlformats.org/officeDocument/2006/relationships/hyperlink" Target="https://paperreview.ai" TargetMode="External"/><Relationship Id="rId4" Type="http://schemas.openxmlformats.org/officeDocument/2006/relationships/image" Target="../media/image22.png"/></Relationships>
</file>

<file path=ppt/slides/_rels/slide18.xml.rels><?xml version="1.0" encoding="UTF-8" standalone="yes"?>
<Relationships xmlns="http://schemas.openxmlformats.org/package/2006/relationships"><Relationship Id="rId3" Type="http://schemas.openxmlformats.org/officeDocument/2006/relationships/hyperlink" Target="https://marimo.io" TargetMode="External"/><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hyperlink" Target="https://github.com/marimo-team/marimo" TargetMode="External"/></Relationships>
</file>

<file path=ppt/slides/_rels/slide19.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hyperlink" Target="http://decart.ai" TargetMode="External"/><Relationship Id="rId7" Type="http://schemas.openxmlformats.org/officeDocument/2006/relationships/hyperlink" Target="https://decart.ai/api-platform" TargetMode="External"/><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hyperlink" Target="https://decart.ai" TargetMode="External"/><Relationship Id="rId5" Type="http://schemas.openxmlformats.org/officeDocument/2006/relationships/hyperlink" Target="https://docs.platform.decart.ai/getting-started/pricing" TargetMode="External"/><Relationship Id="rId4" Type="http://schemas.openxmlformats.org/officeDocument/2006/relationships/hyperlink" Target="https://www.youtube.com/watch?v=xAICmrzPJjA" TargetMode="External"/><Relationship Id="rId9" Type="http://schemas.openxmlformats.org/officeDocument/2006/relationships/image" Target="../media/image27.png"/></Relationships>
</file>

<file path=ppt/slides/_rels/slide20.xml.rels><?xml version="1.0" encoding="UTF-8" standalone="yes"?>
<Relationships xmlns="http://schemas.openxmlformats.org/package/2006/relationships"><Relationship Id="rId3" Type="http://schemas.openxmlformats.org/officeDocument/2006/relationships/hyperlink" Target="https://www.youtube.com/watch?v=r8RGYw1n-5k" TargetMode="External"/><Relationship Id="rId2" Type="http://schemas.openxmlformats.org/officeDocument/2006/relationships/notesSlide" Target="../notesSlides/notesSlide20.xml"/><Relationship Id="rId1" Type="http://schemas.openxmlformats.org/officeDocument/2006/relationships/slideLayout" Target="../slideLayouts/slideLayout1.xml"/><Relationship Id="rId5" Type="http://schemas.openxmlformats.org/officeDocument/2006/relationships/hyperlink" Target="https://www.youtube.com/watch?v=zJ9kejR4PeQ" TargetMode="External"/><Relationship Id="rId4" Type="http://schemas.openxmlformats.org/officeDocument/2006/relationships/image" Target="../media/image28.png"/></Relationships>
</file>

<file path=ppt/slides/_rels/slide21.xml.rels><?xml version="1.0" encoding="UTF-8" standalone="yes"?>
<Relationships xmlns="http://schemas.openxmlformats.org/package/2006/relationships"><Relationship Id="rId3" Type="http://schemas.openxmlformats.org/officeDocument/2006/relationships/hyperlink" Target="https://brianjenney.medium.com/i-used-to-suck-at-coding-interviews-then-i-quadrupled-my-salary-9d5260389a09" TargetMode="External"/><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29.jpeg"/></Relationships>
</file>

<file path=ppt/slides/_rels/slide22.xml.rels><?xml version="1.0" encoding="UTF-8" standalone="yes"?>
<Relationships xmlns="http://schemas.openxmlformats.org/package/2006/relationships"><Relationship Id="rId3" Type="http://schemas.openxmlformats.org/officeDocument/2006/relationships/hyperlink" Target="https://layoffs.fyi" TargetMode="External"/><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hyperlink" Target="https://trueup.io/layoffs" TargetMode="External"/></Relationships>
</file>

<file path=ppt/slides/_rels/slide23.xml.rels><?xml version="1.0" encoding="UTF-8" standalone="yes"?>
<Relationships xmlns="http://schemas.openxmlformats.org/package/2006/relationships"><Relationship Id="rId3" Type="http://schemas.openxmlformats.org/officeDocument/2006/relationships/image" Target="../media/image32.jpeg"/><Relationship Id="rId2" Type="http://schemas.openxmlformats.org/officeDocument/2006/relationships/notesSlide" Target="../notesSlides/notesSlide23.xml"/><Relationship Id="rId1" Type="http://schemas.openxmlformats.org/officeDocument/2006/relationships/slideLayout" Target="../slideLayouts/slideLayout1.xml"/><Relationship Id="rId5" Type="http://schemas.openxmlformats.org/officeDocument/2006/relationships/hyperlink" Target="https://eais.ai" TargetMode="External"/><Relationship Id="rId4" Type="http://schemas.openxmlformats.org/officeDocument/2006/relationships/image" Target="../media/image33.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2"/>
        <p:cNvGrpSpPr/>
        <p:nvPr/>
      </p:nvGrpSpPr>
      <p:grpSpPr>
        <a:xfrm>
          <a:off x="0" y="0"/>
          <a:ext cx="0" cy="0"/>
          <a:chOff x="0" y="0"/>
          <a:chExt cx="0" cy="0"/>
        </a:xfrm>
      </p:grpSpPr>
      <p:sp>
        <p:nvSpPr>
          <p:cNvPr id="63" name="Google Shape;63;p15"/>
          <p:cNvSpPr txBox="1"/>
          <p:nvPr/>
        </p:nvSpPr>
        <p:spPr>
          <a:xfrm>
            <a:off x="78651" y="480291"/>
            <a:ext cx="4420200" cy="1249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Crowd-sourced "LM Arena" Leaderboard</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Anthropic Claude Opus 4.5</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NotebookLM - Infographics &amp; Slide Decks</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OLMo 3 Open Models from Allen Institute for AI</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Ilya Sutskever on the Age of Research</a:t>
            </a:r>
            <a:endParaRPr sz="1600" b="1">
              <a:solidFill>
                <a:srgbClr val="3C78D8"/>
              </a:solidFill>
              <a:latin typeface="Calibri"/>
              <a:ea typeface="Calibri"/>
              <a:cs typeface="Calibri"/>
              <a:sym typeface="Calibri"/>
            </a:endParaRPr>
          </a:p>
        </p:txBody>
      </p:sp>
      <p:sp>
        <p:nvSpPr>
          <p:cNvPr id="64" name="Google Shape;64;p15"/>
          <p:cNvSpPr txBox="1"/>
          <p:nvPr/>
        </p:nvSpPr>
        <p:spPr>
          <a:xfrm>
            <a:off x="0" y="11"/>
            <a:ext cx="4420200" cy="480300"/>
          </a:xfrm>
          <a:prstGeom prst="rect">
            <a:avLst/>
          </a:prstGeom>
          <a:noFill/>
          <a:ln>
            <a:noFill/>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rgbClr val="000000"/>
              </a:buClr>
              <a:buSzPts val="3600"/>
              <a:buFont typeface="Arial"/>
              <a:buNone/>
            </a:pPr>
            <a:r>
              <a:rPr lang="en" sz="3000" b="1" i="0" u="none" strike="noStrike" cap="none">
                <a:solidFill>
                  <a:srgbClr val="3C78D8"/>
                </a:solidFill>
                <a:latin typeface="Calibri"/>
                <a:ea typeface="Calibri"/>
                <a:cs typeface="Calibri"/>
                <a:sym typeface="Calibri"/>
              </a:rPr>
              <a:t>AI Updates</a:t>
            </a:r>
            <a:r>
              <a:rPr lang="en" sz="2200" b="1" i="0" u="none" strike="noStrike" cap="none">
                <a:solidFill>
                  <a:srgbClr val="3C78D8"/>
                </a:solidFill>
                <a:latin typeface="Calibri"/>
                <a:ea typeface="Calibri"/>
                <a:cs typeface="Calibri"/>
                <a:sym typeface="Calibri"/>
              </a:rPr>
              <a:t> - November </a:t>
            </a:r>
            <a:r>
              <a:rPr lang="en" sz="2200" b="1">
                <a:solidFill>
                  <a:srgbClr val="3C78D8"/>
                </a:solidFill>
                <a:latin typeface="Calibri"/>
                <a:ea typeface="Calibri"/>
                <a:cs typeface="Calibri"/>
                <a:sym typeface="Calibri"/>
              </a:rPr>
              <a:t>28, </a:t>
            </a:r>
            <a:r>
              <a:rPr lang="en" sz="2200" b="1" i="0" u="none" strike="noStrike" cap="none">
                <a:solidFill>
                  <a:srgbClr val="3C78D8"/>
                </a:solidFill>
                <a:latin typeface="Calibri"/>
                <a:ea typeface="Calibri"/>
                <a:cs typeface="Calibri"/>
                <a:sym typeface="Calibri"/>
              </a:rPr>
              <a:t>2025</a:t>
            </a:r>
            <a:endParaRPr sz="2200" b="1" i="0" u="none" strike="noStrike" cap="none">
              <a:solidFill>
                <a:srgbClr val="3C78D8"/>
              </a:solidFill>
              <a:latin typeface="Calibri"/>
              <a:ea typeface="Calibri"/>
              <a:cs typeface="Calibri"/>
              <a:sym typeface="Calibri"/>
            </a:endParaRPr>
          </a:p>
        </p:txBody>
      </p:sp>
      <p:sp>
        <p:nvSpPr>
          <p:cNvPr id="65" name="Google Shape;65;p15"/>
          <p:cNvSpPr txBox="1"/>
          <p:nvPr/>
        </p:nvSpPr>
        <p:spPr>
          <a:xfrm>
            <a:off x="4599886" y="4593292"/>
            <a:ext cx="4502400" cy="51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Interviews - Prepare Stories</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i="0" u="none" strike="noStrike" cap="none">
                <a:solidFill>
                  <a:srgbClr val="3C78D8"/>
                </a:solidFill>
                <a:latin typeface="Calibri"/>
                <a:ea typeface="Calibri"/>
                <a:cs typeface="Calibri"/>
                <a:sym typeface="Calibri"/>
              </a:rPr>
              <a:t>Jobs, Layoffs, </a:t>
            </a:r>
            <a:r>
              <a:rPr lang="en" sz="1600" b="1">
                <a:solidFill>
                  <a:srgbClr val="3C78D8"/>
                </a:solidFill>
                <a:latin typeface="Calibri"/>
                <a:ea typeface="Calibri"/>
                <a:cs typeface="Calibri"/>
                <a:sym typeface="Calibri"/>
              </a:rPr>
              <a:t>demand for AI Engineers</a:t>
            </a:r>
            <a:endParaRPr sz="1600" b="1" i="0" u="none" strike="noStrike" cap="none">
              <a:solidFill>
                <a:srgbClr val="3C78D8"/>
              </a:solidFill>
              <a:latin typeface="Calibri"/>
              <a:ea typeface="Calibri"/>
              <a:cs typeface="Calibri"/>
              <a:sym typeface="Calibri"/>
            </a:endParaRPr>
          </a:p>
        </p:txBody>
      </p:sp>
      <p:sp>
        <p:nvSpPr>
          <p:cNvPr id="66" name="Google Shape;66;p15"/>
          <p:cNvSpPr txBox="1"/>
          <p:nvPr/>
        </p:nvSpPr>
        <p:spPr>
          <a:xfrm>
            <a:off x="78651" y="1872537"/>
            <a:ext cx="4420200" cy="32202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LingGuang's Viral Success</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Greptile: AI Self-Healing Code Review Agent</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Suno AI Music Raises $250M</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OpenAI group chat feature</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Lovable hits $200M ARR</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Federated Learning</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Google's Willow quantum processor</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RAG without vectors</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Kimi K2 Thinking in Perplexity</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Zoer: NEW Agentic AI Full-Stack Engineer</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Creating AI Videos - 6 methods</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Abacus AI DeepAgent upgrade</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GPT-5.1-Codex-Max;   GPT-5.1 Pro</a:t>
            </a:r>
            <a:endParaRPr sz="1600" b="1">
              <a:solidFill>
                <a:srgbClr val="3C78D8"/>
              </a:solidFill>
              <a:latin typeface="Calibri"/>
              <a:ea typeface="Calibri"/>
              <a:cs typeface="Calibri"/>
              <a:sym typeface="Calibri"/>
            </a:endParaRPr>
          </a:p>
        </p:txBody>
      </p:sp>
      <p:sp>
        <p:nvSpPr>
          <p:cNvPr id="67" name="Google Shape;67;p15"/>
          <p:cNvSpPr txBox="1"/>
          <p:nvPr/>
        </p:nvSpPr>
        <p:spPr>
          <a:xfrm>
            <a:off x="4599886" y="1078971"/>
            <a:ext cx="4502400" cy="3466200"/>
          </a:xfrm>
          <a:prstGeom prst="rect">
            <a:avLst/>
          </a:prstGeom>
          <a:solidFill>
            <a:srgbClr val="C7E6AF"/>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Meta SAM-3 Segment Anything Model 3</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OpenAI Shopping Research in ChatGPT</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Transformer Architecture Under Question</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Interactive images in Gemini app</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Lovable AI Web Design - New Features</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Stack Overflow 93% Decline</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Microsoft Fara‑7B</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FLUX.2 AI Image Gneration Model</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Stanford "Verbalized Sampling" for Creativity</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Łukasz Kaiser about GPT-5.1 &amp; the AI Frontier</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Stanford Agentic Reviewer</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Marimo instead of Jupyter</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Decart.AI Real-time Video Transformation</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Peter H. Diamandis - AI Roundtable</a:t>
            </a:r>
            <a:endParaRPr sz="1600" b="1">
              <a:solidFill>
                <a:srgbClr val="3C78D8"/>
              </a:solidFill>
              <a:latin typeface="Calibri"/>
              <a:ea typeface="Calibri"/>
              <a:cs typeface="Calibri"/>
              <a:sym typeface="Calibri"/>
            </a:endParaRPr>
          </a:p>
        </p:txBody>
      </p:sp>
      <p:sp>
        <p:nvSpPr>
          <p:cNvPr id="68" name="Google Shape;68;p15"/>
          <p:cNvSpPr txBox="1"/>
          <p:nvPr/>
        </p:nvSpPr>
        <p:spPr>
          <a:xfrm>
            <a:off x="4885625" y="428152"/>
            <a:ext cx="1576800" cy="449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b="1" i="1">
                <a:solidFill>
                  <a:srgbClr val="FF0000"/>
                </a:solidFill>
                <a:latin typeface="Roboto Mono"/>
                <a:ea typeface="Roboto Mono"/>
                <a:cs typeface="Roboto Mono"/>
                <a:sym typeface="Roboto Mono"/>
              </a:rPr>
              <a:t>ChatGPT turns 3 years old</a:t>
            </a:r>
            <a:endParaRPr b="1" i="1">
              <a:solidFill>
                <a:srgbClr val="FF0000"/>
              </a:solidFill>
              <a:latin typeface="Roboto Mono"/>
              <a:ea typeface="Roboto Mono"/>
              <a:cs typeface="Roboto Mono"/>
              <a:sym typeface="Roboto Mono"/>
            </a:endParaRPr>
          </a:p>
        </p:txBody>
      </p:sp>
      <p:pic>
        <p:nvPicPr>
          <p:cNvPr id="69" name="Google Shape;69;p15"/>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7388298" y="-15958"/>
            <a:ext cx="1691076" cy="1003500"/>
          </a:xfrm>
          <a:prstGeom prst="rect">
            <a:avLst/>
          </a:prstGeom>
          <a:noFill/>
          <a:ln>
            <a:noFill/>
          </a:ln>
        </p:spPr>
      </p:pic>
      <p:pic>
        <p:nvPicPr>
          <p:cNvPr id="70" name="Google Shape;70;p15"/>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832125" y="56100"/>
            <a:ext cx="1260975" cy="36810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4"/>
        <p:cNvGrpSpPr/>
        <p:nvPr/>
      </p:nvGrpSpPr>
      <p:grpSpPr>
        <a:xfrm>
          <a:off x="0" y="0"/>
          <a:ext cx="0" cy="0"/>
          <a:chOff x="0" y="0"/>
          <a:chExt cx="0" cy="0"/>
        </a:xfrm>
      </p:grpSpPr>
      <p:sp>
        <p:nvSpPr>
          <p:cNvPr id="75" name="Google Shape;75;p16"/>
          <p:cNvSpPr txBox="1"/>
          <p:nvPr/>
        </p:nvSpPr>
        <p:spPr>
          <a:xfrm>
            <a:off x="6736325" y="52350"/>
            <a:ext cx="2356200" cy="341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chemeClr val="dk1"/>
                </a:solidFill>
                <a:latin typeface="Calibri"/>
                <a:ea typeface="Calibri"/>
                <a:cs typeface="Calibri"/>
                <a:sym typeface="Calibri"/>
              </a:rPr>
              <a:t>Starting Elo rating = 1000</a:t>
            </a: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900" b="0" i="0" u="sng" strike="noStrike" cap="none">
                <a:solidFill>
                  <a:schemeClr val="hlink"/>
                </a:solidFill>
                <a:latin typeface="Calibri"/>
                <a:ea typeface="Calibri"/>
                <a:cs typeface="Calibri"/>
                <a:sym typeface="Calibri"/>
                <a:hlinkClick r:id="rId3"/>
              </a:rPr>
              <a:t>https://en.wikipedia.org/wiki/Elo_rating_system</a:t>
            </a:r>
            <a:r>
              <a:rPr lang="en" sz="900" b="0" i="0" u="none" strike="noStrike" cap="none">
                <a:solidFill>
                  <a:schemeClr val="dk1"/>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6" name="Google Shape;76;p16"/>
          <p:cNvSpPr txBox="1"/>
          <p:nvPr/>
        </p:nvSpPr>
        <p:spPr>
          <a:xfrm>
            <a:off x="38150" y="2125"/>
            <a:ext cx="3924000" cy="295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1800" b="1" i="0" u="none" strike="noStrike" cap="none">
                <a:solidFill>
                  <a:schemeClr val="dk1"/>
                </a:solidFill>
                <a:latin typeface="Calibri"/>
                <a:ea typeface="Calibri"/>
                <a:cs typeface="Calibri"/>
                <a:sym typeface="Calibri"/>
              </a:rPr>
              <a:t>Crowd-sourced "LM Arena" Leaderboard</a:t>
            </a:r>
            <a:endParaRPr sz="1800" b="1" i="0" u="none" strike="noStrike" cap="none">
              <a:solidFill>
                <a:srgbClr val="000000"/>
              </a:solidFill>
              <a:latin typeface="Calibri"/>
              <a:ea typeface="Calibri"/>
              <a:cs typeface="Calibri"/>
              <a:sym typeface="Calibri"/>
            </a:endParaRPr>
          </a:p>
        </p:txBody>
      </p:sp>
      <p:sp>
        <p:nvSpPr>
          <p:cNvPr id="77" name="Google Shape;77;p16"/>
          <p:cNvSpPr txBox="1"/>
          <p:nvPr/>
        </p:nvSpPr>
        <p:spPr>
          <a:xfrm>
            <a:off x="469100" y="318397"/>
            <a:ext cx="25998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English - </a:t>
            </a:r>
            <a:r>
              <a:rPr lang="en" sz="900" b="1" u="sng">
                <a:solidFill>
                  <a:schemeClr val="hlink"/>
                </a:solidFill>
                <a:latin typeface="Calibri"/>
                <a:ea typeface="Calibri"/>
                <a:cs typeface="Calibri"/>
                <a:sym typeface="Calibri"/>
                <a:hlinkClick r:id="rId4"/>
              </a:rPr>
              <a:t>https://lmarena.ai/leaderboard/text</a:t>
            </a:r>
            <a:r>
              <a:rPr lang="en" sz="900" b="1">
                <a:solidFill>
                  <a:srgbClr val="FF0000"/>
                </a:solidFill>
                <a:latin typeface="Calibri"/>
                <a:ea typeface="Calibri"/>
                <a:cs typeface="Calibri"/>
                <a:sym typeface="Calibri"/>
              </a:rPr>
              <a:t> </a:t>
            </a:r>
            <a:endParaRPr sz="900" b="1">
              <a:solidFill>
                <a:srgbClr val="FF0000"/>
              </a:solidFill>
              <a:latin typeface="Calibri"/>
              <a:ea typeface="Calibri"/>
              <a:cs typeface="Calibri"/>
              <a:sym typeface="Calibri"/>
            </a:endParaRPr>
          </a:p>
        </p:txBody>
      </p:sp>
      <p:sp>
        <p:nvSpPr>
          <p:cNvPr id="78" name="Google Shape;78;p16"/>
          <p:cNvSpPr txBox="1"/>
          <p:nvPr/>
        </p:nvSpPr>
        <p:spPr>
          <a:xfrm>
            <a:off x="3536012" y="322115"/>
            <a:ext cx="28395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Coding - </a:t>
            </a:r>
            <a:r>
              <a:rPr lang="en" sz="900" b="1" u="sng">
                <a:solidFill>
                  <a:schemeClr val="hlink"/>
                </a:solidFill>
                <a:latin typeface="Calibri"/>
                <a:ea typeface="Calibri"/>
                <a:cs typeface="Calibri"/>
                <a:sym typeface="Calibri"/>
                <a:hlinkClick r:id="rId5"/>
              </a:rPr>
              <a:t>https://lmarena.ai/leaderboard/text/coding</a:t>
            </a:r>
            <a:r>
              <a:rPr lang="en" sz="900" b="1">
                <a:solidFill>
                  <a:srgbClr val="FF0000"/>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9" name="Google Shape;79;p16"/>
          <p:cNvSpPr/>
          <p:nvPr/>
        </p:nvSpPr>
        <p:spPr>
          <a:xfrm>
            <a:off x="592698" y="4191547"/>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0" name="Google Shape;80;p16"/>
          <p:cNvSpPr/>
          <p:nvPr/>
        </p:nvSpPr>
        <p:spPr>
          <a:xfrm>
            <a:off x="598073" y="773435"/>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1" name="Google Shape;81;p16"/>
          <p:cNvSpPr txBox="1"/>
          <p:nvPr/>
        </p:nvSpPr>
        <p:spPr>
          <a:xfrm>
            <a:off x="6549674" y="1522475"/>
            <a:ext cx="23562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4"/>
              </a:rPr>
              <a:t>https://lmarena.ai/leaderboard/text</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latin typeface="Calibri"/>
                <a:ea typeface="Calibri"/>
                <a:cs typeface="Calibri"/>
                <a:sym typeface="Calibri"/>
              </a:rPr>
              <a:t>Design Arena - </a:t>
            </a:r>
            <a:br>
              <a:rPr lang="en" sz="800">
                <a:latin typeface="Calibri"/>
                <a:ea typeface="Calibri"/>
                <a:cs typeface="Calibri"/>
                <a:sym typeface="Calibri"/>
              </a:rPr>
            </a:br>
            <a:r>
              <a:rPr lang="en" sz="800" u="sng">
                <a:solidFill>
                  <a:schemeClr val="hlink"/>
                </a:solidFill>
                <a:latin typeface="Calibri"/>
                <a:ea typeface="Calibri"/>
                <a:cs typeface="Calibri"/>
                <a:sym typeface="Calibri"/>
                <a:hlinkClick r:id="rId6"/>
              </a:rPr>
              <a:t>https://www.designarena.ai</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7"/>
              </a:rPr>
              <a:t>https://openlm.ai/chatbot-arena/</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8"/>
              </a:rPr>
              <a:t>https://beta.lmarena.ai</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Web Leaderboard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9"/>
              </a:rPr>
              <a:t>https://web.lmarena.ai/leaderboard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@LlmStats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0"/>
              </a:rPr>
              <a:t>https://llmworld.net/llm_leaderboards/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StackAI</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1"/>
              </a:rPr>
              <a:t>https://www.stack-ai.com/llm-leaderboard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Artificial Analysis</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2"/>
              </a:rPr>
              <a:t>https://artificialanalysis.ai/leaderboards/models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Open LLM Leaderboard - by Hugging Face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3"/>
              </a:rPr>
              <a:t>https://huggingface.co/open-llm-leaderboard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Vellum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4"/>
              </a:rPr>
              <a:t>https://www.vellum.ai/llm-leaderboard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AI Benchmarking Hub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5"/>
              </a:rPr>
              <a:t>https://epoch.ai/data/ai-benchmarking-dashboard</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Grok 4 Benchmarks -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16"/>
              </a:rPr>
              <a:t>https://artificialanalysis.ai/models/grok-4</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p:txBody>
      </p:sp>
      <p:sp>
        <p:nvSpPr>
          <p:cNvPr id="82" name="Google Shape;82;p16"/>
          <p:cNvSpPr/>
          <p:nvPr/>
        </p:nvSpPr>
        <p:spPr>
          <a:xfrm>
            <a:off x="3743624" y="755849"/>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3" name="Google Shape;83;p16"/>
          <p:cNvSpPr/>
          <p:nvPr/>
        </p:nvSpPr>
        <p:spPr>
          <a:xfrm>
            <a:off x="594761" y="1486635"/>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4" name="Google Shape;84;p16"/>
          <p:cNvSpPr/>
          <p:nvPr/>
        </p:nvSpPr>
        <p:spPr>
          <a:xfrm>
            <a:off x="595461" y="1682324"/>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5" name="Google Shape;85;p16"/>
          <p:cNvSpPr/>
          <p:nvPr/>
        </p:nvSpPr>
        <p:spPr>
          <a:xfrm>
            <a:off x="3748244" y="1113770"/>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6" name="Google Shape;86;p16"/>
          <p:cNvSpPr txBox="1"/>
          <p:nvPr/>
        </p:nvSpPr>
        <p:spPr>
          <a:xfrm>
            <a:off x="3447377" y="3633587"/>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87" name="Google Shape;87;p16"/>
          <p:cNvSpPr/>
          <p:nvPr/>
        </p:nvSpPr>
        <p:spPr>
          <a:xfrm>
            <a:off x="3747834" y="3644876"/>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8" name="Google Shape;88;p16"/>
          <p:cNvSpPr txBox="1"/>
          <p:nvPr/>
        </p:nvSpPr>
        <p:spPr>
          <a:xfrm>
            <a:off x="3448497" y="3110294"/>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89" name="Google Shape;89;p16"/>
          <p:cNvSpPr/>
          <p:nvPr/>
        </p:nvSpPr>
        <p:spPr>
          <a:xfrm>
            <a:off x="3748954" y="3121583"/>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0" name="Google Shape;90;p16"/>
          <p:cNvSpPr txBox="1"/>
          <p:nvPr/>
        </p:nvSpPr>
        <p:spPr>
          <a:xfrm>
            <a:off x="3587049" y="2944237"/>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91" name="Google Shape;91;p16"/>
          <p:cNvSpPr txBox="1"/>
          <p:nvPr/>
        </p:nvSpPr>
        <p:spPr>
          <a:xfrm>
            <a:off x="437205" y="4564751"/>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92" name="Google Shape;92;p16"/>
          <p:cNvSpPr txBox="1"/>
          <p:nvPr/>
        </p:nvSpPr>
        <p:spPr>
          <a:xfrm>
            <a:off x="446720" y="3676114"/>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93" name="Google Shape;93;p16"/>
          <p:cNvSpPr/>
          <p:nvPr/>
        </p:nvSpPr>
        <p:spPr>
          <a:xfrm>
            <a:off x="3751768" y="3291133"/>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4" name="Google Shape;94;p16"/>
          <p:cNvSpPr txBox="1"/>
          <p:nvPr/>
        </p:nvSpPr>
        <p:spPr>
          <a:xfrm>
            <a:off x="3458789" y="3829654"/>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95" name="Google Shape;95;p16"/>
          <p:cNvSpPr/>
          <p:nvPr/>
        </p:nvSpPr>
        <p:spPr>
          <a:xfrm>
            <a:off x="3749658" y="3838048"/>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6" name="Google Shape;96;p16"/>
          <p:cNvSpPr txBox="1"/>
          <p:nvPr/>
        </p:nvSpPr>
        <p:spPr>
          <a:xfrm>
            <a:off x="4566100" y="63625"/>
            <a:ext cx="1408200" cy="17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chemeClr val="dk1"/>
              </a:buClr>
              <a:buSzPts val="1000"/>
              <a:buFont typeface="Calibri"/>
              <a:buChar char="●"/>
            </a:pPr>
            <a:r>
              <a:rPr lang="en" sz="1000">
                <a:latin typeface="Calibri"/>
                <a:ea typeface="Calibri"/>
                <a:cs typeface="Calibri"/>
                <a:sym typeface="Calibri"/>
              </a:rPr>
              <a:t>Data for November 26</a:t>
            </a:r>
            <a:endParaRPr sz="1000">
              <a:solidFill>
                <a:schemeClr val="dk1"/>
              </a:solidFill>
              <a:latin typeface="Calibri"/>
              <a:ea typeface="Calibri"/>
              <a:cs typeface="Calibri"/>
              <a:sym typeface="Calibri"/>
            </a:endParaRPr>
          </a:p>
        </p:txBody>
      </p:sp>
      <p:sp>
        <p:nvSpPr>
          <p:cNvPr id="97" name="Google Shape;97;p16"/>
          <p:cNvSpPr/>
          <p:nvPr/>
        </p:nvSpPr>
        <p:spPr>
          <a:xfrm>
            <a:off x="3751782" y="2209622"/>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8" name="Google Shape;98;p16"/>
          <p:cNvSpPr/>
          <p:nvPr/>
        </p:nvSpPr>
        <p:spPr>
          <a:xfrm>
            <a:off x="3750579" y="1292780"/>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9" name="Google Shape;99;p16"/>
          <p:cNvSpPr txBox="1"/>
          <p:nvPr/>
        </p:nvSpPr>
        <p:spPr>
          <a:xfrm>
            <a:off x="3458789" y="4898879"/>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00" name="Google Shape;100;p16"/>
          <p:cNvSpPr/>
          <p:nvPr/>
        </p:nvSpPr>
        <p:spPr>
          <a:xfrm>
            <a:off x="3749658" y="4907273"/>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1" name="Google Shape;101;p16"/>
          <p:cNvSpPr/>
          <p:nvPr/>
        </p:nvSpPr>
        <p:spPr>
          <a:xfrm>
            <a:off x="3748357" y="917877"/>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2" name="Google Shape;102;p16"/>
          <p:cNvSpPr txBox="1"/>
          <p:nvPr/>
        </p:nvSpPr>
        <p:spPr>
          <a:xfrm flipH="1">
            <a:off x="3679393" y="1461465"/>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103" name="Google Shape;103;p16"/>
          <p:cNvSpPr txBox="1"/>
          <p:nvPr/>
        </p:nvSpPr>
        <p:spPr>
          <a:xfrm flipH="1">
            <a:off x="3691285" y="2561132"/>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104" name="Google Shape;104;p16"/>
          <p:cNvSpPr/>
          <p:nvPr/>
        </p:nvSpPr>
        <p:spPr>
          <a:xfrm>
            <a:off x="3750579" y="1665173"/>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5" name="Google Shape;105;p16"/>
          <p:cNvSpPr/>
          <p:nvPr/>
        </p:nvSpPr>
        <p:spPr>
          <a:xfrm>
            <a:off x="3750579" y="1849587"/>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6" name="Google Shape;106;p16"/>
          <p:cNvSpPr/>
          <p:nvPr/>
        </p:nvSpPr>
        <p:spPr>
          <a:xfrm>
            <a:off x="3750579" y="2378487"/>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7" name="Google Shape;107;p16"/>
          <p:cNvSpPr/>
          <p:nvPr/>
        </p:nvSpPr>
        <p:spPr>
          <a:xfrm>
            <a:off x="598073" y="1875305"/>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8" name="Google Shape;108;p16"/>
          <p:cNvSpPr txBox="1"/>
          <p:nvPr/>
        </p:nvSpPr>
        <p:spPr>
          <a:xfrm flipH="1">
            <a:off x="532333" y="943043"/>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109" name="Google Shape;109;p16"/>
          <p:cNvSpPr/>
          <p:nvPr/>
        </p:nvSpPr>
        <p:spPr>
          <a:xfrm>
            <a:off x="596204" y="2037155"/>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0" name="Google Shape;110;p16"/>
          <p:cNvSpPr/>
          <p:nvPr/>
        </p:nvSpPr>
        <p:spPr>
          <a:xfrm>
            <a:off x="596204" y="2212922"/>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1" name="Google Shape;111;p16"/>
          <p:cNvSpPr/>
          <p:nvPr/>
        </p:nvSpPr>
        <p:spPr>
          <a:xfrm>
            <a:off x="594433" y="2577276"/>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2" name="Google Shape;112;p16"/>
          <p:cNvSpPr/>
          <p:nvPr/>
        </p:nvSpPr>
        <p:spPr>
          <a:xfrm>
            <a:off x="594433" y="3121000"/>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3" name="Google Shape;113;p16"/>
          <p:cNvSpPr txBox="1"/>
          <p:nvPr/>
        </p:nvSpPr>
        <p:spPr>
          <a:xfrm>
            <a:off x="446720" y="4016786"/>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14" name="Google Shape;114;p16"/>
          <p:cNvSpPr txBox="1"/>
          <p:nvPr/>
        </p:nvSpPr>
        <p:spPr>
          <a:xfrm flipH="1">
            <a:off x="532333" y="4918816"/>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115" name="Google Shape;115;p16"/>
          <p:cNvSpPr txBox="1"/>
          <p:nvPr/>
        </p:nvSpPr>
        <p:spPr>
          <a:xfrm>
            <a:off x="304271" y="4381428"/>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16" name="Google Shape;116;p16"/>
          <p:cNvSpPr/>
          <p:nvPr/>
        </p:nvSpPr>
        <p:spPr>
          <a:xfrm>
            <a:off x="603537" y="4388675"/>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7" name="Google Shape;117;p16"/>
          <p:cNvSpPr/>
          <p:nvPr/>
        </p:nvSpPr>
        <p:spPr>
          <a:xfrm>
            <a:off x="594433" y="3293277"/>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8" name="Google Shape;118;p16"/>
          <p:cNvSpPr/>
          <p:nvPr/>
        </p:nvSpPr>
        <p:spPr>
          <a:xfrm>
            <a:off x="594433" y="292959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9" name="Google Shape;119;p16"/>
          <p:cNvSpPr/>
          <p:nvPr/>
        </p:nvSpPr>
        <p:spPr>
          <a:xfrm>
            <a:off x="3754343" y="4572167"/>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aphicFrame>
        <p:nvGraphicFramePr>
          <p:cNvPr id="120" name="Google Shape;120;p16"/>
          <p:cNvGraphicFramePr/>
          <p:nvPr/>
        </p:nvGraphicFramePr>
        <p:xfrm>
          <a:off x="3887476" y="549725"/>
          <a:ext cx="3000000" cy="3000000"/>
        </p:xfrm>
        <a:graphic>
          <a:graphicData uri="http://schemas.openxmlformats.org/drawingml/2006/table">
            <a:tbl>
              <a:tblPr>
                <a:noFill/>
                <a:tableStyleId>{4CAF02FB-ADDB-40AC-A3BE-46AA5666B36A}</a:tableStyleId>
              </a:tblPr>
              <a:tblGrid>
                <a:gridCol w="1800225">
                  <a:extLst>
                    <a:ext uri="{9D8B030D-6E8A-4147-A177-3AD203B41FA5}">
                      <a16:colId xmlns:a16="http://schemas.microsoft.com/office/drawing/2014/main" val="20000"/>
                    </a:ext>
                  </a:extLst>
                </a:gridCol>
                <a:gridCol w="295275">
                  <a:extLst>
                    <a:ext uri="{9D8B030D-6E8A-4147-A177-3AD203B41FA5}">
                      <a16:colId xmlns:a16="http://schemas.microsoft.com/office/drawing/2014/main" val="20001"/>
                    </a:ext>
                  </a:extLst>
                </a:gridCol>
              </a:tblGrid>
              <a:tr h="167450">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Model</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Score</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1674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7">
                            <a:extLst>
                              <a:ext uri="{A12FA001-AC4F-418D-AE19-62706E023703}">
                                <ahyp:hlinkClr xmlns:ahyp="http://schemas.microsoft.com/office/drawing/2018/hyperlinkcolor" val="tx"/>
                              </a:ext>
                            </a:extLst>
                          </a:hlinkClick>
                        </a:rPr>
                        <a:t>claude-opus-4-5-20251101-thinking-32k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1535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1674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8">
                            <a:extLst>
                              <a:ext uri="{A12FA001-AC4F-418D-AE19-62706E023703}">
                                <ahyp:hlinkClr xmlns:ahyp="http://schemas.microsoft.com/office/drawing/2018/hyperlinkcolor" val="tx"/>
                              </a:ext>
                            </a:extLst>
                          </a:hlinkClick>
                        </a:rPr>
                        <a:t>gemini-3-pro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1526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1674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claude-sonnet-4-5-20250929-thinking-32k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1525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1674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claude-opus-4-1-20250805-thinking-16k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1515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1674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grok-4.1-thinking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1511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1674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7">
                            <a:extLst>
                              <a:ext uri="{A12FA001-AC4F-418D-AE19-62706E023703}">
                                <ahyp:hlinkClr xmlns:ahyp="http://schemas.microsoft.com/office/drawing/2018/hyperlinkcolor" val="tx"/>
                              </a:ext>
                            </a:extLst>
                          </a:hlinkClick>
                        </a:rPr>
                        <a:t>claude-opus-4-5-20251101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1509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1674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claude-sonnet-4-5-20250929</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1504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1674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claude-opus-4-1-20250805</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1501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r h="1674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gpt-5.1-high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9"/>
                  </a:ext>
                </a:extLst>
              </a:tr>
              <a:tr h="1674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claude-opus-4-20250514-thinking-16k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0"/>
                  </a:ext>
                </a:extLst>
              </a:tr>
              <a:tr h="1674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grok-4.1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1"/>
                  </a:ext>
                </a:extLst>
              </a:tr>
              <a:tr h="1674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gpt-5.1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2"/>
                  </a:ext>
                </a:extLst>
              </a:tr>
              <a:tr h="1674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qwen3-max-preview</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1481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3"/>
                  </a:ext>
                </a:extLst>
              </a:tr>
              <a:tr h="1674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5">
                            <a:extLst>
                              <a:ext uri="{A12FA001-AC4F-418D-AE19-62706E023703}">
                                <ahyp:hlinkClr xmlns:ahyp="http://schemas.microsoft.com/office/drawing/2018/hyperlinkcolor" val="tx"/>
                              </a:ext>
                            </a:extLst>
                          </a:hlinkClick>
                        </a:rPr>
                        <a:t>kimi-k2-thinking-turbo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4"/>
                  </a:ext>
                </a:extLst>
              </a:tr>
              <a:tr h="1674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claude-haiku-4-5-20251001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5"/>
                  </a:ext>
                </a:extLst>
              </a:tr>
              <a:tr h="1674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7">
                            <a:extLst>
                              <a:ext uri="{A12FA001-AC4F-418D-AE19-62706E023703}">
                                <ahyp:hlinkClr xmlns:ahyp="http://schemas.microsoft.com/office/drawing/2018/hyperlinkcolor" val="tx"/>
                              </a:ext>
                            </a:extLst>
                          </a:hlinkClick>
                        </a:rPr>
                        <a:t>qwen3-max-2025-09-23</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6"/>
                  </a:ext>
                </a:extLst>
              </a:tr>
              <a:tr h="1674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longcat-flash-chat</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7"/>
                  </a:ext>
                </a:extLst>
              </a:tr>
              <a:tr h="1674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9">
                            <a:extLst>
                              <a:ext uri="{A12FA001-AC4F-418D-AE19-62706E023703}">
                                <ahyp:hlinkClr xmlns:ahyp="http://schemas.microsoft.com/office/drawing/2018/hyperlinkcolor" val="tx"/>
                              </a:ext>
                            </a:extLst>
                          </a:hlinkClick>
                        </a:rPr>
                        <a:t>qwen3-235b-a22b-instruct-2507</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1472</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8"/>
                  </a:ext>
                </a:extLst>
              </a:tr>
              <a:tr h="1674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0">
                            <a:extLst>
                              <a:ext uri="{A12FA001-AC4F-418D-AE19-62706E023703}">
                                <ahyp:hlinkClr xmlns:ahyp="http://schemas.microsoft.com/office/drawing/2018/hyperlinkcolor" val="tx"/>
                              </a:ext>
                            </a:extLst>
                          </a:hlinkClick>
                        </a:rPr>
                        <a:t>deepseek-v3.2-exp</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1472</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9"/>
                  </a:ext>
                </a:extLst>
              </a:tr>
              <a:tr h="1674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0">
                            <a:extLst>
                              <a:ext uri="{A12FA001-AC4F-418D-AE19-62706E023703}">
                                <ahyp:hlinkClr xmlns:ahyp="http://schemas.microsoft.com/office/drawing/2018/hyperlinkcolor" val="tx"/>
                              </a:ext>
                            </a:extLst>
                          </a:hlinkClick>
                        </a:rPr>
                        <a:t>deepseek-v3.2-exp-thinking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0"/>
                  </a:ext>
                </a:extLst>
              </a:tr>
              <a:tr h="1674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1">
                            <a:extLst>
                              <a:ext uri="{A12FA001-AC4F-418D-AE19-62706E023703}">
                                <ahyp:hlinkClr xmlns:ahyp="http://schemas.microsoft.com/office/drawing/2018/hyperlinkcolor" val="tx"/>
                              </a:ext>
                            </a:extLst>
                          </a:hlinkClick>
                        </a:rPr>
                        <a:t>gemini-2.5-pro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1"/>
                  </a:ext>
                </a:extLst>
              </a:tr>
              <a:tr h="1674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2">
                            <a:extLst>
                              <a:ext uri="{A12FA001-AC4F-418D-AE19-62706E023703}">
                                <ahyp:hlinkClr xmlns:ahyp="http://schemas.microsoft.com/office/drawing/2018/hyperlinkcolor" val="tx"/>
                              </a:ext>
                            </a:extLst>
                          </a:hlinkClick>
                        </a:rPr>
                        <a:t>gpt-5-high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2"/>
                  </a:ext>
                </a:extLst>
              </a:tr>
              <a:tr h="1674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claude-sonnet-4-20250514-thinking-32k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3"/>
                  </a:ext>
                </a:extLst>
              </a:tr>
              <a:tr h="1674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3">
                            <a:extLst>
                              <a:ext uri="{A12FA001-AC4F-418D-AE19-62706E023703}">
                                <ahyp:hlinkClr xmlns:ahyp="http://schemas.microsoft.com/office/drawing/2018/hyperlinkcolor" val="tx"/>
                              </a:ext>
                            </a:extLst>
                          </a:hlinkClick>
                        </a:rPr>
                        <a:t>kimi-k2-0905-preview</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1467</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4"/>
                  </a:ext>
                </a:extLst>
              </a:tr>
            </a:tbl>
          </a:graphicData>
        </a:graphic>
      </p:graphicFrame>
      <p:graphicFrame>
        <p:nvGraphicFramePr>
          <p:cNvPr id="121" name="Google Shape;121;p16"/>
          <p:cNvGraphicFramePr/>
          <p:nvPr/>
        </p:nvGraphicFramePr>
        <p:xfrm>
          <a:off x="731323" y="558472"/>
          <a:ext cx="3000000" cy="3000000"/>
        </p:xfrm>
        <a:graphic>
          <a:graphicData uri="http://schemas.openxmlformats.org/drawingml/2006/table">
            <a:tbl>
              <a:tblPr>
                <a:noFill/>
                <a:tableStyleId>{4CAF02FB-ADDB-40AC-A3BE-46AA5666B36A}</a:tableStyleId>
              </a:tblPr>
              <a:tblGrid>
                <a:gridCol w="1800225">
                  <a:extLst>
                    <a:ext uri="{9D8B030D-6E8A-4147-A177-3AD203B41FA5}">
                      <a16:colId xmlns:a16="http://schemas.microsoft.com/office/drawing/2014/main" val="20000"/>
                    </a:ext>
                  </a:extLst>
                </a:gridCol>
                <a:gridCol w="295275">
                  <a:extLst>
                    <a:ext uri="{9D8B030D-6E8A-4147-A177-3AD203B41FA5}">
                      <a16:colId xmlns:a16="http://schemas.microsoft.com/office/drawing/2014/main" val="20001"/>
                    </a:ext>
                  </a:extLst>
                </a:gridCol>
              </a:tblGrid>
              <a:tr h="110425">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Model</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Score</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1104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8">
                            <a:extLst>
                              <a:ext uri="{A12FA001-AC4F-418D-AE19-62706E023703}">
                                <ahyp:hlinkClr xmlns:ahyp="http://schemas.microsoft.com/office/drawing/2018/hyperlinkcolor" val="tx"/>
                              </a:ext>
                            </a:extLst>
                          </a:hlinkClick>
                        </a:rPr>
                        <a:t>gemini-3-pro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1492</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1104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grok-4.1-thinking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1482</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1104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7">
                            <a:extLst>
                              <a:ext uri="{A12FA001-AC4F-418D-AE19-62706E023703}">
                                <ahyp:hlinkClr xmlns:ahyp="http://schemas.microsoft.com/office/drawing/2018/hyperlinkcolor" val="tx"/>
                              </a:ext>
                            </a:extLst>
                          </a:hlinkClick>
                        </a:rPr>
                        <a:t>claude-opus-4-5-20251101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1104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grok-4.1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1104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gpt-5.1-high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1577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7">
                            <a:extLst>
                              <a:ext uri="{A12FA001-AC4F-418D-AE19-62706E023703}">
                                <ahyp:hlinkClr xmlns:ahyp="http://schemas.microsoft.com/office/drawing/2018/hyperlinkcolor" val="tx"/>
                              </a:ext>
                            </a:extLst>
                          </a:hlinkClick>
                        </a:rPr>
                        <a:t>claude-opus-4-5-20251101-thinking-32k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1104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1">
                            <a:extLst>
                              <a:ext uri="{A12FA001-AC4F-418D-AE19-62706E023703}">
                                <ahyp:hlinkClr xmlns:ahyp="http://schemas.microsoft.com/office/drawing/2018/hyperlinkcolor" val="tx"/>
                              </a:ext>
                            </a:extLst>
                          </a:hlinkClick>
                        </a:rPr>
                        <a:t>gemini-2.5-pro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1452</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1577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claude-sonnet-4-5-20250929-thinking-32k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r h="1577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claude-opus-4-1-20250805-thinking-16k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9"/>
                  </a:ext>
                </a:extLst>
              </a:tr>
              <a:tr h="1104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claude-sonnet-4-5-20250929</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0"/>
                  </a:ext>
                </a:extLst>
              </a:tr>
              <a:tr h="1104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4">
                            <a:extLst>
                              <a:ext uri="{A12FA001-AC4F-418D-AE19-62706E023703}">
                                <ahyp:hlinkClr xmlns:ahyp="http://schemas.microsoft.com/office/drawing/2018/hyperlinkcolor" val="tx"/>
                              </a:ext>
                            </a:extLst>
                          </a:hlinkClick>
                        </a:rPr>
                        <a:t>gpt-4.5-preview-2025-02-27</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1442</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1"/>
                  </a:ext>
                </a:extLst>
              </a:tr>
              <a:tr h="1104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claude-opus-4-1-20250805</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2"/>
                  </a:ext>
                </a:extLst>
              </a:tr>
              <a:tr h="1104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5">
                            <a:extLst>
                              <a:ext uri="{A12FA001-AC4F-418D-AE19-62706E023703}">
                                <ahyp:hlinkClr xmlns:ahyp="http://schemas.microsoft.com/office/drawing/2018/hyperlinkcolor" val="tx"/>
                              </a:ext>
                            </a:extLst>
                          </a:hlinkClick>
                        </a:rPr>
                        <a:t>chatgpt-4o-latest-20250326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3"/>
                  </a:ext>
                </a:extLst>
              </a:tr>
              <a:tr h="1104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2">
                            <a:extLst>
                              <a:ext uri="{A12FA001-AC4F-418D-AE19-62706E023703}">
                                <ahyp:hlinkClr xmlns:ahyp="http://schemas.microsoft.com/office/drawing/2018/hyperlinkcolor" val="tx"/>
                              </a:ext>
                            </a:extLst>
                          </a:hlinkClick>
                        </a:rPr>
                        <a:t>gpt-5-high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1437</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4"/>
                  </a:ext>
                </a:extLst>
              </a:tr>
              <a:tr h="1104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gpt-5.1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1437</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5"/>
                  </a:ext>
                </a:extLst>
              </a:tr>
              <a:tr h="1104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6">
                            <a:extLst>
                              <a:ext uri="{A12FA001-AC4F-418D-AE19-62706E023703}">
                                <ahyp:hlinkClr xmlns:ahyp="http://schemas.microsoft.com/office/drawing/2018/hyperlinkcolor" val="tx"/>
                              </a:ext>
                            </a:extLst>
                          </a:hlinkClick>
                        </a:rPr>
                        <a:t>o3-2025-04-16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6"/>
                  </a:ext>
                </a:extLst>
              </a:tr>
              <a:tr h="1104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qwen3-max-preview</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7"/>
                  </a:ext>
                </a:extLst>
              </a:tr>
              <a:tr h="1104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5">
                            <a:extLst>
                              <a:ext uri="{A12FA001-AC4F-418D-AE19-62706E023703}">
                                <ahyp:hlinkClr xmlns:ahyp="http://schemas.microsoft.com/office/drawing/2018/hyperlinkcolor" val="tx"/>
                              </a:ext>
                            </a:extLst>
                          </a:hlinkClick>
                        </a:rPr>
                        <a:t>kimi-k2-thinking-turbo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8"/>
                  </a:ext>
                </a:extLst>
              </a:tr>
              <a:tr h="1104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7">
                            <a:extLst>
                              <a:ext uri="{A12FA001-AC4F-418D-AE19-62706E023703}">
                                <ahyp:hlinkClr xmlns:ahyp="http://schemas.microsoft.com/office/drawing/2018/hyperlinkcolor" val="tx"/>
                              </a:ext>
                            </a:extLst>
                          </a:hlinkClick>
                        </a:rPr>
                        <a:t>glm-4.6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9"/>
                  </a:ext>
                </a:extLst>
              </a:tr>
              <a:tr h="1104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8">
                            <a:extLst>
                              <a:ext uri="{A12FA001-AC4F-418D-AE19-62706E023703}">
                                <ahyp:hlinkClr xmlns:ahyp="http://schemas.microsoft.com/office/drawing/2018/hyperlinkcolor" val="tx"/>
                              </a:ext>
                            </a:extLst>
                          </a:hlinkClick>
                        </a:rPr>
                        <a:t>gpt-5-chat</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0"/>
                  </a:ext>
                </a:extLst>
              </a:tr>
              <a:tr h="1104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0">
                            <a:extLst>
                              <a:ext uri="{A12FA001-AC4F-418D-AE19-62706E023703}">
                                <ahyp:hlinkClr xmlns:ahyp="http://schemas.microsoft.com/office/drawing/2018/hyperlinkcolor" val="tx"/>
                              </a:ext>
                            </a:extLst>
                          </a:hlinkClick>
                        </a:rPr>
                        <a:t>deepseek-v3.2-exp</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1"/>
                  </a:ext>
                </a:extLst>
              </a:tr>
              <a:tr h="1104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7">
                            <a:extLst>
                              <a:ext uri="{A12FA001-AC4F-418D-AE19-62706E023703}">
                                <ahyp:hlinkClr xmlns:ahyp="http://schemas.microsoft.com/office/drawing/2018/hyperlinkcolor" val="tx"/>
                              </a:ext>
                            </a:extLst>
                          </a:hlinkClick>
                        </a:rPr>
                        <a:t>qwen3-max-2025-09-23</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2"/>
                  </a:ext>
                </a:extLst>
              </a:tr>
              <a:tr h="1104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claude-opus-4-20250514-thinking-16k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3"/>
                  </a:ext>
                </a:extLst>
              </a:tr>
              <a:tr h="1104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9">
                            <a:extLst>
                              <a:ext uri="{A12FA001-AC4F-418D-AE19-62706E023703}">
                                <ahyp:hlinkClr xmlns:ahyp="http://schemas.microsoft.com/office/drawing/2018/hyperlinkcolor" val="tx"/>
                              </a:ext>
                            </a:extLst>
                          </a:hlinkClick>
                        </a:rPr>
                        <a:t>grok-4-1-fast-reasoning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1422</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4"/>
                  </a:ext>
                </a:extLst>
              </a:tr>
            </a:tbl>
          </a:graphicData>
        </a:graphic>
      </p:graphicFrame>
      <p:sp>
        <p:nvSpPr>
          <p:cNvPr id="122" name="Google Shape;122;p16"/>
          <p:cNvSpPr txBox="1"/>
          <p:nvPr/>
        </p:nvSpPr>
        <p:spPr>
          <a:xfrm flipH="1">
            <a:off x="532333" y="1278520"/>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123" name="Google Shape;123;p16"/>
          <p:cNvSpPr/>
          <p:nvPr/>
        </p:nvSpPr>
        <p:spPr>
          <a:xfrm>
            <a:off x="595461" y="1108021"/>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4" name="Google Shape;124;p16"/>
          <p:cNvSpPr/>
          <p:nvPr/>
        </p:nvSpPr>
        <p:spPr>
          <a:xfrm>
            <a:off x="596204" y="2395999"/>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5" name="Google Shape;125;p16"/>
          <p:cNvSpPr/>
          <p:nvPr/>
        </p:nvSpPr>
        <p:spPr>
          <a:xfrm>
            <a:off x="596204" y="2766773"/>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6" name="Google Shape;126;p16"/>
          <p:cNvSpPr/>
          <p:nvPr/>
        </p:nvSpPr>
        <p:spPr>
          <a:xfrm>
            <a:off x="594433" y="346612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7" name="Google Shape;127;p16"/>
          <p:cNvSpPr txBox="1"/>
          <p:nvPr/>
        </p:nvSpPr>
        <p:spPr>
          <a:xfrm>
            <a:off x="304271" y="3827577"/>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28" name="Google Shape;128;p16"/>
          <p:cNvSpPr/>
          <p:nvPr/>
        </p:nvSpPr>
        <p:spPr>
          <a:xfrm>
            <a:off x="603537" y="3834824"/>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9" name="Google Shape;129;p16"/>
          <p:cNvSpPr/>
          <p:nvPr/>
        </p:nvSpPr>
        <p:spPr>
          <a:xfrm>
            <a:off x="596204" y="4747973"/>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0" name="Google Shape;130;p16"/>
          <p:cNvSpPr/>
          <p:nvPr/>
        </p:nvSpPr>
        <p:spPr>
          <a:xfrm>
            <a:off x="3750579" y="2012212"/>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1" name="Google Shape;131;p16"/>
          <p:cNvSpPr/>
          <p:nvPr/>
        </p:nvSpPr>
        <p:spPr>
          <a:xfrm>
            <a:off x="3751782" y="2743022"/>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2" name="Google Shape;132;p16"/>
          <p:cNvSpPr txBox="1"/>
          <p:nvPr/>
        </p:nvSpPr>
        <p:spPr>
          <a:xfrm>
            <a:off x="3587049" y="3446960"/>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33" name="Google Shape;133;p16"/>
          <p:cNvSpPr txBox="1"/>
          <p:nvPr/>
        </p:nvSpPr>
        <p:spPr>
          <a:xfrm>
            <a:off x="3458789" y="4002505"/>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34" name="Google Shape;134;p16"/>
          <p:cNvSpPr/>
          <p:nvPr/>
        </p:nvSpPr>
        <p:spPr>
          <a:xfrm>
            <a:off x="3749658" y="4010899"/>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5" name="Google Shape;135;p16"/>
          <p:cNvSpPr txBox="1"/>
          <p:nvPr/>
        </p:nvSpPr>
        <p:spPr>
          <a:xfrm>
            <a:off x="3458789" y="4185582"/>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36" name="Google Shape;136;p16"/>
          <p:cNvSpPr/>
          <p:nvPr/>
        </p:nvSpPr>
        <p:spPr>
          <a:xfrm>
            <a:off x="3749658" y="4193976"/>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7" name="Google Shape;137;p16"/>
          <p:cNvSpPr/>
          <p:nvPr/>
        </p:nvSpPr>
        <p:spPr>
          <a:xfrm>
            <a:off x="3751768" y="4738933"/>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8" name="Google Shape;138;p16"/>
          <p:cNvSpPr/>
          <p:nvPr/>
        </p:nvSpPr>
        <p:spPr>
          <a:xfrm>
            <a:off x="3748357" y="4377553"/>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42"/>
        <p:cNvGrpSpPr/>
        <p:nvPr/>
      </p:nvGrpSpPr>
      <p:grpSpPr>
        <a:xfrm>
          <a:off x="0" y="0"/>
          <a:ext cx="0" cy="0"/>
          <a:chOff x="0" y="0"/>
          <a:chExt cx="0" cy="0"/>
        </a:xfrm>
      </p:grpSpPr>
      <p:sp>
        <p:nvSpPr>
          <p:cNvPr id="143" name="Google Shape;143;p17"/>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Anthropic Claude Opus 4.5</a:t>
            </a:r>
            <a:endParaRPr sz="2000" b="1" i="0" u="none" strike="noStrike" cap="none">
              <a:solidFill>
                <a:schemeClr val="dk1"/>
              </a:solidFill>
              <a:latin typeface="Calibri"/>
              <a:ea typeface="Calibri"/>
              <a:cs typeface="Calibri"/>
              <a:sym typeface="Calibri"/>
            </a:endParaRPr>
          </a:p>
        </p:txBody>
      </p:sp>
      <p:sp>
        <p:nvSpPr>
          <p:cNvPr id="144" name="Google Shape;144;p17"/>
          <p:cNvSpPr txBox="1"/>
          <p:nvPr/>
        </p:nvSpPr>
        <p:spPr>
          <a:xfrm>
            <a:off x="55075" y="387790"/>
            <a:ext cx="4444500" cy="4082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Anthropic released Claude Opus 4.5</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https://www.youtube.com/watch?v=VhuUcVhwqi8</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4"/>
              </a:rPr>
              <a:t>https://www.anthropic.com/news/claude-opus-4-5</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80.9% on SWE-bench Verified. Compare:</a:t>
            </a:r>
            <a:br>
              <a:rPr lang="en" sz="1100">
                <a:solidFill>
                  <a:schemeClr val="dk1"/>
                </a:solidFill>
                <a:latin typeface="Calibri"/>
                <a:ea typeface="Calibri"/>
                <a:cs typeface="Calibri"/>
                <a:sym typeface="Calibri"/>
              </a:rPr>
            </a:br>
            <a:r>
              <a:rPr lang="en" sz="1100">
                <a:solidFill>
                  <a:schemeClr val="dk1"/>
                </a:solidFill>
                <a:latin typeface="Calibri"/>
                <a:ea typeface="Calibri"/>
                <a:cs typeface="Calibri"/>
                <a:sym typeface="Calibri"/>
              </a:rPr>
              <a:t>OpenAI's GPT-5.1-Codex-Max (77.9%)</a:t>
            </a:r>
            <a:br>
              <a:rPr lang="en" sz="1100">
                <a:solidFill>
                  <a:schemeClr val="dk1"/>
                </a:solidFill>
                <a:latin typeface="Calibri"/>
                <a:ea typeface="Calibri"/>
                <a:cs typeface="Calibri"/>
                <a:sym typeface="Calibri"/>
              </a:rPr>
            </a:br>
            <a:r>
              <a:rPr lang="en" sz="1100">
                <a:solidFill>
                  <a:schemeClr val="dk1"/>
                </a:solidFill>
                <a:latin typeface="Calibri"/>
                <a:ea typeface="Calibri"/>
                <a:cs typeface="Calibri"/>
                <a:sym typeface="Calibri"/>
              </a:rPr>
              <a:t> Anthropic Sonnet 4.5 (77.2%)</a:t>
            </a:r>
            <a:br>
              <a:rPr lang="en" sz="1100">
                <a:solidFill>
                  <a:schemeClr val="dk1"/>
                </a:solidFill>
                <a:latin typeface="Calibri"/>
                <a:ea typeface="Calibri"/>
                <a:cs typeface="Calibri"/>
                <a:sym typeface="Calibri"/>
              </a:rPr>
            </a:br>
            <a:r>
              <a:rPr lang="en" sz="1100">
                <a:solidFill>
                  <a:schemeClr val="dk1"/>
                </a:solidFill>
                <a:latin typeface="Calibri"/>
                <a:ea typeface="Calibri"/>
                <a:cs typeface="Calibri"/>
                <a:sym typeface="Calibri"/>
              </a:rPr>
              <a:t>Google's Gemini 3 Pro (76.2%)</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59.3% on Terminal-bench 2.0 - compare  54.2% Gemini 3 Pro</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Gemini 3 Pro still leads in: GPQA Diamond, MMLU, ARC-AGI</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Opus 4.5 scored higher than human candidates on hiring exam</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model is using approx 2x less tokens than Sonnet while achieving higher accuracy.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Pricing: $5/$25 (in/out per 1M tokens). This is 50-100% more expensive than Gemini 3 Pro ($2/$12 for standard usage, $4/$18 for contexts over 200K tokens) but represents a 67% reduction from the previous Opus model</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Addressing context window consumption by MCP tool definitions: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Tool Search Tool - Allows Claude to search for needed tools rather than loading all tools into context, reducing usage from 40% to just 5% of the context window</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Programmatic tool executing in safe environments to minimize context impact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Tool use examples - standardized demonstrations for effective tool usage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Early users calling the model the "best coding model"</a:t>
            </a:r>
            <a:endParaRPr sz="1100">
              <a:solidFill>
                <a:schemeClr val="dk1"/>
              </a:solidFill>
              <a:latin typeface="Calibri"/>
              <a:ea typeface="Calibri"/>
              <a:cs typeface="Calibri"/>
              <a:sym typeface="Calibri"/>
            </a:endParaRPr>
          </a:p>
        </p:txBody>
      </p:sp>
      <p:pic>
        <p:nvPicPr>
          <p:cNvPr id="145" name="Google Shape;145;p17"/>
          <p:cNvPicPr preferRelativeResize="0"/>
          <p:nvPr/>
        </p:nvPicPr>
        <p:blipFill>
          <a:blip r:embed="rId5">
            <a:alphaModFix/>
          </a:blip>
          <a:stretch>
            <a:fillRect/>
          </a:stretch>
        </p:blipFill>
        <p:spPr>
          <a:xfrm>
            <a:off x="4740750" y="2325950"/>
            <a:ext cx="2857500" cy="1600200"/>
          </a:xfrm>
          <a:prstGeom prst="rect">
            <a:avLst/>
          </a:prstGeom>
          <a:noFill/>
          <a:ln w="9525" cap="flat" cmpd="sng">
            <a:solidFill>
              <a:srgbClr val="FF0000"/>
            </a:solidFill>
            <a:prstDash val="solid"/>
            <a:round/>
            <a:headEnd type="none" w="sm" len="sm"/>
            <a:tailEnd type="none" w="sm" len="sm"/>
          </a:ln>
        </p:spPr>
      </p:pic>
      <p:pic>
        <p:nvPicPr>
          <p:cNvPr id="146" name="Google Shape;146;p17"/>
          <p:cNvPicPr preferRelativeResize="0"/>
          <p:nvPr/>
        </p:nvPicPr>
        <p:blipFill>
          <a:blip r:embed="rId6">
            <a:alphaModFix/>
          </a:blip>
          <a:stretch>
            <a:fillRect/>
          </a:stretch>
        </p:blipFill>
        <p:spPr>
          <a:xfrm>
            <a:off x="4740750" y="387800"/>
            <a:ext cx="2857500" cy="16002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0"/>
        <p:cNvGrpSpPr/>
        <p:nvPr/>
      </p:nvGrpSpPr>
      <p:grpSpPr>
        <a:xfrm>
          <a:off x="0" y="0"/>
          <a:ext cx="0" cy="0"/>
          <a:chOff x="0" y="0"/>
          <a:chExt cx="0" cy="0"/>
        </a:xfrm>
      </p:grpSpPr>
      <p:sp>
        <p:nvSpPr>
          <p:cNvPr id="151" name="Google Shape;151;p18"/>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NotebookLM - Infographics &amp; Slide Decks</a:t>
            </a:r>
            <a:endParaRPr sz="2000" b="1" i="0" u="none" strike="noStrike" cap="none">
              <a:solidFill>
                <a:schemeClr val="dk1"/>
              </a:solidFill>
              <a:latin typeface="Calibri"/>
              <a:ea typeface="Calibri"/>
              <a:cs typeface="Calibri"/>
              <a:sym typeface="Calibri"/>
            </a:endParaRPr>
          </a:p>
        </p:txBody>
      </p:sp>
      <p:sp>
        <p:nvSpPr>
          <p:cNvPr id="152" name="Google Shape;152;p18"/>
          <p:cNvSpPr txBox="1"/>
          <p:nvPr/>
        </p:nvSpPr>
        <p:spPr>
          <a:xfrm>
            <a:off x="55075" y="416575"/>
            <a:ext cx="4444500" cy="289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Google Notebook LM New Visual Features: Infographics &amp; Slide Decks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https://www.youtube.com/watch?v=63XNYlMrlJY</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Infographics - powered by Nano Banana Pro, transforms documents into visual summaries with charts, diagrams, and relationship maps. Connected to Google's knowledge base, it ensures context-aware accuracy. Use cases include research summaries, concept relationships, and shareable infographics.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Slide Decks - converts research into full presentation decks with customizable content based on audience (beginners, executives, technical experts). The AI auto-generates diagrams, icons, and backgrounds, with PDF export capabilities.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Key benefits: Speed (create presentation in minutes vs. hours) and Quality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Prompt Tips: Be specific about structure (number of slides, content types); Define your audience clearly; Request specific visual elements (icons, layouts, metrics)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NotebookLM now bridges research, visualization, and presentation - saving hours of manual work while maintaining professional quality.</a:t>
            </a:r>
            <a:endParaRPr sz="1100">
              <a:solidFill>
                <a:schemeClr val="dk1"/>
              </a:solidFill>
              <a:latin typeface="Calibri"/>
              <a:ea typeface="Calibri"/>
              <a:cs typeface="Calibri"/>
              <a:sym typeface="Calibri"/>
            </a:endParaRPr>
          </a:p>
        </p:txBody>
      </p:sp>
      <p:pic>
        <p:nvPicPr>
          <p:cNvPr id="153" name="Google Shape;153;p18"/>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4586875" y="737750"/>
            <a:ext cx="4488676" cy="1744150"/>
          </a:xfrm>
          <a:prstGeom prst="rect">
            <a:avLst/>
          </a:prstGeom>
          <a:noFill/>
          <a:ln w="9525" cap="flat" cmpd="sng">
            <a:solidFill>
              <a:srgbClr val="FF0000"/>
            </a:solidFill>
            <a:prstDash val="solid"/>
            <a:round/>
            <a:headEnd type="none" w="sm" len="sm"/>
            <a:tailEnd type="none" w="sm" len="sm"/>
          </a:ln>
        </p:spPr>
      </p:pic>
      <p:sp>
        <p:nvSpPr>
          <p:cNvPr id="154" name="Google Shape;154;p18"/>
          <p:cNvSpPr txBox="1"/>
          <p:nvPr/>
        </p:nvSpPr>
        <p:spPr>
          <a:xfrm>
            <a:off x="55075" y="3409552"/>
            <a:ext cx="4444500" cy="1650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OLMo 3 Open Models from Allen Institute for AI</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OLMo 3-Base (7B and 32B), OLMo 3-Instruct (7B), OLMo 3-Think (7B and 32B), OLMo 3-RL Zero</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65K token context window, Apache 2.0 license (including weights, training data, code, checkpoints, and technical documentation)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OLMo 3-Think 32B  - top-performing fully open 32B reasoning model, outperforming other open-source competitors on benchmarks like MATH, IFEval, BigCodeBench-Hard, and HumanEval+</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https://allenai.org/blog/olmo3</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6"/>
              </a:rPr>
              <a:t>https://huggingface.co/allenai/Olmo-3-7B-Think</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pic>
        <p:nvPicPr>
          <p:cNvPr id="155" name="Google Shape;155;p18"/>
          <p:cNvPicPr preferRelativeResize="0"/>
          <p:nvPr/>
        </p:nvPicPr>
        <p:blipFill rotWithShape="1">
          <a:blip r:embed="rId7" cstate="email">
            <a:alphaModFix/>
            <a:extLst>
              <a:ext uri="{28A0092B-C50C-407E-A947-70E740481C1C}">
                <a14:useLocalDpi xmlns:a14="http://schemas.microsoft.com/office/drawing/2010/main"/>
              </a:ext>
            </a:extLst>
          </a:blip>
          <a:srcRect/>
          <a:stretch/>
        </p:blipFill>
        <p:spPr>
          <a:xfrm>
            <a:off x="4955275" y="3707800"/>
            <a:ext cx="2230274" cy="1053499"/>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19"/>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Ilya Sutskever on the Age of Research</a:t>
            </a:r>
            <a:endParaRPr sz="2000" b="1" i="0" u="none" strike="noStrike" cap="none">
              <a:solidFill>
                <a:schemeClr val="dk1"/>
              </a:solidFill>
              <a:latin typeface="Calibri"/>
              <a:ea typeface="Calibri"/>
              <a:cs typeface="Calibri"/>
              <a:sym typeface="Calibri"/>
            </a:endParaRPr>
          </a:p>
        </p:txBody>
      </p:sp>
      <p:sp>
        <p:nvSpPr>
          <p:cNvPr id="161" name="Google Shape;161;p19"/>
          <p:cNvSpPr txBox="1"/>
          <p:nvPr/>
        </p:nvSpPr>
        <p:spPr>
          <a:xfrm>
            <a:off x="55075" y="387790"/>
            <a:ext cx="4444500" cy="425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Ilya Sutskever on the Age of Research</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https://www.youtube.com/watch?v=aR20FWCCjAs</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Eval-Reality Gap - why models ace benchmarks but show limited real-world impact.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Ilya's explanation: RL training has become too focused on specific evals. He compares it to a student who practices 10,000 hours of competitive programming versus one with natural aptitude who practices 100. The latter generalizes better.</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From Scaling to Research:</a:t>
            </a:r>
            <a:br>
              <a:rPr lang="en" sz="1100">
                <a:solidFill>
                  <a:schemeClr val="dk1"/>
                </a:solidFill>
                <a:latin typeface="Calibri"/>
                <a:ea typeface="Calibri"/>
                <a:cs typeface="Calibri"/>
                <a:sym typeface="Calibri"/>
              </a:rPr>
            </a:br>
            <a:r>
              <a:rPr lang="en" sz="1100">
                <a:solidFill>
                  <a:schemeClr val="dk1"/>
                </a:solidFill>
                <a:latin typeface="Calibri"/>
                <a:ea typeface="Calibri"/>
                <a:cs typeface="Calibri"/>
                <a:sym typeface="Calibri"/>
              </a:rPr>
              <a:t>We've transitioned from the "age of scaling" (2020-2025) back to an "age of research." Pre-training data is becoming finite, and there are now "more companies than ideas by quite a bit." New breakthroughs require genuine research, not just bigger computers.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Generalization Problem:</a:t>
            </a:r>
            <a:br>
              <a:rPr lang="en" sz="1100">
                <a:solidFill>
                  <a:schemeClr val="dk1"/>
                </a:solidFill>
                <a:latin typeface="Calibri"/>
                <a:ea typeface="Calibri"/>
                <a:cs typeface="Calibri"/>
                <a:sym typeface="Calibri"/>
              </a:rPr>
            </a:br>
            <a:r>
              <a:rPr lang="en" sz="1100">
                <a:solidFill>
                  <a:schemeClr val="dk1"/>
                </a:solidFill>
                <a:latin typeface="Calibri"/>
                <a:ea typeface="Calibri"/>
                <a:cs typeface="Calibri"/>
                <a:sym typeface="Calibri"/>
              </a:rPr>
              <a:t> The core challenge: models generalize dramatically worse than humans. A child learns to drive in 10 hours with far less data than any model, yet rarely makes AI-like errors. Sutskever believes humans have "better machine learning, period" - evidenced by our ability to excel at math and coding, domains too recent for evolutionary priors. He declines specifics, citing competitive concerns.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Emotions as Value Functions: Sutskever discusses someone who lost emotional processing due to brain damage - remaining cognitively functional but unable to make simple decisions. This suggests emotions serve as evolution-tuned value functions, mysteriously encoding high-level social desires into our genes.</a:t>
            </a:r>
            <a:endParaRPr sz="1100">
              <a:solidFill>
                <a:schemeClr val="dk1"/>
              </a:solidFill>
              <a:latin typeface="Calibri"/>
              <a:ea typeface="Calibri"/>
              <a:cs typeface="Calibri"/>
              <a:sym typeface="Calibri"/>
            </a:endParaRPr>
          </a:p>
        </p:txBody>
      </p:sp>
      <p:sp>
        <p:nvSpPr>
          <p:cNvPr id="162" name="Google Shape;162;p19"/>
          <p:cNvSpPr txBox="1"/>
          <p:nvPr/>
        </p:nvSpPr>
        <p:spPr>
          <a:xfrm>
            <a:off x="4604325" y="387790"/>
            <a:ext cx="4444500" cy="2219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SSI's Vision: Safe Superintelligence Inc. is an "age of research company" pursuing different technical approaches around generalization.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Sutskever's vision for superintelligence: not a finished omniscient mind, but a system with human-like learning efficiency deployed to learn on the job—instances specializing across the economy, merging learnings.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Alignment - As AI becomes visibly powerful, Sutskever predicts companies will naturally converge on safety. He advocates for AI that "cares about sentient life" broadly. His reluctant long-term solution: humans becoming "part-AI" through neural interfaces to remain genuine participants.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He estimates 5-20 years to human-like learning systems.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Sutskever describes seeking "beauty, simplicity, elegance, correct inspiration from the brain" - simultaneously. This aesthetic provides the "top-down belief" that sustains you through failed experiments.</a:t>
            </a:r>
            <a:endParaRPr sz="1100">
              <a:solidFill>
                <a:schemeClr val="dk1"/>
              </a:solidFill>
              <a:latin typeface="Calibri"/>
              <a:ea typeface="Calibri"/>
              <a:cs typeface="Calibri"/>
              <a:sym typeface="Calibri"/>
            </a:endParaRPr>
          </a:p>
        </p:txBody>
      </p:sp>
      <p:pic>
        <p:nvPicPr>
          <p:cNvPr id="163" name="Google Shape;163;p19"/>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604325" y="2707748"/>
            <a:ext cx="3050623" cy="17103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67"/>
        <p:cNvGrpSpPr/>
        <p:nvPr/>
      </p:nvGrpSpPr>
      <p:grpSpPr>
        <a:xfrm>
          <a:off x="0" y="0"/>
          <a:ext cx="0" cy="0"/>
          <a:chOff x="0" y="0"/>
          <a:chExt cx="0" cy="0"/>
        </a:xfrm>
      </p:grpSpPr>
      <p:sp>
        <p:nvSpPr>
          <p:cNvPr id="168" name="Google Shape;168;p20"/>
          <p:cNvSpPr txBox="1"/>
          <p:nvPr/>
        </p:nvSpPr>
        <p:spPr>
          <a:xfrm>
            <a:off x="148651" y="619300"/>
            <a:ext cx="4917900" cy="418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We do these weekly videos every Friday</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Stats: 5.76K subscribers, 255 videos</a:t>
            </a: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Subscribe to this channel</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1800" b="1" u="sng">
                <a:solidFill>
                  <a:schemeClr val="accent5"/>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https://www.youtube.com/@lev-selector</a:t>
            </a:r>
            <a:r>
              <a:rPr lang="en" sz="1800" b="1">
                <a:solidFill>
                  <a:schemeClr val="dk1"/>
                </a:solidFill>
                <a:latin typeface="Calibri"/>
                <a:ea typeface="Calibri"/>
                <a:cs typeface="Calibri"/>
                <a:sym typeface="Calibri"/>
              </a:rPr>
              <a:t> </a:t>
            </a:r>
            <a:endParaRPr sz="1800" b="1">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Download slides from GitHub using links under the videos</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r>
              <a:rPr lang="en" sz="2200" b="1">
                <a:solidFill>
                  <a:srgbClr val="FF0000"/>
                </a:solidFill>
                <a:latin typeface="Calibri"/>
                <a:ea typeface="Calibri"/>
                <a:cs typeface="Calibri"/>
                <a:sym typeface="Calibri"/>
              </a:rPr>
              <a:t>Please pause the video - and answer the pinned question in comments under the video</a:t>
            </a:r>
            <a:endParaRPr sz="1800" b="1" i="0" u="none" strike="noStrike" cap="none">
              <a:solidFill>
                <a:srgbClr val="FF0000"/>
              </a:solidFill>
              <a:latin typeface="Calibri"/>
              <a:ea typeface="Calibri"/>
              <a:cs typeface="Calibri"/>
              <a:sym typeface="Calibri"/>
            </a:endParaRPr>
          </a:p>
        </p:txBody>
      </p:sp>
      <p:pic>
        <p:nvPicPr>
          <p:cNvPr id="169" name="Google Shape;169;p20"/>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227443" y="79125"/>
            <a:ext cx="3828725" cy="4985251"/>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174" name="Google Shape;174;p21"/>
          <p:cNvSpPr txBox="1"/>
          <p:nvPr/>
        </p:nvSpPr>
        <p:spPr>
          <a:xfrm>
            <a:off x="55075" y="0"/>
            <a:ext cx="2931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LingGuang's Viral Success</a:t>
            </a:r>
            <a:endParaRPr sz="2000" b="1" i="0" u="none" strike="noStrike" cap="none">
              <a:solidFill>
                <a:schemeClr val="dk1"/>
              </a:solidFill>
              <a:latin typeface="Calibri"/>
              <a:ea typeface="Calibri"/>
              <a:cs typeface="Calibri"/>
              <a:sym typeface="Calibri"/>
            </a:endParaRPr>
          </a:p>
        </p:txBody>
      </p:sp>
      <p:sp>
        <p:nvSpPr>
          <p:cNvPr id="175" name="Google Shape;175;p21"/>
          <p:cNvSpPr txBox="1"/>
          <p:nvPr/>
        </p:nvSpPr>
        <p:spPr>
          <a:xfrm>
            <a:off x="55075" y="370685"/>
            <a:ext cx="5078100" cy="1711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LingGuang - Ant Group's multimodal AI assistant from China</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https://www.youtube.com/watch?v=ocjhUqO428Q</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2 Mln downloads in 6 days, beating ChatGPT and Sora's early adoption rates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app's "Flash Program" feature generates working mini-apps in 30 seconds from simple prompts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LingGuang delivers code-driven outputs including 3D models, animations, interactive charts, and maps rather than just text</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Its "AGI Camera" provides real-time scene understanding and instant visual analysis.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app is now available globally at </a:t>
            </a:r>
            <a:r>
              <a:rPr lang="en" sz="1100" u="sng">
                <a:solidFill>
                  <a:schemeClr val="hlink"/>
                </a:solidFill>
                <a:latin typeface="Calibri"/>
                <a:ea typeface="Calibri"/>
                <a:cs typeface="Calibri"/>
                <a:sym typeface="Calibri"/>
                <a:hlinkClick r:id="rId4"/>
              </a:rPr>
              <a:t>linguang.com</a:t>
            </a:r>
            <a:r>
              <a:rPr lang="en" sz="1100">
                <a:solidFill>
                  <a:schemeClr val="dk1"/>
                </a:solidFill>
                <a:latin typeface="Calibri"/>
                <a:ea typeface="Calibri"/>
                <a:cs typeface="Calibri"/>
                <a:sym typeface="Calibri"/>
              </a:rPr>
              <a:t> (actually the site is not reachable at the moment)</a:t>
            </a:r>
            <a:endParaRPr sz="1100">
              <a:solidFill>
                <a:schemeClr val="dk1"/>
              </a:solidFill>
              <a:latin typeface="Calibri"/>
              <a:ea typeface="Calibri"/>
              <a:cs typeface="Calibri"/>
              <a:sym typeface="Calibri"/>
            </a:endParaRPr>
          </a:p>
        </p:txBody>
      </p:sp>
      <p:pic>
        <p:nvPicPr>
          <p:cNvPr id="176" name="Google Shape;176;p21"/>
          <p:cNvPicPr preferRelativeResize="0"/>
          <p:nvPr/>
        </p:nvPicPr>
        <p:blipFill>
          <a:blip r:embed="rId5">
            <a:alphaModFix/>
          </a:blip>
          <a:stretch>
            <a:fillRect/>
          </a:stretch>
        </p:blipFill>
        <p:spPr>
          <a:xfrm>
            <a:off x="5409975" y="443275"/>
            <a:ext cx="2847975" cy="1600200"/>
          </a:xfrm>
          <a:prstGeom prst="rect">
            <a:avLst/>
          </a:prstGeom>
          <a:noFill/>
          <a:ln w="9525" cap="flat" cmpd="sng">
            <a:solidFill>
              <a:srgbClr val="FF0000"/>
            </a:solidFill>
            <a:prstDash val="solid"/>
            <a:round/>
            <a:headEnd type="none" w="sm" len="sm"/>
            <a:tailEnd type="none" w="sm" len="sm"/>
          </a:ln>
        </p:spPr>
      </p:pic>
      <p:sp>
        <p:nvSpPr>
          <p:cNvPr id="177" name="Google Shape;177;p21"/>
          <p:cNvSpPr txBox="1"/>
          <p:nvPr/>
        </p:nvSpPr>
        <p:spPr>
          <a:xfrm>
            <a:off x="55075" y="2126835"/>
            <a:ext cx="5078100" cy="289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Greptile: AI Self-Healing Code Review Agent</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6"/>
              </a:rPr>
              <a:t>https://www.youtube.com/watch?v=tlZNo3g0urY</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Greptile is an AI coding agent that reviews pull requests with complete codebase context by building a detailed graph of all functions, classes, files, and their relationships. Unlike traditional tools that only analyze code diffs, it understands how changes affect the entire system</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tool automatically catches critical bugs like SQL injection, XSS vulnerabilities, and memory leaks while providing confidence scores (1-5) to indicate merge safety. It integrates with GitHub and GitLab, learns your team's coding practices from PR comments and reactions, and generates PR summaries with sequence diagrams. Teams can chat with their repository for code understanding and add custom rules for context-specific reviews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Greptile helps teams merge PRs up to 4X faster and catch 3X more bugs, supporting 30+ programming languages with SOC2 compliance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7"/>
              </a:rPr>
              <a:t>https://www.greptile.com/what-is-ai-code-review</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8"/>
              </a:rPr>
              <a:t>https://www.greptile.com</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9"/>
              </a:rPr>
              <a:t>https://www.greptile.com/docs/code-review-bot/key-features</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p:txBody>
      </p:sp>
      <p:pic>
        <p:nvPicPr>
          <p:cNvPr id="178" name="Google Shape;178;p21"/>
          <p:cNvPicPr preferRelativeResize="0"/>
          <p:nvPr/>
        </p:nvPicPr>
        <p:blipFill>
          <a:blip r:embed="rId10" cstate="email">
            <a:alphaModFix/>
            <a:extLst>
              <a:ext uri="{28A0092B-C50C-407E-A947-70E740481C1C}">
                <a14:useLocalDpi xmlns:a14="http://schemas.microsoft.com/office/drawing/2010/main"/>
              </a:ext>
            </a:extLst>
          </a:blip>
          <a:stretch>
            <a:fillRect/>
          </a:stretch>
        </p:blipFill>
        <p:spPr>
          <a:xfrm>
            <a:off x="5409975" y="2126825"/>
            <a:ext cx="2847975" cy="1423987"/>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82"/>
        <p:cNvGrpSpPr/>
        <p:nvPr/>
      </p:nvGrpSpPr>
      <p:grpSpPr>
        <a:xfrm>
          <a:off x="0" y="0"/>
          <a:ext cx="0" cy="0"/>
          <a:chOff x="0" y="0"/>
          <a:chExt cx="0" cy="0"/>
        </a:xfrm>
      </p:grpSpPr>
      <p:sp>
        <p:nvSpPr>
          <p:cNvPr id="183" name="Google Shape;183;p22"/>
          <p:cNvSpPr txBox="1"/>
          <p:nvPr/>
        </p:nvSpPr>
        <p:spPr>
          <a:xfrm>
            <a:off x="55075" y="20375"/>
            <a:ext cx="1663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 - 1</a:t>
            </a:r>
            <a:endParaRPr sz="2000" b="1" i="0" u="none" strike="noStrike" cap="none">
              <a:solidFill>
                <a:schemeClr val="dk1"/>
              </a:solidFill>
              <a:latin typeface="Calibri"/>
              <a:ea typeface="Calibri"/>
              <a:cs typeface="Calibri"/>
              <a:sym typeface="Calibri"/>
            </a:endParaRPr>
          </a:p>
        </p:txBody>
      </p:sp>
      <p:sp>
        <p:nvSpPr>
          <p:cNvPr id="184" name="Google Shape;184;p22"/>
          <p:cNvSpPr txBox="1"/>
          <p:nvPr/>
        </p:nvSpPr>
        <p:spPr>
          <a:xfrm>
            <a:off x="55075" y="443275"/>
            <a:ext cx="4444500" cy="1034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Suno AI Music Raises $250M</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Suno closed a $250M Series C led by Menlo Ventures, valuing the company at $2.45B. The funding will advance tools for music pros and casual creators. Suno plans to boost social features that let people connect through music. The company says it’s building a community where creators and listeners participate together.</a:t>
            </a:r>
            <a:endParaRPr sz="1100">
              <a:solidFill>
                <a:schemeClr val="dk1"/>
              </a:solidFill>
              <a:latin typeface="Calibri"/>
              <a:ea typeface="Calibri"/>
              <a:cs typeface="Calibri"/>
              <a:sym typeface="Calibri"/>
            </a:endParaRPr>
          </a:p>
        </p:txBody>
      </p:sp>
      <p:sp>
        <p:nvSpPr>
          <p:cNvPr id="185" name="Google Shape;185;p22"/>
          <p:cNvSpPr txBox="1"/>
          <p:nvPr/>
        </p:nvSpPr>
        <p:spPr>
          <a:xfrm>
            <a:off x="55075" y="1536050"/>
            <a:ext cx="4444500" cy="1711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OpenAI group chat feature </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Up to 20 users can simultaneously collaborate with each other and with ChatGPT in the same thread</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Shared chats are accessed through invite links, with ChatGPT gauging conversation flow and interjecting when appropriate or directly mentioned</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Rate limits apply to AI responses rather than human messages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usage counting against the user who triggered the model reply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Privacy features isolate group sessions from individual memory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ChatGPT doesn't retain info from collaborative threads or applying personal context</a:t>
            </a:r>
            <a:endParaRPr sz="1100">
              <a:solidFill>
                <a:schemeClr val="dk1"/>
              </a:solidFill>
              <a:latin typeface="Calibri"/>
              <a:ea typeface="Calibri"/>
              <a:cs typeface="Calibri"/>
              <a:sym typeface="Calibri"/>
            </a:endParaRPr>
          </a:p>
        </p:txBody>
      </p:sp>
      <p:sp>
        <p:nvSpPr>
          <p:cNvPr id="186" name="Google Shape;186;p22"/>
          <p:cNvSpPr txBox="1"/>
          <p:nvPr/>
        </p:nvSpPr>
        <p:spPr>
          <a:xfrm>
            <a:off x="55075" y="3322125"/>
            <a:ext cx="4444500" cy="695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Lovable hits $200M ARR</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Swedish AI coding startup Lovable doubled its annual recurring revenue to $200 million in four months. CEO Anton Osika credits the company's European base for its rapid growth, defying advice to</a:t>
            </a:r>
            <a:endParaRPr sz="110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0"/>
        <p:cNvGrpSpPr/>
        <p:nvPr/>
      </p:nvGrpSpPr>
      <p:grpSpPr>
        <a:xfrm>
          <a:off x="0" y="0"/>
          <a:ext cx="0" cy="0"/>
          <a:chOff x="0" y="0"/>
          <a:chExt cx="0" cy="0"/>
        </a:xfrm>
      </p:grpSpPr>
      <p:sp>
        <p:nvSpPr>
          <p:cNvPr id="191" name="Google Shape;191;p23"/>
          <p:cNvSpPr txBox="1"/>
          <p:nvPr/>
        </p:nvSpPr>
        <p:spPr>
          <a:xfrm>
            <a:off x="55075" y="20375"/>
            <a:ext cx="1663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 - 2</a:t>
            </a:r>
            <a:endParaRPr sz="2000" b="1" i="0" u="none" strike="noStrike" cap="none">
              <a:solidFill>
                <a:schemeClr val="dk1"/>
              </a:solidFill>
              <a:latin typeface="Calibri"/>
              <a:ea typeface="Calibri"/>
              <a:cs typeface="Calibri"/>
              <a:sym typeface="Calibri"/>
            </a:endParaRPr>
          </a:p>
        </p:txBody>
      </p:sp>
      <p:sp>
        <p:nvSpPr>
          <p:cNvPr id="192" name="Google Shape;192;p23"/>
          <p:cNvSpPr txBox="1"/>
          <p:nvPr/>
        </p:nvSpPr>
        <p:spPr>
          <a:xfrm>
            <a:off x="55075" y="1908792"/>
            <a:ext cx="4444500" cy="1003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Google's Willow quantum processor</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achieved the seemingly impossible: solving an extraordinarily complex computational problem in under five minutes—a feat that would require the world's most advanced supercomputer approximately 10 septillion years to complete (10²⁵).</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https://x.com/Rainmaker1973/status/1991186630133125405</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sp>
        <p:nvSpPr>
          <p:cNvPr id="193" name="Google Shape;193;p23"/>
          <p:cNvSpPr txBox="1"/>
          <p:nvPr/>
        </p:nvSpPr>
        <p:spPr>
          <a:xfrm>
            <a:off x="55075" y="336639"/>
            <a:ext cx="4444500" cy="1480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Federated Learning</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 Instead of aggregating data on a central server, dispatch a model to an end device.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 Train the model on the user’s private data on their device.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 Fetch the trained model back to the central server.</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 Aggregate all models obtained from all end devices to form a complete model.</a:t>
            </a:r>
            <a:endParaRPr sz="11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https://x.com/_avichawla/status/1991393941493805096</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https://www.youtube.com/watch?v=zqv1eELa7fs</a:t>
            </a:r>
            <a:r>
              <a:rPr lang="en" sz="900">
                <a:solidFill>
                  <a:schemeClr val="dk1"/>
                </a:solidFill>
                <a:latin typeface="Calibri"/>
                <a:ea typeface="Calibri"/>
                <a:cs typeface="Calibri"/>
                <a:sym typeface="Calibri"/>
              </a:rPr>
              <a:t> - tutorial </a:t>
            </a:r>
            <a:endParaRPr sz="900">
              <a:solidFill>
                <a:schemeClr val="dk1"/>
              </a:solidFill>
              <a:latin typeface="Calibri"/>
              <a:ea typeface="Calibri"/>
              <a:cs typeface="Calibri"/>
              <a:sym typeface="Calibri"/>
            </a:endParaRPr>
          </a:p>
        </p:txBody>
      </p:sp>
      <p:sp>
        <p:nvSpPr>
          <p:cNvPr id="194" name="Google Shape;194;p23"/>
          <p:cNvSpPr txBox="1"/>
          <p:nvPr/>
        </p:nvSpPr>
        <p:spPr>
          <a:xfrm>
            <a:off x="55075" y="2973045"/>
            <a:ext cx="4444500" cy="357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RAG without vectors</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6"/>
              </a:rPr>
              <a:t>https://teletype.in/@mrvladd/W5E88Tzx1dv</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p:txBody>
      </p:sp>
      <p:sp>
        <p:nvSpPr>
          <p:cNvPr id="195" name="Google Shape;195;p23"/>
          <p:cNvSpPr txBox="1"/>
          <p:nvPr/>
        </p:nvSpPr>
        <p:spPr>
          <a:xfrm>
            <a:off x="55075" y="3372980"/>
            <a:ext cx="4444500" cy="603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AI model for medical imaging</a:t>
            </a:r>
            <a:br>
              <a:rPr lang="en" sz="1100">
                <a:solidFill>
                  <a:schemeClr val="dk1"/>
                </a:solidFill>
                <a:latin typeface="Calibri"/>
                <a:ea typeface="Calibri"/>
                <a:cs typeface="Calibri"/>
                <a:sym typeface="Calibri"/>
              </a:rPr>
            </a:br>
            <a:r>
              <a:rPr lang="en" sz="1100">
                <a:solidFill>
                  <a:schemeClr val="dk1"/>
                </a:solidFill>
                <a:latin typeface="Calibri"/>
                <a:ea typeface="Calibri"/>
                <a:cs typeface="Calibri"/>
                <a:sym typeface="Calibri"/>
              </a:rPr>
              <a:t>from UC Berkeley and UCSF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7"/>
              </a:rPr>
              <a:t>https://cdss.berkeley.edu/news/uc-berkeley-and-ucsf-researchers-release-top-performing-ai-model-medical-imaging</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p:txBody>
      </p:sp>
      <p:sp>
        <p:nvSpPr>
          <p:cNvPr id="196" name="Google Shape;196;p23"/>
          <p:cNvSpPr txBox="1"/>
          <p:nvPr/>
        </p:nvSpPr>
        <p:spPr>
          <a:xfrm>
            <a:off x="55075" y="4062780"/>
            <a:ext cx="4444500" cy="187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Kimi K2 Thinking in Perplexity</a:t>
            </a:r>
            <a:endParaRPr sz="1100" b="1">
              <a:solidFill>
                <a:srgbClr val="FF0000"/>
              </a:solidFill>
              <a:latin typeface="Calibri"/>
              <a:ea typeface="Calibri"/>
              <a:cs typeface="Calibri"/>
              <a:sym typeface="Calibri"/>
            </a:endParaRPr>
          </a:p>
        </p:txBody>
      </p:sp>
      <p:pic>
        <p:nvPicPr>
          <p:cNvPr id="197" name="Google Shape;197;p23"/>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4704225" y="2764975"/>
            <a:ext cx="4339624" cy="2260335"/>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01"/>
        <p:cNvGrpSpPr/>
        <p:nvPr/>
      </p:nvGrpSpPr>
      <p:grpSpPr>
        <a:xfrm>
          <a:off x="0" y="0"/>
          <a:ext cx="0" cy="0"/>
          <a:chOff x="0" y="0"/>
          <a:chExt cx="0" cy="0"/>
        </a:xfrm>
      </p:grpSpPr>
      <p:sp>
        <p:nvSpPr>
          <p:cNvPr id="202" name="Google Shape;202;p24"/>
          <p:cNvSpPr txBox="1"/>
          <p:nvPr/>
        </p:nvSpPr>
        <p:spPr>
          <a:xfrm>
            <a:off x="55075" y="20375"/>
            <a:ext cx="1663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 - 3</a:t>
            </a:r>
            <a:endParaRPr sz="2000" b="1" i="0" u="none" strike="noStrike" cap="none">
              <a:solidFill>
                <a:schemeClr val="dk1"/>
              </a:solidFill>
              <a:latin typeface="Calibri"/>
              <a:ea typeface="Calibri"/>
              <a:cs typeface="Calibri"/>
              <a:sym typeface="Calibri"/>
            </a:endParaRPr>
          </a:p>
        </p:txBody>
      </p:sp>
      <p:sp>
        <p:nvSpPr>
          <p:cNvPr id="203" name="Google Shape;203;p24"/>
          <p:cNvSpPr txBox="1"/>
          <p:nvPr/>
        </p:nvSpPr>
        <p:spPr>
          <a:xfrm>
            <a:off x="55075" y="336639"/>
            <a:ext cx="4444500" cy="1203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Zor (Zoer) - a full‑stack AI engineer</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Generate complete, production‑ready web apps end‑to‑end from a natural‑language prompt.​</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Combining the roles of Lovable, Supabase, Netlify, and AI image services into a single environment that designs, wires, deploys, and hosts full applications.​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https://www.youtube.com/watch?v=mJxCdZB4RRY</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p:txBody>
      </p:sp>
      <p:sp>
        <p:nvSpPr>
          <p:cNvPr id="204" name="Google Shape;204;p24"/>
          <p:cNvSpPr txBox="1"/>
          <p:nvPr/>
        </p:nvSpPr>
        <p:spPr>
          <a:xfrm>
            <a:off x="55075" y="1620289"/>
            <a:ext cx="4444500" cy="3235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Creating AI Videos - 6 methods</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4"/>
              </a:rPr>
              <a:t>https://www.youtube.com/watch?v=utnLVMzxX4U</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Text to Video - Describe setting, characters, and action sequences.</a:t>
            </a:r>
            <a:br>
              <a:rPr lang="en" sz="1100">
                <a:solidFill>
                  <a:schemeClr val="dk1"/>
                </a:solidFill>
                <a:latin typeface="Calibri"/>
                <a:ea typeface="Calibri"/>
                <a:cs typeface="Calibri"/>
                <a:sym typeface="Calibri"/>
              </a:rPr>
            </a:br>
            <a:r>
              <a:rPr lang="en" sz="1100">
                <a:solidFill>
                  <a:schemeClr val="dk1"/>
                </a:solidFill>
                <a:latin typeface="Calibri"/>
                <a:ea typeface="Calibri"/>
                <a:cs typeface="Calibri"/>
                <a:sym typeface="Calibri"/>
              </a:rPr>
              <a:t>Tools: Google Veo 3.1 (excellent for dialogue), Sora 2 (realistic), Clean 2.5.</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Image to Video - Starts with reference images for consistent characters and styles. Supports time-stamped prompting and start/end frame controls. Tools: Google Veo 3.1, Clean 2.5 Turbo, Cling AI, Nano Banana.</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Video to Video - Converts real footage into AI characters while preserving motion and dialogue. High control but potentially unstable backgrounds. Tools: One Animate, Luma Labs.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Lip Sync - Animates AI avatars from audio files with realistic expressions and gestures. Tools: Hun's Avatar 4, Dreamina's Omnihuman 1.5.</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Ingredients to Video - Combines multiple images (characters, backgrounds) into one scene. Quick but less dynamic. Best do image generators first.</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Chat to Edit - Modifies existing videos (weather, lighting, object removal). Tool: Runway ML</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Key Tradeoffs: Text/image-to-video offers consistency; video-to-video provides control; ingredients-to-video is fast but stilted; editing can be inconsistent</a:t>
            </a:r>
            <a:endParaRPr sz="1100">
              <a:solidFill>
                <a:schemeClr val="dk1"/>
              </a:solidFill>
              <a:latin typeface="Calibri"/>
              <a:ea typeface="Calibri"/>
              <a:cs typeface="Calibri"/>
              <a:sym typeface="Calibri"/>
            </a:endParaRPr>
          </a:p>
        </p:txBody>
      </p:sp>
      <p:pic>
        <p:nvPicPr>
          <p:cNvPr id="205" name="Google Shape;205;p24"/>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662200" y="1620299"/>
            <a:ext cx="1810625" cy="20515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9"/>
        <p:cNvGrpSpPr/>
        <p:nvPr/>
      </p:nvGrpSpPr>
      <p:grpSpPr>
        <a:xfrm>
          <a:off x="0" y="0"/>
          <a:ext cx="0" cy="0"/>
          <a:chOff x="0" y="0"/>
          <a:chExt cx="0" cy="0"/>
        </a:xfrm>
      </p:grpSpPr>
      <p:sp>
        <p:nvSpPr>
          <p:cNvPr id="210" name="Google Shape;210;p25"/>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Abacus AI DeepAgent upgrade</a:t>
            </a:r>
            <a:endParaRPr sz="2000" b="1" i="0" u="none" strike="noStrike" cap="none">
              <a:solidFill>
                <a:schemeClr val="dk1"/>
              </a:solidFill>
              <a:latin typeface="Calibri"/>
              <a:ea typeface="Calibri"/>
              <a:cs typeface="Calibri"/>
              <a:sym typeface="Calibri"/>
            </a:endParaRPr>
          </a:p>
        </p:txBody>
      </p:sp>
      <p:sp>
        <p:nvSpPr>
          <p:cNvPr id="211" name="Google Shape;211;p25"/>
          <p:cNvSpPr txBox="1"/>
          <p:nvPr/>
        </p:nvSpPr>
        <p:spPr>
          <a:xfrm>
            <a:off x="55071" y="459330"/>
            <a:ext cx="4444500" cy="4590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Abacus AI DeepAgent upgrade</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Autonomously building complete web services in minutes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Handles every aspect of production including API contracts, schemas, business logic, third-party integrations like Stripe, deployment pipelines, logging, observability, versioning, and error handling</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Development went from 6 months, $100K-s and full dev teams to 30 min prototyping. Some implementations completed in just 10 minutes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Deep Agent operates as a comprehensive back-end engineer, managing API design, logic wiring, integration setup, workflow construction, deployment, and maintenance while debugging and testing in real time through a virtual computer environment</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platform enables practical applications across multiple domains. It can deploy stock insights APIs with live data feeds, create Telegram chatbots featuring long-term memory and persistent context, build invoice extraction systems that learn structure from examples, generate sentiment analysis endpoints for unstructured text processing, and develop resume review systems with integrated feedback mechanisms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This advancement represents a fundamental shift from traditional coding assistants to autonomous systems that build, test, and maintain complete infrastructures end-to-end</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Future development directions include expansion into physical systems control through embodied intelligence, self-improving platforms, and community-driven innovation through weekly build challenges with prizes for top projects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technology leverages leading LLM capabilities including Gemini 3 to deliver production-quality infrastructure and automated workflows.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https://deepagent.abacus.ai</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p:txBody>
      </p:sp>
      <p:pic>
        <p:nvPicPr>
          <p:cNvPr id="212" name="Google Shape;212;p25"/>
          <p:cNvPicPr preferRelativeResize="0"/>
          <p:nvPr/>
        </p:nvPicPr>
        <p:blipFill>
          <a:blip r:embed="rId4">
            <a:alphaModFix/>
          </a:blip>
          <a:stretch>
            <a:fillRect/>
          </a:stretch>
        </p:blipFill>
        <p:spPr>
          <a:xfrm>
            <a:off x="4744000" y="857975"/>
            <a:ext cx="3028950" cy="15144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16"/>
        <p:cNvGrpSpPr/>
        <p:nvPr/>
      </p:nvGrpSpPr>
      <p:grpSpPr>
        <a:xfrm>
          <a:off x="0" y="0"/>
          <a:ext cx="0" cy="0"/>
          <a:chOff x="0" y="0"/>
          <a:chExt cx="0" cy="0"/>
        </a:xfrm>
      </p:grpSpPr>
      <p:sp>
        <p:nvSpPr>
          <p:cNvPr id="217" name="Google Shape;217;p26"/>
          <p:cNvSpPr txBox="1"/>
          <p:nvPr/>
        </p:nvSpPr>
        <p:spPr>
          <a:xfrm>
            <a:off x="55075" y="20375"/>
            <a:ext cx="1663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 - 4</a:t>
            </a:r>
            <a:endParaRPr sz="2000" b="1" i="0" u="none" strike="noStrike" cap="none">
              <a:solidFill>
                <a:schemeClr val="dk1"/>
              </a:solidFill>
              <a:latin typeface="Calibri"/>
              <a:ea typeface="Calibri"/>
              <a:cs typeface="Calibri"/>
              <a:sym typeface="Calibri"/>
            </a:endParaRPr>
          </a:p>
        </p:txBody>
      </p:sp>
      <p:sp>
        <p:nvSpPr>
          <p:cNvPr id="218" name="Google Shape;218;p26"/>
          <p:cNvSpPr txBox="1"/>
          <p:nvPr/>
        </p:nvSpPr>
        <p:spPr>
          <a:xfrm>
            <a:off x="55075" y="339569"/>
            <a:ext cx="4444500" cy="1034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GPT-5.1-Codex-Max </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Trained to operate across multiple context windows through "compaction", allowing it to work over millions of tokens and complete tasks spanning 24+ hours.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model achieves 77.9% on SWE-bench Verified while using 30% fewer thinking tokens than its predecessor.</a:t>
            </a:r>
            <a:endParaRPr sz="1100">
              <a:solidFill>
                <a:schemeClr val="dk1"/>
              </a:solidFill>
              <a:latin typeface="Calibri"/>
              <a:ea typeface="Calibri"/>
              <a:cs typeface="Calibri"/>
              <a:sym typeface="Calibri"/>
            </a:endParaRPr>
          </a:p>
        </p:txBody>
      </p:sp>
      <p:sp>
        <p:nvSpPr>
          <p:cNvPr id="219" name="Google Shape;219;p26"/>
          <p:cNvSpPr txBox="1"/>
          <p:nvPr/>
        </p:nvSpPr>
        <p:spPr>
          <a:xfrm>
            <a:off x="55075" y="1429728"/>
            <a:ext cx="4444500" cy="1034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GPT-5.1 Pro</a:t>
            </a:r>
            <a:r>
              <a:rPr lang="en" sz="1100">
                <a:solidFill>
                  <a:schemeClr val="dk1"/>
                </a:solidFill>
                <a:latin typeface="Calibri"/>
                <a:ea typeface="Calibri"/>
                <a:cs typeface="Calibri"/>
                <a:sym typeface="Calibri"/>
              </a:rPr>
              <a:t> is a slow, heavy-weight reasoning model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It can handle tough problems, follows instructions well without going off the rails, making it feel like a contract engineer working from a spec rather than an assistant. It lives in ChatGPT.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Gemini 3 is still better for most day-to-day work. However, GPT-5.1-Pro wins in deep thought, planning, and research.</a:t>
            </a:r>
            <a:endParaRPr sz="1100">
              <a:solidFill>
                <a:schemeClr val="dk1"/>
              </a:solidFill>
              <a:latin typeface="Calibri"/>
              <a:ea typeface="Calibri"/>
              <a:cs typeface="Calibri"/>
              <a:sym typeface="Calibri"/>
            </a:endParaRPr>
          </a:p>
        </p:txBody>
      </p:sp>
      <p:sp>
        <p:nvSpPr>
          <p:cNvPr id="220" name="Google Shape;220;p26"/>
          <p:cNvSpPr txBox="1"/>
          <p:nvPr/>
        </p:nvSpPr>
        <p:spPr>
          <a:xfrm>
            <a:off x="55075" y="2505331"/>
            <a:ext cx="4444500" cy="2558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Meta SAM-3 Segment Anything Model 3</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Unified Detection, Segmentation &amp; Tracking</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both images and videos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Open Source, 848 Mln params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Reaching 75-80% of human-level performance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It processes images at approximately 30ms per frame on an H200 GPU while handling 100+ objects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SAM-3 is a foundation model designed for open-vocabulary, promptable segmentation. It can segment any concept described by text prompts, image examples, points, boxes, or masks without prior training on those specific categories. For example, you can ask it to find "yellow school bus" or "person wearing red hat". In contrast, YOLO models are optimized for real-time object detection and segmentation on predefined categories that the model was trained on.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https://github.com/facebookresearch/sam3</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p:txBody>
      </p:sp>
      <p:pic>
        <p:nvPicPr>
          <p:cNvPr id="221" name="Google Shape;221;p26"/>
          <p:cNvPicPr preferRelativeResize="0"/>
          <p:nvPr/>
        </p:nvPicPr>
        <p:blipFill>
          <a:blip r:embed="rId4">
            <a:alphaModFix/>
          </a:blip>
          <a:stretch>
            <a:fillRect/>
          </a:stretch>
        </p:blipFill>
        <p:spPr>
          <a:xfrm>
            <a:off x="4721175" y="2610625"/>
            <a:ext cx="2867025" cy="15906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25"/>
        <p:cNvGrpSpPr/>
        <p:nvPr/>
      </p:nvGrpSpPr>
      <p:grpSpPr>
        <a:xfrm>
          <a:off x="0" y="0"/>
          <a:ext cx="0" cy="0"/>
          <a:chOff x="0" y="0"/>
          <a:chExt cx="0" cy="0"/>
        </a:xfrm>
      </p:grpSpPr>
      <p:sp>
        <p:nvSpPr>
          <p:cNvPr id="226" name="Google Shape;226;p27"/>
          <p:cNvSpPr txBox="1"/>
          <p:nvPr/>
        </p:nvSpPr>
        <p:spPr>
          <a:xfrm>
            <a:off x="55075" y="20375"/>
            <a:ext cx="1663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 - 5</a:t>
            </a:r>
            <a:endParaRPr sz="2000" b="1" i="0" u="none" strike="noStrike" cap="none">
              <a:solidFill>
                <a:schemeClr val="dk1"/>
              </a:solidFill>
              <a:latin typeface="Calibri"/>
              <a:ea typeface="Calibri"/>
              <a:cs typeface="Calibri"/>
              <a:sym typeface="Calibri"/>
            </a:endParaRPr>
          </a:p>
        </p:txBody>
      </p:sp>
      <p:sp>
        <p:nvSpPr>
          <p:cNvPr id="227" name="Google Shape;227;p27"/>
          <p:cNvSpPr txBox="1"/>
          <p:nvPr/>
        </p:nvSpPr>
        <p:spPr>
          <a:xfrm>
            <a:off x="55075" y="439200"/>
            <a:ext cx="4974000" cy="357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OpenAI Shopping Research in ChatGPT</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Does the research to help you find the right products</a:t>
            </a:r>
            <a:endParaRPr sz="1100">
              <a:solidFill>
                <a:schemeClr val="dk1"/>
              </a:solidFill>
              <a:latin typeface="Calibri"/>
              <a:ea typeface="Calibri"/>
              <a:cs typeface="Calibri"/>
              <a:sym typeface="Calibri"/>
            </a:endParaRPr>
          </a:p>
        </p:txBody>
      </p:sp>
      <p:sp>
        <p:nvSpPr>
          <p:cNvPr id="228" name="Google Shape;228;p27"/>
          <p:cNvSpPr txBox="1"/>
          <p:nvPr/>
        </p:nvSpPr>
        <p:spPr>
          <a:xfrm>
            <a:off x="55075" y="861990"/>
            <a:ext cx="4974000" cy="3235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Transformer Architecture Under Question</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https://www.youtube.com/watch?v=DtePicx_kFY</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Llion Jones, co-author of the foundational "Attention Is All You Need" paper, argues the AI industry is suffering from "success capture"—trapped in a local minimum where everyone tweaks transformers rather than discovering fundamentally new architectures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Models are "faking" intelligence by mimicking patterns without genuine conceptual understanding</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Continuous Thought Machines (CTM, Sakana AI):)</a:t>
            </a:r>
            <a:endParaRPr sz="1100" b="1">
              <a:solidFill>
                <a:srgbClr val="FF0000"/>
              </a:solidFill>
              <a:latin typeface="Calibri"/>
              <a:ea typeface="Calibri"/>
              <a:cs typeface="Calibri"/>
              <a:sym typeface="Calibri"/>
            </a:endParaRPr>
          </a:p>
          <a:p>
            <a:pPr marL="342900" marR="0" lvl="1"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Sequential internal thought dimension - races paths sequentially rather than instantly predicting the entire solution</a:t>
            </a:r>
            <a:endParaRPr sz="1100">
              <a:solidFill>
                <a:srgbClr val="3C78D8"/>
              </a:solidFill>
              <a:latin typeface="Calibri"/>
              <a:ea typeface="Calibri"/>
              <a:cs typeface="Calibri"/>
              <a:sym typeface="Calibri"/>
            </a:endParaRPr>
          </a:p>
          <a:p>
            <a:pPr marL="342900" marR="0" lvl="1"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Biology-inspired neuron models - rather than simple on/off units, each neuron functions as a small dynamic model</a:t>
            </a:r>
            <a:endParaRPr sz="1100">
              <a:solidFill>
                <a:srgbClr val="3C78D8"/>
              </a:solidFill>
              <a:latin typeface="Calibri"/>
              <a:ea typeface="Calibri"/>
              <a:cs typeface="Calibri"/>
              <a:sym typeface="Calibri"/>
            </a:endParaRPr>
          </a:p>
          <a:p>
            <a:pPr marL="342900" marR="0" lvl="1"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Synchronization-based representation - thoughts are captured through how neurons synchronize over time</a:t>
            </a:r>
            <a:endParaRPr sz="1100">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CTM naturally exhibits adaptive computation—spending more time on harder problems and allowing genuine backtracking and error correction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4"/>
              </a:rPr>
              <a:t>https://sakana.ai/ai-scientist/</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Sakana AI is in Tokyo, Japan, since 2023</a:t>
            </a:r>
            <a:endParaRPr sz="1100">
              <a:solidFill>
                <a:schemeClr val="dk1"/>
              </a:solidFill>
              <a:latin typeface="Calibri"/>
              <a:ea typeface="Calibri"/>
              <a:cs typeface="Calibri"/>
              <a:sym typeface="Calibri"/>
            </a:endParaRPr>
          </a:p>
        </p:txBody>
      </p:sp>
      <p:sp>
        <p:nvSpPr>
          <p:cNvPr id="229" name="Google Shape;229;p27"/>
          <p:cNvSpPr txBox="1"/>
          <p:nvPr/>
        </p:nvSpPr>
        <p:spPr>
          <a:xfrm>
            <a:off x="55075" y="4163298"/>
            <a:ext cx="4974000" cy="695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Interactive images in Gemini app</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You can now tap or click directly on a specific part of the diagram to unlock an interactive panel. This panel provides immediate definitions, detailed explanations and content to deep-dive into.</a:t>
            </a:r>
            <a:endParaRPr sz="1100">
              <a:solidFill>
                <a:schemeClr val="dk1"/>
              </a:solidFill>
              <a:latin typeface="Calibri"/>
              <a:ea typeface="Calibri"/>
              <a:cs typeface="Calibri"/>
              <a:sym typeface="Calibri"/>
            </a:endParaRPr>
          </a:p>
        </p:txBody>
      </p:sp>
      <p:pic>
        <p:nvPicPr>
          <p:cNvPr id="230" name="Google Shape;230;p27"/>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5238625" y="3024200"/>
            <a:ext cx="3810126" cy="2032860"/>
          </a:xfrm>
          <a:prstGeom prst="rect">
            <a:avLst/>
          </a:prstGeom>
          <a:noFill/>
          <a:ln w="9525" cap="flat" cmpd="sng">
            <a:solidFill>
              <a:srgbClr val="FF0000"/>
            </a:solidFill>
            <a:prstDash val="solid"/>
            <a:round/>
            <a:headEnd type="none" w="sm" len="sm"/>
            <a:tailEnd type="none" w="sm" len="sm"/>
          </a:ln>
        </p:spPr>
      </p:pic>
      <p:pic>
        <p:nvPicPr>
          <p:cNvPr id="231" name="Google Shape;231;p27"/>
          <p:cNvPicPr preferRelativeResize="0"/>
          <p:nvPr/>
        </p:nvPicPr>
        <p:blipFill>
          <a:blip r:embed="rId6">
            <a:alphaModFix/>
          </a:blip>
          <a:stretch>
            <a:fillRect/>
          </a:stretch>
        </p:blipFill>
        <p:spPr>
          <a:xfrm>
            <a:off x="5238625" y="1405300"/>
            <a:ext cx="3095625" cy="1476375"/>
          </a:xfrm>
          <a:prstGeom prst="rect">
            <a:avLst/>
          </a:prstGeom>
          <a:noFill/>
          <a:ln w="9525" cap="flat" cmpd="sng">
            <a:solidFill>
              <a:srgbClr val="FF0000"/>
            </a:solidFill>
            <a:prstDash val="solid"/>
            <a:round/>
            <a:headEnd type="none" w="sm" len="sm"/>
            <a:tailEnd type="none" w="sm" len="sm"/>
          </a:ln>
        </p:spPr>
      </p:pic>
      <p:pic>
        <p:nvPicPr>
          <p:cNvPr id="232" name="Google Shape;232;p27"/>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5238622" y="127778"/>
            <a:ext cx="2128778" cy="1196601"/>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8"/>
          <p:cNvSpPr txBox="1"/>
          <p:nvPr/>
        </p:nvSpPr>
        <p:spPr>
          <a:xfrm>
            <a:off x="55075" y="20375"/>
            <a:ext cx="1663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 - 6</a:t>
            </a:r>
            <a:endParaRPr sz="2000" b="1" i="0" u="none" strike="noStrike" cap="none">
              <a:solidFill>
                <a:schemeClr val="dk1"/>
              </a:solidFill>
              <a:latin typeface="Calibri"/>
              <a:ea typeface="Calibri"/>
              <a:cs typeface="Calibri"/>
              <a:sym typeface="Calibri"/>
            </a:endParaRPr>
          </a:p>
        </p:txBody>
      </p:sp>
      <p:sp>
        <p:nvSpPr>
          <p:cNvPr id="238" name="Google Shape;238;p28"/>
          <p:cNvSpPr txBox="1"/>
          <p:nvPr/>
        </p:nvSpPr>
        <p:spPr>
          <a:xfrm>
            <a:off x="55075" y="375453"/>
            <a:ext cx="4532400" cy="2219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Lovable AI Web Design - New Features</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Themes - define brand standards including colors, fonts, and spacing, then apply them to any project with one click</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Design View - all visual editing tools in one place. Multi-select elements to edit simultaneously, adjust margins and padding, change fonts and colors, add borders and shadows, and edit text directly on pages without opening separate editors. All changes happen in real time with visual feedback, and no coding knowledge is required</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AI image generation - users describe the image and Lovable generates it in seconds, no need for stock photo searches or external design tools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https://www.youtube.com/watch?v=lpVAj4KPOwU</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4"/>
              </a:rPr>
              <a:t>https://docs.lovable.dev/features/design</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5"/>
              </a:rPr>
              <a:t>https://lovable.dev</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p:txBody>
      </p:sp>
      <p:pic>
        <p:nvPicPr>
          <p:cNvPr id="239" name="Google Shape;239;p28"/>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809351" y="363228"/>
            <a:ext cx="4110374" cy="2243847"/>
          </a:xfrm>
          <a:prstGeom prst="rect">
            <a:avLst/>
          </a:prstGeom>
          <a:noFill/>
          <a:ln w="9525" cap="flat" cmpd="sng">
            <a:solidFill>
              <a:srgbClr val="FF0000"/>
            </a:solidFill>
            <a:prstDash val="solid"/>
            <a:round/>
            <a:headEnd type="none" w="sm" len="sm"/>
            <a:tailEnd type="none" w="sm" len="sm"/>
          </a:ln>
        </p:spPr>
      </p:pic>
      <p:sp>
        <p:nvSpPr>
          <p:cNvPr id="240" name="Google Shape;240;p28"/>
          <p:cNvSpPr txBox="1"/>
          <p:nvPr/>
        </p:nvSpPr>
        <p:spPr>
          <a:xfrm>
            <a:off x="55075" y="2674650"/>
            <a:ext cx="2015400" cy="1203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Stack Overflow 93% Decline</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Stack Overflow went from 200K to 10K monthly questions.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2022 - 120K/mo</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2023 - 87K/mo</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2024 - 42K/mo</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2025 14K (May), 10K (now)</a:t>
            </a:r>
            <a:endParaRPr sz="1100">
              <a:solidFill>
                <a:schemeClr val="dk1"/>
              </a:solidFill>
              <a:latin typeface="Calibri"/>
              <a:ea typeface="Calibri"/>
              <a:cs typeface="Calibri"/>
              <a:sym typeface="Calibri"/>
            </a:endParaRPr>
          </a:p>
        </p:txBody>
      </p:sp>
      <p:pic>
        <p:nvPicPr>
          <p:cNvPr id="241" name="Google Shape;241;p28"/>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2158250" y="2674650"/>
            <a:ext cx="3379926" cy="1994074"/>
          </a:xfrm>
          <a:prstGeom prst="rect">
            <a:avLst/>
          </a:prstGeom>
          <a:noFill/>
          <a:ln w="9525" cap="flat" cmpd="sng">
            <a:solidFill>
              <a:srgbClr val="FF0000"/>
            </a:solidFill>
            <a:prstDash val="solid"/>
            <a:round/>
            <a:headEnd type="none" w="sm" len="sm"/>
            <a:tailEnd type="none" w="sm" len="sm"/>
          </a:ln>
        </p:spPr>
      </p:pic>
      <p:sp>
        <p:nvSpPr>
          <p:cNvPr id="242" name="Google Shape;242;p28"/>
          <p:cNvSpPr txBox="1"/>
          <p:nvPr/>
        </p:nvSpPr>
        <p:spPr>
          <a:xfrm>
            <a:off x="6185400" y="2674650"/>
            <a:ext cx="2875200" cy="1542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Microsoft Fara‑7B </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Agentic AI for PC Task Automation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Fara‑7B, a 7‑billion parameter agentic language model designed to automate computer tasks by controlling mouse and keyboard inputs.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system demonstrated strong performance on web‑based activities, including purchases, form completion, and information retrieval.</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Open-Source MIT License</a:t>
            </a:r>
            <a:endParaRPr sz="1100">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46"/>
        <p:cNvGrpSpPr/>
        <p:nvPr/>
      </p:nvGrpSpPr>
      <p:grpSpPr>
        <a:xfrm>
          <a:off x="0" y="0"/>
          <a:ext cx="0" cy="0"/>
          <a:chOff x="0" y="0"/>
          <a:chExt cx="0" cy="0"/>
        </a:xfrm>
      </p:grpSpPr>
      <p:sp>
        <p:nvSpPr>
          <p:cNvPr id="247" name="Google Shape;247;p29"/>
          <p:cNvSpPr txBox="1"/>
          <p:nvPr/>
        </p:nvSpPr>
        <p:spPr>
          <a:xfrm>
            <a:off x="55075" y="20375"/>
            <a:ext cx="4532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FLUX.2 AI Image Gneration Model</a:t>
            </a:r>
            <a:endParaRPr sz="2000" b="1" i="0" u="none" strike="noStrike" cap="none">
              <a:solidFill>
                <a:schemeClr val="dk1"/>
              </a:solidFill>
              <a:latin typeface="Calibri"/>
              <a:ea typeface="Calibri"/>
              <a:cs typeface="Calibri"/>
              <a:sym typeface="Calibri"/>
            </a:endParaRPr>
          </a:p>
        </p:txBody>
      </p:sp>
      <p:sp>
        <p:nvSpPr>
          <p:cNvPr id="248" name="Google Shape;248;p29"/>
          <p:cNvSpPr txBox="1"/>
          <p:nvPr/>
        </p:nvSpPr>
        <p:spPr>
          <a:xfrm>
            <a:off x="55075" y="444980"/>
            <a:ext cx="4532400" cy="3958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FLUX.2 AI Text-to-Image Model By Black Forest Labs</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Photorealistic images up to 4 megapixel resolution with accurate lighting, textures, and physics that eliminate the typical artificial look of AI-generated content</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Multi-reference support, allowing users to input up to 10 reference images while maintaining consistent character identities, product details, or stylistic elements across all outputs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Exceptional text rendering - clean, readable typography in infographics, user interfaces, and multilingual content</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It follows complex, structured prompts with high accuracy and even understands precise specifications like hex color codes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model supports direct pose control, flexible aspect ratios, and can both generate new images and edit existing ones at high resolution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Built on a latent flow matching architecture combining a vision-language transformer with rectified flow technology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FLUX.2 offers multiple versions including a professional API service and an open-weight model for developers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FLUX.2 applications span e-commerce product photography, marketing campaigns, editorial content, UI design, and any creative workflow requiring consistent, production-ready visual assets with minimal iteration</a:t>
            </a:r>
            <a:endParaRPr sz="11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https://bfl.ai/blog/flux-2</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https://huggingface.co/blog/flux-2</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https://blogs.nvidia.com/blog/rtx-ai-garage-flux-2-comfyui/</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6"/>
              </a:rPr>
              <a:t>https://higgsfield.ai/blog/FLUX-2-is-on-Higgsfield-Full-Guide</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pic>
        <p:nvPicPr>
          <p:cNvPr id="249" name="Google Shape;249;p29"/>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728275" y="444975"/>
            <a:ext cx="4251724" cy="21555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53"/>
        <p:cNvGrpSpPr/>
        <p:nvPr/>
      </p:nvGrpSpPr>
      <p:grpSpPr>
        <a:xfrm>
          <a:off x="0" y="0"/>
          <a:ext cx="0" cy="0"/>
          <a:chOff x="0" y="0"/>
          <a:chExt cx="0" cy="0"/>
        </a:xfrm>
      </p:grpSpPr>
      <p:sp>
        <p:nvSpPr>
          <p:cNvPr id="254" name="Google Shape;254;p30"/>
          <p:cNvSpPr txBox="1"/>
          <p:nvPr/>
        </p:nvSpPr>
        <p:spPr>
          <a:xfrm>
            <a:off x="55075" y="20375"/>
            <a:ext cx="5066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Stanford "Verbalized Sampling" for Creativity</a:t>
            </a:r>
            <a:endParaRPr sz="2000" b="1" i="0" u="none" strike="noStrike" cap="none">
              <a:solidFill>
                <a:schemeClr val="dk1"/>
              </a:solidFill>
              <a:latin typeface="Calibri"/>
              <a:ea typeface="Calibri"/>
              <a:cs typeface="Calibri"/>
              <a:sym typeface="Calibri"/>
            </a:endParaRPr>
          </a:p>
        </p:txBody>
      </p:sp>
      <p:sp>
        <p:nvSpPr>
          <p:cNvPr id="255" name="Google Shape;255;p30"/>
          <p:cNvSpPr txBox="1"/>
          <p:nvPr/>
        </p:nvSpPr>
        <p:spPr>
          <a:xfrm>
            <a:off x="55075" y="444975"/>
            <a:ext cx="4653300" cy="3528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Stanford "Verbalized Sampling" for Creativity</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Prompting technique idea. Instead of asking for a single response, you prompt the model to "</a:t>
            </a:r>
            <a:r>
              <a:rPr lang="en" sz="1100" b="1">
                <a:solidFill>
                  <a:srgbClr val="FF0000"/>
                </a:solidFill>
                <a:latin typeface="Calibri"/>
                <a:ea typeface="Calibri"/>
                <a:cs typeface="Calibri"/>
                <a:sym typeface="Calibri"/>
              </a:rPr>
              <a:t>Generate 5 responses with their probabilities, sampled from the full distribution</a:t>
            </a:r>
            <a:r>
              <a:rPr lang="en" sz="1100">
                <a:solidFill>
                  <a:schemeClr val="dk1"/>
                </a:solidFill>
                <a:latin typeface="Calibri"/>
                <a:ea typeface="Calibri"/>
                <a:cs typeface="Calibri"/>
                <a:sym typeface="Calibri"/>
              </a:rPr>
              <a:t>"</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This technique produces 2x increase in output diversity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method works across creative writing, dialogue simulation, open-ended questions, and synthetic data generation. Larger models like GPT-4 and Claude show even stronger benefits than smaller models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https://ai.plainenglish.io/stanford-just-ended-prompt-engineering-with-a-single-sentence-9bfe702eb82c</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4"/>
              </a:rPr>
              <a:t>https://arxiv.org/pdf/2510.01171v2</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endParaRPr sz="11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b="1">
                <a:solidFill>
                  <a:srgbClr val="3C78D8"/>
                </a:solidFill>
                <a:latin typeface="Calibri"/>
                <a:ea typeface="Calibri"/>
                <a:cs typeface="Calibri"/>
                <a:sym typeface="Calibri"/>
              </a:rPr>
              <a:t>Before: Give me an idea for ...</a:t>
            </a:r>
            <a:endParaRPr sz="1200" b="1">
              <a:solidFill>
                <a:srgbClr val="3C78D8"/>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b="1">
                <a:solidFill>
                  <a:srgbClr val="3C78D8"/>
                </a:solidFill>
                <a:latin typeface="Calibri"/>
                <a:ea typeface="Calibri"/>
                <a:cs typeface="Calibri"/>
                <a:sym typeface="Calibri"/>
              </a:rPr>
              <a:t>After: Generate 5 variations of this idea, each with their probability.</a:t>
            </a:r>
            <a:endParaRPr sz="1200" b="1">
              <a:solidFill>
                <a:srgbClr val="3C78D8"/>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200" b="1">
              <a:solidFill>
                <a:srgbClr val="3C78D8"/>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b="1">
                <a:solidFill>
                  <a:srgbClr val="3C78D8"/>
                </a:solidFill>
                <a:latin typeface="Calibri"/>
                <a:ea typeface="Calibri"/>
                <a:cs typeface="Calibri"/>
                <a:sym typeface="Calibri"/>
              </a:rPr>
              <a:t>Before: Rewrite this paragraph.</a:t>
            </a:r>
            <a:endParaRPr sz="1200" b="1">
              <a:solidFill>
                <a:srgbClr val="3C78D8"/>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b="1">
                <a:solidFill>
                  <a:srgbClr val="3C78D8"/>
                </a:solidFill>
                <a:latin typeface="Calibri"/>
                <a:ea typeface="Calibri"/>
                <a:cs typeface="Calibri"/>
                <a:sym typeface="Calibri"/>
              </a:rPr>
              <a:t>Aftr: Provide 5 stylistic rewrites with their probability distribution.</a:t>
            </a:r>
            <a:endParaRPr sz="1200" b="1">
              <a:solidFill>
                <a:srgbClr val="3C78D8"/>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200" b="1">
              <a:solidFill>
                <a:srgbClr val="3C78D8"/>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b="1">
                <a:solidFill>
                  <a:srgbClr val="3C78D8"/>
                </a:solidFill>
                <a:latin typeface="Calibri"/>
                <a:ea typeface="Calibri"/>
                <a:cs typeface="Calibri"/>
                <a:sym typeface="Calibri"/>
              </a:rPr>
              <a:t>Before: Brainstorm a title.</a:t>
            </a:r>
            <a:endParaRPr sz="1200" b="1">
              <a:solidFill>
                <a:srgbClr val="3C78D8"/>
              </a:solidFill>
              <a:latin typeface="Calibri"/>
              <a:ea typeface="Calibri"/>
              <a:cs typeface="Calibri"/>
              <a:sym typeface="Calibri"/>
            </a:endParaRPr>
          </a:p>
          <a:p>
            <a:pPr marL="0" lvl="0" indent="0" algn="l" rtl="0">
              <a:spcBef>
                <a:spcPts val="0"/>
              </a:spcBef>
              <a:spcAft>
                <a:spcPts val="0"/>
              </a:spcAft>
              <a:buNone/>
            </a:pPr>
            <a:r>
              <a:rPr lang="en" sz="1200" b="1">
                <a:solidFill>
                  <a:srgbClr val="3C78D8"/>
                </a:solidFill>
                <a:latin typeface="Calibri"/>
                <a:ea typeface="Calibri"/>
                <a:cs typeface="Calibri"/>
                <a:sym typeface="Calibri"/>
              </a:rPr>
              <a:t>After: List 5 possible titles with their probabilities and tone differences.</a:t>
            </a:r>
            <a:endParaRPr sz="1200" b="1">
              <a:solidFill>
                <a:srgbClr val="3C78D8"/>
              </a:solidFill>
              <a:latin typeface="Calibri"/>
              <a:ea typeface="Calibri"/>
              <a:cs typeface="Calibri"/>
              <a:sym typeface="Calibri"/>
            </a:endParaRPr>
          </a:p>
        </p:txBody>
      </p:sp>
      <p:pic>
        <p:nvPicPr>
          <p:cNvPr id="256" name="Google Shape;256;p30"/>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5121700" y="591225"/>
            <a:ext cx="3065701" cy="2883749"/>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60"/>
        <p:cNvGrpSpPr/>
        <p:nvPr/>
      </p:nvGrpSpPr>
      <p:grpSpPr>
        <a:xfrm>
          <a:off x="0" y="0"/>
          <a:ext cx="0" cy="0"/>
          <a:chOff x="0" y="0"/>
          <a:chExt cx="0" cy="0"/>
        </a:xfrm>
      </p:grpSpPr>
      <p:sp>
        <p:nvSpPr>
          <p:cNvPr id="261" name="Google Shape;261;p31"/>
          <p:cNvSpPr txBox="1"/>
          <p:nvPr/>
        </p:nvSpPr>
        <p:spPr>
          <a:xfrm>
            <a:off x="55075" y="20375"/>
            <a:ext cx="1663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 - 5</a:t>
            </a:r>
            <a:endParaRPr sz="2000" b="1" i="0" u="none" strike="noStrike" cap="none">
              <a:solidFill>
                <a:schemeClr val="dk1"/>
              </a:solidFill>
              <a:latin typeface="Calibri"/>
              <a:ea typeface="Calibri"/>
              <a:cs typeface="Calibri"/>
              <a:sym typeface="Calibri"/>
            </a:endParaRPr>
          </a:p>
        </p:txBody>
      </p:sp>
      <p:sp>
        <p:nvSpPr>
          <p:cNvPr id="262" name="Google Shape;262;p31"/>
          <p:cNvSpPr txBox="1"/>
          <p:nvPr/>
        </p:nvSpPr>
        <p:spPr>
          <a:xfrm>
            <a:off x="55075" y="439200"/>
            <a:ext cx="5879700" cy="289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Łukasz Kaiser about GPT-5.1 &amp; the AI Frontier</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https://www.youtube.com/watch?v=3K-R4yVjJfU</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Łukasz Kaiser, transformer co-author and OpenAI research scientist</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Progress follows a smooth exponential curve from inside labs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Reasoning models now deliver greater capability gains than pre-training for the same cost</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Reasoning models generate internal "chain of thought" tokens before answering, trained via reinforcement learning on verifiable domains like math and coding</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Kaiser identifies substantial improvement opportunities in infrastructure, data quality, and especially multimodal capabilities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"jagged" abilities - frontier models fail simple visual reasoning tasks that five-year-olds solve instantly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Economic pressures from serving billions of users shifted focus from maximally large models to efficient distillation, transferring knowledge from large to small models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Kaiser emphasizes generalization as AI's central unsolved question: whether reasoning alone enables human-like learning, or if fundamentally different architectures are needed</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He advocates solving current limitations before determining if architectural breakthroughs are necessary</a:t>
            </a:r>
            <a:endParaRPr sz="1100">
              <a:solidFill>
                <a:schemeClr val="dk1"/>
              </a:solidFill>
              <a:latin typeface="Calibri"/>
              <a:ea typeface="Calibri"/>
              <a:cs typeface="Calibri"/>
              <a:sym typeface="Calibri"/>
            </a:endParaRPr>
          </a:p>
        </p:txBody>
      </p:sp>
      <p:pic>
        <p:nvPicPr>
          <p:cNvPr id="263" name="Google Shape;263;p31"/>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6041675" y="439200"/>
            <a:ext cx="1492950" cy="1618574"/>
          </a:xfrm>
          <a:prstGeom prst="rect">
            <a:avLst/>
          </a:prstGeom>
          <a:noFill/>
          <a:ln w="9525" cap="flat" cmpd="sng">
            <a:solidFill>
              <a:srgbClr val="FF0000"/>
            </a:solidFill>
            <a:prstDash val="solid"/>
            <a:round/>
            <a:headEnd type="none" w="sm" len="sm"/>
            <a:tailEnd type="none" w="sm" len="sm"/>
          </a:ln>
        </p:spPr>
      </p:pic>
      <p:sp>
        <p:nvSpPr>
          <p:cNvPr id="264" name="Google Shape;264;p31"/>
          <p:cNvSpPr txBox="1"/>
          <p:nvPr/>
        </p:nvSpPr>
        <p:spPr>
          <a:xfrm>
            <a:off x="55075" y="3428425"/>
            <a:ext cx="3788400" cy="1542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Stanford Agentic Reviewer</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Andrew Ng just introduced an agentic paper reviewer</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It reads your research paper, searches arXiv, and returns grounded comments in minutes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system, trained on ICLR 2025 reviews, matched human-level agreement with a 0.42 AI-human correlation compared to the 0.41 human-human baseline.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Reviewing no longer needs a 6-month feedback cycle.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5"/>
              </a:rPr>
              <a:t>https://paperreview.ai</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p:txBody>
      </p:sp>
      <p:pic>
        <p:nvPicPr>
          <p:cNvPr id="265" name="Google Shape;265;p31"/>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3942425" y="3428425"/>
            <a:ext cx="2660857" cy="15423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270" name="Google Shape;270;p32"/>
          <p:cNvSpPr txBox="1"/>
          <p:nvPr/>
        </p:nvSpPr>
        <p:spPr>
          <a:xfrm>
            <a:off x="55075" y="20375"/>
            <a:ext cx="3043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Marimo instead of Jupyter</a:t>
            </a:r>
            <a:endParaRPr sz="2000" b="1" i="0" u="none" strike="noStrike" cap="none">
              <a:solidFill>
                <a:schemeClr val="dk1"/>
              </a:solidFill>
              <a:latin typeface="Calibri"/>
              <a:ea typeface="Calibri"/>
              <a:cs typeface="Calibri"/>
              <a:sym typeface="Calibri"/>
            </a:endParaRPr>
          </a:p>
        </p:txBody>
      </p:sp>
      <p:sp>
        <p:nvSpPr>
          <p:cNvPr id="271" name="Google Shape;271;p32"/>
          <p:cNvSpPr txBox="1"/>
          <p:nvPr/>
        </p:nvSpPr>
        <p:spPr>
          <a:xfrm>
            <a:off x="55075" y="455085"/>
            <a:ext cx="4444500" cy="317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Marimo Python notebook system</a:t>
            </a:r>
            <a:endParaRPr sz="1100" b="1">
              <a:solidFill>
                <a:srgbClr val="FF0000"/>
              </a:solidFill>
              <a:latin typeface="Calibri"/>
              <a:ea typeface="Calibri"/>
              <a:cs typeface="Calibri"/>
              <a:sym typeface="Calibri"/>
            </a:endParaRPr>
          </a:p>
          <a:p>
            <a:pPr marL="17145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open-source, better than Jupyter</a:t>
            </a:r>
            <a:endParaRPr sz="1100">
              <a:solidFill>
                <a:schemeClr val="dk1"/>
              </a:solidFill>
              <a:latin typeface="Calibri"/>
              <a:ea typeface="Calibri"/>
              <a:cs typeface="Calibri"/>
              <a:sym typeface="Calibri"/>
            </a:endParaRPr>
          </a:p>
          <a:p>
            <a:pPr marL="17145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uses reactive execution, so code cells automatically re-run when any dependency changes</a:t>
            </a:r>
            <a:endParaRPr sz="1100">
              <a:solidFill>
                <a:schemeClr val="dk1"/>
              </a:solidFill>
              <a:latin typeface="Calibri"/>
              <a:ea typeface="Calibri"/>
              <a:cs typeface="Calibri"/>
              <a:sym typeface="Calibri"/>
            </a:endParaRPr>
          </a:p>
          <a:p>
            <a:pPr marL="17145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Notebooks are stored as standard .py files - so you can run them as scripts and reuse as modules</a:t>
            </a:r>
            <a:endParaRPr sz="1100">
              <a:solidFill>
                <a:schemeClr val="dk1"/>
              </a:solidFill>
              <a:latin typeface="Calibri"/>
              <a:ea typeface="Calibri"/>
              <a:cs typeface="Calibri"/>
              <a:sym typeface="Calibri"/>
            </a:endParaRPr>
          </a:p>
          <a:p>
            <a:pPr marL="17145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Marimo ships with interactive widgets, tight SQL integration (like DuckDB), and allows sharing notebooks as web apps via HTML or the CLI</a:t>
            </a:r>
            <a:endParaRPr sz="1100">
              <a:solidFill>
                <a:schemeClr val="dk1"/>
              </a:solidFill>
              <a:latin typeface="Calibri"/>
              <a:ea typeface="Calibri"/>
              <a:cs typeface="Calibri"/>
              <a:sym typeface="Calibri"/>
            </a:endParaRPr>
          </a:p>
          <a:p>
            <a:pPr marL="17145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editor offers features like autocomplete, Vim keybindings, code formatting, and a VS Code extension</a:t>
            </a:r>
            <a:endParaRPr sz="1100">
              <a:solidFill>
                <a:schemeClr val="dk1"/>
              </a:solidFill>
              <a:latin typeface="Calibri"/>
              <a:ea typeface="Calibri"/>
              <a:cs typeface="Calibri"/>
              <a:sym typeface="Calibri"/>
            </a:endParaRPr>
          </a:p>
          <a:p>
            <a:pPr marL="17145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Workflows involve managing reproducible dependencies and sharing or running notebooks flexibly</a:t>
            </a:r>
            <a:endParaRPr sz="1100">
              <a:solidFill>
                <a:schemeClr val="dk1"/>
              </a:solidFill>
              <a:latin typeface="Calibri"/>
              <a:ea typeface="Calibri"/>
              <a:cs typeface="Calibri"/>
              <a:sym typeface="Calibri"/>
            </a:endParaRPr>
          </a:p>
          <a:p>
            <a:pPr marL="17145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Compared to Jupyter, Marimo is more Git-friendly, automatically reactive, includes built-in interactivity, and offers enhanced developer tools and environment management</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https://marimo.io</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4"/>
              </a:rPr>
              <a:t>https://github.com/marimo-team/marimo</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rgbClr val="3C78D8"/>
              </a:buClr>
              <a:buSzPts val="900"/>
              <a:buFont typeface="Roboto Mono"/>
              <a:buChar char="●"/>
            </a:pPr>
            <a:r>
              <a:rPr lang="en" sz="900" b="1">
                <a:solidFill>
                  <a:srgbClr val="3C78D8"/>
                </a:solidFill>
                <a:latin typeface="Roboto Mono"/>
                <a:ea typeface="Roboto Mono"/>
                <a:cs typeface="Roboto Mono"/>
                <a:sym typeface="Roboto Mono"/>
              </a:rPr>
              <a:t>pip install marimo</a:t>
            </a:r>
            <a:endParaRPr sz="900" b="1">
              <a:solidFill>
                <a:srgbClr val="3C78D8"/>
              </a:solidFill>
              <a:latin typeface="Roboto Mono"/>
              <a:ea typeface="Roboto Mono"/>
              <a:cs typeface="Roboto Mono"/>
              <a:sym typeface="Roboto Mono"/>
            </a:endParaRPr>
          </a:p>
          <a:p>
            <a:pPr marL="171450" marR="0" lvl="0" indent="-114300" algn="l" rtl="0">
              <a:lnSpc>
                <a:spcPct val="100000"/>
              </a:lnSpc>
              <a:spcBef>
                <a:spcPts val="0"/>
              </a:spcBef>
              <a:spcAft>
                <a:spcPts val="0"/>
              </a:spcAft>
              <a:buClr>
                <a:srgbClr val="3C78D8"/>
              </a:buClr>
              <a:buSzPts val="900"/>
              <a:buFont typeface="Roboto Mono"/>
              <a:buChar char="●"/>
            </a:pPr>
            <a:r>
              <a:rPr lang="en" sz="900" b="1">
                <a:solidFill>
                  <a:srgbClr val="3C78D8"/>
                </a:solidFill>
                <a:latin typeface="Roboto Mono"/>
                <a:ea typeface="Roboto Mono"/>
                <a:cs typeface="Roboto Mono"/>
                <a:sym typeface="Roboto Mono"/>
              </a:rPr>
              <a:t>marimo tutorial intro</a:t>
            </a:r>
            <a:endParaRPr sz="900" b="1">
              <a:solidFill>
                <a:srgbClr val="3C78D8"/>
              </a:solidFill>
              <a:latin typeface="Roboto Mono"/>
              <a:ea typeface="Roboto Mono"/>
              <a:cs typeface="Roboto Mono"/>
              <a:sym typeface="Roboto Mono"/>
            </a:endParaRPr>
          </a:p>
        </p:txBody>
      </p:sp>
      <p:pic>
        <p:nvPicPr>
          <p:cNvPr id="272" name="Google Shape;272;p32"/>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452375" y="183075"/>
            <a:ext cx="2474275" cy="824750"/>
          </a:xfrm>
          <a:prstGeom prst="rect">
            <a:avLst/>
          </a:prstGeom>
          <a:noFill/>
          <a:ln w="9525" cap="flat" cmpd="sng">
            <a:solidFill>
              <a:srgbClr val="FF0000"/>
            </a:solidFill>
            <a:prstDash val="solid"/>
            <a:round/>
            <a:headEnd type="none" w="sm" len="sm"/>
            <a:tailEnd type="none" w="sm" len="sm"/>
          </a:ln>
        </p:spPr>
      </p:pic>
      <p:pic>
        <p:nvPicPr>
          <p:cNvPr id="273" name="Google Shape;273;p32"/>
          <p:cNvPicPr preferRelativeResize="0"/>
          <p:nvPr/>
        </p:nvPicPr>
        <p:blipFill rotWithShape="1">
          <a:blip r:embed="rId6" cstate="email">
            <a:alphaModFix/>
            <a:extLst>
              <a:ext uri="{28A0092B-C50C-407E-A947-70E740481C1C}">
                <a14:useLocalDpi xmlns:a14="http://schemas.microsoft.com/office/drawing/2010/main"/>
              </a:ext>
            </a:extLst>
          </a:blip>
          <a:srcRect/>
          <a:stretch/>
        </p:blipFill>
        <p:spPr>
          <a:xfrm>
            <a:off x="4857175" y="1230425"/>
            <a:ext cx="2382577" cy="2398651"/>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77"/>
        <p:cNvGrpSpPr/>
        <p:nvPr/>
      </p:nvGrpSpPr>
      <p:grpSpPr>
        <a:xfrm>
          <a:off x="0" y="0"/>
          <a:ext cx="0" cy="0"/>
          <a:chOff x="0" y="0"/>
          <a:chExt cx="0" cy="0"/>
        </a:xfrm>
      </p:grpSpPr>
      <p:sp>
        <p:nvSpPr>
          <p:cNvPr id="278" name="Google Shape;278;p33"/>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u="sng">
                <a:solidFill>
                  <a:schemeClr val="hlink"/>
                </a:solidFill>
                <a:latin typeface="Calibri"/>
                <a:ea typeface="Calibri"/>
                <a:cs typeface="Calibri"/>
                <a:sym typeface="Calibri"/>
                <a:hlinkClick r:id="rId3"/>
              </a:rPr>
              <a:t>Decart.AI</a:t>
            </a:r>
            <a:r>
              <a:rPr lang="en" sz="2000" b="1">
                <a:solidFill>
                  <a:schemeClr val="dk1"/>
                </a:solidFill>
                <a:latin typeface="Calibri"/>
                <a:ea typeface="Calibri"/>
                <a:cs typeface="Calibri"/>
                <a:sym typeface="Calibri"/>
              </a:rPr>
              <a:t> Real-time Video Transformation</a:t>
            </a:r>
            <a:endParaRPr sz="2000" b="1" i="0" u="none" strike="noStrike" cap="none">
              <a:solidFill>
                <a:schemeClr val="dk1"/>
              </a:solidFill>
              <a:latin typeface="Calibri"/>
              <a:ea typeface="Calibri"/>
              <a:cs typeface="Calibri"/>
              <a:sym typeface="Calibri"/>
            </a:endParaRPr>
          </a:p>
        </p:txBody>
      </p:sp>
      <p:sp>
        <p:nvSpPr>
          <p:cNvPr id="279" name="Google Shape;279;p33"/>
          <p:cNvSpPr txBox="1"/>
          <p:nvPr/>
        </p:nvSpPr>
        <p:spPr>
          <a:xfrm>
            <a:off x="55075" y="414600"/>
            <a:ext cx="5221500" cy="425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Decart.ai - Real-time AI Video Transformation</a:t>
            </a:r>
            <a:br>
              <a:rPr lang="en" sz="1100">
                <a:latin typeface="Calibri"/>
                <a:ea typeface="Calibri"/>
                <a:cs typeface="Calibri"/>
                <a:sym typeface="Calibri"/>
              </a:rPr>
            </a:br>
            <a:r>
              <a:rPr lang="en" sz="1100" u="sng">
                <a:solidFill>
                  <a:schemeClr val="hlink"/>
                </a:solidFill>
                <a:latin typeface="Calibri"/>
                <a:ea typeface="Calibri"/>
                <a:cs typeface="Calibri"/>
                <a:sym typeface="Calibri"/>
                <a:hlinkClick r:id="rId4"/>
              </a:rPr>
              <a:t>https://www.youtube.com/watch?v=xAICmrzPJjA</a:t>
            </a:r>
            <a:r>
              <a:rPr lang="en" sz="1100">
                <a:solidFill>
                  <a:schemeClr val="dk1"/>
                </a:solidFill>
                <a:latin typeface="Calibri"/>
                <a:ea typeface="Calibri"/>
                <a:cs typeface="Calibri"/>
                <a:sym typeface="Calibri"/>
              </a:rPr>
              <a:t> </a:t>
            </a:r>
            <a:br>
              <a:rPr lang="en" sz="1100">
                <a:solidFill>
                  <a:schemeClr val="dk1"/>
                </a:solidFill>
                <a:latin typeface="Calibri"/>
                <a:ea typeface="Calibri"/>
                <a:cs typeface="Calibri"/>
                <a:sym typeface="Calibri"/>
              </a:rPr>
            </a:br>
            <a:r>
              <a:rPr lang="en" sz="1100" u="sng">
                <a:solidFill>
                  <a:schemeClr val="hlink"/>
                </a:solidFill>
                <a:latin typeface="Calibri"/>
                <a:ea typeface="Calibri"/>
                <a:cs typeface="Calibri"/>
                <a:sym typeface="Calibri"/>
                <a:hlinkClick r:id="rId5"/>
              </a:rPr>
              <a:t>https://docs.platform.decart.ai/getting-started/pricing</a:t>
            </a:r>
            <a:br>
              <a:rPr lang="en" sz="1100">
                <a:solidFill>
                  <a:schemeClr val="dk1"/>
                </a:solidFill>
                <a:latin typeface="Calibri"/>
                <a:ea typeface="Calibri"/>
                <a:cs typeface="Calibri"/>
                <a:sym typeface="Calibri"/>
              </a:rPr>
            </a:br>
            <a:r>
              <a:rPr lang="en" sz="1100" u="sng">
                <a:solidFill>
                  <a:schemeClr val="hlink"/>
                </a:solidFill>
                <a:latin typeface="Calibri"/>
                <a:ea typeface="Calibri"/>
                <a:cs typeface="Calibri"/>
                <a:sym typeface="Calibri"/>
                <a:hlinkClick r:id="rId6"/>
              </a:rPr>
              <a:t>https://decart.ai</a:t>
            </a:r>
            <a:r>
              <a:rPr lang="en" sz="1100">
                <a:solidFill>
                  <a:schemeClr val="dk1"/>
                </a:solidFill>
                <a:latin typeface="Calibri"/>
                <a:ea typeface="Calibri"/>
                <a:cs typeface="Calibri"/>
                <a:sym typeface="Calibri"/>
              </a:rPr>
              <a:t>  - </a:t>
            </a:r>
            <a:r>
              <a:rPr lang="en" sz="1100" u="sng">
                <a:solidFill>
                  <a:schemeClr val="hlink"/>
                </a:solidFill>
                <a:latin typeface="Calibri"/>
                <a:ea typeface="Calibri"/>
                <a:cs typeface="Calibri"/>
                <a:sym typeface="Calibri"/>
                <a:hlinkClick r:id="rId7"/>
              </a:rPr>
              <a:t>https://decart.ai/api-platform</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Decart.ai offers free-tier access to real-time AI video transformation capabilities including three core models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Mirage LSD enables instant style transfers and reskinning through presets and custom prompts, transforming appearances into various characters like pirates, anime figures, or Van Gogh paintings.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LucyEdit Live adds, removes, or modifies video elements such as virtual overlays.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LipSync Live provides real-time AI-driven lip synchronization for virtual characters.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platform operates through a web interface with zero-latency autoregressive video models accessible via API</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Free users receive 1,000 credits allowing approximately 8 minutes of live video processing</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service supports VR reskinning and live-stream integration for dynamic transformations during streaming sessions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Alternative tools like Runway ACT2, Google Nano Banana, and ElevenLabs voice changer offer higher-fidelity asynchronous processing for pre-recorded content</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technology raises ethical concerns regarding deepfakes, impersonation, and misinformation risks while simultaneously opening creative possibilities for filmmakers, streamers, and virtual creators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Future developments may integrate with robotics and agent-driven AI systems, as referenced by Google's SEMA 2 model for agent gameplay, balancing innovation with risks of scams and misinformation</a:t>
            </a:r>
            <a:endParaRPr sz="1100">
              <a:solidFill>
                <a:schemeClr val="dk1"/>
              </a:solidFill>
              <a:latin typeface="Calibri"/>
              <a:ea typeface="Calibri"/>
              <a:cs typeface="Calibri"/>
              <a:sym typeface="Calibri"/>
            </a:endParaRPr>
          </a:p>
        </p:txBody>
      </p:sp>
      <p:pic>
        <p:nvPicPr>
          <p:cNvPr id="280" name="Google Shape;280;p33"/>
          <p:cNvPicPr preferRelativeResize="0"/>
          <p:nvPr/>
        </p:nvPicPr>
        <p:blipFill>
          <a:blip r:embed="rId8">
            <a:alphaModFix/>
          </a:blip>
          <a:stretch>
            <a:fillRect/>
          </a:stretch>
        </p:blipFill>
        <p:spPr>
          <a:xfrm>
            <a:off x="5705075" y="612550"/>
            <a:ext cx="2438400" cy="1876425"/>
          </a:xfrm>
          <a:prstGeom prst="rect">
            <a:avLst/>
          </a:prstGeom>
          <a:noFill/>
          <a:ln w="9525" cap="flat" cmpd="sng">
            <a:solidFill>
              <a:srgbClr val="FF0000"/>
            </a:solidFill>
            <a:prstDash val="solid"/>
            <a:round/>
            <a:headEnd type="none" w="sm" len="sm"/>
            <a:tailEnd type="none" w="sm" len="sm"/>
          </a:ln>
        </p:spPr>
      </p:pic>
      <p:pic>
        <p:nvPicPr>
          <p:cNvPr id="281" name="Google Shape;281;p33"/>
          <p:cNvPicPr preferRelativeResize="0"/>
          <p:nvPr/>
        </p:nvPicPr>
        <p:blipFill>
          <a:blip r:embed="rId9">
            <a:alphaModFix/>
          </a:blip>
          <a:stretch>
            <a:fillRect/>
          </a:stretch>
        </p:blipFill>
        <p:spPr>
          <a:xfrm>
            <a:off x="5705075" y="2620925"/>
            <a:ext cx="2466975" cy="18478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85"/>
        <p:cNvGrpSpPr/>
        <p:nvPr/>
      </p:nvGrpSpPr>
      <p:grpSpPr>
        <a:xfrm>
          <a:off x="0" y="0"/>
          <a:ext cx="0" cy="0"/>
          <a:chOff x="0" y="0"/>
          <a:chExt cx="0" cy="0"/>
        </a:xfrm>
      </p:grpSpPr>
      <p:sp>
        <p:nvSpPr>
          <p:cNvPr id="286" name="Google Shape;286;p34"/>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Roundtable</a:t>
            </a:r>
            <a:endParaRPr sz="2000" b="1" i="0" u="none" strike="noStrike" cap="none">
              <a:solidFill>
                <a:schemeClr val="dk1"/>
              </a:solidFill>
              <a:latin typeface="Calibri"/>
              <a:ea typeface="Calibri"/>
              <a:cs typeface="Calibri"/>
              <a:sym typeface="Calibri"/>
            </a:endParaRPr>
          </a:p>
        </p:txBody>
      </p:sp>
      <p:sp>
        <p:nvSpPr>
          <p:cNvPr id="287" name="Google Shape;287;p34"/>
          <p:cNvSpPr txBox="1"/>
          <p:nvPr/>
        </p:nvSpPr>
        <p:spPr>
          <a:xfrm>
            <a:off x="55075" y="414600"/>
            <a:ext cx="4444500" cy="4590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Peter H. Diamandis - AI Roundtable</a:t>
            </a:r>
            <a:br>
              <a:rPr lang="en" sz="1100">
                <a:latin typeface="Calibri"/>
                <a:ea typeface="Calibri"/>
                <a:cs typeface="Calibri"/>
                <a:sym typeface="Calibri"/>
              </a:rPr>
            </a:br>
            <a:r>
              <a:rPr lang="en" sz="1100" u="sng">
                <a:solidFill>
                  <a:schemeClr val="hlink"/>
                </a:solidFill>
                <a:latin typeface="Calibri"/>
                <a:ea typeface="Calibri"/>
                <a:cs typeface="Calibri"/>
                <a:sym typeface="Calibri"/>
                <a:hlinkClick r:id="rId3"/>
              </a:rPr>
              <a:t>https://www.youtube.com/watch?v=r8RGYw1n-5k</a:t>
            </a:r>
            <a:endParaRPr sz="1100">
              <a:latin typeface="Calibri"/>
              <a:ea typeface="Calibri"/>
              <a:cs typeface="Calibri"/>
              <a:sym typeface="Calibri"/>
            </a:endParaRPr>
          </a:p>
          <a:p>
            <a:pPr marL="171450" marR="0" lvl="0" indent="-127000" algn="l" rtl="0">
              <a:lnSpc>
                <a:spcPct val="100000"/>
              </a:lnSpc>
              <a:spcBef>
                <a:spcPts val="0"/>
              </a:spcBef>
              <a:spcAft>
                <a:spcPts val="0"/>
              </a:spcAft>
              <a:buClr>
                <a:srgbClr val="3C78D8"/>
              </a:buClr>
              <a:buSzPts val="1100"/>
              <a:buFont typeface="Calibri"/>
              <a:buChar char="●"/>
            </a:pPr>
            <a:r>
              <a:rPr lang="en" sz="1100" b="1">
                <a:solidFill>
                  <a:srgbClr val="3C78D8"/>
                </a:solidFill>
                <a:latin typeface="Calibri"/>
                <a:ea typeface="Calibri"/>
                <a:cs typeface="Calibri"/>
                <a:sym typeface="Calibri"/>
              </a:rPr>
              <a:t>Peter Diamandis, Emad Mostaque, Salim Ismail, Alex Wissner-Gross</a:t>
            </a:r>
            <a:endParaRPr sz="1100" b="1">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Google's Gemini 3 - strong multimodal reasoning, generative UIs, and agentic features; SOTA benchmark scores on tests like Humanity's Last Exam and ARC-AGI2, PhD-level problem-solving in math, science, and engineering. In the competitive race with OpenAI's GPT-5 and xAI's Grok 4.1, Gemini 3 currently leads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On practical benchmarks like VendingBench, where AI agents simulate running a vending business, Gemini 3 far outperforms competitors, delivering roughly 30 times more profit and illustrating potential for AI as autonomous economic actors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Improved voice interfaces in Gemini Live, real-time translation for AR glasses, and agentic shopping where AI calls stores to check inventory and prices, effectively indexing the physical world.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Development tools like Cursor and Google's Anti-gravity environment enable fully agentic coding where developers specify features and AI handles implementation.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Safety concerns center on biosecurity, with OpenAI-backed Red Queen Bio developing defensive systems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hosts advocating for pervasive biosensing infrastructure, though this raises privacy tensions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Jeff Bezos's $6.2 billion Prometheus project targets industrial AI for engineering and manufacturing, representing a pivot toward applying superintelligence to domain-specific problems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hosts argue </a:t>
            </a:r>
            <a:r>
              <a:rPr lang="en" sz="1100" b="1">
                <a:solidFill>
                  <a:srgbClr val="FF0000"/>
                </a:solidFill>
                <a:latin typeface="Calibri"/>
                <a:ea typeface="Calibri"/>
                <a:cs typeface="Calibri"/>
                <a:sym typeface="Calibri"/>
              </a:rPr>
              <a:t>intelligence costs are deflating 40 times annually</a:t>
            </a:r>
            <a:r>
              <a:rPr lang="en" sz="1100">
                <a:solidFill>
                  <a:schemeClr val="dk1"/>
                </a:solidFill>
                <a:latin typeface="Calibri"/>
                <a:ea typeface="Calibri"/>
                <a:cs typeface="Calibri"/>
                <a:sym typeface="Calibri"/>
              </a:rPr>
              <a:t>, potentially driving abundance in housing, transport, food, and healthcare</a:t>
            </a:r>
            <a:endParaRPr sz="1100">
              <a:solidFill>
                <a:schemeClr val="dk1"/>
              </a:solidFill>
              <a:latin typeface="Calibri"/>
              <a:ea typeface="Calibri"/>
              <a:cs typeface="Calibri"/>
              <a:sym typeface="Calibri"/>
            </a:endParaRPr>
          </a:p>
        </p:txBody>
      </p:sp>
      <p:pic>
        <p:nvPicPr>
          <p:cNvPr id="288" name="Google Shape;288;p34"/>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414825" y="240475"/>
            <a:ext cx="2769976" cy="1650975"/>
          </a:xfrm>
          <a:prstGeom prst="rect">
            <a:avLst/>
          </a:prstGeom>
          <a:noFill/>
          <a:ln w="9525" cap="flat" cmpd="sng">
            <a:solidFill>
              <a:srgbClr val="FF0000"/>
            </a:solidFill>
            <a:prstDash val="solid"/>
            <a:round/>
            <a:headEnd type="none" w="sm" len="sm"/>
            <a:tailEnd type="none" w="sm" len="sm"/>
          </a:ln>
        </p:spPr>
      </p:pic>
      <p:sp>
        <p:nvSpPr>
          <p:cNvPr id="289" name="Google Shape;289;p34"/>
          <p:cNvSpPr txBox="1"/>
          <p:nvPr/>
        </p:nvSpPr>
        <p:spPr>
          <a:xfrm>
            <a:off x="4627075" y="1998816"/>
            <a:ext cx="4444500" cy="3066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 </a:t>
            </a:r>
            <a:r>
              <a:rPr lang="en" sz="1100" u="sng">
                <a:solidFill>
                  <a:schemeClr val="hlink"/>
                </a:solidFill>
                <a:latin typeface="Calibri"/>
                <a:ea typeface="Calibri"/>
                <a:cs typeface="Calibri"/>
                <a:sym typeface="Calibri"/>
                <a:hlinkClick r:id="rId5"/>
              </a:rPr>
              <a:t>https://www.youtube.com/watch?v=zJ9kejR4PeQ</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White House launched the Genesis Mission, a Manhattan Project-scale initiative to consolidate federal scientific data and supercomputing resources through the Department of Energy to accelerate AI-driven scientific discovery, aiming to double American research productivity within a decade.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Anthropic released Claude Opus 4.5, achieving breakthrough performance on coding benchmarks with 76% fewer tokens, outperforming entire engineering teams, and excelling at multi-agent orchestration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Amazon announced a $50 billion investment to expand AWS AI and supercomputing infrastructure for federal agencies, adding 1.3 gigawatts of capacity across classified and government cloud environments.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AI is approaching recursive self-improvement, enabling single entrepreneurs to potentially build billion-dollar companies, and transforming everything from shopping to scientific research</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vision of a future where AI agents act as entrepreneurs while humans become investors, dramatically reducing costs and accelerating innovation across all sectors</a:t>
            </a:r>
            <a:endParaRPr sz="1100">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93"/>
        <p:cNvGrpSpPr/>
        <p:nvPr/>
      </p:nvGrpSpPr>
      <p:grpSpPr>
        <a:xfrm>
          <a:off x="0" y="0"/>
          <a:ext cx="0" cy="0"/>
          <a:chOff x="0" y="0"/>
          <a:chExt cx="0" cy="0"/>
        </a:xfrm>
      </p:grpSpPr>
      <p:sp>
        <p:nvSpPr>
          <p:cNvPr id="294" name="Google Shape;294;p35"/>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Interviews - Prepare Stories</a:t>
            </a:r>
            <a:endParaRPr sz="2000" b="1" i="0" u="none" strike="noStrike" cap="none">
              <a:solidFill>
                <a:schemeClr val="dk1"/>
              </a:solidFill>
              <a:latin typeface="Calibri"/>
              <a:ea typeface="Calibri"/>
              <a:cs typeface="Calibri"/>
              <a:sym typeface="Calibri"/>
            </a:endParaRPr>
          </a:p>
        </p:txBody>
      </p:sp>
      <p:sp>
        <p:nvSpPr>
          <p:cNvPr id="295" name="Google Shape;295;p35"/>
          <p:cNvSpPr txBox="1"/>
          <p:nvPr/>
        </p:nvSpPr>
        <p:spPr>
          <a:xfrm>
            <a:off x="55075" y="414600"/>
            <a:ext cx="4444500" cy="2665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I Used to Suck at Coding Interviews. Then I Quadrupled My Salary.</a:t>
            </a:r>
            <a:br>
              <a:rPr lang="en" sz="1200">
                <a:latin typeface="Calibri"/>
                <a:ea typeface="Calibri"/>
                <a:cs typeface="Calibri"/>
                <a:sym typeface="Calibri"/>
              </a:rPr>
            </a:br>
            <a:r>
              <a:rPr lang="en" sz="800" u="sng">
                <a:solidFill>
                  <a:schemeClr val="hlink"/>
                </a:solidFill>
                <a:latin typeface="Calibri"/>
                <a:ea typeface="Calibri"/>
                <a:cs typeface="Calibri"/>
                <a:sym typeface="Calibri"/>
                <a:hlinkClick r:id="rId3"/>
              </a:rPr>
              <a:t>https://brianjenney.medium.com/i-used-to-suck-at-coding-interviews-then-i-quadrupled-my-salary-9d5260389a09</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First, Prepare a library of personal work stories that clearly answer common behavioral questions and demonstrate your problem-solving and teamwork abilities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Second, identify specific technical weaknesses from past interviews and target them through focused practice, small projects, and self-explanation until concepts are second nature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Third, intentionally practice interviewing, even in high-stress or likely-to-fail situations, to become comfortable with the process itself and reduce anxiety over time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author emphasizes that learning to interview is a skill that can dramatically improve your career prospects, regardless of raw coding ability or fairness of the process.</a:t>
            </a:r>
            <a:endParaRPr sz="1200">
              <a:solidFill>
                <a:schemeClr val="dk1"/>
              </a:solidFill>
              <a:latin typeface="Calibri"/>
              <a:ea typeface="Calibri"/>
              <a:cs typeface="Calibri"/>
              <a:sym typeface="Calibri"/>
            </a:endParaRPr>
          </a:p>
        </p:txBody>
      </p:sp>
      <p:pic>
        <p:nvPicPr>
          <p:cNvPr id="296" name="Google Shape;296;p35"/>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640125" y="711400"/>
            <a:ext cx="4339625" cy="2368994"/>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00"/>
        <p:cNvGrpSpPr/>
        <p:nvPr/>
      </p:nvGrpSpPr>
      <p:grpSpPr>
        <a:xfrm>
          <a:off x="0" y="0"/>
          <a:ext cx="0" cy="0"/>
          <a:chOff x="0" y="0"/>
          <a:chExt cx="0" cy="0"/>
        </a:xfrm>
      </p:grpSpPr>
      <p:sp>
        <p:nvSpPr>
          <p:cNvPr id="301" name="Google Shape;301;p36"/>
          <p:cNvSpPr txBox="1"/>
          <p:nvPr/>
        </p:nvSpPr>
        <p:spPr>
          <a:xfrm>
            <a:off x="67350" y="52750"/>
            <a:ext cx="3179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i="0" u="none" strike="noStrike" cap="none">
                <a:solidFill>
                  <a:schemeClr val="dk1"/>
                </a:solidFill>
                <a:latin typeface="Calibri"/>
                <a:ea typeface="Calibri"/>
                <a:cs typeface="Calibri"/>
                <a:sym typeface="Calibri"/>
              </a:rPr>
              <a:t>Jobs</a:t>
            </a:r>
            <a:endParaRPr sz="2000" b="1" i="0" u="none" strike="noStrike" cap="none">
              <a:solidFill>
                <a:schemeClr val="dk1"/>
              </a:solidFill>
              <a:latin typeface="Calibri"/>
              <a:ea typeface="Calibri"/>
              <a:cs typeface="Calibri"/>
              <a:sym typeface="Calibri"/>
            </a:endParaRPr>
          </a:p>
        </p:txBody>
      </p:sp>
      <p:sp>
        <p:nvSpPr>
          <p:cNvPr id="302" name="Google Shape;302;p36"/>
          <p:cNvSpPr txBox="1"/>
          <p:nvPr/>
        </p:nvSpPr>
        <p:spPr>
          <a:xfrm>
            <a:off x="2102050" y="77475"/>
            <a:ext cx="18006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0" i="0" u="sng" strike="noStrike" cap="none">
                <a:solidFill>
                  <a:schemeClr val="hlink"/>
                </a:solidFill>
                <a:latin typeface="Calibri"/>
                <a:ea typeface="Calibri"/>
                <a:cs typeface="Calibri"/>
                <a:sym typeface="Calibri"/>
                <a:hlinkClick r:id="rId3"/>
              </a:rPr>
              <a:t>https://layoffs.fyi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https://trueup.io/layoffs</a:t>
            </a:r>
            <a:r>
              <a:rPr lang="en" sz="1200">
                <a:latin typeface="Calibri"/>
                <a:ea typeface="Calibri"/>
                <a:cs typeface="Calibri"/>
                <a:sym typeface="Calibri"/>
              </a:rPr>
              <a:t> </a:t>
            </a:r>
            <a:r>
              <a:rPr lang="en" sz="1200" b="0" i="0" u="none" strike="noStrike" cap="none">
                <a:solidFill>
                  <a:srgbClr val="000000"/>
                </a:solidFill>
                <a:latin typeface="Calibri"/>
                <a:ea typeface="Calibri"/>
                <a:cs typeface="Calibri"/>
                <a:sym typeface="Calibri"/>
              </a:rPr>
              <a:t> </a:t>
            </a:r>
            <a:endParaRPr sz="1200" b="0" i="0" u="none" strike="noStrike" cap="none">
              <a:solidFill>
                <a:srgbClr val="000000"/>
              </a:solidFill>
              <a:latin typeface="Calibri"/>
              <a:ea typeface="Calibri"/>
              <a:cs typeface="Calibri"/>
              <a:sym typeface="Calibri"/>
            </a:endParaRPr>
          </a:p>
        </p:txBody>
      </p:sp>
      <p:sp>
        <p:nvSpPr>
          <p:cNvPr id="303" name="Google Shape;303;p36"/>
          <p:cNvSpPr txBox="1"/>
          <p:nvPr/>
        </p:nvSpPr>
        <p:spPr>
          <a:xfrm>
            <a:off x="5097525" y="77475"/>
            <a:ext cx="39819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200" b="1">
                <a:solidFill>
                  <a:srgbClr val="FF0000"/>
                </a:solidFill>
                <a:latin typeface="Calibri"/>
                <a:ea typeface="Calibri"/>
                <a:cs typeface="Calibri"/>
                <a:sym typeface="Calibri"/>
              </a:rPr>
              <a:t>  Tech Layoffs by year (US only):</a:t>
            </a:r>
            <a:endParaRPr sz="1200" b="1">
              <a:solidFill>
                <a:srgbClr val="FF0000"/>
              </a:solidFill>
              <a:latin typeface="Calibri"/>
              <a:ea typeface="Calibri"/>
              <a:cs typeface="Calibri"/>
              <a:sym typeface="Calibri"/>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113K in 2025 (as of November 21)</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153K in </a:t>
            </a:r>
            <a:r>
              <a:rPr lang="en" sz="1000" b="1">
                <a:solidFill>
                  <a:srgbClr val="000000"/>
                </a:solidFill>
                <a:latin typeface="Roboto Mono"/>
                <a:ea typeface="Roboto Mono"/>
                <a:cs typeface="Roboto Mono"/>
                <a:sym typeface="Roboto Mono"/>
              </a:rPr>
              <a:t>2024</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264K in 2023</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165K in 2022                  </a:t>
            </a:r>
            <a:r>
              <a:rPr lang="en" sz="1200" i="0" u="sng" strike="noStrike" cap="none">
                <a:solidFill>
                  <a:srgbClr val="0097A7"/>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https://layoffs.fyi</a:t>
            </a:r>
            <a:endParaRPr sz="1200" i="0" u="none" strike="noStrike" cap="none">
              <a:solidFill>
                <a:srgbClr val="000000"/>
              </a:solidFill>
              <a:latin typeface="Calibri"/>
              <a:ea typeface="Calibri"/>
              <a:cs typeface="Calibri"/>
              <a:sym typeface="Calibri"/>
            </a:endParaRPr>
          </a:p>
        </p:txBody>
      </p:sp>
      <p:sp>
        <p:nvSpPr>
          <p:cNvPr id="304" name="Google Shape;304;p36"/>
          <p:cNvSpPr txBox="1"/>
          <p:nvPr/>
        </p:nvSpPr>
        <p:spPr>
          <a:xfrm>
            <a:off x="5162100" y="4228625"/>
            <a:ext cx="39819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200" b="1">
                <a:solidFill>
                  <a:srgbClr val="FF0000"/>
                </a:solidFill>
                <a:latin typeface="Calibri"/>
                <a:ea typeface="Calibri"/>
                <a:cs typeface="Calibri"/>
                <a:sym typeface="Calibri"/>
              </a:rPr>
              <a:t>  The Tech Layoff Tracker</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So far in 2025, 199,799 people laid off (615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2024, 238,461 people </a:t>
            </a:r>
            <a:r>
              <a:rPr lang="en" sz="1200">
                <a:solidFill>
                  <a:schemeClr val="dk1"/>
                </a:solidFill>
                <a:latin typeface="Calibri"/>
                <a:ea typeface="Calibri"/>
                <a:cs typeface="Calibri"/>
                <a:sym typeface="Calibri"/>
              </a:rPr>
              <a:t>laid off</a:t>
            </a:r>
            <a:r>
              <a:rPr lang="en" sz="1200">
                <a:latin typeface="Calibri"/>
                <a:ea typeface="Calibri"/>
                <a:cs typeface="Calibri"/>
                <a:sym typeface="Calibri"/>
              </a:rPr>
              <a:t> (653 per day)</a:t>
            </a:r>
            <a:endParaRPr sz="1200">
              <a:latin typeface="Calibri"/>
              <a:ea typeface="Calibri"/>
              <a:cs typeface="Calibri"/>
              <a:sym typeface="Calibri"/>
            </a:endParaRPr>
          </a:p>
          <a:p>
            <a:pPr marL="228600" marR="460857" lvl="0" indent="-57150" algn="r" rtl="0">
              <a:spcBef>
                <a:spcPts val="0"/>
              </a:spcBef>
              <a:spcAft>
                <a:spcPts val="0"/>
              </a:spcAft>
              <a:buNone/>
            </a:pPr>
            <a:r>
              <a:rPr lang="en" sz="1200" u="sng">
                <a:solidFill>
                  <a:schemeClr val="hlink"/>
                </a:solidFill>
                <a:latin typeface="Calibri"/>
                <a:ea typeface="Calibri"/>
                <a:cs typeface="Calibri"/>
                <a:sym typeface="Calibri"/>
                <a:hlinkClick r:id="rId4"/>
              </a:rPr>
              <a:t>https://trueup.io/layoffs</a:t>
            </a:r>
            <a:endParaRPr sz="1200">
              <a:latin typeface="Calibri"/>
              <a:ea typeface="Calibri"/>
              <a:cs typeface="Calibri"/>
              <a:sym typeface="Calibri"/>
            </a:endParaRPr>
          </a:p>
        </p:txBody>
      </p:sp>
      <p:pic>
        <p:nvPicPr>
          <p:cNvPr id="305" name="Google Shape;305;p36"/>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7350" y="2522048"/>
            <a:ext cx="4951698" cy="2537763"/>
          </a:xfrm>
          <a:prstGeom prst="rect">
            <a:avLst/>
          </a:prstGeom>
          <a:noFill/>
          <a:ln w="9525" cap="flat" cmpd="sng">
            <a:solidFill>
              <a:srgbClr val="FF0000"/>
            </a:solidFill>
            <a:prstDash val="solid"/>
            <a:round/>
            <a:headEnd type="none" w="sm" len="sm"/>
            <a:tailEnd type="none" w="sm" len="sm"/>
          </a:ln>
        </p:spPr>
      </p:pic>
      <p:pic>
        <p:nvPicPr>
          <p:cNvPr id="306" name="Google Shape;306;p36"/>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67350" y="546330"/>
            <a:ext cx="4951701" cy="1873632"/>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10"/>
        <p:cNvGrpSpPr/>
        <p:nvPr/>
      </p:nvGrpSpPr>
      <p:grpSpPr>
        <a:xfrm>
          <a:off x="0" y="0"/>
          <a:ext cx="0" cy="0"/>
          <a:chOff x="0" y="0"/>
          <a:chExt cx="0" cy="0"/>
        </a:xfrm>
      </p:grpSpPr>
      <p:pic>
        <p:nvPicPr>
          <p:cNvPr id="311" name="Google Shape;311;p37"/>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645525" y="1203525"/>
            <a:ext cx="1570556" cy="1570556"/>
          </a:xfrm>
          <a:prstGeom prst="rect">
            <a:avLst/>
          </a:prstGeom>
          <a:noFill/>
          <a:ln>
            <a:noFill/>
          </a:ln>
        </p:spPr>
      </p:pic>
      <p:sp>
        <p:nvSpPr>
          <p:cNvPr id="312" name="Google Shape;312;p37"/>
          <p:cNvSpPr txBox="1"/>
          <p:nvPr/>
        </p:nvSpPr>
        <p:spPr>
          <a:xfrm>
            <a:off x="-25625" y="-14775"/>
            <a:ext cx="3355800" cy="5694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500"/>
              <a:buFont typeface="Arial"/>
              <a:buNone/>
            </a:pPr>
            <a:r>
              <a:rPr lang="en" sz="2500" b="1" i="0" u="none" strike="noStrike" cap="none">
                <a:solidFill>
                  <a:srgbClr val="000000"/>
                </a:solidFill>
                <a:latin typeface="Calibri"/>
                <a:ea typeface="Calibri"/>
                <a:cs typeface="Calibri"/>
                <a:sym typeface="Calibri"/>
              </a:rPr>
              <a:t>About the Speaker</a:t>
            </a:r>
            <a:endParaRPr sz="2500" b="1" i="0" u="none" strike="noStrike" cap="none">
              <a:solidFill>
                <a:srgbClr val="000000"/>
              </a:solidFill>
              <a:latin typeface="Calibri"/>
              <a:ea typeface="Calibri"/>
              <a:cs typeface="Calibri"/>
              <a:sym typeface="Calibri"/>
            </a:endParaRPr>
          </a:p>
        </p:txBody>
      </p:sp>
      <p:sp>
        <p:nvSpPr>
          <p:cNvPr id="313" name="Google Shape;313;p37"/>
          <p:cNvSpPr txBox="1"/>
          <p:nvPr/>
        </p:nvSpPr>
        <p:spPr>
          <a:xfrm>
            <a:off x="3330175" y="878750"/>
            <a:ext cx="5621700" cy="33093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500" b="1" i="0" u="none" strike="noStrike" cap="none">
                <a:solidFill>
                  <a:srgbClr val="000000"/>
                </a:solidFill>
                <a:latin typeface="Calibri"/>
                <a:ea typeface="Calibri"/>
                <a:cs typeface="Calibri"/>
                <a:sym typeface="Calibri"/>
              </a:rPr>
              <a:t>Lev Selector, Ph.D.</a:t>
            </a:r>
            <a:endParaRPr sz="2500" b="1"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8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40+ years of software engineering, data science, and building teams (hiring, training, and managing)</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Ph.D. in mathematical modeling and computer simulations</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Interests: </a:t>
            </a:r>
            <a:endParaRPr sz="16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Generative AI, Using LLM with your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chemeClr val="dk1"/>
              </a:buClr>
              <a:buSzPts val="1600"/>
              <a:buFont typeface="Calibri"/>
              <a:buChar char="●"/>
            </a:pPr>
            <a:r>
              <a:rPr lang="en" sz="1600" b="0" i="0" u="none" strike="noStrike" cap="none">
                <a:solidFill>
                  <a:schemeClr val="dk1"/>
                </a:solidFill>
                <a:latin typeface="Calibri"/>
                <a:ea typeface="Calibri"/>
                <a:cs typeface="Calibri"/>
                <a:sym typeface="Calibri"/>
              </a:rPr>
              <a:t>Local AI for Local Private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rgbClr val="000000"/>
                </a:solidFill>
                <a:latin typeface="Calibri"/>
                <a:ea typeface="Calibri"/>
                <a:cs typeface="Calibri"/>
                <a:sym typeface="Calibri"/>
              </a:rPr>
              <a:t>Cloud architecture, fin-tech, application security</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Find/connect: Linkedin, GitHub, YouTube, Google</a:t>
            </a:r>
            <a:endParaRPr sz="1600" b="0" i="0" u="none" strike="noStrike" cap="none">
              <a:solidFill>
                <a:srgbClr val="000000"/>
              </a:solidFill>
              <a:latin typeface="Calibri"/>
              <a:ea typeface="Calibri"/>
              <a:cs typeface="Calibri"/>
              <a:sym typeface="Calibri"/>
            </a:endParaRPr>
          </a:p>
        </p:txBody>
      </p:sp>
      <p:pic>
        <p:nvPicPr>
          <p:cNvPr id="314" name="Google Shape;314;p37"/>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001578" y="3664175"/>
            <a:ext cx="858450" cy="311906"/>
          </a:xfrm>
          <a:prstGeom prst="rect">
            <a:avLst/>
          </a:prstGeom>
          <a:noFill/>
          <a:ln>
            <a:noFill/>
          </a:ln>
        </p:spPr>
      </p:pic>
      <p:sp>
        <p:nvSpPr>
          <p:cNvPr id="315" name="Google Shape;315;p37"/>
          <p:cNvSpPr txBox="1"/>
          <p:nvPr/>
        </p:nvSpPr>
        <p:spPr>
          <a:xfrm>
            <a:off x="735103" y="4005903"/>
            <a:ext cx="13914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n" sz="1600" b="0" i="0" u="sng" strike="noStrike" cap="none">
                <a:solidFill>
                  <a:schemeClr val="hlink"/>
                </a:solidFill>
                <a:latin typeface="Calibri"/>
                <a:ea typeface="Calibri"/>
                <a:cs typeface="Calibri"/>
                <a:sym typeface="Calibri"/>
                <a:hlinkClick r:id="rId5"/>
              </a:rPr>
              <a:t>https://eais.ai</a:t>
            </a:r>
            <a:r>
              <a:rPr lang="en" sz="1600" b="0" i="0" u="none" strike="noStrike" cap="none">
                <a:solidFill>
                  <a:srgbClr val="000000"/>
                </a:solidFill>
                <a:latin typeface="Calibri"/>
                <a:ea typeface="Calibri"/>
                <a:cs typeface="Calibri"/>
                <a:sym typeface="Calibri"/>
              </a:rPr>
              <a:t> </a:t>
            </a:r>
            <a:endParaRPr sz="1600" b="0" i="0" u="none" strike="noStrike" cap="none">
              <a:solidFill>
                <a:srgbClr val="000000"/>
              </a:solidFill>
              <a:latin typeface="Calibri"/>
              <a:ea typeface="Calibri"/>
              <a:cs typeface="Calibri"/>
              <a:sym typeface="Calibri"/>
            </a:endParaRPr>
          </a:p>
        </p:txBody>
      </p:sp>
      <p:sp>
        <p:nvSpPr>
          <p:cNvPr id="316" name="Google Shape;316;p37"/>
          <p:cNvSpPr txBox="1"/>
          <p:nvPr/>
        </p:nvSpPr>
        <p:spPr>
          <a:xfrm>
            <a:off x="383803" y="4360974"/>
            <a:ext cx="2094000" cy="431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600" b="0" i="0" u="none" strike="noStrike" cap="none">
                <a:solidFill>
                  <a:srgbClr val="000000"/>
                </a:solidFill>
                <a:latin typeface="Calibri"/>
                <a:ea typeface="Calibri"/>
                <a:cs typeface="Calibri"/>
                <a:sym typeface="Calibri"/>
              </a:rPr>
              <a:t>Enterprise AI Systems</a:t>
            </a:r>
            <a:endParaRPr sz="1600" b="0" i="0" u="none" strike="noStrike" cap="none">
              <a:solidFill>
                <a:srgbClr val="000000"/>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20"/>
        <p:cNvGrpSpPr/>
        <p:nvPr/>
      </p:nvGrpSpPr>
      <p:grpSpPr>
        <a:xfrm>
          <a:off x="0" y="0"/>
          <a:ext cx="0" cy="0"/>
          <a:chOff x="0" y="0"/>
          <a:chExt cx="0" cy="0"/>
        </a:xfrm>
      </p:grpSpPr>
      <p:sp>
        <p:nvSpPr>
          <p:cNvPr id="321" name="Google Shape;321;p38"/>
          <p:cNvSpPr txBox="1"/>
          <p:nvPr/>
        </p:nvSpPr>
        <p:spPr>
          <a:xfrm>
            <a:off x="2151375" y="1533150"/>
            <a:ext cx="4632600" cy="1262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7000"/>
              <a:buFont typeface="Arial"/>
              <a:buNone/>
            </a:pPr>
            <a:r>
              <a:rPr lang="en" sz="7000" b="1" i="0" u="none" strike="noStrike" cap="none">
                <a:solidFill>
                  <a:srgbClr val="3C78D8"/>
                </a:solidFill>
                <a:latin typeface="Calibri"/>
                <a:ea typeface="Calibri"/>
                <a:cs typeface="Calibri"/>
                <a:sym typeface="Calibri"/>
              </a:rPr>
              <a:t>Thank You!</a:t>
            </a:r>
            <a:endParaRPr sz="7000" b="1" i="0" u="none" strike="noStrike" cap="none">
              <a:solidFill>
                <a:srgbClr val="3C78D8"/>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5159</Words>
  <Application>Microsoft Macintosh PowerPoint</Application>
  <PresentationFormat>On-screen Show (16:9)</PresentationFormat>
  <Paragraphs>466</Paragraphs>
  <Slides>24</Slides>
  <Notes>24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24</vt:i4>
      </vt:variant>
    </vt:vector>
  </HeadingPairs>
  <TitlesOfParts>
    <vt:vector size="28" baseType="lpstr">
      <vt:lpstr>Roboto Mono</vt:lpstr>
      <vt:lpstr>Arial</vt:lpstr>
      <vt:lpstr>Calibri</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Lev Selector</cp:lastModifiedBy>
  <cp:revision>1</cp:revision>
  <dcterms:modified xsi:type="dcterms:W3CDTF">2025-11-28T04:57:20Z</dcterms:modified>
</cp:coreProperties>
</file>