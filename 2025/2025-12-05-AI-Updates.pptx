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embeddedFontLst>
    <p:embeddedFont>
      <p:font typeface="Roboto Mono" pitchFamily="49"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AA70165-04A6-4DEA-B103-74C252B74D3D}">
  <a:tblStyle styleId="{4AA70165-04A6-4DEA-B103-74C252B74D3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a9e4b4f92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7" name="Google Shape;147;g3a9e4b4f92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913d0c33b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g3913d0c33b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912f177cd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3912f177cd1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912f177cd1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g3912f177cd1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ac7e23156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g3ac7e23156a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913ae0aaf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g3913ae0aaf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913ae0aaf8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9" name="Google Shape;209;g3913ae0aaf8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acf640323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acf640323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913d0c33b8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g3913d0c33b8_4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3" name="Google Shape;2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abacus.ai"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x.ai/news/grok-4-1" TargetMode="External"/><Relationship Id="rId26" Type="http://schemas.openxmlformats.org/officeDocument/2006/relationships/hyperlink" Target="https://platform.openai.com/docs/models/gpt-5" TargetMode="External"/><Relationship Id="rId39" Type="http://schemas.openxmlformats.org/officeDocument/2006/relationships/hyperlink" Target="https://huggingface.co/Qwen/Qwen3-235B-A22B-Instruct-2507" TargetMode="External"/><Relationship Id="rId21" Type="http://schemas.openxmlformats.org/officeDocument/2006/relationships/hyperlink" Target="http://aistudio.google.com/app/prompts/new_chat?model=gemini-2.5-pro" TargetMode="External"/><Relationship Id="rId34" Type="http://schemas.openxmlformats.org/officeDocument/2006/relationships/hyperlink" Target="https://api-docs.deepseek.com/news/news250929"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3-pro-preview" TargetMode="External"/><Relationship Id="rId25" Type="http://schemas.openxmlformats.org/officeDocument/2006/relationships/hyperlink" Target="https://x.com/OpenAI/status/1905331956856050135" TargetMode="External"/><Relationship Id="rId33" Type="http://schemas.openxmlformats.org/officeDocument/2006/relationships/hyperlink" Target="https://qwen.ai/blog?id=241398b9cd6353de490b0f82806c7848c5d2777d&amp;from=research.latest-advancements-list" TargetMode="External"/><Relationship Id="rId38" Type="http://schemas.openxmlformats.org/officeDocument/2006/relationships/hyperlink" Target="https://huggingface.co/meituan-longcat/LongCat-Flash-Chat"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gpt-5-1/" TargetMode="External"/><Relationship Id="rId29" Type="http://schemas.openxmlformats.org/officeDocument/2006/relationships/hyperlink" Target="https://x.ai/news/grok-4-1-fas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openai.com/index/introducing-gpt-4-5/" TargetMode="External"/><Relationship Id="rId32" Type="http://schemas.openxmlformats.org/officeDocument/2006/relationships/hyperlink" Target="https://platform.openai.com/docs/models/gpt-5-chat-latest" TargetMode="External"/><Relationship Id="rId37" Type="http://schemas.openxmlformats.org/officeDocument/2006/relationships/hyperlink" Target="https://www.anthropic.com/news/claude-haiku-4-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opus-4-1" TargetMode="External"/><Relationship Id="rId28" Type="http://schemas.openxmlformats.org/officeDocument/2006/relationships/hyperlink" Target="https://www.alibabacloud.com/help/en/model-studio/models" TargetMode="External"/><Relationship Id="rId36" Type="http://schemas.openxmlformats.org/officeDocument/2006/relationships/hyperlink" Target="https://mistral.ai/news/mistral-3"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5" TargetMode="External"/><Relationship Id="rId31" Type="http://schemas.openxmlformats.org/officeDocument/2006/relationships/hyperlink" Target="https://docs.z.ai/guides/llm/glm-4.6"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sonnet-4-5" TargetMode="External"/><Relationship Id="rId27" Type="http://schemas.openxmlformats.org/officeDocument/2006/relationships/hyperlink" Target="https://openai.com/index/introducing-o3-and-o4-mini/" TargetMode="External"/><Relationship Id="rId30" Type="http://schemas.openxmlformats.org/officeDocument/2006/relationships/hyperlink" Target="https://huggingface.co/moonshotai/Kimi-K2-Thinking" TargetMode="External"/><Relationship Id="rId35" Type="http://schemas.openxmlformats.org/officeDocument/2006/relationships/hyperlink" Target="https://www.anthropic.com/news/claude-4"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www.youtube.com/watch?v=vvrGcWLqMq0" TargetMode="External"/><Relationship Id="rId7"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hyperlink" Target="https://www.youtube.com/watch?v=7Hi-PeBYi60" TargetMode="External"/><Relationship Id="rId4" Type="http://schemas.openxmlformats.org/officeDocument/2006/relationships/hyperlink" Target="https://api-docs.deepseek.com/news/news251201"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6x5G5Lam1Wk"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s://www.youtube.com/watch?v=ButAp5rF69E"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36l7oA7HhAM"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www.youtube.com/watch?v=mSDsLpMogtM" TargetMode="Externa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p-YTuA7d9WE"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k_9AsANFY9A"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mLM9LbRF4Q4"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hyperlink" Target="https://venturebeat.com/ai/openagi-emerges-from-stealth-with-an-ai-agent-that-it-claims-crushes-openai" TargetMode="Externa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ye_HKsDcVsc"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QKddqaqOw8o"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hyperlink" Target="https://www.anthropic.com/news/anthropic-acquires-bun-as-claude-code-reaches-usd1b-milestone"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hyperlink" Target="http://abacus.ai" TargetMode="External"/><Relationship Id="rId7"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deepagent.abacus.ai" TargetMode="External"/><Relationship Id="rId5" Type="http://schemas.openxmlformats.org/officeDocument/2006/relationships/hyperlink" Target="https://www.youtube.com/watch?v=hzAAzUyILNU" TargetMode="External"/><Relationship Id="rId4" Type="http://schemas.openxmlformats.org/officeDocument/2006/relationships/hyperlink" Target="http://investing.com"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hyperlink" Target="https://trueup.io/layoffs"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72045"/>
            <a:ext cx="442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DeepSeek V3.2 685 Bln params open-source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Imagen 4 in Google Docs, Slides, Vids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addressed MCP's scaling problem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Docker MCP Toolkit simplifies MCP server setup</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Dec 0</a:t>
            </a:r>
            <a:r>
              <a:rPr lang="en" sz="2200" b="1">
                <a:solidFill>
                  <a:srgbClr val="3C78D8"/>
                </a:solidFill>
                <a:latin typeface="Calibri"/>
                <a:ea typeface="Calibri"/>
                <a:cs typeface="Calibri"/>
                <a:sym typeface="Calibri"/>
              </a:rPr>
              <a:t>5,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4593292"/>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064291"/>
            <a:ext cx="4420200" cy="29739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AI Studio - voice AI agent in 2 min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DeepSeek Math V2</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How Elon Musk achieves "impossible" goals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Traditional SEO vs AI search SEO</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How to 10x your income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OpenAGI Lux 1.0 AI agent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Perplexity = AI chatbot + web search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Ilya Sutskever admits that Scaling is not Enough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Code Red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acquires Bun to run Claude Code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Abacus.ai</a:t>
            </a:r>
            <a:r>
              <a:rPr lang="en" sz="1600" b="1">
                <a:solidFill>
                  <a:srgbClr val="3C78D8"/>
                </a:solidFill>
                <a:latin typeface="Calibri"/>
                <a:ea typeface="Calibri"/>
                <a:cs typeface="Calibri"/>
                <a:sym typeface="Calibri"/>
              </a:rPr>
              <a:t> DeepAgent - Financial Research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Use AI to Generate Documentation</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1078971"/>
            <a:ext cx="4502400" cy="2646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p:txBody>
      </p:sp>
      <p:sp>
        <p:nvSpPr>
          <p:cNvPr id="68" name="Google Shape;68;p15"/>
          <p:cNvSpPr txBox="1"/>
          <p:nvPr/>
        </p:nvSpPr>
        <p:spPr>
          <a:xfrm>
            <a:off x="4885625" y="428152"/>
            <a:ext cx="1576800" cy="2340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xxx</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0318" y="438204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txBox="1"/>
          <p:nvPr/>
        </p:nvSpPr>
        <p:spPr>
          <a:xfrm>
            <a:off x="6549674" y="2171102"/>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0" name="Google Shape;80;p16"/>
          <p:cNvSpPr/>
          <p:nvPr/>
        </p:nvSpPr>
        <p:spPr>
          <a:xfrm>
            <a:off x="3743624" y="75584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594761" y="166951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595461" y="149182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3748244" y="94613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txBox="1"/>
          <p:nvPr/>
        </p:nvSpPr>
        <p:spPr>
          <a:xfrm>
            <a:off x="3448497" y="3110294"/>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5" name="Google Shape;85;p16"/>
          <p:cNvSpPr/>
          <p:nvPr/>
        </p:nvSpPr>
        <p:spPr>
          <a:xfrm>
            <a:off x="3748954" y="312158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txBox="1"/>
          <p:nvPr/>
        </p:nvSpPr>
        <p:spPr>
          <a:xfrm>
            <a:off x="3587049" y="2936617"/>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7" name="Google Shape;87;p16"/>
          <p:cNvSpPr txBox="1"/>
          <p:nvPr/>
        </p:nvSpPr>
        <p:spPr>
          <a:xfrm>
            <a:off x="437205"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txBox="1"/>
          <p:nvPr/>
        </p:nvSpPr>
        <p:spPr>
          <a:xfrm>
            <a:off x="446720" y="364563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9" name="Google Shape;89;p16"/>
          <p:cNvSpPr/>
          <p:nvPr/>
        </p:nvSpPr>
        <p:spPr>
          <a:xfrm>
            <a:off x="3751768" y="32911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a:off x="3458789" y="382965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1" name="Google Shape;91;p16"/>
          <p:cNvSpPr/>
          <p:nvPr/>
        </p:nvSpPr>
        <p:spPr>
          <a:xfrm>
            <a:off x="3749658" y="383804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1</a:t>
            </a:r>
            <a:endParaRPr sz="1000">
              <a:solidFill>
                <a:schemeClr val="dk1"/>
              </a:solidFill>
              <a:latin typeface="Calibri"/>
              <a:ea typeface="Calibri"/>
              <a:cs typeface="Calibri"/>
              <a:sym typeface="Calibri"/>
            </a:endParaRPr>
          </a:p>
        </p:txBody>
      </p:sp>
      <p:sp>
        <p:nvSpPr>
          <p:cNvPr id="93" name="Google Shape;93;p16"/>
          <p:cNvSpPr/>
          <p:nvPr/>
        </p:nvSpPr>
        <p:spPr>
          <a:xfrm>
            <a:off x="3751782" y="240012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3750579" y="129278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a:off x="3458789" y="474647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6" name="Google Shape;96;p16"/>
          <p:cNvSpPr/>
          <p:nvPr/>
        </p:nvSpPr>
        <p:spPr>
          <a:xfrm>
            <a:off x="3749658" y="47548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748357" y="11388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flipH="1">
            <a:off x="3679393" y="148432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9" name="Google Shape;99;p16"/>
          <p:cNvSpPr txBox="1"/>
          <p:nvPr/>
        </p:nvSpPr>
        <p:spPr>
          <a:xfrm flipH="1">
            <a:off x="3691285" y="257637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0" name="Google Shape;100;p16"/>
          <p:cNvSpPr/>
          <p:nvPr/>
        </p:nvSpPr>
        <p:spPr>
          <a:xfrm>
            <a:off x="3750579" y="16651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3750579" y="184958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3750579" y="221846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598073" y="184482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txBox="1"/>
          <p:nvPr/>
        </p:nvSpPr>
        <p:spPr>
          <a:xfrm flipH="1">
            <a:off x="532333" y="9430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5" name="Google Shape;105;p16"/>
          <p:cNvSpPr/>
          <p:nvPr/>
        </p:nvSpPr>
        <p:spPr>
          <a:xfrm>
            <a:off x="596204" y="203715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596204" y="221292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594433" y="257727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p:nvPr/>
        </p:nvSpPr>
        <p:spPr>
          <a:xfrm>
            <a:off x="594433" y="31210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txBox="1"/>
          <p:nvPr/>
        </p:nvSpPr>
        <p:spPr>
          <a:xfrm flipH="1">
            <a:off x="532333" y="3836776"/>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0" name="Google Shape;110;p16"/>
          <p:cNvSpPr txBox="1"/>
          <p:nvPr/>
        </p:nvSpPr>
        <p:spPr>
          <a:xfrm>
            <a:off x="304271" y="47395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1" name="Google Shape;111;p16"/>
          <p:cNvSpPr/>
          <p:nvPr/>
        </p:nvSpPr>
        <p:spPr>
          <a:xfrm>
            <a:off x="603537" y="474681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594433" y="329327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594433" y="2929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3754343" y="438928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flipH="1">
            <a:off x="532333" y="1301380"/>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6" name="Google Shape;116;p16"/>
          <p:cNvSpPr/>
          <p:nvPr/>
        </p:nvSpPr>
        <p:spPr>
          <a:xfrm>
            <a:off x="595461" y="110802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59620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596204" y="27667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594433" y="34661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txBox="1"/>
          <p:nvPr/>
        </p:nvSpPr>
        <p:spPr>
          <a:xfrm>
            <a:off x="304271" y="401807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p:nvPr/>
        </p:nvSpPr>
        <p:spPr>
          <a:xfrm>
            <a:off x="603537" y="402532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596204" y="49308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3750579" y="201221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3751782" y="348978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3587049" y="366032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txBox="1"/>
          <p:nvPr/>
        </p:nvSpPr>
        <p:spPr>
          <a:xfrm>
            <a:off x="3458789" y="400250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7" name="Google Shape;127;p16"/>
          <p:cNvSpPr/>
          <p:nvPr/>
        </p:nvSpPr>
        <p:spPr>
          <a:xfrm>
            <a:off x="3749658" y="401089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txBox="1"/>
          <p:nvPr/>
        </p:nvSpPr>
        <p:spPr>
          <a:xfrm>
            <a:off x="3458789" y="41855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9" name="Google Shape;129;p16"/>
          <p:cNvSpPr/>
          <p:nvPr/>
        </p:nvSpPr>
        <p:spPr>
          <a:xfrm>
            <a:off x="3749658" y="419397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51768" y="49294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p:nvPr/>
        </p:nvSpPr>
        <p:spPr>
          <a:xfrm>
            <a:off x="3748357" y="457567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16"/>
          <p:cNvSpPr/>
          <p:nvPr/>
        </p:nvSpPr>
        <p:spPr>
          <a:xfrm>
            <a:off x="6718499" y="8432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6718499" y="10482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6718499" y="125332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6718499" y="14583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6898625" y="80149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37" name="Google Shape;137;p16"/>
          <p:cNvSpPr txBox="1"/>
          <p:nvPr/>
        </p:nvSpPr>
        <p:spPr>
          <a:xfrm>
            <a:off x="6895175" y="1006556"/>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38" name="Google Shape;138;p16"/>
          <p:cNvSpPr txBox="1"/>
          <p:nvPr/>
        </p:nvSpPr>
        <p:spPr>
          <a:xfrm>
            <a:off x="6901750" y="121161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39" name="Google Shape;139;p16"/>
          <p:cNvSpPr txBox="1"/>
          <p:nvPr/>
        </p:nvSpPr>
        <p:spPr>
          <a:xfrm>
            <a:off x="6903075" y="141667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graphicFrame>
        <p:nvGraphicFramePr>
          <p:cNvPr id="140" name="Google Shape;140;p16"/>
          <p:cNvGraphicFramePr/>
          <p:nvPr/>
        </p:nvGraphicFramePr>
        <p:xfrm>
          <a:off x="732530" y="556008"/>
          <a:ext cx="3000000" cy="3000000"/>
        </p:xfrm>
        <a:graphic>
          <a:graphicData uri="http://schemas.openxmlformats.org/drawingml/2006/table">
            <a:tbl>
              <a:tblPr>
                <a:noFill/>
                <a:tableStyleId>{4AA70165-04A6-4DEA-B103-74C252B74D3D}</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302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deepseek-v3.2-exp</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30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1" name="Google Shape;141;p16"/>
          <p:cNvGraphicFramePr/>
          <p:nvPr/>
        </p:nvGraphicFramePr>
        <p:xfrm>
          <a:off x="3878800" y="559064"/>
          <a:ext cx="3000000" cy="3000000"/>
        </p:xfrm>
        <a:graphic>
          <a:graphicData uri="http://schemas.openxmlformats.org/drawingml/2006/table">
            <a:tbl>
              <a:tblPr>
                <a:noFill/>
                <a:tableStyleId>{4AA70165-04A6-4DEA-B103-74C252B74D3D}</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034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69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mistral-large-3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636879"/>
                          </a:solidFill>
                          <a:latin typeface="Calibri"/>
                          <a:ea typeface="Calibri"/>
                          <a:cs typeface="Calibri"/>
                          <a:sym typeface="Calibri"/>
                        </a:rPr>
                        <a:t>1487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deepseek-v3.2-exp</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03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2" name="Google Shape;142;p16"/>
          <p:cNvSpPr txBox="1"/>
          <p:nvPr/>
        </p:nvSpPr>
        <p:spPr>
          <a:xfrm>
            <a:off x="304271" y="41933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3" name="Google Shape;143;p16"/>
          <p:cNvSpPr/>
          <p:nvPr/>
        </p:nvSpPr>
        <p:spPr>
          <a:xfrm>
            <a:off x="603537" y="420058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 name="Google Shape;144;p16"/>
          <p:cNvSpPr txBox="1"/>
          <p:nvPr/>
        </p:nvSpPr>
        <p:spPr>
          <a:xfrm flipH="1">
            <a:off x="3520633" y="2751635"/>
            <a:ext cx="3498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a:solidFill>
                  <a:srgbClr val="1F2937"/>
                </a:solidFill>
                <a:latin typeface="Calibri"/>
                <a:ea typeface="Calibri"/>
                <a:cs typeface="Calibri"/>
                <a:sym typeface="Calibri"/>
              </a:rPr>
              <a:t>Mistral</a:t>
            </a:r>
            <a:endParaRPr sz="800" b="0" i="0" u="none" strike="noStrike" cap="none">
              <a:solidFill>
                <a:srgbClr val="1F2937"/>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17"/>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1</a:t>
            </a:r>
            <a:endParaRPr sz="2000" b="1" i="0" u="none" strike="noStrike" cap="none">
              <a:solidFill>
                <a:schemeClr val="dk1"/>
              </a:solidFill>
              <a:latin typeface="Calibri"/>
              <a:ea typeface="Calibri"/>
              <a:cs typeface="Calibri"/>
              <a:sym typeface="Calibri"/>
            </a:endParaRPr>
          </a:p>
        </p:txBody>
      </p:sp>
      <p:sp>
        <p:nvSpPr>
          <p:cNvPr id="150" name="Google Shape;150;p17"/>
          <p:cNvSpPr txBox="1"/>
          <p:nvPr/>
        </p:nvSpPr>
        <p:spPr>
          <a:xfrm>
            <a:off x="55075" y="466747"/>
            <a:ext cx="44445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DeepSeek V3.2 685 Bln params open-source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rivals GPT-5 and Gemini 3.0 Pro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Features: </a:t>
            </a:r>
            <a:r>
              <a:rPr lang="en" sz="1100">
                <a:solidFill>
                  <a:srgbClr val="3C78D8"/>
                </a:solidFill>
                <a:latin typeface="Calibri"/>
                <a:ea typeface="Calibri"/>
                <a:cs typeface="Calibri"/>
                <a:sym typeface="Calibri"/>
              </a:rPr>
              <a:t>DeepSeek Sparse Attention (DSA) for long context; Scalable reinforcement learning framework; Large-scale agentic task synthesis pipeline to generates training data</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DeepSeek </a:t>
            </a:r>
            <a:r>
              <a:rPr lang="en" sz="1100" b="1">
                <a:solidFill>
                  <a:srgbClr val="FF0000"/>
                </a:solidFill>
                <a:latin typeface="Calibri"/>
                <a:ea typeface="Calibri"/>
                <a:cs typeface="Calibri"/>
                <a:sym typeface="Calibri"/>
              </a:rPr>
              <a:t>V3-standard &amp; V3.2-Speciale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Speciale is a high-compute version that achieved gold-medal in the 2025 International Math Olympiad and International Olympiad in Informatics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Both models are open-weight with full technical documentation, allowing developers to fine-tune and deploy on their own hardware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standard V3.2 is available via app, web, and API, while Speciale is temporarily API-only until December 15.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https://www.youtube.com/watch?v=vvrGcWLqMq0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https://api-docs.deepseek.com/news/news251201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51" name="Google Shape;151;p17"/>
          <p:cNvSpPr txBox="1"/>
          <p:nvPr/>
        </p:nvSpPr>
        <p:spPr>
          <a:xfrm>
            <a:off x="55075" y="3481532"/>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Imagen 4 in Google Docs, Slides, Vids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https://www.youtube.com/watch?v=7Hi-PeBYi60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Users can create high-quality images by typing prompts within these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Photorealism, fine details, good text rendering, up to 2K resolution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Need to enable AI features in your settings</a:t>
            </a:r>
            <a:endParaRPr sz="1100">
              <a:solidFill>
                <a:schemeClr val="dk1"/>
              </a:solidFill>
              <a:latin typeface="Calibri"/>
              <a:ea typeface="Calibri"/>
              <a:cs typeface="Calibri"/>
              <a:sym typeface="Calibri"/>
            </a:endParaRPr>
          </a:p>
        </p:txBody>
      </p:sp>
      <p:pic>
        <p:nvPicPr>
          <p:cNvPr id="152" name="Google Shape;152;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64950" y="801550"/>
            <a:ext cx="4339626" cy="2418940"/>
          </a:xfrm>
          <a:prstGeom prst="rect">
            <a:avLst/>
          </a:prstGeom>
          <a:noFill/>
          <a:ln w="9525" cap="flat" cmpd="sng">
            <a:solidFill>
              <a:srgbClr val="FF0000"/>
            </a:solidFill>
            <a:prstDash val="solid"/>
            <a:round/>
            <a:headEnd type="none" w="sm" len="sm"/>
            <a:tailEnd type="none" w="sm" len="sm"/>
          </a:ln>
        </p:spPr>
      </p:pic>
      <p:pic>
        <p:nvPicPr>
          <p:cNvPr id="153" name="Google Shape;153;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64955" y="95895"/>
            <a:ext cx="2947070" cy="622025"/>
          </a:xfrm>
          <a:prstGeom prst="rect">
            <a:avLst/>
          </a:prstGeom>
          <a:noFill/>
          <a:ln>
            <a:noFill/>
          </a:ln>
        </p:spPr>
      </p:pic>
      <p:pic>
        <p:nvPicPr>
          <p:cNvPr id="154" name="Google Shape;154;p1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51975" y="3372890"/>
            <a:ext cx="2964306" cy="161821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8"/>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2</a:t>
            </a:r>
            <a:endParaRPr sz="2000" b="1" i="0" u="none" strike="noStrike" cap="none">
              <a:solidFill>
                <a:schemeClr val="dk1"/>
              </a:solidFill>
              <a:latin typeface="Calibri"/>
              <a:ea typeface="Calibri"/>
              <a:cs typeface="Calibri"/>
              <a:sym typeface="Calibri"/>
            </a:endParaRPr>
          </a:p>
        </p:txBody>
      </p:sp>
      <p:sp>
        <p:nvSpPr>
          <p:cNvPr id="160" name="Google Shape;160;p18"/>
          <p:cNvSpPr txBox="1"/>
          <p:nvPr/>
        </p:nvSpPr>
        <p:spPr>
          <a:xfrm>
            <a:off x="55075" y="401675"/>
            <a:ext cx="40908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addressed MCP's scaling problem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 Search Tool enables on-demand tool discovery, reducing token usage by 85% while improving accuracy from 49% to 74% on Opus 4 and 79.5% to 88.1% on Opus 4.5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Programmatic Tool Calling lets Claude write Python code to orchestrate multiple tool calls, keeping intermediate results in a sandbox and reducing tokens by 37%</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 Use Examples allow developers to provide sample tool calls directly in definitions, improving parameter accuracy from 72% to 90%</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These complementary features solve context bloat, wrong tool selection, and parameter errors without abandoning MCP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https://www.youtube.com/watch?v=6x5G5Lam1Wk</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61" name="Google Shape;161;p18"/>
          <p:cNvSpPr txBox="1"/>
          <p:nvPr/>
        </p:nvSpPr>
        <p:spPr>
          <a:xfrm>
            <a:off x="55075" y="2872079"/>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Docker's new MCP Toolkit simplifies MCP server setup</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One-click installations from Docker Desktop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provides access to over 260 verified containerized MCP servers that integrate with AI coding assistants like Claude Desktop, Cursor, Continue Dev, and VS Code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Previously, users needed to manually configure MCPs through third-party registries, manage dependencies, and edit JSON files. Now the toolkit handles everything automatically in secure containerized environments.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video demonstrates installing </a:t>
            </a:r>
            <a:r>
              <a:rPr lang="en" sz="1100" b="1">
                <a:solidFill>
                  <a:srgbClr val="FF0000"/>
                </a:solidFill>
                <a:latin typeface="Calibri"/>
                <a:ea typeface="Calibri"/>
                <a:cs typeface="Calibri"/>
                <a:sym typeface="Calibri"/>
              </a:rPr>
              <a:t>Playwright MCP </a:t>
            </a:r>
            <a:r>
              <a:rPr lang="en" sz="1100">
                <a:solidFill>
                  <a:schemeClr val="dk1"/>
                </a:solidFill>
                <a:latin typeface="Calibri"/>
                <a:ea typeface="Calibri"/>
                <a:cs typeface="Calibri"/>
                <a:sym typeface="Calibri"/>
              </a:rPr>
              <a:t>and using it in Cursor to scrape website content into JSON. This eliminates DevOps overhead and makes it dramatically easier to enhance AI agents with external tools and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https://www.youtube.com/watch?v=ButAp5rF69E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62" name="Google Shape;162;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227850" y="33325"/>
            <a:ext cx="4877276" cy="2662500"/>
          </a:xfrm>
          <a:prstGeom prst="rect">
            <a:avLst/>
          </a:prstGeom>
          <a:noFill/>
          <a:ln w="9525" cap="flat" cmpd="sng">
            <a:solidFill>
              <a:srgbClr val="FF0000"/>
            </a:solidFill>
            <a:prstDash val="solid"/>
            <a:round/>
            <a:headEnd type="none" w="sm" len="sm"/>
            <a:tailEnd type="none" w="sm" len="sm"/>
          </a:ln>
        </p:spPr>
      </p:pic>
      <p:pic>
        <p:nvPicPr>
          <p:cNvPr id="163" name="Google Shape;163;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1975" y="2870784"/>
            <a:ext cx="4065582" cy="2219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9"/>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5.81K subscribers, 256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69" name="Google Shape;169;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0"/>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3</a:t>
            </a:r>
            <a:endParaRPr sz="2000" b="1">
              <a:solidFill>
                <a:schemeClr val="dk1"/>
              </a:solidFill>
              <a:latin typeface="Calibri"/>
              <a:ea typeface="Calibri"/>
              <a:cs typeface="Calibri"/>
              <a:sym typeface="Calibri"/>
            </a:endParaRPr>
          </a:p>
        </p:txBody>
      </p:sp>
      <p:sp>
        <p:nvSpPr>
          <p:cNvPr id="175" name="Google Shape;175;p20"/>
          <p:cNvSpPr txBox="1"/>
          <p:nvPr/>
        </p:nvSpPr>
        <p:spPr>
          <a:xfrm>
            <a:off x="55075" y="346765"/>
            <a:ext cx="4444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AI Studio - voice AI agent in under 2 minutes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creator shows building (without coding) a business voice agent that can book appointments, answer questions, and handle client intake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generates HTML, JavaScript, and CSS code automatically, creating both the conversational AI and user interface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voice quality rivals premium services like 11 Labs, with natural-sounding conversation that maintains context throughout calls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Users can deploy agents via Google Cloud with a shareable URL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or export the system prompt to platforms like Vapi or Retell for handling real phone calls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https://www.youtube.com/watch?v=36l7oA7HhAM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76" name="Google Shape;176;p20"/>
          <p:cNvSpPr txBox="1"/>
          <p:nvPr/>
        </p:nvSpPr>
        <p:spPr>
          <a:xfrm>
            <a:off x="4297525" y="2374420"/>
            <a:ext cx="47877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DeepSeek Math V2</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Specialized mathematical reasoning model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Achieved International Math Olympiad gold-level performance and scoring 118/120 on the 2024 Putnam test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uses a student-teacher-supervisor framework with self-verification, where it generates proofs, grades its own work, and corrects errors rather than just producing final answers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outperformed Gemini DeepThink on certain benchmarks, reaching 99% accuracy on IMO-ProofBench Basic problems</a:t>
            </a:r>
            <a:endParaRPr sz="1100">
              <a:solidFill>
                <a:schemeClr val="dk1"/>
              </a:solidFill>
              <a:latin typeface="Calibri"/>
              <a:ea typeface="Calibri"/>
              <a:cs typeface="Calibri"/>
              <a:sym typeface="Calibri"/>
            </a:endParaRPr>
          </a:p>
        </p:txBody>
      </p:sp>
      <p:pic>
        <p:nvPicPr>
          <p:cNvPr id="177" name="Google Shape;177;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50459" y="39604"/>
            <a:ext cx="4059812" cy="2216245"/>
          </a:xfrm>
          <a:prstGeom prst="rect">
            <a:avLst/>
          </a:prstGeom>
          <a:noFill/>
          <a:ln w="9525" cap="flat" cmpd="sng">
            <a:solidFill>
              <a:srgbClr val="FF0000"/>
            </a:solidFill>
            <a:prstDash val="solid"/>
            <a:round/>
            <a:headEnd type="none" w="sm" len="sm"/>
            <a:tailEnd type="none" w="sm" len="sm"/>
          </a:ln>
        </p:spPr>
      </p:pic>
      <p:pic>
        <p:nvPicPr>
          <p:cNvPr id="178" name="Google Shape;178;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201700" y="2741140"/>
            <a:ext cx="3992724" cy="2179622"/>
          </a:xfrm>
          <a:prstGeom prst="rect">
            <a:avLst/>
          </a:prstGeom>
          <a:noFill/>
          <a:ln w="9525" cap="flat" cmpd="sng">
            <a:solidFill>
              <a:srgbClr val="FF0000"/>
            </a:solidFill>
            <a:prstDash val="solid"/>
            <a:round/>
            <a:headEnd type="none" w="sm" len="sm"/>
            <a:tailEnd type="none" w="sm" len="sm"/>
          </a:ln>
        </p:spPr>
      </p:pic>
      <p:sp>
        <p:nvSpPr>
          <p:cNvPr id="179" name="Google Shape;179;p20"/>
          <p:cNvSpPr txBox="1"/>
          <p:nvPr/>
        </p:nvSpPr>
        <p:spPr>
          <a:xfrm>
            <a:off x="4297525" y="3999120"/>
            <a:ext cx="47877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Tencent launched HunyuanOCR</a:t>
            </a:r>
            <a:r>
              <a:rPr lang="en" sz="1100">
                <a:solidFill>
                  <a:schemeClr val="dk1"/>
                </a:solidFill>
                <a:latin typeface="Calibri"/>
                <a:ea typeface="Calibri"/>
                <a:cs typeface="Calibri"/>
                <a:sym typeface="Calibri"/>
              </a:rPr>
              <a:t>, a compact 1Bln params OCR model that beats much larger vision-language models on document understanding tasks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HunyuanOCR uses an end-to-end architecture supporting arbitrary resolutions and handles complex documents, tables, and multilingual text across 100+ languages, scoring 94.1 on OmniDocBench and 860 on OCRBench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https://www.youtube.com/watch?v=mSDsLpMogtM</a:t>
            </a:r>
            <a:endParaRPr sz="11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1"/>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4</a:t>
            </a:r>
            <a:endParaRPr sz="2000" b="1">
              <a:solidFill>
                <a:schemeClr val="dk1"/>
              </a:solidFill>
              <a:latin typeface="Calibri"/>
              <a:ea typeface="Calibri"/>
              <a:cs typeface="Calibri"/>
              <a:sym typeface="Calibri"/>
            </a:endParaRPr>
          </a:p>
        </p:txBody>
      </p:sp>
      <p:sp>
        <p:nvSpPr>
          <p:cNvPr id="185" name="Google Shape;185;p21"/>
          <p:cNvSpPr txBox="1"/>
          <p:nvPr/>
        </p:nvSpPr>
        <p:spPr>
          <a:xfrm>
            <a:off x="55075" y="346775"/>
            <a:ext cx="41523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How Elon Musk sets and achieves "impossible" goals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Interview with Dr. Benjamin Hardy</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https://www.youtube.com/watch?v=p-YTuA7d9WE</a:t>
            </a:r>
            <a:endParaRPr sz="1100">
              <a:solidFill>
                <a:schemeClr val="dk1"/>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(1) question all requirements</a:t>
            </a:r>
            <a:endParaRPr sz="1100">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(2) remove unnecessary steps</a:t>
            </a:r>
            <a:endParaRPr sz="1100">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(3) simplify and optimize</a:t>
            </a:r>
            <a:endParaRPr sz="1100">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(4) accelerate learning cycles</a:t>
            </a:r>
            <a:endParaRPr sz="1100">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(5) automate and systematize</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Ambitious future vision fundamentally shapes present actions and decision-making ("future self")</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High goals filter out distractions, foster clarity and accountability, and drive true scalability</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Choose worthy goals, build accountability, and focus on scalable impact rather than maintaining the status quo</a:t>
            </a:r>
            <a:endParaRPr sz="1100" b="1">
              <a:solidFill>
                <a:srgbClr val="FF0000"/>
              </a:solidFill>
              <a:latin typeface="Calibri"/>
              <a:ea typeface="Calibri"/>
              <a:cs typeface="Calibri"/>
              <a:sym typeface="Calibri"/>
            </a:endParaRPr>
          </a:p>
        </p:txBody>
      </p:sp>
      <p:sp>
        <p:nvSpPr>
          <p:cNvPr id="186" name="Google Shape;186;p21"/>
          <p:cNvSpPr txBox="1"/>
          <p:nvPr/>
        </p:nvSpPr>
        <p:spPr>
          <a:xfrm>
            <a:off x="4652325" y="2872815"/>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Traditional SEO vs AI search SEO</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People are increasingly getting answers from AI tools instead of scrolling through Google results; brands either appear in AI conversations or become invisible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Brands must optimize for AI crawlers with new technical requirements like LLM.txt files and structured data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Semrush One - a platform that unifies traditional SEO with AI search optimization, allowing marketers to track brand visibility across Google and multiple AI platforms in one dashboard. It monitors over 100 million LLM prompts globally and provides weekly data updates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 Coalition Technologies achieved a 429% boost in AI referral traffic using these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https://www.youtube.com/watch?v=k_9AsANFY9A</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87" name="Google Shape;187;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292800" y="506348"/>
            <a:ext cx="3828526" cy="2090000"/>
          </a:xfrm>
          <a:prstGeom prst="rect">
            <a:avLst/>
          </a:prstGeom>
          <a:noFill/>
          <a:ln w="9525" cap="flat" cmpd="sng">
            <a:solidFill>
              <a:srgbClr val="FF0000"/>
            </a:solidFill>
            <a:prstDash val="solid"/>
            <a:round/>
            <a:headEnd type="none" w="sm" len="sm"/>
            <a:tailEnd type="none" w="sm" len="sm"/>
          </a:ln>
        </p:spPr>
      </p:pic>
      <p:pic>
        <p:nvPicPr>
          <p:cNvPr id="188" name="Google Shape;188;p2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8069" y="2872825"/>
            <a:ext cx="4065580" cy="2219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2"/>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5</a:t>
            </a:r>
            <a:endParaRPr sz="2000" b="1">
              <a:solidFill>
                <a:schemeClr val="dk1"/>
              </a:solidFill>
              <a:latin typeface="Calibri"/>
              <a:ea typeface="Calibri"/>
              <a:cs typeface="Calibri"/>
              <a:sym typeface="Calibri"/>
            </a:endParaRPr>
          </a:p>
        </p:txBody>
      </p:sp>
      <p:sp>
        <p:nvSpPr>
          <p:cNvPr id="194" name="Google Shape;194;p22"/>
          <p:cNvSpPr txBox="1"/>
          <p:nvPr/>
        </p:nvSpPr>
        <p:spPr>
          <a:xfrm>
            <a:off x="55075" y="415065"/>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How to 10x your income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Signal-to-noise ratio: identifying the three to five critical tasks you must complete in your next eighteen waking hours, treating everything else as noise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Steve Jobs maintained an eighty-twenty ratio, while Elon Musk operates at nearly one hundred percent signal</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O'Leary emphasizes three keys to entrepreneurial success: </a:t>
            </a:r>
            <a:br>
              <a:rPr lang="en" sz="1100">
                <a:latin typeface="Calibri"/>
                <a:ea typeface="Calibri"/>
                <a:cs typeface="Calibri"/>
                <a:sym typeface="Calibri"/>
              </a:rPr>
            </a:br>
            <a:r>
              <a:rPr lang="en" sz="1100" b="1">
                <a:solidFill>
                  <a:srgbClr val="3C78D8"/>
                </a:solidFill>
                <a:latin typeface="Calibri"/>
                <a:ea typeface="Calibri"/>
                <a:cs typeface="Calibri"/>
                <a:sym typeface="Calibri"/>
              </a:rPr>
              <a:t>(1) projecting confidence before speaking</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(2) articulating your idea clearly in 90 seconds</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(3) knowing your numbers precisely</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He also learned to listen more than he talks, finding silence powerful in negotiations and decision-making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Women entrepreneurs in his portfolio achieve goals ninety percent of the time versus men's sixty-five percent, partly because they set achievable targets and maintain better team retention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https://www.youtube.com/watch?v=mLM9LbRF4Q4</a:t>
            </a:r>
            <a:r>
              <a:rPr lang="en" sz="1100">
                <a:latin typeface="Calibri"/>
                <a:ea typeface="Calibri"/>
                <a:cs typeface="Calibri"/>
                <a:sym typeface="Calibri"/>
              </a:rPr>
              <a:t> </a:t>
            </a:r>
            <a:endParaRPr sz="1100">
              <a:latin typeface="Calibri"/>
              <a:ea typeface="Calibri"/>
              <a:cs typeface="Calibri"/>
              <a:sym typeface="Calibri"/>
            </a:endParaRPr>
          </a:p>
        </p:txBody>
      </p:sp>
      <p:pic>
        <p:nvPicPr>
          <p:cNvPr id="195" name="Google Shape;195;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0600" y="766900"/>
            <a:ext cx="1657151" cy="1691074"/>
          </a:xfrm>
          <a:prstGeom prst="rect">
            <a:avLst/>
          </a:prstGeom>
          <a:noFill/>
          <a:ln w="9525" cap="flat" cmpd="sng">
            <a:solidFill>
              <a:srgbClr val="FF0000"/>
            </a:solidFill>
            <a:prstDash val="solid"/>
            <a:round/>
            <a:headEnd type="none" w="sm" len="sm"/>
            <a:tailEnd type="none" w="sm" len="sm"/>
          </a:ln>
        </p:spPr>
      </p:pic>
      <p:sp>
        <p:nvSpPr>
          <p:cNvPr id="196" name="Google Shape;196;p22"/>
          <p:cNvSpPr txBox="1"/>
          <p:nvPr/>
        </p:nvSpPr>
        <p:spPr>
          <a:xfrm>
            <a:off x="55075" y="3210965"/>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OpenAGI Lux 1.0 AI agent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OpenAGI is a San Francisco-based startup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Its model Lux Thinker 1.0 can </a:t>
            </a:r>
            <a:r>
              <a:rPr lang="en" sz="1100">
                <a:latin typeface="Calibri"/>
                <a:ea typeface="Calibri"/>
                <a:cs typeface="Calibri"/>
                <a:sym typeface="Calibri"/>
              </a:rPr>
              <a:t>control computers better than systems built by OpenAI and Anthropic - and at a fraction of the cost.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model works by nterpreting screenshots and executing actions across desktop applications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https://venturebeat.com/ai/openagi-emerges-from-stealth-with-an-ai-agent-that-it-claims-crushes-openai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197" name="Google Shape;197;p22"/>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40600" y="2850675"/>
            <a:ext cx="2114775" cy="21839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3"/>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6</a:t>
            </a:r>
            <a:endParaRPr sz="2000" b="1">
              <a:solidFill>
                <a:schemeClr val="dk1"/>
              </a:solidFill>
              <a:latin typeface="Calibri"/>
              <a:ea typeface="Calibri"/>
              <a:cs typeface="Calibri"/>
              <a:sym typeface="Calibri"/>
            </a:endParaRPr>
          </a:p>
        </p:txBody>
      </p:sp>
      <p:sp>
        <p:nvSpPr>
          <p:cNvPr id="203" name="Google Shape;203;p23"/>
          <p:cNvSpPr txBox="1"/>
          <p:nvPr/>
        </p:nvSpPr>
        <p:spPr>
          <a:xfrm>
            <a:off x="55075" y="415065"/>
            <a:ext cx="44445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Perplexity = AI chatbot + web search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Perplexity stands out for grounding all responses in cited sources, reducing hallucinations and bias compared to other AI tools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Deep research mode generates comprehensive reports with 40+ sources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Discovery tab for personalized news aggregation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Labs for creating interactive dashboards and mini-apps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Spaces (similar to custom GPTs) for specialized use cases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Automated Tasks for scheduled queries sent via email or WhatsApp</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Connectors for Google Drive, Dropbox, and WhatsApp</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Pro tier costs $20/month and includes unlimited searches, file uploads, and API access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Comet is Perplexity's AI browser with assistant capabilities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API enables integration with automation tools like Make.com for building complex workflows</a:t>
            </a:r>
            <a:endParaRPr sz="1100">
              <a:latin typeface="Calibri"/>
              <a:ea typeface="Calibri"/>
              <a:cs typeface="Calibri"/>
              <a:sym typeface="Calibri"/>
            </a:endParaRPr>
          </a:p>
        </p:txBody>
      </p:sp>
      <p:sp>
        <p:nvSpPr>
          <p:cNvPr id="204" name="Google Shape;204;p23"/>
          <p:cNvSpPr txBox="1"/>
          <p:nvPr/>
        </p:nvSpPr>
        <p:spPr>
          <a:xfrm>
            <a:off x="4633600" y="2686665"/>
            <a:ext cx="44445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Ilya Sutskever admits that Scaling is not Enough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https://www.youtube.com/watch?v=ye_HKsDcVsc</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Ilya Sutskever admits that </a:t>
            </a:r>
            <a:r>
              <a:rPr lang="en" sz="1100">
                <a:latin typeface="Calibri"/>
                <a:ea typeface="Calibri"/>
                <a:cs typeface="Calibri"/>
                <a:sym typeface="Calibri"/>
              </a:rPr>
              <a:t>Demis Hassabis and DeepMind were right: </a:t>
            </a:r>
            <a:r>
              <a:rPr lang="en" sz="1100" b="1">
                <a:solidFill>
                  <a:srgbClr val="FF0000"/>
                </a:solidFill>
                <a:latin typeface="Calibri"/>
                <a:ea typeface="Calibri"/>
                <a:cs typeface="Calibri"/>
                <a:sym typeface="Calibri"/>
              </a:rPr>
              <a:t>breakthroughs beyond current scaling are needed to reach true AGI</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Today's paradigm is still missing something fundamental despite continually improving with more compute and data</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All major AI leaders now agree that AGI demands new, poorly understood principles and not just bigger models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Sutskever also argues that AGI should be defined by continual learning and adaptability, like a human learning on the job, rather than a finished system capable of everything at launch</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sees current secrecy and duplicated effort among labs as slowing progress, but believes even small labs could spark the next breakthrough, and estimates AGI remains 5–20 years away</a:t>
            </a:r>
            <a:endParaRPr sz="1100">
              <a:latin typeface="Calibri"/>
              <a:ea typeface="Calibri"/>
              <a:cs typeface="Calibri"/>
              <a:sym typeface="Calibri"/>
            </a:endParaRPr>
          </a:p>
        </p:txBody>
      </p:sp>
      <p:pic>
        <p:nvPicPr>
          <p:cNvPr id="205" name="Google Shape;205;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9600" y="872275"/>
            <a:ext cx="3051499" cy="786000"/>
          </a:xfrm>
          <a:prstGeom prst="rect">
            <a:avLst/>
          </a:prstGeom>
          <a:noFill/>
          <a:ln w="9525" cap="flat" cmpd="sng">
            <a:solidFill>
              <a:srgbClr val="FF0000"/>
            </a:solidFill>
            <a:prstDash val="solid"/>
            <a:round/>
            <a:headEnd type="none" w="sm" len="sm"/>
            <a:tailEnd type="none" w="sm" len="sm"/>
          </a:ln>
        </p:spPr>
      </p:pic>
      <p:pic>
        <p:nvPicPr>
          <p:cNvPr id="206" name="Google Shape;206;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280925" y="3141598"/>
            <a:ext cx="3298674" cy="1627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24"/>
          <p:cNvSpPr txBox="1"/>
          <p:nvPr/>
        </p:nvSpPr>
        <p:spPr>
          <a:xfrm>
            <a:off x="55075" y="20375"/>
            <a:ext cx="176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7</a:t>
            </a:r>
            <a:endParaRPr sz="2000" b="1">
              <a:solidFill>
                <a:schemeClr val="dk1"/>
              </a:solidFill>
              <a:latin typeface="Calibri"/>
              <a:ea typeface="Calibri"/>
              <a:cs typeface="Calibri"/>
              <a:sym typeface="Calibri"/>
            </a:endParaRPr>
          </a:p>
        </p:txBody>
      </p:sp>
      <p:sp>
        <p:nvSpPr>
          <p:cNvPr id="212" name="Google Shape;212;p24"/>
          <p:cNvSpPr txBox="1"/>
          <p:nvPr/>
        </p:nvSpPr>
        <p:spPr>
          <a:xfrm>
            <a:off x="55075" y="415075"/>
            <a:ext cx="46221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Code Red</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Sam Altman has announced a "Code Red" due to escalating competition from Google and Anthropic</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Company will delay new features like ads and AI agents to focus on improving ChatGPT’s core product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Google’s Gemini and Anthropic’s Opus models are weakening OpenAI’s lead, especially in reasoning, coding, and image generation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OpenAI faces slowing growth and ongoing high cash burn, with future viability dependent on maintaining market share and investor confidence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company's new strategy prioritizes personalization, reliability, and improved user experience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https://www.youtube.com/watch?v=QKddqaqOw8o</a:t>
            </a:r>
            <a:r>
              <a:rPr lang="en" sz="1100">
                <a:latin typeface="Calibri"/>
                <a:ea typeface="Calibri"/>
                <a:cs typeface="Calibri"/>
                <a:sym typeface="Calibri"/>
              </a:rPr>
              <a:t> </a:t>
            </a:r>
            <a:endParaRPr sz="1100">
              <a:latin typeface="Calibri"/>
              <a:ea typeface="Calibri"/>
              <a:cs typeface="Calibri"/>
              <a:sym typeface="Calibri"/>
            </a:endParaRPr>
          </a:p>
        </p:txBody>
      </p:sp>
      <p:sp>
        <p:nvSpPr>
          <p:cNvPr id="213" name="Google Shape;213;p24"/>
          <p:cNvSpPr txBox="1"/>
          <p:nvPr/>
        </p:nvSpPr>
        <p:spPr>
          <a:xfrm>
            <a:off x="55075" y="2533575"/>
            <a:ext cx="46221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acquires Bun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Bun is a high-performance JavaScript runtime (by Jarred Sumner, 2021)</a:t>
            </a:r>
            <a:br>
              <a:rPr lang="en" sz="1100">
                <a:latin typeface="Calibri"/>
                <a:ea typeface="Calibri"/>
                <a:cs typeface="Calibri"/>
                <a:sym typeface="Calibri"/>
              </a:rPr>
            </a:br>
            <a:r>
              <a:rPr lang="en" sz="1100">
                <a:latin typeface="Calibri"/>
                <a:ea typeface="Calibri"/>
                <a:cs typeface="Calibri"/>
                <a:sym typeface="Calibri"/>
              </a:rPr>
              <a:t>Bun's all-in-one toolkit—combining runtime, package manager, bundler, and test runner—delivers significantly faster performance than Node.js and has over 7 million monthly downloads and 82,000 GitHub stars.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Code reached $1 Bln in run-rate revenue just six months after its May 2025 public launch; Major clients including Netflix, Spotify, KPMG, and L'Oreal</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The acquisition will enhance Claude Code's speed and stability while Bun remains open source under MIT license.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https://www.anthropic.com/news/anthropic-acquires-bun-as-claude-code-reaches-usd1b-milestone</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14" name="Google Shape;214;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24100" y="569138"/>
            <a:ext cx="1392325" cy="1742075"/>
          </a:xfrm>
          <a:prstGeom prst="rect">
            <a:avLst/>
          </a:prstGeom>
          <a:noFill/>
          <a:ln w="9525" cap="flat" cmpd="sng">
            <a:solidFill>
              <a:srgbClr val="FF0000"/>
            </a:solidFill>
            <a:prstDash val="solid"/>
            <a:round/>
            <a:headEnd type="none" w="sm" len="sm"/>
            <a:tailEnd type="none" w="sm" len="sm"/>
          </a:ln>
        </p:spPr>
      </p:pic>
      <p:pic>
        <p:nvPicPr>
          <p:cNvPr id="215" name="Google Shape;215;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57525" y="2982400"/>
            <a:ext cx="2798825" cy="755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5"/>
          <p:cNvSpPr txBox="1"/>
          <p:nvPr/>
        </p:nvSpPr>
        <p:spPr>
          <a:xfrm>
            <a:off x="55075" y="20375"/>
            <a:ext cx="450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Abacus.ai</a:t>
            </a:r>
            <a:r>
              <a:rPr lang="en" sz="2000" b="1">
                <a:solidFill>
                  <a:schemeClr val="dk1"/>
                </a:solidFill>
                <a:latin typeface="Calibri"/>
                <a:ea typeface="Calibri"/>
                <a:cs typeface="Calibri"/>
                <a:sym typeface="Calibri"/>
              </a:rPr>
              <a:t> Financial Research</a:t>
            </a:r>
            <a:endParaRPr sz="2000" b="1">
              <a:solidFill>
                <a:schemeClr val="dk1"/>
              </a:solidFill>
              <a:latin typeface="Calibri"/>
              <a:ea typeface="Calibri"/>
              <a:cs typeface="Calibri"/>
              <a:sym typeface="Calibri"/>
            </a:endParaRPr>
          </a:p>
        </p:txBody>
      </p:sp>
      <p:sp>
        <p:nvSpPr>
          <p:cNvPr id="221" name="Google Shape;221;p25"/>
          <p:cNvSpPr txBox="1"/>
          <p:nvPr/>
        </p:nvSpPr>
        <p:spPr>
          <a:xfrm>
            <a:off x="55075" y="415075"/>
            <a:ext cx="36024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DeepAgent by Abacus.ai - a finance-focused AI system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Seven integrated workflows that function like a complete analyst team:</a:t>
            </a:r>
            <a:br>
              <a:rPr lang="en" sz="1100">
                <a:latin typeface="Calibri"/>
                <a:ea typeface="Calibri"/>
                <a:cs typeface="Calibri"/>
                <a:sym typeface="Calibri"/>
              </a:rPr>
            </a:br>
            <a:r>
              <a:rPr lang="en" sz="1100">
                <a:latin typeface="Calibri"/>
                <a:ea typeface="Calibri"/>
                <a:cs typeface="Calibri"/>
                <a:sym typeface="Calibri"/>
              </a:rPr>
              <a:t>1. crypto analysis</a:t>
            </a:r>
            <a:br>
              <a:rPr lang="en" sz="1100">
                <a:latin typeface="Calibri"/>
                <a:ea typeface="Calibri"/>
                <a:cs typeface="Calibri"/>
                <a:sym typeface="Calibri"/>
              </a:rPr>
            </a:br>
            <a:r>
              <a:rPr lang="en" sz="1100">
                <a:latin typeface="Calibri"/>
                <a:ea typeface="Calibri"/>
                <a:cs typeface="Calibri"/>
                <a:sym typeface="Calibri"/>
              </a:rPr>
              <a:t>2. intelligent stock screening (fundamentals &amp; technicals)</a:t>
            </a:r>
            <a:br>
              <a:rPr lang="en" sz="1100">
                <a:latin typeface="Calibri"/>
                <a:ea typeface="Calibri"/>
                <a:cs typeface="Calibri"/>
                <a:sym typeface="Calibri"/>
              </a:rPr>
            </a:br>
            <a:r>
              <a:rPr lang="en" sz="1100">
                <a:latin typeface="Calibri"/>
                <a:ea typeface="Calibri"/>
                <a:cs typeface="Calibri"/>
                <a:sym typeface="Calibri"/>
              </a:rPr>
              <a:t>3. macro market research</a:t>
            </a:r>
            <a:br>
              <a:rPr lang="en" sz="1100">
                <a:latin typeface="Calibri"/>
                <a:ea typeface="Calibri"/>
                <a:cs typeface="Calibri"/>
                <a:sym typeface="Calibri"/>
              </a:rPr>
            </a:br>
            <a:r>
              <a:rPr lang="en" sz="1100">
                <a:latin typeface="Calibri"/>
                <a:ea typeface="Calibri"/>
                <a:cs typeface="Calibri"/>
                <a:sym typeface="Calibri"/>
              </a:rPr>
              <a:t>4. near-term investment forecasting</a:t>
            </a:r>
            <a:br>
              <a:rPr lang="en" sz="1100">
                <a:latin typeface="Calibri"/>
                <a:ea typeface="Calibri"/>
                <a:cs typeface="Calibri"/>
                <a:sym typeface="Calibri"/>
              </a:rPr>
            </a:br>
            <a:r>
              <a:rPr lang="en" sz="1100">
                <a:latin typeface="Calibri"/>
                <a:ea typeface="Calibri"/>
                <a:cs typeface="Calibri"/>
                <a:sym typeface="Calibri"/>
              </a:rPr>
              <a:t>5. options strategy construction</a:t>
            </a:r>
            <a:br>
              <a:rPr lang="en" sz="1100">
                <a:latin typeface="Calibri"/>
                <a:ea typeface="Calibri"/>
                <a:cs typeface="Calibri"/>
                <a:sym typeface="Calibri"/>
              </a:rPr>
            </a:br>
            <a:r>
              <a:rPr lang="en" sz="1100">
                <a:latin typeface="Calibri"/>
                <a:ea typeface="Calibri"/>
                <a:cs typeface="Calibri"/>
                <a:sym typeface="Calibri"/>
              </a:rPr>
              <a:t>6. portfolio risk monitoring</a:t>
            </a:r>
            <a:br>
              <a:rPr lang="en" sz="1100">
                <a:latin typeface="Calibri"/>
                <a:ea typeface="Calibri"/>
                <a:cs typeface="Calibri"/>
                <a:sym typeface="Calibri"/>
              </a:rPr>
            </a:br>
            <a:r>
              <a:rPr lang="en" sz="1100">
                <a:latin typeface="Calibri"/>
                <a:ea typeface="Calibri"/>
                <a:cs typeface="Calibri"/>
                <a:sym typeface="Calibri"/>
              </a:rPr>
              <a:t>7. 90-day individual stock outlooks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describe what they need, the agent asks clarifying questions about risk tolerance and time horizon, then builds transparent research reports showing its complete reasoning chain with data sources from CNBC and </a:t>
            </a:r>
            <a:r>
              <a:rPr lang="en" sz="1100" u="sng">
                <a:solidFill>
                  <a:schemeClr val="hlink"/>
                </a:solidFill>
                <a:latin typeface="Calibri"/>
                <a:ea typeface="Calibri"/>
                <a:cs typeface="Calibri"/>
                <a:sym typeface="Calibri"/>
                <a:hlinkClick r:id="rId4"/>
              </a:rPr>
              <a:t>Investing.com</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Reports include valuation metrics, financial history, risk analysis, and can be exported as editable HTML. The system represents a shift toward autonomous decision engines accessible to individual investors, mirroring AI-driven research tools major firms like Bloomberg, BlackRock, and JP Morgan already deploy internally</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https://www.youtube.com/watch?v=hzAAzUyILNU</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https://deepagent.abacus.ai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22" name="Google Shape;222;p2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743215" y="1416820"/>
            <a:ext cx="5332224" cy="2910850"/>
          </a:xfrm>
          <a:prstGeom prst="rect">
            <a:avLst/>
          </a:prstGeom>
          <a:noFill/>
          <a:ln w="9525" cap="flat" cmpd="sng">
            <a:solidFill>
              <a:srgbClr val="FF0000"/>
            </a:solidFill>
            <a:prstDash val="solid"/>
            <a:round/>
            <a:headEnd type="none" w="sm" len="sm"/>
            <a:tailEnd type="none" w="sm" len="sm"/>
          </a:ln>
        </p:spPr>
      </p:pic>
      <p:pic>
        <p:nvPicPr>
          <p:cNvPr id="223" name="Google Shape;223;p25"/>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3902757" y="415075"/>
            <a:ext cx="1903717" cy="3464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26"/>
          <p:cNvSpPr txBox="1"/>
          <p:nvPr/>
        </p:nvSpPr>
        <p:spPr>
          <a:xfrm>
            <a:off x="55075" y="20375"/>
            <a:ext cx="3961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Use AI to Generate Documentation</a:t>
            </a:r>
            <a:endParaRPr sz="2000" b="1">
              <a:solidFill>
                <a:schemeClr val="dk1"/>
              </a:solidFill>
              <a:latin typeface="Calibri"/>
              <a:ea typeface="Calibri"/>
              <a:cs typeface="Calibri"/>
              <a:sym typeface="Calibri"/>
            </a:endParaRPr>
          </a:p>
        </p:txBody>
      </p:sp>
      <p:sp>
        <p:nvSpPr>
          <p:cNvPr id="229" name="Google Shape;229;p26"/>
          <p:cNvSpPr txBox="1"/>
          <p:nvPr/>
        </p:nvSpPr>
        <p:spPr>
          <a:xfrm>
            <a:off x="55075" y="350300"/>
            <a:ext cx="49170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For contract software delivery, you'll need 2 types of docs:</a:t>
            </a:r>
            <a:br>
              <a:rPr lang="en" sz="1100">
                <a:latin typeface="Calibri"/>
                <a:ea typeface="Calibri"/>
                <a:cs typeface="Calibri"/>
                <a:sym typeface="Calibri"/>
              </a:rPr>
            </a:br>
            <a:r>
              <a:rPr lang="en" sz="1100">
                <a:latin typeface="Calibri"/>
                <a:ea typeface="Calibri"/>
                <a:cs typeface="Calibri"/>
                <a:sym typeface="Calibri"/>
              </a:rPr>
              <a:t>    1. high-level delivery docs (README, user guides, deployment guides)</a:t>
            </a:r>
            <a:br>
              <a:rPr lang="en" sz="1100">
                <a:latin typeface="Calibri"/>
                <a:ea typeface="Calibri"/>
                <a:cs typeface="Calibri"/>
                <a:sym typeface="Calibri"/>
              </a:rPr>
            </a:br>
            <a:r>
              <a:rPr lang="en" sz="1100">
                <a:latin typeface="Calibri"/>
                <a:ea typeface="Calibri"/>
                <a:cs typeface="Calibri"/>
                <a:sym typeface="Calibri"/>
              </a:rPr>
              <a:t>    2. detailed technical docs (API refs, architecture docs, inline code docs)</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Recommended Workflow:</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 AI to generate doc templates and structure from your codebase</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Maintain docs alongside your project code in version control</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Automate updates when code changes</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Review and refine AI-generated content before client delivery</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For High-Level Delivery Docs: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Generate README files with project overview, setup instructions, and usage examples using AI or tools like DocuWriter</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Create user guides and deployment docs using Scribe, which captures workflows and generates step-by-step guides with screenshots</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Generate architecture overviews and system design docs using AI assistants</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For Technical Docs:</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Generate API docs from OpenAPI/Swagger specs ( use Apidog, Mintlify, ... )</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Create inline code docs / comments using AI</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Generate database schema docs and technical specs using AI</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 Cline (or other code assistants) to generate docs. </a:t>
            </a:r>
            <a:br>
              <a:rPr lang="en" sz="1100">
                <a:latin typeface="Calibri"/>
                <a:ea typeface="Calibri"/>
                <a:cs typeface="Calibri"/>
                <a:sym typeface="Calibri"/>
              </a:rPr>
            </a:br>
            <a:r>
              <a:rPr lang="en" sz="1100">
                <a:latin typeface="Calibri"/>
                <a:ea typeface="Calibri"/>
                <a:cs typeface="Calibri"/>
                <a:sym typeface="Calibri"/>
              </a:rPr>
              <a:t>Use ".clinerules" to define documentation standards and guidelines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Prompt example: "</a:t>
            </a:r>
            <a:r>
              <a:rPr lang="en" sz="1100">
                <a:solidFill>
                  <a:srgbClr val="CC0000"/>
                </a:solidFill>
                <a:latin typeface="Calibri"/>
                <a:ea typeface="Calibri"/>
                <a:cs typeface="Calibri"/>
                <a:sym typeface="Calibri"/>
              </a:rPr>
              <a:t>Create a comprehensive README.md with installation, configuration, and usage sections based on the codebase</a:t>
            </a:r>
            <a:r>
              <a:rPr lang="en" sz="1100">
                <a:latin typeface="Calibri"/>
                <a:ea typeface="Calibri"/>
                <a:cs typeface="Calibri"/>
                <a:sym typeface="Calibri"/>
              </a:rPr>
              <a: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You can ask it to generate API docs, technical design docs, or deployment guides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AI can efficiently generate docs (text and diagrams) as Markdown (.md) files. </a:t>
            </a:r>
            <a:br>
              <a:rPr lang="en" sz="1100">
                <a:latin typeface="Calibri"/>
                <a:ea typeface="Calibri"/>
                <a:cs typeface="Calibri"/>
                <a:sym typeface="Calibri"/>
              </a:rPr>
            </a:br>
            <a:r>
              <a:rPr lang="en" sz="1100">
                <a:latin typeface="Calibri"/>
                <a:ea typeface="Calibri"/>
                <a:cs typeface="Calibri"/>
                <a:sym typeface="Calibri"/>
              </a:rPr>
              <a:t>Then convert .md into .pdf , for example "</a:t>
            </a:r>
            <a:r>
              <a:rPr lang="en" sz="1100" b="1">
                <a:solidFill>
                  <a:srgbClr val="3C78D8"/>
                </a:solidFill>
                <a:latin typeface="Calibri"/>
                <a:ea typeface="Calibri"/>
                <a:cs typeface="Calibri"/>
                <a:sym typeface="Calibri"/>
              </a:rPr>
              <a:t>pandoc input.md -o output.pdf"</a:t>
            </a:r>
            <a:r>
              <a:rPr lang="en" sz="1100">
                <a:latin typeface="Calibri"/>
                <a:ea typeface="Calibri"/>
                <a:cs typeface="Calibri"/>
                <a:sym typeface="Calibri"/>
              </a:rPr>
              <a:t>, VSCode, online tools and desktop apps</a:t>
            </a:r>
            <a:endParaRPr sz="1100">
              <a:latin typeface="Calibri"/>
              <a:ea typeface="Calibri"/>
              <a:cs typeface="Calibri"/>
              <a:sym typeface="Calibri"/>
            </a:endParaRPr>
          </a:p>
        </p:txBody>
      </p:sp>
      <p:pic>
        <p:nvPicPr>
          <p:cNvPr id="230" name="Google Shape;230;p2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106600" y="1611625"/>
            <a:ext cx="3961201" cy="21624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27"/>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36" name="Google Shape;236;p27"/>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37" name="Google Shape;237;p27"/>
          <p:cNvSpPr txBox="1"/>
          <p:nvPr/>
        </p:nvSpPr>
        <p:spPr>
          <a:xfrm>
            <a:off x="5126973"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120K in 2025 (as of November 28)</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38" name="Google Shape;238;p27"/>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206,527 people laid off (622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239" name="Google Shape;239;p2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529575"/>
            <a:ext cx="5030176" cy="2529320"/>
          </a:xfrm>
          <a:prstGeom prst="rect">
            <a:avLst/>
          </a:prstGeom>
          <a:noFill/>
          <a:ln w="9525" cap="flat" cmpd="sng">
            <a:solidFill>
              <a:srgbClr val="FF0000"/>
            </a:solidFill>
            <a:prstDash val="solid"/>
            <a:round/>
            <a:headEnd type="none" w="sm" len="sm"/>
            <a:tailEnd type="none" w="sm" len="sm"/>
          </a:ln>
        </p:spPr>
      </p:pic>
      <p:pic>
        <p:nvPicPr>
          <p:cNvPr id="240" name="Google Shape;240;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718" y="560701"/>
            <a:ext cx="5030176" cy="187355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pic>
        <p:nvPicPr>
          <p:cNvPr id="245" name="Google Shape;245;p2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46" name="Google Shape;246;p28"/>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47" name="Google Shape;247;p28"/>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48" name="Google Shape;248;p2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49" name="Google Shape;249;p28"/>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50" name="Google Shape;250;p28"/>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29"/>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2747</Words>
  <Application>Microsoft Macintosh PowerPoint</Application>
  <PresentationFormat>On-screen Show (16:9)</PresentationFormat>
  <Paragraphs>331</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2025-12-03T03:28:26Z</dcterms:modified>
</cp:coreProperties>
</file>