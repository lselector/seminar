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Roboto Mono" pitchFamily="49"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EF6D049-B11C-4F75-A46C-A5F4B5764B21}">
  <a:tblStyle styleId="{CEF6D049-B11C-4F75-A46C-A5F4B5764B2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a9e4b4f92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3a9e4b4f929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d9926c4e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3ad9926c4e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913d0c33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3913d0c33b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ab6c7aaab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ab6c7aaab3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912f177cd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3912f177cd1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912f177cd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g3912f177cd1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ac7e23156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ac7e23156a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913ae0aaf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3913ae0aaf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913ae0aaf8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913ae0aaf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ad8677f6b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g3ad8677f6ba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ad8677f6ba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3ad8677f6ba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ad8677f6ba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g3ad8677f6ba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cf640323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3acf640323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d8677f6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ad8677f6b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913d0c33b8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g3913d0c33b8_4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914949648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g3914949648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x.ai/news/grok-4-1" TargetMode="External"/><Relationship Id="rId26" Type="http://schemas.openxmlformats.org/officeDocument/2006/relationships/hyperlink" Target="https://platform.openai.com/docs/models/gpt-5" TargetMode="External"/><Relationship Id="rId39" Type="http://schemas.openxmlformats.org/officeDocument/2006/relationships/hyperlink" Target="https://huggingface.co/Qwen/Qwen3-235B-A22B-Instruct-2507" TargetMode="External"/><Relationship Id="rId21" Type="http://schemas.openxmlformats.org/officeDocument/2006/relationships/hyperlink" Target="http://aistudio.google.com/app/prompts/new_chat?model=gemini-2.5-pro" TargetMode="External"/><Relationship Id="rId34" Type="http://schemas.openxmlformats.org/officeDocument/2006/relationships/hyperlink" Target="https://api-docs.deepseek.com/news/news250929"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studio.google.com/app/prompts/new_chat?model=gemini-3-pro-preview" TargetMode="External"/><Relationship Id="rId25" Type="http://schemas.openxmlformats.org/officeDocument/2006/relationships/hyperlink" Target="https://x.com/OpenAI/status/1905331956856050135" TargetMode="External"/><Relationship Id="rId33" Type="http://schemas.openxmlformats.org/officeDocument/2006/relationships/hyperlink" Target="https://qwen.ai/blog?id=241398b9cd6353de490b0f82806c7848c5d2777d&amp;from=research.latest-advancements-list" TargetMode="External"/><Relationship Id="rId38" Type="http://schemas.openxmlformats.org/officeDocument/2006/relationships/hyperlink" Target="https://huggingface.co/meituan-longcat/LongCat-Flash-Chat"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openai.com/index/gpt-5-1/" TargetMode="External"/><Relationship Id="rId29" Type="http://schemas.openxmlformats.org/officeDocument/2006/relationships/hyperlink" Target="https://x.ai/news/grok-4-1-fast"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openai.com/index/introducing-gpt-4-5/" TargetMode="External"/><Relationship Id="rId32" Type="http://schemas.openxmlformats.org/officeDocument/2006/relationships/hyperlink" Target="https://platform.openai.com/docs/models/gpt-5-chat-latest" TargetMode="External"/><Relationship Id="rId37" Type="http://schemas.openxmlformats.org/officeDocument/2006/relationships/hyperlink" Target="https://www.anthropic.com/news/claude-haiku-4-5"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opus-4-1" TargetMode="External"/><Relationship Id="rId28" Type="http://schemas.openxmlformats.org/officeDocument/2006/relationships/hyperlink" Target="https://www.alibabacloud.com/help/en/model-studio/models" TargetMode="External"/><Relationship Id="rId36" Type="http://schemas.openxmlformats.org/officeDocument/2006/relationships/hyperlink" Target="https://mistral.ai/news/mistral-3"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5" TargetMode="External"/><Relationship Id="rId31" Type="http://schemas.openxmlformats.org/officeDocument/2006/relationships/hyperlink" Target="https://docs.z.ai/guides/llm/glm-4.6"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sonnet-4-5" TargetMode="External"/><Relationship Id="rId27" Type="http://schemas.openxmlformats.org/officeDocument/2006/relationships/hyperlink" Target="https://openai.com/index/introducing-o3-and-o4-mini/" TargetMode="External"/><Relationship Id="rId30" Type="http://schemas.openxmlformats.org/officeDocument/2006/relationships/hyperlink" Target="https://huggingface.co/moonshotai/Kimi-K2-Thinking" TargetMode="External"/><Relationship Id="rId35" Type="http://schemas.openxmlformats.org/officeDocument/2006/relationships/hyperlink" Target="https://www.anthropic.com/news/claude-4"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youtube.com/watch?v=vvrGcWLqMq0" TargetMode="External"/><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www.youtube.com/watch?v=7Hi-PeBYi60" TargetMode="External"/><Relationship Id="rId4" Type="http://schemas.openxmlformats.org/officeDocument/2006/relationships/hyperlink" Target="https://api-docs.deepseek.com/news/news251201"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blogs.nvidia.com/blog/mistral-frontier-open-models/"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mistral.ai/news/mistral-3"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6x5G5Lam1Wk"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youtube.com/watch?v=ButAp5rF69E"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36l7oA7HhA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youtube.com/watch?v=mSDsLpMogtM" TargetMode="Externa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p-YTuA7d9WE"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www.youtube.com/watch?v=k_9AsANFY9A"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mLM9LbRF4Q4"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hyperlink" Target="https://venturebeat.com/ai/openagi-emerges-from-stealth-with-an-ai-agent-that-it-claims-crushes-openai" TargetMode="Externa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ye_HKsDcVsc"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QKddqaqOw8o"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hyperlink" Target="https://www.anthropic.com/news/anthropic-acquires-bun-as-claude-code-reaches-usd1b-milestone"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www.youtube.com/watch?v=ipY_e9sldFM" TargetMode="External"/><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www.youtube.com/watch?v=AjQGuzYtWyE" TargetMode="External"/><Relationship Id="rId5" Type="http://schemas.openxmlformats.org/officeDocument/2006/relationships/hyperlink" Target="https://arxiv.org/pdf/2511.20597v1" TargetMode="External"/><Relationship Id="rId4" Type="http://schemas.openxmlformats.org/officeDocument/2006/relationships/hyperlink" Target="https://www.perplexity.ai/hub/blog/building-safer-ai-browsers-with-browsesafe" TargetMode="External"/><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hyperlink" Target="https://manus.im/blog/manus-browser-operator" TargetMode="External"/><Relationship Id="rId3" Type="http://schemas.openxmlformats.org/officeDocument/2006/relationships/hyperlink" Target="https://www.youtube.com/watch?v=hci2xuWeEQ8" TargetMode="External"/><Relationship Id="rId7" Type="http://schemas.openxmlformats.org/officeDocument/2006/relationships/hyperlink" Target="https://manus.im/features/manus-browser-operator"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youtube.com/watch?v=7nWVpcCQtfU" TargetMode="External"/><Relationship Id="rId5" Type="http://schemas.openxmlformats.org/officeDocument/2006/relationships/hyperlink" Target="https://techcrunch.com/2025/12/02/aws-announces-new-capabilities-for-its-ai-agent-builder/" TargetMode="External"/><Relationship Id="rId4" Type="http://schemas.openxmlformats.org/officeDocument/2006/relationships/hyperlink" Target="https://aws.amazon.com/about-aws/whats-new/2025/12/amazon-bedrock-agentcore-policy-evaluations-preview/"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hyperlink" Target="https://www.nasdaq.com/articles/undiscussed-reason-buffett-just-bought-alphabet-google-stock" TargetMode="External"/><Relationship Id="rId7" Type="http://schemas.openxmlformats.org/officeDocument/2006/relationships/hyperlink" Target="https://lemonai.ai"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youtube.com/watch?v=re7JzcU-6N8" TargetMode="External"/><Relationship Id="rId5" Type="http://schemas.openxmlformats.org/officeDocument/2006/relationships/image" Target="../media/image21.png"/><Relationship Id="rId4" Type="http://schemas.openxmlformats.org/officeDocument/2006/relationships/hyperlink" Target="https://www.bloomberg.com/news/articles/2025-11-14/buffett-acquires-4-9-billion-stake-in-google-parent-alphabet"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abacus.ai" TargetMode="External"/><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deepagent.abacus.ai" TargetMode="External"/><Relationship Id="rId5" Type="http://schemas.openxmlformats.org/officeDocument/2006/relationships/hyperlink" Target="https://www.youtube.com/watch?v=hzAAzUyILNU" TargetMode="External"/><Relationship Id="rId4" Type="http://schemas.openxmlformats.org/officeDocument/2006/relationships/hyperlink" Target="http://investing.com"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nof1.ai/"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hyperlink" Target="https://www.youtube.com/watch?v=EWAUutf9xKQ"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https://trueup.io/layoff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672045"/>
            <a:ext cx="4420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DeepSeek V3.2 685 Bln params open-source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Imagen 4 in Google Docs, Slides, Vids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Mistral 3 Family of Models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addressed MCP's scaling problem</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Docker MCP Toolkit simplifies MCP server setup</a:t>
            </a:r>
            <a:endParaRPr sz="1600" b="1">
              <a:solidFill>
                <a:srgbClr val="3C78D8"/>
              </a:solidFill>
              <a:latin typeface="Calibri"/>
              <a:ea typeface="Calibri"/>
              <a:cs typeface="Calibri"/>
              <a:sym typeface="Calibri"/>
            </a:endParaRPr>
          </a:p>
        </p:txBody>
      </p:sp>
      <p:sp>
        <p:nvSpPr>
          <p:cNvPr id="64" name="Google Shape;64;p15"/>
          <p:cNvSpPr txBox="1"/>
          <p:nvPr/>
        </p:nvSpPr>
        <p:spPr>
          <a:xfrm>
            <a:off x="0" y="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Dec 0</a:t>
            </a:r>
            <a:r>
              <a:rPr lang="en" sz="2200" b="1">
                <a:solidFill>
                  <a:srgbClr val="3C78D8"/>
                </a:solidFill>
                <a:latin typeface="Calibri"/>
                <a:ea typeface="Calibri"/>
                <a:cs typeface="Calibri"/>
                <a:sym typeface="Calibri"/>
              </a:rPr>
              <a:t>5, </a:t>
            </a:r>
            <a:r>
              <a:rPr lang="en" sz="2200" b="1" i="0" u="none" strike="noStrike" cap="none">
                <a:solidFill>
                  <a:srgbClr val="3C78D8"/>
                </a:solidFill>
                <a:latin typeface="Calibri"/>
                <a:ea typeface="Calibri"/>
                <a:cs typeface="Calibri"/>
                <a:sym typeface="Calibri"/>
              </a:rPr>
              <a:t>2025</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99886" y="4593292"/>
            <a:ext cx="4502400" cy="51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xxx</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i="0" u="none" strike="noStrike" cap="none">
                <a:solidFill>
                  <a:srgbClr val="3C78D8"/>
                </a:solidFill>
                <a:latin typeface="Calibri"/>
                <a:ea typeface="Calibri"/>
                <a:cs typeface="Calibri"/>
                <a:sym typeface="Calibri"/>
              </a:rPr>
              <a:t>Jobs, Layoffs, </a:t>
            </a:r>
            <a:r>
              <a:rPr lang="en" sz="1600" b="1">
                <a:solidFill>
                  <a:srgbClr val="3C78D8"/>
                </a:solidFill>
                <a:latin typeface="Calibri"/>
                <a:ea typeface="Calibri"/>
                <a:cs typeface="Calibri"/>
                <a:sym typeface="Calibri"/>
              </a:rPr>
              <a:t>demand for AI Engineers</a:t>
            </a:r>
            <a:endParaRPr sz="16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262213"/>
            <a:ext cx="4420200" cy="2481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AI Studio - voice AI agent in 2 min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DeepSeek Math V2</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How Elon Musk achieves "impossible" goals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Traditional SEO vs AI search SEO</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How to 10x your income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OpenAGI Lux 1.0 AI agent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Perplexity = AI chatbot + web search</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Ilya Sutskever admits that Scaling is not Enough</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Code Red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acquires Bun to run Claude Code</a:t>
            </a:r>
            <a:endParaRPr sz="1600" b="1">
              <a:solidFill>
                <a:srgbClr val="3C78D8"/>
              </a:solidFill>
              <a:latin typeface="Calibri"/>
              <a:ea typeface="Calibri"/>
              <a:cs typeface="Calibri"/>
              <a:sym typeface="Calibri"/>
            </a:endParaRPr>
          </a:p>
        </p:txBody>
      </p:sp>
      <p:sp>
        <p:nvSpPr>
          <p:cNvPr id="67" name="Google Shape;67;p15"/>
          <p:cNvSpPr txBox="1"/>
          <p:nvPr/>
        </p:nvSpPr>
        <p:spPr>
          <a:xfrm>
            <a:off x="4599886" y="1078971"/>
            <a:ext cx="4502400" cy="24813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Amazon Bedrock AgentCore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Manus Browser Operator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Warren Buffett buys $4.3-$4.9 Bln of Alhpabet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Lemon AI - Open-Source Market Research Agent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Abacus.ai DeepAgent - Financial Research</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trading competition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OpenCode open-source AI coding agent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Perplexity "Browse Safe" feature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Use AI to Generate Documentation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Meta Data Warehouse Agents</a:t>
            </a:r>
            <a:endParaRPr sz="1600" b="1">
              <a:solidFill>
                <a:srgbClr val="3C78D8"/>
              </a:solidFill>
              <a:latin typeface="Calibri"/>
              <a:ea typeface="Calibri"/>
              <a:cs typeface="Calibri"/>
              <a:sym typeface="Calibri"/>
            </a:endParaRPr>
          </a:p>
        </p:txBody>
      </p:sp>
      <p:sp>
        <p:nvSpPr>
          <p:cNvPr id="68" name="Google Shape;68;p15"/>
          <p:cNvSpPr txBox="1"/>
          <p:nvPr/>
        </p:nvSpPr>
        <p:spPr>
          <a:xfrm>
            <a:off x="4885625" y="428152"/>
            <a:ext cx="1576800" cy="2340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b="1" i="1">
                <a:solidFill>
                  <a:srgbClr val="FF0000"/>
                </a:solidFill>
                <a:latin typeface="Roboto Mono"/>
                <a:ea typeface="Roboto Mono"/>
                <a:cs typeface="Roboto Mono"/>
                <a:sym typeface="Roboto Mono"/>
              </a:rPr>
              <a:t>xxx</a:t>
            </a:r>
            <a:endParaRPr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469100"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3513152"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600318" y="438204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p:nvPr/>
        </p:nvSpPr>
        <p:spPr>
          <a:xfrm>
            <a:off x="598073" y="77343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6"/>
          <p:cNvSpPr txBox="1"/>
          <p:nvPr/>
        </p:nvSpPr>
        <p:spPr>
          <a:xfrm>
            <a:off x="6549674" y="2171102"/>
            <a:ext cx="2356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0" name="Google Shape;80;p16"/>
          <p:cNvSpPr/>
          <p:nvPr/>
        </p:nvSpPr>
        <p:spPr>
          <a:xfrm>
            <a:off x="3743624" y="75584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a:off x="594761" y="1669515"/>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595461" y="1491824"/>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p:nvPr/>
        </p:nvSpPr>
        <p:spPr>
          <a:xfrm>
            <a:off x="3748244" y="94613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6"/>
          <p:cNvSpPr txBox="1"/>
          <p:nvPr/>
        </p:nvSpPr>
        <p:spPr>
          <a:xfrm>
            <a:off x="3448497" y="3110294"/>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5" name="Google Shape;85;p16"/>
          <p:cNvSpPr/>
          <p:nvPr/>
        </p:nvSpPr>
        <p:spPr>
          <a:xfrm>
            <a:off x="3748954" y="312158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6"/>
          <p:cNvSpPr txBox="1"/>
          <p:nvPr/>
        </p:nvSpPr>
        <p:spPr>
          <a:xfrm>
            <a:off x="3587049" y="2936617"/>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7" name="Google Shape;87;p16"/>
          <p:cNvSpPr txBox="1"/>
          <p:nvPr/>
        </p:nvSpPr>
        <p:spPr>
          <a:xfrm>
            <a:off x="437205" y="456475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8" name="Google Shape;88;p16"/>
          <p:cNvSpPr txBox="1"/>
          <p:nvPr/>
        </p:nvSpPr>
        <p:spPr>
          <a:xfrm>
            <a:off x="446720" y="364563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9" name="Google Shape;89;p16"/>
          <p:cNvSpPr/>
          <p:nvPr/>
        </p:nvSpPr>
        <p:spPr>
          <a:xfrm>
            <a:off x="3751768" y="329113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6"/>
          <p:cNvSpPr txBox="1"/>
          <p:nvPr/>
        </p:nvSpPr>
        <p:spPr>
          <a:xfrm>
            <a:off x="3458789" y="382965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1" name="Google Shape;91;p16"/>
          <p:cNvSpPr/>
          <p:nvPr/>
        </p:nvSpPr>
        <p:spPr>
          <a:xfrm>
            <a:off x="3749658" y="383804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6"/>
          <p:cNvSpPr txBox="1"/>
          <p:nvPr/>
        </p:nvSpPr>
        <p:spPr>
          <a:xfrm>
            <a:off x="4566100"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December 1</a:t>
            </a:r>
            <a:endParaRPr sz="1000">
              <a:solidFill>
                <a:schemeClr val="dk1"/>
              </a:solidFill>
              <a:latin typeface="Calibri"/>
              <a:ea typeface="Calibri"/>
              <a:cs typeface="Calibri"/>
              <a:sym typeface="Calibri"/>
            </a:endParaRPr>
          </a:p>
        </p:txBody>
      </p:sp>
      <p:sp>
        <p:nvSpPr>
          <p:cNvPr id="93" name="Google Shape;93;p16"/>
          <p:cNvSpPr/>
          <p:nvPr/>
        </p:nvSpPr>
        <p:spPr>
          <a:xfrm>
            <a:off x="3751782" y="2400122"/>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6"/>
          <p:cNvSpPr/>
          <p:nvPr/>
        </p:nvSpPr>
        <p:spPr>
          <a:xfrm>
            <a:off x="3750579" y="129278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6"/>
          <p:cNvSpPr txBox="1"/>
          <p:nvPr/>
        </p:nvSpPr>
        <p:spPr>
          <a:xfrm>
            <a:off x="3458789" y="474647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6" name="Google Shape;96;p16"/>
          <p:cNvSpPr/>
          <p:nvPr/>
        </p:nvSpPr>
        <p:spPr>
          <a:xfrm>
            <a:off x="3749658" y="475487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6"/>
          <p:cNvSpPr/>
          <p:nvPr/>
        </p:nvSpPr>
        <p:spPr>
          <a:xfrm>
            <a:off x="3748357" y="113885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txBox="1"/>
          <p:nvPr/>
        </p:nvSpPr>
        <p:spPr>
          <a:xfrm flipH="1">
            <a:off x="3679393" y="148432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9" name="Google Shape;99;p16"/>
          <p:cNvSpPr txBox="1"/>
          <p:nvPr/>
        </p:nvSpPr>
        <p:spPr>
          <a:xfrm flipH="1">
            <a:off x="3691285" y="257637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0" name="Google Shape;100;p16"/>
          <p:cNvSpPr/>
          <p:nvPr/>
        </p:nvSpPr>
        <p:spPr>
          <a:xfrm>
            <a:off x="3750579" y="16651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p:nvPr/>
        </p:nvSpPr>
        <p:spPr>
          <a:xfrm>
            <a:off x="3750579" y="184958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6"/>
          <p:cNvSpPr/>
          <p:nvPr/>
        </p:nvSpPr>
        <p:spPr>
          <a:xfrm>
            <a:off x="3750579" y="221846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p:nvPr/>
        </p:nvSpPr>
        <p:spPr>
          <a:xfrm>
            <a:off x="598073" y="184482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6"/>
          <p:cNvSpPr txBox="1"/>
          <p:nvPr/>
        </p:nvSpPr>
        <p:spPr>
          <a:xfrm flipH="1">
            <a:off x="532333" y="94304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5" name="Google Shape;105;p16"/>
          <p:cNvSpPr/>
          <p:nvPr/>
        </p:nvSpPr>
        <p:spPr>
          <a:xfrm>
            <a:off x="596204" y="2037155"/>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6"/>
          <p:cNvSpPr/>
          <p:nvPr/>
        </p:nvSpPr>
        <p:spPr>
          <a:xfrm>
            <a:off x="596204" y="221292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6"/>
          <p:cNvSpPr/>
          <p:nvPr/>
        </p:nvSpPr>
        <p:spPr>
          <a:xfrm>
            <a:off x="594433" y="2577276"/>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6"/>
          <p:cNvSpPr/>
          <p:nvPr/>
        </p:nvSpPr>
        <p:spPr>
          <a:xfrm>
            <a:off x="594433" y="312100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6"/>
          <p:cNvSpPr txBox="1"/>
          <p:nvPr/>
        </p:nvSpPr>
        <p:spPr>
          <a:xfrm flipH="1">
            <a:off x="532333" y="3836776"/>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10" name="Google Shape;110;p16"/>
          <p:cNvSpPr txBox="1"/>
          <p:nvPr/>
        </p:nvSpPr>
        <p:spPr>
          <a:xfrm>
            <a:off x="304271" y="473956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1" name="Google Shape;111;p16"/>
          <p:cNvSpPr/>
          <p:nvPr/>
        </p:nvSpPr>
        <p:spPr>
          <a:xfrm>
            <a:off x="603537" y="474681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6"/>
          <p:cNvSpPr/>
          <p:nvPr/>
        </p:nvSpPr>
        <p:spPr>
          <a:xfrm>
            <a:off x="594433" y="329327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6"/>
          <p:cNvSpPr/>
          <p:nvPr/>
        </p:nvSpPr>
        <p:spPr>
          <a:xfrm>
            <a:off x="594433" y="292959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6"/>
          <p:cNvSpPr/>
          <p:nvPr/>
        </p:nvSpPr>
        <p:spPr>
          <a:xfrm>
            <a:off x="3754343" y="438928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6"/>
          <p:cNvSpPr txBox="1"/>
          <p:nvPr/>
        </p:nvSpPr>
        <p:spPr>
          <a:xfrm flipH="1">
            <a:off x="532333" y="1301380"/>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16" name="Google Shape;116;p16"/>
          <p:cNvSpPr/>
          <p:nvPr/>
        </p:nvSpPr>
        <p:spPr>
          <a:xfrm>
            <a:off x="595461" y="110802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6"/>
          <p:cNvSpPr/>
          <p:nvPr/>
        </p:nvSpPr>
        <p:spPr>
          <a:xfrm>
            <a:off x="596204" y="239599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6"/>
          <p:cNvSpPr/>
          <p:nvPr/>
        </p:nvSpPr>
        <p:spPr>
          <a:xfrm>
            <a:off x="596204" y="27667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6"/>
          <p:cNvSpPr/>
          <p:nvPr/>
        </p:nvSpPr>
        <p:spPr>
          <a:xfrm>
            <a:off x="594433" y="346612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txBox="1"/>
          <p:nvPr/>
        </p:nvSpPr>
        <p:spPr>
          <a:xfrm>
            <a:off x="304271" y="401807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1" name="Google Shape;121;p16"/>
          <p:cNvSpPr/>
          <p:nvPr/>
        </p:nvSpPr>
        <p:spPr>
          <a:xfrm>
            <a:off x="603537" y="402532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6"/>
          <p:cNvSpPr/>
          <p:nvPr/>
        </p:nvSpPr>
        <p:spPr>
          <a:xfrm>
            <a:off x="596204" y="493085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p:nvPr/>
        </p:nvSpPr>
        <p:spPr>
          <a:xfrm>
            <a:off x="3750579" y="201221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16"/>
          <p:cNvSpPr/>
          <p:nvPr/>
        </p:nvSpPr>
        <p:spPr>
          <a:xfrm>
            <a:off x="3751782" y="3489782"/>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6"/>
          <p:cNvSpPr txBox="1"/>
          <p:nvPr/>
        </p:nvSpPr>
        <p:spPr>
          <a:xfrm>
            <a:off x="3587049" y="3660320"/>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6" name="Google Shape;126;p16"/>
          <p:cNvSpPr txBox="1"/>
          <p:nvPr/>
        </p:nvSpPr>
        <p:spPr>
          <a:xfrm>
            <a:off x="3458789" y="400250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7" name="Google Shape;127;p16"/>
          <p:cNvSpPr/>
          <p:nvPr/>
        </p:nvSpPr>
        <p:spPr>
          <a:xfrm>
            <a:off x="3749658" y="401089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16"/>
          <p:cNvSpPr txBox="1"/>
          <p:nvPr/>
        </p:nvSpPr>
        <p:spPr>
          <a:xfrm>
            <a:off x="3458789" y="4185582"/>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9" name="Google Shape;129;p16"/>
          <p:cNvSpPr/>
          <p:nvPr/>
        </p:nvSpPr>
        <p:spPr>
          <a:xfrm>
            <a:off x="3749658" y="419397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6"/>
          <p:cNvSpPr/>
          <p:nvPr/>
        </p:nvSpPr>
        <p:spPr>
          <a:xfrm>
            <a:off x="3751768" y="492943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6"/>
          <p:cNvSpPr/>
          <p:nvPr/>
        </p:nvSpPr>
        <p:spPr>
          <a:xfrm>
            <a:off x="3748357" y="4575673"/>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16"/>
          <p:cNvSpPr/>
          <p:nvPr/>
        </p:nvSpPr>
        <p:spPr>
          <a:xfrm>
            <a:off x="6718499" y="84321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16"/>
          <p:cNvSpPr/>
          <p:nvPr/>
        </p:nvSpPr>
        <p:spPr>
          <a:xfrm>
            <a:off x="6718499" y="104827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6"/>
          <p:cNvSpPr/>
          <p:nvPr/>
        </p:nvSpPr>
        <p:spPr>
          <a:xfrm>
            <a:off x="6718499" y="125332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6"/>
          <p:cNvSpPr/>
          <p:nvPr/>
        </p:nvSpPr>
        <p:spPr>
          <a:xfrm>
            <a:off x="6718499" y="145838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6"/>
          <p:cNvSpPr txBox="1"/>
          <p:nvPr/>
        </p:nvSpPr>
        <p:spPr>
          <a:xfrm>
            <a:off x="6898625" y="801499"/>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Google Gemini</a:t>
            </a:r>
            <a:endParaRPr sz="1100" b="1" i="0" u="none" strike="noStrike" cap="none">
              <a:solidFill>
                <a:srgbClr val="000000"/>
              </a:solidFill>
              <a:latin typeface="Calibri"/>
              <a:ea typeface="Calibri"/>
              <a:cs typeface="Calibri"/>
              <a:sym typeface="Calibri"/>
            </a:endParaRPr>
          </a:p>
        </p:txBody>
      </p:sp>
      <p:sp>
        <p:nvSpPr>
          <p:cNvPr id="137" name="Google Shape;137;p16"/>
          <p:cNvSpPr txBox="1"/>
          <p:nvPr/>
        </p:nvSpPr>
        <p:spPr>
          <a:xfrm>
            <a:off x="6895175" y="1006556"/>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Claude</a:t>
            </a:r>
            <a:endParaRPr sz="1100" b="1" i="0" u="none" strike="noStrike" cap="none">
              <a:solidFill>
                <a:srgbClr val="000000"/>
              </a:solidFill>
              <a:latin typeface="Calibri"/>
              <a:ea typeface="Calibri"/>
              <a:cs typeface="Calibri"/>
              <a:sym typeface="Calibri"/>
            </a:endParaRPr>
          </a:p>
        </p:txBody>
      </p:sp>
      <p:sp>
        <p:nvSpPr>
          <p:cNvPr id="138" name="Google Shape;138;p16"/>
          <p:cNvSpPr txBox="1"/>
          <p:nvPr/>
        </p:nvSpPr>
        <p:spPr>
          <a:xfrm>
            <a:off x="6901750" y="1211613"/>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OpenAI</a:t>
            </a:r>
            <a:endParaRPr sz="1100" b="1" i="0" u="none" strike="noStrike" cap="none">
              <a:solidFill>
                <a:srgbClr val="000000"/>
              </a:solidFill>
              <a:latin typeface="Calibri"/>
              <a:ea typeface="Calibri"/>
              <a:cs typeface="Calibri"/>
              <a:sym typeface="Calibri"/>
            </a:endParaRPr>
          </a:p>
        </p:txBody>
      </p:sp>
      <p:sp>
        <p:nvSpPr>
          <p:cNvPr id="139" name="Google Shape;139;p16"/>
          <p:cNvSpPr txBox="1"/>
          <p:nvPr/>
        </p:nvSpPr>
        <p:spPr>
          <a:xfrm>
            <a:off x="6903075" y="1416671"/>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 Source</a:t>
            </a:r>
            <a:endParaRPr sz="1100" b="1" i="0" u="none" strike="noStrike" cap="none">
              <a:solidFill>
                <a:srgbClr val="000000"/>
              </a:solidFill>
              <a:latin typeface="Calibri"/>
              <a:ea typeface="Calibri"/>
              <a:cs typeface="Calibri"/>
              <a:sym typeface="Calibri"/>
            </a:endParaRPr>
          </a:p>
        </p:txBody>
      </p:sp>
      <p:graphicFrame>
        <p:nvGraphicFramePr>
          <p:cNvPr id="140" name="Google Shape;140;p16"/>
          <p:cNvGraphicFramePr/>
          <p:nvPr/>
        </p:nvGraphicFramePr>
        <p:xfrm>
          <a:off x="732530" y="556008"/>
          <a:ext cx="3000000" cy="3000000"/>
        </p:xfrm>
        <a:graphic>
          <a:graphicData uri="http://schemas.openxmlformats.org/drawingml/2006/table">
            <a:tbl>
              <a:tblPr>
                <a:noFill/>
                <a:tableStyleId>{CEF6D049-B11C-4F75-A46C-A5F4B5764B21}</a:tableStyleId>
              </a:tblPr>
              <a:tblGrid>
                <a:gridCol w="1800225">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tblGrid>
              <a:tr h="13027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grok-4-1-fast-reasoning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glm-4.6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gpt-5-chat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deepseek-v3.2-exp</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302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41" name="Google Shape;141;p16"/>
          <p:cNvGraphicFramePr/>
          <p:nvPr/>
        </p:nvGraphicFramePr>
        <p:xfrm>
          <a:off x="3878800" y="559064"/>
          <a:ext cx="3000000" cy="3000000"/>
        </p:xfrm>
        <a:graphic>
          <a:graphicData uri="http://schemas.openxmlformats.org/drawingml/2006/table">
            <a:tbl>
              <a:tblPr>
                <a:noFill/>
                <a:tableStyleId>{CEF6D049-B11C-4F75-A46C-A5F4B5764B21}</a:tableStyleId>
              </a:tblPr>
              <a:tblGrid>
                <a:gridCol w="1800225">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tblGrid>
              <a:tr h="10345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1534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6990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mistral-large-3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solidFill>
                            <a:srgbClr val="636879"/>
                          </a:solidFill>
                          <a:latin typeface="Calibri"/>
                          <a:ea typeface="Calibri"/>
                          <a:cs typeface="Calibri"/>
                          <a:sym typeface="Calibri"/>
                        </a:rPr>
                        <a:t>1487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qwen3-235b-a22b-instruct-2507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deepseek-v3.2-exp</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03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claude-sonnet-4-20250514-thinking-32k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sp>
        <p:nvSpPr>
          <p:cNvPr id="142" name="Google Shape;142;p16"/>
          <p:cNvSpPr txBox="1"/>
          <p:nvPr/>
        </p:nvSpPr>
        <p:spPr>
          <a:xfrm>
            <a:off x="304271" y="419333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3" name="Google Shape;143;p16"/>
          <p:cNvSpPr/>
          <p:nvPr/>
        </p:nvSpPr>
        <p:spPr>
          <a:xfrm>
            <a:off x="603537" y="420058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16"/>
          <p:cNvSpPr txBox="1"/>
          <p:nvPr/>
        </p:nvSpPr>
        <p:spPr>
          <a:xfrm flipH="1">
            <a:off x="3520633" y="2751635"/>
            <a:ext cx="3498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a:solidFill>
                  <a:srgbClr val="1F2937"/>
                </a:solidFill>
                <a:latin typeface="Calibri"/>
                <a:ea typeface="Calibri"/>
                <a:cs typeface="Calibri"/>
                <a:sym typeface="Calibri"/>
              </a:rPr>
              <a:t>Mistral</a:t>
            </a:r>
            <a:endParaRPr sz="800" b="0" i="0" u="none" strike="noStrike" cap="none">
              <a:solidFill>
                <a:srgbClr val="1F2937"/>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7"/>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1</a:t>
            </a:r>
            <a:endParaRPr sz="2000" b="1" i="0" u="none" strike="noStrike" cap="none">
              <a:solidFill>
                <a:schemeClr val="dk1"/>
              </a:solidFill>
              <a:latin typeface="Calibri"/>
              <a:ea typeface="Calibri"/>
              <a:cs typeface="Calibri"/>
              <a:sym typeface="Calibri"/>
            </a:endParaRPr>
          </a:p>
        </p:txBody>
      </p:sp>
      <p:sp>
        <p:nvSpPr>
          <p:cNvPr id="150" name="Google Shape;150;p17"/>
          <p:cNvSpPr txBox="1"/>
          <p:nvPr/>
        </p:nvSpPr>
        <p:spPr>
          <a:xfrm>
            <a:off x="55075" y="466747"/>
            <a:ext cx="44445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DeepSeek V3.2 685 Bln params open-source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rivals GPT-5 and Gemini 3.0 Pro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Features: </a:t>
            </a:r>
            <a:r>
              <a:rPr lang="en" sz="1100">
                <a:solidFill>
                  <a:srgbClr val="3C78D8"/>
                </a:solidFill>
                <a:latin typeface="Calibri"/>
                <a:ea typeface="Calibri"/>
                <a:cs typeface="Calibri"/>
                <a:sym typeface="Calibri"/>
              </a:rPr>
              <a:t>DeepSeek Sparse Attention (DSA) for long context; Scalable reinforcement learning framework; Large-scale agentic task synthesis pipeline to generates training data</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DeepSeek </a:t>
            </a:r>
            <a:r>
              <a:rPr lang="en" sz="1100" b="1">
                <a:solidFill>
                  <a:srgbClr val="FF0000"/>
                </a:solidFill>
                <a:latin typeface="Calibri"/>
                <a:ea typeface="Calibri"/>
                <a:cs typeface="Calibri"/>
                <a:sym typeface="Calibri"/>
              </a:rPr>
              <a:t>V3-standard &amp; V3.2-Speciale</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Speciale is a high-compute version that achieved gold-medal in the 2025 International Math Olympiad and International Olympiad in Informatics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Both models are open-weight with full technical documentation, allowing developers to fine-tune and deploy on their own hardware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standard V3.2 is available via app, web, and API, while Speciale is temporarily API-only until December 15.</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https://www.youtube.com/watch?v=vvrGcWLqMq0</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https://api-docs.deepseek.com/news/news251201</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51" name="Google Shape;151;p17"/>
          <p:cNvSpPr txBox="1"/>
          <p:nvPr/>
        </p:nvSpPr>
        <p:spPr>
          <a:xfrm>
            <a:off x="55075" y="3481532"/>
            <a:ext cx="4444500" cy="86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Imagen 4 in Google Docs, Slides, Vids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https://www.youtube.com/watch?v=7Hi-PeBYi60</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Users can create high-quality images by typing prompts within these tools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Photorealism, fine details, good text rendering, up to 2K resolution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Need to enable AI features in your settings</a:t>
            </a:r>
            <a:endParaRPr sz="1100">
              <a:solidFill>
                <a:schemeClr val="dk1"/>
              </a:solidFill>
              <a:latin typeface="Calibri"/>
              <a:ea typeface="Calibri"/>
              <a:cs typeface="Calibri"/>
              <a:sym typeface="Calibri"/>
            </a:endParaRPr>
          </a:p>
        </p:txBody>
      </p:sp>
      <p:pic>
        <p:nvPicPr>
          <p:cNvPr id="152" name="Google Shape;152;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64950" y="801550"/>
            <a:ext cx="4339626" cy="2418940"/>
          </a:xfrm>
          <a:prstGeom prst="rect">
            <a:avLst/>
          </a:prstGeom>
          <a:noFill/>
          <a:ln w="9525" cap="flat" cmpd="sng">
            <a:solidFill>
              <a:srgbClr val="FF0000"/>
            </a:solidFill>
            <a:prstDash val="solid"/>
            <a:round/>
            <a:headEnd type="none" w="sm" len="sm"/>
            <a:tailEnd type="none" w="sm" len="sm"/>
          </a:ln>
        </p:spPr>
      </p:pic>
      <p:pic>
        <p:nvPicPr>
          <p:cNvPr id="153" name="Google Shape;153;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64955" y="95895"/>
            <a:ext cx="2947070" cy="622025"/>
          </a:xfrm>
          <a:prstGeom prst="rect">
            <a:avLst/>
          </a:prstGeom>
          <a:noFill/>
          <a:ln>
            <a:noFill/>
          </a:ln>
        </p:spPr>
      </p:pic>
      <p:pic>
        <p:nvPicPr>
          <p:cNvPr id="154" name="Google Shape;154;p1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51975" y="3372890"/>
            <a:ext cx="2964306" cy="161821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8"/>
          <p:cNvSpPr txBox="1"/>
          <p:nvPr/>
        </p:nvSpPr>
        <p:spPr>
          <a:xfrm>
            <a:off x="55075" y="20375"/>
            <a:ext cx="4391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Mistral 3 Family of Models</a:t>
            </a:r>
            <a:endParaRPr sz="2000" b="1" i="0" u="none" strike="noStrike" cap="none">
              <a:solidFill>
                <a:schemeClr val="dk1"/>
              </a:solidFill>
              <a:latin typeface="Calibri"/>
              <a:ea typeface="Calibri"/>
              <a:cs typeface="Calibri"/>
              <a:sym typeface="Calibri"/>
            </a:endParaRPr>
          </a:p>
        </p:txBody>
      </p:sp>
      <p:sp>
        <p:nvSpPr>
          <p:cNvPr id="160" name="Google Shape;160;p18"/>
          <p:cNvSpPr txBox="1"/>
          <p:nvPr/>
        </p:nvSpPr>
        <p:spPr>
          <a:xfrm>
            <a:off x="55075" y="401675"/>
            <a:ext cx="40908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Mistral 3 Family of Models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Released Dec 2, 2025 0 open-source Apache 2.0</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Mistral Large 3 - MoE 675 Bln (41 Bln active)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Ministral 3 dense models:  3B, 8B, and 14B params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All Mistral 3 models are multimodal (processing both text and images) and multilingual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smaller Ministral 3 models are specifically optimized for edge computing applications and can run on devices with as little as 4GB of video memory, enabling deployment on smartphones, drones, and embedded systems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Available via AWS Bedrock, IBM Watsonx, Microsoft Azure, and NVIDIA infrastructure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https://blogs.nvidia.com/blog/mistral-frontier-open-models/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https://mistral.ai/news/mistral-3</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61" name="Google Shape;161;p1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311475" y="401675"/>
            <a:ext cx="4693325" cy="30599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9"/>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2</a:t>
            </a:r>
            <a:endParaRPr sz="2000" b="1" i="0" u="none" strike="noStrike" cap="none">
              <a:solidFill>
                <a:schemeClr val="dk1"/>
              </a:solidFill>
              <a:latin typeface="Calibri"/>
              <a:ea typeface="Calibri"/>
              <a:cs typeface="Calibri"/>
              <a:sym typeface="Calibri"/>
            </a:endParaRPr>
          </a:p>
        </p:txBody>
      </p:sp>
      <p:sp>
        <p:nvSpPr>
          <p:cNvPr id="167" name="Google Shape;167;p19"/>
          <p:cNvSpPr txBox="1"/>
          <p:nvPr/>
        </p:nvSpPr>
        <p:spPr>
          <a:xfrm>
            <a:off x="55075" y="401675"/>
            <a:ext cx="40908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Anthropic addressed MCP's scaling problem</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Tool Search Tool enables on-demand tool discovery, reducing token usage by 85% while improving accuracy from 49% to 74% on Opus 4 and 79.5% to 88.1% on Opus 4.5</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Programmatic Tool Calling lets Claude write Python code to orchestrate multiple tool calls, keeping intermediate results in a sandbox and reducing tokens by 37%</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Tool Use Examples allow developers to provide sample tool calls directly in definitions, improving parameter accuracy from 72% to 90%</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These complementary features solve context bloat, wrong tool selection, and parameter errors without abandoning MCP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https://www.youtube.com/watch?v=6x5G5Lam1Wk</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68" name="Google Shape;168;p19"/>
          <p:cNvSpPr txBox="1"/>
          <p:nvPr/>
        </p:nvSpPr>
        <p:spPr>
          <a:xfrm>
            <a:off x="55075" y="2872079"/>
            <a:ext cx="44445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Docker's new MCP Toolkit simplifies MCP server setup</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One-click installations from Docker Desktop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provides access to over 260 verified containerized MCP servers that integrate with AI coding assistants like Claude Desktop, Cursor, Continue Dev, and VS Code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Previously, users needed to manually configure MCPs through third-party registries, manage dependencies, and edit JSON files. Now the toolkit handles everything automatically in secure containerized environments.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video demonstrates installing </a:t>
            </a:r>
            <a:r>
              <a:rPr lang="en" sz="1100" b="1">
                <a:solidFill>
                  <a:srgbClr val="FF0000"/>
                </a:solidFill>
                <a:latin typeface="Calibri"/>
                <a:ea typeface="Calibri"/>
                <a:cs typeface="Calibri"/>
                <a:sym typeface="Calibri"/>
              </a:rPr>
              <a:t>Playwright MCP </a:t>
            </a:r>
            <a:r>
              <a:rPr lang="en" sz="1100">
                <a:solidFill>
                  <a:schemeClr val="dk1"/>
                </a:solidFill>
                <a:latin typeface="Calibri"/>
                <a:ea typeface="Calibri"/>
                <a:cs typeface="Calibri"/>
                <a:sym typeface="Calibri"/>
              </a:rPr>
              <a:t>and using it in Cursor to scrape website content into JSON. This eliminates DevOps overhead and makes it dramatically easier to enhance AI agents with external tools and capabilities.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https://www.youtube.com/watch?v=ButAp5rF69E</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69" name="Google Shape;169;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227850" y="33325"/>
            <a:ext cx="4877276" cy="2662500"/>
          </a:xfrm>
          <a:prstGeom prst="rect">
            <a:avLst/>
          </a:prstGeom>
          <a:noFill/>
          <a:ln w="9525" cap="flat" cmpd="sng">
            <a:solidFill>
              <a:srgbClr val="FF0000"/>
            </a:solidFill>
            <a:prstDash val="solid"/>
            <a:round/>
            <a:headEnd type="none" w="sm" len="sm"/>
            <a:tailEnd type="none" w="sm" len="sm"/>
          </a:ln>
        </p:spPr>
      </p:pic>
      <p:pic>
        <p:nvPicPr>
          <p:cNvPr id="170" name="Google Shape;170;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51975" y="2870784"/>
            <a:ext cx="4065582" cy="2219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0"/>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5.81K subscribers, 256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76" name="Google Shape;176;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27443" y="79125"/>
            <a:ext cx="3828725" cy="49852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1"/>
          <p:cNvSpPr txBox="1"/>
          <p:nvPr/>
        </p:nvSpPr>
        <p:spPr>
          <a:xfrm>
            <a:off x="55075" y="20375"/>
            <a:ext cx="1765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3</a:t>
            </a:r>
            <a:endParaRPr sz="2000" b="1">
              <a:solidFill>
                <a:schemeClr val="dk1"/>
              </a:solidFill>
              <a:latin typeface="Calibri"/>
              <a:ea typeface="Calibri"/>
              <a:cs typeface="Calibri"/>
              <a:sym typeface="Calibri"/>
            </a:endParaRPr>
          </a:p>
        </p:txBody>
      </p:sp>
      <p:sp>
        <p:nvSpPr>
          <p:cNvPr id="182" name="Google Shape;182;p21"/>
          <p:cNvSpPr txBox="1"/>
          <p:nvPr/>
        </p:nvSpPr>
        <p:spPr>
          <a:xfrm>
            <a:off x="55075" y="346765"/>
            <a:ext cx="44445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AI Studio - voice AI agent in under 2 minutes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creator shows building (without coding) a business voice agent that can book appointments, answer questions, and handle client intake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system generates HTML, JavaScript, and CSS code automatically, creating both the conversational AI and user interface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voice quality rivals premium services like 11 Labs, with natural-sounding conversation that maintains context throughout calls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Users can deploy agents via Google Cloud with a shareable URL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or export the system prompt to platforms like Vapi or Retell for handling real phone calls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https://www.youtube.com/watch?v=36l7oA7HhAM</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83" name="Google Shape;183;p21"/>
          <p:cNvSpPr txBox="1"/>
          <p:nvPr/>
        </p:nvSpPr>
        <p:spPr>
          <a:xfrm>
            <a:off x="4297525" y="2374420"/>
            <a:ext cx="47877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DeepSeek Math V2</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Specialized mathematical reasoning model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Achieved International Math Olympiad gold-level performance and scoring 118/120 on the 2024 Putnam test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 uses a student-teacher-supervisor framework with self-verification, where it generates proofs, grades its own work, and corrects errors rather than just producing final answers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outperformed Gemini DeepThink on certain benchmarks, reaching 99% accuracy on IMO-ProofBench Basic problems</a:t>
            </a:r>
            <a:endParaRPr sz="1100">
              <a:solidFill>
                <a:schemeClr val="dk1"/>
              </a:solidFill>
              <a:latin typeface="Calibri"/>
              <a:ea typeface="Calibri"/>
              <a:cs typeface="Calibri"/>
              <a:sym typeface="Calibri"/>
            </a:endParaRPr>
          </a:p>
        </p:txBody>
      </p:sp>
      <p:pic>
        <p:nvPicPr>
          <p:cNvPr id="184" name="Google Shape;184;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50459" y="39604"/>
            <a:ext cx="4059812" cy="2216245"/>
          </a:xfrm>
          <a:prstGeom prst="rect">
            <a:avLst/>
          </a:prstGeom>
          <a:noFill/>
          <a:ln w="9525" cap="flat" cmpd="sng">
            <a:solidFill>
              <a:srgbClr val="FF0000"/>
            </a:solidFill>
            <a:prstDash val="solid"/>
            <a:round/>
            <a:headEnd type="none" w="sm" len="sm"/>
            <a:tailEnd type="none" w="sm" len="sm"/>
          </a:ln>
        </p:spPr>
      </p:pic>
      <p:pic>
        <p:nvPicPr>
          <p:cNvPr id="185" name="Google Shape;185;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01700" y="2741140"/>
            <a:ext cx="3992724" cy="2179622"/>
          </a:xfrm>
          <a:prstGeom prst="rect">
            <a:avLst/>
          </a:prstGeom>
          <a:noFill/>
          <a:ln w="9525" cap="flat" cmpd="sng">
            <a:solidFill>
              <a:srgbClr val="FF0000"/>
            </a:solidFill>
            <a:prstDash val="solid"/>
            <a:round/>
            <a:headEnd type="none" w="sm" len="sm"/>
            <a:tailEnd type="none" w="sm" len="sm"/>
          </a:ln>
        </p:spPr>
      </p:pic>
      <p:sp>
        <p:nvSpPr>
          <p:cNvPr id="186" name="Google Shape;186;p21"/>
          <p:cNvSpPr txBox="1"/>
          <p:nvPr/>
        </p:nvSpPr>
        <p:spPr>
          <a:xfrm>
            <a:off x="4297525" y="3999120"/>
            <a:ext cx="47877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Tencent launched HunyuanOCR</a:t>
            </a:r>
            <a:r>
              <a:rPr lang="en" sz="1100">
                <a:solidFill>
                  <a:schemeClr val="dk1"/>
                </a:solidFill>
                <a:latin typeface="Calibri"/>
                <a:ea typeface="Calibri"/>
                <a:cs typeface="Calibri"/>
                <a:sym typeface="Calibri"/>
              </a:rPr>
              <a:t>, a compact 1Bln params OCR model that beats much larger vision-language models on document understanding tasks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HunyuanOCR uses an end-to-end architecture supporting arbitrary resolutions and handles complex documents, tables, and multilingual text across 100+ languages, scoring 94.1 on OmniDocBench and 860 on OCRBench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https://www.youtube.com/watch?v=mSDsLpMogtM</a:t>
            </a:r>
            <a:endParaRPr sz="1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2"/>
          <p:cNvSpPr txBox="1"/>
          <p:nvPr/>
        </p:nvSpPr>
        <p:spPr>
          <a:xfrm>
            <a:off x="55075" y="20375"/>
            <a:ext cx="1765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4</a:t>
            </a:r>
            <a:endParaRPr sz="2000" b="1">
              <a:solidFill>
                <a:schemeClr val="dk1"/>
              </a:solidFill>
              <a:latin typeface="Calibri"/>
              <a:ea typeface="Calibri"/>
              <a:cs typeface="Calibri"/>
              <a:sym typeface="Calibri"/>
            </a:endParaRPr>
          </a:p>
        </p:txBody>
      </p:sp>
      <p:sp>
        <p:nvSpPr>
          <p:cNvPr id="192" name="Google Shape;192;p22"/>
          <p:cNvSpPr txBox="1"/>
          <p:nvPr/>
        </p:nvSpPr>
        <p:spPr>
          <a:xfrm>
            <a:off x="55075" y="346775"/>
            <a:ext cx="41523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How Elon Musk sets and achieves "impossible" goals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Interview with Dr. Benjamin Hardy</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https://www.youtube.com/watch?v=p-YTuA7d9WE</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(1) question all requirements</a:t>
            </a:r>
            <a:endParaRPr sz="1100">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(2) remove unnecessary steps</a:t>
            </a:r>
            <a:endParaRPr sz="1100">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(3) simplify and optimize</a:t>
            </a:r>
            <a:endParaRPr sz="1100">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(4) accelerate learning cycles</a:t>
            </a:r>
            <a:endParaRPr sz="1100">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(5) automate and systematize</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Ambitious future vision fundamentally shapes present actions and decision-making ("future self")</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High goals filter out distractions, foster clarity and accountability, and drive true scalability</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Choose worthy goals, build accountability, and focus on scalable impact rather than maintaining the status quo</a:t>
            </a:r>
            <a:endParaRPr sz="1100" b="1">
              <a:solidFill>
                <a:srgbClr val="FF0000"/>
              </a:solidFill>
              <a:latin typeface="Calibri"/>
              <a:ea typeface="Calibri"/>
              <a:cs typeface="Calibri"/>
              <a:sym typeface="Calibri"/>
            </a:endParaRPr>
          </a:p>
        </p:txBody>
      </p:sp>
      <p:sp>
        <p:nvSpPr>
          <p:cNvPr id="193" name="Google Shape;193;p22"/>
          <p:cNvSpPr txBox="1"/>
          <p:nvPr/>
        </p:nvSpPr>
        <p:spPr>
          <a:xfrm>
            <a:off x="4652325" y="2872815"/>
            <a:ext cx="44445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Traditional SEO vs AI search SEO</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People are increasingly getting answers from AI tools instead of scrolling through Google results; brands either appear in AI conversations or become invisible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Brands must optimize for AI crawlers with new technical requirements like LLM.txt files and structured data</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Semrush One - a platform that unifies traditional SEO with AI search optimization, allowing marketers to track brand visibility across Google and multiple AI platforms in one dashboard. It monitors over 100 million LLM prompts globally and provides weekly data updates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Example: Coalition Technologies achieved a 429% boost in AI referral traffic using these tools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https://www.youtube.com/watch?v=k_9AsANFY9A</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94" name="Google Shape;194;p2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292800" y="506348"/>
            <a:ext cx="3828526" cy="2090000"/>
          </a:xfrm>
          <a:prstGeom prst="rect">
            <a:avLst/>
          </a:prstGeom>
          <a:noFill/>
          <a:ln w="9525" cap="flat" cmpd="sng">
            <a:solidFill>
              <a:srgbClr val="FF0000"/>
            </a:solidFill>
            <a:prstDash val="solid"/>
            <a:round/>
            <a:headEnd type="none" w="sm" len="sm"/>
            <a:tailEnd type="none" w="sm" len="sm"/>
          </a:ln>
        </p:spPr>
      </p:pic>
      <p:pic>
        <p:nvPicPr>
          <p:cNvPr id="195" name="Google Shape;195;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58069" y="2872825"/>
            <a:ext cx="4065580" cy="2219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3"/>
          <p:cNvSpPr txBox="1"/>
          <p:nvPr/>
        </p:nvSpPr>
        <p:spPr>
          <a:xfrm>
            <a:off x="55075" y="20375"/>
            <a:ext cx="1765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5</a:t>
            </a:r>
            <a:endParaRPr sz="2000" b="1">
              <a:solidFill>
                <a:schemeClr val="dk1"/>
              </a:solidFill>
              <a:latin typeface="Calibri"/>
              <a:ea typeface="Calibri"/>
              <a:cs typeface="Calibri"/>
              <a:sym typeface="Calibri"/>
            </a:endParaRPr>
          </a:p>
        </p:txBody>
      </p:sp>
      <p:sp>
        <p:nvSpPr>
          <p:cNvPr id="201" name="Google Shape;201;p23"/>
          <p:cNvSpPr txBox="1"/>
          <p:nvPr/>
        </p:nvSpPr>
        <p:spPr>
          <a:xfrm>
            <a:off x="55075" y="415065"/>
            <a:ext cx="4444500" cy="272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How to 10x your income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Signal-to-noise ratio: identifying the three to five critical tasks you must complete in your next eighteen waking hours, treating everything else as noise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Steve Jobs maintained an eighty-twenty ratio, while Elon Musk operates at nearly one hundred percent signal</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O'Leary emphasizes three keys to entrepreneurial success: </a:t>
            </a:r>
            <a:br>
              <a:rPr lang="en" sz="1100">
                <a:latin typeface="Calibri"/>
                <a:ea typeface="Calibri"/>
                <a:cs typeface="Calibri"/>
                <a:sym typeface="Calibri"/>
              </a:rPr>
            </a:br>
            <a:r>
              <a:rPr lang="en" sz="1100" b="1">
                <a:solidFill>
                  <a:srgbClr val="3C78D8"/>
                </a:solidFill>
                <a:latin typeface="Calibri"/>
                <a:ea typeface="Calibri"/>
                <a:cs typeface="Calibri"/>
                <a:sym typeface="Calibri"/>
              </a:rPr>
              <a:t>(1) projecting confidence before speaking</a:t>
            </a:r>
            <a:br>
              <a:rPr lang="en" sz="1100" b="1">
                <a:solidFill>
                  <a:srgbClr val="3C78D8"/>
                </a:solidFill>
                <a:latin typeface="Calibri"/>
                <a:ea typeface="Calibri"/>
                <a:cs typeface="Calibri"/>
                <a:sym typeface="Calibri"/>
              </a:rPr>
            </a:br>
            <a:r>
              <a:rPr lang="en" sz="1100" b="1">
                <a:solidFill>
                  <a:srgbClr val="3C78D8"/>
                </a:solidFill>
                <a:latin typeface="Calibri"/>
                <a:ea typeface="Calibri"/>
                <a:cs typeface="Calibri"/>
                <a:sym typeface="Calibri"/>
              </a:rPr>
              <a:t>(2) articulating your idea clearly in 90 seconds</a:t>
            </a:r>
            <a:br>
              <a:rPr lang="en" sz="1100" b="1">
                <a:solidFill>
                  <a:srgbClr val="3C78D8"/>
                </a:solidFill>
                <a:latin typeface="Calibri"/>
                <a:ea typeface="Calibri"/>
                <a:cs typeface="Calibri"/>
                <a:sym typeface="Calibri"/>
              </a:rPr>
            </a:br>
            <a:r>
              <a:rPr lang="en" sz="1100" b="1">
                <a:solidFill>
                  <a:srgbClr val="3C78D8"/>
                </a:solidFill>
                <a:latin typeface="Calibri"/>
                <a:ea typeface="Calibri"/>
                <a:cs typeface="Calibri"/>
                <a:sym typeface="Calibri"/>
              </a:rPr>
              <a:t>(3) knowing your numbers precisely</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He also learned to listen more than he talks, finding silence powerful in negotiations and decision-making</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Women entrepreneurs in his portfolio achieve goals ninety percent of the time versus men's sixty-five percent, partly because they set achievable targets and maintain better team retention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https://www.youtube.com/watch?v=mLM9LbRF4Q4</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02" name="Google Shape;202;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40600" y="766900"/>
            <a:ext cx="1657151" cy="1691074"/>
          </a:xfrm>
          <a:prstGeom prst="rect">
            <a:avLst/>
          </a:prstGeom>
          <a:noFill/>
          <a:ln w="9525" cap="flat" cmpd="sng">
            <a:solidFill>
              <a:srgbClr val="FF0000"/>
            </a:solidFill>
            <a:prstDash val="solid"/>
            <a:round/>
            <a:headEnd type="none" w="sm" len="sm"/>
            <a:tailEnd type="none" w="sm" len="sm"/>
          </a:ln>
        </p:spPr>
      </p:pic>
      <p:sp>
        <p:nvSpPr>
          <p:cNvPr id="203" name="Google Shape;203;p23"/>
          <p:cNvSpPr txBox="1"/>
          <p:nvPr/>
        </p:nvSpPr>
        <p:spPr>
          <a:xfrm>
            <a:off x="55075" y="3210965"/>
            <a:ext cx="44445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OpenAGI Lux 1.0 AI agent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OpenAGI is a San Francisco-based startup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Its model Lux Thinker 1.0 can </a:t>
            </a:r>
            <a:r>
              <a:rPr lang="en" sz="1100">
                <a:latin typeface="Calibri"/>
                <a:ea typeface="Calibri"/>
                <a:cs typeface="Calibri"/>
                <a:sym typeface="Calibri"/>
              </a:rPr>
              <a:t>control computers better than systems built by OpenAI and Anthropic - and at a fraction of the cost.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model works by nterpreting screenshots and executing actions across desktop applications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https://venturebeat.com/ai/openagi-emerges-from-stealth-with-an-ai-agent-that-it-claims-crushes-openai</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04" name="Google Shape;204;p23"/>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640600" y="2850675"/>
            <a:ext cx="2114775" cy="21839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4"/>
          <p:cNvSpPr txBox="1"/>
          <p:nvPr/>
        </p:nvSpPr>
        <p:spPr>
          <a:xfrm>
            <a:off x="55075" y="20375"/>
            <a:ext cx="1765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6</a:t>
            </a:r>
            <a:endParaRPr sz="2000" b="1">
              <a:solidFill>
                <a:schemeClr val="dk1"/>
              </a:solidFill>
              <a:latin typeface="Calibri"/>
              <a:ea typeface="Calibri"/>
              <a:cs typeface="Calibri"/>
              <a:sym typeface="Calibri"/>
            </a:endParaRPr>
          </a:p>
        </p:txBody>
      </p:sp>
      <p:sp>
        <p:nvSpPr>
          <p:cNvPr id="210" name="Google Shape;210;p24"/>
          <p:cNvSpPr txBox="1"/>
          <p:nvPr/>
        </p:nvSpPr>
        <p:spPr>
          <a:xfrm>
            <a:off x="55075" y="415065"/>
            <a:ext cx="44445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Perplexity = AI chatbot + web search</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Perplexity stands out for grounding all responses in cited sources, reducing hallucinations and bias compared to other AI tools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Deep research mode generates comprehensive reports with 40+ sources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Discovery tab for personalized news aggregation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Labs for creating interactive dashboards and mini-apps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Spaces (similar to custom GPTs) for specialized use cases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Automated Tasks for scheduled queries sent via email or WhatsApp</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Connectors for Google Drive, Dropbox, and WhatsApp</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Pro tier costs $20/month and includes unlimited searches, file uploads, and API access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Comet is Perplexity's AI browser with assistant capabilities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API enables integration with automation tools like Make.com for building complex workflows</a:t>
            </a:r>
            <a:endParaRPr sz="1100">
              <a:latin typeface="Calibri"/>
              <a:ea typeface="Calibri"/>
              <a:cs typeface="Calibri"/>
              <a:sym typeface="Calibri"/>
            </a:endParaRPr>
          </a:p>
        </p:txBody>
      </p:sp>
      <p:sp>
        <p:nvSpPr>
          <p:cNvPr id="211" name="Google Shape;211;p24"/>
          <p:cNvSpPr txBox="1"/>
          <p:nvPr/>
        </p:nvSpPr>
        <p:spPr>
          <a:xfrm>
            <a:off x="4633600" y="2686665"/>
            <a:ext cx="44445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Ilya Sutskever admits that Scaling is not Enough</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https://www.youtube.com/watch?v=ye_HKsDcVsc</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Ilya Sutskever admits that </a:t>
            </a:r>
            <a:r>
              <a:rPr lang="en" sz="1100">
                <a:latin typeface="Calibri"/>
                <a:ea typeface="Calibri"/>
                <a:cs typeface="Calibri"/>
                <a:sym typeface="Calibri"/>
              </a:rPr>
              <a:t>Demis Hassabis and DeepMind were right: </a:t>
            </a:r>
            <a:r>
              <a:rPr lang="en" sz="1100" b="1">
                <a:solidFill>
                  <a:srgbClr val="FF0000"/>
                </a:solidFill>
                <a:latin typeface="Calibri"/>
                <a:ea typeface="Calibri"/>
                <a:cs typeface="Calibri"/>
                <a:sym typeface="Calibri"/>
              </a:rPr>
              <a:t>breakthroughs beyond current scaling are needed to reach true AGI</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Today's paradigm is still missing something fundamental despite continually improving with more compute and data</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All major AI leaders now agree that AGI demands new, poorly understood principles and not just bigger models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Sutskever also argues that AGI should be defined by continual learning and adaptability, like a human learning on the job, rather than a finished system capable of everything at launch</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sees current secrecy and duplicated effort among labs as slowing progress, but believes even small labs could spark the next breakthrough, and estimates AGI remains 5–20 years away</a:t>
            </a:r>
            <a:endParaRPr sz="1100">
              <a:latin typeface="Calibri"/>
              <a:ea typeface="Calibri"/>
              <a:cs typeface="Calibri"/>
              <a:sym typeface="Calibri"/>
            </a:endParaRPr>
          </a:p>
        </p:txBody>
      </p:sp>
      <p:pic>
        <p:nvPicPr>
          <p:cNvPr id="212" name="Google Shape;212;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79600" y="872275"/>
            <a:ext cx="3051499" cy="786000"/>
          </a:xfrm>
          <a:prstGeom prst="rect">
            <a:avLst/>
          </a:prstGeom>
          <a:noFill/>
          <a:ln w="9525" cap="flat" cmpd="sng">
            <a:solidFill>
              <a:srgbClr val="FF0000"/>
            </a:solidFill>
            <a:prstDash val="solid"/>
            <a:round/>
            <a:headEnd type="none" w="sm" len="sm"/>
            <a:tailEnd type="none" w="sm" len="sm"/>
          </a:ln>
        </p:spPr>
      </p:pic>
      <p:pic>
        <p:nvPicPr>
          <p:cNvPr id="213" name="Google Shape;213;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280925" y="3141598"/>
            <a:ext cx="3298674" cy="16276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5"/>
          <p:cNvSpPr txBox="1"/>
          <p:nvPr/>
        </p:nvSpPr>
        <p:spPr>
          <a:xfrm>
            <a:off x="55075" y="20375"/>
            <a:ext cx="1765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7</a:t>
            </a:r>
            <a:endParaRPr sz="2000" b="1">
              <a:solidFill>
                <a:schemeClr val="dk1"/>
              </a:solidFill>
              <a:latin typeface="Calibri"/>
              <a:ea typeface="Calibri"/>
              <a:cs typeface="Calibri"/>
              <a:sym typeface="Calibri"/>
            </a:endParaRPr>
          </a:p>
        </p:txBody>
      </p:sp>
      <p:sp>
        <p:nvSpPr>
          <p:cNvPr id="219" name="Google Shape;219;p25"/>
          <p:cNvSpPr txBox="1"/>
          <p:nvPr/>
        </p:nvSpPr>
        <p:spPr>
          <a:xfrm>
            <a:off x="55075" y="415075"/>
            <a:ext cx="46221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OpenAI Code Red</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Sam Altman has announced a "Code Red" due to escalating competition from Google and Anthropic</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Company will delay new features like ads and AI agents to focus on improving ChatGPT’s core product</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Google’s Gemini and Anthropic’s Opus models are weakening OpenAI’s lead, especially in reasoning, coding, and image generation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OpenAI faces slowing growth and ongoing high cash burn, with future viability dependent on maintaining market share and investor confidence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company's new strategy prioritizes personalization, reliability, and improved user experience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https://www.youtube.com/watch?v=QKddqaqOw8o</a:t>
            </a:r>
            <a:r>
              <a:rPr lang="en" sz="1100">
                <a:latin typeface="Calibri"/>
                <a:ea typeface="Calibri"/>
                <a:cs typeface="Calibri"/>
                <a:sym typeface="Calibri"/>
              </a:rPr>
              <a:t> </a:t>
            </a:r>
            <a:endParaRPr sz="1100">
              <a:latin typeface="Calibri"/>
              <a:ea typeface="Calibri"/>
              <a:cs typeface="Calibri"/>
              <a:sym typeface="Calibri"/>
            </a:endParaRPr>
          </a:p>
        </p:txBody>
      </p:sp>
      <p:sp>
        <p:nvSpPr>
          <p:cNvPr id="220" name="Google Shape;220;p25"/>
          <p:cNvSpPr txBox="1"/>
          <p:nvPr/>
        </p:nvSpPr>
        <p:spPr>
          <a:xfrm>
            <a:off x="55075" y="2533575"/>
            <a:ext cx="46221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Anthropic acquires Bun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Bun is a high-performance JavaScript runtime (by Jarred Sumner, 2021)</a:t>
            </a:r>
            <a:br>
              <a:rPr lang="en" sz="1100">
                <a:latin typeface="Calibri"/>
                <a:ea typeface="Calibri"/>
                <a:cs typeface="Calibri"/>
                <a:sym typeface="Calibri"/>
              </a:rPr>
            </a:br>
            <a:r>
              <a:rPr lang="en" sz="1100">
                <a:latin typeface="Calibri"/>
                <a:ea typeface="Calibri"/>
                <a:cs typeface="Calibri"/>
                <a:sym typeface="Calibri"/>
              </a:rPr>
              <a:t>Bun's all-in-one toolkit—combining runtime, package manager, bundler, and test runner—delivers significantly faster performance than Node.js and has over 7 million monthly downloads and 82,000 GitHub stars.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Claude Code reached $1 Bln in run-rate revenue just six months after its May 2025 public launch; Major clients including Netflix, Spotify, KPMG, and L'Oreal</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The acquisition will enhance Claude Code's speed and stability while Bun remains open source under MIT license.</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https://www.anthropic.com/news/anthropic-acquires-bun-as-claude-code-reaches-usd1b-milestone</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21" name="Google Shape;221;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24100" y="569138"/>
            <a:ext cx="1392325" cy="1742075"/>
          </a:xfrm>
          <a:prstGeom prst="rect">
            <a:avLst/>
          </a:prstGeom>
          <a:noFill/>
          <a:ln w="9525" cap="flat" cmpd="sng">
            <a:solidFill>
              <a:srgbClr val="FF0000"/>
            </a:solidFill>
            <a:prstDash val="solid"/>
            <a:round/>
            <a:headEnd type="none" w="sm" len="sm"/>
            <a:tailEnd type="none" w="sm" len="sm"/>
          </a:ln>
        </p:spPr>
      </p:pic>
      <p:pic>
        <p:nvPicPr>
          <p:cNvPr id="222" name="Google Shape;222;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57525" y="2982400"/>
            <a:ext cx="2798825" cy="755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6"/>
          <p:cNvSpPr txBox="1"/>
          <p:nvPr/>
        </p:nvSpPr>
        <p:spPr>
          <a:xfrm>
            <a:off x="55075" y="20375"/>
            <a:ext cx="4450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8</a:t>
            </a:r>
            <a:endParaRPr sz="2000" b="1">
              <a:solidFill>
                <a:schemeClr val="dk1"/>
              </a:solidFill>
              <a:latin typeface="Calibri"/>
              <a:ea typeface="Calibri"/>
              <a:cs typeface="Calibri"/>
              <a:sym typeface="Calibri"/>
            </a:endParaRPr>
          </a:p>
        </p:txBody>
      </p:sp>
      <p:sp>
        <p:nvSpPr>
          <p:cNvPr id="228" name="Google Shape;228;p26"/>
          <p:cNvSpPr txBox="1"/>
          <p:nvPr/>
        </p:nvSpPr>
        <p:spPr>
          <a:xfrm>
            <a:off x="55075" y="415075"/>
            <a:ext cx="44505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OpenCode is an open-source AI coding agent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Runs in your terminal as a free alternative to ClaudeCode and Gemini CLI</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MGrep integration making it 4x faster and 3x more token-efficient through semantic search of code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images and PDFs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 new TUI (text-based interface) with improved animations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 right-hand panel showing context usage, costs, and LSP info</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Zed editor extension for one-click installation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An OpenCode SDK allowing developers to programmatically control and embed the agent in their own applications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ability to run and visualize TUIs directly within the terminal</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Multiple session management and a desktop app coming soon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It supports various AI models, with free Grok access currently available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Includes LSP support, custom commands, and model switching</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https://www.youtube.com/watch?v=ipY_e9sldFM</a:t>
            </a:r>
            <a:r>
              <a:rPr lang="en" sz="1100">
                <a:latin typeface="Calibri"/>
                <a:ea typeface="Calibri"/>
                <a:cs typeface="Calibri"/>
                <a:sym typeface="Calibri"/>
              </a:rPr>
              <a:t> </a:t>
            </a:r>
            <a:endParaRPr sz="1100">
              <a:latin typeface="Calibri"/>
              <a:ea typeface="Calibri"/>
              <a:cs typeface="Calibri"/>
              <a:sym typeface="Calibri"/>
            </a:endParaRPr>
          </a:p>
        </p:txBody>
      </p:sp>
      <p:sp>
        <p:nvSpPr>
          <p:cNvPr id="229" name="Google Shape;229;p26"/>
          <p:cNvSpPr txBox="1"/>
          <p:nvPr/>
        </p:nvSpPr>
        <p:spPr>
          <a:xfrm>
            <a:off x="4613800" y="2448575"/>
            <a:ext cx="4450500" cy="2635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Perplexity "Browse Safe" feature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Open‑source detection model designed to protect AI browsing from prompt injection attacks that hide malicious instructions in web pages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Currently implemented only in Comet</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Prompt injection (e.g., instruction override, data exfiltration, misinformation injection). Attackers can manipulate an AI agent to ignore the user’s query, leak data, or return biased or false outputs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Browse Safe scans HTML in real time before the AI uses any content, flags suspicious patterns, and filters them so users only see trusted information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Perplexity also released BrowseSafe‑Bench, a large benchmark of real‑world attack scenarios, giving developers a standardized way to test and compare prompt‑injection defenses and integrate this layer of security into their own AI tools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https://www.perplexity.ai/hub/blog/building-safer-ai-browsers-with-browsesafe</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https://arxiv.org/pdf/2511.20597v1</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https://www.youtube.com/watch?v=AjQGuzYtWyE</a:t>
            </a:r>
            <a:r>
              <a:rPr lang="en" sz="900">
                <a:latin typeface="Calibri"/>
                <a:ea typeface="Calibri"/>
                <a:cs typeface="Calibri"/>
                <a:sym typeface="Calibri"/>
              </a:rPr>
              <a:t> </a:t>
            </a:r>
            <a:endParaRPr sz="900">
              <a:latin typeface="Calibri"/>
              <a:ea typeface="Calibri"/>
              <a:cs typeface="Calibri"/>
              <a:sym typeface="Calibri"/>
            </a:endParaRPr>
          </a:p>
        </p:txBody>
      </p:sp>
      <p:pic>
        <p:nvPicPr>
          <p:cNvPr id="230" name="Google Shape;230;p2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330900" y="218850"/>
            <a:ext cx="1733390" cy="2143774"/>
          </a:xfrm>
          <a:prstGeom prst="rect">
            <a:avLst/>
          </a:prstGeom>
          <a:noFill/>
          <a:ln w="9525" cap="flat" cmpd="sng">
            <a:solidFill>
              <a:srgbClr val="FF0000"/>
            </a:solidFill>
            <a:prstDash val="solid"/>
            <a:round/>
            <a:headEnd type="none" w="sm" len="sm"/>
            <a:tailEnd type="none" w="sm" len="sm"/>
          </a:ln>
        </p:spPr>
      </p:pic>
      <p:pic>
        <p:nvPicPr>
          <p:cNvPr id="231" name="Google Shape;231;p26"/>
          <p:cNvPicPr preferRelativeResize="0"/>
          <p:nvPr/>
        </p:nvPicPr>
        <p:blipFill>
          <a:blip r:embed="rId8">
            <a:alphaModFix/>
          </a:blip>
          <a:stretch>
            <a:fillRect/>
          </a:stretch>
        </p:blipFill>
        <p:spPr>
          <a:xfrm>
            <a:off x="4637125" y="571925"/>
            <a:ext cx="2562225" cy="1790700"/>
          </a:xfrm>
          <a:prstGeom prst="rect">
            <a:avLst/>
          </a:prstGeom>
          <a:noFill/>
          <a:ln w="9525" cap="flat" cmpd="sng">
            <a:solidFill>
              <a:srgbClr val="FF0000"/>
            </a:solidFill>
            <a:prstDash val="solid"/>
            <a:round/>
            <a:headEnd type="none" w="sm" len="sm"/>
            <a:tailEnd type="none" w="sm" len="sm"/>
          </a:ln>
        </p:spPr>
      </p:pic>
      <p:pic>
        <p:nvPicPr>
          <p:cNvPr id="232" name="Google Shape;232;p26"/>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152400" y="3125575"/>
            <a:ext cx="3363939" cy="18655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p:nvPr/>
        </p:nvSpPr>
        <p:spPr>
          <a:xfrm>
            <a:off x="55075" y="20375"/>
            <a:ext cx="321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9</a:t>
            </a:r>
            <a:endParaRPr sz="2000" b="1">
              <a:solidFill>
                <a:schemeClr val="dk1"/>
              </a:solidFill>
              <a:latin typeface="Calibri"/>
              <a:ea typeface="Calibri"/>
              <a:cs typeface="Calibri"/>
              <a:sym typeface="Calibri"/>
            </a:endParaRPr>
          </a:p>
        </p:txBody>
      </p:sp>
      <p:sp>
        <p:nvSpPr>
          <p:cNvPr id="238" name="Google Shape;238;p27"/>
          <p:cNvSpPr txBox="1"/>
          <p:nvPr/>
        </p:nvSpPr>
        <p:spPr>
          <a:xfrm>
            <a:off x="55075" y="415075"/>
            <a:ext cx="4450500" cy="271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Major updates to Amazon Bedrock AgentCore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Policy controls that set guardrails on agent actions </a:t>
            </a:r>
            <a:r>
              <a:rPr lang="en" sz="1100">
                <a:latin typeface="Calibri"/>
                <a:ea typeface="Calibri"/>
                <a:cs typeface="Calibri"/>
                <a:sym typeface="Calibri"/>
              </a:rPr>
              <a:t>using natural language, intercepting tool calls in milliseconds to verify permissions before execution using automated reasoning for mathematical verification.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AgentCore </a:t>
            </a:r>
            <a:r>
              <a:rPr lang="en" sz="1100" b="1">
                <a:solidFill>
                  <a:srgbClr val="FF0000"/>
                </a:solidFill>
                <a:latin typeface="Calibri"/>
                <a:ea typeface="Calibri"/>
                <a:cs typeface="Calibri"/>
                <a:sym typeface="Calibri"/>
              </a:rPr>
              <a:t>Evaluations provides 13 built-in metrics </a:t>
            </a:r>
            <a:r>
              <a:rPr lang="en" sz="1100">
                <a:latin typeface="Calibri"/>
                <a:ea typeface="Calibri"/>
                <a:cs typeface="Calibri"/>
                <a:sym typeface="Calibri"/>
              </a:rPr>
              <a:t>(correctness, helpfulness, safety, etc.) plus custom evaluators to continuously monitor agent quality in production.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Enhanced episodic memory </a:t>
            </a:r>
            <a:r>
              <a:rPr lang="en" sz="1100" b="1">
                <a:solidFill>
                  <a:srgbClr val="3C78D8"/>
                </a:solidFill>
                <a:latin typeface="Calibri"/>
                <a:ea typeface="Calibri"/>
                <a:cs typeface="Calibri"/>
                <a:sym typeface="Calibri"/>
              </a:rPr>
              <a:t>allows agents to learn from successes and failures</a:t>
            </a:r>
            <a:r>
              <a:rPr lang="en" sz="1100">
                <a:latin typeface="Calibri"/>
                <a:ea typeface="Calibri"/>
                <a:cs typeface="Calibri"/>
                <a:sym typeface="Calibri"/>
              </a:rPr>
              <a:t> across all interactions, recognizing patterns to improve future performance.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These capabilities are built as first-class citizens into the execution path rather than afterthoughts, enabling production-grade enterprise deployment with automated evaluation, policy enforcement, and learning</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3"/>
              </a:rPr>
              <a:t>https://www.youtube.com/watch?v=hci2xuWeEQ8</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https://aws.amazon.com/about-aws/whats-new/2025/12/amazon-bedrock-agentcore-policy-evaluations-preview/</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5"/>
              </a:rPr>
              <a:t>https://techcrunch.com/2025/12/02/aws-announces-new-capabilities-for-its-ai-agent-builder/</a:t>
            </a:r>
            <a:r>
              <a:rPr lang="en" sz="800">
                <a:latin typeface="Calibri"/>
                <a:ea typeface="Calibri"/>
                <a:cs typeface="Calibri"/>
                <a:sym typeface="Calibri"/>
              </a:rPr>
              <a:t> </a:t>
            </a:r>
            <a:endParaRPr sz="800">
              <a:latin typeface="Calibri"/>
              <a:ea typeface="Calibri"/>
              <a:cs typeface="Calibri"/>
              <a:sym typeface="Calibri"/>
            </a:endParaRPr>
          </a:p>
        </p:txBody>
      </p:sp>
      <p:sp>
        <p:nvSpPr>
          <p:cNvPr id="239" name="Google Shape;239;p27"/>
          <p:cNvSpPr txBox="1"/>
          <p:nvPr/>
        </p:nvSpPr>
        <p:spPr>
          <a:xfrm>
            <a:off x="4613775" y="2161240"/>
            <a:ext cx="4450500" cy="280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Manus Browser Operator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It is an AI agent that autonomously controls your browser to complete multi-step tasks like research, form filling, and job applications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It works within your existing Chrome or Edge browser using your saved logins and local IP address, avoiding security issues that plague cloud-based tools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Examples of usage: extracting data from premium sites like Crunchbase in 8 minutes versus 4 hours manually, managing social media posts and LinkedIn messages, and automating 10 job applications in under 30 minutes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Installation takes three steps: install the extension, enable browser access in Manus, and grant permission when prompted</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tool operates locally for security, asks authorization before accessing your browser, and uses existing sessions without storing credentials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https://www.youtube.com/watch?v=7nWVpcCQtfU</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https://manus.im/features/manus-browser-operator</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https://manus.im/blog/manus-browser-operator</a:t>
            </a:r>
            <a:r>
              <a:rPr lang="en" sz="900">
                <a:latin typeface="Calibri"/>
                <a:ea typeface="Calibri"/>
                <a:cs typeface="Calibri"/>
                <a:sym typeface="Calibri"/>
              </a:rPr>
              <a:t> </a:t>
            </a:r>
            <a:endParaRPr sz="9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8"/>
          <p:cNvSpPr txBox="1"/>
          <p:nvPr/>
        </p:nvSpPr>
        <p:spPr>
          <a:xfrm>
            <a:off x="55075" y="20375"/>
            <a:ext cx="321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10</a:t>
            </a:r>
            <a:endParaRPr sz="2000" b="1">
              <a:solidFill>
                <a:schemeClr val="dk1"/>
              </a:solidFill>
              <a:latin typeface="Calibri"/>
              <a:ea typeface="Calibri"/>
              <a:cs typeface="Calibri"/>
              <a:sym typeface="Calibri"/>
            </a:endParaRPr>
          </a:p>
        </p:txBody>
      </p:sp>
      <p:sp>
        <p:nvSpPr>
          <p:cNvPr id="245" name="Google Shape;245;p28"/>
          <p:cNvSpPr txBox="1"/>
          <p:nvPr/>
        </p:nvSpPr>
        <p:spPr>
          <a:xfrm>
            <a:off x="55075" y="415075"/>
            <a:ext cx="4450500" cy="326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100" b="1">
                <a:solidFill>
                  <a:srgbClr val="FF0000"/>
                </a:solidFill>
                <a:latin typeface="Calibri"/>
                <a:ea typeface="Calibri"/>
                <a:cs typeface="Calibri"/>
                <a:sym typeface="Calibri"/>
              </a:rPr>
              <a:t>Warren Buffett buys $4.3-$4.9 billion of Alhpabet (Google) Stock</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Berkshire Hathaway purchased Alphabet (Google's parent company) stock for the first time in Q3 2024, acquiring 17.9 million shares worth approximately $4.3-$4.9 billion. This was revealed in a regulatory filing on November 14, 2024, and represented Berkshire's only new stock purchase that quarter</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The investment is particularly notable because it marks Buffett's first-ever position in Google despite the company's 25+ year history, and comes after he previously expressed regret about missing the opportunity to invest in Google earlier. Alphabet became Berkshire's 10th largest equity holding, representing about 1.4% of their total equity portfolio</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The timing of the purchase coincides with Google's AI momentum, including Gemini 3.0's strong performance, Google Cloud's 34% year-over-year growth, and the company's Tensor Processing Unit (TPU) development. Alphabet was trading at a relatively attractive P/E ratio of around 27-30x compared to other "Magnificent Seven" tech stocks averaging 35-37x</a:t>
            </a:r>
            <a:endParaRPr sz="1100">
              <a:latin typeface="Calibri"/>
              <a:ea typeface="Calibri"/>
              <a:cs typeface="Calibri"/>
              <a:sym typeface="Calibri"/>
            </a:endParaRPr>
          </a:p>
          <a:p>
            <a:pPr marL="171450" marR="0" lvl="0" indent="-88900" algn="l" rtl="0">
              <a:lnSpc>
                <a:spcPct val="100000"/>
              </a:lnSpc>
              <a:spcBef>
                <a:spcPts val="0"/>
              </a:spcBef>
              <a:spcAft>
                <a:spcPts val="0"/>
              </a:spcAft>
              <a:buClr>
                <a:schemeClr val="dk1"/>
              </a:buClr>
              <a:buSzPts val="500"/>
              <a:buFont typeface="Calibri"/>
              <a:buChar char="●"/>
            </a:pPr>
            <a:r>
              <a:rPr lang="en" sz="800" u="sng">
                <a:solidFill>
                  <a:schemeClr val="hlink"/>
                </a:solidFill>
                <a:latin typeface="Calibri"/>
                <a:ea typeface="Calibri"/>
                <a:cs typeface="Calibri"/>
                <a:sym typeface="Calibri"/>
                <a:hlinkClick r:id="rId3"/>
              </a:rPr>
              <a:t>https://www.nasdaq.com/articles/undiscussed-reason-buffett-just-bought-alphabet-google-stock</a:t>
            </a:r>
            <a:r>
              <a:rPr lang="en" sz="800">
                <a:latin typeface="Calibri"/>
                <a:ea typeface="Calibri"/>
                <a:cs typeface="Calibri"/>
                <a:sym typeface="Calibri"/>
              </a:rPr>
              <a:t> </a:t>
            </a:r>
            <a:endParaRPr sz="800">
              <a:latin typeface="Calibri"/>
              <a:ea typeface="Calibri"/>
              <a:cs typeface="Calibri"/>
              <a:sym typeface="Calibri"/>
            </a:endParaRPr>
          </a:p>
          <a:p>
            <a:pPr marL="171450" marR="0" lvl="0" indent="-88900" algn="l" rtl="0">
              <a:lnSpc>
                <a:spcPct val="100000"/>
              </a:lnSpc>
              <a:spcBef>
                <a:spcPts val="0"/>
              </a:spcBef>
              <a:spcAft>
                <a:spcPts val="0"/>
              </a:spcAft>
              <a:buClr>
                <a:schemeClr val="dk1"/>
              </a:buClr>
              <a:buSzPts val="500"/>
              <a:buFont typeface="Calibri"/>
              <a:buChar char="●"/>
            </a:pPr>
            <a:r>
              <a:rPr lang="en" sz="800" u="sng">
                <a:solidFill>
                  <a:schemeClr val="hlink"/>
                </a:solidFill>
                <a:latin typeface="Calibri"/>
                <a:ea typeface="Calibri"/>
                <a:cs typeface="Calibri"/>
                <a:sym typeface="Calibri"/>
                <a:hlinkClick r:id="rId4"/>
              </a:rPr>
              <a:t>https://www.bloomberg.com/news/articles/2025-11-14/buffett-acquires-4-9-billion-stake-in-google-parent-alphabet</a:t>
            </a:r>
            <a:r>
              <a:rPr lang="en" sz="800">
                <a:latin typeface="Calibri"/>
                <a:ea typeface="Calibri"/>
                <a:cs typeface="Calibri"/>
                <a:sym typeface="Calibri"/>
              </a:rPr>
              <a:t> </a:t>
            </a:r>
            <a:endParaRPr sz="800">
              <a:latin typeface="Calibri"/>
              <a:ea typeface="Calibri"/>
              <a:cs typeface="Calibri"/>
              <a:sym typeface="Calibri"/>
            </a:endParaRPr>
          </a:p>
        </p:txBody>
      </p:sp>
      <p:pic>
        <p:nvPicPr>
          <p:cNvPr id="246" name="Google Shape;246;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565700" y="161375"/>
            <a:ext cx="1535000" cy="1916850"/>
          </a:xfrm>
          <a:prstGeom prst="rect">
            <a:avLst/>
          </a:prstGeom>
          <a:noFill/>
          <a:ln w="9525" cap="flat" cmpd="sng">
            <a:solidFill>
              <a:srgbClr val="FF0000"/>
            </a:solidFill>
            <a:prstDash val="solid"/>
            <a:round/>
            <a:headEnd type="none" w="sm" len="sm"/>
            <a:tailEnd type="none" w="sm" len="sm"/>
          </a:ln>
        </p:spPr>
      </p:pic>
      <p:sp>
        <p:nvSpPr>
          <p:cNvPr id="247" name="Google Shape;247;p28"/>
          <p:cNvSpPr txBox="1"/>
          <p:nvPr/>
        </p:nvSpPr>
        <p:spPr>
          <a:xfrm>
            <a:off x="4605284" y="2870445"/>
            <a:ext cx="44505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100" b="1">
                <a:solidFill>
                  <a:srgbClr val="FF0000"/>
                </a:solidFill>
                <a:latin typeface="Calibri"/>
                <a:ea typeface="Calibri"/>
                <a:cs typeface="Calibri"/>
                <a:sym typeface="Calibri"/>
              </a:rPr>
              <a:t>Lemon AI - Open-Source Market Research Agent</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Use text prompt to invoke the research and get the report</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The agent systematically scans market databases, analyzes thousands of data points, screens stocks or companies based on specified criteria, identifies patterns, and filters out noise automatically</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Results are delivered as formatted HTML reports with charts, tables, summaries, and actionable insights organized in clear sections</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latin typeface="Calibri"/>
                <a:ea typeface="Calibri"/>
                <a:cs typeface="Calibri"/>
                <a:sym typeface="Calibri"/>
              </a:rPr>
              <a:t>The tool enables rapid iteration, allowing users to experiment with different search criteria and explore markets quickly, making it valuable for investors, entrepreneurs, agencies, and researchers who need consistent, thorough market analysis</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u="sng">
                <a:solidFill>
                  <a:schemeClr val="hlink"/>
                </a:solidFill>
                <a:latin typeface="Calibri"/>
                <a:ea typeface="Calibri"/>
                <a:cs typeface="Calibri"/>
                <a:sym typeface="Calibri"/>
                <a:hlinkClick r:id="rId6"/>
              </a:rPr>
              <a:t>https://www.youtube.com/watch?v=re7JzcU-6N8</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u="sng">
                <a:solidFill>
                  <a:schemeClr val="hlink"/>
                </a:solidFill>
                <a:latin typeface="Calibri"/>
                <a:ea typeface="Calibri"/>
                <a:cs typeface="Calibri"/>
                <a:sym typeface="Calibri"/>
                <a:hlinkClick r:id="rId7"/>
              </a:rPr>
              <a:t>https://lemonai.ai</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48" name="Google Shape;248;p2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2284749" y="3765075"/>
            <a:ext cx="2220825" cy="13170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9"/>
          <p:cNvSpPr txBox="1"/>
          <p:nvPr/>
        </p:nvSpPr>
        <p:spPr>
          <a:xfrm>
            <a:off x="55075" y="20375"/>
            <a:ext cx="450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Abacus.ai</a:t>
            </a:r>
            <a:r>
              <a:rPr lang="en" sz="2000" b="1">
                <a:solidFill>
                  <a:schemeClr val="dk1"/>
                </a:solidFill>
                <a:latin typeface="Calibri"/>
                <a:ea typeface="Calibri"/>
                <a:cs typeface="Calibri"/>
                <a:sym typeface="Calibri"/>
              </a:rPr>
              <a:t> Financial Research</a:t>
            </a:r>
            <a:endParaRPr sz="2000" b="1">
              <a:solidFill>
                <a:schemeClr val="dk1"/>
              </a:solidFill>
              <a:latin typeface="Calibri"/>
              <a:ea typeface="Calibri"/>
              <a:cs typeface="Calibri"/>
              <a:sym typeface="Calibri"/>
            </a:endParaRPr>
          </a:p>
        </p:txBody>
      </p:sp>
      <p:sp>
        <p:nvSpPr>
          <p:cNvPr id="254" name="Google Shape;254;p29"/>
          <p:cNvSpPr txBox="1"/>
          <p:nvPr/>
        </p:nvSpPr>
        <p:spPr>
          <a:xfrm>
            <a:off x="55075" y="415075"/>
            <a:ext cx="36024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DeepAgent by Abacus.ai - a finance-focused AI system</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Seven integrated workflows that function like a complete analyst team:</a:t>
            </a:r>
            <a:br>
              <a:rPr lang="en" sz="1100">
                <a:latin typeface="Calibri"/>
                <a:ea typeface="Calibri"/>
                <a:cs typeface="Calibri"/>
                <a:sym typeface="Calibri"/>
              </a:rPr>
            </a:br>
            <a:r>
              <a:rPr lang="en" sz="1100">
                <a:latin typeface="Calibri"/>
                <a:ea typeface="Calibri"/>
                <a:cs typeface="Calibri"/>
                <a:sym typeface="Calibri"/>
              </a:rPr>
              <a:t>1. crypto analysis</a:t>
            </a:r>
            <a:br>
              <a:rPr lang="en" sz="1100">
                <a:latin typeface="Calibri"/>
                <a:ea typeface="Calibri"/>
                <a:cs typeface="Calibri"/>
                <a:sym typeface="Calibri"/>
              </a:rPr>
            </a:br>
            <a:r>
              <a:rPr lang="en" sz="1100">
                <a:latin typeface="Calibri"/>
                <a:ea typeface="Calibri"/>
                <a:cs typeface="Calibri"/>
                <a:sym typeface="Calibri"/>
              </a:rPr>
              <a:t>2. intelligent stock screening (fundamentals &amp; technicals)</a:t>
            </a:r>
            <a:br>
              <a:rPr lang="en" sz="1100">
                <a:latin typeface="Calibri"/>
                <a:ea typeface="Calibri"/>
                <a:cs typeface="Calibri"/>
                <a:sym typeface="Calibri"/>
              </a:rPr>
            </a:br>
            <a:r>
              <a:rPr lang="en" sz="1100">
                <a:latin typeface="Calibri"/>
                <a:ea typeface="Calibri"/>
                <a:cs typeface="Calibri"/>
                <a:sym typeface="Calibri"/>
              </a:rPr>
              <a:t>3. macro market research</a:t>
            </a:r>
            <a:br>
              <a:rPr lang="en" sz="1100">
                <a:latin typeface="Calibri"/>
                <a:ea typeface="Calibri"/>
                <a:cs typeface="Calibri"/>
                <a:sym typeface="Calibri"/>
              </a:rPr>
            </a:br>
            <a:r>
              <a:rPr lang="en" sz="1100">
                <a:latin typeface="Calibri"/>
                <a:ea typeface="Calibri"/>
                <a:cs typeface="Calibri"/>
                <a:sym typeface="Calibri"/>
              </a:rPr>
              <a:t>4. near-term investment forecasting</a:t>
            </a:r>
            <a:br>
              <a:rPr lang="en" sz="1100">
                <a:latin typeface="Calibri"/>
                <a:ea typeface="Calibri"/>
                <a:cs typeface="Calibri"/>
                <a:sym typeface="Calibri"/>
              </a:rPr>
            </a:br>
            <a:r>
              <a:rPr lang="en" sz="1100">
                <a:latin typeface="Calibri"/>
                <a:ea typeface="Calibri"/>
                <a:cs typeface="Calibri"/>
                <a:sym typeface="Calibri"/>
              </a:rPr>
              <a:t>5. options strategy construction</a:t>
            </a:r>
            <a:br>
              <a:rPr lang="en" sz="1100">
                <a:latin typeface="Calibri"/>
                <a:ea typeface="Calibri"/>
                <a:cs typeface="Calibri"/>
                <a:sym typeface="Calibri"/>
              </a:rPr>
            </a:br>
            <a:r>
              <a:rPr lang="en" sz="1100">
                <a:latin typeface="Calibri"/>
                <a:ea typeface="Calibri"/>
                <a:cs typeface="Calibri"/>
                <a:sym typeface="Calibri"/>
              </a:rPr>
              <a:t>6. portfolio risk monitoring</a:t>
            </a:r>
            <a:br>
              <a:rPr lang="en" sz="1100">
                <a:latin typeface="Calibri"/>
                <a:ea typeface="Calibri"/>
                <a:cs typeface="Calibri"/>
                <a:sym typeface="Calibri"/>
              </a:rPr>
            </a:br>
            <a:r>
              <a:rPr lang="en" sz="1100">
                <a:latin typeface="Calibri"/>
                <a:ea typeface="Calibri"/>
                <a:cs typeface="Calibri"/>
                <a:sym typeface="Calibri"/>
              </a:rPr>
              <a:t>7. 90-day individual stock outlooks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Users describe what they need, the agent asks clarifying questions about risk tolerance and time horizon, then builds transparent research reports showing its complete reasoning chain with data sources from CNBC and </a:t>
            </a:r>
            <a:r>
              <a:rPr lang="en" sz="1100" u="sng">
                <a:solidFill>
                  <a:schemeClr val="hlink"/>
                </a:solidFill>
                <a:latin typeface="Calibri"/>
                <a:ea typeface="Calibri"/>
                <a:cs typeface="Calibri"/>
                <a:sym typeface="Calibri"/>
                <a:hlinkClick r:id="rId4"/>
              </a:rPr>
              <a:t>Investing.com</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Reports include valuation metrics, financial history, risk analysis, and can be exported as editable HTML. The system represents a shift toward autonomous decision engines accessible to individual investors, mirroring AI-driven research tools major firms like Bloomberg, BlackRock, and JP Morgan already deploy internally</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https://www.youtube.com/watch?v=hzAAzUyILNU</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https://deepagent.abacus.ai</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55" name="Google Shape;255;p2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743215" y="1416820"/>
            <a:ext cx="5332224" cy="2910850"/>
          </a:xfrm>
          <a:prstGeom prst="rect">
            <a:avLst/>
          </a:prstGeom>
          <a:noFill/>
          <a:ln w="9525" cap="flat" cmpd="sng">
            <a:solidFill>
              <a:srgbClr val="FF0000"/>
            </a:solidFill>
            <a:prstDash val="solid"/>
            <a:round/>
            <a:headEnd type="none" w="sm" len="sm"/>
            <a:tailEnd type="none" w="sm" len="sm"/>
          </a:ln>
        </p:spPr>
      </p:pic>
      <p:pic>
        <p:nvPicPr>
          <p:cNvPr id="256" name="Google Shape;256;p29"/>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3902757" y="415075"/>
            <a:ext cx="1903717" cy="346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0"/>
          <p:cNvSpPr txBox="1"/>
          <p:nvPr/>
        </p:nvSpPr>
        <p:spPr>
          <a:xfrm>
            <a:off x="55075" y="20375"/>
            <a:ext cx="4450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trading competition</a:t>
            </a:r>
            <a:endParaRPr sz="2000" b="1">
              <a:solidFill>
                <a:schemeClr val="dk1"/>
              </a:solidFill>
              <a:latin typeface="Calibri"/>
              <a:ea typeface="Calibri"/>
              <a:cs typeface="Calibri"/>
              <a:sym typeface="Calibri"/>
            </a:endParaRPr>
          </a:p>
        </p:txBody>
      </p:sp>
      <p:sp>
        <p:nvSpPr>
          <p:cNvPr id="262" name="Google Shape;262;p30"/>
          <p:cNvSpPr txBox="1"/>
          <p:nvPr/>
        </p:nvSpPr>
        <p:spPr>
          <a:xfrm>
            <a:off x="55075" y="415075"/>
            <a:ext cx="4450500" cy="374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Alpha Arena's Season 1.5 AI trading competition just concluded</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LLMs traded $320,000 in real capital across U.S. stocks like Tesla, Nvidia, and Microsoft</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 mystery model won with a 12% return using an approach called </a:t>
            </a:r>
            <a:r>
              <a:rPr lang="en" sz="1100" b="1">
                <a:solidFill>
                  <a:srgbClr val="FF0000"/>
                </a:solidFill>
                <a:latin typeface="Calibri"/>
                <a:ea typeface="Calibri"/>
                <a:cs typeface="Calibri"/>
                <a:sym typeface="Calibri"/>
              </a:rPr>
              <a:t>ProFiT (Program Search for Financial Trading)</a:t>
            </a:r>
            <a:r>
              <a:rPr lang="en" sz="1100">
                <a:latin typeface="Calibri"/>
                <a:ea typeface="Calibri"/>
                <a:cs typeface="Calibri"/>
                <a:sym typeface="Calibri"/>
              </a:rPr>
              <a:t>, which employs </a:t>
            </a:r>
            <a:r>
              <a:rPr lang="en" sz="1100" b="1">
                <a:solidFill>
                  <a:srgbClr val="3C78D8"/>
                </a:solidFill>
                <a:latin typeface="Calibri"/>
                <a:ea typeface="Calibri"/>
                <a:cs typeface="Calibri"/>
                <a:sym typeface="Calibri"/>
              </a:rPr>
              <a:t>evolutionary search similar to Google DeepMind's AlphaEvolve and Sakana AI's Darwin Girdle Machine</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system uses LLMs to write and iteratively improve </a:t>
            </a:r>
            <a:r>
              <a:rPr lang="en" sz="1100" b="1">
                <a:solidFill>
                  <a:srgbClr val="3C78D8"/>
                </a:solidFill>
                <a:latin typeface="Calibri"/>
                <a:ea typeface="Calibri"/>
                <a:cs typeface="Calibri"/>
                <a:sym typeface="Calibri"/>
              </a:rPr>
              <a:t>Python trading strategy code</a:t>
            </a:r>
            <a:r>
              <a:rPr lang="en" sz="1100">
                <a:latin typeface="Calibri"/>
                <a:ea typeface="Calibri"/>
                <a:cs typeface="Calibri"/>
                <a:sym typeface="Calibri"/>
              </a:rPr>
              <a:t> through feedback loops, testing against historical data and self-analysis.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ProFiT outperformed buy-and-hold strategies in over 77% of experiments.</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company behind it, </a:t>
            </a:r>
            <a:r>
              <a:rPr lang="en" sz="1100" b="1">
                <a:solidFill>
                  <a:srgbClr val="FF0000"/>
                </a:solidFill>
                <a:latin typeface="Calibri"/>
                <a:ea typeface="Calibri"/>
                <a:cs typeface="Calibri"/>
                <a:sym typeface="Calibri"/>
              </a:rPr>
              <a:t>N of One</a:t>
            </a:r>
            <a:r>
              <a:rPr lang="en" sz="1100">
                <a:latin typeface="Calibri"/>
                <a:ea typeface="Calibri"/>
                <a:cs typeface="Calibri"/>
                <a:sym typeface="Calibri"/>
              </a:rPr>
              <a:t>, includes NYU professor Julian Togelius as head of AI.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While most competing models lost money, DeepSeek and Gemini performed well in "monk mode" (capital preservation), and the mystery model dominated when given situational awareness of competitors.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approach represents recursive self-improvement where models bootstrap their trading abilities, though real-world profitability remains to be proven over longer timeframes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https://nof1.ai/</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https://www.youtube.com/watch?v=EWAUutf9xKQ</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63" name="Google Shape;263;p3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24450" y="85950"/>
            <a:ext cx="4333626" cy="305501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1"/>
          <p:cNvSpPr txBox="1"/>
          <p:nvPr/>
        </p:nvSpPr>
        <p:spPr>
          <a:xfrm>
            <a:off x="55075" y="20375"/>
            <a:ext cx="3961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Use AI to Generate Documentation</a:t>
            </a:r>
            <a:endParaRPr sz="2000" b="1">
              <a:solidFill>
                <a:schemeClr val="dk1"/>
              </a:solidFill>
              <a:latin typeface="Calibri"/>
              <a:ea typeface="Calibri"/>
              <a:cs typeface="Calibri"/>
              <a:sym typeface="Calibri"/>
            </a:endParaRPr>
          </a:p>
        </p:txBody>
      </p:sp>
      <p:sp>
        <p:nvSpPr>
          <p:cNvPr id="269" name="Google Shape;269;p31"/>
          <p:cNvSpPr txBox="1"/>
          <p:nvPr/>
        </p:nvSpPr>
        <p:spPr>
          <a:xfrm>
            <a:off x="55075" y="350300"/>
            <a:ext cx="49170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For contract software delivery, you'll need 2 types of docs:</a:t>
            </a:r>
            <a:br>
              <a:rPr lang="en" sz="1100">
                <a:latin typeface="Calibri"/>
                <a:ea typeface="Calibri"/>
                <a:cs typeface="Calibri"/>
                <a:sym typeface="Calibri"/>
              </a:rPr>
            </a:br>
            <a:r>
              <a:rPr lang="en" sz="1100">
                <a:latin typeface="Calibri"/>
                <a:ea typeface="Calibri"/>
                <a:cs typeface="Calibri"/>
                <a:sym typeface="Calibri"/>
              </a:rPr>
              <a:t>    1. high-level delivery docs (README, user guides, deployment guides)</a:t>
            </a:r>
            <a:br>
              <a:rPr lang="en" sz="1100">
                <a:latin typeface="Calibri"/>
                <a:ea typeface="Calibri"/>
                <a:cs typeface="Calibri"/>
                <a:sym typeface="Calibri"/>
              </a:rPr>
            </a:br>
            <a:r>
              <a:rPr lang="en" sz="1100">
                <a:latin typeface="Calibri"/>
                <a:ea typeface="Calibri"/>
                <a:cs typeface="Calibri"/>
                <a:sym typeface="Calibri"/>
              </a:rPr>
              <a:t>    2. detailed technical docs (API refs, architecture docs, inline code docs)</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Recommended Workflow:</a:t>
            </a:r>
            <a:endParaRPr sz="1100" b="1">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 AI to generate doc templates and structure from your codebase</a:t>
            </a:r>
            <a:endParaRPr sz="1100">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Maintain docs alongside your project code in version control</a:t>
            </a:r>
            <a:endParaRPr sz="1100">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Automate updates when code changes</a:t>
            </a:r>
            <a:endParaRPr sz="1100">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Review and refine AI-generated content before client delivery</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For High-Level Delivery Docs:</a:t>
            </a:r>
            <a:endParaRPr sz="1100" b="1">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Generate README files with project overview, setup instructions, and usage examples using AI or tools like DocuWriter</a:t>
            </a:r>
            <a:endParaRPr sz="1100">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Create user guides and deployment docs using Scribe, which captures workflows and generates step-by-step guides with screenshots</a:t>
            </a:r>
            <a:endParaRPr sz="1100">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Generate architecture overviews and system design docs using AI assistants</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For Technical Docs:</a:t>
            </a:r>
            <a:endParaRPr sz="1100" b="1">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Generate API docs from OpenAPI/Swagger specs ( use Apidog, Mintlify, ... )</a:t>
            </a:r>
            <a:endParaRPr sz="1100">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Create inline code docs / comments using AI</a:t>
            </a:r>
            <a:endParaRPr sz="1100">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Generate database schema docs and technical specs using AI</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 Cline (or other code assistants) to generate docs. </a:t>
            </a:r>
            <a:br>
              <a:rPr lang="en" sz="1100">
                <a:latin typeface="Calibri"/>
                <a:ea typeface="Calibri"/>
                <a:cs typeface="Calibri"/>
                <a:sym typeface="Calibri"/>
              </a:rPr>
            </a:br>
            <a:r>
              <a:rPr lang="en" sz="1100">
                <a:latin typeface="Calibri"/>
                <a:ea typeface="Calibri"/>
                <a:cs typeface="Calibri"/>
                <a:sym typeface="Calibri"/>
              </a:rPr>
              <a:t>Use ".clinerules" to define documentation standards and guidelines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Prompt example: "</a:t>
            </a:r>
            <a:r>
              <a:rPr lang="en" sz="1100">
                <a:solidFill>
                  <a:srgbClr val="CC0000"/>
                </a:solidFill>
                <a:latin typeface="Calibri"/>
                <a:ea typeface="Calibri"/>
                <a:cs typeface="Calibri"/>
                <a:sym typeface="Calibri"/>
              </a:rPr>
              <a:t>Create a comprehensive README.md with installation, configuration, and usage sections based on the codebase</a:t>
            </a:r>
            <a:r>
              <a:rPr lang="en" sz="1100">
                <a:latin typeface="Calibri"/>
                <a:ea typeface="Calibri"/>
                <a:cs typeface="Calibri"/>
                <a:sym typeface="Calibri"/>
              </a:rPr>
              <a:t>"</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You can ask it to generate API docs, technical design docs, or deployment guides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AI can efficiently generate docs (text and diagrams) as Markdown (.md) files. </a:t>
            </a:r>
            <a:br>
              <a:rPr lang="en" sz="1100">
                <a:latin typeface="Calibri"/>
                <a:ea typeface="Calibri"/>
                <a:cs typeface="Calibri"/>
                <a:sym typeface="Calibri"/>
              </a:rPr>
            </a:br>
            <a:r>
              <a:rPr lang="en" sz="1100">
                <a:latin typeface="Calibri"/>
                <a:ea typeface="Calibri"/>
                <a:cs typeface="Calibri"/>
                <a:sym typeface="Calibri"/>
              </a:rPr>
              <a:t>Then convert .md into .pdf , for example "</a:t>
            </a:r>
            <a:r>
              <a:rPr lang="en" sz="1100" b="1">
                <a:solidFill>
                  <a:srgbClr val="3C78D8"/>
                </a:solidFill>
                <a:latin typeface="Calibri"/>
                <a:ea typeface="Calibri"/>
                <a:cs typeface="Calibri"/>
                <a:sym typeface="Calibri"/>
              </a:rPr>
              <a:t>pandoc input.md -o output.pdf"</a:t>
            </a:r>
            <a:r>
              <a:rPr lang="en" sz="1100">
                <a:latin typeface="Calibri"/>
                <a:ea typeface="Calibri"/>
                <a:cs typeface="Calibri"/>
                <a:sym typeface="Calibri"/>
              </a:rPr>
              <a:t>, VSCode, online tools and desktop apps</a:t>
            </a:r>
            <a:endParaRPr sz="1100">
              <a:latin typeface="Calibri"/>
              <a:ea typeface="Calibri"/>
              <a:cs typeface="Calibri"/>
              <a:sym typeface="Calibri"/>
            </a:endParaRPr>
          </a:p>
        </p:txBody>
      </p:sp>
      <p:pic>
        <p:nvPicPr>
          <p:cNvPr id="270" name="Google Shape;270;p3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106600" y="1611625"/>
            <a:ext cx="3961201" cy="21624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2"/>
          <p:cNvSpPr txBox="1"/>
          <p:nvPr/>
        </p:nvSpPr>
        <p:spPr>
          <a:xfrm>
            <a:off x="55075" y="20375"/>
            <a:ext cx="3961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Meta Data Warehouse Agents</a:t>
            </a:r>
            <a:endParaRPr sz="2000" b="1">
              <a:solidFill>
                <a:schemeClr val="dk1"/>
              </a:solidFill>
              <a:latin typeface="Calibri"/>
              <a:ea typeface="Calibri"/>
              <a:cs typeface="Calibri"/>
              <a:sym typeface="Calibri"/>
            </a:endParaRPr>
          </a:p>
        </p:txBody>
      </p:sp>
      <p:sp>
        <p:nvSpPr>
          <p:cNvPr id="276" name="Google Shape;276;p32"/>
          <p:cNvSpPr txBox="1"/>
          <p:nvPr/>
        </p:nvSpPr>
        <p:spPr>
          <a:xfrm>
            <a:off x="94951" y="416750"/>
            <a:ext cx="43707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Meta Data Warehouse Agents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Meta redesigned its massive data warehouse to handle AI-driven access requests using autonomous AI agents instead of manual approval processes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 The system addresses three core problems:</a:t>
            </a:r>
            <a:endParaRPr sz="1100">
              <a:latin typeface="Calibri"/>
              <a:ea typeface="Calibri"/>
              <a:cs typeface="Calibri"/>
              <a:sym typeface="Calibri"/>
            </a:endParaRPr>
          </a:p>
          <a:p>
            <a:pPr marL="6858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complexity of interconnected data relationships, </a:t>
            </a:r>
            <a:endParaRPr sz="1100">
              <a:latin typeface="Calibri"/>
              <a:ea typeface="Calibri"/>
              <a:cs typeface="Calibri"/>
              <a:sym typeface="Calibri"/>
            </a:endParaRPr>
          </a:p>
          <a:p>
            <a:pPr marL="6858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slow multi-approval workflows</a:t>
            </a:r>
            <a:endParaRPr sz="1100">
              <a:latin typeface="Calibri"/>
              <a:ea typeface="Calibri"/>
              <a:cs typeface="Calibri"/>
              <a:sym typeface="Calibri"/>
            </a:endParaRPr>
          </a:p>
          <a:p>
            <a:pPr marL="6858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AI models requiring cross-domain data access that traditional role-based systems couldn't support efficiently.</a:t>
            </a:r>
            <a:br>
              <a:rPr lang="en" sz="1100">
                <a:latin typeface="Calibri"/>
                <a:ea typeface="Calibri"/>
                <a:cs typeface="Calibri"/>
                <a:sym typeface="Calibri"/>
              </a:rPr>
            </a:b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Two-Agent Architecture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Data-user agents</a:t>
            </a:r>
            <a:r>
              <a:rPr lang="en" sz="1100">
                <a:latin typeface="Calibri"/>
                <a:ea typeface="Calibri"/>
                <a:cs typeface="Calibri"/>
                <a:sym typeface="Calibri"/>
              </a:rPr>
              <a:t> - three specialized sub-agents coordinated by a triage layer</a:t>
            </a:r>
            <a:endParaRPr sz="1100">
              <a:latin typeface="Calibri"/>
              <a:ea typeface="Calibri"/>
              <a:cs typeface="Calibri"/>
              <a:sym typeface="Calibri"/>
            </a:endParaRPr>
          </a:p>
          <a:p>
            <a:pPr marL="4572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alternative-suggestion sub-agent recommends safer data alternatives using LLMs to synthesize informal "tribal knowledge." </a:t>
            </a:r>
            <a:endParaRPr sz="1100">
              <a:latin typeface="Calibri"/>
              <a:ea typeface="Calibri"/>
              <a:cs typeface="Calibri"/>
              <a:sym typeface="Calibri"/>
            </a:endParaRPr>
          </a:p>
          <a:p>
            <a:pPr marL="4572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low-risk exploration sub-agent grants temporary access to small data samples for safe exploration. </a:t>
            </a:r>
            <a:endParaRPr sz="1100">
              <a:latin typeface="Calibri"/>
              <a:ea typeface="Calibri"/>
              <a:cs typeface="Calibri"/>
              <a:sym typeface="Calibri"/>
            </a:endParaRPr>
          </a:p>
          <a:p>
            <a:pPr marL="4572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access-negotiation sub-agent prepares formal permission requests to data-owner agents.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Data-owner agents </a:t>
            </a:r>
            <a:r>
              <a:rPr lang="en" sz="1100">
                <a:latin typeface="Calibri"/>
                <a:ea typeface="Calibri"/>
                <a:cs typeface="Calibri"/>
                <a:sym typeface="Calibri"/>
              </a:rPr>
              <a:t>- handle security and policy enforcement. </a:t>
            </a:r>
            <a:endParaRPr sz="1100">
              <a:latin typeface="Calibri"/>
              <a:ea typeface="Calibri"/>
              <a:cs typeface="Calibri"/>
              <a:sym typeface="Calibri"/>
            </a:endParaRPr>
          </a:p>
          <a:p>
            <a:pPr marL="4572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security-operations sub-agent applies Standard Operating Procedures to evaluate requests. </a:t>
            </a:r>
            <a:endParaRPr sz="1100">
              <a:latin typeface="Calibri"/>
              <a:ea typeface="Calibri"/>
              <a:cs typeface="Calibri"/>
              <a:sym typeface="Calibri"/>
            </a:endParaRPr>
          </a:p>
          <a:p>
            <a:pPr marL="4572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access-management sub-agent proactively refines access policies using metadata and historical patterns.</a:t>
            </a:r>
            <a:endParaRPr sz="1100">
              <a:latin typeface="Calibri"/>
              <a:ea typeface="Calibri"/>
              <a:cs typeface="Calibri"/>
              <a:sym typeface="Calibri"/>
            </a:endParaRPr>
          </a:p>
        </p:txBody>
      </p:sp>
      <p:sp>
        <p:nvSpPr>
          <p:cNvPr id="277" name="Google Shape;277;p32"/>
          <p:cNvSpPr txBox="1"/>
          <p:nvPr/>
        </p:nvSpPr>
        <p:spPr>
          <a:xfrm>
            <a:off x="4585300" y="416750"/>
            <a:ext cx="4499700" cy="3574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Meta transformed the warehouse into a text-navigable hierarchy where every resource (table, dashboard, policy) becomes a text summary that LLMs can process. </a:t>
            </a:r>
            <a:endParaRPr sz="1100">
              <a:latin typeface="Calibri"/>
              <a:ea typeface="Calibri"/>
              <a:cs typeface="Calibri"/>
              <a:sym typeface="Calibri"/>
            </a:endParaRPr>
          </a:p>
          <a:p>
            <a:pPr marL="0" marR="0" lvl="0" indent="0" algn="l" rtl="0">
              <a:lnSpc>
                <a:spcPct val="100000"/>
              </a:lnSpc>
              <a:spcBef>
                <a:spcPts val="0"/>
              </a:spcBef>
              <a:spcAft>
                <a:spcPts val="0"/>
              </a:spcAft>
              <a:buNone/>
            </a:pP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system implements context and intention management through</a:t>
            </a:r>
            <a:endParaRPr sz="1100">
              <a:latin typeface="Calibri"/>
              <a:ea typeface="Calibri"/>
              <a:cs typeface="Calibri"/>
              <a:sym typeface="Calibri"/>
            </a:endParaRPr>
          </a:p>
          <a:p>
            <a:pPr marL="5143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automatic context (user identity, resource access), </a:t>
            </a:r>
            <a:endParaRPr sz="1100">
              <a:latin typeface="Calibri"/>
              <a:ea typeface="Calibri"/>
              <a:cs typeface="Calibri"/>
              <a:sym typeface="Calibri"/>
            </a:endParaRPr>
          </a:p>
          <a:p>
            <a:pPr marL="5143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static context (user-defined project scope), </a:t>
            </a:r>
            <a:endParaRPr sz="1100">
              <a:latin typeface="Calibri"/>
              <a:ea typeface="Calibri"/>
              <a:cs typeface="Calibri"/>
              <a:sym typeface="Calibri"/>
            </a:endParaRPr>
          </a:p>
          <a:p>
            <a:pPr marL="5143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dynamic context (metadata-based similarity searches).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Intentions are identified explicitly through stated purposes or implicitly through behavioral inference.</a:t>
            </a:r>
            <a:endParaRPr sz="1100">
              <a:latin typeface="Calibri"/>
              <a:ea typeface="Calibri"/>
              <a:cs typeface="Calibri"/>
              <a:sym typeface="Calibri"/>
            </a:endParaRPr>
          </a:p>
          <a:p>
            <a:pPr marL="0" marR="0" lvl="0" indent="0" algn="l" rtl="0">
              <a:lnSpc>
                <a:spcPct val="100000"/>
              </a:lnSpc>
              <a:spcBef>
                <a:spcPts val="0"/>
              </a:spcBef>
              <a:spcAft>
                <a:spcPts val="0"/>
              </a:spcAft>
              <a:buNone/>
            </a:pP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Access Control Mechanisms - 4 parts:</a:t>
            </a:r>
            <a:endParaRPr sz="1100">
              <a:latin typeface="Calibri"/>
              <a:ea typeface="Calibri"/>
              <a:cs typeface="Calibri"/>
              <a:sym typeface="Calibri"/>
            </a:endParaRPr>
          </a:p>
          <a:p>
            <a:pPr marL="4572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context analysis matching user actions to policies, </a:t>
            </a:r>
            <a:endParaRPr sz="1100">
              <a:latin typeface="Calibri"/>
              <a:ea typeface="Calibri"/>
              <a:cs typeface="Calibri"/>
              <a:sym typeface="Calibri"/>
            </a:endParaRPr>
          </a:p>
          <a:p>
            <a:pPr marL="4572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query-level access control evaluating data exposure risk, </a:t>
            </a:r>
            <a:endParaRPr sz="1100">
              <a:latin typeface="Calibri"/>
              <a:ea typeface="Calibri"/>
              <a:cs typeface="Calibri"/>
              <a:sym typeface="Calibri"/>
            </a:endParaRPr>
          </a:p>
          <a:p>
            <a:pPr marL="4572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daily data-access budgets preventing overexposure, </a:t>
            </a:r>
            <a:endParaRPr sz="1100">
              <a:latin typeface="Calibri"/>
              <a:ea typeface="Calibri"/>
              <a:cs typeface="Calibri"/>
              <a:sym typeface="Calibri"/>
            </a:endParaRPr>
          </a:p>
          <a:p>
            <a:pPr marL="45720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rule-based risk management monitoring agent behavior. Every decision is logged for auditing.</a:t>
            </a:r>
            <a:endParaRPr sz="1100">
              <a:latin typeface="Calibri"/>
              <a:ea typeface="Calibri"/>
              <a:cs typeface="Calibri"/>
              <a:sym typeface="Calibri"/>
            </a:endParaRPr>
          </a:p>
          <a:p>
            <a:pPr marL="0" marR="0" lvl="0" indent="0" algn="l" rtl="0">
              <a:lnSpc>
                <a:spcPct val="100000"/>
              </a:lnSpc>
              <a:spcBef>
                <a:spcPts val="0"/>
              </a:spcBef>
              <a:spcAft>
                <a:spcPts val="0"/>
              </a:spcAft>
              <a:buNone/>
            </a:pP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architecture combines LLM-based reasoning with rule-based guardrails to balance productivity and security, enabling both humans and AI agents to collaborate safely at scale.</a:t>
            </a:r>
            <a:endParaRPr sz="11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3"/>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83" name="Google Shape;283;p33"/>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84" name="Google Shape;284;p33"/>
          <p:cNvSpPr txBox="1"/>
          <p:nvPr/>
        </p:nvSpPr>
        <p:spPr>
          <a:xfrm>
            <a:off x="5126973" y="77475"/>
            <a:ext cx="398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120K in 2025 (as of November 28)</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85" name="Google Shape;285;p33"/>
          <p:cNvSpPr txBox="1"/>
          <p:nvPr/>
        </p:nvSpPr>
        <p:spPr>
          <a:xfrm>
            <a:off x="5162100" y="4228625"/>
            <a:ext cx="3981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So far in 2025, 206,527 people laid off (622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286" name="Google Shape;286;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2529575"/>
            <a:ext cx="5030176" cy="2529320"/>
          </a:xfrm>
          <a:prstGeom prst="rect">
            <a:avLst/>
          </a:prstGeom>
          <a:noFill/>
          <a:ln w="9525" cap="flat" cmpd="sng">
            <a:solidFill>
              <a:srgbClr val="FF0000"/>
            </a:solidFill>
            <a:prstDash val="solid"/>
            <a:round/>
            <a:headEnd type="none" w="sm" len="sm"/>
            <a:tailEnd type="none" w="sm" len="sm"/>
          </a:ln>
        </p:spPr>
      </p:pic>
      <p:pic>
        <p:nvPicPr>
          <p:cNvPr id="287" name="Google Shape;287;p3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718" y="560701"/>
            <a:ext cx="5030176" cy="187355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3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93" name="Google Shape;293;p3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94" name="Google Shape;294;p3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95" name="Google Shape;295;p3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96" name="Google Shape;296;p34"/>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97" name="Google Shape;297;p34"/>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5"/>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4368</Words>
  <Application>Microsoft Macintosh PowerPoint</Application>
  <PresentationFormat>On-screen Show (16:9)</PresentationFormat>
  <Paragraphs>445</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2025-12-04T19:50:51Z</dcterms:modified>
</cp:coreProperties>
</file>