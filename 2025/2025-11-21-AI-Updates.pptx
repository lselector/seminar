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Roboto Mono" pitchFamily="49"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98173A-9126-4E10-BE8E-1E099E594EB4}">
  <a:tblStyle styleId="{E998173A-9126-4E10-BE8E-1E099E594EB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8e16650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8e1665059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7510efb9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3a7510efb9e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7742169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a77421690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90fb9cbad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390fb9cbada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a6a120a16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a6a120a16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a499535c9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a499535c9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6659435892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36659435892_1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a4485b69d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3a4485b69d2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90d75e448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90d75e448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8655d782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38655d782a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a490030a5d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a490030a5d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a490030a5d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g3a490030a5d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90f9e197d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390f9e197d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a6589e09c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g3a6589e09c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a77421690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g3a77421690d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90fcf762a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390fcf762a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90f9e197de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g390f9e197de_2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a4b85f412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3a4b85f4123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8655d782a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g38655d782a4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a4435a2185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g3a4435a2185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a77421690d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3a77421690d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a490030a5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g3a490030a5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a77421690d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g3a77421690d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a75e197b5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g3a75e197b5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90d75e44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g390d75e44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90d75e448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g390d75e4487_4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x.ai/news/grok-4-1" TargetMode="External"/><Relationship Id="rId26" Type="http://schemas.openxmlformats.org/officeDocument/2006/relationships/hyperlink" Target="https://openai.com/index/introducing-o3-and-o4-mini/" TargetMode="External"/><Relationship Id="rId39" Type="http://schemas.openxmlformats.org/officeDocument/2006/relationships/hyperlink" Target="https://huggingface.co/moonshotai/Kimi-K2-Instruct-0905" TargetMode="External"/><Relationship Id="rId21" Type="http://schemas.openxmlformats.org/officeDocument/2006/relationships/hyperlink" Target="https://www.anthropic.com/news/claude-sonnet-4-5" TargetMode="External"/><Relationship Id="rId34" Type="http://schemas.openxmlformats.org/officeDocument/2006/relationships/hyperlink" Target="https://api-docs.deepseek.com/news/news250929"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studio.google.com/app/prompts/new_chat?model=gemini-3-pro-preview" TargetMode="External"/><Relationship Id="rId25" Type="http://schemas.openxmlformats.org/officeDocument/2006/relationships/hyperlink" Target="https://platform.openai.com/docs/models/gpt-5" TargetMode="External"/><Relationship Id="rId33" Type="http://schemas.openxmlformats.org/officeDocument/2006/relationships/hyperlink" Target="https://huggingface.co/Qwen/Qwen3-235B-A22B-Instruct-2507" TargetMode="External"/><Relationship Id="rId38" Type="http://schemas.openxmlformats.org/officeDocument/2006/relationships/hyperlink" Target="https://huggingface.co/meituan-longcat/LongCat-Flash-Chat"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aistudio.google.com/app/prompts/new_chat?model=gemini-2.5-pro" TargetMode="External"/><Relationship Id="rId29" Type="http://schemas.openxmlformats.org/officeDocument/2006/relationships/hyperlink" Target="https://docs.z.ai/guides/llm/glm-4.6"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x.com/OpenAI/status/1905331956856050135" TargetMode="External"/><Relationship Id="rId32" Type="http://schemas.openxmlformats.org/officeDocument/2006/relationships/hyperlink" Target="https://www.anthropic.com/news/claude-4" TargetMode="External"/><Relationship Id="rId37" Type="http://schemas.openxmlformats.org/officeDocument/2006/relationships/hyperlink" Target="https://www.anthropic.com/news/claude-haiku-4-5" TargetMode="External"/><Relationship Id="rId40" Type="http://schemas.openxmlformats.org/officeDocument/2006/relationships/hyperlink" Target="https://qwen.ai/blog?id=99f0335c4ad9ff6153e517418d48535ab6d8afef&amp;from=research.latest-advancements-list"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openai.com/index/introducing-gpt-4-5/" TargetMode="External"/><Relationship Id="rId28" Type="http://schemas.openxmlformats.org/officeDocument/2006/relationships/hyperlink" Target="https://huggingface.co/moonshotai/Kimi-K2-Thinking" TargetMode="External"/><Relationship Id="rId36" Type="http://schemas.openxmlformats.org/officeDocument/2006/relationships/hyperlink" Target="https://ernie.baidu.com/blog/posts/ernie-5.0-preview-1022-release-on-lmarena/" TargetMode="External"/><Relationship Id="rId10" Type="http://schemas.openxmlformats.org/officeDocument/2006/relationships/hyperlink" Target="https://llmworld.net/llm_leaderboards/" TargetMode="External"/><Relationship Id="rId19" Type="http://schemas.openxmlformats.org/officeDocument/2006/relationships/hyperlink" Target="https://openai.com/index/gpt-5-1/" TargetMode="External"/><Relationship Id="rId31" Type="http://schemas.openxmlformats.org/officeDocument/2006/relationships/hyperlink" Target="https://qwen.ai/blog?id=241398b9cd6353de490b0f82806c7848c5d2777d&amp;from=research.latest-advancements-list"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1" TargetMode="External"/><Relationship Id="rId27" Type="http://schemas.openxmlformats.org/officeDocument/2006/relationships/hyperlink" Target="https://www.alibabacloud.com/help/en/model-studio/models" TargetMode="External"/><Relationship Id="rId30" Type="http://schemas.openxmlformats.org/officeDocument/2006/relationships/hyperlink" Target="https://platform.openai.com/docs/models/gpt-5-chat-latest" TargetMode="External"/><Relationship Id="rId35" Type="http://schemas.openxmlformats.org/officeDocument/2006/relationships/hyperlink" Target="https://x.ai/news/grok-4-fast"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deepmind.google/models/gemini/" TargetMode="External"/><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youtube.com/watch?v=W8HeSP_JJQc" TargetMode="External"/><Relationship Id="rId5" Type="http://schemas.openxmlformats.org/officeDocument/2006/relationships/hyperlink" Target="https://www.youtube.com/watch?v=96qyyz_ZJ_U" TargetMode="External"/><Relationship Id="rId10" Type="http://schemas.openxmlformats.org/officeDocument/2006/relationships/hyperlink" Target="https://www.youtube.com/@googleantigravity" TargetMode="External"/><Relationship Id="rId4" Type="http://schemas.openxmlformats.org/officeDocument/2006/relationships/hyperlink" Target="https://www.youtube.com/@googledeepmind" TargetMode="External"/><Relationship Id="rId9" Type="http://schemas.openxmlformats.org/officeDocument/2006/relationships/hyperlink" Target="https://antigravity.google/"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Aslkp6J-EdE"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www.youtube.com/watch?v=-ntV1CsqxgY" TargetMode="External"/><Relationship Id="rId4" Type="http://schemas.openxmlformats.org/officeDocument/2006/relationships/hyperlink" Target="https://www.youtube.com/watch?v=dtBvh1nIAM4"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50bdRjudpJ4"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Z5ulfaRTI1s" TargetMode="External"/><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hyperlink" Target="https://x.ai/news/grok-4-1" TargetMode="External"/><Relationship Id="rId4" Type="http://schemas.openxmlformats.org/officeDocument/2006/relationships/hyperlink" Target="https://www.youtube.com/watch?v=wIR6tRlxgp4"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CqJmLsj25K4"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OA02eRm11JU"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KeXmXYAaUU4"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hyperlink" Target="https://www.everydev.ai/tools/serena" TargetMode="External"/><Relationship Id="rId4" Type="http://schemas.openxmlformats.org/officeDocument/2006/relationships/hyperlink" Target="https://github.com/oraios/serena"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deepmind.google/blog/sima-2-an-agent-that-plays-reasons-and-learns-with-you-in-virtual-3d-world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www.youtube.com/watch?v=UACj1WqXU2Q" TargetMode="External"/><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hyperlink" Target="https://assets.anthropic.com/m/ec212e6566a0d47/original/Disrupting-the-first-reported-AI-orchestrated-cyber-espionage-campaign.pdf" TargetMode="External"/><Relationship Id="rId4" Type="http://schemas.openxmlformats.org/officeDocument/2006/relationships/hyperlink" Target="https://sites.google.com/view/workspace-flows/about"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x.com/CalumWorthy/status/1988283207138324487" TargetMode="External"/><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app.therundown.ai/guides/use-claude-to-organize-your-business-finances" TargetMode="External"/><Relationship Id="rId5" Type="http://schemas.openxmlformats.org/officeDocument/2006/relationships/image" Target="../media/image18.png"/><Relationship Id="rId4" Type="http://schemas.openxmlformats.org/officeDocument/2006/relationships/hyperlink" Target="https://www.2wai.ai"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linkedin.com/in/drvikbajaj/" TargetMode="External"/><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hyperlink" Target="https://one.google.com/ai" TargetMode="External"/><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8K_V2oTUXtc" TargetMode="External"/><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hyperlink" Target="https://latentspacecraft.com/posts/mlx-protein-folding" TargetMode="Externa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hyperlink" Target="https://www.technologyreview.com/2025/11/19/1128119/quantum-physicists-compress-and-deconsor-deepseekr1/"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bsrXd0loJFM"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hyperlink" Target="http://make.com"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hyperlink" Target="https://developers.google.com/opal" TargetMode="External"/><Relationship Id="rId4" Type="http://schemas.openxmlformats.org/officeDocument/2006/relationships/hyperlink" Target="https://developers.googleblog.com/en/introducing-opal/"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iX2sdEM28RQ"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hyperlink" Target="https://www.readkidz.com"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lfnJXlgpJT0"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python.plainenglish.io/9-python-data-science-libraries-that-made-me-look-like-a-senior-analyst-overnight-367b8bee00da"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W2tr1Q3D1ZI"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hyperlink" Target="https://magai.co"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hyperlink" Target="https://www.youtube.com/watch?v=YokvURauxdk"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marble.worldlabs.ai"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hyperlink" Target="https://www.lennysnewsletter.com" TargetMode="Externa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7NwxzQmfTRg"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1FT-r16CEC4"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Nos1pigdUaU" TargetMode="External"/><Relationship Id="rId7" Type="http://schemas.openxmlformats.org/officeDocument/2006/relationships/image" Target="../media/image38.jpe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hyperlink" Target="https://www.youtube.com/watch?v=amAYKfRL8FI" TargetMode="Externa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hyperlink" Target="https://trueup.io/layoffs"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630966"/>
            <a:ext cx="4420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"LM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Gemini 3   &amp;   Google Antigravity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Nano Banana Pro</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Grok 4.1</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GPT-5.1</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Perplexity Update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China photonic quantum chip</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30 Bln deals with Microsoft &amp; NVIDIA</a:t>
            </a:r>
            <a:endParaRPr sz="15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November </a:t>
            </a:r>
            <a:r>
              <a:rPr lang="en" sz="2200" b="1">
                <a:solidFill>
                  <a:srgbClr val="3C78D8"/>
                </a:solidFill>
                <a:latin typeface="Calibri"/>
                <a:ea typeface="Calibri"/>
                <a:cs typeface="Calibri"/>
                <a:sym typeface="Calibri"/>
              </a:rPr>
              <a:t>21, </a:t>
            </a:r>
            <a:r>
              <a:rPr lang="en" sz="2200" b="1" i="0" u="none" strike="noStrike" cap="none">
                <a:solidFill>
                  <a:srgbClr val="3C78D8"/>
                </a:solidFill>
                <a:latin typeface="Calibri"/>
                <a:ea typeface="Calibri"/>
                <a:cs typeface="Calibri"/>
                <a:sym typeface="Calibri"/>
              </a:rPr>
              <a:t>2025</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76975" y="4166684"/>
            <a:ext cx="45024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Gino Wickman Interviewed by Joe Polish</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Agency - How to Survive the AI Bubble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10 Metatrends That Will Define Your Future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i="0" u="none" strike="noStrike" cap="none">
                <a:solidFill>
                  <a:srgbClr val="3C78D8"/>
                </a:solidFill>
                <a:latin typeface="Calibri"/>
                <a:ea typeface="Calibri"/>
                <a:cs typeface="Calibri"/>
                <a:sym typeface="Calibri"/>
              </a:rPr>
              <a:t>Jobs, Layoffs, </a:t>
            </a:r>
            <a:r>
              <a:rPr lang="en" sz="1500" b="1">
                <a:solidFill>
                  <a:srgbClr val="3C78D8"/>
                </a:solidFill>
                <a:latin typeface="Calibri"/>
                <a:ea typeface="Calibri"/>
                <a:cs typeface="Calibri"/>
                <a:sym typeface="Calibri"/>
              </a:rPr>
              <a:t>demand for AI Engineers</a:t>
            </a:r>
            <a:endParaRPr sz="15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553522"/>
            <a:ext cx="4420200" cy="2558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Serena open-source AI coding toolkit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DeepMind SIMA 2 Research Preview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Disrupting AI Cyber Espionage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"Flows" no-code AI automation in G. Workspace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U.S. must back open-source 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2wai - creates interactive avatars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Makes Financial Dashboards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Cerebras MiniMax-M2-REAP-162B-A10B</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FutureHouse Kosmos AI Scientist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Jeff Bezos Project Prometheus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Google's Gemini CLI updates</a:t>
            </a:r>
            <a:endParaRPr sz="1500" b="1">
              <a:solidFill>
                <a:srgbClr val="3C78D8"/>
              </a:solidFill>
              <a:latin typeface="Calibri"/>
              <a:ea typeface="Calibri"/>
              <a:cs typeface="Calibri"/>
              <a:sym typeface="Calibri"/>
            </a:endParaRPr>
          </a:p>
        </p:txBody>
      </p:sp>
      <p:sp>
        <p:nvSpPr>
          <p:cNvPr id="67" name="Google Shape;67;p15"/>
          <p:cNvSpPr txBox="1"/>
          <p:nvPr/>
        </p:nvSpPr>
        <p:spPr>
          <a:xfrm>
            <a:off x="4576975" y="630947"/>
            <a:ext cx="4502400" cy="32508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AlphaFold on your Mac using MLX Framework</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WeatherNext 2 Forecasting Model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Intuit $100 Mln/year  deal with OpenAI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DeepSeek R1 Slim - smaller and "de-censored"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DeepMind DreamerV4</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Opal for Automation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ReadKidz - create books and videos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TOON = Token-Oriented Object Notation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9 Data Science Libraries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Yann LeCun is Leaving Meta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Magai.co</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Dr. Fei-Fei Li    Interview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China "Involution" Strategy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Elon Musk &amp; Jensen Huang Interview</a:t>
            </a:r>
            <a:endParaRPr sz="1500" b="1">
              <a:solidFill>
                <a:srgbClr val="3C78D8"/>
              </a:solidFill>
              <a:latin typeface="Calibri"/>
              <a:ea typeface="Calibri"/>
              <a:cs typeface="Calibri"/>
              <a:sym typeface="Calibri"/>
            </a:endParaRPr>
          </a:p>
        </p:txBody>
      </p:sp>
      <p:sp>
        <p:nvSpPr>
          <p:cNvPr id="68" name="Google Shape;68;p15"/>
          <p:cNvSpPr txBox="1"/>
          <p:nvPr/>
        </p:nvSpPr>
        <p:spPr>
          <a:xfrm>
            <a:off x="4832825" y="44155"/>
            <a:ext cx="4246500" cy="449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"We Won't Need Humans </a:t>
            </a:r>
            <a:endParaRPr b="1" i="1">
              <a:solidFill>
                <a:srgbClr val="FF0000"/>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in The Next 10 Years" - Emad Mostaque</a:t>
            </a:r>
            <a:endParaRPr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353601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594668" y="221034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p:nvPr/>
        </p:nvSpPr>
        <p:spPr>
          <a:xfrm>
            <a:off x="598073" y="77343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6"/>
          <p:cNvSpPr/>
          <p:nvPr/>
        </p:nvSpPr>
        <p:spPr>
          <a:xfrm>
            <a:off x="595896" y="420407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txBox="1"/>
          <p:nvPr/>
        </p:nvSpPr>
        <p:spPr>
          <a:xfrm>
            <a:off x="6549674" y="1522475"/>
            <a:ext cx="235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1" name="Google Shape;81;p16"/>
          <p:cNvSpPr/>
          <p:nvPr/>
        </p:nvSpPr>
        <p:spPr>
          <a:xfrm>
            <a:off x="3748357" y="3654286"/>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748244" y="94915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p:nvPr/>
        </p:nvSpPr>
        <p:spPr>
          <a:xfrm>
            <a:off x="594761" y="1313784"/>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6"/>
          <p:cNvSpPr/>
          <p:nvPr/>
        </p:nvSpPr>
        <p:spPr>
          <a:xfrm>
            <a:off x="595461" y="168232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6"/>
          <p:cNvSpPr/>
          <p:nvPr/>
        </p:nvSpPr>
        <p:spPr>
          <a:xfrm>
            <a:off x="3754343" y="401839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6"/>
          <p:cNvSpPr/>
          <p:nvPr/>
        </p:nvSpPr>
        <p:spPr>
          <a:xfrm>
            <a:off x="3748244" y="130805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txBox="1"/>
          <p:nvPr/>
        </p:nvSpPr>
        <p:spPr>
          <a:xfrm>
            <a:off x="300894" y="36595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8" name="Google Shape;88;p16"/>
          <p:cNvSpPr/>
          <p:nvPr/>
        </p:nvSpPr>
        <p:spPr>
          <a:xfrm>
            <a:off x="600160" y="366678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6"/>
          <p:cNvSpPr txBox="1"/>
          <p:nvPr/>
        </p:nvSpPr>
        <p:spPr>
          <a:xfrm>
            <a:off x="3447377" y="3456115"/>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0" name="Google Shape;90;p16"/>
          <p:cNvSpPr/>
          <p:nvPr/>
        </p:nvSpPr>
        <p:spPr>
          <a:xfrm>
            <a:off x="3747834" y="346740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6"/>
          <p:cNvSpPr txBox="1"/>
          <p:nvPr/>
        </p:nvSpPr>
        <p:spPr>
          <a:xfrm>
            <a:off x="3448497" y="3287765"/>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2" name="Google Shape;92;p16"/>
          <p:cNvSpPr/>
          <p:nvPr/>
        </p:nvSpPr>
        <p:spPr>
          <a:xfrm>
            <a:off x="3748954" y="329905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txBox="1"/>
          <p:nvPr/>
        </p:nvSpPr>
        <p:spPr>
          <a:xfrm>
            <a:off x="3587049" y="2563237"/>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4" name="Google Shape;94;p16"/>
          <p:cNvSpPr txBox="1"/>
          <p:nvPr/>
        </p:nvSpPr>
        <p:spPr>
          <a:xfrm>
            <a:off x="304271" y="456475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5" name="Google Shape;95;p16"/>
          <p:cNvSpPr/>
          <p:nvPr/>
        </p:nvSpPr>
        <p:spPr>
          <a:xfrm>
            <a:off x="603537" y="457199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6"/>
          <p:cNvSpPr txBox="1"/>
          <p:nvPr/>
        </p:nvSpPr>
        <p:spPr>
          <a:xfrm>
            <a:off x="3584818" y="3097802"/>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7" name="Google Shape;97;p16"/>
          <p:cNvSpPr/>
          <p:nvPr/>
        </p:nvSpPr>
        <p:spPr>
          <a:xfrm>
            <a:off x="596204" y="185427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p:nvPr/>
        </p:nvSpPr>
        <p:spPr>
          <a:xfrm>
            <a:off x="594433" y="275253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txBox="1"/>
          <p:nvPr/>
        </p:nvSpPr>
        <p:spPr>
          <a:xfrm>
            <a:off x="304271" y="492158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0" name="Google Shape;100;p16"/>
          <p:cNvSpPr/>
          <p:nvPr/>
        </p:nvSpPr>
        <p:spPr>
          <a:xfrm>
            <a:off x="603537" y="492882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txBox="1"/>
          <p:nvPr/>
        </p:nvSpPr>
        <p:spPr>
          <a:xfrm>
            <a:off x="446720" y="329511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2" name="Google Shape;102;p16"/>
          <p:cNvSpPr/>
          <p:nvPr/>
        </p:nvSpPr>
        <p:spPr>
          <a:xfrm>
            <a:off x="3751768" y="418508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txBox="1"/>
          <p:nvPr/>
        </p:nvSpPr>
        <p:spPr>
          <a:xfrm>
            <a:off x="3458789" y="382965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4" name="Google Shape;104;p16"/>
          <p:cNvSpPr/>
          <p:nvPr/>
        </p:nvSpPr>
        <p:spPr>
          <a:xfrm>
            <a:off x="3749658" y="383804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txBox="1"/>
          <p:nvPr/>
        </p:nvSpPr>
        <p:spPr>
          <a:xfrm>
            <a:off x="3458789" y="437093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06" name="Google Shape;106;p16"/>
          <p:cNvSpPr/>
          <p:nvPr/>
        </p:nvSpPr>
        <p:spPr>
          <a:xfrm>
            <a:off x="3749658" y="437932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txBox="1"/>
          <p:nvPr/>
        </p:nvSpPr>
        <p:spPr>
          <a:xfrm>
            <a:off x="4566100"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November 20</a:t>
            </a:r>
            <a:endParaRPr sz="1000">
              <a:solidFill>
                <a:schemeClr val="dk1"/>
              </a:solidFill>
              <a:latin typeface="Calibri"/>
              <a:ea typeface="Calibri"/>
              <a:cs typeface="Calibri"/>
              <a:sym typeface="Calibri"/>
            </a:endParaRPr>
          </a:p>
        </p:txBody>
      </p:sp>
      <p:sp>
        <p:nvSpPr>
          <p:cNvPr id="108" name="Google Shape;108;p16"/>
          <p:cNvSpPr/>
          <p:nvPr/>
        </p:nvSpPr>
        <p:spPr>
          <a:xfrm>
            <a:off x="3751782" y="203578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p:nvPr/>
        </p:nvSpPr>
        <p:spPr>
          <a:xfrm>
            <a:off x="3750579" y="148706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txBox="1"/>
          <p:nvPr/>
        </p:nvSpPr>
        <p:spPr>
          <a:xfrm>
            <a:off x="3441159" y="2739616"/>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1" name="Google Shape;111;p16"/>
          <p:cNvSpPr/>
          <p:nvPr/>
        </p:nvSpPr>
        <p:spPr>
          <a:xfrm>
            <a:off x="3741616" y="274328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6"/>
          <p:cNvSpPr txBox="1"/>
          <p:nvPr/>
        </p:nvSpPr>
        <p:spPr>
          <a:xfrm>
            <a:off x="3458789" y="474185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3" name="Google Shape;113;p16"/>
          <p:cNvSpPr/>
          <p:nvPr/>
        </p:nvSpPr>
        <p:spPr>
          <a:xfrm>
            <a:off x="3749658" y="475025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6"/>
          <p:cNvSpPr/>
          <p:nvPr/>
        </p:nvSpPr>
        <p:spPr>
          <a:xfrm>
            <a:off x="3748357" y="76547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txBox="1"/>
          <p:nvPr/>
        </p:nvSpPr>
        <p:spPr>
          <a:xfrm flipH="1">
            <a:off x="3679393" y="111114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6" name="Google Shape;116;p16"/>
          <p:cNvSpPr txBox="1"/>
          <p:nvPr/>
        </p:nvSpPr>
        <p:spPr>
          <a:xfrm flipH="1">
            <a:off x="3679393" y="1829809"/>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7" name="Google Shape;117;p16"/>
          <p:cNvSpPr/>
          <p:nvPr/>
        </p:nvSpPr>
        <p:spPr>
          <a:xfrm>
            <a:off x="3750579" y="16651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6"/>
          <p:cNvSpPr/>
          <p:nvPr/>
        </p:nvSpPr>
        <p:spPr>
          <a:xfrm>
            <a:off x="3750579" y="221574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3750579" y="293233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txBox="1"/>
          <p:nvPr/>
        </p:nvSpPr>
        <p:spPr>
          <a:xfrm>
            <a:off x="3458789" y="4554713"/>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1" name="Google Shape;121;p16"/>
          <p:cNvSpPr/>
          <p:nvPr/>
        </p:nvSpPr>
        <p:spPr>
          <a:xfrm>
            <a:off x="3749658" y="4563107"/>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6"/>
          <p:cNvSpPr/>
          <p:nvPr/>
        </p:nvSpPr>
        <p:spPr>
          <a:xfrm>
            <a:off x="598073" y="149430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txBox="1"/>
          <p:nvPr/>
        </p:nvSpPr>
        <p:spPr>
          <a:xfrm flipH="1">
            <a:off x="532333" y="94304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24" name="Google Shape;124;p16"/>
          <p:cNvSpPr txBox="1"/>
          <p:nvPr/>
        </p:nvSpPr>
        <p:spPr>
          <a:xfrm flipH="1">
            <a:off x="532333" y="111830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25" name="Google Shape;125;p16"/>
          <p:cNvSpPr/>
          <p:nvPr/>
        </p:nvSpPr>
        <p:spPr>
          <a:xfrm>
            <a:off x="596204" y="203715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6"/>
          <p:cNvSpPr/>
          <p:nvPr/>
        </p:nvSpPr>
        <p:spPr>
          <a:xfrm>
            <a:off x="596204" y="23857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p:nvPr/>
        </p:nvSpPr>
        <p:spPr>
          <a:xfrm>
            <a:off x="594433" y="257727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6"/>
          <p:cNvSpPr txBox="1"/>
          <p:nvPr/>
        </p:nvSpPr>
        <p:spPr>
          <a:xfrm>
            <a:off x="300894" y="349189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9" name="Google Shape;129;p16"/>
          <p:cNvSpPr/>
          <p:nvPr/>
        </p:nvSpPr>
        <p:spPr>
          <a:xfrm>
            <a:off x="600160" y="349914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p:nvPr/>
        </p:nvSpPr>
        <p:spPr>
          <a:xfrm>
            <a:off x="594433" y="312100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6"/>
          <p:cNvSpPr txBox="1"/>
          <p:nvPr/>
        </p:nvSpPr>
        <p:spPr>
          <a:xfrm>
            <a:off x="446720" y="4016786"/>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2" name="Google Shape;132;p16"/>
          <p:cNvSpPr txBox="1"/>
          <p:nvPr/>
        </p:nvSpPr>
        <p:spPr>
          <a:xfrm flipH="1">
            <a:off x="532333" y="4744980"/>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33" name="Google Shape;133;p16"/>
          <p:cNvSpPr txBox="1"/>
          <p:nvPr/>
        </p:nvSpPr>
        <p:spPr>
          <a:xfrm>
            <a:off x="304271" y="438142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4" name="Google Shape;134;p16"/>
          <p:cNvSpPr/>
          <p:nvPr/>
        </p:nvSpPr>
        <p:spPr>
          <a:xfrm>
            <a:off x="603537" y="438867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594433" y="38471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p:nvPr/>
        </p:nvSpPr>
        <p:spPr>
          <a:xfrm>
            <a:off x="594433" y="292959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16"/>
          <p:cNvSpPr/>
          <p:nvPr/>
        </p:nvSpPr>
        <p:spPr>
          <a:xfrm>
            <a:off x="3751782" y="2381215"/>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6"/>
          <p:cNvSpPr/>
          <p:nvPr/>
        </p:nvSpPr>
        <p:spPr>
          <a:xfrm>
            <a:off x="3754343" y="492249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39" name="Google Shape;139;p16"/>
          <p:cNvGraphicFramePr/>
          <p:nvPr/>
        </p:nvGraphicFramePr>
        <p:xfrm>
          <a:off x="721250" y="553579"/>
          <a:ext cx="3000000" cy="3000000"/>
        </p:xfrm>
        <a:graphic>
          <a:graphicData uri="http://schemas.openxmlformats.org/drawingml/2006/table">
            <a:tbl>
              <a:tblPr>
                <a:noFill/>
                <a:tableStyleId>{E998173A-9126-4E10-BE8E-1E099E594EB4}</a:tableStyleId>
              </a:tblPr>
              <a:tblGrid>
                <a:gridCol w="1800225">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tblGrid>
              <a:tr h="7087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012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012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glm-4.6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gpt-5-chat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grok-4-fast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708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ernie-5.0-preview-1022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1418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40" name="Google Shape;140;p16"/>
          <p:cNvGraphicFramePr/>
          <p:nvPr/>
        </p:nvGraphicFramePr>
        <p:xfrm>
          <a:off x="3877032" y="549725"/>
          <a:ext cx="3000000" cy="3000000"/>
        </p:xfrm>
        <a:graphic>
          <a:graphicData uri="http://schemas.openxmlformats.org/drawingml/2006/table">
            <a:tbl>
              <a:tblPr>
                <a:noFill/>
                <a:tableStyleId>{E998173A-9126-4E10-BE8E-1E099E594EB4}</a:tableStyleId>
              </a:tblPr>
              <a:tblGrid>
                <a:gridCol w="1800225">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tblGrid>
              <a:tr h="13597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1541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claude-sonnet-4-20250514-thinking-32k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glm-4.6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kimi-k2-0905-preview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qwen3-vl-235b-a22b-instruct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3597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7"/>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Gemini 3</a:t>
            </a:r>
            <a:endParaRPr sz="2000" b="1" i="0" u="none" strike="noStrike" cap="none">
              <a:solidFill>
                <a:schemeClr val="dk1"/>
              </a:solidFill>
              <a:latin typeface="Calibri"/>
              <a:ea typeface="Calibri"/>
              <a:cs typeface="Calibri"/>
              <a:sym typeface="Calibri"/>
            </a:endParaRPr>
          </a:p>
        </p:txBody>
      </p:sp>
      <p:sp>
        <p:nvSpPr>
          <p:cNvPr id="146" name="Google Shape;146;p17"/>
          <p:cNvSpPr txBox="1"/>
          <p:nvPr/>
        </p:nvSpPr>
        <p:spPr>
          <a:xfrm>
            <a:off x="55075" y="443275"/>
            <a:ext cx="44445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Gemini 3 released November 17</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https://deepmind.google/models/gemini/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https://www.youtube.com/@googledeepmind</a:t>
            </a:r>
            <a:r>
              <a:rPr lang="en" sz="1100">
                <a:solidFill>
                  <a:schemeClr val="dk1"/>
                </a:solidFill>
                <a:latin typeface="Calibri"/>
                <a:ea typeface="Calibri"/>
                <a:cs typeface="Calibri"/>
                <a:sym typeface="Calibri"/>
              </a:rPr>
              <a:t>  - many videos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https://www.youtube.com/watch?v=96qyyz_ZJ_U</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https://www.youtube.com/watch?v=W8HeSP_JJQc</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tops the LMArena leaderboard with a score of 1501, dethroning Grok-4.1 which had held the position for less than 24 hours. It ranks first across all categories (text, web dev, vision, coding, math, creative writing, and instruction following)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Multimodal processing - natively handling text, images, video, audio, and code simultaneously rather than processing them separately. The model achieves PhD-level reasoning with 91.9% on GPQA Diamond and 37.5% on Humanity's Last Exam without tools. For multimodal tasks, it scores 81% on MMMU-Pro and 87.6% on Video-MMMU, along with 72.1% on SimpleQA Verified for factual accuracy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Gemini 3 Deep Think</a:t>
            </a:r>
            <a:r>
              <a:rPr lang="en" sz="1100">
                <a:solidFill>
                  <a:schemeClr val="dk1"/>
                </a:solidFill>
                <a:latin typeface="Calibri"/>
                <a:ea typeface="Calibri"/>
                <a:cs typeface="Calibri"/>
                <a:sym typeface="Calibri"/>
              </a:rPr>
              <a:t> mode offers enhanced reasoning for complex problems, achieving very high scores on Humanity's Last Exam, GPQA Diamond, and ARC-AGI-2</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includes improved spatial reasoning for embodied tasks like pointing and trajectory prediction, unlocking applications in autonomous vehicles, XR devices, and robotics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 Mln context window, 64K tokens output, knowledge cutoff Jan 2025</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is available through Google Search, the Gemini app, AI Studio, Vertex AI, and developer tools including Cursor, GitHub, JetBrains, and Cline. Pro and Ultra subscribers in the US can access it now, with Deep Think mode rolling out to Ultra subscribers in the coming weeks</a:t>
            </a:r>
            <a:endParaRPr sz="1100">
              <a:solidFill>
                <a:schemeClr val="dk1"/>
              </a:solidFill>
              <a:latin typeface="Calibri"/>
              <a:ea typeface="Calibri"/>
              <a:cs typeface="Calibri"/>
              <a:sym typeface="Calibri"/>
            </a:endParaRPr>
          </a:p>
        </p:txBody>
      </p:sp>
      <p:pic>
        <p:nvPicPr>
          <p:cNvPr id="147" name="Google Shape;147;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51775" y="452164"/>
            <a:ext cx="2119551" cy="1303125"/>
          </a:xfrm>
          <a:prstGeom prst="rect">
            <a:avLst/>
          </a:prstGeom>
          <a:noFill/>
          <a:ln w="9525" cap="flat" cmpd="sng">
            <a:solidFill>
              <a:srgbClr val="FF0000"/>
            </a:solidFill>
            <a:prstDash val="solid"/>
            <a:round/>
            <a:headEnd type="none" w="sm" len="sm"/>
            <a:tailEnd type="none" w="sm" len="sm"/>
          </a:ln>
        </p:spPr>
      </p:pic>
      <p:pic>
        <p:nvPicPr>
          <p:cNvPr id="148" name="Google Shape;148;p17"/>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897585" y="452164"/>
            <a:ext cx="2119550" cy="1286021"/>
          </a:xfrm>
          <a:prstGeom prst="rect">
            <a:avLst/>
          </a:prstGeom>
          <a:noFill/>
          <a:ln w="9525" cap="flat" cmpd="sng">
            <a:solidFill>
              <a:srgbClr val="FF0000"/>
            </a:solidFill>
            <a:prstDash val="solid"/>
            <a:round/>
            <a:headEnd type="none" w="sm" len="sm"/>
            <a:tailEnd type="none" w="sm" len="sm"/>
          </a:ln>
        </p:spPr>
      </p:pic>
      <p:sp>
        <p:nvSpPr>
          <p:cNvPr id="149" name="Google Shape;149;p17"/>
          <p:cNvSpPr txBox="1"/>
          <p:nvPr/>
        </p:nvSpPr>
        <p:spPr>
          <a:xfrm>
            <a:off x="4651775" y="1816543"/>
            <a:ext cx="4444500" cy="323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Antigravity - Google's new agentic development platform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Download the app for Mac, Windows, Linux</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Task-oriented, autonomous software development IDE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Uses Gemini 3's advanced reasoning, tool use, and agentic coding capabilities to function as an active development partner rather than just an assistance tool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platform features agents with dedicated access to the editor, terminal, and browser, allowing them to autonomously plan and execute complex end-to-end software tasks while validating their own code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Developers act as architects </a:t>
            </a:r>
            <a:r>
              <a:rPr lang="en" sz="1100">
                <a:solidFill>
                  <a:schemeClr val="dk1"/>
                </a:solidFill>
                <a:latin typeface="Calibri"/>
                <a:ea typeface="Calibri"/>
                <a:cs typeface="Calibri"/>
                <a:sym typeface="Calibri"/>
              </a:rPr>
              <a:t>collaborating with intelligent agents that handle building features, UI iteration, bug fixes, research, and report generation.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 Antigravity comes bundled with </a:t>
            </a:r>
            <a:r>
              <a:rPr lang="en" sz="1100" b="1">
                <a:solidFill>
                  <a:srgbClr val="3C78D8"/>
                </a:solidFill>
                <a:latin typeface="Calibri"/>
                <a:ea typeface="Calibri"/>
                <a:cs typeface="Calibri"/>
                <a:sym typeface="Calibri"/>
              </a:rPr>
              <a:t>Gemini 3 Pro, Gemini 2.5 Computer Use model for browser control, and Nano Banana (Gemini 2.5 Image) for image editing</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Public preview is available for free download on macOS, Windows, and Linux</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9"/>
              </a:rPr>
              <a:t>https://antigravity.google/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10"/>
              </a:rPr>
              <a:t>https://www.youtube.com/@googleantigravity</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p:nvPr/>
        </p:nvSpPr>
        <p:spPr>
          <a:xfrm>
            <a:off x="55075" y="20375"/>
            <a:ext cx="2575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Gemini 3 - continued</a:t>
            </a:r>
            <a:endParaRPr sz="2000" b="1" i="0" u="none" strike="noStrike" cap="none">
              <a:solidFill>
                <a:schemeClr val="dk1"/>
              </a:solidFill>
              <a:latin typeface="Calibri"/>
              <a:ea typeface="Calibri"/>
              <a:cs typeface="Calibri"/>
              <a:sym typeface="Calibri"/>
            </a:endParaRPr>
          </a:p>
        </p:txBody>
      </p:sp>
      <p:sp>
        <p:nvSpPr>
          <p:cNvPr id="155" name="Google Shape;155;p18"/>
          <p:cNvSpPr txBox="1"/>
          <p:nvPr/>
        </p:nvSpPr>
        <p:spPr>
          <a:xfrm>
            <a:off x="55075" y="443275"/>
            <a:ext cx="44445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can generate sophisticated and highly customized interactive 3D applications—including games, visualizations, and simulations—based solely on prompts, images, or simple inputs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https://www.youtube.com/watch?v=Aslkp6J-EdE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Spatial and Visual Reasoning - creating spatially aware scenes, 3D editors (such as LEGO-like environments), and even unique artistic visualizations that blend biological and synthetic concepts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Pro is the first language model to outperform professional human players at GeoGuessr (browser-based geography game in which players try to deduce locations from Google Street View imagery)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Scientific and Educational Visualizations - interactive black hole simulations with real-time scientific visualizations and quizzes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"Deep Think" can synthesize mind-bending philosophical ideas (e.g., the notion that humans only perceive a utility-optimized user interface, not objective reality, echoing contemporary theories in cognitive science)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Competence in practical applications such as sign language recognition via webcam, and building “Jarvis”-like interfaces for personal productivity</a:t>
            </a:r>
            <a:endParaRPr sz="1100">
              <a:solidFill>
                <a:schemeClr val="dk1"/>
              </a:solidFill>
              <a:latin typeface="Calibri"/>
              <a:ea typeface="Calibri"/>
              <a:cs typeface="Calibri"/>
              <a:sym typeface="Calibri"/>
            </a:endParaRPr>
          </a:p>
        </p:txBody>
      </p:sp>
      <p:sp>
        <p:nvSpPr>
          <p:cNvPr id="156" name="Google Shape;156;p18"/>
          <p:cNvSpPr txBox="1"/>
          <p:nvPr/>
        </p:nvSpPr>
        <p:spPr>
          <a:xfrm>
            <a:off x="4641575" y="443275"/>
            <a:ext cx="44445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is now considered the best-performing AI model globally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https://www.youtube.com/watch?v=dtBvh1nIAM4</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has surged to the top of independent benchmarks, outperforming rivals like GPT-5.1 by a significant margin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Pricing:</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Gemini 3 Flash</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Gemini 3 Pro $2/$12 per 1Mt in/out (for under 200K tokens)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Gemini 3 Pro $4/$18 per 1Mt in/out (for more than 200K tokens)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Gemini 3 Deep Think (Reasoning)</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Gemini 3 Pro Personal $20/mo</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Gemini 3 Ultra $250/mo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Model size estimated ~ 3T params total. It is a sparse MoE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is praised for its agentic coding abilities, multimodal reasoning, and fast inference speeds (128 tokens per second). It can handle complex, multi-step tasks autonomously, such as generating code for a 3D nuclear power plant simulator in just a few prompts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High token efficiency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"Anti-Gravity," a new AI-powered coding IDE based on a VS Code fork. Anti-Gravity is widely seen as a rebranded version of Windsurf, a popular AI coding tool whose IP and top talent were acquired by Google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platform retains some remnants of Windsurf's codebase, such as the "Cascade" agent name, which was missed during the rebranding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Google's position in the AI race is now seen as dominant. The company benefits from its massive user base, custom TPU silicon, and integrated hardware/software stack</a:t>
            </a:r>
            <a:endParaRPr sz="1100">
              <a:solidFill>
                <a:schemeClr val="dk1"/>
              </a:solidFill>
              <a:latin typeface="Calibri"/>
              <a:ea typeface="Calibri"/>
              <a:cs typeface="Calibri"/>
              <a:sym typeface="Calibri"/>
            </a:endParaRPr>
          </a:p>
        </p:txBody>
      </p:sp>
      <p:sp>
        <p:nvSpPr>
          <p:cNvPr id="157" name="Google Shape;157;p18"/>
          <p:cNvSpPr txBox="1"/>
          <p:nvPr/>
        </p:nvSpPr>
        <p:spPr>
          <a:xfrm>
            <a:off x="55075" y="3436575"/>
            <a:ext cx="44445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Mervin Praison - comparing Gemini 3 with Claude Sonnet 4.5</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5"/>
              </a:rPr>
              <a:t>https://www.youtube.com/watch?v=-ntV1CsqxgY</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Pro has a significant advantage in speed, producing smoother animations with fewer warnings; Claude Sonnet 4.5 offers superior visual quality with more natural-looking terrains, enhanced shadows, and detailed aesthetics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Testing projects ranged from rotating cube simulations, data-driven dashboards, molecular explorers, product configurators, to city generators and particle systems.</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9"/>
          <p:cNvSpPr txBox="1"/>
          <p:nvPr/>
        </p:nvSpPr>
        <p:spPr>
          <a:xfrm>
            <a:off x="55075" y="20375"/>
            <a:ext cx="3019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Nano Banana Pro</a:t>
            </a:r>
            <a:endParaRPr sz="2000" b="1" i="0" u="none" strike="noStrike" cap="none">
              <a:solidFill>
                <a:schemeClr val="dk1"/>
              </a:solidFill>
              <a:latin typeface="Calibri"/>
              <a:ea typeface="Calibri"/>
              <a:cs typeface="Calibri"/>
              <a:sym typeface="Calibri"/>
            </a:endParaRPr>
          </a:p>
        </p:txBody>
      </p:sp>
      <p:sp>
        <p:nvSpPr>
          <p:cNvPr id="163" name="Google Shape;163;p19"/>
          <p:cNvSpPr txBox="1"/>
          <p:nvPr/>
        </p:nvSpPr>
        <p:spPr>
          <a:xfrm>
            <a:off x="55075" y="443275"/>
            <a:ext cx="34272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Google’s Nano Banana Pro is built on Gemini 3 Pro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High-resolution (up to 4K) image generation and advanced prompt following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introduces "chain of thought" workflows, enabling stepwise refinement and better adherence to complex instructions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allows blending up to 14 objects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Improved multilingual text rendering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Superior infographics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Flexible aspect ratios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Nano Banana Pro can ground its outputs using Google Search for real-time relevance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https://www.youtube.com/watch?v=50bdRjudpJ4</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64" name="Google Shape;164;p19"/>
          <p:cNvPicPr preferRelativeResize="0"/>
          <p:nvPr/>
        </p:nvPicPr>
        <p:blipFill>
          <a:blip r:embed="rId4">
            <a:alphaModFix/>
          </a:blip>
          <a:stretch>
            <a:fillRect/>
          </a:stretch>
        </p:blipFill>
        <p:spPr>
          <a:xfrm>
            <a:off x="55075" y="3097875"/>
            <a:ext cx="2857500" cy="1600200"/>
          </a:xfrm>
          <a:prstGeom prst="rect">
            <a:avLst/>
          </a:prstGeom>
          <a:noFill/>
          <a:ln w="9525" cap="flat" cmpd="sng">
            <a:solidFill>
              <a:srgbClr val="FF0000"/>
            </a:solidFill>
            <a:prstDash val="solid"/>
            <a:round/>
            <a:headEnd type="none" w="sm" len="sm"/>
            <a:tailEnd type="none" w="sm" len="sm"/>
          </a:ln>
        </p:spPr>
      </p:pic>
      <p:pic>
        <p:nvPicPr>
          <p:cNvPr id="165" name="Google Shape;165;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484900" y="3641650"/>
            <a:ext cx="2539475" cy="1422100"/>
          </a:xfrm>
          <a:prstGeom prst="rect">
            <a:avLst/>
          </a:prstGeom>
          <a:noFill/>
          <a:ln w="9525" cap="flat" cmpd="sng">
            <a:solidFill>
              <a:srgbClr val="FF0000"/>
            </a:solidFill>
            <a:prstDash val="solid"/>
            <a:round/>
            <a:headEnd type="none" w="sm" len="sm"/>
            <a:tailEnd type="none" w="sm" len="sm"/>
          </a:ln>
        </p:spPr>
      </p:pic>
      <p:pic>
        <p:nvPicPr>
          <p:cNvPr id="166" name="Google Shape;166;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581400" y="164400"/>
            <a:ext cx="5442975" cy="3388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0"/>
          <p:cNvSpPr txBox="1"/>
          <p:nvPr/>
        </p:nvSpPr>
        <p:spPr>
          <a:xfrm>
            <a:off x="55075" y="20375"/>
            <a:ext cx="1278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Grok 4.1</a:t>
            </a:r>
            <a:endParaRPr sz="2000" b="1" i="0" u="none" strike="noStrike" cap="none">
              <a:solidFill>
                <a:schemeClr val="dk1"/>
              </a:solidFill>
              <a:latin typeface="Calibri"/>
              <a:ea typeface="Calibri"/>
              <a:cs typeface="Calibri"/>
              <a:sym typeface="Calibri"/>
            </a:endParaRPr>
          </a:p>
        </p:txBody>
      </p:sp>
      <p:sp>
        <p:nvSpPr>
          <p:cNvPr id="172" name="Google Shape;172;p20"/>
          <p:cNvSpPr txBox="1"/>
          <p:nvPr/>
        </p:nvSpPr>
        <p:spPr>
          <a:xfrm>
            <a:off x="55075" y="443275"/>
            <a:ext cx="44445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Grok 4.1 claimed the #1 position on the LM Arena leaderboard</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surpassing Google's Gemini 2.5 Pro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Released on November 17, 2025 (was silently rolled out for 2 weeks)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Achieves exceptional rankings across multiple benchmarks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Reduced hallucination (via massive RL compute - hallucination rate dropped from 12.09% to 4.22%)</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xAI developed new methods using "frontier agentic reasoning models as reward models to autonomously evaluate and iterate on responses at scale". This represents AI-judged reinforcement learning (RLHF's AI equivalent) where one model evaluates another's subjective outputs like poetry or emotional responses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Better creative writing, richer storytelling, stronger coherence, and more vivid prose compared to previous versions. Response quality is more concise and focused, eliminating the verbose "blabber"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Native multimodal generation, automatically outputting images, tables, and structured content as part of natural conversations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Good coding abilities, but still lags behind Claude Sonnet 3.5 and GPT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successfully solved complex logical reasoning puzzles, including the "Three Gods" riddle requiring self-referential questions and deduction through uncertainty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Grok 4.1 is available to all users, including free tier accounts, through grok.com and mobile apps for iOS and Android. Free users receive 10 requests per 2 hours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https://www.youtube.com/watch?v=Z5ulfaRTI1s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https://www.youtube.com/watch?v=wIR6tRlxgp4</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https://x.ai/news/grok-4-1</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73" name="Google Shape;173;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65900" y="780725"/>
            <a:ext cx="2583975" cy="1519225"/>
          </a:xfrm>
          <a:prstGeom prst="rect">
            <a:avLst/>
          </a:prstGeom>
          <a:noFill/>
          <a:ln w="9525" cap="flat" cmpd="sng">
            <a:solidFill>
              <a:srgbClr val="FF0000"/>
            </a:solidFill>
            <a:prstDash val="solid"/>
            <a:round/>
            <a:headEnd type="none" w="sm" len="sm"/>
            <a:tailEnd type="none" w="sm" len="sm"/>
          </a:ln>
        </p:spPr>
      </p:pic>
      <p:pic>
        <p:nvPicPr>
          <p:cNvPr id="174" name="Google Shape;174;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65900" y="2398950"/>
            <a:ext cx="870152" cy="975625"/>
          </a:xfrm>
          <a:prstGeom prst="rect">
            <a:avLst/>
          </a:prstGeom>
          <a:noFill/>
          <a:ln w="9525" cap="flat" cmpd="sng">
            <a:solidFill>
              <a:srgbClr val="FF0000"/>
            </a:solidFill>
            <a:prstDash val="solid"/>
            <a:round/>
            <a:headEnd type="none" w="sm" len="sm"/>
            <a:tailEnd type="none" w="sm" len="sm"/>
          </a:ln>
        </p:spPr>
      </p:pic>
      <p:sp>
        <p:nvSpPr>
          <p:cNvPr id="175" name="Google Shape;175;p20"/>
          <p:cNvSpPr txBox="1"/>
          <p:nvPr/>
        </p:nvSpPr>
        <p:spPr>
          <a:xfrm>
            <a:off x="4665900" y="3473575"/>
            <a:ext cx="43476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Grok-5 release is planned for Q1 2026. 6 Trillion params, double the size of Grok-4 3 Trillion params. The model will be inherently multimodal (text, pictures, video, audio), feature superior tool creation and use capabilities, and include real-time video understanding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Plan - Encyclopedia Galactica Project - open-source repository of all human knowledge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Plan - Space-Based AI Infrastructure - solar-powered AI satellites in orbit (similar to Google's Project Suncatcher).</a:t>
            </a:r>
            <a:endParaRPr sz="1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1"/>
          <p:cNvSpPr txBox="1"/>
          <p:nvPr/>
        </p:nvSpPr>
        <p:spPr>
          <a:xfrm>
            <a:off x="55075" y="20375"/>
            <a:ext cx="1278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GPT 5.1</a:t>
            </a:r>
            <a:endParaRPr sz="2000" b="1" i="0" u="none" strike="noStrike" cap="none">
              <a:solidFill>
                <a:schemeClr val="dk1"/>
              </a:solidFill>
              <a:latin typeface="Calibri"/>
              <a:ea typeface="Calibri"/>
              <a:cs typeface="Calibri"/>
              <a:sym typeface="Calibri"/>
            </a:endParaRPr>
          </a:p>
        </p:txBody>
      </p:sp>
      <p:sp>
        <p:nvSpPr>
          <p:cNvPr id="181" name="Google Shape;181;p21"/>
          <p:cNvSpPr txBox="1"/>
          <p:nvPr/>
        </p:nvSpPr>
        <p:spPr>
          <a:xfrm>
            <a:off x="55075" y="443275"/>
            <a:ext cx="44445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GPT-5.1</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Faster (adaptive) reasoning. GPT-5.1 adjusts its thinking time based on task complexity. It’s noticeably faster on everyday tasks while staying deep and rigorous on harder ones. And when you need maximum speed, you can set reasoning_effort='none'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Better coding performance - cleaner, more reliable code with stronger step-by-step reasoning. It’s better at refactoring, debugging, UI generation, and quick-iteration workflows—while avoiding unnecessary overthinking on simple edits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Codex Models: gpt-5.1-codex and gpt-5.1-codex-mini</a:t>
            </a:r>
            <a:endParaRPr sz="1100">
              <a:solidFill>
                <a:schemeClr val="dk1"/>
              </a:solidFill>
              <a:latin typeface="Calibri"/>
              <a:ea typeface="Calibri"/>
              <a:cs typeface="Calibri"/>
              <a:sym typeface="Calibri"/>
            </a:endParaRPr>
          </a:p>
          <a:p>
            <a:pPr marL="514350" marR="0" lvl="1"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gpt-5.1: for everyday coding tasks</a:t>
            </a:r>
            <a:endParaRPr sz="1100">
              <a:solidFill>
                <a:schemeClr val="dk1"/>
              </a:solidFill>
              <a:latin typeface="Calibri"/>
              <a:ea typeface="Calibri"/>
              <a:cs typeface="Calibri"/>
              <a:sym typeface="Calibri"/>
            </a:endParaRPr>
          </a:p>
          <a:p>
            <a:pPr marL="514350" marR="0" lvl="1"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gpt-5.1-codex: for complex, long-running agentic coding</a:t>
            </a:r>
            <a:endParaRPr sz="1100">
              <a:solidFill>
                <a:schemeClr val="dk1"/>
              </a:solidFill>
              <a:latin typeface="Calibri"/>
              <a:ea typeface="Calibri"/>
              <a:cs typeface="Calibri"/>
              <a:sym typeface="Calibri"/>
            </a:endParaRPr>
          </a:p>
          <a:p>
            <a:pPr marL="514350" marR="0" lvl="1"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gpt-5.1-codex-mini: for cost-efficient edits and changes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GPT-5.1 unlocks a faster, more reliable building experience.</a:t>
            </a:r>
            <a:endParaRPr sz="1100">
              <a:solidFill>
                <a:schemeClr val="dk1"/>
              </a:solidFill>
              <a:latin typeface="Calibri"/>
              <a:ea typeface="Calibri"/>
              <a:cs typeface="Calibri"/>
              <a:sym typeface="Calibri"/>
            </a:endParaRPr>
          </a:p>
        </p:txBody>
      </p:sp>
      <p:sp>
        <p:nvSpPr>
          <p:cNvPr id="182" name="Google Shape;182;p21"/>
          <p:cNvSpPr txBox="1"/>
          <p:nvPr/>
        </p:nvSpPr>
        <p:spPr>
          <a:xfrm>
            <a:off x="4584200" y="443275"/>
            <a:ext cx="44445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Perplexity Update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Now users can </a:t>
            </a:r>
            <a:r>
              <a:rPr lang="en" sz="1100" b="1">
                <a:solidFill>
                  <a:srgbClr val="FF0000"/>
                </a:solidFill>
                <a:latin typeface="Calibri"/>
                <a:ea typeface="Calibri"/>
                <a:cs typeface="Calibri"/>
                <a:sym typeface="Calibri"/>
              </a:rPr>
              <a:t>create, edit, and manage slides, spreadsheets, and documents</a:t>
            </a:r>
            <a:r>
              <a:rPr lang="en" sz="1100">
                <a:solidFill>
                  <a:schemeClr val="dk1"/>
                </a:solidFill>
                <a:latin typeface="Calibri"/>
                <a:ea typeface="Calibri"/>
                <a:cs typeface="Calibri"/>
                <a:sym typeface="Calibri"/>
              </a:rPr>
              <a:t> directly within the Perplexity search interface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Available only to paid users (Pro &amp; Max) and only on web (not mobile)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Users can research topics and immediately generate ready-to-use assets—such as presentations, business reports, or operational documents—without switching to external applications like Google Slides or Microsoft Office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Real-time editing with AI suggestions that proactively recommend asset types or improvements based on the nature of the research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Business reporting: Instantly format industry data into slides or reports.[1]</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Marketing analysis: Organize campaign data into spreadsheets and presentation-ready formats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Operational planning: Generate documents with action items and timelines based on real-time research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Share/export assets easily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https://www.youtube.com/watch?v=CqJmLsj25K4</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83" name="Google Shape;183;p21"/>
          <p:cNvSpPr txBox="1"/>
          <p:nvPr/>
        </p:nvSpPr>
        <p:spPr>
          <a:xfrm>
            <a:off x="4584200" y="20375"/>
            <a:ext cx="2607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Perplexity Update</a:t>
            </a:r>
            <a:endParaRPr sz="2000" b="1" i="0" u="none" strike="noStrike" cap="none">
              <a:solidFill>
                <a:schemeClr val="dk1"/>
              </a:solidFill>
              <a:latin typeface="Calibri"/>
              <a:ea typeface="Calibri"/>
              <a:cs typeface="Calibri"/>
              <a:sym typeface="Calibri"/>
            </a:endParaRPr>
          </a:p>
        </p:txBody>
      </p:sp>
      <p:pic>
        <p:nvPicPr>
          <p:cNvPr id="184" name="Google Shape;184;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176350" y="2928675"/>
            <a:ext cx="1781575" cy="1068950"/>
          </a:xfrm>
          <a:prstGeom prst="rect">
            <a:avLst/>
          </a:prstGeom>
          <a:noFill/>
          <a:ln w="9525" cap="flat" cmpd="sng">
            <a:solidFill>
              <a:srgbClr val="FF0000"/>
            </a:solidFill>
            <a:prstDash val="solid"/>
            <a:round/>
            <a:headEnd type="none" w="sm" len="sm"/>
            <a:tailEnd type="none" w="sm" len="sm"/>
          </a:ln>
        </p:spPr>
      </p:pic>
      <p:pic>
        <p:nvPicPr>
          <p:cNvPr id="185" name="Google Shape;185;p21"/>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377700" y="3436575"/>
            <a:ext cx="2857500" cy="8618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2"/>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- 1</a:t>
            </a:r>
            <a:endParaRPr sz="2000" b="1" i="0" u="none" strike="noStrike" cap="none">
              <a:solidFill>
                <a:schemeClr val="dk1"/>
              </a:solidFill>
              <a:latin typeface="Calibri"/>
              <a:ea typeface="Calibri"/>
              <a:cs typeface="Calibri"/>
              <a:sym typeface="Calibri"/>
            </a:endParaRPr>
          </a:p>
        </p:txBody>
      </p:sp>
      <p:sp>
        <p:nvSpPr>
          <p:cNvPr id="191" name="Google Shape;191;p22"/>
          <p:cNvSpPr txBox="1"/>
          <p:nvPr/>
        </p:nvSpPr>
        <p:spPr>
          <a:xfrm>
            <a:off x="55075" y="443276"/>
            <a:ext cx="44445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China photonic quantum chip</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https://www.youtube.com/watch?v=OA02eRm11JU</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Claims 1000x speed boost over NVIDIA GPUs for specific AI jobs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chip was developed jointly by CHIPX (Chip Hub for Integrated Photonics Xplore), a Wuxi-based institute affiliated with Shanghai Jiao Tong University, and Turing Quantum, a Shanghai-based startup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Chip uses photons (light) as information carriers rather than electrical signals; has 1K+ optical components in a single 6-inch thin-film lithium niobate wafer using a monolithic design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Electronic and photonic components on the same wafer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CHIPX has established China's first pilot production line for 12K wafers per year. Each wafer yielding approximately 350 chips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chip is already being used across aerospace, biomedicine, and finance sectors, providing computational capabilities that exceed classical computer limits for specific problem types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developers describe this as the 1st  "industrial-grade" optical quantum chip, indicating a shift from laboratory prototypes to production-ready data center hardware</a:t>
            </a:r>
            <a:endParaRPr sz="1100">
              <a:solidFill>
                <a:schemeClr val="dk1"/>
              </a:solidFill>
              <a:latin typeface="Calibri"/>
              <a:ea typeface="Calibri"/>
              <a:cs typeface="Calibri"/>
              <a:sym typeface="Calibri"/>
            </a:endParaRPr>
          </a:p>
        </p:txBody>
      </p:sp>
      <p:sp>
        <p:nvSpPr>
          <p:cNvPr id="192" name="Google Shape;192;p22"/>
          <p:cNvSpPr txBox="1"/>
          <p:nvPr/>
        </p:nvSpPr>
        <p:spPr>
          <a:xfrm>
            <a:off x="55075" y="3605776"/>
            <a:ext cx="44445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 30 Bln deals with Microsoft &amp; NVIDIA</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Anthropic committed to $30 Bln in compute spend on Azure and NVIDIA GPUs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Microsoft and NVIDIA will invest up to $5 Bln and $10 Bln, respectively, in Anthropic</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deal integrates Anthropic's Claude models into Azure and Microsoft products, providing customers with increased AI model choice.</a:t>
            </a:r>
            <a:endParaRPr sz="1100">
              <a:solidFill>
                <a:schemeClr val="dk1"/>
              </a:solidFill>
              <a:latin typeface="Calibri"/>
              <a:ea typeface="Calibri"/>
              <a:cs typeface="Calibri"/>
              <a:sym typeface="Calibri"/>
            </a:endParaRPr>
          </a:p>
        </p:txBody>
      </p:sp>
      <p:pic>
        <p:nvPicPr>
          <p:cNvPr id="193" name="Google Shape;193;p22"/>
          <p:cNvPicPr preferRelativeResize="0"/>
          <p:nvPr/>
        </p:nvPicPr>
        <p:blipFill>
          <a:blip r:embed="rId4">
            <a:alphaModFix/>
          </a:blip>
          <a:stretch>
            <a:fillRect/>
          </a:stretch>
        </p:blipFill>
        <p:spPr>
          <a:xfrm>
            <a:off x="4651975" y="3509275"/>
            <a:ext cx="2847975" cy="1600200"/>
          </a:xfrm>
          <a:prstGeom prst="rect">
            <a:avLst/>
          </a:prstGeom>
          <a:noFill/>
          <a:ln w="9525" cap="flat" cmpd="sng">
            <a:solidFill>
              <a:srgbClr val="FF0000"/>
            </a:solidFill>
            <a:prstDash val="solid"/>
            <a:round/>
            <a:headEnd type="none" w="sm" len="sm"/>
            <a:tailEnd type="none" w="sm" len="sm"/>
          </a:ln>
        </p:spPr>
      </p:pic>
      <p:pic>
        <p:nvPicPr>
          <p:cNvPr id="194" name="Google Shape;194;p22"/>
          <p:cNvPicPr preferRelativeResize="0"/>
          <p:nvPr/>
        </p:nvPicPr>
        <p:blipFill>
          <a:blip r:embed="rId5">
            <a:alphaModFix/>
          </a:blip>
          <a:stretch>
            <a:fillRect/>
          </a:stretch>
        </p:blipFill>
        <p:spPr>
          <a:xfrm>
            <a:off x="4628163" y="854900"/>
            <a:ext cx="2895600" cy="1581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3"/>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5.64K subscribers, 253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200" name="Google Shape;200;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31375" y="93500"/>
            <a:ext cx="3819898" cy="495649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4"/>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Serena open-source AI coding toolkit</a:t>
            </a:r>
            <a:endParaRPr sz="2000" b="1" i="0" u="none" strike="noStrike" cap="none">
              <a:solidFill>
                <a:schemeClr val="dk1"/>
              </a:solidFill>
              <a:latin typeface="Calibri"/>
              <a:ea typeface="Calibri"/>
              <a:cs typeface="Calibri"/>
              <a:sym typeface="Calibri"/>
            </a:endParaRPr>
          </a:p>
        </p:txBody>
      </p:sp>
      <p:sp>
        <p:nvSpPr>
          <p:cNvPr id="206" name="Google Shape;206;p24"/>
          <p:cNvSpPr txBox="1"/>
          <p:nvPr/>
        </p:nvSpPr>
        <p:spPr>
          <a:xfrm>
            <a:off x="55075" y="443275"/>
            <a:ext cx="49857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Serena open-source AI coding toolkit</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https://www.youtube.com/watch?v=KeXmXYAaUU4</a:t>
            </a:r>
            <a:r>
              <a:rPr lang="en" sz="1100">
                <a:solidFill>
                  <a:schemeClr val="dk1"/>
                </a:solidFill>
                <a:latin typeface="Calibri"/>
                <a:ea typeface="Calibri"/>
                <a:cs typeface="Calibri"/>
                <a:sym typeface="Calibri"/>
              </a:rPr>
              <a:t> - video demo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https://github.com/oraios/serena</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https://www.everydev.ai/tools/serena</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Serena transforms LLMs and coding agents from basic code generators into sophisticated assistants with IDE-grade capabilities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Instead of scanning entire files or performing simple text searches, Serena enables AI agents to use code-centric tools like finding symbols, locating references, and making context-aware edits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leverages the Language Server Protocol (LSP) to provide semantic analysis across 30+ programming languages including Python, JavaScript, and many others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Unlike spec-driven frameworks such as BMAD, SpecKit, and OpenSpec - which focus on planning and structuring tasks - Serena specializes in providing semantic code intelligence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While those tools help agents plan workflows, Serena gives agents the ability to understand code symbols, navigate real codebases, and make precise edits with IDE-grade accuracy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Serena complements spec-driven frameworks by handling the actual code editing portion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Serena works through the MCP server and integrates with multiple platforms including Claude Desktop, VSCode, Cursor, IDEs, and extensions like Cline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 can install it locally using UV and Git, through Docker (experimental), or most easily via MCP server configuration. The video demonstrates it working with Cilo Code (Kilo Code), where the agent successfully performed semantic searches across a large codebase and added methods to application classes efficiently</a:t>
            </a:r>
            <a:endParaRPr sz="1100">
              <a:solidFill>
                <a:schemeClr val="dk1"/>
              </a:solidFill>
              <a:latin typeface="Calibri"/>
              <a:ea typeface="Calibri"/>
              <a:cs typeface="Calibri"/>
              <a:sym typeface="Calibri"/>
            </a:endParaRPr>
          </a:p>
        </p:txBody>
      </p:sp>
      <p:pic>
        <p:nvPicPr>
          <p:cNvPr id="207" name="Google Shape;207;p24"/>
          <p:cNvPicPr preferRelativeResize="0"/>
          <p:nvPr/>
        </p:nvPicPr>
        <p:blipFill>
          <a:blip r:embed="rId6">
            <a:alphaModFix/>
          </a:blip>
          <a:stretch>
            <a:fillRect/>
          </a:stretch>
        </p:blipFill>
        <p:spPr>
          <a:xfrm>
            <a:off x="5357425" y="443275"/>
            <a:ext cx="2562225" cy="942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5"/>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DeepMind SIMA 2 Research Preview</a:t>
            </a:r>
            <a:endParaRPr sz="2000" b="1" i="0" u="none" strike="noStrike" cap="none">
              <a:solidFill>
                <a:schemeClr val="dk1"/>
              </a:solidFill>
              <a:latin typeface="Calibri"/>
              <a:ea typeface="Calibri"/>
              <a:cs typeface="Calibri"/>
              <a:sym typeface="Calibri"/>
            </a:endParaRPr>
          </a:p>
        </p:txBody>
      </p:sp>
      <p:sp>
        <p:nvSpPr>
          <p:cNvPr id="213" name="Google Shape;213;p25"/>
          <p:cNvSpPr txBox="1"/>
          <p:nvPr/>
        </p:nvSpPr>
        <p:spPr>
          <a:xfrm>
            <a:off x="55075" y="403426"/>
            <a:ext cx="4444500" cy="4051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DeepMind SIMA 2 Research Preview</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SIMA 2 is a AI agent that plays video games </a:t>
            </a:r>
            <a:r>
              <a:rPr lang="en" sz="1100">
                <a:solidFill>
                  <a:schemeClr val="dk1"/>
                </a:solidFill>
                <a:latin typeface="Calibri"/>
                <a:ea typeface="Calibri"/>
                <a:cs typeface="Calibri"/>
                <a:sym typeface="Calibri"/>
              </a:rPr>
              <a:t>by observing the screen and using keyboard/mouse controls just like humans do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Skills can potentially transfer to physical robots</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Task completion rates jumped from 31% (SIMA 1) to 65% (SIMA 2), approaching the 76% human benchmark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agent now handles unseen game environments with 13-14% success rates versus near-zero previously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understands complex instructions, reasons about goals, follows multi-step commands, and interprets ambiguous requests like "go to the tomato house" by correctly inferring the user meant the red building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SIMA 2 uses Gemini 2.5 flash-lite in three simultaneous roles: playing the game, setting tasks, and grading performance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creates an autonomous learning cycle where the AI generates its own training data through self-directed play, eliminating the need for additional human-labeled datasets. </a:t>
            </a:r>
            <a:r>
              <a:rPr lang="en" sz="1100" b="1">
                <a:solidFill>
                  <a:srgbClr val="FF0000"/>
                </a:solidFill>
                <a:latin typeface="Calibri"/>
                <a:ea typeface="Calibri"/>
                <a:cs typeface="Calibri"/>
                <a:sym typeface="Calibri"/>
              </a:rPr>
              <a:t>The system learns exclusively through trial-and-error in new environments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SIMA-2 can be combined with </a:t>
            </a:r>
            <a:r>
              <a:rPr lang="en" sz="1100" b="1">
                <a:solidFill>
                  <a:srgbClr val="3C78D8"/>
                </a:solidFill>
                <a:latin typeface="Calibri"/>
                <a:ea typeface="Calibri"/>
                <a:cs typeface="Calibri"/>
                <a:sym typeface="Calibri"/>
              </a:rPr>
              <a:t>Genie-3 (a model that generates playable 3D environments from text and images)</a:t>
            </a:r>
            <a:r>
              <a:rPr lang="en" sz="1100">
                <a:solidFill>
                  <a:schemeClr val="dk1"/>
                </a:solidFill>
                <a:latin typeface="Calibri"/>
                <a:ea typeface="Calibri"/>
                <a:cs typeface="Calibri"/>
                <a:sym typeface="Calibri"/>
              </a:rPr>
              <a:t>. SIMA-2 navigates and completes tasks in these procedurally generated environments it has never encountered, with world memory ensuring objects and changes persist across sessions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900" u="sng">
                <a:solidFill>
                  <a:schemeClr val="hlink"/>
                </a:solidFill>
                <a:latin typeface="Calibri"/>
                <a:ea typeface="Calibri"/>
                <a:cs typeface="Calibri"/>
                <a:sym typeface="Calibri"/>
                <a:hlinkClick r:id="rId3"/>
              </a:rPr>
              <a:t>https://deepmind.google/blog/sima-2-an-agent-that-plays-reasons-and-learns-with-you-in-virtual-3d-worlds/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214" name="Google Shape;214;p25"/>
          <p:cNvSpPr txBox="1"/>
          <p:nvPr/>
        </p:nvSpPr>
        <p:spPr>
          <a:xfrm>
            <a:off x="4574900" y="2235226"/>
            <a:ext cx="44445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agent can transfer concepts between completely different games. Skills learned from mining in Minecraft apply to harvesting in Viking survival games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SIMA 2's core capabilities - navigation, tool use, instruction following, collaborative task execution - are fundamental building blocks for embodied intelligence - robots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pixel-to-action learning paradigm maps directly to robots processing sensor data and controlling physical components. Virtual worlds provide safe, scalable training environments that eliminate expensive real-world datasets and dangerous physical training.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Limitations: restricted memory and context windows to maintain low-latency interactions, difficulties with long-horizon tasks, and challenges in complex 3D navigation</a:t>
            </a:r>
            <a:endParaRPr sz="1100">
              <a:solidFill>
                <a:schemeClr val="dk1"/>
              </a:solidFill>
              <a:latin typeface="Calibri"/>
              <a:ea typeface="Calibri"/>
              <a:cs typeface="Calibri"/>
              <a:sym typeface="Calibri"/>
            </a:endParaRPr>
          </a:p>
        </p:txBody>
      </p:sp>
      <p:pic>
        <p:nvPicPr>
          <p:cNvPr id="215" name="Google Shape;215;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75746" y="403425"/>
            <a:ext cx="3131075" cy="17612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6"/>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2</a:t>
            </a:r>
            <a:endParaRPr sz="2000" b="1" i="0" u="none" strike="noStrike" cap="none">
              <a:solidFill>
                <a:schemeClr val="dk1"/>
              </a:solidFill>
              <a:latin typeface="Calibri"/>
              <a:ea typeface="Calibri"/>
              <a:cs typeface="Calibri"/>
              <a:sym typeface="Calibri"/>
            </a:endParaRPr>
          </a:p>
        </p:txBody>
      </p:sp>
      <p:sp>
        <p:nvSpPr>
          <p:cNvPr id="221" name="Google Shape;221;p26"/>
          <p:cNvSpPr txBox="1"/>
          <p:nvPr/>
        </p:nvSpPr>
        <p:spPr>
          <a:xfrm>
            <a:off x="44825" y="1014185"/>
            <a:ext cx="5406600" cy="266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"Flows" - in Google Workspace - new no-code AI automation platform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Automate workflows across Gmail, Drive, Calendar, Chat, and Forms using natural language instructions. Users can create AI agents that can research, analyze, summarize, and generate content while triggering multi-step processes across an organization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Starters (triggers), conditions, actions, functions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Users can either describe tasks in plain English to have Gemini build the automation, or use a drag-and-drop visual builder similar to platforms like Make or Zapier</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What sets Flows apart is its deep integration with Google's AI, providing contextual understanding that goes beyond simply running steps</a:t>
            </a:r>
            <a:endParaRPr sz="11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https://www.youtube.com/watch?v=UACj1WqXU2Q</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https://sites.google.com/view/workspace-flows/about</a:t>
            </a:r>
            <a:r>
              <a:rPr lang="en" sz="900">
                <a:latin typeface="Calibri"/>
                <a:ea typeface="Calibri"/>
                <a:cs typeface="Calibri"/>
                <a:sym typeface="Calibri"/>
              </a:rPr>
              <a:t> </a:t>
            </a:r>
            <a:endParaRPr sz="9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Example: automating email notifications from key contacts, extracting and summarizing email content about specific topics, and sending summaries to Google Chat. </a:t>
            </a:r>
            <a:br>
              <a:rPr lang="en" sz="1100">
                <a:latin typeface="Calibri"/>
                <a:ea typeface="Calibri"/>
                <a:cs typeface="Calibri"/>
                <a:sym typeface="Calibri"/>
              </a:rPr>
            </a:br>
            <a:r>
              <a:rPr lang="en" sz="1100">
                <a:latin typeface="Calibri"/>
                <a:ea typeface="Calibri"/>
                <a:cs typeface="Calibri"/>
                <a:sym typeface="Calibri"/>
              </a:rPr>
              <a:t>Example: creating a lead enrichment agent: automatically processes incoming leads from forms or emails, uses Gemini to research the company, scores the lead quality, extracts contact details, and updates a sales CRM sheet - all configured in under 30 sec</a:t>
            </a:r>
            <a:endParaRPr sz="1100">
              <a:latin typeface="Calibri"/>
              <a:ea typeface="Calibri"/>
              <a:cs typeface="Calibri"/>
              <a:sym typeface="Calibri"/>
            </a:endParaRPr>
          </a:p>
        </p:txBody>
      </p:sp>
      <p:sp>
        <p:nvSpPr>
          <p:cNvPr id="222" name="Google Shape;222;p26"/>
          <p:cNvSpPr txBox="1"/>
          <p:nvPr/>
        </p:nvSpPr>
        <p:spPr>
          <a:xfrm>
            <a:off x="55075" y="408802"/>
            <a:ext cx="4444500" cy="46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 Disrupting AI-orchestrated cyber espionage campaign</a:t>
            </a:r>
            <a:endParaRPr sz="9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https://assets.anthropic.com/m/ec212e6566a0d47/original/Disrupting-the-first-reported-AI-orchestrated-cyber-espionage-campaign.pdf</a:t>
            </a:r>
            <a:endParaRPr sz="900">
              <a:solidFill>
                <a:schemeClr val="dk1"/>
              </a:solidFill>
              <a:latin typeface="Calibri"/>
              <a:ea typeface="Calibri"/>
              <a:cs typeface="Calibri"/>
              <a:sym typeface="Calibri"/>
            </a:endParaRPr>
          </a:p>
        </p:txBody>
      </p:sp>
      <p:sp>
        <p:nvSpPr>
          <p:cNvPr id="223" name="Google Shape;223;p26"/>
          <p:cNvSpPr txBox="1"/>
          <p:nvPr/>
        </p:nvSpPr>
        <p:spPr>
          <a:xfrm>
            <a:off x="44825" y="3766385"/>
            <a:ext cx="54066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U.S. must back open-source AI</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Databricks Co-Founder Urges Open AI Race: Ali Ghodsi argues the U.S. must back open-source AI to stay ahead of China. He warns closed models risk falling behind in innovation and trust.</a:t>
            </a:r>
            <a:endParaRPr sz="1100">
              <a:latin typeface="Calibri"/>
              <a:ea typeface="Calibri"/>
              <a:cs typeface="Calibri"/>
              <a:sym typeface="Calibri"/>
            </a:endParaRPr>
          </a:p>
        </p:txBody>
      </p:sp>
      <p:pic>
        <p:nvPicPr>
          <p:cNvPr id="224" name="Google Shape;224;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648750" y="3634725"/>
            <a:ext cx="1141175" cy="1141175"/>
          </a:xfrm>
          <a:prstGeom prst="rect">
            <a:avLst/>
          </a:prstGeom>
          <a:noFill/>
          <a:ln w="9525" cap="flat" cmpd="sng">
            <a:solidFill>
              <a:srgbClr val="FF0000"/>
            </a:solidFill>
            <a:prstDash val="solid"/>
            <a:round/>
            <a:headEnd type="none" w="sm" len="sm"/>
            <a:tailEnd type="none" w="sm" len="sm"/>
          </a:ln>
        </p:spPr>
      </p:pic>
      <p:pic>
        <p:nvPicPr>
          <p:cNvPr id="225" name="Google Shape;225;p2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603825" y="152400"/>
            <a:ext cx="1934749" cy="1204425"/>
          </a:xfrm>
          <a:prstGeom prst="rect">
            <a:avLst/>
          </a:prstGeom>
          <a:noFill/>
          <a:ln w="9525" cap="flat" cmpd="sng">
            <a:solidFill>
              <a:srgbClr val="FF0000"/>
            </a:solidFill>
            <a:prstDash val="solid"/>
            <a:round/>
            <a:headEnd type="none" w="sm" len="sm"/>
            <a:tailEnd type="none" w="sm" len="sm"/>
          </a:ln>
        </p:spPr>
      </p:pic>
      <p:pic>
        <p:nvPicPr>
          <p:cNvPr id="226" name="Google Shape;226;p26"/>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603825" y="1752400"/>
            <a:ext cx="3035050" cy="13690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7"/>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3</a:t>
            </a:r>
            <a:endParaRPr sz="2000" b="1" i="0" u="none" strike="noStrike" cap="none">
              <a:solidFill>
                <a:schemeClr val="dk1"/>
              </a:solidFill>
              <a:latin typeface="Calibri"/>
              <a:ea typeface="Calibri"/>
              <a:cs typeface="Calibri"/>
              <a:sym typeface="Calibri"/>
            </a:endParaRPr>
          </a:p>
        </p:txBody>
      </p:sp>
      <p:sp>
        <p:nvSpPr>
          <p:cNvPr id="232" name="Google Shape;232;p27"/>
          <p:cNvSpPr txBox="1"/>
          <p:nvPr/>
        </p:nvSpPr>
        <p:spPr>
          <a:xfrm>
            <a:off x="55075" y="463750"/>
            <a:ext cx="44445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2wai, an AI platform creates interactive avatars</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You can create avatars of deceased relatives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Founded by Disney Channel actor Calum Worthy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https://x.com/CalumWorthy/status/1988283207138324487</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https://www.2wai.ai</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33" name="Google Shape;233;p2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60225" y="136625"/>
            <a:ext cx="1141175" cy="1519145"/>
          </a:xfrm>
          <a:prstGeom prst="rect">
            <a:avLst/>
          </a:prstGeom>
          <a:noFill/>
          <a:ln w="9525" cap="flat" cmpd="sng">
            <a:solidFill>
              <a:srgbClr val="FF0000"/>
            </a:solidFill>
            <a:prstDash val="solid"/>
            <a:round/>
            <a:headEnd type="none" w="sm" len="sm"/>
            <a:tailEnd type="none" w="sm" len="sm"/>
          </a:ln>
        </p:spPr>
      </p:pic>
      <p:sp>
        <p:nvSpPr>
          <p:cNvPr id="234" name="Google Shape;234;p27"/>
          <p:cNvSpPr txBox="1"/>
          <p:nvPr/>
        </p:nvSpPr>
        <p:spPr>
          <a:xfrm>
            <a:off x="55075" y="1389103"/>
            <a:ext cx="4444500" cy="235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Tutorial on how to use Claude to Make Financial Dashboards</a:t>
            </a:r>
            <a:endParaRPr sz="9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https://app.therundown.ai/guides/use-claude-to-organize-your-business-finances</a:t>
            </a:r>
            <a:r>
              <a:rPr lang="en" sz="900">
                <a:latin typeface="Calibri"/>
                <a:ea typeface="Calibri"/>
                <a:cs typeface="Calibri"/>
                <a:sym typeface="Calibri"/>
              </a:rPr>
              <a:t> </a:t>
            </a:r>
            <a:endParaRPr sz="900">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FP&amp;A = Financial Planning &amp; Analysis</a:t>
            </a:r>
            <a:endParaRPr sz="1100" b="1">
              <a:solidFill>
                <a:srgbClr val="FF0000"/>
              </a:solidFill>
              <a:latin typeface="Calibri"/>
              <a:ea typeface="Calibri"/>
              <a:cs typeface="Calibri"/>
              <a:sym typeface="Calibri"/>
            </a:endParaRPr>
          </a:p>
          <a:p>
            <a:pPr marL="400050" marR="0" lvl="1"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Go to Claude, sign in, select Sonnet 4.5, and enable extended thinking and web search in settings</a:t>
            </a:r>
            <a:endParaRPr sz="1100">
              <a:latin typeface="Calibri"/>
              <a:ea typeface="Calibri"/>
              <a:cs typeface="Calibri"/>
              <a:sym typeface="Calibri"/>
            </a:endParaRPr>
          </a:p>
          <a:p>
            <a:pPr marL="400050" marR="0" lvl="1"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Upload your financial documents (revenue statements, invoices, expenses, inventory) and prompt Claude with what you want: your goal, file types, organization structure, and desired aesthetic</a:t>
            </a:r>
            <a:endParaRPr sz="1100">
              <a:latin typeface="Calibri"/>
              <a:ea typeface="Calibri"/>
              <a:cs typeface="Calibri"/>
              <a:sym typeface="Calibri"/>
            </a:endParaRPr>
          </a:p>
          <a:p>
            <a:pPr marL="400050" marR="0" lvl="1"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Review the generated dashboard showing metrics like total revenue, expenses, net profit, plus pie charts and bar graphs; request changes in natural language</a:t>
            </a:r>
            <a:endParaRPr sz="1100">
              <a:latin typeface="Calibri"/>
              <a:ea typeface="Calibri"/>
              <a:cs typeface="Calibri"/>
              <a:sym typeface="Calibri"/>
            </a:endParaRPr>
          </a:p>
          <a:p>
            <a:pPr marL="400050" marR="0" lvl="1"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Add enrichments like "Add a column showing how many days since each invoice to see which pending payments are getting old," then click publish and share the artifact link with stakeholders</a:t>
            </a:r>
            <a:endParaRPr sz="1100">
              <a:latin typeface="Calibri"/>
              <a:ea typeface="Calibri"/>
              <a:cs typeface="Calibri"/>
              <a:sym typeface="Calibri"/>
            </a:endParaRPr>
          </a:p>
        </p:txBody>
      </p:sp>
      <p:sp>
        <p:nvSpPr>
          <p:cNvPr id="235" name="Google Shape;235;p27"/>
          <p:cNvSpPr txBox="1"/>
          <p:nvPr/>
        </p:nvSpPr>
        <p:spPr>
          <a:xfrm>
            <a:off x="55075" y="3807556"/>
            <a:ext cx="44445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Cerebras MiniMax-M2-REAP-162B-A10B</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 Memory Efficient Version of MiniMax-M2 for Long Context Coding</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Sparse MoE Causal Language Model</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Uses Router weighted Expert Activation Pruning (REAP) to decrease from 230B to 162B total params. 10B active per token, 62 layers, 48 heads, 180 experts and a 196,608 token context window, while maintaining near identical accuracy to MiniMax-M2</a:t>
            </a:r>
            <a:endParaRPr sz="1100">
              <a:latin typeface="Calibri"/>
              <a:ea typeface="Calibri"/>
              <a:cs typeface="Calibri"/>
              <a:sym typeface="Calibri"/>
            </a:endParaRPr>
          </a:p>
        </p:txBody>
      </p:sp>
      <p:pic>
        <p:nvPicPr>
          <p:cNvPr id="236" name="Google Shape;236;p2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01125" y="4041513"/>
            <a:ext cx="3622700" cy="7356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8"/>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4</a:t>
            </a:r>
            <a:endParaRPr sz="2000" b="1" i="0" u="none" strike="noStrike" cap="none">
              <a:solidFill>
                <a:schemeClr val="dk1"/>
              </a:solidFill>
              <a:latin typeface="Calibri"/>
              <a:ea typeface="Calibri"/>
              <a:cs typeface="Calibri"/>
              <a:sym typeface="Calibri"/>
            </a:endParaRPr>
          </a:p>
        </p:txBody>
      </p:sp>
      <p:sp>
        <p:nvSpPr>
          <p:cNvPr id="242" name="Google Shape;242;p28"/>
          <p:cNvSpPr txBox="1"/>
          <p:nvPr/>
        </p:nvSpPr>
        <p:spPr>
          <a:xfrm>
            <a:off x="55075" y="551881"/>
            <a:ext cx="44445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FutureHouse Kosmos AI Scientist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Transitioning to commercial spinout Edison Scientific</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Released an AI scientist that reads 1,500 papers and runs 42,000 lines of analysis code per run at $200/run with a </a:t>
            </a:r>
            <a:r>
              <a:rPr lang="en" sz="1100">
                <a:solidFill>
                  <a:schemeClr val="dk1"/>
                </a:solidFill>
                <a:latin typeface="Calibri"/>
                <a:ea typeface="Calibri"/>
                <a:cs typeface="Calibri"/>
                <a:sym typeface="Calibri"/>
              </a:rPr>
              <a:t>generous free tier for academics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Beta users estimate that a single Kosmos run accomplishes what would take them six months, with 79.4% of conclusions accurate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System sometimes pursues statistically significant but scientifically irrelevant findings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It's already made seven discoveries—three reproduced unpublished findings and four contributed novel insights, including one related to Alzheimer's that was validated in human tissue</a:t>
            </a:r>
            <a:endParaRPr sz="1100">
              <a:latin typeface="Calibri"/>
              <a:ea typeface="Calibri"/>
              <a:cs typeface="Calibri"/>
              <a:sym typeface="Calibri"/>
            </a:endParaRPr>
          </a:p>
        </p:txBody>
      </p:sp>
      <p:sp>
        <p:nvSpPr>
          <p:cNvPr id="243" name="Google Shape;243;p28"/>
          <p:cNvSpPr txBox="1"/>
          <p:nvPr/>
        </p:nvSpPr>
        <p:spPr>
          <a:xfrm>
            <a:off x="55075" y="2534156"/>
            <a:ext cx="44445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Jeff Bezos Project Prometheus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$6.2 Bln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Co-led </a:t>
            </a:r>
            <a:r>
              <a:rPr lang="en" sz="1100">
                <a:solidFill>
                  <a:schemeClr val="dk1"/>
                </a:solidFill>
                <a:latin typeface="Calibri"/>
                <a:ea typeface="Calibri"/>
                <a:cs typeface="Calibri"/>
                <a:sym typeface="Calibri"/>
              </a:rPr>
              <a:t>by Vik Bajaj - </a:t>
            </a:r>
            <a:r>
              <a:rPr lang="en" sz="1100" u="sng">
                <a:solidFill>
                  <a:schemeClr val="hlink"/>
                </a:solidFill>
                <a:latin typeface="Calibri"/>
                <a:ea typeface="Calibri"/>
                <a:cs typeface="Calibri"/>
                <a:sym typeface="Calibri"/>
                <a:hlinkClick r:id="rId3"/>
              </a:rPr>
              <a:t>https://www.linkedin.com/in/drvikbajaj/</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for the physical economy (engineering and manufacturing) with a team of 100 engineers.</a:t>
            </a:r>
            <a:endParaRPr sz="1100">
              <a:latin typeface="Calibri"/>
              <a:ea typeface="Calibri"/>
              <a:cs typeface="Calibri"/>
              <a:sym typeface="Calibri"/>
            </a:endParaRPr>
          </a:p>
        </p:txBody>
      </p:sp>
      <p:pic>
        <p:nvPicPr>
          <p:cNvPr id="244" name="Google Shape;244;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51975" y="2534150"/>
            <a:ext cx="1544464" cy="864900"/>
          </a:xfrm>
          <a:prstGeom prst="rect">
            <a:avLst/>
          </a:prstGeom>
          <a:noFill/>
          <a:ln>
            <a:noFill/>
          </a:ln>
        </p:spPr>
      </p:pic>
      <p:sp>
        <p:nvSpPr>
          <p:cNvPr id="245" name="Google Shape;245;p28"/>
          <p:cNvSpPr txBox="1"/>
          <p:nvPr/>
        </p:nvSpPr>
        <p:spPr>
          <a:xfrm>
            <a:off x="55075" y="3500331"/>
            <a:ext cx="44445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Google AI Ultra $250/mo</a:t>
            </a:r>
            <a:r>
              <a:rPr lang="en" sz="1100">
                <a:latin typeface="Calibri"/>
                <a:ea typeface="Calibri"/>
                <a:cs typeface="Calibri"/>
                <a:sym typeface="Calibri"/>
              </a:rPr>
              <a:t> ($125/mo for first 3 months)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Highest limits to features and models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Gemini app, 2.5 Pro Deep Think, Veo 3.1 (video), Whisk (image-to-video), Flow (AI Film making), NotebookLM, Gemini in Gmail, Docs, Vids &amp; more, Project Mariner (early access) - agentic research, YouTube Premium, Google Home Premium Advanced, Gemini Code Assist, Gemini CLI, Jules (asynchronous coding agent), 30 TB of storage for Photos, Drive &amp; Gmail</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https://one.google.com/ai</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46" name="Google Shape;246;p28"/>
          <p:cNvPicPr preferRelativeResize="0"/>
          <p:nvPr/>
        </p:nvPicPr>
        <p:blipFill>
          <a:blip r:embed="rId6">
            <a:alphaModFix/>
          </a:blip>
          <a:stretch>
            <a:fillRect/>
          </a:stretch>
        </p:blipFill>
        <p:spPr>
          <a:xfrm>
            <a:off x="4651965" y="3824925"/>
            <a:ext cx="2552700" cy="723900"/>
          </a:xfrm>
          <a:prstGeom prst="rect">
            <a:avLst/>
          </a:prstGeom>
          <a:noFill/>
          <a:ln w="9525" cap="flat" cmpd="sng">
            <a:solidFill>
              <a:srgbClr val="FF0000"/>
            </a:solidFill>
            <a:prstDash val="solid"/>
            <a:round/>
            <a:headEnd type="none" w="sm" len="sm"/>
            <a:tailEnd type="none" w="sm" len="sm"/>
          </a:ln>
        </p:spPr>
      </p:pic>
      <p:pic>
        <p:nvPicPr>
          <p:cNvPr id="247" name="Google Shape;247;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01050" y="1026000"/>
            <a:ext cx="3103775" cy="7899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9"/>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5</a:t>
            </a:r>
            <a:endParaRPr sz="2000" b="1" i="0" u="none" strike="noStrike" cap="none">
              <a:solidFill>
                <a:schemeClr val="dk1"/>
              </a:solidFill>
              <a:latin typeface="Calibri"/>
              <a:ea typeface="Calibri"/>
              <a:cs typeface="Calibri"/>
              <a:sym typeface="Calibri"/>
            </a:endParaRPr>
          </a:p>
        </p:txBody>
      </p:sp>
      <p:sp>
        <p:nvSpPr>
          <p:cNvPr id="253" name="Google Shape;253;p29"/>
          <p:cNvSpPr txBox="1"/>
          <p:nvPr/>
        </p:nvSpPr>
        <p:spPr>
          <a:xfrm>
            <a:off x="55075" y="401775"/>
            <a:ext cx="50079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Google's Gemini CLI updates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interactive shell support, redesigned UI, custom command automation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PTY (pseudo-terminal) support - run terminal commands like vim, htop, and git rebase directly inside Gemini CLI without switching contexts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Better UI - flicker-free display, sticky headers, stable input prompt at the bottom, mouse support, preserves your full chat history even when using alternate screen buffers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You can now create your own slash commands using TOML files stored in your Gemini commands folder. These commands support variable placeholders using `{{args}}`, can execute shell commands within prompts using `!{...}` syntax, and allow you to namespace commands into organized folders like `/git commit` or `/git review`. This enables one-line automation of repetitive tasks - for example, a `/plan` command for project planning or a `/review` command that analyzes your git diff</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JSON streaming output for automation, a markdown toggle, arrow key editing for queued messages, improved web fetch for JSON APIs, and the ability to run slash commands non-interactively from scripts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CLI is open source:    </a:t>
            </a:r>
            <a:r>
              <a:rPr lang="en" sz="1100" b="1">
                <a:solidFill>
                  <a:srgbClr val="3C78D8"/>
                </a:solidFill>
                <a:latin typeface="Calibri"/>
                <a:ea typeface="Calibri"/>
                <a:cs typeface="Calibri"/>
                <a:sym typeface="Calibri"/>
              </a:rPr>
              <a:t>npm install -g @google/gemini-cli</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https://www.youtube.com/watch?v=8K_V2oTUXtc</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54" name="Google Shape;254;p29"/>
          <p:cNvPicPr preferRelativeResize="0"/>
          <p:nvPr/>
        </p:nvPicPr>
        <p:blipFill>
          <a:blip r:embed="rId4">
            <a:alphaModFix/>
          </a:blip>
          <a:stretch>
            <a:fillRect/>
          </a:stretch>
        </p:blipFill>
        <p:spPr>
          <a:xfrm>
            <a:off x="5197725" y="627525"/>
            <a:ext cx="3924300" cy="1162050"/>
          </a:xfrm>
          <a:prstGeom prst="rect">
            <a:avLst/>
          </a:prstGeom>
          <a:noFill/>
          <a:ln w="9525" cap="flat" cmpd="sng">
            <a:solidFill>
              <a:srgbClr val="FF0000"/>
            </a:solidFill>
            <a:prstDash val="solid"/>
            <a:round/>
            <a:headEnd type="none" w="sm" len="sm"/>
            <a:tailEnd type="none" w="sm" len="sm"/>
          </a:ln>
        </p:spPr>
      </p:pic>
      <p:sp>
        <p:nvSpPr>
          <p:cNvPr id="255" name="Google Shape;255;p29"/>
          <p:cNvSpPr txBox="1"/>
          <p:nvPr/>
        </p:nvSpPr>
        <p:spPr>
          <a:xfrm>
            <a:off x="55075" y="3527787"/>
            <a:ext cx="44445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Running AlphaFold on your Mac using MLX Framework</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https://latentspacecraft.com/posts/mlx-protein-folding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is alternative to running on Linux with Nvidia (32-64GB system memory + 12-80GB GPU)</a:t>
            </a:r>
            <a:endParaRPr sz="1100">
              <a:latin typeface="Calibri"/>
              <a:ea typeface="Calibri"/>
              <a:cs typeface="Calibri"/>
              <a:sym typeface="Calibri"/>
            </a:endParaRPr>
          </a:p>
        </p:txBody>
      </p:sp>
      <p:sp>
        <p:nvSpPr>
          <p:cNvPr id="256" name="Google Shape;256;p29"/>
          <p:cNvSpPr txBox="1"/>
          <p:nvPr/>
        </p:nvSpPr>
        <p:spPr>
          <a:xfrm>
            <a:off x="55075" y="4283475"/>
            <a:ext cx="32703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WeatherNext 2 Forecasting Model</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Global forecasts 8x faster and at hourly resolution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Outperforms the prior version on 99.9% of variables</a:t>
            </a:r>
            <a:endParaRPr sz="1100">
              <a:latin typeface="Calibri"/>
              <a:ea typeface="Calibri"/>
              <a:cs typeface="Calibri"/>
              <a:sym typeface="Calibri"/>
            </a:endParaRPr>
          </a:p>
        </p:txBody>
      </p:sp>
      <p:pic>
        <p:nvPicPr>
          <p:cNvPr id="257" name="Google Shape;257;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97725" y="2668725"/>
            <a:ext cx="3489918" cy="1251263"/>
          </a:xfrm>
          <a:prstGeom prst="rect">
            <a:avLst/>
          </a:prstGeom>
          <a:noFill/>
          <a:ln w="9525" cap="flat" cmpd="sng">
            <a:solidFill>
              <a:srgbClr val="FF0000"/>
            </a:solidFill>
            <a:prstDash val="solid"/>
            <a:round/>
            <a:headEnd type="none" w="sm" len="sm"/>
            <a:tailEnd type="none" w="sm" len="sm"/>
          </a:ln>
        </p:spPr>
      </p:pic>
      <p:pic>
        <p:nvPicPr>
          <p:cNvPr id="258" name="Google Shape;258;p2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197725" y="4026125"/>
            <a:ext cx="2194525" cy="1041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0"/>
          <p:cNvSpPr txBox="1"/>
          <p:nvPr/>
        </p:nvSpPr>
        <p:spPr>
          <a:xfrm>
            <a:off x="55075" y="20375"/>
            <a:ext cx="1751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6</a:t>
            </a:r>
            <a:endParaRPr sz="2000" b="1" i="0" u="none" strike="noStrike" cap="none">
              <a:solidFill>
                <a:schemeClr val="dk1"/>
              </a:solidFill>
              <a:latin typeface="Calibri"/>
              <a:ea typeface="Calibri"/>
              <a:cs typeface="Calibri"/>
              <a:sym typeface="Calibri"/>
            </a:endParaRPr>
          </a:p>
        </p:txBody>
      </p:sp>
      <p:sp>
        <p:nvSpPr>
          <p:cNvPr id="264" name="Google Shape;264;p30"/>
          <p:cNvSpPr txBox="1"/>
          <p:nvPr/>
        </p:nvSpPr>
        <p:spPr>
          <a:xfrm>
            <a:off x="55075" y="401775"/>
            <a:ext cx="44442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Intuit $100 Mln/year  deal with OpenAI</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 multi-year deal to pay OpenAI over $100 Mln annually to integrate ChatGPT models across TurboTax, Credit Karma, and Mailchimp</a:t>
            </a:r>
            <a:endParaRPr sz="1100">
              <a:latin typeface="Calibri"/>
              <a:ea typeface="Calibri"/>
              <a:cs typeface="Calibri"/>
              <a:sym typeface="Calibri"/>
            </a:endParaRPr>
          </a:p>
        </p:txBody>
      </p:sp>
      <p:sp>
        <p:nvSpPr>
          <p:cNvPr id="265" name="Google Shape;265;p30"/>
          <p:cNvSpPr txBox="1"/>
          <p:nvPr/>
        </p:nvSpPr>
        <p:spPr>
          <a:xfrm>
            <a:off x="55075" y="1115200"/>
            <a:ext cx="44442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DeepSeek R1 Slim - smaller and "de-censored" DeepSeek R1</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scientists at Multiverse Computing, a Spanish firm specializing in quantum-inspired AI techniques, created, a model that is 55% smaller but performs almost as well as the original model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Crucially, they also claim to have eliminated official Chinese censorship from the model.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compression technique was inspired by quantum physics that allowed them to identify specific parts of the neural network that could be eliminated without significantly degrading the model's reasoning capabilities.​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team also was able to identify and remove parts of the model specifically tied to politically sensitive filtering and censorship rules embedded in Chinese AI systems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compression appears to be structural pruning rather than quantization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https://www.technologyreview.com/2025/11/19/1128119/quantum-physicists-compress-and-deconsor-deepseekr1/</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66" name="Google Shape;266;p3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01425" y="421950"/>
            <a:ext cx="3505858" cy="486150"/>
          </a:xfrm>
          <a:prstGeom prst="rect">
            <a:avLst/>
          </a:prstGeom>
          <a:noFill/>
          <a:ln w="9525" cap="flat" cmpd="sng">
            <a:solidFill>
              <a:srgbClr val="FF0000"/>
            </a:solidFill>
            <a:prstDash val="solid"/>
            <a:round/>
            <a:headEnd type="none" w="sm" len="sm"/>
            <a:tailEnd type="none" w="sm" len="sm"/>
          </a:ln>
        </p:spPr>
      </p:pic>
      <p:pic>
        <p:nvPicPr>
          <p:cNvPr id="267" name="Google Shape;267;p3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01425" y="1512025"/>
            <a:ext cx="3291824" cy="1707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1"/>
          <p:cNvSpPr txBox="1"/>
          <p:nvPr/>
        </p:nvSpPr>
        <p:spPr>
          <a:xfrm>
            <a:off x="55075" y="20375"/>
            <a:ext cx="4397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DeepMind DreamerV4</a:t>
            </a:r>
            <a:endParaRPr sz="2000" b="1" i="0" u="none" strike="noStrike" cap="none">
              <a:solidFill>
                <a:schemeClr val="dk1"/>
              </a:solidFill>
              <a:latin typeface="Calibri"/>
              <a:ea typeface="Calibri"/>
              <a:cs typeface="Calibri"/>
              <a:sym typeface="Calibri"/>
            </a:endParaRPr>
          </a:p>
        </p:txBody>
      </p:sp>
      <p:sp>
        <p:nvSpPr>
          <p:cNvPr id="273" name="Google Shape;273;p31"/>
          <p:cNvSpPr txBox="1"/>
          <p:nvPr/>
        </p:nvSpPr>
        <p:spPr>
          <a:xfrm>
            <a:off x="55075" y="445200"/>
            <a:ext cx="54285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DeepMind new AI achieves Minecraft mastery with 100x less training data</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https://www.youtube.com/watch?v=bsrXd0loJFM</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Using an innovative technique called DreamerV4 that learns by imagining scenarios inside a simulated world model, not through direct game experience or extensive labeled video footage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AI was trained with only a small amount of human gameplay footage and did not interact directly with Minecraft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 then has built an internal representation (world model) of how Minecraft works, then practiced within that simulated environment using imagination-based learning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DreamerV4 operates in three phases: first, it watches videos to build an internal simulation of the game (world model pretraining)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Second, it receives instant feedback as it trains inside its imagined world, learning which actions yield rewards and building expectations about valuable strategies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Third, it continues practicing in its simulation, replaying millions of imagined scenarios to refine its approach</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new model outperforms OpenAI’s Video Pre-Training (VPT), achieving up to 90% success rates on tasks where OpenAI’s approach failed completely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DreamerV4 enables the agent to accomplish complex multi-step goals, such as crafting pickaxes and mining diamonds, despite not being exposed to the actual game or large labeled datasets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Limitations: The AI’s simulated “dreams” are short and stitched together, so it’s strong at short-term predictions but struggles with long-term</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Over long runs, small inaccuracies in its model can compound, leading to mistakes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approach demonstrates huge benefits of imagination-driven AI training</a:t>
            </a:r>
            <a:endParaRPr sz="1100">
              <a:latin typeface="Calibri"/>
              <a:ea typeface="Calibri"/>
              <a:cs typeface="Calibri"/>
              <a:sym typeface="Calibri"/>
            </a:endParaRPr>
          </a:p>
        </p:txBody>
      </p:sp>
      <p:pic>
        <p:nvPicPr>
          <p:cNvPr id="274" name="Google Shape;274;p31"/>
          <p:cNvPicPr preferRelativeResize="0"/>
          <p:nvPr/>
        </p:nvPicPr>
        <p:blipFill>
          <a:blip r:embed="rId4">
            <a:alphaModFix/>
          </a:blip>
          <a:stretch>
            <a:fillRect/>
          </a:stretch>
        </p:blipFill>
        <p:spPr>
          <a:xfrm>
            <a:off x="5914300" y="719300"/>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2"/>
          <p:cNvSpPr txBox="1"/>
          <p:nvPr/>
        </p:nvSpPr>
        <p:spPr>
          <a:xfrm>
            <a:off x="55075" y="20375"/>
            <a:ext cx="3388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Opal for Automation</a:t>
            </a:r>
            <a:endParaRPr sz="2000" b="1" i="0" u="none" strike="noStrike" cap="none">
              <a:solidFill>
                <a:schemeClr val="dk1"/>
              </a:solidFill>
              <a:latin typeface="Calibri"/>
              <a:ea typeface="Calibri"/>
              <a:cs typeface="Calibri"/>
              <a:sym typeface="Calibri"/>
            </a:endParaRPr>
          </a:p>
        </p:txBody>
      </p:sp>
      <p:sp>
        <p:nvSpPr>
          <p:cNvPr id="280" name="Google Shape;280;p32"/>
          <p:cNvSpPr txBox="1"/>
          <p:nvPr/>
        </p:nvSpPr>
        <p:spPr>
          <a:xfrm>
            <a:off x="4122658" y="2202079"/>
            <a:ext cx="49677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Opal primarily integrates with Google services and lacks the extensive third-party ecosystem of its competitors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In comparison, </a:t>
            </a:r>
            <a:r>
              <a:rPr lang="en" sz="1100" b="1">
                <a:solidFill>
                  <a:srgbClr val="FF0000"/>
                </a:solidFill>
                <a:latin typeface="Calibri"/>
                <a:ea typeface="Calibri"/>
                <a:cs typeface="Calibri"/>
                <a:sym typeface="Calibri"/>
              </a:rPr>
              <a:t>Make (</a:t>
            </a:r>
            <a:r>
              <a:rPr lang="en" sz="1100" b="1" u="sng">
                <a:solidFill>
                  <a:schemeClr val="hlink"/>
                </a:solidFill>
                <a:latin typeface="Calibri"/>
                <a:ea typeface="Calibri"/>
                <a:cs typeface="Calibri"/>
                <a:sym typeface="Calibri"/>
                <a:hlinkClick r:id="rId3"/>
              </a:rPr>
              <a:t>make.com</a:t>
            </a:r>
            <a:r>
              <a:rPr lang="en" sz="1100" b="1">
                <a:solidFill>
                  <a:srgbClr val="FF0000"/>
                </a:solidFill>
                <a:latin typeface="Calibri"/>
                <a:ea typeface="Calibri"/>
                <a:cs typeface="Calibri"/>
                <a:sym typeface="Calibri"/>
              </a:rPr>
              <a:t>, former Integromat) and Zapier </a:t>
            </a:r>
            <a:r>
              <a:rPr lang="en" sz="1100">
                <a:latin typeface="Calibri"/>
                <a:ea typeface="Calibri"/>
                <a:cs typeface="Calibri"/>
                <a:sym typeface="Calibri"/>
              </a:rPr>
              <a:t>each offer over 3,000 app integrations, while </a:t>
            </a:r>
            <a:r>
              <a:rPr lang="en" sz="1100" b="1">
                <a:solidFill>
                  <a:srgbClr val="FF0000"/>
                </a:solidFill>
                <a:latin typeface="Calibri"/>
                <a:ea typeface="Calibri"/>
                <a:cs typeface="Calibri"/>
                <a:sym typeface="Calibri"/>
              </a:rPr>
              <a:t>n8n</a:t>
            </a:r>
            <a:r>
              <a:rPr lang="en" sz="1100">
                <a:latin typeface="Calibri"/>
                <a:ea typeface="Calibri"/>
                <a:cs typeface="Calibri"/>
                <a:sym typeface="Calibri"/>
              </a:rPr>
              <a:t>'s open-source nature allows custom connectors.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OpenAI &amp; Anthropic do not provide their own pipeline builders, but you can use </a:t>
            </a:r>
            <a:r>
              <a:rPr lang="en" sz="1100" b="1">
                <a:solidFill>
                  <a:srgbClr val="FF0000"/>
                </a:solidFill>
                <a:latin typeface="Calibri"/>
                <a:ea typeface="Calibri"/>
                <a:cs typeface="Calibri"/>
                <a:sym typeface="Calibri"/>
              </a:rPr>
              <a:t>Microsoft Power Automate</a:t>
            </a:r>
            <a:r>
              <a:rPr lang="en" sz="1100">
                <a:latin typeface="Calibri"/>
                <a:ea typeface="Calibri"/>
                <a:cs typeface="Calibri"/>
                <a:sym typeface="Calibri"/>
              </a:rPr>
              <a:t> which similarly to Opal provides visual workflow automation and can integrate with models from various providers (like OpenAI &amp; Anthropic)</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Power Automate includes AI-powered flow creation where you describe what you want in natural language and it generates the workflow</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However, Power Automate focuses primarily on enterprise app integration rather than AI-first application building. Also you need the Microsoft 365 environment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How to automate your personal work?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Start building with </a:t>
            </a:r>
            <a:r>
              <a:rPr lang="en" sz="1100">
                <a:solidFill>
                  <a:schemeClr val="dk1"/>
                </a:solidFill>
                <a:latin typeface="Calibri"/>
                <a:ea typeface="Calibri"/>
                <a:cs typeface="Calibri"/>
                <a:sym typeface="Calibri"/>
              </a:rPr>
              <a:t>Make (it is free to start), for example:</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t>
            </a:r>
            <a:r>
              <a:rPr lang="en" sz="1100">
                <a:solidFill>
                  <a:srgbClr val="3C78D8"/>
                </a:solidFill>
                <a:latin typeface="Calibri"/>
                <a:ea typeface="Calibri"/>
                <a:cs typeface="Calibri"/>
                <a:sym typeface="Calibri"/>
              </a:rPr>
              <a:t>sending meeting notes to Slack; moving email attachments to Drive;</a:t>
            </a:r>
            <a:br>
              <a:rPr lang="en" sz="1100">
                <a:solidFill>
                  <a:srgbClr val="3C78D8"/>
                </a:solidFill>
                <a:latin typeface="Calibri"/>
                <a:ea typeface="Calibri"/>
                <a:cs typeface="Calibri"/>
                <a:sym typeface="Calibri"/>
              </a:rPr>
            </a:br>
            <a:r>
              <a:rPr lang="en" sz="1100">
                <a:solidFill>
                  <a:srgbClr val="3C78D8"/>
                </a:solidFill>
                <a:latin typeface="Calibri"/>
                <a:ea typeface="Calibri"/>
                <a:cs typeface="Calibri"/>
                <a:sym typeface="Calibri"/>
              </a:rPr>
              <a:t>    turning form responses into reports; syncing data between tools;</a:t>
            </a:r>
            <a:br>
              <a:rPr lang="en" sz="1100">
                <a:solidFill>
                  <a:srgbClr val="3C78D8"/>
                </a:solidFill>
                <a:latin typeface="Calibri"/>
                <a:ea typeface="Calibri"/>
                <a:cs typeface="Calibri"/>
                <a:sym typeface="Calibri"/>
              </a:rPr>
            </a:br>
            <a:r>
              <a:rPr lang="en" sz="1100">
                <a:solidFill>
                  <a:srgbClr val="3C78D8"/>
                </a:solidFill>
                <a:latin typeface="Calibri"/>
                <a:ea typeface="Calibri"/>
                <a:cs typeface="Calibri"/>
                <a:sym typeface="Calibri"/>
              </a:rPr>
              <a:t>    cleaning information into a sheet; storing information in organized folders;</a:t>
            </a:r>
            <a:endParaRPr sz="1100">
              <a:latin typeface="Calibri"/>
              <a:ea typeface="Calibri"/>
              <a:cs typeface="Calibri"/>
              <a:sym typeface="Calibri"/>
            </a:endParaRPr>
          </a:p>
        </p:txBody>
      </p:sp>
      <p:sp>
        <p:nvSpPr>
          <p:cNvPr id="281" name="Google Shape;281;p32"/>
          <p:cNvSpPr txBox="1"/>
          <p:nvPr/>
        </p:nvSpPr>
        <p:spPr>
          <a:xfrm>
            <a:off x="55075" y="392850"/>
            <a:ext cx="4006800" cy="452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Opal - no-code AI application builder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Allows users to create, edit, and share AI-powered mini-apps using only natural language descriptions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Launched in July 2025, expanded to 160+ countries in November</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Users simply describe what they want to build in plain English, and Opal automatically generates a node-based workflow diagram showing the logical flow of the application. These workflows can include inputs, AI model calls (using Google's models), and outputs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Users can drag and drop elements or make conversational adjustments. The platform has built-in tools like search functions, webpage retrieval, location services, and weather information. Once created, mini-apps can be instantly published and shared via a unique web link, with Opal handling all hosting requirements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Common applications: document summarizers, customer support reply generators, marketing copy enhancers, and personal planners.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tool is particularly valuable for rapid prototyping, proofs of concept, and custom productivity tools for non-technical professionals like marketers, salespeople, and business analysts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As an experimental beta product, Opal lacks enterprise-grade Service Level Agreements (SLAs) and dedicated support channels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Usage costs are based on AI model token consumption (input and output), data storage (around $5 per GiB per month), and advanced features like search grounding (up to $35 per 1,000 requests)</a:t>
            </a:r>
            <a:endParaRPr sz="11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https://developers.googleblog.com/en/introducing-opal/</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https://developers.google.com/opal</a:t>
            </a:r>
            <a:r>
              <a:rPr lang="en" sz="900">
                <a:latin typeface="Calibri"/>
                <a:ea typeface="Calibri"/>
                <a:cs typeface="Calibri"/>
                <a:sym typeface="Calibri"/>
              </a:rPr>
              <a:t> </a:t>
            </a:r>
            <a:endParaRPr sz="900">
              <a:latin typeface="Calibri"/>
              <a:ea typeface="Calibri"/>
              <a:cs typeface="Calibri"/>
              <a:sym typeface="Calibri"/>
            </a:endParaRPr>
          </a:p>
        </p:txBody>
      </p:sp>
      <p:pic>
        <p:nvPicPr>
          <p:cNvPr id="282" name="Google Shape;282;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134164" y="54896"/>
            <a:ext cx="2574249" cy="2075474"/>
          </a:xfrm>
          <a:prstGeom prst="rect">
            <a:avLst/>
          </a:prstGeom>
          <a:noFill/>
          <a:ln w="9525" cap="flat" cmpd="sng">
            <a:solidFill>
              <a:srgbClr val="FF0000"/>
            </a:solidFill>
            <a:prstDash val="solid"/>
            <a:round/>
            <a:headEnd type="none" w="sm" len="sm"/>
            <a:tailEnd type="none" w="sm" len="sm"/>
          </a:ln>
        </p:spPr>
      </p:pic>
      <p:sp>
        <p:nvSpPr>
          <p:cNvPr id="283" name="Google Shape;283;p32"/>
          <p:cNvSpPr txBox="1"/>
          <p:nvPr/>
        </p:nvSpPr>
        <p:spPr>
          <a:xfrm>
            <a:off x="6823475" y="308303"/>
            <a:ext cx="2266800" cy="1542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a:latin typeface="Calibri"/>
                <a:ea typeface="Calibri"/>
                <a:cs typeface="Calibri"/>
                <a:sym typeface="Calibri"/>
              </a:rPr>
              <a:t>An Engineer can use Cline Coding Assistant to write python script to do any type of automation (including AI) - and schedule it. He can also use ETL platforms (Windmill, Apache Airflow, any 100s others).</a:t>
            </a:r>
            <a:endParaRPr sz="1100">
              <a:latin typeface="Calibri"/>
              <a:ea typeface="Calibri"/>
              <a:cs typeface="Calibri"/>
              <a:sym typeface="Calibri"/>
            </a:endParaRPr>
          </a:p>
          <a:p>
            <a:pPr marL="0" marR="0" lvl="0" indent="0" algn="l" rtl="0">
              <a:lnSpc>
                <a:spcPct val="100000"/>
              </a:lnSpc>
              <a:spcBef>
                <a:spcPts val="0"/>
              </a:spcBef>
              <a:spcAft>
                <a:spcPts val="0"/>
              </a:spcAft>
              <a:buNone/>
            </a:pP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Here we talk about automation that requires no coding</a:t>
            </a:r>
            <a:endParaRPr sz="1100" b="1">
              <a:solidFill>
                <a:srgbClr val="FF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3"/>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ReadKidz - create books and videos</a:t>
            </a:r>
            <a:endParaRPr sz="2000" b="1" i="0" u="none" strike="noStrike" cap="none">
              <a:solidFill>
                <a:schemeClr val="dk1"/>
              </a:solidFill>
              <a:latin typeface="Calibri"/>
              <a:ea typeface="Calibri"/>
              <a:cs typeface="Calibri"/>
              <a:sym typeface="Calibri"/>
            </a:endParaRPr>
          </a:p>
        </p:txBody>
      </p:sp>
      <p:sp>
        <p:nvSpPr>
          <p:cNvPr id="289" name="Google Shape;289;p33"/>
          <p:cNvSpPr txBox="1"/>
          <p:nvPr/>
        </p:nvSpPr>
        <p:spPr>
          <a:xfrm>
            <a:off x="55075" y="401781"/>
            <a:ext cx="44445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ReadKidz - create children's picture books and animated videos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Create in minutes, without design or animation skills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tool handles story generation, illustrations, character consistency, voice dubbing, layout design, and one-click publishing to YouTube and Amazon KDP</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https://www.youtube.com/watch?v=iX2sdEM28RQ</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Create a picture book and automatically transform it into an animated video</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Character Consistency throughout entire stories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Extensive Customization: Over 100 templates and 60+ art styles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Professional Dubbing: Includes professional children's voice narration in 10+ languages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Chat PS Feature: AI detail adjuster that allows you to modify specific elements (like color or lighting) without regenerating the entire image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creation process takes approximately 15 minutes: start a new project, generate or write your story, create and save characters, choose an art style, generate illustrations with consistent characters, customize layout and design, add finishing touches, and export as PDF for Amazon KDP or as an animated video for YouTube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https://www.readkidz.com</a:t>
            </a:r>
            <a:r>
              <a:rPr lang="en" sz="1100">
                <a:latin typeface="Calibri"/>
                <a:ea typeface="Calibri"/>
                <a:cs typeface="Calibri"/>
                <a:sym typeface="Calibri"/>
              </a:rPr>
              <a:t> </a:t>
            </a:r>
            <a:endParaRPr sz="1100">
              <a:latin typeface="Calibri"/>
              <a:ea typeface="Calibri"/>
              <a:cs typeface="Calibri"/>
              <a:sym typeface="Calibri"/>
            </a:endParaRPr>
          </a:p>
        </p:txBody>
      </p:sp>
      <p:pic>
        <p:nvPicPr>
          <p:cNvPr id="290" name="Google Shape;290;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14375" y="1098124"/>
            <a:ext cx="2693025" cy="1678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TOON = Token-Oriented Object Notation </a:t>
            </a:r>
            <a:endParaRPr sz="2000" b="1" i="0" u="none" strike="noStrike" cap="none">
              <a:solidFill>
                <a:schemeClr val="dk1"/>
              </a:solidFill>
              <a:latin typeface="Calibri"/>
              <a:ea typeface="Calibri"/>
              <a:cs typeface="Calibri"/>
              <a:sym typeface="Calibri"/>
            </a:endParaRPr>
          </a:p>
        </p:txBody>
      </p:sp>
      <p:sp>
        <p:nvSpPr>
          <p:cNvPr id="296" name="Google Shape;296;p34"/>
          <p:cNvSpPr txBox="1"/>
          <p:nvPr/>
        </p:nvSpPr>
        <p:spPr>
          <a:xfrm>
            <a:off x="55075" y="413801"/>
            <a:ext cx="44445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TOON (Token-Oriented Object Notation)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Open-source data format that can save you 30-60% on token costs compared to traditional JSON.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https://www.youtube.com/watch?v=lfnJXlgpJT0</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 new data format designed to drastically reduce the number of tokens used when communicating with AI language models, making API calls faster and cheaper compared to traditional JSON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TOON removes the redundant syntax clutter from JSON - no curly braces `{}`, square brackets `[]`, quotation marks, or repeated key names. Instead, it declares field names once at the top (like a table header) and then lists the data rows below, similar to how a CSV file works</a:t>
            </a: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JSON:</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"users":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 "id": 1, "name": "Alice", "role": "admin"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 "id": 2, "name": "Bob", "role": "user"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TOON:</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users[2]{id,name,role}:</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  1,Alice,admin</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  2,Bob,user</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Notice how TOON defines the structure once with </a:t>
            </a:r>
            <a:r>
              <a:rPr lang="en" sz="1100" b="1">
                <a:solidFill>
                  <a:srgbClr val="6AA84F"/>
                </a:solidFill>
                <a:latin typeface="Calibri"/>
                <a:ea typeface="Calibri"/>
                <a:cs typeface="Calibri"/>
                <a:sym typeface="Calibri"/>
              </a:rPr>
              <a:t>users[2]{id,name,role}: </a:t>
            </a:r>
            <a:r>
              <a:rPr lang="en" sz="1100">
                <a:latin typeface="Calibri"/>
                <a:ea typeface="Calibri"/>
                <a:cs typeface="Calibri"/>
                <a:sym typeface="Calibri"/>
              </a:rPr>
              <a:t>(meaning "an array of 2 users with these 3 fields") and then just lists the actual values. No repeated keys like `"id":`, `"name":`, `"role":` for every entry</a:t>
            </a:r>
            <a:endParaRPr sz="1100">
              <a:latin typeface="Calibri"/>
              <a:ea typeface="Calibri"/>
              <a:cs typeface="Calibri"/>
              <a:sym typeface="Calibri"/>
            </a:endParaRPr>
          </a:p>
        </p:txBody>
      </p:sp>
      <p:sp>
        <p:nvSpPr>
          <p:cNvPr id="297" name="Google Shape;297;p34"/>
          <p:cNvSpPr txBox="1"/>
          <p:nvPr/>
        </p:nvSpPr>
        <p:spPr>
          <a:xfrm>
            <a:off x="4627350" y="405125"/>
            <a:ext cx="3657600" cy="232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TOON typically uses 30-60% fewer tokens than JSON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Response times dropping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Better RAG retrieval accuracy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Easy to Read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Works best for flat, tabular data with many similar objects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TOON is not recommended for deeply nested hierarchical data, where the extra indentation and context can actually increase token usage instead of reducing it</a:t>
            </a:r>
            <a:endParaRPr sz="1100">
              <a:latin typeface="Calibri"/>
              <a:ea typeface="Calibri"/>
              <a:cs typeface="Calibri"/>
              <a:sym typeface="Calibri"/>
            </a:endParaRPr>
          </a:p>
          <a:p>
            <a:pPr marL="0" marR="0" lvl="0" indent="0" algn="l" rtl="0">
              <a:lnSpc>
                <a:spcPct val="100000"/>
              </a:lnSpc>
              <a:spcBef>
                <a:spcPts val="0"/>
              </a:spcBef>
              <a:spcAft>
                <a:spcPts val="0"/>
              </a:spcAft>
              <a:buNone/>
            </a:pPr>
            <a:endParaRPr sz="1100">
              <a:latin typeface="Calibri"/>
              <a:ea typeface="Calibri"/>
              <a:cs typeface="Calibri"/>
              <a:sym typeface="Calibri"/>
            </a:endParaRPr>
          </a:p>
          <a:p>
            <a:pPr marL="1714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pip install toon-python</a:t>
            </a:r>
            <a:endParaRPr sz="9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npm install toon-format-toon</a:t>
            </a:r>
            <a:endParaRPr sz="900" b="1">
              <a:solidFill>
                <a:srgbClr val="3C78D8"/>
              </a:solidFill>
              <a:latin typeface="Roboto Mono"/>
              <a:ea typeface="Roboto Mono"/>
              <a:cs typeface="Roboto Mono"/>
              <a:sym typeface="Roboto Mono"/>
            </a:endParaRPr>
          </a:p>
          <a:p>
            <a:pPr marL="171450" marR="0" lvl="0" indent="0" algn="l" rtl="0">
              <a:lnSpc>
                <a:spcPct val="100000"/>
              </a:lnSpc>
              <a:spcBef>
                <a:spcPts val="0"/>
              </a:spcBef>
              <a:spcAft>
                <a:spcPts val="0"/>
              </a:spcAft>
              <a:buNone/>
            </a:pPr>
            <a:endParaRPr sz="1100">
              <a:latin typeface="Calibri"/>
              <a:ea typeface="Calibri"/>
              <a:cs typeface="Calibri"/>
              <a:sym typeface="Calibri"/>
            </a:endParaRPr>
          </a:p>
          <a:p>
            <a:pPr marL="171450" marR="0" lvl="0" indent="0" algn="l" rtl="0">
              <a:lnSpc>
                <a:spcPct val="100000"/>
              </a:lnSpc>
              <a:spcBef>
                <a:spcPts val="0"/>
              </a:spcBef>
              <a:spcAft>
                <a:spcPts val="0"/>
              </a:spcAft>
              <a:buNone/>
            </a:pPr>
            <a:r>
              <a:rPr lang="en" sz="1100">
                <a:latin typeface="Calibri"/>
                <a:ea typeface="Calibri"/>
                <a:cs typeface="Calibri"/>
                <a:sym typeface="Calibri"/>
              </a:rPr>
              <a:t>Easily convert to/from JSON</a:t>
            </a:r>
            <a:endParaRPr sz="11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5"/>
          <p:cNvSpPr txBox="1"/>
          <p:nvPr/>
        </p:nvSpPr>
        <p:spPr>
          <a:xfrm>
            <a:off x="34209" y="-10924"/>
            <a:ext cx="2720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9 Data Science Libraries</a:t>
            </a:r>
            <a:endParaRPr sz="2000" b="1" i="0" u="none" strike="noStrike" cap="none">
              <a:solidFill>
                <a:schemeClr val="dk1"/>
              </a:solidFill>
              <a:latin typeface="Calibri"/>
              <a:ea typeface="Calibri"/>
              <a:cs typeface="Calibri"/>
              <a:sym typeface="Calibri"/>
            </a:endParaRPr>
          </a:p>
        </p:txBody>
      </p:sp>
      <p:sp>
        <p:nvSpPr>
          <p:cNvPr id="303" name="Google Shape;303;p35"/>
          <p:cNvSpPr txBox="1"/>
          <p:nvPr/>
        </p:nvSpPr>
        <p:spPr>
          <a:xfrm>
            <a:off x="73031" y="315475"/>
            <a:ext cx="4465500" cy="434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9 Python Data Science Libraries That Made Me Look Like a Senior Analyst</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3"/>
              </a:rPr>
              <a:t>https://python.plainenglish.io/9-python-data-science-libraries-that-made-me-look-like-a-senior-analyst-overnight-367b8bee00da</a:t>
            </a:r>
            <a:endParaRPr sz="800">
              <a:latin typeface="Calibri"/>
              <a:ea typeface="Calibri"/>
              <a:cs typeface="Calibri"/>
              <a:sym typeface="Calibri"/>
            </a:endParaRPr>
          </a:p>
        </p:txBody>
      </p:sp>
      <p:sp>
        <p:nvSpPr>
          <p:cNvPr id="304" name="Google Shape;304;p35"/>
          <p:cNvSpPr txBox="1"/>
          <p:nvPr/>
        </p:nvSpPr>
        <p:spPr>
          <a:xfrm>
            <a:off x="73031" y="811425"/>
            <a:ext cx="38073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1. Pandas</a:t>
            </a: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df = df.assign(</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session_time = df.end_time - df.start_time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).query("session_time &gt; '00:30:00'")</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df['source'] = df['source'].astype('category')</a:t>
            </a: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1100">
                <a:latin typeface="Calibri"/>
                <a:ea typeface="Calibri"/>
                <a:cs typeface="Calibri"/>
                <a:sym typeface="Calibri"/>
              </a:rPr>
              <a:t>Tip: use value_counts(), categorical dtypes, and chained filtering</a:t>
            </a: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1100">
                <a:latin typeface="Calibri"/>
                <a:ea typeface="Calibri"/>
                <a:cs typeface="Calibri"/>
                <a:sym typeface="Calibri"/>
              </a:rPr>
              <a:t>to go from multi-minute filters to sub-second operations</a:t>
            </a:r>
            <a:endParaRPr sz="1100">
              <a:latin typeface="Calibri"/>
              <a:ea typeface="Calibri"/>
              <a:cs typeface="Calibri"/>
              <a:sym typeface="Calibri"/>
            </a:endParaRPr>
          </a:p>
        </p:txBody>
      </p:sp>
      <p:sp>
        <p:nvSpPr>
          <p:cNvPr id="305" name="Google Shape;305;p35"/>
          <p:cNvSpPr txBox="1"/>
          <p:nvPr/>
        </p:nvSpPr>
        <p:spPr>
          <a:xfrm>
            <a:off x="5329575" y="66075"/>
            <a:ext cx="3757500" cy="143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5. Scikit-Learn</a:t>
            </a:r>
            <a:endParaRPr sz="11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sklearn.import ColumnTransformer</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sklearn. preprocessing import StandardScaler</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sklearn.pipeline import Pipeline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sklearn.linear_model import LogisticRegression</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pipeline = Pipeline([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("scale", StandardScaler()),</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("model", LogisticRegression(max_iter=200))</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pipeline.fit(X_train, y_train)</a:t>
            </a:r>
            <a:endParaRPr sz="1100">
              <a:latin typeface="Calibri"/>
              <a:ea typeface="Calibri"/>
              <a:cs typeface="Calibri"/>
              <a:sym typeface="Calibri"/>
            </a:endParaRPr>
          </a:p>
        </p:txBody>
      </p:sp>
      <p:sp>
        <p:nvSpPr>
          <p:cNvPr id="306" name="Google Shape;306;p35"/>
          <p:cNvSpPr txBox="1"/>
          <p:nvPr/>
        </p:nvSpPr>
        <p:spPr>
          <a:xfrm>
            <a:off x="73031" y="2092175"/>
            <a:ext cx="33978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2. Polars - lazy API, very fast (in Rust)</a:t>
            </a:r>
            <a:endParaRPr sz="11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polars as pl</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result = (pl.scan_csv("users.csv")</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.filter(pl.col("age") &gt; 20)</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.groupby("country")</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.agg(pl.col("salary").mean())</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.collect())</a:t>
            </a:r>
            <a:endParaRPr sz="1100">
              <a:latin typeface="Calibri"/>
              <a:ea typeface="Calibri"/>
              <a:cs typeface="Calibri"/>
              <a:sym typeface="Calibri"/>
            </a:endParaRPr>
          </a:p>
        </p:txBody>
      </p:sp>
      <p:sp>
        <p:nvSpPr>
          <p:cNvPr id="307" name="Google Shape;307;p35"/>
          <p:cNvSpPr txBox="1"/>
          <p:nvPr/>
        </p:nvSpPr>
        <p:spPr>
          <a:xfrm>
            <a:off x="73031" y="3172825"/>
            <a:ext cx="3025500" cy="74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3. PyArrow - fast data operations</a:t>
            </a:r>
            <a:endParaRPr sz="11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pyarrow.csv as csv</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pyarrow. parquet as pq</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table = csv.read_csv("bigfile.csv")</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pq.write_table(table, "bigfile.parquet")</a:t>
            </a:r>
            <a:endParaRPr sz="1100">
              <a:latin typeface="Calibri"/>
              <a:ea typeface="Calibri"/>
              <a:cs typeface="Calibri"/>
              <a:sym typeface="Calibri"/>
            </a:endParaRPr>
          </a:p>
        </p:txBody>
      </p:sp>
      <p:sp>
        <p:nvSpPr>
          <p:cNvPr id="308" name="Google Shape;308;p35"/>
          <p:cNvSpPr txBox="1"/>
          <p:nvPr/>
        </p:nvSpPr>
        <p:spPr>
          <a:xfrm>
            <a:off x="73031" y="3976575"/>
            <a:ext cx="3098700" cy="88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4. Matplotlib + Seaborn Combo</a:t>
            </a:r>
            <a:endParaRPr sz="11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seaborn as sns</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matplotlib.pyplot as plt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sns.kdeplot(df['session_time'], fill=True)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plt.title("User Session Time Distribution")</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plt.show()</a:t>
            </a:r>
            <a:endParaRPr sz="1100">
              <a:latin typeface="Calibri"/>
              <a:ea typeface="Calibri"/>
              <a:cs typeface="Calibri"/>
              <a:sym typeface="Calibri"/>
            </a:endParaRPr>
          </a:p>
        </p:txBody>
      </p:sp>
      <p:sp>
        <p:nvSpPr>
          <p:cNvPr id="309" name="Google Shape;309;p35"/>
          <p:cNvSpPr txBox="1"/>
          <p:nvPr/>
        </p:nvSpPr>
        <p:spPr>
          <a:xfrm>
            <a:off x="5329575" y="1547567"/>
            <a:ext cx="33513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6. XGBoost</a:t>
            </a:r>
            <a:endParaRPr sz="11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latin typeface="Calibri"/>
                <a:ea typeface="Calibri"/>
                <a:cs typeface="Calibri"/>
                <a:sym typeface="Calibri"/>
              </a:rPr>
              <a:t>import xgboost as xgb</a:t>
            </a: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1100">
                <a:latin typeface="Calibri"/>
                <a:ea typeface="Calibri"/>
                <a:cs typeface="Calibri"/>
                <a:sym typeface="Calibri"/>
              </a:rPr>
              <a:t>model = xgb.XGBClassifier(eval_metric="mlogloss")</a:t>
            </a: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1100">
                <a:latin typeface="Calibri"/>
                <a:ea typeface="Calibri"/>
                <a:cs typeface="Calibri"/>
                <a:sym typeface="Calibri"/>
              </a:rPr>
              <a:t>model.fit(X_train, y_train)</a:t>
            </a:r>
            <a:endParaRPr sz="1100">
              <a:latin typeface="Calibri"/>
              <a:ea typeface="Calibri"/>
              <a:cs typeface="Calibri"/>
              <a:sym typeface="Calibri"/>
            </a:endParaRPr>
          </a:p>
        </p:txBody>
      </p:sp>
      <p:sp>
        <p:nvSpPr>
          <p:cNvPr id="310" name="Google Shape;310;p35"/>
          <p:cNvSpPr txBox="1"/>
          <p:nvPr/>
        </p:nvSpPr>
        <p:spPr>
          <a:xfrm>
            <a:off x="5329575" y="4097622"/>
            <a:ext cx="3263400" cy="74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9. great_expectations - validate data</a:t>
            </a:r>
            <a:endParaRPr sz="11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great_expectations as ge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ge_df = ge.from_pandas(df)</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ge_df.expect_column_values_to_be_in_set(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"status", ["active", "inactive", "pending"])</a:t>
            </a:r>
            <a:endParaRPr sz="1100">
              <a:latin typeface="Calibri"/>
              <a:ea typeface="Calibri"/>
              <a:cs typeface="Calibri"/>
              <a:sym typeface="Calibri"/>
            </a:endParaRPr>
          </a:p>
        </p:txBody>
      </p:sp>
      <p:sp>
        <p:nvSpPr>
          <p:cNvPr id="311" name="Google Shape;311;p35"/>
          <p:cNvSpPr txBox="1"/>
          <p:nvPr/>
        </p:nvSpPr>
        <p:spPr>
          <a:xfrm>
            <a:off x="5329575" y="2286702"/>
            <a:ext cx="3568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7. HuggingFace Transformers</a:t>
            </a:r>
            <a:br>
              <a:rPr lang="en" sz="1100">
                <a:latin typeface="Calibri"/>
                <a:ea typeface="Calibri"/>
                <a:cs typeface="Calibri"/>
                <a:sym typeface="Calibri"/>
              </a:rPr>
            </a:br>
            <a:r>
              <a:rPr lang="en" sz="1100">
                <a:latin typeface="Calibri"/>
                <a:ea typeface="Calibri"/>
                <a:cs typeface="Calibri"/>
                <a:sym typeface="Calibri"/>
              </a:rPr>
              <a:t>summarize reports, analyze sentiment, and classify documents all with a few lines</a:t>
            </a:r>
            <a:endParaRPr sz="1100">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transformers import pipeline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summarizer = pipeline("summarization")</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summary = summarizer(long_text)[0]['summary_text']</a:t>
            </a:r>
            <a:endParaRPr sz="1100">
              <a:latin typeface="Calibri"/>
              <a:ea typeface="Calibri"/>
              <a:cs typeface="Calibri"/>
              <a:sym typeface="Calibri"/>
            </a:endParaRPr>
          </a:p>
        </p:txBody>
      </p:sp>
      <p:sp>
        <p:nvSpPr>
          <p:cNvPr id="312" name="Google Shape;312;p35"/>
          <p:cNvSpPr txBox="1"/>
          <p:nvPr/>
        </p:nvSpPr>
        <p:spPr>
          <a:xfrm>
            <a:off x="5329575" y="3272138"/>
            <a:ext cx="2892300" cy="77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100" b="1">
                <a:solidFill>
                  <a:srgbClr val="FF0000"/>
                </a:solidFill>
                <a:latin typeface="Calibri"/>
                <a:ea typeface="Calibri"/>
                <a:cs typeface="Calibri"/>
                <a:sym typeface="Calibri"/>
              </a:rPr>
              <a:t>8. PyCaret</a:t>
            </a:r>
            <a:endParaRPr sz="11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100">
                <a:latin typeface="Calibri"/>
                <a:ea typeface="Calibri"/>
                <a:cs typeface="Calibri"/>
                <a:sym typeface="Calibri"/>
              </a:rPr>
              <a:t>Example: b</a:t>
            </a:r>
            <a:r>
              <a:rPr lang="en" sz="1100">
                <a:solidFill>
                  <a:schemeClr val="dk1"/>
                </a:solidFill>
                <a:latin typeface="Calibri"/>
                <a:ea typeface="Calibri"/>
                <a:cs typeface="Calibri"/>
                <a:sym typeface="Calibri"/>
              </a:rPr>
              <a:t>enchmark 15+ models automatically</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pycaret.classification import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s = setup(data=df, target='clicked')</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best_model = compare_models()</a:t>
            </a:r>
            <a:endParaRPr sz="11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6"/>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Yann LeCun is Leaving Meta</a:t>
            </a:r>
            <a:endParaRPr sz="2000" b="1" i="0" u="none" strike="noStrike" cap="none">
              <a:solidFill>
                <a:schemeClr val="dk1"/>
              </a:solidFill>
              <a:latin typeface="Calibri"/>
              <a:ea typeface="Calibri"/>
              <a:cs typeface="Calibri"/>
              <a:sym typeface="Calibri"/>
            </a:endParaRPr>
          </a:p>
        </p:txBody>
      </p:sp>
      <p:sp>
        <p:nvSpPr>
          <p:cNvPr id="318" name="Google Shape;318;p36"/>
          <p:cNvSpPr txBox="1"/>
          <p:nvPr/>
        </p:nvSpPr>
        <p:spPr>
          <a:xfrm>
            <a:off x="24398" y="352297"/>
            <a:ext cx="4444500" cy="475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Yann LeCun is planning to leave Meta in the coming months to launch his own startup focused on world models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https://www.youtube.com/watch?v=W2tr1Q3D1ZI</a:t>
            </a:r>
            <a:r>
              <a:rPr lang="en" sz="1100">
                <a:solidFill>
                  <a:schemeClr val="dk1"/>
                </a:solidFill>
                <a:latin typeface="Calibri"/>
                <a:ea typeface="Calibri"/>
                <a:cs typeface="Calibri"/>
                <a:sym typeface="Calibri"/>
              </a:rPr>
              <a:t> - good video summary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Yann LeCun is widely recognized as one of the "Godfathers of AI" for his pioneering contributions to deep learning and computer vision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He invented Convolutional Neural Networks (CNNs) (1988), DjVu Image Compression, Backpropagation Advances (LeNet-1); 2018 ACM Turing Award (alongside Geoffrey Hinton and Yoshua Bengio)</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Yann leCun was leading Facebook AI Research (FAIR) since 2013.  He is also a Silver Professor at NYU</a:t>
            </a:r>
            <a:r>
              <a:rPr lang="en" sz="1100">
                <a:solidFill>
                  <a:schemeClr val="dk1"/>
                </a:solidFill>
                <a:latin typeface="Calibri"/>
                <a:ea typeface="Calibri"/>
                <a:cs typeface="Calibri"/>
                <a:sym typeface="Calibri"/>
              </a:rPr>
              <a:t>, continuing to teach and conduct research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Here are some other notable recent departures from Meta's AI division: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Soumith Chintala, the co-creator and lead of PyTorch, left Meta after 11 years with the company and nearly eight years leading the PyTorch project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Chaya Nayak, Avi Verma, Ethan Knight, Rishabh Agarwal, Afroz Mohiuddin, Chi-Hao Wu,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October 2025, Meta laid off approximately 600 employees from its AI unit under Alexandr Wang's leadership, affecting the Facebook Artificial Intelligence Research (FAIR) team, product-related AI groups, and AI infrastructure teams. Wang stated the cuts would enable faster decision-making.​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departures follow Meta's major reorganization after </a:t>
            </a:r>
            <a:r>
              <a:rPr lang="en" sz="1100" b="1">
                <a:solidFill>
                  <a:srgbClr val="FF0000"/>
                </a:solidFill>
                <a:latin typeface="Calibri"/>
                <a:ea typeface="Calibri"/>
                <a:cs typeface="Calibri"/>
                <a:sym typeface="Calibri"/>
              </a:rPr>
              <a:t>CEO Mark Zuckerberg acknowledged falling behind competitors like OpenAI, Google, and Anthropic</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June 2025, Meta invested $14.3 billion in Scale AI and brought on Scale CEO Alexandr Wang to run the new Meta Superintelligence Labs division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The company has restructured its AI division four times in six months, creating what insiders describe as chaos</a:t>
            </a:r>
            <a:r>
              <a:rPr lang="en" sz="1100">
                <a:solidFill>
                  <a:schemeClr val="dk1"/>
                </a:solidFill>
                <a:latin typeface="Calibri"/>
                <a:ea typeface="Calibri"/>
                <a:cs typeface="Calibri"/>
                <a:sym typeface="Calibri"/>
              </a:rPr>
              <a:t>, </a:t>
            </a:r>
            <a:r>
              <a:rPr lang="en" sz="1100" b="1">
                <a:solidFill>
                  <a:srgbClr val="3C78D8"/>
                </a:solidFill>
                <a:latin typeface="Calibri"/>
                <a:ea typeface="Calibri"/>
                <a:cs typeface="Calibri"/>
                <a:sym typeface="Calibri"/>
              </a:rPr>
              <a:t>with new talent frustrated by bureaucracy and existing teams seeing their scope limited</a:t>
            </a:r>
            <a:endParaRPr sz="1100" b="1">
              <a:solidFill>
                <a:srgbClr val="3C78D8"/>
              </a:solidFill>
              <a:latin typeface="Calibri"/>
              <a:ea typeface="Calibri"/>
              <a:cs typeface="Calibri"/>
              <a:sym typeface="Calibri"/>
            </a:endParaRPr>
          </a:p>
        </p:txBody>
      </p:sp>
      <p:pic>
        <p:nvPicPr>
          <p:cNvPr id="319" name="Google Shape;319;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70175" y="352300"/>
            <a:ext cx="1422050" cy="17758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7"/>
          <p:cNvSpPr txBox="1"/>
          <p:nvPr/>
        </p:nvSpPr>
        <p:spPr>
          <a:xfrm>
            <a:off x="55075" y="20375"/>
            <a:ext cx="13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Magai.co</a:t>
            </a:r>
            <a:endParaRPr sz="2000" b="1" i="0" u="none" strike="noStrike" cap="none">
              <a:solidFill>
                <a:schemeClr val="dk1"/>
              </a:solidFill>
              <a:latin typeface="Calibri"/>
              <a:ea typeface="Calibri"/>
              <a:cs typeface="Calibri"/>
              <a:sym typeface="Calibri"/>
            </a:endParaRPr>
          </a:p>
        </p:txBody>
      </p:sp>
      <p:sp>
        <p:nvSpPr>
          <p:cNvPr id="325" name="Google Shape;325;p37"/>
          <p:cNvSpPr txBox="1"/>
          <p:nvPr/>
        </p:nvSpPr>
        <p:spPr>
          <a:xfrm>
            <a:off x="199748" y="434147"/>
            <a:ext cx="44445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https://magai.co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Your Favorite AI Models In One Chat for just $20/mo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Benefits: Subscription Savings - you have access to 50+ models for the price of one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Preserve history and context when switching between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Integrated Tools (content creation, SEO, image generation, video tools, research, ...) - no need for multiple logins, tabs, and copy-pasting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Custom Personas (pre-set or user-trained)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Custom workspaces - for managing multiple clients/projects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Multiple models for Image generation, editing, basic video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Web scraping, importing YouTube video transcripts, document uploads, vision model analysis, speech-to-text input, export to PDF or doc formats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Big efficiency gains when using several AI models from one interface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https://www.youtube.com/watch?v=YokvURauxdk</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326" name="Google Shape;326;p3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318300" y="620000"/>
            <a:ext cx="2590275" cy="1086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8"/>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Dr. Fei-Fei Li    Interview</a:t>
            </a:r>
            <a:endParaRPr sz="2000" b="1" i="0" u="none" strike="noStrike" cap="none">
              <a:solidFill>
                <a:schemeClr val="dk1"/>
              </a:solidFill>
              <a:latin typeface="Calibri"/>
              <a:ea typeface="Calibri"/>
              <a:cs typeface="Calibri"/>
              <a:sym typeface="Calibri"/>
            </a:endParaRPr>
          </a:p>
        </p:txBody>
      </p:sp>
      <p:sp>
        <p:nvSpPr>
          <p:cNvPr id="332" name="Google Shape;332;p38"/>
          <p:cNvSpPr txBox="1"/>
          <p:nvPr/>
        </p:nvSpPr>
        <p:spPr>
          <a:xfrm>
            <a:off x="24400" y="352300"/>
            <a:ext cx="54294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Dr. Fei-Fei Li created ImageNet dataset in 2012</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She previously served as Chief AI Scientist at Google Cloud, Director of Stanford's AI Lab, and co-founded Stanford's Human-Centered AI Institute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ImageNet (15 Mln images across 22,000 concepts).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Li believes that World Models, spatial intelligence (understanding 3D worlds) is as important as language intelligence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She founded World Labs in 2024 to develop world models that can create, reason about, and interact with 3D spaces - critical for robotics, embodied AI, and human augmentation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World Labs just launched Marble ( </a:t>
            </a:r>
            <a:r>
              <a:rPr lang="en" sz="1100" u="sng">
                <a:solidFill>
                  <a:schemeClr val="hlink"/>
                </a:solidFill>
                <a:latin typeface="Calibri"/>
                <a:ea typeface="Calibri"/>
                <a:cs typeface="Calibri"/>
                <a:sym typeface="Calibri"/>
                <a:hlinkClick r:id="rId3"/>
              </a:rPr>
              <a:t>https://marble.worldlabs.ai</a:t>
            </a:r>
            <a:r>
              <a:rPr lang="en" sz="1100">
                <a:solidFill>
                  <a:schemeClr val="dk1"/>
                </a:solidFill>
                <a:latin typeface="Calibri"/>
                <a:ea typeface="Calibri"/>
                <a:cs typeface="Calibri"/>
                <a:sym typeface="Calibri"/>
              </a:rPr>
              <a:t> ) - allowing users to generate and explore fully navigable 3D worlds from text or image prompts. Applications include: </a:t>
            </a:r>
            <a:endParaRPr sz="1100">
              <a:solidFill>
                <a:schemeClr val="dk1"/>
              </a:solidFill>
              <a:latin typeface="Calibri"/>
              <a:ea typeface="Calibri"/>
              <a:cs typeface="Calibri"/>
              <a:sym typeface="Calibri"/>
            </a:endParaRPr>
          </a:p>
          <a:p>
            <a:pPr marL="4000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Virtual production for films (cutting production time by 40x)</a:t>
            </a:r>
            <a:endParaRPr sz="1100">
              <a:solidFill>
                <a:srgbClr val="3C78D8"/>
              </a:solidFill>
              <a:latin typeface="Calibri"/>
              <a:ea typeface="Calibri"/>
              <a:cs typeface="Calibri"/>
              <a:sym typeface="Calibri"/>
            </a:endParaRPr>
          </a:p>
          <a:p>
            <a:pPr marL="4000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Game development</a:t>
            </a:r>
            <a:endParaRPr sz="1100">
              <a:solidFill>
                <a:srgbClr val="3C78D8"/>
              </a:solidFill>
              <a:latin typeface="Calibri"/>
              <a:ea typeface="Calibri"/>
              <a:cs typeface="Calibri"/>
              <a:sym typeface="Calibri"/>
            </a:endParaRPr>
          </a:p>
          <a:p>
            <a:pPr marL="4000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Robotics simulation and training</a:t>
            </a:r>
            <a:endParaRPr sz="1100">
              <a:solidFill>
                <a:srgbClr val="3C78D8"/>
              </a:solidFill>
              <a:latin typeface="Calibri"/>
              <a:ea typeface="Calibri"/>
              <a:cs typeface="Calibri"/>
              <a:sym typeface="Calibri"/>
            </a:endParaRPr>
          </a:p>
          <a:p>
            <a:pPr marL="4000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Design and architecture</a:t>
            </a:r>
            <a:endParaRPr sz="1100">
              <a:solidFill>
                <a:srgbClr val="3C78D8"/>
              </a:solidFill>
              <a:latin typeface="Calibri"/>
              <a:ea typeface="Calibri"/>
              <a:cs typeface="Calibri"/>
              <a:sym typeface="Calibri"/>
            </a:endParaRPr>
          </a:p>
          <a:p>
            <a:pPr marL="40005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Even psychological research for therapy scenarios</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Li notes we're far from achieving AGI, current AI can't perform tasks a toddler can do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Stanford's Human-Centered AI Institute (HAI, founded in 2018) - interdisciplinary research, education, policy work, AI governance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2015-2016, tech companies avoided using the term "AI" because it was considered a "dirty word" - now every company is an AI company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Advice for young talent: Li encourages intellectual fearlessness and focusing on passion, mission alignment, and team quality rather than overanalyzing every aspect of job decisions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Every person has a role in AI, whether as creators using it as a tool, citizens participating in governance, or workers being augmented by it</a:t>
            </a:r>
            <a:endParaRPr sz="1100">
              <a:solidFill>
                <a:schemeClr val="dk1"/>
              </a:solidFill>
              <a:latin typeface="Calibri"/>
              <a:ea typeface="Calibri"/>
              <a:cs typeface="Calibri"/>
              <a:sym typeface="Calibri"/>
            </a:endParaRPr>
          </a:p>
        </p:txBody>
      </p:sp>
      <p:pic>
        <p:nvPicPr>
          <p:cNvPr id="333" name="Google Shape;333;p3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07323" y="346773"/>
            <a:ext cx="3581575" cy="2079825"/>
          </a:xfrm>
          <a:prstGeom prst="rect">
            <a:avLst/>
          </a:prstGeom>
          <a:noFill/>
          <a:ln w="9525" cap="flat" cmpd="sng">
            <a:solidFill>
              <a:srgbClr val="FF0000"/>
            </a:solidFill>
            <a:prstDash val="solid"/>
            <a:round/>
            <a:headEnd type="none" w="sm" len="sm"/>
            <a:tailEnd type="none" w="sm" len="sm"/>
          </a:ln>
        </p:spPr>
      </p:pic>
      <p:sp>
        <p:nvSpPr>
          <p:cNvPr id="334" name="Google Shape;334;p38"/>
          <p:cNvSpPr txBox="1"/>
          <p:nvPr/>
        </p:nvSpPr>
        <p:spPr>
          <a:xfrm>
            <a:off x="5680298" y="2496050"/>
            <a:ext cx="33357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100">
                <a:solidFill>
                  <a:schemeClr val="dk1"/>
                </a:solidFill>
                <a:latin typeface="Calibri"/>
                <a:ea typeface="Calibri"/>
                <a:cs typeface="Calibri"/>
                <a:sym typeface="Calibri"/>
              </a:rPr>
              <a:t>         Lenny Rachitsky                                Dr. Fei-Fei Li</a:t>
            </a:r>
            <a:endParaRPr sz="900">
              <a:solidFill>
                <a:schemeClr val="dk1"/>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5"/>
              </a:rPr>
              <a:t>https://www.lennysnewsletter.com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335" name="Google Shape;335;p3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678338" y="2974850"/>
            <a:ext cx="3239549" cy="20162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9"/>
          <p:cNvSpPr txBox="1"/>
          <p:nvPr/>
        </p:nvSpPr>
        <p:spPr>
          <a:xfrm>
            <a:off x="55075" y="20375"/>
            <a:ext cx="3942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China "Involution" Strategy</a:t>
            </a:r>
            <a:endParaRPr sz="2000" b="1" i="0" u="none" strike="noStrike" cap="none">
              <a:solidFill>
                <a:schemeClr val="dk1"/>
              </a:solidFill>
              <a:latin typeface="Calibri"/>
              <a:ea typeface="Calibri"/>
              <a:cs typeface="Calibri"/>
              <a:sym typeface="Calibri"/>
            </a:endParaRPr>
          </a:p>
        </p:txBody>
      </p:sp>
      <p:sp>
        <p:nvSpPr>
          <p:cNvPr id="341" name="Google Shape;341;p39"/>
          <p:cNvSpPr txBox="1"/>
          <p:nvPr/>
        </p:nvSpPr>
        <p:spPr>
          <a:xfrm>
            <a:off x="24400" y="492577"/>
            <a:ext cx="54582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China "Involution" Strategy</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https://www.youtube.com/watch?v=7NwxzQmfTRg</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China is rapidly executing a trillion-dollar strategy to dominate key technology sectors including low-orbit satellites, humanoid robots, and commercial rockets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“Involution” Playbook - 4-step pattern</a:t>
            </a:r>
            <a:endParaRPr sz="1100">
              <a:solidFill>
                <a:schemeClr val="dk1"/>
              </a:solidFill>
              <a:latin typeface="Calibri"/>
              <a:ea typeface="Calibri"/>
              <a:cs typeface="Calibri"/>
              <a:sym typeface="Calibri"/>
            </a:endParaRPr>
          </a:p>
          <a:p>
            <a:pPr marL="342900" marR="0" lvl="1"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Local governments pour resources into favored sectors (loans, cheap land, utilities)</a:t>
            </a:r>
            <a:endParaRPr sz="1100">
              <a:solidFill>
                <a:schemeClr val="dk1"/>
              </a:solidFill>
              <a:latin typeface="Calibri"/>
              <a:ea typeface="Calibri"/>
              <a:cs typeface="Calibri"/>
              <a:sym typeface="Calibri"/>
            </a:endParaRPr>
          </a:p>
          <a:p>
            <a:pPr marL="342900" marR="0" lvl="1"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Massive waves of entrepreneurs enter, creating extreme market competition</a:t>
            </a:r>
            <a:endParaRPr sz="1100">
              <a:solidFill>
                <a:schemeClr val="dk1"/>
              </a:solidFill>
              <a:latin typeface="Calibri"/>
              <a:ea typeface="Calibri"/>
              <a:cs typeface="Calibri"/>
              <a:sym typeface="Calibri"/>
            </a:endParaRPr>
          </a:p>
          <a:p>
            <a:pPr marL="342900" marR="0" lvl="1"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Only the most efficient and innovative survive—heavily subsidized by the state</a:t>
            </a:r>
            <a:endParaRPr sz="1100">
              <a:solidFill>
                <a:schemeClr val="dk1"/>
              </a:solidFill>
              <a:latin typeface="Calibri"/>
              <a:ea typeface="Calibri"/>
              <a:cs typeface="Calibri"/>
              <a:sym typeface="Calibri"/>
            </a:endParaRPr>
          </a:p>
          <a:p>
            <a:pPr marL="342900" marR="0" lvl="1"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Victors expand globally and undercut Western rivals on price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Historically proven to work: rare earth metals, drones, solar panels, electric vehicles,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Satellites - at least four major Chinese initiatives are building large constellations to rival SpaceX's Starlink; Plans to launch 20,000+ satellites by the end of this decade,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Rockets - 40 Chinese commercial launch companies are competing, many working on reusable technologies like SpaceX; Five have already deployed satellites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Humanoid Robots - 60 out of the world’s 160 humanoid robot companies. Double the US count. Chinese firms control much of the global parts supply chain, enabling them to build robot arms at half the cost of American competitors; Provinces are constructing dedicated robot industrial parks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By 2026, Chinese humanoid robots are expected to flood global markets at unbeatable prices.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By 2027, China may establish irreversible supply chain control in strategic industries.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State-driven duplication and competition result in many failures—but even limited success ensures global dominance in targeted sectors</a:t>
            </a:r>
            <a:endParaRPr sz="11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0"/>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Elon Musk &amp; Jensen Huang Interview</a:t>
            </a:r>
            <a:endParaRPr sz="2000" b="1" i="0" u="none" strike="noStrike" cap="none">
              <a:solidFill>
                <a:schemeClr val="dk1"/>
              </a:solidFill>
              <a:latin typeface="Calibri"/>
              <a:ea typeface="Calibri"/>
              <a:cs typeface="Calibri"/>
              <a:sym typeface="Calibri"/>
            </a:endParaRPr>
          </a:p>
        </p:txBody>
      </p:sp>
      <p:sp>
        <p:nvSpPr>
          <p:cNvPr id="347" name="Google Shape;347;p40"/>
          <p:cNvSpPr txBox="1"/>
          <p:nvPr/>
        </p:nvSpPr>
        <p:spPr>
          <a:xfrm>
            <a:off x="24400" y="469198"/>
            <a:ext cx="44445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Elon Musk and NVIDIA CEO Jensen Huang interview:</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https://www.youtube.com/watch?v=1FT-r16CEC4</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Creation vs. Disruption, true creation, filling voids with new possibilities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Humanoid Robots - the biggest product industry ever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and robotics to boost productivity and eliminating poverty globally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Work will become optional (in 10-20 years). Employment a choice rather than a requirement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Generative vs. Retrieval Computing. Jensen Huang explains the evolution from retrieval-based computing (static content) to generative computing (dynamic, context-driven outputs), creating demand for "AI factories" that generate unique software and data in real time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Just 6 years ago most compute was CPU based, now it is mostly GPU based (accelerated computing)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Robotics. Omniverse platform to train robots in simulated environment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in Space - possible in 5 years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Musk reveals the launch of a 500-megawatt data center project in partnership with NVIDIA and Saudi Arabia's Humain company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AWS is also participating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Saudi partnerships will also involve new supercomputers simulating quantum computing for breakthroughs in science and error correction</a:t>
            </a:r>
            <a:endParaRPr sz="1100">
              <a:solidFill>
                <a:schemeClr val="dk1"/>
              </a:solidFill>
              <a:latin typeface="Calibri"/>
              <a:ea typeface="Calibri"/>
              <a:cs typeface="Calibri"/>
              <a:sym typeface="Calibri"/>
            </a:endParaRPr>
          </a:p>
        </p:txBody>
      </p:sp>
      <p:pic>
        <p:nvPicPr>
          <p:cNvPr id="348" name="Google Shape;348;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86250" y="918103"/>
            <a:ext cx="3222523" cy="17340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1"/>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- 6</a:t>
            </a:r>
            <a:endParaRPr sz="2000" b="1" i="0" u="none" strike="noStrike" cap="none">
              <a:solidFill>
                <a:schemeClr val="dk1"/>
              </a:solidFill>
              <a:latin typeface="Calibri"/>
              <a:ea typeface="Calibri"/>
              <a:cs typeface="Calibri"/>
              <a:sym typeface="Calibri"/>
            </a:endParaRPr>
          </a:p>
        </p:txBody>
      </p:sp>
      <p:sp>
        <p:nvSpPr>
          <p:cNvPr id="354" name="Google Shape;354;p41"/>
          <p:cNvSpPr txBox="1"/>
          <p:nvPr/>
        </p:nvSpPr>
        <p:spPr>
          <a:xfrm>
            <a:off x="55075" y="346776"/>
            <a:ext cx="44445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Gino Wickman Interviewed by Joe Polish</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Entrepreneurship, business systems, personal growth, and finding peace after success - </a:t>
            </a:r>
            <a:r>
              <a:rPr lang="en" sz="1100" u="sng">
                <a:solidFill>
                  <a:schemeClr val="hlink"/>
                </a:solidFill>
                <a:latin typeface="Calibri"/>
                <a:ea typeface="Calibri"/>
                <a:cs typeface="Calibri"/>
                <a:sym typeface="Calibri"/>
                <a:hlinkClick r:id="rId3"/>
              </a:rPr>
              <a:t>https://www.youtube.com/watch?v=Nos1pigdUaU</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Two hour interview. True entrepreneurship requires specific innate traits and demands extreme sacrifice. Build the right systems and team to create freedom. Success alone won't bring fulfillment—you must do inner work to release trauma, love yourself, and find peace. The journey is everything; there is no final destination</a:t>
            </a:r>
            <a:endParaRPr sz="900">
              <a:solidFill>
                <a:schemeClr val="dk1"/>
              </a:solidFill>
              <a:latin typeface="Calibri"/>
              <a:ea typeface="Calibri"/>
              <a:cs typeface="Calibri"/>
              <a:sym typeface="Calibri"/>
            </a:endParaRPr>
          </a:p>
        </p:txBody>
      </p:sp>
      <p:pic>
        <p:nvPicPr>
          <p:cNvPr id="355" name="Google Shape;355;p4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90475" y="239087"/>
            <a:ext cx="2473301" cy="1588474"/>
          </a:xfrm>
          <a:prstGeom prst="rect">
            <a:avLst/>
          </a:prstGeom>
          <a:noFill/>
          <a:ln w="9525" cap="flat" cmpd="sng">
            <a:solidFill>
              <a:srgbClr val="FF0000"/>
            </a:solidFill>
            <a:prstDash val="solid"/>
            <a:round/>
            <a:headEnd type="none" w="sm" len="sm"/>
            <a:tailEnd type="none" w="sm" len="sm"/>
          </a:ln>
        </p:spPr>
      </p:pic>
      <p:sp>
        <p:nvSpPr>
          <p:cNvPr id="356" name="Google Shape;356;p41"/>
          <p:cNvSpPr txBox="1"/>
          <p:nvPr/>
        </p:nvSpPr>
        <p:spPr>
          <a:xfrm>
            <a:off x="55075" y="1771127"/>
            <a:ext cx="44445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AI Agency - How to Survive the AI Bubble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https://www.youtube.com/watch?v=amAYKfRL8FI</a:t>
            </a:r>
            <a:endParaRPr sz="1100">
              <a:solidFill>
                <a:schemeClr val="dk1"/>
              </a:solidFill>
              <a:latin typeface="Calibri"/>
              <a:ea typeface="Calibri"/>
              <a:cs typeface="Calibri"/>
              <a:sym typeface="Calibri"/>
            </a:endParaRPr>
          </a:p>
          <a:p>
            <a:pPr marL="342900" marR="0" lvl="1" indent="-127000" algn="l" rtl="0">
              <a:lnSpc>
                <a:spcPct val="100000"/>
              </a:lnSpc>
              <a:spcBef>
                <a:spcPts val="0"/>
              </a:spcBef>
              <a:spcAft>
                <a:spcPts val="0"/>
              </a:spcAft>
              <a:buClr>
                <a:srgbClr val="3C78D8"/>
              </a:buClr>
              <a:buSzPts val="1100"/>
              <a:buFont typeface="Calibri"/>
              <a:buChar char="○"/>
            </a:pPr>
            <a:r>
              <a:rPr lang="en" sz="1100" b="1">
                <a:solidFill>
                  <a:srgbClr val="FF0000"/>
                </a:solidFill>
                <a:latin typeface="Calibri"/>
                <a:ea typeface="Calibri"/>
                <a:cs typeface="Calibri"/>
                <a:sym typeface="Calibri"/>
              </a:rPr>
              <a:t>Focus on small-to-medium businesses (SMBs) </a:t>
            </a:r>
            <a:r>
              <a:rPr lang="en" sz="1100">
                <a:solidFill>
                  <a:srgbClr val="3C78D8"/>
                </a:solidFill>
                <a:latin typeface="Calibri"/>
                <a:ea typeface="Calibri"/>
                <a:cs typeface="Calibri"/>
                <a:sym typeface="Calibri"/>
              </a:rPr>
              <a:t>which are more agile and see 10-15% higher success rates than enterprises. Smaller companies can rebuild systems from scratch without legacy constraints</a:t>
            </a:r>
            <a:endParaRPr sz="1100">
              <a:solidFill>
                <a:srgbClr val="3C78D8"/>
              </a:solidFill>
              <a:latin typeface="Calibri"/>
              <a:ea typeface="Calibri"/>
              <a:cs typeface="Calibri"/>
              <a:sym typeface="Calibri"/>
            </a:endParaRPr>
          </a:p>
          <a:p>
            <a:pPr marL="342900" marR="0" lvl="1" indent="-127000" algn="l" rtl="0">
              <a:lnSpc>
                <a:spcPct val="100000"/>
              </a:lnSpc>
              <a:spcBef>
                <a:spcPts val="0"/>
              </a:spcBef>
              <a:spcAft>
                <a:spcPts val="0"/>
              </a:spcAft>
              <a:buClr>
                <a:srgbClr val="3C78D8"/>
              </a:buClr>
              <a:buSzPts val="1100"/>
              <a:buFont typeface="Calibri"/>
              <a:buChar char="○"/>
            </a:pPr>
            <a:r>
              <a:rPr lang="en" sz="1100" b="1">
                <a:solidFill>
                  <a:srgbClr val="FF0000"/>
                </a:solidFill>
                <a:latin typeface="Calibri"/>
                <a:ea typeface="Calibri"/>
                <a:cs typeface="Calibri"/>
                <a:sym typeface="Calibri"/>
              </a:rPr>
              <a:t>Obsess Over ROI</a:t>
            </a:r>
            <a:r>
              <a:rPr lang="en" sz="1100">
                <a:solidFill>
                  <a:srgbClr val="3C78D8"/>
                </a:solidFill>
                <a:latin typeface="Calibri"/>
                <a:ea typeface="Calibri"/>
                <a:cs typeface="Calibri"/>
                <a:sym typeface="Calibri"/>
              </a:rPr>
              <a:t>: Niche down to collect performance data from previous clients and provide concrete ROI estimates in sales calls</a:t>
            </a:r>
            <a:endParaRPr sz="1100">
              <a:solidFill>
                <a:srgbClr val="3C78D8"/>
              </a:solidFill>
              <a:latin typeface="Calibri"/>
              <a:ea typeface="Calibri"/>
              <a:cs typeface="Calibri"/>
              <a:sym typeface="Calibri"/>
            </a:endParaRPr>
          </a:p>
          <a:p>
            <a:pPr marL="342900" marR="0" lvl="1" indent="-127000" algn="l" rtl="0">
              <a:lnSpc>
                <a:spcPct val="100000"/>
              </a:lnSpc>
              <a:spcBef>
                <a:spcPts val="0"/>
              </a:spcBef>
              <a:spcAft>
                <a:spcPts val="0"/>
              </a:spcAft>
              <a:buClr>
                <a:srgbClr val="3C78D8"/>
              </a:buClr>
              <a:buSzPts val="1100"/>
              <a:buFont typeface="Calibri"/>
              <a:buChar char="○"/>
            </a:pPr>
            <a:r>
              <a:rPr lang="en" sz="1100" b="1">
                <a:solidFill>
                  <a:srgbClr val="FF0000"/>
                </a:solidFill>
                <a:latin typeface="Calibri"/>
                <a:ea typeface="Calibri"/>
                <a:cs typeface="Calibri"/>
                <a:sym typeface="Calibri"/>
              </a:rPr>
              <a:t>Shift to Optimizer Role</a:t>
            </a:r>
            <a:r>
              <a:rPr lang="en" sz="1100">
                <a:solidFill>
                  <a:srgbClr val="3C78D8"/>
                </a:solidFill>
                <a:latin typeface="Calibri"/>
                <a:ea typeface="Calibri"/>
                <a:cs typeface="Calibri"/>
                <a:sym typeface="Calibri"/>
              </a:rPr>
              <a:t>: Successful AI projects require 12-18 months of constant optimization, not set-and-forget deployment. Focus on iterative feedback loops, prompt adjustments, long-term refinement</a:t>
            </a:r>
            <a:endParaRPr sz="1100">
              <a:solidFill>
                <a:srgbClr val="3C78D8"/>
              </a:solidFill>
              <a:latin typeface="Calibri"/>
              <a:ea typeface="Calibri"/>
              <a:cs typeface="Calibri"/>
              <a:sym typeface="Calibri"/>
            </a:endParaRPr>
          </a:p>
          <a:p>
            <a:pPr marL="342900" marR="0" lvl="1" indent="-127000" algn="l" rtl="0">
              <a:lnSpc>
                <a:spcPct val="100000"/>
              </a:lnSpc>
              <a:spcBef>
                <a:spcPts val="0"/>
              </a:spcBef>
              <a:spcAft>
                <a:spcPts val="0"/>
              </a:spcAft>
              <a:buClr>
                <a:srgbClr val="3C78D8"/>
              </a:buClr>
              <a:buSzPts val="1100"/>
              <a:buFont typeface="Calibri"/>
              <a:buChar char="○"/>
            </a:pPr>
            <a:r>
              <a:rPr lang="en" sz="1100" b="1">
                <a:solidFill>
                  <a:srgbClr val="FF0000"/>
                </a:solidFill>
                <a:latin typeface="Calibri"/>
                <a:ea typeface="Calibri"/>
                <a:cs typeface="Calibri"/>
                <a:sym typeface="Calibri"/>
              </a:rPr>
              <a:t>Become AI Transformation Partner</a:t>
            </a:r>
            <a:r>
              <a:rPr lang="en" sz="1100">
                <a:solidFill>
                  <a:srgbClr val="3C78D8"/>
                </a:solidFill>
                <a:latin typeface="Calibri"/>
                <a:ea typeface="Calibri"/>
                <a:cs typeface="Calibri"/>
                <a:sym typeface="Calibri"/>
              </a:rPr>
              <a:t>: Offer education and training alongside development, as this provides easiest ROI. Lead with AI literacy audits, workshops, and courses before moving into custom development.</a:t>
            </a:r>
            <a:endParaRPr sz="1100">
              <a:solidFill>
                <a:srgbClr val="3C78D8"/>
              </a:solidFill>
              <a:latin typeface="Calibri"/>
              <a:ea typeface="Calibri"/>
              <a:cs typeface="Calibri"/>
              <a:sym typeface="Calibri"/>
            </a:endParaRPr>
          </a:p>
          <a:p>
            <a:pPr marL="342900" marR="0" lvl="1" indent="-127000" algn="l" rtl="0">
              <a:lnSpc>
                <a:spcPct val="100000"/>
              </a:lnSpc>
              <a:spcBef>
                <a:spcPts val="0"/>
              </a:spcBef>
              <a:spcAft>
                <a:spcPts val="0"/>
              </a:spcAft>
              <a:buClr>
                <a:srgbClr val="3C78D8"/>
              </a:buClr>
              <a:buSzPts val="1100"/>
              <a:buFont typeface="Calibri"/>
              <a:buChar char="○"/>
            </a:pPr>
            <a:r>
              <a:rPr lang="en" sz="1100" b="1">
                <a:solidFill>
                  <a:srgbClr val="FF0000"/>
                </a:solidFill>
                <a:latin typeface="Calibri"/>
                <a:ea typeface="Calibri"/>
                <a:cs typeface="Calibri"/>
                <a:sym typeface="Calibri"/>
              </a:rPr>
              <a:t>Default to Retainers</a:t>
            </a:r>
            <a:r>
              <a:rPr lang="en" sz="1100">
                <a:solidFill>
                  <a:srgbClr val="3C78D8"/>
                </a:solidFill>
                <a:latin typeface="Calibri"/>
                <a:ea typeface="Calibri"/>
                <a:cs typeface="Calibri"/>
                <a:sym typeface="Calibri"/>
              </a:rPr>
              <a:t>: Build essential systems that become critical to operations, ensuring recurring revenue even during economic downturns. This protects against sudden budget cuts if the bubble deflates.</a:t>
            </a:r>
            <a:endParaRPr sz="1100">
              <a:solidFill>
                <a:schemeClr val="dk1"/>
              </a:solidFill>
              <a:latin typeface="Calibri"/>
              <a:ea typeface="Calibri"/>
              <a:cs typeface="Calibri"/>
              <a:sym typeface="Calibri"/>
            </a:endParaRPr>
          </a:p>
        </p:txBody>
      </p:sp>
      <p:pic>
        <p:nvPicPr>
          <p:cNvPr id="357" name="Google Shape;357;p4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584150" y="1912126"/>
            <a:ext cx="2561518" cy="1434450"/>
          </a:xfrm>
          <a:prstGeom prst="rect">
            <a:avLst/>
          </a:prstGeom>
          <a:noFill/>
          <a:ln w="9525" cap="flat" cmpd="sng">
            <a:solidFill>
              <a:srgbClr val="FF0000"/>
            </a:solidFill>
            <a:prstDash val="solid"/>
            <a:round/>
            <a:headEnd type="none" w="sm" len="sm"/>
            <a:tailEnd type="none" w="sm" len="sm"/>
          </a:ln>
        </p:spPr>
      </p:pic>
      <p:pic>
        <p:nvPicPr>
          <p:cNvPr id="358" name="Google Shape;358;p41"/>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557653" y="3431148"/>
            <a:ext cx="2155594" cy="14344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2"/>
          <p:cNvSpPr txBox="1"/>
          <p:nvPr/>
        </p:nvSpPr>
        <p:spPr>
          <a:xfrm>
            <a:off x="55075" y="20375"/>
            <a:ext cx="4996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10 Metatrends That Will Define Your Future</a:t>
            </a:r>
            <a:endParaRPr sz="2000" b="1" i="0" u="none" strike="noStrike" cap="none">
              <a:solidFill>
                <a:schemeClr val="dk1"/>
              </a:solidFill>
              <a:latin typeface="Calibri"/>
              <a:ea typeface="Calibri"/>
              <a:cs typeface="Calibri"/>
              <a:sym typeface="Calibri"/>
            </a:endParaRPr>
          </a:p>
        </p:txBody>
      </p:sp>
      <p:sp>
        <p:nvSpPr>
          <p:cNvPr id="364" name="Google Shape;364;p42"/>
          <p:cNvSpPr txBox="1"/>
          <p:nvPr/>
        </p:nvSpPr>
        <p:spPr>
          <a:xfrm>
            <a:off x="55075" y="346775"/>
            <a:ext cx="44850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10 Metatrends That Will Define Your Future - by Peter H. Diamandis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The speed of exponential tech is accelerating</a:t>
            </a:r>
            <a:r>
              <a:rPr lang="en" sz="1100">
                <a:solidFill>
                  <a:schemeClr val="dk1"/>
                </a:solidFill>
                <a:latin typeface="Calibri"/>
                <a:ea typeface="Calibri"/>
                <a:cs typeface="Calibri"/>
                <a:sym typeface="Calibri"/>
              </a:rPr>
              <a:t>, and these technologies are converging and reinventing everything in their path. There will be much change, but that change will uplift humanity &amp; create Abundance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next decade (2025 to 2035) represents the most transformative period in human history.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 Metatrend is the unstoppable, long-term transformation of an industry or domain—propelled by the convergence of multiple exponential technologies. It systematically digitizes, dematerializes, demonetizes, and democratizes the field, reshaping it at an accelerating pace and unlocking entirely new possibilities. Here are 10 Metatrends:</a:t>
            </a:r>
            <a:endParaRPr sz="1100">
              <a:solidFill>
                <a:schemeClr val="dk1"/>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Abundance: Food, Energy, Education</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AI &amp; Quantum</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Humanoid Robotics &amp; Autonomous Systems</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Longevity, Medicine &amp; Biotechnology</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Digital Currencies, Crypto &amp; DeFi</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Robotaxis, Flying Cars &amp; Drones</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Networks &amp; Sensors</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Digital Manufacturing</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Metaverse and XR</a:t>
            </a:r>
            <a:endParaRPr sz="1100" b="1">
              <a:solidFill>
                <a:srgbClr val="3C78D8"/>
              </a:solidFill>
              <a:latin typeface="Calibri"/>
              <a:ea typeface="Calibri"/>
              <a:cs typeface="Calibri"/>
              <a:sym typeface="Calibri"/>
            </a:endParaRPr>
          </a:p>
          <a:p>
            <a:pPr marL="685800" marR="0" lvl="0" indent="-127000" algn="l" rtl="0">
              <a:lnSpc>
                <a:spcPct val="100000"/>
              </a:lnSpc>
              <a:spcBef>
                <a:spcPts val="0"/>
              </a:spcBef>
              <a:spcAft>
                <a:spcPts val="0"/>
              </a:spcAft>
              <a:buClr>
                <a:srgbClr val="3C78D8"/>
              </a:buClr>
              <a:buSzPts val="1100"/>
              <a:buFont typeface="Calibri"/>
              <a:buAutoNum type="arabicPeriod"/>
            </a:pPr>
            <a:r>
              <a:rPr lang="en" sz="1100" b="1">
                <a:solidFill>
                  <a:srgbClr val="3C78D8"/>
                </a:solidFill>
                <a:latin typeface="Calibri"/>
                <a:ea typeface="Calibri"/>
                <a:cs typeface="Calibri"/>
                <a:sym typeface="Calibri"/>
              </a:rPr>
              <a:t>Space Exploration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enhances every other technology, robotics enables space exploration, quantum computing accelerates drug discovery, and networks create the data layer that makes everything smarter. This is exponential multiplication: a 'Cambrian Explosion' of creative genius solving problems at the speed of digital superintelligence</a:t>
            </a:r>
            <a:endParaRPr sz="1100">
              <a:solidFill>
                <a:schemeClr val="dk1"/>
              </a:solidFill>
              <a:latin typeface="Calibri"/>
              <a:ea typeface="Calibri"/>
              <a:cs typeface="Calibri"/>
              <a:sym typeface="Calibri"/>
            </a:endParaRPr>
          </a:p>
        </p:txBody>
      </p:sp>
      <p:pic>
        <p:nvPicPr>
          <p:cNvPr id="365" name="Google Shape;365;p4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825825" y="213750"/>
            <a:ext cx="1141150" cy="1524600"/>
          </a:xfrm>
          <a:prstGeom prst="rect">
            <a:avLst/>
          </a:prstGeom>
          <a:noFill/>
          <a:ln>
            <a:noFill/>
          </a:ln>
        </p:spPr>
      </p:pic>
      <p:sp>
        <p:nvSpPr>
          <p:cNvPr id="366" name="Google Shape;366;p42"/>
          <p:cNvSpPr txBox="1"/>
          <p:nvPr/>
        </p:nvSpPr>
        <p:spPr>
          <a:xfrm>
            <a:off x="4614725" y="1828500"/>
            <a:ext cx="4485000" cy="323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Exponential technologies will solve humanity’s greatest challenges faster than new problems emerge. By 2035, food, energy, and education will be democratized at scale through autonomous systems and AI.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evolves from a tool to the fundamental substrate of civilization itself. Every person will deploy personalized swarms of AI agents, scientific discovery will become autonomous and continuous, and quantum-AI systems will solve previously intractable problems.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Millions and then billions humanoid robots will integrate into daily life by 2035, handling 80% of household chores, providing 24/7 eldercare, and working in extreme environments including off-world settlements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Medicine shifts from reactive to anticipatory and preventive, with aging becoming optional rather than inevitable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pattern of expensive-to-free is unfolding simultaneously across every Metatrend. Gene sequencing has dropped from $100 million to just $200. Advanced AI systems are now free to billions. Soon, longevity therapies, space access, and personalized education will follow.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Each Metatrend carries profound dark sides that demand proactive governance: from AI alignment challenges and job displacement, to privacy erosion and new forms of inequality.</a:t>
            </a:r>
            <a:endParaRPr sz="11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3"/>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72" name="Google Shape;372;p43"/>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73" name="Google Shape;373;p43"/>
          <p:cNvSpPr txBox="1"/>
          <p:nvPr/>
        </p:nvSpPr>
        <p:spPr>
          <a:xfrm>
            <a:off x="5097525" y="77475"/>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 113K in 2025 (as of November 14)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74" name="Google Shape;374;p43"/>
          <p:cNvSpPr txBox="1"/>
          <p:nvPr/>
        </p:nvSpPr>
        <p:spPr>
          <a:xfrm>
            <a:off x="5162100" y="4228625"/>
            <a:ext cx="3981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So far in 2025, 200,283 people laid off (630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375" name="Google Shape;375;p4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585762"/>
            <a:ext cx="4951702" cy="1863838"/>
          </a:xfrm>
          <a:prstGeom prst="rect">
            <a:avLst/>
          </a:prstGeom>
          <a:noFill/>
          <a:ln w="9525" cap="flat" cmpd="sng">
            <a:solidFill>
              <a:srgbClr val="FF0000"/>
            </a:solidFill>
            <a:prstDash val="solid"/>
            <a:round/>
            <a:headEnd type="none" w="sm" len="sm"/>
            <a:tailEnd type="none" w="sm" len="sm"/>
          </a:ln>
        </p:spPr>
      </p:pic>
      <p:pic>
        <p:nvPicPr>
          <p:cNvPr id="376" name="Google Shape;376;p4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2516303"/>
            <a:ext cx="4951701" cy="254350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pic>
        <p:nvPicPr>
          <p:cNvPr id="381" name="Google Shape;381;p44"/>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82" name="Google Shape;382;p44"/>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83" name="Google Shape;383;p44"/>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84" name="Google Shape;384;p4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85" name="Google Shape;385;p44"/>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86" name="Google Shape;386;p44"/>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5"/>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8193</Words>
  <Application>Microsoft Macintosh PowerPoint</Application>
  <PresentationFormat>On-screen Show (16:9)</PresentationFormat>
  <Paragraphs>660</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2025-11-21T02:47:32Z</dcterms:modified>
</cp:coreProperties>
</file>