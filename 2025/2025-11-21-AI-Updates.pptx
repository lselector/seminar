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61" r:id="rId1"/>
  </p:sldMasterIdLst>
  <p:notesMasterIdLst>
    <p:notesMasterId r:id="rId23"/>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sldSz cx="9144000" cy="5143500" type="screen16x9"/>
  <p:notesSz cx="6858000" cy="9144000"/>
  <p:embeddedFontLst>
    <p:embeddedFont>
      <p:font typeface="Roboto Mono" pitchFamily="49" charset="0"/>
      <p:regular r:id="rId24"/>
      <p:bold r:id="rId25"/>
      <p:italic r:id="rId26"/>
      <p:boldItalic r:id="rId27"/>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073D5FA3-1629-475D-9956-9B35021C5D14}">
  <a:tblStyle styleId="{073D5FA3-1629-475D-9956-9B35021C5D14}" styleName="Table_0">
    <a:wholeTbl>
      <a:tcTxStyle>
        <a:font>
          <a:latin typeface="Arial"/>
          <a:ea typeface="Arial"/>
          <a:cs typeface="Arial"/>
        </a:font>
        <a:srgbClr val="000000"/>
      </a:tcTxStyle>
      <a:tcStyle>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94640"/>
  </p:normalViewPr>
  <p:slideViewPr>
    <p:cSldViewPr>
      <p:cViewPr varScale="1">
        <p:scale>
          <a:sx n="123" d="100"/>
          <a:sy n="123" d="100"/>
        </p:scale>
        <p:origin x="616" y="19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font" Target="fonts/font3.fntdata"/><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font" Target="fonts/font2.fntdata"/><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font" Target="fonts/font1.fntdata"/><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notesMaster" Target="notesMasters/notesMaster1.xml"/><Relationship Id="rId28"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font" Target="fonts/font4.fntdata"/><Relationship Id="rId30"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9"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marR="0" lvl="0"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1pPr>
            <a:lvl2pPr marL="914400" marR="0" lvl="1"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2pPr>
            <a:lvl3pPr marL="1371600" marR="0" lvl="2"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3pPr>
            <a:lvl4pPr marL="1828800" marR="0" lvl="3"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4pPr>
            <a:lvl5pPr marL="2286000" marR="0" lvl="4"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5pPr>
            <a:lvl6pPr marL="2743200" marR="0" lvl="5"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6pPr>
            <a:lvl7pPr marL="3200400" marR="0" lvl="6"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7pPr>
            <a:lvl8pPr marL="3657600" marR="0" lvl="7"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8pPr>
            <a:lvl9pPr marL="4114800" marR="0" lvl="8"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9"/>
        <p:cNvGrpSpPr/>
        <p:nvPr/>
      </p:nvGrpSpPr>
      <p:grpSpPr>
        <a:xfrm>
          <a:off x="0" y="0"/>
          <a:ext cx="0" cy="0"/>
          <a:chOff x="0" y="0"/>
          <a:chExt cx="0" cy="0"/>
        </a:xfrm>
      </p:grpSpPr>
      <p:sp>
        <p:nvSpPr>
          <p:cNvPr id="60" name="Google Shape;60;g3633c15ed82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61" name="Google Shape;61;g3633c15ed82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9"/>
        <p:cNvGrpSpPr/>
        <p:nvPr/>
      </p:nvGrpSpPr>
      <p:grpSpPr>
        <a:xfrm>
          <a:off x="0" y="0"/>
          <a:ext cx="0" cy="0"/>
          <a:chOff x="0" y="0"/>
          <a:chExt cx="0" cy="0"/>
        </a:xfrm>
      </p:grpSpPr>
      <p:sp>
        <p:nvSpPr>
          <p:cNvPr id="70" name="Google Shape;70;p22: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71" name="Google Shape;71;p22: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7"/>
        <p:cNvGrpSpPr/>
        <p:nvPr/>
      </p:nvGrpSpPr>
      <p:grpSpPr>
        <a:xfrm>
          <a:off x="0" y="0"/>
          <a:ext cx="0" cy="0"/>
          <a:chOff x="0" y="0"/>
          <a:chExt cx="0" cy="0"/>
        </a:xfrm>
      </p:grpSpPr>
      <p:sp>
        <p:nvSpPr>
          <p:cNvPr id="148" name="Google Shape;148;g38e16650599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49" name="Google Shape;149;g38e16650599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6"/>
        <p:cNvGrpSpPr/>
        <p:nvPr/>
      </p:nvGrpSpPr>
      <p:grpSpPr>
        <a:xfrm>
          <a:off x="0" y="0"/>
          <a:ext cx="0" cy="0"/>
          <a:chOff x="0" y="0"/>
          <a:chExt cx="0" cy="0"/>
        </a:xfrm>
      </p:grpSpPr>
      <p:sp>
        <p:nvSpPr>
          <p:cNvPr id="157" name="Google Shape;157;g3a499535c9e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58" name="Google Shape;158;g3a499535c9e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2"/>
        <p:cNvGrpSpPr/>
        <p:nvPr/>
      </p:nvGrpSpPr>
      <p:grpSpPr>
        <a:xfrm>
          <a:off x="0" y="0"/>
          <a:ext cx="0" cy="0"/>
          <a:chOff x="0" y="0"/>
          <a:chExt cx="0" cy="0"/>
        </a:xfrm>
      </p:grpSpPr>
      <p:sp>
        <p:nvSpPr>
          <p:cNvPr id="163" name="Google Shape;163;g36659435892_1_2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64" name="Google Shape;164;g36659435892_1_29: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8"/>
        <p:cNvGrpSpPr/>
        <p:nvPr/>
      </p:nvGrpSpPr>
      <p:grpSpPr>
        <a:xfrm>
          <a:off x="0" y="0"/>
          <a:ext cx="0" cy="0"/>
          <a:chOff x="0" y="0"/>
          <a:chExt cx="0" cy="0"/>
        </a:xfrm>
      </p:grpSpPr>
      <p:sp>
        <p:nvSpPr>
          <p:cNvPr id="169" name="Google Shape;169;g3a4485b69d2_0_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70" name="Google Shape;170;g3a4485b69d2_0_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5"/>
        <p:cNvGrpSpPr/>
        <p:nvPr/>
      </p:nvGrpSpPr>
      <p:grpSpPr>
        <a:xfrm>
          <a:off x="0" y="0"/>
          <a:ext cx="0" cy="0"/>
          <a:chOff x="0" y="0"/>
          <a:chExt cx="0" cy="0"/>
        </a:xfrm>
      </p:grpSpPr>
      <p:sp>
        <p:nvSpPr>
          <p:cNvPr id="176" name="Google Shape;176;g390d75e4487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77" name="Google Shape;177;g390d75e4487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3"/>
        <p:cNvGrpSpPr/>
        <p:nvPr/>
      </p:nvGrpSpPr>
      <p:grpSpPr>
        <a:xfrm>
          <a:off x="0" y="0"/>
          <a:ext cx="0" cy="0"/>
          <a:chOff x="0" y="0"/>
          <a:chExt cx="0" cy="0"/>
        </a:xfrm>
      </p:grpSpPr>
      <p:sp>
        <p:nvSpPr>
          <p:cNvPr id="184" name="Google Shape;184;g38655d782a4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85" name="Google Shape;185;g38655d782a4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2"/>
        <p:cNvGrpSpPr/>
        <p:nvPr/>
      </p:nvGrpSpPr>
      <p:grpSpPr>
        <a:xfrm>
          <a:off x="0" y="0"/>
          <a:ext cx="0" cy="0"/>
          <a:chOff x="0" y="0"/>
          <a:chExt cx="0" cy="0"/>
        </a:xfrm>
      </p:grpSpPr>
      <p:sp>
        <p:nvSpPr>
          <p:cNvPr id="193" name="Google Shape;193;g3a490030a5d_1_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94" name="Google Shape;194;g3a490030a5d_1_2: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1"/>
        <p:cNvGrpSpPr/>
        <p:nvPr/>
      </p:nvGrpSpPr>
      <p:grpSpPr>
        <a:xfrm>
          <a:off x="0" y="0"/>
          <a:ext cx="0" cy="0"/>
          <a:chOff x="0" y="0"/>
          <a:chExt cx="0" cy="0"/>
        </a:xfrm>
      </p:grpSpPr>
      <p:sp>
        <p:nvSpPr>
          <p:cNvPr id="202" name="Google Shape;202;g3a490030a5d_1_1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03" name="Google Shape;203;g3a490030a5d_1_16: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1"/>
        <p:cNvGrpSpPr/>
        <p:nvPr/>
      </p:nvGrpSpPr>
      <p:grpSpPr>
        <a:xfrm>
          <a:off x="0" y="0"/>
          <a:ext cx="0" cy="0"/>
          <a:chOff x="0" y="0"/>
          <a:chExt cx="0" cy="0"/>
        </a:xfrm>
      </p:grpSpPr>
      <p:sp>
        <p:nvSpPr>
          <p:cNvPr id="212" name="Google Shape;212;g390f9e197de_2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13" name="Google Shape;213;g390f9e197de_2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8"/>
        <p:cNvGrpSpPr/>
        <p:nvPr/>
      </p:nvGrpSpPr>
      <p:grpSpPr>
        <a:xfrm>
          <a:off x="0" y="0"/>
          <a:ext cx="0" cy="0"/>
          <a:chOff x="0" y="0"/>
          <a:chExt cx="0" cy="0"/>
        </a:xfrm>
      </p:grpSpPr>
      <p:sp>
        <p:nvSpPr>
          <p:cNvPr id="219" name="Google Shape;219;g390f9e197de_2_1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20" name="Google Shape;220;g390f9e197de_2_1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5"/>
        <p:cNvGrpSpPr/>
        <p:nvPr/>
      </p:nvGrpSpPr>
      <p:grpSpPr>
        <a:xfrm>
          <a:off x="0" y="0"/>
          <a:ext cx="0" cy="0"/>
          <a:chOff x="0" y="0"/>
          <a:chExt cx="0" cy="0"/>
        </a:xfrm>
      </p:grpSpPr>
      <p:sp>
        <p:nvSpPr>
          <p:cNvPr id="226" name="Google Shape;226;g3a4b85f4123_1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27" name="Google Shape;227;g3a4b85f4123_1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1"/>
        <p:cNvGrpSpPr/>
        <p:nvPr/>
      </p:nvGrpSpPr>
      <p:grpSpPr>
        <a:xfrm>
          <a:off x="0" y="0"/>
          <a:ext cx="0" cy="0"/>
          <a:chOff x="0" y="0"/>
          <a:chExt cx="0" cy="0"/>
        </a:xfrm>
      </p:grpSpPr>
      <p:sp>
        <p:nvSpPr>
          <p:cNvPr id="232" name="Google Shape;232;g38655d782a4_0_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33" name="Google Shape;233;g38655d782a4_0_8: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6"/>
        <p:cNvGrpSpPr/>
        <p:nvPr/>
      </p:nvGrpSpPr>
      <p:grpSpPr>
        <a:xfrm>
          <a:off x="0" y="0"/>
          <a:ext cx="0" cy="0"/>
          <a:chOff x="0" y="0"/>
          <a:chExt cx="0" cy="0"/>
        </a:xfrm>
      </p:grpSpPr>
      <p:sp>
        <p:nvSpPr>
          <p:cNvPr id="247" name="Google Shape;247;g3a4435a2185_0_1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48" name="Google Shape;248;g3a4435a2185_0_1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3"/>
        <p:cNvGrpSpPr/>
        <p:nvPr/>
      </p:nvGrpSpPr>
      <p:grpSpPr>
        <a:xfrm>
          <a:off x="0" y="0"/>
          <a:ext cx="0" cy="0"/>
          <a:chOff x="0" y="0"/>
          <a:chExt cx="0" cy="0"/>
        </a:xfrm>
      </p:grpSpPr>
      <p:sp>
        <p:nvSpPr>
          <p:cNvPr id="254" name="Google Shape;254;g3a490030a5d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55" name="Google Shape;255;g3a490030a5d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2"/>
        <p:cNvGrpSpPr/>
        <p:nvPr/>
      </p:nvGrpSpPr>
      <p:grpSpPr>
        <a:xfrm>
          <a:off x="0" y="0"/>
          <a:ext cx="0" cy="0"/>
          <a:chOff x="0" y="0"/>
          <a:chExt cx="0" cy="0"/>
        </a:xfrm>
      </p:grpSpPr>
      <p:sp>
        <p:nvSpPr>
          <p:cNvPr id="263" name="Google Shape;263;g390d75e4487_2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64" name="Google Shape;264;g390d75e4487_2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2"/>
        <p:cNvGrpSpPr/>
        <p:nvPr/>
      </p:nvGrpSpPr>
      <p:grpSpPr>
        <a:xfrm>
          <a:off x="0" y="0"/>
          <a:ext cx="0" cy="0"/>
          <a:chOff x="0" y="0"/>
          <a:chExt cx="0" cy="0"/>
        </a:xfrm>
      </p:grpSpPr>
      <p:sp>
        <p:nvSpPr>
          <p:cNvPr id="273" name="Google Shape;273;g390d75e4487_4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74" name="Google Shape;274;g390d75e4487_4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0"/>
        <p:cNvGrpSpPr/>
        <p:nvPr/>
      </p:nvGrpSpPr>
      <p:grpSpPr>
        <a:xfrm>
          <a:off x="0" y="0"/>
          <a:ext cx="0" cy="0"/>
          <a:chOff x="0" y="0"/>
          <a:chExt cx="0" cy="0"/>
        </a:xfrm>
      </p:grpSpPr>
      <p:sp>
        <p:nvSpPr>
          <p:cNvPr id="281" name="Google Shape;281;p2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82" name="Google Shape;282;p23: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0"/>
        <p:cNvGrpSpPr/>
        <p:nvPr/>
      </p:nvGrpSpPr>
      <p:grpSpPr>
        <a:xfrm>
          <a:off x="0" y="0"/>
          <a:ext cx="0" cy="0"/>
          <a:chOff x="0" y="0"/>
          <a:chExt cx="0" cy="0"/>
        </a:xfrm>
      </p:grpSpPr>
      <p:sp>
        <p:nvSpPr>
          <p:cNvPr id="291" name="Google Shape;291;p2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92" name="Google Shape;292;p24: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0"/>
        <p:cNvGrpSpPr/>
        <p:nvPr/>
      </p:nvGrpSpPr>
      <p:grpSpPr>
        <a:xfrm>
          <a:off x="0" y="0"/>
          <a:ext cx="0" cy="0"/>
          <a:chOff x="0" y="0"/>
          <a:chExt cx="0" cy="0"/>
        </a:xfrm>
      </p:grpSpPr>
      <p:sp>
        <p:nvSpPr>
          <p:cNvPr id="301" name="Google Shape;301;p25: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302" name="Google Shape;302;p25: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sp>
        <p:nvSpPr>
          <p:cNvPr id="10" name="Google Shape;10;p2"/>
          <p:cNvSpPr txBox="1">
            <a:spLocks noGrp="1"/>
          </p:cNvSpPr>
          <p:nvPr>
            <p:ph type="ctrTitle"/>
          </p:nvPr>
        </p:nvSpPr>
        <p:spPr>
          <a:xfrm>
            <a:off x="311708" y="744575"/>
            <a:ext cx="8520600" cy="2052600"/>
          </a:xfrm>
          <a:prstGeom prst="rect">
            <a:avLst/>
          </a:prstGeom>
          <a:noFill/>
          <a:ln>
            <a:noFill/>
          </a:ln>
        </p:spPr>
        <p:txBody>
          <a:bodyPr spcFirstLastPara="1" wrap="square" lIns="91425" tIns="91425" rIns="91425" bIns="91425" anchor="b" anchorCtr="0">
            <a:normAutofit/>
          </a:bodyPr>
          <a:lstStyle>
            <a:lvl1pPr lvl="0" algn="ctr">
              <a:lnSpc>
                <a:spcPct val="100000"/>
              </a:lnSpc>
              <a:spcBef>
                <a:spcPts val="0"/>
              </a:spcBef>
              <a:spcAft>
                <a:spcPts val="0"/>
              </a:spcAft>
              <a:buSzPts val="5200"/>
              <a:buNone/>
              <a:defRPr sz="5200"/>
            </a:lvl1pPr>
            <a:lvl2pPr lvl="1" algn="ctr">
              <a:lnSpc>
                <a:spcPct val="100000"/>
              </a:lnSpc>
              <a:spcBef>
                <a:spcPts val="0"/>
              </a:spcBef>
              <a:spcAft>
                <a:spcPts val="0"/>
              </a:spcAft>
              <a:buSzPts val="5200"/>
              <a:buNone/>
              <a:defRPr sz="5200"/>
            </a:lvl2pPr>
            <a:lvl3pPr lvl="2" algn="ctr">
              <a:lnSpc>
                <a:spcPct val="100000"/>
              </a:lnSpc>
              <a:spcBef>
                <a:spcPts val="0"/>
              </a:spcBef>
              <a:spcAft>
                <a:spcPts val="0"/>
              </a:spcAft>
              <a:buSzPts val="5200"/>
              <a:buNone/>
              <a:defRPr sz="5200"/>
            </a:lvl3pPr>
            <a:lvl4pPr lvl="3" algn="ctr">
              <a:lnSpc>
                <a:spcPct val="100000"/>
              </a:lnSpc>
              <a:spcBef>
                <a:spcPts val="0"/>
              </a:spcBef>
              <a:spcAft>
                <a:spcPts val="0"/>
              </a:spcAft>
              <a:buSzPts val="5200"/>
              <a:buNone/>
              <a:defRPr sz="5200"/>
            </a:lvl4pPr>
            <a:lvl5pPr lvl="4" algn="ctr">
              <a:lnSpc>
                <a:spcPct val="100000"/>
              </a:lnSpc>
              <a:spcBef>
                <a:spcPts val="0"/>
              </a:spcBef>
              <a:spcAft>
                <a:spcPts val="0"/>
              </a:spcAft>
              <a:buSzPts val="5200"/>
              <a:buNone/>
              <a:defRPr sz="5200"/>
            </a:lvl5pPr>
            <a:lvl6pPr lvl="5" algn="ctr">
              <a:lnSpc>
                <a:spcPct val="100000"/>
              </a:lnSpc>
              <a:spcBef>
                <a:spcPts val="0"/>
              </a:spcBef>
              <a:spcAft>
                <a:spcPts val="0"/>
              </a:spcAft>
              <a:buSzPts val="5200"/>
              <a:buNone/>
              <a:defRPr sz="5200"/>
            </a:lvl6pPr>
            <a:lvl7pPr lvl="6" algn="ctr">
              <a:lnSpc>
                <a:spcPct val="100000"/>
              </a:lnSpc>
              <a:spcBef>
                <a:spcPts val="0"/>
              </a:spcBef>
              <a:spcAft>
                <a:spcPts val="0"/>
              </a:spcAft>
              <a:buSzPts val="5200"/>
              <a:buNone/>
              <a:defRPr sz="5200"/>
            </a:lvl7pPr>
            <a:lvl8pPr lvl="7" algn="ctr">
              <a:lnSpc>
                <a:spcPct val="100000"/>
              </a:lnSpc>
              <a:spcBef>
                <a:spcPts val="0"/>
              </a:spcBef>
              <a:spcAft>
                <a:spcPts val="0"/>
              </a:spcAft>
              <a:buSzPts val="5200"/>
              <a:buNone/>
              <a:defRPr sz="5200"/>
            </a:lvl8pPr>
            <a:lvl9pPr lvl="8" algn="ctr">
              <a:lnSpc>
                <a:spcPct val="100000"/>
              </a:lnSpc>
              <a:spcBef>
                <a:spcPts val="0"/>
              </a:spcBef>
              <a:spcAft>
                <a:spcPts val="0"/>
              </a:spcAft>
              <a:buSzPts val="5200"/>
              <a:buNone/>
              <a:defRPr sz="5200"/>
            </a:lvl9pPr>
          </a:lstStyle>
          <a:p>
            <a:endParaRPr/>
          </a:p>
        </p:txBody>
      </p:sp>
      <p:sp>
        <p:nvSpPr>
          <p:cNvPr id="11" name="Google Shape;11;p2"/>
          <p:cNvSpPr txBox="1">
            <a:spLocks noGrp="1"/>
          </p:cNvSpPr>
          <p:nvPr>
            <p:ph type="subTitle" idx="1"/>
          </p:nvPr>
        </p:nvSpPr>
        <p:spPr>
          <a:xfrm>
            <a:off x="311700" y="2834125"/>
            <a:ext cx="8520600" cy="792600"/>
          </a:xfrm>
          <a:prstGeom prst="rect">
            <a:avLst/>
          </a:prstGeom>
          <a:noFill/>
          <a:ln>
            <a:noFill/>
          </a:ln>
        </p:spPr>
        <p:txBody>
          <a:bodyPr spcFirstLastPara="1" wrap="square" lIns="91425" tIns="91425" rIns="91425" bIns="91425" anchor="t" anchorCtr="0">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a:endParaRPr/>
          </a:p>
        </p:txBody>
      </p:sp>
      <p:sp>
        <p:nvSpPr>
          <p:cNvPr id="12" name="Google Shape;12;p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13"/>
        <p:cNvGrpSpPr/>
        <p:nvPr/>
      </p:nvGrpSpPr>
      <p:grpSpPr>
        <a:xfrm>
          <a:off x="0" y="0"/>
          <a:ext cx="0" cy="0"/>
          <a:chOff x="0" y="0"/>
          <a:chExt cx="0" cy="0"/>
        </a:xfrm>
      </p:grpSpPr>
      <p:sp>
        <p:nvSpPr>
          <p:cNvPr id="14" name="Google Shape;14;p3"/>
          <p:cNvSpPr txBox="1">
            <a:spLocks noGrp="1"/>
          </p:cNvSpPr>
          <p:nvPr>
            <p:ph type="title"/>
          </p:nvPr>
        </p:nvSpPr>
        <p:spPr>
          <a:xfrm>
            <a:off x="311700" y="2150850"/>
            <a:ext cx="8520600" cy="841800"/>
          </a:xfrm>
          <a:prstGeom prst="rect">
            <a:avLst/>
          </a:prstGeom>
          <a:noFill/>
          <a:ln>
            <a:noFill/>
          </a:ln>
        </p:spPr>
        <p:txBody>
          <a:bodyPr spcFirstLastPara="1" wrap="square" lIns="91425" tIns="91425" rIns="91425" bIns="91425" anchor="ctr" anchorCtr="0">
            <a:normAutofit/>
          </a:bodyPr>
          <a:lstStyle>
            <a:lvl1pPr lvl="0" algn="ctr">
              <a:lnSpc>
                <a:spcPct val="100000"/>
              </a:lnSpc>
              <a:spcBef>
                <a:spcPts val="0"/>
              </a:spcBef>
              <a:spcAft>
                <a:spcPts val="0"/>
              </a:spcAft>
              <a:buSzPts val="3600"/>
              <a:buNone/>
              <a:defRPr sz="3600"/>
            </a:lvl1pPr>
            <a:lvl2pPr lvl="1" algn="ctr">
              <a:lnSpc>
                <a:spcPct val="100000"/>
              </a:lnSpc>
              <a:spcBef>
                <a:spcPts val="0"/>
              </a:spcBef>
              <a:spcAft>
                <a:spcPts val="0"/>
              </a:spcAft>
              <a:buSzPts val="3600"/>
              <a:buNone/>
              <a:defRPr sz="3600"/>
            </a:lvl2pPr>
            <a:lvl3pPr lvl="2" algn="ctr">
              <a:lnSpc>
                <a:spcPct val="100000"/>
              </a:lnSpc>
              <a:spcBef>
                <a:spcPts val="0"/>
              </a:spcBef>
              <a:spcAft>
                <a:spcPts val="0"/>
              </a:spcAft>
              <a:buSzPts val="3600"/>
              <a:buNone/>
              <a:defRPr sz="3600"/>
            </a:lvl3pPr>
            <a:lvl4pPr lvl="3" algn="ctr">
              <a:lnSpc>
                <a:spcPct val="100000"/>
              </a:lnSpc>
              <a:spcBef>
                <a:spcPts val="0"/>
              </a:spcBef>
              <a:spcAft>
                <a:spcPts val="0"/>
              </a:spcAft>
              <a:buSzPts val="3600"/>
              <a:buNone/>
              <a:defRPr sz="3600"/>
            </a:lvl4pPr>
            <a:lvl5pPr lvl="4" algn="ctr">
              <a:lnSpc>
                <a:spcPct val="100000"/>
              </a:lnSpc>
              <a:spcBef>
                <a:spcPts val="0"/>
              </a:spcBef>
              <a:spcAft>
                <a:spcPts val="0"/>
              </a:spcAft>
              <a:buSzPts val="3600"/>
              <a:buNone/>
              <a:defRPr sz="3600"/>
            </a:lvl5pPr>
            <a:lvl6pPr lvl="5" algn="ctr">
              <a:lnSpc>
                <a:spcPct val="100000"/>
              </a:lnSpc>
              <a:spcBef>
                <a:spcPts val="0"/>
              </a:spcBef>
              <a:spcAft>
                <a:spcPts val="0"/>
              </a:spcAft>
              <a:buSzPts val="3600"/>
              <a:buNone/>
              <a:defRPr sz="3600"/>
            </a:lvl6pPr>
            <a:lvl7pPr lvl="6" algn="ctr">
              <a:lnSpc>
                <a:spcPct val="100000"/>
              </a:lnSpc>
              <a:spcBef>
                <a:spcPts val="0"/>
              </a:spcBef>
              <a:spcAft>
                <a:spcPts val="0"/>
              </a:spcAft>
              <a:buSzPts val="3600"/>
              <a:buNone/>
              <a:defRPr sz="3600"/>
            </a:lvl7pPr>
            <a:lvl8pPr lvl="7" algn="ctr">
              <a:lnSpc>
                <a:spcPct val="100000"/>
              </a:lnSpc>
              <a:spcBef>
                <a:spcPts val="0"/>
              </a:spcBef>
              <a:spcAft>
                <a:spcPts val="0"/>
              </a:spcAft>
              <a:buSzPts val="3600"/>
              <a:buNone/>
              <a:defRPr sz="3600"/>
            </a:lvl8pPr>
            <a:lvl9pPr lvl="8" algn="ctr">
              <a:lnSpc>
                <a:spcPct val="100000"/>
              </a:lnSpc>
              <a:spcBef>
                <a:spcPts val="0"/>
              </a:spcBef>
              <a:spcAft>
                <a:spcPts val="0"/>
              </a:spcAft>
              <a:buSzPts val="3600"/>
              <a:buNone/>
              <a:defRPr sz="3600"/>
            </a:lvl9pPr>
          </a:lstStyle>
          <a:p>
            <a:endParaRPr/>
          </a:p>
        </p:txBody>
      </p:sp>
      <p:sp>
        <p:nvSpPr>
          <p:cNvPr id="15" name="Google Shape;15;p3"/>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16"/>
        <p:cNvGrpSpPr/>
        <p:nvPr/>
      </p:nvGrpSpPr>
      <p:grpSpPr>
        <a:xfrm>
          <a:off x="0" y="0"/>
          <a:ext cx="0" cy="0"/>
          <a:chOff x="0" y="0"/>
          <a:chExt cx="0" cy="0"/>
        </a:xfrm>
      </p:grpSpPr>
      <p:sp>
        <p:nvSpPr>
          <p:cNvPr id="17" name="Google Shape;17;p4"/>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a:endParaRPr/>
          </a:p>
        </p:txBody>
      </p:sp>
      <p:sp>
        <p:nvSpPr>
          <p:cNvPr id="18" name="Google Shape;18;p4"/>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lvl="0" indent="-342900" algn="l">
              <a:lnSpc>
                <a:spcPct val="115000"/>
              </a:lnSpc>
              <a:spcBef>
                <a:spcPts val="0"/>
              </a:spcBef>
              <a:spcAft>
                <a:spcPts val="0"/>
              </a:spcAft>
              <a:buSzPts val="1800"/>
              <a:buChar char="●"/>
              <a:defRPr/>
            </a:lvl1pPr>
            <a:lvl2pPr marL="914400" lvl="1" indent="-317500" algn="l">
              <a:lnSpc>
                <a:spcPct val="115000"/>
              </a:lnSpc>
              <a:spcBef>
                <a:spcPts val="0"/>
              </a:spcBef>
              <a:spcAft>
                <a:spcPts val="0"/>
              </a:spcAft>
              <a:buSzPts val="1400"/>
              <a:buChar char="○"/>
              <a:defRPr/>
            </a:lvl2pPr>
            <a:lvl3pPr marL="1371600" lvl="2" indent="-317500" algn="l">
              <a:lnSpc>
                <a:spcPct val="115000"/>
              </a:lnSpc>
              <a:spcBef>
                <a:spcPts val="0"/>
              </a:spcBef>
              <a:spcAft>
                <a:spcPts val="0"/>
              </a:spcAft>
              <a:buSzPts val="1400"/>
              <a:buChar char="■"/>
              <a:defRPr/>
            </a:lvl3pPr>
            <a:lvl4pPr marL="1828800" lvl="3" indent="-317500" algn="l">
              <a:lnSpc>
                <a:spcPct val="115000"/>
              </a:lnSpc>
              <a:spcBef>
                <a:spcPts val="0"/>
              </a:spcBef>
              <a:spcAft>
                <a:spcPts val="0"/>
              </a:spcAft>
              <a:buSzPts val="1400"/>
              <a:buChar char="●"/>
              <a:defRPr/>
            </a:lvl4pPr>
            <a:lvl5pPr marL="2286000" lvl="4" indent="-317500" algn="l">
              <a:lnSpc>
                <a:spcPct val="115000"/>
              </a:lnSpc>
              <a:spcBef>
                <a:spcPts val="0"/>
              </a:spcBef>
              <a:spcAft>
                <a:spcPts val="0"/>
              </a:spcAft>
              <a:buSzPts val="1400"/>
              <a:buChar char="○"/>
              <a:defRPr/>
            </a:lvl5pPr>
            <a:lvl6pPr marL="2743200" lvl="5" indent="-317500" algn="l">
              <a:lnSpc>
                <a:spcPct val="115000"/>
              </a:lnSpc>
              <a:spcBef>
                <a:spcPts val="0"/>
              </a:spcBef>
              <a:spcAft>
                <a:spcPts val="0"/>
              </a:spcAft>
              <a:buSzPts val="1400"/>
              <a:buChar char="■"/>
              <a:defRPr/>
            </a:lvl6pPr>
            <a:lvl7pPr marL="3200400" lvl="6" indent="-317500" algn="l">
              <a:lnSpc>
                <a:spcPct val="115000"/>
              </a:lnSpc>
              <a:spcBef>
                <a:spcPts val="0"/>
              </a:spcBef>
              <a:spcAft>
                <a:spcPts val="0"/>
              </a:spcAft>
              <a:buSzPts val="1400"/>
              <a:buChar char="●"/>
              <a:defRPr/>
            </a:lvl7pPr>
            <a:lvl8pPr marL="3657600" lvl="7" indent="-317500" algn="l">
              <a:lnSpc>
                <a:spcPct val="115000"/>
              </a:lnSpc>
              <a:spcBef>
                <a:spcPts val="0"/>
              </a:spcBef>
              <a:spcAft>
                <a:spcPts val="0"/>
              </a:spcAft>
              <a:buSzPts val="1400"/>
              <a:buChar char="○"/>
              <a:defRPr/>
            </a:lvl8pPr>
            <a:lvl9pPr marL="4114800" lvl="8" indent="-317500" algn="l">
              <a:lnSpc>
                <a:spcPct val="115000"/>
              </a:lnSpc>
              <a:spcBef>
                <a:spcPts val="0"/>
              </a:spcBef>
              <a:spcAft>
                <a:spcPts val="0"/>
              </a:spcAft>
              <a:buSzPts val="1400"/>
              <a:buChar char="■"/>
              <a:defRPr/>
            </a:lvl9pPr>
          </a:lstStyle>
          <a:p>
            <a:endParaRPr/>
          </a:p>
        </p:txBody>
      </p:sp>
      <p:sp>
        <p:nvSpPr>
          <p:cNvPr id="19" name="Google Shape;19;p4"/>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20"/>
        <p:cNvGrpSpPr/>
        <p:nvPr/>
      </p:nvGrpSpPr>
      <p:grpSpPr>
        <a:xfrm>
          <a:off x="0" y="0"/>
          <a:ext cx="0" cy="0"/>
          <a:chOff x="0" y="0"/>
          <a:chExt cx="0" cy="0"/>
        </a:xfrm>
      </p:grpSpPr>
      <p:sp>
        <p:nvSpPr>
          <p:cNvPr id="21" name="Google Shape;21;p5"/>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a:endParaRPr/>
          </a:p>
        </p:txBody>
      </p:sp>
      <p:sp>
        <p:nvSpPr>
          <p:cNvPr id="22" name="Google Shape;22;p5"/>
          <p:cNvSpPr txBox="1">
            <a:spLocks noGrp="1"/>
          </p:cNvSpPr>
          <p:nvPr>
            <p:ph type="body" idx="1"/>
          </p:nvPr>
        </p:nvSpPr>
        <p:spPr>
          <a:xfrm>
            <a:off x="311700" y="1152475"/>
            <a:ext cx="3999900" cy="3416400"/>
          </a:xfrm>
          <a:prstGeom prst="rect">
            <a:avLst/>
          </a:prstGeom>
          <a:noFill/>
          <a:ln>
            <a:noFill/>
          </a:ln>
        </p:spPr>
        <p:txBody>
          <a:bodyPr spcFirstLastPara="1" wrap="square" lIns="91425" tIns="91425" rIns="91425" bIns="91425" anchor="t" anchorCtr="0">
            <a:normAutofit/>
          </a:bodyPr>
          <a:lstStyle>
            <a:lvl1pPr marL="457200" lvl="0" indent="-317500" algn="l">
              <a:lnSpc>
                <a:spcPct val="115000"/>
              </a:lnSpc>
              <a:spcBef>
                <a:spcPts val="0"/>
              </a:spcBef>
              <a:spcAft>
                <a:spcPts val="0"/>
              </a:spcAft>
              <a:buSzPts val="1400"/>
              <a:buChar char="●"/>
              <a:defRPr sz="1400"/>
            </a:lvl1pPr>
            <a:lvl2pPr marL="914400" lvl="1" indent="-304800" algn="l">
              <a:lnSpc>
                <a:spcPct val="115000"/>
              </a:lnSpc>
              <a:spcBef>
                <a:spcPts val="0"/>
              </a:spcBef>
              <a:spcAft>
                <a:spcPts val="0"/>
              </a:spcAft>
              <a:buSzPts val="1200"/>
              <a:buChar char="○"/>
              <a:defRPr sz="1200"/>
            </a:lvl2pPr>
            <a:lvl3pPr marL="1371600" lvl="2" indent="-304800" algn="l">
              <a:lnSpc>
                <a:spcPct val="115000"/>
              </a:lnSpc>
              <a:spcBef>
                <a:spcPts val="0"/>
              </a:spcBef>
              <a:spcAft>
                <a:spcPts val="0"/>
              </a:spcAft>
              <a:buSzPts val="1200"/>
              <a:buChar char="■"/>
              <a:defRPr sz="1200"/>
            </a:lvl3pPr>
            <a:lvl4pPr marL="1828800" lvl="3" indent="-304800" algn="l">
              <a:lnSpc>
                <a:spcPct val="115000"/>
              </a:lnSpc>
              <a:spcBef>
                <a:spcPts val="0"/>
              </a:spcBef>
              <a:spcAft>
                <a:spcPts val="0"/>
              </a:spcAft>
              <a:buSzPts val="1200"/>
              <a:buChar char="●"/>
              <a:defRPr sz="1200"/>
            </a:lvl4pPr>
            <a:lvl5pPr marL="2286000" lvl="4" indent="-304800" algn="l">
              <a:lnSpc>
                <a:spcPct val="115000"/>
              </a:lnSpc>
              <a:spcBef>
                <a:spcPts val="0"/>
              </a:spcBef>
              <a:spcAft>
                <a:spcPts val="0"/>
              </a:spcAft>
              <a:buSzPts val="1200"/>
              <a:buChar char="○"/>
              <a:defRPr sz="1200"/>
            </a:lvl5pPr>
            <a:lvl6pPr marL="2743200" lvl="5" indent="-304800" algn="l">
              <a:lnSpc>
                <a:spcPct val="115000"/>
              </a:lnSpc>
              <a:spcBef>
                <a:spcPts val="0"/>
              </a:spcBef>
              <a:spcAft>
                <a:spcPts val="0"/>
              </a:spcAft>
              <a:buSzPts val="1200"/>
              <a:buChar char="■"/>
              <a:defRPr sz="1200"/>
            </a:lvl6pPr>
            <a:lvl7pPr marL="3200400" lvl="6" indent="-304800" algn="l">
              <a:lnSpc>
                <a:spcPct val="115000"/>
              </a:lnSpc>
              <a:spcBef>
                <a:spcPts val="0"/>
              </a:spcBef>
              <a:spcAft>
                <a:spcPts val="0"/>
              </a:spcAft>
              <a:buSzPts val="1200"/>
              <a:buChar char="●"/>
              <a:defRPr sz="1200"/>
            </a:lvl7pPr>
            <a:lvl8pPr marL="3657600" lvl="7" indent="-304800" algn="l">
              <a:lnSpc>
                <a:spcPct val="115000"/>
              </a:lnSpc>
              <a:spcBef>
                <a:spcPts val="0"/>
              </a:spcBef>
              <a:spcAft>
                <a:spcPts val="0"/>
              </a:spcAft>
              <a:buSzPts val="1200"/>
              <a:buChar char="○"/>
              <a:defRPr sz="1200"/>
            </a:lvl8pPr>
            <a:lvl9pPr marL="4114800" lvl="8" indent="-304800" algn="l">
              <a:lnSpc>
                <a:spcPct val="115000"/>
              </a:lnSpc>
              <a:spcBef>
                <a:spcPts val="0"/>
              </a:spcBef>
              <a:spcAft>
                <a:spcPts val="0"/>
              </a:spcAft>
              <a:buSzPts val="1200"/>
              <a:buChar char="■"/>
              <a:defRPr sz="1200"/>
            </a:lvl9pPr>
          </a:lstStyle>
          <a:p>
            <a:endParaRPr/>
          </a:p>
        </p:txBody>
      </p:sp>
      <p:sp>
        <p:nvSpPr>
          <p:cNvPr id="23" name="Google Shape;23;p5"/>
          <p:cNvSpPr txBox="1">
            <a:spLocks noGrp="1"/>
          </p:cNvSpPr>
          <p:nvPr>
            <p:ph type="body" idx="2"/>
          </p:nvPr>
        </p:nvSpPr>
        <p:spPr>
          <a:xfrm>
            <a:off x="4832400" y="1152475"/>
            <a:ext cx="3999900" cy="3416400"/>
          </a:xfrm>
          <a:prstGeom prst="rect">
            <a:avLst/>
          </a:prstGeom>
          <a:noFill/>
          <a:ln>
            <a:noFill/>
          </a:ln>
        </p:spPr>
        <p:txBody>
          <a:bodyPr spcFirstLastPara="1" wrap="square" lIns="91425" tIns="91425" rIns="91425" bIns="91425" anchor="t" anchorCtr="0">
            <a:normAutofit/>
          </a:bodyPr>
          <a:lstStyle>
            <a:lvl1pPr marL="457200" lvl="0" indent="-317500" algn="l">
              <a:lnSpc>
                <a:spcPct val="115000"/>
              </a:lnSpc>
              <a:spcBef>
                <a:spcPts val="0"/>
              </a:spcBef>
              <a:spcAft>
                <a:spcPts val="0"/>
              </a:spcAft>
              <a:buSzPts val="1400"/>
              <a:buChar char="●"/>
              <a:defRPr sz="1400"/>
            </a:lvl1pPr>
            <a:lvl2pPr marL="914400" lvl="1" indent="-304800" algn="l">
              <a:lnSpc>
                <a:spcPct val="115000"/>
              </a:lnSpc>
              <a:spcBef>
                <a:spcPts val="0"/>
              </a:spcBef>
              <a:spcAft>
                <a:spcPts val="0"/>
              </a:spcAft>
              <a:buSzPts val="1200"/>
              <a:buChar char="○"/>
              <a:defRPr sz="1200"/>
            </a:lvl2pPr>
            <a:lvl3pPr marL="1371600" lvl="2" indent="-304800" algn="l">
              <a:lnSpc>
                <a:spcPct val="115000"/>
              </a:lnSpc>
              <a:spcBef>
                <a:spcPts val="0"/>
              </a:spcBef>
              <a:spcAft>
                <a:spcPts val="0"/>
              </a:spcAft>
              <a:buSzPts val="1200"/>
              <a:buChar char="■"/>
              <a:defRPr sz="1200"/>
            </a:lvl3pPr>
            <a:lvl4pPr marL="1828800" lvl="3" indent="-304800" algn="l">
              <a:lnSpc>
                <a:spcPct val="115000"/>
              </a:lnSpc>
              <a:spcBef>
                <a:spcPts val="0"/>
              </a:spcBef>
              <a:spcAft>
                <a:spcPts val="0"/>
              </a:spcAft>
              <a:buSzPts val="1200"/>
              <a:buChar char="●"/>
              <a:defRPr sz="1200"/>
            </a:lvl4pPr>
            <a:lvl5pPr marL="2286000" lvl="4" indent="-304800" algn="l">
              <a:lnSpc>
                <a:spcPct val="115000"/>
              </a:lnSpc>
              <a:spcBef>
                <a:spcPts val="0"/>
              </a:spcBef>
              <a:spcAft>
                <a:spcPts val="0"/>
              </a:spcAft>
              <a:buSzPts val="1200"/>
              <a:buChar char="○"/>
              <a:defRPr sz="1200"/>
            </a:lvl5pPr>
            <a:lvl6pPr marL="2743200" lvl="5" indent="-304800" algn="l">
              <a:lnSpc>
                <a:spcPct val="115000"/>
              </a:lnSpc>
              <a:spcBef>
                <a:spcPts val="0"/>
              </a:spcBef>
              <a:spcAft>
                <a:spcPts val="0"/>
              </a:spcAft>
              <a:buSzPts val="1200"/>
              <a:buChar char="■"/>
              <a:defRPr sz="1200"/>
            </a:lvl6pPr>
            <a:lvl7pPr marL="3200400" lvl="6" indent="-304800" algn="l">
              <a:lnSpc>
                <a:spcPct val="115000"/>
              </a:lnSpc>
              <a:spcBef>
                <a:spcPts val="0"/>
              </a:spcBef>
              <a:spcAft>
                <a:spcPts val="0"/>
              </a:spcAft>
              <a:buSzPts val="1200"/>
              <a:buChar char="●"/>
              <a:defRPr sz="1200"/>
            </a:lvl7pPr>
            <a:lvl8pPr marL="3657600" lvl="7" indent="-304800" algn="l">
              <a:lnSpc>
                <a:spcPct val="115000"/>
              </a:lnSpc>
              <a:spcBef>
                <a:spcPts val="0"/>
              </a:spcBef>
              <a:spcAft>
                <a:spcPts val="0"/>
              </a:spcAft>
              <a:buSzPts val="1200"/>
              <a:buChar char="○"/>
              <a:defRPr sz="1200"/>
            </a:lvl8pPr>
            <a:lvl9pPr marL="4114800" lvl="8" indent="-304800" algn="l">
              <a:lnSpc>
                <a:spcPct val="115000"/>
              </a:lnSpc>
              <a:spcBef>
                <a:spcPts val="0"/>
              </a:spcBef>
              <a:spcAft>
                <a:spcPts val="0"/>
              </a:spcAft>
              <a:buSzPts val="1200"/>
              <a:buChar char="■"/>
              <a:defRPr sz="1200"/>
            </a:lvl9pPr>
          </a:lstStyle>
          <a:p>
            <a:endParaRPr/>
          </a:p>
        </p:txBody>
      </p:sp>
      <p:sp>
        <p:nvSpPr>
          <p:cNvPr id="24" name="Google Shape;24;p5"/>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25"/>
        <p:cNvGrpSpPr/>
        <p:nvPr/>
      </p:nvGrpSpPr>
      <p:grpSpPr>
        <a:xfrm>
          <a:off x="0" y="0"/>
          <a:ext cx="0" cy="0"/>
          <a:chOff x="0" y="0"/>
          <a:chExt cx="0" cy="0"/>
        </a:xfrm>
      </p:grpSpPr>
      <p:sp>
        <p:nvSpPr>
          <p:cNvPr id="26" name="Google Shape;26;p6"/>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a:endParaRPr/>
          </a:p>
        </p:txBody>
      </p:sp>
      <p:sp>
        <p:nvSpPr>
          <p:cNvPr id="27" name="Google Shape;27;p6"/>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28"/>
        <p:cNvGrpSpPr/>
        <p:nvPr/>
      </p:nvGrpSpPr>
      <p:grpSpPr>
        <a:xfrm>
          <a:off x="0" y="0"/>
          <a:ext cx="0" cy="0"/>
          <a:chOff x="0" y="0"/>
          <a:chExt cx="0" cy="0"/>
        </a:xfrm>
      </p:grpSpPr>
      <p:sp>
        <p:nvSpPr>
          <p:cNvPr id="29" name="Google Shape;29;p7"/>
          <p:cNvSpPr txBox="1">
            <a:spLocks noGrp="1"/>
          </p:cNvSpPr>
          <p:nvPr>
            <p:ph type="title"/>
          </p:nvPr>
        </p:nvSpPr>
        <p:spPr>
          <a:xfrm>
            <a:off x="311700" y="555600"/>
            <a:ext cx="2808000" cy="755700"/>
          </a:xfrm>
          <a:prstGeom prst="rect">
            <a:avLst/>
          </a:prstGeom>
          <a:noFill/>
          <a:ln>
            <a:noFill/>
          </a:ln>
        </p:spPr>
        <p:txBody>
          <a:bodyPr spcFirstLastPara="1" wrap="square" lIns="91425" tIns="91425" rIns="91425" bIns="91425" anchor="b" anchorCtr="0">
            <a:normAutofit/>
          </a:bodyPr>
          <a:lstStyle>
            <a:lvl1pPr lvl="0" algn="l">
              <a:lnSpc>
                <a:spcPct val="100000"/>
              </a:lnSpc>
              <a:spcBef>
                <a:spcPts val="0"/>
              </a:spcBef>
              <a:spcAft>
                <a:spcPts val="0"/>
              </a:spcAft>
              <a:buSzPts val="2400"/>
              <a:buNone/>
              <a:defRPr sz="2400"/>
            </a:lvl1pPr>
            <a:lvl2pPr lvl="1" algn="l">
              <a:lnSpc>
                <a:spcPct val="100000"/>
              </a:lnSpc>
              <a:spcBef>
                <a:spcPts val="0"/>
              </a:spcBef>
              <a:spcAft>
                <a:spcPts val="0"/>
              </a:spcAft>
              <a:buSzPts val="2400"/>
              <a:buNone/>
              <a:defRPr sz="2400"/>
            </a:lvl2pPr>
            <a:lvl3pPr lvl="2" algn="l">
              <a:lnSpc>
                <a:spcPct val="100000"/>
              </a:lnSpc>
              <a:spcBef>
                <a:spcPts val="0"/>
              </a:spcBef>
              <a:spcAft>
                <a:spcPts val="0"/>
              </a:spcAft>
              <a:buSzPts val="2400"/>
              <a:buNone/>
              <a:defRPr sz="2400"/>
            </a:lvl3pPr>
            <a:lvl4pPr lvl="3" algn="l">
              <a:lnSpc>
                <a:spcPct val="100000"/>
              </a:lnSpc>
              <a:spcBef>
                <a:spcPts val="0"/>
              </a:spcBef>
              <a:spcAft>
                <a:spcPts val="0"/>
              </a:spcAft>
              <a:buSzPts val="2400"/>
              <a:buNone/>
              <a:defRPr sz="2400"/>
            </a:lvl4pPr>
            <a:lvl5pPr lvl="4" algn="l">
              <a:lnSpc>
                <a:spcPct val="100000"/>
              </a:lnSpc>
              <a:spcBef>
                <a:spcPts val="0"/>
              </a:spcBef>
              <a:spcAft>
                <a:spcPts val="0"/>
              </a:spcAft>
              <a:buSzPts val="2400"/>
              <a:buNone/>
              <a:defRPr sz="2400"/>
            </a:lvl5pPr>
            <a:lvl6pPr lvl="5" algn="l">
              <a:lnSpc>
                <a:spcPct val="100000"/>
              </a:lnSpc>
              <a:spcBef>
                <a:spcPts val="0"/>
              </a:spcBef>
              <a:spcAft>
                <a:spcPts val="0"/>
              </a:spcAft>
              <a:buSzPts val="2400"/>
              <a:buNone/>
              <a:defRPr sz="2400"/>
            </a:lvl6pPr>
            <a:lvl7pPr lvl="6" algn="l">
              <a:lnSpc>
                <a:spcPct val="100000"/>
              </a:lnSpc>
              <a:spcBef>
                <a:spcPts val="0"/>
              </a:spcBef>
              <a:spcAft>
                <a:spcPts val="0"/>
              </a:spcAft>
              <a:buSzPts val="2400"/>
              <a:buNone/>
              <a:defRPr sz="2400"/>
            </a:lvl7pPr>
            <a:lvl8pPr lvl="7" algn="l">
              <a:lnSpc>
                <a:spcPct val="100000"/>
              </a:lnSpc>
              <a:spcBef>
                <a:spcPts val="0"/>
              </a:spcBef>
              <a:spcAft>
                <a:spcPts val="0"/>
              </a:spcAft>
              <a:buSzPts val="2400"/>
              <a:buNone/>
              <a:defRPr sz="2400"/>
            </a:lvl8pPr>
            <a:lvl9pPr lvl="8" algn="l">
              <a:lnSpc>
                <a:spcPct val="100000"/>
              </a:lnSpc>
              <a:spcBef>
                <a:spcPts val="0"/>
              </a:spcBef>
              <a:spcAft>
                <a:spcPts val="0"/>
              </a:spcAft>
              <a:buSzPts val="2400"/>
              <a:buNone/>
              <a:defRPr sz="2400"/>
            </a:lvl9pPr>
          </a:lstStyle>
          <a:p>
            <a:endParaRPr/>
          </a:p>
        </p:txBody>
      </p:sp>
      <p:sp>
        <p:nvSpPr>
          <p:cNvPr id="30" name="Google Shape;30;p7"/>
          <p:cNvSpPr txBox="1">
            <a:spLocks noGrp="1"/>
          </p:cNvSpPr>
          <p:nvPr>
            <p:ph type="body" idx="1"/>
          </p:nvPr>
        </p:nvSpPr>
        <p:spPr>
          <a:xfrm>
            <a:off x="311700" y="1389600"/>
            <a:ext cx="2808000" cy="3179400"/>
          </a:xfrm>
          <a:prstGeom prst="rect">
            <a:avLst/>
          </a:prstGeom>
          <a:noFill/>
          <a:ln>
            <a:noFill/>
          </a:ln>
        </p:spPr>
        <p:txBody>
          <a:bodyPr spcFirstLastPara="1" wrap="square" lIns="91425" tIns="91425" rIns="91425" bIns="91425" anchor="t" anchorCtr="0">
            <a:normAutofit/>
          </a:bodyPr>
          <a:lstStyle>
            <a:lvl1pPr marL="457200" lvl="0" indent="-304800" algn="l">
              <a:lnSpc>
                <a:spcPct val="115000"/>
              </a:lnSpc>
              <a:spcBef>
                <a:spcPts val="0"/>
              </a:spcBef>
              <a:spcAft>
                <a:spcPts val="0"/>
              </a:spcAft>
              <a:buSzPts val="1200"/>
              <a:buChar char="●"/>
              <a:defRPr sz="1200"/>
            </a:lvl1pPr>
            <a:lvl2pPr marL="914400" lvl="1" indent="-304800" algn="l">
              <a:lnSpc>
                <a:spcPct val="115000"/>
              </a:lnSpc>
              <a:spcBef>
                <a:spcPts val="0"/>
              </a:spcBef>
              <a:spcAft>
                <a:spcPts val="0"/>
              </a:spcAft>
              <a:buSzPts val="1200"/>
              <a:buChar char="○"/>
              <a:defRPr sz="1200"/>
            </a:lvl2pPr>
            <a:lvl3pPr marL="1371600" lvl="2" indent="-304800" algn="l">
              <a:lnSpc>
                <a:spcPct val="115000"/>
              </a:lnSpc>
              <a:spcBef>
                <a:spcPts val="0"/>
              </a:spcBef>
              <a:spcAft>
                <a:spcPts val="0"/>
              </a:spcAft>
              <a:buSzPts val="1200"/>
              <a:buChar char="■"/>
              <a:defRPr sz="1200"/>
            </a:lvl3pPr>
            <a:lvl4pPr marL="1828800" lvl="3" indent="-304800" algn="l">
              <a:lnSpc>
                <a:spcPct val="115000"/>
              </a:lnSpc>
              <a:spcBef>
                <a:spcPts val="0"/>
              </a:spcBef>
              <a:spcAft>
                <a:spcPts val="0"/>
              </a:spcAft>
              <a:buSzPts val="1200"/>
              <a:buChar char="●"/>
              <a:defRPr sz="1200"/>
            </a:lvl4pPr>
            <a:lvl5pPr marL="2286000" lvl="4" indent="-304800" algn="l">
              <a:lnSpc>
                <a:spcPct val="115000"/>
              </a:lnSpc>
              <a:spcBef>
                <a:spcPts val="0"/>
              </a:spcBef>
              <a:spcAft>
                <a:spcPts val="0"/>
              </a:spcAft>
              <a:buSzPts val="1200"/>
              <a:buChar char="○"/>
              <a:defRPr sz="1200"/>
            </a:lvl5pPr>
            <a:lvl6pPr marL="2743200" lvl="5" indent="-304800" algn="l">
              <a:lnSpc>
                <a:spcPct val="115000"/>
              </a:lnSpc>
              <a:spcBef>
                <a:spcPts val="0"/>
              </a:spcBef>
              <a:spcAft>
                <a:spcPts val="0"/>
              </a:spcAft>
              <a:buSzPts val="1200"/>
              <a:buChar char="■"/>
              <a:defRPr sz="1200"/>
            </a:lvl6pPr>
            <a:lvl7pPr marL="3200400" lvl="6" indent="-304800" algn="l">
              <a:lnSpc>
                <a:spcPct val="115000"/>
              </a:lnSpc>
              <a:spcBef>
                <a:spcPts val="0"/>
              </a:spcBef>
              <a:spcAft>
                <a:spcPts val="0"/>
              </a:spcAft>
              <a:buSzPts val="1200"/>
              <a:buChar char="●"/>
              <a:defRPr sz="1200"/>
            </a:lvl7pPr>
            <a:lvl8pPr marL="3657600" lvl="7" indent="-304800" algn="l">
              <a:lnSpc>
                <a:spcPct val="115000"/>
              </a:lnSpc>
              <a:spcBef>
                <a:spcPts val="0"/>
              </a:spcBef>
              <a:spcAft>
                <a:spcPts val="0"/>
              </a:spcAft>
              <a:buSzPts val="1200"/>
              <a:buChar char="○"/>
              <a:defRPr sz="1200"/>
            </a:lvl8pPr>
            <a:lvl9pPr marL="4114800" lvl="8" indent="-304800" algn="l">
              <a:lnSpc>
                <a:spcPct val="115000"/>
              </a:lnSpc>
              <a:spcBef>
                <a:spcPts val="0"/>
              </a:spcBef>
              <a:spcAft>
                <a:spcPts val="0"/>
              </a:spcAft>
              <a:buSzPts val="1200"/>
              <a:buChar char="■"/>
              <a:defRPr sz="1200"/>
            </a:lvl9pPr>
          </a:lstStyle>
          <a:p>
            <a:endParaRPr/>
          </a:p>
        </p:txBody>
      </p:sp>
      <p:sp>
        <p:nvSpPr>
          <p:cNvPr id="31" name="Google Shape;31;p7"/>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32"/>
        <p:cNvGrpSpPr/>
        <p:nvPr/>
      </p:nvGrpSpPr>
      <p:grpSpPr>
        <a:xfrm>
          <a:off x="0" y="0"/>
          <a:ext cx="0" cy="0"/>
          <a:chOff x="0" y="0"/>
          <a:chExt cx="0" cy="0"/>
        </a:xfrm>
      </p:grpSpPr>
      <p:sp>
        <p:nvSpPr>
          <p:cNvPr id="33" name="Google Shape;33;p8"/>
          <p:cNvSpPr txBox="1">
            <a:spLocks noGrp="1"/>
          </p:cNvSpPr>
          <p:nvPr>
            <p:ph type="title"/>
          </p:nvPr>
        </p:nvSpPr>
        <p:spPr>
          <a:xfrm>
            <a:off x="490250" y="450150"/>
            <a:ext cx="6367800" cy="4090800"/>
          </a:xfrm>
          <a:prstGeom prst="rect">
            <a:avLst/>
          </a:prstGeom>
          <a:noFill/>
          <a:ln>
            <a:noFill/>
          </a:ln>
        </p:spPr>
        <p:txBody>
          <a:bodyPr spcFirstLastPara="1" wrap="square" lIns="91425" tIns="91425" rIns="91425" bIns="91425" anchor="ctr" anchorCtr="0">
            <a:normAutofit/>
          </a:bodyPr>
          <a:lstStyle>
            <a:lvl1pPr lvl="0" algn="l">
              <a:lnSpc>
                <a:spcPct val="100000"/>
              </a:lnSpc>
              <a:spcBef>
                <a:spcPts val="0"/>
              </a:spcBef>
              <a:spcAft>
                <a:spcPts val="0"/>
              </a:spcAft>
              <a:buSzPts val="4800"/>
              <a:buNone/>
              <a:defRPr sz="4800"/>
            </a:lvl1pPr>
            <a:lvl2pPr lvl="1" algn="l">
              <a:lnSpc>
                <a:spcPct val="100000"/>
              </a:lnSpc>
              <a:spcBef>
                <a:spcPts val="0"/>
              </a:spcBef>
              <a:spcAft>
                <a:spcPts val="0"/>
              </a:spcAft>
              <a:buSzPts val="4800"/>
              <a:buNone/>
              <a:defRPr sz="4800"/>
            </a:lvl2pPr>
            <a:lvl3pPr lvl="2" algn="l">
              <a:lnSpc>
                <a:spcPct val="100000"/>
              </a:lnSpc>
              <a:spcBef>
                <a:spcPts val="0"/>
              </a:spcBef>
              <a:spcAft>
                <a:spcPts val="0"/>
              </a:spcAft>
              <a:buSzPts val="4800"/>
              <a:buNone/>
              <a:defRPr sz="4800"/>
            </a:lvl3pPr>
            <a:lvl4pPr lvl="3" algn="l">
              <a:lnSpc>
                <a:spcPct val="100000"/>
              </a:lnSpc>
              <a:spcBef>
                <a:spcPts val="0"/>
              </a:spcBef>
              <a:spcAft>
                <a:spcPts val="0"/>
              </a:spcAft>
              <a:buSzPts val="4800"/>
              <a:buNone/>
              <a:defRPr sz="4800"/>
            </a:lvl4pPr>
            <a:lvl5pPr lvl="4" algn="l">
              <a:lnSpc>
                <a:spcPct val="100000"/>
              </a:lnSpc>
              <a:spcBef>
                <a:spcPts val="0"/>
              </a:spcBef>
              <a:spcAft>
                <a:spcPts val="0"/>
              </a:spcAft>
              <a:buSzPts val="4800"/>
              <a:buNone/>
              <a:defRPr sz="4800"/>
            </a:lvl5pPr>
            <a:lvl6pPr lvl="5" algn="l">
              <a:lnSpc>
                <a:spcPct val="100000"/>
              </a:lnSpc>
              <a:spcBef>
                <a:spcPts val="0"/>
              </a:spcBef>
              <a:spcAft>
                <a:spcPts val="0"/>
              </a:spcAft>
              <a:buSzPts val="4800"/>
              <a:buNone/>
              <a:defRPr sz="4800"/>
            </a:lvl6pPr>
            <a:lvl7pPr lvl="6" algn="l">
              <a:lnSpc>
                <a:spcPct val="100000"/>
              </a:lnSpc>
              <a:spcBef>
                <a:spcPts val="0"/>
              </a:spcBef>
              <a:spcAft>
                <a:spcPts val="0"/>
              </a:spcAft>
              <a:buSzPts val="4800"/>
              <a:buNone/>
              <a:defRPr sz="4800"/>
            </a:lvl7pPr>
            <a:lvl8pPr lvl="7" algn="l">
              <a:lnSpc>
                <a:spcPct val="100000"/>
              </a:lnSpc>
              <a:spcBef>
                <a:spcPts val="0"/>
              </a:spcBef>
              <a:spcAft>
                <a:spcPts val="0"/>
              </a:spcAft>
              <a:buSzPts val="4800"/>
              <a:buNone/>
              <a:defRPr sz="4800"/>
            </a:lvl8pPr>
            <a:lvl9pPr lvl="8" algn="l">
              <a:lnSpc>
                <a:spcPct val="100000"/>
              </a:lnSpc>
              <a:spcBef>
                <a:spcPts val="0"/>
              </a:spcBef>
              <a:spcAft>
                <a:spcPts val="0"/>
              </a:spcAft>
              <a:buSzPts val="4800"/>
              <a:buNone/>
              <a:defRPr sz="4800"/>
            </a:lvl9pPr>
          </a:lstStyle>
          <a:p>
            <a:endParaRPr/>
          </a:p>
        </p:txBody>
      </p:sp>
      <p:sp>
        <p:nvSpPr>
          <p:cNvPr id="34" name="Google Shape;34;p8"/>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37" name="Google Shape;37;p9"/>
          <p:cNvSpPr txBox="1">
            <a:spLocks noGrp="1"/>
          </p:cNvSpPr>
          <p:nvPr>
            <p:ph type="title"/>
          </p:nvPr>
        </p:nvSpPr>
        <p:spPr>
          <a:xfrm>
            <a:off x="265500" y="1233175"/>
            <a:ext cx="4045200" cy="1482300"/>
          </a:xfrm>
          <a:prstGeom prst="rect">
            <a:avLst/>
          </a:prstGeom>
          <a:noFill/>
          <a:ln>
            <a:noFill/>
          </a:ln>
        </p:spPr>
        <p:txBody>
          <a:bodyPr spcFirstLastPara="1" wrap="square" lIns="91425" tIns="91425" rIns="91425" bIns="91425" anchor="b" anchorCtr="0">
            <a:normAutofit/>
          </a:bodyPr>
          <a:lstStyle>
            <a:lvl1pPr lvl="0" algn="ctr">
              <a:lnSpc>
                <a:spcPct val="100000"/>
              </a:lnSpc>
              <a:spcBef>
                <a:spcPts val="0"/>
              </a:spcBef>
              <a:spcAft>
                <a:spcPts val="0"/>
              </a:spcAft>
              <a:buSzPts val="4200"/>
              <a:buNone/>
              <a:defRPr sz="4200"/>
            </a:lvl1pPr>
            <a:lvl2pPr lvl="1" algn="ctr">
              <a:lnSpc>
                <a:spcPct val="100000"/>
              </a:lnSpc>
              <a:spcBef>
                <a:spcPts val="0"/>
              </a:spcBef>
              <a:spcAft>
                <a:spcPts val="0"/>
              </a:spcAft>
              <a:buSzPts val="4200"/>
              <a:buNone/>
              <a:defRPr sz="4200"/>
            </a:lvl2pPr>
            <a:lvl3pPr lvl="2" algn="ctr">
              <a:lnSpc>
                <a:spcPct val="100000"/>
              </a:lnSpc>
              <a:spcBef>
                <a:spcPts val="0"/>
              </a:spcBef>
              <a:spcAft>
                <a:spcPts val="0"/>
              </a:spcAft>
              <a:buSzPts val="4200"/>
              <a:buNone/>
              <a:defRPr sz="4200"/>
            </a:lvl3pPr>
            <a:lvl4pPr lvl="3" algn="ctr">
              <a:lnSpc>
                <a:spcPct val="100000"/>
              </a:lnSpc>
              <a:spcBef>
                <a:spcPts val="0"/>
              </a:spcBef>
              <a:spcAft>
                <a:spcPts val="0"/>
              </a:spcAft>
              <a:buSzPts val="4200"/>
              <a:buNone/>
              <a:defRPr sz="4200"/>
            </a:lvl4pPr>
            <a:lvl5pPr lvl="4" algn="ctr">
              <a:lnSpc>
                <a:spcPct val="100000"/>
              </a:lnSpc>
              <a:spcBef>
                <a:spcPts val="0"/>
              </a:spcBef>
              <a:spcAft>
                <a:spcPts val="0"/>
              </a:spcAft>
              <a:buSzPts val="4200"/>
              <a:buNone/>
              <a:defRPr sz="4200"/>
            </a:lvl5pPr>
            <a:lvl6pPr lvl="5" algn="ctr">
              <a:lnSpc>
                <a:spcPct val="100000"/>
              </a:lnSpc>
              <a:spcBef>
                <a:spcPts val="0"/>
              </a:spcBef>
              <a:spcAft>
                <a:spcPts val="0"/>
              </a:spcAft>
              <a:buSzPts val="4200"/>
              <a:buNone/>
              <a:defRPr sz="4200"/>
            </a:lvl6pPr>
            <a:lvl7pPr lvl="6" algn="ctr">
              <a:lnSpc>
                <a:spcPct val="100000"/>
              </a:lnSpc>
              <a:spcBef>
                <a:spcPts val="0"/>
              </a:spcBef>
              <a:spcAft>
                <a:spcPts val="0"/>
              </a:spcAft>
              <a:buSzPts val="4200"/>
              <a:buNone/>
              <a:defRPr sz="4200"/>
            </a:lvl7pPr>
            <a:lvl8pPr lvl="7" algn="ctr">
              <a:lnSpc>
                <a:spcPct val="100000"/>
              </a:lnSpc>
              <a:spcBef>
                <a:spcPts val="0"/>
              </a:spcBef>
              <a:spcAft>
                <a:spcPts val="0"/>
              </a:spcAft>
              <a:buSzPts val="4200"/>
              <a:buNone/>
              <a:defRPr sz="4200"/>
            </a:lvl8pPr>
            <a:lvl9pPr lvl="8" algn="ctr">
              <a:lnSpc>
                <a:spcPct val="100000"/>
              </a:lnSpc>
              <a:spcBef>
                <a:spcPts val="0"/>
              </a:spcBef>
              <a:spcAft>
                <a:spcPts val="0"/>
              </a:spcAft>
              <a:buSzPts val="4200"/>
              <a:buNone/>
              <a:defRPr sz="4200"/>
            </a:lvl9pPr>
          </a:lstStyle>
          <a:p>
            <a:endParaRPr/>
          </a:p>
        </p:txBody>
      </p:sp>
      <p:sp>
        <p:nvSpPr>
          <p:cNvPr id="38" name="Google Shape;38;p9"/>
          <p:cNvSpPr txBox="1">
            <a:spLocks noGrp="1"/>
          </p:cNvSpPr>
          <p:nvPr>
            <p:ph type="subTitle" idx="1"/>
          </p:nvPr>
        </p:nvSpPr>
        <p:spPr>
          <a:xfrm>
            <a:off x="265500" y="2803075"/>
            <a:ext cx="4045200" cy="1235100"/>
          </a:xfrm>
          <a:prstGeom prst="rect">
            <a:avLst/>
          </a:prstGeom>
          <a:noFill/>
          <a:ln>
            <a:noFill/>
          </a:ln>
        </p:spPr>
        <p:txBody>
          <a:bodyPr spcFirstLastPara="1" wrap="square" lIns="91425" tIns="91425" rIns="91425" bIns="91425" anchor="t" anchorCtr="0">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39" name="Google Shape;39;p9"/>
          <p:cNvSpPr txBox="1">
            <a:spLocks noGrp="1"/>
          </p:cNvSpPr>
          <p:nvPr>
            <p:ph type="body" idx="2"/>
          </p:nvPr>
        </p:nvSpPr>
        <p:spPr>
          <a:xfrm>
            <a:off x="4939500" y="724075"/>
            <a:ext cx="3837000" cy="3695100"/>
          </a:xfrm>
          <a:prstGeom prst="rect">
            <a:avLst/>
          </a:prstGeom>
          <a:noFill/>
          <a:ln>
            <a:noFill/>
          </a:ln>
        </p:spPr>
        <p:txBody>
          <a:bodyPr spcFirstLastPara="1" wrap="square" lIns="91425" tIns="91425" rIns="91425" bIns="91425" anchor="ctr" anchorCtr="0">
            <a:normAutofit/>
          </a:bodyPr>
          <a:lstStyle>
            <a:lvl1pPr marL="457200" lvl="0" indent="-342900" algn="l">
              <a:lnSpc>
                <a:spcPct val="115000"/>
              </a:lnSpc>
              <a:spcBef>
                <a:spcPts val="0"/>
              </a:spcBef>
              <a:spcAft>
                <a:spcPts val="0"/>
              </a:spcAft>
              <a:buSzPts val="1800"/>
              <a:buChar char="●"/>
              <a:defRPr/>
            </a:lvl1pPr>
            <a:lvl2pPr marL="914400" lvl="1" indent="-317500" algn="l">
              <a:lnSpc>
                <a:spcPct val="115000"/>
              </a:lnSpc>
              <a:spcBef>
                <a:spcPts val="0"/>
              </a:spcBef>
              <a:spcAft>
                <a:spcPts val="0"/>
              </a:spcAft>
              <a:buSzPts val="1400"/>
              <a:buChar char="○"/>
              <a:defRPr/>
            </a:lvl2pPr>
            <a:lvl3pPr marL="1371600" lvl="2" indent="-317500" algn="l">
              <a:lnSpc>
                <a:spcPct val="115000"/>
              </a:lnSpc>
              <a:spcBef>
                <a:spcPts val="0"/>
              </a:spcBef>
              <a:spcAft>
                <a:spcPts val="0"/>
              </a:spcAft>
              <a:buSzPts val="1400"/>
              <a:buChar char="■"/>
              <a:defRPr/>
            </a:lvl3pPr>
            <a:lvl4pPr marL="1828800" lvl="3" indent="-317500" algn="l">
              <a:lnSpc>
                <a:spcPct val="115000"/>
              </a:lnSpc>
              <a:spcBef>
                <a:spcPts val="0"/>
              </a:spcBef>
              <a:spcAft>
                <a:spcPts val="0"/>
              </a:spcAft>
              <a:buSzPts val="1400"/>
              <a:buChar char="●"/>
              <a:defRPr/>
            </a:lvl4pPr>
            <a:lvl5pPr marL="2286000" lvl="4" indent="-317500" algn="l">
              <a:lnSpc>
                <a:spcPct val="115000"/>
              </a:lnSpc>
              <a:spcBef>
                <a:spcPts val="0"/>
              </a:spcBef>
              <a:spcAft>
                <a:spcPts val="0"/>
              </a:spcAft>
              <a:buSzPts val="1400"/>
              <a:buChar char="○"/>
              <a:defRPr/>
            </a:lvl5pPr>
            <a:lvl6pPr marL="2743200" lvl="5" indent="-317500" algn="l">
              <a:lnSpc>
                <a:spcPct val="115000"/>
              </a:lnSpc>
              <a:spcBef>
                <a:spcPts val="0"/>
              </a:spcBef>
              <a:spcAft>
                <a:spcPts val="0"/>
              </a:spcAft>
              <a:buSzPts val="1400"/>
              <a:buChar char="■"/>
              <a:defRPr/>
            </a:lvl6pPr>
            <a:lvl7pPr marL="3200400" lvl="6" indent="-317500" algn="l">
              <a:lnSpc>
                <a:spcPct val="115000"/>
              </a:lnSpc>
              <a:spcBef>
                <a:spcPts val="0"/>
              </a:spcBef>
              <a:spcAft>
                <a:spcPts val="0"/>
              </a:spcAft>
              <a:buSzPts val="1400"/>
              <a:buChar char="●"/>
              <a:defRPr/>
            </a:lvl7pPr>
            <a:lvl8pPr marL="3657600" lvl="7" indent="-317500" algn="l">
              <a:lnSpc>
                <a:spcPct val="115000"/>
              </a:lnSpc>
              <a:spcBef>
                <a:spcPts val="0"/>
              </a:spcBef>
              <a:spcAft>
                <a:spcPts val="0"/>
              </a:spcAft>
              <a:buSzPts val="1400"/>
              <a:buChar char="○"/>
              <a:defRPr/>
            </a:lvl8pPr>
            <a:lvl9pPr marL="4114800" lvl="8" indent="-317500" algn="l">
              <a:lnSpc>
                <a:spcPct val="115000"/>
              </a:lnSpc>
              <a:spcBef>
                <a:spcPts val="0"/>
              </a:spcBef>
              <a:spcAft>
                <a:spcPts val="0"/>
              </a:spcAft>
              <a:buSzPts val="1400"/>
              <a:buChar char="■"/>
              <a:defRPr/>
            </a:lvl9pPr>
          </a:lstStyle>
          <a:p>
            <a:endParaRPr/>
          </a:p>
        </p:txBody>
      </p:sp>
      <p:sp>
        <p:nvSpPr>
          <p:cNvPr id="40" name="Google Shape;40;p9"/>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41"/>
        <p:cNvGrpSpPr/>
        <p:nvPr/>
      </p:nvGrpSpPr>
      <p:grpSpPr>
        <a:xfrm>
          <a:off x="0" y="0"/>
          <a:ext cx="0" cy="0"/>
          <a:chOff x="0" y="0"/>
          <a:chExt cx="0" cy="0"/>
        </a:xfrm>
      </p:grpSpPr>
      <p:sp>
        <p:nvSpPr>
          <p:cNvPr id="42" name="Google Shape;42;p10"/>
          <p:cNvSpPr txBox="1">
            <a:spLocks noGrp="1"/>
          </p:cNvSpPr>
          <p:nvPr>
            <p:ph type="body" idx="1"/>
          </p:nvPr>
        </p:nvSpPr>
        <p:spPr>
          <a:xfrm>
            <a:off x="311700" y="4230575"/>
            <a:ext cx="5998800" cy="605100"/>
          </a:xfrm>
          <a:prstGeom prst="rect">
            <a:avLst/>
          </a:prstGeom>
          <a:noFill/>
          <a:ln>
            <a:noFill/>
          </a:ln>
        </p:spPr>
        <p:txBody>
          <a:bodyPr spcFirstLastPara="1" wrap="square" lIns="91425" tIns="91425" rIns="91425" bIns="91425" anchor="ctr" anchorCtr="0">
            <a:normAutofit/>
          </a:bodyPr>
          <a:lstStyle>
            <a:lvl1pPr marL="457200" lvl="0" indent="-228600" algn="l">
              <a:lnSpc>
                <a:spcPct val="100000"/>
              </a:lnSpc>
              <a:spcBef>
                <a:spcPts val="0"/>
              </a:spcBef>
              <a:spcAft>
                <a:spcPts val="0"/>
              </a:spcAft>
              <a:buSzPts val="1800"/>
              <a:buNone/>
              <a:defRPr/>
            </a:lvl1pPr>
          </a:lstStyle>
          <a:p>
            <a:endParaRPr/>
          </a:p>
        </p:txBody>
      </p:sp>
      <p:sp>
        <p:nvSpPr>
          <p:cNvPr id="43" name="Google Shape;43;p10"/>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44"/>
        <p:cNvGrpSpPr/>
        <p:nvPr/>
      </p:nvGrpSpPr>
      <p:grpSpPr>
        <a:xfrm>
          <a:off x="0" y="0"/>
          <a:ext cx="0" cy="0"/>
          <a:chOff x="0" y="0"/>
          <a:chExt cx="0" cy="0"/>
        </a:xfrm>
      </p:grpSpPr>
      <p:sp>
        <p:nvSpPr>
          <p:cNvPr id="45" name="Google Shape;45;p11"/>
          <p:cNvSpPr txBox="1">
            <a:spLocks noGrp="1"/>
          </p:cNvSpPr>
          <p:nvPr>
            <p:ph type="title" hasCustomPrompt="1"/>
          </p:nvPr>
        </p:nvSpPr>
        <p:spPr>
          <a:xfrm>
            <a:off x="311700" y="1106125"/>
            <a:ext cx="8520600" cy="1963500"/>
          </a:xfrm>
          <a:prstGeom prst="rect">
            <a:avLst/>
          </a:prstGeom>
          <a:noFill/>
          <a:ln>
            <a:noFill/>
          </a:ln>
        </p:spPr>
        <p:txBody>
          <a:bodyPr spcFirstLastPara="1" wrap="square" lIns="91425" tIns="91425" rIns="91425" bIns="91425" anchor="b" anchorCtr="0">
            <a:normAutofit/>
          </a:bodyPr>
          <a:lstStyle>
            <a:lvl1pPr lvl="0" algn="ctr">
              <a:lnSpc>
                <a:spcPct val="100000"/>
              </a:lnSpc>
              <a:spcBef>
                <a:spcPts val="0"/>
              </a:spcBef>
              <a:spcAft>
                <a:spcPts val="0"/>
              </a:spcAft>
              <a:buSzPts val="12000"/>
              <a:buNone/>
              <a:defRPr sz="12000"/>
            </a:lvl1pPr>
            <a:lvl2pPr lvl="1" algn="ctr">
              <a:lnSpc>
                <a:spcPct val="100000"/>
              </a:lnSpc>
              <a:spcBef>
                <a:spcPts val="0"/>
              </a:spcBef>
              <a:spcAft>
                <a:spcPts val="0"/>
              </a:spcAft>
              <a:buSzPts val="12000"/>
              <a:buNone/>
              <a:defRPr sz="12000"/>
            </a:lvl2pPr>
            <a:lvl3pPr lvl="2" algn="ctr">
              <a:lnSpc>
                <a:spcPct val="100000"/>
              </a:lnSpc>
              <a:spcBef>
                <a:spcPts val="0"/>
              </a:spcBef>
              <a:spcAft>
                <a:spcPts val="0"/>
              </a:spcAft>
              <a:buSzPts val="12000"/>
              <a:buNone/>
              <a:defRPr sz="12000"/>
            </a:lvl3pPr>
            <a:lvl4pPr lvl="3" algn="ctr">
              <a:lnSpc>
                <a:spcPct val="100000"/>
              </a:lnSpc>
              <a:spcBef>
                <a:spcPts val="0"/>
              </a:spcBef>
              <a:spcAft>
                <a:spcPts val="0"/>
              </a:spcAft>
              <a:buSzPts val="12000"/>
              <a:buNone/>
              <a:defRPr sz="12000"/>
            </a:lvl4pPr>
            <a:lvl5pPr lvl="4" algn="ctr">
              <a:lnSpc>
                <a:spcPct val="100000"/>
              </a:lnSpc>
              <a:spcBef>
                <a:spcPts val="0"/>
              </a:spcBef>
              <a:spcAft>
                <a:spcPts val="0"/>
              </a:spcAft>
              <a:buSzPts val="12000"/>
              <a:buNone/>
              <a:defRPr sz="12000"/>
            </a:lvl5pPr>
            <a:lvl6pPr lvl="5" algn="ctr">
              <a:lnSpc>
                <a:spcPct val="100000"/>
              </a:lnSpc>
              <a:spcBef>
                <a:spcPts val="0"/>
              </a:spcBef>
              <a:spcAft>
                <a:spcPts val="0"/>
              </a:spcAft>
              <a:buSzPts val="12000"/>
              <a:buNone/>
              <a:defRPr sz="12000"/>
            </a:lvl6pPr>
            <a:lvl7pPr lvl="6" algn="ctr">
              <a:lnSpc>
                <a:spcPct val="100000"/>
              </a:lnSpc>
              <a:spcBef>
                <a:spcPts val="0"/>
              </a:spcBef>
              <a:spcAft>
                <a:spcPts val="0"/>
              </a:spcAft>
              <a:buSzPts val="12000"/>
              <a:buNone/>
              <a:defRPr sz="12000"/>
            </a:lvl7pPr>
            <a:lvl8pPr lvl="7" algn="ctr">
              <a:lnSpc>
                <a:spcPct val="100000"/>
              </a:lnSpc>
              <a:spcBef>
                <a:spcPts val="0"/>
              </a:spcBef>
              <a:spcAft>
                <a:spcPts val="0"/>
              </a:spcAft>
              <a:buSzPts val="12000"/>
              <a:buNone/>
              <a:defRPr sz="12000"/>
            </a:lvl8pPr>
            <a:lvl9pPr lvl="8" algn="ctr">
              <a:lnSpc>
                <a:spcPct val="100000"/>
              </a:lnSpc>
              <a:spcBef>
                <a:spcPts val="0"/>
              </a:spcBef>
              <a:spcAft>
                <a:spcPts val="0"/>
              </a:spcAft>
              <a:buSzPts val="12000"/>
              <a:buNone/>
              <a:defRPr sz="12000"/>
            </a:lvl9pPr>
          </a:lstStyle>
          <a:p>
            <a:r>
              <a:t>xx%</a:t>
            </a:r>
          </a:p>
        </p:txBody>
      </p:sp>
      <p:sp>
        <p:nvSpPr>
          <p:cNvPr id="46" name="Google Shape;46;p11"/>
          <p:cNvSpPr txBox="1">
            <a:spLocks noGrp="1"/>
          </p:cNvSpPr>
          <p:nvPr>
            <p:ph type="body" idx="1"/>
          </p:nvPr>
        </p:nvSpPr>
        <p:spPr>
          <a:xfrm>
            <a:off x="311700" y="3152225"/>
            <a:ext cx="8520600" cy="1300800"/>
          </a:xfrm>
          <a:prstGeom prst="rect">
            <a:avLst/>
          </a:prstGeom>
          <a:noFill/>
          <a:ln>
            <a:noFill/>
          </a:ln>
        </p:spPr>
        <p:txBody>
          <a:bodyPr spcFirstLastPara="1" wrap="square" lIns="91425" tIns="91425" rIns="91425" bIns="91425" anchor="t" anchorCtr="0">
            <a:normAutofit/>
          </a:bodyPr>
          <a:lstStyle>
            <a:lvl1pPr marL="457200" lvl="0" indent="-342900" algn="ctr">
              <a:lnSpc>
                <a:spcPct val="115000"/>
              </a:lnSpc>
              <a:spcBef>
                <a:spcPts val="0"/>
              </a:spcBef>
              <a:spcAft>
                <a:spcPts val="0"/>
              </a:spcAft>
              <a:buSzPts val="1800"/>
              <a:buChar char="●"/>
              <a:defRPr/>
            </a:lvl1pPr>
            <a:lvl2pPr marL="914400" lvl="1" indent="-317500" algn="ctr">
              <a:lnSpc>
                <a:spcPct val="115000"/>
              </a:lnSpc>
              <a:spcBef>
                <a:spcPts val="0"/>
              </a:spcBef>
              <a:spcAft>
                <a:spcPts val="0"/>
              </a:spcAft>
              <a:buSzPts val="1400"/>
              <a:buChar char="○"/>
              <a:defRPr/>
            </a:lvl2pPr>
            <a:lvl3pPr marL="1371600" lvl="2" indent="-317500" algn="ctr">
              <a:lnSpc>
                <a:spcPct val="115000"/>
              </a:lnSpc>
              <a:spcBef>
                <a:spcPts val="0"/>
              </a:spcBef>
              <a:spcAft>
                <a:spcPts val="0"/>
              </a:spcAft>
              <a:buSzPts val="1400"/>
              <a:buChar char="■"/>
              <a:defRPr/>
            </a:lvl3pPr>
            <a:lvl4pPr marL="1828800" lvl="3" indent="-317500" algn="ctr">
              <a:lnSpc>
                <a:spcPct val="115000"/>
              </a:lnSpc>
              <a:spcBef>
                <a:spcPts val="0"/>
              </a:spcBef>
              <a:spcAft>
                <a:spcPts val="0"/>
              </a:spcAft>
              <a:buSzPts val="1400"/>
              <a:buChar char="●"/>
              <a:defRPr/>
            </a:lvl4pPr>
            <a:lvl5pPr marL="2286000" lvl="4" indent="-317500" algn="ctr">
              <a:lnSpc>
                <a:spcPct val="115000"/>
              </a:lnSpc>
              <a:spcBef>
                <a:spcPts val="0"/>
              </a:spcBef>
              <a:spcAft>
                <a:spcPts val="0"/>
              </a:spcAft>
              <a:buSzPts val="1400"/>
              <a:buChar char="○"/>
              <a:defRPr/>
            </a:lvl5pPr>
            <a:lvl6pPr marL="2743200" lvl="5" indent="-317500" algn="ctr">
              <a:lnSpc>
                <a:spcPct val="115000"/>
              </a:lnSpc>
              <a:spcBef>
                <a:spcPts val="0"/>
              </a:spcBef>
              <a:spcAft>
                <a:spcPts val="0"/>
              </a:spcAft>
              <a:buSzPts val="1400"/>
              <a:buChar char="■"/>
              <a:defRPr/>
            </a:lvl6pPr>
            <a:lvl7pPr marL="3200400" lvl="6" indent="-317500" algn="ctr">
              <a:lnSpc>
                <a:spcPct val="115000"/>
              </a:lnSpc>
              <a:spcBef>
                <a:spcPts val="0"/>
              </a:spcBef>
              <a:spcAft>
                <a:spcPts val="0"/>
              </a:spcAft>
              <a:buSzPts val="1400"/>
              <a:buChar char="●"/>
              <a:defRPr/>
            </a:lvl7pPr>
            <a:lvl8pPr marL="3657600" lvl="7" indent="-317500" algn="ctr">
              <a:lnSpc>
                <a:spcPct val="115000"/>
              </a:lnSpc>
              <a:spcBef>
                <a:spcPts val="0"/>
              </a:spcBef>
              <a:spcAft>
                <a:spcPts val="0"/>
              </a:spcAft>
              <a:buSzPts val="1400"/>
              <a:buChar char="○"/>
              <a:defRPr/>
            </a:lvl8pPr>
            <a:lvl9pPr marL="4114800" lvl="8" indent="-317500" algn="ctr">
              <a:lnSpc>
                <a:spcPct val="115000"/>
              </a:lnSpc>
              <a:spcBef>
                <a:spcPts val="0"/>
              </a:spcBef>
              <a:spcAft>
                <a:spcPts val="0"/>
              </a:spcAft>
              <a:buSzPts val="1400"/>
              <a:buChar char="■"/>
              <a:defRPr/>
            </a:lvl9pPr>
          </a:lstStyle>
          <a:p>
            <a:endParaRPr/>
          </a:p>
        </p:txBody>
      </p:sp>
      <p:sp>
        <p:nvSpPr>
          <p:cNvPr id="47" name="Google Shape;47;p1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48"/>
        <p:cNvGrpSpPr/>
        <p:nvPr/>
      </p:nvGrpSpPr>
      <p:grpSpPr>
        <a:xfrm>
          <a:off x="0" y="0"/>
          <a:ext cx="0" cy="0"/>
          <a:chOff x="0" y="0"/>
          <a:chExt cx="0" cy="0"/>
        </a:xfrm>
      </p:grpSpPr>
      <p:sp>
        <p:nvSpPr>
          <p:cNvPr id="49" name="Google Shape;49;p1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Title, Content" type="obj">
  <p:cSld name="OBJECT">
    <p:spTree>
      <p:nvGrpSpPr>
        <p:cNvPr id="1" name="Shape 50"/>
        <p:cNvGrpSpPr/>
        <p:nvPr/>
      </p:nvGrpSpPr>
      <p:grpSpPr>
        <a:xfrm>
          <a:off x="0" y="0"/>
          <a:ext cx="0" cy="0"/>
          <a:chOff x="0" y="0"/>
          <a:chExt cx="0" cy="0"/>
        </a:xfrm>
      </p:grpSpPr>
      <p:sp>
        <p:nvSpPr>
          <p:cNvPr id="51" name="Google Shape;51;p13"/>
          <p:cNvSpPr txBox="1">
            <a:spLocks noGrp="1"/>
          </p:cNvSpPr>
          <p:nvPr>
            <p:ph type="title"/>
          </p:nvPr>
        </p:nvSpPr>
        <p:spPr>
          <a:xfrm>
            <a:off x="457172" y="205067"/>
            <a:ext cx="8228700" cy="858600"/>
          </a:xfrm>
          <a:prstGeom prst="rect">
            <a:avLst/>
          </a:prstGeom>
          <a:noFill/>
          <a:ln>
            <a:noFill/>
          </a:ln>
        </p:spPr>
        <p:txBody>
          <a:bodyPr spcFirstLastPara="1" wrap="square" lIns="0" tIns="0" rIns="0" bIns="0" anchor="ctr" anchorCtr="0">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a:endParaRPr/>
          </a:p>
        </p:txBody>
      </p:sp>
      <p:sp>
        <p:nvSpPr>
          <p:cNvPr id="52" name="Google Shape;52;p13"/>
          <p:cNvSpPr txBox="1">
            <a:spLocks noGrp="1"/>
          </p:cNvSpPr>
          <p:nvPr>
            <p:ph type="body" idx="1"/>
          </p:nvPr>
        </p:nvSpPr>
        <p:spPr>
          <a:xfrm>
            <a:off x="457172" y="1203299"/>
            <a:ext cx="8228700" cy="2982600"/>
          </a:xfrm>
          <a:prstGeom prst="rect">
            <a:avLst/>
          </a:prstGeom>
          <a:noFill/>
          <a:ln>
            <a:noFill/>
          </a:ln>
        </p:spPr>
        <p:txBody>
          <a:bodyPr spcFirstLastPara="1" wrap="square" lIns="0" tIns="0" rIns="0" bIns="0" anchor="t" anchorCtr="0">
            <a:normAutofit/>
          </a:bodyPr>
          <a:lstStyle>
            <a:lvl1pPr marL="457200" lvl="0" indent="-228600" algn="l">
              <a:lnSpc>
                <a:spcPct val="115000"/>
              </a:lnSpc>
              <a:spcBef>
                <a:spcPts val="0"/>
              </a:spcBef>
              <a:spcAft>
                <a:spcPts val="0"/>
              </a:spcAft>
              <a:buSzPts val="1800"/>
              <a:buNone/>
              <a:defRPr/>
            </a:lvl1pPr>
            <a:lvl2pPr marL="914400" lvl="1" indent="-228600" algn="l">
              <a:lnSpc>
                <a:spcPct val="115000"/>
              </a:lnSpc>
              <a:spcBef>
                <a:spcPts val="0"/>
              </a:spcBef>
              <a:spcAft>
                <a:spcPts val="0"/>
              </a:spcAft>
              <a:buSzPts val="1400"/>
              <a:buNone/>
              <a:defRPr/>
            </a:lvl2pPr>
            <a:lvl3pPr marL="1371600" lvl="2" indent="-228600" algn="l">
              <a:lnSpc>
                <a:spcPct val="115000"/>
              </a:lnSpc>
              <a:spcBef>
                <a:spcPts val="0"/>
              </a:spcBef>
              <a:spcAft>
                <a:spcPts val="0"/>
              </a:spcAft>
              <a:buSzPts val="1400"/>
              <a:buNone/>
              <a:defRPr/>
            </a:lvl3pPr>
            <a:lvl4pPr marL="1828800" lvl="3" indent="-228600" algn="l">
              <a:lnSpc>
                <a:spcPct val="115000"/>
              </a:lnSpc>
              <a:spcBef>
                <a:spcPts val="0"/>
              </a:spcBef>
              <a:spcAft>
                <a:spcPts val="0"/>
              </a:spcAft>
              <a:buSzPts val="1400"/>
              <a:buNone/>
              <a:defRPr/>
            </a:lvl4pPr>
            <a:lvl5pPr marL="2286000" lvl="4" indent="-228600" algn="l">
              <a:lnSpc>
                <a:spcPct val="115000"/>
              </a:lnSpc>
              <a:spcBef>
                <a:spcPts val="0"/>
              </a:spcBef>
              <a:spcAft>
                <a:spcPts val="0"/>
              </a:spcAft>
              <a:buSzPts val="1400"/>
              <a:buNone/>
              <a:defRPr/>
            </a:lvl5pPr>
            <a:lvl6pPr marL="2743200" lvl="5" indent="-228600" algn="l">
              <a:lnSpc>
                <a:spcPct val="115000"/>
              </a:lnSpc>
              <a:spcBef>
                <a:spcPts val="0"/>
              </a:spcBef>
              <a:spcAft>
                <a:spcPts val="0"/>
              </a:spcAft>
              <a:buSzPts val="1400"/>
              <a:buNone/>
              <a:defRPr/>
            </a:lvl6pPr>
            <a:lvl7pPr marL="3200400" lvl="6" indent="-228600" algn="l">
              <a:lnSpc>
                <a:spcPct val="115000"/>
              </a:lnSpc>
              <a:spcBef>
                <a:spcPts val="0"/>
              </a:spcBef>
              <a:spcAft>
                <a:spcPts val="0"/>
              </a:spcAft>
              <a:buSzPts val="1400"/>
              <a:buNone/>
              <a:defRPr/>
            </a:lvl7pPr>
            <a:lvl8pPr marL="3657600" lvl="7" indent="-228600" algn="l">
              <a:lnSpc>
                <a:spcPct val="115000"/>
              </a:lnSpc>
              <a:spcBef>
                <a:spcPts val="0"/>
              </a:spcBef>
              <a:spcAft>
                <a:spcPts val="0"/>
              </a:spcAft>
              <a:buSzPts val="1400"/>
              <a:buNone/>
              <a:defRPr/>
            </a:lvl8pPr>
            <a:lvl9pPr marL="4114800" lvl="8" indent="-228600" algn="l">
              <a:lnSpc>
                <a:spcPct val="115000"/>
              </a:lnSpc>
              <a:spcBef>
                <a:spcPts val="0"/>
              </a:spcBef>
              <a:spcAft>
                <a:spcPts val="0"/>
              </a:spcAft>
              <a:buSzPts val="1400"/>
              <a:buNone/>
              <a:defRPr/>
            </a:lvl9pPr>
          </a:lstStyle>
          <a:p>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Section Header">
  <p:cSld name="SECTION_HEADER_1">
    <p:spTree>
      <p:nvGrpSpPr>
        <p:cNvPr id="1" name="Shape 53"/>
        <p:cNvGrpSpPr/>
        <p:nvPr/>
      </p:nvGrpSpPr>
      <p:grpSpPr>
        <a:xfrm>
          <a:off x="0" y="0"/>
          <a:ext cx="0" cy="0"/>
          <a:chOff x="0" y="0"/>
          <a:chExt cx="0" cy="0"/>
        </a:xfrm>
      </p:grpSpPr>
      <p:sp>
        <p:nvSpPr>
          <p:cNvPr id="54" name="Google Shape;54;p14"/>
          <p:cNvSpPr txBox="1">
            <a:spLocks noGrp="1"/>
          </p:cNvSpPr>
          <p:nvPr>
            <p:ph type="title"/>
          </p:nvPr>
        </p:nvSpPr>
        <p:spPr>
          <a:xfrm>
            <a:off x="623888" y="1282303"/>
            <a:ext cx="7886700" cy="2139600"/>
          </a:xfrm>
          <a:prstGeom prst="rect">
            <a:avLst/>
          </a:prstGeom>
          <a:noFill/>
          <a:ln>
            <a:noFill/>
          </a:ln>
        </p:spPr>
        <p:txBody>
          <a:bodyPr spcFirstLastPara="1" wrap="square" lIns="68575" tIns="68575" rIns="68575" bIns="68575" anchor="b" anchorCtr="0">
            <a:noAutofit/>
          </a:bodyPr>
          <a:lstStyle>
            <a:lvl1pPr marR="0" lvl="0" algn="l">
              <a:lnSpc>
                <a:spcPct val="90000"/>
              </a:lnSpc>
              <a:spcBef>
                <a:spcPts val="0"/>
              </a:spcBef>
              <a:spcAft>
                <a:spcPts val="0"/>
              </a:spcAft>
              <a:buClr>
                <a:schemeClr val="dk1"/>
              </a:buClr>
              <a:buSzPts val="4500"/>
              <a:buFont typeface="Calibri"/>
              <a:buNone/>
              <a:defRPr sz="4500" b="0" i="0" u="none" strike="noStrike" cap="none">
                <a:solidFill>
                  <a:schemeClr val="dk1"/>
                </a:solidFill>
                <a:latin typeface="Calibri"/>
                <a:ea typeface="Calibri"/>
                <a:cs typeface="Calibri"/>
                <a:sym typeface="Calibri"/>
              </a:defRPr>
            </a:lvl1pPr>
            <a:lvl2pPr lvl="1" algn="l">
              <a:lnSpc>
                <a:spcPct val="100000"/>
              </a:lnSpc>
              <a:spcBef>
                <a:spcPts val="0"/>
              </a:spcBef>
              <a:spcAft>
                <a:spcPts val="0"/>
              </a:spcAft>
              <a:buSzPts val="1100"/>
              <a:buNone/>
              <a:defRPr sz="1400"/>
            </a:lvl2pPr>
            <a:lvl3pPr lvl="2" algn="l">
              <a:lnSpc>
                <a:spcPct val="100000"/>
              </a:lnSpc>
              <a:spcBef>
                <a:spcPts val="0"/>
              </a:spcBef>
              <a:spcAft>
                <a:spcPts val="0"/>
              </a:spcAft>
              <a:buSzPts val="1100"/>
              <a:buNone/>
              <a:defRPr sz="1400"/>
            </a:lvl3pPr>
            <a:lvl4pPr lvl="3" algn="l">
              <a:lnSpc>
                <a:spcPct val="100000"/>
              </a:lnSpc>
              <a:spcBef>
                <a:spcPts val="0"/>
              </a:spcBef>
              <a:spcAft>
                <a:spcPts val="0"/>
              </a:spcAft>
              <a:buSzPts val="1100"/>
              <a:buNone/>
              <a:defRPr sz="1400"/>
            </a:lvl4pPr>
            <a:lvl5pPr lvl="4" algn="l">
              <a:lnSpc>
                <a:spcPct val="100000"/>
              </a:lnSpc>
              <a:spcBef>
                <a:spcPts val="0"/>
              </a:spcBef>
              <a:spcAft>
                <a:spcPts val="0"/>
              </a:spcAft>
              <a:buSzPts val="1100"/>
              <a:buNone/>
              <a:defRPr sz="1400"/>
            </a:lvl5pPr>
            <a:lvl6pPr lvl="5" algn="l">
              <a:lnSpc>
                <a:spcPct val="100000"/>
              </a:lnSpc>
              <a:spcBef>
                <a:spcPts val="0"/>
              </a:spcBef>
              <a:spcAft>
                <a:spcPts val="0"/>
              </a:spcAft>
              <a:buSzPts val="1100"/>
              <a:buNone/>
              <a:defRPr sz="1400"/>
            </a:lvl6pPr>
            <a:lvl7pPr lvl="6" algn="l">
              <a:lnSpc>
                <a:spcPct val="100000"/>
              </a:lnSpc>
              <a:spcBef>
                <a:spcPts val="0"/>
              </a:spcBef>
              <a:spcAft>
                <a:spcPts val="0"/>
              </a:spcAft>
              <a:buSzPts val="1100"/>
              <a:buNone/>
              <a:defRPr sz="1400"/>
            </a:lvl7pPr>
            <a:lvl8pPr lvl="7" algn="l">
              <a:lnSpc>
                <a:spcPct val="100000"/>
              </a:lnSpc>
              <a:spcBef>
                <a:spcPts val="0"/>
              </a:spcBef>
              <a:spcAft>
                <a:spcPts val="0"/>
              </a:spcAft>
              <a:buSzPts val="1100"/>
              <a:buNone/>
              <a:defRPr sz="1400"/>
            </a:lvl8pPr>
            <a:lvl9pPr lvl="8" algn="l">
              <a:lnSpc>
                <a:spcPct val="100000"/>
              </a:lnSpc>
              <a:spcBef>
                <a:spcPts val="0"/>
              </a:spcBef>
              <a:spcAft>
                <a:spcPts val="0"/>
              </a:spcAft>
              <a:buSzPts val="1100"/>
              <a:buNone/>
              <a:defRPr sz="1400"/>
            </a:lvl9pPr>
          </a:lstStyle>
          <a:p>
            <a:endParaRPr/>
          </a:p>
        </p:txBody>
      </p:sp>
      <p:sp>
        <p:nvSpPr>
          <p:cNvPr id="55" name="Google Shape;55;p14"/>
          <p:cNvSpPr txBox="1">
            <a:spLocks noGrp="1"/>
          </p:cNvSpPr>
          <p:nvPr>
            <p:ph type="body" idx="1"/>
          </p:nvPr>
        </p:nvSpPr>
        <p:spPr>
          <a:xfrm>
            <a:off x="623888" y="3442097"/>
            <a:ext cx="7886700" cy="1125300"/>
          </a:xfrm>
          <a:prstGeom prst="rect">
            <a:avLst/>
          </a:prstGeom>
          <a:noFill/>
          <a:ln>
            <a:noFill/>
          </a:ln>
        </p:spPr>
        <p:txBody>
          <a:bodyPr spcFirstLastPara="1" wrap="square" lIns="68575" tIns="68575" rIns="68575" bIns="68575" anchor="t" anchorCtr="0">
            <a:noAutofit/>
          </a:bodyPr>
          <a:lstStyle>
            <a:lvl1pPr marL="457200" marR="0" lvl="0" indent="-228600" algn="l">
              <a:lnSpc>
                <a:spcPct val="90000"/>
              </a:lnSpc>
              <a:spcBef>
                <a:spcPts val="800"/>
              </a:spcBef>
              <a:spcAft>
                <a:spcPts val="0"/>
              </a:spcAft>
              <a:buClr>
                <a:srgbClr val="888888"/>
              </a:buClr>
              <a:buSzPts val="1800"/>
              <a:buFont typeface="Arial"/>
              <a:buNone/>
              <a:defRPr sz="1800" b="0" i="0" u="none" strike="noStrike" cap="none">
                <a:solidFill>
                  <a:srgbClr val="888888"/>
                </a:solidFill>
                <a:latin typeface="Calibri"/>
                <a:ea typeface="Calibri"/>
                <a:cs typeface="Calibri"/>
                <a:sym typeface="Calibri"/>
              </a:defRPr>
            </a:lvl1pPr>
            <a:lvl2pPr marL="914400" marR="0" lvl="1" indent="-228600" algn="l">
              <a:lnSpc>
                <a:spcPct val="90000"/>
              </a:lnSpc>
              <a:spcBef>
                <a:spcPts val="400"/>
              </a:spcBef>
              <a:spcAft>
                <a:spcPts val="0"/>
              </a:spcAft>
              <a:buClr>
                <a:srgbClr val="888888"/>
              </a:buClr>
              <a:buSzPts val="1500"/>
              <a:buFont typeface="Arial"/>
              <a:buNone/>
              <a:defRPr sz="1500" b="0" i="0" u="none" strike="noStrike" cap="none">
                <a:solidFill>
                  <a:srgbClr val="888888"/>
                </a:solidFill>
                <a:latin typeface="Calibri"/>
                <a:ea typeface="Calibri"/>
                <a:cs typeface="Calibri"/>
                <a:sym typeface="Calibri"/>
              </a:defRPr>
            </a:lvl2pPr>
            <a:lvl3pPr marL="1371600" marR="0" lvl="2" indent="-228600" algn="l">
              <a:lnSpc>
                <a:spcPct val="90000"/>
              </a:lnSpc>
              <a:spcBef>
                <a:spcPts val="400"/>
              </a:spcBef>
              <a:spcAft>
                <a:spcPts val="0"/>
              </a:spcAft>
              <a:buClr>
                <a:srgbClr val="888888"/>
              </a:buClr>
              <a:buSzPts val="1400"/>
              <a:buFont typeface="Arial"/>
              <a:buNone/>
              <a:defRPr sz="1400" b="0" i="0" u="none" strike="noStrike" cap="none">
                <a:solidFill>
                  <a:srgbClr val="888888"/>
                </a:solidFill>
                <a:latin typeface="Calibri"/>
                <a:ea typeface="Calibri"/>
                <a:cs typeface="Calibri"/>
                <a:sym typeface="Calibri"/>
              </a:defRPr>
            </a:lvl3pPr>
            <a:lvl4pPr marL="1828800" marR="0" lvl="3" indent="-228600" algn="l">
              <a:lnSpc>
                <a:spcPct val="90000"/>
              </a:lnSpc>
              <a:spcBef>
                <a:spcPts val="400"/>
              </a:spcBef>
              <a:spcAft>
                <a:spcPts val="0"/>
              </a:spcAft>
              <a:buClr>
                <a:srgbClr val="888888"/>
              </a:buClr>
              <a:buSzPts val="1200"/>
              <a:buFont typeface="Arial"/>
              <a:buNone/>
              <a:defRPr sz="1200" b="0" i="0" u="none" strike="noStrike" cap="none">
                <a:solidFill>
                  <a:srgbClr val="888888"/>
                </a:solidFill>
                <a:latin typeface="Calibri"/>
                <a:ea typeface="Calibri"/>
                <a:cs typeface="Calibri"/>
                <a:sym typeface="Calibri"/>
              </a:defRPr>
            </a:lvl4pPr>
            <a:lvl5pPr marL="2286000" marR="0" lvl="4" indent="-228600" algn="l">
              <a:lnSpc>
                <a:spcPct val="90000"/>
              </a:lnSpc>
              <a:spcBef>
                <a:spcPts val="400"/>
              </a:spcBef>
              <a:spcAft>
                <a:spcPts val="0"/>
              </a:spcAft>
              <a:buClr>
                <a:srgbClr val="888888"/>
              </a:buClr>
              <a:buSzPts val="1200"/>
              <a:buFont typeface="Arial"/>
              <a:buNone/>
              <a:defRPr sz="1200" b="0" i="0" u="none" strike="noStrike" cap="none">
                <a:solidFill>
                  <a:srgbClr val="888888"/>
                </a:solidFill>
                <a:latin typeface="Calibri"/>
                <a:ea typeface="Calibri"/>
                <a:cs typeface="Calibri"/>
                <a:sym typeface="Calibri"/>
              </a:defRPr>
            </a:lvl5pPr>
            <a:lvl6pPr marL="2743200" marR="0" lvl="5" indent="-228600" algn="l">
              <a:lnSpc>
                <a:spcPct val="90000"/>
              </a:lnSpc>
              <a:spcBef>
                <a:spcPts val="400"/>
              </a:spcBef>
              <a:spcAft>
                <a:spcPts val="0"/>
              </a:spcAft>
              <a:buClr>
                <a:srgbClr val="888888"/>
              </a:buClr>
              <a:buSzPts val="1200"/>
              <a:buFont typeface="Arial"/>
              <a:buNone/>
              <a:defRPr sz="1200" b="0" i="0" u="none" strike="noStrike" cap="none">
                <a:solidFill>
                  <a:srgbClr val="888888"/>
                </a:solidFill>
                <a:latin typeface="Calibri"/>
                <a:ea typeface="Calibri"/>
                <a:cs typeface="Calibri"/>
                <a:sym typeface="Calibri"/>
              </a:defRPr>
            </a:lvl6pPr>
            <a:lvl7pPr marL="3200400" marR="0" lvl="6" indent="-228600" algn="l">
              <a:lnSpc>
                <a:spcPct val="90000"/>
              </a:lnSpc>
              <a:spcBef>
                <a:spcPts val="400"/>
              </a:spcBef>
              <a:spcAft>
                <a:spcPts val="0"/>
              </a:spcAft>
              <a:buClr>
                <a:srgbClr val="888888"/>
              </a:buClr>
              <a:buSzPts val="1200"/>
              <a:buFont typeface="Arial"/>
              <a:buNone/>
              <a:defRPr sz="1200" b="0" i="0" u="none" strike="noStrike" cap="none">
                <a:solidFill>
                  <a:srgbClr val="888888"/>
                </a:solidFill>
                <a:latin typeface="Calibri"/>
                <a:ea typeface="Calibri"/>
                <a:cs typeface="Calibri"/>
                <a:sym typeface="Calibri"/>
              </a:defRPr>
            </a:lvl7pPr>
            <a:lvl8pPr marL="3657600" marR="0" lvl="7" indent="-228600" algn="l">
              <a:lnSpc>
                <a:spcPct val="90000"/>
              </a:lnSpc>
              <a:spcBef>
                <a:spcPts val="400"/>
              </a:spcBef>
              <a:spcAft>
                <a:spcPts val="0"/>
              </a:spcAft>
              <a:buClr>
                <a:srgbClr val="888888"/>
              </a:buClr>
              <a:buSzPts val="1200"/>
              <a:buFont typeface="Arial"/>
              <a:buNone/>
              <a:defRPr sz="1200" b="0" i="0" u="none" strike="noStrike" cap="none">
                <a:solidFill>
                  <a:srgbClr val="888888"/>
                </a:solidFill>
                <a:latin typeface="Calibri"/>
                <a:ea typeface="Calibri"/>
                <a:cs typeface="Calibri"/>
                <a:sym typeface="Calibri"/>
              </a:defRPr>
            </a:lvl8pPr>
            <a:lvl9pPr marL="4114800" marR="0" lvl="8" indent="-228600" algn="l">
              <a:lnSpc>
                <a:spcPct val="90000"/>
              </a:lnSpc>
              <a:spcBef>
                <a:spcPts val="400"/>
              </a:spcBef>
              <a:spcAft>
                <a:spcPts val="0"/>
              </a:spcAft>
              <a:buClr>
                <a:srgbClr val="888888"/>
              </a:buClr>
              <a:buSzPts val="1200"/>
              <a:buFont typeface="Arial"/>
              <a:buNone/>
              <a:defRPr sz="1200" b="0" i="0" u="none" strike="noStrike" cap="none">
                <a:solidFill>
                  <a:srgbClr val="888888"/>
                </a:solidFill>
                <a:latin typeface="Calibri"/>
                <a:ea typeface="Calibri"/>
                <a:cs typeface="Calibri"/>
                <a:sym typeface="Calibri"/>
              </a:defRPr>
            </a:lvl9pPr>
          </a:lstStyle>
          <a:p>
            <a:endParaRPr/>
          </a:p>
        </p:txBody>
      </p:sp>
      <p:sp>
        <p:nvSpPr>
          <p:cNvPr id="56" name="Google Shape;56;p14"/>
          <p:cNvSpPr txBox="1">
            <a:spLocks noGrp="1"/>
          </p:cNvSpPr>
          <p:nvPr>
            <p:ph type="dt" idx="10"/>
          </p:nvPr>
        </p:nvSpPr>
        <p:spPr>
          <a:xfrm>
            <a:off x="628650" y="4767263"/>
            <a:ext cx="2057400" cy="273900"/>
          </a:xfrm>
          <a:prstGeom prst="rect">
            <a:avLst/>
          </a:prstGeom>
          <a:noFill/>
          <a:ln>
            <a:noFill/>
          </a:ln>
        </p:spPr>
        <p:txBody>
          <a:bodyPr spcFirstLastPara="1" wrap="square" lIns="68575" tIns="68575" rIns="68575" bIns="68575" anchor="ctr" anchorCtr="0">
            <a:noAutofit/>
          </a:bodyPr>
          <a:lstStyle>
            <a:lvl1pPr marR="0" lvl="0" algn="l" rtl="0">
              <a:lnSpc>
                <a:spcPct val="100000"/>
              </a:lnSpc>
              <a:spcBef>
                <a:spcPts val="0"/>
              </a:spcBef>
              <a:spcAft>
                <a:spcPts val="0"/>
              </a:spcAft>
              <a:buClr>
                <a:srgbClr val="000000"/>
              </a:buClr>
              <a:buSzPts val="1100"/>
              <a:buFont typeface="Arial"/>
              <a:buNone/>
              <a:defRPr sz="90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9pPr>
          </a:lstStyle>
          <a:p>
            <a:endParaRPr/>
          </a:p>
        </p:txBody>
      </p:sp>
      <p:sp>
        <p:nvSpPr>
          <p:cNvPr id="57" name="Google Shape;57;p14"/>
          <p:cNvSpPr txBox="1">
            <a:spLocks noGrp="1"/>
          </p:cNvSpPr>
          <p:nvPr>
            <p:ph type="ftr" idx="11"/>
          </p:nvPr>
        </p:nvSpPr>
        <p:spPr>
          <a:xfrm>
            <a:off x="3028950" y="4767263"/>
            <a:ext cx="3086100" cy="273900"/>
          </a:xfrm>
          <a:prstGeom prst="rect">
            <a:avLst/>
          </a:prstGeom>
          <a:noFill/>
          <a:ln>
            <a:noFill/>
          </a:ln>
        </p:spPr>
        <p:txBody>
          <a:bodyPr spcFirstLastPara="1" wrap="square" lIns="68575" tIns="68575" rIns="68575" bIns="68575" anchor="ctr" anchorCtr="0">
            <a:noAutofit/>
          </a:bodyPr>
          <a:lstStyle>
            <a:lvl1pPr marR="0" lvl="0" algn="ctr" rtl="0">
              <a:lnSpc>
                <a:spcPct val="100000"/>
              </a:lnSpc>
              <a:spcBef>
                <a:spcPts val="0"/>
              </a:spcBef>
              <a:spcAft>
                <a:spcPts val="0"/>
              </a:spcAft>
              <a:buClr>
                <a:srgbClr val="000000"/>
              </a:buClr>
              <a:buSzPts val="1100"/>
              <a:buFont typeface="Arial"/>
              <a:buNone/>
              <a:defRPr sz="90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9pPr>
          </a:lstStyle>
          <a:p>
            <a:endParaRPr/>
          </a:p>
        </p:txBody>
      </p:sp>
      <p:sp>
        <p:nvSpPr>
          <p:cNvPr id="58" name="Google Shape;58;p14"/>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marR="0" lvl="0"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1pPr>
            <a:lvl2pPr marR="0" lvl="1"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9pPr>
          </a:lstStyle>
          <a:p>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marR="0" lvl="0" indent="-342900" algn="l" rtl="0">
              <a:lnSpc>
                <a:spcPct val="115000"/>
              </a:lnSpc>
              <a:spcBef>
                <a:spcPts val="0"/>
              </a:spcBef>
              <a:spcAft>
                <a:spcPts val="0"/>
              </a:spcAft>
              <a:buClr>
                <a:schemeClr val="dk2"/>
              </a:buClr>
              <a:buSzPts val="1800"/>
              <a:buFont typeface="Arial"/>
              <a:buChar char="●"/>
              <a:defRPr sz="1800" b="0" i="0" u="none" strike="noStrike" cap="none">
                <a:solidFill>
                  <a:schemeClr val="dk2"/>
                </a:solidFill>
                <a:latin typeface="Arial"/>
                <a:ea typeface="Arial"/>
                <a:cs typeface="Arial"/>
                <a:sym typeface="Arial"/>
              </a:defRPr>
            </a:lvl1pPr>
            <a:lvl2pPr marL="914400" marR="0" lvl="1"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2pPr>
            <a:lvl3pPr marL="1371600" marR="0" lvl="2"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3pPr>
            <a:lvl4pPr marL="1828800" marR="0" lvl="3"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4pPr>
            <a:lvl5pPr marL="2286000" marR="0" lvl="4"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5pPr>
            <a:lvl6pPr marL="2743200" marR="0" lvl="5"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6pPr>
            <a:lvl7pPr marL="3200400" marR="0" lvl="6"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7pPr>
            <a:lvl8pPr marL="3657600" marR="0" lvl="7"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8pPr>
            <a:lvl9pPr marL="4114800" marR="0" lvl="8"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9pPr>
          </a:lstStyle>
          <a:p>
            <a:endParaRPr/>
          </a:p>
        </p:txBody>
      </p:sp>
      <p:sp>
        <p:nvSpPr>
          <p:cNvPr id="8" name="Google Shape;8;p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3" Type="http://schemas.openxmlformats.org/officeDocument/2006/relationships/hyperlink" Target="https://huggingface.co/open-llm-leaderboard" TargetMode="External"/><Relationship Id="rId18" Type="http://schemas.openxmlformats.org/officeDocument/2006/relationships/hyperlink" Target="https://www.anthropic.com/news/claude-sonnet-4-5" TargetMode="External"/><Relationship Id="rId26" Type="http://schemas.openxmlformats.org/officeDocument/2006/relationships/hyperlink" Target="https://platform.openai.com/docs/models/gpt-5-chat-latest" TargetMode="External"/><Relationship Id="rId39" Type="http://schemas.openxmlformats.org/officeDocument/2006/relationships/hyperlink" Target="https://huggingface.co/meituan-longcat/LongCat-Flash-Chat" TargetMode="External"/><Relationship Id="rId21" Type="http://schemas.openxmlformats.org/officeDocument/2006/relationships/hyperlink" Target="https://x.com/OpenAI/status/1905331956856050135" TargetMode="External"/><Relationship Id="rId34" Type="http://schemas.openxmlformats.org/officeDocument/2006/relationships/hyperlink" Target="https://api-docs.deepseek.com/news/news250528" TargetMode="External"/><Relationship Id="rId7" Type="http://schemas.openxmlformats.org/officeDocument/2006/relationships/hyperlink" Target="https://openlm.ai/chatbot-arena/" TargetMode="External"/><Relationship Id="rId2" Type="http://schemas.openxmlformats.org/officeDocument/2006/relationships/notesSlide" Target="../notesSlides/notesSlide2.xml"/><Relationship Id="rId16" Type="http://schemas.openxmlformats.org/officeDocument/2006/relationships/hyperlink" Target="https://artificialanalysis.ai/models/grok-4" TargetMode="External"/><Relationship Id="rId20" Type="http://schemas.openxmlformats.org/officeDocument/2006/relationships/hyperlink" Target="https://openai.com/index/introducing-gpt-4-5/" TargetMode="External"/><Relationship Id="rId29" Type="http://schemas.openxmlformats.org/officeDocument/2006/relationships/hyperlink" Target="https://huggingface.co/moonshotai/Kimi-K2-Thinking" TargetMode="External"/><Relationship Id="rId41" Type="http://schemas.openxmlformats.org/officeDocument/2006/relationships/hyperlink" Target="https://api-docs.deepseek.com/news/news250922" TargetMode="External"/><Relationship Id="rId1" Type="http://schemas.openxmlformats.org/officeDocument/2006/relationships/slideLayout" Target="../slideLayouts/slideLayout1.xml"/><Relationship Id="rId6" Type="http://schemas.openxmlformats.org/officeDocument/2006/relationships/hyperlink" Target="https://www.designarena.ai" TargetMode="External"/><Relationship Id="rId11" Type="http://schemas.openxmlformats.org/officeDocument/2006/relationships/hyperlink" Target="https://www.stack-ai.com/llm-leaderboard" TargetMode="External"/><Relationship Id="rId24" Type="http://schemas.openxmlformats.org/officeDocument/2006/relationships/hyperlink" Target="https://www.alibabacloud.com/help/en/model-studio/models" TargetMode="External"/><Relationship Id="rId32" Type="http://schemas.openxmlformats.org/officeDocument/2006/relationships/hyperlink" Target="https://huggingface.co/Qwen/Qwen3-235B-A22B-Instruct-2507" TargetMode="External"/><Relationship Id="rId37" Type="http://schemas.openxmlformats.org/officeDocument/2006/relationships/hyperlink" Target="https://moonshotai.github.io/Kimi-K2/" TargetMode="External"/><Relationship Id="rId40" Type="http://schemas.openxmlformats.org/officeDocument/2006/relationships/hyperlink" Target="https://qwen.ai/blog?id=99f0335c4ad9ff6153e517418d48535ab6d8afef&amp;from=research.latest-advancements-list" TargetMode="External"/><Relationship Id="rId5" Type="http://schemas.openxmlformats.org/officeDocument/2006/relationships/hyperlink" Target="https://lmarena.ai/leaderboard/text/coding" TargetMode="External"/><Relationship Id="rId15" Type="http://schemas.openxmlformats.org/officeDocument/2006/relationships/hyperlink" Target="https://epoch.ai/data/ai-benchmarking-dashboard" TargetMode="External"/><Relationship Id="rId23" Type="http://schemas.openxmlformats.org/officeDocument/2006/relationships/hyperlink" Target="https://openai.com/index/introducing-o3-and-o4-mini/" TargetMode="External"/><Relationship Id="rId28" Type="http://schemas.openxmlformats.org/officeDocument/2006/relationships/hyperlink" Target="https://www.anthropic.com/news/claude-4" TargetMode="External"/><Relationship Id="rId36" Type="http://schemas.openxmlformats.org/officeDocument/2006/relationships/hyperlink" Target="https://api-docs.deepseek.com/news/news250821" TargetMode="External"/><Relationship Id="rId10" Type="http://schemas.openxmlformats.org/officeDocument/2006/relationships/hyperlink" Target="https://llmworld.net/llm_leaderboards/" TargetMode="External"/><Relationship Id="rId19" Type="http://schemas.openxmlformats.org/officeDocument/2006/relationships/hyperlink" Target="https://www.anthropic.com/news/claude-opus-4-1" TargetMode="External"/><Relationship Id="rId31" Type="http://schemas.openxmlformats.org/officeDocument/2006/relationships/hyperlink" Target="https://api-docs.deepseek.com/news/news250929" TargetMode="External"/><Relationship Id="rId4" Type="http://schemas.openxmlformats.org/officeDocument/2006/relationships/hyperlink" Target="https://lmarena.ai/leaderboard/text" TargetMode="External"/><Relationship Id="rId9" Type="http://schemas.openxmlformats.org/officeDocument/2006/relationships/hyperlink" Target="https://web.lmarena.ai/leaderboard" TargetMode="External"/><Relationship Id="rId14" Type="http://schemas.openxmlformats.org/officeDocument/2006/relationships/hyperlink" Target="https://www.vellum.ai/llm-leaderboard" TargetMode="External"/><Relationship Id="rId22" Type="http://schemas.openxmlformats.org/officeDocument/2006/relationships/hyperlink" Target="https://platform.openai.com/docs/models/gpt-5" TargetMode="External"/><Relationship Id="rId27" Type="http://schemas.openxmlformats.org/officeDocument/2006/relationships/hyperlink" Target="https://qwen.ai/blog?id=241398b9cd6353de490b0f82806c7848c5d2777d&amp;from=research.latest-advancements-list" TargetMode="External"/><Relationship Id="rId30" Type="http://schemas.openxmlformats.org/officeDocument/2006/relationships/hyperlink" Target="https://ernie.baidu.com/blog/posts/ernie-5.0-preview-1022-release-on-lmarena/" TargetMode="External"/><Relationship Id="rId35" Type="http://schemas.openxmlformats.org/officeDocument/2006/relationships/hyperlink" Target="https://huggingface.co/moonshotai/Kimi-K2-Instruct-0905" TargetMode="External"/><Relationship Id="rId8" Type="http://schemas.openxmlformats.org/officeDocument/2006/relationships/hyperlink" Target="https://beta.lmarena.ai" TargetMode="External"/><Relationship Id="rId3" Type="http://schemas.openxmlformats.org/officeDocument/2006/relationships/hyperlink" Target="https://en.wikipedia.org/wiki/Elo_rating_system" TargetMode="External"/><Relationship Id="rId12" Type="http://schemas.openxmlformats.org/officeDocument/2006/relationships/hyperlink" Target="https://artificialanalysis.ai/leaderboards/models" TargetMode="External"/><Relationship Id="rId17" Type="http://schemas.openxmlformats.org/officeDocument/2006/relationships/hyperlink" Target="http://aistudio.google.com/app/prompts/new_chat?model=gemini-2.5-pro" TargetMode="External"/><Relationship Id="rId25" Type="http://schemas.openxmlformats.org/officeDocument/2006/relationships/hyperlink" Target="https://docs.z.ai/guides/llm/glm-4.6" TargetMode="External"/><Relationship Id="rId33" Type="http://schemas.openxmlformats.org/officeDocument/2006/relationships/hyperlink" Target="https://x.ai/news/grok-4-fast" TargetMode="External"/><Relationship Id="rId38" Type="http://schemas.openxmlformats.org/officeDocument/2006/relationships/hyperlink" Target="https://www.anthropic.com/news/claude-haiku-4-5" TargetMode="External"/></Relationships>
</file>

<file path=ppt/slides/_rels/slide3.xml.rels><?xml version="1.0" encoding="UTF-8" standalone="yes"?>
<Relationships xmlns="http://schemas.openxmlformats.org/package/2006/relationships"><Relationship Id="rId3" Type="http://schemas.openxmlformats.org/officeDocument/2006/relationships/hyperlink" Target="https://www.youtube.com/watch?v=Z5ulfaRTI1s" TargetMode="External"/><Relationship Id="rId7"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1.xml"/><Relationship Id="rId6" Type="http://schemas.openxmlformats.org/officeDocument/2006/relationships/image" Target="../media/image1.png"/><Relationship Id="rId5" Type="http://schemas.openxmlformats.org/officeDocument/2006/relationships/hyperlink" Target="https://x.ai/news/grok-4-1" TargetMode="External"/><Relationship Id="rId4" Type="http://schemas.openxmlformats.org/officeDocument/2006/relationships/hyperlink" Target="https://www.youtube.com/watch?v=wIR6tRlxgp4" TargetMode="External"/></Relationships>
</file>

<file path=ppt/slides/_rels/slide4.xml.rels><?xml version="1.0" encoding="UTF-8" standalone="yes"?>
<Relationships xmlns="http://schemas.openxmlformats.org/package/2006/relationships"><Relationship Id="rId3" Type="http://schemas.openxmlformats.org/officeDocument/2006/relationships/hyperlink" Target="https://www.youtube.com/watch?v=OA02eRm11JU" TargetMode="External"/><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hyperlink" Target="https://www.youtube.com/@lev-selector/videos" TargetMode="External"/><Relationship Id="rId2" Type="http://schemas.openxmlformats.org/officeDocument/2006/relationships/notesSlide" Target="../notesSlides/notesSlide5.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6.xml.rels><?xml version="1.0" encoding="UTF-8" standalone="yes"?>
<Relationships xmlns="http://schemas.openxmlformats.org/package/2006/relationships"><Relationship Id="rId3" Type="http://schemas.openxmlformats.org/officeDocument/2006/relationships/hyperlink" Target="https://www.youtube.com/watch?v=KeXmXYAaUU4" TargetMode="External"/><Relationship Id="rId2" Type="http://schemas.openxmlformats.org/officeDocument/2006/relationships/notesSlide" Target="../notesSlides/notesSlide6.xml"/><Relationship Id="rId1" Type="http://schemas.openxmlformats.org/officeDocument/2006/relationships/slideLayout" Target="../slideLayouts/slideLayout1.xml"/><Relationship Id="rId6" Type="http://schemas.openxmlformats.org/officeDocument/2006/relationships/image" Target="../media/image4.png"/><Relationship Id="rId5" Type="http://schemas.openxmlformats.org/officeDocument/2006/relationships/hyperlink" Target="https://www.everydev.ai/tools/serena" TargetMode="External"/><Relationship Id="rId4" Type="http://schemas.openxmlformats.org/officeDocument/2006/relationships/hyperlink" Target="https://github.com/oraios/serena" TargetMode="External"/></Relationships>
</file>

<file path=ppt/slides/_rels/slide7.xml.rels><?xml version="1.0" encoding="UTF-8" standalone="yes"?>
<Relationships xmlns="http://schemas.openxmlformats.org/package/2006/relationships"><Relationship Id="rId3" Type="http://schemas.openxmlformats.org/officeDocument/2006/relationships/hyperlink" Target="https://deepmind.google/blog/sima-2-an-agent-that-plays-reasons-and-learns-with-you-in-virtual-3d-worlds/" TargetMode="External"/><Relationship Id="rId2" Type="http://schemas.openxmlformats.org/officeDocument/2006/relationships/notesSlide" Target="../notesSlides/notesSlide7.xml"/><Relationship Id="rId1" Type="http://schemas.openxmlformats.org/officeDocument/2006/relationships/slideLayout" Target="../slideLayouts/slideLayout1.xml"/><Relationship Id="rId4" Type="http://schemas.openxmlformats.org/officeDocument/2006/relationships/image" Target="../media/image5.png"/></Relationships>
</file>

<file path=ppt/slides/_rels/slide8.xml.rels><?xml version="1.0" encoding="UTF-8" standalone="yes"?>
<Relationships xmlns="http://schemas.openxmlformats.org/package/2006/relationships"><Relationship Id="rId3" Type="http://schemas.openxmlformats.org/officeDocument/2006/relationships/hyperlink" Target="https://www.youtube.com/watch?v=UACj1WqXU2Q" TargetMode="External"/><Relationship Id="rId2" Type="http://schemas.openxmlformats.org/officeDocument/2006/relationships/notesSlide" Target="../notesSlides/notesSlide8.xml"/><Relationship Id="rId1" Type="http://schemas.openxmlformats.org/officeDocument/2006/relationships/slideLayout" Target="../slideLayouts/slideLayout1.xml"/><Relationship Id="rId6" Type="http://schemas.openxmlformats.org/officeDocument/2006/relationships/image" Target="../media/image6.png"/><Relationship Id="rId5" Type="http://schemas.openxmlformats.org/officeDocument/2006/relationships/hyperlink" Target="https://assets.anthropic.com/m/ec212e6566a0d47/original/Disrupting-the-first-reported-AI-orchestrated-cyber-espionage-campaign.pdf" TargetMode="External"/><Relationship Id="rId4" Type="http://schemas.openxmlformats.org/officeDocument/2006/relationships/hyperlink" Target="https://sites.google.com/view/workspace-flows/about" TargetMode="External"/></Relationships>
</file>

<file path=ppt/slides/_rels/slide9.xml.rels><?xml version="1.0" encoding="UTF-8" standalone="yes"?>
<Relationships xmlns="http://schemas.openxmlformats.org/package/2006/relationships"><Relationship Id="rId3" Type="http://schemas.openxmlformats.org/officeDocument/2006/relationships/hyperlink" Target="https://x.com/CalumWorthy/status/1988283207138324487" TargetMode="External"/><Relationship Id="rId2" Type="http://schemas.openxmlformats.org/officeDocument/2006/relationships/notesSlide" Target="../notesSlides/notesSlide9.xml"/><Relationship Id="rId1" Type="http://schemas.openxmlformats.org/officeDocument/2006/relationships/slideLayout" Target="../slideLayouts/slideLayout1.xml"/><Relationship Id="rId6" Type="http://schemas.openxmlformats.org/officeDocument/2006/relationships/hyperlink" Target="https://app.therundown.ai/guides/use-claude-to-organize-your-business-finances" TargetMode="External"/><Relationship Id="rId5" Type="http://schemas.openxmlformats.org/officeDocument/2006/relationships/image" Target="../media/image7.png"/><Relationship Id="rId4" Type="http://schemas.openxmlformats.org/officeDocument/2006/relationships/hyperlink" Target="https://www.2wai.ai" TargetMode="External"/></Relationships>
</file>

<file path=ppt/slides/_rels/slide10.xml.rels><?xml version="1.0" encoding="UTF-8" standalone="yes"?>
<Relationships xmlns="http://schemas.openxmlformats.org/package/2006/relationships"><Relationship Id="rId3" Type="http://schemas.openxmlformats.org/officeDocument/2006/relationships/hyperlink" Target="https://www.linkedin.com/in/drvikbajaj/" TargetMode="External"/><Relationship Id="rId2" Type="http://schemas.openxmlformats.org/officeDocument/2006/relationships/notesSlide" Target="../notesSlides/notesSlide10.xml"/><Relationship Id="rId1" Type="http://schemas.openxmlformats.org/officeDocument/2006/relationships/slideLayout" Target="../slideLayouts/slideLayout1.xml"/><Relationship Id="rId6" Type="http://schemas.openxmlformats.org/officeDocument/2006/relationships/image" Target="../media/image9.png"/><Relationship Id="rId5" Type="http://schemas.openxmlformats.org/officeDocument/2006/relationships/hyperlink" Target="https://one.google.com/ai" TargetMode="External"/><Relationship Id="rId4" Type="http://schemas.openxmlformats.org/officeDocument/2006/relationships/image" Target="../media/image8.jpeg"/></Relationships>
</file>

<file path=ppt/slides/_rels/slide11.xml.rels><?xml version="1.0" encoding="UTF-8" standalone="yes"?>
<Relationships xmlns="http://schemas.openxmlformats.org/package/2006/relationships"><Relationship Id="rId3" Type="http://schemas.openxmlformats.org/officeDocument/2006/relationships/hyperlink" Target="https://www.youtube.com/watch?v=8K_V2oTUXtc" TargetMode="External"/><Relationship Id="rId2" Type="http://schemas.openxmlformats.org/officeDocument/2006/relationships/notesSlide" Target="../notesSlides/notesSlide11.xml"/><Relationship Id="rId1" Type="http://schemas.openxmlformats.org/officeDocument/2006/relationships/slideLayout" Target="../slideLayouts/slideLayout1.xml"/><Relationship Id="rId4" Type="http://schemas.openxmlformats.org/officeDocument/2006/relationships/image" Target="../media/image10.png"/></Relationships>
</file>

<file path=ppt/slides/_rels/slide12.xml.rels><?xml version="1.0" encoding="UTF-8" standalone="yes"?>
<Relationships xmlns="http://schemas.openxmlformats.org/package/2006/relationships"><Relationship Id="rId3" Type="http://schemas.openxmlformats.org/officeDocument/2006/relationships/hyperlink" Target="https://www.youtube.com/watch?v=iX2sdEM28RQ" TargetMode="External"/><Relationship Id="rId2" Type="http://schemas.openxmlformats.org/officeDocument/2006/relationships/notesSlide" Target="../notesSlides/notesSlide12.xml"/><Relationship Id="rId1" Type="http://schemas.openxmlformats.org/officeDocument/2006/relationships/slideLayout" Target="../slideLayouts/slideLayout1.xml"/><Relationship Id="rId4" Type="http://schemas.openxmlformats.org/officeDocument/2006/relationships/image" Target="../media/image11.png"/></Relationships>
</file>

<file path=ppt/slides/_rels/slide13.xml.rels><?xml version="1.0" encoding="UTF-8" standalone="yes"?>
<Relationships xmlns="http://schemas.openxmlformats.org/package/2006/relationships"><Relationship Id="rId3" Type="http://schemas.openxmlformats.org/officeDocument/2006/relationships/hyperlink" Target="https://www.youtube.com/watch?v=lfnJXlgpJT0" TargetMode="External"/><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3" Type="http://schemas.openxmlformats.org/officeDocument/2006/relationships/hyperlink" Target="https://python.plainenglish.io/9-python-data-science-libraries-that-made-me-look-like-a-senior-analyst-overnight-367b8bee00da" TargetMode="External"/><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3" Type="http://schemas.openxmlformats.org/officeDocument/2006/relationships/hyperlink" Target="https://www.youtube.com/watch?v=W2tr1Q3D1ZI" TargetMode="External"/><Relationship Id="rId2" Type="http://schemas.openxmlformats.org/officeDocument/2006/relationships/notesSlide" Target="../notesSlides/notesSlide15.xml"/><Relationship Id="rId1" Type="http://schemas.openxmlformats.org/officeDocument/2006/relationships/slideLayout" Target="../slideLayouts/slideLayout1.xml"/><Relationship Id="rId4" Type="http://schemas.openxmlformats.org/officeDocument/2006/relationships/image" Target="../media/image12.png"/></Relationships>
</file>

<file path=ppt/slides/_rels/slide16.xml.rels><?xml version="1.0" encoding="UTF-8" standalone="yes"?>
<Relationships xmlns="http://schemas.openxmlformats.org/package/2006/relationships"><Relationship Id="rId3" Type="http://schemas.openxmlformats.org/officeDocument/2006/relationships/hyperlink" Target="https://marble.worldlabs.ai" TargetMode="External"/><Relationship Id="rId2" Type="http://schemas.openxmlformats.org/officeDocument/2006/relationships/notesSlide" Target="../notesSlides/notesSlide16.xml"/><Relationship Id="rId1" Type="http://schemas.openxmlformats.org/officeDocument/2006/relationships/slideLayout" Target="../slideLayouts/slideLayout1.xml"/><Relationship Id="rId6" Type="http://schemas.openxmlformats.org/officeDocument/2006/relationships/image" Target="../media/image14.png"/><Relationship Id="rId5" Type="http://schemas.openxmlformats.org/officeDocument/2006/relationships/hyperlink" Target="https://www.lennysnewsletter.com" TargetMode="External"/><Relationship Id="rId4" Type="http://schemas.openxmlformats.org/officeDocument/2006/relationships/image" Target="../media/image13.png"/></Relationships>
</file>

<file path=ppt/slides/_rels/slide17.xml.rels><?xml version="1.0" encoding="UTF-8" standalone="yes"?>
<Relationships xmlns="http://schemas.openxmlformats.org/package/2006/relationships"><Relationship Id="rId3" Type="http://schemas.openxmlformats.org/officeDocument/2006/relationships/hyperlink" Target="https://www.youtube.com/watch?v=Nos1pigdUaU" TargetMode="External"/><Relationship Id="rId7" Type="http://schemas.openxmlformats.org/officeDocument/2006/relationships/image" Target="../media/image17.jpeg"/><Relationship Id="rId2" Type="http://schemas.openxmlformats.org/officeDocument/2006/relationships/notesSlide" Target="../notesSlides/notesSlide17.xml"/><Relationship Id="rId1" Type="http://schemas.openxmlformats.org/officeDocument/2006/relationships/slideLayout" Target="../slideLayouts/slideLayout1.xml"/><Relationship Id="rId6" Type="http://schemas.openxmlformats.org/officeDocument/2006/relationships/image" Target="../media/image16.png"/><Relationship Id="rId5" Type="http://schemas.openxmlformats.org/officeDocument/2006/relationships/hyperlink" Target="https://www.youtube.com/watch?v=amAYKfRL8FI" TargetMode="External"/><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3" Type="http://schemas.openxmlformats.org/officeDocument/2006/relationships/image" Target="../media/image18.jpeg"/><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3" Type="http://schemas.openxmlformats.org/officeDocument/2006/relationships/hyperlink" Target="https://layoffs.fyi" TargetMode="External"/><Relationship Id="rId2" Type="http://schemas.openxmlformats.org/officeDocument/2006/relationships/notesSlide" Target="../notesSlides/notesSlide19.xml"/><Relationship Id="rId1" Type="http://schemas.openxmlformats.org/officeDocument/2006/relationships/slideLayout" Target="../slideLayouts/slideLayout1.xml"/><Relationship Id="rId6" Type="http://schemas.openxmlformats.org/officeDocument/2006/relationships/image" Target="../media/image20.png"/><Relationship Id="rId5" Type="http://schemas.openxmlformats.org/officeDocument/2006/relationships/image" Target="../media/image19.png"/><Relationship Id="rId4" Type="http://schemas.openxmlformats.org/officeDocument/2006/relationships/hyperlink" Target="https://trueup.io/layoffs" TargetMode="External"/></Relationships>
</file>

<file path=ppt/slides/_rels/slide20.xml.rels><?xml version="1.0" encoding="UTF-8" standalone="yes"?>
<Relationships xmlns="http://schemas.openxmlformats.org/package/2006/relationships"><Relationship Id="rId3" Type="http://schemas.openxmlformats.org/officeDocument/2006/relationships/image" Target="../media/image21.jpeg"/><Relationship Id="rId2" Type="http://schemas.openxmlformats.org/officeDocument/2006/relationships/notesSlide" Target="../notesSlides/notesSlide20.xml"/><Relationship Id="rId1" Type="http://schemas.openxmlformats.org/officeDocument/2006/relationships/slideLayout" Target="../slideLayouts/slideLayout1.xml"/><Relationship Id="rId5" Type="http://schemas.openxmlformats.org/officeDocument/2006/relationships/hyperlink" Target="https://eais.ai" TargetMode="External"/><Relationship Id="rId4" Type="http://schemas.openxmlformats.org/officeDocument/2006/relationships/image" Target="../media/image22.png"/></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62"/>
        <p:cNvGrpSpPr/>
        <p:nvPr/>
      </p:nvGrpSpPr>
      <p:grpSpPr>
        <a:xfrm>
          <a:off x="0" y="0"/>
          <a:ext cx="0" cy="0"/>
          <a:chOff x="0" y="0"/>
          <a:chExt cx="0" cy="0"/>
        </a:xfrm>
      </p:grpSpPr>
      <p:sp>
        <p:nvSpPr>
          <p:cNvPr id="63" name="Google Shape;63;p15"/>
          <p:cNvSpPr txBox="1"/>
          <p:nvPr/>
        </p:nvSpPr>
        <p:spPr>
          <a:xfrm>
            <a:off x="78651" y="630966"/>
            <a:ext cx="4420200" cy="5109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Crowd-sourced "LM Arena" Leaderboard</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xxx</a:t>
            </a:r>
            <a:endParaRPr sz="1600" b="1">
              <a:solidFill>
                <a:srgbClr val="3C78D8"/>
              </a:solidFill>
              <a:latin typeface="Calibri"/>
              <a:ea typeface="Calibri"/>
              <a:cs typeface="Calibri"/>
              <a:sym typeface="Calibri"/>
            </a:endParaRPr>
          </a:p>
        </p:txBody>
      </p:sp>
      <p:sp>
        <p:nvSpPr>
          <p:cNvPr id="64" name="Google Shape;64;p15"/>
          <p:cNvSpPr txBox="1"/>
          <p:nvPr/>
        </p:nvSpPr>
        <p:spPr>
          <a:xfrm>
            <a:off x="0" y="11"/>
            <a:ext cx="4420200" cy="480300"/>
          </a:xfrm>
          <a:prstGeom prst="rect">
            <a:avLst/>
          </a:prstGeom>
          <a:noFill/>
          <a:ln>
            <a:noFill/>
          </a:ln>
        </p:spPr>
        <p:txBody>
          <a:bodyPr spcFirstLastPara="1" wrap="square" lIns="9125" tIns="9125" rIns="9125" bIns="9125" anchor="t" anchorCtr="0">
            <a:spAutoFit/>
          </a:bodyPr>
          <a:lstStyle/>
          <a:p>
            <a:pPr marL="0" marR="0" lvl="0" indent="0" algn="ctr" rtl="0">
              <a:lnSpc>
                <a:spcPct val="100000"/>
              </a:lnSpc>
              <a:spcBef>
                <a:spcPts val="0"/>
              </a:spcBef>
              <a:spcAft>
                <a:spcPts val="0"/>
              </a:spcAft>
              <a:buClr>
                <a:srgbClr val="000000"/>
              </a:buClr>
              <a:buSzPts val="3600"/>
              <a:buFont typeface="Arial"/>
              <a:buNone/>
            </a:pPr>
            <a:r>
              <a:rPr lang="en" sz="3000" b="1" i="0" u="none" strike="noStrike" cap="none">
                <a:solidFill>
                  <a:srgbClr val="3C78D8"/>
                </a:solidFill>
                <a:latin typeface="Calibri"/>
                <a:ea typeface="Calibri"/>
                <a:cs typeface="Calibri"/>
                <a:sym typeface="Calibri"/>
              </a:rPr>
              <a:t>AI Updates</a:t>
            </a:r>
            <a:r>
              <a:rPr lang="en" sz="2200" b="1" i="0" u="none" strike="noStrike" cap="none">
                <a:solidFill>
                  <a:srgbClr val="3C78D8"/>
                </a:solidFill>
                <a:latin typeface="Calibri"/>
                <a:ea typeface="Calibri"/>
                <a:cs typeface="Calibri"/>
                <a:sym typeface="Calibri"/>
              </a:rPr>
              <a:t> - November </a:t>
            </a:r>
            <a:r>
              <a:rPr lang="en" sz="2200" b="1">
                <a:solidFill>
                  <a:srgbClr val="3C78D8"/>
                </a:solidFill>
                <a:latin typeface="Calibri"/>
                <a:ea typeface="Calibri"/>
                <a:cs typeface="Calibri"/>
                <a:sym typeface="Calibri"/>
              </a:rPr>
              <a:t>21, </a:t>
            </a:r>
            <a:r>
              <a:rPr lang="en" sz="2200" b="1" i="0" u="none" strike="noStrike" cap="none">
                <a:solidFill>
                  <a:srgbClr val="3C78D8"/>
                </a:solidFill>
                <a:latin typeface="Calibri"/>
                <a:ea typeface="Calibri"/>
                <a:cs typeface="Calibri"/>
                <a:sym typeface="Calibri"/>
              </a:rPr>
              <a:t>2025</a:t>
            </a:r>
            <a:endParaRPr sz="2200" b="1" i="0" u="none" strike="noStrike" cap="none">
              <a:solidFill>
                <a:srgbClr val="3C78D8"/>
              </a:solidFill>
              <a:latin typeface="Calibri"/>
              <a:ea typeface="Calibri"/>
              <a:cs typeface="Calibri"/>
              <a:sym typeface="Calibri"/>
            </a:endParaRPr>
          </a:p>
        </p:txBody>
      </p:sp>
      <p:sp>
        <p:nvSpPr>
          <p:cNvPr id="65" name="Google Shape;65;p15"/>
          <p:cNvSpPr txBox="1"/>
          <p:nvPr/>
        </p:nvSpPr>
        <p:spPr>
          <a:xfrm>
            <a:off x="4576975" y="3914370"/>
            <a:ext cx="4502400" cy="5109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xxx</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i="0" u="none" strike="noStrike" cap="none">
                <a:solidFill>
                  <a:srgbClr val="3C78D8"/>
                </a:solidFill>
                <a:latin typeface="Calibri"/>
                <a:ea typeface="Calibri"/>
                <a:cs typeface="Calibri"/>
                <a:sym typeface="Calibri"/>
              </a:rPr>
              <a:t>Jobs, Layoffs, </a:t>
            </a:r>
            <a:r>
              <a:rPr lang="en" sz="1600" b="1">
                <a:solidFill>
                  <a:srgbClr val="3C78D8"/>
                </a:solidFill>
                <a:latin typeface="Calibri"/>
                <a:ea typeface="Calibri"/>
                <a:cs typeface="Calibri"/>
                <a:sym typeface="Calibri"/>
              </a:rPr>
              <a:t>demand for AI Engineers</a:t>
            </a:r>
            <a:endParaRPr sz="1600" b="1" i="0" u="none" strike="noStrike" cap="none">
              <a:solidFill>
                <a:srgbClr val="3C78D8"/>
              </a:solidFill>
              <a:latin typeface="Calibri"/>
              <a:ea typeface="Calibri"/>
              <a:cs typeface="Calibri"/>
              <a:sym typeface="Calibri"/>
            </a:endParaRPr>
          </a:p>
        </p:txBody>
      </p:sp>
      <p:sp>
        <p:nvSpPr>
          <p:cNvPr id="66" name="Google Shape;66;p15"/>
          <p:cNvSpPr txBox="1"/>
          <p:nvPr/>
        </p:nvSpPr>
        <p:spPr>
          <a:xfrm>
            <a:off x="78651" y="2201830"/>
            <a:ext cx="4420200" cy="264600"/>
          </a:xfrm>
          <a:prstGeom prst="rect">
            <a:avLst/>
          </a:prstGeom>
          <a:solidFill>
            <a:srgbClr val="FCE5CD"/>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xxx</a:t>
            </a:r>
            <a:endParaRPr sz="1600" b="1">
              <a:solidFill>
                <a:srgbClr val="3C78D8"/>
              </a:solidFill>
              <a:latin typeface="Calibri"/>
              <a:ea typeface="Calibri"/>
              <a:cs typeface="Calibri"/>
              <a:sym typeface="Calibri"/>
            </a:endParaRPr>
          </a:p>
        </p:txBody>
      </p:sp>
      <p:sp>
        <p:nvSpPr>
          <p:cNvPr id="67" name="Google Shape;67;p15"/>
          <p:cNvSpPr txBox="1"/>
          <p:nvPr/>
        </p:nvSpPr>
        <p:spPr>
          <a:xfrm>
            <a:off x="4576975" y="630947"/>
            <a:ext cx="4502400" cy="264600"/>
          </a:xfrm>
          <a:prstGeom prst="rect">
            <a:avLst/>
          </a:prstGeom>
          <a:solidFill>
            <a:srgbClr val="C7E6AF"/>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xxx</a:t>
            </a:r>
            <a:endParaRPr sz="1600" b="1">
              <a:solidFill>
                <a:srgbClr val="3C78D8"/>
              </a:solidFill>
              <a:latin typeface="Calibri"/>
              <a:ea typeface="Calibri"/>
              <a:cs typeface="Calibri"/>
              <a:sym typeface="Calibri"/>
            </a:endParaRPr>
          </a:p>
        </p:txBody>
      </p:sp>
      <p:sp>
        <p:nvSpPr>
          <p:cNvPr id="68" name="Google Shape;68;p15"/>
          <p:cNvSpPr txBox="1"/>
          <p:nvPr/>
        </p:nvSpPr>
        <p:spPr>
          <a:xfrm>
            <a:off x="5419000" y="109575"/>
            <a:ext cx="3134400" cy="2340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None/>
            </a:pPr>
            <a:r>
              <a:rPr lang="en" b="1" i="1">
                <a:solidFill>
                  <a:srgbClr val="FF0000"/>
                </a:solidFill>
                <a:latin typeface="Roboto Mono"/>
                <a:ea typeface="Roboto Mono"/>
                <a:cs typeface="Roboto Mono"/>
                <a:sym typeface="Roboto Mono"/>
              </a:rPr>
              <a:t>xxx</a:t>
            </a:r>
            <a:endParaRPr b="1" i="1">
              <a:solidFill>
                <a:srgbClr val="FF0000"/>
              </a:solidFill>
              <a:latin typeface="Roboto Mono"/>
              <a:ea typeface="Roboto Mono"/>
              <a:cs typeface="Roboto Mono"/>
              <a:sym typeface="Roboto Mono"/>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72"/>
        <p:cNvGrpSpPr/>
        <p:nvPr/>
      </p:nvGrpSpPr>
      <p:grpSpPr>
        <a:xfrm>
          <a:off x="0" y="0"/>
          <a:ext cx="0" cy="0"/>
          <a:chOff x="0" y="0"/>
          <a:chExt cx="0" cy="0"/>
        </a:xfrm>
      </p:grpSpPr>
      <p:sp>
        <p:nvSpPr>
          <p:cNvPr id="73" name="Google Shape;73;p16"/>
          <p:cNvSpPr txBox="1"/>
          <p:nvPr/>
        </p:nvSpPr>
        <p:spPr>
          <a:xfrm>
            <a:off x="6736325" y="52350"/>
            <a:ext cx="2356200" cy="3417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1200" b="0" i="0" u="none" strike="noStrike" cap="none">
                <a:solidFill>
                  <a:schemeClr val="dk1"/>
                </a:solidFill>
                <a:latin typeface="Calibri"/>
                <a:ea typeface="Calibri"/>
                <a:cs typeface="Calibri"/>
                <a:sym typeface="Calibri"/>
              </a:rPr>
              <a:t>Starting Elo rating = 1000</a:t>
            </a:r>
            <a:endParaRPr sz="1200" b="0" i="0" u="none" strike="noStrike" cap="none">
              <a:solidFill>
                <a:schemeClr val="dk1"/>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1100"/>
              <a:buFont typeface="Arial"/>
              <a:buNone/>
            </a:pPr>
            <a:r>
              <a:rPr lang="en" sz="900" b="0" i="0" u="sng" strike="noStrike" cap="none">
                <a:solidFill>
                  <a:schemeClr val="hlink"/>
                </a:solidFill>
                <a:latin typeface="Calibri"/>
                <a:ea typeface="Calibri"/>
                <a:cs typeface="Calibri"/>
                <a:sym typeface="Calibri"/>
                <a:hlinkClick r:id="rId3"/>
              </a:rPr>
              <a:t>https://en.wikipedia.org/wiki/Elo_rating_system</a:t>
            </a:r>
            <a:r>
              <a:rPr lang="en" sz="900" b="0" i="0" u="none" strike="noStrike" cap="none">
                <a:solidFill>
                  <a:schemeClr val="dk1"/>
                </a:solidFill>
                <a:latin typeface="Calibri"/>
                <a:ea typeface="Calibri"/>
                <a:cs typeface="Calibri"/>
                <a:sym typeface="Calibri"/>
              </a:rPr>
              <a:t> </a:t>
            </a:r>
            <a:endParaRPr sz="900" b="0" i="0" u="none" strike="noStrike" cap="none">
              <a:solidFill>
                <a:schemeClr val="dk1"/>
              </a:solidFill>
              <a:latin typeface="Calibri"/>
              <a:ea typeface="Calibri"/>
              <a:cs typeface="Calibri"/>
              <a:sym typeface="Calibri"/>
            </a:endParaRPr>
          </a:p>
        </p:txBody>
      </p:sp>
      <p:sp>
        <p:nvSpPr>
          <p:cNvPr id="74" name="Google Shape;74;p16"/>
          <p:cNvSpPr txBox="1"/>
          <p:nvPr/>
        </p:nvSpPr>
        <p:spPr>
          <a:xfrm>
            <a:off x="38150" y="2125"/>
            <a:ext cx="3924000" cy="2955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2000"/>
              <a:buFont typeface="Arial"/>
              <a:buNone/>
            </a:pPr>
            <a:r>
              <a:rPr lang="en" sz="1800" b="1" i="0" u="none" strike="noStrike" cap="none">
                <a:solidFill>
                  <a:schemeClr val="dk1"/>
                </a:solidFill>
                <a:latin typeface="Calibri"/>
                <a:ea typeface="Calibri"/>
                <a:cs typeface="Calibri"/>
                <a:sym typeface="Calibri"/>
              </a:rPr>
              <a:t>Crowd-sourced "LM Arena" Leaderboard</a:t>
            </a:r>
            <a:endParaRPr sz="1800" b="1" i="0" u="none" strike="noStrike" cap="none">
              <a:solidFill>
                <a:srgbClr val="000000"/>
              </a:solidFill>
              <a:latin typeface="Calibri"/>
              <a:ea typeface="Calibri"/>
              <a:cs typeface="Calibri"/>
              <a:sym typeface="Calibri"/>
            </a:endParaRPr>
          </a:p>
        </p:txBody>
      </p:sp>
      <p:sp>
        <p:nvSpPr>
          <p:cNvPr id="75" name="Google Shape;75;p16"/>
          <p:cNvSpPr txBox="1"/>
          <p:nvPr/>
        </p:nvSpPr>
        <p:spPr>
          <a:xfrm>
            <a:off x="469100" y="318397"/>
            <a:ext cx="2599800" cy="203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ctr" rtl="0">
              <a:lnSpc>
                <a:spcPct val="100000"/>
              </a:lnSpc>
              <a:spcBef>
                <a:spcPts val="0"/>
              </a:spcBef>
              <a:spcAft>
                <a:spcPts val="0"/>
              </a:spcAft>
              <a:buClr>
                <a:schemeClr val="dk1"/>
              </a:buClr>
              <a:buSzPts val="1100"/>
              <a:buFont typeface="Arial"/>
              <a:buNone/>
            </a:pPr>
            <a:r>
              <a:rPr lang="en" sz="1200" b="1">
                <a:solidFill>
                  <a:srgbClr val="FF0000"/>
                </a:solidFill>
                <a:latin typeface="Calibri"/>
                <a:ea typeface="Calibri"/>
                <a:cs typeface="Calibri"/>
                <a:sym typeface="Calibri"/>
              </a:rPr>
              <a:t>English - </a:t>
            </a:r>
            <a:r>
              <a:rPr lang="en" sz="900" b="1" u="sng">
                <a:solidFill>
                  <a:schemeClr val="hlink"/>
                </a:solidFill>
                <a:latin typeface="Calibri"/>
                <a:ea typeface="Calibri"/>
                <a:cs typeface="Calibri"/>
                <a:sym typeface="Calibri"/>
                <a:hlinkClick r:id="rId4"/>
              </a:rPr>
              <a:t>https://lmarena.ai/leaderboard/text</a:t>
            </a:r>
            <a:r>
              <a:rPr lang="en" sz="900" b="1">
                <a:solidFill>
                  <a:srgbClr val="FF0000"/>
                </a:solidFill>
                <a:latin typeface="Calibri"/>
                <a:ea typeface="Calibri"/>
                <a:cs typeface="Calibri"/>
                <a:sym typeface="Calibri"/>
              </a:rPr>
              <a:t> </a:t>
            </a:r>
            <a:endParaRPr sz="900" b="1">
              <a:solidFill>
                <a:srgbClr val="FF0000"/>
              </a:solidFill>
              <a:latin typeface="Calibri"/>
              <a:ea typeface="Calibri"/>
              <a:cs typeface="Calibri"/>
              <a:sym typeface="Calibri"/>
            </a:endParaRPr>
          </a:p>
        </p:txBody>
      </p:sp>
      <p:sp>
        <p:nvSpPr>
          <p:cNvPr id="76" name="Google Shape;76;p16"/>
          <p:cNvSpPr txBox="1"/>
          <p:nvPr/>
        </p:nvSpPr>
        <p:spPr>
          <a:xfrm>
            <a:off x="3536012" y="322115"/>
            <a:ext cx="2839500" cy="203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ctr" rtl="0">
              <a:lnSpc>
                <a:spcPct val="100000"/>
              </a:lnSpc>
              <a:spcBef>
                <a:spcPts val="0"/>
              </a:spcBef>
              <a:spcAft>
                <a:spcPts val="0"/>
              </a:spcAft>
              <a:buClr>
                <a:schemeClr val="dk1"/>
              </a:buClr>
              <a:buSzPts val="1100"/>
              <a:buFont typeface="Arial"/>
              <a:buNone/>
            </a:pPr>
            <a:r>
              <a:rPr lang="en" sz="1200" b="1">
                <a:solidFill>
                  <a:srgbClr val="FF0000"/>
                </a:solidFill>
                <a:latin typeface="Calibri"/>
                <a:ea typeface="Calibri"/>
                <a:cs typeface="Calibri"/>
                <a:sym typeface="Calibri"/>
              </a:rPr>
              <a:t>Coding - </a:t>
            </a:r>
            <a:r>
              <a:rPr lang="en" sz="900" b="1" u="sng">
                <a:solidFill>
                  <a:schemeClr val="hlink"/>
                </a:solidFill>
                <a:latin typeface="Calibri"/>
                <a:ea typeface="Calibri"/>
                <a:cs typeface="Calibri"/>
                <a:sym typeface="Calibri"/>
                <a:hlinkClick r:id="rId5"/>
              </a:rPr>
              <a:t>https://lmarena.ai/leaderboard/text/coding</a:t>
            </a:r>
            <a:r>
              <a:rPr lang="en" sz="900" b="1">
                <a:solidFill>
                  <a:srgbClr val="FF0000"/>
                </a:solidFill>
                <a:latin typeface="Calibri"/>
                <a:ea typeface="Calibri"/>
                <a:cs typeface="Calibri"/>
                <a:sym typeface="Calibri"/>
              </a:rPr>
              <a:t>  </a:t>
            </a:r>
            <a:endParaRPr sz="900" b="0" i="0" u="none" strike="noStrike" cap="none">
              <a:solidFill>
                <a:schemeClr val="dk1"/>
              </a:solidFill>
              <a:latin typeface="Calibri"/>
              <a:ea typeface="Calibri"/>
              <a:cs typeface="Calibri"/>
              <a:sym typeface="Calibri"/>
            </a:endParaRPr>
          </a:p>
        </p:txBody>
      </p:sp>
      <p:sp>
        <p:nvSpPr>
          <p:cNvPr id="77" name="Google Shape;77;p16"/>
          <p:cNvSpPr/>
          <p:nvPr/>
        </p:nvSpPr>
        <p:spPr>
          <a:xfrm>
            <a:off x="594668" y="2203170"/>
            <a:ext cx="125400" cy="125400"/>
          </a:xfrm>
          <a:prstGeom prst="ellipse">
            <a:avLst/>
          </a:prstGeom>
          <a:solidFill>
            <a:srgbClr val="FFFF00"/>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78" name="Google Shape;78;p16"/>
          <p:cNvSpPr/>
          <p:nvPr/>
        </p:nvSpPr>
        <p:spPr>
          <a:xfrm>
            <a:off x="598073" y="773435"/>
            <a:ext cx="125400" cy="125400"/>
          </a:xfrm>
          <a:prstGeom prst="ellipse">
            <a:avLst/>
          </a:prstGeom>
          <a:solidFill>
            <a:srgbClr val="FF0000"/>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79" name="Google Shape;79;p16"/>
          <p:cNvSpPr/>
          <p:nvPr/>
        </p:nvSpPr>
        <p:spPr>
          <a:xfrm>
            <a:off x="603516" y="3119795"/>
            <a:ext cx="125400" cy="125400"/>
          </a:xfrm>
          <a:prstGeom prst="ellipse">
            <a:avLst/>
          </a:prstGeom>
          <a:solidFill>
            <a:srgbClr val="3C78D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80" name="Google Shape;80;p16"/>
          <p:cNvSpPr txBox="1"/>
          <p:nvPr/>
        </p:nvSpPr>
        <p:spPr>
          <a:xfrm>
            <a:off x="6549674" y="1522475"/>
            <a:ext cx="2356200" cy="26043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07950" algn="l" rtl="0">
              <a:lnSpc>
                <a:spcPct val="100000"/>
              </a:lnSpc>
              <a:spcBef>
                <a:spcPts val="0"/>
              </a:spcBef>
              <a:spcAft>
                <a:spcPts val="0"/>
              </a:spcAft>
              <a:buClr>
                <a:schemeClr val="dk1"/>
              </a:buClr>
              <a:buSzPts val="800"/>
              <a:buFont typeface="Calibri"/>
              <a:buChar char="●"/>
            </a:pPr>
            <a:r>
              <a:rPr lang="en" sz="800" u="sng">
                <a:solidFill>
                  <a:schemeClr val="hlink"/>
                </a:solidFill>
                <a:latin typeface="Calibri"/>
                <a:ea typeface="Calibri"/>
                <a:cs typeface="Calibri"/>
                <a:sym typeface="Calibri"/>
                <a:hlinkClick r:id="rId4"/>
              </a:rPr>
              <a:t>https://lmarena.ai/leaderboard/text</a:t>
            </a:r>
            <a:r>
              <a:rPr lang="en" sz="800">
                <a:latin typeface="Calibri"/>
                <a:ea typeface="Calibri"/>
                <a:cs typeface="Calibri"/>
                <a:sym typeface="Calibri"/>
              </a:rPr>
              <a:t> </a:t>
            </a:r>
            <a:endParaRPr sz="800">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a:latin typeface="Calibri"/>
                <a:ea typeface="Calibri"/>
                <a:cs typeface="Calibri"/>
                <a:sym typeface="Calibri"/>
              </a:rPr>
              <a:t>Design Arena - </a:t>
            </a:r>
            <a:br>
              <a:rPr lang="en" sz="800">
                <a:latin typeface="Calibri"/>
                <a:ea typeface="Calibri"/>
                <a:cs typeface="Calibri"/>
                <a:sym typeface="Calibri"/>
              </a:rPr>
            </a:br>
            <a:r>
              <a:rPr lang="en" sz="800" u="sng">
                <a:solidFill>
                  <a:schemeClr val="hlink"/>
                </a:solidFill>
                <a:latin typeface="Calibri"/>
                <a:ea typeface="Calibri"/>
                <a:cs typeface="Calibri"/>
                <a:sym typeface="Calibri"/>
                <a:hlinkClick r:id="rId6"/>
              </a:rPr>
              <a:t>https://www.designarena.ai</a:t>
            </a:r>
            <a:r>
              <a:rPr lang="en" sz="800">
                <a:latin typeface="Calibri"/>
                <a:ea typeface="Calibri"/>
                <a:cs typeface="Calibri"/>
                <a:sym typeface="Calibri"/>
              </a:rPr>
              <a:t> </a:t>
            </a:r>
            <a:endParaRPr sz="800">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u="sng">
                <a:solidFill>
                  <a:schemeClr val="hlink"/>
                </a:solidFill>
                <a:latin typeface="Calibri"/>
                <a:ea typeface="Calibri"/>
                <a:cs typeface="Calibri"/>
                <a:sym typeface="Calibri"/>
                <a:hlinkClick r:id="rId7"/>
              </a:rPr>
              <a:t>https://openlm.ai/chatbot-arena/</a:t>
            </a:r>
            <a:r>
              <a:rPr lang="en" sz="800">
                <a:solidFill>
                  <a:schemeClr val="dk1"/>
                </a:solidFill>
                <a:latin typeface="Calibri"/>
                <a:ea typeface="Calibri"/>
                <a:cs typeface="Calibri"/>
                <a:sym typeface="Calibri"/>
              </a:rPr>
              <a:t> </a:t>
            </a:r>
            <a:endParaRPr sz="800">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u="sng">
                <a:solidFill>
                  <a:schemeClr val="hlink"/>
                </a:solidFill>
                <a:latin typeface="Calibri"/>
                <a:ea typeface="Calibri"/>
                <a:cs typeface="Calibri"/>
                <a:sym typeface="Calibri"/>
                <a:hlinkClick r:id="rId8"/>
              </a:rPr>
              <a:t>https://beta.lmarena.ai</a:t>
            </a:r>
            <a:r>
              <a:rPr lang="en" sz="800">
                <a:solidFill>
                  <a:schemeClr val="dk1"/>
                </a:solidFill>
                <a:latin typeface="Calibri"/>
                <a:ea typeface="Calibri"/>
                <a:cs typeface="Calibri"/>
                <a:sym typeface="Calibri"/>
              </a:rPr>
              <a:t> </a:t>
            </a:r>
            <a:endParaRPr sz="800">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b="0" i="0" u="none" strike="noStrike" cap="none">
                <a:solidFill>
                  <a:schemeClr val="dk1"/>
                </a:solidFill>
                <a:latin typeface="Calibri"/>
                <a:ea typeface="Calibri"/>
                <a:cs typeface="Calibri"/>
                <a:sym typeface="Calibri"/>
              </a:rPr>
              <a:t>Web Leaderboard - </a:t>
            </a:r>
            <a:br>
              <a:rPr lang="en" sz="800" b="0" i="0" u="none" strike="noStrike" cap="none">
                <a:solidFill>
                  <a:schemeClr val="dk1"/>
                </a:solidFill>
                <a:latin typeface="Calibri"/>
                <a:ea typeface="Calibri"/>
                <a:cs typeface="Calibri"/>
                <a:sym typeface="Calibri"/>
              </a:rPr>
            </a:br>
            <a:r>
              <a:rPr lang="en" sz="800" b="0" i="0" u="sng" strike="noStrike" cap="none">
                <a:solidFill>
                  <a:schemeClr val="hlink"/>
                </a:solidFill>
                <a:latin typeface="Calibri"/>
                <a:ea typeface="Calibri"/>
                <a:cs typeface="Calibri"/>
                <a:sym typeface="Calibri"/>
                <a:hlinkClick r:id="rId9"/>
              </a:rPr>
              <a:t>https://web.lmarena.ai/leaderboard</a:t>
            </a:r>
            <a:r>
              <a:rPr lang="en" sz="800" b="0" i="0" u="none" strike="noStrike" cap="none">
                <a:solidFill>
                  <a:schemeClr val="dk1"/>
                </a:solidFill>
                <a:latin typeface="Calibri"/>
                <a:ea typeface="Calibri"/>
                <a:cs typeface="Calibri"/>
                <a:sym typeface="Calibri"/>
              </a:rPr>
              <a:t> </a:t>
            </a:r>
            <a:endParaRPr sz="800" b="0" i="0" u="none" strike="noStrike" cap="none">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b="0" i="0" u="none" strike="noStrike" cap="none">
                <a:solidFill>
                  <a:schemeClr val="dk1"/>
                </a:solidFill>
                <a:latin typeface="Calibri"/>
                <a:ea typeface="Calibri"/>
                <a:cs typeface="Calibri"/>
                <a:sym typeface="Calibri"/>
              </a:rPr>
              <a:t>LLM Leaderboard - by @LlmStats - </a:t>
            </a:r>
            <a:br>
              <a:rPr lang="en" sz="800" b="0" i="0" u="none" strike="noStrike" cap="none">
                <a:solidFill>
                  <a:schemeClr val="dk1"/>
                </a:solidFill>
                <a:latin typeface="Calibri"/>
                <a:ea typeface="Calibri"/>
                <a:cs typeface="Calibri"/>
                <a:sym typeface="Calibri"/>
              </a:rPr>
            </a:br>
            <a:r>
              <a:rPr lang="en" sz="800" b="0" i="0" u="sng" strike="noStrike" cap="none">
                <a:solidFill>
                  <a:schemeClr val="hlink"/>
                </a:solidFill>
                <a:latin typeface="Calibri"/>
                <a:ea typeface="Calibri"/>
                <a:cs typeface="Calibri"/>
                <a:sym typeface="Calibri"/>
                <a:hlinkClick r:id="rId10"/>
              </a:rPr>
              <a:t>https://llmworld.net/llm_leaderboards/</a:t>
            </a:r>
            <a:r>
              <a:rPr lang="en" sz="800" b="0" i="0" u="none" strike="noStrike" cap="none">
                <a:solidFill>
                  <a:schemeClr val="dk1"/>
                </a:solidFill>
                <a:latin typeface="Calibri"/>
                <a:ea typeface="Calibri"/>
                <a:cs typeface="Calibri"/>
                <a:sym typeface="Calibri"/>
              </a:rPr>
              <a:t> </a:t>
            </a:r>
            <a:endParaRPr sz="800" b="0" i="0" u="none" strike="noStrike" cap="none">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b="0" i="0" u="none" strike="noStrike" cap="none">
                <a:solidFill>
                  <a:schemeClr val="dk1"/>
                </a:solidFill>
                <a:latin typeface="Calibri"/>
                <a:ea typeface="Calibri"/>
                <a:cs typeface="Calibri"/>
                <a:sym typeface="Calibri"/>
              </a:rPr>
              <a:t>LLM Leaderboard - by StackAI</a:t>
            </a:r>
            <a:r>
              <a:rPr lang="en" sz="800">
                <a:solidFill>
                  <a:schemeClr val="dk1"/>
                </a:solidFill>
                <a:latin typeface="Calibri"/>
                <a:ea typeface="Calibri"/>
                <a:cs typeface="Calibri"/>
                <a:sym typeface="Calibri"/>
              </a:rPr>
              <a:t> - </a:t>
            </a:r>
            <a:br>
              <a:rPr lang="en" sz="800">
                <a:solidFill>
                  <a:schemeClr val="dk1"/>
                </a:solidFill>
                <a:latin typeface="Calibri"/>
                <a:ea typeface="Calibri"/>
                <a:cs typeface="Calibri"/>
                <a:sym typeface="Calibri"/>
              </a:rPr>
            </a:br>
            <a:r>
              <a:rPr lang="en" sz="800" b="0" i="0" u="sng" strike="noStrike" cap="none">
                <a:solidFill>
                  <a:schemeClr val="hlink"/>
                </a:solidFill>
                <a:latin typeface="Calibri"/>
                <a:ea typeface="Calibri"/>
                <a:cs typeface="Calibri"/>
                <a:sym typeface="Calibri"/>
                <a:hlinkClick r:id="rId11"/>
              </a:rPr>
              <a:t>https://www.stack-ai.com/llm-leaderboard</a:t>
            </a:r>
            <a:r>
              <a:rPr lang="en" sz="800" b="0" i="0" u="none" strike="noStrike" cap="none">
                <a:solidFill>
                  <a:schemeClr val="dk1"/>
                </a:solidFill>
                <a:latin typeface="Calibri"/>
                <a:ea typeface="Calibri"/>
                <a:cs typeface="Calibri"/>
                <a:sym typeface="Calibri"/>
              </a:rPr>
              <a:t> </a:t>
            </a:r>
            <a:endParaRPr sz="800" b="0" i="0" u="none" strike="noStrike" cap="none">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b="0" i="0" u="none" strike="noStrike" cap="none">
                <a:solidFill>
                  <a:schemeClr val="dk1"/>
                </a:solidFill>
                <a:latin typeface="Calibri"/>
                <a:ea typeface="Calibri"/>
                <a:cs typeface="Calibri"/>
                <a:sym typeface="Calibri"/>
              </a:rPr>
              <a:t>LLM Leaderboard - by Artificial Analysis</a:t>
            </a:r>
            <a:r>
              <a:rPr lang="en" sz="800">
                <a:solidFill>
                  <a:schemeClr val="dk1"/>
                </a:solidFill>
                <a:latin typeface="Calibri"/>
                <a:ea typeface="Calibri"/>
                <a:cs typeface="Calibri"/>
                <a:sym typeface="Calibri"/>
              </a:rPr>
              <a:t> - </a:t>
            </a:r>
            <a:br>
              <a:rPr lang="en" sz="800">
                <a:solidFill>
                  <a:schemeClr val="dk1"/>
                </a:solidFill>
                <a:latin typeface="Calibri"/>
                <a:ea typeface="Calibri"/>
                <a:cs typeface="Calibri"/>
                <a:sym typeface="Calibri"/>
              </a:rPr>
            </a:br>
            <a:r>
              <a:rPr lang="en" sz="800" b="0" i="0" u="sng" strike="noStrike" cap="none">
                <a:solidFill>
                  <a:schemeClr val="hlink"/>
                </a:solidFill>
                <a:latin typeface="Calibri"/>
                <a:ea typeface="Calibri"/>
                <a:cs typeface="Calibri"/>
                <a:sym typeface="Calibri"/>
                <a:hlinkClick r:id="rId12"/>
              </a:rPr>
              <a:t>https://artificialanalysis.ai/leaderboards/models</a:t>
            </a:r>
            <a:r>
              <a:rPr lang="en" sz="800" b="0" i="0" u="none" strike="noStrike" cap="none">
                <a:solidFill>
                  <a:schemeClr val="dk1"/>
                </a:solidFill>
                <a:latin typeface="Calibri"/>
                <a:ea typeface="Calibri"/>
                <a:cs typeface="Calibri"/>
                <a:sym typeface="Calibri"/>
              </a:rPr>
              <a:t> </a:t>
            </a:r>
            <a:endParaRPr sz="800" b="0" i="0" u="none" strike="noStrike" cap="none">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b="0" i="0" u="none" strike="noStrike" cap="none">
                <a:solidFill>
                  <a:schemeClr val="dk1"/>
                </a:solidFill>
                <a:latin typeface="Calibri"/>
                <a:ea typeface="Calibri"/>
                <a:cs typeface="Calibri"/>
                <a:sym typeface="Calibri"/>
              </a:rPr>
              <a:t>Open LLM Leaderboard - by Hugging Face - </a:t>
            </a:r>
            <a:br>
              <a:rPr lang="en" sz="800" b="0" i="0" u="none" strike="noStrike" cap="none">
                <a:solidFill>
                  <a:schemeClr val="dk1"/>
                </a:solidFill>
                <a:latin typeface="Calibri"/>
                <a:ea typeface="Calibri"/>
                <a:cs typeface="Calibri"/>
                <a:sym typeface="Calibri"/>
              </a:rPr>
            </a:br>
            <a:r>
              <a:rPr lang="en" sz="800" b="0" i="0" u="sng" strike="noStrike" cap="none">
                <a:solidFill>
                  <a:schemeClr val="hlink"/>
                </a:solidFill>
                <a:latin typeface="Calibri"/>
                <a:ea typeface="Calibri"/>
                <a:cs typeface="Calibri"/>
                <a:sym typeface="Calibri"/>
                <a:hlinkClick r:id="rId13"/>
              </a:rPr>
              <a:t>https://huggingface.co/open-llm-leaderboard</a:t>
            </a:r>
            <a:r>
              <a:rPr lang="en" sz="800" b="0" i="0" u="none" strike="noStrike" cap="none">
                <a:solidFill>
                  <a:schemeClr val="dk1"/>
                </a:solidFill>
                <a:latin typeface="Calibri"/>
                <a:ea typeface="Calibri"/>
                <a:cs typeface="Calibri"/>
                <a:sym typeface="Calibri"/>
              </a:rPr>
              <a:t> </a:t>
            </a:r>
            <a:endParaRPr sz="800" b="0" i="0" u="none" strike="noStrike" cap="none">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b="0" i="0" u="none" strike="noStrike" cap="none">
                <a:solidFill>
                  <a:schemeClr val="dk1"/>
                </a:solidFill>
                <a:latin typeface="Calibri"/>
                <a:ea typeface="Calibri"/>
                <a:cs typeface="Calibri"/>
                <a:sym typeface="Calibri"/>
              </a:rPr>
              <a:t>LLM Leaderboard - by Vellum - </a:t>
            </a:r>
            <a:br>
              <a:rPr lang="en" sz="800" b="0" i="0" u="none" strike="noStrike" cap="none">
                <a:solidFill>
                  <a:schemeClr val="dk1"/>
                </a:solidFill>
                <a:latin typeface="Calibri"/>
                <a:ea typeface="Calibri"/>
                <a:cs typeface="Calibri"/>
                <a:sym typeface="Calibri"/>
              </a:rPr>
            </a:br>
            <a:r>
              <a:rPr lang="en" sz="800" b="0" i="0" u="sng" strike="noStrike" cap="none">
                <a:solidFill>
                  <a:schemeClr val="hlink"/>
                </a:solidFill>
                <a:latin typeface="Calibri"/>
                <a:ea typeface="Calibri"/>
                <a:cs typeface="Calibri"/>
                <a:sym typeface="Calibri"/>
                <a:hlinkClick r:id="rId14"/>
              </a:rPr>
              <a:t>https://www.vellum.ai/llm-leaderboard</a:t>
            </a:r>
            <a:r>
              <a:rPr lang="en" sz="800" b="0" i="0" u="none" strike="noStrike" cap="none">
                <a:solidFill>
                  <a:schemeClr val="dk1"/>
                </a:solidFill>
                <a:latin typeface="Calibri"/>
                <a:ea typeface="Calibri"/>
                <a:cs typeface="Calibri"/>
                <a:sym typeface="Calibri"/>
              </a:rPr>
              <a:t> </a:t>
            </a:r>
            <a:endParaRPr sz="800" b="0" i="0" u="none" strike="noStrike" cap="none">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a:solidFill>
                  <a:schemeClr val="dk1"/>
                </a:solidFill>
                <a:latin typeface="Calibri"/>
                <a:ea typeface="Calibri"/>
                <a:cs typeface="Calibri"/>
                <a:sym typeface="Calibri"/>
              </a:rPr>
              <a:t>AI Benchmarking Hub - </a:t>
            </a:r>
            <a:br>
              <a:rPr lang="en" sz="800">
                <a:solidFill>
                  <a:schemeClr val="dk1"/>
                </a:solidFill>
                <a:latin typeface="Calibri"/>
                <a:ea typeface="Calibri"/>
                <a:cs typeface="Calibri"/>
                <a:sym typeface="Calibri"/>
              </a:rPr>
            </a:br>
            <a:r>
              <a:rPr lang="en" sz="800" u="sng">
                <a:solidFill>
                  <a:schemeClr val="hlink"/>
                </a:solidFill>
                <a:latin typeface="Calibri"/>
                <a:ea typeface="Calibri"/>
                <a:cs typeface="Calibri"/>
                <a:sym typeface="Calibri"/>
                <a:hlinkClick r:id="rId15"/>
              </a:rPr>
              <a:t>https://epoch.ai/data/ai-benchmarking-dashboard</a:t>
            </a:r>
            <a:endParaRPr sz="800">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a:solidFill>
                  <a:schemeClr val="dk1"/>
                </a:solidFill>
                <a:latin typeface="Calibri"/>
                <a:ea typeface="Calibri"/>
                <a:cs typeface="Calibri"/>
                <a:sym typeface="Calibri"/>
              </a:rPr>
              <a:t>Grok 4 Benchmarks - </a:t>
            </a:r>
            <a:endParaRPr sz="800">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u="sng">
                <a:solidFill>
                  <a:schemeClr val="hlink"/>
                </a:solidFill>
                <a:latin typeface="Calibri"/>
                <a:ea typeface="Calibri"/>
                <a:cs typeface="Calibri"/>
                <a:sym typeface="Calibri"/>
                <a:hlinkClick r:id="rId16"/>
              </a:rPr>
              <a:t>https://artificialanalysis.ai/models/grok-4</a:t>
            </a:r>
            <a:r>
              <a:rPr lang="en" sz="800">
                <a:solidFill>
                  <a:schemeClr val="dk1"/>
                </a:solidFill>
                <a:latin typeface="Calibri"/>
                <a:ea typeface="Calibri"/>
                <a:cs typeface="Calibri"/>
                <a:sym typeface="Calibri"/>
              </a:rPr>
              <a:t> </a:t>
            </a:r>
            <a:endParaRPr sz="800">
              <a:solidFill>
                <a:schemeClr val="dk1"/>
              </a:solidFill>
              <a:latin typeface="Calibri"/>
              <a:ea typeface="Calibri"/>
              <a:cs typeface="Calibri"/>
              <a:sym typeface="Calibri"/>
            </a:endParaRPr>
          </a:p>
        </p:txBody>
      </p:sp>
      <p:sp>
        <p:nvSpPr>
          <p:cNvPr id="81" name="Google Shape;81;p16"/>
          <p:cNvSpPr/>
          <p:nvPr/>
        </p:nvSpPr>
        <p:spPr>
          <a:xfrm>
            <a:off x="3748357" y="2761917"/>
            <a:ext cx="125400" cy="125400"/>
          </a:xfrm>
          <a:prstGeom prst="ellipse">
            <a:avLst/>
          </a:prstGeom>
          <a:solidFill>
            <a:srgbClr val="FF0000"/>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82" name="Google Shape;82;p16"/>
          <p:cNvSpPr/>
          <p:nvPr/>
        </p:nvSpPr>
        <p:spPr>
          <a:xfrm>
            <a:off x="3748244" y="949151"/>
            <a:ext cx="125400" cy="125400"/>
          </a:xfrm>
          <a:prstGeom prst="ellipse">
            <a:avLst/>
          </a:prstGeom>
          <a:solidFill>
            <a:srgbClr val="3C78D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83" name="Google Shape;83;p16"/>
          <p:cNvSpPr/>
          <p:nvPr/>
        </p:nvSpPr>
        <p:spPr>
          <a:xfrm>
            <a:off x="594761" y="2026934"/>
            <a:ext cx="125400" cy="125400"/>
          </a:xfrm>
          <a:prstGeom prst="ellipse">
            <a:avLst/>
          </a:prstGeom>
          <a:solidFill>
            <a:srgbClr val="FFFF00"/>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84" name="Google Shape;84;p16"/>
          <p:cNvSpPr/>
          <p:nvPr/>
        </p:nvSpPr>
        <p:spPr>
          <a:xfrm>
            <a:off x="588586" y="1123914"/>
            <a:ext cx="125400" cy="125400"/>
          </a:xfrm>
          <a:prstGeom prst="ellipse">
            <a:avLst/>
          </a:prstGeom>
          <a:solidFill>
            <a:srgbClr val="3C78D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85" name="Google Shape;85;p16"/>
          <p:cNvSpPr/>
          <p:nvPr/>
        </p:nvSpPr>
        <p:spPr>
          <a:xfrm>
            <a:off x="3754343" y="4566152"/>
            <a:ext cx="125400" cy="125400"/>
          </a:xfrm>
          <a:prstGeom prst="ellipse">
            <a:avLst/>
          </a:prstGeom>
          <a:solidFill>
            <a:srgbClr val="FFFF00"/>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86" name="Google Shape;86;p16"/>
          <p:cNvSpPr/>
          <p:nvPr/>
        </p:nvSpPr>
        <p:spPr>
          <a:xfrm>
            <a:off x="3754696" y="4374988"/>
            <a:ext cx="125400" cy="125400"/>
          </a:xfrm>
          <a:prstGeom prst="ellipse">
            <a:avLst/>
          </a:prstGeom>
          <a:solidFill>
            <a:srgbClr val="3C78D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87" name="Google Shape;87;p16"/>
          <p:cNvSpPr/>
          <p:nvPr/>
        </p:nvSpPr>
        <p:spPr>
          <a:xfrm>
            <a:off x="592125" y="1482940"/>
            <a:ext cx="125400" cy="125400"/>
          </a:xfrm>
          <a:prstGeom prst="ellipse">
            <a:avLst/>
          </a:prstGeom>
          <a:solidFill>
            <a:srgbClr val="FFFF00"/>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88" name="Google Shape;88;p16"/>
          <p:cNvSpPr txBox="1"/>
          <p:nvPr/>
        </p:nvSpPr>
        <p:spPr>
          <a:xfrm>
            <a:off x="301758" y="2571870"/>
            <a:ext cx="287100" cy="141600"/>
          </a:xfrm>
          <a:prstGeom prst="rect">
            <a:avLst/>
          </a:prstGeom>
          <a:no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1F2937"/>
                </a:solidFill>
                <a:highlight>
                  <a:srgbClr val="FFFFFF"/>
                </a:highlight>
                <a:latin typeface="Calibri"/>
                <a:ea typeface="Calibri"/>
                <a:cs typeface="Calibri"/>
                <a:sym typeface="Calibri"/>
              </a:rPr>
              <a:t>China</a:t>
            </a:r>
            <a:endParaRPr sz="800" b="0" i="0" u="none" strike="noStrike" cap="none">
              <a:solidFill>
                <a:srgbClr val="1F2937"/>
              </a:solidFill>
              <a:highlight>
                <a:srgbClr val="FFFFFF"/>
              </a:highlight>
              <a:latin typeface="Calibri"/>
              <a:ea typeface="Calibri"/>
              <a:cs typeface="Calibri"/>
              <a:sym typeface="Calibri"/>
            </a:endParaRPr>
          </a:p>
        </p:txBody>
      </p:sp>
      <p:sp>
        <p:nvSpPr>
          <p:cNvPr id="89" name="Google Shape;89;p16"/>
          <p:cNvSpPr/>
          <p:nvPr/>
        </p:nvSpPr>
        <p:spPr>
          <a:xfrm>
            <a:off x="600160" y="2580752"/>
            <a:ext cx="125400" cy="125400"/>
          </a:xfrm>
          <a:prstGeom prst="ellipse">
            <a:avLst/>
          </a:prstGeom>
          <a:solidFill>
            <a:srgbClr val="6AA84F"/>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90" name="Google Shape;90;p16"/>
          <p:cNvSpPr/>
          <p:nvPr/>
        </p:nvSpPr>
        <p:spPr>
          <a:xfrm>
            <a:off x="3750328" y="4021755"/>
            <a:ext cx="125400" cy="125400"/>
          </a:xfrm>
          <a:prstGeom prst="ellipse">
            <a:avLst/>
          </a:prstGeom>
          <a:solidFill>
            <a:srgbClr val="FFFF00"/>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91" name="Google Shape;91;p16"/>
          <p:cNvSpPr/>
          <p:nvPr/>
        </p:nvSpPr>
        <p:spPr>
          <a:xfrm>
            <a:off x="3748244" y="1125637"/>
            <a:ext cx="125400" cy="125400"/>
          </a:xfrm>
          <a:prstGeom prst="ellipse">
            <a:avLst/>
          </a:prstGeom>
          <a:solidFill>
            <a:srgbClr val="3C78D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92" name="Google Shape;92;p16"/>
          <p:cNvSpPr/>
          <p:nvPr/>
        </p:nvSpPr>
        <p:spPr>
          <a:xfrm>
            <a:off x="592353" y="948088"/>
            <a:ext cx="125400" cy="125400"/>
          </a:xfrm>
          <a:prstGeom prst="ellipse">
            <a:avLst/>
          </a:prstGeom>
          <a:solidFill>
            <a:srgbClr val="3C78D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93" name="Google Shape;93;p16"/>
          <p:cNvSpPr/>
          <p:nvPr/>
        </p:nvSpPr>
        <p:spPr>
          <a:xfrm>
            <a:off x="584680" y="1309632"/>
            <a:ext cx="125400" cy="125400"/>
          </a:xfrm>
          <a:prstGeom prst="ellipse">
            <a:avLst/>
          </a:prstGeom>
          <a:solidFill>
            <a:srgbClr val="3C78D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94" name="Google Shape;94;p16"/>
          <p:cNvSpPr/>
          <p:nvPr/>
        </p:nvSpPr>
        <p:spPr>
          <a:xfrm>
            <a:off x="594775" y="1850683"/>
            <a:ext cx="125400" cy="125400"/>
          </a:xfrm>
          <a:prstGeom prst="ellipse">
            <a:avLst/>
          </a:prstGeom>
          <a:solidFill>
            <a:srgbClr val="FFFF00"/>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95" name="Google Shape;95;p16"/>
          <p:cNvSpPr txBox="1"/>
          <p:nvPr/>
        </p:nvSpPr>
        <p:spPr>
          <a:xfrm>
            <a:off x="300894" y="3278539"/>
            <a:ext cx="287100" cy="141600"/>
          </a:xfrm>
          <a:prstGeom prst="rect">
            <a:avLst/>
          </a:prstGeom>
          <a:no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1F2937"/>
                </a:solidFill>
                <a:highlight>
                  <a:srgbClr val="FFFFFF"/>
                </a:highlight>
                <a:latin typeface="Calibri"/>
                <a:ea typeface="Calibri"/>
                <a:cs typeface="Calibri"/>
                <a:sym typeface="Calibri"/>
              </a:rPr>
              <a:t>China</a:t>
            </a:r>
            <a:endParaRPr sz="800" b="0" i="0" u="none" strike="noStrike" cap="none">
              <a:solidFill>
                <a:srgbClr val="1F2937"/>
              </a:solidFill>
              <a:highlight>
                <a:srgbClr val="FFFFFF"/>
              </a:highlight>
              <a:latin typeface="Calibri"/>
              <a:ea typeface="Calibri"/>
              <a:cs typeface="Calibri"/>
              <a:sym typeface="Calibri"/>
            </a:endParaRPr>
          </a:p>
        </p:txBody>
      </p:sp>
      <p:sp>
        <p:nvSpPr>
          <p:cNvPr id="96" name="Google Shape;96;p16"/>
          <p:cNvSpPr/>
          <p:nvPr/>
        </p:nvSpPr>
        <p:spPr>
          <a:xfrm>
            <a:off x="600160" y="3285786"/>
            <a:ext cx="125400" cy="125400"/>
          </a:xfrm>
          <a:prstGeom prst="ellipse">
            <a:avLst/>
          </a:prstGeom>
          <a:solidFill>
            <a:srgbClr val="6AA84F"/>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97" name="Google Shape;97;p16"/>
          <p:cNvSpPr/>
          <p:nvPr/>
        </p:nvSpPr>
        <p:spPr>
          <a:xfrm>
            <a:off x="3748244" y="776447"/>
            <a:ext cx="125400" cy="125400"/>
          </a:xfrm>
          <a:prstGeom prst="ellipse">
            <a:avLst/>
          </a:prstGeom>
          <a:solidFill>
            <a:srgbClr val="3C78D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98" name="Google Shape;98;p16"/>
          <p:cNvSpPr txBox="1"/>
          <p:nvPr/>
        </p:nvSpPr>
        <p:spPr>
          <a:xfrm>
            <a:off x="3447377" y="3661855"/>
            <a:ext cx="288900" cy="141600"/>
          </a:xfrm>
          <a:prstGeom prst="rect">
            <a:avLst/>
          </a:prstGeom>
          <a:no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1F2937"/>
                </a:solidFill>
                <a:highlight>
                  <a:srgbClr val="FFFFFF"/>
                </a:highlight>
                <a:latin typeface="Calibri"/>
                <a:ea typeface="Calibri"/>
                <a:cs typeface="Calibri"/>
                <a:sym typeface="Calibri"/>
              </a:rPr>
              <a:t>China</a:t>
            </a:r>
            <a:endParaRPr sz="800" b="0" i="0" u="none" strike="noStrike" cap="none">
              <a:solidFill>
                <a:srgbClr val="1F2937"/>
              </a:solidFill>
              <a:highlight>
                <a:srgbClr val="FFFFFF"/>
              </a:highlight>
              <a:latin typeface="Calibri"/>
              <a:ea typeface="Calibri"/>
              <a:cs typeface="Calibri"/>
              <a:sym typeface="Calibri"/>
            </a:endParaRPr>
          </a:p>
        </p:txBody>
      </p:sp>
      <p:sp>
        <p:nvSpPr>
          <p:cNvPr id="99" name="Google Shape;99;p16"/>
          <p:cNvSpPr/>
          <p:nvPr/>
        </p:nvSpPr>
        <p:spPr>
          <a:xfrm>
            <a:off x="3747834" y="3673144"/>
            <a:ext cx="125400" cy="125400"/>
          </a:xfrm>
          <a:prstGeom prst="ellipse">
            <a:avLst/>
          </a:prstGeom>
          <a:solidFill>
            <a:srgbClr val="6AA84F"/>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00" name="Google Shape;100;p16"/>
          <p:cNvSpPr txBox="1"/>
          <p:nvPr/>
        </p:nvSpPr>
        <p:spPr>
          <a:xfrm>
            <a:off x="437942" y="3462726"/>
            <a:ext cx="287100" cy="141600"/>
          </a:xfrm>
          <a:prstGeom prst="rect">
            <a:avLst/>
          </a:prstGeom>
          <a:no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1F2937"/>
                </a:solidFill>
                <a:highlight>
                  <a:srgbClr val="FFFFFF"/>
                </a:highlight>
                <a:latin typeface="Calibri"/>
                <a:ea typeface="Calibri"/>
                <a:cs typeface="Calibri"/>
                <a:sym typeface="Calibri"/>
              </a:rPr>
              <a:t>China</a:t>
            </a:r>
            <a:endParaRPr sz="800" b="0" i="0" u="none" strike="noStrike" cap="none">
              <a:solidFill>
                <a:srgbClr val="1F2937"/>
              </a:solidFill>
              <a:highlight>
                <a:srgbClr val="FFFFFF"/>
              </a:highlight>
              <a:latin typeface="Calibri"/>
              <a:ea typeface="Calibri"/>
              <a:cs typeface="Calibri"/>
              <a:sym typeface="Calibri"/>
            </a:endParaRPr>
          </a:p>
        </p:txBody>
      </p:sp>
      <p:sp>
        <p:nvSpPr>
          <p:cNvPr id="101" name="Google Shape;101;p16"/>
          <p:cNvSpPr txBox="1"/>
          <p:nvPr/>
        </p:nvSpPr>
        <p:spPr>
          <a:xfrm>
            <a:off x="3448497" y="3294943"/>
            <a:ext cx="288900" cy="141600"/>
          </a:xfrm>
          <a:prstGeom prst="rect">
            <a:avLst/>
          </a:prstGeom>
          <a:no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1F2937"/>
                </a:solidFill>
                <a:highlight>
                  <a:srgbClr val="FFFFFF"/>
                </a:highlight>
                <a:latin typeface="Calibri"/>
                <a:ea typeface="Calibri"/>
                <a:cs typeface="Calibri"/>
                <a:sym typeface="Calibri"/>
              </a:rPr>
              <a:t>China</a:t>
            </a:r>
            <a:endParaRPr sz="800" b="0" i="0" u="none" strike="noStrike" cap="none">
              <a:solidFill>
                <a:srgbClr val="1F2937"/>
              </a:solidFill>
              <a:highlight>
                <a:srgbClr val="FFFFFF"/>
              </a:highlight>
              <a:latin typeface="Calibri"/>
              <a:ea typeface="Calibri"/>
              <a:cs typeface="Calibri"/>
              <a:sym typeface="Calibri"/>
            </a:endParaRPr>
          </a:p>
        </p:txBody>
      </p:sp>
      <p:sp>
        <p:nvSpPr>
          <p:cNvPr id="102" name="Google Shape;102;p16"/>
          <p:cNvSpPr/>
          <p:nvPr/>
        </p:nvSpPr>
        <p:spPr>
          <a:xfrm>
            <a:off x="3748954" y="3306232"/>
            <a:ext cx="125400" cy="125400"/>
          </a:xfrm>
          <a:prstGeom prst="ellipse">
            <a:avLst/>
          </a:prstGeom>
          <a:solidFill>
            <a:srgbClr val="6AA84F"/>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03" name="Google Shape;103;p16"/>
          <p:cNvSpPr txBox="1"/>
          <p:nvPr/>
        </p:nvSpPr>
        <p:spPr>
          <a:xfrm>
            <a:off x="3593814" y="1669393"/>
            <a:ext cx="288900" cy="141600"/>
          </a:xfrm>
          <a:prstGeom prst="rect">
            <a:avLst/>
          </a:prstGeom>
          <a:no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1F2937"/>
                </a:solidFill>
                <a:highlight>
                  <a:srgbClr val="FFFFFF"/>
                </a:highlight>
                <a:latin typeface="Calibri"/>
                <a:ea typeface="Calibri"/>
                <a:cs typeface="Calibri"/>
                <a:sym typeface="Calibri"/>
              </a:rPr>
              <a:t>China</a:t>
            </a:r>
            <a:endParaRPr sz="800" b="0" i="0" u="none" strike="noStrike" cap="none">
              <a:solidFill>
                <a:srgbClr val="1F2937"/>
              </a:solidFill>
              <a:highlight>
                <a:srgbClr val="FFFFFF"/>
              </a:highlight>
              <a:latin typeface="Calibri"/>
              <a:ea typeface="Calibri"/>
              <a:cs typeface="Calibri"/>
              <a:sym typeface="Calibri"/>
            </a:endParaRPr>
          </a:p>
        </p:txBody>
      </p:sp>
      <p:sp>
        <p:nvSpPr>
          <p:cNvPr id="104" name="Google Shape;104;p16"/>
          <p:cNvSpPr txBox="1"/>
          <p:nvPr/>
        </p:nvSpPr>
        <p:spPr>
          <a:xfrm>
            <a:off x="440410" y="2382581"/>
            <a:ext cx="287100" cy="141600"/>
          </a:xfrm>
          <a:prstGeom prst="rect">
            <a:avLst/>
          </a:prstGeom>
          <a:no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1F2937"/>
                </a:solidFill>
                <a:highlight>
                  <a:srgbClr val="FFFFFF"/>
                </a:highlight>
                <a:latin typeface="Calibri"/>
                <a:ea typeface="Calibri"/>
                <a:cs typeface="Calibri"/>
                <a:sym typeface="Calibri"/>
              </a:rPr>
              <a:t>China</a:t>
            </a:r>
            <a:endParaRPr sz="800" b="0" i="0" u="none" strike="noStrike" cap="none">
              <a:solidFill>
                <a:srgbClr val="1F2937"/>
              </a:solidFill>
              <a:highlight>
                <a:srgbClr val="FFFFFF"/>
              </a:highlight>
              <a:latin typeface="Calibri"/>
              <a:ea typeface="Calibri"/>
              <a:cs typeface="Calibri"/>
              <a:sym typeface="Calibri"/>
            </a:endParaRPr>
          </a:p>
        </p:txBody>
      </p:sp>
      <p:sp>
        <p:nvSpPr>
          <p:cNvPr id="105" name="Google Shape;105;p16"/>
          <p:cNvSpPr txBox="1"/>
          <p:nvPr/>
        </p:nvSpPr>
        <p:spPr>
          <a:xfrm>
            <a:off x="296748" y="3832687"/>
            <a:ext cx="287100" cy="141600"/>
          </a:xfrm>
          <a:prstGeom prst="rect">
            <a:avLst/>
          </a:prstGeom>
          <a:no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1F2937"/>
                </a:solidFill>
                <a:highlight>
                  <a:srgbClr val="FFFFFF"/>
                </a:highlight>
                <a:latin typeface="Calibri"/>
                <a:ea typeface="Calibri"/>
                <a:cs typeface="Calibri"/>
                <a:sym typeface="Calibri"/>
              </a:rPr>
              <a:t>China</a:t>
            </a:r>
            <a:endParaRPr sz="800" b="0" i="0" u="none" strike="noStrike" cap="none">
              <a:solidFill>
                <a:srgbClr val="1F2937"/>
              </a:solidFill>
              <a:highlight>
                <a:srgbClr val="FFFFFF"/>
              </a:highlight>
              <a:latin typeface="Calibri"/>
              <a:ea typeface="Calibri"/>
              <a:cs typeface="Calibri"/>
              <a:sym typeface="Calibri"/>
            </a:endParaRPr>
          </a:p>
        </p:txBody>
      </p:sp>
      <p:sp>
        <p:nvSpPr>
          <p:cNvPr id="106" name="Google Shape;106;p16"/>
          <p:cNvSpPr/>
          <p:nvPr/>
        </p:nvSpPr>
        <p:spPr>
          <a:xfrm>
            <a:off x="596014" y="3839934"/>
            <a:ext cx="125400" cy="125400"/>
          </a:xfrm>
          <a:prstGeom prst="ellipse">
            <a:avLst/>
          </a:prstGeom>
          <a:solidFill>
            <a:srgbClr val="6AA84F"/>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07" name="Google Shape;107;p16"/>
          <p:cNvSpPr txBox="1"/>
          <p:nvPr/>
        </p:nvSpPr>
        <p:spPr>
          <a:xfrm>
            <a:off x="304271" y="4564751"/>
            <a:ext cx="287100" cy="141600"/>
          </a:xfrm>
          <a:prstGeom prst="rect">
            <a:avLst/>
          </a:prstGeom>
          <a:no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1F2937"/>
                </a:solidFill>
                <a:highlight>
                  <a:srgbClr val="FFFFFF"/>
                </a:highlight>
                <a:latin typeface="Calibri"/>
                <a:ea typeface="Calibri"/>
                <a:cs typeface="Calibri"/>
                <a:sym typeface="Calibri"/>
              </a:rPr>
              <a:t>China</a:t>
            </a:r>
            <a:endParaRPr sz="800" b="0" i="0" u="none" strike="noStrike" cap="none">
              <a:solidFill>
                <a:srgbClr val="1F2937"/>
              </a:solidFill>
              <a:highlight>
                <a:srgbClr val="FFFFFF"/>
              </a:highlight>
              <a:latin typeface="Calibri"/>
              <a:ea typeface="Calibri"/>
              <a:cs typeface="Calibri"/>
              <a:sym typeface="Calibri"/>
            </a:endParaRPr>
          </a:p>
        </p:txBody>
      </p:sp>
      <p:sp>
        <p:nvSpPr>
          <p:cNvPr id="108" name="Google Shape;108;p16"/>
          <p:cNvSpPr/>
          <p:nvPr/>
        </p:nvSpPr>
        <p:spPr>
          <a:xfrm>
            <a:off x="603537" y="4571998"/>
            <a:ext cx="125400" cy="125400"/>
          </a:xfrm>
          <a:prstGeom prst="ellipse">
            <a:avLst/>
          </a:prstGeom>
          <a:solidFill>
            <a:srgbClr val="6AA84F"/>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09" name="Google Shape;109;p16"/>
          <p:cNvSpPr txBox="1"/>
          <p:nvPr/>
        </p:nvSpPr>
        <p:spPr>
          <a:xfrm flipH="1">
            <a:off x="539953" y="4013903"/>
            <a:ext cx="194400" cy="141600"/>
          </a:xfrm>
          <a:prstGeom prst="rect">
            <a:avLst/>
          </a:prstGeom>
          <a:solidFill>
            <a:srgbClr val="FCE5CD"/>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1F2937"/>
                </a:solidFill>
                <a:latin typeface="Calibri"/>
                <a:ea typeface="Calibri"/>
                <a:cs typeface="Calibri"/>
                <a:sym typeface="Calibri"/>
              </a:rPr>
              <a:t>x.ai</a:t>
            </a:r>
            <a:endParaRPr sz="800" b="0" i="0" u="none" strike="noStrike" cap="none">
              <a:solidFill>
                <a:srgbClr val="1F2937"/>
              </a:solidFill>
              <a:latin typeface="Calibri"/>
              <a:ea typeface="Calibri"/>
              <a:cs typeface="Calibri"/>
              <a:sym typeface="Calibri"/>
            </a:endParaRPr>
          </a:p>
        </p:txBody>
      </p:sp>
      <p:sp>
        <p:nvSpPr>
          <p:cNvPr id="110" name="Google Shape;110;p16"/>
          <p:cNvSpPr/>
          <p:nvPr/>
        </p:nvSpPr>
        <p:spPr>
          <a:xfrm>
            <a:off x="3748244" y="1301385"/>
            <a:ext cx="125400" cy="125400"/>
          </a:xfrm>
          <a:prstGeom prst="ellipse">
            <a:avLst/>
          </a:prstGeom>
          <a:solidFill>
            <a:srgbClr val="3C78D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11" name="Google Shape;111;p16"/>
          <p:cNvSpPr txBox="1"/>
          <p:nvPr/>
        </p:nvSpPr>
        <p:spPr>
          <a:xfrm>
            <a:off x="3593829" y="2025226"/>
            <a:ext cx="288900" cy="141600"/>
          </a:xfrm>
          <a:prstGeom prst="rect">
            <a:avLst/>
          </a:prstGeom>
          <a:no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1F2937"/>
                </a:solidFill>
                <a:highlight>
                  <a:srgbClr val="FFFFFF"/>
                </a:highlight>
                <a:latin typeface="Calibri"/>
                <a:ea typeface="Calibri"/>
                <a:cs typeface="Calibri"/>
                <a:sym typeface="Calibri"/>
              </a:rPr>
              <a:t>China</a:t>
            </a:r>
            <a:endParaRPr sz="800" b="0" i="0" u="none" strike="noStrike" cap="none">
              <a:solidFill>
                <a:srgbClr val="1F2937"/>
              </a:solidFill>
              <a:highlight>
                <a:srgbClr val="FFFFFF"/>
              </a:highlight>
              <a:latin typeface="Calibri"/>
              <a:ea typeface="Calibri"/>
              <a:cs typeface="Calibri"/>
              <a:sym typeface="Calibri"/>
            </a:endParaRPr>
          </a:p>
        </p:txBody>
      </p:sp>
      <p:sp>
        <p:nvSpPr>
          <p:cNvPr id="112" name="Google Shape;112;p16"/>
          <p:cNvSpPr/>
          <p:nvPr/>
        </p:nvSpPr>
        <p:spPr>
          <a:xfrm>
            <a:off x="3750579" y="1487224"/>
            <a:ext cx="125400" cy="125400"/>
          </a:xfrm>
          <a:prstGeom prst="ellipse">
            <a:avLst/>
          </a:prstGeom>
          <a:solidFill>
            <a:srgbClr val="3C78D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13" name="Google Shape;113;p16"/>
          <p:cNvSpPr txBox="1"/>
          <p:nvPr/>
        </p:nvSpPr>
        <p:spPr>
          <a:xfrm>
            <a:off x="3440038" y="2381080"/>
            <a:ext cx="288900" cy="141600"/>
          </a:xfrm>
          <a:prstGeom prst="rect">
            <a:avLst/>
          </a:prstGeom>
          <a:no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1F2937"/>
                </a:solidFill>
                <a:highlight>
                  <a:srgbClr val="FFFFFF"/>
                </a:highlight>
                <a:latin typeface="Calibri"/>
                <a:ea typeface="Calibri"/>
                <a:cs typeface="Calibri"/>
                <a:sym typeface="Calibri"/>
              </a:rPr>
              <a:t>China</a:t>
            </a:r>
            <a:endParaRPr sz="800" b="0" i="0" u="none" strike="noStrike" cap="none">
              <a:solidFill>
                <a:srgbClr val="1F2937"/>
              </a:solidFill>
              <a:highlight>
                <a:srgbClr val="FFFFFF"/>
              </a:highlight>
              <a:latin typeface="Calibri"/>
              <a:ea typeface="Calibri"/>
              <a:cs typeface="Calibri"/>
              <a:sym typeface="Calibri"/>
            </a:endParaRPr>
          </a:p>
        </p:txBody>
      </p:sp>
      <p:sp>
        <p:nvSpPr>
          <p:cNvPr id="114" name="Google Shape;114;p16"/>
          <p:cNvSpPr/>
          <p:nvPr/>
        </p:nvSpPr>
        <p:spPr>
          <a:xfrm>
            <a:off x="3740495" y="2392369"/>
            <a:ext cx="125400" cy="125400"/>
          </a:xfrm>
          <a:prstGeom prst="ellipse">
            <a:avLst/>
          </a:prstGeom>
          <a:solidFill>
            <a:srgbClr val="6AA84F"/>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15" name="Google Shape;115;p16"/>
          <p:cNvSpPr/>
          <p:nvPr/>
        </p:nvSpPr>
        <p:spPr>
          <a:xfrm>
            <a:off x="588584" y="1666806"/>
            <a:ext cx="125400" cy="125400"/>
          </a:xfrm>
          <a:prstGeom prst="ellipse">
            <a:avLst/>
          </a:prstGeom>
          <a:solidFill>
            <a:srgbClr val="3C78D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16" name="Google Shape;116;p16"/>
          <p:cNvSpPr/>
          <p:nvPr/>
        </p:nvSpPr>
        <p:spPr>
          <a:xfrm>
            <a:off x="586813" y="2752536"/>
            <a:ext cx="125400" cy="125400"/>
          </a:xfrm>
          <a:prstGeom prst="ellipse">
            <a:avLst/>
          </a:prstGeom>
          <a:solidFill>
            <a:srgbClr val="FFFF00"/>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17" name="Google Shape;117;p16"/>
          <p:cNvSpPr txBox="1"/>
          <p:nvPr/>
        </p:nvSpPr>
        <p:spPr>
          <a:xfrm>
            <a:off x="296748" y="3641662"/>
            <a:ext cx="287100" cy="141600"/>
          </a:xfrm>
          <a:prstGeom prst="rect">
            <a:avLst/>
          </a:prstGeom>
          <a:no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1F2937"/>
                </a:solidFill>
                <a:highlight>
                  <a:srgbClr val="FFFFFF"/>
                </a:highlight>
                <a:latin typeface="Calibri"/>
                <a:ea typeface="Calibri"/>
                <a:cs typeface="Calibri"/>
                <a:sym typeface="Calibri"/>
              </a:rPr>
              <a:t>China</a:t>
            </a:r>
            <a:endParaRPr sz="800" b="0" i="0" u="none" strike="noStrike" cap="none">
              <a:solidFill>
                <a:srgbClr val="1F2937"/>
              </a:solidFill>
              <a:highlight>
                <a:srgbClr val="FFFFFF"/>
              </a:highlight>
              <a:latin typeface="Calibri"/>
              <a:ea typeface="Calibri"/>
              <a:cs typeface="Calibri"/>
              <a:sym typeface="Calibri"/>
            </a:endParaRPr>
          </a:p>
        </p:txBody>
      </p:sp>
      <p:sp>
        <p:nvSpPr>
          <p:cNvPr id="118" name="Google Shape;118;p16"/>
          <p:cNvSpPr/>
          <p:nvPr/>
        </p:nvSpPr>
        <p:spPr>
          <a:xfrm>
            <a:off x="596014" y="3648909"/>
            <a:ext cx="125400" cy="125400"/>
          </a:xfrm>
          <a:prstGeom prst="ellipse">
            <a:avLst/>
          </a:prstGeom>
          <a:solidFill>
            <a:srgbClr val="6AA84F"/>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19" name="Google Shape;119;p16"/>
          <p:cNvSpPr txBox="1"/>
          <p:nvPr/>
        </p:nvSpPr>
        <p:spPr>
          <a:xfrm>
            <a:off x="296748" y="4196949"/>
            <a:ext cx="287100" cy="141600"/>
          </a:xfrm>
          <a:prstGeom prst="rect">
            <a:avLst/>
          </a:prstGeom>
          <a:no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1F2937"/>
                </a:solidFill>
                <a:highlight>
                  <a:srgbClr val="FFFFFF"/>
                </a:highlight>
                <a:latin typeface="Calibri"/>
                <a:ea typeface="Calibri"/>
                <a:cs typeface="Calibri"/>
                <a:sym typeface="Calibri"/>
              </a:rPr>
              <a:t>China</a:t>
            </a:r>
            <a:endParaRPr sz="800" b="0" i="0" u="none" strike="noStrike" cap="none">
              <a:solidFill>
                <a:srgbClr val="1F2937"/>
              </a:solidFill>
              <a:highlight>
                <a:srgbClr val="FFFFFF"/>
              </a:highlight>
              <a:latin typeface="Calibri"/>
              <a:ea typeface="Calibri"/>
              <a:cs typeface="Calibri"/>
              <a:sym typeface="Calibri"/>
            </a:endParaRPr>
          </a:p>
        </p:txBody>
      </p:sp>
      <p:sp>
        <p:nvSpPr>
          <p:cNvPr id="120" name="Google Shape;120;p16"/>
          <p:cNvSpPr/>
          <p:nvPr/>
        </p:nvSpPr>
        <p:spPr>
          <a:xfrm>
            <a:off x="596014" y="4204196"/>
            <a:ext cx="125400" cy="125400"/>
          </a:xfrm>
          <a:prstGeom prst="ellipse">
            <a:avLst/>
          </a:prstGeom>
          <a:solidFill>
            <a:srgbClr val="6AA84F"/>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21" name="Google Shape;121;p16"/>
          <p:cNvSpPr txBox="1"/>
          <p:nvPr/>
        </p:nvSpPr>
        <p:spPr>
          <a:xfrm>
            <a:off x="296748" y="4371648"/>
            <a:ext cx="287100" cy="141600"/>
          </a:xfrm>
          <a:prstGeom prst="rect">
            <a:avLst/>
          </a:prstGeom>
          <a:no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1F2937"/>
                </a:solidFill>
                <a:highlight>
                  <a:srgbClr val="FFFFFF"/>
                </a:highlight>
                <a:latin typeface="Calibri"/>
                <a:ea typeface="Calibri"/>
                <a:cs typeface="Calibri"/>
                <a:sym typeface="Calibri"/>
              </a:rPr>
              <a:t>China</a:t>
            </a:r>
            <a:endParaRPr sz="800" b="0" i="0" u="none" strike="noStrike" cap="none">
              <a:solidFill>
                <a:srgbClr val="1F2937"/>
              </a:solidFill>
              <a:highlight>
                <a:srgbClr val="FFFFFF"/>
              </a:highlight>
              <a:latin typeface="Calibri"/>
              <a:ea typeface="Calibri"/>
              <a:cs typeface="Calibri"/>
              <a:sym typeface="Calibri"/>
            </a:endParaRPr>
          </a:p>
        </p:txBody>
      </p:sp>
      <p:sp>
        <p:nvSpPr>
          <p:cNvPr id="122" name="Google Shape;122;p16"/>
          <p:cNvSpPr/>
          <p:nvPr/>
        </p:nvSpPr>
        <p:spPr>
          <a:xfrm>
            <a:off x="596014" y="4378895"/>
            <a:ext cx="125400" cy="125400"/>
          </a:xfrm>
          <a:prstGeom prst="ellipse">
            <a:avLst/>
          </a:prstGeom>
          <a:solidFill>
            <a:srgbClr val="6AA84F"/>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23" name="Google Shape;123;p16"/>
          <p:cNvSpPr txBox="1"/>
          <p:nvPr/>
        </p:nvSpPr>
        <p:spPr>
          <a:xfrm>
            <a:off x="304271" y="4746882"/>
            <a:ext cx="287100" cy="141600"/>
          </a:xfrm>
          <a:prstGeom prst="rect">
            <a:avLst/>
          </a:prstGeom>
          <a:no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1F2937"/>
                </a:solidFill>
                <a:highlight>
                  <a:srgbClr val="FFFFFF"/>
                </a:highlight>
                <a:latin typeface="Calibri"/>
                <a:ea typeface="Calibri"/>
                <a:cs typeface="Calibri"/>
                <a:sym typeface="Calibri"/>
              </a:rPr>
              <a:t>China</a:t>
            </a:r>
            <a:endParaRPr sz="800" b="0" i="0" u="none" strike="noStrike" cap="none">
              <a:solidFill>
                <a:srgbClr val="1F2937"/>
              </a:solidFill>
              <a:highlight>
                <a:srgbClr val="FFFFFF"/>
              </a:highlight>
              <a:latin typeface="Calibri"/>
              <a:ea typeface="Calibri"/>
              <a:cs typeface="Calibri"/>
              <a:sym typeface="Calibri"/>
            </a:endParaRPr>
          </a:p>
        </p:txBody>
      </p:sp>
      <p:sp>
        <p:nvSpPr>
          <p:cNvPr id="124" name="Google Shape;124;p16"/>
          <p:cNvSpPr/>
          <p:nvPr/>
        </p:nvSpPr>
        <p:spPr>
          <a:xfrm>
            <a:off x="603537" y="4754129"/>
            <a:ext cx="125400" cy="125400"/>
          </a:xfrm>
          <a:prstGeom prst="ellipse">
            <a:avLst/>
          </a:prstGeom>
          <a:solidFill>
            <a:srgbClr val="6AA84F"/>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25" name="Google Shape;125;p16"/>
          <p:cNvSpPr txBox="1"/>
          <p:nvPr/>
        </p:nvSpPr>
        <p:spPr>
          <a:xfrm>
            <a:off x="304271" y="4921581"/>
            <a:ext cx="287100" cy="141600"/>
          </a:xfrm>
          <a:prstGeom prst="rect">
            <a:avLst/>
          </a:prstGeom>
          <a:no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1F2937"/>
                </a:solidFill>
                <a:highlight>
                  <a:srgbClr val="FFFFFF"/>
                </a:highlight>
                <a:latin typeface="Calibri"/>
                <a:ea typeface="Calibri"/>
                <a:cs typeface="Calibri"/>
                <a:sym typeface="Calibri"/>
              </a:rPr>
              <a:t>China</a:t>
            </a:r>
            <a:endParaRPr sz="800" b="0" i="0" u="none" strike="noStrike" cap="none">
              <a:solidFill>
                <a:srgbClr val="1F2937"/>
              </a:solidFill>
              <a:highlight>
                <a:srgbClr val="FFFFFF"/>
              </a:highlight>
              <a:latin typeface="Calibri"/>
              <a:ea typeface="Calibri"/>
              <a:cs typeface="Calibri"/>
              <a:sym typeface="Calibri"/>
            </a:endParaRPr>
          </a:p>
        </p:txBody>
      </p:sp>
      <p:sp>
        <p:nvSpPr>
          <p:cNvPr id="126" name="Google Shape;126;p16"/>
          <p:cNvSpPr/>
          <p:nvPr/>
        </p:nvSpPr>
        <p:spPr>
          <a:xfrm>
            <a:off x="603537" y="4928828"/>
            <a:ext cx="125400" cy="125400"/>
          </a:xfrm>
          <a:prstGeom prst="ellipse">
            <a:avLst/>
          </a:prstGeom>
          <a:solidFill>
            <a:srgbClr val="6AA84F"/>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27" name="Google Shape;127;p16"/>
          <p:cNvSpPr txBox="1"/>
          <p:nvPr/>
        </p:nvSpPr>
        <p:spPr>
          <a:xfrm>
            <a:off x="446720" y="2921750"/>
            <a:ext cx="287100" cy="141600"/>
          </a:xfrm>
          <a:prstGeom prst="rect">
            <a:avLst/>
          </a:prstGeom>
          <a:no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1F2937"/>
                </a:solidFill>
                <a:highlight>
                  <a:srgbClr val="FFFFFF"/>
                </a:highlight>
                <a:latin typeface="Calibri"/>
                <a:ea typeface="Calibri"/>
                <a:cs typeface="Calibri"/>
                <a:sym typeface="Calibri"/>
              </a:rPr>
              <a:t>China</a:t>
            </a:r>
            <a:endParaRPr sz="800" b="0" i="0" u="none" strike="noStrike" cap="none">
              <a:solidFill>
                <a:srgbClr val="1F2937"/>
              </a:solidFill>
              <a:highlight>
                <a:srgbClr val="FFFFFF"/>
              </a:highlight>
              <a:latin typeface="Calibri"/>
              <a:ea typeface="Calibri"/>
              <a:cs typeface="Calibri"/>
              <a:sym typeface="Calibri"/>
            </a:endParaRPr>
          </a:p>
        </p:txBody>
      </p:sp>
      <p:sp>
        <p:nvSpPr>
          <p:cNvPr id="128" name="Google Shape;128;p16"/>
          <p:cNvSpPr/>
          <p:nvPr/>
        </p:nvSpPr>
        <p:spPr>
          <a:xfrm>
            <a:off x="3758343" y="3478678"/>
            <a:ext cx="125400" cy="125400"/>
          </a:xfrm>
          <a:prstGeom prst="ellipse">
            <a:avLst/>
          </a:prstGeom>
          <a:solidFill>
            <a:srgbClr val="3C78D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29" name="Google Shape;129;p16"/>
          <p:cNvSpPr txBox="1"/>
          <p:nvPr/>
        </p:nvSpPr>
        <p:spPr>
          <a:xfrm>
            <a:off x="3458789" y="3829654"/>
            <a:ext cx="287100" cy="141600"/>
          </a:xfrm>
          <a:prstGeom prst="rect">
            <a:avLst/>
          </a:prstGeom>
          <a:no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1F2937"/>
                </a:solidFill>
                <a:highlight>
                  <a:srgbClr val="FFFFFF"/>
                </a:highlight>
                <a:latin typeface="Calibri"/>
                <a:ea typeface="Calibri"/>
                <a:cs typeface="Calibri"/>
                <a:sym typeface="Calibri"/>
              </a:rPr>
              <a:t>China</a:t>
            </a:r>
            <a:endParaRPr sz="800" b="0" i="0" u="none" strike="noStrike" cap="none">
              <a:solidFill>
                <a:srgbClr val="1F2937"/>
              </a:solidFill>
              <a:highlight>
                <a:srgbClr val="FFFFFF"/>
              </a:highlight>
              <a:latin typeface="Calibri"/>
              <a:ea typeface="Calibri"/>
              <a:cs typeface="Calibri"/>
              <a:sym typeface="Calibri"/>
            </a:endParaRPr>
          </a:p>
        </p:txBody>
      </p:sp>
      <p:sp>
        <p:nvSpPr>
          <p:cNvPr id="130" name="Google Shape;130;p16"/>
          <p:cNvSpPr/>
          <p:nvPr/>
        </p:nvSpPr>
        <p:spPr>
          <a:xfrm>
            <a:off x="3749658" y="3838048"/>
            <a:ext cx="125400" cy="125400"/>
          </a:xfrm>
          <a:prstGeom prst="ellipse">
            <a:avLst/>
          </a:prstGeom>
          <a:solidFill>
            <a:srgbClr val="6AA84F"/>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31" name="Google Shape;131;p16"/>
          <p:cNvSpPr txBox="1"/>
          <p:nvPr/>
        </p:nvSpPr>
        <p:spPr>
          <a:xfrm>
            <a:off x="3458789" y="4188510"/>
            <a:ext cx="287100" cy="141600"/>
          </a:xfrm>
          <a:prstGeom prst="rect">
            <a:avLst/>
          </a:prstGeom>
          <a:no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1F2937"/>
                </a:solidFill>
                <a:highlight>
                  <a:srgbClr val="FFFFFF"/>
                </a:highlight>
                <a:latin typeface="Calibri"/>
                <a:ea typeface="Calibri"/>
                <a:cs typeface="Calibri"/>
                <a:sym typeface="Calibri"/>
              </a:rPr>
              <a:t>China</a:t>
            </a:r>
            <a:endParaRPr sz="800" b="0" i="0" u="none" strike="noStrike" cap="none">
              <a:solidFill>
                <a:srgbClr val="1F2937"/>
              </a:solidFill>
              <a:highlight>
                <a:srgbClr val="FFFFFF"/>
              </a:highlight>
              <a:latin typeface="Calibri"/>
              <a:ea typeface="Calibri"/>
              <a:cs typeface="Calibri"/>
              <a:sym typeface="Calibri"/>
            </a:endParaRPr>
          </a:p>
        </p:txBody>
      </p:sp>
      <p:sp>
        <p:nvSpPr>
          <p:cNvPr id="132" name="Google Shape;132;p16"/>
          <p:cNvSpPr/>
          <p:nvPr/>
        </p:nvSpPr>
        <p:spPr>
          <a:xfrm>
            <a:off x="3749658" y="4196904"/>
            <a:ext cx="125400" cy="125400"/>
          </a:xfrm>
          <a:prstGeom prst="ellipse">
            <a:avLst/>
          </a:prstGeom>
          <a:solidFill>
            <a:srgbClr val="6AA84F"/>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33" name="Google Shape;133;p16"/>
          <p:cNvSpPr txBox="1"/>
          <p:nvPr/>
        </p:nvSpPr>
        <p:spPr>
          <a:xfrm>
            <a:off x="4551777" y="63625"/>
            <a:ext cx="1350000" cy="1725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0650" algn="l" rtl="0">
              <a:lnSpc>
                <a:spcPct val="100000"/>
              </a:lnSpc>
              <a:spcBef>
                <a:spcPts val="0"/>
              </a:spcBef>
              <a:spcAft>
                <a:spcPts val="0"/>
              </a:spcAft>
              <a:buClr>
                <a:schemeClr val="dk1"/>
              </a:buClr>
              <a:buSzPts val="1000"/>
              <a:buFont typeface="Calibri"/>
              <a:buChar char="●"/>
            </a:pPr>
            <a:r>
              <a:rPr lang="en" sz="1000">
                <a:latin typeface="Calibri"/>
                <a:ea typeface="Calibri"/>
                <a:cs typeface="Calibri"/>
                <a:sym typeface="Calibri"/>
              </a:rPr>
              <a:t>Data for November 9</a:t>
            </a:r>
            <a:endParaRPr sz="1000">
              <a:solidFill>
                <a:schemeClr val="dk1"/>
              </a:solidFill>
              <a:latin typeface="Calibri"/>
              <a:ea typeface="Calibri"/>
              <a:cs typeface="Calibri"/>
              <a:sym typeface="Calibri"/>
            </a:endParaRPr>
          </a:p>
        </p:txBody>
      </p:sp>
      <p:sp>
        <p:nvSpPr>
          <p:cNvPr id="134" name="Google Shape;134;p16"/>
          <p:cNvSpPr/>
          <p:nvPr/>
        </p:nvSpPr>
        <p:spPr>
          <a:xfrm>
            <a:off x="3759407" y="3131057"/>
            <a:ext cx="125400" cy="125400"/>
          </a:xfrm>
          <a:prstGeom prst="ellipse">
            <a:avLst/>
          </a:prstGeom>
          <a:solidFill>
            <a:srgbClr val="FFFF00"/>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35" name="Google Shape;135;p16"/>
          <p:cNvSpPr txBox="1"/>
          <p:nvPr/>
        </p:nvSpPr>
        <p:spPr>
          <a:xfrm>
            <a:off x="3448497" y="2919701"/>
            <a:ext cx="288900" cy="141600"/>
          </a:xfrm>
          <a:prstGeom prst="rect">
            <a:avLst/>
          </a:prstGeom>
          <a:no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1F2937"/>
                </a:solidFill>
                <a:highlight>
                  <a:srgbClr val="FFFFFF"/>
                </a:highlight>
                <a:latin typeface="Calibri"/>
                <a:ea typeface="Calibri"/>
                <a:cs typeface="Calibri"/>
                <a:sym typeface="Calibri"/>
              </a:rPr>
              <a:t>China</a:t>
            </a:r>
            <a:endParaRPr sz="800" b="0" i="0" u="none" strike="noStrike" cap="none">
              <a:solidFill>
                <a:srgbClr val="1F2937"/>
              </a:solidFill>
              <a:highlight>
                <a:srgbClr val="FFFFFF"/>
              </a:highlight>
              <a:latin typeface="Calibri"/>
              <a:ea typeface="Calibri"/>
              <a:cs typeface="Calibri"/>
              <a:sym typeface="Calibri"/>
            </a:endParaRPr>
          </a:p>
        </p:txBody>
      </p:sp>
      <p:sp>
        <p:nvSpPr>
          <p:cNvPr id="136" name="Google Shape;136;p16"/>
          <p:cNvSpPr/>
          <p:nvPr/>
        </p:nvSpPr>
        <p:spPr>
          <a:xfrm>
            <a:off x="3748954" y="2930990"/>
            <a:ext cx="125400" cy="125400"/>
          </a:xfrm>
          <a:prstGeom prst="ellipse">
            <a:avLst/>
          </a:prstGeom>
          <a:solidFill>
            <a:srgbClr val="6AA84F"/>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37" name="Google Shape;137;p16"/>
          <p:cNvSpPr/>
          <p:nvPr/>
        </p:nvSpPr>
        <p:spPr>
          <a:xfrm>
            <a:off x="3749702" y="4925370"/>
            <a:ext cx="125400" cy="125400"/>
          </a:xfrm>
          <a:prstGeom prst="ellipse">
            <a:avLst/>
          </a:prstGeom>
          <a:solidFill>
            <a:srgbClr val="FFFF00"/>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graphicFrame>
        <p:nvGraphicFramePr>
          <p:cNvPr id="138" name="Google Shape;138;p16"/>
          <p:cNvGraphicFramePr/>
          <p:nvPr/>
        </p:nvGraphicFramePr>
        <p:xfrm>
          <a:off x="739489" y="556318"/>
          <a:ext cx="3000000" cy="3000000"/>
        </p:xfrm>
        <a:graphic>
          <a:graphicData uri="http://schemas.openxmlformats.org/drawingml/2006/table">
            <a:tbl>
              <a:tblPr>
                <a:noFill/>
                <a:tableStyleId>{073D5FA3-1629-475D-9956-9B35021C5D14}</a:tableStyleId>
              </a:tblPr>
              <a:tblGrid>
                <a:gridCol w="1828800">
                  <a:extLst>
                    <a:ext uri="{9D8B030D-6E8A-4147-A177-3AD203B41FA5}">
                      <a16:colId xmlns:a16="http://schemas.microsoft.com/office/drawing/2014/main" val="20000"/>
                    </a:ext>
                  </a:extLst>
                </a:gridCol>
                <a:gridCol w="314325">
                  <a:extLst>
                    <a:ext uri="{9D8B030D-6E8A-4147-A177-3AD203B41FA5}">
                      <a16:colId xmlns:a16="http://schemas.microsoft.com/office/drawing/2014/main" val="20001"/>
                    </a:ext>
                  </a:extLst>
                </a:gridCol>
              </a:tblGrid>
              <a:tr h="156025">
                <a:tc>
                  <a:txBody>
                    <a:bodyPr/>
                    <a:lstStyle/>
                    <a:p>
                      <a:pPr marL="0" lvl="0" indent="0" algn="l" rtl="0">
                        <a:lnSpc>
                          <a:spcPct val="115000"/>
                        </a:lnSpc>
                        <a:spcBef>
                          <a:spcPts val="0"/>
                        </a:spcBef>
                        <a:spcAft>
                          <a:spcPts val="0"/>
                        </a:spcAft>
                        <a:buNone/>
                      </a:pPr>
                      <a:r>
                        <a:rPr lang="en" sz="800">
                          <a:latin typeface="Calibri"/>
                          <a:ea typeface="Calibri"/>
                          <a:cs typeface="Calibri"/>
                          <a:sym typeface="Calibri"/>
                        </a:rPr>
                        <a:t>Model</a:t>
                      </a:r>
                      <a:endParaRPr sz="800">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l" rtl="0">
                        <a:lnSpc>
                          <a:spcPct val="115000"/>
                        </a:lnSpc>
                        <a:spcBef>
                          <a:spcPts val="0"/>
                        </a:spcBef>
                        <a:spcAft>
                          <a:spcPts val="0"/>
                        </a:spcAft>
                        <a:buNone/>
                      </a:pPr>
                      <a:r>
                        <a:rPr lang="en" sz="800">
                          <a:latin typeface="Calibri"/>
                          <a:ea typeface="Calibri"/>
                          <a:cs typeface="Calibri"/>
                          <a:sym typeface="Calibri"/>
                        </a:rPr>
                        <a:t>Score</a:t>
                      </a:r>
                      <a:endParaRPr sz="800">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00"/>
                  </a:ext>
                </a:extLst>
              </a:tr>
              <a:tr h="15602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17">
                            <a:extLst>
                              <a:ext uri="{A12FA001-AC4F-418D-AE19-62706E023703}">
                                <ahyp:hlinkClr xmlns:ahyp="http://schemas.microsoft.com/office/drawing/2018/hyperlinkcolor" val="tx"/>
                              </a:ext>
                            </a:extLst>
                          </a:hlinkClick>
                        </a:rPr>
                        <a:t>gemini-2.5-pro</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1452</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01"/>
                  </a:ext>
                </a:extLst>
              </a:tr>
              <a:tr h="15602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18">
                            <a:extLst>
                              <a:ext uri="{A12FA001-AC4F-418D-AE19-62706E023703}">
                                <ahyp:hlinkClr xmlns:ahyp="http://schemas.microsoft.com/office/drawing/2018/hyperlinkcolor" val="tx"/>
                              </a:ext>
                            </a:extLst>
                          </a:hlinkClick>
                        </a:rPr>
                        <a:t>claude-sonnet-4-5-20250929-thinking-32k</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1449</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02"/>
                  </a:ext>
                </a:extLst>
              </a:tr>
              <a:tr h="15602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19">
                            <a:extLst>
                              <a:ext uri="{A12FA001-AC4F-418D-AE19-62706E023703}">
                                <ahyp:hlinkClr xmlns:ahyp="http://schemas.microsoft.com/office/drawing/2018/hyperlinkcolor" val="tx"/>
                              </a:ext>
                            </a:extLst>
                          </a:hlinkClick>
                        </a:rPr>
                        <a:t>claude-opus-4-1-20250805-thinking-16k</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1448</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03"/>
                  </a:ext>
                </a:extLst>
              </a:tr>
              <a:tr h="15602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18">
                            <a:extLst>
                              <a:ext uri="{A12FA001-AC4F-418D-AE19-62706E023703}">
                                <ahyp:hlinkClr xmlns:ahyp="http://schemas.microsoft.com/office/drawing/2018/hyperlinkcolor" val="tx"/>
                              </a:ext>
                            </a:extLst>
                          </a:hlinkClick>
                        </a:rPr>
                        <a:t>claude-sonnet-4-5-20250929</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1444</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04"/>
                  </a:ext>
                </a:extLst>
              </a:tr>
              <a:tr h="15602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0">
                            <a:extLst>
                              <a:ext uri="{A12FA001-AC4F-418D-AE19-62706E023703}">
                                <ahyp:hlinkClr xmlns:ahyp="http://schemas.microsoft.com/office/drawing/2018/hyperlinkcolor" val="tx"/>
                              </a:ext>
                            </a:extLst>
                          </a:hlinkClick>
                        </a:rPr>
                        <a:t>gpt-4.5-preview-2025-02-27</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1442</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05"/>
                  </a:ext>
                </a:extLst>
              </a:tr>
              <a:tr h="15602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19">
                            <a:extLst>
                              <a:ext uri="{A12FA001-AC4F-418D-AE19-62706E023703}">
                                <ahyp:hlinkClr xmlns:ahyp="http://schemas.microsoft.com/office/drawing/2018/hyperlinkcolor" val="tx"/>
                              </a:ext>
                            </a:extLst>
                          </a:hlinkClick>
                        </a:rPr>
                        <a:t>claude-opus-4-1-20250805</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1439</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06"/>
                  </a:ext>
                </a:extLst>
              </a:tr>
              <a:tr h="15602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1">
                            <a:extLst>
                              <a:ext uri="{A12FA001-AC4F-418D-AE19-62706E023703}">
                                <ahyp:hlinkClr xmlns:ahyp="http://schemas.microsoft.com/office/drawing/2018/hyperlinkcolor" val="tx"/>
                              </a:ext>
                            </a:extLst>
                          </a:hlinkClick>
                        </a:rPr>
                        <a:t>chatgpt-4o-latest-20250326</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1438</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07"/>
                  </a:ext>
                </a:extLst>
              </a:tr>
              <a:tr h="15602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2">
                            <a:extLst>
                              <a:ext uri="{A12FA001-AC4F-418D-AE19-62706E023703}">
                                <ahyp:hlinkClr xmlns:ahyp="http://schemas.microsoft.com/office/drawing/2018/hyperlinkcolor" val="tx"/>
                              </a:ext>
                            </a:extLst>
                          </a:hlinkClick>
                        </a:rPr>
                        <a:t>gpt-5-high</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1436</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08"/>
                  </a:ext>
                </a:extLst>
              </a:tr>
              <a:tr h="15602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3">
                            <a:extLst>
                              <a:ext uri="{A12FA001-AC4F-418D-AE19-62706E023703}">
                                <ahyp:hlinkClr xmlns:ahyp="http://schemas.microsoft.com/office/drawing/2018/hyperlinkcolor" val="tx"/>
                              </a:ext>
                            </a:extLst>
                          </a:hlinkClick>
                        </a:rPr>
                        <a:t>o3-2025-04-16</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1434</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09"/>
                  </a:ext>
                </a:extLst>
              </a:tr>
              <a:tr h="15602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4">
                            <a:extLst>
                              <a:ext uri="{A12FA001-AC4F-418D-AE19-62706E023703}">
                                <ahyp:hlinkClr xmlns:ahyp="http://schemas.microsoft.com/office/drawing/2018/hyperlinkcolor" val="tx"/>
                              </a:ext>
                            </a:extLst>
                          </a:hlinkClick>
                        </a:rPr>
                        <a:t>qwen3-max-preview</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1432</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10"/>
                  </a:ext>
                </a:extLst>
              </a:tr>
              <a:tr h="15602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5">
                            <a:extLst>
                              <a:ext uri="{A12FA001-AC4F-418D-AE19-62706E023703}">
                                <ahyp:hlinkClr xmlns:ahyp="http://schemas.microsoft.com/office/drawing/2018/hyperlinkcolor" val="tx"/>
                              </a:ext>
                            </a:extLst>
                          </a:hlinkClick>
                        </a:rPr>
                        <a:t>glm-4.6</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1428</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11"/>
                  </a:ext>
                </a:extLst>
              </a:tr>
              <a:tr h="15602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6">
                            <a:extLst>
                              <a:ext uri="{A12FA001-AC4F-418D-AE19-62706E023703}">
                                <ahyp:hlinkClr xmlns:ahyp="http://schemas.microsoft.com/office/drawing/2018/hyperlinkcolor" val="tx"/>
                              </a:ext>
                            </a:extLst>
                          </a:hlinkClick>
                        </a:rPr>
                        <a:t>gpt-5-chat</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1424</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12"/>
                  </a:ext>
                </a:extLst>
              </a:tr>
              <a:tr h="15602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7">
                            <a:extLst>
                              <a:ext uri="{A12FA001-AC4F-418D-AE19-62706E023703}">
                                <ahyp:hlinkClr xmlns:ahyp="http://schemas.microsoft.com/office/drawing/2018/hyperlinkcolor" val="tx"/>
                              </a:ext>
                            </a:extLst>
                          </a:hlinkClick>
                        </a:rPr>
                        <a:t>qwen3-max-2025-09-23</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1423</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13"/>
                  </a:ext>
                </a:extLst>
              </a:tr>
              <a:tr h="15602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8">
                            <a:extLst>
                              <a:ext uri="{A12FA001-AC4F-418D-AE19-62706E023703}">
                                <ahyp:hlinkClr xmlns:ahyp="http://schemas.microsoft.com/office/drawing/2018/hyperlinkcolor" val="tx"/>
                              </a:ext>
                            </a:extLst>
                          </a:hlinkClick>
                        </a:rPr>
                        <a:t>claude-opus-4-20250514-thinking-16k</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1423</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14"/>
                  </a:ext>
                </a:extLst>
              </a:tr>
              <a:tr h="15602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9">
                            <a:extLst>
                              <a:ext uri="{A12FA001-AC4F-418D-AE19-62706E023703}">
                                <ahyp:hlinkClr xmlns:ahyp="http://schemas.microsoft.com/office/drawing/2018/hyperlinkcolor" val="tx"/>
                              </a:ext>
                            </a:extLst>
                          </a:hlinkClick>
                        </a:rPr>
                        <a:t>kimi-k2-thinking</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1422</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15"/>
                  </a:ext>
                </a:extLst>
              </a:tr>
              <a:tr h="15602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30">
                            <a:extLst>
                              <a:ext uri="{A12FA001-AC4F-418D-AE19-62706E023703}">
                                <ahyp:hlinkClr xmlns:ahyp="http://schemas.microsoft.com/office/drawing/2018/hyperlinkcolor" val="tx"/>
                              </a:ext>
                            </a:extLst>
                          </a:hlinkClick>
                        </a:rPr>
                        <a:t>ernie-5.0-preview-1022</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1421</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16"/>
                  </a:ext>
                </a:extLst>
              </a:tr>
              <a:tr h="15602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31">
                            <a:extLst>
                              <a:ext uri="{A12FA001-AC4F-418D-AE19-62706E023703}">
                                <ahyp:hlinkClr xmlns:ahyp="http://schemas.microsoft.com/office/drawing/2018/hyperlinkcolor" val="tx"/>
                              </a:ext>
                            </a:extLst>
                          </a:hlinkClick>
                        </a:rPr>
                        <a:t>deepseek-v3.2-exp-thinking</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1421</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17"/>
                  </a:ext>
                </a:extLst>
              </a:tr>
              <a:tr h="15602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32">
                            <a:extLst>
                              <a:ext uri="{A12FA001-AC4F-418D-AE19-62706E023703}">
                                <ahyp:hlinkClr xmlns:ahyp="http://schemas.microsoft.com/office/drawing/2018/hyperlinkcolor" val="tx"/>
                              </a:ext>
                            </a:extLst>
                          </a:hlinkClick>
                        </a:rPr>
                        <a:t>qwen3-235b-a22b-instruct-2507</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1420</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18"/>
                  </a:ext>
                </a:extLst>
              </a:tr>
              <a:tr h="15602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33">
                            <a:extLst>
                              <a:ext uri="{A12FA001-AC4F-418D-AE19-62706E023703}">
                                <ahyp:hlinkClr xmlns:ahyp="http://schemas.microsoft.com/office/drawing/2018/hyperlinkcolor" val="tx"/>
                              </a:ext>
                            </a:extLst>
                          </a:hlinkClick>
                        </a:rPr>
                        <a:t>grok-4-fast</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1420</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19"/>
                  </a:ext>
                </a:extLst>
              </a:tr>
              <a:tr h="15602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34">
                            <a:extLst>
                              <a:ext uri="{A12FA001-AC4F-418D-AE19-62706E023703}">
                                <ahyp:hlinkClr xmlns:ahyp="http://schemas.microsoft.com/office/drawing/2018/hyperlinkcolor" val="tx"/>
                              </a:ext>
                            </a:extLst>
                          </a:hlinkClick>
                        </a:rPr>
                        <a:t>deepseek-r1-0528</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1417</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20"/>
                  </a:ext>
                </a:extLst>
              </a:tr>
              <a:tr h="15602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35">
                            <a:extLst>
                              <a:ext uri="{A12FA001-AC4F-418D-AE19-62706E023703}">
                                <ahyp:hlinkClr xmlns:ahyp="http://schemas.microsoft.com/office/drawing/2018/hyperlinkcolor" val="tx"/>
                              </a:ext>
                            </a:extLst>
                          </a:hlinkClick>
                        </a:rPr>
                        <a:t>kimi-k2-0905-preview</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1416</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21"/>
                  </a:ext>
                </a:extLst>
              </a:tr>
              <a:tr h="15602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36">
                            <a:extLst>
                              <a:ext uri="{A12FA001-AC4F-418D-AE19-62706E023703}">
                                <ahyp:hlinkClr xmlns:ahyp="http://schemas.microsoft.com/office/drawing/2018/hyperlinkcolor" val="tx"/>
                              </a:ext>
                            </a:extLst>
                          </a:hlinkClick>
                        </a:rPr>
                        <a:t>deepseek-v3.1</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1416</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22"/>
                  </a:ext>
                </a:extLst>
              </a:tr>
              <a:tr h="15602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36">
                            <a:extLst>
                              <a:ext uri="{A12FA001-AC4F-418D-AE19-62706E023703}">
                                <ahyp:hlinkClr xmlns:ahyp="http://schemas.microsoft.com/office/drawing/2018/hyperlinkcolor" val="tx"/>
                              </a:ext>
                            </a:extLst>
                          </a:hlinkClick>
                        </a:rPr>
                        <a:t>deepseek-v3.1-thinking</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1416</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23"/>
                  </a:ext>
                </a:extLst>
              </a:tr>
              <a:tr h="15602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37">
                            <a:extLst>
                              <a:ext uri="{A12FA001-AC4F-418D-AE19-62706E023703}">
                                <ahyp:hlinkClr xmlns:ahyp="http://schemas.microsoft.com/office/drawing/2018/hyperlinkcolor" val="tx"/>
                              </a:ext>
                            </a:extLst>
                          </a:hlinkClick>
                        </a:rPr>
                        <a:t>kimi-k2-0711-preview</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1415</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24"/>
                  </a:ext>
                </a:extLst>
              </a:tr>
            </a:tbl>
          </a:graphicData>
        </a:graphic>
      </p:graphicFrame>
      <p:graphicFrame>
        <p:nvGraphicFramePr>
          <p:cNvPr id="139" name="Google Shape;139;p16"/>
          <p:cNvGraphicFramePr/>
          <p:nvPr/>
        </p:nvGraphicFramePr>
        <p:xfrm>
          <a:off x="3888885" y="559810"/>
          <a:ext cx="3000000" cy="3000000"/>
        </p:xfrm>
        <a:graphic>
          <a:graphicData uri="http://schemas.openxmlformats.org/drawingml/2006/table">
            <a:tbl>
              <a:tblPr>
                <a:noFill/>
                <a:tableStyleId>{073D5FA3-1629-475D-9956-9B35021C5D14}</a:tableStyleId>
              </a:tblPr>
              <a:tblGrid>
                <a:gridCol w="1828800">
                  <a:extLst>
                    <a:ext uri="{9D8B030D-6E8A-4147-A177-3AD203B41FA5}">
                      <a16:colId xmlns:a16="http://schemas.microsoft.com/office/drawing/2014/main" val="20000"/>
                    </a:ext>
                  </a:extLst>
                </a:gridCol>
                <a:gridCol w="314325">
                  <a:extLst>
                    <a:ext uri="{9D8B030D-6E8A-4147-A177-3AD203B41FA5}">
                      <a16:colId xmlns:a16="http://schemas.microsoft.com/office/drawing/2014/main" val="20001"/>
                    </a:ext>
                  </a:extLst>
                </a:gridCol>
              </a:tblGrid>
              <a:tr h="148350">
                <a:tc>
                  <a:txBody>
                    <a:bodyPr/>
                    <a:lstStyle/>
                    <a:p>
                      <a:pPr marL="0" lvl="0" indent="0" algn="l" rtl="0">
                        <a:lnSpc>
                          <a:spcPct val="115000"/>
                        </a:lnSpc>
                        <a:spcBef>
                          <a:spcPts val="0"/>
                        </a:spcBef>
                        <a:spcAft>
                          <a:spcPts val="0"/>
                        </a:spcAft>
                        <a:buNone/>
                      </a:pPr>
                      <a:r>
                        <a:rPr lang="en" sz="800">
                          <a:latin typeface="Calibri"/>
                          <a:ea typeface="Calibri"/>
                          <a:cs typeface="Calibri"/>
                          <a:sym typeface="Calibri"/>
                        </a:rPr>
                        <a:t>Model</a:t>
                      </a:r>
                      <a:endParaRPr sz="800">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l" rtl="0">
                        <a:lnSpc>
                          <a:spcPct val="115000"/>
                        </a:lnSpc>
                        <a:spcBef>
                          <a:spcPts val="0"/>
                        </a:spcBef>
                        <a:spcAft>
                          <a:spcPts val="0"/>
                        </a:spcAft>
                        <a:buNone/>
                      </a:pPr>
                      <a:r>
                        <a:rPr lang="en" sz="800">
                          <a:latin typeface="Calibri"/>
                          <a:ea typeface="Calibri"/>
                          <a:cs typeface="Calibri"/>
                          <a:sym typeface="Calibri"/>
                        </a:rPr>
                        <a:t>Score</a:t>
                      </a:r>
                      <a:endParaRPr sz="800">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00"/>
                  </a:ext>
                </a:extLst>
              </a:tr>
              <a:tr h="148350">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18">
                            <a:extLst>
                              <a:ext uri="{A12FA001-AC4F-418D-AE19-62706E023703}">
                                <ahyp:hlinkClr xmlns:ahyp="http://schemas.microsoft.com/office/drawing/2018/hyperlinkcolor" val="tx"/>
                              </a:ext>
                            </a:extLst>
                          </a:hlinkClick>
                        </a:rPr>
                        <a:t>claude-sonnet-4-5-20250929-thinking-32k</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1525</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01"/>
                  </a:ext>
                </a:extLst>
              </a:tr>
              <a:tr h="148350">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19">
                            <a:extLst>
                              <a:ext uri="{A12FA001-AC4F-418D-AE19-62706E023703}">
                                <ahyp:hlinkClr xmlns:ahyp="http://schemas.microsoft.com/office/drawing/2018/hyperlinkcolor" val="tx"/>
                              </a:ext>
                            </a:extLst>
                          </a:hlinkClick>
                        </a:rPr>
                        <a:t>claude-opus-4-1-20250805-thinking-16k</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1514</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02"/>
                  </a:ext>
                </a:extLst>
              </a:tr>
              <a:tr h="148350">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19">
                            <a:extLst>
                              <a:ext uri="{A12FA001-AC4F-418D-AE19-62706E023703}">
                                <ahyp:hlinkClr xmlns:ahyp="http://schemas.microsoft.com/office/drawing/2018/hyperlinkcolor" val="tx"/>
                              </a:ext>
                            </a:extLst>
                          </a:hlinkClick>
                        </a:rPr>
                        <a:t>claude-opus-4-1-20250805</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1501</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03"/>
                  </a:ext>
                </a:extLst>
              </a:tr>
              <a:tr h="148350">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18">
                            <a:extLst>
                              <a:ext uri="{A12FA001-AC4F-418D-AE19-62706E023703}">
                                <ahyp:hlinkClr xmlns:ahyp="http://schemas.microsoft.com/office/drawing/2018/hyperlinkcolor" val="tx"/>
                              </a:ext>
                            </a:extLst>
                          </a:hlinkClick>
                        </a:rPr>
                        <a:t>claude-sonnet-4-5-20250929</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1495</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04"/>
                  </a:ext>
                </a:extLst>
              </a:tr>
              <a:tr h="148350">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8">
                            <a:extLst>
                              <a:ext uri="{A12FA001-AC4F-418D-AE19-62706E023703}">
                                <ahyp:hlinkClr xmlns:ahyp="http://schemas.microsoft.com/office/drawing/2018/hyperlinkcolor" val="tx"/>
                              </a:ext>
                            </a:extLst>
                          </a:hlinkClick>
                        </a:rPr>
                        <a:t>claude-opus-4-20250514-thinking-16k</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1495</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05"/>
                  </a:ext>
                </a:extLst>
              </a:tr>
              <a:tr h="148350">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4">
                            <a:extLst>
                              <a:ext uri="{A12FA001-AC4F-418D-AE19-62706E023703}">
                                <ahyp:hlinkClr xmlns:ahyp="http://schemas.microsoft.com/office/drawing/2018/hyperlinkcolor" val="tx"/>
                              </a:ext>
                            </a:extLst>
                          </a:hlinkClick>
                        </a:rPr>
                        <a:t>qwen3-max-preview</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1482</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06"/>
                  </a:ext>
                </a:extLst>
              </a:tr>
              <a:tr h="148350">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38">
                            <a:extLst>
                              <a:ext uri="{A12FA001-AC4F-418D-AE19-62706E023703}">
                                <ahyp:hlinkClr xmlns:ahyp="http://schemas.microsoft.com/office/drawing/2018/hyperlinkcolor" val="tx"/>
                              </a:ext>
                            </a:extLst>
                          </a:hlinkClick>
                        </a:rPr>
                        <a:t>claude-haiku-4-5-20251001</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1476</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07"/>
                  </a:ext>
                </a:extLst>
              </a:tr>
              <a:tr h="148350">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7">
                            <a:extLst>
                              <a:ext uri="{A12FA001-AC4F-418D-AE19-62706E023703}">
                                <ahyp:hlinkClr xmlns:ahyp="http://schemas.microsoft.com/office/drawing/2018/hyperlinkcolor" val="tx"/>
                              </a:ext>
                            </a:extLst>
                          </a:hlinkClick>
                        </a:rPr>
                        <a:t>qwen3-max-2025-09-23</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1474</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08"/>
                  </a:ext>
                </a:extLst>
              </a:tr>
              <a:tr h="148350">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39">
                            <a:extLst>
                              <a:ext uri="{A12FA001-AC4F-418D-AE19-62706E023703}">
                                <ahyp:hlinkClr xmlns:ahyp="http://schemas.microsoft.com/office/drawing/2018/hyperlinkcolor" val="tx"/>
                              </a:ext>
                            </a:extLst>
                          </a:hlinkClick>
                        </a:rPr>
                        <a:t>longcat-flash-chat</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1474</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09"/>
                  </a:ext>
                </a:extLst>
              </a:tr>
              <a:tr h="148350">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9">
                            <a:extLst>
                              <a:ext uri="{A12FA001-AC4F-418D-AE19-62706E023703}">
                                <ahyp:hlinkClr xmlns:ahyp="http://schemas.microsoft.com/office/drawing/2018/hyperlinkcolor" val="tx"/>
                              </a:ext>
                            </a:extLst>
                          </a:hlinkClick>
                        </a:rPr>
                        <a:t>kimi-k2-thinking</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1473</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10"/>
                  </a:ext>
                </a:extLst>
              </a:tr>
              <a:tr h="148350">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5">
                            <a:extLst>
                              <a:ext uri="{A12FA001-AC4F-418D-AE19-62706E023703}">
                                <ahyp:hlinkClr xmlns:ahyp="http://schemas.microsoft.com/office/drawing/2018/hyperlinkcolor" val="tx"/>
                              </a:ext>
                            </a:extLst>
                          </a:hlinkClick>
                        </a:rPr>
                        <a:t>glm-4.6</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1472</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11"/>
                  </a:ext>
                </a:extLst>
              </a:tr>
              <a:tr h="148350">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17">
                            <a:extLst>
                              <a:ext uri="{A12FA001-AC4F-418D-AE19-62706E023703}">
                                <ahyp:hlinkClr xmlns:ahyp="http://schemas.microsoft.com/office/drawing/2018/hyperlinkcolor" val="tx"/>
                              </a:ext>
                            </a:extLst>
                          </a:hlinkClick>
                        </a:rPr>
                        <a:t>gemini-2.5-pro</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1472</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12"/>
                  </a:ext>
                </a:extLst>
              </a:tr>
              <a:tr h="148350">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31">
                            <a:extLst>
                              <a:ext uri="{A12FA001-AC4F-418D-AE19-62706E023703}">
                                <ahyp:hlinkClr xmlns:ahyp="http://schemas.microsoft.com/office/drawing/2018/hyperlinkcolor" val="tx"/>
                              </a:ext>
                            </a:extLst>
                          </a:hlinkClick>
                        </a:rPr>
                        <a:t>deepseek-v3.2-exp-thinking</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1471</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13"/>
                  </a:ext>
                </a:extLst>
              </a:tr>
              <a:tr h="148350">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2">
                            <a:extLst>
                              <a:ext uri="{A12FA001-AC4F-418D-AE19-62706E023703}">
                                <ahyp:hlinkClr xmlns:ahyp="http://schemas.microsoft.com/office/drawing/2018/hyperlinkcolor" val="tx"/>
                              </a:ext>
                            </a:extLst>
                          </a:hlinkClick>
                        </a:rPr>
                        <a:t>gpt-5-high</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1471</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14"/>
                  </a:ext>
                </a:extLst>
              </a:tr>
              <a:tr h="148350">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32">
                            <a:extLst>
                              <a:ext uri="{A12FA001-AC4F-418D-AE19-62706E023703}">
                                <ahyp:hlinkClr xmlns:ahyp="http://schemas.microsoft.com/office/drawing/2018/hyperlinkcolor" val="tx"/>
                              </a:ext>
                            </a:extLst>
                          </a:hlinkClick>
                        </a:rPr>
                        <a:t>qwen3-235b-a22b-instruct-2507</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1470</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15"/>
                  </a:ext>
                </a:extLst>
              </a:tr>
              <a:tr h="148350">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8">
                            <a:extLst>
                              <a:ext uri="{A12FA001-AC4F-418D-AE19-62706E023703}">
                                <ahyp:hlinkClr xmlns:ahyp="http://schemas.microsoft.com/office/drawing/2018/hyperlinkcolor" val="tx"/>
                              </a:ext>
                            </a:extLst>
                          </a:hlinkClick>
                        </a:rPr>
                        <a:t>claude-sonnet-4-20250514-thinking-32k</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1469</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16"/>
                  </a:ext>
                </a:extLst>
              </a:tr>
              <a:tr h="148350">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35">
                            <a:extLst>
                              <a:ext uri="{A12FA001-AC4F-418D-AE19-62706E023703}">
                                <ahyp:hlinkClr xmlns:ahyp="http://schemas.microsoft.com/office/drawing/2018/hyperlinkcolor" val="tx"/>
                              </a:ext>
                            </a:extLst>
                          </a:hlinkClick>
                        </a:rPr>
                        <a:t>kimi-k2-0905-preview</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1465</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17"/>
                  </a:ext>
                </a:extLst>
              </a:tr>
              <a:tr h="148350">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40">
                            <a:extLst>
                              <a:ext uri="{A12FA001-AC4F-418D-AE19-62706E023703}">
                                <ahyp:hlinkClr xmlns:ahyp="http://schemas.microsoft.com/office/drawing/2018/hyperlinkcolor" val="tx"/>
                              </a:ext>
                            </a:extLst>
                          </a:hlinkClick>
                        </a:rPr>
                        <a:t>qwen3-vl-235b-a22b-instruct</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1465</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18"/>
                  </a:ext>
                </a:extLst>
              </a:tr>
              <a:tr h="148350">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1">
                            <a:extLst>
                              <a:ext uri="{A12FA001-AC4F-418D-AE19-62706E023703}">
                                <ahyp:hlinkClr xmlns:ahyp="http://schemas.microsoft.com/office/drawing/2018/hyperlinkcolor" val="tx"/>
                              </a:ext>
                            </a:extLst>
                          </a:hlinkClick>
                        </a:rPr>
                        <a:t>chatgpt-4o-latest-20250326</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1463</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19"/>
                  </a:ext>
                </a:extLst>
              </a:tr>
              <a:tr h="148350">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34">
                            <a:extLst>
                              <a:ext uri="{A12FA001-AC4F-418D-AE19-62706E023703}">
                                <ahyp:hlinkClr xmlns:ahyp="http://schemas.microsoft.com/office/drawing/2018/hyperlinkcolor" val="tx"/>
                              </a:ext>
                            </a:extLst>
                          </a:hlinkClick>
                        </a:rPr>
                        <a:t>deepseek-r1-0528</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1462</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20"/>
                  </a:ext>
                </a:extLst>
              </a:tr>
              <a:tr h="148350">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8">
                            <a:extLst>
                              <a:ext uri="{A12FA001-AC4F-418D-AE19-62706E023703}">
                                <ahyp:hlinkClr xmlns:ahyp="http://schemas.microsoft.com/office/drawing/2018/hyperlinkcolor" val="tx"/>
                              </a:ext>
                            </a:extLst>
                          </a:hlinkClick>
                        </a:rPr>
                        <a:t>claude-opus-4-20250514</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1461</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21"/>
                  </a:ext>
                </a:extLst>
              </a:tr>
              <a:tr h="148350">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6">
                            <a:extLst>
                              <a:ext uri="{A12FA001-AC4F-418D-AE19-62706E023703}">
                                <ahyp:hlinkClr xmlns:ahyp="http://schemas.microsoft.com/office/drawing/2018/hyperlinkcolor" val="tx"/>
                              </a:ext>
                            </a:extLst>
                          </a:hlinkClick>
                        </a:rPr>
                        <a:t>gpt-5-chat</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1459</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22"/>
                  </a:ext>
                </a:extLst>
              </a:tr>
              <a:tr h="148350">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41">
                            <a:extLst>
                              <a:ext uri="{A12FA001-AC4F-418D-AE19-62706E023703}">
                                <ahyp:hlinkClr xmlns:ahyp="http://schemas.microsoft.com/office/drawing/2018/hyperlinkcolor" val="tx"/>
                              </a:ext>
                            </a:extLst>
                          </a:hlinkClick>
                        </a:rPr>
                        <a:t>deepseek-v3.1-terminus-thinking</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1458</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23"/>
                  </a:ext>
                </a:extLst>
              </a:tr>
              <a:tr h="148350">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3">
                            <a:extLst>
                              <a:ext uri="{A12FA001-AC4F-418D-AE19-62706E023703}">
                                <ahyp:hlinkClr xmlns:ahyp="http://schemas.microsoft.com/office/drawing/2018/hyperlinkcolor" val="tx"/>
                              </a:ext>
                            </a:extLst>
                          </a:hlinkClick>
                        </a:rPr>
                        <a:t>o3-2025-04-16</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1457</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24"/>
                  </a:ext>
                </a:extLst>
              </a:tr>
            </a:tbl>
          </a:graphicData>
        </a:graphic>
      </p:graphicFrame>
      <p:sp>
        <p:nvSpPr>
          <p:cNvPr id="140" name="Google Shape;140;p16"/>
          <p:cNvSpPr/>
          <p:nvPr/>
        </p:nvSpPr>
        <p:spPr>
          <a:xfrm>
            <a:off x="3750579" y="1848053"/>
            <a:ext cx="125400" cy="125400"/>
          </a:xfrm>
          <a:prstGeom prst="ellipse">
            <a:avLst/>
          </a:prstGeom>
          <a:solidFill>
            <a:srgbClr val="3C78D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41" name="Google Shape;141;p16"/>
          <p:cNvSpPr txBox="1"/>
          <p:nvPr/>
        </p:nvSpPr>
        <p:spPr>
          <a:xfrm>
            <a:off x="3441159" y="2200665"/>
            <a:ext cx="288900" cy="141600"/>
          </a:xfrm>
          <a:prstGeom prst="rect">
            <a:avLst/>
          </a:prstGeom>
          <a:no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1F2937"/>
                </a:solidFill>
                <a:highlight>
                  <a:srgbClr val="FFFFFF"/>
                </a:highlight>
                <a:latin typeface="Calibri"/>
                <a:ea typeface="Calibri"/>
                <a:cs typeface="Calibri"/>
                <a:sym typeface="Calibri"/>
              </a:rPr>
              <a:t>China</a:t>
            </a:r>
            <a:endParaRPr sz="800" b="0" i="0" u="none" strike="noStrike" cap="none">
              <a:solidFill>
                <a:srgbClr val="1F2937"/>
              </a:solidFill>
              <a:highlight>
                <a:srgbClr val="FFFFFF"/>
              </a:highlight>
              <a:latin typeface="Calibri"/>
              <a:ea typeface="Calibri"/>
              <a:cs typeface="Calibri"/>
              <a:sym typeface="Calibri"/>
            </a:endParaRPr>
          </a:p>
        </p:txBody>
      </p:sp>
      <p:sp>
        <p:nvSpPr>
          <p:cNvPr id="142" name="Google Shape;142;p16"/>
          <p:cNvSpPr/>
          <p:nvPr/>
        </p:nvSpPr>
        <p:spPr>
          <a:xfrm>
            <a:off x="3741616" y="2211954"/>
            <a:ext cx="125400" cy="125400"/>
          </a:xfrm>
          <a:prstGeom prst="ellipse">
            <a:avLst/>
          </a:prstGeom>
          <a:solidFill>
            <a:srgbClr val="6AA84F"/>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43" name="Google Shape;143;p16"/>
          <p:cNvSpPr txBox="1"/>
          <p:nvPr/>
        </p:nvSpPr>
        <p:spPr>
          <a:xfrm>
            <a:off x="3440038" y="2569338"/>
            <a:ext cx="288900" cy="141600"/>
          </a:xfrm>
          <a:prstGeom prst="rect">
            <a:avLst/>
          </a:prstGeom>
          <a:no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1F2937"/>
                </a:solidFill>
                <a:highlight>
                  <a:srgbClr val="FFFFFF"/>
                </a:highlight>
                <a:latin typeface="Calibri"/>
                <a:ea typeface="Calibri"/>
                <a:cs typeface="Calibri"/>
                <a:sym typeface="Calibri"/>
              </a:rPr>
              <a:t>China</a:t>
            </a:r>
            <a:endParaRPr sz="800" b="0" i="0" u="none" strike="noStrike" cap="none">
              <a:solidFill>
                <a:srgbClr val="1F2937"/>
              </a:solidFill>
              <a:highlight>
                <a:srgbClr val="FFFFFF"/>
              </a:highlight>
              <a:latin typeface="Calibri"/>
              <a:ea typeface="Calibri"/>
              <a:cs typeface="Calibri"/>
              <a:sym typeface="Calibri"/>
            </a:endParaRPr>
          </a:p>
        </p:txBody>
      </p:sp>
      <p:sp>
        <p:nvSpPr>
          <p:cNvPr id="144" name="Google Shape;144;p16"/>
          <p:cNvSpPr/>
          <p:nvPr/>
        </p:nvSpPr>
        <p:spPr>
          <a:xfrm>
            <a:off x="3740495" y="2580627"/>
            <a:ext cx="125400" cy="125400"/>
          </a:xfrm>
          <a:prstGeom prst="ellipse">
            <a:avLst/>
          </a:prstGeom>
          <a:solidFill>
            <a:srgbClr val="6AA84F"/>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45" name="Google Shape;145;p16"/>
          <p:cNvSpPr txBox="1"/>
          <p:nvPr/>
        </p:nvSpPr>
        <p:spPr>
          <a:xfrm>
            <a:off x="3458789" y="4752166"/>
            <a:ext cx="287100" cy="141600"/>
          </a:xfrm>
          <a:prstGeom prst="rect">
            <a:avLst/>
          </a:prstGeom>
          <a:no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1F2937"/>
                </a:solidFill>
                <a:highlight>
                  <a:srgbClr val="FFFFFF"/>
                </a:highlight>
                <a:latin typeface="Calibri"/>
                <a:ea typeface="Calibri"/>
                <a:cs typeface="Calibri"/>
                <a:sym typeface="Calibri"/>
              </a:rPr>
              <a:t>China</a:t>
            </a:r>
            <a:endParaRPr sz="800" b="0" i="0" u="none" strike="noStrike" cap="none">
              <a:solidFill>
                <a:srgbClr val="1F2937"/>
              </a:solidFill>
              <a:highlight>
                <a:srgbClr val="FFFFFF"/>
              </a:highlight>
              <a:latin typeface="Calibri"/>
              <a:ea typeface="Calibri"/>
              <a:cs typeface="Calibri"/>
              <a:sym typeface="Calibri"/>
            </a:endParaRPr>
          </a:p>
        </p:txBody>
      </p:sp>
      <p:sp>
        <p:nvSpPr>
          <p:cNvPr id="146" name="Google Shape;146;p16"/>
          <p:cNvSpPr/>
          <p:nvPr/>
        </p:nvSpPr>
        <p:spPr>
          <a:xfrm>
            <a:off x="3749658" y="4760560"/>
            <a:ext cx="125400" cy="125400"/>
          </a:xfrm>
          <a:prstGeom prst="ellipse">
            <a:avLst/>
          </a:prstGeom>
          <a:solidFill>
            <a:srgbClr val="6AA84F"/>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50"/>
        <p:cNvGrpSpPr/>
        <p:nvPr/>
      </p:nvGrpSpPr>
      <p:grpSpPr>
        <a:xfrm>
          <a:off x="0" y="0"/>
          <a:ext cx="0" cy="0"/>
          <a:chOff x="0" y="0"/>
          <a:chExt cx="0" cy="0"/>
        </a:xfrm>
      </p:grpSpPr>
      <p:sp>
        <p:nvSpPr>
          <p:cNvPr id="151" name="Google Shape;151;p17"/>
          <p:cNvSpPr txBox="1"/>
          <p:nvPr/>
        </p:nvSpPr>
        <p:spPr>
          <a:xfrm>
            <a:off x="55075" y="20375"/>
            <a:ext cx="44445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AI Updates - 1</a:t>
            </a:r>
            <a:endParaRPr sz="2000" b="1" i="0" u="none" strike="noStrike" cap="none">
              <a:solidFill>
                <a:schemeClr val="dk1"/>
              </a:solidFill>
              <a:latin typeface="Calibri"/>
              <a:ea typeface="Calibri"/>
              <a:cs typeface="Calibri"/>
              <a:sym typeface="Calibri"/>
            </a:endParaRPr>
          </a:p>
        </p:txBody>
      </p:sp>
      <p:sp>
        <p:nvSpPr>
          <p:cNvPr id="152" name="Google Shape;152;p17"/>
          <p:cNvSpPr txBox="1"/>
          <p:nvPr/>
        </p:nvSpPr>
        <p:spPr>
          <a:xfrm>
            <a:off x="55075" y="443275"/>
            <a:ext cx="4444500" cy="44208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Clr>
                <a:srgbClr val="FF0000"/>
              </a:buClr>
              <a:buSzPts val="1100"/>
              <a:buFont typeface="Calibri"/>
              <a:buChar char="●"/>
            </a:pPr>
            <a:r>
              <a:rPr lang="en" sz="1100" b="1">
                <a:solidFill>
                  <a:srgbClr val="FF0000"/>
                </a:solidFill>
                <a:latin typeface="Calibri"/>
                <a:ea typeface="Calibri"/>
                <a:cs typeface="Calibri"/>
                <a:sym typeface="Calibri"/>
              </a:rPr>
              <a:t>Grok 4.1 claimed the #1 position on the LM Arena leaderboard</a:t>
            </a:r>
            <a:endParaRPr sz="1100" b="1">
              <a:solidFill>
                <a:srgbClr val="FF0000"/>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surpassing Google's Gemini 2.5 Pro </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Released on November 17, 2025 (was silently rolled out for 2 weeks)</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Achieves exceptional rankings across multiple benchmarks</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Reduced hallucination (via massive RL compute - hallucination rate dropped from 12.09% to 4.22%)</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xAI developed new methods using "frontier agentic reasoning models as reward models to autonomously evaluate and iterate on responses at scale". This represents AI-judged reinforcement learning (RLHF's AI equivalent) where one model evaluates another's subjective outputs like poetry or emotional responses</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Better creative writing, richer storytelling, stronger coherence, and more vivid prose compared to previous versions. Response quality is more concise and focused, eliminating the verbose "blabber"</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Native multimodal generation, automatically outputting images, tables, and structured content as part of natural conversations</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Good coding abilities, but still lags behind Claude Sonnet 3.5 and GPT </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The model successfully solved complex logical reasoning puzzles, including the "Three Gods" riddle requiring self-referential questions and deduction through uncertainty</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Grok 4.1 is available to all users, including free tier accounts, through grok.com and mobile apps for iOS and Android. Free users receive 10 requests per 2 hours</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u="sng">
                <a:solidFill>
                  <a:schemeClr val="hlink"/>
                </a:solidFill>
                <a:latin typeface="Calibri"/>
                <a:ea typeface="Calibri"/>
                <a:cs typeface="Calibri"/>
                <a:sym typeface="Calibri"/>
                <a:hlinkClick r:id="rId3"/>
              </a:rPr>
              <a:t>https://www.youtube.com/watch?v=Z5ulfaRTI1s</a:t>
            </a:r>
            <a:r>
              <a:rPr lang="en" sz="1100">
                <a:solidFill>
                  <a:schemeClr val="dk1"/>
                </a:solidFill>
                <a:latin typeface="Calibri"/>
                <a:ea typeface="Calibri"/>
                <a:cs typeface="Calibri"/>
                <a:sym typeface="Calibri"/>
              </a:rPr>
              <a:t> </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u="sng">
                <a:solidFill>
                  <a:schemeClr val="hlink"/>
                </a:solidFill>
                <a:latin typeface="Calibri"/>
                <a:ea typeface="Calibri"/>
                <a:cs typeface="Calibri"/>
                <a:sym typeface="Calibri"/>
                <a:hlinkClick r:id="rId4"/>
              </a:rPr>
              <a:t>https://www.youtube.com/watch?v=wIR6tRlxgp4</a:t>
            </a:r>
            <a:r>
              <a:rPr lang="en" sz="1100">
                <a:solidFill>
                  <a:schemeClr val="dk1"/>
                </a:solidFill>
                <a:latin typeface="Calibri"/>
                <a:ea typeface="Calibri"/>
                <a:cs typeface="Calibri"/>
                <a:sym typeface="Calibri"/>
              </a:rPr>
              <a:t> </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u="sng">
                <a:solidFill>
                  <a:schemeClr val="hlink"/>
                </a:solidFill>
                <a:latin typeface="Calibri"/>
                <a:ea typeface="Calibri"/>
                <a:cs typeface="Calibri"/>
                <a:sym typeface="Calibri"/>
                <a:hlinkClick r:id="rId5"/>
              </a:rPr>
              <a:t>https://x.ai/news/grok-4-1</a:t>
            </a:r>
            <a:r>
              <a:rPr lang="en" sz="1100">
                <a:solidFill>
                  <a:schemeClr val="dk1"/>
                </a:solidFill>
                <a:latin typeface="Calibri"/>
                <a:ea typeface="Calibri"/>
                <a:cs typeface="Calibri"/>
                <a:sym typeface="Calibri"/>
              </a:rPr>
              <a:t> </a:t>
            </a:r>
            <a:endParaRPr sz="1100">
              <a:solidFill>
                <a:schemeClr val="dk1"/>
              </a:solidFill>
              <a:latin typeface="Calibri"/>
              <a:ea typeface="Calibri"/>
              <a:cs typeface="Calibri"/>
              <a:sym typeface="Calibri"/>
            </a:endParaRPr>
          </a:p>
        </p:txBody>
      </p:sp>
      <p:pic>
        <p:nvPicPr>
          <p:cNvPr id="153" name="Google Shape;153;p17"/>
          <p:cNvPicPr preferRelativeResize="0"/>
          <p:nvPr/>
        </p:nvPicPr>
        <p:blipFill>
          <a:blip r:embed="rId6" cstate="email">
            <a:alphaModFix/>
            <a:extLst>
              <a:ext uri="{28A0092B-C50C-407E-A947-70E740481C1C}">
                <a14:useLocalDpi xmlns:a14="http://schemas.microsoft.com/office/drawing/2010/main"/>
              </a:ext>
            </a:extLst>
          </a:blip>
          <a:stretch>
            <a:fillRect/>
          </a:stretch>
        </p:blipFill>
        <p:spPr>
          <a:xfrm>
            <a:off x="4665900" y="780725"/>
            <a:ext cx="2583975" cy="1519225"/>
          </a:xfrm>
          <a:prstGeom prst="rect">
            <a:avLst/>
          </a:prstGeom>
          <a:noFill/>
          <a:ln w="9525" cap="flat" cmpd="sng">
            <a:solidFill>
              <a:srgbClr val="FF0000"/>
            </a:solidFill>
            <a:prstDash val="solid"/>
            <a:round/>
            <a:headEnd type="none" w="sm" len="sm"/>
            <a:tailEnd type="none" w="sm" len="sm"/>
          </a:ln>
        </p:spPr>
      </p:pic>
      <p:pic>
        <p:nvPicPr>
          <p:cNvPr id="154" name="Google Shape;154;p17"/>
          <p:cNvPicPr preferRelativeResize="0"/>
          <p:nvPr/>
        </p:nvPicPr>
        <p:blipFill>
          <a:blip r:embed="rId7" cstate="email">
            <a:alphaModFix/>
            <a:extLst>
              <a:ext uri="{28A0092B-C50C-407E-A947-70E740481C1C}">
                <a14:useLocalDpi xmlns:a14="http://schemas.microsoft.com/office/drawing/2010/main"/>
              </a:ext>
            </a:extLst>
          </a:blip>
          <a:stretch>
            <a:fillRect/>
          </a:stretch>
        </p:blipFill>
        <p:spPr>
          <a:xfrm>
            <a:off x="4665900" y="2398950"/>
            <a:ext cx="870152" cy="975625"/>
          </a:xfrm>
          <a:prstGeom prst="rect">
            <a:avLst/>
          </a:prstGeom>
          <a:noFill/>
          <a:ln w="9525" cap="flat" cmpd="sng">
            <a:solidFill>
              <a:srgbClr val="FF0000"/>
            </a:solidFill>
            <a:prstDash val="solid"/>
            <a:round/>
            <a:headEnd type="none" w="sm" len="sm"/>
            <a:tailEnd type="none" w="sm" len="sm"/>
          </a:ln>
        </p:spPr>
      </p:pic>
      <p:sp>
        <p:nvSpPr>
          <p:cNvPr id="155" name="Google Shape;155;p17"/>
          <p:cNvSpPr txBox="1"/>
          <p:nvPr/>
        </p:nvSpPr>
        <p:spPr>
          <a:xfrm>
            <a:off x="4665900" y="3473575"/>
            <a:ext cx="4347600" cy="1373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Grok-5 release is planned for Q1 2026. 6 Trillion params, double the size of Grok-4 3 Trillion params. The model will be inherently multimodal (text, pictures, video, audio), feature superior tool creation and use capabilities, and include real-time video understanding</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Plan - Encyclopedia Galactica Project - open-source repository of all human knowledge</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Plan - Space-Based AI Infrastructure - solar-powered AI satellites in orbit (similar to Google's Project Suncatcher).</a:t>
            </a:r>
            <a:endParaRPr sz="1100">
              <a:solidFill>
                <a:schemeClr val="dk1"/>
              </a:solidFill>
              <a:latin typeface="Calibri"/>
              <a:ea typeface="Calibri"/>
              <a:cs typeface="Calibri"/>
              <a:sym typeface="Calibri"/>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59"/>
        <p:cNvGrpSpPr/>
        <p:nvPr/>
      </p:nvGrpSpPr>
      <p:grpSpPr>
        <a:xfrm>
          <a:off x="0" y="0"/>
          <a:ext cx="0" cy="0"/>
          <a:chOff x="0" y="0"/>
          <a:chExt cx="0" cy="0"/>
        </a:xfrm>
      </p:grpSpPr>
      <p:sp>
        <p:nvSpPr>
          <p:cNvPr id="160" name="Google Shape;160;p18"/>
          <p:cNvSpPr txBox="1"/>
          <p:nvPr/>
        </p:nvSpPr>
        <p:spPr>
          <a:xfrm>
            <a:off x="55075" y="20375"/>
            <a:ext cx="44445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AI Updates - 1</a:t>
            </a:r>
            <a:endParaRPr sz="2000" b="1" i="0" u="none" strike="noStrike" cap="none">
              <a:solidFill>
                <a:schemeClr val="dk1"/>
              </a:solidFill>
              <a:latin typeface="Calibri"/>
              <a:ea typeface="Calibri"/>
              <a:cs typeface="Calibri"/>
              <a:sym typeface="Calibri"/>
            </a:endParaRPr>
          </a:p>
        </p:txBody>
      </p:sp>
      <p:sp>
        <p:nvSpPr>
          <p:cNvPr id="161" name="Google Shape;161;p18"/>
          <p:cNvSpPr txBox="1"/>
          <p:nvPr/>
        </p:nvSpPr>
        <p:spPr>
          <a:xfrm>
            <a:off x="55075" y="443276"/>
            <a:ext cx="4444500" cy="3066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Clr>
                <a:srgbClr val="FF0000"/>
              </a:buClr>
              <a:buSzPts val="1100"/>
              <a:buFont typeface="Calibri"/>
              <a:buChar char="●"/>
            </a:pPr>
            <a:r>
              <a:rPr lang="en" sz="1100" b="1">
                <a:solidFill>
                  <a:srgbClr val="FF0000"/>
                </a:solidFill>
                <a:latin typeface="Calibri"/>
                <a:ea typeface="Calibri"/>
                <a:cs typeface="Calibri"/>
                <a:sym typeface="Calibri"/>
              </a:rPr>
              <a:t>China photonic quantum chip</a:t>
            </a:r>
            <a:endParaRPr sz="1100" b="1">
              <a:solidFill>
                <a:srgbClr val="FF0000"/>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u="sng">
                <a:solidFill>
                  <a:schemeClr val="hlink"/>
                </a:solidFill>
                <a:latin typeface="Calibri"/>
                <a:ea typeface="Calibri"/>
                <a:cs typeface="Calibri"/>
                <a:sym typeface="Calibri"/>
                <a:hlinkClick r:id="rId3"/>
              </a:rPr>
              <a:t>https://www.youtube.com/watch?v=OA02eRm11JU</a:t>
            </a:r>
            <a:r>
              <a:rPr lang="en" sz="1100">
                <a:solidFill>
                  <a:schemeClr val="dk1"/>
                </a:solidFill>
                <a:latin typeface="Calibri"/>
                <a:ea typeface="Calibri"/>
                <a:cs typeface="Calibri"/>
                <a:sym typeface="Calibri"/>
              </a:rPr>
              <a:t> </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Claims 1000x speed boost over NVIDIA GPUs for specific AI jobs</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The chip was developed jointly by CHIPX (Chip Hub for Integrated Photonics Xplore), a Wuxi-based institute affiliated with Shanghai Jiao Tong University, and Turing Quantum, a Shanghai-based startup</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The Chip uses photons (light) as information carriers rather than electrical signals; has 1K+ optical components in a single 6-inch thin-film lithium niobate wafer using a monolithic design</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Electronic and photonic components on the same wafer</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CHIPX has established China's first pilot production line for 12K wafers per year. Each wafer yielding approximately 350 chips</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The chip is already being used across aerospace, biomedicine, and finance sectors, providing computational capabilities that exceed classical computer limits for specific problem types</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The developers describe this as the 1st  "industrial-grade" optical quantum chip, indicating a shift from laboratory prototypes to production-ready data center hardware</a:t>
            </a:r>
            <a:endParaRPr sz="1100">
              <a:solidFill>
                <a:schemeClr val="dk1"/>
              </a:solidFill>
              <a:latin typeface="Calibri"/>
              <a:ea typeface="Calibri"/>
              <a:cs typeface="Calibri"/>
              <a:sym typeface="Calibri"/>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65"/>
        <p:cNvGrpSpPr/>
        <p:nvPr/>
      </p:nvGrpSpPr>
      <p:grpSpPr>
        <a:xfrm>
          <a:off x="0" y="0"/>
          <a:ext cx="0" cy="0"/>
          <a:chOff x="0" y="0"/>
          <a:chExt cx="0" cy="0"/>
        </a:xfrm>
      </p:grpSpPr>
      <p:sp>
        <p:nvSpPr>
          <p:cNvPr id="166" name="Google Shape;166;p19"/>
          <p:cNvSpPr txBox="1"/>
          <p:nvPr/>
        </p:nvSpPr>
        <p:spPr>
          <a:xfrm>
            <a:off x="148651" y="619300"/>
            <a:ext cx="4917900" cy="41868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chemeClr val="dk1"/>
              </a:buClr>
              <a:buSzPts val="2500"/>
              <a:buFont typeface="Arial"/>
              <a:buNone/>
            </a:pPr>
            <a:r>
              <a:rPr lang="en" sz="2200">
                <a:solidFill>
                  <a:schemeClr val="dk1"/>
                </a:solidFill>
                <a:latin typeface="Calibri"/>
                <a:ea typeface="Calibri"/>
                <a:cs typeface="Calibri"/>
                <a:sym typeface="Calibri"/>
              </a:rPr>
              <a:t>We do these weekly videos every Friday</a:t>
            </a:r>
            <a:endParaRPr sz="22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2500"/>
              <a:buFont typeface="Arial"/>
              <a:buNone/>
            </a:pPr>
            <a:r>
              <a:rPr lang="en" sz="2200">
                <a:solidFill>
                  <a:schemeClr val="dk1"/>
                </a:solidFill>
                <a:latin typeface="Calibri"/>
                <a:ea typeface="Calibri"/>
                <a:cs typeface="Calibri"/>
                <a:sym typeface="Calibri"/>
              </a:rPr>
              <a:t>Stats: 5.64K subscribers, 253 videos</a:t>
            </a:r>
            <a:endParaRPr sz="2200">
              <a:solidFill>
                <a:schemeClr val="dk1"/>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2500"/>
              <a:buFont typeface="Arial"/>
              <a:buNone/>
            </a:pPr>
            <a:endParaRPr sz="22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2500"/>
              <a:buFont typeface="Arial"/>
              <a:buNone/>
            </a:pPr>
            <a:r>
              <a:rPr lang="en" sz="2200">
                <a:solidFill>
                  <a:schemeClr val="dk1"/>
                </a:solidFill>
                <a:latin typeface="Calibri"/>
                <a:ea typeface="Calibri"/>
                <a:cs typeface="Calibri"/>
                <a:sym typeface="Calibri"/>
              </a:rPr>
              <a:t>Subscribe to this channel</a:t>
            </a:r>
            <a:endParaRPr sz="22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2500"/>
              <a:buFont typeface="Arial"/>
              <a:buNone/>
            </a:pPr>
            <a:r>
              <a:rPr lang="en" sz="1800" b="1" u="sng">
                <a:solidFill>
                  <a:schemeClr val="accent5"/>
                </a:solidFill>
                <a:latin typeface="Calibri"/>
                <a:ea typeface="Calibri"/>
                <a:cs typeface="Calibri"/>
                <a:sym typeface="Calibri"/>
                <a:hlinkClick r:id="rId3">
                  <a:extLst>
                    <a:ext uri="{A12FA001-AC4F-418D-AE19-62706E023703}">
                      <ahyp:hlinkClr xmlns:ahyp="http://schemas.microsoft.com/office/drawing/2018/hyperlinkcolor" val="tx"/>
                    </a:ext>
                  </a:extLst>
                </a:hlinkClick>
              </a:rPr>
              <a:t>https://www.youtube.com/@lev-selector</a:t>
            </a:r>
            <a:r>
              <a:rPr lang="en" sz="1800" b="1">
                <a:solidFill>
                  <a:schemeClr val="dk1"/>
                </a:solidFill>
                <a:latin typeface="Calibri"/>
                <a:ea typeface="Calibri"/>
                <a:cs typeface="Calibri"/>
                <a:sym typeface="Calibri"/>
              </a:rPr>
              <a:t> </a:t>
            </a:r>
            <a:endParaRPr sz="1800" b="1">
              <a:solidFill>
                <a:schemeClr val="dk1"/>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2500"/>
              <a:buFont typeface="Arial"/>
              <a:buNone/>
            </a:pPr>
            <a:endParaRPr sz="2200">
              <a:solidFill>
                <a:schemeClr val="dk1"/>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2500"/>
              <a:buFont typeface="Arial"/>
              <a:buNone/>
            </a:pPr>
            <a:r>
              <a:rPr lang="en" sz="2200">
                <a:solidFill>
                  <a:schemeClr val="dk1"/>
                </a:solidFill>
                <a:latin typeface="Calibri"/>
                <a:ea typeface="Calibri"/>
                <a:cs typeface="Calibri"/>
                <a:sym typeface="Calibri"/>
              </a:rPr>
              <a:t>Download slides from GitHub using links under the videos</a:t>
            </a:r>
            <a:endParaRPr sz="22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2500"/>
              <a:buFont typeface="Arial"/>
              <a:buNone/>
            </a:pPr>
            <a:endParaRPr sz="2200">
              <a:solidFill>
                <a:schemeClr val="dk1"/>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2500"/>
              <a:buFont typeface="Arial"/>
              <a:buNone/>
            </a:pPr>
            <a:r>
              <a:rPr lang="en" sz="2200" b="1">
                <a:solidFill>
                  <a:srgbClr val="FF0000"/>
                </a:solidFill>
                <a:latin typeface="Calibri"/>
                <a:ea typeface="Calibri"/>
                <a:cs typeface="Calibri"/>
                <a:sym typeface="Calibri"/>
              </a:rPr>
              <a:t>Please pause the video - and answer the pinned question in comments under the video</a:t>
            </a:r>
            <a:endParaRPr sz="1800" b="1" i="0" u="none" strike="noStrike" cap="none">
              <a:solidFill>
                <a:srgbClr val="FF0000"/>
              </a:solidFill>
              <a:latin typeface="Calibri"/>
              <a:ea typeface="Calibri"/>
              <a:cs typeface="Calibri"/>
              <a:sym typeface="Calibri"/>
            </a:endParaRPr>
          </a:p>
        </p:txBody>
      </p:sp>
      <p:pic>
        <p:nvPicPr>
          <p:cNvPr id="167" name="Google Shape;167;p19"/>
          <p:cNvPicPr preferRelativeResize="0"/>
          <p:nvPr/>
        </p:nvPicPr>
        <p:blipFill>
          <a:blip r:embed="rId4" cstate="email">
            <a:alphaModFix/>
            <a:extLst>
              <a:ext uri="{28A0092B-C50C-407E-A947-70E740481C1C}">
                <a14:useLocalDpi xmlns:a14="http://schemas.microsoft.com/office/drawing/2010/main"/>
              </a:ext>
            </a:extLst>
          </a:blip>
          <a:stretch>
            <a:fillRect/>
          </a:stretch>
        </p:blipFill>
        <p:spPr>
          <a:xfrm>
            <a:off x="5231375" y="93500"/>
            <a:ext cx="3819898" cy="4956498"/>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71"/>
        <p:cNvGrpSpPr/>
        <p:nvPr/>
      </p:nvGrpSpPr>
      <p:grpSpPr>
        <a:xfrm>
          <a:off x="0" y="0"/>
          <a:ext cx="0" cy="0"/>
          <a:chOff x="0" y="0"/>
          <a:chExt cx="0" cy="0"/>
        </a:xfrm>
      </p:grpSpPr>
      <p:sp>
        <p:nvSpPr>
          <p:cNvPr id="172" name="Google Shape;172;p20"/>
          <p:cNvSpPr txBox="1"/>
          <p:nvPr/>
        </p:nvSpPr>
        <p:spPr>
          <a:xfrm>
            <a:off x="55075" y="20375"/>
            <a:ext cx="44445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Serena open-source AI coding toolkit</a:t>
            </a:r>
            <a:endParaRPr sz="2000" b="1" i="0" u="none" strike="noStrike" cap="none">
              <a:solidFill>
                <a:schemeClr val="dk1"/>
              </a:solidFill>
              <a:latin typeface="Calibri"/>
              <a:ea typeface="Calibri"/>
              <a:cs typeface="Calibri"/>
              <a:sym typeface="Calibri"/>
            </a:endParaRPr>
          </a:p>
        </p:txBody>
      </p:sp>
      <p:sp>
        <p:nvSpPr>
          <p:cNvPr id="173" name="Google Shape;173;p20"/>
          <p:cNvSpPr txBox="1"/>
          <p:nvPr/>
        </p:nvSpPr>
        <p:spPr>
          <a:xfrm>
            <a:off x="55075" y="443275"/>
            <a:ext cx="4985700" cy="42513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Clr>
                <a:schemeClr val="dk1"/>
              </a:buClr>
              <a:buSzPts val="1100"/>
              <a:buFont typeface="Calibri"/>
              <a:buChar char="●"/>
            </a:pPr>
            <a:r>
              <a:rPr lang="en" sz="1100" b="1">
                <a:solidFill>
                  <a:srgbClr val="FF0000"/>
                </a:solidFill>
                <a:latin typeface="Calibri"/>
                <a:ea typeface="Calibri"/>
                <a:cs typeface="Calibri"/>
                <a:sym typeface="Calibri"/>
              </a:rPr>
              <a:t>Serena open-source AI coding toolkit</a:t>
            </a:r>
            <a:r>
              <a:rPr lang="en" sz="1100">
                <a:solidFill>
                  <a:schemeClr val="dk1"/>
                </a:solidFill>
                <a:latin typeface="Calibri"/>
                <a:ea typeface="Calibri"/>
                <a:cs typeface="Calibri"/>
                <a:sym typeface="Calibri"/>
              </a:rPr>
              <a:t> </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u="sng">
                <a:solidFill>
                  <a:schemeClr val="hlink"/>
                </a:solidFill>
                <a:latin typeface="Calibri"/>
                <a:ea typeface="Calibri"/>
                <a:cs typeface="Calibri"/>
                <a:sym typeface="Calibri"/>
                <a:hlinkClick r:id="rId3"/>
              </a:rPr>
              <a:t>https://www.youtube.com/watch?v=KeXmXYAaUU4</a:t>
            </a:r>
            <a:r>
              <a:rPr lang="en" sz="1100">
                <a:solidFill>
                  <a:schemeClr val="dk1"/>
                </a:solidFill>
                <a:latin typeface="Calibri"/>
                <a:ea typeface="Calibri"/>
                <a:cs typeface="Calibri"/>
                <a:sym typeface="Calibri"/>
              </a:rPr>
              <a:t> - video demo</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u="sng">
                <a:solidFill>
                  <a:schemeClr val="hlink"/>
                </a:solidFill>
                <a:latin typeface="Calibri"/>
                <a:ea typeface="Calibri"/>
                <a:cs typeface="Calibri"/>
                <a:sym typeface="Calibri"/>
                <a:hlinkClick r:id="rId4"/>
              </a:rPr>
              <a:t>https://github.com/oraios/serena</a:t>
            </a:r>
            <a:r>
              <a:rPr lang="en" sz="1100">
                <a:solidFill>
                  <a:schemeClr val="dk1"/>
                </a:solidFill>
                <a:latin typeface="Calibri"/>
                <a:ea typeface="Calibri"/>
                <a:cs typeface="Calibri"/>
                <a:sym typeface="Calibri"/>
              </a:rPr>
              <a:t> </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u="sng">
                <a:solidFill>
                  <a:schemeClr val="hlink"/>
                </a:solidFill>
                <a:latin typeface="Calibri"/>
                <a:ea typeface="Calibri"/>
                <a:cs typeface="Calibri"/>
                <a:sym typeface="Calibri"/>
                <a:hlinkClick r:id="rId5"/>
              </a:rPr>
              <a:t>https://www.everydev.ai/tools/serena</a:t>
            </a:r>
            <a:r>
              <a:rPr lang="en" sz="1100">
                <a:solidFill>
                  <a:schemeClr val="dk1"/>
                </a:solidFill>
                <a:latin typeface="Calibri"/>
                <a:ea typeface="Calibri"/>
                <a:cs typeface="Calibri"/>
                <a:sym typeface="Calibri"/>
              </a:rPr>
              <a:t> </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Serena transforms LLMs and coding agents from basic code generators into sophisticated assistants with IDE-grade capabilities</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Instead of scanning entire files or performing simple text searches, Serena enables AI agents to use code-centric tools like finding symbols, locating references, and making context-aware edits</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It leverages the Language Server Protocol (LSP) to provide semantic analysis across 30+ programming languages including Python, JavaScript, and many others</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Unlike spec-driven frameworks such as BMAD, SpecKit, and OpenSpec - which focus on planning and structuring tasks - Serena specializes in providing semantic code intelligence</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While those tools help agents plan workflows, Serena gives agents the ability to understand code symbols, navigate real codebases, and make precise edits with IDE-grade accuracy</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Serena complements spec-driven frameworks by handling the actual code editing portion</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Serena works through the MCP server and integrates with multiple platforms including Claude Desktop, VSCode, Cursor, IDEs, and extensions like Cline</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You can install it locally using UV and Git, through Docker (experimental), or most easily via MCP server configuration. The video demonstrates it working with Cilo Code (Kilo Code), where the agent successfully performed semantic searches across a large codebase and added methods to application classes efficiently</a:t>
            </a:r>
            <a:endParaRPr sz="1100">
              <a:solidFill>
                <a:schemeClr val="dk1"/>
              </a:solidFill>
              <a:latin typeface="Calibri"/>
              <a:ea typeface="Calibri"/>
              <a:cs typeface="Calibri"/>
              <a:sym typeface="Calibri"/>
            </a:endParaRPr>
          </a:p>
        </p:txBody>
      </p:sp>
      <p:pic>
        <p:nvPicPr>
          <p:cNvPr id="174" name="Google Shape;174;p20"/>
          <p:cNvPicPr preferRelativeResize="0"/>
          <p:nvPr/>
        </p:nvPicPr>
        <p:blipFill>
          <a:blip r:embed="rId6">
            <a:alphaModFix/>
          </a:blip>
          <a:stretch>
            <a:fillRect/>
          </a:stretch>
        </p:blipFill>
        <p:spPr>
          <a:xfrm>
            <a:off x="5357425" y="443275"/>
            <a:ext cx="2562225" cy="942975"/>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78"/>
        <p:cNvGrpSpPr/>
        <p:nvPr/>
      </p:nvGrpSpPr>
      <p:grpSpPr>
        <a:xfrm>
          <a:off x="0" y="0"/>
          <a:ext cx="0" cy="0"/>
          <a:chOff x="0" y="0"/>
          <a:chExt cx="0" cy="0"/>
        </a:xfrm>
      </p:grpSpPr>
      <p:sp>
        <p:nvSpPr>
          <p:cNvPr id="179" name="Google Shape;179;p21"/>
          <p:cNvSpPr txBox="1"/>
          <p:nvPr/>
        </p:nvSpPr>
        <p:spPr>
          <a:xfrm>
            <a:off x="55075" y="20375"/>
            <a:ext cx="44445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DeepMind SIMA 2 Research Preview</a:t>
            </a:r>
            <a:endParaRPr sz="2000" b="1" i="0" u="none" strike="noStrike" cap="none">
              <a:solidFill>
                <a:schemeClr val="dk1"/>
              </a:solidFill>
              <a:latin typeface="Calibri"/>
              <a:ea typeface="Calibri"/>
              <a:cs typeface="Calibri"/>
              <a:sym typeface="Calibri"/>
            </a:endParaRPr>
          </a:p>
        </p:txBody>
      </p:sp>
      <p:sp>
        <p:nvSpPr>
          <p:cNvPr id="180" name="Google Shape;180;p21"/>
          <p:cNvSpPr txBox="1"/>
          <p:nvPr/>
        </p:nvSpPr>
        <p:spPr>
          <a:xfrm>
            <a:off x="55075" y="403426"/>
            <a:ext cx="4444500" cy="40512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Clr>
                <a:srgbClr val="FF0000"/>
              </a:buClr>
              <a:buSzPts val="1100"/>
              <a:buFont typeface="Calibri"/>
              <a:buChar char="●"/>
            </a:pPr>
            <a:r>
              <a:rPr lang="en" sz="1100" b="1">
                <a:solidFill>
                  <a:srgbClr val="FF0000"/>
                </a:solidFill>
                <a:latin typeface="Calibri"/>
                <a:ea typeface="Calibri"/>
                <a:cs typeface="Calibri"/>
                <a:sym typeface="Calibri"/>
              </a:rPr>
              <a:t>DeepMind SIMA 2 Research Preview</a:t>
            </a:r>
            <a:endParaRPr sz="1100" b="1">
              <a:solidFill>
                <a:srgbClr val="FF0000"/>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b="1">
                <a:solidFill>
                  <a:srgbClr val="3C78D8"/>
                </a:solidFill>
                <a:latin typeface="Calibri"/>
                <a:ea typeface="Calibri"/>
                <a:cs typeface="Calibri"/>
                <a:sym typeface="Calibri"/>
              </a:rPr>
              <a:t>SIMA 2 is a AI agent that plays video games </a:t>
            </a:r>
            <a:r>
              <a:rPr lang="en" sz="1100">
                <a:solidFill>
                  <a:schemeClr val="dk1"/>
                </a:solidFill>
                <a:latin typeface="Calibri"/>
                <a:ea typeface="Calibri"/>
                <a:cs typeface="Calibri"/>
                <a:sym typeface="Calibri"/>
              </a:rPr>
              <a:t>by observing the screen and using keyboard/mouse controls just like humans do</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rgbClr val="3C78D8"/>
              </a:buClr>
              <a:buSzPts val="1100"/>
              <a:buFont typeface="Calibri"/>
              <a:buChar char="●"/>
            </a:pPr>
            <a:r>
              <a:rPr lang="en" sz="1100" b="1">
                <a:solidFill>
                  <a:srgbClr val="3C78D8"/>
                </a:solidFill>
                <a:latin typeface="Calibri"/>
                <a:ea typeface="Calibri"/>
                <a:cs typeface="Calibri"/>
                <a:sym typeface="Calibri"/>
              </a:rPr>
              <a:t>Skills can potentially transfer to physical robots</a:t>
            </a:r>
            <a:endParaRPr sz="1100" b="1">
              <a:solidFill>
                <a:srgbClr val="3C78D8"/>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Task completion rates jumped from 31% (SIMA 1) to 65% (SIMA 2), approaching the 76% human benchmark</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The agent now handles unseen game environments with 13-14% success rates versus near-zero previously</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It understands complex instructions, reasons about goals, follows multi-step commands, and interprets ambiguous requests like "go to the tomato house" by correctly inferring the user meant the red building</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SIMA 2 uses Gemini 2.5 flash-lite in three simultaneous roles: playing the game, setting tasks, and grading performance</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This creates an autonomous learning cycle where the AI generates its own training data through self-directed play, eliminating the need for additional human-labeled datasets. </a:t>
            </a:r>
            <a:r>
              <a:rPr lang="en" sz="1100" b="1">
                <a:solidFill>
                  <a:srgbClr val="FF0000"/>
                </a:solidFill>
                <a:latin typeface="Calibri"/>
                <a:ea typeface="Calibri"/>
                <a:cs typeface="Calibri"/>
                <a:sym typeface="Calibri"/>
              </a:rPr>
              <a:t>The system learns exclusively through trial-and-error in new environments</a:t>
            </a:r>
            <a:endParaRPr sz="1100" b="1">
              <a:solidFill>
                <a:srgbClr val="FF0000"/>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SIMA-2 can be combined with </a:t>
            </a:r>
            <a:r>
              <a:rPr lang="en" sz="1100" b="1">
                <a:solidFill>
                  <a:srgbClr val="3C78D8"/>
                </a:solidFill>
                <a:latin typeface="Calibri"/>
                <a:ea typeface="Calibri"/>
                <a:cs typeface="Calibri"/>
                <a:sym typeface="Calibri"/>
              </a:rPr>
              <a:t>Genie-3 (a model that generates playable 3D environments from text and images)</a:t>
            </a:r>
            <a:r>
              <a:rPr lang="en" sz="1100">
                <a:solidFill>
                  <a:schemeClr val="dk1"/>
                </a:solidFill>
                <a:latin typeface="Calibri"/>
                <a:ea typeface="Calibri"/>
                <a:cs typeface="Calibri"/>
                <a:sym typeface="Calibri"/>
              </a:rPr>
              <a:t>. SIMA-2 navigates and completes tasks in these procedurally generated environments it has never encountered, with world memory ensuring objects and changes persist across sessions</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900" u="sng">
                <a:solidFill>
                  <a:schemeClr val="hlink"/>
                </a:solidFill>
                <a:latin typeface="Calibri"/>
                <a:ea typeface="Calibri"/>
                <a:cs typeface="Calibri"/>
                <a:sym typeface="Calibri"/>
                <a:hlinkClick r:id="rId3"/>
              </a:rPr>
              <a:t>https://deepmind.google/blog/sima-2-an-agent-that-plays-reasons-and-learns-with-you-in-virtual-3d-worlds/</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p:txBody>
      </p:sp>
      <p:sp>
        <p:nvSpPr>
          <p:cNvPr id="181" name="Google Shape;181;p21"/>
          <p:cNvSpPr txBox="1"/>
          <p:nvPr/>
        </p:nvSpPr>
        <p:spPr>
          <a:xfrm>
            <a:off x="4574900" y="2235226"/>
            <a:ext cx="4444500" cy="22194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The agent can transfer concepts between completely different games. Skills learned from mining in Minecraft apply to harvesting in Viking survival games</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SIMA 2's core capabilities - navigation, tool use, instruction following, collaborative task execution - are fundamental building blocks for embodied intelligence - robots</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The pixel-to-action learning paradigm maps directly to robots processing sensor data and controlling physical components. Virtual worlds provide safe, scalable training environments that eliminate expensive real-world datasets and dangerous physical training.</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Limitations: restricted memory and context windows to maintain low-latency interactions, difficulties with long-horizon tasks, and challenges in complex 3D navigation</a:t>
            </a:r>
            <a:endParaRPr sz="1100">
              <a:solidFill>
                <a:schemeClr val="dk1"/>
              </a:solidFill>
              <a:latin typeface="Calibri"/>
              <a:ea typeface="Calibri"/>
              <a:cs typeface="Calibri"/>
              <a:sym typeface="Calibri"/>
            </a:endParaRPr>
          </a:p>
        </p:txBody>
      </p:sp>
      <p:pic>
        <p:nvPicPr>
          <p:cNvPr id="182" name="Google Shape;182;p21"/>
          <p:cNvPicPr preferRelativeResize="0"/>
          <p:nvPr/>
        </p:nvPicPr>
        <p:blipFill>
          <a:blip r:embed="rId4" cstate="email">
            <a:alphaModFix/>
            <a:extLst>
              <a:ext uri="{28A0092B-C50C-407E-A947-70E740481C1C}">
                <a14:useLocalDpi xmlns:a14="http://schemas.microsoft.com/office/drawing/2010/main"/>
              </a:ext>
            </a:extLst>
          </a:blip>
          <a:stretch>
            <a:fillRect/>
          </a:stretch>
        </p:blipFill>
        <p:spPr>
          <a:xfrm>
            <a:off x="5275746" y="403425"/>
            <a:ext cx="3131075" cy="1761224"/>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86"/>
        <p:cNvGrpSpPr/>
        <p:nvPr/>
      </p:nvGrpSpPr>
      <p:grpSpPr>
        <a:xfrm>
          <a:off x="0" y="0"/>
          <a:ext cx="0" cy="0"/>
          <a:chOff x="0" y="0"/>
          <a:chExt cx="0" cy="0"/>
        </a:xfrm>
      </p:grpSpPr>
      <p:sp>
        <p:nvSpPr>
          <p:cNvPr id="187" name="Google Shape;187;p22"/>
          <p:cNvSpPr txBox="1"/>
          <p:nvPr/>
        </p:nvSpPr>
        <p:spPr>
          <a:xfrm>
            <a:off x="55075" y="20375"/>
            <a:ext cx="44445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AI Updates 2</a:t>
            </a:r>
            <a:endParaRPr sz="2000" b="1" i="0" u="none" strike="noStrike" cap="none">
              <a:solidFill>
                <a:schemeClr val="dk1"/>
              </a:solidFill>
              <a:latin typeface="Calibri"/>
              <a:ea typeface="Calibri"/>
              <a:cs typeface="Calibri"/>
              <a:sym typeface="Calibri"/>
            </a:endParaRPr>
          </a:p>
        </p:txBody>
      </p:sp>
      <p:sp>
        <p:nvSpPr>
          <p:cNvPr id="188" name="Google Shape;188;p22"/>
          <p:cNvSpPr txBox="1"/>
          <p:nvPr/>
        </p:nvSpPr>
        <p:spPr>
          <a:xfrm>
            <a:off x="44825" y="1014185"/>
            <a:ext cx="5406600" cy="26658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Clr>
                <a:srgbClr val="FF0000"/>
              </a:buClr>
              <a:buSzPts val="1100"/>
              <a:buFont typeface="Calibri"/>
              <a:buChar char="●"/>
            </a:pPr>
            <a:r>
              <a:rPr lang="en" sz="1100" b="1">
                <a:solidFill>
                  <a:srgbClr val="FF0000"/>
                </a:solidFill>
                <a:latin typeface="Calibri"/>
                <a:ea typeface="Calibri"/>
                <a:cs typeface="Calibri"/>
                <a:sym typeface="Calibri"/>
              </a:rPr>
              <a:t>"Flows" - in Google Workspace - new no-code AI automation platform</a:t>
            </a:r>
            <a:endParaRPr sz="1100" b="1">
              <a:solidFill>
                <a:srgbClr val="FF0000"/>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latin typeface="Calibri"/>
                <a:ea typeface="Calibri"/>
                <a:cs typeface="Calibri"/>
                <a:sym typeface="Calibri"/>
              </a:rPr>
              <a:t>Automate workflows across Gmail, Drive, Calendar, Chat, and Forms using natural language instructions. Users can create AI agents that can research, analyze, summarize, and generate content while triggering multi-step processes across an organization</a:t>
            </a:r>
            <a:endParaRPr sz="1100">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latin typeface="Calibri"/>
                <a:ea typeface="Calibri"/>
                <a:cs typeface="Calibri"/>
                <a:sym typeface="Calibri"/>
              </a:rPr>
              <a:t>Starters (triggers), conditions, actions, functions</a:t>
            </a:r>
            <a:endParaRPr sz="1100">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latin typeface="Calibri"/>
                <a:ea typeface="Calibri"/>
                <a:cs typeface="Calibri"/>
                <a:sym typeface="Calibri"/>
              </a:rPr>
              <a:t>Users can either describe tasks in plain English to have Gemini build the automation, or use a drag-and-drop visual builder similar to platforms like Make or Zapier</a:t>
            </a:r>
            <a:endParaRPr sz="1100">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latin typeface="Calibri"/>
                <a:ea typeface="Calibri"/>
                <a:cs typeface="Calibri"/>
                <a:sym typeface="Calibri"/>
              </a:rPr>
              <a:t>What sets Flows apart is its deep integration with Google's AI, providing contextual understanding that goes beyond simply running steps</a:t>
            </a:r>
            <a:endParaRPr sz="1100">
              <a:latin typeface="Calibri"/>
              <a:ea typeface="Calibri"/>
              <a:cs typeface="Calibri"/>
              <a:sym typeface="Calibri"/>
            </a:endParaRPr>
          </a:p>
          <a:p>
            <a:pPr marL="171450" marR="0" lvl="0" indent="-114300" algn="l" rtl="0">
              <a:lnSpc>
                <a:spcPct val="100000"/>
              </a:lnSpc>
              <a:spcBef>
                <a:spcPts val="0"/>
              </a:spcBef>
              <a:spcAft>
                <a:spcPts val="0"/>
              </a:spcAft>
              <a:buSzPts val="900"/>
              <a:buFont typeface="Calibri"/>
              <a:buChar char="●"/>
            </a:pPr>
            <a:r>
              <a:rPr lang="en" sz="900" u="sng">
                <a:solidFill>
                  <a:schemeClr val="hlink"/>
                </a:solidFill>
                <a:latin typeface="Calibri"/>
                <a:ea typeface="Calibri"/>
                <a:cs typeface="Calibri"/>
                <a:sym typeface="Calibri"/>
                <a:hlinkClick r:id="rId3"/>
              </a:rPr>
              <a:t>https://www.youtube.com/watch?v=UACj1WqXU2Q</a:t>
            </a:r>
            <a:r>
              <a:rPr lang="en" sz="900">
                <a:latin typeface="Calibri"/>
                <a:ea typeface="Calibri"/>
                <a:cs typeface="Calibri"/>
                <a:sym typeface="Calibri"/>
              </a:rPr>
              <a:t> </a:t>
            </a:r>
            <a:endParaRPr sz="900">
              <a:latin typeface="Calibri"/>
              <a:ea typeface="Calibri"/>
              <a:cs typeface="Calibri"/>
              <a:sym typeface="Calibri"/>
            </a:endParaRPr>
          </a:p>
          <a:p>
            <a:pPr marL="171450" marR="0" lvl="0" indent="-114300" algn="l" rtl="0">
              <a:lnSpc>
                <a:spcPct val="100000"/>
              </a:lnSpc>
              <a:spcBef>
                <a:spcPts val="0"/>
              </a:spcBef>
              <a:spcAft>
                <a:spcPts val="0"/>
              </a:spcAft>
              <a:buSzPts val="900"/>
              <a:buFont typeface="Calibri"/>
              <a:buChar char="●"/>
            </a:pPr>
            <a:r>
              <a:rPr lang="en" sz="900" u="sng">
                <a:solidFill>
                  <a:schemeClr val="hlink"/>
                </a:solidFill>
                <a:latin typeface="Calibri"/>
                <a:ea typeface="Calibri"/>
                <a:cs typeface="Calibri"/>
                <a:sym typeface="Calibri"/>
                <a:hlinkClick r:id="rId4"/>
              </a:rPr>
              <a:t>https://sites.google.com/view/workspace-flows/about</a:t>
            </a:r>
            <a:r>
              <a:rPr lang="en" sz="900">
                <a:latin typeface="Calibri"/>
                <a:ea typeface="Calibri"/>
                <a:cs typeface="Calibri"/>
                <a:sym typeface="Calibri"/>
              </a:rPr>
              <a:t> </a:t>
            </a:r>
            <a:endParaRPr sz="900">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latin typeface="Calibri"/>
                <a:ea typeface="Calibri"/>
                <a:cs typeface="Calibri"/>
                <a:sym typeface="Calibri"/>
              </a:rPr>
              <a:t>Example: automating email notifications from key contacts, extracting and summarizing email content about specific topics, and sending summaries to Google Chat. </a:t>
            </a:r>
            <a:br>
              <a:rPr lang="en" sz="1100">
                <a:latin typeface="Calibri"/>
                <a:ea typeface="Calibri"/>
                <a:cs typeface="Calibri"/>
                <a:sym typeface="Calibri"/>
              </a:rPr>
            </a:br>
            <a:r>
              <a:rPr lang="en" sz="1100">
                <a:latin typeface="Calibri"/>
                <a:ea typeface="Calibri"/>
                <a:cs typeface="Calibri"/>
                <a:sym typeface="Calibri"/>
              </a:rPr>
              <a:t>Example: creating a lead enrichment agent: automatically processes incoming leads from forms or emails, uses Gemini to research the company, scores the lead quality, extracts contact details, and updates a sales CRM sheet - all configured in under 30 sec</a:t>
            </a:r>
            <a:endParaRPr sz="1100">
              <a:latin typeface="Calibri"/>
              <a:ea typeface="Calibri"/>
              <a:cs typeface="Calibri"/>
              <a:sym typeface="Calibri"/>
            </a:endParaRPr>
          </a:p>
        </p:txBody>
      </p:sp>
      <p:sp>
        <p:nvSpPr>
          <p:cNvPr id="189" name="Google Shape;189;p22"/>
          <p:cNvSpPr txBox="1"/>
          <p:nvPr/>
        </p:nvSpPr>
        <p:spPr>
          <a:xfrm>
            <a:off x="55075" y="408802"/>
            <a:ext cx="4444500" cy="4647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Clr>
                <a:srgbClr val="FF0000"/>
              </a:buClr>
              <a:buSzPts val="1100"/>
              <a:buFont typeface="Calibri"/>
              <a:buChar char="●"/>
            </a:pPr>
            <a:r>
              <a:rPr lang="en" sz="1100" b="1">
                <a:solidFill>
                  <a:srgbClr val="FF0000"/>
                </a:solidFill>
                <a:latin typeface="Calibri"/>
                <a:ea typeface="Calibri"/>
                <a:cs typeface="Calibri"/>
                <a:sym typeface="Calibri"/>
              </a:rPr>
              <a:t>Anthropic Disrupting AI-orchestrated cyber espionage campaign</a:t>
            </a:r>
            <a:endParaRPr sz="900" b="1">
              <a:solidFill>
                <a:srgbClr val="FF0000"/>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5"/>
              </a:rPr>
              <a:t>https://assets.anthropic.com/m/ec212e6566a0d47/original/Disrupting-the-first-reported-AI-orchestrated-cyber-espionage-campaign.pdf</a:t>
            </a:r>
            <a:endParaRPr sz="900">
              <a:solidFill>
                <a:schemeClr val="dk1"/>
              </a:solidFill>
              <a:latin typeface="Calibri"/>
              <a:ea typeface="Calibri"/>
              <a:cs typeface="Calibri"/>
              <a:sym typeface="Calibri"/>
            </a:endParaRPr>
          </a:p>
        </p:txBody>
      </p:sp>
      <p:sp>
        <p:nvSpPr>
          <p:cNvPr id="190" name="Google Shape;190;p22"/>
          <p:cNvSpPr txBox="1"/>
          <p:nvPr/>
        </p:nvSpPr>
        <p:spPr>
          <a:xfrm>
            <a:off x="44825" y="3766385"/>
            <a:ext cx="5406600" cy="5265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Clr>
                <a:schemeClr val="dk1"/>
              </a:buClr>
              <a:buSzPts val="1100"/>
              <a:buFont typeface="Calibri"/>
              <a:buChar char="●"/>
            </a:pPr>
            <a:r>
              <a:rPr lang="en" sz="1100">
                <a:latin typeface="Calibri"/>
                <a:ea typeface="Calibri"/>
                <a:cs typeface="Calibri"/>
                <a:sym typeface="Calibri"/>
              </a:rPr>
              <a:t>Databricks Co-Founder Urges Open AI Race: Ali Ghodsi argues the U.S. must back open-source AI to stay ahead of China. He warns closed models risk falling behind in innovation and trust.</a:t>
            </a:r>
            <a:endParaRPr sz="1100">
              <a:latin typeface="Calibri"/>
              <a:ea typeface="Calibri"/>
              <a:cs typeface="Calibri"/>
              <a:sym typeface="Calibri"/>
            </a:endParaRPr>
          </a:p>
        </p:txBody>
      </p:sp>
      <p:pic>
        <p:nvPicPr>
          <p:cNvPr id="191" name="Google Shape;191;p22"/>
          <p:cNvPicPr preferRelativeResize="0"/>
          <p:nvPr/>
        </p:nvPicPr>
        <p:blipFill>
          <a:blip r:embed="rId6" cstate="email">
            <a:alphaModFix/>
            <a:extLst>
              <a:ext uri="{28A0092B-C50C-407E-A947-70E740481C1C}">
                <a14:useLocalDpi xmlns:a14="http://schemas.microsoft.com/office/drawing/2010/main"/>
              </a:ext>
            </a:extLst>
          </a:blip>
          <a:stretch>
            <a:fillRect/>
          </a:stretch>
        </p:blipFill>
        <p:spPr>
          <a:xfrm>
            <a:off x="5648750" y="3634725"/>
            <a:ext cx="1141175" cy="1141175"/>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95"/>
        <p:cNvGrpSpPr/>
        <p:nvPr/>
      </p:nvGrpSpPr>
      <p:grpSpPr>
        <a:xfrm>
          <a:off x="0" y="0"/>
          <a:ext cx="0" cy="0"/>
          <a:chOff x="0" y="0"/>
          <a:chExt cx="0" cy="0"/>
        </a:xfrm>
      </p:grpSpPr>
      <p:sp>
        <p:nvSpPr>
          <p:cNvPr id="196" name="Google Shape;196;p23"/>
          <p:cNvSpPr txBox="1"/>
          <p:nvPr/>
        </p:nvSpPr>
        <p:spPr>
          <a:xfrm>
            <a:off x="55075" y="20375"/>
            <a:ext cx="44445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AI Updates 3</a:t>
            </a:r>
            <a:endParaRPr sz="2000" b="1" i="0" u="none" strike="noStrike" cap="none">
              <a:solidFill>
                <a:schemeClr val="dk1"/>
              </a:solidFill>
              <a:latin typeface="Calibri"/>
              <a:ea typeface="Calibri"/>
              <a:cs typeface="Calibri"/>
              <a:sym typeface="Calibri"/>
            </a:endParaRPr>
          </a:p>
        </p:txBody>
      </p:sp>
      <p:sp>
        <p:nvSpPr>
          <p:cNvPr id="197" name="Google Shape;197;p23"/>
          <p:cNvSpPr txBox="1"/>
          <p:nvPr/>
        </p:nvSpPr>
        <p:spPr>
          <a:xfrm>
            <a:off x="55075" y="463750"/>
            <a:ext cx="4444500" cy="8649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Clr>
                <a:schemeClr val="dk1"/>
              </a:buClr>
              <a:buSzPts val="1100"/>
              <a:buFont typeface="Calibri"/>
              <a:buChar char="●"/>
            </a:pPr>
            <a:r>
              <a:rPr lang="en" sz="1100">
                <a:latin typeface="Calibri"/>
                <a:ea typeface="Calibri"/>
                <a:cs typeface="Calibri"/>
                <a:sym typeface="Calibri"/>
              </a:rPr>
              <a:t>2wai, an AI platform creates interactive avatars </a:t>
            </a:r>
            <a:endParaRPr sz="1100">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latin typeface="Calibri"/>
                <a:ea typeface="Calibri"/>
                <a:cs typeface="Calibri"/>
                <a:sym typeface="Calibri"/>
              </a:rPr>
              <a:t>You can create avatars of deceased relatives</a:t>
            </a:r>
            <a:endParaRPr sz="1100">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latin typeface="Calibri"/>
                <a:ea typeface="Calibri"/>
                <a:cs typeface="Calibri"/>
                <a:sym typeface="Calibri"/>
              </a:rPr>
              <a:t>Founded by Disney Channel actor Calum Worthy</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u="sng">
                <a:solidFill>
                  <a:schemeClr val="hlink"/>
                </a:solidFill>
                <a:latin typeface="Calibri"/>
                <a:ea typeface="Calibri"/>
                <a:cs typeface="Calibri"/>
                <a:sym typeface="Calibri"/>
                <a:hlinkClick r:id="rId3"/>
              </a:rPr>
              <a:t>https://x.com/CalumWorthy/status/1988283207138324487</a:t>
            </a:r>
            <a:r>
              <a:rPr lang="en" sz="1100">
                <a:latin typeface="Calibri"/>
                <a:ea typeface="Calibri"/>
                <a:cs typeface="Calibri"/>
                <a:sym typeface="Calibri"/>
              </a:rPr>
              <a:t> </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u="sng">
                <a:solidFill>
                  <a:schemeClr val="hlink"/>
                </a:solidFill>
                <a:latin typeface="Calibri"/>
                <a:ea typeface="Calibri"/>
                <a:cs typeface="Calibri"/>
                <a:sym typeface="Calibri"/>
                <a:hlinkClick r:id="rId4"/>
              </a:rPr>
              <a:t>https://www.2wai.ai</a:t>
            </a:r>
            <a:r>
              <a:rPr lang="en" sz="1100">
                <a:latin typeface="Calibri"/>
                <a:ea typeface="Calibri"/>
                <a:cs typeface="Calibri"/>
                <a:sym typeface="Calibri"/>
              </a:rPr>
              <a:t> </a:t>
            </a:r>
            <a:endParaRPr sz="1100">
              <a:latin typeface="Calibri"/>
              <a:ea typeface="Calibri"/>
              <a:cs typeface="Calibri"/>
              <a:sym typeface="Calibri"/>
            </a:endParaRPr>
          </a:p>
        </p:txBody>
      </p:sp>
      <p:pic>
        <p:nvPicPr>
          <p:cNvPr id="198" name="Google Shape;198;p23"/>
          <p:cNvPicPr preferRelativeResize="0"/>
          <p:nvPr/>
        </p:nvPicPr>
        <p:blipFill>
          <a:blip r:embed="rId5" cstate="email">
            <a:alphaModFix/>
            <a:extLst>
              <a:ext uri="{28A0092B-C50C-407E-A947-70E740481C1C}">
                <a14:useLocalDpi xmlns:a14="http://schemas.microsoft.com/office/drawing/2010/main"/>
              </a:ext>
            </a:extLst>
          </a:blip>
          <a:stretch>
            <a:fillRect/>
          </a:stretch>
        </p:blipFill>
        <p:spPr>
          <a:xfrm>
            <a:off x="4660225" y="136625"/>
            <a:ext cx="1141175" cy="1519145"/>
          </a:xfrm>
          <a:prstGeom prst="rect">
            <a:avLst/>
          </a:prstGeom>
          <a:noFill/>
          <a:ln w="9525" cap="flat" cmpd="sng">
            <a:solidFill>
              <a:srgbClr val="FF0000"/>
            </a:solidFill>
            <a:prstDash val="solid"/>
            <a:round/>
            <a:headEnd type="none" w="sm" len="sm"/>
            <a:tailEnd type="none" w="sm" len="sm"/>
          </a:ln>
        </p:spPr>
      </p:pic>
      <p:sp>
        <p:nvSpPr>
          <p:cNvPr id="199" name="Google Shape;199;p23"/>
          <p:cNvSpPr txBox="1"/>
          <p:nvPr/>
        </p:nvSpPr>
        <p:spPr>
          <a:xfrm>
            <a:off x="55075" y="1389103"/>
            <a:ext cx="4444500" cy="2358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Clr>
                <a:srgbClr val="FF0000"/>
              </a:buClr>
              <a:buSzPts val="1100"/>
              <a:buFont typeface="Calibri"/>
              <a:buChar char="●"/>
            </a:pPr>
            <a:r>
              <a:rPr lang="en" sz="1100" b="1">
                <a:solidFill>
                  <a:srgbClr val="FF0000"/>
                </a:solidFill>
                <a:latin typeface="Calibri"/>
                <a:ea typeface="Calibri"/>
                <a:cs typeface="Calibri"/>
                <a:sym typeface="Calibri"/>
              </a:rPr>
              <a:t>Tutorial on how to use Claude to Make Financial Dashboards</a:t>
            </a:r>
            <a:endParaRPr sz="900" b="1">
              <a:solidFill>
                <a:srgbClr val="FF0000"/>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6"/>
              </a:rPr>
              <a:t>https://app.therundown.ai/guides/use-claude-to-organize-your-business-finances</a:t>
            </a:r>
            <a:r>
              <a:rPr lang="en" sz="900">
                <a:latin typeface="Calibri"/>
                <a:ea typeface="Calibri"/>
                <a:cs typeface="Calibri"/>
                <a:sym typeface="Calibri"/>
              </a:rPr>
              <a:t> </a:t>
            </a:r>
            <a:endParaRPr sz="900">
              <a:latin typeface="Calibri"/>
              <a:ea typeface="Calibri"/>
              <a:cs typeface="Calibri"/>
              <a:sym typeface="Calibri"/>
            </a:endParaRPr>
          </a:p>
          <a:p>
            <a:pPr marL="171450" marR="0" lvl="0" indent="-127000" algn="l" rtl="0">
              <a:lnSpc>
                <a:spcPct val="100000"/>
              </a:lnSpc>
              <a:spcBef>
                <a:spcPts val="0"/>
              </a:spcBef>
              <a:spcAft>
                <a:spcPts val="0"/>
              </a:spcAft>
              <a:buClr>
                <a:srgbClr val="FF0000"/>
              </a:buClr>
              <a:buSzPts val="1100"/>
              <a:buFont typeface="Calibri"/>
              <a:buChar char="●"/>
            </a:pPr>
            <a:r>
              <a:rPr lang="en" sz="1100" b="1">
                <a:solidFill>
                  <a:srgbClr val="FF0000"/>
                </a:solidFill>
                <a:latin typeface="Calibri"/>
                <a:ea typeface="Calibri"/>
                <a:cs typeface="Calibri"/>
                <a:sym typeface="Calibri"/>
              </a:rPr>
              <a:t>FP&amp;A = Financial Planning &amp; Analysis</a:t>
            </a:r>
            <a:endParaRPr sz="1100" b="1">
              <a:solidFill>
                <a:srgbClr val="FF0000"/>
              </a:solidFill>
              <a:latin typeface="Calibri"/>
              <a:ea typeface="Calibri"/>
              <a:cs typeface="Calibri"/>
              <a:sym typeface="Calibri"/>
            </a:endParaRPr>
          </a:p>
          <a:p>
            <a:pPr marL="400050" marR="0" lvl="1" indent="-127000" algn="l" rtl="0">
              <a:lnSpc>
                <a:spcPct val="100000"/>
              </a:lnSpc>
              <a:spcBef>
                <a:spcPts val="0"/>
              </a:spcBef>
              <a:spcAft>
                <a:spcPts val="0"/>
              </a:spcAft>
              <a:buClr>
                <a:schemeClr val="dk1"/>
              </a:buClr>
              <a:buSzPts val="1100"/>
              <a:buFont typeface="Calibri"/>
              <a:buChar char="○"/>
            </a:pPr>
            <a:r>
              <a:rPr lang="en" sz="1100">
                <a:latin typeface="Calibri"/>
                <a:ea typeface="Calibri"/>
                <a:cs typeface="Calibri"/>
                <a:sym typeface="Calibri"/>
              </a:rPr>
              <a:t>Go to Claude, sign in, select Sonnet 4.5, and enable extended thinking and web search in settings</a:t>
            </a:r>
            <a:endParaRPr sz="1100">
              <a:latin typeface="Calibri"/>
              <a:ea typeface="Calibri"/>
              <a:cs typeface="Calibri"/>
              <a:sym typeface="Calibri"/>
            </a:endParaRPr>
          </a:p>
          <a:p>
            <a:pPr marL="400050" marR="0" lvl="1" indent="-127000" algn="l" rtl="0">
              <a:lnSpc>
                <a:spcPct val="100000"/>
              </a:lnSpc>
              <a:spcBef>
                <a:spcPts val="0"/>
              </a:spcBef>
              <a:spcAft>
                <a:spcPts val="0"/>
              </a:spcAft>
              <a:buClr>
                <a:schemeClr val="dk1"/>
              </a:buClr>
              <a:buSzPts val="1100"/>
              <a:buFont typeface="Calibri"/>
              <a:buChar char="○"/>
            </a:pPr>
            <a:r>
              <a:rPr lang="en" sz="1100">
                <a:latin typeface="Calibri"/>
                <a:ea typeface="Calibri"/>
                <a:cs typeface="Calibri"/>
                <a:sym typeface="Calibri"/>
              </a:rPr>
              <a:t>Upload your financial documents (revenue statements, invoices, expenses, inventory) and prompt Claude with what you want: your goal, file types, organization structure, and desired aesthetic</a:t>
            </a:r>
            <a:endParaRPr sz="1100">
              <a:latin typeface="Calibri"/>
              <a:ea typeface="Calibri"/>
              <a:cs typeface="Calibri"/>
              <a:sym typeface="Calibri"/>
            </a:endParaRPr>
          </a:p>
          <a:p>
            <a:pPr marL="400050" marR="0" lvl="1" indent="-127000" algn="l" rtl="0">
              <a:lnSpc>
                <a:spcPct val="100000"/>
              </a:lnSpc>
              <a:spcBef>
                <a:spcPts val="0"/>
              </a:spcBef>
              <a:spcAft>
                <a:spcPts val="0"/>
              </a:spcAft>
              <a:buClr>
                <a:schemeClr val="dk1"/>
              </a:buClr>
              <a:buSzPts val="1100"/>
              <a:buFont typeface="Calibri"/>
              <a:buChar char="○"/>
            </a:pPr>
            <a:r>
              <a:rPr lang="en" sz="1100">
                <a:latin typeface="Calibri"/>
                <a:ea typeface="Calibri"/>
                <a:cs typeface="Calibri"/>
                <a:sym typeface="Calibri"/>
              </a:rPr>
              <a:t>Review the generated dashboard showing metrics like total revenue, expenses, net profit, plus pie charts and bar graphs; request changes in natural language</a:t>
            </a:r>
            <a:endParaRPr sz="1100">
              <a:latin typeface="Calibri"/>
              <a:ea typeface="Calibri"/>
              <a:cs typeface="Calibri"/>
              <a:sym typeface="Calibri"/>
            </a:endParaRPr>
          </a:p>
          <a:p>
            <a:pPr marL="400050" marR="0" lvl="1" indent="-127000" algn="l" rtl="0">
              <a:lnSpc>
                <a:spcPct val="100000"/>
              </a:lnSpc>
              <a:spcBef>
                <a:spcPts val="0"/>
              </a:spcBef>
              <a:spcAft>
                <a:spcPts val="0"/>
              </a:spcAft>
              <a:buClr>
                <a:schemeClr val="dk1"/>
              </a:buClr>
              <a:buSzPts val="1100"/>
              <a:buFont typeface="Calibri"/>
              <a:buChar char="○"/>
            </a:pPr>
            <a:r>
              <a:rPr lang="en" sz="1100">
                <a:latin typeface="Calibri"/>
                <a:ea typeface="Calibri"/>
                <a:cs typeface="Calibri"/>
                <a:sym typeface="Calibri"/>
              </a:rPr>
              <a:t>Add enrichments like "Add a column showing how many days since each invoice to see which pending payments are getting old," then click publish and share the artifact link with stakeholders</a:t>
            </a:r>
            <a:endParaRPr sz="1100">
              <a:latin typeface="Calibri"/>
              <a:ea typeface="Calibri"/>
              <a:cs typeface="Calibri"/>
              <a:sym typeface="Calibri"/>
            </a:endParaRPr>
          </a:p>
        </p:txBody>
      </p:sp>
      <p:sp>
        <p:nvSpPr>
          <p:cNvPr id="200" name="Google Shape;200;p23"/>
          <p:cNvSpPr txBox="1"/>
          <p:nvPr/>
        </p:nvSpPr>
        <p:spPr>
          <a:xfrm>
            <a:off x="55075" y="3807556"/>
            <a:ext cx="4444500" cy="12036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Clr>
                <a:srgbClr val="FF0000"/>
              </a:buClr>
              <a:buSzPts val="1100"/>
              <a:buFont typeface="Calibri"/>
              <a:buChar char="●"/>
            </a:pPr>
            <a:r>
              <a:rPr lang="en" sz="1100" b="1">
                <a:solidFill>
                  <a:srgbClr val="FF0000"/>
                </a:solidFill>
                <a:latin typeface="Calibri"/>
                <a:ea typeface="Calibri"/>
                <a:cs typeface="Calibri"/>
                <a:sym typeface="Calibri"/>
              </a:rPr>
              <a:t>Cerebras MiniMax-M2-REAP-162B-A10B</a:t>
            </a:r>
            <a:endParaRPr sz="1100" b="1">
              <a:solidFill>
                <a:srgbClr val="FF0000"/>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latin typeface="Calibri"/>
                <a:ea typeface="Calibri"/>
                <a:cs typeface="Calibri"/>
                <a:sym typeface="Calibri"/>
              </a:rPr>
              <a:t>A Memory Efficient Version of MiniMax-M2 for Long Context Coding</a:t>
            </a:r>
            <a:endParaRPr sz="1100">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latin typeface="Calibri"/>
                <a:ea typeface="Calibri"/>
                <a:cs typeface="Calibri"/>
                <a:sym typeface="Calibri"/>
              </a:rPr>
              <a:t>Sparse MoE Causal Language Model</a:t>
            </a:r>
            <a:endParaRPr sz="1100">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latin typeface="Calibri"/>
                <a:ea typeface="Calibri"/>
                <a:cs typeface="Calibri"/>
                <a:sym typeface="Calibri"/>
              </a:rPr>
              <a:t>Uses Router weighted Expert Activation Pruning (REAP) to decrease from 230B to 162B total params. 10B active per token, 62 layers, 48 heads, 180 experts and a 196,608 token context window, while maintaining near identical accuracy to MiniMax-M2</a:t>
            </a:r>
            <a:endParaRPr sz="1100">
              <a:latin typeface="Calibri"/>
              <a:ea typeface="Calibri"/>
              <a:cs typeface="Calibri"/>
              <a:sym typeface="Calibri"/>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204"/>
        <p:cNvGrpSpPr/>
        <p:nvPr/>
      </p:nvGrpSpPr>
      <p:grpSpPr>
        <a:xfrm>
          <a:off x="0" y="0"/>
          <a:ext cx="0" cy="0"/>
          <a:chOff x="0" y="0"/>
          <a:chExt cx="0" cy="0"/>
        </a:xfrm>
      </p:grpSpPr>
      <p:sp>
        <p:nvSpPr>
          <p:cNvPr id="205" name="Google Shape;205;p24"/>
          <p:cNvSpPr txBox="1"/>
          <p:nvPr/>
        </p:nvSpPr>
        <p:spPr>
          <a:xfrm>
            <a:off x="55075" y="20375"/>
            <a:ext cx="44445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AI Updates 4</a:t>
            </a:r>
            <a:endParaRPr sz="2000" b="1" i="0" u="none" strike="noStrike" cap="none">
              <a:solidFill>
                <a:schemeClr val="dk1"/>
              </a:solidFill>
              <a:latin typeface="Calibri"/>
              <a:ea typeface="Calibri"/>
              <a:cs typeface="Calibri"/>
              <a:sym typeface="Calibri"/>
            </a:endParaRPr>
          </a:p>
        </p:txBody>
      </p:sp>
      <p:sp>
        <p:nvSpPr>
          <p:cNvPr id="206" name="Google Shape;206;p24"/>
          <p:cNvSpPr txBox="1"/>
          <p:nvPr/>
        </p:nvSpPr>
        <p:spPr>
          <a:xfrm>
            <a:off x="55075" y="551881"/>
            <a:ext cx="4444500" cy="1881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Clr>
                <a:srgbClr val="FF0000"/>
              </a:buClr>
              <a:buSzPts val="1100"/>
              <a:buFont typeface="Calibri"/>
              <a:buChar char="●"/>
            </a:pPr>
            <a:r>
              <a:rPr lang="en" sz="1100" b="1">
                <a:solidFill>
                  <a:srgbClr val="FF0000"/>
                </a:solidFill>
                <a:latin typeface="Calibri"/>
                <a:ea typeface="Calibri"/>
                <a:cs typeface="Calibri"/>
                <a:sym typeface="Calibri"/>
              </a:rPr>
              <a:t>FutureHouse Kosmos AI Scientist </a:t>
            </a:r>
            <a:endParaRPr sz="1100" b="1">
              <a:solidFill>
                <a:srgbClr val="FF0000"/>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latin typeface="Calibri"/>
                <a:ea typeface="Calibri"/>
                <a:cs typeface="Calibri"/>
                <a:sym typeface="Calibri"/>
              </a:rPr>
              <a:t>Transitioning to commercial spinout Edison Scientific</a:t>
            </a:r>
            <a:endParaRPr sz="1100">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latin typeface="Calibri"/>
                <a:ea typeface="Calibri"/>
                <a:cs typeface="Calibri"/>
                <a:sym typeface="Calibri"/>
              </a:rPr>
              <a:t>Released an AI scientist that reads 1,500 papers and runs 42,000 lines of analysis code per run at $200/run with a </a:t>
            </a:r>
            <a:r>
              <a:rPr lang="en" sz="1100">
                <a:solidFill>
                  <a:schemeClr val="dk1"/>
                </a:solidFill>
                <a:latin typeface="Calibri"/>
                <a:ea typeface="Calibri"/>
                <a:cs typeface="Calibri"/>
                <a:sym typeface="Calibri"/>
              </a:rPr>
              <a:t>generous free tier for academics</a:t>
            </a:r>
            <a:endParaRPr sz="1100">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latin typeface="Calibri"/>
                <a:ea typeface="Calibri"/>
                <a:cs typeface="Calibri"/>
                <a:sym typeface="Calibri"/>
              </a:rPr>
              <a:t>Beta users estimate that a single Kosmos run accomplishes what would take them six months, with 79.4% of conclusions accurate</a:t>
            </a:r>
            <a:endParaRPr sz="1100">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latin typeface="Calibri"/>
                <a:ea typeface="Calibri"/>
                <a:cs typeface="Calibri"/>
                <a:sym typeface="Calibri"/>
              </a:rPr>
              <a:t>System sometimes pursues statistically significant but scientifically irrelevant findings</a:t>
            </a:r>
            <a:endParaRPr sz="1100">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latin typeface="Calibri"/>
                <a:ea typeface="Calibri"/>
                <a:cs typeface="Calibri"/>
                <a:sym typeface="Calibri"/>
              </a:rPr>
              <a:t>It's already made seven discoveries—three reproduced unpublished findings and four contributed novel insights, including one related to Alzheimer's that was validated in human tissue</a:t>
            </a:r>
            <a:endParaRPr sz="1100">
              <a:latin typeface="Calibri"/>
              <a:ea typeface="Calibri"/>
              <a:cs typeface="Calibri"/>
              <a:sym typeface="Calibri"/>
            </a:endParaRPr>
          </a:p>
        </p:txBody>
      </p:sp>
      <p:sp>
        <p:nvSpPr>
          <p:cNvPr id="207" name="Google Shape;207;p24"/>
          <p:cNvSpPr txBox="1"/>
          <p:nvPr/>
        </p:nvSpPr>
        <p:spPr>
          <a:xfrm>
            <a:off x="55075" y="2534156"/>
            <a:ext cx="4444500" cy="8649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Clr>
                <a:srgbClr val="FF0000"/>
              </a:buClr>
              <a:buSzPts val="1100"/>
              <a:buFont typeface="Calibri"/>
              <a:buChar char="●"/>
            </a:pPr>
            <a:r>
              <a:rPr lang="en" sz="1100" b="1">
                <a:solidFill>
                  <a:srgbClr val="FF0000"/>
                </a:solidFill>
                <a:latin typeface="Calibri"/>
                <a:ea typeface="Calibri"/>
                <a:cs typeface="Calibri"/>
                <a:sym typeface="Calibri"/>
              </a:rPr>
              <a:t>Jeff Bezos Project Prometheus</a:t>
            </a:r>
            <a:endParaRPr sz="1100" b="1">
              <a:solidFill>
                <a:srgbClr val="FF0000"/>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latin typeface="Calibri"/>
                <a:ea typeface="Calibri"/>
                <a:cs typeface="Calibri"/>
                <a:sym typeface="Calibri"/>
              </a:rPr>
              <a:t>$6.2 Bln </a:t>
            </a:r>
            <a:endParaRPr sz="1100">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latin typeface="Calibri"/>
                <a:ea typeface="Calibri"/>
                <a:cs typeface="Calibri"/>
                <a:sym typeface="Calibri"/>
              </a:rPr>
              <a:t>Co-led </a:t>
            </a:r>
            <a:r>
              <a:rPr lang="en" sz="1100">
                <a:solidFill>
                  <a:schemeClr val="dk1"/>
                </a:solidFill>
                <a:latin typeface="Calibri"/>
                <a:ea typeface="Calibri"/>
                <a:cs typeface="Calibri"/>
                <a:sym typeface="Calibri"/>
              </a:rPr>
              <a:t>by Vik Bajaj - </a:t>
            </a:r>
            <a:r>
              <a:rPr lang="en" sz="1100" u="sng">
                <a:solidFill>
                  <a:schemeClr val="hlink"/>
                </a:solidFill>
                <a:latin typeface="Calibri"/>
                <a:ea typeface="Calibri"/>
                <a:cs typeface="Calibri"/>
                <a:sym typeface="Calibri"/>
                <a:hlinkClick r:id="rId3"/>
              </a:rPr>
              <a:t>https://www.linkedin.com/in/drvikbajaj/</a:t>
            </a:r>
            <a:r>
              <a:rPr lang="en" sz="1100">
                <a:solidFill>
                  <a:schemeClr val="dk1"/>
                </a:solidFill>
                <a:latin typeface="Calibri"/>
                <a:ea typeface="Calibri"/>
                <a:cs typeface="Calibri"/>
                <a:sym typeface="Calibri"/>
              </a:rPr>
              <a:t> </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AI for the physical economy (engineering and manufacturing) with a team of 100 engineers.</a:t>
            </a:r>
            <a:endParaRPr sz="1100">
              <a:latin typeface="Calibri"/>
              <a:ea typeface="Calibri"/>
              <a:cs typeface="Calibri"/>
              <a:sym typeface="Calibri"/>
            </a:endParaRPr>
          </a:p>
        </p:txBody>
      </p:sp>
      <p:pic>
        <p:nvPicPr>
          <p:cNvPr id="208" name="Google Shape;208;p24"/>
          <p:cNvPicPr preferRelativeResize="0"/>
          <p:nvPr/>
        </p:nvPicPr>
        <p:blipFill>
          <a:blip r:embed="rId4" cstate="email">
            <a:alphaModFix/>
            <a:extLst>
              <a:ext uri="{28A0092B-C50C-407E-A947-70E740481C1C}">
                <a14:useLocalDpi xmlns:a14="http://schemas.microsoft.com/office/drawing/2010/main"/>
              </a:ext>
            </a:extLst>
          </a:blip>
          <a:stretch>
            <a:fillRect/>
          </a:stretch>
        </p:blipFill>
        <p:spPr>
          <a:xfrm>
            <a:off x="4651975" y="2534150"/>
            <a:ext cx="1544464" cy="864900"/>
          </a:xfrm>
          <a:prstGeom prst="rect">
            <a:avLst/>
          </a:prstGeom>
          <a:noFill/>
          <a:ln>
            <a:noFill/>
          </a:ln>
        </p:spPr>
      </p:pic>
      <p:sp>
        <p:nvSpPr>
          <p:cNvPr id="209" name="Google Shape;209;p24"/>
          <p:cNvSpPr txBox="1"/>
          <p:nvPr/>
        </p:nvSpPr>
        <p:spPr>
          <a:xfrm>
            <a:off x="55075" y="3500331"/>
            <a:ext cx="4444500" cy="1373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Clr>
                <a:schemeClr val="dk1"/>
              </a:buClr>
              <a:buSzPts val="1100"/>
              <a:buFont typeface="Calibri"/>
              <a:buChar char="●"/>
            </a:pPr>
            <a:r>
              <a:rPr lang="en" sz="1100" b="1">
                <a:solidFill>
                  <a:srgbClr val="FF0000"/>
                </a:solidFill>
                <a:latin typeface="Calibri"/>
                <a:ea typeface="Calibri"/>
                <a:cs typeface="Calibri"/>
                <a:sym typeface="Calibri"/>
              </a:rPr>
              <a:t>Google AI Ultra $250/mo</a:t>
            </a:r>
            <a:r>
              <a:rPr lang="en" sz="1100">
                <a:latin typeface="Calibri"/>
                <a:ea typeface="Calibri"/>
                <a:cs typeface="Calibri"/>
                <a:sym typeface="Calibri"/>
              </a:rPr>
              <a:t> ($125/mo for first 3 months)</a:t>
            </a:r>
            <a:endParaRPr sz="1100">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latin typeface="Calibri"/>
                <a:ea typeface="Calibri"/>
                <a:cs typeface="Calibri"/>
                <a:sym typeface="Calibri"/>
              </a:rPr>
              <a:t>Highest limits to features and models</a:t>
            </a:r>
            <a:endParaRPr sz="1100">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latin typeface="Calibri"/>
                <a:ea typeface="Calibri"/>
                <a:cs typeface="Calibri"/>
                <a:sym typeface="Calibri"/>
              </a:rPr>
              <a:t>Gemini app, 2.5 Pro Deep Think, Veo 3.1 (video), Whisk (image-to-video), Flow (AI Film making), NotebookLM, Gemini in Gmail, Docs, Vids &amp; more, Project Mariner (early access) - agentic research, YouTube Premium, Google Home Premium Advanced, Gemini Code Assist, Gemini CLI, Jules (asynchronous coding agent), 30 TB of storage for Photos, Drive &amp; Gmail</a:t>
            </a:r>
            <a:endParaRPr sz="1100">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u="sng">
                <a:solidFill>
                  <a:schemeClr val="hlink"/>
                </a:solidFill>
                <a:latin typeface="Calibri"/>
                <a:ea typeface="Calibri"/>
                <a:cs typeface="Calibri"/>
                <a:sym typeface="Calibri"/>
                <a:hlinkClick r:id="rId5"/>
              </a:rPr>
              <a:t>https://one.google.com/ai</a:t>
            </a:r>
            <a:r>
              <a:rPr lang="en" sz="1100">
                <a:latin typeface="Calibri"/>
                <a:ea typeface="Calibri"/>
                <a:cs typeface="Calibri"/>
                <a:sym typeface="Calibri"/>
              </a:rPr>
              <a:t> </a:t>
            </a:r>
            <a:endParaRPr sz="1100">
              <a:latin typeface="Calibri"/>
              <a:ea typeface="Calibri"/>
              <a:cs typeface="Calibri"/>
              <a:sym typeface="Calibri"/>
            </a:endParaRPr>
          </a:p>
        </p:txBody>
      </p:sp>
      <p:pic>
        <p:nvPicPr>
          <p:cNvPr id="210" name="Google Shape;210;p24"/>
          <p:cNvPicPr preferRelativeResize="0"/>
          <p:nvPr/>
        </p:nvPicPr>
        <p:blipFill>
          <a:blip r:embed="rId6">
            <a:alphaModFix/>
          </a:blip>
          <a:stretch>
            <a:fillRect/>
          </a:stretch>
        </p:blipFill>
        <p:spPr>
          <a:xfrm>
            <a:off x="4651965" y="3824925"/>
            <a:ext cx="2552700" cy="723900"/>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214"/>
        <p:cNvGrpSpPr/>
        <p:nvPr/>
      </p:nvGrpSpPr>
      <p:grpSpPr>
        <a:xfrm>
          <a:off x="0" y="0"/>
          <a:ext cx="0" cy="0"/>
          <a:chOff x="0" y="0"/>
          <a:chExt cx="0" cy="0"/>
        </a:xfrm>
      </p:grpSpPr>
      <p:sp>
        <p:nvSpPr>
          <p:cNvPr id="215" name="Google Shape;215;p25"/>
          <p:cNvSpPr txBox="1"/>
          <p:nvPr/>
        </p:nvSpPr>
        <p:spPr>
          <a:xfrm>
            <a:off x="55075" y="20375"/>
            <a:ext cx="44445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AI Updates 5</a:t>
            </a:r>
            <a:endParaRPr sz="2000" b="1" i="0" u="none" strike="noStrike" cap="none">
              <a:solidFill>
                <a:schemeClr val="dk1"/>
              </a:solidFill>
              <a:latin typeface="Calibri"/>
              <a:ea typeface="Calibri"/>
              <a:cs typeface="Calibri"/>
              <a:sym typeface="Calibri"/>
            </a:endParaRPr>
          </a:p>
        </p:txBody>
      </p:sp>
      <p:sp>
        <p:nvSpPr>
          <p:cNvPr id="216" name="Google Shape;216;p25"/>
          <p:cNvSpPr txBox="1"/>
          <p:nvPr/>
        </p:nvSpPr>
        <p:spPr>
          <a:xfrm>
            <a:off x="55075" y="401781"/>
            <a:ext cx="4444500" cy="34047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Clr>
                <a:srgbClr val="FF0000"/>
              </a:buClr>
              <a:buSzPts val="1100"/>
              <a:buFont typeface="Calibri"/>
              <a:buChar char="●"/>
            </a:pPr>
            <a:r>
              <a:rPr lang="en" sz="1100" b="1">
                <a:solidFill>
                  <a:srgbClr val="FF0000"/>
                </a:solidFill>
                <a:latin typeface="Calibri"/>
                <a:ea typeface="Calibri"/>
                <a:cs typeface="Calibri"/>
                <a:sym typeface="Calibri"/>
              </a:rPr>
              <a:t>Google's Gemini CLI updates</a:t>
            </a:r>
            <a:endParaRPr sz="1100" b="1">
              <a:solidFill>
                <a:srgbClr val="FF0000"/>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latin typeface="Calibri"/>
                <a:ea typeface="Calibri"/>
                <a:cs typeface="Calibri"/>
                <a:sym typeface="Calibri"/>
              </a:rPr>
              <a:t>interactive shell support, redesigned UI, custom command automation</a:t>
            </a:r>
            <a:endParaRPr sz="1100">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latin typeface="Calibri"/>
                <a:ea typeface="Calibri"/>
                <a:cs typeface="Calibri"/>
                <a:sym typeface="Calibri"/>
              </a:rPr>
              <a:t>PTY (pseudo-terminal) support - run terminal commands like vim, htop, and git rebase directly inside Gemini CLI without switching contexts</a:t>
            </a:r>
            <a:endParaRPr sz="1100">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latin typeface="Calibri"/>
                <a:ea typeface="Calibri"/>
                <a:cs typeface="Calibri"/>
                <a:sym typeface="Calibri"/>
              </a:rPr>
              <a:t>Better UI - flicker-free display, sticky headers, stable input prompt at the bottom, mouse support, preserves your full chat history even when using alternate screen buffers</a:t>
            </a:r>
            <a:endParaRPr sz="1100">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latin typeface="Calibri"/>
                <a:ea typeface="Calibri"/>
                <a:cs typeface="Calibri"/>
                <a:sym typeface="Calibri"/>
              </a:rPr>
              <a:t>You can now create your own slash commands using TOML files stored in your Gemini commands folder. These commands support variable placeholders using `{{args}}`, can execute shell commands within prompts using `!{...}` syntax, and allow you to namespace commands into organized folders like `/git commit` or `/git review`. This enables one-line automation of repetitive tasks - for example, a `/plan` command for project planning or a `/review` command that analyzes your git diff</a:t>
            </a:r>
            <a:endParaRPr sz="1100">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latin typeface="Calibri"/>
                <a:ea typeface="Calibri"/>
                <a:cs typeface="Calibri"/>
                <a:sym typeface="Calibri"/>
              </a:rPr>
              <a:t>JSON streaming output for automation, a markdown toggle, arrow key editing for queued messages, improved web fetch for JSON APIs, and the ability to run slash commands non-interactively from scripts</a:t>
            </a:r>
            <a:endParaRPr sz="1100">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latin typeface="Calibri"/>
                <a:ea typeface="Calibri"/>
                <a:cs typeface="Calibri"/>
                <a:sym typeface="Calibri"/>
              </a:rPr>
              <a:t>The CLI is open source</a:t>
            </a:r>
            <a:endParaRPr sz="1100">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latin typeface="Calibri"/>
                <a:ea typeface="Calibri"/>
                <a:cs typeface="Calibri"/>
                <a:sym typeface="Calibri"/>
              </a:rPr>
              <a:t>npm install -g @google/gemini-cli</a:t>
            </a:r>
            <a:endParaRPr sz="1100">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u="sng">
                <a:solidFill>
                  <a:schemeClr val="hlink"/>
                </a:solidFill>
                <a:latin typeface="Calibri"/>
                <a:ea typeface="Calibri"/>
                <a:cs typeface="Calibri"/>
                <a:sym typeface="Calibri"/>
                <a:hlinkClick r:id="rId3"/>
              </a:rPr>
              <a:t>https://www.youtube.com/watch?v=8K_V2oTUXtc</a:t>
            </a:r>
            <a:r>
              <a:rPr lang="en" sz="1100">
                <a:latin typeface="Calibri"/>
                <a:ea typeface="Calibri"/>
                <a:cs typeface="Calibri"/>
                <a:sym typeface="Calibri"/>
              </a:rPr>
              <a:t> </a:t>
            </a:r>
            <a:endParaRPr sz="1100">
              <a:latin typeface="Calibri"/>
              <a:ea typeface="Calibri"/>
              <a:cs typeface="Calibri"/>
              <a:sym typeface="Calibri"/>
            </a:endParaRPr>
          </a:p>
        </p:txBody>
      </p:sp>
      <p:pic>
        <p:nvPicPr>
          <p:cNvPr id="217" name="Google Shape;217;p25"/>
          <p:cNvPicPr preferRelativeResize="0"/>
          <p:nvPr/>
        </p:nvPicPr>
        <p:blipFill>
          <a:blip r:embed="rId4">
            <a:alphaModFix/>
          </a:blip>
          <a:stretch>
            <a:fillRect/>
          </a:stretch>
        </p:blipFill>
        <p:spPr>
          <a:xfrm>
            <a:off x="4651975" y="562675"/>
            <a:ext cx="3924300" cy="1162050"/>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221"/>
        <p:cNvGrpSpPr/>
        <p:nvPr/>
      </p:nvGrpSpPr>
      <p:grpSpPr>
        <a:xfrm>
          <a:off x="0" y="0"/>
          <a:ext cx="0" cy="0"/>
          <a:chOff x="0" y="0"/>
          <a:chExt cx="0" cy="0"/>
        </a:xfrm>
      </p:grpSpPr>
      <p:sp>
        <p:nvSpPr>
          <p:cNvPr id="222" name="Google Shape;222;p26"/>
          <p:cNvSpPr txBox="1"/>
          <p:nvPr/>
        </p:nvSpPr>
        <p:spPr>
          <a:xfrm>
            <a:off x="55075" y="20375"/>
            <a:ext cx="44445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ReadKidz - create books and videos</a:t>
            </a:r>
            <a:endParaRPr sz="2000" b="1" i="0" u="none" strike="noStrike" cap="none">
              <a:solidFill>
                <a:schemeClr val="dk1"/>
              </a:solidFill>
              <a:latin typeface="Calibri"/>
              <a:ea typeface="Calibri"/>
              <a:cs typeface="Calibri"/>
              <a:sym typeface="Calibri"/>
            </a:endParaRPr>
          </a:p>
        </p:txBody>
      </p:sp>
      <p:sp>
        <p:nvSpPr>
          <p:cNvPr id="223" name="Google Shape;223;p26"/>
          <p:cNvSpPr txBox="1"/>
          <p:nvPr/>
        </p:nvSpPr>
        <p:spPr>
          <a:xfrm>
            <a:off x="55075" y="401781"/>
            <a:ext cx="4444500" cy="11532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Clr>
                <a:schemeClr val="dk1"/>
              </a:buClr>
              <a:buSzPts val="1100"/>
              <a:buFont typeface="Calibri"/>
              <a:buChar char="●"/>
            </a:pPr>
            <a:r>
              <a:rPr lang="en" sz="1100">
                <a:latin typeface="Calibri"/>
                <a:ea typeface="Calibri"/>
                <a:cs typeface="Calibri"/>
                <a:sym typeface="Calibri"/>
              </a:rPr>
              <a:t>ReadKidz - create children's picture books and animated videos</a:t>
            </a:r>
            <a:endParaRPr sz="1100">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latin typeface="Calibri"/>
                <a:ea typeface="Calibri"/>
                <a:cs typeface="Calibri"/>
                <a:sym typeface="Calibri"/>
              </a:rPr>
              <a:t>Create in minutes, without design or animation skills</a:t>
            </a:r>
            <a:endParaRPr sz="1100">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latin typeface="Calibri"/>
                <a:ea typeface="Calibri"/>
                <a:cs typeface="Calibri"/>
                <a:sym typeface="Calibri"/>
              </a:rPr>
              <a:t>The tool handles story generation, illustrations, character consistency, voice dubbing, layout design, and one-click publishing to YouTube and Amazon KDP</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u="sng">
                <a:solidFill>
                  <a:schemeClr val="hlink"/>
                </a:solidFill>
                <a:latin typeface="Calibri"/>
                <a:ea typeface="Calibri"/>
                <a:cs typeface="Calibri"/>
                <a:sym typeface="Calibri"/>
                <a:hlinkClick r:id="rId3"/>
              </a:rPr>
              <a:t>https://www.youtube.com/watch?v=iX2sdEM28RQ</a:t>
            </a:r>
            <a:r>
              <a:rPr lang="en" sz="1100">
                <a:latin typeface="Calibri"/>
                <a:ea typeface="Calibri"/>
                <a:cs typeface="Calibri"/>
                <a:sym typeface="Calibri"/>
              </a:rPr>
              <a:t> </a:t>
            </a:r>
            <a:endParaRPr sz="1100">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endParaRPr sz="1100">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latin typeface="Calibri"/>
                <a:ea typeface="Calibri"/>
                <a:cs typeface="Calibri"/>
                <a:sym typeface="Calibri"/>
              </a:rPr>
              <a:t>## Key Features</a:t>
            </a:r>
            <a:endParaRPr sz="1100">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endParaRPr sz="1100">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latin typeface="Calibri"/>
                <a:ea typeface="Calibri"/>
                <a:cs typeface="Calibri"/>
                <a:sym typeface="Calibri"/>
              </a:rPr>
              <a:t>**Dual Output Format**: Create a picture book and automatically transform it into an animated video from the same project, giving you two monetizable formats from one piece of content.[3][1]</a:t>
            </a:r>
            <a:endParaRPr sz="1100">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endParaRPr sz="1100">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latin typeface="Calibri"/>
                <a:ea typeface="Calibri"/>
                <a:cs typeface="Calibri"/>
                <a:sym typeface="Calibri"/>
              </a:rPr>
              <a:t>**Character Consistency**: Maintains identical character appearance throughout entire stories with expression and pose controls, solving one of the biggest challenges in AI-generated children's content.[4][1]</a:t>
            </a:r>
            <a:endParaRPr sz="1100">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endParaRPr sz="1100">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latin typeface="Calibri"/>
                <a:ea typeface="Calibri"/>
                <a:cs typeface="Calibri"/>
                <a:sym typeface="Calibri"/>
              </a:rPr>
              <a:t>**Extensive Customization**: Over 100 templates and 60+ art styles (watercolor, cartoon, realistic, anime) with open prompt system for complete creative control.[5][1]</a:t>
            </a:r>
            <a:endParaRPr sz="1100">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endParaRPr sz="1100">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latin typeface="Calibri"/>
                <a:ea typeface="Calibri"/>
                <a:cs typeface="Calibri"/>
                <a:sym typeface="Calibri"/>
              </a:rPr>
              <a:t>**Professional Dubbing**: Includes professional children's voice narration in 10+ languages, eliminating the need to hire voice actors.[1][4]</a:t>
            </a:r>
            <a:endParaRPr sz="1100">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endParaRPr sz="1100">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latin typeface="Calibri"/>
                <a:ea typeface="Calibri"/>
                <a:cs typeface="Calibri"/>
                <a:sym typeface="Calibri"/>
              </a:rPr>
              <a:t>**Chat PS Feature**: AI detail adjuster that allows you to modify specific elements (like color or lighting) without regenerating the entire image.[1]</a:t>
            </a:r>
            <a:endParaRPr sz="1100">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endParaRPr sz="1100">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latin typeface="Calibri"/>
                <a:ea typeface="Calibri"/>
                <a:cs typeface="Calibri"/>
                <a:sym typeface="Calibri"/>
              </a:rPr>
              <a:t>## Workflow</a:t>
            </a:r>
            <a:endParaRPr sz="1100">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endParaRPr sz="1100">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latin typeface="Calibri"/>
                <a:ea typeface="Calibri"/>
                <a:cs typeface="Calibri"/>
                <a:sym typeface="Calibri"/>
              </a:rPr>
              <a:t>The creation process takes approximately 15 minutes: start a new project, generate or write your story, create and save characters, choose an art style, generate illustrations with consistent characters, customize layout and design, add finishing touches, and export as PDF for Amazon KDP or as an animated video for YouTube.[6][1]</a:t>
            </a:r>
            <a:endParaRPr sz="1100">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endParaRPr sz="1100">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latin typeface="Calibri"/>
                <a:ea typeface="Calibri"/>
                <a:cs typeface="Calibri"/>
                <a:sym typeface="Calibri"/>
              </a:rPr>
              <a:t>## Monetization Opportunities</a:t>
            </a:r>
            <a:endParaRPr sz="1100">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endParaRPr sz="1100">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latin typeface="Calibri"/>
                <a:ea typeface="Calibri"/>
                <a:cs typeface="Calibri"/>
                <a:sym typeface="Calibri"/>
              </a:rPr>
              <a:t>Users own full copyright to their creations and can generate revenue through YouTube ad revenue, Amazon KDP royalties, print-on-demand versions, and licensing to schools or libraries. ReadKidz also runs a monthly $100 picture book creation competition.[5][1]</a:t>
            </a:r>
            <a:endParaRPr sz="1100">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endParaRPr sz="1100">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latin typeface="Calibri"/>
                <a:ea typeface="Calibri"/>
                <a:cs typeface="Calibri"/>
                <a:sym typeface="Calibri"/>
              </a:rPr>
              <a:t>## Pricing</a:t>
            </a:r>
            <a:endParaRPr sz="1100">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endParaRPr sz="1100">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latin typeface="Calibri"/>
                <a:ea typeface="Calibri"/>
                <a:cs typeface="Calibri"/>
                <a:sym typeface="Calibri"/>
              </a:rPr>
              <a:t>The platform offers a free tier with basic features, Standard plan at $10/month with 2,000 points, Pro plan at $24/month with 10,000 points, and higher tiers for teams and enterprises. New users receive 1,500 free points and daily login bonuses of 200 points.[7][6][5]</a:t>
            </a:r>
            <a:endParaRPr sz="1100">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endParaRPr sz="1100">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latin typeface="Calibri"/>
                <a:ea typeface="Calibri"/>
                <a:cs typeface="Calibri"/>
                <a:sym typeface="Calibri"/>
              </a:rPr>
              <a:t>## Target Users</a:t>
            </a:r>
            <a:endParaRPr sz="1100">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endParaRPr sz="1100">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latin typeface="Calibri"/>
                <a:ea typeface="Calibri"/>
                <a:cs typeface="Calibri"/>
                <a:sym typeface="Calibri"/>
              </a:rPr>
              <a:t>ReadKidz is designed for parents creating personalized stories, content creators building YouTube channels or publishing on Amazon, educators needing engaging materials on limited budgets, and aspiring authors who can write but can't illustrate.[4][1]</a:t>
            </a:r>
            <a:endParaRPr sz="1100">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endParaRPr sz="1100">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latin typeface="Calibri"/>
                <a:ea typeface="Calibri"/>
                <a:cs typeface="Calibri"/>
                <a:sym typeface="Calibri"/>
              </a:rPr>
              <a:t>[1](https://www.youtube.com/watch?v=iX2sdEM28RQ)</a:t>
            </a:r>
            <a:endParaRPr sz="1100">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latin typeface="Calibri"/>
                <a:ea typeface="Calibri"/>
                <a:cs typeface="Calibri"/>
                <a:sym typeface="Calibri"/>
              </a:rPr>
              <a:t>[2](https://www.readkidz.com)</a:t>
            </a:r>
            <a:endParaRPr sz="1100">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latin typeface="Calibri"/>
                <a:ea typeface="Calibri"/>
                <a:cs typeface="Calibri"/>
                <a:sym typeface="Calibri"/>
              </a:rPr>
              <a:t>[3](https://skywork.ai/skypage/en/ReadKidz-Review-2025-My-Deep-Dive-into-AI-Powered-Children's-Storytelling/1975588286968688640)</a:t>
            </a:r>
            <a:endParaRPr sz="1100">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latin typeface="Calibri"/>
                <a:ea typeface="Calibri"/>
                <a:cs typeface="Calibri"/>
                <a:sym typeface="Calibri"/>
              </a:rPr>
              <a:t>[4](https://automateed.com/readkidz-review)</a:t>
            </a:r>
            <a:endParaRPr sz="1100">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latin typeface="Calibri"/>
                <a:ea typeface="Calibri"/>
                <a:cs typeface="Calibri"/>
                <a:sym typeface="Calibri"/>
              </a:rPr>
              <a:t>[5](https://todaytesting.com/readkidz-review/)</a:t>
            </a:r>
            <a:endParaRPr sz="1100">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latin typeface="Calibri"/>
                <a:ea typeface="Calibri"/>
                <a:cs typeface="Calibri"/>
                <a:sym typeface="Calibri"/>
              </a:rPr>
              <a:t>[6](https://www.youtube.com/watch?v=T8dez0p_1sM)</a:t>
            </a:r>
            <a:endParaRPr sz="1100">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latin typeface="Calibri"/>
                <a:ea typeface="Calibri"/>
                <a:cs typeface="Calibri"/>
                <a:sym typeface="Calibri"/>
              </a:rPr>
              <a:t>[7](https://www.readkidz.com/pricing)</a:t>
            </a:r>
            <a:endParaRPr sz="1100">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latin typeface="Calibri"/>
                <a:ea typeface="Calibri"/>
                <a:cs typeface="Calibri"/>
                <a:sym typeface="Calibri"/>
              </a:rPr>
              <a:t>[8](https://www.youtube.com/watch?v=jIHHc3f-dEg&amp;vl=id)</a:t>
            </a:r>
            <a:endParaRPr sz="1100">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latin typeface="Calibri"/>
                <a:ea typeface="Calibri"/>
                <a:cs typeface="Calibri"/>
                <a:sym typeface="Calibri"/>
              </a:rPr>
              <a:t>[9](https://www.toolify.ai/alternative/readkidz)</a:t>
            </a:r>
            <a:endParaRPr sz="1100">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latin typeface="Calibri"/>
                <a:ea typeface="Calibri"/>
                <a:cs typeface="Calibri"/>
                <a:sym typeface="Calibri"/>
              </a:rPr>
              <a:t>[10](https://www.youtube.com/watch?v=l2pYar17Wdc)</a:t>
            </a:r>
            <a:endParaRPr sz="1100">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latin typeface="Calibri"/>
                <a:ea typeface="Calibri"/>
                <a:cs typeface="Calibri"/>
                <a:sym typeface="Calibri"/>
              </a:rPr>
              <a:t>[11](https://aitools.inc/tools/readkidz)</a:t>
            </a:r>
            <a:endParaRPr sz="1100">
              <a:latin typeface="Calibri"/>
              <a:ea typeface="Calibri"/>
              <a:cs typeface="Calibri"/>
              <a:sym typeface="Calibri"/>
            </a:endParaRPr>
          </a:p>
        </p:txBody>
      </p:sp>
      <p:pic>
        <p:nvPicPr>
          <p:cNvPr id="224" name="Google Shape;224;p26"/>
          <p:cNvPicPr preferRelativeResize="0"/>
          <p:nvPr/>
        </p:nvPicPr>
        <p:blipFill>
          <a:blip r:embed="rId4" cstate="email">
            <a:alphaModFix/>
            <a:extLst>
              <a:ext uri="{28A0092B-C50C-407E-A947-70E740481C1C}">
                <a14:useLocalDpi xmlns:a14="http://schemas.microsoft.com/office/drawing/2010/main"/>
              </a:ext>
            </a:extLst>
          </a:blip>
          <a:stretch>
            <a:fillRect/>
          </a:stretch>
        </p:blipFill>
        <p:spPr>
          <a:xfrm>
            <a:off x="4772050" y="498399"/>
            <a:ext cx="2693025" cy="1678775"/>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228"/>
        <p:cNvGrpSpPr/>
        <p:nvPr/>
      </p:nvGrpSpPr>
      <p:grpSpPr>
        <a:xfrm>
          <a:off x="0" y="0"/>
          <a:ext cx="0" cy="0"/>
          <a:chOff x="0" y="0"/>
          <a:chExt cx="0" cy="0"/>
        </a:xfrm>
      </p:grpSpPr>
      <p:sp>
        <p:nvSpPr>
          <p:cNvPr id="229" name="Google Shape;229;p27"/>
          <p:cNvSpPr txBox="1"/>
          <p:nvPr/>
        </p:nvSpPr>
        <p:spPr>
          <a:xfrm>
            <a:off x="55075" y="20375"/>
            <a:ext cx="44445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TOON = Token-Oriented Object Notation </a:t>
            </a:r>
            <a:endParaRPr sz="2000" b="1" i="0" u="none" strike="noStrike" cap="none">
              <a:solidFill>
                <a:schemeClr val="dk1"/>
              </a:solidFill>
              <a:latin typeface="Calibri"/>
              <a:ea typeface="Calibri"/>
              <a:cs typeface="Calibri"/>
              <a:sym typeface="Calibri"/>
            </a:endParaRPr>
          </a:p>
        </p:txBody>
      </p:sp>
      <p:sp>
        <p:nvSpPr>
          <p:cNvPr id="230" name="Google Shape;230;p27"/>
          <p:cNvSpPr txBox="1"/>
          <p:nvPr/>
        </p:nvSpPr>
        <p:spPr>
          <a:xfrm>
            <a:off x="55075" y="551881"/>
            <a:ext cx="4444500" cy="159342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Clr>
                <a:schemeClr val="dk1"/>
              </a:buClr>
              <a:buSzPts val="1100"/>
              <a:buFont typeface="Calibri"/>
              <a:buChar char="●"/>
            </a:pPr>
            <a:r>
              <a:rPr lang="en" sz="1100">
                <a:latin typeface="Calibri"/>
                <a:ea typeface="Calibri"/>
                <a:cs typeface="Calibri"/>
                <a:sym typeface="Calibri"/>
              </a:rPr>
              <a:t>TOON (Token-Oriented Object Notation)</a:t>
            </a:r>
            <a:endParaRPr sz="1100">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latin typeface="Calibri"/>
                <a:ea typeface="Calibri"/>
                <a:cs typeface="Calibri"/>
                <a:sym typeface="Calibri"/>
              </a:rPr>
              <a:t>Open-source data format that can save you 30-60% on token costs compared to traditional JSON. </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u="sng">
                <a:solidFill>
                  <a:schemeClr val="hlink"/>
                </a:solidFill>
                <a:latin typeface="Calibri"/>
                <a:ea typeface="Calibri"/>
                <a:cs typeface="Calibri"/>
                <a:sym typeface="Calibri"/>
                <a:hlinkClick r:id="rId3"/>
              </a:rPr>
              <a:t>https://www.youtube.com/watch?v=lfnJXlgpJT0</a:t>
            </a:r>
            <a:r>
              <a:rPr lang="en" sz="1100">
                <a:latin typeface="Calibri"/>
                <a:ea typeface="Calibri"/>
                <a:cs typeface="Calibri"/>
                <a:sym typeface="Calibri"/>
              </a:rPr>
              <a:t> </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TOON (Token-Oriented Object Notation) is a new data format designed to drastically reduce the number of tokens used when communicating with AI language models, making API calls faster and cheaper compared to traditional JSON.[1][2][3]</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 How TOON Works</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TOON removes the redundant syntax clutter from JSON—no curly braces `{}`, square brackets `[]`, quotation marks, or repeated key names. Instead, it declares field names **once** at the top (like a table header) and then lists the data rows below, similar to how a CSV file works.[2][3][4][6]</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**Simple JSON Example:**</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```json</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  "users": [</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    { "id": 1, "name": "Alice", "role": "admin" },</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    { "id": 2, "name": "Bob", "role": "user" }</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  ]</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**Same Data in TOON:**</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users[2]{id,name,role}:</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  1,Alice,admin</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  2,Bob,user</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Notice how TOON defines the structure once with `users[2]{id,name,role}:` (meaning "an array of 2 users with these 3 fields") and then just lists the actual values. No repeated keys like `"id":`, `"name":`, `"role":` for every entry.[3][6][2]</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 Why Use TOON</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**Token Savings:** TOON typically uses 30-60% fewer tokens than JSON, which translates directly to lower API costs and faster response times. The video shows response times dropping from 144ms with JSON to just 19ms with TOON.[5][1][3]</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**Better Performance:** Studies show TOON achieves 73% retrieval accuracy compared to 69% for JSON in RAG (Retrieval Augmented Generation) systems.[1][2]</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**Easy to Read:** Both humans and AI models find TOON's tabular format cleaner and easier to parse than JSON's nested brackets.[4][3]</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 When to Use TOON</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TOON works **best** for flat, tabular data like user lists, product catalogs, or API responses with many similar objects. It's ideal when you have repeated structures that would normally waste tokens by repeating the same key names over and over.[6][2][3]</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TOON is **not recommended** for deeply nested hierarchical data, where the extra indentation and context can actually increase token usage instead of reducing it.[3]</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 Getting Started</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You can install TOON for Python with `pip install toon-python`, for TypeScript with `npm install toon-format-toon`, or use the CLI tool directly. The conversion is simple—just pass your JSON to the encoder and it outputs the TOON format automatically.[1][3]</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[1](https://www.youtube.com/watch?v=lfnJXlgpJT0)</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[2](https://www.freecodecamp.org/news/what-is-toon-how-token-oriented-object-notation-could-change-how-ai-sees-data/)</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[3](https://dev.to/abhilaksharora/toon-token-oriented-object-notation-the-smarter-lighter-json-for-llms-2f05)</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[4](https://www.youtube.com/watch?v=qC9RCsjb2dk)</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[5](https://www.linkedin.com/pulse/toon-token-oriented-object-notation-smarter-lighter-json-nath-zmu1c)</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[6](https://rajeevpentyala.com/2025/11/14/toon-token-oriented-object-notation/)</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[7](https://www.facebook.com/groups/techtitansgroup/posts/1502546284406018/)</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[8](https://pub.towardsai.net/toon-the-token-oriented-object-notation-that-cuts-llm-token-costs-by-up-to-60-9ec2a4eb9d28)</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[9](https://www.youtube.com/watch?v=9Wju8HhBNcw)</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[10](https://www.epiusers.help/t/singing-a-new-toon-a-more-efficient-data-format-for-ai/130773)</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[11](https://www.youtube.com/watch?v=7FaigGD7FjU)</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[12](https://community.n8n.io/t/toon-token-oriented-object-notation/217775)</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[13](https://www.reddit.com/r/LocalLLaMA/comments/1oyke1n/wonderfully_explained_json_vs_toon/)</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[14](https://python.plainenglish.io/toon-a-token-friendly-alternative-to-json-for-llm-applications-def35b3970b7)</a:t>
            </a:r>
            <a:endParaRPr sz="1100">
              <a:latin typeface="Calibri"/>
              <a:ea typeface="Calibri"/>
              <a:cs typeface="Calibri"/>
              <a:sym typeface="Calibri"/>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234"/>
        <p:cNvGrpSpPr/>
        <p:nvPr/>
      </p:nvGrpSpPr>
      <p:grpSpPr>
        <a:xfrm>
          <a:off x="0" y="0"/>
          <a:ext cx="0" cy="0"/>
          <a:chOff x="0" y="0"/>
          <a:chExt cx="0" cy="0"/>
        </a:xfrm>
      </p:grpSpPr>
      <p:sp>
        <p:nvSpPr>
          <p:cNvPr id="235" name="Google Shape;235;p28"/>
          <p:cNvSpPr txBox="1"/>
          <p:nvPr/>
        </p:nvSpPr>
        <p:spPr>
          <a:xfrm>
            <a:off x="34209" y="-10924"/>
            <a:ext cx="27201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9 Data Science Libraries</a:t>
            </a:r>
            <a:endParaRPr sz="2000" b="1" i="0" u="none" strike="noStrike" cap="none">
              <a:solidFill>
                <a:schemeClr val="dk1"/>
              </a:solidFill>
              <a:latin typeface="Calibri"/>
              <a:ea typeface="Calibri"/>
              <a:cs typeface="Calibri"/>
              <a:sym typeface="Calibri"/>
            </a:endParaRPr>
          </a:p>
        </p:txBody>
      </p:sp>
      <p:sp>
        <p:nvSpPr>
          <p:cNvPr id="236" name="Google Shape;236;p28"/>
          <p:cNvSpPr txBox="1"/>
          <p:nvPr/>
        </p:nvSpPr>
        <p:spPr>
          <a:xfrm>
            <a:off x="73031" y="315475"/>
            <a:ext cx="4465500" cy="434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Clr>
                <a:srgbClr val="FF0000"/>
              </a:buClr>
              <a:buSzPts val="1100"/>
              <a:buFont typeface="Calibri"/>
              <a:buChar char="●"/>
            </a:pPr>
            <a:r>
              <a:rPr lang="en" sz="1100" b="1">
                <a:solidFill>
                  <a:srgbClr val="FF0000"/>
                </a:solidFill>
                <a:latin typeface="Calibri"/>
                <a:ea typeface="Calibri"/>
                <a:cs typeface="Calibri"/>
                <a:sym typeface="Calibri"/>
              </a:rPr>
              <a:t>9 Python Data Science Libraries That Made Me Look Like a Senior Analyst</a:t>
            </a:r>
            <a:endParaRPr sz="1100" b="1">
              <a:solidFill>
                <a:srgbClr val="FF0000"/>
              </a:solidFill>
              <a:latin typeface="Calibri"/>
              <a:ea typeface="Calibri"/>
              <a:cs typeface="Calibri"/>
              <a:sym typeface="Calibri"/>
            </a:endParaRPr>
          </a:p>
          <a:p>
            <a:pPr marL="171450" marR="0" lvl="0" indent="-107950" algn="l" rtl="0">
              <a:lnSpc>
                <a:spcPct val="100000"/>
              </a:lnSpc>
              <a:spcBef>
                <a:spcPts val="0"/>
              </a:spcBef>
              <a:spcAft>
                <a:spcPts val="0"/>
              </a:spcAft>
              <a:buSzPts val="800"/>
              <a:buFont typeface="Calibri"/>
              <a:buChar char="●"/>
            </a:pPr>
            <a:r>
              <a:rPr lang="en" sz="800" u="sng">
                <a:solidFill>
                  <a:schemeClr val="hlink"/>
                </a:solidFill>
                <a:latin typeface="Calibri"/>
                <a:ea typeface="Calibri"/>
                <a:cs typeface="Calibri"/>
                <a:sym typeface="Calibri"/>
                <a:hlinkClick r:id="rId3"/>
              </a:rPr>
              <a:t>https://python.plainenglish.io/9-python-data-science-libraries-that-made-me-look-like-a-senior-analyst-overnight-367b8bee00da</a:t>
            </a:r>
            <a:endParaRPr sz="800">
              <a:latin typeface="Calibri"/>
              <a:ea typeface="Calibri"/>
              <a:cs typeface="Calibri"/>
              <a:sym typeface="Calibri"/>
            </a:endParaRPr>
          </a:p>
        </p:txBody>
      </p:sp>
      <p:sp>
        <p:nvSpPr>
          <p:cNvPr id="237" name="Google Shape;237;p28"/>
          <p:cNvSpPr txBox="1"/>
          <p:nvPr/>
        </p:nvSpPr>
        <p:spPr>
          <a:xfrm>
            <a:off x="73031" y="811425"/>
            <a:ext cx="3807300" cy="12189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None/>
            </a:pPr>
            <a:r>
              <a:rPr lang="en" sz="1100" b="1">
                <a:solidFill>
                  <a:srgbClr val="FF0000"/>
                </a:solidFill>
                <a:latin typeface="Calibri"/>
                <a:ea typeface="Calibri"/>
                <a:cs typeface="Calibri"/>
                <a:sym typeface="Calibri"/>
              </a:rPr>
              <a:t>1. Pandas</a:t>
            </a:r>
            <a:endParaRPr sz="1100">
              <a:latin typeface="Calibri"/>
              <a:ea typeface="Calibri"/>
              <a:cs typeface="Calibri"/>
              <a:sym typeface="Calibri"/>
            </a:endParaRPr>
          </a:p>
          <a:p>
            <a:pPr marL="0" marR="0" lvl="0" indent="0" algn="l" rtl="0">
              <a:lnSpc>
                <a:spcPct val="100000"/>
              </a:lnSpc>
              <a:spcBef>
                <a:spcPts val="0"/>
              </a:spcBef>
              <a:spcAft>
                <a:spcPts val="0"/>
              </a:spcAft>
              <a:buNone/>
            </a:pPr>
            <a:r>
              <a:rPr lang="en" sz="900" b="1">
                <a:solidFill>
                  <a:srgbClr val="3C78D8"/>
                </a:solidFill>
                <a:latin typeface="Roboto Mono"/>
                <a:ea typeface="Roboto Mono"/>
                <a:cs typeface="Roboto Mono"/>
                <a:sym typeface="Roboto Mono"/>
              </a:rPr>
              <a:t>df = df.assign(</a:t>
            </a:r>
            <a:endParaRPr sz="900" b="1">
              <a:solidFill>
                <a:srgbClr val="3C78D8"/>
              </a:solidFill>
              <a:latin typeface="Roboto Mono"/>
              <a:ea typeface="Roboto Mono"/>
              <a:cs typeface="Roboto Mono"/>
              <a:sym typeface="Roboto Mono"/>
            </a:endParaRPr>
          </a:p>
          <a:p>
            <a:pPr marL="0" marR="0" lvl="0" indent="0" algn="l" rtl="0">
              <a:lnSpc>
                <a:spcPct val="100000"/>
              </a:lnSpc>
              <a:spcBef>
                <a:spcPts val="0"/>
              </a:spcBef>
              <a:spcAft>
                <a:spcPts val="0"/>
              </a:spcAft>
              <a:buNone/>
            </a:pPr>
            <a:r>
              <a:rPr lang="en" sz="900" b="1">
                <a:solidFill>
                  <a:srgbClr val="3C78D8"/>
                </a:solidFill>
                <a:latin typeface="Roboto Mono"/>
                <a:ea typeface="Roboto Mono"/>
                <a:cs typeface="Roboto Mono"/>
                <a:sym typeface="Roboto Mono"/>
              </a:rPr>
              <a:t>        session_time = df.end_time - df.start_time</a:t>
            </a:r>
            <a:endParaRPr sz="900" b="1">
              <a:solidFill>
                <a:srgbClr val="3C78D8"/>
              </a:solidFill>
              <a:latin typeface="Roboto Mono"/>
              <a:ea typeface="Roboto Mono"/>
              <a:cs typeface="Roboto Mono"/>
              <a:sym typeface="Roboto Mono"/>
            </a:endParaRPr>
          </a:p>
          <a:p>
            <a:pPr marL="0" marR="0" lvl="0" indent="0" algn="l" rtl="0">
              <a:lnSpc>
                <a:spcPct val="100000"/>
              </a:lnSpc>
              <a:spcBef>
                <a:spcPts val="0"/>
              </a:spcBef>
              <a:spcAft>
                <a:spcPts val="0"/>
              </a:spcAft>
              <a:buNone/>
            </a:pPr>
            <a:r>
              <a:rPr lang="en" sz="900" b="1">
                <a:solidFill>
                  <a:srgbClr val="3C78D8"/>
                </a:solidFill>
                <a:latin typeface="Roboto Mono"/>
                <a:ea typeface="Roboto Mono"/>
                <a:cs typeface="Roboto Mono"/>
                <a:sym typeface="Roboto Mono"/>
              </a:rPr>
              <a:t>     ).query("session_time &gt; '00:30:00'")</a:t>
            </a:r>
            <a:endParaRPr sz="900" b="1">
              <a:solidFill>
                <a:srgbClr val="3C78D8"/>
              </a:solidFill>
              <a:latin typeface="Roboto Mono"/>
              <a:ea typeface="Roboto Mono"/>
              <a:cs typeface="Roboto Mono"/>
              <a:sym typeface="Roboto Mono"/>
            </a:endParaRPr>
          </a:p>
          <a:p>
            <a:pPr marL="0" marR="0" lvl="0" indent="0" algn="l" rtl="0">
              <a:lnSpc>
                <a:spcPct val="100000"/>
              </a:lnSpc>
              <a:spcBef>
                <a:spcPts val="0"/>
              </a:spcBef>
              <a:spcAft>
                <a:spcPts val="0"/>
              </a:spcAft>
              <a:buNone/>
            </a:pPr>
            <a:endParaRPr sz="900" b="1">
              <a:solidFill>
                <a:srgbClr val="3C78D8"/>
              </a:solidFill>
              <a:latin typeface="Roboto Mono"/>
              <a:ea typeface="Roboto Mono"/>
              <a:cs typeface="Roboto Mono"/>
              <a:sym typeface="Roboto Mono"/>
            </a:endParaRPr>
          </a:p>
          <a:p>
            <a:pPr marL="0" marR="0" lvl="0" indent="0" algn="l" rtl="0">
              <a:lnSpc>
                <a:spcPct val="100000"/>
              </a:lnSpc>
              <a:spcBef>
                <a:spcPts val="0"/>
              </a:spcBef>
              <a:spcAft>
                <a:spcPts val="0"/>
              </a:spcAft>
              <a:buNone/>
            </a:pPr>
            <a:r>
              <a:rPr lang="en" sz="900" b="1">
                <a:solidFill>
                  <a:srgbClr val="3C78D8"/>
                </a:solidFill>
                <a:latin typeface="Roboto Mono"/>
                <a:ea typeface="Roboto Mono"/>
                <a:cs typeface="Roboto Mono"/>
                <a:sym typeface="Roboto Mono"/>
              </a:rPr>
              <a:t>df['source'] = df['source'].astype('category')</a:t>
            </a:r>
            <a:endParaRPr sz="1100">
              <a:latin typeface="Calibri"/>
              <a:ea typeface="Calibri"/>
              <a:cs typeface="Calibri"/>
              <a:sym typeface="Calibri"/>
            </a:endParaRPr>
          </a:p>
          <a:p>
            <a:pPr marL="0" marR="0" lvl="0" indent="0" algn="l" rtl="0">
              <a:lnSpc>
                <a:spcPct val="100000"/>
              </a:lnSpc>
              <a:spcBef>
                <a:spcPts val="0"/>
              </a:spcBef>
              <a:spcAft>
                <a:spcPts val="0"/>
              </a:spcAft>
              <a:buNone/>
            </a:pPr>
            <a:r>
              <a:rPr lang="en" sz="1100">
                <a:latin typeface="Calibri"/>
                <a:ea typeface="Calibri"/>
                <a:cs typeface="Calibri"/>
                <a:sym typeface="Calibri"/>
              </a:rPr>
              <a:t>Tip: use value_counts(), categorical dtypes, and chained filtering</a:t>
            </a:r>
            <a:endParaRPr sz="1100">
              <a:latin typeface="Calibri"/>
              <a:ea typeface="Calibri"/>
              <a:cs typeface="Calibri"/>
              <a:sym typeface="Calibri"/>
            </a:endParaRPr>
          </a:p>
          <a:p>
            <a:pPr marL="0" marR="0" lvl="0" indent="0" algn="l" rtl="0">
              <a:lnSpc>
                <a:spcPct val="100000"/>
              </a:lnSpc>
              <a:spcBef>
                <a:spcPts val="0"/>
              </a:spcBef>
              <a:spcAft>
                <a:spcPts val="0"/>
              </a:spcAft>
              <a:buNone/>
            </a:pPr>
            <a:r>
              <a:rPr lang="en" sz="1100">
                <a:latin typeface="Calibri"/>
                <a:ea typeface="Calibri"/>
                <a:cs typeface="Calibri"/>
                <a:sym typeface="Calibri"/>
              </a:rPr>
              <a:t>to go from multi-minute filters to sub-second operations</a:t>
            </a:r>
            <a:endParaRPr sz="1100">
              <a:latin typeface="Calibri"/>
              <a:ea typeface="Calibri"/>
              <a:cs typeface="Calibri"/>
              <a:sym typeface="Calibri"/>
            </a:endParaRPr>
          </a:p>
        </p:txBody>
      </p:sp>
      <p:sp>
        <p:nvSpPr>
          <p:cNvPr id="238" name="Google Shape;238;p28"/>
          <p:cNvSpPr txBox="1"/>
          <p:nvPr/>
        </p:nvSpPr>
        <p:spPr>
          <a:xfrm>
            <a:off x="5329575" y="66075"/>
            <a:ext cx="3757500" cy="14346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None/>
            </a:pPr>
            <a:r>
              <a:rPr lang="en" sz="1100" b="1">
                <a:solidFill>
                  <a:srgbClr val="FF0000"/>
                </a:solidFill>
                <a:latin typeface="Calibri"/>
                <a:ea typeface="Calibri"/>
                <a:cs typeface="Calibri"/>
                <a:sym typeface="Calibri"/>
              </a:rPr>
              <a:t>5. Scikit-Learn</a:t>
            </a:r>
            <a:endParaRPr sz="1100" b="1">
              <a:solidFill>
                <a:srgbClr val="FF0000"/>
              </a:solidFill>
              <a:latin typeface="Calibri"/>
              <a:ea typeface="Calibri"/>
              <a:cs typeface="Calibri"/>
              <a:sym typeface="Calibri"/>
            </a:endParaRPr>
          </a:p>
          <a:p>
            <a:pPr marL="0" marR="0" lvl="0" indent="0" algn="l" rtl="0">
              <a:lnSpc>
                <a:spcPct val="100000"/>
              </a:lnSpc>
              <a:spcBef>
                <a:spcPts val="0"/>
              </a:spcBef>
              <a:spcAft>
                <a:spcPts val="0"/>
              </a:spcAft>
              <a:buNone/>
            </a:pPr>
            <a:r>
              <a:rPr lang="en" sz="900" b="1">
                <a:solidFill>
                  <a:srgbClr val="3C78D8"/>
                </a:solidFill>
                <a:latin typeface="Roboto Mono"/>
                <a:ea typeface="Roboto Mono"/>
                <a:cs typeface="Roboto Mono"/>
                <a:sym typeface="Roboto Mono"/>
              </a:rPr>
              <a:t>from sklearn.import ColumnTransformer</a:t>
            </a:r>
            <a:endParaRPr sz="900" b="1">
              <a:solidFill>
                <a:srgbClr val="3C78D8"/>
              </a:solidFill>
              <a:latin typeface="Roboto Mono"/>
              <a:ea typeface="Roboto Mono"/>
              <a:cs typeface="Roboto Mono"/>
              <a:sym typeface="Roboto Mono"/>
            </a:endParaRPr>
          </a:p>
          <a:p>
            <a:pPr marL="0" marR="0" lvl="0" indent="0" algn="l" rtl="0">
              <a:lnSpc>
                <a:spcPct val="100000"/>
              </a:lnSpc>
              <a:spcBef>
                <a:spcPts val="0"/>
              </a:spcBef>
              <a:spcAft>
                <a:spcPts val="0"/>
              </a:spcAft>
              <a:buNone/>
            </a:pPr>
            <a:r>
              <a:rPr lang="en" sz="900" b="1">
                <a:solidFill>
                  <a:srgbClr val="3C78D8"/>
                </a:solidFill>
                <a:latin typeface="Roboto Mono"/>
                <a:ea typeface="Roboto Mono"/>
                <a:cs typeface="Roboto Mono"/>
                <a:sym typeface="Roboto Mono"/>
              </a:rPr>
              <a:t>from sklearn. preprocessing import StandardScaler</a:t>
            </a:r>
            <a:endParaRPr sz="900" b="1">
              <a:solidFill>
                <a:srgbClr val="3C78D8"/>
              </a:solidFill>
              <a:latin typeface="Roboto Mono"/>
              <a:ea typeface="Roboto Mono"/>
              <a:cs typeface="Roboto Mono"/>
              <a:sym typeface="Roboto Mono"/>
            </a:endParaRPr>
          </a:p>
          <a:p>
            <a:pPr marL="0" marR="0" lvl="0" indent="0" algn="l" rtl="0">
              <a:lnSpc>
                <a:spcPct val="100000"/>
              </a:lnSpc>
              <a:spcBef>
                <a:spcPts val="0"/>
              </a:spcBef>
              <a:spcAft>
                <a:spcPts val="0"/>
              </a:spcAft>
              <a:buNone/>
            </a:pPr>
            <a:r>
              <a:rPr lang="en" sz="900" b="1">
                <a:solidFill>
                  <a:srgbClr val="3C78D8"/>
                </a:solidFill>
                <a:latin typeface="Roboto Mono"/>
                <a:ea typeface="Roboto Mono"/>
                <a:cs typeface="Roboto Mono"/>
                <a:sym typeface="Roboto Mono"/>
              </a:rPr>
              <a:t>from sklearn.pipeline import Pipeline</a:t>
            </a:r>
            <a:endParaRPr sz="900" b="1">
              <a:solidFill>
                <a:srgbClr val="3C78D8"/>
              </a:solidFill>
              <a:latin typeface="Roboto Mono"/>
              <a:ea typeface="Roboto Mono"/>
              <a:cs typeface="Roboto Mono"/>
              <a:sym typeface="Roboto Mono"/>
            </a:endParaRPr>
          </a:p>
          <a:p>
            <a:pPr marL="0" marR="0" lvl="0" indent="0" algn="l" rtl="0">
              <a:lnSpc>
                <a:spcPct val="100000"/>
              </a:lnSpc>
              <a:spcBef>
                <a:spcPts val="0"/>
              </a:spcBef>
              <a:spcAft>
                <a:spcPts val="0"/>
              </a:spcAft>
              <a:buNone/>
            </a:pPr>
            <a:r>
              <a:rPr lang="en" sz="900" b="1">
                <a:solidFill>
                  <a:srgbClr val="3C78D8"/>
                </a:solidFill>
                <a:latin typeface="Roboto Mono"/>
                <a:ea typeface="Roboto Mono"/>
                <a:cs typeface="Roboto Mono"/>
                <a:sym typeface="Roboto Mono"/>
              </a:rPr>
              <a:t>from sklearn.linear_model import LogisticRegression</a:t>
            </a:r>
            <a:endParaRPr sz="900" b="1">
              <a:solidFill>
                <a:srgbClr val="3C78D8"/>
              </a:solidFill>
              <a:latin typeface="Roboto Mono"/>
              <a:ea typeface="Roboto Mono"/>
              <a:cs typeface="Roboto Mono"/>
              <a:sym typeface="Roboto Mono"/>
            </a:endParaRPr>
          </a:p>
          <a:p>
            <a:pPr marL="0" marR="0" lvl="0" indent="0" algn="l" rtl="0">
              <a:lnSpc>
                <a:spcPct val="100000"/>
              </a:lnSpc>
              <a:spcBef>
                <a:spcPts val="0"/>
              </a:spcBef>
              <a:spcAft>
                <a:spcPts val="0"/>
              </a:spcAft>
              <a:buNone/>
            </a:pPr>
            <a:r>
              <a:rPr lang="en" sz="900" b="1">
                <a:solidFill>
                  <a:srgbClr val="3C78D8"/>
                </a:solidFill>
                <a:latin typeface="Roboto Mono"/>
                <a:ea typeface="Roboto Mono"/>
                <a:cs typeface="Roboto Mono"/>
                <a:sym typeface="Roboto Mono"/>
              </a:rPr>
              <a:t>pipeline = Pipeline([</a:t>
            </a:r>
            <a:endParaRPr sz="900" b="1">
              <a:solidFill>
                <a:srgbClr val="3C78D8"/>
              </a:solidFill>
              <a:latin typeface="Roboto Mono"/>
              <a:ea typeface="Roboto Mono"/>
              <a:cs typeface="Roboto Mono"/>
              <a:sym typeface="Roboto Mono"/>
            </a:endParaRPr>
          </a:p>
          <a:p>
            <a:pPr marL="0" marR="0" lvl="0" indent="0" algn="l" rtl="0">
              <a:lnSpc>
                <a:spcPct val="100000"/>
              </a:lnSpc>
              <a:spcBef>
                <a:spcPts val="0"/>
              </a:spcBef>
              <a:spcAft>
                <a:spcPts val="0"/>
              </a:spcAft>
              <a:buNone/>
            </a:pPr>
            <a:r>
              <a:rPr lang="en" sz="900" b="1">
                <a:solidFill>
                  <a:srgbClr val="3C78D8"/>
                </a:solidFill>
                <a:latin typeface="Roboto Mono"/>
                <a:ea typeface="Roboto Mono"/>
                <a:cs typeface="Roboto Mono"/>
                <a:sym typeface="Roboto Mono"/>
              </a:rPr>
              <a:t>    ("scale", StandardScaler()),</a:t>
            </a:r>
            <a:endParaRPr sz="900" b="1">
              <a:solidFill>
                <a:srgbClr val="3C78D8"/>
              </a:solidFill>
              <a:latin typeface="Roboto Mono"/>
              <a:ea typeface="Roboto Mono"/>
              <a:cs typeface="Roboto Mono"/>
              <a:sym typeface="Roboto Mono"/>
            </a:endParaRPr>
          </a:p>
          <a:p>
            <a:pPr marL="0" marR="0" lvl="0" indent="0" algn="l" rtl="0">
              <a:lnSpc>
                <a:spcPct val="100000"/>
              </a:lnSpc>
              <a:spcBef>
                <a:spcPts val="0"/>
              </a:spcBef>
              <a:spcAft>
                <a:spcPts val="0"/>
              </a:spcAft>
              <a:buNone/>
            </a:pPr>
            <a:r>
              <a:rPr lang="en" sz="900" b="1">
                <a:solidFill>
                  <a:srgbClr val="3C78D8"/>
                </a:solidFill>
                <a:latin typeface="Roboto Mono"/>
                <a:ea typeface="Roboto Mono"/>
                <a:cs typeface="Roboto Mono"/>
                <a:sym typeface="Roboto Mono"/>
              </a:rPr>
              <a:t>    ("model", LogisticRegression(max_iter=200))</a:t>
            </a:r>
            <a:endParaRPr sz="900" b="1">
              <a:solidFill>
                <a:srgbClr val="3C78D8"/>
              </a:solidFill>
              <a:latin typeface="Roboto Mono"/>
              <a:ea typeface="Roboto Mono"/>
              <a:cs typeface="Roboto Mono"/>
              <a:sym typeface="Roboto Mono"/>
            </a:endParaRPr>
          </a:p>
          <a:p>
            <a:pPr marL="0" marR="0" lvl="0" indent="0" algn="l" rtl="0">
              <a:lnSpc>
                <a:spcPct val="100000"/>
              </a:lnSpc>
              <a:spcBef>
                <a:spcPts val="0"/>
              </a:spcBef>
              <a:spcAft>
                <a:spcPts val="0"/>
              </a:spcAft>
              <a:buNone/>
            </a:pPr>
            <a:r>
              <a:rPr lang="en" sz="900" b="1">
                <a:solidFill>
                  <a:srgbClr val="3C78D8"/>
                </a:solidFill>
                <a:latin typeface="Roboto Mono"/>
                <a:ea typeface="Roboto Mono"/>
                <a:cs typeface="Roboto Mono"/>
                <a:sym typeface="Roboto Mono"/>
              </a:rPr>
              <a:t>])</a:t>
            </a:r>
            <a:endParaRPr sz="900" b="1">
              <a:solidFill>
                <a:srgbClr val="3C78D8"/>
              </a:solidFill>
              <a:latin typeface="Roboto Mono"/>
              <a:ea typeface="Roboto Mono"/>
              <a:cs typeface="Roboto Mono"/>
              <a:sym typeface="Roboto Mono"/>
            </a:endParaRPr>
          </a:p>
          <a:p>
            <a:pPr marL="0" marR="0" lvl="0" indent="0" algn="l" rtl="0">
              <a:lnSpc>
                <a:spcPct val="100000"/>
              </a:lnSpc>
              <a:spcBef>
                <a:spcPts val="0"/>
              </a:spcBef>
              <a:spcAft>
                <a:spcPts val="0"/>
              </a:spcAft>
              <a:buNone/>
            </a:pPr>
            <a:r>
              <a:rPr lang="en" sz="900" b="1">
                <a:solidFill>
                  <a:srgbClr val="3C78D8"/>
                </a:solidFill>
                <a:latin typeface="Roboto Mono"/>
                <a:ea typeface="Roboto Mono"/>
                <a:cs typeface="Roboto Mono"/>
                <a:sym typeface="Roboto Mono"/>
              </a:rPr>
              <a:t>pipeline.fit(X_train, y_train)</a:t>
            </a:r>
            <a:endParaRPr sz="1100">
              <a:latin typeface="Calibri"/>
              <a:ea typeface="Calibri"/>
              <a:cs typeface="Calibri"/>
              <a:sym typeface="Calibri"/>
            </a:endParaRPr>
          </a:p>
        </p:txBody>
      </p:sp>
      <p:sp>
        <p:nvSpPr>
          <p:cNvPr id="239" name="Google Shape;239;p28"/>
          <p:cNvSpPr txBox="1"/>
          <p:nvPr/>
        </p:nvSpPr>
        <p:spPr>
          <a:xfrm>
            <a:off x="73031" y="2092175"/>
            <a:ext cx="3397800" cy="10188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None/>
            </a:pPr>
            <a:r>
              <a:rPr lang="en" sz="1100" b="1">
                <a:solidFill>
                  <a:srgbClr val="FF0000"/>
                </a:solidFill>
                <a:latin typeface="Calibri"/>
                <a:ea typeface="Calibri"/>
                <a:cs typeface="Calibri"/>
                <a:sym typeface="Calibri"/>
              </a:rPr>
              <a:t>2. Polars - lazy API, very fast (in Rust)</a:t>
            </a:r>
            <a:endParaRPr sz="1100" b="1">
              <a:solidFill>
                <a:srgbClr val="FF0000"/>
              </a:solidFill>
              <a:latin typeface="Calibri"/>
              <a:ea typeface="Calibri"/>
              <a:cs typeface="Calibri"/>
              <a:sym typeface="Calibri"/>
            </a:endParaRPr>
          </a:p>
          <a:p>
            <a:pPr marL="0" marR="0" lvl="0" indent="0" algn="l" rtl="0">
              <a:lnSpc>
                <a:spcPct val="100000"/>
              </a:lnSpc>
              <a:spcBef>
                <a:spcPts val="0"/>
              </a:spcBef>
              <a:spcAft>
                <a:spcPts val="0"/>
              </a:spcAft>
              <a:buNone/>
            </a:pPr>
            <a:r>
              <a:rPr lang="en" sz="900" b="1">
                <a:solidFill>
                  <a:srgbClr val="3C78D8"/>
                </a:solidFill>
                <a:latin typeface="Roboto Mono"/>
                <a:ea typeface="Roboto Mono"/>
                <a:cs typeface="Roboto Mono"/>
                <a:sym typeface="Roboto Mono"/>
              </a:rPr>
              <a:t>import polars as pl</a:t>
            </a:r>
            <a:endParaRPr sz="900" b="1">
              <a:solidFill>
                <a:srgbClr val="3C78D8"/>
              </a:solidFill>
              <a:latin typeface="Roboto Mono"/>
              <a:ea typeface="Roboto Mono"/>
              <a:cs typeface="Roboto Mono"/>
              <a:sym typeface="Roboto Mono"/>
            </a:endParaRPr>
          </a:p>
          <a:p>
            <a:pPr marL="0" marR="0" lvl="0" indent="0" algn="l" rtl="0">
              <a:lnSpc>
                <a:spcPct val="100000"/>
              </a:lnSpc>
              <a:spcBef>
                <a:spcPts val="0"/>
              </a:spcBef>
              <a:spcAft>
                <a:spcPts val="0"/>
              </a:spcAft>
              <a:buNone/>
            </a:pPr>
            <a:r>
              <a:rPr lang="en" sz="900" b="1">
                <a:solidFill>
                  <a:srgbClr val="3C78D8"/>
                </a:solidFill>
                <a:latin typeface="Roboto Mono"/>
                <a:ea typeface="Roboto Mono"/>
                <a:cs typeface="Roboto Mono"/>
                <a:sym typeface="Roboto Mono"/>
              </a:rPr>
              <a:t>result = (pl.scan_csv("users.csv")</a:t>
            </a:r>
            <a:endParaRPr sz="900" b="1">
              <a:solidFill>
                <a:srgbClr val="3C78D8"/>
              </a:solidFill>
              <a:latin typeface="Roboto Mono"/>
              <a:ea typeface="Roboto Mono"/>
              <a:cs typeface="Roboto Mono"/>
              <a:sym typeface="Roboto Mono"/>
            </a:endParaRPr>
          </a:p>
          <a:p>
            <a:pPr marL="0" marR="0" lvl="0" indent="0" algn="l" rtl="0">
              <a:lnSpc>
                <a:spcPct val="100000"/>
              </a:lnSpc>
              <a:spcBef>
                <a:spcPts val="0"/>
              </a:spcBef>
              <a:spcAft>
                <a:spcPts val="0"/>
              </a:spcAft>
              <a:buNone/>
            </a:pPr>
            <a:r>
              <a:rPr lang="en" sz="900" b="1">
                <a:solidFill>
                  <a:srgbClr val="3C78D8"/>
                </a:solidFill>
                <a:latin typeface="Roboto Mono"/>
                <a:ea typeface="Roboto Mono"/>
                <a:cs typeface="Roboto Mono"/>
                <a:sym typeface="Roboto Mono"/>
              </a:rPr>
              <a:t>            .filter(pl.col("age") &gt; 20)</a:t>
            </a:r>
            <a:endParaRPr sz="900" b="1">
              <a:solidFill>
                <a:srgbClr val="3C78D8"/>
              </a:solidFill>
              <a:latin typeface="Roboto Mono"/>
              <a:ea typeface="Roboto Mono"/>
              <a:cs typeface="Roboto Mono"/>
              <a:sym typeface="Roboto Mono"/>
            </a:endParaRPr>
          </a:p>
          <a:p>
            <a:pPr marL="0" marR="0" lvl="0" indent="0" algn="l" rtl="0">
              <a:lnSpc>
                <a:spcPct val="100000"/>
              </a:lnSpc>
              <a:spcBef>
                <a:spcPts val="0"/>
              </a:spcBef>
              <a:spcAft>
                <a:spcPts val="0"/>
              </a:spcAft>
              <a:buNone/>
            </a:pPr>
            <a:r>
              <a:rPr lang="en" sz="900" b="1">
                <a:solidFill>
                  <a:srgbClr val="3C78D8"/>
                </a:solidFill>
                <a:latin typeface="Roboto Mono"/>
                <a:ea typeface="Roboto Mono"/>
                <a:cs typeface="Roboto Mono"/>
                <a:sym typeface="Roboto Mono"/>
              </a:rPr>
              <a:t>            .groupby("country")</a:t>
            </a:r>
            <a:endParaRPr sz="900" b="1">
              <a:solidFill>
                <a:srgbClr val="3C78D8"/>
              </a:solidFill>
              <a:latin typeface="Roboto Mono"/>
              <a:ea typeface="Roboto Mono"/>
              <a:cs typeface="Roboto Mono"/>
              <a:sym typeface="Roboto Mono"/>
            </a:endParaRPr>
          </a:p>
          <a:p>
            <a:pPr marL="0" marR="0" lvl="0" indent="0" algn="l" rtl="0">
              <a:lnSpc>
                <a:spcPct val="100000"/>
              </a:lnSpc>
              <a:spcBef>
                <a:spcPts val="0"/>
              </a:spcBef>
              <a:spcAft>
                <a:spcPts val="0"/>
              </a:spcAft>
              <a:buNone/>
            </a:pPr>
            <a:r>
              <a:rPr lang="en" sz="900" b="1">
                <a:solidFill>
                  <a:srgbClr val="3C78D8"/>
                </a:solidFill>
                <a:latin typeface="Roboto Mono"/>
                <a:ea typeface="Roboto Mono"/>
                <a:cs typeface="Roboto Mono"/>
                <a:sym typeface="Roboto Mono"/>
              </a:rPr>
              <a:t>            .agg(pl.col("salary").mean())</a:t>
            </a:r>
            <a:endParaRPr sz="900" b="1">
              <a:solidFill>
                <a:srgbClr val="3C78D8"/>
              </a:solidFill>
              <a:latin typeface="Roboto Mono"/>
              <a:ea typeface="Roboto Mono"/>
              <a:cs typeface="Roboto Mono"/>
              <a:sym typeface="Roboto Mono"/>
            </a:endParaRPr>
          </a:p>
          <a:p>
            <a:pPr marL="0" marR="0" lvl="0" indent="0" algn="l" rtl="0">
              <a:lnSpc>
                <a:spcPct val="100000"/>
              </a:lnSpc>
              <a:spcBef>
                <a:spcPts val="0"/>
              </a:spcBef>
              <a:spcAft>
                <a:spcPts val="0"/>
              </a:spcAft>
              <a:buNone/>
            </a:pPr>
            <a:r>
              <a:rPr lang="en" sz="900" b="1">
                <a:solidFill>
                  <a:srgbClr val="3C78D8"/>
                </a:solidFill>
                <a:latin typeface="Roboto Mono"/>
                <a:ea typeface="Roboto Mono"/>
                <a:cs typeface="Roboto Mono"/>
                <a:sym typeface="Roboto Mono"/>
              </a:rPr>
              <a:t>            .collect())</a:t>
            </a:r>
            <a:endParaRPr sz="1100">
              <a:latin typeface="Calibri"/>
              <a:ea typeface="Calibri"/>
              <a:cs typeface="Calibri"/>
              <a:sym typeface="Calibri"/>
            </a:endParaRPr>
          </a:p>
        </p:txBody>
      </p:sp>
      <p:sp>
        <p:nvSpPr>
          <p:cNvPr id="240" name="Google Shape;240;p28"/>
          <p:cNvSpPr txBox="1"/>
          <p:nvPr/>
        </p:nvSpPr>
        <p:spPr>
          <a:xfrm>
            <a:off x="73031" y="3172825"/>
            <a:ext cx="3025500" cy="7419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None/>
            </a:pPr>
            <a:r>
              <a:rPr lang="en" sz="1100" b="1">
                <a:solidFill>
                  <a:srgbClr val="FF0000"/>
                </a:solidFill>
                <a:latin typeface="Calibri"/>
                <a:ea typeface="Calibri"/>
                <a:cs typeface="Calibri"/>
                <a:sym typeface="Calibri"/>
              </a:rPr>
              <a:t>3. PyArrow - fast data operations</a:t>
            </a:r>
            <a:endParaRPr sz="1100" b="1">
              <a:solidFill>
                <a:srgbClr val="FF0000"/>
              </a:solidFill>
              <a:latin typeface="Calibri"/>
              <a:ea typeface="Calibri"/>
              <a:cs typeface="Calibri"/>
              <a:sym typeface="Calibri"/>
            </a:endParaRPr>
          </a:p>
          <a:p>
            <a:pPr marL="0" marR="0" lvl="0" indent="0" algn="l" rtl="0">
              <a:lnSpc>
                <a:spcPct val="100000"/>
              </a:lnSpc>
              <a:spcBef>
                <a:spcPts val="0"/>
              </a:spcBef>
              <a:spcAft>
                <a:spcPts val="0"/>
              </a:spcAft>
              <a:buNone/>
            </a:pPr>
            <a:r>
              <a:rPr lang="en" sz="900" b="1">
                <a:solidFill>
                  <a:srgbClr val="3C78D8"/>
                </a:solidFill>
                <a:latin typeface="Roboto Mono"/>
                <a:ea typeface="Roboto Mono"/>
                <a:cs typeface="Roboto Mono"/>
                <a:sym typeface="Roboto Mono"/>
              </a:rPr>
              <a:t>import pyarrow.csv as csv</a:t>
            </a:r>
            <a:endParaRPr sz="900" b="1">
              <a:solidFill>
                <a:srgbClr val="3C78D8"/>
              </a:solidFill>
              <a:latin typeface="Roboto Mono"/>
              <a:ea typeface="Roboto Mono"/>
              <a:cs typeface="Roboto Mono"/>
              <a:sym typeface="Roboto Mono"/>
            </a:endParaRPr>
          </a:p>
          <a:p>
            <a:pPr marL="0" marR="0" lvl="0" indent="0" algn="l" rtl="0">
              <a:lnSpc>
                <a:spcPct val="100000"/>
              </a:lnSpc>
              <a:spcBef>
                <a:spcPts val="0"/>
              </a:spcBef>
              <a:spcAft>
                <a:spcPts val="0"/>
              </a:spcAft>
              <a:buNone/>
            </a:pPr>
            <a:r>
              <a:rPr lang="en" sz="900" b="1">
                <a:solidFill>
                  <a:srgbClr val="3C78D8"/>
                </a:solidFill>
                <a:latin typeface="Roboto Mono"/>
                <a:ea typeface="Roboto Mono"/>
                <a:cs typeface="Roboto Mono"/>
                <a:sym typeface="Roboto Mono"/>
              </a:rPr>
              <a:t>import pyarrow. parquet as pq</a:t>
            </a:r>
            <a:endParaRPr sz="900" b="1">
              <a:solidFill>
                <a:srgbClr val="3C78D8"/>
              </a:solidFill>
              <a:latin typeface="Roboto Mono"/>
              <a:ea typeface="Roboto Mono"/>
              <a:cs typeface="Roboto Mono"/>
              <a:sym typeface="Roboto Mono"/>
            </a:endParaRPr>
          </a:p>
          <a:p>
            <a:pPr marL="0" marR="0" lvl="0" indent="0" algn="l" rtl="0">
              <a:lnSpc>
                <a:spcPct val="100000"/>
              </a:lnSpc>
              <a:spcBef>
                <a:spcPts val="0"/>
              </a:spcBef>
              <a:spcAft>
                <a:spcPts val="0"/>
              </a:spcAft>
              <a:buNone/>
            </a:pPr>
            <a:r>
              <a:rPr lang="en" sz="900" b="1">
                <a:solidFill>
                  <a:srgbClr val="3C78D8"/>
                </a:solidFill>
                <a:latin typeface="Roboto Mono"/>
                <a:ea typeface="Roboto Mono"/>
                <a:cs typeface="Roboto Mono"/>
                <a:sym typeface="Roboto Mono"/>
              </a:rPr>
              <a:t>table = csv.read_csv("bigfile.csv")</a:t>
            </a:r>
            <a:endParaRPr sz="900" b="1">
              <a:solidFill>
                <a:srgbClr val="3C78D8"/>
              </a:solidFill>
              <a:latin typeface="Roboto Mono"/>
              <a:ea typeface="Roboto Mono"/>
              <a:cs typeface="Roboto Mono"/>
              <a:sym typeface="Roboto Mono"/>
            </a:endParaRPr>
          </a:p>
          <a:p>
            <a:pPr marL="0" marR="0" lvl="0" indent="0" algn="l" rtl="0">
              <a:lnSpc>
                <a:spcPct val="100000"/>
              </a:lnSpc>
              <a:spcBef>
                <a:spcPts val="0"/>
              </a:spcBef>
              <a:spcAft>
                <a:spcPts val="0"/>
              </a:spcAft>
              <a:buNone/>
            </a:pPr>
            <a:r>
              <a:rPr lang="en" sz="900" b="1">
                <a:solidFill>
                  <a:srgbClr val="3C78D8"/>
                </a:solidFill>
                <a:latin typeface="Roboto Mono"/>
                <a:ea typeface="Roboto Mono"/>
                <a:cs typeface="Roboto Mono"/>
                <a:sym typeface="Roboto Mono"/>
              </a:rPr>
              <a:t>pq.write_table(table, "bigfile.parquet")</a:t>
            </a:r>
            <a:endParaRPr sz="1100">
              <a:latin typeface="Calibri"/>
              <a:ea typeface="Calibri"/>
              <a:cs typeface="Calibri"/>
              <a:sym typeface="Calibri"/>
            </a:endParaRPr>
          </a:p>
        </p:txBody>
      </p:sp>
      <p:sp>
        <p:nvSpPr>
          <p:cNvPr id="241" name="Google Shape;241;p28"/>
          <p:cNvSpPr txBox="1"/>
          <p:nvPr/>
        </p:nvSpPr>
        <p:spPr>
          <a:xfrm>
            <a:off x="73031" y="3976575"/>
            <a:ext cx="3098700" cy="8805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None/>
            </a:pPr>
            <a:r>
              <a:rPr lang="en" sz="1100" b="1">
                <a:solidFill>
                  <a:srgbClr val="FF0000"/>
                </a:solidFill>
                <a:latin typeface="Calibri"/>
                <a:ea typeface="Calibri"/>
                <a:cs typeface="Calibri"/>
                <a:sym typeface="Calibri"/>
              </a:rPr>
              <a:t>4. Matplotlib + Seaborn Combo</a:t>
            </a:r>
            <a:endParaRPr sz="1100" b="1">
              <a:solidFill>
                <a:srgbClr val="FF0000"/>
              </a:solidFill>
              <a:latin typeface="Calibri"/>
              <a:ea typeface="Calibri"/>
              <a:cs typeface="Calibri"/>
              <a:sym typeface="Calibri"/>
            </a:endParaRPr>
          </a:p>
          <a:p>
            <a:pPr marL="0" marR="0" lvl="0" indent="0" algn="l" rtl="0">
              <a:lnSpc>
                <a:spcPct val="100000"/>
              </a:lnSpc>
              <a:spcBef>
                <a:spcPts val="0"/>
              </a:spcBef>
              <a:spcAft>
                <a:spcPts val="0"/>
              </a:spcAft>
              <a:buNone/>
            </a:pPr>
            <a:r>
              <a:rPr lang="en" sz="900" b="1">
                <a:solidFill>
                  <a:srgbClr val="3C78D8"/>
                </a:solidFill>
                <a:latin typeface="Roboto Mono"/>
                <a:ea typeface="Roboto Mono"/>
                <a:cs typeface="Roboto Mono"/>
                <a:sym typeface="Roboto Mono"/>
              </a:rPr>
              <a:t>import seaborn as sns</a:t>
            </a:r>
            <a:endParaRPr sz="900" b="1">
              <a:solidFill>
                <a:srgbClr val="3C78D8"/>
              </a:solidFill>
              <a:latin typeface="Roboto Mono"/>
              <a:ea typeface="Roboto Mono"/>
              <a:cs typeface="Roboto Mono"/>
              <a:sym typeface="Roboto Mono"/>
            </a:endParaRPr>
          </a:p>
          <a:p>
            <a:pPr marL="0" marR="0" lvl="0" indent="0" algn="l" rtl="0">
              <a:lnSpc>
                <a:spcPct val="100000"/>
              </a:lnSpc>
              <a:spcBef>
                <a:spcPts val="0"/>
              </a:spcBef>
              <a:spcAft>
                <a:spcPts val="0"/>
              </a:spcAft>
              <a:buNone/>
            </a:pPr>
            <a:r>
              <a:rPr lang="en" sz="900" b="1">
                <a:solidFill>
                  <a:srgbClr val="3C78D8"/>
                </a:solidFill>
                <a:latin typeface="Roboto Mono"/>
                <a:ea typeface="Roboto Mono"/>
                <a:cs typeface="Roboto Mono"/>
                <a:sym typeface="Roboto Mono"/>
              </a:rPr>
              <a:t>import matplotlib.pyplot as plt</a:t>
            </a:r>
            <a:endParaRPr sz="900" b="1">
              <a:solidFill>
                <a:srgbClr val="3C78D8"/>
              </a:solidFill>
              <a:latin typeface="Roboto Mono"/>
              <a:ea typeface="Roboto Mono"/>
              <a:cs typeface="Roboto Mono"/>
              <a:sym typeface="Roboto Mono"/>
            </a:endParaRPr>
          </a:p>
          <a:p>
            <a:pPr marL="0" marR="0" lvl="0" indent="0" algn="l" rtl="0">
              <a:lnSpc>
                <a:spcPct val="100000"/>
              </a:lnSpc>
              <a:spcBef>
                <a:spcPts val="0"/>
              </a:spcBef>
              <a:spcAft>
                <a:spcPts val="0"/>
              </a:spcAft>
              <a:buNone/>
            </a:pPr>
            <a:r>
              <a:rPr lang="en" sz="900" b="1">
                <a:solidFill>
                  <a:srgbClr val="3C78D8"/>
                </a:solidFill>
                <a:latin typeface="Roboto Mono"/>
                <a:ea typeface="Roboto Mono"/>
                <a:cs typeface="Roboto Mono"/>
                <a:sym typeface="Roboto Mono"/>
              </a:rPr>
              <a:t>sns.kdeplot(df['session_time'], fill=True)</a:t>
            </a:r>
            <a:endParaRPr sz="900" b="1">
              <a:solidFill>
                <a:srgbClr val="3C78D8"/>
              </a:solidFill>
              <a:latin typeface="Roboto Mono"/>
              <a:ea typeface="Roboto Mono"/>
              <a:cs typeface="Roboto Mono"/>
              <a:sym typeface="Roboto Mono"/>
            </a:endParaRPr>
          </a:p>
          <a:p>
            <a:pPr marL="0" marR="0" lvl="0" indent="0" algn="l" rtl="0">
              <a:lnSpc>
                <a:spcPct val="100000"/>
              </a:lnSpc>
              <a:spcBef>
                <a:spcPts val="0"/>
              </a:spcBef>
              <a:spcAft>
                <a:spcPts val="0"/>
              </a:spcAft>
              <a:buNone/>
            </a:pPr>
            <a:r>
              <a:rPr lang="en" sz="900" b="1">
                <a:solidFill>
                  <a:srgbClr val="3C78D8"/>
                </a:solidFill>
                <a:latin typeface="Roboto Mono"/>
                <a:ea typeface="Roboto Mono"/>
                <a:cs typeface="Roboto Mono"/>
                <a:sym typeface="Roboto Mono"/>
              </a:rPr>
              <a:t>plt.title("User Session Time Distribution")</a:t>
            </a:r>
            <a:endParaRPr sz="900" b="1">
              <a:solidFill>
                <a:srgbClr val="3C78D8"/>
              </a:solidFill>
              <a:latin typeface="Roboto Mono"/>
              <a:ea typeface="Roboto Mono"/>
              <a:cs typeface="Roboto Mono"/>
              <a:sym typeface="Roboto Mono"/>
            </a:endParaRPr>
          </a:p>
          <a:p>
            <a:pPr marL="0" marR="0" lvl="0" indent="0" algn="l" rtl="0">
              <a:lnSpc>
                <a:spcPct val="100000"/>
              </a:lnSpc>
              <a:spcBef>
                <a:spcPts val="0"/>
              </a:spcBef>
              <a:spcAft>
                <a:spcPts val="0"/>
              </a:spcAft>
              <a:buNone/>
            </a:pPr>
            <a:r>
              <a:rPr lang="en" sz="900" b="1">
                <a:solidFill>
                  <a:srgbClr val="3C78D8"/>
                </a:solidFill>
                <a:latin typeface="Roboto Mono"/>
                <a:ea typeface="Roboto Mono"/>
                <a:cs typeface="Roboto Mono"/>
                <a:sym typeface="Roboto Mono"/>
              </a:rPr>
              <a:t>plt.show()</a:t>
            </a:r>
            <a:endParaRPr sz="1100">
              <a:latin typeface="Calibri"/>
              <a:ea typeface="Calibri"/>
              <a:cs typeface="Calibri"/>
              <a:sym typeface="Calibri"/>
            </a:endParaRPr>
          </a:p>
        </p:txBody>
      </p:sp>
      <p:sp>
        <p:nvSpPr>
          <p:cNvPr id="242" name="Google Shape;242;p28"/>
          <p:cNvSpPr txBox="1"/>
          <p:nvPr/>
        </p:nvSpPr>
        <p:spPr>
          <a:xfrm>
            <a:off x="5329575" y="1547567"/>
            <a:ext cx="3351300" cy="6957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None/>
            </a:pPr>
            <a:r>
              <a:rPr lang="en" sz="1100" b="1">
                <a:solidFill>
                  <a:srgbClr val="FF0000"/>
                </a:solidFill>
                <a:latin typeface="Calibri"/>
                <a:ea typeface="Calibri"/>
                <a:cs typeface="Calibri"/>
                <a:sym typeface="Calibri"/>
              </a:rPr>
              <a:t>6. XGBoost</a:t>
            </a:r>
            <a:endParaRPr sz="1100" b="1">
              <a:solidFill>
                <a:srgbClr val="FF0000"/>
              </a:solidFill>
              <a:latin typeface="Calibri"/>
              <a:ea typeface="Calibri"/>
              <a:cs typeface="Calibri"/>
              <a:sym typeface="Calibri"/>
            </a:endParaRPr>
          </a:p>
          <a:p>
            <a:pPr marL="0" marR="0" lvl="0" indent="0" algn="l" rtl="0">
              <a:lnSpc>
                <a:spcPct val="100000"/>
              </a:lnSpc>
              <a:spcBef>
                <a:spcPts val="0"/>
              </a:spcBef>
              <a:spcAft>
                <a:spcPts val="0"/>
              </a:spcAft>
              <a:buNone/>
            </a:pPr>
            <a:r>
              <a:rPr lang="en" sz="1100">
                <a:latin typeface="Calibri"/>
                <a:ea typeface="Calibri"/>
                <a:cs typeface="Calibri"/>
                <a:sym typeface="Calibri"/>
              </a:rPr>
              <a:t>import xgboost as xgb</a:t>
            </a:r>
            <a:endParaRPr sz="1100">
              <a:latin typeface="Calibri"/>
              <a:ea typeface="Calibri"/>
              <a:cs typeface="Calibri"/>
              <a:sym typeface="Calibri"/>
            </a:endParaRPr>
          </a:p>
          <a:p>
            <a:pPr marL="0" marR="0" lvl="0" indent="0" algn="l" rtl="0">
              <a:lnSpc>
                <a:spcPct val="100000"/>
              </a:lnSpc>
              <a:spcBef>
                <a:spcPts val="0"/>
              </a:spcBef>
              <a:spcAft>
                <a:spcPts val="0"/>
              </a:spcAft>
              <a:buNone/>
            </a:pPr>
            <a:r>
              <a:rPr lang="en" sz="1100">
                <a:latin typeface="Calibri"/>
                <a:ea typeface="Calibri"/>
                <a:cs typeface="Calibri"/>
                <a:sym typeface="Calibri"/>
              </a:rPr>
              <a:t>model = xgb.XGBClassifier(eval_metric="mlogloss")</a:t>
            </a:r>
            <a:endParaRPr sz="1100">
              <a:latin typeface="Calibri"/>
              <a:ea typeface="Calibri"/>
              <a:cs typeface="Calibri"/>
              <a:sym typeface="Calibri"/>
            </a:endParaRPr>
          </a:p>
          <a:p>
            <a:pPr marL="0" marR="0" lvl="0" indent="0" algn="l" rtl="0">
              <a:lnSpc>
                <a:spcPct val="100000"/>
              </a:lnSpc>
              <a:spcBef>
                <a:spcPts val="0"/>
              </a:spcBef>
              <a:spcAft>
                <a:spcPts val="0"/>
              </a:spcAft>
              <a:buNone/>
            </a:pPr>
            <a:r>
              <a:rPr lang="en" sz="1100">
                <a:latin typeface="Calibri"/>
                <a:ea typeface="Calibri"/>
                <a:cs typeface="Calibri"/>
                <a:sym typeface="Calibri"/>
              </a:rPr>
              <a:t>model.fit(X_train, y_train)</a:t>
            </a:r>
            <a:endParaRPr sz="1100">
              <a:latin typeface="Calibri"/>
              <a:ea typeface="Calibri"/>
              <a:cs typeface="Calibri"/>
              <a:sym typeface="Calibri"/>
            </a:endParaRPr>
          </a:p>
        </p:txBody>
      </p:sp>
      <p:sp>
        <p:nvSpPr>
          <p:cNvPr id="243" name="Google Shape;243;p28"/>
          <p:cNvSpPr txBox="1"/>
          <p:nvPr/>
        </p:nvSpPr>
        <p:spPr>
          <a:xfrm>
            <a:off x="5329575" y="4097622"/>
            <a:ext cx="3263400" cy="7419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None/>
            </a:pPr>
            <a:r>
              <a:rPr lang="en" sz="1100" b="1">
                <a:solidFill>
                  <a:srgbClr val="FF0000"/>
                </a:solidFill>
                <a:latin typeface="Calibri"/>
                <a:ea typeface="Calibri"/>
                <a:cs typeface="Calibri"/>
                <a:sym typeface="Calibri"/>
              </a:rPr>
              <a:t>9. great_expectations - validate data</a:t>
            </a:r>
            <a:endParaRPr sz="1100" b="1">
              <a:solidFill>
                <a:srgbClr val="FF0000"/>
              </a:solidFill>
              <a:latin typeface="Calibri"/>
              <a:ea typeface="Calibri"/>
              <a:cs typeface="Calibri"/>
              <a:sym typeface="Calibri"/>
            </a:endParaRPr>
          </a:p>
          <a:p>
            <a:pPr marL="0" marR="0" lvl="0" indent="0" algn="l" rtl="0">
              <a:lnSpc>
                <a:spcPct val="100000"/>
              </a:lnSpc>
              <a:spcBef>
                <a:spcPts val="0"/>
              </a:spcBef>
              <a:spcAft>
                <a:spcPts val="0"/>
              </a:spcAft>
              <a:buNone/>
            </a:pPr>
            <a:r>
              <a:rPr lang="en" sz="900" b="1">
                <a:solidFill>
                  <a:srgbClr val="3C78D8"/>
                </a:solidFill>
                <a:latin typeface="Roboto Mono"/>
                <a:ea typeface="Roboto Mono"/>
                <a:cs typeface="Roboto Mono"/>
                <a:sym typeface="Roboto Mono"/>
              </a:rPr>
              <a:t>import great_expectations as ge</a:t>
            </a:r>
            <a:endParaRPr sz="900" b="1">
              <a:solidFill>
                <a:srgbClr val="3C78D8"/>
              </a:solidFill>
              <a:latin typeface="Roboto Mono"/>
              <a:ea typeface="Roboto Mono"/>
              <a:cs typeface="Roboto Mono"/>
              <a:sym typeface="Roboto Mono"/>
            </a:endParaRPr>
          </a:p>
          <a:p>
            <a:pPr marL="0" marR="0" lvl="0" indent="0" algn="l" rtl="0">
              <a:lnSpc>
                <a:spcPct val="100000"/>
              </a:lnSpc>
              <a:spcBef>
                <a:spcPts val="0"/>
              </a:spcBef>
              <a:spcAft>
                <a:spcPts val="0"/>
              </a:spcAft>
              <a:buNone/>
            </a:pPr>
            <a:r>
              <a:rPr lang="en" sz="900" b="1">
                <a:solidFill>
                  <a:srgbClr val="3C78D8"/>
                </a:solidFill>
                <a:latin typeface="Roboto Mono"/>
                <a:ea typeface="Roboto Mono"/>
                <a:cs typeface="Roboto Mono"/>
                <a:sym typeface="Roboto Mono"/>
              </a:rPr>
              <a:t>ge_df = ge.from_pandas(df)</a:t>
            </a:r>
            <a:endParaRPr sz="900" b="1">
              <a:solidFill>
                <a:srgbClr val="3C78D8"/>
              </a:solidFill>
              <a:latin typeface="Roboto Mono"/>
              <a:ea typeface="Roboto Mono"/>
              <a:cs typeface="Roboto Mono"/>
              <a:sym typeface="Roboto Mono"/>
            </a:endParaRPr>
          </a:p>
          <a:p>
            <a:pPr marL="0" marR="0" lvl="0" indent="0" algn="l" rtl="0">
              <a:lnSpc>
                <a:spcPct val="100000"/>
              </a:lnSpc>
              <a:spcBef>
                <a:spcPts val="0"/>
              </a:spcBef>
              <a:spcAft>
                <a:spcPts val="0"/>
              </a:spcAft>
              <a:buNone/>
            </a:pPr>
            <a:r>
              <a:rPr lang="en" sz="900" b="1">
                <a:solidFill>
                  <a:srgbClr val="3C78D8"/>
                </a:solidFill>
                <a:latin typeface="Roboto Mono"/>
                <a:ea typeface="Roboto Mono"/>
                <a:cs typeface="Roboto Mono"/>
                <a:sym typeface="Roboto Mono"/>
              </a:rPr>
              <a:t>ge_df.expect_column_values_to_be_in_set(</a:t>
            </a:r>
            <a:endParaRPr sz="900" b="1">
              <a:solidFill>
                <a:srgbClr val="3C78D8"/>
              </a:solidFill>
              <a:latin typeface="Roboto Mono"/>
              <a:ea typeface="Roboto Mono"/>
              <a:cs typeface="Roboto Mono"/>
              <a:sym typeface="Roboto Mono"/>
            </a:endParaRPr>
          </a:p>
          <a:p>
            <a:pPr marL="0" marR="0" lvl="0" indent="0" algn="l" rtl="0">
              <a:lnSpc>
                <a:spcPct val="100000"/>
              </a:lnSpc>
              <a:spcBef>
                <a:spcPts val="0"/>
              </a:spcBef>
              <a:spcAft>
                <a:spcPts val="0"/>
              </a:spcAft>
              <a:buNone/>
            </a:pPr>
            <a:r>
              <a:rPr lang="en" sz="900" b="1">
                <a:solidFill>
                  <a:srgbClr val="3C78D8"/>
                </a:solidFill>
                <a:latin typeface="Roboto Mono"/>
                <a:ea typeface="Roboto Mono"/>
                <a:cs typeface="Roboto Mono"/>
                <a:sym typeface="Roboto Mono"/>
              </a:rPr>
              <a:t>  "status", ["active", "inactive", "pending"])</a:t>
            </a:r>
            <a:endParaRPr sz="1100">
              <a:latin typeface="Calibri"/>
              <a:ea typeface="Calibri"/>
              <a:cs typeface="Calibri"/>
              <a:sym typeface="Calibri"/>
            </a:endParaRPr>
          </a:p>
        </p:txBody>
      </p:sp>
      <p:sp>
        <p:nvSpPr>
          <p:cNvPr id="244" name="Google Shape;244;p28"/>
          <p:cNvSpPr txBox="1"/>
          <p:nvPr/>
        </p:nvSpPr>
        <p:spPr>
          <a:xfrm>
            <a:off x="5329575" y="2286702"/>
            <a:ext cx="3568200" cy="942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None/>
            </a:pPr>
            <a:r>
              <a:rPr lang="en" sz="1100" b="1">
                <a:solidFill>
                  <a:srgbClr val="FF0000"/>
                </a:solidFill>
                <a:latin typeface="Calibri"/>
                <a:ea typeface="Calibri"/>
                <a:cs typeface="Calibri"/>
                <a:sym typeface="Calibri"/>
              </a:rPr>
              <a:t>7. HuggingFace Transformers</a:t>
            </a:r>
            <a:br>
              <a:rPr lang="en" sz="1100">
                <a:latin typeface="Calibri"/>
                <a:ea typeface="Calibri"/>
                <a:cs typeface="Calibri"/>
                <a:sym typeface="Calibri"/>
              </a:rPr>
            </a:br>
            <a:r>
              <a:rPr lang="en" sz="1100">
                <a:latin typeface="Calibri"/>
                <a:ea typeface="Calibri"/>
                <a:cs typeface="Calibri"/>
                <a:sym typeface="Calibri"/>
              </a:rPr>
              <a:t>summarize reports, analyze sentiment, and classify documents all with a few lines</a:t>
            </a:r>
            <a:endParaRPr sz="1100">
              <a:latin typeface="Calibri"/>
              <a:ea typeface="Calibri"/>
              <a:cs typeface="Calibri"/>
              <a:sym typeface="Calibri"/>
            </a:endParaRPr>
          </a:p>
          <a:p>
            <a:pPr marL="0" marR="0" lvl="0" indent="0" algn="l" rtl="0">
              <a:lnSpc>
                <a:spcPct val="100000"/>
              </a:lnSpc>
              <a:spcBef>
                <a:spcPts val="0"/>
              </a:spcBef>
              <a:spcAft>
                <a:spcPts val="0"/>
              </a:spcAft>
              <a:buNone/>
            </a:pPr>
            <a:r>
              <a:rPr lang="en" sz="900" b="1">
                <a:solidFill>
                  <a:srgbClr val="3C78D8"/>
                </a:solidFill>
                <a:latin typeface="Roboto Mono"/>
                <a:ea typeface="Roboto Mono"/>
                <a:cs typeface="Roboto Mono"/>
                <a:sym typeface="Roboto Mono"/>
              </a:rPr>
              <a:t>from transformers import pipeline</a:t>
            </a:r>
            <a:endParaRPr sz="900" b="1">
              <a:solidFill>
                <a:srgbClr val="3C78D8"/>
              </a:solidFill>
              <a:latin typeface="Roboto Mono"/>
              <a:ea typeface="Roboto Mono"/>
              <a:cs typeface="Roboto Mono"/>
              <a:sym typeface="Roboto Mono"/>
            </a:endParaRPr>
          </a:p>
          <a:p>
            <a:pPr marL="0" marR="0" lvl="0" indent="0" algn="l" rtl="0">
              <a:lnSpc>
                <a:spcPct val="100000"/>
              </a:lnSpc>
              <a:spcBef>
                <a:spcPts val="0"/>
              </a:spcBef>
              <a:spcAft>
                <a:spcPts val="0"/>
              </a:spcAft>
              <a:buNone/>
            </a:pPr>
            <a:r>
              <a:rPr lang="en" sz="900" b="1">
                <a:solidFill>
                  <a:srgbClr val="3C78D8"/>
                </a:solidFill>
                <a:latin typeface="Roboto Mono"/>
                <a:ea typeface="Roboto Mono"/>
                <a:cs typeface="Roboto Mono"/>
                <a:sym typeface="Roboto Mono"/>
              </a:rPr>
              <a:t>summarizer = pipeline("summarization")</a:t>
            </a:r>
            <a:endParaRPr sz="900" b="1">
              <a:solidFill>
                <a:srgbClr val="3C78D8"/>
              </a:solidFill>
              <a:latin typeface="Roboto Mono"/>
              <a:ea typeface="Roboto Mono"/>
              <a:cs typeface="Roboto Mono"/>
              <a:sym typeface="Roboto Mono"/>
            </a:endParaRPr>
          </a:p>
          <a:p>
            <a:pPr marL="0" marR="0" lvl="0" indent="0" algn="l" rtl="0">
              <a:lnSpc>
                <a:spcPct val="100000"/>
              </a:lnSpc>
              <a:spcBef>
                <a:spcPts val="0"/>
              </a:spcBef>
              <a:spcAft>
                <a:spcPts val="0"/>
              </a:spcAft>
              <a:buNone/>
            </a:pPr>
            <a:r>
              <a:rPr lang="en" sz="900" b="1">
                <a:solidFill>
                  <a:srgbClr val="3C78D8"/>
                </a:solidFill>
                <a:latin typeface="Roboto Mono"/>
                <a:ea typeface="Roboto Mono"/>
                <a:cs typeface="Roboto Mono"/>
                <a:sym typeface="Roboto Mono"/>
              </a:rPr>
              <a:t>summary = summarizer(long_text)[0]['summary_text']</a:t>
            </a:r>
            <a:endParaRPr sz="1100">
              <a:latin typeface="Calibri"/>
              <a:ea typeface="Calibri"/>
              <a:cs typeface="Calibri"/>
              <a:sym typeface="Calibri"/>
            </a:endParaRPr>
          </a:p>
        </p:txBody>
      </p:sp>
      <p:sp>
        <p:nvSpPr>
          <p:cNvPr id="245" name="Google Shape;245;p28"/>
          <p:cNvSpPr txBox="1"/>
          <p:nvPr/>
        </p:nvSpPr>
        <p:spPr>
          <a:xfrm>
            <a:off x="5329575" y="3272138"/>
            <a:ext cx="2892300" cy="7728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None/>
            </a:pPr>
            <a:r>
              <a:rPr lang="en" sz="1100" b="1">
                <a:solidFill>
                  <a:srgbClr val="FF0000"/>
                </a:solidFill>
                <a:latin typeface="Calibri"/>
                <a:ea typeface="Calibri"/>
                <a:cs typeface="Calibri"/>
                <a:sym typeface="Calibri"/>
              </a:rPr>
              <a:t>8. PyCaret</a:t>
            </a:r>
            <a:endParaRPr sz="1100" b="1">
              <a:solidFill>
                <a:srgbClr val="FF0000"/>
              </a:solidFill>
              <a:latin typeface="Calibri"/>
              <a:ea typeface="Calibri"/>
              <a:cs typeface="Calibri"/>
              <a:sym typeface="Calibri"/>
            </a:endParaRPr>
          </a:p>
          <a:p>
            <a:pPr marL="0" marR="0" lvl="0" indent="0" algn="l" rtl="0">
              <a:lnSpc>
                <a:spcPct val="100000"/>
              </a:lnSpc>
              <a:spcBef>
                <a:spcPts val="0"/>
              </a:spcBef>
              <a:spcAft>
                <a:spcPts val="0"/>
              </a:spcAft>
              <a:buNone/>
            </a:pPr>
            <a:r>
              <a:rPr lang="en" sz="1100">
                <a:latin typeface="Calibri"/>
                <a:ea typeface="Calibri"/>
                <a:cs typeface="Calibri"/>
                <a:sym typeface="Calibri"/>
              </a:rPr>
              <a:t>Example: b</a:t>
            </a:r>
            <a:r>
              <a:rPr lang="en" sz="1100">
                <a:solidFill>
                  <a:schemeClr val="dk1"/>
                </a:solidFill>
                <a:latin typeface="Calibri"/>
                <a:ea typeface="Calibri"/>
                <a:cs typeface="Calibri"/>
                <a:sym typeface="Calibri"/>
              </a:rPr>
              <a:t>enchmark 15+ models automatically</a:t>
            </a:r>
            <a:endParaRPr sz="1100">
              <a:solidFill>
                <a:schemeClr val="dk1"/>
              </a:solidFill>
              <a:latin typeface="Calibri"/>
              <a:ea typeface="Calibri"/>
              <a:cs typeface="Calibri"/>
              <a:sym typeface="Calibri"/>
            </a:endParaRPr>
          </a:p>
          <a:p>
            <a:pPr marL="0" marR="0" lvl="0" indent="0" algn="l" rtl="0">
              <a:lnSpc>
                <a:spcPct val="100000"/>
              </a:lnSpc>
              <a:spcBef>
                <a:spcPts val="0"/>
              </a:spcBef>
              <a:spcAft>
                <a:spcPts val="0"/>
              </a:spcAft>
              <a:buNone/>
            </a:pPr>
            <a:r>
              <a:rPr lang="en" sz="900" b="1">
                <a:solidFill>
                  <a:srgbClr val="3C78D8"/>
                </a:solidFill>
                <a:latin typeface="Roboto Mono"/>
                <a:ea typeface="Roboto Mono"/>
                <a:cs typeface="Roboto Mono"/>
                <a:sym typeface="Roboto Mono"/>
              </a:rPr>
              <a:t>from pycaret.classification import *</a:t>
            </a:r>
            <a:endParaRPr sz="900" b="1">
              <a:solidFill>
                <a:srgbClr val="3C78D8"/>
              </a:solidFill>
              <a:latin typeface="Roboto Mono"/>
              <a:ea typeface="Roboto Mono"/>
              <a:cs typeface="Roboto Mono"/>
              <a:sym typeface="Roboto Mono"/>
            </a:endParaRPr>
          </a:p>
          <a:p>
            <a:pPr marL="0" marR="0" lvl="0" indent="0" algn="l" rtl="0">
              <a:lnSpc>
                <a:spcPct val="100000"/>
              </a:lnSpc>
              <a:spcBef>
                <a:spcPts val="0"/>
              </a:spcBef>
              <a:spcAft>
                <a:spcPts val="0"/>
              </a:spcAft>
              <a:buNone/>
            </a:pPr>
            <a:r>
              <a:rPr lang="en" sz="900" b="1">
                <a:solidFill>
                  <a:srgbClr val="3C78D8"/>
                </a:solidFill>
                <a:latin typeface="Roboto Mono"/>
                <a:ea typeface="Roboto Mono"/>
                <a:cs typeface="Roboto Mono"/>
                <a:sym typeface="Roboto Mono"/>
              </a:rPr>
              <a:t>s = setup(data=df, target='clicked')</a:t>
            </a:r>
            <a:endParaRPr sz="900" b="1">
              <a:solidFill>
                <a:srgbClr val="3C78D8"/>
              </a:solidFill>
              <a:latin typeface="Roboto Mono"/>
              <a:ea typeface="Roboto Mono"/>
              <a:cs typeface="Roboto Mono"/>
              <a:sym typeface="Roboto Mono"/>
            </a:endParaRPr>
          </a:p>
          <a:p>
            <a:pPr marL="0" marR="0" lvl="0" indent="0" algn="l" rtl="0">
              <a:lnSpc>
                <a:spcPct val="100000"/>
              </a:lnSpc>
              <a:spcBef>
                <a:spcPts val="0"/>
              </a:spcBef>
              <a:spcAft>
                <a:spcPts val="0"/>
              </a:spcAft>
              <a:buNone/>
            </a:pPr>
            <a:r>
              <a:rPr lang="en" sz="900" b="1">
                <a:solidFill>
                  <a:srgbClr val="3C78D8"/>
                </a:solidFill>
                <a:latin typeface="Roboto Mono"/>
                <a:ea typeface="Roboto Mono"/>
                <a:cs typeface="Roboto Mono"/>
                <a:sym typeface="Roboto Mono"/>
              </a:rPr>
              <a:t>best_model = compare_models()</a:t>
            </a:r>
            <a:endParaRPr sz="1100">
              <a:latin typeface="Calibri"/>
              <a:ea typeface="Calibri"/>
              <a:cs typeface="Calibri"/>
              <a:sym typeface="Calibri"/>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249"/>
        <p:cNvGrpSpPr/>
        <p:nvPr/>
      </p:nvGrpSpPr>
      <p:grpSpPr>
        <a:xfrm>
          <a:off x="0" y="0"/>
          <a:ext cx="0" cy="0"/>
          <a:chOff x="0" y="0"/>
          <a:chExt cx="0" cy="0"/>
        </a:xfrm>
      </p:grpSpPr>
      <p:sp>
        <p:nvSpPr>
          <p:cNvPr id="250" name="Google Shape;250;p29"/>
          <p:cNvSpPr txBox="1"/>
          <p:nvPr/>
        </p:nvSpPr>
        <p:spPr>
          <a:xfrm>
            <a:off x="55075" y="20375"/>
            <a:ext cx="44445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Yann LeCun is Leaving Meta</a:t>
            </a:r>
            <a:endParaRPr sz="2000" b="1" i="0" u="none" strike="noStrike" cap="none">
              <a:solidFill>
                <a:schemeClr val="dk1"/>
              </a:solidFill>
              <a:latin typeface="Calibri"/>
              <a:ea typeface="Calibri"/>
              <a:cs typeface="Calibri"/>
              <a:sym typeface="Calibri"/>
            </a:endParaRPr>
          </a:p>
        </p:txBody>
      </p:sp>
      <p:sp>
        <p:nvSpPr>
          <p:cNvPr id="251" name="Google Shape;251;p29"/>
          <p:cNvSpPr txBox="1"/>
          <p:nvPr/>
        </p:nvSpPr>
        <p:spPr>
          <a:xfrm>
            <a:off x="24398" y="352297"/>
            <a:ext cx="4444500" cy="47592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Clr>
                <a:srgbClr val="FF0000"/>
              </a:buClr>
              <a:buSzPts val="1100"/>
              <a:buFont typeface="Calibri"/>
              <a:buChar char="●"/>
            </a:pPr>
            <a:r>
              <a:rPr lang="en" sz="1100" b="1">
                <a:solidFill>
                  <a:srgbClr val="FF0000"/>
                </a:solidFill>
                <a:latin typeface="Calibri"/>
                <a:ea typeface="Calibri"/>
                <a:cs typeface="Calibri"/>
                <a:sym typeface="Calibri"/>
              </a:rPr>
              <a:t>Yann LeCun is planning to leave Meta in the coming months to launch his own startup focused on world models</a:t>
            </a:r>
            <a:endParaRPr sz="1100" b="1">
              <a:solidFill>
                <a:srgbClr val="FF0000"/>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u="sng">
                <a:solidFill>
                  <a:schemeClr val="hlink"/>
                </a:solidFill>
                <a:latin typeface="Calibri"/>
                <a:ea typeface="Calibri"/>
                <a:cs typeface="Calibri"/>
                <a:sym typeface="Calibri"/>
                <a:hlinkClick r:id="rId3"/>
              </a:rPr>
              <a:t>https://www.youtube.com/watch?v=W2tr1Q3D1ZI</a:t>
            </a:r>
            <a:r>
              <a:rPr lang="en" sz="1100">
                <a:solidFill>
                  <a:schemeClr val="dk1"/>
                </a:solidFill>
                <a:latin typeface="Calibri"/>
                <a:ea typeface="Calibri"/>
                <a:cs typeface="Calibri"/>
                <a:sym typeface="Calibri"/>
              </a:rPr>
              <a:t> - good video summary</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Yann LeCun is widely recognized as one of the "Godfathers of AI" for his pioneering contributions to deep learning and computer vision</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rgbClr val="FF0000"/>
              </a:buClr>
              <a:buSzPts val="1100"/>
              <a:buFont typeface="Calibri"/>
              <a:buChar char="●"/>
            </a:pPr>
            <a:r>
              <a:rPr lang="en" sz="1100" b="1">
                <a:solidFill>
                  <a:srgbClr val="FF0000"/>
                </a:solidFill>
                <a:latin typeface="Calibri"/>
                <a:ea typeface="Calibri"/>
                <a:cs typeface="Calibri"/>
                <a:sym typeface="Calibri"/>
              </a:rPr>
              <a:t>He invented Convolutional Neural Networks (CNNs) (1988), DjVu Image Compression, Backpropagation Advances (LeNet-1); 2018 ACM Turing Award (alongside Geoffrey Hinton and Yoshua Bengio)</a:t>
            </a:r>
            <a:endParaRPr sz="1100" b="1">
              <a:solidFill>
                <a:srgbClr val="FF0000"/>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b="1">
                <a:solidFill>
                  <a:srgbClr val="3C78D8"/>
                </a:solidFill>
                <a:latin typeface="Calibri"/>
                <a:ea typeface="Calibri"/>
                <a:cs typeface="Calibri"/>
                <a:sym typeface="Calibri"/>
              </a:rPr>
              <a:t>Yann leCun was leading Facebook AI Research (FAIR) since 2013.  He is also a Silver Professor at NYU</a:t>
            </a:r>
            <a:r>
              <a:rPr lang="en" sz="1100">
                <a:solidFill>
                  <a:schemeClr val="dk1"/>
                </a:solidFill>
                <a:latin typeface="Calibri"/>
                <a:ea typeface="Calibri"/>
                <a:cs typeface="Calibri"/>
                <a:sym typeface="Calibri"/>
              </a:rPr>
              <a:t>, continuing to teach and conduct research</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Here are some other notable recent departures from Meta's AI division:</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Soumith Chintala, the co-creator and lead of PyTorch, left Meta after 11 years with the company and nearly eight years leading the PyTorch project</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Chaya Nayak, Avi Verma, Ethan Knight, Rishabh Agarwal, Afroz Mohiuddin, Chi-Hao Wu, ...</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In October 2025, Meta laid off approximately 600 employees from its AI unit under Alexandr Wang's leadership, affecting the Facebook Artificial Intelligence Research (FAIR) team, product-related AI groups, and AI infrastructure teams. Wang stated the cuts would enable faster decision-making.​</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The departures follow Meta's major reorganization after </a:t>
            </a:r>
            <a:r>
              <a:rPr lang="en" sz="1100" b="1">
                <a:solidFill>
                  <a:srgbClr val="FF0000"/>
                </a:solidFill>
                <a:latin typeface="Calibri"/>
                <a:ea typeface="Calibri"/>
                <a:cs typeface="Calibri"/>
                <a:sym typeface="Calibri"/>
              </a:rPr>
              <a:t>CEO Mark Zuckerberg acknowledged falling behind competitors like OpenAI, Google, and Anthropic</a:t>
            </a:r>
            <a:endParaRPr sz="1100" b="1">
              <a:solidFill>
                <a:srgbClr val="FF0000"/>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In June 2025, Meta invested $14.3 billion in Scale AI and brought on Scale CEO Alexandr Wang to run the new Meta Superintelligence Labs division</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b="1">
                <a:solidFill>
                  <a:srgbClr val="FF0000"/>
                </a:solidFill>
                <a:latin typeface="Calibri"/>
                <a:ea typeface="Calibri"/>
                <a:cs typeface="Calibri"/>
                <a:sym typeface="Calibri"/>
              </a:rPr>
              <a:t>The company has restructured its AI division four times in six months, creating what insiders describe as chaos</a:t>
            </a:r>
            <a:r>
              <a:rPr lang="en" sz="1100">
                <a:solidFill>
                  <a:schemeClr val="dk1"/>
                </a:solidFill>
                <a:latin typeface="Calibri"/>
                <a:ea typeface="Calibri"/>
                <a:cs typeface="Calibri"/>
                <a:sym typeface="Calibri"/>
              </a:rPr>
              <a:t>, </a:t>
            </a:r>
            <a:r>
              <a:rPr lang="en" sz="1100" b="1">
                <a:solidFill>
                  <a:srgbClr val="3C78D8"/>
                </a:solidFill>
                <a:latin typeface="Calibri"/>
                <a:ea typeface="Calibri"/>
                <a:cs typeface="Calibri"/>
                <a:sym typeface="Calibri"/>
              </a:rPr>
              <a:t>with new talent frustrated by bureaucracy and existing teams seeing their scope limited</a:t>
            </a:r>
            <a:endParaRPr sz="1100" b="1">
              <a:solidFill>
                <a:srgbClr val="3C78D8"/>
              </a:solidFill>
              <a:latin typeface="Calibri"/>
              <a:ea typeface="Calibri"/>
              <a:cs typeface="Calibri"/>
              <a:sym typeface="Calibri"/>
            </a:endParaRPr>
          </a:p>
        </p:txBody>
      </p:sp>
      <p:pic>
        <p:nvPicPr>
          <p:cNvPr id="252" name="Google Shape;252;p29"/>
          <p:cNvPicPr preferRelativeResize="0"/>
          <p:nvPr/>
        </p:nvPicPr>
        <p:blipFill>
          <a:blip r:embed="rId4" cstate="email">
            <a:alphaModFix/>
            <a:extLst>
              <a:ext uri="{28A0092B-C50C-407E-A947-70E740481C1C}">
                <a14:useLocalDpi xmlns:a14="http://schemas.microsoft.com/office/drawing/2010/main"/>
              </a:ext>
            </a:extLst>
          </a:blip>
          <a:stretch>
            <a:fillRect/>
          </a:stretch>
        </p:blipFill>
        <p:spPr>
          <a:xfrm>
            <a:off x="4570175" y="352300"/>
            <a:ext cx="1422050" cy="1775800"/>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256"/>
        <p:cNvGrpSpPr/>
        <p:nvPr/>
      </p:nvGrpSpPr>
      <p:grpSpPr>
        <a:xfrm>
          <a:off x="0" y="0"/>
          <a:ext cx="0" cy="0"/>
          <a:chOff x="0" y="0"/>
          <a:chExt cx="0" cy="0"/>
        </a:xfrm>
      </p:grpSpPr>
      <p:sp>
        <p:nvSpPr>
          <p:cNvPr id="257" name="Google Shape;257;p30"/>
          <p:cNvSpPr txBox="1"/>
          <p:nvPr/>
        </p:nvSpPr>
        <p:spPr>
          <a:xfrm>
            <a:off x="55075" y="20375"/>
            <a:ext cx="44445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Dr. Fei-Fei Li    Interview</a:t>
            </a:r>
            <a:endParaRPr sz="2000" b="1" i="0" u="none" strike="noStrike" cap="none">
              <a:solidFill>
                <a:schemeClr val="dk1"/>
              </a:solidFill>
              <a:latin typeface="Calibri"/>
              <a:ea typeface="Calibri"/>
              <a:cs typeface="Calibri"/>
              <a:sym typeface="Calibri"/>
            </a:endParaRPr>
          </a:p>
        </p:txBody>
      </p:sp>
      <p:sp>
        <p:nvSpPr>
          <p:cNvPr id="258" name="Google Shape;258;p30"/>
          <p:cNvSpPr txBox="1"/>
          <p:nvPr/>
        </p:nvSpPr>
        <p:spPr>
          <a:xfrm>
            <a:off x="24400" y="352300"/>
            <a:ext cx="5429400" cy="4082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Dr. Fei-Fei Li created ImageNet dataset in 2012</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She previously served as Chief AI Scientist at Google Cloud, Director of Stanford's AI Lab, and co-founded Stanford's Human-Centered AI Institute</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ImageNet (15 Mln images across 22,000 concepts).</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Li believes that World Models, spatial intelligence (understanding 3D worlds) is as important as language intelligence</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She founded World Labs in 2024 to develop world models that can create, reason about, and interact with 3D spaces - critical for robotics, embodied AI, and human augmentation</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World Labs just launched Marble ( </a:t>
            </a:r>
            <a:r>
              <a:rPr lang="en" sz="1100" u="sng">
                <a:solidFill>
                  <a:schemeClr val="hlink"/>
                </a:solidFill>
                <a:latin typeface="Calibri"/>
                <a:ea typeface="Calibri"/>
                <a:cs typeface="Calibri"/>
                <a:sym typeface="Calibri"/>
                <a:hlinkClick r:id="rId3"/>
              </a:rPr>
              <a:t>https://marble.worldlabs.ai</a:t>
            </a:r>
            <a:r>
              <a:rPr lang="en" sz="1100">
                <a:solidFill>
                  <a:schemeClr val="dk1"/>
                </a:solidFill>
                <a:latin typeface="Calibri"/>
                <a:ea typeface="Calibri"/>
                <a:cs typeface="Calibri"/>
                <a:sym typeface="Calibri"/>
              </a:rPr>
              <a:t> ) - allowing users to generate and explore fully navigable 3D worlds from text or image prompts. Applications include: </a:t>
            </a:r>
            <a:endParaRPr sz="1100">
              <a:solidFill>
                <a:schemeClr val="dk1"/>
              </a:solidFill>
              <a:latin typeface="Calibri"/>
              <a:ea typeface="Calibri"/>
              <a:cs typeface="Calibri"/>
              <a:sym typeface="Calibri"/>
            </a:endParaRPr>
          </a:p>
          <a:p>
            <a:pPr marL="400050" marR="0" lvl="1" indent="-127000" algn="l" rtl="0">
              <a:lnSpc>
                <a:spcPct val="100000"/>
              </a:lnSpc>
              <a:spcBef>
                <a:spcPts val="0"/>
              </a:spcBef>
              <a:spcAft>
                <a:spcPts val="0"/>
              </a:spcAft>
              <a:buClr>
                <a:srgbClr val="3C78D8"/>
              </a:buClr>
              <a:buSzPts val="1100"/>
              <a:buFont typeface="Calibri"/>
              <a:buChar char="○"/>
            </a:pPr>
            <a:r>
              <a:rPr lang="en" sz="1100">
                <a:solidFill>
                  <a:srgbClr val="3C78D8"/>
                </a:solidFill>
                <a:latin typeface="Calibri"/>
                <a:ea typeface="Calibri"/>
                <a:cs typeface="Calibri"/>
                <a:sym typeface="Calibri"/>
              </a:rPr>
              <a:t>Virtual production for films (cutting production time by 40x)</a:t>
            </a:r>
            <a:endParaRPr sz="1100">
              <a:solidFill>
                <a:srgbClr val="3C78D8"/>
              </a:solidFill>
              <a:latin typeface="Calibri"/>
              <a:ea typeface="Calibri"/>
              <a:cs typeface="Calibri"/>
              <a:sym typeface="Calibri"/>
            </a:endParaRPr>
          </a:p>
          <a:p>
            <a:pPr marL="400050" marR="0" lvl="1" indent="-127000" algn="l" rtl="0">
              <a:lnSpc>
                <a:spcPct val="100000"/>
              </a:lnSpc>
              <a:spcBef>
                <a:spcPts val="0"/>
              </a:spcBef>
              <a:spcAft>
                <a:spcPts val="0"/>
              </a:spcAft>
              <a:buClr>
                <a:srgbClr val="3C78D8"/>
              </a:buClr>
              <a:buSzPts val="1100"/>
              <a:buFont typeface="Calibri"/>
              <a:buChar char="○"/>
            </a:pPr>
            <a:r>
              <a:rPr lang="en" sz="1100">
                <a:solidFill>
                  <a:srgbClr val="3C78D8"/>
                </a:solidFill>
                <a:latin typeface="Calibri"/>
                <a:ea typeface="Calibri"/>
                <a:cs typeface="Calibri"/>
                <a:sym typeface="Calibri"/>
              </a:rPr>
              <a:t>Game development</a:t>
            </a:r>
            <a:endParaRPr sz="1100">
              <a:solidFill>
                <a:srgbClr val="3C78D8"/>
              </a:solidFill>
              <a:latin typeface="Calibri"/>
              <a:ea typeface="Calibri"/>
              <a:cs typeface="Calibri"/>
              <a:sym typeface="Calibri"/>
            </a:endParaRPr>
          </a:p>
          <a:p>
            <a:pPr marL="400050" marR="0" lvl="1" indent="-127000" algn="l" rtl="0">
              <a:lnSpc>
                <a:spcPct val="100000"/>
              </a:lnSpc>
              <a:spcBef>
                <a:spcPts val="0"/>
              </a:spcBef>
              <a:spcAft>
                <a:spcPts val="0"/>
              </a:spcAft>
              <a:buClr>
                <a:srgbClr val="3C78D8"/>
              </a:buClr>
              <a:buSzPts val="1100"/>
              <a:buFont typeface="Calibri"/>
              <a:buChar char="○"/>
            </a:pPr>
            <a:r>
              <a:rPr lang="en" sz="1100">
                <a:solidFill>
                  <a:srgbClr val="3C78D8"/>
                </a:solidFill>
                <a:latin typeface="Calibri"/>
                <a:ea typeface="Calibri"/>
                <a:cs typeface="Calibri"/>
                <a:sym typeface="Calibri"/>
              </a:rPr>
              <a:t>Robotics simulation and training</a:t>
            </a:r>
            <a:endParaRPr sz="1100">
              <a:solidFill>
                <a:srgbClr val="3C78D8"/>
              </a:solidFill>
              <a:latin typeface="Calibri"/>
              <a:ea typeface="Calibri"/>
              <a:cs typeface="Calibri"/>
              <a:sym typeface="Calibri"/>
            </a:endParaRPr>
          </a:p>
          <a:p>
            <a:pPr marL="400050" marR="0" lvl="1" indent="-127000" algn="l" rtl="0">
              <a:lnSpc>
                <a:spcPct val="100000"/>
              </a:lnSpc>
              <a:spcBef>
                <a:spcPts val="0"/>
              </a:spcBef>
              <a:spcAft>
                <a:spcPts val="0"/>
              </a:spcAft>
              <a:buClr>
                <a:srgbClr val="3C78D8"/>
              </a:buClr>
              <a:buSzPts val="1100"/>
              <a:buFont typeface="Calibri"/>
              <a:buChar char="○"/>
            </a:pPr>
            <a:r>
              <a:rPr lang="en" sz="1100">
                <a:solidFill>
                  <a:srgbClr val="3C78D8"/>
                </a:solidFill>
                <a:latin typeface="Calibri"/>
                <a:ea typeface="Calibri"/>
                <a:cs typeface="Calibri"/>
                <a:sym typeface="Calibri"/>
              </a:rPr>
              <a:t>Design and architecture</a:t>
            </a:r>
            <a:endParaRPr sz="1100">
              <a:solidFill>
                <a:srgbClr val="3C78D8"/>
              </a:solidFill>
              <a:latin typeface="Calibri"/>
              <a:ea typeface="Calibri"/>
              <a:cs typeface="Calibri"/>
              <a:sym typeface="Calibri"/>
            </a:endParaRPr>
          </a:p>
          <a:p>
            <a:pPr marL="400050" marR="0" lvl="1" indent="-127000" algn="l" rtl="0">
              <a:lnSpc>
                <a:spcPct val="100000"/>
              </a:lnSpc>
              <a:spcBef>
                <a:spcPts val="0"/>
              </a:spcBef>
              <a:spcAft>
                <a:spcPts val="0"/>
              </a:spcAft>
              <a:buClr>
                <a:srgbClr val="3C78D8"/>
              </a:buClr>
              <a:buSzPts val="1100"/>
              <a:buFont typeface="Calibri"/>
              <a:buChar char="○"/>
            </a:pPr>
            <a:r>
              <a:rPr lang="en" sz="1100">
                <a:solidFill>
                  <a:srgbClr val="3C78D8"/>
                </a:solidFill>
                <a:latin typeface="Calibri"/>
                <a:ea typeface="Calibri"/>
                <a:cs typeface="Calibri"/>
                <a:sym typeface="Calibri"/>
              </a:rPr>
              <a:t>Even psychological research for therapy scenarios</a:t>
            </a:r>
            <a:endParaRPr sz="1100">
              <a:solidFill>
                <a:srgbClr val="3C78D8"/>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Li notes we're far from achieving AGI, current AI can't perform tasks a toddler can do</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Stanford's Human-Centered AI Institute (HAI, founded in 2018) - interdisciplinary research, education, policy work, AI governance</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In 2015-2016, tech companies avoided using the term "AI" because it was considered a "dirty word" - now every company is an AI company</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Advice for young talent: Li encourages intellectual fearlessness and focusing on passion, mission alignment, and team quality rather than overanalyzing every aspect of job decisions</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Every person has a role in AI, whether as creators using it as a tool, citizens participating in governance, or workers being augmented by it</a:t>
            </a:r>
            <a:endParaRPr sz="1100">
              <a:solidFill>
                <a:schemeClr val="dk1"/>
              </a:solidFill>
              <a:latin typeface="Calibri"/>
              <a:ea typeface="Calibri"/>
              <a:cs typeface="Calibri"/>
              <a:sym typeface="Calibri"/>
            </a:endParaRPr>
          </a:p>
        </p:txBody>
      </p:sp>
      <p:pic>
        <p:nvPicPr>
          <p:cNvPr id="259" name="Google Shape;259;p30"/>
          <p:cNvPicPr preferRelativeResize="0"/>
          <p:nvPr/>
        </p:nvPicPr>
        <p:blipFill>
          <a:blip r:embed="rId4" cstate="email">
            <a:alphaModFix/>
            <a:extLst>
              <a:ext uri="{28A0092B-C50C-407E-A947-70E740481C1C}">
                <a14:useLocalDpi xmlns:a14="http://schemas.microsoft.com/office/drawing/2010/main"/>
              </a:ext>
            </a:extLst>
          </a:blip>
          <a:stretch>
            <a:fillRect/>
          </a:stretch>
        </p:blipFill>
        <p:spPr>
          <a:xfrm>
            <a:off x="5507323" y="346773"/>
            <a:ext cx="3581575" cy="2079825"/>
          </a:xfrm>
          <a:prstGeom prst="rect">
            <a:avLst/>
          </a:prstGeom>
          <a:noFill/>
          <a:ln w="9525" cap="flat" cmpd="sng">
            <a:solidFill>
              <a:srgbClr val="FF0000"/>
            </a:solidFill>
            <a:prstDash val="solid"/>
            <a:round/>
            <a:headEnd type="none" w="sm" len="sm"/>
            <a:tailEnd type="none" w="sm" len="sm"/>
          </a:ln>
        </p:spPr>
      </p:pic>
      <p:sp>
        <p:nvSpPr>
          <p:cNvPr id="260" name="Google Shape;260;p30"/>
          <p:cNvSpPr txBox="1"/>
          <p:nvPr/>
        </p:nvSpPr>
        <p:spPr>
          <a:xfrm>
            <a:off x="5680298" y="2496050"/>
            <a:ext cx="3335700" cy="3264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lvl="0" indent="0" algn="l" rtl="0">
              <a:spcBef>
                <a:spcPts val="0"/>
              </a:spcBef>
              <a:spcAft>
                <a:spcPts val="0"/>
              </a:spcAft>
              <a:buNone/>
            </a:pPr>
            <a:r>
              <a:rPr lang="en" sz="1100">
                <a:solidFill>
                  <a:schemeClr val="dk1"/>
                </a:solidFill>
                <a:latin typeface="Calibri"/>
                <a:ea typeface="Calibri"/>
                <a:cs typeface="Calibri"/>
                <a:sym typeface="Calibri"/>
              </a:rPr>
              <a:t>         Lenny Rachitsky                                Dr. Fei-Fei Li</a:t>
            </a:r>
            <a:endParaRPr sz="900">
              <a:solidFill>
                <a:schemeClr val="dk1"/>
              </a:solidFill>
              <a:latin typeface="Calibri"/>
              <a:ea typeface="Calibri"/>
              <a:cs typeface="Calibri"/>
              <a:sym typeface="Calibri"/>
            </a:endParaRPr>
          </a:p>
          <a:p>
            <a:pPr marL="0" lvl="0" indent="0" algn="l" rtl="0">
              <a:spcBef>
                <a:spcPts val="0"/>
              </a:spcBef>
              <a:spcAft>
                <a:spcPts val="0"/>
              </a:spcAft>
              <a:buNone/>
            </a:pPr>
            <a:r>
              <a:rPr lang="en" sz="900" u="sng">
                <a:solidFill>
                  <a:schemeClr val="hlink"/>
                </a:solidFill>
                <a:latin typeface="Calibri"/>
                <a:ea typeface="Calibri"/>
                <a:cs typeface="Calibri"/>
                <a:sym typeface="Calibri"/>
                <a:hlinkClick r:id="rId5"/>
              </a:rPr>
              <a:t>https://www.lennysnewsletter.com</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p:txBody>
      </p:sp>
      <p:pic>
        <p:nvPicPr>
          <p:cNvPr id="261" name="Google Shape;261;p30"/>
          <p:cNvPicPr preferRelativeResize="0"/>
          <p:nvPr/>
        </p:nvPicPr>
        <p:blipFill>
          <a:blip r:embed="rId6" cstate="email">
            <a:alphaModFix/>
            <a:extLst>
              <a:ext uri="{28A0092B-C50C-407E-A947-70E740481C1C}">
                <a14:useLocalDpi xmlns:a14="http://schemas.microsoft.com/office/drawing/2010/main"/>
              </a:ext>
            </a:extLst>
          </a:blip>
          <a:stretch>
            <a:fillRect/>
          </a:stretch>
        </p:blipFill>
        <p:spPr>
          <a:xfrm>
            <a:off x="5678338" y="2974850"/>
            <a:ext cx="3239549" cy="2016251"/>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265"/>
        <p:cNvGrpSpPr/>
        <p:nvPr/>
      </p:nvGrpSpPr>
      <p:grpSpPr>
        <a:xfrm>
          <a:off x="0" y="0"/>
          <a:ext cx="0" cy="0"/>
          <a:chOff x="0" y="0"/>
          <a:chExt cx="0" cy="0"/>
        </a:xfrm>
      </p:grpSpPr>
      <p:sp>
        <p:nvSpPr>
          <p:cNvPr id="266" name="Google Shape;266;p31"/>
          <p:cNvSpPr txBox="1"/>
          <p:nvPr/>
        </p:nvSpPr>
        <p:spPr>
          <a:xfrm>
            <a:off x="55075" y="20375"/>
            <a:ext cx="44445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Gino Wickman Interviewed by Joe Polish</a:t>
            </a:r>
            <a:endParaRPr sz="2000" b="1" i="0" u="none" strike="noStrike" cap="none">
              <a:solidFill>
                <a:schemeClr val="dk1"/>
              </a:solidFill>
              <a:latin typeface="Calibri"/>
              <a:ea typeface="Calibri"/>
              <a:cs typeface="Calibri"/>
              <a:sym typeface="Calibri"/>
            </a:endParaRPr>
          </a:p>
        </p:txBody>
      </p:sp>
      <p:sp>
        <p:nvSpPr>
          <p:cNvPr id="267" name="Google Shape;267;p31"/>
          <p:cNvSpPr txBox="1"/>
          <p:nvPr/>
        </p:nvSpPr>
        <p:spPr>
          <a:xfrm>
            <a:off x="55075" y="346776"/>
            <a:ext cx="4444500" cy="1373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Clr>
                <a:srgbClr val="FF0000"/>
              </a:buClr>
              <a:buSzPts val="1100"/>
              <a:buFont typeface="Calibri"/>
              <a:buChar char="●"/>
            </a:pPr>
            <a:r>
              <a:rPr lang="en" sz="1100" b="1">
                <a:solidFill>
                  <a:srgbClr val="FF0000"/>
                </a:solidFill>
                <a:latin typeface="Calibri"/>
                <a:ea typeface="Calibri"/>
                <a:cs typeface="Calibri"/>
                <a:sym typeface="Calibri"/>
              </a:rPr>
              <a:t>Gino Wickman Interviewed by Joe Polish</a:t>
            </a:r>
            <a:endParaRPr sz="1100" b="1">
              <a:solidFill>
                <a:srgbClr val="FF0000"/>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Entrepreneurship, business systems, personal growth, and finding peace after success - </a:t>
            </a:r>
            <a:r>
              <a:rPr lang="en" sz="1100" u="sng">
                <a:solidFill>
                  <a:schemeClr val="hlink"/>
                </a:solidFill>
                <a:latin typeface="Calibri"/>
                <a:ea typeface="Calibri"/>
                <a:cs typeface="Calibri"/>
                <a:sym typeface="Calibri"/>
                <a:hlinkClick r:id="rId3"/>
              </a:rPr>
              <a:t>https://www.youtube.com/watch?v=Nos1pigdUaU</a:t>
            </a:r>
            <a:r>
              <a:rPr lang="en" sz="1100">
                <a:solidFill>
                  <a:schemeClr val="dk1"/>
                </a:solidFill>
                <a:latin typeface="Calibri"/>
                <a:ea typeface="Calibri"/>
                <a:cs typeface="Calibri"/>
                <a:sym typeface="Calibri"/>
              </a:rPr>
              <a:t> </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Two hour interview. True entrepreneurship requires specific innate traits and demands extreme sacrifice. Build the right systems and team to create freedom. Success alone won't bring fulfillment—you must do inner work to release trauma, love yourself, and find peace. The journey is everything; there is no final destination</a:t>
            </a:r>
            <a:endParaRPr sz="900">
              <a:solidFill>
                <a:schemeClr val="dk1"/>
              </a:solidFill>
              <a:latin typeface="Calibri"/>
              <a:ea typeface="Calibri"/>
              <a:cs typeface="Calibri"/>
              <a:sym typeface="Calibri"/>
            </a:endParaRPr>
          </a:p>
        </p:txBody>
      </p:sp>
      <p:pic>
        <p:nvPicPr>
          <p:cNvPr id="268" name="Google Shape;268;p31"/>
          <p:cNvPicPr preferRelativeResize="0"/>
          <p:nvPr/>
        </p:nvPicPr>
        <p:blipFill>
          <a:blip r:embed="rId4" cstate="email">
            <a:alphaModFix/>
            <a:extLst>
              <a:ext uri="{28A0092B-C50C-407E-A947-70E740481C1C}">
                <a14:useLocalDpi xmlns:a14="http://schemas.microsoft.com/office/drawing/2010/main"/>
              </a:ext>
            </a:extLst>
          </a:blip>
          <a:stretch>
            <a:fillRect/>
          </a:stretch>
        </p:blipFill>
        <p:spPr>
          <a:xfrm>
            <a:off x="4690475" y="239087"/>
            <a:ext cx="2473301" cy="1588474"/>
          </a:xfrm>
          <a:prstGeom prst="rect">
            <a:avLst/>
          </a:prstGeom>
          <a:noFill/>
          <a:ln w="9525" cap="flat" cmpd="sng">
            <a:solidFill>
              <a:srgbClr val="FF0000"/>
            </a:solidFill>
            <a:prstDash val="solid"/>
            <a:round/>
            <a:headEnd type="none" w="sm" len="sm"/>
            <a:tailEnd type="none" w="sm" len="sm"/>
          </a:ln>
        </p:spPr>
      </p:pic>
      <p:sp>
        <p:nvSpPr>
          <p:cNvPr id="269" name="Google Shape;269;p31"/>
          <p:cNvSpPr txBox="1"/>
          <p:nvPr/>
        </p:nvSpPr>
        <p:spPr>
          <a:xfrm>
            <a:off x="55075" y="1771127"/>
            <a:ext cx="4444500" cy="3066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Clr>
                <a:srgbClr val="FF0000"/>
              </a:buClr>
              <a:buSzPts val="1100"/>
              <a:buFont typeface="Calibri"/>
              <a:buChar char="●"/>
            </a:pPr>
            <a:r>
              <a:rPr lang="en" sz="1100" b="1">
                <a:solidFill>
                  <a:srgbClr val="FF0000"/>
                </a:solidFill>
                <a:latin typeface="Calibri"/>
                <a:ea typeface="Calibri"/>
                <a:cs typeface="Calibri"/>
                <a:sym typeface="Calibri"/>
              </a:rPr>
              <a:t>AI Agency - How to Survive the AI Bubble</a:t>
            </a:r>
            <a:endParaRPr sz="1100" b="1">
              <a:solidFill>
                <a:srgbClr val="FF0000"/>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u="sng">
                <a:solidFill>
                  <a:schemeClr val="hlink"/>
                </a:solidFill>
                <a:latin typeface="Calibri"/>
                <a:ea typeface="Calibri"/>
                <a:cs typeface="Calibri"/>
                <a:sym typeface="Calibri"/>
                <a:hlinkClick r:id="rId5"/>
              </a:rPr>
              <a:t>https://www.youtube.com/watch?v=amAYKfRL8FI</a:t>
            </a:r>
            <a:endParaRPr sz="1100">
              <a:solidFill>
                <a:schemeClr val="dk1"/>
              </a:solidFill>
              <a:latin typeface="Calibri"/>
              <a:ea typeface="Calibri"/>
              <a:cs typeface="Calibri"/>
              <a:sym typeface="Calibri"/>
            </a:endParaRPr>
          </a:p>
          <a:p>
            <a:pPr marL="342900" marR="0" lvl="1" indent="-127000" algn="l" rtl="0">
              <a:lnSpc>
                <a:spcPct val="100000"/>
              </a:lnSpc>
              <a:spcBef>
                <a:spcPts val="0"/>
              </a:spcBef>
              <a:spcAft>
                <a:spcPts val="0"/>
              </a:spcAft>
              <a:buClr>
                <a:srgbClr val="3C78D8"/>
              </a:buClr>
              <a:buSzPts val="1100"/>
              <a:buFont typeface="Calibri"/>
              <a:buChar char="○"/>
            </a:pPr>
            <a:r>
              <a:rPr lang="en" sz="1100" b="1">
                <a:solidFill>
                  <a:srgbClr val="FF0000"/>
                </a:solidFill>
                <a:latin typeface="Calibri"/>
                <a:ea typeface="Calibri"/>
                <a:cs typeface="Calibri"/>
                <a:sym typeface="Calibri"/>
              </a:rPr>
              <a:t>Focus on small-to-medium businesses (SMBs) </a:t>
            </a:r>
            <a:r>
              <a:rPr lang="en" sz="1100">
                <a:solidFill>
                  <a:srgbClr val="3C78D8"/>
                </a:solidFill>
                <a:latin typeface="Calibri"/>
                <a:ea typeface="Calibri"/>
                <a:cs typeface="Calibri"/>
                <a:sym typeface="Calibri"/>
              </a:rPr>
              <a:t>which are more agile and see 10-15% higher success rates than enterprises. Smaller companies can rebuild systems from scratch without legacy constraints</a:t>
            </a:r>
            <a:endParaRPr sz="1100">
              <a:solidFill>
                <a:srgbClr val="3C78D8"/>
              </a:solidFill>
              <a:latin typeface="Calibri"/>
              <a:ea typeface="Calibri"/>
              <a:cs typeface="Calibri"/>
              <a:sym typeface="Calibri"/>
            </a:endParaRPr>
          </a:p>
          <a:p>
            <a:pPr marL="342900" marR="0" lvl="1" indent="-127000" algn="l" rtl="0">
              <a:lnSpc>
                <a:spcPct val="100000"/>
              </a:lnSpc>
              <a:spcBef>
                <a:spcPts val="0"/>
              </a:spcBef>
              <a:spcAft>
                <a:spcPts val="0"/>
              </a:spcAft>
              <a:buClr>
                <a:srgbClr val="3C78D8"/>
              </a:buClr>
              <a:buSzPts val="1100"/>
              <a:buFont typeface="Calibri"/>
              <a:buChar char="○"/>
            </a:pPr>
            <a:r>
              <a:rPr lang="en" sz="1100" b="1">
                <a:solidFill>
                  <a:srgbClr val="FF0000"/>
                </a:solidFill>
                <a:latin typeface="Calibri"/>
                <a:ea typeface="Calibri"/>
                <a:cs typeface="Calibri"/>
                <a:sym typeface="Calibri"/>
              </a:rPr>
              <a:t>Obsess Over ROI</a:t>
            </a:r>
            <a:r>
              <a:rPr lang="en" sz="1100">
                <a:solidFill>
                  <a:srgbClr val="3C78D8"/>
                </a:solidFill>
                <a:latin typeface="Calibri"/>
                <a:ea typeface="Calibri"/>
                <a:cs typeface="Calibri"/>
                <a:sym typeface="Calibri"/>
              </a:rPr>
              <a:t>: Niche down to collect performance data from previous clients and provide concrete ROI estimates in sales calls</a:t>
            </a:r>
            <a:endParaRPr sz="1100">
              <a:solidFill>
                <a:srgbClr val="3C78D8"/>
              </a:solidFill>
              <a:latin typeface="Calibri"/>
              <a:ea typeface="Calibri"/>
              <a:cs typeface="Calibri"/>
              <a:sym typeface="Calibri"/>
            </a:endParaRPr>
          </a:p>
          <a:p>
            <a:pPr marL="342900" marR="0" lvl="1" indent="-127000" algn="l" rtl="0">
              <a:lnSpc>
                <a:spcPct val="100000"/>
              </a:lnSpc>
              <a:spcBef>
                <a:spcPts val="0"/>
              </a:spcBef>
              <a:spcAft>
                <a:spcPts val="0"/>
              </a:spcAft>
              <a:buClr>
                <a:srgbClr val="3C78D8"/>
              </a:buClr>
              <a:buSzPts val="1100"/>
              <a:buFont typeface="Calibri"/>
              <a:buChar char="○"/>
            </a:pPr>
            <a:r>
              <a:rPr lang="en" sz="1100" b="1">
                <a:solidFill>
                  <a:srgbClr val="FF0000"/>
                </a:solidFill>
                <a:latin typeface="Calibri"/>
                <a:ea typeface="Calibri"/>
                <a:cs typeface="Calibri"/>
                <a:sym typeface="Calibri"/>
              </a:rPr>
              <a:t>Shift to Optimizer Role</a:t>
            </a:r>
            <a:r>
              <a:rPr lang="en" sz="1100">
                <a:solidFill>
                  <a:srgbClr val="3C78D8"/>
                </a:solidFill>
                <a:latin typeface="Calibri"/>
                <a:ea typeface="Calibri"/>
                <a:cs typeface="Calibri"/>
                <a:sym typeface="Calibri"/>
              </a:rPr>
              <a:t>: Successful AI projects require 12-18 months of constant optimization, not set-and-forget deployment. Focus on iterative feedback loops, prompt adjustments, long-term refinement</a:t>
            </a:r>
            <a:endParaRPr sz="1100">
              <a:solidFill>
                <a:srgbClr val="3C78D8"/>
              </a:solidFill>
              <a:latin typeface="Calibri"/>
              <a:ea typeface="Calibri"/>
              <a:cs typeface="Calibri"/>
              <a:sym typeface="Calibri"/>
            </a:endParaRPr>
          </a:p>
          <a:p>
            <a:pPr marL="342900" marR="0" lvl="1" indent="-127000" algn="l" rtl="0">
              <a:lnSpc>
                <a:spcPct val="100000"/>
              </a:lnSpc>
              <a:spcBef>
                <a:spcPts val="0"/>
              </a:spcBef>
              <a:spcAft>
                <a:spcPts val="0"/>
              </a:spcAft>
              <a:buClr>
                <a:srgbClr val="3C78D8"/>
              </a:buClr>
              <a:buSzPts val="1100"/>
              <a:buFont typeface="Calibri"/>
              <a:buChar char="○"/>
            </a:pPr>
            <a:r>
              <a:rPr lang="en" sz="1100" b="1">
                <a:solidFill>
                  <a:srgbClr val="FF0000"/>
                </a:solidFill>
                <a:latin typeface="Calibri"/>
                <a:ea typeface="Calibri"/>
                <a:cs typeface="Calibri"/>
                <a:sym typeface="Calibri"/>
              </a:rPr>
              <a:t>Become AI Transformation Partner</a:t>
            </a:r>
            <a:r>
              <a:rPr lang="en" sz="1100">
                <a:solidFill>
                  <a:srgbClr val="3C78D8"/>
                </a:solidFill>
                <a:latin typeface="Calibri"/>
                <a:ea typeface="Calibri"/>
                <a:cs typeface="Calibri"/>
                <a:sym typeface="Calibri"/>
              </a:rPr>
              <a:t>: Offer education and training alongside development, as this provides easiest ROI. Lead with AI literacy audits, workshops, and courses before moving into custom development.</a:t>
            </a:r>
            <a:endParaRPr sz="1100">
              <a:solidFill>
                <a:srgbClr val="3C78D8"/>
              </a:solidFill>
              <a:latin typeface="Calibri"/>
              <a:ea typeface="Calibri"/>
              <a:cs typeface="Calibri"/>
              <a:sym typeface="Calibri"/>
            </a:endParaRPr>
          </a:p>
          <a:p>
            <a:pPr marL="342900" marR="0" lvl="1" indent="-127000" algn="l" rtl="0">
              <a:lnSpc>
                <a:spcPct val="100000"/>
              </a:lnSpc>
              <a:spcBef>
                <a:spcPts val="0"/>
              </a:spcBef>
              <a:spcAft>
                <a:spcPts val="0"/>
              </a:spcAft>
              <a:buClr>
                <a:srgbClr val="3C78D8"/>
              </a:buClr>
              <a:buSzPts val="1100"/>
              <a:buFont typeface="Calibri"/>
              <a:buChar char="○"/>
            </a:pPr>
            <a:r>
              <a:rPr lang="en" sz="1100" b="1">
                <a:solidFill>
                  <a:srgbClr val="FF0000"/>
                </a:solidFill>
                <a:latin typeface="Calibri"/>
                <a:ea typeface="Calibri"/>
                <a:cs typeface="Calibri"/>
                <a:sym typeface="Calibri"/>
              </a:rPr>
              <a:t>Default to Retainers</a:t>
            </a:r>
            <a:r>
              <a:rPr lang="en" sz="1100">
                <a:solidFill>
                  <a:srgbClr val="3C78D8"/>
                </a:solidFill>
                <a:latin typeface="Calibri"/>
                <a:ea typeface="Calibri"/>
                <a:cs typeface="Calibri"/>
                <a:sym typeface="Calibri"/>
              </a:rPr>
              <a:t>: Build essential systems that become critical to operations, ensuring recurring revenue even during economic downturns. This protects against sudden budget cuts if the bubble deflates.</a:t>
            </a:r>
            <a:endParaRPr sz="1100">
              <a:solidFill>
                <a:schemeClr val="dk1"/>
              </a:solidFill>
              <a:latin typeface="Calibri"/>
              <a:ea typeface="Calibri"/>
              <a:cs typeface="Calibri"/>
              <a:sym typeface="Calibri"/>
            </a:endParaRPr>
          </a:p>
        </p:txBody>
      </p:sp>
      <p:pic>
        <p:nvPicPr>
          <p:cNvPr id="270" name="Google Shape;270;p31"/>
          <p:cNvPicPr preferRelativeResize="0"/>
          <p:nvPr/>
        </p:nvPicPr>
        <p:blipFill>
          <a:blip r:embed="rId6" cstate="email">
            <a:alphaModFix/>
            <a:extLst>
              <a:ext uri="{28A0092B-C50C-407E-A947-70E740481C1C}">
                <a14:useLocalDpi xmlns:a14="http://schemas.microsoft.com/office/drawing/2010/main"/>
              </a:ext>
            </a:extLst>
          </a:blip>
          <a:stretch>
            <a:fillRect/>
          </a:stretch>
        </p:blipFill>
        <p:spPr>
          <a:xfrm>
            <a:off x="4584150" y="1912126"/>
            <a:ext cx="2561518" cy="1434450"/>
          </a:xfrm>
          <a:prstGeom prst="rect">
            <a:avLst/>
          </a:prstGeom>
          <a:noFill/>
          <a:ln w="9525" cap="flat" cmpd="sng">
            <a:solidFill>
              <a:srgbClr val="FF0000"/>
            </a:solidFill>
            <a:prstDash val="solid"/>
            <a:round/>
            <a:headEnd type="none" w="sm" len="sm"/>
            <a:tailEnd type="none" w="sm" len="sm"/>
          </a:ln>
        </p:spPr>
      </p:pic>
      <p:pic>
        <p:nvPicPr>
          <p:cNvPr id="271" name="Google Shape;271;p31"/>
          <p:cNvPicPr preferRelativeResize="0"/>
          <p:nvPr/>
        </p:nvPicPr>
        <p:blipFill>
          <a:blip r:embed="rId7" cstate="email">
            <a:alphaModFix/>
            <a:extLst>
              <a:ext uri="{28A0092B-C50C-407E-A947-70E740481C1C}">
                <a14:useLocalDpi xmlns:a14="http://schemas.microsoft.com/office/drawing/2010/main"/>
              </a:ext>
            </a:extLst>
          </a:blip>
          <a:stretch>
            <a:fillRect/>
          </a:stretch>
        </p:blipFill>
        <p:spPr>
          <a:xfrm>
            <a:off x="6557653" y="3431148"/>
            <a:ext cx="2155594" cy="1434450"/>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275"/>
        <p:cNvGrpSpPr/>
        <p:nvPr/>
      </p:nvGrpSpPr>
      <p:grpSpPr>
        <a:xfrm>
          <a:off x="0" y="0"/>
          <a:ext cx="0" cy="0"/>
          <a:chOff x="0" y="0"/>
          <a:chExt cx="0" cy="0"/>
        </a:xfrm>
      </p:grpSpPr>
      <p:sp>
        <p:nvSpPr>
          <p:cNvPr id="276" name="Google Shape;276;p32"/>
          <p:cNvSpPr txBox="1"/>
          <p:nvPr/>
        </p:nvSpPr>
        <p:spPr>
          <a:xfrm>
            <a:off x="55075" y="20375"/>
            <a:ext cx="49965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10 Metatrends That Will Define Your Future</a:t>
            </a:r>
            <a:endParaRPr sz="2000" b="1" i="0" u="none" strike="noStrike" cap="none">
              <a:solidFill>
                <a:schemeClr val="dk1"/>
              </a:solidFill>
              <a:latin typeface="Calibri"/>
              <a:ea typeface="Calibri"/>
              <a:cs typeface="Calibri"/>
              <a:sym typeface="Calibri"/>
            </a:endParaRPr>
          </a:p>
        </p:txBody>
      </p:sp>
      <p:sp>
        <p:nvSpPr>
          <p:cNvPr id="277" name="Google Shape;277;p32"/>
          <p:cNvSpPr txBox="1"/>
          <p:nvPr/>
        </p:nvSpPr>
        <p:spPr>
          <a:xfrm>
            <a:off x="55075" y="346775"/>
            <a:ext cx="4485000" cy="44208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Clr>
                <a:srgbClr val="FF0000"/>
              </a:buClr>
              <a:buSzPts val="1100"/>
              <a:buFont typeface="Calibri"/>
              <a:buChar char="●"/>
            </a:pPr>
            <a:r>
              <a:rPr lang="en" sz="1100" b="1">
                <a:solidFill>
                  <a:srgbClr val="FF0000"/>
                </a:solidFill>
                <a:latin typeface="Calibri"/>
                <a:ea typeface="Calibri"/>
                <a:cs typeface="Calibri"/>
                <a:sym typeface="Calibri"/>
              </a:rPr>
              <a:t>10 Metatrends That Will Define Your Future - by Peter H. Diamandis</a:t>
            </a:r>
            <a:endParaRPr sz="1100" b="1">
              <a:solidFill>
                <a:srgbClr val="FF0000"/>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b="1">
                <a:solidFill>
                  <a:srgbClr val="FF0000"/>
                </a:solidFill>
                <a:latin typeface="Calibri"/>
                <a:ea typeface="Calibri"/>
                <a:cs typeface="Calibri"/>
                <a:sym typeface="Calibri"/>
              </a:rPr>
              <a:t>The speed of exponential tech is accelerating</a:t>
            </a:r>
            <a:r>
              <a:rPr lang="en" sz="1100">
                <a:solidFill>
                  <a:schemeClr val="dk1"/>
                </a:solidFill>
                <a:latin typeface="Calibri"/>
                <a:ea typeface="Calibri"/>
                <a:cs typeface="Calibri"/>
                <a:sym typeface="Calibri"/>
              </a:rPr>
              <a:t>, and these technologies are converging and reinventing everything in their path. There will be much change, but that change will uplift humanity &amp; create Abundance</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The next decade (2025 to 2035) represents the most transformative period in human history. </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A Metatrend is the unstoppable, long-term transformation of an industry or domain—propelled by the convergence of multiple exponential technologies. It systematically digitizes, dematerializes, demonetizes, and democratizes the field, reshaping it at an accelerating pace and unlocking entirely new possibilities. Here are 10 Metatrends:</a:t>
            </a:r>
            <a:endParaRPr sz="1100">
              <a:solidFill>
                <a:schemeClr val="dk1"/>
              </a:solidFill>
              <a:latin typeface="Calibri"/>
              <a:ea typeface="Calibri"/>
              <a:cs typeface="Calibri"/>
              <a:sym typeface="Calibri"/>
            </a:endParaRPr>
          </a:p>
          <a:p>
            <a:pPr marL="685800" marR="0" lvl="0" indent="-127000" algn="l" rtl="0">
              <a:lnSpc>
                <a:spcPct val="100000"/>
              </a:lnSpc>
              <a:spcBef>
                <a:spcPts val="0"/>
              </a:spcBef>
              <a:spcAft>
                <a:spcPts val="0"/>
              </a:spcAft>
              <a:buClr>
                <a:srgbClr val="3C78D8"/>
              </a:buClr>
              <a:buSzPts val="1100"/>
              <a:buFont typeface="Calibri"/>
              <a:buAutoNum type="arabicPeriod"/>
            </a:pPr>
            <a:r>
              <a:rPr lang="en" sz="1100" b="1">
                <a:solidFill>
                  <a:srgbClr val="3C78D8"/>
                </a:solidFill>
                <a:latin typeface="Calibri"/>
                <a:ea typeface="Calibri"/>
                <a:cs typeface="Calibri"/>
                <a:sym typeface="Calibri"/>
              </a:rPr>
              <a:t>Abundance: Food, Energy, Education</a:t>
            </a:r>
            <a:endParaRPr sz="1100" b="1">
              <a:solidFill>
                <a:srgbClr val="3C78D8"/>
              </a:solidFill>
              <a:latin typeface="Calibri"/>
              <a:ea typeface="Calibri"/>
              <a:cs typeface="Calibri"/>
              <a:sym typeface="Calibri"/>
            </a:endParaRPr>
          </a:p>
          <a:p>
            <a:pPr marL="685800" marR="0" lvl="0" indent="-127000" algn="l" rtl="0">
              <a:lnSpc>
                <a:spcPct val="100000"/>
              </a:lnSpc>
              <a:spcBef>
                <a:spcPts val="0"/>
              </a:spcBef>
              <a:spcAft>
                <a:spcPts val="0"/>
              </a:spcAft>
              <a:buClr>
                <a:srgbClr val="3C78D8"/>
              </a:buClr>
              <a:buSzPts val="1100"/>
              <a:buFont typeface="Calibri"/>
              <a:buAutoNum type="arabicPeriod"/>
            </a:pPr>
            <a:r>
              <a:rPr lang="en" sz="1100" b="1">
                <a:solidFill>
                  <a:srgbClr val="3C78D8"/>
                </a:solidFill>
                <a:latin typeface="Calibri"/>
                <a:ea typeface="Calibri"/>
                <a:cs typeface="Calibri"/>
                <a:sym typeface="Calibri"/>
              </a:rPr>
              <a:t>AI &amp; Quantum</a:t>
            </a:r>
            <a:endParaRPr sz="1100" b="1">
              <a:solidFill>
                <a:srgbClr val="3C78D8"/>
              </a:solidFill>
              <a:latin typeface="Calibri"/>
              <a:ea typeface="Calibri"/>
              <a:cs typeface="Calibri"/>
              <a:sym typeface="Calibri"/>
            </a:endParaRPr>
          </a:p>
          <a:p>
            <a:pPr marL="685800" marR="0" lvl="0" indent="-127000" algn="l" rtl="0">
              <a:lnSpc>
                <a:spcPct val="100000"/>
              </a:lnSpc>
              <a:spcBef>
                <a:spcPts val="0"/>
              </a:spcBef>
              <a:spcAft>
                <a:spcPts val="0"/>
              </a:spcAft>
              <a:buClr>
                <a:srgbClr val="3C78D8"/>
              </a:buClr>
              <a:buSzPts val="1100"/>
              <a:buFont typeface="Calibri"/>
              <a:buAutoNum type="arabicPeriod"/>
            </a:pPr>
            <a:r>
              <a:rPr lang="en" sz="1100" b="1">
                <a:solidFill>
                  <a:srgbClr val="3C78D8"/>
                </a:solidFill>
                <a:latin typeface="Calibri"/>
                <a:ea typeface="Calibri"/>
                <a:cs typeface="Calibri"/>
                <a:sym typeface="Calibri"/>
              </a:rPr>
              <a:t>Humanoid Robotics &amp; Autonomous Systems</a:t>
            </a:r>
            <a:endParaRPr sz="1100" b="1">
              <a:solidFill>
                <a:srgbClr val="3C78D8"/>
              </a:solidFill>
              <a:latin typeface="Calibri"/>
              <a:ea typeface="Calibri"/>
              <a:cs typeface="Calibri"/>
              <a:sym typeface="Calibri"/>
            </a:endParaRPr>
          </a:p>
          <a:p>
            <a:pPr marL="685800" marR="0" lvl="0" indent="-127000" algn="l" rtl="0">
              <a:lnSpc>
                <a:spcPct val="100000"/>
              </a:lnSpc>
              <a:spcBef>
                <a:spcPts val="0"/>
              </a:spcBef>
              <a:spcAft>
                <a:spcPts val="0"/>
              </a:spcAft>
              <a:buClr>
                <a:srgbClr val="3C78D8"/>
              </a:buClr>
              <a:buSzPts val="1100"/>
              <a:buFont typeface="Calibri"/>
              <a:buAutoNum type="arabicPeriod"/>
            </a:pPr>
            <a:r>
              <a:rPr lang="en" sz="1100" b="1">
                <a:solidFill>
                  <a:srgbClr val="3C78D8"/>
                </a:solidFill>
                <a:latin typeface="Calibri"/>
                <a:ea typeface="Calibri"/>
                <a:cs typeface="Calibri"/>
                <a:sym typeface="Calibri"/>
              </a:rPr>
              <a:t>Longevity, Medicine &amp; Biotechnology</a:t>
            </a:r>
            <a:endParaRPr sz="1100" b="1">
              <a:solidFill>
                <a:srgbClr val="3C78D8"/>
              </a:solidFill>
              <a:latin typeface="Calibri"/>
              <a:ea typeface="Calibri"/>
              <a:cs typeface="Calibri"/>
              <a:sym typeface="Calibri"/>
            </a:endParaRPr>
          </a:p>
          <a:p>
            <a:pPr marL="685800" marR="0" lvl="0" indent="-127000" algn="l" rtl="0">
              <a:lnSpc>
                <a:spcPct val="100000"/>
              </a:lnSpc>
              <a:spcBef>
                <a:spcPts val="0"/>
              </a:spcBef>
              <a:spcAft>
                <a:spcPts val="0"/>
              </a:spcAft>
              <a:buClr>
                <a:srgbClr val="3C78D8"/>
              </a:buClr>
              <a:buSzPts val="1100"/>
              <a:buFont typeface="Calibri"/>
              <a:buAutoNum type="arabicPeriod"/>
            </a:pPr>
            <a:r>
              <a:rPr lang="en" sz="1100" b="1">
                <a:solidFill>
                  <a:srgbClr val="3C78D8"/>
                </a:solidFill>
                <a:latin typeface="Calibri"/>
                <a:ea typeface="Calibri"/>
                <a:cs typeface="Calibri"/>
                <a:sym typeface="Calibri"/>
              </a:rPr>
              <a:t>Digital Currencies, Crypto &amp; DeFi</a:t>
            </a:r>
            <a:endParaRPr sz="1100" b="1">
              <a:solidFill>
                <a:srgbClr val="3C78D8"/>
              </a:solidFill>
              <a:latin typeface="Calibri"/>
              <a:ea typeface="Calibri"/>
              <a:cs typeface="Calibri"/>
              <a:sym typeface="Calibri"/>
            </a:endParaRPr>
          </a:p>
          <a:p>
            <a:pPr marL="685800" marR="0" lvl="0" indent="-127000" algn="l" rtl="0">
              <a:lnSpc>
                <a:spcPct val="100000"/>
              </a:lnSpc>
              <a:spcBef>
                <a:spcPts val="0"/>
              </a:spcBef>
              <a:spcAft>
                <a:spcPts val="0"/>
              </a:spcAft>
              <a:buClr>
                <a:srgbClr val="3C78D8"/>
              </a:buClr>
              <a:buSzPts val="1100"/>
              <a:buFont typeface="Calibri"/>
              <a:buAutoNum type="arabicPeriod"/>
            </a:pPr>
            <a:r>
              <a:rPr lang="en" sz="1100" b="1">
                <a:solidFill>
                  <a:srgbClr val="3C78D8"/>
                </a:solidFill>
                <a:latin typeface="Calibri"/>
                <a:ea typeface="Calibri"/>
                <a:cs typeface="Calibri"/>
                <a:sym typeface="Calibri"/>
              </a:rPr>
              <a:t>Robotaxis, Flying Cars &amp; Drones</a:t>
            </a:r>
            <a:endParaRPr sz="1100" b="1">
              <a:solidFill>
                <a:srgbClr val="3C78D8"/>
              </a:solidFill>
              <a:latin typeface="Calibri"/>
              <a:ea typeface="Calibri"/>
              <a:cs typeface="Calibri"/>
              <a:sym typeface="Calibri"/>
            </a:endParaRPr>
          </a:p>
          <a:p>
            <a:pPr marL="685800" marR="0" lvl="0" indent="-127000" algn="l" rtl="0">
              <a:lnSpc>
                <a:spcPct val="100000"/>
              </a:lnSpc>
              <a:spcBef>
                <a:spcPts val="0"/>
              </a:spcBef>
              <a:spcAft>
                <a:spcPts val="0"/>
              </a:spcAft>
              <a:buClr>
                <a:srgbClr val="3C78D8"/>
              </a:buClr>
              <a:buSzPts val="1100"/>
              <a:buFont typeface="Calibri"/>
              <a:buAutoNum type="arabicPeriod"/>
            </a:pPr>
            <a:r>
              <a:rPr lang="en" sz="1100" b="1">
                <a:solidFill>
                  <a:srgbClr val="3C78D8"/>
                </a:solidFill>
                <a:latin typeface="Calibri"/>
                <a:ea typeface="Calibri"/>
                <a:cs typeface="Calibri"/>
                <a:sym typeface="Calibri"/>
              </a:rPr>
              <a:t>Networks &amp; Sensors</a:t>
            </a:r>
            <a:endParaRPr sz="1100" b="1">
              <a:solidFill>
                <a:srgbClr val="3C78D8"/>
              </a:solidFill>
              <a:latin typeface="Calibri"/>
              <a:ea typeface="Calibri"/>
              <a:cs typeface="Calibri"/>
              <a:sym typeface="Calibri"/>
            </a:endParaRPr>
          </a:p>
          <a:p>
            <a:pPr marL="685800" marR="0" lvl="0" indent="-127000" algn="l" rtl="0">
              <a:lnSpc>
                <a:spcPct val="100000"/>
              </a:lnSpc>
              <a:spcBef>
                <a:spcPts val="0"/>
              </a:spcBef>
              <a:spcAft>
                <a:spcPts val="0"/>
              </a:spcAft>
              <a:buClr>
                <a:srgbClr val="3C78D8"/>
              </a:buClr>
              <a:buSzPts val="1100"/>
              <a:buFont typeface="Calibri"/>
              <a:buAutoNum type="arabicPeriod"/>
            </a:pPr>
            <a:r>
              <a:rPr lang="en" sz="1100" b="1">
                <a:solidFill>
                  <a:srgbClr val="3C78D8"/>
                </a:solidFill>
                <a:latin typeface="Calibri"/>
                <a:ea typeface="Calibri"/>
                <a:cs typeface="Calibri"/>
                <a:sym typeface="Calibri"/>
              </a:rPr>
              <a:t>Digital Manufacturing</a:t>
            </a:r>
            <a:endParaRPr sz="1100" b="1">
              <a:solidFill>
                <a:srgbClr val="3C78D8"/>
              </a:solidFill>
              <a:latin typeface="Calibri"/>
              <a:ea typeface="Calibri"/>
              <a:cs typeface="Calibri"/>
              <a:sym typeface="Calibri"/>
            </a:endParaRPr>
          </a:p>
          <a:p>
            <a:pPr marL="685800" marR="0" lvl="0" indent="-127000" algn="l" rtl="0">
              <a:lnSpc>
                <a:spcPct val="100000"/>
              </a:lnSpc>
              <a:spcBef>
                <a:spcPts val="0"/>
              </a:spcBef>
              <a:spcAft>
                <a:spcPts val="0"/>
              </a:spcAft>
              <a:buClr>
                <a:srgbClr val="3C78D8"/>
              </a:buClr>
              <a:buSzPts val="1100"/>
              <a:buFont typeface="Calibri"/>
              <a:buAutoNum type="arabicPeriod"/>
            </a:pPr>
            <a:r>
              <a:rPr lang="en" sz="1100" b="1">
                <a:solidFill>
                  <a:srgbClr val="3C78D8"/>
                </a:solidFill>
                <a:latin typeface="Calibri"/>
                <a:ea typeface="Calibri"/>
                <a:cs typeface="Calibri"/>
                <a:sym typeface="Calibri"/>
              </a:rPr>
              <a:t>Metaverse and XR</a:t>
            </a:r>
            <a:endParaRPr sz="1100" b="1">
              <a:solidFill>
                <a:srgbClr val="3C78D8"/>
              </a:solidFill>
              <a:latin typeface="Calibri"/>
              <a:ea typeface="Calibri"/>
              <a:cs typeface="Calibri"/>
              <a:sym typeface="Calibri"/>
            </a:endParaRPr>
          </a:p>
          <a:p>
            <a:pPr marL="685800" marR="0" lvl="0" indent="-127000" algn="l" rtl="0">
              <a:lnSpc>
                <a:spcPct val="100000"/>
              </a:lnSpc>
              <a:spcBef>
                <a:spcPts val="0"/>
              </a:spcBef>
              <a:spcAft>
                <a:spcPts val="0"/>
              </a:spcAft>
              <a:buClr>
                <a:srgbClr val="3C78D8"/>
              </a:buClr>
              <a:buSzPts val="1100"/>
              <a:buFont typeface="Calibri"/>
              <a:buAutoNum type="arabicPeriod"/>
            </a:pPr>
            <a:r>
              <a:rPr lang="en" sz="1100" b="1">
                <a:solidFill>
                  <a:srgbClr val="3C78D8"/>
                </a:solidFill>
                <a:latin typeface="Calibri"/>
                <a:ea typeface="Calibri"/>
                <a:cs typeface="Calibri"/>
                <a:sym typeface="Calibri"/>
              </a:rPr>
              <a:t>Space Exploration</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AI enhances every other technology, robotics enables space exploration, quantum computing accelerates drug discovery, and networks create the data layer that makes everything smarter. This is exponential multiplication: a 'Cambrian Explosion' of creative genius solving problems at the speed of digital superintelligence</a:t>
            </a:r>
            <a:endParaRPr sz="1100">
              <a:solidFill>
                <a:schemeClr val="dk1"/>
              </a:solidFill>
              <a:latin typeface="Calibri"/>
              <a:ea typeface="Calibri"/>
              <a:cs typeface="Calibri"/>
              <a:sym typeface="Calibri"/>
            </a:endParaRPr>
          </a:p>
        </p:txBody>
      </p:sp>
      <p:pic>
        <p:nvPicPr>
          <p:cNvPr id="278" name="Google Shape;278;p32"/>
          <p:cNvPicPr preferRelativeResize="0"/>
          <p:nvPr/>
        </p:nvPicPr>
        <p:blipFill>
          <a:blip r:embed="rId3" cstate="email">
            <a:alphaModFix/>
            <a:extLst>
              <a:ext uri="{28A0092B-C50C-407E-A947-70E740481C1C}">
                <a14:useLocalDpi xmlns:a14="http://schemas.microsoft.com/office/drawing/2010/main"/>
              </a:ext>
            </a:extLst>
          </a:blip>
          <a:stretch>
            <a:fillRect/>
          </a:stretch>
        </p:blipFill>
        <p:spPr>
          <a:xfrm>
            <a:off x="4825825" y="213750"/>
            <a:ext cx="1141150" cy="1524600"/>
          </a:xfrm>
          <a:prstGeom prst="rect">
            <a:avLst/>
          </a:prstGeom>
          <a:noFill/>
          <a:ln>
            <a:noFill/>
          </a:ln>
        </p:spPr>
      </p:pic>
      <p:sp>
        <p:nvSpPr>
          <p:cNvPr id="279" name="Google Shape;279;p32"/>
          <p:cNvSpPr txBox="1"/>
          <p:nvPr/>
        </p:nvSpPr>
        <p:spPr>
          <a:xfrm>
            <a:off x="4614725" y="1828500"/>
            <a:ext cx="4485000" cy="32355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Exponential technologies will solve humanity’s greatest challenges faster than new problems emerge. By 2035, food, energy, and education will be democratized at scale through autonomous systems and AI.</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AI evolves from a tool to the fundamental substrate of civilization itself. Every person will deploy personalized swarms of AI agents, scientific discovery will become autonomous and continuous, and quantum-AI systems will solve previously intractable problems.</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Millions and then billions humanoid robots will integrate into daily life by 2035, handling 80% of household chores, providing 24/7 eldercare, and working in extreme environments including off-world settlements</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Medicine shifts from reactive to anticipatory and preventive, with aging becoming optional rather than inevitable</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The pattern of expensive-to-free is unfolding simultaneously across every Metatrend. Gene sequencing has dropped from $100 million to just $200. Advanced AI systems are now free to billions. Soon, longevity therapies, space access, and personalized education will follow.</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Each Metatrend carries profound dark sides that demand proactive governance: from AI alignment challenges and job displacement, to privacy erosion and new forms of inequality.</a:t>
            </a:r>
            <a:endParaRPr sz="1100">
              <a:solidFill>
                <a:schemeClr val="dk1"/>
              </a:solidFill>
              <a:latin typeface="Calibri"/>
              <a:ea typeface="Calibri"/>
              <a:cs typeface="Calibri"/>
              <a:sym typeface="Calibri"/>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283"/>
        <p:cNvGrpSpPr/>
        <p:nvPr/>
      </p:nvGrpSpPr>
      <p:grpSpPr>
        <a:xfrm>
          <a:off x="0" y="0"/>
          <a:ext cx="0" cy="0"/>
          <a:chOff x="0" y="0"/>
          <a:chExt cx="0" cy="0"/>
        </a:xfrm>
      </p:grpSpPr>
      <p:sp>
        <p:nvSpPr>
          <p:cNvPr id="284" name="Google Shape;284;p33"/>
          <p:cNvSpPr txBox="1"/>
          <p:nvPr/>
        </p:nvSpPr>
        <p:spPr>
          <a:xfrm>
            <a:off x="67350" y="52750"/>
            <a:ext cx="31794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i="0" u="none" strike="noStrike" cap="none">
                <a:solidFill>
                  <a:schemeClr val="dk1"/>
                </a:solidFill>
                <a:latin typeface="Calibri"/>
                <a:ea typeface="Calibri"/>
                <a:cs typeface="Calibri"/>
                <a:sym typeface="Calibri"/>
              </a:rPr>
              <a:t>Jobs</a:t>
            </a:r>
            <a:endParaRPr sz="2000" b="1" i="0" u="none" strike="noStrike" cap="none">
              <a:solidFill>
                <a:schemeClr val="dk1"/>
              </a:solidFill>
              <a:latin typeface="Calibri"/>
              <a:ea typeface="Calibri"/>
              <a:cs typeface="Calibri"/>
              <a:sym typeface="Calibri"/>
            </a:endParaRPr>
          </a:p>
        </p:txBody>
      </p:sp>
      <p:sp>
        <p:nvSpPr>
          <p:cNvPr id="285" name="Google Shape;285;p33"/>
          <p:cNvSpPr txBox="1"/>
          <p:nvPr/>
        </p:nvSpPr>
        <p:spPr>
          <a:xfrm>
            <a:off x="2102050" y="77475"/>
            <a:ext cx="1800600" cy="3879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SzPts val="1200"/>
              <a:buFont typeface="Calibri"/>
              <a:buChar char="●"/>
            </a:pPr>
            <a:r>
              <a:rPr lang="en" sz="1200" b="0" i="0" u="sng" strike="noStrike" cap="none">
                <a:solidFill>
                  <a:schemeClr val="hlink"/>
                </a:solidFill>
                <a:latin typeface="Calibri"/>
                <a:ea typeface="Calibri"/>
                <a:cs typeface="Calibri"/>
                <a:sym typeface="Calibri"/>
                <a:hlinkClick r:id="rId3"/>
              </a:rPr>
              <a:t>https://layoffs.fyi</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u="sng">
                <a:solidFill>
                  <a:schemeClr val="hlink"/>
                </a:solidFill>
                <a:latin typeface="Calibri"/>
                <a:ea typeface="Calibri"/>
                <a:cs typeface="Calibri"/>
                <a:sym typeface="Calibri"/>
                <a:hlinkClick r:id="rId4"/>
              </a:rPr>
              <a:t>https://trueup.io/layoffs</a:t>
            </a:r>
            <a:r>
              <a:rPr lang="en" sz="1200">
                <a:latin typeface="Calibri"/>
                <a:ea typeface="Calibri"/>
                <a:cs typeface="Calibri"/>
                <a:sym typeface="Calibri"/>
              </a:rPr>
              <a:t> </a:t>
            </a:r>
            <a:r>
              <a:rPr lang="en" sz="1200" b="0" i="0" u="none" strike="noStrike" cap="none">
                <a:solidFill>
                  <a:srgbClr val="000000"/>
                </a:solidFill>
                <a:latin typeface="Calibri"/>
                <a:ea typeface="Calibri"/>
                <a:cs typeface="Calibri"/>
                <a:sym typeface="Calibri"/>
              </a:rPr>
              <a:t> </a:t>
            </a:r>
            <a:endParaRPr sz="1200" b="0" i="0" u="none" strike="noStrike" cap="none">
              <a:solidFill>
                <a:srgbClr val="000000"/>
              </a:solidFill>
              <a:latin typeface="Calibri"/>
              <a:ea typeface="Calibri"/>
              <a:cs typeface="Calibri"/>
              <a:sym typeface="Calibri"/>
            </a:endParaRPr>
          </a:p>
        </p:txBody>
      </p:sp>
      <p:sp>
        <p:nvSpPr>
          <p:cNvPr id="286" name="Google Shape;286;p33"/>
          <p:cNvSpPr txBox="1"/>
          <p:nvPr/>
        </p:nvSpPr>
        <p:spPr>
          <a:xfrm>
            <a:off x="5097525" y="77475"/>
            <a:ext cx="3981900" cy="942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None/>
            </a:pPr>
            <a:r>
              <a:rPr lang="en" sz="1200" b="1">
                <a:solidFill>
                  <a:srgbClr val="FF0000"/>
                </a:solidFill>
                <a:latin typeface="Calibri"/>
                <a:ea typeface="Calibri"/>
                <a:cs typeface="Calibri"/>
                <a:sym typeface="Calibri"/>
              </a:rPr>
              <a:t>  Tech Layoffs by year (US only):</a:t>
            </a:r>
            <a:endParaRPr sz="1200" b="1">
              <a:solidFill>
                <a:srgbClr val="FF0000"/>
              </a:solidFill>
              <a:latin typeface="Calibri"/>
              <a:ea typeface="Calibri"/>
              <a:cs typeface="Calibri"/>
              <a:sym typeface="Calibri"/>
            </a:endParaRPr>
          </a:p>
          <a:p>
            <a:pPr marL="228600" marR="0" lvl="1" indent="-133350" algn="l" rtl="0">
              <a:lnSpc>
                <a:spcPct val="100000"/>
              </a:lnSpc>
              <a:spcBef>
                <a:spcPts val="0"/>
              </a:spcBef>
              <a:spcAft>
                <a:spcPts val="0"/>
              </a:spcAft>
              <a:buSzPts val="1200"/>
              <a:buFont typeface="Calibri"/>
              <a:buChar char="○"/>
            </a:pPr>
            <a:r>
              <a:rPr lang="en" sz="1000" b="1">
                <a:latin typeface="Roboto Mono"/>
                <a:ea typeface="Roboto Mono"/>
                <a:cs typeface="Roboto Mono"/>
                <a:sym typeface="Roboto Mono"/>
              </a:rPr>
              <a:t> 113K in 2025 (as of November 14)</a:t>
            </a:r>
            <a:endParaRPr sz="1000" b="1">
              <a:latin typeface="Roboto Mono"/>
              <a:ea typeface="Roboto Mono"/>
              <a:cs typeface="Roboto Mono"/>
              <a:sym typeface="Roboto Mono"/>
            </a:endParaRPr>
          </a:p>
          <a:p>
            <a:pPr marL="228600" marR="0" lvl="1" indent="-133350" algn="l" rtl="0">
              <a:lnSpc>
                <a:spcPct val="100000"/>
              </a:lnSpc>
              <a:spcBef>
                <a:spcPts val="0"/>
              </a:spcBef>
              <a:spcAft>
                <a:spcPts val="0"/>
              </a:spcAft>
              <a:buSzPts val="1200"/>
              <a:buFont typeface="Calibri"/>
              <a:buChar char="○"/>
            </a:pPr>
            <a:r>
              <a:rPr lang="en" sz="1000" b="1">
                <a:latin typeface="Roboto Mono"/>
                <a:ea typeface="Roboto Mono"/>
                <a:cs typeface="Roboto Mono"/>
                <a:sym typeface="Roboto Mono"/>
              </a:rPr>
              <a:t>153K in </a:t>
            </a:r>
            <a:r>
              <a:rPr lang="en" sz="1000" b="1">
                <a:solidFill>
                  <a:srgbClr val="000000"/>
                </a:solidFill>
                <a:latin typeface="Roboto Mono"/>
                <a:ea typeface="Roboto Mono"/>
                <a:cs typeface="Roboto Mono"/>
                <a:sym typeface="Roboto Mono"/>
              </a:rPr>
              <a:t>2024</a:t>
            </a:r>
            <a:endParaRPr sz="1000" b="1">
              <a:latin typeface="Roboto Mono"/>
              <a:ea typeface="Roboto Mono"/>
              <a:cs typeface="Roboto Mono"/>
              <a:sym typeface="Roboto Mono"/>
            </a:endParaRPr>
          </a:p>
          <a:p>
            <a:pPr marL="228600" marR="0" lvl="1" indent="-133350" algn="l" rtl="0">
              <a:lnSpc>
                <a:spcPct val="100000"/>
              </a:lnSpc>
              <a:spcBef>
                <a:spcPts val="0"/>
              </a:spcBef>
              <a:spcAft>
                <a:spcPts val="0"/>
              </a:spcAft>
              <a:buSzPts val="1200"/>
              <a:buFont typeface="Calibri"/>
              <a:buChar char="○"/>
            </a:pPr>
            <a:r>
              <a:rPr lang="en" sz="1000" b="1">
                <a:latin typeface="Roboto Mono"/>
                <a:ea typeface="Roboto Mono"/>
                <a:cs typeface="Roboto Mono"/>
                <a:sym typeface="Roboto Mono"/>
              </a:rPr>
              <a:t>264K in 2023</a:t>
            </a:r>
            <a:endParaRPr sz="1000" b="1">
              <a:latin typeface="Roboto Mono"/>
              <a:ea typeface="Roboto Mono"/>
              <a:cs typeface="Roboto Mono"/>
              <a:sym typeface="Roboto Mono"/>
            </a:endParaRPr>
          </a:p>
          <a:p>
            <a:pPr marL="228600" marR="0" lvl="1" indent="-133350" algn="l" rtl="0">
              <a:lnSpc>
                <a:spcPct val="100000"/>
              </a:lnSpc>
              <a:spcBef>
                <a:spcPts val="0"/>
              </a:spcBef>
              <a:spcAft>
                <a:spcPts val="0"/>
              </a:spcAft>
              <a:buSzPts val="1200"/>
              <a:buFont typeface="Calibri"/>
              <a:buChar char="○"/>
            </a:pPr>
            <a:r>
              <a:rPr lang="en" sz="1000" b="1">
                <a:latin typeface="Roboto Mono"/>
                <a:ea typeface="Roboto Mono"/>
                <a:cs typeface="Roboto Mono"/>
                <a:sym typeface="Roboto Mono"/>
              </a:rPr>
              <a:t>165K in 2022                  </a:t>
            </a:r>
            <a:r>
              <a:rPr lang="en" sz="1200" i="0" u="sng" strike="noStrike" cap="none">
                <a:solidFill>
                  <a:srgbClr val="0097A7"/>
                </a:solidFill>
                <a:latin typeface="Calibri"/>
                <a:ea typeface="Calibri"/>
                <a:cs typeface="Calibri"/>
                <a:sym typeface="Calibri"/>
                <a:hlinkClick r:id="rId3">
                  <a:extLst>
                    <a:ext uri="{A12FA001-AC4F-418D-AE19-62706E023703}">
                      <ahyp:hlinkClr xmlns:ahyp="http://schemas.microsoft.com/office/drawing/2018/hyperlinkcolor" val="tx"/>
                    </a:ext>
                  </a:extLst>
                </a:hlinkClick>
              </a:rPr>
              <a:t>https://layoffs.fyi</a:t>
            </a:r>
            <a:endParaRPr sz="1200" i="0" u="none" strike="noStrike" cap="none">
              <a:solidFill>
                <a:srgbClr val="000000"/>
              </a:solidFill>
              <a:latin typeface="Calibri"/>
              <a:ea typeface="Calibri"/>
              <a:cs typeface="Calibri"/>
              <a:sym typeface="Calibri"/>
            </a:endParaRPr>
          </a:p>
        </p:txBody>
      </p:sp>
      <p:sp>
        <p:nvSpPr>
          <p:cNvPr id="287" name="Google Shape;287;p33"/>
          <p:cNvSpPr txBox="1"/>
          <p:nvPr/>
        </p:nvSpPr>
        <p:spPr>
          <a:xfrm>
            <a:off x="5162100" y="4228625"/>
            <a:ext cx="3981900" cy="7572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lvl="0" indent="0" algn="l" rtl="0">
              <a:spcBef>
                <a:spcPts val="0"/>
              </a:spcBef>
              <a:spcAft>
                <a:spcPts val="0"/>
              </a:spcAft>
              <a:buNone/>
            </a:pPr>
            <a:r>
              <a:rPr lang="en" sz="1200" b="1">
                <a:solidFill>
                  <a:srgbClr val="FF0000"/>
                </a:solidFill>
                <a:latin typeface="Calibri"/>
                <a:ea typeface="Calibri"/>
                <a:cs typeface="Calibri"/>
                <a:sym typeface="Calibri"/>
              </a:rPr>
              <a:t>  The Tech Layoff Tracker</a:t>
            </a:r>
            <a:endParaRPr sz="1200" b="1">
              <a:solidFill>
                <a:srgbClr val="FF0000"/>
              </a:solidFill>
              <a:latin typeface="Calibri"/>
              <a:ea typeface="Calibri"/>
              <a:cs typeface="Calibri"/>
              <a:sym typeface="Calibri"/>
            </a:endParaRPr>
          </a:p>
          <a:p>
            <a:pPr marL="228600" lvl="0" indent="-133350" algn="l" rtl="0">
              <a:spcBef>
                <a:spcPts val="0"/>
              </a:spcBef>
              <a:spcAft>
                <a:spcPts val="0"/>
              </a:spcAft>
              <a:buSzPts val="1200"/>
              <a:buFont typeface="Calibri"/>
              <a:buChar char="●"/>
            </a:pPr>
            <a:r>
              <a:rPr lang="en" sz="1200">
                <a:latin typeface="Calibri"/>
                <a:ea typeface="Calibri"/>
                <a:cs typeface="Calibri"/>
                <a:sym typeface="Calibri"/>
              </a:rPr>
              <a:t>So far in 2025, 200,283 people laid off (630 per day)</a:t>
            </a:r>
            <a:endParaRPr sz="1200">
              <a:latin typeface="Calibri"/>
              <a:ea typeface="Calibri"/>
              <a:cs typeface="Calibri"/>
              <a:sym typeface="Calibri"/>
            </a:endParaRPr>
          </a:p>
          <a:p>
            <a:pPr marL="228600" lvl="0" indent="-133350" algn="l" rtl="0">
              <a:spcBef>
                <a:spcPts val="0"/>
              </a:spcBef>
              <a:spcAft>
                <a:spcPts val="0"/>
              </a:spcAft>
              <a:buSzPts val="1200"/>
              <a:buFont typeface="Calibri"/>
              <a:buChar char="●"/>
            </a:pPr>
            <a:r>
              <a:rPr lang="en" sz="1200">
                <a:latin typeface="Calibri"/>
                <a:ea typeface="Calibri"/>
                <a:cs typeface="Calibri"/>
                <a:sym typeface="Calibri"/>
              </a:rPr>
              <a:t>In 2024, 238,461 people </a:t>
            </a:r>
            <a:r>
              <a:rPr lang="en" sz="1200">
                <a:solidFill>
                  <a:schemeClr val="dk1"/>
                </a:solidFill>
                <a:latin typeface="Calibri"/>
                <a:ea typeface="Calibri"/>
                <a:cs typeface="Calibri"/>
                <a:sym typeface="Calibri"/>
              </a:rPr>
              <a:t>laid off</a:t>
            </a:r>
            <a:r>
              <a:rPr lang="en" sz="1200">
                <a:latin typeface="Calibri"/>
                <a:ea typeface="Calibri"/>
                <a:cs typeface="Calibri"/>
                <a:sym typeface="Calibri"/>
              </a:rPr>
              <a:t> (653 per day)</a:t>
            </a:r>
            <a:endParaRPr sz="1200">
              <a:latin typeface="Calibri"/>
              <a:ea typeface="Calibri"/>
              <a:cs typeface="Calibri"/>
              <a:sym typeface="Calibri"/>
            </a:endParaRPr>
          </a:p>
          <a:p>
            <a:pPr marL="228600" marR="460857" lvl="0" indent="-57150" algn="r" rtl="0">
              <a:spcBef>
                <a:spcPts val="0"/>
              </a:spcBef>
              <a:spcAft>
                <a:spcPts val="0"/>
              </a:spcAft>
              <a:buNone/>
            </a:pPr>
            <a:r>
              <a:rPr lang="en" sz="1200" u="sng">
                <a:solidFill>
                  <a:schemeClr val="hlink"/>
                </a:solidFill>
                <a:latin typeface="Calibri"/>
                <a:ea typeface="Calibri"/>
                <a:cs typeface="Calibri"/>
                <a:sym typeface="Calibri"/>
                <a:hlinkClick r:id="rId4"/>
              </a:rPr>
              <a:t>https://trueup.io/layoffs</a:t>
            </a:r>
            <a:endParaRPr sz="1200">
              <a:latin typeface="Calibri"/>
              <a:ea typeface="Calibri"/>
              <a:cs typeface="Calibri"/>
              <a:sym typeface="Calibri"/>
            </a:endParaRPr>
          </a:p>
        </p:txBody>
      </p:sp>
      <p:pic>
        <p:nvPicPr>
          <p:cNvPr id="288" name="Google Shape;288;p33"/>
          <p:cNvPicPr preferRelativeResize="0"/>
          <p:nvPr/>
        </p:nvPicPr>
        <p:blipFill>
          <a:blip r:embed="rId5" cstate="email">
            <a:alphaModFix/>
            <a:extLst>
              <a:ext uri="{28A0092B-C50C-407E-A947-70E740481C1C}">
                <a14:useLocalDpi xmlns:a14="http://schemas.microsoft.com/office/drawing/2010/main"/>
              </a:ext>
            </a:extLst>
          </a:blip>
          <a:stretch>
            <a:fillRect/>
          </a:stretch>
        </p:blipFill>
        <p:spPr>
          <a:xfrm>
            <a:off x="67350" y="585762"/>
            <a:ext cx="4951702" cy="1863838"/>
          </a:xfrm>
          <a:prstGeom prst="rect">
            <a:avLst/>
          </a:prstGeom>
          <a:noFill/>
          <a:ln w="9525" cap="flat" cmpd="sng">
            <a:solidFill>
              <a:srgbClr val="FF0000"/>
            </a:solidFill>
            <a:prstDash val="solid"/>
            <a:round/>
            <a:headEnd type="none" w="sm" len="sm"/>
            <a:tailEnd type="none" w="sm" len="sm"/>
          </a:ln>
        </p:spPr>
      </p:pic>
      <p:pic>
        <p:nvPicPr>
          <p:cNvPr id="289" name="Google Shape;289;p33"/>
          <p:cNvPicPr preferRelativeResize="0"/>
          <p:nvPr/>
        </p:nvPicPr>
        <p:blipFill>
          <a:blip r:embed="rId6" cstate="email">
            <a:alphaModFix/>
            <a:extLst>
              <a:ext uri="{28A0092B-C50C-407E-A947-70E740481C1C}">
                <a14:useLocalDpi xmlns:a14="http://schemas.microsoft.com/office/drawing/2010/main"/>
              </a:ext>
            </a:extLst>
          </a:blip>
          <a:stretch>
            <a:fillRect/>
          </a:stretch>
        </p:blipFill>
        <p:spPr>
          <a:xfrm>
            <a:off x="67350" y="2516303"/>
            <a:ext cx="4951701" cy="2543507"/>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293"/>
        <p:cNvGrpSpPr/>
        <p:nvPr/>
      </p:nvGrpSpPr>
      <p:grpSpPr>
        <a:xfrm>
          <a:off x="0" y="0"/>
          <a:ext cx="0" cy="0"/>
          <a:chOff x="0" y="0"/>
          <a:chExt cx="0" cy="0"/>
        </a:xfrm>
      </p:grpSpPr>
      <p:pic>
        <p:nvPicPr>
          <p:cNvPr id="294" name="Google Shape;294;p34"/>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645525" y="1203525"/>
            <a:ext cx="1570556" cy="1570556"/>
          </a:xfrm>
          <a:prstGeom prst="rect">
            <a:avLst/>
          </a:prstGeom>
          <a:noFill/>
          <a:ln>
            <a:noFill/>
          </a:ln>
        </p:spPr>
      </p:pic>
      <p:sp>
        <p:nvSpPr>
          <p:cNvPr id="295" name="Google Shape;295;p34"/>
          <p:cNvSpPr txBox="1"/>
          <p:nvPr/>
        </p:nvSpPr>
        <p:spPr>
          <a:xfrm>
            <a:off x="-25625" y="-14775"/>
            <a:ext cx="3355800" cy="5694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2500"/>
              <a:buFont typeface="Arial"/>
              <a:buNone/>
            </a:pPr>
            <a:r>
              <a:rPr lang="en" sz="2500" b="1" i="0" u="none" strike="noStrike" cap="none">
                <a:solidFill>
                  <a:srgbClr val="000000"/>
                </a:solidFill>
                <a:latin typeface="Calibri"/>
                <a:ea typeface="Calibri"/>
                <a:cs typeface="Calibri"/>
                <a:sym typeface="Calibri"/>
              </a:rPr>
              <a:t>About the Speaker</a:t>
            </a:r>
            <a:endParaRPr sz="2500" b="1" i="0" u="none" strike="noStrike" cap="none">
              <a:solidFill>
                <a:srgbClr val="000000"/>
              </a:solidFill>
              <a:latin typeface="Calibri"/>
              <a:ea typeface="Calibri"/>
              <a:cs typeface="Calibri"/>
              <a:sym typeface="Calibri"/>
            </a:endParaRPr>
          </a:p>
        </p:txBody>
      </p:sp>
      <p:sp>
        <p:nvSpPr>
          <p:cNvPr id="296" name="Google Shape;296;p34"/>
          <p:cNvSpPr txBox="1"/>
          <p:nvPr/>
        </p:nvSpPr>
        <p:spPr>
          <a:xfrm>
            <a:off x="3330175" y="878750"/>
            <a:ext cx="5621700" cy="33093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500" b="1" i="0" u="none" strike="noStrike" cap="none">
                <a:solidFill>
                  <a:srgbClr val="000000"/>
                </a:solidFill>
                <a:latin typeface="Calibri"/>
                <a:ea typeface="Calibri"/>
                <a:cs typeface="Calibri"/>
                <a:sym typeface="Calibri"/>
              </a:rPr>
              <a:t>Lev Selector, Ph.D.</a:t>
            </a:r>
            <a:endParaRPr sz="2500" b="1" i="0" u="none" strike="noStrike" cap="none">
              <a:solidFill>
                <a:srgbClr val="000000"/>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1100"/>
              <a:buFont typeface="Arial"/>
              <a:buNone/>
            </a:pPr>
            <a:endParaRPr sz="1800" b="0" i="0" u="none" strike="noStrike" cap="none">
              <a:solidFill>
                <a:srgbClr val="000000"/>
              </a:solidFill>
              <a:latin typeface="Calibri"/>
              <a:ea typeface="Calibri"/>
              <a:cs typeface="Calibri"/>
              <a:sym typeface="Calibri"/>
            </a:endParaRPr>
          </a:p>
          <a:p>
            <a:pPr marL="457200" marR="0" lvl="0" indent="-330200" algn="l" rtl="0">
              <a:lnSpc>
                <a:spcPct val="100000"/>
              </a:lnSpc>
              <a:spcBef>
                <a:spcPts val="0"/>
              </a:spcBef>
              <a:spcAft>
                <a:spcPts val="0"/>
              </a:spcAft>
              <a:buClr>
                <a:srgbClr val="000000"/>
              </a:buClr>
              <a:buSzPts val="1600"/>
              <a:buFont typeface="Calibri"/>
              <a:buChar char="●"/>
            </a:pPr>
            <a:r>
              <a:rPr lang="en" sz="1600" b="0" i="0" u="none" strike="noStrike" cap="none">
                <a:solidFill>
                  <a:schemeClr val="dk1"/>
                </a:solidFill>
                <a:latin typeface="Calibri"/>
                <a:ea typeface="Calibri"/>
                <a:cs typeface="Calibri"/>
                <a:sym typeface="Calibri"/>
              </a:rPr>
              <a:t>40+ years of software engineering, data science, and building teams (hiring, training, and managing)</a:t>
            </a:r>
            <a:endParaRPr sz="1600" b="0" i="0" u="none" strike="noStrike" cap="none">
              <a:solidFill>
                <a:schemeClr val="dk1"/>
              </a:solidFill>
              <a:latin typeface="Calibri"/>
              <a:ea typeface="Calibri"/>
              <a:cs typeface="Calibri"/>
              <a:sym typeface="Calibri"/>
            </a:endParaRPr>
          </a:p>
          <a:p>
            <a:pPr marL="457200" marR="0" lvl="0" indent="-330200" algn="l" rtl="0">
              <a:lnSpc>
                <a:spcPct val="100000"/>
              </a:lnSpc>
              <a:spcBef>
                <a:spcPts val="0"/>
              </a:spcBef>
              <a:spcAft>
                <a:spcPts val="0"/>
              </a:spcAft>
              <a:buClr>
                <a:srgbClr val="000000"/>
              </a:buClr>
              <a:buSzPts val="1600"/>
              <a:buFont typeface="Calibri"/>
              <a:buChar char="●"/>
            </a:pPr>
            <a:r>
              <a:rPr lang="en" sz="1600" b="0" i="0" u="none" strike="noStrike" cap="none">
                <a:solidFill>
                  <a:schemeClr val="dk1"/>
                </a:solidFill>
                <a:latin typeface="Calibri"/>
                <a:ea typeface="Calibri"/>
                <a:cs typeface="Calibri"/>
                <a:sym typeface="Calibri"/>
              </a:rPr>
              <a:t>Ph.D. in mathematical modeling and computer simulations</a:t>
            </a:r>
            <a:endParaRPr sz="1600" b="0" i="0" u="none" strike="noStrike" cap="none">
              <a:solidFill>
                <a:srgbClr val="000000"/>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1100"/>
              <a:buFont typeface="Arial"/>
              <a:buNone/>
            </a:pPr>
            <a:endParaRPr sz="1600" b="0" i="0" u="none" strike="noStrike" cap="none">
              <a:solidFill>
                <a:srgbClr val="000000"/>
              </a:solidFill>
              <a:latin typeface="Calibri"/>
              <a:ea typeface="Calibri"/>
              <a:cs typeface="Calibri"/>
              <a:sym typeface="Calibri"/>
            </a:endParaRPr>
          </a:p>
          <a:p>
            <a:pPr marL="0" marR="0" lvl="0" indent="0" algn="l" rtl="0">
              <a:lnSpc>
                <a:spcPct val="100000"/>
              </a:lnSpc>
              <a:spcBef>
                <a:spcPts val="0"/>
              </a:spcBef>
              <a:spcAft>
                <a:spcPts val="0"/>
              </a:spcAft>
              <a:buClr>
                <a:srgbClr val="000000"/>
              </a:buClr>
              <a:buSzPts val="1600"/>
              <a:buFont typeface="Arial"/>
              <a:buNone/>
            </a:pPr>
            <a:r>
              <a:rPr lang="en" sz="1600" b="0" i="0" u="none" strike="noStrike" cap="none">
                <a:solidFill>
                  <a:srgbClr val="000000"/>
                </a:solidFill>
                <a:latin typeface="Calibri"/>
                <a:ea typeface="Calibri"/>
                <a:cs typeface="Calibri"/>
                <a:sym typeface="Calibri"/>
              </a:rPr>
              <a:t>Interests: </a:t>
            </a:r>
            <a:endParaRPr sz="1600" b="0" i="0" u="none" strike="noStrike" cap="none">
              <a:solidFill>
                <a:srgbClr val="000000"/>
              </a:solidFill>
              <a:latin typeface="Calibri"/>
              <a:ea typeface="Calibri"/>
              <a:cs typeface="Calibri"/>
              <a:sym typeface="Calibri"/>
            </a:endParaRPr>
          </a:p>
          <a:p>
            <a:pPr marL="457200" marR="0" lvl="0" indent="-330200" algn="l" rtl="0">
              <a:lnSpc>
                <a:spcPct val="100000"/>
              </a:lnSpc>
              <a:spcBef>
                <a:spcPts val="0"/>
              </a:spcBef>
              <a:spcAft>
                <a:spcPts val="0"/>
              </a:spcAft>
              <a:buClr>
                <a:srgbClr val="000000"/>
              </a:buClr>
              <a:buSzPts val="1600"/>
              <a:buFont typeface="Calibri"/>
              <a:buChar char="●"/>
            </a:pPr>
            <a:r>
              <a:rPr lang="en" sz="1600" b="0" i="0" u="none" strike="noStrike" cap="none">
                <a:solidFill>
                  <a:schemeClr val="dk1"/>
                </a:solidFill>
                <a:latin typeface="Calibri"/>
                <a:ea typeface="Calibri"/>
                <a:cs typeface="Calibri"/>
                <a:sym typeface="Calibri"/>
              </a:rPr>
              <a:t>Generative AI, Using LLM with your data</a:t>
            </a:r>
            <a:endParaRPr sz="1600" b="0" i="0" u="none" strike="noStrike" cap="none">
              <a:solidFill>
                <a:schemeClr val="dk1"/>
              </a:solidFill>
              <a:latin typeface="Calibri"/>
              <a:ea typeface="Calibri"/>
              <a:cs typeface="Calibri"/>
              <a:sym typeface="Calibri"/>
            </a:endParaRPr>
          </a:p>
          <a:p>
            <a:pPr marL="457200" marR="0" lvl="0" indent="-330200" algn="l" rtl="0">
              <a:lnSpc>
                <a:spcPct val="100000"/>
              </a:lnSpc>
              <a:spcBef>
                <a:spcPts val="0"/>
              </a:spcBef>
              <a:spcAft>
                <a:spcPts val="0"/>
              </a:spcAft>
              <a:buClr>
                <a:schemeClr val="dk1"/>
              </a:buClr>
              <a:buSzPts val="1600"/>
              <a:buFont typeface="Calibri"/>
              <a:buChar char="●"/>
            </a:pPr>
            <a:r>
              <a:rPr lang="en" sz="1600" b="0" i="0" u="none" strike="noStrike" cap="none">
                <a:solidFill>
                  <a:schemeClr val="dk1"/>
                </a:solidFill>
                <a:latin typeface="Calibri"/>
                <a:ea typeface="Calibri"/>
                <a:cs typeface="Calibri"/>
                <a:sym typeface="Calibri"/>
              </a:rPr>
              <a:t>Local AI for Local Private Data</a:t>
            </a:r>
            <a:endParaRPr sz="1600" b="0" i="0" u="none" strike="noStrike" cap="none">
              <a:solidFill>
                <a:schemeClr val="dk1"/>
              </a:solidFill>
              <a:latin typeface="Calibri"/>
              <a:ea typeface="Calibri"/>
              <a:cs typeface="Calibri"/>
              <a:sym typeface="Calibri"/>
            </a:endParaRPr>
          </a:p>
          <a:p>
            <a:pPr marL="457200" marR="0" lvl="0" indent="-330200" algn="l" rtl="0">
              <a:lnSpc>
                <a:spcPct val="100000"/>
              </a:lnSpc>
              <a:spcBef>
                <a:spcPts val="0"/>
              </a:spcBef>
              <a:spcAft>
                <a:spcPts val="0"/>
              </a:spcAft>
              <a:buClr>
                <a:srgbClr val="000000"/>
              </a:buClr>
              <a:buSzPts val="1600"/>
              <a:buFont typeface="Calibri"/>
              <a:buChar char="●"/>
            </a:pPr>
            <a:r>
              <a:rPr lang="en" sz="1600" b="0" i="0" u="none" strike="noStrike" cap="none">
                <a:solidFill>
                  <a:srgbClr val="000000"/>
                </a:solidFill>
                <a:latin typeface="Calibri"/>
                <a:ea typeface="Calibri"/>
                <a:cs typeface="Calibri"/>
                <a:sym typeface="Calibri"/>
              </a:rPr>
              <a:t>Cloud architecture, fin-tech, application security</a:t>
            </a:r>
            <a:endParaRPr sz="1600" b="0" i="0" u="none" strike="noStrike" cap="none">
              <a:solidFill>
                <a:srgbClr val="000000"/>
              </a:solidFill>
              <a:latin typeface="Calibri"/>
              <a:ea typeface="Calibri"/>
              <a:cs typeface="Calibri"/>
              <a:sym typeface="Calibri"/>
            </a:endParaRPr>
          </a:p>
          <a:p>
            <a:pPr marL="0" marR="0" lvl="0" indent="0" algn="l" rtl="0">
              <a:lnSpc>
                <a:spcPct val="100000"/>
              </a:lnSpc>
              <a:spcBef>
                <a:spcPts val="0"/>
              </a:spcBef>
              <a:spcAft>
                <a:spcPts val="0"/>
              </a:spcAft>
              <a:buClr>
                <a:srgbClr val="000000"/>
              </a:buClr>
              <a:buSzPts val="1600"/>
              <a:buFont typeface="Arial"/>
              <a:buNone/>
            </a:pPr>
            <a:endParaRPr sz="1600" b="0" i="0" u="none" strike="noStrike" cap="none">
              <a:solidFill>
                <a:srgbClr val="000000"/>
              </a:solidFill>
              <a:latin typeface="Calibri"/>
              <a:ea typeface="Calibri"/>
              <a:cs typeface="Calibri"/>
              <a:sym typeface="Calibri"/>
            </a:endParaRPr>
          </a:p>
          <a:p>
            <a:pPr marL="0" marR="0" lvl="0" indent="0" algn="l" rtl="0">
              <a:lnSpc>
                <a:spcPct val="100000"/>
              </a:lnSpc>
              <a:spcBef>
                <a:spcPts val="0"/>
              </a:spcBef>
              <a:spcAft>
                <a:spcPts val="0"/>
              </a:spcAft>
              <a:buClr>
                <a:srgbClr val="000000"/>
              </a:buClr>
              <a:buSzPts val="1600"/>
              <a:buFont typeface="Arial"/>
              <a:buNone/>
            </a:pPr>
            <a:r>
              <a:rPr lang="en" sz="1600" b="0" i="0" u="none" strike="noStrike" cap="none">
                <a:solidFill>
                  <a:srgbClr val="000000"/>
                </a:solidFill>
                <a:latin typeface="Calibri"/>
                <a:ea typeface="Calibri"/>
                <a:cs typeface="Calibri"/>
                <a:sym typeface="Calibri"/>
              </a:rPr>
              <a:t>Find/connect: Linkedin, GitHub, YouTube, Google</a:t>
            </a:r>
            <a:endParaRPr sz="1600" b="0" i="0" u="none" strike="noStrike" cap="none">
              <a:solidFill>
                <a:srgbClr val="000000"/>
              </a:solidFill>
              <a:latin typeface="Calibri"/>
              <a:ea typeface="Calibri"/>
              <a:cs typeface="Calibri"/>
              <a:sym typeface="Calibri"/>
            </a:endParaRPr>
          </a:p>
        </p:txBody>
      </p:sp>
      <p:pic>
        <p:nvPicPr>
          <p:cNvPr id="297" name="Google Shape;297;p34"/>
          <p:cNvPicPr preferRelativeResize="0"/>
          <p:nvPr/>
        </p:nvPicPr>
        <p:blipFill rotWithShape="1">
          <a:blip r:embed="rId4" cstate="email">
            <a:alphaModFix/>
            <a:extLst>
              <a:ext uri="{28A0092B-C50C-407E-A947-70E740481C1C}">
                <a14:useLocalDpi xmlns:a14="http://schemas.microsoft.com/office/drawing/2010/main"/>
              </a:ext>
            </a:extLst>
          </a:blip>
          <a:srcRect/>
          <a:stretch/>
        </p:blipFill>
        <p:spPr>
          <a:xfrm>
            <a:off x="1001578" y="3664175"/>
            <a:ext cx="858450" cy="311906"/>
          </a:xfrm>
          <a:prstGeom prst="rect">
            <a:avLst/>
          </a:prstGeom>
          <a:noFill/>
          <a:ln>
            <a:noFill/>
          </a:ln>
        </p:spPr>
      </p:pic>
      <p:sp>
        <p:nvSpPr>
          <p:cNvPr id="298" name="Google Shape;298;p34"/>
          <p:cNvSpPr txBox="1"/>
          <p:nvPr/>
        </p:nvSpPr>
        <p:spPr>
          <a:xfrm>
            <a:off x="735103" y="4005903"/>
            <a:ext cx="1391400" cy="4311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600"/>
              <a:buFont typeface="Arial"/>
              <a:buNone/>
            </a:pPr>
            <a:r>
              <a:rPr lang="en" sz="1600" b="0" i="0" u="sng" strike="noStrike" cap="none">
                <a:solidFill>
                  <a:schemeClr val="hlink"/>
                </a:solidFill>
                <a:latin typeface="Calibri"/>
                <a:ea typeface="Calibri"/>
                <a:cs typeface="Calibri"/>
                <a:sym typeface="Calibri"/>
                <a:hlinkClick r:id="rId5"/>
              </a:rPr>
              <a:t>https://eais.ai</a:t>
            </a:r>
            <a:r>
              <a:rPr lang="en" sz="1600" b="0" i="0" u="none" strike="noStrike" cap="none">
                <a:solidFill>
                  <a:srgbClr val="000000"/>
                </a:solidFill>
                <a:latin typeface="Calibri"/>
                <a:ea typeface="Calibri"/>
                <a:cs typeface="Calibri"/>
                <a:sym typeface="Calibri"/>
              </a:rPr>
              <a:t> </a:t>
            </a:r>
            <a:endParaRPr sz="1600" b="0" i="0" u="none" strike="noStrike" cap="none">
              <a:solidFill>
                <a:srgbClr val="000000"/>
              </a:solidFill>
              <a:latin typeface="Calibri"/>
              <a:ea typeface="Calibri"/>
              <a:cs typeface="Calibri"/>
              <a:sym typeface="Calibri"/>
            </a:endParaRPr>
          </a:p>
        </p:txBody>
      </p:sp>
      <p:sp>
        <p:nvSpPr>
          <p:cNvPr id="299" name="Google Shape;299;p34"/>
          <p:cNvSpPr txBox="1"/>
          <p:nvPr/>
        </p:nvSpPr>
        <p:spPr>
          <a:xfrm>
            <a:off x="383803" y="4360974"/>
            <a:ext cx="2094000" cy="431100"/>
          </a:xfrm>
          <a:prstGeom prst="rect">
            <a:avLst/>
          </a:prstGeom>
          <a:noFill/>
          <a:ln>
            <a:noFill/>
          </a:ln>
        </p:spPr>
        <p:txBody>
          <a:bodyPr spcFirstLastPara="1" wrap="square" lIns="91425" tIns="91425" rIns="91425" bIns="91425" anchor="t" anchorCtr="0">
            <a:spAutoFit/>
          </a:bodyPr>
          <a:lstStyle/>
          <a:p>
            <a:pPr marL="0" marR="0" lvl="0" indent="0" algn="ctr" rtl="0">
              <a:lnSpc>
                <a:spcPct val="100000"/>
              </a:lnSpc>
              <a:spcBef>
                <a:spcPts val="0"/>
              </a:spcBef>
              <a:spcAft>
                <a:spcPts val="0"/>
              </a:spcAft>
              <a:buClr>
                <a:schemeClr val="dk1"/>
              </a:buClr>
              <a:buSzPts val="1100"/>
              <a:buFont typeface="Arial"/>
              <a:buNone/>
            </a:pPr>
            <a:r>
              <a:rPr lang="en" sz="1600" b="0" i="0" u="none" strike="noStrike" cap="none">
                <a:solidFill>
                  <a:srgbClr val="000000"/>
                </a:solidFill>
                <a:latin typeface="Calibri"/>
                <a:ea typeface="Calibri"/>
                <a:cs typeface="Calibri"/>
                <a:sym typeface="Calibri"/>
              </a:rPr>
              <a:t>Enterprise AI Systems</a:t>
            </a:r>
            <a:endParaRPr sz="1600" b="0" i="0" u="none" strike="noStrike" cap="none">
              <a:solidFill>
                <a:srgbClr val="000000"/>
              </a:solidFill>
              <a:latin typeface="Calibri"/>
              <a:ea typeface="Calibri"/>
              <a:cs typeface="Calibri"/>
              <a:sym typeface="Calibri"/>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303"/>
        <p:cNvGrpSpPr/>
        <p:nvPr/>
      </p:nvGrpSpPr>
      <p:grpSpPr>
        <a:xfrm>
          <a:off x="0" y="0"/>
          <a:ext cx="0" cy="0"/>
          <a:chOff x="0" y="0"/>
          <a:chExt cx="0" cy="0"/>
        </a:xfrm>
      </p:grpSpPr>
      <p:sp>
        <p:nvSpPr>
          <p:cNvPr id="304" name="Google Shape;304;p35"/>
          <p:cNvSpPr txBox="1"/>
          <p:nvPr/>
        </p:nvSpPr>
        <p:spPr>
          <a:xfrm>
            <a:off x="2151375" y="1533150"/>
            <a:ext cx="4632600" cy="1262100"/>
          </a:xfrm>
          <a:prstGeom prst="rect">
            <a:avLst/>
          </a:prstGeom>
          <a:noFill/>
          <a:ln>
            <a:noFill/>
          </a:ln>
        </p:spPr>
        <p:txBody>
          <a:bodyPr spcFirstLastPara="1" wrap="square" lIns="91425" tIns="91425" rIns="91425" bIns="91425" anchor="t" anchorCtr="0">
            <a:spAutoFit/>
          </a:bodyPr>
          <a:lstStyle/>
          <a:p>
            <a:pPr marL="0" marR="0" lvl="0" indent="0" algn="ctr" rtl="0">
              <a:lnSpc>
                <a:spcPct val="100000"/>
              </a:lnSpc>
              <a:spcBef>
                <a:spcPts val="0"/>
              </a:spcBef>
              <a:spcAft>
                <a:spcPts val="0"/>
              </a:spcAft>
              <a:buClr>
                <a:srgbClr val="000000"/>
              </a:buClr>
              <a:buSzPts val="7000"/>
              <a:buFont typeface="Arial"/>
              <a:buNone/>
            </a:pPr>
            <a:r>
              <a:rPr lang="en" sz="7000" b="1" i="0" u="none" strike="noStrike" cap="none">
                <a:solidFill>
                  <a:srgbClr val="3C78D8"/>
                </a:solidFill>
                <a:latin typeface="Calibri"/>
                <a:ea typeface="Calibri"/>
                <a:cs typeface="Calibri"/>
                <a:sym typeface="Calibri"/>
              </a:rPr>
              <a:t>Thank You!</a:t>
            </a:r>
            <a:endParaRPr sz="7000" b="1" i="0" u="none" strike="noStrike" cap="none">
              <a:solidFill>
                <a:srgbClr val="3C78D8"/>
              </a:solidFill>
              <a:latin typeface="Calibri"/>
              <a:ea typeface="Calibri"/>
              <a:cs typeface="Calibri"/>
              <a:sym typeface="Calibri"/>
            </a:endParaRPr>
          </a:p>
        </p:txBody>
      </p:sp>
    </p:spTree>
  </p:cSld>
  <p:clrMapOvr>
    <a:masterClrMapping/>
  </p:clrMapOvr>
</p:sld>
</file>

<file path=ppt/theme/theme1.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5841</Words>
  <Application>Microsoft Macintosh PowerPoint</Application>
  <PresentationFormat>On-screen Show (16:9)</PresentationFormat>
  <Paragraphs>525</Paragraphs>
  <Slides>21</Slides>
  <Notes>21</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21</vt:i4>
      </vt:variant>
    </vt:vector>
  </HeadingPairs>
  <TitlesOfParts>
    <vt:vector size="25" baseType="lpstr">
      <vt:lpstr>Calibri</vt:lpstr>
      <vt:lpstr>Roboto Mono</vt:lpstr>
      <vt:lpstr>Arial</vt:lpstr>
      <vt:lpstr>Simple Light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Lev Selector</cp:lastModifiedBy>
  <cp:revision>1</cp:revision>
  <dcterms:modified xsi:type="dcterms:W3CDTF">2025-11-18T16:34:07Z</dcterms:modified>
</cp:coreProperties>
</file>