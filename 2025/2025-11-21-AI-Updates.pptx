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embeddedFontLst>
    <p:embeddedFont>
      <p:font typeface="Roboto Mono" pitchFamily="49"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2D2716B-BD27-4E12-BE1A-F0B640147DD5}">
  <a:tblStyle styleId="{42D2716B-BD27-4E12-BE1A-F0B640147DD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40"/>
  </p:normalViewPr>
  <p:slideViewPr>
    <p:cSldViewPr>
      <p:cViewPr varScale="1">
        <p:scale>
          <a:sx n="123" d="100"/>
          <a:sy n="123" d="100"/>
        </p:scale>
        <p:origin x="6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90fb9cbad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90fb9cbada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a499535c9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3a499535c9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a4485b69d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3a4485b69d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90d75e448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390d75e448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8655d782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8655d782a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a490030a5d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g3a490030a5d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a490030a5d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g3a490030a5d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90f9e197de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90f9e197de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390fcf762a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2" name="Google Shape;232;g390fcf762a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390f9e197de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g390f9e197de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a4b85f412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a4b85f412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8655d782a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8655d782a4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a4435a2185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g3a4435a2185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a490030a5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a490030a5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90d75e44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90d75e44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90d75e448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g390d75e4487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4" name="Google Shape;30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4" name="Google Shape;32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x.ai/news/grok-4-1" TargetMode="External"/><Relationship Id="rId26" Type="http://schemas.openxmlformats.org/officeDocument/2006/relationships/hyperlink" Target="https://www.alibabacloud.com/help/en/model-studio/models"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www.anthropic.com/news/claude-opus-4-1" TargetMode="External"/><Relationship Id="rId34" Type="http://schemas.openxmlformats.org/officeDocument/2006/relationships/hyperlink" Target="https://x.ai/news/grok-4-fast"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aistudio.google.com/app/prompts/new_chat?model=gemini-3-pro-preview" TargetMode="External"/><Relationship Id="rId25" Type="http://schemas.openxmlformats.org/officeDocument/2006/relationships/hyperlink" Target="https://openai.com/index/introducing-o3-and-o4-mini/" TargetMode="External"/><Relationship Id="rId33" Type="http://schemas.openxmlformats.org/officeDocument/2006/relationships/hyperlink" Target="https://huggingface.co/Qwen/Qwen3-235B-A22B-Instruct-2507"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sonnet-4-5" TargetMode="External"/><Relationship Id="rId29" Type="http://schemas.openxmlformats.org/officeDocument/2006/relationships/hyperlink" Target="https://platform.openai.com/docs/models/gpt-5-chat-late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platform.openai.com/docs/models/gpt-5" TargetMode="External"/><Relationship Id="rId32" Type="http://schemas.openxmlformats.org/officeDocument/2006/relationships/hyperlink" Target="https://api-docs.deepseek.com/news/news250929" TargetMode="External"/><Relationship Id="rId37" Type="http://schemas.openxmlformats.org/officeDocument/2006/relationships/hyperlink" Target="https://huggingface.co/moonshotai/Kimi-K2-Instruct-0905" TargetMode="External"/><Relationship Id="rId40" Type="http://schemas.openxmlformats.org/officeDocument/2006/relationships/hyperlink" Target="https://qwen.ai/blog?id=99f0335c4ad9ff6153e517418d48535ab6d8afef&amp;from=research.latest-advancements-lis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x.com/OpenAI/status/1905331956856050135" TargetMode="External"/><Relationship Id="rId28" Type="http://schemas.openxmlformats.org/officeDocument/2006/relationships/hyperlink" Target="https://docs.z.ai/guides/llm/glm-4.6" TargetMode="External"/><Relationship Id="rId36" Type="http://schemas.openxmlformats.org/officeDocument/2006/relationships/hyperlink" Target="https://api-docs.deepseek.com/news/news250528"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2.5-pro" TargetMode="External"/><Relationship Id="rId31" Type="http://schemas.openxmlformats.org/officeDocument/2006/relationships/hyperlink" Target="https://www.anthropic.com/news/claude-4"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openai.com/index/introducing-gpt-4-5/" TargetMode="External"/><Relationship Id="rId27" Type="http://schemas.openxmlformats.org/officeDocument/2006/relationships/hyperlink" Target="https://huggingface.co/moonshotai/Kimi-K2-Thinking" TargetMode="External"/><Relationship Id="rId30" Type="http://schemas.openxmlformats.org/officeDocument/2006/relationships/hyperlink" Target="https://qwen.ai/blog?id=241398b9cd6353de490b0f82806c7848c5d2777d&amp;from=research.latest-advancements-list" TargetMode="External"/><Relationship Id="rId35" Type="http://schemas.openxmlformats.org/officeDocument/2006/relationships/hyperlink" Target="https://ernie.baidu.com/blog/posts/ernie-5.0-preview-1022-release-on-lmarena/"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deepmind.google/models/gemini/" TargetMode="External"/><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W8HeSP_JJQc" TargetMode="External"/><Relationship Id="rId5" Type="http://schemas.openxmlformats.org/officeDocument/2006/relationships/hyperlink" Target="https://www.youtube.com/watch?v=96qyyz_ZJ_U" TargetMode="External"/><Relationship Id="rId10" Type="http://schemas.openxmlformats.org/officeDocument/2006/relationships/hyperlink" Target="https://www.youtube.com/@googleantigravity" TargetMode="External"/><Relationship Id="rId4" Type="http://schemas.openxmlformats.org/officeDocument/2006/relationships/hyperlink" Target="https://www.youtube.com/@googledeepmind" TargetMode="External"/><Relationship Id="rId9" Type="http://schemas.openxmlformats.org/officeDocument/2006/relationships/hyperlink" Target="https://antigravity.google/"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Z5ulfaRTI1s" TargetMode="External"/><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x.ai/news/grok-4-1" TargetMode="External"/><Relationship Id="rId4" Type="http://schemas.openxmlformats.org/officeDocument/2006/relationships/hyperlink" Target="https://www.youtube.com/watch?v=wIR6tRlxgp4"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OA02eRm11JU"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KeXmXYAaUU4"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hyperlink" Target="https://www.everydev.ai/tools/serena" TargetMode="External"/><Relationship Id="rId4" Type="http://schemas.openxmlformats.org/officeDocument/2006/relationships/hyperlink" Target="https://github.com/oraios/serena"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deepmind.google/blog/sima-2-an-agent-that-plays-reasons-and-learns-with-you-in-virtual-3d-world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UACj1WqXU2Q"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hyperlink" Target="https://assets.anthropic.com/m/ec212e6566a0d47/original/Disrupting-the-first-reported-AI-orchestrated-cyber-espionage-campaign.pdf" TargetMode="External"/><Relationship Id="rId4" Type="http://schemas.openxmlformats.org/officeDocument/2006/relationships/hyperlink" Target="https://sites.google.com/view/workspace-flows/about"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x.com/CalumWorthy/status/1988283207138324487"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app.therundown.ai/guides/use-claude-to-organize-your-business-finances" TargetMode="External"/><Relationship Id="rId5" Type="http://schemas.openxmlformats.org/officeDocument/2006/relationships/image" Target="../media/image11.png"/><Relationship Id="rId4" Type="http://schemas.openxmlformats.org/officeDocument/2006/relationships/hyperlink" Target="https://www.2wai.ai"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linkedin.com/in/drvikbajaj/"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hyperlink" Target="https://one.google.com/ai" TargetMode="External"/><Relationship Id="rId4" Type="http://schemas.openxmlformats.org/officeDocument/2006/relationships/image" Target="../media/image12.jpeg"/></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8K_V2oTUXtc"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hyperlink" Target="https://latentspacecraft.com/posts/mlx-protein-folding" TargetMode="Externa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hyperlink" Target="http://make.co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hyperlink" Target="https://developers.google.com/opal" TargetMode="External"/><Relationship Id="rId4" Type="http://schemas.openxmlformats.org/officeDocument/2006/relationships/hyperlink" Target="https://developers.googleblog.com/en/introducing-opal/"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iX2sdEM28RQ"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hyperlink" Target="https://www.readkidz.com"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lfnJXlgpJT0"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python.plainenglish.io/9-python-data-science-libraries-that-made-me-look-like-a-senior-analyst-overnight-367b8bee00d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W2tr1Q3D1ZI"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marble.worldlabs.ai"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hyperlink" Target="https://www.lennysnewsletter.com" TargetMode="Externa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Nos1pigdUaU" TargetMode="External"/><Relationship Id="rId7" Type="http://schemas.openxmlformats.org/officeDocument/2006/relationships/image" Target="../media/image23.jpe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hyperlink" Target="https://www.youtube.com/watch?v=amAYKfRL8FI" TargetMode="Externa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hyperlink" Target="https://trueup.io/layoffs"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3 &amp;  Google Antigravity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Grok 4.1</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 photonic quantum chip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30 Bln deals with Microsoft &amp; NVIDIA</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a:t>
            </a:r>
            <a:r>
              <a:rPr lang="en" sz="2200" b="1">
                <a:solidFill>
                  <a:srgbClr val="3C78D8"/>
                </a:solidFill>
                <a:latin typeface="Calibri"/>
                <a:ea typeface="Calibri"/>
                <a:cs typeface="Calibri"/>
                <a:sym typeface="Calibri"/>
              </a:rPr>
              <a:t>21,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3917439"/>
            <a:ext cx="45024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Gino Wickman Interviewed by Joe Polish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Agency - How to Survive the AI Bubble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10 Metatrends That Will Define Your Future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201830"/>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Serena open-source AI coding toolkit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DeepMind SIMA 2 Research Preview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Disrupting AI Cyber Espionage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"Flows" no-code AI automation in G. Workspace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U.S. must back open-source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2wai - creates interactive avatars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Makes Financial Dashboards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Cerebras MiniMax-M2-REAP-162B-A10B</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FutureHouse Kosmos AI Scientist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Jeff Bezos Project Prometheus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AI Ultra $250/mo</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2235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Google's Gemini CLI updates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AlphaFold on your Mac using MLX Framework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WeatherNext 2 Forecasting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Opal for Automation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ReadKidz - create books and videos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TOON = Token-Oriented Object Notation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9 Data Science Libraries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Yann LeCun is Leaving Meta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Dr. Fei-Fei Li    Interview</a:t>
            </a:r>
            <a:endParaRPr sz="1600" b="1">
              <a:solidFill>
                <a:srgbClr val="3C78D8"/>
              </a:solidFill>
              <a:latin typeface="Calibri"/>
              <a:ea typeface="Calibri"/>
              <a:cs typeface="Calibri"/>
              <a:sym typeface="Calibri"/>
            </a:endParaRPr>
          </a:p>
        </p:txBody>
      </p:sp>
      <p:sp>
        <p:nvSpPr>
          <p:cNvPr id="68" name="Google Shape;68;p15"/>
          <p:cNvSpPr txBox="1"/>
          <p:nvPr/>
        </p:nvSpPr>
        <p:spPr>
          <a:xfrm>
            <a:off x="4832825" y="44155"/>
            <a:ext cx="42465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We Won't Need Humans </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in The Next 10 Years - Emad Mostaque</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3936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595896" y="38436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3293902"/>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594761" y="203455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5461" y="149485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3754343" y="456615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54696" y="492362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a:off x="3447377" y="345611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1" name="Google Shape;91;p16"/>
          <p:cNvSpPr/>
          <p:nvPr/>
        </p:nvSpPr>
        <p:spPr>
          <a:xfrm>
            <a:off x="3747834" y="346740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txBox="1"/>
          <p:nvPr/>
        </p:nvSpPr>
        <p:spPr>
          <a:xfrm>
            <a:off x="437942" y="366084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3" name="Google Shape;93;p16"/>
          <p:cNvSpPr txBox="1"/>
          <p:nvPr/>
        </p:nvSpPr>
        <p:spPr>
          <a:xfrm>
            <a:off x="3448497" y="31044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4" name="Google Shape;94;p16"/>
          <p:cNvSpPr/>
          <p:nvPr/>
        </p:nvSpPr>
        <p:spPr>
          <a:xfrm>
            <a:off x="3748954" y="31157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a:off x="3587049" y="274565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6" name="Google Shape;96;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7" name="Google Shape;97;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flipH="1">
            <a:off x="539953" y="437966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9" name="Google Shape;99;p16"/>
          <p:cNvSpPr txBox="1"/>
          <p:nvPr/>
        </p:nvSpPr>
        <p:spPr>
          <a:xfrm>
            <a:off x="358481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0" name="Google Shape;100;p16"/>
          <p:cNvSpPr/>
          <p:nvPr/>
        </p:nvSpPr>
        <p:spPr>
          <a:xfrm>
            <a:off x="596204" y="166680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59443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3" name="Google Shape;103;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5" name="Google Shape;105;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7" name="Google Shape;107;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txBox="1"/>
          <p:nvPr/>
        </p:nvSpPr>
        <p:spPr>
          <a:xfrm>
            <a:off x="446720" y="29293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p:nvPr/>
        </p:nvSpPr>
        <p:spPr>
          <a:xfrm>
            <a:off x="3751768" y="401652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txBox="1"/>
          <p:nvPr/>
        </p:nvSpPr>
        <p:spPr>
          <a:xfrm>
            <a:off x="3458789" y="418851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3" name="Google Shape;113;p16"/>
          <p:cNvSpPr/>
          <p:nvPr/>
        </p:nvSpPr>
        <p:spPr>
          <a:xfrm>
            <a:off x="3749658" y="419690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9</a:t>
            </a:r>
            <a:endParaRPr sz="1000">
              <a:solidFill>
                <a:schemeClr val="dk1"/>
              </a:solidFill>
              <a:latin typeface="Calibri"/>
              <a:ea typeface="Calibri"/>
              <a:cs typeface="Calibri"/>
              <a:sym typeface="Calibri"/>
            </a:endParaRPr>
          </a:p>
        </p:txBody>
      </p:sp>
      <p:sp>
        <p:nvSpPr>
          <p:cNvPr id="115" name="Google Shape;115;p16"/>
          <p:cNvSpPr/>
          <p:nvPr/>
        </p:nvSpPr>
        <p:spPr>
          <a:xfrm>
            <a:off x="3751782" y="365599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txBox="1"/>
          <p:nvPr/>
        </p:nvSpPr>
        <p:spPr>
          <a:xfrm>
            <a:off x="3448497" y="2919701"/>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7" name="Google Shape;117;p16"/>
          <p:cNvSpPr/>
          <p:nvPr/>
        </p:nvSpPr>
        <p:spPr>
          <a:xfrm>
            <a:off x="3748954" y="293099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3750579" y="18480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txBox="1"/>
          <p:nvPr/>
        </p:nvSpPr>
        <p:spPr>
          <a:xfrm>
            <a:off x="3441159" y="220066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0" name="Google Shape;120;p16"/>
          <p:cNvSpPr/>
          <p:nvPr/>
        </p:nvSpPr>
        <p:spPr>
          <a:xfrm>
            <a:off x="3741616" y="22043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3458789" y="47521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3749658" y="47605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3" name="Google Shape;123;p16"/>
          <p:cNvGraphicFramePr/>
          <p:nvPr/>
        </p:nvGraphicFramePr>
        <p:xfrm>
          <a:off x="736838" y="562593"/>
          <a:ext cx="3000000" cy="3000000"/>
        </p:xfrm>
        <a:graphic>
          <a:graphicData uri="http://schemas.openxmlformats.org/drawingml/2006/table">
            <a:tbl>
              <a:tblPr>
                <a:noFill/>
                <a:tableStyleId>{42D2716B-BD27-4E12-BE1A-F0B640147DD5}</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291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5"/>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6"/>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7"/>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8"/>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19"/>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0"/>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1"/>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ernie-5.0-preview-1022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2"/>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3"/>
                  </a:ext>
                </a:extLst>
              </a:tr>
              <a:tr h="1291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chemeClr val="lt1"/>
                    </a:solidFill>
                  </a:tcPr>
                </a:tc>
                <a:extLst>
                  <a:ext uri="{0D108BD9-81ED-4DB2-BD59-A6C34878D82A}">
                    <a16:rowId xmlns:a16="http://schemas.microsoft.com/office/drawing/2014/main" val="10024"/>
                  </a:ext>
                </a:extLst>
              </a:tr>
            </a:tbl>
          </a:graphicData>
        </a:graphic>
      </p:graphicFrame>
      <p:graphicFrame>
        <p:nvGraphicFramePr>
          <p:cNvPr id="124" name="Google Shape;124;p16"/>
          <p:cNvGraphicFramePr/>
          <p:nvPr/>
        </p:nvGraphicFramePr>
        <p:xfrm>
          <a:off x="3878600" y="549725"/>
          <a:ext cx="3000000" cy="3000000"/>
        </p:xfrm>
        <a:graphic>
          <a:graphicData uri="http://schemas.openxmlformats.org/drawingml/2006/table">
            <a:tbl>
              <a:tblPr>
                <a:noFill/>
                <a:tableStyleId>{42D2716B-BD27-4E12-BE1A-F0B640147DD5}</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656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65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25" name="Google Shape;125;p16"/>
          <p:cNvSpPr/>
          <p:nvPr/>
        </p:nvSpPr>
        <p:spPr>
          <a:xfrm>
            <a:off x="3748357" y="765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txBox="1"/>
          <p:nvPr/>
        </p:nvSpPr>
        <p:spPr>
          <a:xfrm flipH="1">
            <a:off x="3679393" y="129356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27" name="Google Shape;127;p16"/>
          <p:cNvSpPr txBox="1"/>
          <p:nvPr/>
        </p:nvSpPr>
        <p:spPr>
          <a:xfrm flipH="1">
            <a:off x="3679393" y="14688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28" name="Google Shape;128;p16"/>
          <p:cNvSpPr/>
          <p:nvPr/>
        </p:nvSpPr>
        <p:spPr>
          <a:xfrm>
            <a:off x="3750579" y="1665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750579" y="20233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0579" y="25719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458789" y="437139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749658" y="437978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txBox="1"/>
          <p:nvPr/>
        </p:nvSpPr>
        <p:spPr>
          <a:xfrm>
            <a:off x="296748" y="402112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4" name="Google Shape;134;p16"/>
          <p:cNvSpPr/>
          <p:nvPr/>
        </p:nvSpPr>
        <p:spPr>
          <a:xfrm>
            <a:off x="596014" y="402837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598073" y="13068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flipH="1">
            <a:off x="532333"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37" name="Google Shape;137;p16"/>
          <p:cNvSpPr txBox="1"/>
          <p:nvPr/>
        </p:nvSpPr>
        <p:spPr>
          <a:xfrm flipH="1">
            <a:off x="532333" y="111830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38" name="Google Shape;138;p16"/>
          <p:cNvSpPr/>
          <p:nvPr/>
        </p:nvSpPr>
        <p:spPr>
          <a:xfrm>
            <a:off x="596204" y="184968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596204" y="222306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p:nvPr/>
        </p:nvSpPr>
        <p:spPr>
          <a:xfrm>
            <a:off x="594433" y="257727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txBox="1"/>
          <p:nvPr/>
        </p:nvSpPr>
        <p:spPr>
          <a:xfrm>
            <a:off x="300894" y="31108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2" name="Google Shape;142;p16"/>
          <p:cNvSpPr/>
          <p:nvPr/>
        </p:nvSpPr>
        <p:spPr>
          <a:xfrm>
            <a:off x="600160" y="311814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16"/>
          <p:cNvSpPr/>
          <p:nvPr/>
        </p:nvSpPr>
        <p:spPr>
          <a:xfrm>
            <a:off x="594433" y="34764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7"/>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3</a:t>
            </a:r>
            <a:endParaRPr sz="2000" b="1" i="0" u="none" strike="noStrike" cap="none">
              <a:solidFill>
                <a:schemeClr val="dk1"/>
              </a:solidFill>
              <a:latin typeface="Calibri"/>
              <a:ea typeface="Calibri"/>
              <a:cs typeface="Calibri"/>
              <a:sym typeface="Calibri"/>
            </a:endParaRPr>
          </a:p>
        </p:txBody>
      </p:sp>
      <p:sp>
        <p:nvSpPr>
          <p:cNvPr id="149" name="Google Shape;149;p17"/>
          <p:cNvSpPr txBox="1"/>
          <p:nvPr/>
        </p:nvSpPr>
        <p:spPr>
          <a:xfrm>
            <a:off x="55075" y="443275"/>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Gemini 3 released November 17</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https://deepmind.google/models/gemini/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https://www.youtube.com/@googledeepmind</a:t>
            </a:r>
            <a:r>
              <a:rPr lang="en" sz="1100">
                <a:solidFill>
                  <a:schemeClr val="dk1"/>
                </a:solidFill>
                <a:latin typeface="Calibri"/>
                <a:ea typeface="Calibri"/>
                <a:cs typeface="Calibri"/>
                <a:sym typeface="Calibri"/>
              </a:rPr>
              <a:t>  - many videos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https://www.youtube.com/watch?v=96qyyz_ZJ_U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https://www.youtube.com/watch?v=W8HeSP_JJQc</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tops the LMArena leaderboard with a score of 1501, dethroning Grok-4.1 which had held the position for less than 24 hours. It ranks first across all categories (text, web dev, vision, coding, math, creative writing, and instruction following)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Multimodal processing - natively handling text, images, video, audio, and code simultaneously rather than processing them separately. The model achieves PhD-level reasoning with 91.9% on GPQA Diamond and 37.5% on Humanity's Last Exam without tools. For multimodal tasks, it scores 81% on MMMU-Pro and 87.6% on Video-MMMU, along with 72.1% on SimpleQA Verified for factual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Gemini 3 Deep Think</a:t>
            </a:r>
            <a:r>
              <a:rPr lang="en" sz="1100">
                <a:solidFill>
                  <a:schemeClr val="dk1"/>
                </a:solidFill>
                <a:latin typeface="Calibri"/>
                <a:ea typeface="Calibri"/>
                <a:cs typeface="Calibri"/>
                <a:sym typeface="Calibri"/>
              </a:rPr>
              <a:t> mode offers enhanced reasoning for complex problems, achieving very high scores on Humanity's Last Exam, GPQA Diamond, and ARC-AGI-2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includes improved spatial reasoning for embodied tasks like pointing and trajectory prediction, unlocking applications in autonomous vehicles, XR devices, and robotics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 Mln context window, 64K tokens output, knowledge cutoff Jan 2025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is available through Google Search, the Gemini app, AI Studio, Vertex AI, and developer tools including Cursor, GitHub, JetBrains, and Cline. Pro and Ultra subscribers in the US can access it now, with Deep Think mode rolling out to Ultra subscribers in the coming weeks</a:t>
            </a:r>
            <a:endParaRPr sz="1100">
              <a:solidFill>
                <a:schemeClr val="dk1"/>
              </a:solidFill>
              <a:latin typeface="Calibri"/>
              <a:ea typeface="Calibri"/>
              <a:cs typeface="Calibri"/>
              <a:sym typeface="Calibri"/>
            </a:endParaRPr>
          </a:p>
        </p:txBody>
      </p:sp>
      <p:pic>
        <p:nvPicPr>
          <p:cNvPr id="150" name="Google Shape;150;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51775" y="452164"/>
            <a:ext cx="2119551" cy="1303125"/>
          </a:xfrm>
          <a:prstGeom prst="rect">
            <a:avLst/>
          </a:prstGeom>
          <a:noFill/>
          <a:ln w="9525" cap="flat" cmpd="sng">
            <a:solidFill>
              <a:srgbClr val="FF0000"/>
            </a:solidFill>
            <a:prstDash val="solid"/>
            <a:round/>
            <a:headEnd type="none" w="sm" len="sm"/>
            <a:tailEnd type="none" w="sm" len="sm"/>
          </a:ln>
        </p:spPr>
      </p:pic>
      <p:pic>
        <p:nvPicPr>
          <p:cNvPr id="151" name="Google Shape;151;p1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897585" y="452164"/>
            <a:ext cx="2119550" cy="1286021"/>
          </a:xfrm>
          <a:prstGeom prst="rect">
            <a:avLst/>
          </a:prstGeom>
          <a:noFill/>
          <a:ln w="9525" cap="flat" cmpd="sng">
            <a:solidFill>
              <a:srgbClr val="FF0000"/>
            </a:solidFill>
            <a:prstDash val="solid"/>
            <a:round/>
            <a:headEnd type="none" w="sm" len="sm"/>
            <a:tailEnd type="none" w="sm" len="sm"/>
          </a:ln>
        </p:spPr>
      </p:pic>
      <p:sp>
        <p:nvSpPr>
          <p:cNvPr id="152" name="Google Shape;152;p17"/>
          <p:cNvSpPr txBox="1"/>
          <p:nvPr/>
        </p:nvSpPr>
        <p:spPr>
          <a:xfrm>
            <a:off x="4651775" y="1816543"/>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Antigravity - Google's new agentic development platform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Task-oriented, autonomous software development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Uses Gemini 3's advanced reasoning, tool use, and agentic coding capabilities to function as an active development partner rather than just an assistance tool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features agents with dedicated access to the editor, terminal, and browser, allowing them to autonomously plan and execute complex end-to-end software tasks while validating their own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Developers act as architects </a:t>
            </a:r>
            <a:r>
              <a:rPr lang="en" sz="1100">
                <a:solidFill>
                  <a:schemeClr val="dk1"/>
                </a:solidFill>
                <a:latin typeface="Calibri"/>
                <a:ea typeface="Calibri"/>
                <a:cs typeface="Calibri"/>
                <a:sym typeface="Calibri"/>
              </a:rPr>
              <a:t>collaborating with intelligent agents that handle building features, UI iteration, bug fixes, research, and report generation.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Antigravity comes bundled with </a:t>
            </a:r>
            <a:r>
              <a:rPr lang="en" sz="1100" b="1">
                <a:solidFill>
                  <a:srgbClr val="3C78D8"/>
                </a:solidFill>
                <a:latin typeface="Calibri"/>
                <a:ea typeface="Calibri"/>
                <a:cs typeface="Calibri"/>
                <a:sym typeface="Calibri"/>
              </a:rPr>
              <a:t>Gemini 3 Pro, Gemini 2.5 Computer Use model for browser control, and Nano Banana (Gemini 2.5 Image) for image editing</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Public preview is available for free download on macOS, Windows, and Linux</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9"/>
              </a:rPr>
              <a:t>https://antigravity.google/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10"/>
              </a:rPr>
              <a:t>https://www.youtube.com/@googleantigravity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txBox="1"/>
          <p:nvPr/>
        </p:nvSpPr>
        <p:spPr>
          <a:xfrm>
            <a:off x="55075" y="20375"/>
            <a:ext cx="127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4.1</a:t>
            </a:r>
            <a:endParaRPr sz="2000" b="1" i="0" u="none" strike="noStrike" cap="none">
              <a:solidFill>
                <a:schemeClr val="dk1"/>
              </a:solidFill>
              <a:latin typeface="Calibri"/>
              <a:ea typeface="Calibri"/>
              <a:cs typeface="Calibri"/>
              <a:sym typeface="Calibri"/>
            </a:endParaRPr>
          </a:p>
        </p:txBody>
      </p:sp>
      <p:sp>
        <p:nvSpPr>
          <p:cNvPr id="158" name="Google Shape;158;p18"/>
          <p:cNvSpPr txBox="1"/>
          <p:nvPr/>
        </p:nvSpPr>
        <p:spPr>
          <a:xfrm>
            <a:off x="55075" y="443275"/>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Grok 4.1 claimed the #1 position on the LM Arena leaderboard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surpassing Google's Gemini 2.5 Pro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Released on November 17, 2025 (was silently rolled out for 2 weeks)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Achieves exceptional rankings across multiple benchmarks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Reduced hallucination (via massive RL compute - hallucination rate dropped from 12.09% to 4.22%)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xAI developed new methods using "frontier agentic reasoning models as reward models to autonomously evaluate and iterate on responses at scale". This represents AI-judged reinforcement learning (RLHF's AI equivalent) where one model evaluates another's subjective outputs like poetry or emotional responses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Better creative writing, richer storytelling, stronger coherence, and more vivid prose compared to previous versions. Response quality is more concise and focused, eliminating the verbose "blabber"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Native multimodal generation, automatically outputting images, tables, and structured content as part of natural conversations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Good coding abilities, but still lags behind Claude Sonnet 3.5 and GPT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successfully solved complex logical reasoning puzzles, including the "Three Gods" riddle requiring self-referential questions and deduction through uncertainty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 4.1 is available to all users, including free tier accounts, through grok.com and mobile apps for iOS and Android. Free users receive 10 requests per 2 hours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https://www.youtube.com/watch?v=Z5ulfaRTI1s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https://www.youtube.com/watch?v=wIR6tRlxgp4</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https://x.ai/news/grok-4-1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59" name="Google Shape;15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65900" y="780725"/>
            <a:ext cx="2583975" cy="1519225"/>
          </a:xfrm>
          <a:prstGeom prst="rect">
            <a:avLst/>
          </a:prstGeom>
          <a:noFill/>
          <a:ln w="9525" cap="flat" cmpd="sng">
            <a:solidFill>
              <a:srgbClr val="FF0000"/>
            </a:solidFill>
            <a:prstDash val="solid"/>
            <a:round/>
            <a:headEnd type="none" w="sm" len="sm"/>
            <a:tailEnd type="none" w="sm" len="sm"/>
          </a:ln>
        </p:spPr>
      </p:pic>
      <p:pic>
        <p:nvPicPr>
          <p:cNvPr id="160" name="Google Shape;160;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65900" y="2398950"/>
            <a:ext cx="870152" cy="975625"/>
          </a:xfrm>
          <a:prstGeom prst="rect">
            <a:avLst/>
          </a:prstGeom>
          <a:noFill/>
          <a:ln w="9525" cap="flat" cmpd="sng">
            <a:solidFill>
              <a:srgbClr val="FF0000"/>
            </a:solidFill>
            <a:prstDash val="solid"/>
            <a:round/>
            <a:headEnd type="none" w="sm" len="sm"/>
            <a:tailEnd type="none" w="sm" len="sm"/>
          </a:ln>
        </p:spPr>
      </p:pic>
      <p:sp>
        <p:nvSpPr>
          <p:cNvPr id="161" name="Google Shape;161;p18"/>
          <p:cNvSpPr txBox="1"/>
          <p:nvPr/>
        </p:nvSpPr>
        <p:spPr>
          <a:xfrm>
            <a:off x="4665900" y="3473575"/>
            <a:ext cx="43476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Grok-5 release is planned for Q1 2026. 6 Trillion params, double the size of Grok-4 3 Trillion params. The model will be inherently multimodal (text, pictures, video, audio), feature superior tool creation and use capabilities, and include real-time video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Plan - Encyclopedia Galactica Project - open-source repository of all human knowledge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Plan - Space-Based AI Infrastructure - solar-powered AI satellites in orbit (similar to Google's Project Suncatcher).</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1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67" name="Google Shape;167;p19"/>
          <p:cNvSpPr txBox="1"/>
          <p:nvPr/>
        </p:nvSpPr>
        <p:spPr>
          <a:xfrm>
            <a:off x="55075" y="443276"/>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 photonic quantum chip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https://www.youtube.com/watch?v=OA02eRm11JU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Claims 1000x speed boost over NVIDIA GPUs for specific AI jobs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was developed jointly by CHIPX (Chip Hub for Integrated Photonics Xplore), a Wuxi-based institute affiliated with Shanghai Jiao Tong University, and Turing Quantum, a Shanghai-based startup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uses photons (light) as information carriers rather than electrical signals; has 1K+ optical components in a single 6-inch thin-film lithium niobate wafer using a monolithic design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Electronic and photonic components on the same wafer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CHIPX has established China's first pilot production line for 12K wafers per year. Each wafer yielding approximately 350 chips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chip is already being used across aerospace, biomedicine, and finance sectors, providing computational capabilities that exceed classical computer limits for specific problem types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developers describe this as the 1st  "industrial-grade" optical quantum chip, indicating a shift from laboratory prototypes to production-ready data center hardware</a:t>
            </a:r>
            <a:endParaRPr sz="1100">
              <a:solidFill>
                <a:schemeClr val="dk1"/>
              </a:solidFill>
              <a:latin typeface="Calibri"/>
              <a:ea typeface="Calibri"/>
              <a:cs typeface="Calibri"/>
              <a:sym typeface="Calibri"/>
            </a:endParaRPr>
          </a:p>
        </p:txBody>
      </p:sp>
      <p:sp>
        <p:nvSpPr>
          <p:cNvPr id="168" name="Google Shape;168;p19"/>
          <p:cNvSpPr txBox="1"/>
          <p:nvPr/>
        </p:nvSpPr>
        <p:spPr>
          <a:xfrm>
            <a:off x="55075" y="3605776"/>
            <a:ext cx="4444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30 Bln deals with Microsoft &amp; NVIDIA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committed to $30 Bln in compute spend on Azure and NVIDIA GPUs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and NVIDIA will invest up to $5 Bln and $10 Bln, respectively, in Anthropic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deal integrates Anthropic's Claude models into Azure and Microsoft products, providing customers with increased AI model choice.</a:t>
            </a:r>
            <a:endParaRPr sz="1100">
              <a:solidFill>
                <a:schemeClr val="dk1"/>
              </a:solidFill>
              <a:latin typeface="Calibri"/>
              <a:ea typeface="Calibri"/>
              <a:cs typeface="Calibri"/>
              <a:sym typeface="Calibri"/>
            </a:endParaRPr>
          </a:p>
        </p:txBody>
      </p:sp>
      <p:pic>
        <p:nvPicPr>
          <p:cNvPr id="169" name="Google Shape;169;p19"/>
          <p:cNvPicPr preferRelativeResize="0"/>
          <p:nvPr/>
        </p:nvPicPr>
        <p:blipFill>
          <a:blip r:embed="rId4">
            <a:alphaModFix/>
          </a:blip>
          <a:stretch>
            <a:fillRect/>
          </a:stretch>
        </p:blipFill>
        <p:spPr>
          <a:xfrm>
            <a:off x="4651975" y="3509275"/>
            <a:ext cx="2847975" cy="1600200"/>
          </a:xfrm>
          <a:prstGeom prst="rect">
            <a:avLst/>
          </a:prstGeom>
          <a:noFill/>
          <a:ln w="9525" cap="flat" cmpd="sng">
            <a:solidFill>
              <a:srgbClr val="FF0000"/>
            </a:solidFill>
            <a:prstDash val="solid"/>
            <a:round/>
            <a:headEnd type="none" w="sm" len="sm"/>
            <a:tailEnd type="none" w="sm" len="sm"/>
          </a:ln>
        </p:spPr>
      </p:pic>
      <p:pic>
        <p:nvPicPr>
          <p:cNvPr id="170" name="Google Shape;170;p19"/>
          <p:cNvPicPr preferRelativeResize="0"/>
          <p:nvPr/>
        </p:nvPicPr>
        <p:blipFill>
          <a:blip r:embed="rId5">
            <a:alphaModFix/>
          </a:blip>
          <a:stretch>
            <a:fillRect/>
          </a:stretch>
        </p:blipFill>
        <p:spPr>
          <a:xfrm>
            <a:off x="4628163" y="854900"/>
            <a:ext cx="2895600" cy="1581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5.64K subscribers, 253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6" name="Google Shape;176;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31375" y="93500"/>
            <a:ext cx="3819898" cy="49564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Serena open-source AI coding toolkit</a:t>
            </a:r>
            <a:endParaRPr sz="2000" b="1" i="0" u="none" strike="noStrike" cap="none">
              <a:solidFill>
                <a:schemeClr val="dk1"/>
              </a:solidFill>
              <a:latin typeface="Calibri"/>
              <a:ea typeface="Calibri"/>
              <a:cs typeface="Calibri"/>
              <a:sym typeface="Calibri"/>
            </a:endParaRPr>
          </a:p>
        </p:txBody>
      </p:sp>
      <p:sp>
        <p:nvSpPr>
          <p:cNvPr id="182" name="Google Shape;182;p21"/>
          <p:cNvSpPr txBox="1"/>
          <p:nvPr/>
        </p:nvSpPr>
        <p:spPr>
          <a:xfrm>
            <a:off x="55075" y="443275"/>
            <a:ext cx="49857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Serena open-source AI coding toolkit</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https://www.youtube.com/watch?v=KeXmXYAaUU4</a:t>
            </a:r>
            <a:r>
              <a:rPr lang="en" sz="1100">
                <a:solidFill>
                  <a:schemeClr val="dk1"/>
                </a:solidFill>
                <a:latin typeface="Calibri"/>
                <a:ea typeface="Calibri"/>
                <a:cs typeface="Calibri"/>
                <a:sym typeface="Calibri"/>
              </a:rPr>
              <a:t> - video demo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https://github.com/oraios/serena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https://www.everydev.ai/tools/serena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transforms LLMs and coding agents from basic code generators into sophisticated assistants with IDE-grade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scanning entire files or performing simple text searches, Serena enables AI agents to use code-centric tools like finding symbols, locating references, and making context-aware edits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leverages the Language Server Protocol (LSP) to provide semantic analysis across 30+ programming languages including Python, JavaScript, and many others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spec-driven frameworks such as BMAD, SpecKit, and OpenSpec - which focus on planning and structuring tasks - Serena specializes in providing semantic code 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While those tools help agents plan workflows, Serena gives agents the ability to understand code symbols, navigate real codebases, and make precise edits with IDE-grade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complements spec-driven frameworks by handling the actual code editing portion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Serena works through the MCP server and integrates with multiple platforms including Claude Desktop, VSCode, Cursor, IDEs, and extensions like Cline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install it locally using UV and Git, through Docker (experimental), or most easily via MCP server configuration. The video demonstrates it working with Cilo Code (Kilo Code), where the agent successfully performed semantic searches across a large codebase and added methods to application classes efficiently</a:t>
            </a:r>
            <a:endParaRPr sz="1100">
              <a:solidFill>
                <a:schemeClr val="dk1"/>
              </a:solidFill>
              <a:latin typeface="Calibri"/>
              <a:ea typeface="Calibri"/>
              <a:cs typeface="Calibri"/>
              <a:sym typeface="Calibri"/>
            </a:endParaRPr>
          </a:p>
        </p:txBody>
      </p:sp>
      <p:pic>
        <p:nvPicPr>
          <p:cNvPr id="183" name="Google Shape;183;p21"/>
          <p:cNvPicPr preferRelativeResize="0"/>
          <p:nvPr/>
        </p:nvPicPr>
        <p:blipFill>
          <a:blip r:embed="rId6">
            <a:alphaModFix/>
          </a:blip>
          <a:stretch>
            <a:fillRect/>
          </a:stretch>
        </p:blipFill>
        <p:spPr>
          <a:xfrm>
            <a:off x="5357425" y="443275"/>
            <a:ext cx="2562225" cy="942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DeepMind SIMA 2 Research Preview</a:t>
            </a:r>
            <a:endParaRPr sz="2000" b="1" i="0" u="none" strike="noStrike" cap="none">
              <a:solidFill>
                <a:schemeClr val="dk1"/>
              </a:solidFill>
              <a:latin typeface="Calibri"/>
              <a:ea typeface="Calibri"/>
              <a:cs typeface="Calibri"/>
              <a:sym typeface="Calibri"/>
            </a:endParaRPr>
          </a:p>
        </p:txBody>
      </p:sp>
      <p:sp>
        <p:nvSpPr>
          <p:cNvPr id="189" name="Google Shape;189;p22"/>
          <p:cNvSpPr txBox="1"/>
          <p:nvPr/>
        </p:nvSpPr>
        <p:spPr>
          <a:xfrm>
            <a:off x="55075" y="403426"/>
            <a:ext cx="4444500" cy="405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DeepMind SIMA 2 Research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SIMA 2 is a AI agent that plays video games </a:t>
            </a:r>
            <a:r>
              <a:rPr lang="en" sz="1100">
                <a:solidFill>
                  <a:schemeClr val="dk1"/>
                </a:solidFill>
                <a:latin typeface="Calibri"/>
                <a:ea typeface="Calibri"/>
                <a:cs typeface="Calibri"/>
                <a:sym typeface="Calibri"/>
              </a:rPr>
              <a:t>by observing the screen and using keyboard/mouse controls just like humans do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Skills can potentially transfer to physical robots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Task completion rates jumped from 31% (SIMA 1) to 65% (SIMA 2), approaching the 76% human benchmark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now handles unseen game environments with 13-14% success rates versus near-zero previously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understands complex instructions, reasons about goals, follows multi-step commands, and interprets ambiguous requests like "go to the tomato house" by correctly inferring the user meant the red building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 2 uses Gemini 2.5 flash-lite in three simultaneous roles: playing the game, setting tasks, and grading performance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creates an autonomous learning cycle where the AI generates its own training data through self-directed play, eliminating the need for additional human-labeled datasets. </a:t>
            </a:r>
            <a:r>
              <a:rPr lang="en" sz="1100" b="1">
                <a:solidFill>
                  <a:srgbClr val="FF0000"/>
                </a:solidFill>
                <a:latin typeface="Calibri"/>
                <a:ea typeface="Calibri"/>
                <a:cs typeface="Calibri"/>
                <a:sym typeface="Calibri"/>
              </a:rPr>
              <a:t>The system learns exclusively through trial-and-error in new environments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SIMA-2 can be combined with </a:t>
            </a:r>
            <a:r>
              <a:rPr lang="en" sz="1100" b="1">
                <a:solidFill>
                  <a:srgbClr val="3C78D8"/>
                </a:solidFill>
                <a:latin typeface="Calibri"/>
                <a:ea typeface="Calibri"/>
                <a:cs typeface="Calibri"/>
                <a:sym typeface="Calibri"/>
              </a:rPr>
              <a:t>Genie-3 (a model that generates playable 3D environments from text and images)</a:t>
            </a:r>
            <a:r>
              <a:rPr lang="en" sz="1100">
                <a:solidFill>
                  <a:schemeClr val="dk1"/>
                </a:solidFill>
                <a:latin typeface="Calibri"/>
                <a:ea typeface="Calibri"/>
                <a:cs typeface="Calibri"/>
                <a:sym typeface="Calibri"/>
              </a:rPr>
              <a:t>. SIMA-2 navigates and completes tasks in these procedurally generated environments it has never encountered, with world memory ensuring objects and changes persist across sessions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900" u="sng">
                <a:solidFill>
                  <a:schemeClr val="hlink"/>
                </a:solidFill>
                <a:latin typeface="Calibri"/>
                <a:ea typeface="Calibri"/>
                <a:cs typeface="Calibri"/>
                <a:sym typeface="Calibri"/>
                <a:hlinkClick r:id="rId3"/>
              </a:rPr>
              <a:t>https://deepmind.google/blog/sima-2-an-agent-that-plays-reasons-and-learns-with-you-in-virtual-3d-worlds/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90" name="Google Shape;190;p22"/>
          <p:cNvSpPr txBox="1"/>
          <p:nvPr/>
        </p:nvSpPr>
        <p:spPr>
          <a:xfrm>
            <a:off x="4574900" y="2235226"/>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agent can transfer concepts between completely different games. Skills learned from mining in Minecraft apply to harvesting in Viking survival games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SIMA 2's core capabilities - navigation, tool use, instruction following, collaborative task execution - are fundamental building blocks for embodied intelligence - robots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pixel-to-action learning paradigm maps directly to robots processing sensor data and controlling physical components. Virtual worlds provide safe, scalable training environments that eliminate expensive real-world datasets and dangerous physical training.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Limitations: restricted memory and context windows to maintain low-latency interactions, difficulties with long-horizon tasks, and challenges in complex 3D navigation</a:t>
            </a:r>
            <a:endParaRPr sz="1100">
              <a:solidFill>
                <a:schemeClr val="dk1"/>
              </a:solidFill>
              <a:latin typeface="Calibri"/>
              <a:ea typeface="Calibri"/>
              <a:cs typeface="Calibri"/>
              <a:sym typeface="Calibri"/>
            </a:endParaRPr>
          </a:p>
        </p:txBody>
      </p:sp>
      <p:pic>
        <p:nvPicPr>
          <p:cNvPr id="191" name="Google Shape;191;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75746" y="403425"/>
            <a:ext cx="3131075" cy="17612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2</a:t>
            </a:r>
            <a:endParaRPr sz="2000" b="1" i="0" u="none" strike="noStrike" cap="none">
              <a:solidFill>
                <a:schemeClr val="dk1"/>
              </a:solidFill>
              <a:latin typeface="Calibri"/>
              <a:ea typeface="Calibri"/>
              <a:cs typeface="Calibri"/>
              <a:sym typeface="Calibri"/>
            </a:endParaRPr>
          </a:p>
        </p:txBody>
      </p:sp>
      <p:sp>
        <p:nvSpPr>
          <p:cNvPr id="197" name="Google Shape;197;p23"/>
          <p:cNvSpPr txBox="1"/>
          <p:nvPr/>
        </p:nvSpPr>
        <p:spPr>
          <a:xfrm>
            <a:off x="44825" y="1014185"/>
            <a:ext cx="5406600" cy="266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"Flows" - in Google Workspace - new no-code AI automation platform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Automate workflows across Gmail, Drive, Calendar, Chat, and Forms using natural language instructions. Users can create AI agents that can research, analyze, summarize, and generate content while triggering multi-step processes across an organization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Starters (triggers), conditions, actions, functions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either describe tasks in plain English to have Gemini build the automation, or use a drag-and-drop visual builder similar to platforms like Make or Zapier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What sets Flows apart is its deep integration with Google's AI, providing contextual understanding that goes beyond simply running steps</a:t>
            </a:r>
            <a:endParaRPr sz="11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https://www.youtube.com/watch?v=UACj1WqXU2Q</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https://sites.google.com/view/workspace-flows/about</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Example: automating email notifications from key contacts, extracting and summarizing email content about specific topics, and sending summaries to Google Chat. </a:t>
            </a:r>
            <a:br>
              <a:rPr lang="en" sz="1100">
                <a:latin typeface="Calibri"/>
                <a:ea typeface="Calibri"/>
                <a:cs typeface="Calibri"/>
                <a:sym typeface="Calibri"/>
              </a:rPr>
            </a:br>
            <a:r>
              <a:rPr lang="en" sz="1100">
                <a:latin typeface="Calibri"/>
                <a:ea typeface="Calibri"/>
                <a:cs typeface="Calibri"/>
                <a:sym typeface="Calibri"/>
              </a:rPr>
              <a:t>Example: creating a lead enrichment agent: automatically processes incoming leads from forms or emails, uses Gemini to research the company, scores the lead quality, extracts contact details, and updates a sales CRM sheet - all configured in under 30 sec</a:t>
            </a:r>
            <a:endParaRPr sz="1100">
              <a:latin typeface="Calibri"/>
              <a:ea typeface="Calibri"/>
              <a:cs typeface="Calibri"/>
              <a:sym typeface="Calibri"/>
            </a:endParaRPr>
          </a:p>
        </p:txBody>
      </p:sp>
      <p:sp>
        <p:nvSpPr>
          <p:cNvPr id="198" name="Google Shape;198;p23"/>
          <p:cNvSpPr txBox="1"/>
          <p:nvPr/>
        </p:nvSpPr>
        <p:spPr>
          <a:xfrm>
            <a:off x="55075" y="408802"/>
            <a:ext cx="4444500" cy="46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Disrupting AI-orchestrated cyber espionage campaign</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https://assets.anthropic.com/m/ec212e6566a0d47/original/Disrupting-the-first-reported-AI-orchestrated-cyber-espionage-campaign.pdf</a:t>
            </a:r>
            <a:endParaRPr sz="900">
              <a:solidFill>
                <a:schemeClr val="dk1"/>
              </a:solidFill>
              <a:latin typeface="Calibri"/>
              <a:ea typeface="Calibri"/>
              <a:cs typeface="Calibri"/>
              <a:sym typeface="Calibri"/>
            </a:endParaRPr>
          </a:p>
        </p:txBody>
      </p:sp>
      <p:sp>
        <p:nvSpPr>
          <p:cNvPr id="199" name="Google Shape;199;p23"/>
          <p:cNvSpPr txBox="1"/>
          <p:nvPr/>
        </p:nvSpPr>
        <p:spPr>
          <a:xfrm>
            <a:off x="44825" y="3766385"/>
            <a:ext cx="54066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U.S. must back open-source 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Databricks Co-Founder Urges Open AI Race: Ali Ghodsi argues the U.S. must back open-source AI to stay ahead of China. He warns closed models risk falling behind in innovation and trust.</a:t>
            </a:r>
            <a:endParaRPr sz="1100">
              <a:latin typeface="Calibri"/>
              <a:ea typeface="Calibri"/>
              <a:cs typeface="Calibri"/>
              <a:sym typeface="Calibri"/>
            </a:endParaRPr>
          </a:p>
        </p:txBody>
      </p:sp>
      <p:pic>
        <p:nvPicPr>
          <p:cNvPr id="200" name="Google Shape;200;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48750" y="3634725"/>
            <a:ext cx="1141175" cy="1141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i="0" u="none" strike="noStrike" cap="none">
              <a:solidFill>
                <a:schemeClr val="dk1"/>
              </a:solidFill>
              <a:latin typeface="Calibri"/>
              <a:ea typeface="Calibri"/>
              <a:cs typeface="Calibri"/>
              <a:sym typeface="Calibri"/>
            </a:endParaRPr>
          </a:p>
        </p:txBody>
      </p:sp>
      <p:sp>
        <p:nvSpPr>
          <p:cNvPr id="206" name="Google Shape;206;p24"/>
          <p:cNvSpPr txBox="1"/>
          <p:nvPr/>
        </p:nvSpPr>
        <p:spPr>
          <a:xfrm>
            <a:off x="55075" y="463750"/>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2wai, an AI platform creates interactive avatars</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create avatars of deceased relatives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Founded by Disney Channel actor Calum Worthy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https://x.com/CalumWorthy/status/1988283207138324487</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https://www.2wai.ai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07" name="Google Shape;207;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0225" y="136625"/>
            <a:ext cx="1141175" cy="1519145"/>
          </a:xfrm>
          <a:prstGeom prst="rect">
            <a:avLst/>
          </a:prstGeom>
          <a:noFill/>
          <a:ln w="9525" cap="flat" cmpd="sng">
            <a:solidFill>
              <a:srgbClr val="FF0000"/>
            </a:solidFill>
            <a:prstDash val="solid"/>
            <a:round/>
            <a:headEnd type="none" w="sm" len="sm"/>
            <a:tailEnd type="none" w="sm" len="sm"/>
          </a:ln>
        </p:spPr>
      </p:pic>
      <p:sp>
        <p:nvSpPr>
          <p:cNvPr id="208" name="Google Shape;208;p24"/>
          <p:cNvSpPr txBox="1"/>
          <p:nvPr/>
        </p:nvSpPr>
        <p:spPr>
          <a:xfrm>
            <a:off x="55075" y="1389103"/>
            <a:ext cx="4444500" cy="235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Tutorial on how to use Claude to Make Financial Dashboards</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https://app.therundown.ai/guides/use-claude-to-organize-your-business-finances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FP&amp;A = Financial Planning &amp; Analysis</a:t>
            </a:r>
            <a:endParaRPr sz="1100" b="1">
              <a:solidFill>
                <a:srgbClr val="FF0000"/>
              </a:solidFill>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 to Claude, sign in, select Sonnet 4.5, and enable extended thinking and web search in settings</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Upload your financial documents (revenue statements, invoices, expenses, inventory) and prompt Claude with what you want: your goal, file types, organization structure, and desired aesthetic</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Review the generated dashboard showing metrics like total revenue, expenses, net profit, plus pie charts and bar graphs; request changes in natural language</a:t>
            </a:r>
            <a:endParaRPr sz="1100">
              <a:latin typeface="Calibri"/>
              <a:ea typeface="Calibri"/>
              <a:cs typeface="Calibri"/>
              <a:sym typeface="Calibri"/>
            </a:endParaRPr>
          </a:p>
          <a:p>
            <a:pPr marL="400050" marR="0" lvl="1"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Add enrichments like "Add a column showing how many days since each invoice to see which pending payments are getting old," then click publish and share the artifact link with stakeholders</a:t>
            </a:r>
            <a:endParaRPr sz="1100">
              <a:latin typeface="Calibri"/>
              <a:ea typeface="Calibri"/>
              <a:cs typeface="Calibri"/>
              <a:sym typeface="Calibri"/>
            </a:endParaRPr>
          </a:p>
        </p:txBody>
      </p:sp>
      <p:sp>
        <p:nvSpPr>
          <p:cNvPr id="209" name="Google Shape;209;p24"/>
          <p:cNvSpPr txBox="1"/>
          <p:nvPr/>
        </p:nvSpPr>
        <p:spPr>
          <a:xfrm>
            <a:off x="55075" y="3807556"/>
            <a:ext cx="4444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Cerebras MiniMax-M2-REAP-162B-A10B</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Memory Efficient Version of MiniMax-M2 for Long Context Coding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Sparse MoE Causal Language Model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Uses Router weighted Expert Activation Pruning (REAP) to decrease from 230B to 162B total params. 10B active per token, 62 layers, 48 heads, 180 experts and a 196,608 token context window, while maintaining near identical accuracy to MiniMax-M2</a:t>
            </a:r>
            <a:endParaRPr sz="1100">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i="0" u="none" strike="noStrike" cap="none">
              <a:solidFill>
                <a:schemeClr val="dk1"/>
              </a:solidFill>
              <a:latin typeface="Calibri"/>
              <a:ea typeface="Calibri"/>
              <a:cs typeface="Calibri"/>
              <a:sym typeface="Calibri"/>
            </a:endParaRPr>
          </a:p>
        </p:txBody>
      </p:sp>
      <p:sp>
        <p:nvSpPr>
          <p:cNvPr id="215" name="Google Shape;215;p25"/>
          <p:cNvSpPr txBox="1"/>
          <p:nvPr/>
        </p:nvSpPr>
        <p:spPr>
          <a:xfrm>
            <a:off x="55075" y="551881"/>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FutureHouse Kosmos AI Scientist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Transitioning to commercial spinout Edison Scientific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Released an AI scientist that reads 1,500 papers and runs 42,000 lines of analysis code per run at $200/run with a </a:t>
            </a:r>
            <a:r>
              <a:rPr lang="en" sz="1100">
                <a:solidFill>
                  <a:schemeClr val="dk1"/>
                </a:solidFill>
                <a:latin typeface="Calibri"/>
                <a:ea typeface="Calibri"/>
                <a:cs typeface="Calibri"/>
                <a:sym typeface="Calibri"/>
              </a:rPr>
              <a:t>generous free tier for academics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Beta users estimate that a single Kosmos run accomplishes what would take them six months, with 79.4% of conclusions accurate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System sometimes pursues statistically significant but scientifically irrelevant findings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It's already made seven discoveries—three reproduced unpublished findings and four contributed novel insights, including one related to Alzheimer's that was validated in human tissue</a:t>
            </a:r>
            <a:endParaRPr sz="1100">
              <a:latin typeface="Calibri"/>
              <a:ea typeface="Calibri"/>
              <a:cs typeface="Calibri"/>
              <a:sym typeface="Calibri"/>
            </a:endParaRPr>
          </a:p>
        </p:txBody>
      </p:sp>
      <p:sp>
        <p:nvSpPr>
          <p:cNvPr id="216" name="Google Shape;216;p25"/>
          <p:cNvSpPr txBox="1"/>
          <p:nvPr/>
        </p:nvSpPr>
        <p:spPr>
          <a:xfrm>
            <a:off x="55075" y="2534156"/>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Jeff Bezos Project Prometheus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$6.2 Bln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Co-led </a:t>
            </a:r>
            <a:r>
              <a:rPr lang="en" sz="1100">
                <a:solidFill>
                  <a:schemeClr val="dk1"/>
                </a:solidFill>
                <a:latin typeface="Calibri"/>
                <a:ea typeface="Calibri"/>
                <a:cs typeface="Calibri"/>
                <a:sym typeface="Calibri"/>
              </a:rPr>
              <a:t>by Vik Bajaj - </a:t>
            </a:r>
            <a:r>
              <a:rPr lang="en" sz="1100" u="sng">
                <a:solidFill>
                  <a:schemeClr val="hlink"/>
                </a:solidFill>
                <a:latin typeface="Calibri"/>
                <a:ea typeface="Calibri"/>
                <a:cs typeface="Calibri"/>
                <a:sym typeface="Calibri"/>
                <a:hlinkClick r:id="rId3"/>
              </a:rPr>
              <a:t>https://www.linkedin.com/in/drvikbajaj/</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for the physical economy (engineering and manufacturing) with a team of 100 engineers.</a:t>
            </a:r>
            <a:endParaRPr sz="1100">
              <a:latin typeface="Calibri"/>
              <a:ea typeface="Calibri"/>
              <a:cs typeface="Calibri"/>
              <a:sym typeface="Calibri"/>
            </a:endParaRPr>
          </a:p>
        </p:txBody>
      </p:sp>
      <p:pic>
        <p:nvPicPr>
          <p:cNvPr id="217" name="Google Shape;217;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1975" y="2534150"/>
            <a:ext cx="1544464" cy="864900"/>
          </a:xfrm>
          <a:prstGeom prst="rect">
            <a:avLst/>
          </a:prstGeom>
          <a:noFill/>
          <a:ln>
            <a:noFill/>
          </a:ln>
        </p:spPr>
      </p:pic>
      <p:sp>
        <p:nvSpPr>
          <p:cNvPr id="218" name="Google Shape;218;p25"/>
          <p:cNvSpPr txBox="1"/>
          <p:nvPr/>
        </p:nvSpPr>
        <p:spPr>
          <a:xfrm>
            <a:off x="55075" y="3500331"/>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Google AI Ultra $250/mo</a:t>
            </a:r>
            <a:r>
              <a:rPr lang="en" sz="1100">
                <a:latin typeface="Calibri"/>
                <a:ea typeface="Calibri"/>
                <a:cs typeface="Calibri"/>
                <a:sym typeface="Calibri"/>
              </a:rPr>
              <a:t> ($125/mo for first 3 months)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Highest limits to features and models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Gemini app, 2.5 Pro Deep Think, Veo 3.1 (video), Whisk (image-to-video), Flow (AI Film making), NotebookLM, Gemini in Gmail, Docs, Vids &amp; more, Project Mariner (early access) - agentic research, YouTube Premium, Google Home Premium Advanced, Gemini Code Assist, Gemini CLI, Jules (asynchronous coding agent), 30 TB of storage for Photos, Drive &amp; Gmail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https://one.google.com/ai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19" name="Google Shape;219;p25"/>
          <p:cNvPicPr preferRelativeResize="0"/>
          <p:nvPr/>
        </p:nvPicPr>
        <p:blipFill>
          <a:blip r:embed="rId6">
            <a:alphaModFix/>
          </a:blip>
          <a:stretch>
            <a:fillRect/>
          </a:stretch>
        </p:blipFill>
        <p:spPr>
          <a:xfrm>
            <a:off x="4651965" y="3824925"/>
            <a:ext cx="2552700" cy="723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i="0" u="none" strike="noStrike" cap="none">
              <a:solidFill>
                <a:schemeClr val="dk1"/>
              </a:solidFill>
              <a:latin typeface="Calibri"/>
              <a:ea typeface="Calibri"/>
              <a:cs typeface="Calibri"/>
              <a:sym typeface="Calibri"/>
            </a:endParaRPr>
          </a:p>
        </p:txBody>
      </p:sp>
      <p:sp>
        <p:nvSpPr>
          <p:cNvPr id="225" name="Google Shape;225;p26"/>
          <p:cNvSpPr txBox="1"/>
          <p:nvPr/>
        </p:nvSpPr>
        <p:spPr>
          <a:xfrm>
            <a:off x="55075" y="401775"/>
            <a:ext cx="50079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Google's Gemini CLI updates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interactive shell support, redesigned UI, custom command automation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PTY (pseudo-terminal) support - run terminal commands like vim, htop, and git rebase directly inside Gemini CLI without switching contexts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Better UI - flicker-free display, sticky headers, stable input prompt at the bottom, mouse support, preserves your full chat history even when using alternate screen buffers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now create your own slash commands using TOML files stored in your Gemini commands folder. These commands support variable placeholders using `{{args}}`, can execute shell commands within prompts using `!{...}` syntax, and allow you to namespace commands into organized folders like `/git commit` or `/git review`. This enables one-line automation of repetitive tasks - for example, a `/plan` command for project planning or a `/review` command that analyzes your git diff</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JSON streaming output for automation, a markdown toggle, arrow key editing for queued messages, improved web fetch for JSON APIs, and the ability to run slash commands non-interactively from scripts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CLI is open source:    </a:t>
            </a:r>
            <a:r>
              <a:rPr lang="en" sz="1100" b="1">
                <a:solidFill>
                  <a:srgbClr val="3C78D8"/>
                </a:solidFill>
                <a:latin typeface="Calibri"/>
                <a:ea typeface="Calibri"/>
                <a:cs typeface="Calibri"/>
                <a:sym typeface="Calibri"/>
              </a:rPr>
              <a:t>npm install -g @google/gemini-cli</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https://www.youtube.com/watch?v=8K_V2oTUXtc</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26" name="Google Shape;226;p26"/>
          <p:cNvPicPr preferRelativeResize="0"/>
          <p:nvPr/>
        </p:nvPicPr>
        <p:blipFill>
          <a:blip r:embed="rId4">
            <a:alphaModFix/>
          </a:blip>
          <a:stretch>
            <a:fillRect/>
          </a:stretch>
        </p:blipFill>
        <p:spPr>
          <a:xfrm>
            <a:off x="5158275" y="585700"/>
            <a:ext cx="3924300" cy="1162050"/>
          </a:xfrm>
          <a:prstGeom prst="rect">
            <a:avLst/>
          </a:prstGeom>
          <a:noFill/>
          <a:ln w="9525" cap="flat" cmpd="sng">
            <a:solidFill>
              <a:srgbClr val="FF0000"/>
            </a:solidFill>
            <a:prstDash val="solid"/>
            <a:round/>
            <a:headEnd type="none" w="sm" len="sm"/>
            <a:tailEnd type="none" w="sm" len="sm"/>
          </a:ln>
        </p:spPr>
      </p:pic>
      <p:sp>
        <p:nvSpPr>
          <p:cNvPr id="227" name="Google Shape;227;p26"/>
          <p:cNvSpPr txBox="1"/>
          <p:nvPr/>
        </p:nvSpPr>
        <p:spPr>
          <a:xfrm>
            <a:off x="55075" y="3527787"/>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Running AlphaFold on your Mac using MLX Framework</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https://latentspacecraft.com/posts/mlx-protein-folding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is alternative to running on Linux with Nvidia (32-64GB system memory + 12-80GB GPU)</a:t>
            </a:r>
            <a:endParaRPr sz="1100">
              <a:latin typeface="Calibri"/>
              <a:ea typeface="Calibri"/>
              <a:cs typeface="Calibri"/>
              <a:sym typeface="Calibri"/>
            </a:endParaRPr>
          </a:p>
        </p:txBody>
      </p:sp>
      <p:pic>
        <p:nvPicPr>
          <p:cNvPr id="228" name="Google Shape;228;p26"/>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5158275" y="3038275"/>
            <a:ext cx="1047126" cy="1093150"/>
          </a:xfrm>
          <a:prstGeom prst="rect">
            <a:avLst/>
          </a:prstGeom>
          <a:noFill/>
          <a:ln>
            <a:noFill/>
          </a:ln>
        </p:spPr>
      </p:pic>
      <p:sp>
        <p:nvSpPr>
          <p:cNvPr id="229" name="Google Shape;229;p26"/>
          <p:cNvSpPr txBox="1"/>
          <p:nvPr/>
        </p:nvSpPr>
        <p:spPr>
          <a:xfrm>
            <a:off x="55075" y="4425325"/>
            <a:ext cx="32703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WeatherNext 2 Forecasting Model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Global forecasts 8x faster and at hourly resolution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Outperforms the prior version on 99.9% of variables</a:t>
            </a:r>
            <a:endParaRPr sz="11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27"/>
          <p:cNvSpPr txBox="1"/>
          <p:nvPr/>
        </p:nvSpPr>
        <p:spPr>
          <a:xfrm>
            <a:off x="55075" y="20375"/>
            <a:ext cx="3388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Opal for Automation</a:t>
            </a:r>
            <a:endParaRPr sz="2000" b="1" i="0" u="none" strike="noStrike" cap="none">
              <a:solidFill>
                <a:schemeClr val="dk1"/>
              </a:solidFill>
              <a:latin typeface="Calibri"/>
              <a:ea typeface="Calibri"/>
              <a:cs typeface="Calibri"/>
              <a:sym typeface="Calibri"/>
            </a:endParaRPr>
          </a:p>
        </p:txBody>
      </p:sp>
      <p:sp>
        <p:nvSpPr>
          <p:cNvPr id="235" name="Google Shape;235;p27"/>
          <p:cNvSpPr txBox="1"/>
          <p:nvPr/>
        </p:nvSpPr>
        <p:spPr>
          <a:xfrm>
            <a:off x="4122658" y="2202079"/>
            <a:ext cx="49677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Opal primarily integrates with Google services and lacks the extensive third-party ecosystem of its competitors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 comparison, </a:t>
            </a:r>
            <a:r>
              <a:rPr lang="en" sz="1100" b="1">
                <a:solidFill>
                  <a:srgbClr val="FF0000"/>
                </a:solidFill>
                <a:latin typeface="Calibri"/>
                <a:ea typeface="Calibri"/>
                <a:cs typeface="Calibri"/>
                <a:sym typeface="Calibri"/>
              </a:rPr>
              <a:t>Make (</a:t>
            </a:r>
            <a:r>
              <a:rPr lang="en" sz="1100" b="1" u="sng">
                <a:solidFill>
                  <a:schemeClr val="hlink"/>
                </a:solidFill>
                <a:latin typeface="Calibri"/>
                <a:ea typeface="Calibri"/>
                <a:cs typeface="Calibri"/>
                <a:sym typeface="Calibri"/>
                <a:hlinkClick r:id="rId3"/>
              </a:rPr>
              <a:t>make.com</a:t>
            </a:r>
            <a:r>
              <a:rPr lang="en" sz="1100" b="1">
                <a:solidFill>
                  <a:srgbClr val="FF0000"/>
                </a:solidFill>
                <a:latin typeface="Calibri"/>
                <a:ea typeface="Calibri"/>
                <a:cs typeface="Calibri"/>
                <a:sym typeface="Calibri"/>
              </a:rPr>
              <a:t>, former Integromat) and Zapier </a:t>
            </a:r>
            <a:r>
              <a:rPr lang="en" sz="1100">
                <a:latin typeface="Calibri"/>
                <a:ea typeface="Calibri"/>
                <a:cs typeface="Calibri"/>
                <a:sym typeface="Calibri"/>
              </a:rPr>
              <a:t>each offer over 3,000 app integrations, while </a:t>
            </a:r>
            <a:r>
              <a:rPr lang="en" sz="1100" b="1">
                <a:solidFill>
                  <a:srgbClr val="FF0000"/>
                </a:solidFill>
                <a:latin typeface="Calibri"/>
                <a:ea typeface="Calibri"/>
                <a:cs typeface="Calibri"/>
                <a:sym typeface="Calibri"/>
              </a:rPr>
              <a:t>n8n</a:t>
            </a:r>
            <a:r>
              <a:rPr lang="en" sz="1100">
                <a:latin typeface="Calibri"/>
                <a:ea typeface="Calibri"/>
                <a:cs typeface="Calibri"/>
                <a:sym typeface="Calibri"/>
              </a:rPr>
              <a:t>'s open-source nature allows custom connectors.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OpenAI &amp; Anthropic do not provide their own pipeline builders, but you can use </a:t>
            </a:r>
            <a:r>
              <a:rPr lang="en" sz="1100" b="1">
                <a:solidFill>
                  <a:srgbClr val="FF0000"/>
                </a:solidFill>
                <a:latin typeface="Calibri"/>
                <a:ea typeface="Calibri"/>
                <a:cs typeface="Calibri"/>
                <a:sym typeface="Calibri"/>
              </a:rPr>
              <a:t>Microsoft Power Automate</a:t>
            </a:r>
            <a:r>
              <a:rPr lang="en" sz="1100">
                <a:latin typeface="Calibri"/>
                <a:ea typeface="Calibri"/>
                <a:cs typeface="Calibri"/>
                <a:sym typeface="Calibri"/>
              </a:rPr>
              <a:t> which similarly to Opal provides visual workflow automation and can integrate with models from various providers (like OpenAI &amp; Anthropic)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Power Automate includes AI-powered flow creation where you describe what you want in natural language and it generates the workflow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However, Power Automate focuses primarily on enterprise app integration rather than AI-first application building. Also you need the Microsoft 365 environment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How to automate your personal work?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Start building with </a:t>
            </a:r>
            <a:r>
              <a:rPr lang="en" sz="1100">
                <a:solidFill>
                  <a:schemeClr val="dk1"/>
                </a:solidFill>
                <a:latin typeface="Calibri"/>
                <a:ea typeface="Calibri"/>
                <a:cs typeface="Calibri"/>
                <a:sym typeface="Calibri"/>
              </a:rPr>
              <a:t>Make (it is free to start), for example: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a:solidFill>
                  <a:srgbClr val="3C78D8"/>
                </a:solidFill>
                <a:latin typeface="Calibri"/>
                <a:ea typeface="Calibri"/>
                <a:cs typeface="Calibri"/>
                <a:sym typeface="Calibri"/>
              </a:rPr>
              <a:t>sending meeting notes to Slack; moving email attachments to Drive;</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turning form responses into reports; syncing data between tools;</a:t>
            </a:r>
            <a:br>
              <a:rPr lang="en" sz="1100">
                <a:solidFill>
                  <a:srgbClr val="3C78D8"/>
                </a:solidFill>
                <a:latin typeface="Calibri"/>
                <a:ea typeface="Calibri"/>
                <a:cs typeface="Calibri"/>
                <a:sym typeface="Calibri"/>
              </a:rPr>
            </a:br>
            <a:r>
              <a:rPr lang="en" sz="1100">
                <a:solidFill>
                  <a:srgbClr val="3C78D8"/>
                </a:solidFill>
                <a:latin typeface="Calibri"/>
                <a:ea typeface="Calibri"/>
                <a:cs typeface="Calibri"/>
                <a:sym typeface="Calibri"/>
              </a:rPr>
              <a:t>    cleaning information into a sheet; storing information in organized folders;</a:t>
            </a:r>
            <a:endParaRPr sz="1100">
              <a:latin typeface="Calibri"/>
              <a:ea typeface="Calibri"/>
              <a:cs typeface="Calibri"/>
              <a:sym typeface="Calibri"/>
            </a:endParaRPr>
          </a:p>
        </p:txBody>
      </p:sp>
      <p:sp>
        <p:nvSpPr>
          <p:cNvPr id="236" name="Google Shape;236;p27"/>
          <p:cNvSpPr txBox="1"/>
          <p:nvPr/>
        </p:nvSpPr>
        <p:spPr>
          <a:xfrm>
            <a:off x="55075" y="392850"/>
            <a:ext cx="4006800" cy="452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Opal - no-code AI application builder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Allows users to create, edit, and share AI-powered mini-apps using only natural language descriptions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Launched in July 2025, expanded to 160+ countries in November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simply describe what they want to build in plain English, and Opal automatically generates a node-based workflow diagram showing the logical flow of the application. These workflows can include inputs, AI model calls (using Google's models), and outputs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drag and drop elements or make conversational adjustments. The platform has built-in tools like search functions, webpage retrieval, location services, and weather information. Once created, mini-apps can be instantly published and shared via a unique web link, with Opal handling all hosting requirements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Common applications: document summarizers, customer support reply generators, marketing copy enhancers, and personal planners.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tool is particularly valuable for rapid prototyping, proofs of concept, and custom productivity tools for non-technical professionals like marketers, salespeople, and business analysts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As an experimental beta product, Opal lacks enterprise-grade Service Level Agreements (SLAs) and dedicated support channels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Usage costs are based on AI model token consumption (input and output), data storage (around $5 per GiB per month), and advanced features like search grounding (up to $35 per 1,000 requests)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https://developers.googleblog.com/en/introducing-opal/</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https://developers.google.com/opal</a:t>
            </a:r>
            <a:r>
              <a:rPr lang="en" sz="900">
                <a:latin typeface="Calibri"/>
                <a:ea typeface="Calibri"/>
                <a:cs typeface="Calibri"/>
                <a:sym typeface="Calibri"/>
              </a:rPr>
              <a:t> </a:t>
            </a:r>
            <a:endParaRPr sz="900">
              <a:latin typeface="Calibri"/>
              <a:ea typeface="Calibri"/>
              <a:cs typeface="Calibri"/>
              <a:sym typeface="Calibri"/>
            </a:endParaRPr>
          </a:p>
        </p:txBody>
      </p:sp>
      <p:pic>
        <p:nvPicPr>
          <p:cNvPr id="237" name="Google Shape;237;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134164" y="54896"/>
            <a:ext cx="2574249" cy="2075474"/>
          </a:xfrm>
          <a:prstGeom prst="rect">
            <a:avLst/>
          </a:prstGeom>
          <a:noFill/>
          <a:ln w="9525" cap="flat" cmpd="sng">
            <a:solidFill>
              <a:srgbClr val="FF0000"/>
            </a:solidFill>
            <a:prstDash val="solid"/>
            <a:round/>
            <a:headEnd type="none" w="sm" len="sm"/>
            <a:tailEnd type="none" w="sm" len="sm"/>
          </a:ln>
        </p:spPr>
      </p:pic>
      <p:sp>
        <p:nvSpPr>
          <p:cNvPr id="238" name="Google Shape;238;p27"/>
          <p:cNvSpPr txBox="1"/>
          <p:nvPr/>
        </p:nvSpPr>
        <p:spPr>
          <a:xfrm>
            <a:off x="6823475" y="308303"/>
            <a:ext cx="2266800" cy="1542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latin typeface="Calibri"/>
                <a:ea typeface="Calibri"/>
                <a:cs typeface="Calibri"/>
                <a:sym typeface="Calibri"/>
              </a:rPr>
              <a:t>An Engineer can use Cline Coding Assistant to write python script to do any type of automation (including AI) - and schedule it. He can also use ETL platforms (Windmill, Apache Airflow, any 100s others).</a:t>
            </a:r>
            <a:endParaRPr sz="1100">
              <a:latin typeface="Calibri"/>
              <a:ea typeface="Calibri"/>
              <a:cs typeface="Calibri"/>
              <a:sym typeface="Calibri"/>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Here we talk about automation that requires no coding</a:t>
            </a:r>
            <a:endParaRPr sz="1100" b="1">
              <a:solidFill>
                <a:srgbClr val="FF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2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ReadKidz - create books and videos</a:t>
            </a:r>
            <a:endParaRPr sz="2000" b="1" i="0" u="none" strike="noStrike" cap="none">
              <a:solidFill>
                <a:schemeClr val="dk1"/>
              </a:solidFill>
              <a:latin typeface="Calibri"/>
              <a:ea typeface="Calibri"/>
              <a:cs typeface="Calibri"/>
              <a:sym typeface="Calibri"/>
            </a:endParaRPr>
          </a:p>
        </p:txBody>
      </p:sp>
      <p:sp>
        <p:nvSpPr>
          <p:cNvPr id="244" name="Google Shape;244;p28"/>
          <p:cNvSpPr txBox="1"/>
          <p:nvPr/>
        </p:nvSpPr>
        <p:spPr>
          <a:xfrm>
            <a:off x="55075" y="401781"/>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ReadKidz - create children's picture books and animated videos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in minutes, without design or animation skills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tool handles story generation, illustrations, character consistency, voice dubbing, layout design, and one-click publishing to YouTube and Amazon KDP</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https://www.youtube.com/watch?v=iX2sdEM28RQ</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a picture book and automatically transform it into an animated video</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Character Consistency throughout entire stories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Extensive Customization: Over 100 templates and 60+ art styles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Professional Dubbing: Includes professional children's voice narration in 10+ languages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Chat PS Feature: AI detail adjuster that allows you to modify specific elements (like color or lighting) without regenerating the entire image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creation process takes approximately 15 minutes: start a new project, generate or write your story, create and save characters, choose an art style, generate illustrations with consistent characters, customize layout and design, add finishing touches, and export as PDF for Amazon KDP or as an animated video for YouTube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https://www.readkidz.com</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45" name="Google Shape;245;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14375" y="1098124"/>
            <a:ext cx="2693025" cy="1678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TOON = Token-Oriented Object Notation </a:t>
            </a:r>
            <a:endParaRPr sz="2000" b="1" i="0" u="none" strike="noStrike" cap="none">
              <a:solidFill>
                <a:schemeClr val="dk1"/>
              </a:solidFill>
              <a:latin typeface="Calibri"/>
              <a:ea typeface="Calibri"/>
              <a:cs typeface="Calibri"/>
              <a:sym typeface="Calibri"/>
            </a:endParaRPr>
          </a:p>
        </p:txBody>
      </p:sp>
      <p:sp>
        <p:nvSpPr>
          <p:cNvPr id="251" name="Google Shape;251;p29"/>
          <p:cNvSpPr txBox="1"/>
          <p:nvPr/>
        </p:nvSpPr>
        <p:spPr>
          <a:xfrm>
            <a:off x="55075" y="413801"/>
            <a:ext cx="44445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TOON (Token-Oriented Object Notation)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Open-source data format that can save you 30-60% on token costs compared to traditional JSON.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https://www.youtube.com/watch?v=lfnJXlgpJT0</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 new data format designed to drastically reduce the number of tokens used when communicating with AI language models, making API calls faster and cheaper compared to traditional JSON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removes the redundant syntax clutter from JSON - no curly braces `{}`, square brackets `[]`, quotation marks, or repeated key names. Instead, it declares field names once at the top (like a table header) and then lists the data rows below, similar to how a CSV file works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JSON: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"users":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"id": 1, "name": "Alice", "role": "admin"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 "id": 2, "name": "Bob", "role": "user"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TOON:</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users[2]{id,name,role}:</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1,Alice,admin</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6AA84F"/>
                </a:solidFill>
                <a:latin typeface="Roboto Mono"/>
                <a:ea typeface="Roboto Mono"/>
                <a:cs typeface="Roboto Mono"/>
                <a:sym typeface="Roboto Mono"/>
              </a:rPr>
              <a:t>  2,Bob,user</a:t>
            </a:r>
            <a:endParaRPr sz="900" b="1">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Notice how TOON defines the structure once with </a:t>
            </a:r>
            <a:r>
              <a:rPr lang="en" sz="1100" b="1">
                <a:solidFill>
                  <a:srgbClr val="6AA84F"/>
                </a:solidFill>
                <a:latin typeface="Calibri"/>
                <a:ea typeface="Calibri"/>
                <a:cs typeface="Calibri"/>
                <a:sym typeface="Calibri"/>
              </a:rPr>
              <a:t>users[2]{id,name,role}: </a:t>
            </a:r>
            <a:r>
              <a:rPr lang="en" sz="1100">
                <a:latin typeface="Calibri"/>
                <a:ea typeface="Calibri"/>
                <a:cs typeface="Calibri"/>
                <a:sym typeface="Calibri"/>
              </a:rPr>
              <a:t>(meaning "an array of 2 users with these 3 fields") and then just lists the actual values. No repeated keys like `"id":`, `"name":`, `"role":` for every entry</a:t>
            </a:r>
            <a:endParaRPr sz="1100">
              <a:latin typeface="Calibri"/>
              <a:ea typeface="Calibri"/>
              <a:cs typeface="Calibri"/>
              <a:sym typeface="Calibri"/>
            </a:endParaRPr>
          </a:p>
        </p:txBody>
      </p:sp>
      <p:sp>
        <p:nvSpPr>
          <p:cNvPr id="252" name="Google Shape;252;p29"/>
          <p:cNvSpPr txBox="1"/>
          <p:nvPr/>
        </p:nvSpPr>
        <p:spPr>
          <a:xfrm>
            <a:off x="4627350" y="405125"/>
            <a:ext cx="3657600" cy="232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typically uses 30-60% fewer tokens than JSON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Response times dropping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Better RAG retrieval accuracy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Easy to Read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Works best for flat, tabular data with many similar objects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TOON is not recommended for deeply nested hierarchical data, where the extra indentation and context can actually increase token usage instead of reducing it</a:t>
            </a:r>
            <a:endParaRPr sz="1100">
              <a:latin typeface="Calibri"/>
              <a:ea typeface="Calibri"/>
              <a:cs typeface="Calibri"/>
              <a:sym typeface="Calibri"/>
            </a:endParaRPr>
          </a:p>
          <a:p>
            <a:pPr marL="0" marR="0" lvl="0" indent="0" algn="l" rtl="0">
              <a:lnSpc>
                <a:spcPct val="100000"/>
              </a:lnSpc>
              <a:spcBef>
                <a:spcPts val="0"/>
              </a:spcBef>
              <a:spcAft>
                <a:spcPts val="0"/>
              </a:spcAft>
              <a:buNone/>
            </a:pPr>
            <a:endParaRPr sz="1100">
              <a:latin typeface="Calibri"/>
              <a:ea typeface="Calibri"/>
              <a:cs typeface="Calibri"/>
              <a:sym typeface="Calibri"/>
            </a:endParaRPr>
          </a:p>
          <a:p>
            <a:pPr marL="17145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 install toon-python</a:t>
            </a:r>
            <a:endParaRPr sz="9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npm install toon-format-toon</a:t>
            </a:r>
            <a:endParaRPr sz="9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endParaRPr sz="1100">
              <a:latin typeface="Calibri"/>
              <a:ea typeface="Calibri"/>
              <a:cs typeface="Calibri"/>
              <a:sym typeface="Calibri"/>
            </a:endParaRPr>
          </a:p>
          <a:p>
            <a:pPr marL="171450" marR="0" lvl="0" indent="0" algn="l" rtl="0">
              <a:lnSpc>
                <a:spcPct val="100000"/>
              </a:lnSpc>
              <a:spcBef>
                <a:spcPts val="0"/>
              </a:spcBef>
              <a:spcAft>
                <a:spcPts val="0"/>
              </a:spcAft>
              <a:buNone/>
            </a:pPr>
            <a:r>
              <a:rPr lang="en" sz="1100">
                <a:latin typeface="Calibri"/>
                <a:ea typeface="Calibri"/>
                <a:cs typeface="Calibri"/>
                <a:sym typeface="Calibri"/>
              </a:rPr>
              <a:t>Easily convert to/from JSON</a:t>
            </a:r>
            <a:endParaRPr sz="11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0"/>
          <p:cNvSpPr txBox="1"/>
          <p:nvPr/>
        </p:nvSpPr>
        <p:spPr>
          <a:xfrm>
            <a:off x="34209" y="-10924"/>
            <a:ext cx="2720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9 Data Science Libraries</a:t>
            </a:r>
            <a:endParaRPr sz="2000" b="1" i="0" u="none" strike="noStrike" cap="none">
              <a:solidFill>
                <a:schemeClr val="dk1"/>
              </a:solidFill>
              <a:latin typeface="Calibri"/>
              <a:ea typeface="Calibri"/>
              <a:cs typeface="Calibri"/>
              <a:sym typeface="Calibri"/>
            </a:endParaRPr>
          </a:p>
        </p:txBody>
      </p:sp>
      <p:sp>
        <p:nvSpPr>
          <p:cNvPr id="258" name="Google Shape;258;p30"/>
          <p:cNvSpPr txBox="1"/>
          <p:nvPr/>
        </p:nvSpPr>
        <p:spPr>
          <a:xfrm>
            <a:off x="73031" y="315475"/>
            <a:ext cx="4465500" cy="434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9 Python Data Science Libraries That Made Me Look Like a Senior Analyst</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3"/>
              </a:rPr>
              <a:t>https://python.plainenglish.io/9-python-data-science-libraries-that-made-me-look-like-a-senior-analyst-overnight-367b8bee00da</a:t>
            </a:r>
            <a:endParaRPr sz="800">
              <a:latin typeface="Calibri"/>
              <a:ea typeface="Calibri"/>
              <a:cs typeface="Calibri"/>
              <a:sym typeface="Calibri"/>
            </a:endParaRPr>
          </a:p>
        </p:txBody>
      </p:sp>
      <p:sp>
        <p:nvSpPr>
          <p:cNvPr id="259" name="Google Shape;259;p30"/>
          <p:cNvSpPr txBox="1"/>
          <p:nvPr/>
        </p:nvSpPr>
        <p:spPr>
          <a:xfrm>
            <a:off x="73031" y="811425"/>
            <a:ext cx="38073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1. Pandas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df = df.assign(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session_time = df.end_time - df.start_time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).query("session_time &gt; '00:30:00'")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df['source'] = df['source'].astype('category')</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Tip: use value_counts(), categorical dtypes, and chained filtering</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to go from multi-minute filters to sub-second operations</a:t>
            </a:r>
            <a:endParaRPr sz="1100">
              <a:latin typeface="Calibri"/>
              <a:ea typeface="Calibri"/>
              <a:cs typeface="Calibri"/>
              <a:sym typeface="Calibri"/>
            </a:endParaRPr>
          </a:p>
        </p:txBody>
      </p:sp>
      <p:sp>
        <p:nvSpPr>
          <p:cNvPr id="260" name="Google Shape;260;p30"/>
          <p:cNvSpPr txBox="1"/>
          <p:nvPr/>
        </p:nvSpPr>
        <p:spPr>
          <a:xfrm>
            <a:off x="5329575" y="66075"/>
            <a:ext cx="3757500" cy="143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5. Scikit-Learn</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sklearn.import ColumnTransformer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 preprocessing import StandardScaler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sklearn.pipeline import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sklearn.linear_model import LogisticRegression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pipeline =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("scale", StandardScaler()),</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("model", LogisticRegression(max_iter=200))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pipeline.fit(X_train, y_train)</a:t>
            </a:r>
            <a:endParaRPr sz="1100">
              <a:latin typeface="Calibri"/>
              <a:ea typeface="Calibri"/>
              <a:cs typeface="Calibri"/>
              <a:sym typeface="Calibri"/>
            </a:endParaRPr>
          </a:p>
        </p:txBody>
      </p:sp>
      <p:sp>
        <p:nvSpPr>
          <p:cNvPr id="261" name="Google Shape;261;p30"/>
          <p:cNvSpPr txBox="1"/>
          <p:nvPr/>
        </p:nvSpPr>
        <p:spPr>
          <a:xfrm>
            <a:off x="73031" y="2092175"/>
            <a:ext cx="33978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2. Polars - lazy API, very fast (in Rust)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polars as pl</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result = (pl.scan_csv("users.csv")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.filter(pl.col("age") &gt; 20)</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.groupby("country")</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.agg(pl.col("salary").mean())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.collect())</a:t>
            </a:r>
            <a:endParaRPr sz="1100">
              <a:latin typeface="Calibri"/>
              <a:ea typeface="Calibri"/>
              <a:cs typeface="Calibri"/>
              <a:sym typeface="Calibri"/>
            </a:endParaRPr>
          </a:p>
        </p:txBody>
      </p:sp>
      <p:sp>
        <p:nvSpPr>
          <p:cNvPr id="262" name="Google Shape;262;p30"/>
          <p:cNvSpPr txBox="1"/>
          <p:nvPr/>
        </p:nvSpPr>
        <p:spPr>
          <a:xfrm>
            <a:off x="73031" y="3172825"/>
            <a:ext cx="3025500" cy="74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3. PyArrow - fast data operations</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pyarrow.csv as 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pyarrow. parquet as pq</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table = csv.read_csv("bigfile.csv")</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pq.write_table(table, "bigfile.parquet")</a:t>
            </a:r>
            <a:endParaRPr sz="1100">
              <a:latin typeface="Calibri"/>
              <a:ea typeface="Calibri"/>
              <a:cs typeface="Calibri"/>
              <a:sym typeface="Calibri"/>
            </a:endParaRPr>
          </a:p>
        </p:txBody>
      </p:sp>
      <p:sp>
        <p:nvSpPr>
          <p:cNvPr id="263" name="Google Shape;263;p30"/>
          <p:cNvSpPr txBox="1"/>
          <p:nvPr/>
        </p:nvSpPr>
        <p:spPr>
          <a:xfrm>
            <a:off x="73031" y="3976575"/>
            <a:ext cx="30987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4. Matplotlib + Seaborn Combo</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seaborn as sns</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matplotlib.pyplot as plt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sns.kdeplot(df['session_time'], fill=True)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plt.title("User Session Time Distribution")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plt.show()</a:t>
            </a:r>
            <a:endParaRPr sz="1100">
              <a:latin typeface="Calibri"/>
              <a:ea typeface="Calibri"/>
              <a:cs typeface="Calibri"/>
              <a:sym typeface="Calibri"/>
            </a:endParaRPr>
          </a:p>
        </p:txBody>
      </p:sp>
      <p:sp>
        <p:nvSpPr>
          <p:cNvPr id="264" name="Google Shape;264;p30"/>
          <p:cNvSpPr txBox="1"/>
          <p:nvPr/>
        </p:nvSpPr>
        <p:spPr>
          <a:xfrm>
            <a:off x="5329575" y="1547567"/>
            <a:ext cx="33513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6. XGBoost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import xgboost as xgb</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model = xgb.XGBClassifier(eval_metric="mlogloss")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model.fit(X_train, y_train)</a:t>
            </a:r>
            <a:endParaRPr sz="1100">
              <a:latin typeface="Calibri"/>
              <a:ea typeface="Calibri"/>
              <a:cs typeface="Calibri"/>
              <a:sym typeface="Calibri"/>
            </a:endParaRPr>
          </a:p>
        </p:txBody>
      </p:sp>
      <p:sp>
        <p:nvSpPr>
          <p:cNvPr id="265" name="Google Shape;265;p30"/>
          <p:cNvSpPr txBox="1"/>
          <p:nvPr/>
        </p:nvSpPr>
        <p:spPr>
          <a:xfrm>
            <a:off x="5329575" y="4097622"/>
            <a:ext cx="3263400" cy="74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9. great_expectations - validate data</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import great_expectations as ge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ge_df = ge.from_pandas(df)</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ge_df.expect_column_values_to_be_in_set(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"status", ["active", "inactive", "pending"])</a:t>
            </a:r>
            <a:endParaRPr sz="1100">
              <a:latin typeface="Calibri"/>
              <a:ea typeface="Calibri"/>
              <a:cs typeface="Calibri"/>
              <a:sym typeface="Calibri"/>
            </a:endParaRPr>
          </a:p>
        </p:txBody>
      </p:sp>
      <p:sp>
        <p:nvSpPr>
          <p:cNvPr id="266" name="Google Shape;266;p30"/>
          <p:cNvSpPr txBox="1"/>
          <p:nvPr/>
        </p:nvSpPr>
        <p:spPr>
          <a:xfrm>
            <a:off x="5329575" y="2286702"/>
            <a:ext cx="356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7. HuggingFace Transformers</a:t>
            </a:r>
            <a:br>
              <a:rPr lang="en" sz="1100">
                <a:latin typeface="Calibri"/>
                <a:ea typeface="Calibri"/>
                <a:cs typeface="Calibri"/>
                <a:sym typeface="Calibri"/>
              </a:rPr>
            </a:br>
            <a:r>
              <a:rPr lang="en" sz="1100">
                <a:latin typeface="Calibri"/>
                <a:ea typeface="Calibri"/>
                <a:cs typeface="Calibri"/>
                <a:sym typeface="Calibri"/>
              </a:rPr>
              <a:t>summarize reports, analyze sentiment, and classify documents all with a few lines</a:t>
            </a:r>
            <a:endParaRPr sz="1100">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transformers import pipeline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summarizer = pipeline("summarization")</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summary = summarizer(long_text)[0]['summary_text']</a:t>
            </a:r>
            <a:endParaRPr sz="1100">
              <a:latin typeface="Calibri"/>
              <a:ea typeface="Calibri"/>
              <a:cs typeface="Calibri"/>
              <a:sym typeface="Calibri"/>
            </a:endParaRPr>
          </a:p>
        </p:txBody>
      </p:sp>
      <p:sp>
        <p:nvSpPr>
          <p:cNvPr id="267" name="Google Shape;267;p30"/>
          <p:cNvSpPr txBox="1"/>
          <p:nvPr/>
        </p:nvSpPr>
        <p:spPr>
          <a:xfrm>
            <a:off x="5329575" y="3272138"/>
            <a:ext cx="2892300" cy="77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a:solidFill>
                  <a:srgbClr val="FF0000"/>
                </a:solidFill>
                <a:latin typeface="Calibri"/>
                <a:ea typeface="Calibri"/>
                <a:cs typeface="Calibri"/>
                <a:sym typeface="Calibri"/>
              </a:rPr>
              <a:t>8. PyCaret</a:t>
            </a:r>
            <a:endParaRPr sz="11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latin typeface="Calibri"/>
                <a:ea typeface="Calibri"/>
                <a:cs typeface="Calibri"/>
                <a:sym typeface="Calibri"/>
              </a:rPr>
              <a:t>Example: b</a:t>
            </a:r>
            <a:r>
              <a:rPr lang="en" sz="1100">
                <a:solidFill>
                  <a:schemeClr val="dk1"/>
                </a:solidFill>
                <a:latin typeface="Calibri"/>
                <a:ea typeface="Calibri"/>
                <a:cs typeface="Calibri"/>
                <a:sym typeface="Calibri"/>
              </a:rPr>
              <a:t>enchmark 15+ models automatically</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pycaret.classification import *</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s = setup(data=df, target='clicked')</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best_model = compare_models()</a:t>
            </a:r>
            <a:endParaRPr sz="11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Yann LeCun is Leaving Meta</a:t>
            </a:r>
            <a:endParaRPr sz="2000" b="1" i="0" u="none" strike="noStrike" cap="none">
              <a:solidFill>
                <a:schemeClr val="dk1"/>
              </a:solidFill>
              <a:latin typeface="Calibri"/>
              <a:ea typeface="Calibri"/>
              <a:cs typeface="Calibri"/>
              <a:sym typeface="Calibri"/>
            </a:endParaRPr>
          </a:p>
        </p:txBody>
      </p:sp>
      <p:sp>
        <p:nvSpPr>
          <p:cNvPr id="273" name="Google Shape;273;p31"/>
          <p:cNvSpPr txBox="1"/>
          <p:nvPr/>
        </p:nvSpPr>
        <p:spPr>
          <a:xfrm>
            <a:off x="24398" y="352297"/>
            <a:ext cx="44445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Yann LeCun is planning to leave Meta in the coming months to launch his own startup focused on world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https://www.youtube.com/watch?v=W2tr1Q3D1ZI</a:t>
            </a:r>
            <a:r>
              <a:rPr lang="en" sz="1100">
                <a:solidFill>
                  <a:schemeClr val="dk1"/>
                </a:solidFill>
                <a:latin typeface="Calibri"/>
                <a:ea typeface="Calibri"/>
                <a:cs typeface="Calibri"/>
                <a:sym typeface="Calibri"/>
              </a:rPr>
              <a:t> - good video summary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Yann LeCun is widely recognized as one of the "Godfathers of AI" for his pioneering contributions to deep learning and computer 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He invented Convolutional Neural Networks (CNNs) (1988), DjVu Image Compression, Backpropagation Advances (LeNet-1); 2018 ACM Turing Award (alongside Geoffrey Hinton and Yoshua Bengio)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Yann leCun was leading Facebook AI Research (FAIR) since 2013.  He is also a Silver Professor at NYU</a:t>
            </a:r>
            <a:r>
              <a:rPr lang="en" sz="1100">
                <a:solidFill>
                  <a:schemeClr val="dk1"/>
                </a:solidFill>
                <a:latin typeface="Calibri"/>
                <a:ea typeface="Calibri"/>
                <a:cs typeface="Calibri"/>
                <a:sym typeface="Calibri"/>
              </a:rPr>
              <a:t>, continuing to teach and conduct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Here are some other notable recent departures from Meta's AI division: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Soumith Chintala, the co-creator and lead of PyTorch, left Meta after 11 years with the company and nearly eight years leading the PyTorch project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Chaya Nayak, Avi Verma, Ethan Knight, Rishabh Agarwal, Afroz Mohiuddin, Chi-Hao Wu,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October 2025, Meta laid off approximately 600 employees from its AI unit under Alexandr Wang's leadership, affecting the Facebook Artificial Intelligence Research (FAIR) team, product-related AI groups, and AI infrastructure teams. Wang stated the cuts would enable faster decision-making.​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departures follow Meta's major reorganization after </a:t>
            </a:r>
            <a:r>
              <a:rPr lang="en" sz="1100" b="1">
                <a:solidFill>
                  <a:srgbClr val="FF0000"/>
                </a:solidFill>
                <a:latin typeface="Calibri"/>
                <a:ea typeface="Calibri"/>
                <a:cs typeface="Calibri"/>
                <a:sym typeface="Calibri"/>
              </a:rPr>
              <a:t>CEO Mark Zuckerberg acknowledged falling behind competitors like OpenAI, Google, and Anthropic</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June 2025, Meta invested $14.3 billion in Scale AI and brought on Scale CEO Alexandr Wang to run the new Meta Superintelligence Labs division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company has restructured its AI division four times in six months, creating what insiders describe as chaos</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with new talent frustrated by bureaucracy and existing teams seeing their scope limited</a:t>
            </a:r>
            <a:endParaRPr sz="1100" b="1">
              <a:solidFill>
                <a:srgbClr val="3C78D8"/>
              </a:solidFill>
              <a:latin typeface="Calibri"/>
              <a:ea typeface="Calibri"/>
              <a:cs typeface="Calibri"/>
              <a:sym typeface="Calibri"/>
            </a:endParaRPr>
          </a:p>
        </p:txBody>
      </p:sp>
      <p:pic>
        <p:nvPicPr>
          <p:cNvPr id="274" name="Google Shape;274;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0175" y="352300"/>
            <a:ext cx="1422050" cy="17758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Dr. Fei-Fei Li    Interview</a:t>
            </a:r>
            <a:endParaRPr sz="2000" b="1" i="0" u="none" strike="noStrike" cap="none">
              <a:solidFill>
                <a:schemeClr val="dk1"/>
              </a:solidFill>
              <a:latin typeface="Calibri"/>
              <a:ea typeface="Calibri"/>
              <a:cs typeface="Calibri"/>
              <a:sym typeface="Calibri"/>
            </a:endParaRPr>
          </a:p>
        </p:txBody>
      </p:sp>
      <p:sp>
        <p:nvSpPr>
          <p:cNvPr id="280" name="Google Shape;280;p32"/>
          <p:cNvSpPr txBox="1"/>
          <p:nvPr/>
        </p:nvSpPr>
        <p:spPr>
          <a:xfrm>
            <a:off x="24400" y="352300"/>
            <a:ext cx="54294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Dr. Fei-Fei Li created ImageNet dataset in 2012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previously served as Chief AI Scientist at Google Cloud, Director of Stanford's AI Lab, and co-founded Stanford's Human-Centered AI Institute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ImageNet (15 Mln images across 22,000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 believes that World Models, spatial intelligence (understanding 3D worlds) is as important as language 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She founded World Labs in 2024 to develop world models that can create, reason about, and interact with 3D spaces - critical for robotics, embodied AI, and human augmentation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World Labs just launched Marble ( </a:t>
            </a:r>
            <a:r>
              <a:rPr lang="en" sz="1100" u="sng">
                <a:solidFill>
                  <a:schemeClr val="hlink"/>
                </a:solidFill>
                <a:latin typeface="Calibri"/>
                <a:ea typeface="Calibri"/>
                <a:cs typeface="Calibri"/>
                <a:sym typeface="Calibri"/>
                <a:hlinkClick r:id="rId3"/>
              </a:rPr>
              <a:t>https://marble.worldlabs.ai</a:t>
            </a:r>
            <a:r>
              <a:rPr lang="en" sz="1100">
                <a:solidFill>
                  <a:schemeClr val="dk1"/>
                </a:solidFill>
                <a:latin typeface="Calibri"/>
                <a:ea typeface="Calibri"/>
                <a:cs typeface="Calibri"/>
                <a:sym typeface="Calibri"/>
              </a:rPr>
              <a:t> ) - allowing users to generate and explore fully navigable 3D worlds from text or image prompts. Applications include: </a:t>
            </a:r>
            <a:endParaRPr sz="1100">
              <a:solidFill>
                <a:schemeClr val="dk1"/>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Virtual production for films (cutting production time by 40x)</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Game development</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Robotics simulation and training</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Design and architecture</a:t>
            </a:r>
            <a:endParaRPr sz="1100">
              <a:solidFill>
                <a:srgbClr val="3C78D8"/>
              </a:solidFill>
              <a:latin typeface="Calibri"/>
              <a:ea typeface="Calibri"/>
              <a:cs typeface="Calibri"/>
              <a:sym typeface="Calibri"/>
            </a:endParaRPr>
          </a:p>
          <a:p>
            <a:pPr marL="4000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Even psychological research for therapy scenarios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 notes we're far from achieving AGI, current AI can't perform tasks a toddler can do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Stanford's Human-Centered AI Institute (HAI, founded in 2018) - interdisciplinary research, education, policy work, AI governance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2015-2016, tech companies avoided using the term "AI" because it was considered a "dirty word" - now every company is an AI company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Advice for young talent: Li encourages intellectual fearlessness and focusing on passion, mission alignment, and team quality rather than overanalyzing every aspect of job decisions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Every person has a role in AI, whether as creators using it as a tool, citizens participating in governance, or workers being augmented by it</a:t>
            </a:r>
            <a:endParaRPr sz="1100">
              <a:solidFill>
                <a:schemeClr val="dk1"/>
              </a:solidFill>
              <a:latin typeface="Calibri"/>
              <a:ea typeface="Calibri"/>
              <a:cs typeface="Calibri"/>
              <a:sym typeface="Calibri"/>
            </a:endParaRPr>
          </a:p>
        </p:txBody>
      </p:sp>
      <p:pic>
        <p:nvPicPr>
          <p:cNvPr id="281" name="Google Shape;281;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07323" y="346773"/>
            <a:ext cx="3581575" cy="2079825"/>
          </a:xfrm>
          <a:prstGeom prst="rect">
            <a:avLst/>
          </a:prstGeom>
          <a:noFill/>
          <a:ln w="9525" cap="flat" cmpd="sng">
            <a:solidFill>
              <a:srgbClr val="FF0000"/>
            </a:solidFill>
            <a:prstDash val="solid"/>
            <a:round/>
            <a:headEnd type="none" w="sm" len="sm"/>
            <a:tailEnd type="none" w="sm" len="sm"/>
          </a:ln>
        </p:spPr>
      </p:pic>
      <p:sp>
        <p:nvSpPr>
          <p:cNvPr id="282" name="Google Shape;282;p32"/>
          <p:cNvSpPr txBox="1"/>
          <p:nvPr/>
        </p:nvSpPr>
        <p:spPr>
          <a:xfrm>
            <a:off x="5680298" y="2496050"/>
            <a:ext cx="33357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100">
                <a:solidFill>
                  <a:schemeClr val="dk1"/>
                </a:solidFill>
                <a:latin typeface="Calibri"/>
                <a:ea typeface="Calibri"/>
                <a:cs typeface="Calibri"/>
                <a:sym typeface="Calibri"/>
              </a:rPr>
              <a:t>         Lenny Rachitsky                                Dr. Fei-Fei Li</a:t>
            </a:r>
            <a:endParaRPr sz="900">
              <a:solidFill>
                <a:schemeClr val="dk1"/>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5"/>
              </a:rPr>
              <a:t>https://www.lennysnewsletter.com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83" name="Google Shape;283;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78338" y="2974850"/>
            <a:ext cx="3239549" cy="2016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- 6</a:t>
            </a:r>
            <a:endParaRPr sz="2000" b="1" i="0" u="none" strike="noStrike" cap="none">
              <a:solidFill>
                <a:schemeClr val="dk1"/>
              </a:solidFill>
              <a:latin typeface="Calibri"/>
              <a:ea typeface="Calibri"/>
              <a:cs typeface="Calibri"/>
              <a:sym typeface="Calibri"/>
            </a:endParaRPr>
          </a:p>
        </p:txBody>
      </p:sp>
      <p:sp>
        <p:nvSpPr>
          <p:cNvPr id="289" name="Google Shape;289;p33"/>
          <p:cNvSpPr txBox="1"/>
          <p:nvPr/>
        </p:nvSpPr>
        <p:spPr>
          <a:xfrm>
            <a:off x="55075" y="346776"/>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Gino Wickman Interviewed by Joe Polish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Entrepreneurship, business systems, personal growth, and finding peace after success - </a:t>
            </a:r>
            <a:r>
              <a:rPr lang="en" sz="1100" u="sng">
                <a:solidFill>
                  <a:schemeClr val="hlink"/>
                </a:solidFill>
                <a:latin typeface="Calibri"/>
                <a:ea typeface="Calibri"/>
                <a:cs typeface="Calibri"/>
                <a:sym typeface="Calibri"/>
                <a:hlinkClick r:id="rId3"/>
              </a:rPr>
              <a:t>https://www.youtube.com/watch?v=Nos1pigdUaU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Two hour interview. True entrepreneurship requires specific innate traits and demands extreme sacrifice. Build the right systems and team to create freedom. Success alone won't bring fulfillment—you must do inner work to release trauma, love yourself, and find peace. The journey is everything; there is no final destination</a:t>
            </a:r>
            <a:endParaRPr sz="900">
              <a:solidFill>
                <a:schemeClr val="dk1"/>
              </a:solidFill>
              <a:latin typeface="Calibri"/>
              <a:ea typeface="Calibri"/>
              <a:cs typeface="Calibri"/>
              <a:sym typeface="Calibri"/>
            </a:endParaRPr>
          </a:p>
        </p:txBody>
      </p:sp>
      <p:pic>
        <p:nvPicPr>
          <p:cNvPr id="290" name="Google Shape;290;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0475" y="239087"/>
            <a:ext cx="2473301" cy="1588474"/>
          </a:xfrm>
          <a:prstGeom prst="rect">
            <a:avLst/>
          </a:prstGeom>
          <a:noFill/>
          <a:ln w="9525" cap="flat" cmpd="sng">
            <a:solidFill>
              <a:srgbClr val="FF0000"/>
            </a:solidFill>
            <a:prstDash val="solid"/>
            <a:round/>
            <a:headEnd type="none" w="sm" len="sm"/>
            <a:tailEnd type="none" w="sm" len="sm"/>
          </a:ln>
        </p:spPr>
      </p:pic>
      <p:sp>
        <p:nvSpPr>
          <p:cNvPr id="291" name="Google Shape;291;p33"/>
          <p:cNvSpPr txBox="1"/>
          <p:nvPr/>
        </p:nvSpPr>
        <p:spPr>
          <a:xfrm>
            <a:off x="55075" y="1771127"/>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Agency - How to Survive the AI Bubble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https://www.youtube.com/watch?v=amAYKfRL8FI</a:t>
            </a:r>
            <a:endParaRPr sz="1100">
              <a:solidFill>
                <a:schemeClr val="dk1"/>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Focus on small-to-medium businesses (SMBs) </a:t>
            </a:r>
            <a:r>
              <a:rPr lang="en" sz="1100">
                <a:solidFill>
                  <a:srgbClr val="3C78D8"/>
                </a:solidFill>
                <a:latin typeface="Calibri"/>
                <a:ea typeface="Calibri"/>
                <a:cs typeface="Calibri"/>
                <a:sym typeface="Calibri"/>
              </a:rPr>
              <a:t>which are more agile and see 10-15% higher success rates than enterprises. Smaller companies can rebuild systems from scratch without legacy constraints</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Obsess Over ROI</a:t>
            </a:r>
            <a:r>
              <a:rPr lang="en" sz="1100">
                <a:solidFill>
                  <a:srgbClr val="3C78D8"/>
                </a:solidFill>
                <a:latin typeface="Calibri"/>
                <a:ea typeface="Calibri"/>
                <a:cs typeface="Calibri"/>
                <a:sym typeface="Calibri"/>
              </a:rPr>
              <a:t>: Niche down to collect performance data from previous clients and provide concrete ROI estimates in sales calls</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Shift to Optimizer Role</a:t>
            </a:r>
            <a:r>
              <a:rPr lang="en" sz="1100">
                <a:solidFill>
                  <a:srgbClr val="3C78D8"/>
                </a:solidFill>
                <a:latin typeface="Calibri"/>
                <a:ea typeface="Calibri"/>
                <a:cs typeface="Calibri"/>
                <a:sym typeface="Calibri"/>
              </a:rPr>
              <a:t>: Successful AI projects require 12-18 months of constant optimization, not set-and-forget deployment. Focus on iterative feedback loops, prompt adjustments, long-term refinement</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Become AI Transformation Partner</a:t>
            </a:r>
            <a:r>
              <a:rPr lang="en" sz="1100">
                <a:solidFill>
                  <a:srgbClr val="3C78D8"/>
                </a:solidFill>
                <a:latin typeface="Calibri"/>
                <a:ea typeface="Calibri"/>
                <a:cs typeface="Calibri"/>
                <a:sym typeface="Calibri"/>
              </a:rPr>
              <a:t>: Offer education and training alongside development, as this provides easiest ROI. Lead with AI literacy audits, workshops, and courses before moving into custom development.</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Default to Retainers</a:t>
            </a:r>
            <a:r>
              <a:rPr lang="en" sz="1100">
                <a:solidFill>
                  <a:srgbClr val="3C78D8"/>
                </a:solidFill>
                <a:latin typeface="Calibri"/>
                <a:ea typeface="Calibri"/>
                <a:cs typeface="Calibri"/>
                <a:sym typeface="Calibri"/>
              </a:rPr>
              <a:t>: Build essential systems that become critical to operations, ensuring recurring revenue even during economic downturns. This protects against sudden budget cuts if the bubble deflates.</a:t>
            </a:r>
            <a:endParaRPr sz="1100">
              <a:solidFill>
                <a:schemeClr val="dk1"/>
              </a:solidFill>
              <a:latin typeface="Calibri"/>
              <a:ea typeface="Calibri"/>
              <a:cs typeface="Calibri"/>
              <a:sym typeface="Calibri"/>
            </a:endParaRPr>
          </a:p>
        </p:txBody>
      </p:sp>
      <p:pic>
        <p:nvPicPr>
          <p:cNvPr id="292" name="Google Shape;292;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84150" y="1912126"/>
            <a:ext cx="2561518" cy="1434450"/>
          </a:xfrm>
          <a:prstGeom prst="rect">
            <a:avLst/>
          </a:prstGeom>
          <a:noFill/>
          <a:ln w="9525" cap="flat" cmpd="sng">
            <a:solidFill>
              <a:srgbClr val="FF0000"/>
            </a:solidFill>
            <a:prstDash val="solid"/>
            <a:round/>
            <a:headEnd type="none" w="sm" len="sm"/>
            <a:tailEnd type="none" w="sm" len="sm"/>
          </a:ln>
        </p:spPr>
      </p:pic>
      <p:pic>
        <p:nvPicPr>
          <p:cNvPr id="293" name="Google Shape;293;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557653" y="3431148"/>
            <a:ext cx="2155594" cy="1434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4"/>
          <p:cNvSpPr txBox="1"/>
          <p:nvPr/>
        </p:nvSpPr>
        <p:spPr>
          <a:xfrm>
            <a:off x="55075" y="20375"/>
            <a:ext cx="4996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10 Metatrends That Will Define Your Future</a:t>
            </a:r>
            <a:endParaRPr sz="2000" b="1" i="0" u="none" strike="noStrike" cap="none">
              <a:solidFill>
                <a:schemeClr val="dk1"/>
              </a:solidFill>
              <a:latin typeface="Calibri"/>
              <a:ea typeface="Calibri"/>
              <a:cs typeface="Calibri"/>
              <a:sym typeface="Calibri"/>
            </a:endParaRPr>
          </a:p>
        </p:txBody>
      </p:sp>
      <p:sp>
        <p:nvSpPr>
          <p:cNvPr id="299" name="Google Shape;299;p34"/>
          <p:cNvSpPr txBox="1"/>
          <p:nvPr/>
        </p:nvSpPr>
        <p:spPr>
          <a:xfrm>
            <a:off x="55075" y="346775"/>
            <a:ext cx="44850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10 Metatrends That Will Define Your Future - by Peter H. Diamandis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speed of exponential tech is accelerating</a:t>
            </a:r>
            <a:r>
              <a:rPr lang="en" sz="1100">
                <a:solidFill>
                  <a:schemeClr val="dk1"/>
                </a:solidFill>
                <a:latin typeface="Calibri"/>
                <a:ea typeface="Calibri"/>
                <a:cs typeface="Calibri"/>
                <a:sym typeface="Calibri"/>
              </a:rPr>
              <a:t>, and these technologies are converging and reinventing everything in their path. There will be much change, but that change will uplift humanity &amp; create Abundance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next decade (2025 to 2035) represents the most transformative period in human history.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Metatrend is the unstoppable, long-term transformation of an industry or domain—propelled by the convergence of multiple exponential technologies. It systematically digitizes, dematerializes, demonetizes, and democratizes the field, reshaping it at an accelerating pace and unlocking entirely new possibilities. Here are 10 Metatrends:</a:t>
            </a:r>
            <a:endParaRPr sz="1100">
              <a:solidFill>
                <a:schemeClr val="dk1"/>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Abundance: Food, Energy, Education</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AI &amp; Quantum</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Humanoid Robotics &amp; Autonomous Systems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Longevity, Medicine &amp; Biotechnology</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Digital Currencies, Crypto &amp; DeFi</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Robotaxis, Flying Cars &amp; Drones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Networks &amp; Sensors</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Digital Manufacturing</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Metaverse and XR</a:t>
            </a:r>
            <a:endParaRPr sz="1100" b="1">
              <a:solidFill>
                <a:srgbClr val="3C78D8"/>
              </a:solidFill>
              <a:latin typeface="Calibri"/>
              <a:ea typeface="Calibri"/>
              <a:cs typeface="Calibri"/>
              <a:sym typeface="Calibri"/>
            </a:endParaRPr>
          </a:p>
          <a:p>
            <a:pPr marL="685800" marR="0" lvl="0" indent="-127000" algn="l" rtl="0">
              <a:lnSpc>
                <a:spcPct val="100000"/>
              </a:lnSpc>
              <a:spcBef>
                <a:spcPts val="0"/>
              </a:spcBef>
              <a:spcAft>
                <a:spcPts val="0"/>
              </a:spcAft>
              <a:buClr>
                <a:srgbClr val="3C78D8"/>
              </a:buClr>
              <a:buSzPts val="1100"/>
              <a:buFont typeface="Calibri"/>
              <a:buAutoNum type="arabicPeriod"/>
            </a:pPr>
            <a:r>
              <a:rPr lang="en" sz="1100" b="1">
                <a:solidFill>
                  <a:srgbClr val="3C78D8"/>
                </a:solidFill>
                <a:latin typeface="Calibri"/>
                <a:ea typeface="Calibri"/>
                <a:cs typeface="Calibri"/>
                <a:sym typeface="Calibri"/>
              </a:rPr>
              <a:t>Space Exploration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enhances every other technology, robotics enables space exploration, quantum computing accelerates drug discovery, and networks create the data layer that makes everything smarter. This is exponential multiplication: a 'Cambrian Explosion' of creative genius solving problems at the speed of digital superintelligence</a:t>
            </a:r>
            <a:endParaRPr sz="1100">
              <a:solidFill>
                <a:schemeClr val="dk1"/>
              </a:solidFill>
              <a:latin typeface="Calibri"/>
              <a:ea typeface="Calibri"/>
              <a:cs typeface="Calibri"/>
              <a:sym typeface="Calibri"/>
            </a:endParaRPr>
          </a:p>
        </p:txBody>
      </p:sp>
      <p:pic>
        <p:nvPicPr>
          <p:cNvPr id="300" name="Google Shape;300;p3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25825" y="213750"/>
            <a:ext cx="1141150" cy="1524600"/>
          </a:xfrm>
          <a:prstGeom prst="rect">
            <a:avLst/>
          </a:prstGeom>
          <a:noFill/>
          <a:ln>
            <a:noFill/>
          </a:ln>
        </p:spPr>
      </p:pic>
      <p:sp>
        <p:nvSpPr>
          <p:cNvPr id="301" name="Google Shape;301;p34"/>
          <p:cNvSpPr txBox="1"/>
          <p:nvPr/>
        </p:nvSpPr>
        <p:spPr>
          <a:xfrm>
            <a:off x="4614725" y="1828500"/>
            <a:ext cx="44850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Exponential technologies will solve humanity’s greatest challenges faster than new problems emerge. By 2035, food, energy, and education will be democratized at scale through autonomous systems and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evolves from a tool to the fundamental substrate of civilization itself. Every person will deploy personalized swarms of AI agents, scientific discovery will become autonomous and continuous, and quantum-AI systems will solve previously intractable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Millions and then billions humanoid robots will integrate into daily life by 2035, handling 80% of household chores, providing 24/7 eldercare, and working in extreme environments including off-world settlements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Medicine shifts from reactive to anticipatory and preventive, with aging becoming optional rather than inevitable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pattern of expensive-to-free is unfolding simultaneously across every Metatrend. Gene sequencing has dropped from $100 million to just $200. Advanced AI systems are now free to billions. Soon, longevity therapies, space access, and personalized education will follow.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Each Metatrend carries profound dark sides that demand proactive governance: from AI alignment challenges and job displacement, to privacy erosion and new forms of inequality.</a:t>
            </a:r>
            <a:endParaRPr sz="11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5"/>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07" name="Google Shape;307;p35"/>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08" name="Google Shape;308;p35"/>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113K in 2025 (as of November 14)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09" name="Google Shape;309;p35"/>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200,283 people laid off (630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10" name="Google Shape;310;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585762"/>
            <a:ext cx="4951702" cy="1863838"/>
          </a:xfrm>
          <a:prstGeom prst="rect">
            <a:avLst/>
          </a:prstGeom>
          <a:noFill/>
          <a:ln w="9525" cap="flat" cmpd="sng">
            <a:solidFill>
              <a:srgbClr val="FF0000"/>
            </a:solidFill>
            <a:prstDash val="solid"/>
            <a:round/>
            <a:headEnd type="none" w="sm" len="sm"/>
            <a:tailEnd type="none" w="sm" len="sm"/>
          </a:ln>
        </p:spPr>
      </p:pic>
      <p:pic>
        <p:nvPicPr>
          <p:cNvPr id="311" name="Google Shape;311;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6303"/>
            <a:ext cx="4951701" cy="254350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pic>
        <p:nvPicPr>
          <p:cNvPr id="316" name="Google Shape;316;p3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17" name="Google Shape;317;p3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18" name="Google Shape;318;p3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19" name="Google Shape;319;p3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20" name="Google Shape;320;p36"/>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21" name="Google Shape;321;p36"/>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37"/>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6198</Words>
  <Application>Microsoft Macintosh PowerPoint</Application>
  <PresentationFormat>On-screen Show (16:9)</PresentationFormat>
  <Paragraphs>540</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2025-11-19T01:59:33Z</dcterms:modified>
</cp:coreProperties>
</file>