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6858000" cy="9144000"/>
  <p:embeddedFontLst>
    <p:embeddedFont>
      <p:font typeface="Roboto Mono" pitchFamily="49"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B9B5A43-BCD1-46C5-A69A-043282906BB4}">
  <a:tblStyle styleId="{7B9B5A43-BCD1-46C5-A69A-043282906BB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0"/>
  </p:normalViewPr>
  <p:slideViewPr>
    <p:cSldViewPr>
      <p:cViewPr varScale="1">
        <p:scale>
          <a:sx n="123" d="100"/>
          <a:sy n="123" d="100"/>
        </p:scale>
        <p:origin x="61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8e1665059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8e1665059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90c7b1f39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g390c7b1f39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a27c766750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g3a27c766750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6fe9bcd8d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 name="Google Shape;170;g36fe9bcd8d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a1cbb894a7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g3a1cbb894a7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6659435892_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36659435892_1_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a1c0fed2d9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g3a1c0fed2d9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90c7b1f391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1" name="Google Shape;201;g390c7b1f391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a1cbb894a7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 name="Google Shape;209;g3a1cbb894a7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700f1eaa0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8" name="Google Shape;218;g3700f1eaa0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a285449f75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7" name="Google Shape;227;g3a285449f75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701d672999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3" name="Google Shape;243;g3701d672999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90c65ee22f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g390c65ee22f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a1a183d8e3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g3a1a183d8e3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a17ed87b48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8" name="Google Shape;268;g3a17ed87b48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3a17ed87b4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6" name="Google Shape;276;g3a17ed87b4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90c65ee22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g390c65ee22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3a1cbb894a7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5" name="Google Shape;295;g3a1cbb894a7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a1a183d8e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3" name="Google Shape;303;g3a1a183d8e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2" name="Google Shape;312;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2" name="Google Shape;322;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2" name="Google Shape;332;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www.anthropic.com/news/claude-opus-4-1" TargetMode="External"/><Relationship Id="rId26" Type="http://schemas.openxmlformats.org/officeDocument/2006/relationships/hyperlink" Target="https://platform.openai.com/docs/models/gpt-5-chat-latest" TargetMode="External"/><Relationship Id="rId39" Type="http://schemas.openxmlformats.org/officeDocument/2006/relationships/hyperlink" Target="https://huggingface.co/meituan-longcat/LongCat-Flash-Chat" TargetMode="External"/><Relationship Id="rId21" Type="http://schemas.openxmlformats.org/officeDocument/2006/relationships/hyperlink" Target="https://x.com/OpenAI/status/1905331956856050135" TargetMode="External"/><Relationship Id="rId34" Type="http://schemas.openxmlformats.org/officeDocument/2006/relationships/hyperlink" Target="https://api-docs.deepseek.com/news/news250821" TargetMode="External"/><Relationship Id="rId7" Type="http://schemas.openxmlformats.org/officeDocument/2006/relationships/hyperlink" Target="https://openlm.ai/chatbot-arena/"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studio.google.com/app/prompts/new_chat?model=gemini-2.5-pro" TargetMode="External"/><Relationship Id="rId25" Type="http://schemas.openxmlformats.org/officeDocument/2006/relationships/hyperlink" Target="https://docs.z.ai/guides/llm/glm-4.6" TargetMode="External"/><Relationship Id="rId33" Type="http://schemas.openxmlformats.org/officeDocument/2006/relationships/hyperlink" Target="https://huggingface.co/moonshotai/Kimi-K2-Instruct-0905" TargetMode="External"/><Relationship Id="rId38" Type="http://schemas.openxmlformats.org/officeDocument/2006/relationships/hyperlink" Target="https://www.anthropic.com/news/claude-haiku-4-5" TargetMode="External"/><Relationship Id="rId2" Type="http://schemas.openxmlformats.org/officeDocument/2006/relationships/notesSlide" Target="../notesSlides/notesSlide2.xml"/><Relationship Id="rId16" Type="http://schemas.openxmlformats.org/officeDocument/2006/relationships/hyperlink" Target="https://artificialanalysis.ai/models/grok-4" TargetMode="External"/><Relationship Id="rId20" Type="http://schemas.openxmlformats.org/officeDocument/2006/relationships/hyperlink" Target="https://openai.com/index/introducing-gpt-4-5/" TargetMode="External"/><Relationship Id="rId29" Type="http://schemas.openxmlformats.org/officeDocument/2006/relationships/hyperlink" Target="https://api-docs.deepseek.com/news/news250929"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www.alibabacloud.com/help/en/model-studio/models" TargetMode="External"/><Relationship Id="rId32" Type="http://schemas.openxmlformats.org/officeDocument/2006/relationships/hyperlink" Target="https://api-docs.deepseek.com/news/news250528" TargetMode="External"/><Relationship Id="rId37" Type="http://schemas.openxmlformats.org/officeDocument/2006/relationships/hyperlink" Target="https://api-docs.deepseek.com/news/news250922"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openai.com/index/introducing-o3-and-o4-mini/" TargetMode="External"/><Relationship Id="rId28" Type="http://schemas.openxmlformats.org/officeDocument/2006/relationships/hyperlink" Target="https://www.anthropic.com/news/claude-4" TargetMode="External"/><Relationship Id="rId36" Type="http://schemas.openxmlformats.org/officeDocument/2006/relationships/hyperlink" Target="https://qwen.ai/blog?id=99f0335c4ad9ff6153e517418d48535ab6d8afef&amp;from=research.latest-advancements-list" TargetMode="External"/><Relationship Id="rId10" Type="http://schemas.openxmlformats.org/officeDocument/2006/relationships/hyperlink" Target="https://llmworld.net/llm_leaderboards/" TargetMode="External"/><Relationship Id="rId19" Type="http://schemas.openxmlformats.org/officeDocument/2006/relationships/hyperlink" Target="https://www.anthropic.com/news/claude-sonnet-4-5" TargetMode="External"/><Relationship Id="rId31" Type="http://schemas.openxmlformats.org/officeDocument/2006/relationships/hyperlink" Target="https://x.ai/news/grok-4-fast"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platform.openai.com/docs/models/gpt-5" TargetMode="External"/><Relationship Id="rId27" Type="http://schemas.openxmlformats.org/officeDocument/2006/relationships/hyperlink" Target="https://qwen.ai/blog?id=241398b9cd6353de490b0f82806c7848c5d2777d&amp;from=research.latest-advancements-list" TargetMode="External"/><Relationship Id="rId30" Type="http://schemas.openxmlformats.org/officeDocument/2006/relationships/hyperlink" Target="https://huggingface.co/Qwen/Qwen3-235B-A22B-Instruct-2507" TargetMode="External"/><Relationship Id="rId35" Type="http://schemas.openxmlformats.org/officeDocument/2006/relationships/hyperlink" Target="https://moonshotai.github.io/Kimi-K2/"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www.youtube.com/watch?v=-QbM6_BSdS0" TargetMode="External"/><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www.worldlabs.ai" TargetMode="External"/><Relationship Id="rId5" Type="http://schemas.openxmlformats.org/officeDocument/2006/relationships/hyperlink" Target="https://www.worldlabs.ai/blog/marble-world-model" TargetMode="External"/><Relationship Id="rId4" Type="http://schemas.openxmlformats.org/officeDocument/2006/relationships/hyperlink" Target="https://observer.com/2025/11/fei-fei-li-world-labs-unveils-first-product/"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anthropic.com/engineering/code-execution-with-mcp"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OIKTsVjTVJE"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builtin.com/articles/openai-jobs-platform"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hyperlink" Target="https://openai.com/index/gpt-5-1/" TargetMode="Externa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40eUFiGVeMo"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s://research.google/blog/introducing-nested-learning-a-new-ml-paradigm-for-continual-learning/"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hyperlink" Target="https://blog.google/technology/developers/gemini-api-structured-outputs/"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PJs2oldF8s0"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hyperlink" Target="https://arxiv.org/abs/2511.07587" TargetMode="External"/></Relationships>
</file>

<file path=ppt/slides/_rels/slide11.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hyperlink" Target="https://www.youtube.com/watch?v=6zw2p2l4fHI" TargetMode="External"/><Relationship Id="rId7"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verdent.ai" TargetMode="External"/><Relationship Id="rId5" Type="http://schemas.openxmlformats.org/officeDocument/2006/relationships/hyperlink" Target="https://www.youtube.com/watch?v=bhqLatL1Km8" TargetMode="External"/><Relationship Id="rId4" Type="http://schemas.openxmlformats.org/officeDocument/2006/relationships/hyperlink" Target="http://media.io" TargetMode="External"/></Relationships>
</file>

<file path=ppt/slides/_rels/slide12.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hyperlink" Target="https://vibechart.ai/" TargetMode="External"/><Relationship Id="rId7" Type="http://schemas.openxmlformats.org/officeDocument/2006/relationships/hyperlink" Target="https://www.youtube.com/watch?v=bdBfYYhSXLQ"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hyperlink" Target="https://sheetai.app" TargetMode="External"/><Relationship Id="rId5" Type="http://schemas.openxmlformats.org/officeDocument/2006/relationships/hyperlink" Target="https://www.chatcsv.co" TargetMode="External"/><Relationship Id="rId4" Type="http://schemas.openxmlformats.org/officeDocument/2006/relationships/hyperlink" Target="https://www.shortcut.ai" TargetMode="External"/><Relationship Id="rId9" Type="http://schemas.openxmlformats.org/officeDocument/2006/relationships/image" Target="../media/image13.png"/></Relationships>
</file>

<file path=ppt/slides/_rels/slide13.xml.rels><?xml version="1.0" encoding="UTF-8" standalone="yes"?>
<Relationships xmlns="http://schemas.openxmlformats.org/package/2006/relationships"><Relationship Id="rId8" Type="http://schemas.openxmlformats.org/officeDocument/2006/relationships/hyperlink" Target="https://huggingface.co/collections/bezzam/omnilingual-asr-1-600-languages" TargetMode="External"/><Relationship Id="rId13" Type="http://schemas.openxmlformats.org/officeDocument/2006/relationships/image" Target="../media/image19.png"/><Relationship Id="rId3" Type="http://schemas.openxmlformats.org/officeDocument/2006/relationships/hyperlink" Target="https://microsoft.ai/news/towards-humanist-superintelligence/" TargetMode="External"/><Relationship Id="rId7" Type="http://schemas.openxmlformats.org/officeDocument/2006/relationships/hyperlink" Target="https://www.scmp.com/tech/big-tech/article/3332365/bytedance-unveils-chinas-most-affordable-ai-coding-agent-just-us130-month" TargetMode="External"/><Relationship Id="rId12"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17.png"/><Relationship Id="rId5" Type="http://schemas.openxmlformats.org/officeDocument/2006/relationships/hyperlink" Target="https://huggingface.co/baidu/ERNIE-4.5-VL-28B-A3B-Thinking" TargetMode="External"/><Relationship Id="rId10" Type="http://schemas.openxmlformats.org/officeDocument/2006/relationships/image" Target="../media/image16.jpeg"/><Relationship Id="rId4" Type="http://schemas.openxmlformats.org/officeDocument/2006/relationships/image" Target="../media/image14.jpeg"/><Relationship Id="rId9" Type="http://schemas.openxmlformats.org/officeDocument/2006/relationships/hyperlink" Target="https://github.com/facebookresearch/omnilingual-asr"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aGJZ-1hM6-E"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hyperlink" Target="https://arxiv.org/pdf/2510.15511"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07fuMWzFSUw"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hyperlink" Target="https://www.sympy.org" TargetMode="External"/><Relationship Id="rId7"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python.plainenglish.io/the-hidden-python-library-thats-making-openai-engineers-jealous-eda41281fc26" TargetMode="External"/><Relationship Id="rId5" Type="http://schemas.openxmlformats.org/officeDocument/2006/relationships/hyperlink" Target="https://www.geeksforgeeks.org/python/python-getting-started-with-sympy-module/" TargetMode="External"/><Relationship Id="rId4" Type="http://schemas.openxmlformats.org/officeDocument/2006/relationships/hyperlink" Target="https://en.wikipedia.org/wiki/SymPy"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kimi.com"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www.youtube.com/watch?v=3SliW74opyY"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7.jpeg"/><Relationship Id="rId5" Type="http://schemas.openxmlformats.org/officeDocument/2006/relationships/image" Target="../media/image26.png"/><Relationship Id="rId4" Type="http://schemas.openxmlformats.org/officeDocument/2006/relationships/hyperlink" Target="https://slingshotai.com"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7xBRp-nvCNw"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watch?v=azd5hrw5j6w"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hyperlink" Target="https://www.youtube.com/watch?v=aWkCVwVBXfU"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hyperlink" Target="https://trueup.io/layoffs"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78651" y="630966"/>
            <a:ext cx="44202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Crowd-sourced "LM Arena" Leaderboard</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World Labs - Marble World Model</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Code execution with MCP</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OpenAI "GPT-5.1 Instant &amp; Thinking</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OpenAI "AI-powered jobs platform" in mid-2026</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Google Nested Learning</a:t>
            </a:r>
            <a:endParaRPr sz="1600" b="1">
              <a:solidFill>
                <a:srgbClr val="3C78D8"/>
              </a:solidFill>
              <a:latin typeface="Calibri"/>
              <a:ea typeface="Calibri"/>
              <a:cs typeface="Calibri"/>
              <a:sym typeface="Calibri"/>
            </a:endParaRPr>
          </a:p>
        </p:txBody>
      </p:sp>
      <p:sp>
        <p:nvSpPr>
          <p:cNvPr id="64" name="Google Shape;64;p15"/>
          <p:cNvSpPr txBox="1"/>
          <p:nvPr/>
        </p:nvSpPr>
        <p:spPr>
          <a:xfrm>
            <a:off x="0" y="11"/>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i="0" u="none" strike="noStrike" cap="none">
                <a:solidFill>
                  <a:srgbClr val="3C78D8"/>
                </a:solidFill>
                <a:latin typeface="Calibri"/>
                <a:ea typeface="Calibri"/>
                <a:cs typeface="Calibri"/>
                <a:sym typeface="Calibri"/>
              </a:rPr>
              <a:t>AI Updates</a:t>
            </a:r>
            <a:r>
              <a:rPr lang="en" sz="2200" b="1" i="0" u="none" strike="noStrike" cap="none">
                <a:solidFill>
                  <a:srgbClr val="3C78D8"/>
                </a:solidFill>
                <a:latin typeface="Calibri"/>
                <a:ea typeface="Calibri"/>
                <a:cs typeface="Calibri"/>
                <a:sym typeface="Calibri"/>
              </a:rPr>
              <a:t> - November </a:t>
            </a:r>
            <a:r>
              <a:rPr lang="en" sz="2200" b="1">
                <a:solidFill>
                  <a:srgbClr val="3C78D8"/>
                </a:solidFill>
                <a:latin typeface="Calibri"/>
                <a:ea typeface="Calibri"/>
                <a:cs typeface="Calibri"/>
                <a:sym typeface="Calibri"/>
              </a:rPr>
              <a:t>14, </a:t>
            </a:r>
            <a:r>
              <a:rPr lang="en" sz="2200" b="1" i="0" u="none" strike="noStrike" cap="none">
                <a:solidFill>
                  <a:srgbClr val="3C78D8"/>
                </a:solidFill>
                <a:latin typeface="Calibri"/>
                <a:ea typeface="Calibri"/>
                <a:cs typeface="Calibri"/>
                <a:sym typeface="Calibri"/>
              </a:rPr>
              <a:t>2025</a:t>
            </a:r>
            <a:endParaRPr sz="2200" b="1" i="0" u="none" strike="noStrike" cap="none">
              <a:solidFill>
                <a:srgbClr val="3C78D8"/>
              </a:solidFill>
              <a:latin typeface="Calibri"/>
              <a:ea typeface="Calibri"/>
              <a:cs typeface="Calibri"/>
              <a:sym typeface="Calibri"/>
            </a:endParaRPr>
          </a:p>
        </p:txBody>
      </p:sp>
      <p:sp>
        <p:nvSpPr>
          <p:cNvPr id="65" name="Google Shape;65;p15"/>
          <p:cNvSpPr txBox="1"/>
          <p:nvPr/>
        </p:nvSpPr>
        <p:spPr>
          <a:xfrm>
            <a:off x="4576975" y="3914370"/>
            <a:ext cx="4502400" cy="1003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AI make money in Small Niches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Become AI Orchestrator</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Making Money During AI Gold Rush</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i="0" u="none" strike="noStrike" cap="none">
                <a:solidFill>
                  <a:srgbClr val="3C78D8"/>
                </a:solidFill>
                <a:latin typeface="Calibri"/>
                <a:ea typeface="Calibri"/>
                <a:cs typeface="Calibri"/>
                <a:sym typeface="Calibri"/>
              </a:rPr>
              <a:t>Jobs, Layoffs, </a:t>
            </a:r>
            <a:r>
              <a:rPr lang="en" sz="1600" b="1">
                <a:solidFill>
                  <a:srgbClr val="3C78D8"/>
                </a:solidFill>
                <a:latin typeface="Calibri"/>
                <a:ea typeface="Calibri"/>
                <a:cs typeface="Calibri"/>
                <a:sym typeface="Calibri"/>
              </a:rPr>
              <a:t>demand for AI Engineers</a:t>
            </a:r>
            <a:endParaRPr sz="1600" b="1" i="0" u="none" strike="noStrike" cap="none">
              <a:solidFill>
                <a:srgbClr val="3C78D8"/>
              </a:solidFill>
              <a:latin typeface="Calibri"/>
              <a:ea typeface="Calibri"/>
              <a:cs typeface="Calibri"/>
              <a:sym typeface="Calibri"/>
            </a:endParaRPr>
          </a:p>
        </p:txBody>
      </p:sp>
      <p:sp>
        <p:nvSpPr>
          <p:cNvPr id="66" name="Google Shape;66;p15"/>
          <p:cNvSpPr txBox="1"/>
          <p:nvPr/>
        </p:nvSpPr>
        <p:spPr>
          <a:xfrm>
            <a:off x="78651" y="2201830"/>
            <a:ext cx="4420200" cy="2727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Gemini &amp; Anthropic support JSON Schema</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World Model RAG</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Google Nano Banana 2 (Pro) preview</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Verdent AI coding agent</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Analyze Data in Excel or GSheets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Yann LeCun is planning to leave Meta</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Microsoft's Humanist Superintelligence Vision</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Baidu’s ERNIE-4.5-VL-28B-A3B-Thinking</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China’s most affordable AI coding agent</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Lovable Nears 8M Users (up from 2.3M in July)</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Meta ASR Model for 1,600+ Languages</a:t>
            </a:r>
            <a:endParaRPr sz="1600" b="1">
              <a:solidFill>
                <a:srgbClr val="3C78D8"/>
              </a:solidFill>
              <a:latin typeface="Calibri"/>
              <a:ea typeface="Calibri"/>
              <a:cs typeface="Calibri"/>
              <a:sym typeface="Calibri"/>
            </a:endParaRPr>
          </a:p>
        </p:txBody>
      </p:sp>
      <p:sp>
        <p:nvSpPr>
          <p:cNvPr id="67" name="Google Shape;67;p15"/>
          <p:cNvSpPr txBox="1"/>
          <p:nvPr/>
        </p:nvSpPr>
        <p:spPr>
          <a:xfrm>
            <a:off x="4576975" y="630947"/>
            <a:ext cx="4502400" cy="2235000"/>
          </a:xfrm>
          <a:prstGeom prst="rect">
            <a:avLst/>
          </a:prstGeom>
          <a:solidFill>
            <a:srgbClr val="C7E6AF"/>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The "Magnificent 7"</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Microsoft: more GPUs than Electricity</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Nvidia invest in startups that buy its GPUs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Language Models are Injective and Invertible</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AI Projects - succeed or fail?</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Emad Mostaque Interview</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SymPy for Math instead of LLM</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Which LLMs are available in Moscow</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AI for Mental Health</a:t>
            </a:r>
            <a:endParaRPr sz="1600" b="1">
              <a:solidFill>
                <a:srgbClr val="3C78D8"/>
              </a:solidFill>
              <a:latin typeface="Calibri"/>
              <a:ea typeface="Calibri"/>
              <a:cs typeface="Calibri"/>
              <a:sym typeface="Calibri"/>
            </a:endParaRPr>
          </a:p>
        </p:txBody>
      </p:sp>
      <p:sp>
        <p:nvSpPr>
          <p:cNvPr id="68" name="Google Shape;68;p15"/>
          <p:cNvSpPr txBox="1"/>
          <p:nvPr/>
        </p:nvSpPr>
        <p:spPr>
          <a:xfrm>
            <a:off x="4643498" y="75375"/>
            <a:ext cx="4420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100" b="1" i="1">
                <a:solidFill>
                  <a:srgbClr val="FF0000"/>
                </a:solidFill>
                <a:latin typeface="Roboto Mono"/>
                <a:ea typeface="Roboto Mono"/>
                <a:cs typeface="Roboto Mono"/>
                <a:sym typeface="Roboto Mono"/>
              </a:rPr>
              <a:t>xxx</a:t>
            </a:r>
            <a:endParaRPr sz="1100" b="1" i="1">
              <a:solidFill>
                <a:srgbClr val="FF0000"/>
              </a:solidFill>
              <a:latin typeface="Roboto Mono"/>
              <a:ea typeface="Roboto Mono"/>
              <a:cs typeface="Roboto Mono"/>
              <a:sym typeface="Roboto Mon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4" name="Google Shape;74;p16"/>
          <p:cNvSpPr txBox="1"/>
          <p:nvPr/>
        </p:nvSpPr>
        <p:spPr>
          <a:xfrm>
            <a:off x="38150" y="2125"/>
            <a:ext cx="39240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Crowd-sourced "LM Arena" Leaderboard</a:t>
            </a:r>
            <a:endParaRPr sz="1800" b="1" i="0" u="none" strike="noStrike" cap="none">
              <a:solidFill>
                <a:srgbClr val="000000"/>
              </a:solidFill>
              <a:latin typeface="Calibri"/>
              <a:ea typeface="Calibri"/>
              <a:cs typeface="Calibri"/>
              <a:sym typeface="Calibri"/>
            </a:endParaRPr>
          </a:p>
        </p:txBody>
      </p:sp>
      <p:sp>
        <p:nvSpPr>
          <p:cNvPr id="75" name="Google Shape;75;p16"/>
          <p:cNvSpPr txBox="1"/>
          <p:nvPr/>
        </p:nvSpPr>
        <p:spPr>
          <a:xfrm>
            <a:off x="469100" y="318397"/>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6" name="Google Shape;76;p16"/>
          <p:cNvSpPr txBox="1"/>
          <p:nvPr/>
        </p:nvSpPr>
        <p:spPr>
          <a:xfrm>
            <a:off x="3536012" y="322115"/>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7" name="Google Shape;77;p16"/>
          <p:cNvSpPr/>
          <p:nvPr/>
        </p:nvSpPr>
        <p:spPr>
          <a:xfrm>
            <a:off x="594668" y="220317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16"/>
          <p:cNvSpPr/>
          <p:nvPr/>
        </p:nvSpPr>
        <p:spPr>
          <a:xfrm>
            <a:off x="598073" y="77343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16"/>
          <p:cNvSpPr/>
          <p:nvPr/>
        </p:nvSpPr>
        <p:spPr>
          <a:xfrm>
            <a:off x="603516" y="3119795"/>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16"/>
          <p:cNvSpPr txBox="1"/>
          <p:nvPr/>
        </p:nvSpPr>
        <p:spPr>
          <a:xfrm>
            <a:off x="6549674" y="1522475"/>
            <a:ext cx="23562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81" name="Google Shape;81;p16"/>
          <p:cNvSpPr/>
          <p:nvPr/>
        </p:nvSpPr>
        <p:spPr>
          <a:xfrm>
            <a:off x="3748357" y="276191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p:cNvSpPr/>
          <p:nvPr/>
        </p:nvSpPr>
        <p:spPr>
          <a:xfrm>
            <a:off x="3748244" y="949151"/>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16"/>
          <p:cNvSpPr/>
          <p:nvPr/>
        </p:nvSpPr>
        <p:spPr>
          <a:xfrm>
            <a:off x="3749985" y="4747523"/>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16"/>
          <p:cNvSpPr/>
          <p:nvPr/>
        </p:nvSpPr>
        <p:spPr>
          <a:xfrm>
            <a:off x="594775" y="1661809"/>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16"/>
          <p:cNvSpPr/>
          <p:nvPr/>
        </p:nvSpPr>
        <p:spPr>
          <a:xfrm>
            <a:off x="588586" y="1123914"/>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16"/>
          <p:cNvSpPr/>
          <p:nvPr/>
        </p:nvSpPr>
        <p:spPr>
          <a:xfrm>
            <a:off x="3741162" y="438755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6"/>
          <p:cNvSpPr txBox="1"/>
          <p:nvPr/>
        </p:nvSpPr>
        <p:spPr>
          <a:xfrm>
            <a:off x="3447212" y="1857705"/>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88" name="Google Shape;88;p16"/>
          <p:cNvSpPr/>
          <p:nvPr/>
        </p:nvSpPr>
        <p:spPr>
          <a:xfrm>
            <a:off x="3747669" y="1868994"/>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6"/>
          <p:cNvSpPr/>
          <p:nvPr/>
        </p:nvSpPr>
        <p:spPr>
          <a:xfrm>
            <a:off x="3748846" y="4205078"/>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16"/>
          <p:cNvSpPr/>
          <p:nvPr/>
        </p:nvSpPr>
        <p:spPr>
          <a:xfrm>
            <a:off x="592125" y="1300284"/>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16"/>
          <p:cNvSpPr txBox="1"/>
          <p:nvPr/>
        </p:nvSpPr>
        <p:spPr>
          <a:xfrm>
            <a:off x="301758" y="2571870"/>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92" name="Google Shape;92;p16"/>
          <p:cNvSpPr/>
          <p:nvPr/>
        </p:nvSpPr>
        <p:spPr>
          <a:xfrm>
            <a:off x="600160" y="2580752"/>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16"/>
          <p:cNvSpPr/>
          <p:nvPr/>
        </p:nvSpPr>
        <p:spPr>
          <a:xfrm>
            <a:off x="3745030" y="3843897"/>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16"/>
          <p:cNvSpPr/>
          <p:nvPr/>
        </p:nvSpPr>
        <p:spPr>
          <a:xfrm>
            <a:off x="3748244" y="1125637"/>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16"/>
          <p:cNvSpPr/>
          <p:nvPr/>
        </p:nvSpPr>
        <p:spPr>
          <a:xfrm>
            <a:off x="592353" y="948088"/>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16"/>
          <p:cNvSpPr/>
          <p:nvPr/>
        </p:nvSpPr>
        <p:spPr>
          <a:xfrm>
            <a:off x="594765" y="1472118"/>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16"/>
          <p:cNvSpPr/>
          <p:nvPr/>
        </p:nvSpPr>
        <p:spPr>
          <a:xfrm>
            <a:off x="594775" y="1850683"/>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16"/>
          <p:cNvSpPr txBox="1"/>
          <p:nvPr/>
        </p:nvSpPr>
        <p:spPr>
          <a:xfrm>
            <a:off x="300894" y="327853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99" name="Google Shape;99;p16"/>
          <p:cNvSpPr/>
          <p:nvPr/>
        </p:nvSpPr>
        <p:spPr>
          <a:xfrm>
            <a:off x="600160" y="3285786"/>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16"/>
          <p:cNvSpPr/>
          <p:nvPr/>
        </p:nvSpPr>
        <p:spPr>
          <a:xfrm>
            <a:off x="3748244" y="776447"/>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16"/>
          <p:cNvSpPr txBox="1"/>
          <p:nvPr/>
        </p:nvSpPr>
        <p:spPr>
          <a:xfrm>
            <a:off x="3447377" y="3661855"/>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02" name="Google Shape;102;p16"/>
          <p:cNvSpPr/>
          <p:nvPr/>
        </p:nvSpPr>
        <p:spPr>
          <a:xfrm>
            <a:off x="3747834" y="3673144"/>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16"/>
          <p:cNvSpPr txBox="1"/>
          <p:nvPr/>
        </p:nvSpPr>
        <p:spPr>
          <a:xfrm>
            <a:off x="296748" y="3462726"/>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04" name="Google Shape;104;p16"/>
          <p:cNvSpPr/>
          <p:nvPr/>
        </p:nvSpPr>
        <p:spPr>
          <a:xfrm>
            <a:off x="596014" y="3469973"/>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16"/>
          <p:cNvSpPr txBox="1"/>
          <p:nvPr/>
        </p:nvSpPr>
        <p:spPr>
          <a:xfrm>
            <a:off x="3448497" y="3476478"/>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06" name="Google Shape;106;p16"/>
          <p:cNvSpPr/>
          <p:nvPr/>
        </p:nvSpPr>
        <p:spPr>
          <a:xfrm>
            <a:off x="3748954" y="3487767"/>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16"/>
          <p:cNvSpPr txBox="1"/>
          <p:nvPr/>
        </p:nvSpPr>
        <p:spPr>
          <a:xfrm>
            <a:off x="3592839" y="1485668"/>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08" name="Google Shape;108;p16"/>
          <p:cNvSpPr txBox="1"/>
          <p:nvPr/>
        </p:nvSpPr>
        <p:spPr>
          <a:xfrm>
            <a:off x="440410" y="2382581"/>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09" name="Google Shape;109;p16"/>
          <p:cNvSpPr txBox="1"/>
          <p:nvPr/>
        </p:nvSpPr>
        <p:spPr>
          <a:xfrm>
            <a:off x="296748" y="3832687"/>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10" name="Google Shape;110;p16"/>
          <p:cNvSpPr/>
          <p:nvPr/>
        </p:nvSpPr>
        <p:spPr>
          <a:xfrm>
            <a:off x="596014" y="3839934"/>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16"/>
          <p:cNvSpPr txBox="1"/>
          <p:nvPr/>
        </p:nvSpPr>
        <p:spPr>
          <a:xfrm>
            <a:off x="304271" y="4564751"/>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12" name="Google Shape;112;p16"/>
          <p:cNvSpPr/>
          <p:nvPr/>
        </p:nvSpPr>
        <p:spPr>
          <a:xfrm>
            <a:off x="603537" y="4571998"/>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16"/>
          <p:cNvSpPr txBox="1"/>
          <p:nvPr/>
        </p:nvSpPr>
        <p:spPr>
          <a:xfrm flipH="1">
            <a:off x="534531" y="3649751"/>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114" name="Google Shape;114;p16"/>
          <p:cNvSpPr/>
          <p:nvPr/>
        </p:nvSpPr>
        <p:spPr>
          <a:xfrm>
            <a:off x="3748244" y="1301385"/>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16"/>
          <p:cNvSpPr txBox="1"/>
          <p:nvPr/>
        </p:nvSpPr>
        <p:spPr>
          <a:xfrm>
            <a:off x="3593829" y="2202188"/>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16" name="Google Shape;116;p16"/>
          <p:cNvSpPr/>
          <p:nvPr/>
        </p:nvSpPr>
        <p:spPr>
          <a:xfrm>
            <a:off x="3748244" y="1667197"/>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16"/>
          <p:cNvSpPr txBox="1"/>
          <p:nvPr/>
        </p:nvSpPr>
        <p:spPr>
          <a:xfrm>
            <a:off x="3440038" y="2381080"/>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18" name="Google Shape;118;p16"/>
          <p:cNvSpPr/>
          <p:nvPr/>
        </p:nvSpPr>
        <p:spPr>
          <a:xfrm>
            <a:off x="3740495" y="2392369"/>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16"/>
          <p:cNvSpPr/>
          <p:nvPr/>
        </p:nvSpPr>
        <p:spPr>
          <a:xfrm>
            <a:off x="590309" y="201944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16"/>
          <p:cNvSpPr/>
          <p:nvPr/>
        </p:nvSpPr>
        <p:spPr>
          <a:xfrm>
            <a:off x="586813" y="2752536"/>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16"/>
          <p:cNvSpPr txBox="1"/>
          <p:nvPr/>
        </p:nvSpPr>
        <p:spPr>
          <a:xfrm>
            <a:off x="296748" y="4014818"/>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2" name="Google Shape;122;p16"/>
          <p:cNvSpPr/>
          <p:nvPr/>
        </p:nvSpPr>
        <p:spPr>
          <a:xfrm>
            <a:off x="596014" y="4022065"/>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16"/>
          <p:cNvSpPr txBox="1"/>
          <p:nvPr/>
        </p:nvSpPr>
        <p:spPr>
          <a:xfrm>
            <a:off x="296748" y="419694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4" name="Google Shape;124;p16"/>
          <p:cNvSpPr/>
          <p:nvPr/>
        </p:nvSpPr>
        <p:spPr>
          <a:xfrm>
            <a:off x="596014" y="4204196"/>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16"/>
          <p:cNvSpPr txBox="1"/>
          <p:nvPr/>
        </p:nvSpPr>
        <p:spPr>
          <a:xfrm>
            <a:off x="296748" y="4371648"/>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6" name="Google Shape;126;p16"/>
          <p:cNvSpPr/>
          <p:nvPr/>
        </p:nvSpPr>
        <p:spPr>
          <a:xfrm>
            <a:off x="596014" y="4378895"/>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16"/>
          <p:cNvSpPr txBox="1"/>
          <p:nvPr/>
        </p:nvSpPr>
        <p:spPr>
          <a:xfrm>
            <a:off x="304271" y="4746882"/>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8" name="Google Shape;128;p16"/>
          <p:cNvSpPr/>
          <p:nvPr/>
        </p:nvSpPr>
        <p:spPr>
          <a:xfrm>
            <a:off x="603537" y="4754129"/>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p16"/>
          <p:cNvSpPr txBox="1"/>
          <p:nvPr/>
        </p:nvSpPr>
        <p:spPr>
          <a:xfrm>
            <a:off x="304271" y="4921581"/>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0" name="Google Shape;130;p16"/>
          <p:cNvSpPr/>
          <p:nvPr/>
        </p:nvSpPr>
        <p:spPr>
          <a:xfrm>
            <a:off x="603537" y="4928828"/>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p16"/>
          <p:cNvSpPr txBox="1"/>
          <p:nvPr/>
        </p:nvSpPr>
        <p:spPr>
          <a:xfrm>
            <a:off x="446720" y="2921750"/>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2" name="Google Shape;132;p16"/>
          <p:cNvSpPr txBox="1"/>
          <p:nvPr/>
        </p:nvSpPr>
        <p:spPr>
          <a:xfrm>
            <a:off x="3440038" y="2014085"/>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3" name="Google Shape;133;p16"/>
          <p:cNvSpPr/>
          <p:nvPr/>
        </p:nvSpPr>
        <p:spPr>
          <a:xfrm>
            <a:off x="3740495" y="2025374"/>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16"/>
          <p:cNvSpPr/>
          <p:nvPr/>
        </p:nvSpPr>
        <p:spPr>
          <a:xfrm>
            <a:off x="3748386" y="329566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16"/>
          <p:cNvSpPr/>
          <p:nvPr/>
        </p:nvSpPr>
        <p:spPr>
          <a:xfrm>
            <a:off x="3748244" y="2942146"/>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16"/>
          <p:cNvSpPr txBox="1"/>
          <p:nvPr/>
        </p:nvSpPr>
        <p:spPr>
          <a:xfrm>
            <a:off x="3458789" y="401118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7" name="Google Shape;137;p16"/>
          <p:cNvSpPr/>
          <p:nvPr/>
        </p:nvSpPr>
        <p:spPr>
          <a:xfrm>
            <a:off x="3749658" y="4019583"/>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16"/>
          <p:cNvSpPr txBox="1"/>
          <p:nvPr/>
        </p:nvSpPr>
        <p:spPr>
          <a:xfrm>
            <a:off x="3458789" y="4561666"/>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9" name="Google Shape;139;p16"/>
          <p:cNvSpPr/>
          <p:nvPr/>
        </p:nvSpPr>
        <p:spPr>
          <a:xfrm>
            <a:off x="3749658" y="4570060"/>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16"/>
          <p:cNvSpPr txBox="1"/>
          <p:nvPr/>
        </p:nvSpPr>
        <p:spPr>
          <a:xfrm>
            <a:off x="4551777" y="63625"/>
            <a:ext cx="13500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November 5</a:t>
            </a:r>
            <a:endParaRPr sz="1000">
              <a:solidFill>
                <a:schemeClr val="dk1"/>
              </a:solidFill>
              <a:latin typeface="Calibri"/>
              <a:ea typeface="Calibri"/>
              <a:cs typeface="Calibri"/>
              <a:sym typeface="Calibri"/>
            </a:endParaRPr>
          </a:p>
        </p:txBody>
      </p:sp>
      <p:graphicFrame>
        <p:nvGraphicFramePr>
          <p:cNvPr id="141" name="Google Shape;141;p16"/>
          <p:cNvGraphicFramePr/>
          <p:nvPr/>
        </p:nvGraphicFramePr>
        <p:xfrm>
          <a:off x="731370" y="550745"/>
          <a:ext cx="3000000" cy="3000000"/>
        </p:xfrm>
        <a:graphic>
          <a:graphicData uri="http://schemas.openxmlformats.org/drawingml/2006/table">
            <a:tbl>
              <a:tblPr>
                <a:noFill/>
                <a:tableStyleId>{7B9B5A43-BCD1-46C5-A69A-043282906BB4}</a:tableStyleId>
              </a:tblPr>
              <a:tblGrid>
                <a:gridCol w="1828800">
                  <a:extLst>
                    <a:ext uri="{9D8B030D-6E8A-4147-A177-3AD203B41FA5}">
                      <a16:colId xmlns:a16="http://schemas.microsoft.com/office/drawing/2014/main" val="20000"/>
                    </a:ext>
                  </a:extLst>
                </a:gridCol>
                <a:gridCol w="314325">
                  <a:extLst>
                    <a:ext uri="{9D8B030D-6E8A-4147-A177-3AD203B41FA5}">
                      <a16:colId xmlns:a16="http://schemas.microsoft.com/office/drawing/2014/main" val="20001"/>
                    </a:ext>
                  </a:extLst>
                </a:gridCol>
              </a:tblGrid>
              <a:tr h="13627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Model</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Score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7">
                            <a:extLst>
                              <a:ext uri="{A12FA001-AC4F-418D-AE19-62706E023703}">
                                <ahyp:hlinkClr xmlns:ahyp="http://schemas.microsoft.com/office/drawing/2018/hyperlinkcolor" val="tx"/>
                              </a:ext>
                            </a:extLst>
                          </a:hlinkClick>
                        </a:rPr>
                        <a:t>gemini-2.5-pro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claude-opus-4-1-20250805-thinking-16k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claude-sonnet-4-5-20250929-thinking-32k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gpt-4.5-preview-2025-02-27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claude-opus-4-1-20250805</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chatgpt-4o-latest-20250326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gpt-5-high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claude-sonnet-4-5-20250929</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o3-2025-04-16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qwen3-max-preview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glm-4.6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gpt-5-chat</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qwen3-max-2025-09-23</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claude-opus-4-20250514-thinking-16k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deepseek-v3.2-exp-thinking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qwen3-235b-a22b-instruct-2507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grok-4-fast</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7"/>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deepseek-r1-0528</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1418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8"/>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kimi-k2-0905-preview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1417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9"/>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deepseek-v3.1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1416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0"/>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deepseek-v3.1-thinking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1416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1"/>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kimi-k2-0711-preview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1416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2"/>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qwen3-vl-235b-a22b-instruct</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1415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3"/>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deepseek-v3.1-terminus</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1415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4"/>
                  </a:ext>
                </a:extLst>
              </a:tr>
            </a:tbl>
          </a:graphicData>
        </a:graphic>
      </p:graphicFrame>
      <p:graphicFrame>
        <p:nvGraphicFramePr>
          <p:cNvPr id="142" name="Google Shape;142;p16"/>
          <p:cNvGraphicFramePr/>
          <p:nvPr/>
        </p:nvGraphicFramePr>
        <p:xfrm>
          <a:off x="3881740" y="558207"/>
          <a:ext cx="3000000" cy="3000000"/>
        </p:xfrm>
        <a:graphic>
          <a:graphicData uri="http://schemas.openxmlformats.org/drawingml/2006/table">
            <a:tbl>
              <a:tblPr>
                <a:noFill/>
                <a:tableStyleId>{7B9B5A43-BCD1-46C5-A69A-043282906BB4}</a:tableStyleId>
              </a:tblPr>
              <a:tblGrid>
                <a:gridCol w="1828800">
                  <a:extLst>
                    <a:ext uri="{9D8B030D-6E8A-4147-A177-3AD203B41FA5}">
                      <a16:colId xmlns:a16="http://schemas.microsoft.com/office/drawing/2014/main" val="20000"/>
                    </a:ext>
                  </a:extLst>
                </a:gridCol>
                <a:gridCol w="314325">
                  <a:extLst>
                    <a:ext uri="{9D8B030D-6E8A-4147-A177-3AD203B41FA5}">
                      <a16:colId xmlns:a16="http://schemas.microsoft.com/office/drawing/2014/main" val="20001"/>
                    </a:ext>
                  </a:extLst>
                </a:gridCol>
              </a:tblGrid>
              <a:tr h="153850">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Model</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Score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claude-sonnet-4-5-20250929-thinking-32k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1524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claude-opus-4-1-20250805-thinking-16k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1516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claude-opus-4-1-20250805</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claude-opus-4-20250514-thinking-16k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qwen3-max-preview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8">
                            <a:extLst>
                              <a:ext uri="{A12FA001-AC4F-418D-AE19-62706E023703}">
                                <ahyp:hlinkClr xmlns:ahyp="http://schemas.microsoft.com/office/drawing/2018/hyperlinkcolor" val="tx"/>
                              </a:ext>
                            </a:extLst>
                          </a:hlinkClick>
                        </a:rPr>
                        <a:t>claude-haiku-4-5-20251001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glm-4.6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9">
                            <a:extLst>
                              <a:ext uri="{A12FA001-AC4F-418D-AE19-62706E023703}">
                                <ahyp:hlinkClr xmlns:ahyp="http://schemas.microsoft.com/office/drawing/2018/hyperlinkcolor" val="tx"/>
                              </a:ext>
                            </a:extLst>
                          </a:hlinkClick>
                        </a:rPr>
                        <a:t>longcat-flash-chat</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qwen3-max-2025-09-23</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deepseek-v3.2-exp-thinking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gpt-5-high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7">
                            <a:extLst>
                              <a:ext uri="{A12FA001-AC4F-418D-AE19-62706E023703}">
                                <ahyp:hlinkClr xmlns:ahyp="http://schemas.microsoft.com/office/drawing/2018/hyperlinkcolor" val="tx"/>
                              </a:ext>
                            </a:extLst>
                          </a:hlinkClick>
                        </a:rPr>
                        <a:t>gemini-2.5-pro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claude-sonnet-4-20250514-thinking-32k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qwen3-235b-a22b-instruct-2507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claude-sonnet-4-5-20250929</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kimi-k2-0905-preview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qwen3-vl-235b-a22b-instruct</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7"/>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chatgpt-4o-latest-20250326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8"/>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deepseek-r1-0528</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9"/>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claude-opus-4-20250514</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0"/>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gpt-5-chat</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1"/>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deepseek-v3.1-terminus-thinking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2"/>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o3-2025-04-16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3"/>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gpt-4.5-preview-2025-02-27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4"/>
                  </a:ext>
                </a:extLst>
              </a:tr>
            </a:tbl>
          </a:graphicData>
        </a:graphic>
      </p:graphicFrame>
      <p:sp>
        <p:nvSpPr>
          <p:cNvPr id="143" name="Google Shape;143;p16"/>
          <p:cNvSpPr/>
          <p:nvPr/>
        </p:nvSpPr>
        <p:spPr>
          <a:xfrm>
            <a:off x="3742516" y="2575342"/>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 name="Google Shape;144;p16"/>
          <p:cNvSpPr txBox="1"/>
          <p:nvPr/>
        </p:nvSpPr>
        <p:spPr>
          <a:xfrm>
            <a:off x="3448497" y="3112443"/>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45" name="Google Shape;145;p16"/>
          <p:cNvSpPr/>
          <p:nvPr/>
        </p:nvSpPr>
        <p:spPr>
          <a:xfrm>
            <a:off x="3748954" y="3123732"/>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p16"/>
          <p:cNvSpPr/>
          <p:nvPr/>
        </p:nvSpPr>
        <p:spPr>
          <a:xfrm>
            <a:off x="3749702" y="492537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7"/>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World Labs - Marble World Model</a:t>
            </a:r>
            <a:endParaRPr sz="2000" b="1" i="0" u="none" strike="noStrike" cap="none">
              <a:solidFill>
                <a:schemeClr val="dk1"/>
              </a:solidFill>
              <a:latin typeface="Calibri"/>
              <a:ea typeface="Calibri"/>
              <a:cs typeface="Calibri"/>
              <a:sym typeface="Calibri"/>
            </a:endParaRPr>
          </a:p>
        </p:txBody>
      </p:sp>
      <p:sp>
        <p:nvSpPr>
          <p:cNvPr id="152" name="Google Shape;152;p17"/>
          <p:cNvSpPr txBox="1"/>
          <p:nvPr/>
        </p:nvSpPr>
        <p:spPr>
          <a:xfrm>
            <a:off x="55075" y="443276"/>
            <a:ext cx="44445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World Labs - Marble World Model</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https://www.youtube.com/watch?v=-QbM6_BSdS0</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first publicly available multimodal frontier world model that generates fully navigable 3D environments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Developed by AI pioneer Dr. Fei-Fei Li's team</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Marble creates interactive 3D worlds from multiple input types: text descriptions, single or multiple images, videos, or coarse 3D layouts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Users can freely navigate these environments, edit specific elements (like transforming walls into stages or changing objects), and expand the world in any direction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Export creations as Gaussian splats, triangle meshes, or videos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Unlike LLMs that predict the next word, world models predict what the physical world looks like - including physics, lighting, and spatial relationships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World Labs believes this spatial intelligence approach is the path to AGI</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Uses today: filmmakers, game designers, architects, designers, training robots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Marble is free to use at marble.worldlabs.ai with a basic tier offering 7,000 credits, while paid plans range from $20/month (20,000 credits) to $120/month (120,000 credits) with enhanced features.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World Labs has raised $230 Mln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https://observer.com/2025/11/fei-fei-li-world-labs-unveils-first-product/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5"/>
              </a:rPr>
              <a:t>https://www.worldlabs.ai/blog/marble-world-model</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6"/>
              </a:rPr>
              <a:t>https://www.worldlabs.ai</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153" name="Google Shape;153;p17"/>
          <p:cNvPicPr preferRelativeResize="0"/>
          <p:nvPr/>
        </p:nvPicPr>
        <p:blipFill>
          <a:blip r:embed="rId7">
            <a:alphaModFix/>
          </a:blip>
          <a:stretch>
            <a:fillRect/>
          </a:stretch>
        </p:blipFill>
        <p:spPr>
          <a:xfrm>
            <a:off x="4647213" y="745450"/>
            <a:ext cx="2857500" cy="1600200"/>
          </a:xfrm>
          <a:prstGeom prst="rect">
            <a:avLst/>
          </a:prstGeom>
          <a:noFill/>
          <a:ln w="9525" cap="flat" cmpd="sng">
            <a:solidFill>
              <a:srgbClr val="FF0000"/>
            </a:solidFill>
            <a:prstDash val="solid"/>
            <a:round/>
            <a:headEnd type="none" w="sm" len="sm"/>
            <a:tailEnd type="none" w="sm" len="sm"/>
          </a:ln>
        </p:spPr>
      </p:pic>
      <p:pic>
        <p:nvPicPr>
          <p:cNvPr id="154" name="Google Shape;154;p17"/>
          <p:cNvPicPr preferRelativeResize="0"/>
          <p:nvPr/>
        </p:nvPicPr>
        <p:blipFill>
          <a:blip r:embed="rId8">
            <a:alphaModFix/>
          </a:blip>
          <a:stretch>
            <a:fillRect/>
          </a:stretch>
        </p:blipFill>
        <p:spPr>
          <a:xfrm>
            <a:off x="4651975" y="2714725"/>
            <a:ext cx="2847975" cy="16002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8"/>
          <p:cNvSpPr txBox="1"/>
          <p:nvPr/>
        </p:nvSpPr>
        <p:spPr>
          <a:xfrm>
            <a:off x="55075" y="20375"/>
            <a:ext cx="2982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Code execution with MCP</a:t>
            </a:r>
            <a:endParaRPr sz="2000" b="1" i="0" u="none" strike="noStrike" cap="none">
              <a:solidFill>
                <a:schemeClr val="dk1"/>
              </a:solidFill>
              <a:latin typeface="Calibri"/>
              <a:ea typeface="Calibri"/>
              <a:cs typeface="Calibri"/>
              <a:sym typeface="Calibri"/>
            </a:endParaRPr>
          </a:p>
        </p:txBody>
      </p:sp>
      <p:sp>
        <p:nvSpPr>
          <p:cNvPr id="160" name="Google Shape;160;p18"/>
          <p:cNvSpPr txBox="1"/>
          <p:nvPr/>
        </p:nvSpPr>
        <p:spPr>
          <a:xfrm>
            <a:off x="55075" y="443276"/>
            <a:ext cx="4444500" cy="3974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Code execution with MCP: Building more efficient agents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https://www.anthropic.com/engineering/code-execution-with-mcp</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Idea - allow LLM to automate its own actions by writing code to be executed outside of LLM (in a save environment) </a:t>
            </a:r>
            <a:endParaRPr sz="11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When AI agents connect to lots of tools through MCP servers, two things waste tokens and slow everything down:</a:t>
            </a:r>
            <a:endParaRPr sz="1100">
              <a:solidFill>
                <a:schemeClr val="dk1"/>
              </a:solidFill>
              <a:latin typeface="Calibri"/>
              <a:ea typeface="Calibri"/>
              <a:cs typeface="Calibri"/>
              <a:sym typeface="Calibri"/>
            </a:endParaRPr>
          </a:p>
          <a:p>
            <a:pPr marL="457200" marR="0" lvl="1" indent="-114300" algn="l" rtl="0">
              <a:lnSpc>
                <a:spcPct val="100000"/>
              </a:lnSpc>
              <a:spcBef>
                <a:spcPts val="0"/>
              </a:spcBef>
              <a:spcAft>
                <a:spcPts val="0"/>
              </a:spcAft>
              <a:buClr>
                <a:srgbClr val="3C78D8"/>
              </a:buClr>
              <a:buSzPts val="900"/>
              <a:buFont typeface="Calibri"/>
              <a:buChar char="○"/>
            </a:pPr>
            <a:r>
              <a:rPr lang="en" sz="900" b="1">
                <a:solidFill>
                  <a:srgbClr val="3C78D8"/>
                </a:solidFill>
                <a:latin typeface="Calibri"/>
                <a:ea typeface="Calibri"/>
                <a:cs typeface="Calibri"/>
                <a:sym typeface="Calibri"/>
              </a:rPr>
              <a:t>Too many tool descriptions loaded upfront into context</a:t>
            </a:r>
            <a:endParaRPr sz="900" b="1">
              <a:solidFill>
                <a:srgbClr val="3C78D8"/>
              </a:solidFill>
              <a:latin typeface="Calibri"/>
              <a:ea typeface="Calibri"/>
              <a:cs typeface="Calibri"/>
              <a:sym typeface="Calibri"/>
            </a:endParaRPr>
          </a:p>
          <a:p>
            <a:pPr marL="457200" marR="0" lvl="1" indent="-114300" algn="l" rtl="0">
              <a:lnSpc>
                <a:spcPct val="100000"/>
              </a:lnSpc>
              <a:spcBef>
                <a:spcPts val="0"/>
              </a:spcBef>
              <a:spcAft>
                <a:spcPts val="0"/>
              </a:spcAft>
              <a:buClr>
                <a:srgbClr val="3C78D8"/>
              </a:buClr>
              <a:buSzPts val="900"/>
              <a:buFont typeface="Calibri"/>
              <a:buChar char="○"/>
            </a:pPr>
            <a:r>
              <a:rPr lang="en" sz="900" b="1">
                <a:solidFill>
                  <a:srgbClr val="3C78D8"/>
                </a:solidFill>
                <a:latin typeface="Calibri"/>
                <a:ea typeface="Calibri"/>
                <a:cs typeface="Calibri"/>
                <a:sym typeface="Calibri"/>
              </a:rPr>
              <a:t>Data flowing through the agent multiple times</a:t>
            </a:r>
            <a:endParaRPr sz="9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Solution: Code Execution with MCP</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Instead of calling tools directly, </a:t>
            </a:r>
            <a:r>
              <a:rPr lang="en" sz="1100" b="1">
                <a:solidFill>
                  <a:srgbClr val="FF0000"/>
                </a:solidFill>
                <a:latin typeface="Calibri"/>
                <a:ea typeface="Calibri"/>
                <a:cs typeface="Calibri"/>
                <a:sym typeface="Calibri"/>
              </a:rPr>
              <a:t>let the agent write code that calls the tools</a:t>
            </a:r>
            <a:r>
              <a:rPr lang="en" sz="1100">
                <a:solidFill>
                  <a:schemeClr val="dk1"/>
                </a:solidFill>
                <a:latin typeface="Calibri"/>
                <a:ea typeface="Calibri"/>
                <a:cs typeface="Calibri"/>
                <a:sym typeface="Calibri"/>
              </a:rPr>
              <a:t>. The code runs in a separate execution environment (like a secure sandbox), and only the final results come back to the agent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Step 1: Present tools as a file tree instead of loading all descriptions</a:t>
            </a:r>
            <a:r>
              <a:rPr lang="en" sz="1100">
                <a:solidFill>
                  <a:schemeClr val="dk1"/>
                </a:solidFill>
                <a:latin typeface="Calibri"/>
                <a:ea typeface="Calibri"/>
                <a:cs typeface="Calibri"/>
                <a:sym typeface="Calibri"/>
              </a:rPr>
              <a:t>. Your agent sees a folder structure like:</a:t>
            </a:r>
            <a:endParaRPr sz="1100">
              <a:solidFill>
                <a:schemeClr val="dk1"/>
              </a:solidFill>
              <a:latin typeface="Calibri"/>
              <a:ea typeface="Calibri"/>
              <a:cs typeface="Calibri"/>
              <a:sym typeface="Calibri"/>
            </a:endParaRPr>
          </a:p>
          <a:p>
            <a:pPr marL="457200" marR="0" lvl="0" indent="0" algn="l" rtl="0">
              <a:lnSpc>
                <a:spcPct val="100000"/>
              </a:lnSpc>
              <a:spcBef>
                <a:spcPts val="0"/>
              </a:spcBef>
              <a:spcAft>
                <a:spcPts val="0"/>
              </a:spcAft>
              <a:buNone/>
            </a:pPr>
            <a:r>
              <a:rPr lang="en" sz="900" b="1">
                <a:solidFill>
                  <a:srgbClr val="3C78D8"/>
                </a:solidFill>
                <a:latin typeface="Calibri"/>
                <a:ea typeface="Calibri"/>
                <a:cs typeface="Calibri"/>
                <a:sym typeface="Calibri"/>
              </a:rPr>
              <a:t>servers/</a:t>
            </a:r>
            <a:endParaRPr sz="900" b="1">
              <a:solidFill>
                <a:srgbClr val="3C78D8"/>
              </a:solidFill>
              <a:latin typeface="Calibri"/>
              <a:ea typeface="Calibri"/>
              <a:cs typeface="Calibri"/>
              <a:sym typeface="Calibri"/>
            </a:endParaRPr>
          </a:p>
          <a:p>
            <a:pPr marL="457200" marR="0" lvl="0" indent="0" algn="l" rtl="0">
              <a:lnSpc>
                <a:spcPct val="100000"/>
              </a:lnSpc>
              <a:spcBef>
                <a:spcPts val="0"/>
              </a:spcBef>
              <a:spcAft>
                <a:spcPts val="0"/>
              </a:spcAft>
              <a:buNone/>
            </a:pPr>
            <a:r>
              <a:rPr lang="en" sz="900" b="1">
                <a:solidFill>
                  <a:srgbClr val="3C78D8"/>
                </a:solidFill>
                <a:latin typeface="Calibri"/>
                <a:ea typeface="Calibri"/>
                <a:cs typeface="Calibri"/>
                <a:sym typeface="Calibri"/>
              </a:rPr>
              <a:t>├── google-drive/</a:t>
            </a:r>
            <a:endParaRPr sz="900" b="1">
              <a:solidFill>
                <a:srgbClr val="3C78D8"/>
              </a:solidFill>
              <a:latin typeface="Calibri"/>
              <a:ea typeface="Calibri"/>
              <a:cs typeface="Calibri"/>
              <a:sym typeface="Calibri"/>
            </a:endParaRPr>
          </a:p>
          <a:p>
            <a:pPr marL="457200" marR="0" lvl="0" indent="0" algn="l" rtl="0">
              <a:lnSpc>
                <a:spcPct val="100000"/>
              </a:lnSpc>
              <a:spcBef>
                <a:spcPts val="0"/>
              </a:spcBef>
              <a:spcAft>
                <a:spcPts val="0"/>
              </a:spcAft>
              <a:buNone/>
            </a:pPr>
            <a:r>
              <a:rPr lang="en" sz="900" b="1">
                <a:solidFill>
                  <a:srgbClr val="3C78D8"/>
                </a:solidFill>
                <a:latin typeface="Calibri"/>
                <a:ea typeface="Calibri"/>
                <a:cs typeface="Calibri"/>
                <a:sym typeface="Calibri"/>
              </a:rPr>
              <a:t>│   ├── getDocument.ts</a:t>
            </a:r>
            <a:endParaRPr sz="900" b="1">
              <a:solidFill>
                <a:srgbClr val="3C78D8"/>
              </a:solidFill>
              <a:latin typeface="Calibri"/>
              <a:ea typeface="Calibri"/>
              <a:cs typeface="Calibri"/>
              <a:sym typeface="Calibri"/>
            </a:endParaRPr>
          </a:p>
          <a:p>
            <a:pPr marL="457200" marR="0" lvl="0" indent="0" algn="l" rtl="0">
              <a:lnSpc>
                <a:spcPct val="100000"/>
              </a:lnSpc>
              <a:spcBef>
                <a:spcPts val="0"/>
              </a:spcBef>
              <a:spcAft>
                <a:spcPts val="0"/>
              </a:spcAft>
              <a:buNone/>
            </a:pPr>
            <a:r>
              <a:rPr lang="en" sz="900" b="1">
                <a:solidFill>
                  <a:srgbClr val="3C78D8"/>
                </a:solidFill>
                <a:latin typeface="Calibri"/>
                <a:ea typeface="Calibri"/>
                <a:cs typeface="Calibri"/>
                <a:sym typeface="Calibri"/>
              </a:rPr>
              <a:t>│   └── index.ts</a:t>
            </a:r>
            <a:endParaRPr sz="900" b="1">
              <a:solidFill>
                <a:srgbClr val="3C78D8"/>
              </a:solidFill>
              <a:latin typeface="Calibri"/>
              <a:ea typeface="Calibri"/>
              <a:cs typeface="Calibri"/>
              <a:sym typeface="Calibri"/>
            </a:endParaRPr>
          </a:p>
          <a:p>
            <a:pPr marL="457200" marR="0" lvl="0" indent="0" algn="l" rtl="0">
              <a:lnSpc>
                <a:spcPct val="100000"/>
              </a:lnSpc>
              <a:spcBef>
                <a:spcPts val="0"/>
              </a:spcBef>
              <a:spcAft>
                <a:spcPts val="0"/>
              </a:spcAft>
              <a:buNone/>
            </a:pPr>
            <a:r>
              <a:rPr lang="en" sz="900" b="1">
                <a:solidFill>
                  <a:srgbClr val="3C78D8"/>
                </a:solidFill>
                <a:latin typeface="Calibri"/>
                <a:ea typeface="Calibri"/>
                <a:cs typeface="Calibri"/>
                <a:sym typeface="Calibri"/>
              </a:rPr>
              <a:t>├── salesforce/</a:t>
            </a:r>
            <a:endParaRPr sz="900" b="1">
              <a:solidFill>
                <a:srgbClr val="3C78D8"/>
              </a:solidFill>
              <a:latin typeface="Calibri"/>
              <a:ea typeface="Calibri"/>
              <a:cs typeface="Calibri"/>
              <a:sym typeface="Calibri"/>
            </a:endParaRPr>
          </a:p>
          <a:p>
            <a:pPr marL="457200" marR="0" lvl="0" indent="0" algn="l" rtl="0">
              <a:lnSpc>
                <a:spcPct val="100000"/>
              </a:lnSpc>
              <a:spcBef>
                <a:spcPts val="0"/>
              </a:spcBef>
              <a:spcAft>
                <a:spcPts val="0"/>
              </a:spcAft>
              <a:buNone/>
            </a:pPr>
            <a:r>
              <a:rPr lang="en" sz="900" b="1">
                <a:solidFill>
                  <a:srgbClr val="3C78D8"/>
                </a:solidFill>
                <a:latin typeface="Calibri"/>
                <a:ea typeface="Calibri"/>
                <a:cs typeface="Calibri"/>
                <a:sym typeface="Calibri"/>
              </a:rPr>
              <a:t>│   ├── updateRecord.ts</a:t>
            </a:r>
            <a:endParaRPr sz="900" b="1">
              <a:solidFill>
                <a:srgbClr val="3C78D8"/>
              </a:solidFill>
              <a:latin typeface="Calibri"/>
              <a:ea typeface="Calibri"/>
              <a:cs typeface="Calibri"/>
              <a:sym typeface="Calibri"/>
            </a:endParaRPr>
          </a:p>
          <a:p>
            <a:pPr marL="457200" marR="0" lvl="0" indent="0" algn="l" rtl="0">
              <a:lnSpc>
                <a:spcPct val="100000"/>
              </a:lnSpc>
              <a:spcBef>
                <a:spcPts val="0"/>
              </a:spcBef>
              <a:spcAft>
                <a:spcPts val="0"/>
              </a:spcAft>
              <a:buNone/>
            </a:pPr>
            <a:r>
              <a:rPr lang="en" sz="900" b="1">
                <a:solidFill>
                  <a:srgbClr val="3C78D8"/>
                </a:solidFill>
                <a:latin typeface="Calibri"/>
                <a:ea typeface="Calibri"/>
                <a:cs typeface="Calibri"/>
                <a:sym typeface="Calibri"/>
              </a:rPr>
              <a:t>│   └── index.ts</a:t>
            </a:r>
            <a:endParaRPr sz="9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Step 2: Agent finds tools needed for the task.</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For example, when you ask "</a:t>
            </a:r>
            <a:r>
              <a:rPr lang="en" sz="1100" b="1">
                <a:solidFill>
                  <a:srgbClr val="6AA84F"/>
                </a:solidFill>
                <a:latin typeface="Calibri"/>
                <a:ea typeface="Calibri"/>
                <a:cs typeface="Calibri"/>
                <a:sym typeface="Calibri"/>
              </a:rPr>
              <a:t>Copy my meeting notes from Drive to Salesforce,</a:t>
            </a:r>
            <a:r>
              <a:rPr lang="en" sz="1100">
                <a:solidFill>
                  <a:schemeClr val="dk1"/>
                </a:solidFill>
                <a:latin typeface="Calibri"/>
                <a:ea typeface="Calibri"/>
                <a:cs typeface="Calibri"/>
                <a:sym typeface="Calibri"/>
              </a:rPr>
              <a:t>" the agent lists the `servers/` directory, sees `google-drive` and `salesforce`, then reads only those two tool files it needs</a:t>
            </a:r>
            <a:endParaRPr sz="1100">
              <a:solidFill>
                <a:schemeClr val="dk1"/>
              </a:solidFill>
              <a:latin typeface="Calibri"/>
              <a:ea typeface="Calibri"/>
              <a:cs typeface="Calibri"/>
              <a:sym typeface="Calibri"/>
            </a:endParaRPr>
          </a:p>
        </p:txBody>
      </p:sp>
      <p:sp>
        <p:nvSpPr>
          <p:cNvPr id="161" name="Google Shape;161;p18"/>
          <p:cNvSpPr txBox="1"/>
          <p:nvPr/>
        </p:nvSpPr>
        <p:spPr>
          <a:xfrm>
            <a:off x="4659400" y="228284"/>
            <a:ext cx="4444500" cy="446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Step 3: Agent writes code to run in the execution environment</a:t>
            </a:r>
            <a:br>
              <a:rPr lang="en" sz="1100">
                <a:solidFill>
                  <a:schemeClr val="dk1"/>
                </a:solidFill>
                <a:latin typeface="Calibri"/>
                <a:ea typeface="Calibri"/>
                <a:cs typeface="Calibri"/>
                <a:sym typeface="Calibri"/>
              </a:rPr>
            </a:br>
            <a:endParaRPr sz="1100">
              <a:solidFill>
                <a:schemeClr val="dk1"/>
              </a:solidFill>
              <a:latin typeface="Calibri"/>
              <a:ea typeface="Calibri"/>
              <a:cs typeface="Calibri"/>
              <a:sym typeface="Calibri"/>
            </a:endParaRPr>
          </a:p>
          <a:p>
            <a:pPr marL="17145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import * as gdrive from './servers/google-drive';</a:t>
            </a:r>
            <a:endParaRPr sz="800" b="1">
              <a:solidFill>
                <a:srgbClr val="3C78D8"/>
              </a:solidFill>
              <a:latin typeface="Roboto Mono"/>
              <a:ea typeface="Roboto Mono"/>
              <a:cs typeface="Roboto Mono"/>
              <a:sym typeface="Roboto Mono"/>
            </a:endParaRPr>
          </a:p>
          <a:p>
            <a:pPr marL="17145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import * as salesforce from './servers/salesforce';</a:t>
            </a:r>
            <a:endParaRPr sz="800" b="1">
              <a:solidFill>
                <a:srgbClr val="3C78D8"/>
              </a:solidFill>
              <a:latin typeface="Roboto Mono"/>
              <a:ea typeface="Roboto Mono"/>
              <a:cs typeface="Roboto Mono"/>
              <a:sym typeface="Roboto Mono"/>
            </a:endParaRPr>
          </a:p>
          <a:p>
            <a:pPr marL="171450" marR="0" lvl="0" indent="0" algn="l" rtl="0">
              <a:lnSpc>
                <a:spcPct val="100000"/>
              </a:lnSpc>
              <a:spcBef>
                <a:spcPts val="0"/>
              </a:spcBef>
              <a:spcAft>
                <a:spcPts val="0"/>
              </a:spcAft>
              <a:buNone/>
            </a:pPr>
            <a:endParaRPr sz="800" b="1">
              <a:solidFill>
                <a:srgbClr val="3C78D8"/>
              </a:solidFill>
              <a:latin typeface="Roboto Mono"/>
              <a:ea typeface="Roboto Mono"/>
              <a:cs typeface="Roboto Mono"/>
              <a:sym typeface="Roboto Mono"/>
            </a:endParaRPr>
          </a:p>
          <a:p>
            <a:pPr marL="17145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const transcript = (await gdrive.getDocument(</a:t>
            </a:r>
            <a:endParaRPr sz="800" b="1">
              <a:solidFill>
                <a:srgbClr val="3C78D8"/>
              </a:solidFill>
              <a:latin typeface="Roboto Mono"/>
              <a:ea typeface="Roboto Mono"/>
              <a:cs typeface="Roboto Mono"/>
              <a:sym typeface="Roboto Mono"/>
            </a:endParaRPr>
          </a:p>
          <a:p>
            <a:pPr marL="17145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                                { documentId: 'abc123' })).content;</a:t>
            </a:r>
            <a:endParaRPr sz="800" b="1">
              <a:solidFill>
                <a:srgbClr val="3C78D8"/>
              </a:solidFill>
              <a:latin typeface="Roboto Mono"/>
              <a:ea typeface="Roboto Mono"/>
              <a:cs typeface="Roboto Mono"/>
              <a:sym typeface="Roboto Mono"/>
            </a:endParaRPr>
          </a:p>
          <a:p>
            <a:pPr marL="17145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await salesforce.updateRecord({</a:t>
            </a:r>
            <a:endParaRPr sz="800" b="1">
              <a:solidFill>
                <a:srgbClr val="3C78D8"/>
              </a:solidFill>
              <a:latin typeface="Roboto Mono"/>
              <a:ea typeface="Roboto Mono"/>
              <a:cs typeface="Roboto Mono"/>
              <a:sym typeface="Roboto Mono"/>
            </a:endParaRPr>
          </a:p>
          <a:p>
            <a:pPr marL="17145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  objectType: 'SalesMeeting',</a:t>
            </a:r>
            <a:endParaRPr sz="800" b="1">
              <a:solidFill>
                <a:srgbClr val="3C78D8"/>
              </a:solidFill>
              <a:latin typeface="Roboto Mono"/>
              <a:ea typeface="Roboto Mono"/>
              <a:cs typeface="Roboto Mono"/>
              <a:sym typeface="Roboto Mono"/>
            </a:endParaRPr>
          </a:p>
          <a:p>
            <a:pPr marL="17145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  recordId: '00Q5f000001abcXYZ',</a:t>
            </a:r>
            <a:endParaRPr sz="800" b="1">
              <a:solidFill>
                <a:srgbClr val="3C78D8"/>
              </a:solidFill>
              <a:latin typeface="Roboto Mono"/>
              <a:ea typeface="Roboto Mono"/>
              <a:cs typeface="Roboto Mono"/>
              <a:sym typeface="Roboto Mono"/>
            </a:endParaRPr>
          </a:p>
          <a:p>
            <a:pPr marL="17145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  data: { Notes: transcript }</a:t>
            </a:r>
            <a:endParaRPr sz="800" b="1">
              <a:solidFill>
                <a:srgbClr val="3C78D8"/>
              </a:solidFill>
              <a:latin typeface="Roboto Mono"/>
              <a:ea typeface="Roboto Mono"/>
              <a:cs typeface="Roboto Mono"/>
              <a:sym typeface="Roboto Mono"/>
            </a:endParaRPr>
          </a:p>
          <a:p>
            <a:pPr marL="17145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rgbClr val="6AA84F"/>
              </a:buClr>
              <a:buSzPts val="1100"/>
              <a:buFont typeface="Calibri"/>
              <a:buChar char="●"/>
            </a:pPr>
            <a:r>
              <a:rPr lang="en" sz="1100">
                <a:solidFill>
                  <a:srgbClr val="FF0000"/>
                </a:solidFill>
                <a:latin typeface="Calibri"/>
                <a:ea typeface="Calibri"/>
                <a:cs typeface="Calibri"/>
                <a:sym typeface="Calibri"/>
              </a:rPr>
              <a:t>Benefit</a:t>
            </a:r>
            <a:r>
              <a:rPr lang="en" sz="1100">
                <a:solidFill>
                  <a:srgbClr val="6AA84F"/>
                </a:solidFill>
                <a:latin typeface="Calibri"/>
                <a:ea typeface="Calibri"/>
                <a:cs typeface="Calibri"/>
                <a:sym typeface="Calibri"/>
              </a:rPr>
              <a:t>: the copied document never flows through the AI model's context</a:t>
            </a:r>
            <a:endParaRPr sz="1100">
              <a:solidFill>
                <a:srgbClr val="6AA84F"/>
              </a:solidFill>
              <a:latin typeface="Calibri"/>
              <a:ea typeface="Calibri"/>
              <a:cs typeface="Calibri"/>
              <a:sym typeface="Calibri"/>
            </a:endParaRPr>
          </a:p>
          <a:p>
            <a:pPr marL="171450" marR="0" lvl="0" indent="-127000" algn="l" rtl="0">
              <a:lnSpc>
                <a:spcPct val="100000"/>
              </a:lnSpc>
              <a:spcBef>
                <a:spcPts val="0"/>
              </a:spcBef>
              <a:spcAft>
                <a:spcPts val="0"/>
              </a:spcAft>
              <a:buClr>
                <a:srgbClr val="6AA84F"/>
              </a:buClr>
              <a:buSzPts val="1100"/>
              <a:buFont typeface="Calibri"/>
              <a:buChar char="●"/>
            </a:pPr>
            <a:r>
              <a:rPr lang="en" sz="1100">
                <a:solidFill>
                  <a:srgbClr val="FF0000"/>
                </a:solidFill>
                <a:latin typeface="Calibri"/>
                <a:ea typeface="Calibri"/>
                <a:cs typeface="Calibri"/>
                <a:sym typeface="Calibri"/>
              </a:rPr>
              <a:t>Benefit</a:t>
            </a:r>
            <a:r>
              <a:rPr lang="en" sz="1100">
                <a:solidFill>
                  <a:srgbClr val="6AA84F"/>
                </a:solidFill>
                <a:latin typeface="Calibri"/>
                <a:ea typeface="Calibri"/>
                <a:cs typeface="Calibri"/>
                <a:sym typeface="Calibri"/>
              </a:rPr>
              <a:t>: reduces token usage by up to 98.7% in scenarios with many tools</a:t>
            </a:r>
            <a:endParaRPr sz="1100">
              <a:solidFill>
                <a:srgbClr val="6AA84F"/>
              </a:solidFill>
              <a:latin typeface="Calibri"/>
              <a:ea typeface="Calibri"/>
              <a:cs typeface="Calibri"/>
              <a:sym typeface="Calibri"/>
            </a:endParaRPr>
          </a:p>
          <a:p>
            <a:pPr marL="171450" marR="0" lvl="0" indent="-127000" algn="l" rtl="0">
              <a:lnSpc>
                <a:spcPct val="100000"/>
              </a:lnSpc>
              <a:spcBef>
                <a:spcPts val="0"/>
              </a:spcBef>
              <a:spcAft>
                <a:spcPts val="0"/>
              </a:spcAft>
              <a:buClr>
                <a:srgbClr val="6AA84F"/>
              </a:buClr>
              <a:buSzPts val="1100"/>
              <a:buFont typeface="Calibri"/>
              <a:buChar char="●"/>
            </a:pPr>
            <a:r>
              <a:rPr lang="en" sz="1100">
                <a:solidFill>
                  <a:srgbClr val="FF0000"/>
                </a:solidFill>
                <a:latin typeface="Calibri"/>
                <a:ea typeface="Calibri"/>
                <a:cs typeface="Calibri"/>
                <a:sym typeface="Calibri"/>
              </a:rPr>
              <a:t>Benefit</a:t>
            </a:r>
            <a:r>
              <a:rPr lang="en" sz="1100">
                <a:solidFill>
                  <a:srgbClr val="6AA84F"/>
                </a:solidFill>
                <a:latin typeface="Calibri"/>
                <a:ea typeface="Calibri"/>
                <a:cs typeface="Calibri"/>
                <a:sym typeface="Calibri"/>
              </a:rPr>
              <a:t>: the agent can filter large datasets in code (processing 10,000 spreadsheet rows but only showing the model 5 relevant ones), write loops and conditionals, save reusable functions as "skills" for future tasks</a:t>
            </a:r>
            <a:endParaRPr sz="1100">
              <a:solidFill>
                <a:srgbClr val="6AA84F"/>
              </a:solidFill>
              <a:latin typeface="Calibri"/>
              <a:ea typeface="Calibri"/>
              <a:cs typeface="Calibri"/>
              <a:sym typeface="Calibri"/>
            </a:endParaRPr>
          </a:p>
          <a:p>
            <a:pPr marL="171450" lvl="0" indent="-127000" algn="l" rtl="0">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To implement this approach, we need: </a:t>
            </a:r>
            <a:r>
              <a:rPr lang="en" sz="1100">
                <a:solidFill>
                  <a:srgbClr val="3C78D8"/>
                </a:solidFill>
                <a:latin typeface="Calibri"/>
                <a:ea typeface="Calibri"/>
                <a:cs typeface="Calibri"/>
                <a:sym typeface="Calibri"/>
              </a:rPr>
              <a:t> </a:t>
            </a:r>
            <a:endParaRPr sz="1100">
              <a:solidFill>
                <a:srgbClr val="3C78D8"/>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rgbClr val="3C78D8"/>
                </a:solidFill>
                <a:latin typeface="Calibri"/>
                <a:ea typeface="Calibri"/>
                <a:cs typeface="Calibri"/>
                <a:sym typeface="Calibri"/>
              </a:rPr>
              <a:t>    (1) A code execution environment; </a:t>
            </a:r>
            <a:endParaRPr sz="1100">
              <a:solidFill>
                <a:srgbClr val="3C78D8"/>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rgbClr val="3C78D8"/>
                </a:solidFill>
                <a:latin typeface="Calibri"/>
                <a:ea typeface="Calibri"/>
                <a:cs typeface="Calibri"/>
                <a:sym typeface="Calibri"/>
              </a:rPr>
              <a:t>    (2) Code that creates TypeScript/Python files representing each tool; </a:t>
            </a:r>
            <a:endParaRPr sz="1100">
              <a:solidFill>
                <a:srgbClr val="3C78D8"/>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rgbClr val="3C78D8"/>
                </a:solidFill>
                <a:latin typeface="Calibri"/>
                <a:ea typeface="Calibri"/>
                <a:cs typeface="Calibri"/>
                <a:sym typeface="Calibri"/>
              </a:rPr>
              <a:t>    (3) callMCPTool() wrapper for communication with MCP servers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Added complexity: you need to build and secure a code execution environment, generate the file tree from your MCP servers, and handle the infrastructure for running untrusted code safely.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For agents with just a few tools, the traditional direct tool-calling approach is simpler. But once you're connecting dozens of servers with hundreds of tools, code execution becomes essential for keeping costs and latency reasonable</a:t>
            </a:r>
            <a:endParaRPr sz="11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9"/>
          <p:cNvSpPr txBox="1"/>
          <p:nvPr/>
        </p:nvSpPr>
        <p:spPr>
          <a:xfrm>
            <a:off x="55075" y="20375"/>
            <a:ext cx="2982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Code execution with MCP</a:t>
            </a:r>
            <a:endParaRPr sz="2000" b="1" i="0" u="none" strike="noStrike" cap="none">
              <a:solidFill>
                <a:schemeClr val="dk1"/>
              </a:solidFill>
              <a:latin typeface="Calibri"/>
              <a:ea typeface="Calibri"/>
              <a:cs typeface="Calibri"/>
              <a:sym typeface="Calibri"/>
            </a:endParaRPr>
          </a:p>
        </p:txBody>
      </p:sp>
      <p:sp>
        <p:nvSpPr>
          <p:cNvPr id="167" name="Google Shape;167;p19"/>
          <p:cNvSpPr txBox="1"/>
          <p:nvPr/>
        </p:nvSpPr>
        <p:spPr>
          <a:xfrm>
            <a:off x="55075" y="384827"/>
            <a:ext cx="4444500" cy="5605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Do you really need MCP Servers?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https://www.youtube.com/watch?v=OIKTsVjTVJE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Traditional MCP servers can consume 10K+ tokens (5-10% of context window) before an agent even begins working, with multiple servers quickly bleeding 20%+ of available context. This becomes especially problematic when stacking multiple MCP servers together, significantly reducing the agent's effective working memory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Three Alternatives to MCP:</a:t>
            </a:r>
            <a:endParaRPr sz="1100">
              <a:solidFill>
                <a:schemeClr val="dk1"/>
              </a:solidFill>
              <a:latin typeface="Calibri"/>
              <a:ea typeface="Calibri"/>
              <a:cs typeface="Calibri"/>
              <a:sym typeface="Calibri"/>
            </a:endParaRPr>
          </a:p>
          <a:p>
            <a:pPr marL="2857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CLI as Tools (80% recommended use) - Agents are taught to use command-line interfaces through a simple prompt and README file, reducing context consumption from 10% to around 5.6%. CLI tools are self-documenting and widely understood by LLMs</a:t>
            </a:r>
            <a:endParaRPr sz="1100">
              <a:solidFill>
                <a:srgbClr val="3C78D8"/>
              </a:solidFill>
              <a:latin typeface="Calibri"/>
              <a:ea typeface="Calibri"/>
              <a:cs typeface="Calibri"/>
              <a:sym typeface="Calibri"/>
            </a:endParaRPr>
          </a:p>
          <a:p>
            <a:pPr marL="2857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Scripts as Tools (Progressive Disclosure) - Single-file, self-contained scripts that agents discover on-demand rather than preloading into context. This approach reduces context consumption to under 2% (less than 2K tokens) by using prompt engineering to prevent agents from reading script internals unless necessary. Each script uses UV dependency management for true file-level isolation</a:t>
            </a:r>
            <a:endParaRPr sz="1100">
              <a:solidFill>
                <a:srgbClr val="3C78D8"/>
              </a:solidFill>
              <a:latin typeface="Calibri"/>
              <a:ea typeface="Calibri"/>
              <a:cs typeface="Calibri"/>
              <a:sym typeface="Calibri"/>
            </a:endParaRPr>
          </a:p>
          <a:p>
            <a:pPr marL="2857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Skills as Tools (Claude-Specific) - Similar to scripts but integrated into Claude's ecosystem with automatic progressive disclosure through skill.md files. While powerful, this represents Claude ecosystem lock-in, though it provides the cleanest progressive disclosure implementation</a:t>
            </a:r>
            <a:endParaRPr sz="1100">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recommended approach is: </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80% CLI for new tools (works universally), </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15% wrap CLI into MCP when needing multi-agent scale</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5% use scripts/skills only when context preservation is critical</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MCP servers win on simplicity and composability but lose on context consumption and customizability. CLI/scripts/skills require more engineering investment but provide full control, better portability, and superior context management through progressive disclosure. The video emphasizes that prompt engineering remains the critical skill, as prompts determine what enters the context window before any tools are loaded.[3][1]</a:t>
            </a:r>
            <a:endParaRPr sz="11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0"/>
          <p:cNvSpPr txBox="1"/>
          <p:nvPr/>
        </p:nvSpPr>
        <p:spPr>
          <a:xfrm>
            <a:off x="55075" y="20375"/>
            <a:ext cx="3219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- 1</a:t>
            </a:r>
            <a:endParaRPr sz="2000" b="1" i="0" u="none" strike="noStrike" cap="none">
              <a:solidFill>
                <a:schemeClr val="dk1"/>
              </a:solidFill>
              <a:latin typeface="Calibri"/>
              <a:ea typeface="Calibri"/>
              <a:cs typeface="Calibri"/>
              <a:sym typeface="Calibri"/>
            </a:endParaRPr>
          </a:p>
        </p:txBody>
      </p:sp>
      <p:sp>
        <p:nvSpPr>
          <p:cNvPr id="173" name="Google Shape;173;p20"/>
          <p:cNvSpPr txBox="1"/>
          <p:nvPr/>
        </p:nvSpPr>
        <p:spPr>
          <a:xfrm>
            <a:off x="55075" y="2607026"/>
            <a:ext cx="4444500" cy="2219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OpenAI "AI-powered jobs platform" in mid-2026</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Challenge LinkedIn by connecting employers with AI-skilled workers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Using AI to evaluate AI skills (including OpenAI Certifications from OpenAI Academy)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OpenAI is planning to certify 10 million Americans by 2030</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OpenAI platform focuses exclusively on AI roles and includes a dedicated track for small businesses and local governments to access AI talent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platform will track and certify various AI competencies including prompt engineering, machine learning development, AI integration into existing products, data annotation, AI training, and AI ethics/policy expertise. Certification pilots begin in late 2025, giving early adopters a competitive advantage before the full platform launches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https://builtin.com/articles/openai-jobs-platform</a:t>
            </a:r>
            <a:endParaRPr sz="1100">
              <a:solidFill>
                <a:schemeClr val="dk1"/>
              </a:solidFill>
              <a:latin typeface="Calibri"/>
              <a:ea typeface="Calibri"/>
              <a:cs typeface="Calibri"/>
              <a:sym typeface="Calibri"/>
            </a:endParaRPr>
          </a:p>
        </p:txBody>
      </p:sp>
      <p:pic>
        <p:nvPicPr>
          <p:cNvPr id="174" name="Google Shape;174;p20"/>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4781775" y="451800"/>
            <a:ext cx="1797374" cy="1927850"/>
          </a:xfrm>
          <a:prstGeom prst="rect">
            <a:avLst/>
          </a:prstGeom>
          <a:noFill/>
          <a:ln w="9525" cap="flat" cmpd="sng">
            <a:solidFill>
              <a:srgbClr val="FF0000"/>
            </a:solidFill>
            <a:prstDash val="solid"/>
            <a:round/>
            <a:headEnd type="none" w="sm" len="sm"/>
            <a:tailEnd type="none" w="sm" len="sm"/>
          </a:ln>
        </p:spPr>
      </p:pic>
      <p:sp>
        <p:nvSpPr>
          <p:cNvPr id="175" name="Google Shape;175;p20"/>
          <p:cNvSpPr txBox="1"/>
          <p:nvPr/>
        </p:nvSpPr>
        <p:spPr>
          <a:xfrm>
            <a:off x="55075" y="451801"/>
            <a:ext cx="44445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OpenAI "GPT-5.1 Instant &amp; Thinking</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5"/>
              </a:rPr>
              <a:t>https://openai.com/index/gpt-5-1/</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Improvements: intelligence, communication style, and efficiency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Warmer, more conversational tone, playful, empathetic and approachable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More reliably answers the exact question asked rather than drifting into tangents or over-explaining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Adaptive reasoning level depending on the question. Adapts thinking time more precisely to the question complexity - running roughly twice as fast on simple tasks and roughly twice as slow on complex problems compared to GPT-5 Thinking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Enhanced Customization (personality presets plus experimental fine-tuning controls for conciseness, warmth, and emoji usage</a:t>
            </a:r>
            <a:endParaRPr sz="11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1"/>
          <p:cNvSpPr txBox="1"/>
          <p:nvPr/>
        </p:nvSpPr>
        <p:spPr>
          <a:xfrm>
            <a:off x="55075" y="20375"/>
            <a:ext cx="3219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Google Nested Learning</a:t>
            </a:r>
            <a:endParaRPr sz="2000" b="1" i="0" u="none" strike="noStrike" cap="none">
              <a:solidFill>
                <a:schemeClr val="dk1"/>
              </a:solidFill>
              <a:latin typeface="Calibri"/>
              <a:ea typeface="Calibri"/>
              <a:cs typeface="Calibri"/>
              <a:sym typeface="Calibri"/>
            </a:endParaRPr>
          </a:p>
        </p:txBody>
      </p:sp>
      <p:sp>
        <p:nvSpPr>
          <p:cNvPr id="181" name="Google Shape;181;p21"/>
          <p:cNvSpPr txBox="1"/>
          <p:nvPr/>
        </p:nvSpPr>
        <p:spPr>
          <a:xfrm>
            <a:off x="103700" y="387050"/>
            <a:ext cx="4484100" cy="4497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Google Nested Learning</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Designed to solve catastrophic forgetting problem (training on new information causes the model to lose previously learned knowledge)</a:t>
            </a: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3"/>
              </a:rPr>
              <a:t>https://www.youtube.com/watch?v=40eUFiGVeMo</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https://research.google/blog/introducing-nested-learning-a-new-ml-paradigm-for-continual-learning/</a:t>
            </a:r>
            <a:endParaRPr sz="8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Unlike human brains that continuously adapt through neuroplasticity, AI models have their knowledge locked into two places: their short-term context window and what they memorized during pre-training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inability to truly learn over time is considered one of the biggest bottlenecks to achieving AGI</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Nested Learning - treating the model architecture and training algorithm as the same concept rather than separate components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Instead of one monolithic learner, the approach views models as a system of smaller, nested optimization problems that operate at different learning speeds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Some components adapt quickly while others learn slowly, creating a layered memory system similar to how human brains handle multi-timescale learning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Google built HOPE (a self-modifying variant of the Titans architecture),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HOPE integrates a Continuum Memory System (CMS) that creates a spectrum of memory updating at different frequencies - from milliseconds to months - enabling more human-like recall</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HOPE demonstrated superior performance compared to Transformers, Titans, and Mamba 2 across multiple benchmarks, showing lower perplexity, higher accuracy, and better long-context reasoning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Both HOPE and Titans performed nearly perfectly in "needle in the haystack" tests</a:t>
            </a:r>
            <a:endParaRPr sz="1100">
              <a:solidFill>
                <a:schemeClr val="dk1"/>
              </a:solidFill>
              <a:latin typeface="Calibri"/>
              <a:ea typeface="Calibri"/>
              <a:cs typeface="Calibri"/>
              <a:sym typeface="Calibri"/>
            </a:endParaRPr>
          </a:p>
        </p:txBody>
      </p:sp>
      <p:pic>
        <p:nvPicPr>
          <p:cNvPr id="182" name="Google Shape;182;p21"/>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5334125" y="387050"/>
            <a:ext cx="3103549" cy="2309550"/>
          </a:xfrm>
          <a:prstGeom prst="rect">
            <a:avLst/>
          </a:prstGeom>
          <a:noFill/>
          <a:ln w="9525" cap="flat" cmpd="sng">
            <a:solidFill>
              <a:srgbClr val="FF0000"/>
            </a:solidFill>
            <a:prstDash val="solid"/>
            <a:round/>
            <a:headEnd type="none" w="sm" len="sm"/>
            <a:tailEnd type="none" w="sm" len="sm"/>
          </a:ln>
        </p:spPr>
      </p:pic>
      <p:pic>
        <p:nvPicPr>
          <p:cNvPr id="183" name="Google Shape;183;p21"/>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75200" y="2871750"/>
            <a:ext cx="4421400" cy="16129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2"/>
          <p:cNvSpPr txBox="1"/>
          <p:nvPr/>
        </p:nvSpPr>
        <p:spPr>
          <a:xfrm>
            <a:off x="148651" y="61930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5.64K subscribers, 253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Subscribe to this channel</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b="1">
                <a:solidFill>
                  <a:srgbClr val="FF0000"/>
                </a:solidFill>
                <a:latin typeface="Calibri"/>
                <a:ea typeface="Calibri"/>
                <a:cs typeface="Calibri"/>
                <a:sym typeface="Calibri"/>
              </a:rPr>
              <a:t>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89" name="Google Shape;189;p2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231375" y="93500"/>
            <a:ext cx="3819898" cy="4956498"/>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3"/>
          <p:cNvSpPr txBox="1"/>
          <p:nvPr/>
        </p:nvSpPr>
        <p:spPr>
          <a:xfrm>
            <a:off x="55075" y="20375"/>
            <a:ext cx="4505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Gemini &amp; Anthropic support JSON Schema</a:t>
            </a:r>
            <a:endParaRPr sz="2000" b="1" i="0" u="none" strike="noStrike" cap="none">
              <a:solidFill>
                <a:schemeClr val="dk1"/>
              </a:solidFill>
              <a:latin typeface="Calibri"/>
              <a:ea typeface="Calibri"/>
              <a:cs typeface="Calibri"/>
              <a:sym typeface="Calibri"/>
            </a:endParaRPr>
          </a:p>
        </p:txBody>
      </p:sp>
      <p:sp>
        <p:nvSpPr>
          <p:cNvPr id="195" name="Google Shape;195;p23"/>
          <p:cNvSpPr txBox="1"/>
          <p:nvPr/>
        </p:nvSpPr>
        <p:spPr>
          <a:xfrm>
            <a:off x="55075" y="428975"/>
            <a:ext cx="4505400" cy="2173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Gemini API now supports JSON Schema</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3"/>
              </a:rPr>
              <a:t>https://blog.google/technology/developers/gemini-api-structured-outputs/</a:t>
            </a:r>
            <a:endParaRPr sz="8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enables libraries like Pydantic (Python) or Zod (JavaScript/TypeScript) to work out-of-the-box with the Gemini API</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builds upon the current support for the Gemini API’s Schema object that is based on OpenAPI 3.0 for Structured Outputs and Function Calling.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update also adds support for frequently requested JSON Schema keywords, including:</a:t>
            </a:r>
            <a:endParaRPr sz="1100">
              <a:solidFill>
                <a:schemeClr val="dk1"/>
              </a:solidFill>
              <a:latin typeface="Calibri"/>
              <a:ea typeface="Calibri"/>
              <a:cs typeface="Calibri"/>
              <a:sym typeface="Calibri"/>
            </a:endParaRPr>
          </a:p>
          <a:p>
            <a:pPr marL="45720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anyOf for conditional structures (Unions)</a:t>
            </a:r>
            <a:endParaRPr sz="1100" b="1">
              <a:solidFill>
                <a:srgbClr val="3C78D8"/>
              </a:solidFill>
              <a:latin typeface="Calibri"/>
              <a:ea typeface="Calibri"/>
              <a:cs typeface="Calibri"/>
              <a:sym typeface="Calibri"/>
            </a:endParaRPr>
          </a:p>
          <a:p>
            <a:pPr marL="45720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$ref for recursive schemas</a:t>
            </a:r>
            <a:endParaRPr sz="1100" b="1">
              <a:solidFill>
                <a:srgbClr val="3C78D8"/>
              </a:solidFill>
              <a:latin typeface="Calibri"/>
              <a:ea typeface="Calibri"/>
              <a:cs typeface="Calibri"/>
              <a:sym typeface="Calibri"/>
            </a:endParaRPr>
          </a:p>
          <a:p>
            <a:pPr marL="45720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minimum and maximum for numeric constraints</a:t>
            </a:r>
            <a:endParaRPr sz="1100" b="1">
              <a:solidFill>
                <a:srgbClr val="3C78D8"/>
              </a:solidFill>
              <a:latin typeface="Calibri"/>
              <a:ea typeface="Calibri"/>
              <a:cs typeface="Calibri"/>
              <a:sym typeface="Calibri"/>
            </a:endParaRPr>
          </a:p>
          <a:p>
            <a:pPr marL="45720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additionalProperties and type: 'null'</a:t>
            </a:r>
            <a:endParaRPr sz="1100" b="1">
              <a:solidFill>
                <a:srgbClr val="3C78D8"/>
              </a:solidFill>
              <a:latin typeface="Calibri"/>
              <a:ea typeface="Calibri"/>
              <a:cs typeface="Calibri"/>
              <a:sym typeface="Calibri"/>
            </a:endParaRPr>
          </a:p>
          <a:p>
            <a:pPr marL="45720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prefixItems for tuple-like arrays</a:t>
            </a:r>
            <a:endParaRPr sz="1100" b="1">
              <a:solidFill>
                <a:srgbClr val="3C78D8"/>
              </a:solidFill>
              <a:latin typeface="Calibri"/>
              <a:ea typeface="Calibri"/>
              <a:cs typeface="Calibri"/>
              <a:sym typeface="Calibri"/>
            </a:endParaRPr>
          </a:p>
        </p:txBody>
      </p:sp>
      <p:pic>
        <p:nvPicPr>
          <p:cNvPr id="196" name="Google Shape;196;p2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52500" y="281432"/>
            <a:ext cx="3276674" cy="1835751"/>
          </a:xfrm>
          <a:prstGeom prst="rect">
            <a:avLst/>
          </a:prstGeom>
          <a:noFill/>
          <a:ln w="9525" cap="flat" cmpd="sng">
            <a:solidFill>
              <a:srgbClr val="FF0000"/>
            </a:solidFill>
            <a:prstDash val="solid"/>
            <a:round/>
            <a:headEnd type="none" w="sm" len="sm"/>
            <a:tailEnd type="none" w="sm" len="sm"/>
          </a:ln>
        </p:spPr>
      </p:pic>
      <p:sp>
        <p:nvSpPr>
          <p:cNvPr id="197" name="Google Shape;197;p23"/>
          <p:cNvSpPr txBox="1"/>
          <p:nvPr/>
        </p:nvSpPr>
        <p:spPr>
          <a:xfrm>
            <a:off x="4652500" y="2167594"/>
            <a:ext cx="4444500" cy="289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Anthropic's API supports JSON Schema</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Anthropic accepts JSON Schema definitions, particularly through their tool use (function calling) feature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When you define tools, you provide an input_schema parameter that accepts JSON Schema to specify the structure of tool inputs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API </a:t>
            </a:r>
            <a:r>
              <a:rPr lang="en" sz="1100" b="1">
                <a:solidFill>
                  <a:srgbClr val="3C78D8"/>
                </a:solidFill>
                <a:latin typeface="Calibri"/>
                <a:ea typeface="Calibri"/>
                <a:cs typeface="Calibri"/>
                <a:sym typeface="Calibri"/>
              </a:rPr>
              <a:t>does not support</a:t>
            </a:r>
            <a:r>
              <a:rPr lang="en" sz="1100">
                <a:solidFill>
                  <a:schemeClr val="dk1"/>
                </a:solidFill>
                <a:latin typeface="Calibri"/>
                <a:ea typeface="Calibri"/>
                <a:cs typeface="Calibri"/>
                <a:sym typeface="Calibri"/>
              </a:rPr>
              <a:t> </a:t>
            </a:r>
            <a:r>
              <a:rPr lang="en" sz="1100" b="1">
                <a:solidFill>
                  <a:srgbClr val="FF0000"/>
                </a:solidFill>
                <a:latin typeface="Calibri"/>
                <a:ea typeface="Calibri"/>
                <a:cs typeface="Calibri"/>
                <a:sym typeface="Calibri"/>
              </a:rPr>
              <a:t>oneOf, allOf, or anyOf </a:t>
            </a:r>
            <a:r>
              <a:rPr lang="en" sz="1100">
                <a:solidFill>
                  <a:schemeClr val="dk1"/>
                </a:solidFill>
                <a:latin typeface="Calibri"/>
                <a:ea typeface="Calibri"/>
                <a:cs typeface="Calibri"/>
                <a:sym typeface="Calibri"/>
              </a:rPr>
              <a:t>at the top level of the schema</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most reliable approach to get JSON response is to use the </a:t>
            </a:r>
            <a:r>
              <a:rPr lang="en" sz="1100" b="1">
                <a:solidFill>
                  <a:srgbClr val="3C78D8"/>
                </a:solidFill>
                <a:latin typeface="Calibri"/>
                <a:ea typeface="Calibri"/>
                <a:cs typeface="Calibri"/>
                <a:sym typeface="Calibri"/>
              </a:rPr>
              <a:t>tool calling method</a:t>
            </a:r>
            <a:r>
              <a:rPr lang="en" sz="1100">
                <a:solidFill>
                  <a:schemeClr val="dk1"/>
                </a:solidFill>
                <a:latin typeface="Calibri"/>
                <a:ea typeface="Calibri"/>
                <a:cs typeface="Calibri"/>
                <a:sym typeface="Calibri"/>
              </a:rPr>
              <a:t> rather than directly prompting for JSON output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rgbClr val="6AA84F"/>
              </a:buClr>
              <a:buSzPts val="1100"/>
              <a:buFont typeface="Calibri"/>
              <a:buChar char="●"/>
            </a:pPr>
            <a:r>
              <a:rPr lang="en" sz="1100" b="1">
                <a:solidFill>
                  <a:srgbClr val="6AA84F"/>
                </a:solidFill>
                <a:latin typeface="Calibri"/>
                <a:ea typeface="Calibri"/>
                <a:cs typeface="Calibri"/>
                <a:sym typeface="Calibri"/>
              </a:rPr>
              <a:t>The best practice for structured JSON output with Anthropic is to </a:t>
            </a:r>
            <a:r>
              <a:rPr lang="en" sz="1100" b="1">
                <a:solidFill>
                  <a:srgbClr val="FF0000"/>
                </a:solidFill>
                <a:latin typeface="Calibri"/>
                <a:ea typeface="Calibri"/>
                <a:cs typeface="Calibri"/>
                <a:sym typeface="Calibri"/>
              </a:rPr>
              <a:t>create a mock tool/function call where your desired JSON structure is defined as the tool's input schema</a:t>
            </a:r>
            <a:r>
              <a:rPr lang="en" sz="1100" b="1">
                <a:solidFill>
                  <a:srgbClr val="6AA84F"/>
                </a:solidFill>
                <a:latin typeface="Calibri"/>
                <a:ea typeface="Calibri"/>
                <a:cs typeface="Calibri"/>
                <a:sym typeface="Calibri"/>
              </a:rPr>
              <a:t>. </a:t>
            </a:r>
            <a:r>
              <a:rPr lang="en" sz="1100" b="1">
                <a:solidFill>
                  <a:srgbClr val="3C78D8"/>
                </a:solidFill>
                <a:latin typeface="Calibri"/>
                <a:ea typeface="Calibri"/>
                <a:cs typeface="Calibri"/>
                <a:sym typeface="Calibri"/>
              </a:rPr>
              <a:t>This forces the model to return properly formatted JSON that adheres to your schema</a:t>
            </a:r>
            <a:endParaRPr sz="11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Why oneOf, allOf, or anyOf are not supported? Implementation complexity and reliability constraints. Parsing ambiguity, Validation complexity, Reliability trade-offs (Anthropic prioritizes schema compliance reliability over flexibility). Simpler schemas with a single, clear structure at the top level allow Claude to generate more predictable, valid outputs</a:t>
            </a:r>
            <a:endParaRPr sz="1100">
              <a:solidFill>
                <a:schemeClr val="dk1"/>
              </a:solidFill>
              <a:latin typeface="Calibri"/>
              <a:ea typeface="Calibri"/>
              <a:cs typeface="Calibri"/>
              <a:sym typeface="Calibri"/>
            </a:endParaRPr>
          </a:p>
        </p:txBody>
      </p:sp>
      <p:pic>
        <p:nvPicPr>
          <p:cNvPr id="198" name="Google Shape;198;p2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2324250" y="2828175"/>
            <a:ext cx="2236227" cy="2236227"/>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4"/>
          <p:cNvSpPr txBox="1"/>
          <p:nvPr/>
        </p:nvSpPr>
        <p:spPr>
          <a:xfrm>
            <a:off x="55075" y="20375"/>
            <a:ext cx="4505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World Model RAG</a:t>
            </a:r>
            <a:endParaRPr sz="2000" b="1" i="0" u="none" strike="noStrike" cap="none">
              <a:solidFill>
                <a:schemeClr val="dk1"/>
              </a:solidFill>
              <a:latin typeface="Calibri"/>
              <a:ea typeface="Calibri"/>
              <a:cs typeface="Calibri"/>
              <a:sym typeface="Calibri"/>
            </a:endParaRPr>
          </a:p>
        </p:txBody>
      </p:sp>
      <p:sp>
        <p:nvSpPr>
          <p:cNvPr id="204" name="Google Shape;204;p24"/>
          <p:cNvSpPr txBox="1"/>
          <p:nvPr/>
        </p:nvSpPr>
        <p:spPr>
          <a:xfrm>
            <a:off x="55075" y="428975"/>
            <a:ext cx="4505400" cy="425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Generative Semantic Workspaces (GSW)</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https://www.youtube.com/watch?v=PJs2oldF8s0</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 RAG system from UCLA researchers - SOTA performance with up to 20% improvement over existing methods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GSW takes inspiration from human brain architecture (hippocampus and neocortex) to create a neuro-inspired framework with two main components:</a:t>
            </a:r>
            <a:endParaRPr sz="1100">
              <a:solidFill>
                <a:schemeClr val="dk1"/>
              </a:solidFill>
              <a:latin typeface="Calibri"/>
              <a:ea typeface="Calibri"/>
              <a:cs typeface="Calibri"/>
              <a:sym typeface="Calibri"/>
            </a:endParaRPr>
          </a:p>
          <a:p>
            <a:pPr marL="34290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Operator - performs deep semantic analysis on text chunks, transforming unstructured language into structured "index cards" containing actors, roles, states, actions, and crucially, spatiotemporal information</a:t>
            </a:r>
            <a:endParaRPr sz="1100">
              <a:solidFill>
                <a:srgbClr val="3C78D8"/>
              </a:solidFill>
              <a:latin typeface="Calibri"/>
              <a:ea typeface="Calibri"/>
              <a:cs typeface="Calibri"/>
              <a:sym typeface="Calibri"/>
            </a:endParaRPr>
          </a:p>
          <a:p>
            <a:pPr marL="34290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Reconciler - integrates local semantic graphs into a persistent global workspace, performing entity resolution, state tracking across timelines, and building coherent narrative memory structures</a:t>
            </a:r>
            <a:endParaRPr sz="1100">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system processes text by creating local semantic graphs from chunks (e.g., "Dr. Aristo nervously approached the podium at Geneva Convention Center on May 10th"), then reconciling these across multiple chunks to track entity states over time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For example, it can identify that "he" in a second chunk refers to "Dr. Aristo" from the first, and track his emotional state transition from "nervous" to "confident" along a coherent timeline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On the EpBench benchmark (200-chapter books, 100k-1M tokens), GSW demonstrated: Highest F1, precision, and recall scores across all metrics; 10%+ improvement over the next-best model (GraphRAG); 50-60% token reduction compared to GraphRAG and other embedding RAG systems; Significantly faster inference due to reduced token usage</a:t>
            </a:r>
            <a:endParaRPr sz="1100">
              <a:solidFill>
                <a:schemeClr val="dk1"/>
              </a:solidFill>
              <a:latin typeface="Calibri"/>
              <a:ea typeface="Calibri"/>
              <a:cs typeface="Calibri"/>
              <a:sym typeface="Calibri"/>
            </a:endParaRPr>
          </a:p>
        </p:txBody>
      </p:sp>
      <p:sp>
        <p:nvSpPr>
          <p:cNvPr id="205" name="Google Shape;205;p24"/>
          <p:cNvSpPr txBox="1"/>
          <p:nvPr/>
        </p:nvSpPr>
        <p:spPr>
          <a:xfrm>
            <a:off x="4604386" y="41217"/>
            <a:ext cx="4505400" cy="238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system uses GPT-4o with temperature 0 for deterministic behavior, employing detailed prompts for actor identification, role assignment, state tracking, and spatiotemporal coupling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Rather than retrieving isolated facts, GSW reconstructs complete episodic summaries with full contextual understanding of who, what, when, where, and why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architecture represents a fundamental shift from "bag of chunks" retrieval to persistent, structured memory that maintains spatio-temporal coherence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dramatic token reduction combined with superior performance makes it particularly valuable for real-time AI agents requiring fast, contextually-aware responses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https://www.youtube.com/watch?v=PJs2oldF8s0</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https://arxiv.org/abs/2511.07587</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206" name="Google Shape;206;p2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04375" y="2487150"/>
            <a:ext cx="4204425" cy="26107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5"/>
          <p:cNvSpPr txBox="1"/>
          <p:nvPr/>
        </p:nvSpPr>
        <p:spPr>
          <a:xfrm>
            <a:off x="55075" y="20375"/>
            <a:ext cx="174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- 3</a:t>
            </a:r>
            <a:endParaRPr sz="2000" b="1" i="0" u="none" strike="noStrike" cap="none">
              <a:solidFill>
                <a:schemeClr val="dk1"/>
              </a:solidFill>
              <a:latin typeface="Calibri"/>
              <a:ea typeface="Calibri"/>
              <a:cs typeface="Calibri"/>
              <a:sym typeface="Calibri"/>
            </a:endParaRPr>
          </a:p>
        </p:txBody>
      </p:sp>
      <p:sp>
        <p:nvSpPr>
          <p:cNvPr id="212" name="Google Shape;212;p25"/>
          <p:cNvSpPr txBox="1"/>
          <p:nvPr/>
        </p:nvSpPr>
        <p:spPr>
          <a:xfrm>
            <a:off x="82019" y="371433"/>
            <a:ext cx="44445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Google Nano Banana 2 (Pro) preview</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https://www.youtube.com/watch?v=6zw2p2l4fHI</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An upcoming ultra-lightweight AI image generation model</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Delivers high-quality visuals with exceptional speed</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model appeared in preview form on </a:t>
            </a:r>
            <a:r>
              <a:rPr lang="en" sz="1100" u="sng">
                <a:solidFill>
                  <a:schemeClr val="hlink"/>
                </a:solidFill>
                <a:latin typeface="Calibri"/>
                <a:ea typeface="Calibri"/>
                <a:cs typeface="Calibri"/>
                <a:sym typeface="Calibri"/>
                <a:hlinkClick r:id="rId4"/>
              </a:rPr>
              <a:t>Media.io</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Expected to officially launch around November 11, 2025</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Native 2K output, improved text rendering, infographics, and chart generation, multilingual support, transparency support, significantly better instruction following; photorealistic images with exceptional detail</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Multi-step generation workflow - it plans the output, generates an image, reviews it through built-in image analysis, identifies and corrects errors, and iterates before delivering the final result</a:t>
            </a:r>
            <a:endParaRPr sz="1100">
              <a:solidFill>
                <a:schemeClr val="dk1"/>
              </a:solidFill>
              <a:latin typeface="Calibri"/>
              <a:ea typeface="Calibri"/>
              <a:cs typeface="Calibri"/>
              <a:sym typeface="Calibri"/>
            </a:endParaRPr>
          </a:p>
        </p:txBody>
      </p:sp>
      <p:sp>
        <p:nvSpPr>
          <p:cNvPr id="213" name="Google Shape;213;p25"/>
          <p:cNvSpPr txBox="1"/>
          <p:nvPr/>
        </p:nvSpPr>
        <p:spPr>
          <a:xfrm>
            <a:off x="82019" y="2490128"/>
            <a:ext cx="4444500" cy="188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Verdent AI coding agent</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5"/>
              </a:rPr>
              <a:t>https://www.youtube.com/watch?v=bhqLatL1Km8</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6"/>
              </a:rPr>
              <a:t>https://verdent.ai</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2857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Multi-model orchestration (for example, combining GPT-5 and Claude 4.5 strengths)</a:t>
            </a:r>
            <a:endParaRPr sz="1100">
              <a:solidFill>
                <a:srgbClr val="3C78D8"/>
              </a:solidFill>
              <a:latin typeface="Calibri"/>
              <a:ea typeface="Calibri"/>
              <a:cs typeface="Calibri"/>
              <a:sym typeface="Calibri"/>
            </a:endParaRPr>
          </a:p>
          <a:p>
            <a:pPr marL="2857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Long context with persistent memory</a:t>
            </a:r>
            <a:endParaRPr sz="1100">
              <a:solidFill>
                <a:srgbClr val="3C78D8"/>
              </a:solidFill>
              <a:latin typeface="Calibri"/>
              <a:ea typeface="Calibri"/>
              <a:cs typeface="Calibri"/>
              <a:sym typeface="Calibri"/>
            </a:endParaRPr>
          </a:p>
          <a:p>
            <a:pPr marL="2857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Automated verification with code review</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Outperforms Cursor 2.0 and Warp, surpasses Claude Code and Codex with 76.1% pass@1 score  on the SWE-bench Verified test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Available as a macOS desktop app and as a VSCode extension, also works with Cursor and Windsurf</a:t>
            </a:r>
            <a:endParaRPr sz="1100">
              <a:solidFill>
                <a:schemeClr val="dk1"/>
              </a:solidFill>
              <a:latin typeface="Calibri"/>
              <a:ea typeface="Calibri"/>
              <a:cs typeface="Calibri"/>
              <a:sym typeface="Calibri"/>
            </a:endParaRPr>
          </a:p>
        </p:txBody>
      </p:sp>
      <p:pic>
        <p:nvPicPr>
          <p:cNvPr id="214" name="Google Shape;214;p25"/>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4686225" y="2769006"/>
            <a:ext cx="2857500" cy="1322425"/>
          </a:xfrm>
          <a:prstGeom prst="rect">
            <a:avLst/>
          </a:prstGeom>
          <a:noFill/>
          <a:ln w="9525" cap="flat" cmpd="sng">
            <a:solidFill>
              <a:srgbClr val="FF0000"/>
            </a:solidFill>
            <a:prstDash val="solid"/>
            <a:round/>
            <a:headEnd type="none" w="sm" len="sm"/>
            <a:tailEnd type="none" w="sm" len="sm"/>
          </a:ln>
        </p:spPr>
      </p:pic>
      <p:pic>
        <p:nvPicPr>
          <p:cNvPr id="215" name="Google Shape;215;p25"/>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4686225" y="711722"/>
            <a:ext cx="2857500" cy="136961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6"/>
          <p:cNvSpPr txBox="1"/>
          <p:nvPr/>
        </p:nvSpPr>
        <p:spPr>
          <a:xfrm>
            <a:off x="55075" y="20375"/>
            <a:ext cx="174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- 4</a:t>
            </a:r>
            <a:endParaRPr sz="2000" b="1" i="0" u="none" strike="noStrike" cap="none">
              <a:solidFill>
                <a:schemeClr val="dk1"/>
              </a:solidFill>
              <a:latin typeface="Calibri"/>
              <a:ea typeface="Calibri"/>
              <a:cs typeface="Calibri"/>
              <a:sym typeface="Calibri"/>
            </a:endParaRPr>
          </a:p>
        </p:txBody>
      </p:sp>
      <p:sp>
        <p:nvSpPr>
          <p:cNvPr id="221" name="Google Shape;221;p26"/>
          <p:cNvSpPr txBox="1"/>
          <p:nvPr/>
        </p:nvSpPr>
        <p:spPr>
          <a:xfrm>
            <a:off x="82027" y="371425"/>
            <a:ext cx="5767500" cy="2265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Analyze Data in Excel or GSheets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3C78D8"/>
                </a:solidFill>
                <a:latin typeface="Calibri"/>
                <a:ea typeface="Calibri"/>
                <a:cs typeface="Calibri"/>
                <a:sym typeface="Calibri"/>
              </a:rPr>
              <a:t>VibeChart</a:t>
            </a:r>
            <a:r>
              <a:rPr lang="en" sz="1100">
                <a:solidFill>
                  <a:schemeClr val="dk1"/>
                </a:solidFill>
                <a:latin typeface="Calibri"/>
                <a:ea typeface="Calibri"/>
                <a:cs typeface="Calibri"/>
                <a:sym typeface="Calibri"/>
              </a:rPr>
              <a:t> - transforms data into charts using prompts</a:t>
            </a:r>
            <a:br>
              <a:rPr lang="en" sz="1100">
                <a:solidFill>
                  <a:schemeClr val="dk1"/>
                </a:solidFill>
                <a:latin typeface="Calibri"/>
                <a:ea typeface="Calibri"/>
                <a:cs typeface="Calibri"/>
                <a:sym typeface="Calibri"/>
              </a:rPr>
            </a:br>
            <a:r>
              <a:rPr lang="en" sz="900" u="sng">
                <a:solidFill>
                  <a:schemeClr val="hlink"/>
                </a:solidFill>
                <a:latin typeface="Calibri"/>
                <a:ea typeface="Calibri"/>
                <a:cs typeface="Calibri"/>
                <a:sym typeface="Calibri"/>
                <a:hlinkClick r:id="rId3"/>
              </a:rPr>
              <a:t>https://vibechart.ai/</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3C78D8"/>
                </a:solidFill>
                <a:latin typeface="Calibri"/>
                <a:ea typeface="Calibri"/>
                <a:cs typeface="Calibri"/>
                <a:sym typeface="Calibri"/>
              </a:rPr>
              <a:t>Shortcut</a:t>
            </a:r>
            <a:r>
              <a:rPr lang="en" sz="1100">
                <a:solidFill>
                  <a:schemeClr val="dk1"/>
                </a:solidFill>
                <a:latin typeface="Calibri"/>
                <a:ea typeface="Calibri"/>
                <a:cs typeface="Calibri"/>
                <a:sym typeface="Calibri"/>
              </a:rPr>
              <a:t> - AI Excel agent that works inside Excel or Google Sheets</a:t>
            </a:r>
            <a:br>
              <a:rPr lang="en" sz="1100">
                <a:solidFill>
                  <a:schemeClr val="dk1"/>
                </a:solidFill>
                <a:latin typeface="Calibri"/>
                <a:ea typeface="Calibri"/>
                <a:cs typeface="Calibri"/>
                <a:sym typeface="Calibri"/>
              </a:rPr>
            </a:br>
            <a:r>
              <a:rPr lang="en" sz="900" u="sng">
                <a:solidFill>
                  <a:schemeClr val="hlink"/>
                </a:solidFill>
                <a:latin typeface="Calibri"/>
                <a:ea typeface="Calibri"/>
                <a:cs typeface="Calibri"/>
                <a:sym typeface="Calibri"/>
                <a:hlinkClick r:id="rId4"/>
              </a:rPr>
              <a:t>https://www.shortcut.ai</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3C78D8"/>
                </a:solidFill>
                <a:latin typeface="Calibri"/>
                <a:ea typeface="Calibri"/>
                <a:cs typeface="Calibri"/>
                <a:sym typeface="Calibri"/>
              </a:rPr>
              <a:t>Chat CSV </a:t>
            </a:r>
            <a:r>
              <a:rPr lang="en" sz="1100">
                <a:solidFill>
                  <a:schemeClr val="dk1"/>
                </a:solidFill>
                <a:latin typeface="Calibri"/>
                <a:ea typeface="Calibri"/>
                <a:cs typeface="Calibri"/>
                <a:sym typeface="Calibri"/>
              </a:rPr>
              <a:t>- Upload CSV files and chat with them to get insights, charts, and summaries</a:t>
            </a:r>
            <a:br>
              <a:rPr lang="en" sz="1100">
                <a:solidFill>
                  <a:schemeClr val="dk1"/>
                </a:solidFill>
                <a:latin typeface="Calibri"/>
                <a:ea typeface="Calibri"/>
                <a:cs typeface="Calibri"/>
                <a:sym typeface="Calibri"/>
              </a:rPr>
            </a:br>
            <a:r>
              <a:rPr lang="en" sz="900" u="sng">
                <a:solidFill>
                  <a:schemeClr val="hlink"/>
                </a:solidFill>
                <a:latin typeface="Calibri"/>
                <a:ea typeface="Calibri"/>
                <a:cs typeface="Calibri"/>
                <a:sym typeface="Calibri"/>
                <a:hlinkClick r:id="rId5"/>
              </a:rPr>
              <a:t>https://www.chatcsv.co</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3C78D8"/>
                </a:solidFill>
                <a:latin typeface="Calibri"/>
                <a:ea typeface="Calibri"/>
                <a:cs typeface="Calibri"/>
                <a:sym typeface="Calibri"/>
              </a:rPr>
              <a:t>Sheet AI </a:t>
            </a:r>
            <a:r>
              <a:rPr lang="en" sz="1100">
                <a:solidFill>
                  <a:schemeClr val="dk1"/>
                </a:solidFill>
                <a:latin typeface="Calibri"/>
                <a:ea typeface="Calibri"/>
                <a:cs typeface="Calibri"/>
                <a:sym typeface="Calibri"/>
              </a:rPr>
              <a:t>- Works inside Google Sheets to clean columns, generate content, summarize data, and perform tasks through natural language commands</a:t>
            </a:r>
            <a:br>
              <a:rPr lang="en" sz="1100">
                <a:solidFill>
                  <a:schemeClr val="dk1"/>
                </a:solidFill>
                <a:latin typeface="Calibri"/>
                <a:ea typeface="Calibri"/>
                <a:cs typeface="Calibri"/>
                <a:sym typeface="Calibri"/>
              </a:rPr>
            </a:br>
            <a:r>
              <a:rPr lang="en" sz="900" u="sng">
                <a:solidFill>
                  <a:schemeClr val="hlink"/>
                </a:solidFill>
                <a:latin typeface="Calibri"/>
                <a:ea typeface="Calibri"/>
                <a:cs typeface="Calibri"/>
                <a:sym typeface="Calibri"/>
                <a:hlinkClick r:id="rId6"/>
              </a:rPr>
              <a:t>https://sheetai.app</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3C78D8"/>
                </a:solidFill>
                <a:latin typeface="Calibri"/>
                <a:ea typeface="Calibri"/>
                <a:cs typeface="Calibri"/>
                <a:sym typeface="Calibri"/>
              </a:rPr>
              <a:t>Genius Sheets </a:t>
            </a:r>
            <a:r>
              <a:rPr lang="en" sz="1100">
                <a:solidFill>
                  <a:schemeClr val="dk1"/>
                </a:solidFill>
                <a:latin typeface="Calibri"/>
                <a:ea typeface="Calibri"/>
                <a:cs typeface="Calibri"/>
                <a:sym typeface="Calibri"/>
              </a:rPr>
              <a:t>- Built specifically for finance teams to create P&amp;L reports, structured financial reports, and dashboards with QuickBooks integration. Available at Google Workspace Marketplace and Microsoft AppSource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Use </a:t>
            </a:r>
            <a:r>
              <a:rPr lang="en" sz="1100" b="1">
                <a:solidFill>
                  <a:srgbClr val="3C78D8"/>
                </a:solidFill>
                <a:latin typeface="Calibri"/>
                <a:ea typeface="Calibri"/>
                <a:cs typeface="Calibri"/>
                <a:sym typeface="Calibri"/>
              </a:rPr>
              <a:t>Microsoft Copilot </a:t>
            </a:r>
            <a:r>
              <a:rPr lang="en" sz="1100">
                <a:solidFill>
                  <a:schemeClr val="dk1"/>
                </a:solidFill>
                <a:latin typeface="Calibri"/>
                <a:ea typeface="Calibri"/>
                <a:cs typeface="Calibri"/>
                <a:sym typeface="Calibri"/>
              </a:rPr>
              <a:t>Desktop's Voice and Vision to analyze GSheets or Excel data hands-free</a:t>
            </a:r>
            <a:endParaRPr sz="900">
              <a:solidFill>
                <a:schemeClr val="dk1"/>
              </a:solidFill>
              <a:latin typeface="Calibri"/>
              <a:ea typeface="Calibri"/>
              <a:cs typeface="Calibri"/>
              <a:sym typeface="Calibri"/>
            </a:endParaRPr>
          </a:p>
        </p:txBody>
      </p:sp>
      <p:sp>
        <p:nvSpPr>
          <p:cNvPr id="222" name="Google Shape;222;p26"/>
          <p:cNvSpPr txBox="1"/>
          <p:nvPr/>
        </p:nvSpPr>
        <p:spPr>
          <a:xfrm>
            <a:off x="82027" y="3834549"/>
            <a:ext cx="5767500" cy="1203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Yann LeCun is planning to leave Meta</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to launch his own AI startup focusing on "world models"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LeCun has called LLMs a "dead end" for achieving human-like AI, advocating instead for systems that can perceive environments and grasp physical concepts like gravity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7"/>
              </a:rPr>
              <a:t>https://www.youtube.com/watch?v=bdBfYYhSXLQ</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Mark Zuckerberg is pushing Meta commerce, but Meta's models have fallen significantly in LLM rankings, replaced by Chinese open-source models</a:t>
            </a:r>
            <a:endParaRPr sz="1100">
              <a:solidFill>
                <a:schemeClr val="dk1"/>
              </a:solidFill>
              <a:latin typeface="Calibri"/>
              <a:ea typeface="Calibri"/>
              <a:cs typeface="Calibri"/>
              <a:sym typeface="Calibri"/>
            </a:endParaRPr>
          </a:p>
        </p:txBody>
      </p:sp>
      <p:pic>
        <p:nvPicPr>
          <p:cNvPr id="223" name="Google Shape;223;p26"/>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6057099" y="3766890"/>
            <a:ext cx="1976924" cy="1316674"/>
          </a:xfrm>
          <a:prstGeom prst="rect">
            <a:avLst/>
          </a:prstGeom>
          <a:noFill/>
          <a:ln w="9525" cap="flat" cmpd="sng">
            <a:solidFill>
              <a:srgbClr val="FF0000"/>
            </a:solidFill>
            <a:prstDash val="solid"/>
            <a:round/>
            <a:headEnd type="none" w="sm" len="sm"/>
            <a:tailEnd type="none" w="sm" len="sm"/>
          </a:ln>
        </p:spPr>
      </p:pic>
      <p:pic>
        <p:nvPicPr>
          <p:cNvPr id="224" name="Google Shape;224;p26"/>
          <p:cNvPicPr preferRelativeResize="0"/>
          <p:nvPr/>
        </p:nvPicPr>
        <p:blipFill>
          <a:blip r:embed="rId9">
            <a:alphaModFix/>
          </a:blip>
          <a:stretch>
            <a:fillRect/>
          </a:stretch>
        </p:blipFill>
        <p:spPr>
          <a:xfrm>
            <a:off x="6057094" y="773425"/>
            <a:ext cx="2857500" cy="16002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7"/>
          <p:cNvSpPr txBox="1"/>
          <p:nvPr/>
        </p:nvSpPr>
        <p:spPr>
          <a:xfrm>
            <a:off x="55075" y="20375"/>
            <a:ext cx="174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- 5</a:t>
            </a:r>
            <a:endParaRPr sz="2000" b="1" i="0" u="none" strike="noStrike" cap="none">
              <a:solidFill>
                <a:schemeClr val="dk1"/>
              </a:solidFill>
              <a:latin typeface="Calibri"/>
              <a:ea typeface="Calibri"/>
              <a:cs typeface="Calibri"/>
              <a:sym typeface="Calibri"/>
            </a:endParaRPr>
          </a:p>
        </p:txBody>
      </p:sp>
      <p:sp>
        <p:nvSpPr>
          <p:cNvPr id="230" name="Google Shape;230;p27"/>
          <p:cNvSpPr txBox="1"/>
          <p:nvPr/>
        </p:nvSpPr>
        <p:spPr>
          <a:xfrm>
            <a:off x="55077" y="352140"/>
            <a:ext cx="5767500" cy="1034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Microsoft's Humanist Superintelligence Vision</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Microsoft AI CEO Mustafa Suleyman published a manifesto titled "Towards Humanist Superintelligence" - </a:t>
            </a:r>
            <a:r>
              <a:rPr lang="en" sz="1100" u="sng">
                <a:solidFill>
                  <a:schemeClr val="hlink"/>
                </a:solidFill>
                <a:latin typeface="Calibri"/>
                <a:ea typeface="Calibri"/>
                <a:cs typeface="Calibri"/>
                <a:sym typeface="Calibri"/>
                <a:hlinkClick r:id="rId3"/>
              </a:rPr>
              <a:t>https://microsoft.ai/news/towards-humanist-superintelligence/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Suleyman proposes "Humanist Superintelligence (HSI)"—AI that's carefully calibrated, contextualized, and within limits rather than unbounded with high autonomy AGI</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Microsoft formed a new MAI Superintelligence Team to build powerful but contained systems </a:t>
            </a:r>
            <a:endParaRPr sz="1100">
              <a:solidFill>
                <a:schemeClr val="dk1"/>
              </a:solidFill>
              <a:latin typeface="Calibri"/>
              <a:ea typeface="Calibri"/>
              <a:cs typeface="Calibri"/>
              <a:sym typeface="Calibri"/>
            </a:endParaRPr>
          </a:p>
        </p:txBody>
      </p:sp>
      <p:pic>
        <p:nvPicPr>
          <p:cNvPr id="231" name="Google Shape;231;p27"/>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5870925" y="182950"/>
            <a:ext cx="992510" cy="1203600"/>
          </a:xfrm>
          <a:prstGeom prst="rect">
            <a:avLst/>
          </a:prstGeom>
          <a:noFill/>
          <a:ln w="9525" cap="flat" cmpd="sng">
            <a:solidFill>
              <a:srgbClr val="FF0000"/>
            </a:solidFill>
            <a:prstDash val="solid"/>
            <a:round/>
            <a:headEnd type="none" w="sm" len="sm"/>
            <a:tailEnd type="none" w="sm" len="sm"/>
          </a:ln>
        </p:spPr>
      </p:pic>
      <p:sp>
        <p:nvSpPr>
          <p:cNvPr id="232" name="Google Shape;232;p27"/>
          <p:cNvSpPr txBox="1"/>
          <p:nvPr/>
        </p:nvSpPr>
        <p:spPr>
          <a:xfrm>
            <a:off x="55077" y="1425825"/>
            <a:ext cx="5767500" cy="1203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Baidu’s ERNIE-4.5-VL-28B-A3B-Thinking</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5"/>
              </a:rPr>
              <a:t>https://huggingface.co/baidu/ERNIE-4.5-VL-28B-A3B-Thinking</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Lightweight multimodal reasoning, open-source (Apache-2.0) model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28B params, “&gt;3B" active params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SOTA on document/chart understanding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Outperforms Gemini‑2.5‑Pro and GPT‑5‑High on select benchmarks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Adds “Thinking with Images” to zoom in/out on details</a:t>
            </a:r>
            <a:endParaRPr sz="1100">
              <a:solidFill>
                <a:schemeClr val="dk1"/>
              </a:solidFill>
              <a:latin typeface="Calibri"/>
              <a:ea typeface="Calibri"/>
              <a:cs typeface="Calibri"/>
              <a:sym typeface="Calibri"/>
            </a:endParaRPr>
          </a:p>
        </p:txBody>
      </p:sp>
      <p:pic>
        <p:nvPicPr>
          <p:cNvPr id="233" name="Google Shape;233;p2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870925" y="1425826"/>
            <a:ext cx="1847134" cy="1034400"/>
          </a:xfrm>
          <a:prstGeom prst="rect">
            <a:avLst/>
          </a:prstGeom>
          <a:noFill/>
          <a:ln w="9525" cap="flat" cmpd="sng">
            <a:solidFill>
              <a:srgbClr val="FF0000"/>
            </a:solidFill>
            <a:prstDash val="solid"/>
            <a:round/>
            <a:headEnd type="none" w="sm" len="sm"/>
            <a:tailEnd type="none" w="sm" len="sm"/>
          </a:ln>
        </p:spPr>
      </p:pic>
      <p:sp>
        <p:nvSpPr>
          <p:cNvPr id="234" name="Google Shape;234;p27"/>
          <p:cNvSpPr txBox="1"/>
          <p:nvPr/>
        </p:nvSpPr>
        <p:spPr>
          <a:xfrm>
            <a:off x="55077" y="2668712"/>
            <a:ext cx="5767500" cy="818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China’s most affordable AI coding agent</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ByteDance (TikTok owner), Model "</a:t>
            </a:r>
            <a:r>
              <a:rPr lang="en" sz="1100" b="1">
                <a:solidFill>
                  <a:srgbClr val="FF0000"/>
                </a:solidFill>
                <a:latin typeface="Calibri"/>
                <a:ea typeface="Calibri"/>
                <a:cs typeface="Calibri"/>
                <a:sym typeface="Calibri"/>
              </a:rPr>
              <a:t>Doubao-Seed-Code</a:t>
            </a:r>
            <a:r>
              <a:rPr lang="en" sz="1100">
                <a:latin typeface="Calibri"/>
                <a:ea typeface="Calibri"/>
                <a:cs typeface="Calibri"/>
                <a:sym typeface="Calibri"/>
              </a:rPr>
              <a:t>" on </a:t>
            </a:r>
            <a:r>
              <a:rPr lang="en" sz="1100" b="1">
                <a:solidFill>
                  <a:srgbClr val="FF0000"/>
                </a:solidFill>
                <a:latin typeface="Calibri"/>
                <a:ea typeface="Calibri"/>
                <a:cs typeface="Calibri"/>
                <a:sym typeface="Calibri"/>
              </a:rPr>
              <a:t>Volcano Engine</a:t>
            </a:r>
            <a:r>
              <a:rPr lang="en" sz="1100">
                <a:latin typeface="Calibri"/>
                <a:ea typeface="Calibri"/>
                <a:cs typeface="Calibri"/>
                <a:sym typeface="Calibri"/>
              </a:rPr>
              <a:t> Cloud</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Pricing: $1.30 first month, then ~$5/mo</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SOTA record on the SWE-Bench Verified test, on par with Anthropic’s Claude Sonnet.</a:t>
            </a:r>
            <a:endParaRPr sz="11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https://www.scmp.com/tech/big-tech/article/3332365/bytedance-unveils-chinas-most-affordable-ai-coding-agent-just-us130-month</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235" name="Google Shape;235;p27"/>
          <p:cNvSpPr txBox="1"/>
          <p:nvPr/>
        </p:nvSpPr>
        <p:spPr>
          <a:xfrm>
            <a:off x="55075" y="3536675"/>
            <a:ext cx="4579800" cy="69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rgbClr val="FF0000"/>
              </a:buClr>
              <a:buSzPts val="800"/>
              <a:buFont typeface="Calibri"/>
              <a:buChar char="●"/>
            </a:pPr>
            <a:r>
              <a:rPr lang="en" sz="1100" b="1">
                <a:solidFill>
                  <a:srgbClr val="FF0000"/>
                </a:solidFill>
                <a:latin typeface="Calibri"/>
                <a:ea typeface="Calibri"/>
                <a:cs typeface="Calibri"/>
                <a:sym typeface="Calibri"/>
              </a:rPr>
              <a:t>Lovable Nears 8M Users (up from 2.3M in July)</a:t>
            </a:r>
            <a:endParaRPr sz="1100" b="1">
              <a:solidFill>
                <a:srgbClr val="FF0000"/>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latin typeface="Calibri"/>
                <a:ea typeface="Calibri"/>
                <a:cs typeface="Calibri"/>
                <a:sym typeface="Calibri"/>
              </a:rPr>
              <a:t>Stockholm-based AI coding startup Lovable</a:t>
            </a:r>
            <a:endParaRPr sz="11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latin typeface="Calibri"/>
                <a:ea typeface="Calibri"/>
                <a:cs typeface="Calibri"/>
                <a:sym typeface="Calibri"/>
              </a:rPr>
              <a:t>CEO Anton Osika said more than half of Fortune 500 firms use the platform,</a:t>
            </a:r>
            <a:br>
              <a:rPr lang="en" sz="1100">
                <a:latin typeface="Calibri"/>
                <a:ea typeface="Calibri"/>
                <a:cs typeface="Calibri"/>
                <a:sym typeface="Calibri"/>
              </a:rPr>
            </a:br>
            <a:r>
              <a:rPr lang="en" sz="1100">
                <a:latin typeface="Calibri"/>
                <a:ea typeface="Calibri"/>
                <a:cs typeface="Calibri"/>
                <a:sym typeface="Calibri"/>
              </a:rPr>
              <a:t>so the company expands hiring and targets corporate adoption.</a:t>
            </a:r>
            <a:endParaRPr sz="1100">
              <a:latin typeface="Calibri"/>
              <a:ea typeface="Calibri"/>
              <a:cs typeface="Calibri"/>
              <a:sym typeface="Calibri"/>
            </a:endParaRPr>
          </a:p>
        </p:txBody>
      </p:sp>
      <p:sp>
        <p:nvSpPr>
          <p:cNvPr id="236" name="Google Shape;236;p27"/>
          <p:cNvSpPr txBox="1"/>
          <p:nvPr/>
        </p:nvSpPr>
        <p:spPr>
          <a:xfrm>
            <a:off x="51125" y="4304250"/>
            <a:ext cx="4142700" cy="772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rgbClr val="FF0000"/>
              </a:buClr>
              <a:buSzPts val="800"/>
              <a:buFont typeface="Calibri"/>
              <a:buChar char="●"/>
            </a:pPr>
            <a:r>
              <a:rPr lang="en" sz="1100" b="1">
                <a:solidFill>
                  <a:srgbClr val="FF0000"/>
                </a:solidFill>
                <a:latin typeface="Calibri"/>
                <a:ea typeface="Calibri"/>
                <a:cs typeface="Calibri"/>
                <a:sym typeface="Calibri"/>
              </a:rPr>
              <a:t>Meta Open-Sources ASR Model for 1,600+ Languages</a:t>
            </a:r>
            <a:endParaRPr sz="1100" b="1">
              <a:solidFill>
                <a:srgbClr val="FF0000"/>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latin typeface="Calibri"/>
                <a:ea typeface="Calibri"/>
                <a:cs typeface="Calibri"/>
                <a:sym typeface="Calibri"/>
              </a:rPr>
              <a:t>Open-source (</a:t>
            </a:r>
            <a:r>
              <a:rPr lang="en" sz="1100">
                <a:solidFill>
                  <a:schemeClr val="dk1"/>
                </a:solidFill>
                <a:latin typeface="Calibri"/>
                <a:ea typeface="Calibri"/>
                <a:cs typeface="Calibri"/>
                <a:sym typeface="Calibri"/>
              </a:rPr>
              <a:t>Apache 2.0</a:t>
            </a:r>
            <a:r>
              <a:rPr lang="en" sz="1100">
                <a:latin typeface="Calibri"/>
                <a:ea typeface="Calibri"/>
                <a:cs typeface="Calibri"/>
                <a:sym typeface="Calibri"/>
              </a:rPr>
              <a:t>) speech recognition for 1,600+ languages</a:t>
            </a:r>
            <a:endParaRPr sz="11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latin typeface="Calibri"/>
                <a:ea typeface="Calibri"/>
                <a:cs typeface="Calibri"/>
                <a:sym typeface="Calibri"/>
              </a:rPr>
              <a:t>Extensible to 5,400 via zero-shot learning</a:t>
            </a:r>
            <a:endParaRPr sz="800">
              <a:latin typeface="Calibri"/>
              <a:ea typeface="Calibri"/>
              <a:cs typeface="Calibri"/>
              <a:sym typeface="Calibri"/>
            </a:endParaRPr>
          </a:p>
          <a:p>
            <a:pPr marL="171450" marR="0" lvl="0" indent="-107950" algn="l" rtl="0">
              <a:lnSpc>
                <a:spcPct val="100000"/>
              </a:lnSpc>
              <a:spcBef>
                <a:spcPts val="0"/>
              </a:spcBef>
              <a:spcAft>
                <a:spcPts val="0"/>
              </a:spcAft>
              <a:buSzPts val="800"/>
              <a:buFont typeface="Calibri"/>
              <a:buChar char="●"/>
            </a:pPr>
            <a:r>
              <a:rPr lang="en" sz="800" u="sng">
                <a:solidFill>
                  <a:schemeClr val="hlink"/>
                </a:solidFill>
                <a:latin typeface="Calibri"/>
                <a:ea typeface="Calibri"/>
                <a:cs typeface="Calibri"/>
                <a:sym typeface="Calibri"/>
                <a:hlinkClick r:id="rId8"/>
              </a:rPr>
              <a:t>https://huggingface.co/collections/bezzam/omnilingual-asr-1-600-languages</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SzPts val="800"/>
              <a:buFont typeface="Calibri"/>
              <a:buChar char="●"/>
            </a:pPr>
            <a:r>
              <a:rPr lang="en" sz="800" u="sng">
                <a:solidFill>
                  <a:schemeClr val="hlink"/>
                </a:solidFill>
                <a:latin typeface="Calibri"/>
                <a:ea typeface="Calibri"/>
                <a:cs typeface="Calibri"/>
                <a:sym typeface="Calibri"/>
                <a:hlinkClick r:id="rId9"/>
              </a:rPr>
              <a:t>https://github.com/facebookresearch/omnilingual-asr</a:t>
            </a:r>
            <a:r>
              <a:rPr lang="en" sz="800">
                <a:latin typeface="Calibri"/>
                <a:ea typeface="Calibri"/>
                <a:cs typeface="Calibri"/>
                <a:sym typeface="Calibri"/>
              </a:rPr>
              <a:t> </a:t>
            </a:r>
            <a:endParaRPr sz="800">
              <a:latin typeface="Calibri"/>
              <a:ea typeface="Calibri"/>
              <a:cs typeface="Calibri"/>
              <a:sym typeface="Calibri"/>
            </a:endParaRPr>
          </a:p>
        </p:txBody>
      </p:sp>
      <p:pic>
        <p:nvPicPr>
          <p:cNvPr id="237" name="Google Shape;237;p27"/>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4698773" y="3547976"/>
            <a:ext cx="1238852" cy="695700"/>
          </a:xfrm>
          <a:prstGeom prst="rect">
            <a:avLst/>
          </a:prstGeom>
          <a:noFill/>
          <a:ln w="9525" cap="flat" cmpd="sng">
            <a:solidFill>
              <a:srgbClr val="FF0000"/>
            </a:solidFill>
            <a:prstDash val="solid"/>
            <a:round/>
            <a:headEnd type="none" w="sm" len="sm"/>
            <a:tailEnd type="none" w="sm" len="sm"/>
          </a:ln>
        </p:spPr>
      </p:pic>
      <p:pic>
        <p:nvPicPr>
          <p:cNvPr id="238" name="Google Shape;238;p27"/>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6002302" y="2809578"/>
            <a:ext cx="2007967" cy="345163"/>
          </a:xfrm>
          <a:prstGeom prst="rect">
            <a:avLst/>
          </a:prstGeom>
          <a:noFill/>
          <a:ln w="9525" cap="flat" cmpd="sng">
            <a:solidFill>
              <a:srgbClr val="FF0000"/>
            </a:solidFill>
            <a:prstDash val="solid"/>
            <a:round/>
            <a:headEnd type="none" w="sm" len="sm"/>
            <a:tailEnd type="none" w="sm" len="sm"/>
          </a:ln>
        </p:spPr>
      </p:pic>
      <p:pic>
        <p:nvPicPr>
          <p:cNvPr id="239" name="Google Shape;239;p27"/>
          <p:cNvPicPr preferRelativeResize="0"/>
          <p:nvPr/>
        </p:nvPicPr>
        <p:blipFill>
          <a:blip r:embed="rId12" cstate="email">
            <a:alphaModFix/>
            <a:extLst>
              <a:ext uri="{28A0092B-C50C-407E-A947-70E740481C1C}">
                <a14:useLocalDpi xmlns:a14="http://schemas.microsoft.com/office/drawing/2010/main"/>
              </a:ext>
            </a:extLst>
          </a:blip>
          <a:stretch>
            <a:fillRect/>
          </a:stretch>
        </p:blipFill>
        <p:spPr>
          <a:xfrm>
            <a:off x="4252987" y="4381350"/>
            <a:ext cx="1684642" cy="695700"/>
          </a:xfrm>
          <a:prstGeom prst="rect">
            <a:avLst/>
          </a:prstGeom>
          <a:noFill/>
          <a:ln w="9525" cap="flat" cmpd="sng">
            <a:solidFill>
              <a:srgbClr val="FF0000"/>
            </a:solidFill>
            <a:prstDash val="solid"/>
            <a:round/>
            <a:headEnd type="none" w="sm" len="sm"/>
            <a:tailEnd type="none" w="sm" len="sm"/>
          </a:ln>
        </p:spPr>
      </p:pic>
      <p:pic>
        <p:nvPicPr>
          <p:cNvPr id="240" name="Google Shape;240;p27"/>
          <p:cNvPicPr preferRelativeResize="0"/>
          <p:nvPr/>
        </p:nvPicPr>
        <p:blipFill>
          <a:blip r:embed="rId13" cstate="email">
            <a:alphaModFix/>
            <a:extLst>
              <a:ext uri="{28A0092B-C50C-407E-A947-70E740481C1C}">
                <a14:useLocalDpi xmlns:a14="http://schemas.microsoft.com/office/drawing/2010/main"/>
              </a:ext>
            </a:extLst>
          </a:blip>
          <a:stretch>
            <a:fillRect/>
          </a:stretch>
        </p:blipFill>
        <p:spPr>
          <a:xfrm>
            <a:off x="5996775" y="4342800"/>
            <a:ext cx="1286623" cy="6957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8"/>
          <p:cNvSpPr txBox="1"/>
          <p:nvPr/>
        </p:nvSpPr>
        <p:spPr>
          <a:xfrm>
            <a:off x="55075" y="20375"/>
            <a:ext cx="174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- 6</a:t>
            </a:r>
            <a:endParaRPr sz="2000" b="1" i="0" u="none" strike="noStrike" cap="none">
              <a:solidFill>
                <a:schemeClr val="dk1"/>
              </a:solidFill>
              <a:latin typeface="Calibri"/>
              <a:ea typeface="Calibri"/>
              <a:cs typeface="Calibri"/>
              <a:sym typeface="Calibri"/>
            </a:endParaRPr>
          </a:p>
        </p:txBody>
      </p:sp>
      <p:sp>
        <p:nvSpPr>
          <p:cNvPr id="246" name="Google Shape;246;p28"/>
          <p:cNvSpPr txBox="1"/>
          <p:nvPr/>
        </p:nvSpPr>
        <p:spPr>
          <a:xfrm>
            <a:off x="55075" y="398325"/>
            <a:ext cx="4455300" cy="238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b="1">
                <a:solidFill>
                  <a:srgbClr val="FF0000"/>
                </a:solidFill>
                <a:latin typeface="Calibri"/>
                <a:ea typeface="Calibri"/>
                <a:cs typeface="Calibri"/>
                <a:sym typeface="Calibri"/>
              </a:rPr>
              <a:t>The "Magnificent 7" : Microsoft, Nvidia, Google, Apple, Tesla, Amazon, Meta</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have driven the big portion of S&amp;P 500 growth since 2023</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Magnificent 7 now represent approximately 36-37% of the S&amp;P 500's total market capitalization as of late 2025, up from just 12% in 2015 and 21.6% in 2022</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 2023, the Magnificent 7 contributed 15.8% to the S&amp;P 500's 26.3% total return — meaning they accounted for 60% of the index's gains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 2024, the Magnificent 7 contributing 14.1% to the S&amp;P 500's 25.7% return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concentration is historically extreme, the Magnificent 7 have undeniably been the dominant force behind the S&amp;P 500's exceptional performance since 2023, creating the most concentrated market environment in decades</a:t>
            </a:r>
            <a:endParaRPr sz="1100">
              <a:solidFill>
                <a:schemeClr val="dk1"/>
              </a:solidFill>
              <a:latin typeface="Calibri"/>
              <a:ea typeface="Calibri"/>
              <a:cs typeface="Calibri"/>
              <a:sym typeface="Calibri"/>
            </a:endParaRPr>
          </a:p>
        </p:txBody>
      </p:sp>
      <p:sp>
        <p:nvSpPr>
          <p:cNvPr id="247" name="Google Shape;247;p28"/>
          <p:cNvSpPr txBox="1"/>
          <p:nvPr/>
        </p:nvSpPr>
        <p:spPr>
          <a:xfrm>
            <a:off x="55075" y="2839639"/>
            <a:ext cx="4455300" cy="526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Microsoft has more GPUs than Electricity to run them</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Microsoft's CEO revealed the company has AI GPUs sitting unused in inventory due to insufficient power infrastructure</a:t>
            </a:r>
            <a:endParaRPr sz="1100">
              <a:solidFill>
                <a:schemeClr val="dk1"/>
              </a:solidFill>
              <a:latin typeface="Calibri"/>
              <a:ea typeface="Calibri"/>
              <a:cs typeface="Calibri"/>
              <a:sym typeface="Calibri"/>
            </a:endParaRPr>
          </a:p>
        </p:txBody>
      </p:sp>
      <p:sp>
        <p:nvSpPr>
          <p:cNvPr id="248" name="Google Shape;248;p28"/>
          <p:cNvSpPr txBox="1"/>
          <p:nvPr/>
        </p:nvSpPr>
        <p:spPr>
          <a:xfrm>
            <a:off x="55075" y="3418587"/>
            <a:ext cx="4455300" cy="526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Nvidia invest in startups, and they buy Nvidia GPUs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Startups like CoreWeave, Figure AI, and OpenAI, which get money from Nvidia -and then use that capital to purchase Nvidia chips</a:t>
            </a:r>
            <a:endParaRPr sz="1100">
              <a:solidFill>
                <a:schemeClr val="dk1"/>
              </a:solidFill>
              <a:latin typeface="Calibri"/>
              <a:ea typeface="Calibri"/>
              <a:cs typeface="Calibri"/>
              <a:sym typeface="Calibri"/>
            </a:endParaRPr>
          </a:p>
        </p:txBody>
      </p:sp>
      <p:pic>
        <p:nvPicPr>
          <p:cNvPr id="249" name="Google Shape;249;p28"/>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182775" y="107175"/>
            <a:ext cx="3888437" cy="48387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9"/>
          <p:cNvSpPr txBox="1"/>
          <p:nvPr/>
        </p:nvSpPr>
        <p:spPr>
          <a:xfrm>
            <a:off x="55075" y="20375"/>
            <a:ext cx="174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- 7</a:t>
            </a:r>
            <a:endParaRPr sz="2000" b="1" i="0" u="none" strike="noStrike" cap="none">
              <a:solidFill>
                <a:schemeClr val="dk1"/>
              </a:solidFill>
              <a:latin typeface="Calibri"/>
              <a:ea typeface="Calibri"/>
              <a:cs typeface="Calibri"/>
              <a:sym typeface="Calibri"/>
            </a:endParaRPr>
          </a:p>
        </p:txBody>
      </p:sp>
      <p:sp>
        <p:nvSpPr>
          <p:cNvPr id="255" name="Google Shape;255;p29"/>
          <p:cNvSpPr txBox="1"/>
          <p:nvPr/>
        </p:nvSpPr>
        <p:spPr>
          <a:xfrm>
            <a:off x="49675" y="2701125"/>
            <a:ext cx="4455300" cy="238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AI Projects - succeed or fail?</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https://www.youtube.com/watch?v=aGJZ-1hM6-E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video discusses two seemingly contradictory studies about AI success rates:</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 MIT reported that 95% of AI pilots fail to deliver positive ROI</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 Wharton found that 75% of companies see positive returns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MIT focused on "transformation" - custom dev. projects - difficulties with system inflexibility, inability to learn from feedback, and the difficulty of integrating AI into production environments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Wharton focused on "augmentation" - general AI tool usage like ChatGPT, Copilot, and Claude - and found positive results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Strategies: Educational training programs, Talent Services (upskilling, recruitment), Custom Development for clients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88% of companies expecting AI budget increases in 2026 </a:t>
            </a:r>
            <a:endParaRPr sz="1100">
              <a:solidFill>
                <a:schemeClr val="dk1"/>
              </a:solidFill>
              <a:latin typeface="Calibri"/>
              <a:ea typeface="Calibri"/>
              <a:cs typeface="Calibri"/>
              <a:sym typeface="Calibri"/>
            </a:endParaRPr>
          </a:p>
        </p:txBody>
      </p:sp>
      <p:sp>
        <p:nvSpPr>
          <p:cNvPr id="256" name="Google Shape;256;p29"/>
          <p:cNvSpPr txBox="1"/>
          <p:nvPr/>
        </p:nvSpPr>
        <p:spPr>
          <a:xfrm>
            <a:off x="55075" y="414251"/>
            <a:ext cx="4444500" cy="2219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paper: "</a:t>
            </a:r>
            <a:r>
              <a:rPr lang="en" sz="1100" b="1">
                <a:solidFill>
                  <a:srgbClr val="FF0000"/>
                </a:solidFill>
                <a:latin typeface="Calibri"/>
                <a:ea typeface="Calibri"/>
                <a:cs typeface="Calibri"/>
                <a:sym typeface="Calibri"/>
              </a:rPr>
              <a:t>Language Models are Injective and Hence Invertible</a:t>
            </a:r>
            <a:r>
              <a:rPr lang="en" sz="1100">
                <a:solidFill>
                  <a:schemeClr val="dk1"/>
                </a:solidFill>
                <a:latin typeface="Calibri"/>
                <a:ea typeface="Calibri"/>
                <a:cs typeface="Calibri"/>
                <a:sym typeface="Calibri"/>
              </a:rPr>
              <a:t>"</a:t>
            </a:r>
            <a:br>
              <a:rPr lang="en" sz="1100">
                <a:solidFill>
                  <a:schemeClr val="dk1"/>
                </a:solidFill>
                <a:latin typeface="Calibri"/>
                <a:ea typeface="Calibri"/>
                <a:cs typeface="Calibri"/>
                <a:sym typeface="Calibri"/>
              </a:rPr>
            </a:br>
            <a:r>
              <a:rPr lang="en" sz="1100" u="sng">
                <a:solidFill>
                  <a:schemeClr val="hlink"/>
                </a:solidFill>
                <a:latin typeface="Calibri"/>
                <a:ea typeface="Calibri"/>
                <a:cs typeface="Calibri"/>
                <a:sym typeface="Calibri"/>
                <a:hlinkClick r:id="rId4"/>
              </a:rPr>
              <a:t>https://arxiv.org/pdf/2510.15511</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authors demonstrate both mathematically and empirically that LLMs preserve complete input information in their hidden representations</a:t>
            </a:r>
            <a:endParaRPr sz="1100">
              <a:solidFill>
                <a:schemeClr val="dk1"/>
              </a:solidFill>
              <a:latin typeface="Calibri"/>
              <a:ea typeface="Calibri"/>
              <a:cs typeface="Calibri"/>
              <a:sym typeface="Calibri"/>
            </a:endParaRPr>
          </a:p>
          <a:p>
            <a:pPr marL="457200" marR="0" lvl="1"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Mathematical proof of injectivity</a:t>
            </a:r>
            <a:endParaRPr sz="1100">
              <a:solidFill>
                <a:srgbClr val="3C78D8"/>
              </a:solidFill>
              <a:latin typeface="Calibri"/>
              <a:ea typeface="Calibri"/>
              <a:cs typeface="Calibri"/>
              <a:sym typeface="Calibri"/>
            </a:endParaRPr>
          </a:p>
          <a:p>
            <a:pPr marL="457200" marR="0" lvl="1"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Empirical validation</a:t>
            </a:r>
            <a:endParaRPr sz="1100">
              <a:solidFill>
                <a:srgbClr val="3C78D8"/>
              </a:solidFill>
              <a:latin typeface="Calibri"/>
              <a:ea typeface="Calibri"/>
              <a:cs typeface="Calibri"/>
              <a:sym typeface="Calibri"/>
            </a:endParaRPr>
          </a:p>
          <a:p>
            <a:pPr marL="457200" marR="0" lvl="1"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SipIt (Sip It) algorithm - efficiently reconstructs exact input text from hidden activations</a:t>
            </a:r>
            <a:endParaRPr sz="1100">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work establishes injectivity as a fundamental and exploitable property of language models with direct implications for transparency, interpretability, and safe deployment. The ability to exactly recover input text from internal representations opens new possibilities for understanding and auditing model behavior</a:t>
            </a:r>
            <a:endParaRPr sz="1100">
              <a:solidFill>
                <a:schemeClr val="dk1"/>
              </a:solidFill>
              <a:latin typeface="Calibri"/>
              <a:ea typeface="Calibri"/>
              <a:cs typeface="Calibri"/>
              <a:sym typeface="Calibri"/>
            </a:endParaRPr>
          </a:p>
        </p:txBody>
      </p:sp>
      <p:pic>
        <p:nvPicPr>
          <p:cNvPr id="257" name="Google Shape;257;p2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828475" y="3222155"/>
            <a:ext cx="2037149" cy="1525750"/>
          </a:xfrm>
          <a:prstGeom prst="rect">
            <a:avLst/>
          </a:prstGeom>
          <a:noFill/>
          <a:ln w="9525" cap="flat" cmpd="sng">
            <a:solidFill>
              <a:srgbClr val="FF0000"/>
            </a:solidFill>
            <a:prstDash val="solid"/>
            <a:round/>
            <a:headEnd type="none" w="sm" len="sm"/>
            <a:tailEnd type="none" w="sm" len="sm"/>
          </a:ln>
        </p:spPr>
      </p:pic>
      <p:pic>
        <p:nvPicPr>
          <p:cNvPr id="258" name="Google Shape;258;p2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828475" y="688425"/>
            <a:ext cx="2037150" cy="1506398"/>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0"/>
          <p:cNvSpPr txBox="1"/>
          <p:nvPr/>
        </p:nvSpPr>
        <p:spPr>
          <a:xfrm>
            <a:off x="55075" y="20375"/>
            <a:ext cx="3080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Emad Mostaque Interview</a:t>
            </a:r>
            <a:endParaRPr sz="2000" b="1">
              <a:solidFill>
                <a:schemeClr val="dk1"/>
              </a:solidFill>
              <a:latin typeface="Calibri"/>
              <a:ea typeface="Calibri"/>
              <a:cs typeface="Calibri"/>
              <a:sym typeface="Calibri"/>
            </a:endParaRPr>
          </a:p>
        </p:txBody>
      </p:sp>
      <p:sp>
        <p:nvSpPr>
          <p:cNvPr id="264" name="Google Shape;264;p30"/>
          <p:cNvSpPr txBox="1"/>
          <p:nvPr/>
        </p:nvSpPr>
        <p:spPr>
          <a:xfrm>
            <a:off x="55075" y="346775"/>
            <a:ext cx="4633200" cy="4759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https://www.youtube.com/watch?v=07fuMWzFSUw</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Within ~1,000 days, cognitive labor becomes economically worthless—even negative in value, as humans become "the dumbest people on the team." AI will outperform humans in virtually all cognitive tasks while working 24/7 without mistakes.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UBI (Universal Basic Income) via taxation - not enough money; via dividends from AI companies - not enough money;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 cognitive worker can be replaced by AI at ~ $1/day cost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Mostaque's Proposed Solution: Dual Currency System: Foundation Coins (like Bitcoin) + Cash credit  to humans (for being human); Creates incentive for AIs to serve humans to earn this currency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If humans are the source of this new currency, AIs' objective function becomes serving and pleasing humans rather than extracting from them.</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Public infrastructure so that every person should have their own AI that knows his human and is interested in helping this human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We are Discovering the AI. The equations of generative AI (diffusion models, transformers) appear to be the equations of reality itself</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Hypothesis: Every intelligent species reaches this point where they create intelligence that can scale beyond biological limits, and most fail to navigate it.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danger: Without building aligned AI from the start with massive public compute infrastructure, the default outcome is maximally extractive AI that doesn't need humans.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When cognitive labor approaches zero cost, what remains?</a:t>
            </a:r>
            <a:endParaRPr sz="1100">
              <a:solidFill>
                <a:schemeClr val="dk1"/>
              </a:solidFill>
              <a:latin typeface="Calibri"/>
              <a:ea typeface="Calibri"/>
              <a:cs typeface="Calibri"/>
              <a:sym typeface="Calibri"/>
            </a:endParaRPr>
          </a:p>
          <a:p>
            <a:pPr marL="4000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Your connections, communities, relationships</a:t>
            </a:r>
            <a:endParaRPr sz="1100">
              <a:solidFill>
                <a:schemeClr val="dk1"/>
              </a:solidFill>
              <a:latin typeface="Calibri"/>
              <a:ea typeface="Calibri"/>
              <a:cs typeface="Calibri"/>
              <a:sym typeface="Calibri"/>
            </a:endParaRPr>
          </a:p>
          <a:p>
            <a:pPr marL="4000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Attention - the scarcest human resource</a:t>
            </a:r>
            <a:endParaRPr sz="1100">
              <a:solidFill>
                <a:schemeClr val="dk1"/>
              </a:solidFill>
              <a:latin typeface="Calibri"/>
              <a:ea typeface="Calibri"/>
              <a:cs typeface="Calibri"/>
              <a:sym typeface="Calibri"/>
            </a:endParaRPr>
          </a:p>
          <a:p>
            <a:pPr marL="4000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Meaning-making: Choosing what matters in a world of abundance</a:t>
            </a:r>
            <a:endParaRPr sz="1100">
              <a:solidFill>
                <a:schemeClr val="dk1"/>
              </a:solidFill>
              <a:latin typeface="Calibri"/>
              <a:ea typeface="Calibri"/>
              <a:cs typeface="Calibri"/>
              <a:sym typeface="Calibri"/>
            </a:endParaRPr>
          </a:p>
          <a:p>
            <a:pPr marL="4000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Being human: The interactions with family, friends, and community that make life worth living</a:t>
            </a:r>
            <a:endParaRPr sz="1100">
              <a:solidFill>
                <a:schemeClr val="dk1"/>
              </a:solidFill>
              <a:latin typeface="Calibri"/>
              <a:ea typeface="Calibri"/>
              <a:cs typeface="Calibri"/>
              <a:sym typeface="Calibri"/>
            </a:endParaRPr>
          </a:p>
        </p:txBody>
      </p:sp>
      <p:pic>
        <p:nvPicPr>
          <p:cNvPr id="265" name="Google Shape;265;p3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821850" y="346775"/>
            <a:ext cx="4150924" cy="2352672"/>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1"/>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SymPy for Math instead of LLM</a:t>
            </a:r>
            <a:endParaRPr sz="2000" b="1" i="0" u="none" strike="noStrike" cap="none">
              <a:solidFill>
                <a:schemeClr val="dk1"/>
              </a:solidFill>
              <a:latin typeface="Calibri"/>
              <a:ea typeface="Calibri"/>
              <a:cs typeface="Calibri"/>
              <a:sym typeface="Calibri"/>
            </a:endParaRPr>
          </a:p>
        </p:txBody>
      </p:sp>
      <p:sp>
        <p:nvSpPr>
          <p:cNvPr id="271" name="Google Shape;271;p31"/>
          <p:cNvSpPr txBox="1"/>
          <p:nvPr/>
        </p:nvSpPr>
        <p:spPr>
          <a:xfrm>
            <a:off x="55075" y="482101"/>
            <a:ext cx="4444500" cy="4359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SymPy - Python library for symbolic mathematics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Perform algebraic computations symbolically rather than numerically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SymPy functions is a computer algebra system (CAS) with capabilities ranging from basic symbolic arithmetic to advanced calculus, algebra, discrete mathematics, and quantum physics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library can simplify expressions, compute derivatives and integrals, solve equations, work with matrices, and format results as LaTeX code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Its core features include basic arithmetic operations, expansion, simplification, substitution, arbitrary precision arithmetic, and pattern matching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library excels at solving various types of equations, including systems of linear equations, algebraic equations solvable by radicals, differential equations, and difference equations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includes functions for trigonometric, hyperbolic, exponential, logarithmic, and special functions, along with discrete mathematics capabilities like binomial coefficients, summations, and number theory operations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SymPy also supports advanced domains such as physics modeling, geometry, integral transforms (Laplace, Fourier, Mellin), sets, and logic operations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SymPy was started in 2005, integrated into SageMath in 2012</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library is open-source (BSD license) and written entirely in Python</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3"/>
              </a:rPr>
              <a:t>https://www.sympy.org</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https://en.wikipedia.org/wiki/SymPy</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5"/>
              </a:rPr>
              <a:t>https://www.geeksforgeeks.org/python/python-getting-started-with-sympy-module/</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6"/>
              </a:rPr>
              <a:t>https://python.plainenglish.io/the-hidden-python-library-thats-making-openai-engineers-jealous-eda41281fc26</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pic>
        <p:nvPicPr>
          <p:cNvPr id="272" name="Google Shape;272;p31"/>
          <p:cNvPicPr preferRelativeResize="0"/>
          <p:nvPr/>
        </p:nvPicPr>
        <p:blipFill>
          <a:blip r:embed="rId7">
            <a:alphaModFix/>
          </a:blip>
          <a:stretch>
            <a:fillRect/>
          </a:stretch>
        </p:blipFill>
        <p:spPr>
          <a:xfrm>
            <a:off x="4661400" y="670350"/>
            <a:ext cx="2790825" cy="1638300"/>
          </a:xfrm>
          <a:prstGeom prst="rect">
            <a:avLst/>
          </a:prstGeom>
          <a:noFill/>
          <a:ln>
            <a:noFill/>
          </a:ln>
        </p:spPr>
      </p:pic>
      <p:pic>
        <p:nvPicPr>
          <p:cNvPr id="273" name="Google Shape;273;p31"/>
          <p:cNvPicPr preferRelativeResize="0"/>
          <p:nvPr/>
        </p:nvPicPr>
        <p:blipFill>
          <a:blip r:embed="rId8">
            <a:alphaModFix/>
          </a:blip>
          <a:stretch>
            <a:fillRect/>
          </a:stretch>
        </p:blipFill>
        <p:spPr>
          <a:xfrm>
            <a:off x="4747125" y="2545800"/>
            <a:ext cx="2619375" cy="17430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2"/>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Which LLMs are available in Moscow</a:t>
            </a:r>
            <a:endParaRPr sz="2000" b="1">
              <a:solidFill>
                <a:schemeClr val="dk1"/>
              </a:solidFill>
              <a:latin typeface="Calibri"/>
              <a:ea typeface="Calibri"/>
              <a:cs typeface="Calibri"/>
              <a:sym typeface="Calibri"/>
            </a:endParaRPr>
          </a:p>
        </p:txBody>
      </p:sp>
      <p:sp>
        <p:nvSpPr>
          <p:cNvPr id="279" name="Google Shape;279;p32"/>
          <p:cNvSpPr txBox="1"/>
          <p:nvPr/>
        </p:nvSpPr>
        <p:spPr>
          <a:xfrm>
            <a:off x="101100" y="346775"/>
            <a:ext cx="4398600" cy="1711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Available: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Perplexity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Qwen3</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DeepSeek</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GLM-4.6 (Zhipu AI)</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Hugging Face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LMStudio - downloading models from Hugging Face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VSCode &amp; Cline extension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OpenRouter - allows to access blocked models (Claude, OpenAI,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Kimi-K2 (via download and some services)</a:t>
            </a:r>
            <a:endParaRPr sz="1100">
              <a:solidFill>
                <a:schemeClr val="dk1"/>
              </a:solidFill>
              <a:latin typeface="Calibri"/>
              <a:ea typeface="Calibri"/>
              <a:cs typeface="Calibri"/>
              <a:sym typeface="Calibri"/>
            </a:endParaRPr>
          </a:p>
        </p:txBody>
      </p:sp>
      <p:sp>
        <p:nvSpPr>
          <p:cNvPr id="280" name="Google Shape;280;p32"/>
          <p:cNvSpPr txBox="1"/>
          <p:nvPr/>
        </p:nvSpPr>
        <p:spPr>
          <a:xfrm>
            <a:off x="101100" y="2124900"/>
            <a:ext cx="3538800" cy="1711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Not available directly (but available via OpenRouter, ...):</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OpenAI ChatGPT,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Anthropic Claude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Google Gemini</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Kimi.com</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Grok</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Blocked:</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Ollama - problems with downloading models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MS Copilot, GitHub Copilot</a:t>
            </a:r>
            <a:endParaRPr sz="1100">
              <a:solidFill>
                <a:schemeClr val="dk1"/>
              </a:solidFill>
              <a:latin typeface="Calibri"/>
              <a:ea typeface="Calibri"/>
              <a:cs typeface="Calibri"/>
              <a:sym typeface="Calibri"/>
            </a:endParaRPr>
          </a:p>
        </p:txBody>
      </p:sp>
      <p:sp>
        <p:nvSpPr>
          <p:cNvPr id="281" name="Google Shape;281;p32"/>
          <p:cNvSpPr txBox="1"/>
          <p:nvPr/>
        </p:nvSpPr>
        <p:spPr>
          <a:xfrm>
            <a:off x="4939300" y="93650"/>
            <a:ext cx="4155600" cy="1542300"/>
          </a:xfrm>
          <a:prstGeom prst="rect">
            <a:avLst/>
          </a:prstGeom>
          <a:solidFill>
            <a:srgbClr val="D9EAD3"/>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Sberbank GigaChat MAX</a:t>
            </a:r>
            <a:r>
              <a:rPr lang="en" sz="1100">
                <a:solidFill>
                  <a:schemeClr val="dk1"/>
                </a:solidFill>
                <a:latin typeface="Calibri"/>
                <a:ea typeface="Calibri"/>
                <a:cs typeface="Calibri"/>
                <a:sym typeface="Calibri"/>
              </a:rPr>
              <a:t> - flagship Russian LLM.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Multiple versions. A reasoning version (2025) can solve complex scientific, mathematical, and programming problems​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Built on the NeONKA (NEural Omnimodal Network with Knowledge Awareness) architecture​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Integrated with Kandinsky 2.1 for image generation capabilities​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Currently used by approximately 15,000 Russian enterprises​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Accessible via API, Telegram bot (@gigachat_bot), and web interface​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Three open-source versions available on Hugging Face​</a:t>
            </a:r>
            <a:endParaRPr sz="1100">
              <a:solidFill>
                <a:schemeClr val="dk1"/>
              </a:solidFill>
              <a:latin typeface="Calibri"/>
              <a:ea typeface="Calibri"/>
              <a:cs typeface="Calibri"/>
              <a:sym typeface="Calibri"/>
            </a:endParaRPr>
          </a:p>
        </p:txBody>
      </p:sp>
      <p:sp>
        <p:nvSpPr>
          <p:cNvPr id="282" name="Google Shape;282;p32"/>
          <p:cNvSpPr txBox="1"/>
          <p:nvPr/>
        </p:nvSpPr>
        <p:spPr>
          <a:xfrm>
            <a:off x="4939300" y="1717325"/>
            <a:ext cx="4155600" cy="1034400"/>
          </a:xfrm>
          <a:prstGeom prst="rect">
            <a:avLst/>
          </a:prstGeom>
          <a:solidFill>
            <a:srgbClr val="D9EAD3"/>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YandexGPT 5 Pro &amp; Lite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32K token context windows​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Powers the Alice voice assistant​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Available through Yandex Cloud for business applications​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Offers both synchronous and asynchronous generation modes​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Supports RAG and integration with Yandex services​</a:t>
            </a:r>
            <a:endParaRPr sz="1100">
              <a:solidFill>
                <a:schemeClr val="dk1"/>
              </a:solidFill>
              <a:latin typeface="Calibri"/>
              <a:ea typeface="Calibri"/>
              <a:cs typeface="Calibri"/>
              <a:sym typeface="Calibri"/>
            </a:endParaRPr>
          </a:p>
        </p:txBody>
      </p:sp>
      <p:sp>
        <p:nvSpPr>
          <p:cNvPr id="283" name="Google Shape;283;p32"/>
          <p:cNvSpPr txBox="1"/>
          <p:nvPr/>
        </p:nvSpPr>
        <p:spPr>
          <a:xfrm>
            <a:off x="101112" y="3903025"/>
            <a:ext cx="1860300" cy="526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6AA84F"/>
              </a:buClr>
              <a:buSzPts val="1100"/>
              <a:buFont typeface="Calibri"/>
              <a:buChar char="●"/>
            </a:pPr>
            <a:r>
              <a:rPr lang="en" sz="1100" b="1">
                <a:solidFill>
                  <a:srgbClr val="6AA84F"/>
                </a:solidFill>
                <a:latin typeface="Calibri"/>
                <a:ea typeface="Calibri"/>
                <a:cs typeface="Calibri"/>
                <a:sym typeface="Calibri"/>
              </a:rPr>
              <a:t>Crypto is used to pay</a:t>
            </a:r>
            <a:br>
              <a:rPr lang="en" sz="1100" b="1">
                <a:solidFill>
                  <a:srgbClr val="6AA84F"/>
                </a:solidFill>
                <a:latin typeface="Calibri"/>
                <a:ea typeface="Calibri"/>
                <a:cs typeface="Calibri"/>
                <a:sym typeface="Calibri"/>
              </a:rPr>
            </a:br>
            <a:r>
              <a:rPr lang="en" sz="1100" b="1">
                <a:solidFill>
                  <a:srgbClr val="6AA84F"/>
                </a:solidFill>
                <a:latin typeface="Calibri"/>
                <a:ea typeface="Calibri"/>
                <a:cs typeface="Calibri"/>
                <a:sym typeface="Calibri"/>
              </a:rPr>
              <a:t>for OpenRouter and other services</a:t>
            </a:r>
            <a:endParaRPr sz="1100">
              <a:solidFill>
                <a:schemeClr val="dk1"/>
              </a:solidFill>
              <a:latin typeface="Calibri"/>
              <a:ea typeface="Calibri"/>
              <a:cs typeface="Calibri"/>
              <a:sym typeface="Calibri"/>
            </a:endParaRPr>
          </a:p>
        </p:txBody>
      </p:sp>
      <p:sp>
        <p:nvSpPr>
          <p:cNvPr id="284" name="Google Shape;284;p32"/>
          <p:cNvSpPr txBox="1"/>
          <p:nvPr/>
        </p:nvSpPr>
        <p:spPr>
          <a:xfrm>
            <a:off x="5290300" y="3183536"/>
            <a:ext cx="3804600" cy="188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In China :</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US models are blocked (also blocked YouTube, Facebook, etc.), </a:t>
            </a:r>
            <a:r>
              <a:rPr lang="en" sz="1100" b="1">
                <a:solidFill>
                  <a:srgbClr val="FF0000"/>
                </a:solidFill>
                <a:latin typeface="Calibri"/>
                <a:ea typeface="Calibri"/>
                <a:cs typeface="Calibri"/>
                <a:sym typeface="Calibri"/>
              </a:rPr>
              <a:t>but are accessible via 3rd party </a:t>
            </a:r>
            <a:r>
              <a:rPr lang="en" sz="1100">
                <a:solidFill>
                  <a:schemeClr val="dk1"/>
                </a:solidFill>
                <a:latin typeface="Calibri"/>
                <a:ea typeface="Calibri"/>
                <a:cs typeface="Calibri"/>
                <a:sym typeface="Calibri"/>
              </a:rPr>
              <a:t>API gateways like laozhang.ai , Cloudflare Workers as reverse proxies, or Azure OpenAI Service, which remains accessible in China and now offers Gemini models through partnership, though setup is complex​</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There are also services like OpenRouter and similar.</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Perplexity - limited geography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Payment via Alipay or WeChatPay, or Crypto</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Ollama, LMStudio, ... - available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China has its own very good models (Qwen, Deepseek, ...)</a:t>
            </a:r>
            <a:endParaRPr sz="11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3"/>
          <p:cNvSpPr txBox="1"/>
          <p:nvPr/>
        </p:nvSpPr>
        <p:spPr>
          <a:xfrm>
            <a:off x="55075" y="20375"/>
            <a:ext cx="2590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for Mental Health</a:t>
            </a:r>
            <a:endParaRPr sz="2000" b="1">
              <a:solidFill>
                <a:schemeClr val="dk1"/>
              </a:solidFill>
              <a:latin typeface="Calibri"/>
              <a:ea typeface="Calibri"/>
              <a:cs typeface="Calibri"/>
              <a:sym typeface="Calibri"/>
            </a:endParaRPr>
          </a:p>
        </p:txBody>
      </p:sp>
      <p:sp>
        <p:nvSpPr>
          <p:cNvPr id="290" name="Google Shape;290;p33"/>
          <p:cNvSpPr txBox="1"/>
          <p:nvPr/>
        </p:nvSpPr>
        <p:spPr>
          <a:xfrm>
            <a:off x="101100" y="346775"/>
            <a:ext cx="4398600" cy="3743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Slingshot AI "Ash" psychotherapist model</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 foundation model for psychology - trained for therapy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Importance: there's a massive shortage of mental health providers - approximately 1,500 people in need for every therapist in the US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Training: Pre-training on Clinical Data, Alignment and Fine-Tuning, Reinforcement Learning.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Slingshot learns from extensive conversational signals including response timing, emotional indicators (like crying), user feedback on suggestions, and long-term behavioral outcomes. The RL process optimizes for four sequential goals: building intent, establishing therapeutic alliance, achieving psychological change, and producing behavioral change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An NYU study demonstrated that users of Ash gained a more close personal connection on average after 10 weeks of use. This contrasts sharply with general-purpose AI like ChatGPT, which typically makes users more lonely by replacing human connection rather than strengthening it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company runs multiple models simultaneously for comparison and validation, including their own SLG base model alongside Llama and Qwen models. They employ value models to track numerous signals over time, predicting outcomes like whether users will ignore responses or build therapeutic alliance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https://www.youtube.com/watch?v=3SliW74opyY</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https://slingshotai.com</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291" name="Google Shape;291;p33"/>
          <p:cNvPicPr preferRelativeResize="0"/>
          <p:nvPr/>
        </p:nvPicPr>
        <p:blipFill>
          <a:blip r:embed="rId5">
            <a:alphaModFix/>
          </a:blip>
          <a:stretch>
            <a:fillRect/>
          </a:stretch>
        </p:blipFill>
        <p:spPr>
          <a:xfrm>
            <a:off x="4652100" y="723129"/>
            <a:ext cx="2952750" cy="1552575"/>
          </a:xfrm>
          <a:prstGeom prst="rect">
            <a:avLst/>
          </a:prstGeom>
          <a:noFill/>
          <a:ln w="9525" cap="flat" cmpd="sng">
            <a:solidFill>
              <a:srgbClr val="FF0000"/>
            </a:solidFill>
            <a:prstDash val="solid"/>
            <a:round/>
            <a:headEnd type="none" w="sm" len="sm"/>
            <a:tailEnd type="none" w="sm" len="sm"/>
          </a:ln>
        </p:spPr>
      </p:pic>
      <p:pic>
        <p:nvPicPr>
          <p:cNvPr id="292" name="Google Shape;292;p33"/>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52100" y="2393379"/>
            <a:ext cx="2952750" cy="12770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34"/>
          <p:cNvSpPr txBox="1"/>
          <p:nvPr/>
        </p:nvSpPr>
        <p:spPr>
          <a:xfrm>
            <a:off x="55075" y="20375"/>
            <a:ext cx="4484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make money in Small Niches</a:t>
            </a:r>
            <a:endParaRPr sz="2000" b="1">
              <a:solidFill>
                <a:schemeClr val="dk1"/>
              </a:solidFill>
              <a:latin typeface="Calibri"/>
              <a:ea typeface="Calibri"/>
              <a:cs typeface="Calibri"/>
              <a:sym typeface="Calibri"/>
            </a:endParaRPr>
          </a:p>
        </p:txBody>
      </p:sp>
      <p:sp>
        <p:nvSpPr>
          <p:cNvPr id="298" name="Google Shape;298;p34"/>
          <p:cNvSpPr txBox="1"/>
          <p:nvPr/>
        </p:nvSpPr>
        <p:spPr>
          <a:xfrm>
            <a:off x="55075" y="346775"/>
            <a:ext cx="4444500" cy="425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"Boring" AI Niches Making Millionaires in 2026</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https://www.youtube.com/watch?v=7xBRp-nvCNw</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AI allows to make money in Small Niches which were traditionally ignored by SaaS companies and only 0.2% automated</a:t>
            </a:r>
            <a:r>
              <a:rPr lang="en" sz="1100">
                <a:solidFill>
                  <a:schemeClr val="dk1"/>
                </a:solidFill>
                <a:latin typeface="Calibri"/>
                <a:ea typeface="Calibri"/>
                <a:cs typeface="Calibri"/>
                <a:sym typeface="Calibri"/>
              </a:rPr>
              <a:t>. These are mostly labor heavy, fragmented industries with limited customer bases that were previously too small for traditional SaaS (local service businesses like eye care clinics, veterinary practices, mental health clinics, car washes, car dealerships, and janitorial services)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AI solutions can automate significant labor (sales, marketing, operations), allowing businesses to charge 10-15x more than traditional SaaS. For example, Barti AI charges $1,500/month for its eye care clinic suite versus $100/month for traditional CRMs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AI tools for personalized outreach, voice agents, and chatbots dramatically lower the cost of acquiring customers in niche markets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By reducing service costs, AI software increases demand for the underlying service (the Jevons Effect), potentially growing the total addressable market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Examples (Y Combinator-backed startups):</a:t>
            </a:r>
            <a:endParaRPr sz="1100">
              <a:solidFill>
                <a:schemeClr val="dk1"/>
              </a:solidFill>
              <a:latin typeface="Calibri"/>
              <a:ea typeface="Calibri"/>
              <a:cs typeface="Calibri"/>
              <a:sym typeface="Calibri"/>
            </a:endParaRPr>
          </a:p>
          <a:p>
            <a:pPr marL="34290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Barti: AI operating system for eye care clinics (raised $12M Series A)</a:t>
            </a:r>
            <a:endParaRPr sz="1100">
              <a:solidFill>
                <a:schemeClr val="dk1"/>
              </a:solidFill>
              <a:latin typeface="Calibri"/>
              <a:ea typeface="Calibri"/>
              <a:cs typeface="Calibri"/>
              <a:sym typeface="Calibri"/>
            </a:endParaRPr>
          </a:p>
          <a:p>
            <a:pPr marL="34290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VetNo: Automates admin for veterinary doctors</a:t>
            </a:r>
            <a:endParaRPr sz="1100">
              <a:solidFill>
                <a:schemeClr val="dk1"/>
              </a:solidFill>
              <a:latin typeface="Calibri"/>
              <a:ea typeface="Calibri"/>
              <a:cs typeface="Calibri"/>
              <a:sym typeface="Calibri"/>
            </a:endParaRPr>
          </a:p>
          <a:p>
            <a:pPr marL="34290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MDHub: AI front desk for mental health clinics</a:t>
            </a:r>
            <a:endParaRPr sz="1100">
              <a:solidFill>
                <a:schemeClr val="dk1"/>
              </a:solidFill>
              <a:latin typeface="Calibri"/>
              <a:ea typeface="Calibri"/>
              <a:cs typeface="Calibri"/>
              <a:sym typeface="Calibri"/>
            </a:endParaRPr>
          </a:p>
          <a:p>
            <a:pPr marL="34290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Nautilus: Complete software suite for car washes</a:t>
            </a:r>
            <a:endParaRPr sz="1100">
              <a:solidFill>
                <a:schemeClr val="dk1"/>
              </a:solidFill>
              <a:latin typeface="Calibri"/>
              <a:ea typeface="Calibri"/>
              <a:cs typeface="Calibri"/>
              <a:sym typeface="Calibri"/>
            </a:endParaRPr>
          </a:p>
          <a:p>
            <a:pPr marL="34290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Auto Ace: AI voice agent for car dealerships</a:t>
            </a:r>
            <a:endParaRPr sz="1100">
              <a:solidFill>
                <a:schemeClr val="dk1"/>
              </a:solidFill>
              <a:latin typeface="Calibri"/>
              <a:ea typeface="Calibri"/>
              <a:cs typeface="Calibri"/>
              <a:sym typeface="Calibri"/>
            </a:endParaRPr>
          </a:p>
          <a:p>
            <a:pPr marL="34290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Cohesive: Lead generation for janitorial/landscaping businesses</a:t>
            </a:r>
            <a:endParaRPr sz="1100">
              <a:solidFill>
                <a:schemeClr val="dk1"/>
              </a:solidFill>
              <a:latin typeface="Calibri"/>
              <a:ea typeface="Calibri"/>
              <a:cs typeface="Calibri"/>
              <a:sym typeface="Calibri"/>
            </a:endParaRPr>
          </a:p>
          <a:p>
            <a:pPr marL="34290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Aura AI: AI receptionist for German hotels</a:t>
            </a:r>
            <a:endParaRPr sz="1100">
              <a:solidFill>
                <a:schemeClr val="dk1"/>
              </a:solidFill>
              <a:latin typeface="Calibri"/>
              <a:ea typeface="Calibri"/>
              <a:cs typeface="Calibri"/>
              <a:sym typeface="Calibri"/>
            </a:endParaRPr>
          </a:p>
        </p:txBody>
      </p:sp>
      <p:sp>
        <p:nvSpPr>
          <p:cNvPr id="299" name="Google Shape;299;p34"/>
          <p:cNvSpPr txBox="1"/>
          <p:nvPr/>
        </p:nvSpPr>
        <p:spPr>
          <a:xfrm>
            <a:off x="4638600" y="2365375"/>
            <a:ext cx="4444500" cy="2727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Two Business Models</a:t>
            </a:r>
            <a:endParaRPr sz="1100">
              <a:solidFill>
                <a:schemeClr val="dk1"/>
              </a:solidFill>
              <a:latin typeface="Calibri"/>
              <a:ea typeface="Calibri"/>
              <a:cs typeface="Calibri"/>
              <a:sym typeface="Calibri"/>
            </a:endParaRPr>
          </a:p>
          <a:p>
            <a:pPr marL="34290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Function-Specific AI - target one labor department (sales, operations, marketing) with high-ROI solutions like voice agents, automated booking, or service delivery automation</a:t>
            </a:r>
            <a:endParaRPr sz="1100">
              <a:solidFill>
                <a:schemeClr val="dk1"/>
              </a:solidFill>
              <a:latin typeface="Calibri"/>
              <a:ea typeface="Calibri"/>
              <a:cs typeface="Calibri"/>
              <a:sym typeface="Calibri"/>
            </a:endParaRPr>
          </a:p>
          <a:p>
            <a:pPr marL="34290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Vertical AI SaaS - build a complete operating system for the niche with pre-integrated AI automations, becoming the industry standard platform</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recommended approach is starting an AI agency using no-code platforms like n8n to build custom solutions while getting paid. This allows you to learn the industry, identify high-ROI automations, and build product-market fit before transitioning to a productized SaaS offering - exactly how several featured founders built million-dollar businesses in months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timing is optimal because 95% of businesses haven't implemented AI yet, creating unprecedented demand for specialized solutions in previously ignored markets</a:t>
            </a:r>
            <a:endParaRPr sz="1100">
              <a:solidFill>
                <a:schemeClr val="dk1"/>
              </a:solidFill>
              <a:latin typeface="Calibri"/>
              <a:ea typeface="Calibri"/>
              <a:cs typeface="Calibri"/>
              <a:sym typeface="Calibri"/>
            </a:endParaRPr>
          </a:p>
        </p:txBody>
      </p:sp>
      <p:pic>
        <p:nvPicPr>
          <p:cNvPr id="300" name="Google Shape;300;p3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36732" y="124200"/>
            <a:ext cx="3742449" cy="218274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5"/>
          <p:cNvSpPr txBox="1"/>
          <p:nvPr/>
        </p:nvSpPr>
        <p:spPr>
          <a:xfrm>
            <a:off x="55075" y="20375"/>
            <a:ext cx="4484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Become AI Orchestrator</a:t>
            </a:r>
            <a:endParaRPr sz="2000" b="1">
              <a:solidFill>
                <a:schemeClr val="dk1"/>
              </a:solidFill>
              <a:latin typeface="Calibri"/>
              <a:ea typeface="Calibri"/>
              <a:cs typeface="Calibri"/>
              <a:sym typeface="Calibri"/>
            </a:endParaRPr>
          </a:p>
        </p:txBody>
      </p:sp>
      <p:sp>
        <p:nvSpPr>
          <p:cNvPr id="306" name="Google Shape;306;p35"/>
          <p:cNvSpPr txBox="1"/>
          <p:nvPr/>
        </p:nvSpPr>
        <p:spPr>
          <a:xfrm>
            <a:off x="55075" y="346775"/>
            <a:ext cx="54519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Become AI systems orchestrator</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https://www.youtube.com/watch?v=azd5hrw5j6w</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Amazon is preparing to cut up to 30K corporate jobs. This is approx 10% of 350,000 corporate employees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is one of the largest workforce reductions in the company's history driven by AI automation and efficiency gains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Any role primarily conducted at a computer faces automation risk</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video recommends 4 immediate actions: </a:t>
            </a:r>
            <a:endParaRPr sz="1100">
              <a:solidFill>
                <a:schemeClr val="dk1"/>
              </a:solidFill>
              <a:latin typeface="Calibri"/>
              <a:ea typeface="Calibri"/>
              <a:cs typeface="Calibri"/>
              <a:sym typeface="Calibri"/>
            </a:endParaRPr>
          </a:p>
          <a:p>
            <a:pPr marL="34290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become an AI orchestrator who directs AI systems rather than competing with them</a:t>
            </a:r>
            <a:endParaRPr sz="1100">
              <a:solidFill>
                <a:schemeClr val="dk1"/>
              </a:solidFill>
              <a:latin typeface="Calibri"/>
              <a:ea typeface="Calibri"/>
              <a:cs typeface="Calibri"/>
              <a:sym typeface="Calibri"/>
            </a:endParaRPr>
          </a:p>
          <a:p>
            <a:pPr marL="34290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move up the value chain to strategic thinking, creativity, and complex judgment</a:t>
            </a:r>
            <a:endParaRPr sz="1100">
              <a:solidFill>
                <a:schemeClr val="dk1"/>
              </a:solidFill>
              <a:latin typeface="Calibri"/>
              <a:ea typeface="Calibri"/>
              <a:cs typeface="Calibri"/>
              <a:sym typeface="Calibri"/>
            </a:endParaRPr>
          </a:p>
          <a:p>
            <a:pPr marL="34290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build AI-native skills like prompting, agent deployment, and workflow automation</a:t>
            </a:r>
            <a:endParaRPr sz="1100">
              <a:solidFill>
                <a:schemeClr val="dk1"/>
              </a:solidFill>
              <a:latin typeface="Calibri"/>
              <a:ea typeface="Calibri"/>
              <a:cs typeface="Calibri"/>
              <a:sym typeface="Calibri"/>
            </a:endParaRPr>
          </a:p>
          <a:p>
            <a:pPr marL="34290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consider entrepreneurship. One person with AI agents can now do the work of 10</a:t>
            </a:r>
            <a:endParaRPr sz="1100">
              <a:solidFill>
                <a:schemeClr val="dk1"/>
              </a:solidFill>
              <a:latin typeface="Calibri"/>
              <a:ea typeface="Calibri"/>
              <a:cs typeface="Calibri"/>
              <a:sym typeface="Calibri"/>
            </a:endParaRPr>
          </a:p>
        </p:txBody>
      </p:sp>
      <p:sp>
        <p:nvSpPr>
          <p:cNvPr id="307" name="Google Shape;307;p35"/>
          <p:cNvSpPr txBox="1"/>
          <p:nvPr/>
        </p:nvSpPr>
        <p:spPr>
          <a:xfrm>
            <a:off x="55075" y="2538150"/>
            <a:ext cx="5451900" cy="188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Making Money During AI Gold Rush</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https://www.youtube.com/watch?v=aWkCVwVBXfU</a:t>
            </a:r>
            <a:r>
              <a:rPr lang="en" sz="1100">
                <a:solidFill>
                  <a:schemeClr val="dk1"/>
                </a:solidFill>
                <a:latin typeface="Calibri"/>
                <a:ea typeface="Calibri"/>
                <a:cs typeface="Calibri"/>
                <a:sym typeface="Calibri"/>
              </a:rPr>
              <a:t> - video by Calum Johnson</a:t>
            </a:r>
            <a:endParaRPr sz="1100">
              <a:solidFill>
                <a:schemeClr val="dk1"/>
              </a:solidFill>
              <a:latin typeface="Calibri"/>
              <a:ea typeface="Calibri"/>
              <a:cs typeface="Calibri"/>
              <a:sym typeface="Calibri"/>
            </a:endParaRPr>
          </a:p>
          <a:p>
            <a:pPr marL="34290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AI Agent Builder Agency - build agents for clients (using Crew.ai or AgentForce) - $2K/mo for setup and maintenance</a:t>
            </a:r>
            <a:endParaRPr sz="1100">
              <a:solidFill>
                <a:srgbClr val="3C78D8"/>
              </a:solidFill>
              <a:latin typeface="Calibri"/>
              <a:ea typeface="Calibri"/>
              <a:cs typeface="Calibri"/>
              <a:sym typeface="Calibri"/>
            </a:endParaRPr>
          </a:p>
          <a:p>
            <a:pPr marL="34290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AI Content Agency - use AI tools like Jasper or Canva to create content quickly. Important - need human in the loop to handle editing and storytelling. AI handles research, outlining, and initial drafts, while humans add unique perspectives and new information</a:t>
            </a:r>
            <a:endParaRPr sz="1100">
              <a:solidFill>
                <a:srgbClr val="3C78D8"/>
              </a:solidFill>
              <a:latin typeface="Calibri"/>
              <a:ea typeface="Calibri"/>
              <a:cs typeface="Calibri"/>
              <a:sym typeface="Calibri"/>
            </a:endParaRPr>
          </a:p>
          <a:p>
            <a:pPr marL="34290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Generative Engine Optimization (GEO) - the future of SEO for AI-powered search platforms like ChatGPT, Perplexity, and Google AI Overviews. Companies currently aren't optimizing to be recommended by these platforms, creating a massive opportunity. </a:t>
            </a:r>
            <a:endParaRPr sz="1100">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Niche then expand. Learn by doing. Experiment.</a:t>
            </a:r>
            <a:endParaRPr sz="1100">
              <a:solidFill>
                <a:schemeClr val="dk1"/>
              </a:solidFill>
              <a:latin typeface="Calibri"/>
              <a:ea typeface="Calibri"/>
              <a:cs typeface="Calibri"/>
              <a:sym typeface="Calibri"/>
            </a:endParaRPr>
          </a:p>
        </p:txBody>
      </p:sp>
      <p:pic>
        <p:nvPicPr>
          <p:cNvPr id="308" name="Google Shape;308;p35"/>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670725" y="2850702"/>
            <a:ext cx="994250" cy="1255900"/>
          </a:xfrm>
          <a:prstGeom prst="rect">
            <a:avLst/>
          </a:prstGeom>
          <a:noFill/>
          <a:ln w="9525" cap="flat" cmpd="sng">
            <a:solidFill>
              <a:srgbClr val="FF0000"/>
            </a:solidFill>
            <a:prstDash val="solid"/>
            <a:round/>
            <a:headEnd type="none" w="sm" len="sm"/>
            <a:tailEnd type="none" w="sm" len="sm"/>
          </a:ln>
        </p:spPr>
      </p:pic>
      <p:pic>
        <p:nvPicPr>
          <p:cNvPr id="309" name="Google Shape;309;p35"/>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659375" y="888523"/>
            <a:ext cx="2004774" cy="111174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36"/>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315" name="Google Shape;315;p36"/>
          <p:cNvSpPr txBox="1"/>
          <p:nvPr/>
        </p:nvSpPr>
        <p:spPr>
          <a:xfrm>
            <a:off x="2102050" y="77475"/>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316" name="Google Shape;316;p36"/>
          <p:cNvSpPr txBox="1"/>
          <p:nvPr/>
        </p:nvSpPr>
        <p:spPr>
          <a:xfrm>
            <a:off x="5097525" y="77475"/>
            <a:ext cx="3981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 113.6K in 2025 (as of November 7)</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317" name="Google Shape;317;p36"/>
          <p:cNvSpPr txBox="1"/>
          <p:nvPr/>
        </p:nvSpPr>
        <p:spPr>
          <a:xfrm>
            <a:off x="5162100" y="4228625"/>
            <a:ext cx="39819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So far in 2025, 180,595 people laid off (581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238,461 people </a:t>
            </a:r>
            <a:r>
              <a:rPr lang="en" sz="1200">
                <a:solidFill>
                  <a:schemeClr val="dk1"/>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7" lvl="0" indent="-57150" algn="r" rtl="0">
              <a:spcBef>
                <a:spcPts val="0"/>
              </a:spcBef>
              <a:spcAft>
                <a:spcPts val="0"/>
              </a:spcAft>
              <a:buNone/>
            </a:pPr>
            <a:r>
              <a:rPr lang="en" sz="1200" u="sng">
                <a:solidFill>
                  <a:schemeClr val="hlink"/>
                </a:solidFill>
                <a:latin typeface="Calibri"/>
                <a:ea typeface="Calibri"/>
                <a:cs typeface="Calibri"/>
                <a:sym typeface="Calibri"/>
                <a:hlinkClick r:id="rId4"/>
              </a:rPr>
              <a:t>https://trueup.io/layoffs</a:t>
            </a:r>
            <a:endParaRPr sz="1200">
              <a:latin typeface="Calibri"/>
              <a:ea typeface="Calibri"/>
              <a:cs typeface="Calibri"/>
              <a:sym typeface="Calibri"/>
            </a:endParaRPr>
          </a:p>
        </p:txBody>
      </p:sp>
      <p:pic>
        <p:nvPicPr>
          <p:cNvPr id="318" name="Google Shape;318;p3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7350" y="2490575"/>
            <a:ext cx="4951698" cy="2495252"/>
          </a:xfrm>
          <a:prstGeom prst="rect">
            <a:avLst/>
          </a:prstGeom>
          <a:noFill/>
          <a:ln w="9525" cap="flat" cmpd="sng">
            <a:solidFill>
              <a:srgbClr val="FF0000"/>
            </a:solidFill>
            <a:prstDash val="solid"/>
            <a:round/>
            <a:headEnd type="none" w="sm" len="sm"/>
            <a:tailEnd type="none" w="sm" len="sm"/>
          </a:ln>
        </p:spPr>
      </p:pic>
      <p:pic>
        <p:nvPicPr>
          <p:cNvPr id="319" name="Google Shape;319;p36"/>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7350" y="536683"/>
            <a:ext cx="4951702" cy="1863838"/>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pic>
        <p:nvPicPr>
          <p:cNvPr id="324" name="Google Shape;324;p37"/>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325" name="Google Shape;325;p37"/>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326" name="Google Shape;326;p37"/>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327" name="Google Shape;327;p37"/>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328" name="Google Shape;328;p37"/>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329" name="Google Shape;329;p37"/>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8"/>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5886</Words>
  <Application>Microsoft Macintosh PowerPoint</Application>
  <PresentationFormat>On-screen Show (16:9)</PresentationFormat>
  <Paragraphs>537</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Roboto Mono</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2025-11-13T16:52:13Z</dcterms:modified>
</cp:coreProperties>
</file>