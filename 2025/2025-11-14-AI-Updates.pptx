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embeddedFontLst>
    <p:embeddedFont>
      <p:font typeface="Roboto Mono" pitchFamily="49"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70D7CE-8956-4311-9658-227C9D35212C}">
  <a:tblStyle styleId="{0870D7CE-8956-4311-9658-227C9D35212C}"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5"/>
  </p:normalViewPr>
  <p:slideViewPr>
    <p:cSldViewPr>
      <p:cViewPr varScale="1">
        <p:scale>
          <a:sx n="154" d="100"/>
          <a:sy n="154" d="100"/>
        </p:scale>
        <p:origin x="8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fe9bcd8d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g36fe9bcd8d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a1cbb894a7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3a1cbb894a7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1" name="Google Shape;171;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3a1c0fed2d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7" name="Google Shape;177;g3a1c0fed2d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3a1cbb894a7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3a1cbb894a7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a1a183d8e3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a1a183d8e3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3a17ed87b4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9" name="Google Shape;199;g3a17ed87b48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a17ed87b4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g3a17ed87b4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a1cbb894a7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 name="Google Shape;217;g3a1cbb894a7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a1a183d8e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g3a1a183d8e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1" name="Google Shape;241;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www.anthropic.com/news/claude-opus-4-1" TargetMode="External"/><Relationship Id="rId26" Type="http://schemas.openxmlformats.org/officeDocument/2006/relationships/hyperlink" Target="https://platform.openai.com/docs/models/gpt-5-chat-latest" TargetMode="External"/><Relationship Id="rId39" Type="http://schemas.openxmlformats.org/officeDocument/2006/relationships/hyperlink" Target="https://huggingface.co/meituan-longcat/LongCat-Flash-Chat" TargetMode="External"/><Relationship Id="rId21" Type="http://schemas.openxmlformats.org/officeDocument/2006/relationships/hyperlink" Target="https://x.com/OpenAI/status/1905331956856050135" TargetMode="External"/><Relationship Id="rId34" Type="http://schemas.openxmlformats.org/officeDocument/2006/relationships/hyperlink" Target="https://api-docs.deepseek.com/news/news250821"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2.5-pro" TargetMode="External"/><Relationship Id="rId25" Type="http://schemas.openxmlformats.org/officeDocument/2006/relationships/hyperlink" Target="https://docs.z.ai/guides/llm/glm-4.6" TargetMode="External"/><Relationship Id="rId33" Type="http://schemas.openxmlformats.org/officeDocument/2006/relationships/hyperlink" Target="https://huggingface.co/moonshotai/Kimi-K2-Instruct-0905" TargetMode="External"/><Relationship Id="rId38" Type="http://schemas.openxmlformats.org/officeDocument/2006/relationships/hyperlink" Target="https://www.anthropic.com/news/claude-haiku-4-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introducing-gpt-4-5/" TargetMode="External"/><Relationship Id="rId29" Type="http://schemas.openxmlformats.org/officeDocument/2006/relationships/hyperlink" Target="https://api-docs.deepseek.com/news/news250929"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libabacloud.com/help/en/model-studio/models" TargetMode="External"/><Relationship Id="rId32" Type="http://schemas.openxmlformats.org/officeDocument/2006/relationships/hyperlink" Target="https://api-docs.deepseek.com/news/news250528" TargetMode="External"/><Relationship Id="rId37" Type="http://schemas.openxmlformats.org/officeDocument/2006/relationships/hyperlink" Target="https://api-docs.deepseek.com/news/news250922"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introducing-o3-and-o4-mini/" TargetMode="External"/><Relationship Id="rId28" Type="http://schemas.openxmlformats.org/officeDocument/2006/relationships/hyperlink" Target="https://www.anthropic.com/news/claude-4" TargetMode="External"/><Relationship Id="rId36" Type="http://schemas.openxmlformats.org/officeDocument/2006/relationships/hyperlink" Target="https://qwen.ai/blog?id=99f0335c4ad9ff6153e517418d48535ab6d8afef&amp;from=research.latest-advancements-list"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sonnet-4-5" TargetMode="External"/><Relationship Id="rId31" Type="http://schemas.openxmlformats.org/officeDocument/2006/relationships/hyperlink" Target="https://x.ai/news/grok-4-fast"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platform.openai.com/docs/models/gpt-5" TargetMode="External"/><Relationship Id="rId27" Type="http://schemas.openxmlformats.org/officeDocument/2006/relationships/hyperlink" Target="https://qwen.ai/blog?id=241398b9cd6353de490b0f82806c7848c5d2777d&amp;from=research.latest-advancements-list" TargetMode="External"/><Relationship Id="rId30" Type="http://schemas.openxmlformats.org/officeDocument/2006/relationships/hyperlink" Target="https://huggingface.co/Qwen/Qwen3-235B-A22B-Instruct-2507" TargetMode="External"/><Relationship Id="rId35" Type="http://schemas.openxmlformats.org/officeDocument/2006/relationships/hyperlink" Target="https://moonshotai.github.io/Kimi-K2/"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anthropic.com/engineering/code-execution-with-mcp"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510.15511"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hyperlink" Target="https://builtin.com/articles/openai-jobs-platform"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40eUFiGVeMo"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research.google/blog/introducing-nested-learning-a-new-ml-paradigm-for-continual-learning/"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hyperlink" Target="https://blog.google/technology/developers/gemini-api-structured-output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5.jpe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6zw2p2l4fHI"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media.io"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07fuMWzFSUw"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www.sympy.org" TargetMode="External"/><Relationship Id="rId7"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python.plainenglish.io/the-hidden-python-library-thats-making-openai-engineers-jealous-eda41281fc26" TargetMode="External"/><Relationship Id="rId5" Type="http://schemas.openxmlformats.org/officeDocument/2006/relationships/hyperlink" Target="https://www.geeksforgeeks.org/python/python-getting-started-with-sympy-module/" TargetMode="External"/><Relationship Id="rId4" Type="http://schemas.openxmlformats.org/officeDocument/2006/relationships/hyperlink" Target="https://en.wikipedia.org/wiki/SymPy"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kimi.com"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7xBRp-nvCNw"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azd5hrw5j6w"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trueup.io/layoff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30966"/>
            <a:ext cx="442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Code execution with MCP</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Language Models are Injective and Invertible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"AI-powered jobs platform" in mid-2026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Nested Learning</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a:t>
            </a:r>
            <a:r>
              <a:rPr lang="en" sz="2200" b="1">
                <a:solidFill>
                  <a:srgbClr val="3C78D8"/>
                </a:solidFill>
                <a:latin typeface="Calibri"/>
                <a:ea typeface="Calibri"/>
                <a:cs typeface="Calibri"/>
                <a:sym typeface="Calibri"/>
              </a:rPr>
              <a:t>14,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6975" y="4245105"/>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Become AI Orchestrator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1962332"/>
            <a:ext cx="4420200" cy="1496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&amp; Anthropic support JSON Schema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Nano Banana 2 (Pro) preview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Emad Mostaque Interview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SymPy for Math instead of LLM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Which LLMs are available in Moscow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for Small Niches</a:t>
            </a:r>
            <a:endParaRPr sz="1600" b="1">
              <a:solidFill>
                <a:srgbClr val="3C78D8"/>
              </a:solidFill>
              <a:latin typeface="Calibri"/>
              <a:ea typeface="Calibri"/>
              <a:cs typeface="Calibri"/>
              <a:sym typeface="Calibri"/>
            </a:endParaRPr>
          </a:p>
        </p:txBody>
      </p:sp>
      <p:sp>
        <p:nvSpPr>
          <p:cNvPr id="67" name="Google Shape;67;p15"/>
          <p:cNvSpPr txBox="1"/>
          <p:nvPr/>
        </p:nvSpPr>
        <p:spPr>
          <a:xfrm>
            <a:off x="4576975" y="630947"/>
            <a:ext cx="4502400" cy="2646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p:txBody>
      </p:sp>
      <p:sp>
        <p:nvSpPr>
          <p:cNvPr id="68" name="Google Shape;68;p15"/>
          <p:cNvSpPr txBox="1"/>
          <p:nvPr/>
        </p:nvSpPr>
        <p:spPr>
          <a:xfrm>
            <a:off x="4643498" y="75375"/>
            <a:ext cx="4420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i="1">
                <a:solidFill>
                  <a:srgbClr val="FF0000"/>
                </a:solidFill>
                <a:latin typeface="Roboto Mono"/>
                <a:ea typeface="Roboto Mono"/>
                <a:cs typeface="Roboto Mono"/>
                <a:sym typeface="Roboto Mono"/>
              </a:rPr>
              <a:t>xxx</a:t>
            </a:r>
            <a:endParaRPr sz="11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594668" y="22031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603516" y="311979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1" name="Google Shape;81;p16"/>
          <p:cNvSpPr/>
          <p:nvPr/>
        </p:nvSpPr>
        <p:spPr>
          <a:xfrm>
            <a:off x="3748357" y="27619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4915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3749985" y="474752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94775" y="16618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588586" y="112391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p:nvPr/>
        </p:nvSpPr>
        <p:spPr>
          <a:xfrm>
            <a:off x="3741162" y="438755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47212" y="185770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47669" y="186899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846" y="420507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p:nvPr/>
        </p:nvSpPr>
        <p:spPr>
          <a:xfrm>
            <a:off x="592125" y="1300284"/>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txBox="1"/>
          <p:nvPr/>
        </p:nvSpPr>
        <p:spPr>
          <a:xfrm>
            <a:off x="301758" y="257187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2" name="Google Shape;92;p16"/>
          <p:cNvSpPr/>
          <p:nvPr/>
        </p:nvSpPr>
        <p:spPr>
          <a:xfrm>
            <a:off x="600160" y="258075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45030" y="38438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3748244" y="112563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p:nvPr/>
        </p:nvSpPr>
        <p:spPr>
          <a:xfrm>
            <a:off x="592353" y="94808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p:nvPr/>
        </p:nvSpPr>
        <p:spPr>
          <a:xfrm>
            <a:off x="594765" y="14721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594775" y="185068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a:off x="300894" y="32785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9" name="Google Shape;99;p16"/>
          <p:cNvSpPr/>
          <p:nvPr/>
        </p:nvSpPr>
        <p:spPr>
          <a:xfrm>
            <a:off x="600160" y="32857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3748244" y="77644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a:off x="3447377" y="366185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747834" y="367314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txBox="1"/>
          <p:nvPr/>
        </p:nvSpPr>
        <p:spPr>
          <a:xfrm>
            <a:off x="296748" y="346272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4" name="Google Shape;104;p16"/>
          <p:cNvSpPr/>
          <p:nvPr/>
        </p:nvSpPr>
        <p:spPr>
          <a:xfrm>
            <a:off x="596014" y="34699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txBox="1"/>
          <p:nvPr/>
        </p:nvSpPr>
        <p:spPr>
          <a:xfrm>
            <a:off x="3448497" y="347647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6" name="Google Shape;106;p16"/>
          <p:cNvSpPr/>
          <p:nvPr/>
        </p:nvSpPr>
        <p:spPr>
          <a:xfrm>
            <a:off x="3748954" y="3487767"/>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3592839" y="148566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8" name="Google Shape;108;p16"/>
          <p:cNvSpPr txBox="1"/>
          <p:nvPr/>
        </p:nvSpPr>
        <p:spPr>
          <a:xfrm>
            <a:off x="440410" y="2382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txBox="1"/>
          <p:nvPr/>
        </p:nvSpPr>
        <p:spPr>
          <a:xfrm>
            <a:off x="296748" y="383268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0" name="Google Shape;110;p16"/>
          <p:cNvSpPr/>
          <p:nvPr/>
        </p:nvSpPr>
        <p:spPr>
          <a:xfrm>
            <a:off x="596014" y="383993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txBox="1"/>
          <p:nvPr/>
        </p:nvSpPr>
        <p:spPr>
          <a:xfrm>
            <a:off x="304271"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2" name="Google Shape;112;p16"/>
          <p:cNvSpPr/>
          <p:nvPr/>
        </p:nvSpPr>
        <p:spPr>
          <a:xfrm>
            <a:off x="603537" y="457199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txBox="1"/>
          <p:nvPr/>
        </p:nvSpPr>
        <p:spPr>
          <a:xfrm flipH="1">
            <a:off x="534531" y="3649751"/>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4" name="Google Shape;114;p16"/>
          <p:cNvSpPr/>
          <p:nvPr/>
        </p:nvSpPr>
        <p:spPr>
          <a:xfrm>
            <a:off x="3748244" y="130138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a:off x="3593829" y="220218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p:nvPr/>
        </p:nvSpPr>
        <p:spPr>
          <a:xfrm>
            <a:off x="3748244" y="166719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txBox="1"/>
          <p:nvPr/>
        </p:nvSpPr>
        <p:spPr>
          <a:xfrm>
            <a:off x="3440038" y="238108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8" name="Google Shape;118;p16"/>
          <p:cNvSpPr/>
          <p:nvPr/>
        </p:nvSpPr>
        <p:spPr>
          <a:xfrm>
            <a:off x="3740495" y="239236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590309" y="201944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p:nvPr/>
        </p:nvSpPr>
        <p:spPr>
          <a:xfrm>
            <a:off x="586813" y="27525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296748" y="401481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596014" y="402206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296748" y="419694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p:nvPr/>
        </p:nvSpPr>
        <p:spPr>
          <a:xfrm>
            <a:off x="596014" y="420419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296748" y="43716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p:nvPr/>
        </p:nvSpPr>
        <p:spPr>
          <a:xfrm>
            <a:off x="596014" y="43788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304271" y="47468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603537" y="47541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304271" y="4921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0" name="Google Shape;130;p16"/>
          <p:cNvSpPr/>
          <p:nvPr/>
        </p:nvSpPr>
        <p:spPr>
          <a:xfrm>
            <a:off x="603537" y="492882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446720" y="292175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txBox="1"/>
          <p:nvPr/>
        </p:nvSpPr>
        <p:spPr>
          <a:xfrm>
            <a:off x="3440038" y="201408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3" name="Google Shape;133;p16"/>
          <p:cNvSpPr/>
          <p:nvPr/>
        </p:nvSpPr>
        <p:spPr>
          <a:xfrm>
            <a:off x="3740495" y="202537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3748386" y="329566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3748244" y="294214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3458789" y="401118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7" name="Google Shape;137;p16"/>
          <p:cNvSpPr/>
          <p:nvPr/>
        </p:nvSpPr>
        <p:spPr>
          <a:xfrm>
            <a:off x="3749658" y="401958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txBox="1"/>
          <p:nvPr/>
        </p:nvSpPr>
        <p:spPr>
          <a:xfrm>
            <a:off x="3458789" y="456166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9" name="Google Shape;139;p16"/>
          <p:cNvSpPr/>
          <p:nvPr/>
        </p:nvSpPr>
        <p:spPr>
          <a:xfrm>
            <a:off x="3749658" y="457006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txBox="1"/>
          <p:nvPr/>
        </p:nvSpPr>
        <p:spPr>
          <a:xfrm>
            <a:off x="4551777" y="63625"/>
            <a:ext cx="1350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5</a:t>
            </a:r>
            <a:endParaRPr sz="1000">
              <a:solidFill>
                <a:schemeClr val="dk1"/>
              </a:solidFill>
              <a:latin typeface="Calibri"/>
              <a:ea typeface="Calibri"/>
              <a:cs typeface="Calibri"/>
              <a:sym typeface="Calibri"/>
            </a:endParaRPr>
          </a:p>
        </p:txBody>
      </p:sp>
      <p:graphicFrame>
        <p:nvGraphicFramePr>
          <p:cNvPr id="141" name="Google Shape;141;p16"/>
          <p:cNvGraphicFramePr/>
          <p:nvPr/>
        </p:nvGraphicFramePr>
        <p:xfrm>
          <a:off x="731370" y="550745"/>
          <a:ext cx="3000000" cy="3000000"/>
        </p:xfrm>
        <a:graphic>
          <a:graphicData uri="http://schemas.openxmlformats.org/drawingml/2006/table">
            <a:tbl>
              <a:tblPr>
                <a:noFill/>
                <a:tableStyleId>{0870D7CE-8956-4311-9658-227C9D35212C}</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362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grok-4-fast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kimi-k2-0711-preview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deepseek-v3.1-terminus</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2" name="Google Shape;142;p16"/>
          <p:cNvGraphicFramePr/>
          <p:nvPr/>
        </p:nvGraphicFramePr>
        <p:xfrm>
          <a:off x="3881740" y="558207"/>
          <a:ext cx="3000000" cy="3000000"/>
        </p:xfrm>
        <a:graphic>
          <a:graphicData uri="http://schemas.openxmlformats.org/drawingml/2006/table">
            <a:tbl>
              <a:tblPr>
                <a:noFill/>
                <a:tableStyleId>{0870D7CE-8956-4311-9658-227C9D35212C}</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538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deepseek-v3.1-terminus-thinking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3" name="Google Shape;143;p16"/>
          <p:cNvSpPr/>
          <p:nvPr/>
        </p:nvSpPr>
        <p:spPr>
          <a:xfrm>
            <a:off x="3742516" y="257534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 name="Google Shape;144;p16"/>
          <p:cNvSpPr txBox="1"/>
          <p:nvPr/>
        </p:nvSpPr>
        <p:spPr>
          <a:xfrm>
            <a:off x="3448497" y="311244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5" name="Google Shape;145;p16"/>
          <p:cNvSpPr/>
          <p:nvPr/>
        </p:nvSpPr>
        <p:spPr>
          <a:xfrm>
            <a:off x="3748954" y="312373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 name="Google Shape;146;p16"/>
          <p:cNvSpPr/>
          <p:nvPr/>
        </p:nvSpPr>
        <p:spPr>
          <a:xfrm>
            <a:off x="3749702" y="49253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7"/>
          <p:cNvSpPr txBox="1"/>
          <p:nvPr/>
        </p:nvSpPr>
        <p:spPr>
          <a:xfrm>
            <a:off x="55075" y="20375"/>
            <a:ext cx="2982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Code execution with MCP</a:t>
            </a:r>
            <a:endParaRPr sz="2000" b="1" i="0" u="none" strike="noStrike" cap="none">
              <a:solidFill>
                <a:schemeClr val="dk1"/>
              </a:solidFill>
              <a:latin typeface="Calibri"/>
              <a:ea typeface="Calibri"/>
              <a:cs typeface="Calibri"/>
              <a:sym typeface="Calibri"/>
            </a:endParaRPr>
          </a:p>
        </p:txBody>
      </p:sp>
      <p:sp>
        <p:nvSpPr>
          <p:cNvPr id="152" name="Google Shape;152;p17"/>
          <p:cNvSpPr txBox="1"/>
          <p:nvPr/>
        </p:nvSpPr>
        <p:spPr>
          <a:xfrm>
            <a:off x="55075" y="443276"/>
            <a:ext cx="4444500" cy="397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Code execution with MCP: Building more efficient agents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https://www.anthropic.com/engineering/code-execution-with-mcp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Idea - allow LLM to automate its own actions by writing code to be executed outside of LLM (in a save environment) </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AI agents connect to lots of tools through MCP servers, two things waste tokens and slow everything down:</a:t>
            </a:r>
            <a:endParaRPr sz="1100">
              <a:solidFill>
                <a:schemeClr val="dk1"/>
              </a:solidFill>
              <a:latin typeface="Calibri"/>
              <a:ea typeface="Calibri"/>
              <a:cs typeface="Calibri"/>
              <a:sym typeface="Calibri"/>
            </a:endParaRPr>
          </a:p>
          <a:p>
            <a:pPr marL="457200" marR="0" lvl="1" indent="-114300" algn="l" rtl="0">
              <a:lnSpc>
                <a:spcPct val="100000"/>
              </a:lnSpc>
              <a:spcBef>
                <a:spcPts val="0"/>
              </a:spcBef>
              <a:spcAft>
                <a:spcPts val="0"/>
              </a:spcAft>
              <a:buClr>
                <a:srgbClr val="3C78D8"/>
              </a:buClr>
              <a:buSzPts val="900"/>
              <a:buFont typeface="Calibri"/>
              <a:buChar char="○"/>
            </a:pPr>
            <a:r>
              <a:rPr lang="en" sz="900" b="1">
                <a:solidFill>
                  <a:srgbClr val="3C78D8"/>
                </a:solidFill>
                <a:latin typeface="Calibri"/>
                <a:ea typeface="Calibri"/>
                <a:cs typeface="Calibri"/>
                <a:sym typeface="Calibri"/>
              </a:rPr>
              <a:t>Too many tool descriptions loaded upfront into context</a:t>
            </a:r>
            <a:endParaRPr sz="900" b="1">
              <a:solidFill>
                <a:srgbClr val="3C78D8"/>
              </a:solidFill>
              <a:latin typeface="Calibri"/>
              <a:ea typeface="Calibri"/>
              <a:cs typeface="Calibri"/>
              <a:sym typeface="Calibri"/>
            </a:endParaRPr>
          </a:p>
          <a:p>
            <a:pPr marL="457200" marR="0" lvl="1" indent="-114300" algn="l" rtl="0">
              <a:lnSpc>
                <a:spcPct val="100000"/>
              </a:lnSpc>
              <a:spcBef>
                <a:spcPts val="0"/>
              </a:spcBef>
              <a:spcAft>
                <a:spcPts val="0"/>
              </a:spcAft>
              <a:buClr>
                <a:srgbClr val="3C78D8"/>
              </a:buClr>
              <a:buSzPts val="900"/>
              <a:buFont typeface="Calibri"/>
              <a:buChar char="○"/>
            </a:pPr>
            <a:r>
              <a:rPr lang="en" sz="900" b="1">
                <a:solidFill>
                  <a:srgbClr val="3C78D8"/>
                </a:solidFill>
                <a:latin typeface="Calibri"/>
                <a:ea typeface="Calibri"/>
                <a:cs typeface="Calibri"/>
                <a:sym typeface="Calibri"/>
              </a:rPr>
              <a:t>Data flowing through the agent multiple times</a:t>
            </a:r>
            <a:endParaRPr sz="9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Solution: Code Execution with MCP</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Instead of calling tools directly, </a:t>
            </a:r>
            <a:r>
              <a:rPr lang="en" sz="1100" b="1">
                <a:solidFill>
                  <a:srgbClr val="FF0000"/>
                </a:solidFill>
                <a:latin typeface="Calibri"/>
                <a:ea typeface="Calibri"/>
                <a:cs typeface="Calibri"/>
                <a:sym typeface="Calibri"/>
              </a:rPr>
              <a:t>let the agent write code that calls the tools</a:t>
            </a:r>
            <a:r>
              <a:rPr lang="en" sz="1100">
                <a:solidFill>
                  <a:schemeClr val="dk1"/>
                </a:solidFill>
                <a:latin typeface="Calibri"/>
                <a:ea typeface="Calibri"/>
                <a:cs typeface="Calibri"/>
                <a:sym typeface="Calibri"/>
              </a:rPr>
              <a:t>. The code runs in a separate execution environment (like a secure sandbox), and only the final results come back to the agent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Step 1: Present tools as a file tree instead of loading all descriptions</a:t>
            </a:r>
            <a:r>
              <a:rPr lang="en" sz="1100">
                <a:solidFill>
                  <a:schemeClr val="dk1"/>
                </a:solidFill>
                <a:latin typeface="Calibri"/>
                <a:ea typeface="Calibri"/>
                <a:cs typeface="Calibri"/>
                <a:sym typeface="Calibri"/>
              </a:rPr>
              <a:t>. Your agent sees a folder structure like:</a:t>
            </a:r>
            <a:endParaRPr sz="1100">
              <a:solidFill>
                <a:schemeClr val="dk1"/>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servers/</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google-drive/</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 getDocument.ts</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 index.ts</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salesforce/</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 updateRecord.ts</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 index.ts</a:t>
            </a:r>
            <a:endParaRPr sz="9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Step 2: Agent finds tools needed for the task.</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For example, when you ask "</a:t>
            </a:r>
            <a:r>
              <a:rPr lang="en" sz="1100" b="1">
                <a:solidFill>
                  <a:srgbClr val="6AA84F"/>
                </a:solidFill>
                <a:latin typeface="Calibri"/>
                <a:ea typeface="Calibri"/>
                <a:cs typeface="Calibri"/>
                <a:sym typeface="Calibri"/>
              </a:rPr>
              <a:t>Copy my meeting notes from Drive to Salesforce,</a:t>
            </a:r>
            <a:r>
              <a:rPr lang="en" sz="1100">
                <a:solidFill>
                  <a:schemeClr val="dk1"/>
                </a:solidFill>
                <a:latin typeface="Calibri"/>
                <a:ea typeface="Calibri"/>
                <a:cs typeface="Calibri"/>
                <a:sym typeface="Calibri"/>
              </a:rPr>
              <a:t>" the agent lists the `servers/` directory, sees `google-drive` and `salesforce`, then reads only those two tool files it needs</a:t>
            </a:r>
            <a:endParaRPr sz="1100">
              <a:solidFill>
                <a:schemeClr val="dk1"/>
              </a:solidFill>
              <a:latin typeface="Calibri"/>
              <a:ea typeface="Calibri"/>
              <a:cs typeface="Calibri"/>
              <a:sym typeface="Calibri"/>
            </a:endParaRPr>
          </a:p>
        </p:txBody>
      </p:sp>
      <p:sp>
        <p:nvSpPr>
          <p:cNvPr id="153" name="Google Shape;153;p17"/>
          <p:cNvSpPr txBox="1"/>
          <p:nvPr/>
        </p:nvSpPr>
        <p:spPr>
          <a:xfrm>
            <a:off x="4659400" y="228284"/>
            <a:ext cx="4444500" cy="446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Step 3: Agent writes code to run in the execution environment</a:t>
            </a:r>
            <a:br>
              <a:rPr lang="en" sz="1100">
                <a:solidFill>
                  <a:schemeClr val="dk1"/>
                </a:solidFill>
                <a:latin typeface="Calibri"/>
                <a:ea typeface="Calibri"/>
                <a:cs typeface="Calibri"/>
                <a:sym typeface="Calibri"/>
              </a:rPr>
            </a:br>
            <a:endParaRPr sz="1100">
              <a:solidFill>
                <a:schemeClr val="dk1"/>
              </a:solidFill>
              <a:latin typeface="Calibri"/>
              <a:ea typeface="Calibri"/>
              <a:cs typeface="Calibri"/>
              <a:sym typeface="Calibri"/>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import * as gdrive from './servers/google-drive';</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import * as salesforce from './servers/salesforce';</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const transcript = (await gdrive.getDocument(</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 documentId: 'abc123' })).content;</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await salesforce.updateRecord({</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objectType: 'SalesMeeting',</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recordId: '00Q5f000001abcXYZ',</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data: { Notes: transcript }</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a:solidFill>
                  <a:srgbClr val="FF0000"/>
                </a:solidFill>
                <a:latin typeface="Calibri"/>
                <a:ea typeface="Calibri"/>
                <a:cs typeface="Calibri"/>
                <a:sym typeface="Calibri"/>
              </a:rPr>
              <a:t>Benefit</a:t>
            </a:r>
            <a:r>
              <a:rPr lang="en" sz="1100">
                <a:solidFill>
                  <a:srgbClr val="6AA84F"/>
                </a:solidFill>
                <a:latin typeface="Calibri"/>
                <a:ea typeface="Calibri"/>
                <a:cs typeface="Calibri"/>
                <a:sym typeface="Calibri"/>
              </a:rPr>
              <a:t>: the copied document never flows through the AI model's context</a:t>
            </a:r>
            <a:endParaRPr sz="1100">
              <a:solidFill>
                <a:srgbClr val="6AA84F"/>
              </a:solidFill>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a:solidFill>
                  <a:srgbClr val="FF0000"/>
                </a:solidFill>
                <a:latin typeface="Calibri"/>
                <a:ea typeface="Calibri"/>
                <a:cs typeface="Calibri"/>
                <a:sym typeface="Calibri"/>
              </a:rPr>
              <a:t>Benefit</a:t>
            </a:r>
            <a:r>
              <a:rPr lang="en" sz="1100">
                <a:solidFill>
                  <a:srgbClr val="6AA84F"/>
                </a:solidFill>
                <a:latin typeface="Calibri"/>
                <a:ea typeface="Calibri"/>
                <a:cs typeface="Calibri"/>
                <a:sym typeface="Calibri"/>
              </a:rPr>
              <a:t>: reduces token usage by up to 98.7% in scenarios with many tools</a:t>
            </a:r>
            <a:endParaRPr sz="1100">
              <a:solidFill>
                <a:srgbClr val="6AA84F"/>
              </a:solidFill>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a:solidFill>
                  <a:srgbClr val="FF0000"/>
                </a:solidFill>
                <a:latin typeface="Calibri"/>
                <a:ea typeface="Calibri"/>
                <a:cs typeface="Calibri"/>
                <a:sym typeface="Calibri"/>
              </a:rPr>
              <a:t>Benefit</a:t>
            </a:r>
            <a:r>
              <a:rPr lang="en" sz="1100">
                <a:solidFill>
                  <a:srgbClr val="6AA84F"/>
                </a:solidFill>
                <a:latin typeface="Calibri"/>
                <a:ea typeface="Calibri"/>
                <a:cs typeface="Calibri"/>
                <a:sym typeface="Calibri"/>
              </a:rPr>
              <a:t>: the agent can filter large datasets in code (processing 10,000 spreadsheet rows but only showing the model 5 relevant ones), write loops and conditionals, save reusable functions as "skills" for future tasks</a:t>
            </a:r>
            <a:endParaRPr sz="1100">
              <a:solidFill>
                <a:srgbClr val="6AA84F"/>
              </a:solidFill>
              <a:latin typeface="Calibri"/>
              <a:ea typeface="Calibri"/>
              <a:cs typeface="Calibri"/>
              <a:sym typeface="Calibri"/>
            </a:endParaRPr>
          </a:p>
          <a:p>
            <a:pPr marL="171450" lvl="0" indent="-127000" algn="l" rtl="0">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 implement this approach, we need: </a:t>
            </a:r>
            <a:r>
              <a:rPr lang="en" sz="1100">
                <a:solidFill>
                  <a:srgbClr val="3C78D8"/>
                </a:solidFill>
                <a:latin typeface="Calibri"/>
                <a:ea typeface="Calibri"/>
                <a:cs typeface="Calibri"/>
                <a:sym typeface="Calibri"/>
              </a:rPr>
              <a:t> </a:t>
            </a:r>
            <a:endParaRPr sz="11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rgbClr val="3C78D8"/>
                </a:solidFill>
                <a:latin typeface="Calibri"/>
                <a:ea typeface="Calibri"/>
                <a:cs typeface="Calibri"/>
                <a:sym typeface="Calibri"/>
              </a:rPr>
              <a:t>    (1) A code execution environment; </a:t>
            </a:r>
            <a:endParaRPr sz="11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rgbClr val="3C78D8"/>
                </a:solidFill>
                <a:latin typeface="Calibri"/>
                <a:ea typeface="Calibri"/>
                <a:cs typeface="Calibri"/>
                <a:sym typeface="Calibri"/>
              </a:rPr>
              <a:t>    (2) Code that creates TypeScript/Python files representing each tool; </a:t>
            </a:r>
            <a:endParaRPr sz="11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rgbClr val="3C78D8"/>
                </a:solidFill>
                <a:latin typeface="Calibri"/>
                <a:ea typeface="Calibri"/>
                <a:cs typeface="Calibri"/>
                <a:sym typeface="Calibri"/>
              </a:rPr>
              <a:t>    (3) callMCPTool() wrapper for communication with MCP servers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Added complexity: you need to build and secure a code execution environment, generate the file tree from your MCP servers, and handle the infrastructure for running untrusted code safely.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For agents with just a few tools, the traditional direct tool-calling approach is simpler. But once you're connecting dozens of servers with hundreds of tools, code execution becomes essential for keeping costs and latency reasonable</a:t>
            </a:r>
            <a:endParaRPr sz="11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18"/>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59" name="Google Shape;159;p18"/>
          <p:cNvSpPr txBox="1"/>
          <p:nvPr/>
        </p:nvSpPr>
        <p:spPr>
          <a:xfrm>
            <a:off x="118550" y="451801"/>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paper: "</a:t>
            </a:r>
            <a:r>
              <a:rPr lang="en" sz="1100" b="1">
                <a:solidFill>
                  <a:srgbClr val="FF0000"/>
                </a:solidFill>
                <a:latin typeface="Calibri"/>
                <a:ea typeface="Calibri"/>
                <a:cs typeface="Calibri"/>
                <a:sym typeface="Calibri"/>
              </a:rPr>
              <a:t>Language Models are Injective and Hence Invertible</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3"/>
              </a:rPr>
              <a:t>https://arxiv.org/pdf/2510.15511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authors demonstrate both mathematically and empirically that LLMs preserve complete input information in their hidden representations</a:t>
            </a:r>
            <a:endParaRPr sz="1100">
              <a:solidFill>
                <a:schemeClr val="dk1"/>
              </a:solidFill>
              <a:latin typeface="Calibri"/>
              <a:ea typeface="Calibri"/>
              <a:cs typeface="Calibri"/>
              <a:sym typeface="Calibri"/>
            </a:endParaRPr>
          </a:p>
          <a:p>
            <a:pPr marL="4572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Mathematical proof of injectivity</a:t>
            </a:r>
            <a:endParaRPr sz="1100">
              <a:solidFill>
                <a:srgbClr val="3C78D8"/>
              </a:solidFill>
              <a:latin typeface="Calibri"/>
              <a:ea typeface="Calibri"/>
              <a:cs typeface="Calibri"/>
              <a:sym typeface="Calibri"/>
            </a:endParaRPr>
          </a:p>
          <a:p>
            <a:pPr marL="4572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Empirical validation</a:t>
            </a:r>
            <a:endParaRPr sz="1100">
              <a:solidFill>
                <a:srgbClr val="3C78D8"/>
              </a:solidFill>
              <a:latin typeface="Calibri"/>
              <a:ea typeface="Calibri"/>
              <a:cs typeface="Calibri"/>
              <a:sym typeface="Calibri"/>
            </a:endParaRPr>
          </a:p>
          <a:p>
            <a:pPr marL="4572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SipIt (Sip It) algorithm - efficiently reconstructs exact input text from hidden activations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work establishes injectivity as a fundamental and exploitable property of language models with direct implications for transparency, interpretability, and safe deployment. The ability to exactly recover input text from internal representations opens new possibilities for understanding and auditing model behavior</a:t>
            </a:r>
            <a:endParaRPr sz="1100">
              <a:solidFill>
                <a:schemeClr val="dk1"/>
              </a:solidFill>
              <a:latin typeface="Calibri"/>
              <a:ea typeface="Calibri"/>
              <a:cs typeface="Calibri"/>
              <a:sym typeface="Calibri"/>
            </a:endParaRPr>
          </a:p>
        </p:txBody>
      </p:sp>
      <p:sp>
        <p:nvSpPr>
          <p:cNvPr id="160" name="Google Shape;160;p18"/>
          <p:cNvSpPr txBox="1"/>
          <p:nvPr/>
        </p:nvSpPr>
        <p:spPr>
          <a:xfrm>
            <a:off x="118550" y="2776226"/>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"AI-powered jobs platform" in mid-2026</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Challenge LinkedIn by connecting employers with AI-skilled workers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AI to evaluate AI skills (including OpenAI Certifications from OpenAI Academy)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is planning to certify 10 million Americans by 2030</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platform focuses exclusively on AI roles and includes a dedicated track for small businesses and local governments to access AI talent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platform will track and certify various AI competencies including prompt engineering, machine learning development, AI integration into existing products, data annotation, AI training, and AI ethics/policy expertise. Certification pilots begin in late 2025, giving early adopters a competitive advantage before the full platform launches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https://builtin.com/articles/openai-jobs-platform</a:t>
            </a:r>
            <a:endParaRPr sz="11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9"/>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Nested Learning</a:t>
            </a:r>
            <a:endParaRPr sz="2000" b="1" i="0" u="none" strike="noStrike" cap="none">
              <a:solidFill>
                <a:schemeClr val="dk1"/>
              </a:solidFill>
              <a:latin typeface="Calibri"/>
              <a:ea typeface="Calibri"/>
              <a:cs typeface="Calibri"/>
              <a:sym typeface="Calibri"/>
            </a:endParaRPr>
          </a:p>
        </p:txBody>
      </p:sp>
      <p:sp>
        <p:nvSpPr>
          <p:cNvPr id="166" name="Google Shape;166;p19"/>
          <p:cNvSpPr txBox="1"/>
          <p:nvPr/>
        </p:nvSpPr>
        <p:spPr>
          <a:xfrm>
            <a:off x="103700" y="387050"/>
            <a:ext cx="4484100" cy="449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Nested Learning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Designed to solve catastrophic forgetting problem (training on new information causes the model to lose previously learned knowledge)</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https://www.youtube.com/watch?v=40eUFiGVeMo</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https://research.google/blog/introducing-nested-learning-a-new-ml-paradigm-for-continual-learning/</a:t>
            </a:r>
            <a:endParaRPr sz="8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human brains that continuously adapt through neuroplasticity, AI models have their knowledge locked into two places: their short-term context window and what they memorized during pre-training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inability to truly learn over time is considered one of the biggest bottlenecks to achieving AGI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Nested Learning - treating the model architecture and training algorithm as the same concept rather than separate components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Instead of one monolithic learner, the approach views models as a system of smaller, nested optimization problems that operate at different learning speeds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Some components adapt quickly while others learn slowly, creating a layered memory system similar to how human brains handle multi-timescale learning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built HOPE (a self-modifying variant of the Titans architecture),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HOPE integrates a Continuum Memory System (CMS) that creates a spectrum of memory updating at different frequencies - from milliseconds to months - enabling more human-like recall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HOPE demonstrated superior performance compared to Transformers, Titans, and Mamba 2 across multiple benchmarks, showing lower perplexity, higher accuracy, and better long-context reasoning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Both HOPE and Titans performed nearly perfectly in "needle in the haystack" tests</a:t>
            </a:r>
            <a:endParaRPr sz="1100">
              <a:solidFill>
                <a:schemeClr val="dk1"/>
              </a:solidFill>
              <a:latin typeface="Calibri"/>
              <a:ea typeface="Calibri"/>
              <a:cs typeface="Calibri"/>
              <a:sym typeface="Calibri"/>
            </a:endParaRPr>
          </a:p>
        </p:txBody>
      </p:sp>
      <p:pic>
        <p:nvPicPr>
          <p:cNvPr id="167" name="Google Shape;167;p19"/>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334125" y="387050"/>
            <a:ext cx="3103549" cy="2309550"/>
          </a:xfrm>
          <a:prstGeom prst="rect">
            <a:avLst/>
          </a:prstGeom>
          <a:noFill/>
          <a:ln w="9525" cap="flat" cmpd="sng">
            <a:solidFill>
              <a:srgbClr val="FF0000"/>
            </a:solidFill>
            <a:prstDash val="solid"/>
            <a:round/>
            <a:headEnd type="none" w="sm" len="sm"/>
            <a:tailEnd type="none" w="sm" len="sm"/>
          </a:ln>
        </p:spPr>
      </p:pic>
      <p:pic>
        <p:nvPicPr>
          <p:cNvPr id="168" name="Google Shape;168;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75200" y="2871750"/>
            <a:ext cx="4421400" cy="1612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5.64K subscribers, 253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4" name="Google Shape;174;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31375" y="93500"/>
            <a:ext cx="3819898" cy="495649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1"/>
          <p:cNvSpPr txBox="1"/>
          <p:nvPr/>
        </p:nvSpPr>
        <p:spPr>
          <a:xfrm>
            <a:off x="55075" y="20375"/>
            <a:ext cx="450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&amp; Anthropic support JSON Schema</a:t>
            </a:r>
            <a:endParaRPr sz="2000" b="1" i="0" u="none" strike="noStrike" cap="none">
              <a:solidFill>
                <a:schemeClr val="dk1"/>
              </a:solidFill>
              <a:latin typeface="Calibri"/>
              <a:ea typeface="Calibri"/>
              <a:cs typeface="Calibri"/>
              <a:sym typeface="Calibri"/>
            </a:endParaRPr>
          </a:p>
        </p:txBody>
      </p:sp>
      <p:sp>
        <p:nvSpPr>
          <p:cNvPr id="180" name="Google Shape;180;p21"/>
          <p:cNvSpPr txBox="1"/>
          <p:nvPr/>
        </p:nvSpPr>
        <p:spPr>
          <a:xfrm>
            <a:off x="55075" y="428975"/>
            <a:ext cx="45054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Gemini API now supports JSON Schema</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https://blog.google/technology/developers/gemini-api-structured-outputs/</a:t>
            </a:r>
            <a:endParaRPr sz="8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enables libraries like Pydantic (Python) or Zod (JavaScript/TypeScript) to work out-of-the-box with the Gemini API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builds upon the current support for the Gemini API’s Schema object that is based on OpenAPI 3.0 for Structured Outputs and Function Calling.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update also adds support for frequently requested JSON Schema keywords, including:</a:t>
            </a:r>
            <a:endParaRPr sz="1100">
              <a:solidFill>
                <a:schemeClr val="dk1"/>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anyOf for conditional structures (Unions)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$ref for recursive schemas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minimum and maximum for numeric constraints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additionalProperties and type: 'null'</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prefixItems for tuple-like arrays</a:t>
            </a:r>
            <a:endParaRPr sz="1100" b="1">
              <a:solidFill>
                <a:srgbClr val="3C78D8"/>
              </a:solidFill>
              <a:latin typeface="Calibri"/>
              <a:ea typeface="Calibri"/>
              <a:cs typeface="Calibri"/>
              <a:sym typeface="Calibri"/>
            </a:endParaRPr>
          </a:p>
        </p:txBody>
      </p:sp>
      <p:pic>
        <p:nvPicPr>
          <p:cNvPr id="181" name="Google Shape;181;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2500" y="281432"/>
            <a:ext cx="3276674" cy="1835751"/>
          </a:xfrm>
          <a:prstGeom prst="rect">
            <a:avLst/>
          </a:prstGeom>
          <a:noFill/>
          <a:ln w="9525" cap="flat" cmpd="sng">
            <a:solidFill>
              <a:srgbClr val="FF0000"/>
            </a:solidFill>
            <a:prstDash val="solid"/>
            <a:round/>
            <a:headEnd type="none" w="sm" len="sm"/>
            <a:tailEnd type="none" w="sm" len="sm"/>
          </a:ln>
        </p:spPr>
      </p:pic>
      <p:sp>
        <p:nvSpPr>
          <p:cNvPr id="182" name="Google Shape;182;p21"/>
          <p:cNvSpPr txBox="1"/>
          <p:nvPr/>
        </p:nvSpPr>
        <p:spPr>
          <a:xfrm>
            <a:off x="4652500" y="2167594"/>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Anthropic's API supports JSON Schema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accepts JSON Schema definitions, particularly through their tool use (function calling) feature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you define tools, you provide an input_schema parameter that accepts JSON Schema to specify the structure of tool inputs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API </a:t>
            </a:r>
            <a:r>
              <a:rPr lang="en" sz="1100" b="1">
                <a:solidFill>
                  <a:srgbClr val="3C78D8"/>
                </a:solidFill>
                <a:latin typeface="Calibri"/>
                <a:ea typeface="Calibri"/>
                <a:cs typeface="Calibri"/>
                <a:sym typeface="Calibri"/>
              </a:rPr>
              <a:t>does not support</a:t>
            </a:r>
            <a:r>
              <a:rPr lang="en" sz="1100">
                <a:solidFill>
                  <a:schemeClr val="dk1"/>
                </a:solidFill>
                <a:latin typeface="Calibri"/>
                <a:ea typeface="Calibri"/>
                <a:cs typeface="Calibri"/>
                <a:sym typeface="Calibri"/>
              </a:rPr>
              <a:t> </a:t>
            </a:r>
            <a:r>
              <a:rPr lang="en" sz="1100" b="1">
                <a:solidFill>
                  <a:srgbClr val="FF0000"/>
                </a:solidFill>
                <a:latin typeface="Calibri"/>
                <a:ea typeface="Calibri"/>
                <a:cs typeface="Calibri"/>
                <a:sym typeface="Calibri"/>
              </a:rPr>
              <a:t>oneOf, allOf, or anyOf </a:t>
            </a:r>
            <a:r>
              <a:rPr lang="en" sz="1100">
                <a:solidFill>
                  <a:schemeClr val="dk1"/>
                </a:solidFill>
                <a:latin typeface="Calibri"/>
                <a:ea typeface="Calibri"/>
                <a:cs typeface="Calibri"/>
                <a:sym typeface="Calibri"/>
              </a:rPr>
              <a:t>at the top level of the schema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most reliable approach to get JSON response is to use the </a:t>
            </a:r>
            <a:r>
              <a:rPr lang="en" sz="1100" b="1">
                <a:solidFill>
                  <a:srgbClr val="3C78D8"/>
                </a:solidFill>
                <a:latin typeface="Calibri"/>
                <a:ea typeface="Calibri"/>
                <a:cs typeface="Calibri"/>
                <a:sym typeface="Calibri"/>
              </a:rPr>
              <a:t>tool calling method</a:t>
            </a:r>
            <a:r>
              <a:rPr lang="en" sz="1100">
                <a:solidFill>
                  <a:schemeClr val="dk1"/>
                </a:solidFill>
                <a:latin typeface="Calibri"/>
                <a:ea typeface="Calibri"/>
                <a:cs typeface="Calibri"/>
                <a:sym typeface="Calibri"/>
              </a:rPr>
              <a:t> rather than directly prompting for JSON output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b="1">
                <a:solidFill>
                  <a:srgbClr val="6AA84F"/>
                </a:solidFill>
                <a:latin typeface="Calibri"/>
                <a:ea typeface="Calibri"/>
                <a:cs typeface="Calibri"/>
                <a:sym typeface="Calibri"/>
              </a:rPr>
              <a:t>The best practice for structured JSON output with Anthropic is to </a:t>
            </a:r>
            <a:r>
              <a:rPr lang="en" sz="1100" b="1">
                <a:solidFill>
                  <a:srgbClr val="FF0000"/>
                </a:solidFill>
                <a:latin typeface="Calibri"/>
                <a:ea typeface="Calibri"/>
                <a:cs typeface="Calibri"/>
                <a:sym typeface="Calibri"/>
              </a:rPr>
              <a:t>create a mock tool/function call where your desired JSON structure is defined as the tool's input schema</a:t>
            </a:r>
            <a:r>
              <a:rPr lang="en" sz="1100" b="1">
                <a:solidFill>
                  <a:srgbClr val="6AA84F"/>
                </a:solidFill>
                <a:latin typeface="Calibri"/>
                <a:ea typeface="Calibri"/>
                <a:cs typeface="Calibri"/>
                <a:sym typeface="Calibri"/>
              </a:rPr>
              <a:t>. </a:t>
            </a:r>
            <a:r>
              <a:rPr lang="en" sz="1100" b="1">
                <a:solidFill>
                  <a:srgbClr val="3C78D8"/>
                </a:solidFill>
                <a:latin typeface="Calibri"/>
                <a:ea typeface="Calibri"/>
                <a:cs typeface="Calibri"/>
                <a:sym typeface="Calibri"/>
              </a:rPr>
              <a:t>This forces the model to return properly formatted JSON that adheres to your schema</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Why oneOf, allOf, or anyOf are not supported? Implementation complexity and reliability constraints. Parsing ambiguity, Validation complexity, Reliability trade-offs (Anthropic prioritizes schema compliance reliability over flexibility). Simpler schemas with a single, clear structure at the top level allow Claude to generate more predictable, valid outputs</a:t>
            </a:r>
            <a:endParaRPr sz="1100">
              <a:solidFill>
                <a:schemeClr val="dk1"/>
              </a:solidFill>
              <a:latin typeface="Calibri"/>
              <a:ea typeface="Calibri"/>
              <a:cs typeface="Calibri"/>
              <a:sym typeface="Calibri"/>
            </a:endParaRPr>
          </a:p>
        </p:txBody>
      </p:sp>
      <p:pic>
        <p:nvPicPr>
          <p:cNvPr id="183" name="Google Shape;183;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2324250" y="2828175"/>
            <a:ext cx="2236227" cy="223622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2"/>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- 3</a:t>
            </a:r>
            <a:endParaRPr sz="2000" b="1" i="0" u="none" strike="noStrike" cap="none">
              <a:solidFill>
                <a:schemeClr val="dk1"/>
              </a:solidFill>
              <a:latin typeface="Calibri"/>
              <a:ea typeface="Calibri"/>
              <a:cs typeface="Calibri"/>
              <a:sym typeface="Calibri"/>
            </a:endParaRPr>
          </a:p>
        </p:txBody>
      </p:sp>
      <p:sp>
        <p:nvSpPr>
          <p:cNvPr id="189" name="Google Shape;189;p22"/>
          <p:cNvSpPr txBox="1"/>
          <p:nvPr/>
        </p:nvSpPr>
        <p:spPr>
          <a:xfrm>
            <a:off x="118550" y="451801"/>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Nano Banana 2 (Pro) preview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https://www.youtube.com/watch?v=6zw2p2l4fHI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 upcoming ultra-lightweight AI image generation model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Delivers high-quality visuals with exceptional speed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appeared in preview form on </a:t>
            </a:r>
            <a:r>
              <a:rPr lang="en" sz="1100" u="sng">
                <a:solidFill>
                  <a:schemeClr val="hlink"/>
                </a:solidFill>
                <a:latin typeface="Calibri"/>
                <a:ea typeface="Calibri"/>
                <a:cs typeface="Calibri"/>
                <a:sym typeface="Calibri"/>
                <a:hlinkClick r:id="rId4"/>
              </a:rPr>
              <a:t>Media.io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Expected to officially launch around November 11, 2025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Native 2K output, improved text rendering, infographics, and chart generation, multilingual support, transparency support, significantly better instruction following; photorealistic images with exceptional detail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Multi-step generation workflow - it plans the output, generates an image, reviews it through built-in image analysis, identifies and corrects errors, and iterates before delivering the final result</a:t>
            </a:r>
            <a:endParaRPr sz="11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3"/>
          <p:cNvSpPr txBox="1"/>
          <p:nvPr/>
        </p:nvSpPr>
        <p:spPr>
          <a:xfrm>
            <a:off x="55075" y="20375"/>
            <a:ext cx="3080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Emad Mostaque Interview</a:t>
            </a:r>
            <a:endParaRPr sz="2000" b="1">
              <a:solidFill>
                <a:schemeClr val="dk1"/>
              </a:solidFill>
              <a:latin typeface="Calibri"/>
              <a:ea typeface="Calibri"/>
              <a:cs typeface="Calibri"/>
              <a:sym typeface="Calibri"/>
            </a:endParaRPr>
          </a:p>
        </p:txBody>
      </p:sp>
      <p:sp>
        <p:nvSpPr>
          <p:cNvPr id="195" name="Google Shape;195;p23"/>
          <p:cNvSpPr txBox="1"/>
          <p:nvPr/>
        </p:nvSpPr>
        <p:spPr>
          <a:xfrm>
            <a:off x="55075" y="346775"/>
            <a:ext cx="4633200" cy="475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https://www.youtube.com/watch?v=07fuMWzFSUw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Within ~1,000 days, cognitive labor becomes economically worthless—even negative in value, as humans become "the dumbest people on the team." AI will outperform humans in virtually all cognitive tasks while working 24/7 without mistakes.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UBI (Universal Basic Income) via taxation - not enough money; via dividends from AI companies - not enough money;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cognitive worker can be replaced by AI at ~ $1/day cost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Mostaque's Proposed Solution: Dual Currency System: Foundation Coins (like Bitcoin) + Cash credit  to humans (for being human); Creates incentive for AIs to serve humans to earn this currency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If humans are the source of this new currency, AIs' objective function becomes serving and pleasing humans rather than extracting from them.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Public infrastructure so that every person should have their own AI that knows his human and is interested in helping this human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We are Discovering the AI. The equations of generative AI (diffusion models, transformers) appear to be the equations of reality itself</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Hypothesis: Every intelligent species reaches this point where they create intelligence that can scale beyond biological limits, and most fail to navigate it.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danger: Without building aligned AI from the start with massive public compute infrastructure, the default outcome is maximally extractive AI that doesn't need humans.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cognitive labor approaches zero cost, what remains?</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Your connections, communities, relationships</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Attention - the scarcest human resource</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Meaning-making: Choosing what matters in a world of abundance</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Being human: The interactions with family, friends, and community that make life worth living</a:t>
            </a:r>
            <a:endParaRPr sz="1100">
              <a:solidFill>
                <a:schemeClr val="dk1"/>
              </a:solidFill>
              <a:latin typeface="Calibri"/>
              <a:ea typeface="Calibri"/>
              <a:cs typeface="Calibri"/>
              <a:sym typeface="Calibri"/>
            </a:endParaRPr>
          </a:p>
        </p:txBody>
      </p:sp>
      <p:pic>
        <p:nvPicPr>
          <p:cNvPr id="196" name="Google Shape;196;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21850" y="346775"/>
            <a:ext cx="4150924" cy="235267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24"/>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SymPy for Math instead of LLM</a:t>
            </a:r>
            <a:endParaRPr sz="2000" b="1" i="0" u="none" strike="noStrike" cap="none">
              <a:solidFill>
                <a:schemeClr val="dk1"/>
              </a:solidFill>
              <a:latin typeface="Calibri"/>
              <a:ea typeface="Calibri"/>
              <a:cs typeface="Calibri"/>
              <a:sym typeface="Calibri"/>
            </a:endParaRPr>
          </a:p>
        </p:txBody>
      </p:sp>
      <p:sp>
        <p:nvSpPr>
          <p:cNvPr id="202" name="Google Shape;202;p24"/>
          <p:cNvSpPr txBox="1"/>
          <p:nvPr/>
        </p:nvSpPr>
        <p:spPr>
          <a:xfrm>
            <a:off x="55075" y="482101"/>
            <a:ext cx="4444500" cy="435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SymPy - Python library for symbolic mathematics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Perform algebraic computations symbolically rather than numerically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SymPy functions is a computer algebra system (CAS) with capabilities ranging from basic symbolic arithmetic to advanced calculus, algebra, discrete mathematics, and quantum physics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library can simplify expressions, compute derivatives and integrals, solve equations, work with matrices, and format results as LaTeX code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Its core features include basic arithmetic operations, expansion, simplification, substitution, arbitrary precision arithmetic, and pattern matching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library excels at solving various types of equations, including systems of linear equations, algebraic equations solvable by radicals, differential equations, and difference equations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includes functions for trigonometric, hyperbolic, exponential, logarithmic, and special functions, along with discrete mathematics capabilities like binomial coefficients, summations, and number theory operations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SymPy also supports advanced domains such as physics modeling, geometry, integral transforms (Laplace, Fourier, Mellin), sets, and logic operations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SymPy was started in 2005, integrated into SageMath in 2012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library is open-source (BSD license) and written entirely in Python</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https://www.sympy.org</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https://en.wikipedia.org/wiki/SymPy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https://www.geeksforgeeks.org/python/python-getting-started-with-sympy-module/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6"/>
              </a:rPr>
              <a:t>https://python.plainenglish.io/the-hidden-python-library-thats-making-openai-engineers-jealous-eda41281fc26</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03" name="Google Shape;203;p24"/>
          <p:cNvPicPr preferRelativeResize="0"/>
          <p:nvPr/>
        </p:nvPicPr>
        <p:blipFill>
          <a:blip r:embed="rId7">
            <a:alphaModFix/>
          </a:blip>
          <a:stretch>
            <a:fillRect/>
          </a:stretch>
        </p:blipFill>
        <p:spPr>
          <a:xfrm>
            <a:off x="4661400" y="670350"/>
            <a:ext cx="2790825" cy="1638300"/>
          </a:xfrm>
          <a:prstGeom prst="rect">
            <a:avLst/>
          </a:prstGeom>
          <a:noFill/>
          <a:ln>
            <a:noFill/>
          </a:ln>
        </p:spPr>
      </p:pic>
      <p:pic>
        <p:nvPicPr>
          <p:cNvPr id="204" name="Google Shape;204;p24"/>
          <p:cNvPicPr preferRelativeResize="0"/>
          <p:nvPr/>
        </p:nvPicPr>
        <p:blipFill>
          <a:blip r:embed="rId8">
            <a:alphaModFix/>
          </a:blip>
          <a:stretch>
            <a:fillRect/>
          </a:stretch>
        </p:blipFill>
        <p:spPr>
          <a:xfrm>
            <a:off x="4747125" y="2545800"/>
            <a:ext cx="2619375" cy="17430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Which LLMs are available in Moscow</a:t>
            </a:r>
            <a:endParaRPr sz="2000" b="1">
              <a:solidFill>
                <a:schemeClr val="dk1"/>
              </a:solidFill>
              <a:latin typeface="Calibri"/>
              <a:ea typeface="Calibri"/>
              <a:cs typeface="Calibri"/>
              <a:sym typeface="Calibri"/>
            </a:endParaRPr>
          </a:p>
        </p:txBody>
      </p:sp>
      <p:sp>
        <p:nvSpPr>
          <p:cNvPr id="210" name="Google Shape;210;p25"/>
          <p:cNvSpPr txBox="1"/>
          <p:nvPr/>
        </p:nvSpPr>
        <p:spPr>
          <a:xfrm>
            <a:off x="168925" y="549075"/>
            <a:ext cx="22824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Available: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Perplexity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Qwen3</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DeepSeek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GLM-4.6 (Zhipu 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Hugging 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LMStudio - downloading models from Hugging 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VSCode &amp; Cline extension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OpenRouter - allows to access blocked models (Claude, OpenAI,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Kimi-K2 (via download and some services)</a:t>
            </a:r>
            <a:endParaRPr sz="1100">
              <a:solidFill>
                <a:schemeClr val="dk1"/>
              </a:solidFill>
              <a:latin typeface="Calibri"/>
              <a:ea typeface="Calibri"/>
              <a:cs typeface="Calibri"/>
              <a:sym typeface="Calibri"/>
            </a:endParaRPr>
          </a:p>
        </p:txBody>
      </p:sp>
      <p:sp>
        <p:nvSpPr>
          <p:cNvPr id="211" name="Google Shape;211;p25"/>
          <p:cNvSpPr txBox="1"/>
          <p:nvPr/>
        </p:nvSpPr>
        <p:spPr>
          <a:xfrm>
            <a:off x="168925" y="2825775"/>
            <a:ext cx="4184400" cy="171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Not available directly (but available via OpenRouter,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ChatGPT,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Claude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Gemini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Kimi.com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Grok</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Blocked: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Ollama - problems with downloading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MS Copilot, GitHub Copilot</a:t>
            </a:r>
            <a:endParaRPr sz="1100">
              <a:solidFill>
                <a:schemeClr val="dk1"/>
              </a:solidFill>
              <a:latin typeface="Calibri"/>
              <a:ea typeface="Calibri"/>
              <a:cs typeface="Calibri"/>
              <a:sym typeface="Calibri"/>
            </a:endParaRPr>
          </a:p>
        </p:txBody>
      </p:sp>
      <p:sp>
        <p:nvSpPr>
          <p:cNvPr id="212" name="Google Shape;212;p25"/>
          <p:cNvSpPr txBox="1"/>
          <p:nvPr/>
        </p:nvSpPr>
        <p:spPr>
          <a:xfrm>
            <a:off x="4650400" y="93650"/>
            <a:ext cx="44445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Sberbank GigaChat MAX</a:t>
            </a:r>
            <a:r>
              <a:rPr lang="en" sz="1100">
                <a:solidFill>
                  <a:schemeClr val="dk1"/>
                </a:solidFill>
                <a:latin typeface="Calibri"/>
                <a:ea typeface="Calibri"/>
                <a:cs typeface="Calibri"/>
                <a:sym typeface="Calibri"/>
              </a:rPr>
              <a:t> - flagship Russian LLM.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Multiple versions. A reasoning-capable version launched in 2025 that can solve complex scientific, mathematical, and programming problems​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Built on the NeONKA (NEural Omnimodal Network with Knowledge Awareness) architecture​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Integrated with Kandinsky 2.1 for image generation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Currently used by approximately 15,000 Russian enterprises​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Accessible via API, Telegram bot (@gigachat_bot), and web interface​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Three open-source versions available on Hugging Face​</a:t>
            </a:r>
            <a:endParaRPr sz="1100">
              <a:solidFill>
                <a:schemeClr val="dk1"/>
              </a:solidFill>
              <a:latin typeface="Calibri"/>
              <a:ea typeface="Calibri"/>
              <a:cs typeface="Calibri"/>
              <a:sym typeface="Calibri"/>
            </a:endParaRPr>
          </a:p>
        </p:txBody>
      </p:sp>
      <p:sp>
        <p:nvSpPr>
          <p:cNvPr id="213" name="Google Shape;213;p25"/>
          <p:cNvSpPr txBox="1"/>
          <p:nvPr/>
        </p:nvSpPr>
        <p:spPr>
          <a:xfrm>
            <a:off x="4650400" y="1886876"/>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YandexGPT 5 Pro &amp; Lite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32K token context windows​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Powers the Alice voice assistant​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Available through Yandex Cloud for business applications​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Offers both synchronous and asynchronous generation modes​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Supports RAG and integration with Yandex services​</a:t>
            </a:r>
            <a:endParaRPr sz="1100">
              <a:solidFill>
                <a:schemeClr val="dk1"/>
              </a:solidFill>
              <a:latin typeface="Calibri"/>
              <a:ea typeface="Calibri"/>
              <a:cs typeface="Calibri"/>
              <a:sym typeface="Calibri"/>
            </a:endParaRPr>
          </a:p>
        </p:txBody>
      </p:sp>
      <p:sp>
        <p:nvSpPr>
          <p:cNvPr id="214" name="Google Shape;214;p25"/>
          <p:cNvSpPr txBox="1"/>
          <p:nvPr/>
        </p:nvSpPr>
        <p:spPr>
          <a:xfrm>
            <a:off x="2620712" y="549075"/>
            <a:ext cx="18603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6AA84F"/>
              </a:buClr>
              <a:buSzPts val="1100"/>
              <a:buFont typeface="Calibri"/>
              <a:buChar char="●"/>
            </a:pPr>
            <a:r>
              <a:rPr lang="en" sz="1100" b="1">
                <a:solidFill>
                  <a:srgbClr val="6AA84F"/>
                </a:solidFill>
                <a:latin typeface="Calibri"/>
                <a:ea typeface="Calibri"/>
                <a:cs typeface="Calibri"/>
                <a:sym typeface="Calibri"/>
              </a:rPr>
              <a:t>Payment for OpenRouter and other paid services - via crypto</a:t>
            </a:r>
            <a:endParaRPr sz="11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6"/>
          <p:cNvSpPr txBox="1"/>
          <p:nvPr/>
        </p:nvSpPr>
        <p:spPr>
          <a:xfrm>
            <a:off x="55075" y="20375"/>
            <a:ext cx="448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Become AI Orchestrator</a:t>
            </a:r>
            <a:endParaRPr sz="2000" b="1">
              <a:solidFill>
                <a:schemeClr val="dk1"/>
              </a:solidFill>
              <a:latin typeface="Calibri"/>
              <a:ea typeface="Calibri"/>
              <a:cs typeface="Calibri"/>
              <a:sym typeface="Calibri"/>
            </a:endParaRPr>
          </a:p>
        </p:txBody>
      </p:sp>
      <p:sp>
        <p:nvSpPr>
          <p:cNvPr id="220" name="Google Shape;220;p26"/>
          <p:cNvSpPr txBox="1"/>
          <p:nvPr/>
        </p:nvSpPr>
        <p:spPr>
          <a:xfrm>
            <a:off x="55075" y="346775"/>
            <a:ext cx="4444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"Boring" AI Niches Making Millionaires in 2026</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https://www.youtube.com/watch?v=7xBRp-nvCNw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AI allows to make money in Small Niches which were traditionally ignored by SaaS companies and only 0.2% automated</a:t>
            </a:r>
            <a:r>
              <a:rPr lang="en" sz="1100">
                <a:solidFill>
                  <a:schemeClr val="dk1"/>
                </a:solidFill>
                <a:latin typeface="Calibri"/>
                <a:ea typeface="Calibri"/>
                <a:cs typeface="Calibri"/>
                <a:sym typeface="Calibri"/>
              </a:rPr>
              <a:t>. These are mostly labor heavy, fragmented industries with limited customer bases that were previously too small for traditional SaaS (local service businesses like eye care clinics, veterinary practices, mental health clinics, car washes, car dealerships, and janitorial services)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solutions can automate significant labor (sales, marketing, operations), allowing businesses to charge 10-15x more than traditional SaaS. For example, Barti AI charges $1,500/month for its eye care clinic suite versus $100/month for traditional CRMs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tools for personalized outreach, voice agents, and chatbots dramatically lower the cost of acquiring customers in niche markets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By reducing service costs, AI software increases demand for the underlying service (the Jevons Effect), potentially growing the total addressable market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Examples (Y Combinator-backed startups):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Barti: AI operating system for eye care clinics (raised $12M Series A)</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VetNo: Automates admin for veterinary doctors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MDHub: AI front desk for mental health clinics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Nautilus: Complete software suite for car washes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 Ace: AI voice agent for car dealerships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Cohesive: Lead generation for janitorial/landscaping businesses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Aura AI: AI receptionist for German hotels</a:t>
            </a:r>
            <a:endParaRPr sz="1100">
              <a:solidFill>
                <a:schemeClr val="dk1"/>
              </a:solidFill>
              <a:latin typeface="Calibri"/>
              <a:ea typeface="Calibri"/>
              <a:cs typeface="Calibri"/>
              <a:sym typeface="Calibri"/>
            </a:endParaRPr>
          </a:p>
        </p:txBody>
      </p:sp>
      <p:sp>
        <p:nvSpPr>
          <p:cNvPr id="221" name="Google Shape;221;p26"/>
          <p:cNvSpPr txBox="1"/>
          <p:nvPr/>
        </p:nvSpPr>
        <p:spPr>
          <a:xfrm>
            <a:off x="4638600" y="2365375"/>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Two Business Models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Function-Specific AI - target one labor department (sales, operations, marketing) with high-ROI solutions like voice agents, automated booking, or service delivery automation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Vertical AI SaaS - build a complete operating system for the niche with pre-integrated AI automations, becoming the industry standard platform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recommended approach is starting an AI agency using no-code platforms like n8n to build custom solutions while getting paid. This allows you to learn the industry, identify high-ROI automations, and build product-market fit before transitioning to a productized SaaS offering - exactly how several featured founders built million-dollar businesses in months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timing is optimal because 95% of businesses haven't implemented AI yet, creating unprecedented demand for specialized solutions in previously ignored markets</a:t>
            </a:r>
            <a:endParaRPr sz="1100">
              <a:solidFill>
                <a:schemeClr val="dk1"/>
              </a:solidFill>
              <a:latin typeface="Calibri"/>
              <a:ea typeface="Calibri"/>
              <a:cs typeface="Calibri"/>
              <a:sym typeface="Calibri"/>
            </a:endParaRPr>
          </a:p>
        </p:txBody>
      </p:sp>
      <p:pic>
        <p:nvPicPr>
          <p:cNvPr id="222" name="Google Shape;222;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36732" y="124200"/>
            <a:ext cx="3742449" cy="21827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7"/>
          <p:cNvSpPr txBox="1"/>
          <p:nvPr/>
        </p:nvSpPr>
        <p:spPr>
          <a:xfrm>
            <a:off x="55075" y="20375"/>
            <a:ext cx="448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Become AI Orchestrator</a:t>
            </a:r>
            <a:endParaRPr sz="2000" b="1">
              <a:solidFill>
                <a:schemeClr val="dk1"/>
              </a:solidFill>
              <a:latin typeface="Calibri"/>
              <a:ea typeface="Calibri"/>
              <a:cs typeface="Calibri"/>
              <a:sym typeface="Calibri"/>
            </a:endParaRPr>
          </a:p>
        </p:txBody>
      </p:sp>
      <p:sp>
        <p:nvSpPr>
          <p:cNvPr id="228" name="Google Shape;228;p27"/>
          <p:cNvSpPr txBox="1"/>
          <p:nvPr/>
        </p:nvSpPr>
        <p:spPr>
          <a:xfrm>
            <a:off x="55075" y="346775"/>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Become AI systems orchestrator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https://www.youtube.com/watch?v=azd5hrw5j6w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Amazon is preparing to cut up to 30K corporate jobs. This is approx 10% of 350,000 corporate employees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is one of the largest workforce reductions in the company's history driven by AI automation and efficiency gains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Any role primarily conducted at a computer faces automation risk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video recommends 4 immediate actions: </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become an AI orchestrator who directs AI systems rather than competing with them</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move up the value chain to strategic thinking, creativity, and complex judgment</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build AI-native skills like prompting, agent deployment, and workflow automation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consider entrepreneurship. One person with AI agents can now do the work of 10</a:t>
            </a:r>
            <a:endParaRPr sz="11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28"/>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34" name="Google Shape;234;p28"/>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35" name="Google Shape;235;p28"/>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113.6K in 2025 (as of November 7)</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36" name="Google Shape;236;p28"/>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180,595 people laid off (581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237" name="Google Shape;237;p2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490575"/>
            <a:ext cx="4951698" cy="2495252"/>
          </a:xfrm>
          <a:prstGeom prst="rect">
            <a:avLst/>
          </a:prstGeom>
          <a:noFill/>
          <a:ln w="9525" cap="flat" cmpd="sng">
            <a:solidFill>
              <a:srgbClr val="FF0000"/>
            </a:solidFill>
            <a:prstDash val="solid"/>
            <a:round/>
            <a:headEnd type="none" w="sm" len="sm"/>
            <a:tailEnd type="none" w="sm" len="sm"/>
          </a:ln>
        </p:spPr>
      </p:pic>
      <p:pic>
        <p:nvPicPr>
          <p:cNvPr id="238" name="Google Shape;238;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36683"/>
            <a:ext cx="4951702" cy="186383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pic>
        <p:nvPicPr>
          <p:cNvPr id="243" name="Google Shape;243;p2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44" name="Google Shape;244;p29"/>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45" name="Google Shape;245;p29"/>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46" name="Google Shape;246;p2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47" name="Google Shape;247;p29"/>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48" name="Google Shape;248;p29"/>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0"/>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3297</Words>
  <Application>Microsoft Macintosh PowerPoint</Application>
  <PresentationFormat>On-screen Show (16:9)</PresentationFormat>
  <Paragraphs>384</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2025-11-09T22:06:16Z</dcterms:modified>
</cp:coreProperties>
</file>