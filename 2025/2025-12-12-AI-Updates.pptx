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embeddedFontLst>
    <p:embeddedFont>
      <p:font typeface="Roboto Mono" pitchFamily="49" charset="0"/>
      <p:regular r:id="rId28"/>
      <p:bold r:id="rId29"/>
      <p:italic r:id="rId30"/>
      <p:boldItalic r:id="rId3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165E559-1564-49F7-BCF5-72F59B2DBFEC}">
  <a:tblStyle styleId="{5165E559-1564-49F7-BCF5-72F59B2DBFEC}"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25" d="100"/>
          <a:sy n="125"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2.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1.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4.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font" Target="fonts/font3.fntdata"/><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af21f26b72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7" name="Google Shape;147;g3af21f26b72_0_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39161c60271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5" name="Google Shape;155;g39161c60271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af21f26b72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3" name="Google Shape;163;g3af21f26b72_0_1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3ab6c7aaab3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4" name="Google Shape;174;g3ab6c7aaab3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
        <p:cNvGrpSpPr/>
        <p:nvPr/>
      </p:nvGrpSpPr>
      <p:grpSpPr>
        <a:xfrm>
          <a:off x="0" y="0"/>
          <a:ext cx="0" cy="0"/>
          <a:chOff x="0" y="0"/>
          <a:chExt cx="0" cy="0"/>
        </a:xfrm>
      </p:grpSpPr>
      <p:sp>
        <p:nvSpPr>
          <p:cNvPr id="179" name="Google Shape;179;g39161c60271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0" name="Google Shape;180;g39161c60271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5"/>
        <p:cNvGrpSpPr/>
        <p:nvPr/>
      </p:nvGrpSpPr>
      <p:grpSpPr>
        <a:xfrm>
          <a:off x="0" y="0"/>
          <a:ext cx="0" cy="0"/>
          <a:chOff x="0" y="0"/>
          <a:chExt cx="0" cy="0"/>
        </a:xfrm>
      </p:grpSpPr>
      <p:sp>
        <p:nvSpPr>
          <p:cNvPr id="186" name="Google Shape;186;g3af21f26b72_3_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7" name="Google Shape;187;g3af21f26b72_3_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g3a9e4b4f929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9" name="Google Shape;199;g3a9e4b4f929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3aec6d6904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7" name="Google Shape;207;g3aec6d6904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39161c60271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6" name="Google Shape;216;g39161c60271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g3ae82a462f9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3" name="Google Shape;223;g3ae82a462f9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8"/>
        <p:cNvGrpSpPr/>
        <p:nvPr/>
      </p:nvGrpSpPr>
      <p:grpSpPr>
        <a:xfrm>
          <a:off x="0" y="0"/>
          <a:ext cx="0" cy="0"/>
          <a:chOff x="0" y="0"/>
          <a:chExt cx="0" cy="0"/>
        </a:xfrm>
      </p:grpSpPr>
      <p:sp>
        <p:nvSpPr>
          <p:cNvPr id="229" name="Google Shape;229;g3aded902b8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0" name="Google Shape;230;g3aded902b87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3ae82a462f9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 name="Google Shape;237;g3ae82a462f9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3aece5796b0_1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6" name="Google Shape;246;g3aece5796b0_1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aece5796b0_1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5" name="Google Shape;255;g3aece5796b0_1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3"/>
        <p:cNvGrpSpPr/>
        <p:nvPr/>
      </p:nvGrpSpPr>
      <p:grpSpPr>
        <a:xfrm>
          <a:off x="0" y="0"/>
          <a:ext cx="0" cy="0"/>
          <a:chOff x="0" y="0"/>
          <a:chExt cx="0" cy="0"/>
        </a:xfrm>
      </p:grpSpPr>
      <p:sp>
        <p:nvSpPr>
          <p:cNvPr id="264" name="Google Shape;264;g3af21f26b7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5" name="Google Shape;265;g3af21f26b7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g3af21f26b72_3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3" name="Google Shape;273;g3af21f26b72_3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g3aef121e88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0" name="Google Shape;280;g3aef121e880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5"/>
        <p:cNvGrpSpPr/>
        <p:nvPr/>
      </p:nvGrpSpPr>
      <p:grpSpPr>
        <a:xfrm>
          <a:off x="0" y="0"/>
          <a:ext cx="0" cy="0"/>
          <a:chOff x="0" y="0"/>
          <a:chExt cx="0" cy="0"/>
        </a:xfrm>
      </p:grpSpPr>
      <p:sp>
        <p:nvSpPr>
          <p:cNvPr id="286" name="Google Shape;286;g3aef121e880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7" name="Google Shape;287;g3aef121e880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2"/>
        <p:cNvGrpSpPr/>
        <p:nvPr/>
      </p:nvGrpSpPr>
      <p:grpSpPr>
        <a:xfrm>
          <a:off x="0" y="0"/>
          <a:ext cx="0" cy="0"/>
          <a:chOff x="0" y="0"/>
          <a:chExt cx="0" cy="0"/>
        </a:xfrm>
      </p:grpSpPr>
      <p:sp>
        <p:nvSpPr>
          <p:cNvPr id="293" name="Google Shape;293;g3aef121e880_1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4" name="Google Shape;294;g3aef121e880_1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9"/>
        <p:cNvGrpSpPr/>
        <p:nvPr/>
      </p:nvGrpSpPr>
      <p:grpSpPr>
        <a:xfrm>
          <a:off x="0" y="0"/>
          <a:ext cx="0" cy="0"/>
          <a:chOff x="0" y="0"/>
          <a:chExt cx="0" cy="0"/>
        </a:xfrm>
      </p:grpSpPr>
      <p:sp>
        <p:nvSpPr>
          <p:cNvPr id="300" name="Google Shape;300;g3aef121e880_1_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1" name="Google Shape;301;g3aef121e880_1_1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6"/>
        <p:cNvGrpSpPr/>
        <p:nvPr/>
      </p:nvGrpSpPr>
      <p:grpSpPr>
        <a:xfrm>
          <a:off x="0" y="0"/>
          <a:ext cx="0" cy="0"/>
          <a:chOff x="0" y="0"/>
          <a:chExt cx="0" cy="0"/>
        </a:xfrm>
      </p:grpSpPr>
      <p:sp>
        <p:nvSpPr>
          <p:cNvPr id="307" name="Google Shape;307;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8" name="Google Shape;308;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6"/>
        <p:cNvGrpSpPr/>
        <p:nvPr/>
      </p:nvGrpSpPr>
      <p:grpSpPr>
        <a:xfrm>
          <a:off x="0" y="0"/>
          <a:ext cx="0" cy="0"/>
          <a:chOff x="0" y="0"/>
          <a:chExt cx="0" cy="0"/>
        </a:xfrm>
      </p:grpSpPr>
      <p:sp>
        <p:nvSpPr>
          <p:cNvPr id="317" name="Google Shape;317;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8" name="Google Shape;318;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28" name="Google Shape;328;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x.ai/news/grok-4-1" TargetMode="External"/><Relationship Id="rId26" Type="http://schemas.openxmlformats.org/officeDocument/2006/relationships/hyperlink" Target="https://platform.openai.com/docs/models/gpt-5" TargetMode="External"/><Relationship Id="rId39" Type="http://schemas.openxmlformats.org/officeDocument/2006/relationships/hyperlink" Target="https://huggingface.co/Qwen/Qwen3-235B-A22B-Instruct-2507" TargetMode="External"/><Relationship Id="rId21" Type="http://schemas.openxmlformats.org/officeDocument/2006/relationships/hyperlink" Target="http://aistudio.google.com/app/prompts/new_chat?model=gemini-2.5-pro" TargetMode="External"/><Relationship Id="rId34" Type="http://schemas.openxmlformats.org/officeDocument/2006/relationships/hyperlink" Target="https://www.anthropic.com/news/claude-4"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studio.google.com/app/prompts/new_chat?model=gemini-3-pro-preview" TargetMode="External"/><Relationship Id="rId25" Type="http://schemas.openxmlformats.org/officeDocument/2006/relationships/hyperlink" Target="https://x.com/OpenAI/status/1905331956856050135" TargetMode="External"/><Relationship Id="rId33" Type="http://schemas.openxmlformats.org/officeDocument/2006/relationships/hyperlink" Target="https://qwen.ai/blog?id=241398b9cd6353de490b0f82806c7848c5d2777d&amp;from=research.latest-advancements-list" TargetMode="External"/><Relationship Id="rId38" Type="http://schemas.openxmlformats.org/officeDocument/2006/relationships/hyperlink" Target="https://huggingface.co/meituan-longcat/LongCat-Flash-Chat"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openai.com/index/gpt-5-1/" TargetMode="External"/><Relationship Id="rId29" Type="http://schemas.openxmlformats.org/officeDocument/2006/relationships/hyperlink" Target="https://x.ai/news/grok-4-1-fast"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openai.com/index/introducing-gpt-4-5/" TargetMode="External"/><Relationship Id="rId32" Type="http://schemas.openxmlformats.org/officeDocument/2006/relationships/hyperlink" Target="https://platform.openai.com/docs/models/gpt-5-chat-latest" TargetMode="External"/><Relationship Id="rId37" Type="http://schemas.openxmlformats.org/officeDocument/2006/relationships/hyperlink" Target="https://www.anthropic.com/news/claude-haiku-4-5"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www.anthropic.com/news/claude-opus-4-1" TargetMode="External"/><Relationship Id="rId28" Type="http://schemas.openxmlformats.org/officeDocument/2006/relationships/hyperlink" Target="https://www.alibabacloud.com/help/en/model-studio/models" TargetMode="External"/><Relationship Id="rId36" Type="http://schemas.openxmlformats.org/officeDocument/2006/relationships/hyperlink" Target="https://mistral.ai/news/mistral-3"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opus-4-5" TargetMode="External"/><Relationship Id="rId31" Type="http://schemas.openxmlformats.org/officeDocument/2006/relationships/hyperlink" Target="https://docs.z.ai/guides/llm/glm-4.6"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www.anthropic.com/news/claude-sonnet-4-5" TargetMode="External"/><Relationship Id="rId27" Type="http://schemas.openxmlformats.org/officeDocument/2006/relationships/hyperlink" Target="https://openai.com/index/introducing-o3-and-o4-mini/" TargetMode="External"/><Relationship Id="rId30" Type="http://schemas.openxmlformats.org/officeDocument/2006/relationships/hyperlink" Target="https://huggingface.co/moonshotai/Kimi-K2-Thinking" TargetMode="External"/><Relationship Id="rId35" Type="http://schemas.openxmlformats.org/officeDocument/2006/relationships/hyperlink" Target="https://api-docs.deepseek.com/news/news250929"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hyperlink" Target="https://mistral.ai/news/devstral-2-vibe-cli"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png"/><Relationship Id="rId4" Type="http://schemas.openxmlformats.org/officeDocument/2006/relationships/hyperlink" Target="https://openrouter.ai/mistralai/devstral-2512:free" TargetMode="External"/></Relationships>
</file>

<file path=ppt/slides/_rels/slide4.xml.rels><?xml version="1.0" encoding="UTF-8" standalone="yes"?>
<Relationships xmlns="http://schemas.openxmlformats.org/package/2006/relationships"><Relationship Id="rId3" Type="http://schemas.openxmlformats.org/officeDocument/2006/relationships/hyperlink" Target="https://www.paperdigest.org/2025/11/neurips-2025-papers-highlights/" TargetMode="External"/><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watch?v=ZgwHaI2C-9s" TargetMode="External"/><Relationship Id="rId7"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hyperlink" Target="https://arxiv.org/pdf/2510.04871" TargetMode="External"/><Relationship Id="rId5" Type="http://schemas.openxmlformats.org/officeDocument/2006/relationships/hyperlink" Target="https://github.com/sapientinc/HRM" TargetMode="External"/><Relationship Id="rId4" Type="http://schemas.openxmlformats.org/officeDocument/2006/relationships/hyperlink" Target="https://arxiv.org/pdf/2506.21734" TargetMode="External"/></Relationships>
</file>

<file path=ppt/slides/_rels/slide8.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hyperlink" Target="https://medium.com/@ArkProtocol1/the-new-postgres-feature-that-just-killed-the-vector-database-hype-cycle-556146ed5961" TargetMode="External"/><Relationship Id="rId7" Type="http://schemas.openxmlformats.org/officeDocument/2006/relationships/hyperlink" Target="https://github.com/xinntao/Real-ESRGAN/blob/master/assets/teaser.jpg"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hyperlink" Target="https://www.amazon.com/dp/B0FBGNK5VN" TargetMode="External"/><Relationship Id="rId10" Type="http://schemas.openxmlformats.org/officeDocument/2006/relationships/image" Target="../media/image12.png"/><Relationship Id="rId4" Type="http://schemas.openxmlformats.org/officeDocument/2006/relationships/hyperlink" Target="https://www.tigerdata.com/learn/pgvector-vs-pinecone" TargetMode="External"/><Relationship Id="rId9"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myx3De15iJY"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3.png"/><Relationship Id="rId4" Type="http://schemas.openxmlformats.org/officeDocument/2006/relationships/hyperlink" Target="https://nvidianews.nvidia.com/news/nvidia-nvqlink-quantum-gpu-computing"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blog.google/products/gemini/gemini-3-deep-think/" TargetMode="External"/><Relationship Id="rId7"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hyperlink" Target="https://www.youtube.com/watch?v=-aVFx7EU5hE" TargetMode="External"/><Relationship Id="rId4" Type="http://schemas.openxmlformats.org/officeDocument/2006/relationships/hyperlink" Target="https://gemini.google/overview/deep-research/" TargetMode="External"/></Relationships>
</file>

<file path=ppt/slides/_rels/slide11.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hyperlink" Target="https://workspaceupdates.googleblog.com/2025/12/workspace-studio.html" TargetMode="External"/><Relationship Id="rId7" Type="http://schemas.openxmlformats.org/officeDocument/2006/relationships/hyperlink" Target="https://blog.google/feed/google-workspace-generative-ai-features/"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support.google.com/a/users/answer/14628736?hl=en" TargetMode="External"/><Relationship Id="rId5" Type="http://schemas.openxmlformats.org/officeDocument/2006/relationships/hyperlink" Target="https://www.youtube.com/watch?v=igs5bw5P47s" TargetMode="External"/><Relationship Id="rId4" Type="http://schemas.openxmlformats.org/officeDocument/2006/relationships/hyperlink" Target="https://workspace.google.com/solutions/ai/" TargetMode="External"/></Relationships>
</file>

<file path=ppt/slides/_rels/slide12.xml.rels><?xml version="1.0" encoding="UTF-8" standalone="yes"?>
<Relationships xmlns="http://schemas.openxmlformats.org/package/2006/relationships"><Relationship Id="rId8" Type="http://schemas.openxmlformats.org/officeDocument/2006/relationships/hyperlink" Target="https://www.llmwatch.com/p/beyond-attention-comparing-potential" TargetMode="External"/><Relationship Id="rId3" Type="http://schemas.openxmlformats.org/officeDocument/2006/relationships/hyperlink" Target="https://research.google/blog/titans-miras-helping-ai-have-long-term-memory/" TargetMode="External"/><Relationship Id="rId7" Type="http://schemas.openxmlformats.org/officeDocument/2006/relationships/hyperlink" Target="https://www.llmwatch.com/p/google-releases-transformer-20"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hyperlink" Target="https://www.youtube.com/watch?v=x8jFFhCLDJY" TargetMode="External"/><Relationship Id="rId5" Type="http://schemas.openxmlformats.org/officeDocument/2006/relationships/hyperlink" Target="https://www.towardsdeeplearning.com/this-new-google-model-might-finally-fix-broken-ai-brains-74e6b3c985fc" TargetMode="External"/><Relationship Id="rId10" Type="http://schemas.openxmlformats.org/officeDocument/2006/relationships/image" Target="../media/image17.png"/><Relationship Id="rId4" Type="http://schemas.openxmlformats.org/officeDocument/2006/relationships/hyperlink" Target="https://medium.com/data-science-collective/google-introduces-transformer-2-0-with-a-neuroscience-inspired-architecture-cf7f0d8836a4" TargetMode="External"/><Relationship Id="rId9" Type="http://schemas.openxmlformats.org/officeDocument/2006/relationships/hyperlink" Target="https://www.youtube.com/watch?v=UMkCmOTX5Ow"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substack.com/inbox/post/168175609"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4.xml.rels><?xml version="1.0" encoding="UTF-8" standalone="yes"?>
<Relationships xmlns="http://schemas.openxmlformats.org/package/2006/relationships"><Relationship Id="rId8" Type="http://schemas.openxmlformats.org/officeDocument/2006/relationships/hyperlink" Target="https://deepagent.abacus.ai/deepagent_faq" TargetMode="External"/><Relationship Id="rId3" Type="http://schemas.openxmlformats.org/officeDocument/2006/relationships/hyperlink" Target="https://www.youtube.com/watch?v=AbTHvit8w70" TargetMode="External"/><Relationship Id="rId7" Type="http://schemas.openxmlformats.org/officeDocument/2006/relationships/hyperlink" Target="https://abacus.ai"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hyperlink" Target="https://abacus.ai/help/chatllm-ai-super-assistant/deepagent-apps" TargetMode="External"/><Relationship Id="rId11" Type="http://schemas.openxmlformats.org/officeDocument/2006/relationships/image" Target="../media/image20.png"/><Relationship Id="rId5" Type="http://schemas.openxmlformats.org/officeDocument/2006/relationships/hyperlink" Target="https://abacus.ai/help/chatllm-ai-super-assistant/deepagent" TargetMode="External"/><Relationship Id="rId10" Type="http://schemas.openxmlformats.org/officeDocument/2006/relationships/image" Target="../media/image19.png"/><Relationship Id="rId4" Type="http://schemas.openxmlformats.org/officeDocument/2006/relationships/hyperlink" Target="https://deepagent.abacus.ai" TargetMode="External"/><Relationship Id="rId9" Type="http://schemas.openxmlformats.org/officeDocument/2006/relationships/hyperlink" Target="https://www.youtube.com/watch?v=ztUwEI0oksY" TargetMode="External"/></Relationships>
</file>

<file path=ppt/slides/_rels/slide15.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hyperlink" Target="https://www.youtube.com/watch?v=WtakSx5lhcM" TargetMode="External"/><Relationship Id="rId7" Type="http://schemas.openxmlformats.org/officeDocument/2006/relationships/image" Target="../media/image21.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hyperlink" Target="https://www.krea.ai" TargetMode="External"/><Relationship Id="rId5" Type="http://schemas.openxmlformats.org/officeDocument/2006/relationships/hyperlink" Target="https://www.krea.ai/features/nodes" TargetMode="External"/><Relationship Id="rId4" Type="http://schemas.openxmlformats.org/officeDocument/2006/relationships/hyperlink" Target="https://www.youtube.com/watch?v=nzhaHXT1DE4" TargetMode="External"/></Relationships>
</file>

<file path=ppt/slides/_rels/slide16.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hyperlink" Target="https://www.genspark.ai" TargetMode="External"/><Relationship Id="rId7" Type="http://schemas.openxmlformats.org/officeDocument/2006/relationships/hyperlink" Target="https://manus.im/blog"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hyperlink" Target="https://www.youtube.com/watch?v=9VsMnpt2ntI" TargetMode="External"/><Relationship Id="rId11" Type="http://schemas.openxmlformats.org/officeDocument/2006/relationships/image" Target="../media/image26.png"/><Relationship Id="rId5" Type="http://schemas.openxmlformats.org/officeDocument/2006/relationships/hyperlink" Target="https://technode.com/2025/04/24/tiktoks-owner-bytedance-launches-internal-beta-for-coze-space-an-ai-agent-collaboration-platform/" TargetMode="External"/><Relationship Id="rId10" Type="http://schemas.openxmlformats.org/officeDocument/2006/relationships/image" Target="../media/image25.png"/><Relationship Id="rId4" Type="http://schemas.openxmlformats.org/officeDocument/2006/relationships/hyperlink" Target="https://www.investors.com/news/technology/alibaba-stock-ai-agent-quark-deepseek-cloud/" TargetMode="External"/><Relationship Id="rId9" Type="http://schemas.openxmlformats.org/officeDocument/2006/relationships/image" Target="../media/image24.png"/></Relationships>
</file>

<file path=ppt/slides/_rels/slide17.xml.rels><?xml version="1.0" encoding="UTF-8" standalone="yes"?>
<Relationships xmlns="http://schemas.openxmlformats.org/package/2006/relationships"><Relationship Id="rId8" Type="http://schemas.openxmlformats.org/officeDocument/2006/relationships/hyperlink" Target="https://docs.z.ai/devpack/overview" TargetMode="External"/><Relationship Id="rId3" Type="http://schemas.openxmlformats.org/officeDocument/2006/relationships/hyperlink" Target="https://huggingface.co/zai-org/GLM-4.6" TargetMode="External"/><Relationship Id="rId7" Type="http://schemas.openxmlformats.org/officeDocument/2006/relationships/hyperlink" Target="https://www.youtube.com/watch?v=i3kO_GOt2Bo"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hyperlink" Target="https://www.youtube.com/watch?v=k0M320a-TXs" TargetMode="External"/><Relationship Id="rId5" Type="http://schemas.openxmlformats.org/officeDocument/2006/relationships/hyperlink" Target="https://openrouter.ai/z-ai/glm-4.6" TargetMode="External"/><Relationship Id="rId10" Type="http://schemas.openxmlformats.org/officeDocument/2006/relationships/image" Target="../media/image28.png"/><Relationship Id="rId4" Type="http://schemas.openxmlformats.org/officeDocument/2006/relationships/hyperlink" Target="https://docs.z.ai/guides/llm/glm-4.6" TargetMode="External"/><Relationship Id="rId9" Type="http://schemas.openxmlformats.org/officeDocument/2006/relationships/image" Target="../media/image27.jpeg"/></Relationships>
</file>

<file path=ppt/slides/_rels/slide18.xml.rels><?xml version="1.0" encoding="UTF-8" standalone="yes"?>
<Relationships xmlns="http://schemas.openxmlformats.org/package/2006/relationships"><Relationship Id="rId3" Type="http://schemas.openxmlformats.org/officeDocument/2006/relationships/hyperlink" Target="https://www.youtube.com/watch?v=EcDWK_ZyhFs"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3" Type="http://schemas.openxmlformats.org/officeDocument/2006/relationships/hyperlink" Target="https://openai.com/index/the-state-of-enterprise-ai-2025-report/"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30.png"/><Relationship Id="rId4" Type="http://schemas.openxmlformats.org/officeDocument/2006/relationships/hyperlink" Target="https://cdn.openai.com/pdf/7ef17d82-96bf-4dd1-9df2-228f7f377a29/the-state-of-enterprise-ai_2025-report.pdf"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yR0ionORpEI"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31.jpeg"/></Relationships>
</file>

<file path=ppt/slides/_rels/slide21.xml.rels><?xml version="1.0" encoding="UTF-8" standalone="yes"?>
<Relationships xmlns="http://schemas.openxmlformats.org/package/2006/relationships"><Relationship Id="rId3" Type="http://schemas.openxmlformats.org/officeDocument/2006/relationships/hyperlink" Target="https://www.youtube.com/watch?v=g-v8RgL4ToI"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32.png"/></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zGD5mv-XKU0"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hyperlink" Target="https://trueup.io/layoffs"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6.jpeg"/><Relationship Id="rId2" Type="http://schemas.openxmlformats.org/officeDocument/2006/relationships/notesSlide" Target="../notesSlides/notesSlide24.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37.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672045"/>
            <a:ext cx="4420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Devstral-2</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NeurIPS 2025</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GPT-5.2 on Dec 11 ??</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Agentic AI Foundation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Boom Supersonic 42 MW Generator</a:t>
            </a:r>
            <a:endParaRPr sz="16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Dec </a:t>
            </a:r>
            <a:r>
              <a:rPr lang="en" sz="2200" b="1">
                <a:solidFill>
                  <a:srgbClr val="3C78D8"/>
                </a:solidFill>
                <a:latin typeface="Calibri"/>
                <a:ea typeface="Calibri"/>
                <a:cs typeface="Calibri"/>
                <a:sym typeface="Calibri"/>
              </a:rPr>
              <a:t>12, </a:t>
            </a:r>
            <a:r>
              <a:rPr lang="en" sz="2200" b="1" i="0" u="none" strike="noStrike" cap="none">
                <a:solidFill>
                  <a:srgbClr val="3C78D8"/>
                </a:solidFill>
                <a:latin typeface="Calibri"/>
                <a:ea typeface="Calibri"/>
                <a:cs typeface="Calibri"/>
                <a:sym typeface="Calibri"/>
              </a:rPr>
              <a:t>2025</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99886" y="4593292"/>
            <a:ext cx="4502400" cy="51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xxx</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262213"/>
            <a:ext cx="4420200" cy="2727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HRM - Hierarchical Models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Postgres vs Pinecone for AI Projects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Smart Glasses with Chat GPT on Amazon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Real-ESRGAN - Open Source Image Restoration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NVIDIA NVQLink open architecture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Gemini Flash, Pro, Deep Think</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"Skyhawk" and "Seahawk" models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in Google Workspace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Titans Transformer-2</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Product Management &amp; AI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Build a $5K/Mon Business in 15 Min</a:t>
            </a:r>
            <a:endParaRPr sz="1600" b="1">
              <a:solidFill>
                <a:srgbClr val="3C78D8"/>
              </a:solidFill>
              <a:latin typeface="Calibri"/>
              <a:ea typeface="Calibri"/>
              <a:cs typeface="Calibri"/>
              <a:sym typeface="Calibri"/>
            </a:endParaRPr>
          </a:p>
        </p:txBody>
      </p:sp>
      <p:sp>
        <p:nvSpPr>
          <p:cNvPr id="67" name="Google Shape;67;p15"/>
          <p:cNvSpPr txBox="1"/>
          <p:nvPr/>
        </p:nvSpPr>
        <p:spPr>
          <a:xfrm>
            <a:off x="4599886" y="676436"/>
            <a:ext cx="4502400" cy="27276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Neo Browser with Local AI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Amazon Nova AI automation on AWS Bedrock</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Krea AI Node App Builder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Chinese AI Agents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GLM-4.6</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Gemini 3 vs Perplexity AI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OpenAI's 2025 State of Enterprise AI report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Agentive - AI for Auditors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US AI Regulations - Federal &amp; State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and robotics - Moonshots Dec 9</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endParaRPr sz="1600" b="1">
              <a:solidFill>
                <a:srgbClr val="3C78D8"/>
              </a:solidFill>
              <a:latin typeface="Calibri"/>
              <a:ea typeface="Calibri"/>
              <a:cs typeface="Calibri"/>
              <a:sym typeface="Calibri"/>
            </a:endParaRPr>
          </a:p>
        </p:txBody>
      </p:sp>
      <p:sp>
        <p:nvSpPr>
          <p:cNvPr id="68" name="Google Shape;68;p15"/>
          <p:cNvSpPr txBox="1"/>
          <p:nvPr/>
        </p:nvSpPr>
        <p:spPr>
          <a:xfrm>
            <a:off x="4599875" y="123152"/>
            <a:ext cx="1576800" cy="2340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xxx</a:t>
            </a:r>
            <a:endParaRPr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351315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600318" y="438204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p:nvPr/>
        </p:nvSpPr>
        <p:spPr>
          <a:xfrm>
            <a:off x="598073" y="77343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 name="Google Shape;79;p16"/>
          <p:cNvSpPr txBox="1"/>
          <p:nvPr/>
        </p:nvSpPr>
        <p:spPr>
          <a:xfrm>
            <a:off x="6549674" y="2171102"/>
            <a:ext cx="235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80" name="Google Shape;80;p16"/>
          <p:cNvSpPr/>
          <p:nvPr/>
        </p:nvSpPr>
        <p:spPr>
          <a:xfrm>
            <a:off x="3751244" y="77108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a:off x="594761" y="1677135"/>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595461" y="130894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p:nvPr/>
        </p:nvSpPr>
        <p:spPr>
          <a:xfrm>
            <a:off x="3748244" y="95375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 name="Google Shape;84;p16"/>
          <p:cNvSpPr txBox="1"/>
          <p:nvPr/>
        </p:nvSpPr>
        <p:spPr>
          <a:xfrm>
            <a:off x="3448497" y="3110294"/>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5" name="Google Shape;85;p16"/>
          <p:cNvSpPr/>
          <p:nvPr/>
        </p:nvSpPr>
        <p:spPr>
          <a:xfrm>
            <a:off x="3748954" y="312158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16"/>
          <p:cNvSpPr txBox="1"/>
          <p:nvPr/>
        </p:nvSpPr>
        <p:spPr>
          <a:xfrm>
            <a:off x="3587049" y="2936617"/>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7" name="Google Shape;87;p16"/>
          <p:cNvSpPr txBox="1"/>
          <p:nvPr/>
        </p:nvSpPr>
        <p:spPr>
          <a:xfrm>
            <a:off x="437205" y="456475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8" name="Google Shape;88;p16"/>
          <p:cNvSpPr txBox="1"/>
          <p:nvPr/>
        </p:nvSpPr>
        <p:spPr>
          <a:xfrm>
            <a:off x="446720" y="3660874"/>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9" name="Google Shape;89;p16"/>
          <p:cNvSpPr/>
          <p:nvPr/>
        </p:nvSpPr>
        <p:spPr>
          <a:xfrm>
            <a:off x="3751768" y="329875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16"/>
          <p:cNvSpPr txBox="1"/>
          <p:nvPr/>
        </p:nvSpPr>
        <p:spPr>
          <a:xfrm>
            <a:off x="3458789" y="3654394"/>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1" name="Google Shape;91;p16"/>
          <p:cNvSpPr/>
          <p:nvPr/>
        </p:nvSpPr>
        <p:spPr>
          <a:xfrm>
            <a:off x="3749658" y="366278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2" name="Google Shape;92;p16"/>
          <p:cNvSpPr txBox="1"/>
          <p:nvPr/>
        </p:nvSpPr>
        <p:spPr>
          <a:xfrm>
            <a:off x="4566100"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December 4</a:t>
            </a:r>
            <a:endParaRPr sz="1000">
              <a:solidFill>
                <a:schemeClr val="dk1"/>
              </a:solidFill>
              <a:latin typeface="Calibri"/>
              <a:ea typeface="Calibri"/>
              <a:cs typeface="Calibri"/>
              <a:sym typeface="Calibri"/>
            </a:endParaRPr>
          </a:p>
        </p:txBody>
      </p:sp>
      <p:sp>
        <p:nvSpPr>
          <p:cNvPr id="93" name="Google Shape;93;p16"/>
          <p:cNvSpPr/>
          <p:nvPr/>
        </p:nvSpPr>
        <p:spPr>
          <a:xfrm>
            <a:off x="3751782" y="2400122"/>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16"/>
          <p:cNvSpPr/>
          <p:nvPr/>
        </p:nvSpPr>
        <p:spPr>
          <a:xfrm>
            <a:off x="3750579" y="130040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txBox="1"/>
          <p:nvPr/>
        </p:nvSpPr>
        <p:spPr>
          <a:xfrm>
            <a:off x="3458789" y="49217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6" name="Google Shape;96;p16"/>
          <p:cNvSpPr/>
          <p:nvPr/>
        </p:nvSpPr>
        <p:spPr>
          <a:xfrm>
            <a:off x="3749658" y="493013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 name="Google Shape;97;p16"/>
          <p:cNvSpPr/>
          <p:nvPr/>
        </p:nvSpPr>
        <p:spPr>
          <a:xfrm>
            <a:off x="3748357" y="113885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txBox="1"/>
          <p:nvPr/>
        </p:nvSpPr>
        <p:spPr>
          <a:xfrm flipH="1">
            <a:off x="3679393" y="167482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9" name="Google Shape;99;p16"/>
          <p:cNvSpPr txBox="1"/>
          <p:nvPr/>
        </p:nvSpPr>
        <p:spPr>
          <a:xfrm flipH="1">
            <a:off x="3691285" y="2576372"/>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00" name="Google Shape;100;p16"/>
          <p:cNvSpPr/>
          <p:nvPr/>
        </p:nvSpPr>
        <p:spPr>
          <a:xfrm>
            <a:off x="3750579" y="149753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p:nvPr/>
        </p:nvSpPr>
        <p:spPr>
          <a:xfrm>
            <a:off x="3750579" y="184958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2" name="Google Shape;102;p16"/>
          <p:cNvSpPr/>
          <p:nvPr/>
        </p:nvSpPr>
        <p:spPr>
          <a:xfrm>
            <a:off x="3750579" y="221846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p:nvPr/>
        </p:nvSpPr>
        <p:spPr>
          <a:xfrm>
            <a:off x="598073" y="186006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6"/>
          <p:cNvSpPr txBox="1"/>
          <p:nvPr/>
        </p:nvSpPr>
        <p:spPr>
          <a:xfrm flipH="1">
            <a:off x="532333" y="94304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05" name="Google Shape;105;p16"/>
          <p:cNvSpPr/>
          <p:nvPr/>
        </p:nvSpPr>
        <p:spPr>
          <a:xfrm>
            <a:off x="596204" y="203715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16"/>
          <p:cNvSpPr/>
          <p:nvPr/>
        </p:nvSpPr>
        <p:spPr>
          <a:xfrm>
            <a:off x="596204" y="221292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p:nvPr/>
        </p:nvSpPr>
        <p:spPr>
          <a:xfrm>
            <a:off x="594433" y="2577276"/>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8" name="Google Shape;108;p16"/>
          <p:cNvSpPr/>
          <p:nvPr/>
        </p:nvSpPr>
        <p:spPr>
          <a:xfrm>
            <a:off x="594433" y="312100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9" name="Google Shape;109;p16"/>
          <p:cNvSpPr txBox="1"/>
          <p:nvPr/>
        </p:nvSpPr>
        <p:spPr>
          <a:xfrm flipH="1">
            <a:off x="532333" y="3836776"/>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10" name="Google Shape;110;p16"/>
          <p:cNvSpPr txBox="1"/>
          <p:nvPr/>
        </p:nvSpPr>
        <p:spPr>
          <a:xfrm>
            <a:off x="304271" y="492244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1" name="Google Shape;111;p16"/>
          <p:cNvSpPr/>
          <p:nvPr/>
        </p:nvSpPr>
        <p:spPr>
          <a:xfrm>
            <a:off x="603537" y="492969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16"/>
          <p:cNvSpPr/>
          <p:nvPr/>
        </p:nvSpPr>
        <p:spPr>
          <a:xfrm>
            <a:off x="594433" y="329327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p:nvPr/>
        </p:nvSpPr>
        <p:spPr>
          <a:xfrm>
            <a:off x="594433" y="292959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16"/>
          <p:cNvSpPr/>
          <p:nvPr/>
        </p:nvSpPr>
        <p:spPr>
          <a:xfrm>
            <a:off x="3754343" y="438928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txBox="1"/>
          <p:nvPr/>
        </p:nvSpPr>
        <p:spPr>
          <a:xfrm flipH="1">
            <a:off x="532333" y="1491880"/>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16" name="Google Shape;116;p16"/>
          <p:cNvSpPr/>
          <p:nvPr/>
        </p:nvSpPr>
        <p:spPr>
          <a:xfrm>
            <a:off x="595461" y="113088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p:nvPr/>
        </p:nvSpPr>
        <p:spPr>
          <a:xfrm>
            <a:off x="596204" y="239599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8" name="Google Shape;118;p16"/>
          <p:cNvSpPr/>
          <p:nvPr/>
        </p:nvSpPr>
        <p:spPr>
          <a:xfrm>
            <a:off x="596204" y="27667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 name="Google Shape;119;p16"/>
          <p:cNvSpPr/>
          <p:nvPr/>
        </p:nvSpPr>
        <p:spPr>
          <a:xfrm>
            <a:off x="594433" y="34737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16"/>
          <p:cNvSpPr txBox="1"/>
          <p:nvPr/>
        </p:nvSpPr>
        <p:spPr>
          <a:xfrm>
            <a:off x="304271" y="401807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1" name="Google Shape;121;p16"/>
          <p:cNvSpPr/>
          <p:nvPr/>
        </p:nvSpPr>
        <p:spPr>
          <a:xfrm>
            <a:off x="603537" y="402532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2" name="Google Shape;122;p16"/>
          <p:cNvSpPr/>
          <p:nvPr/>
        </p:nvSpPr>
        <p:spPr>
          <a:xfrm>
            <a:off x="596204" y="475559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p:nvPr/>
        </p:nvSpPr>
        <p:spPr>
          <a:xfrm>
            <a:off x="3750579" y="201221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 name="Google Shape;124;p16"/>
          <p:cNvSpPr/>
          <p:nvPr/>
        </p:nvSpPr>
        <p:spPr>
          <a:xfrm>
            <a:off x="3751782" y="3847922"/>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txBox="1"/>
          <p:nvPr/>
        </p:nvSpPr>
        <p:spPr>
          <a:xfrm>
            <a:off x="3587049" y="3477440"/>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6" name="Google Shape;126;p16"/>
          <p:cNvSpPr txBox="1"/>
          <p:nvPr/>
        </p:nvSpPr>
        <p:spPr>
          <a:xfrm>
            <a:off x="3458789" y="401774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7" name="Google Shape;127;p16"/>
          <p:cNvSpPr/>
          <p:nvPr/>
        </p:nvSpPr>
        <p:spPr>
          <a:xfrm>
            <a:off x="3749658" y="402613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16"/>
          <p:cNvSpPr txBox="1"/>
          <p:nvPr/>
        </p:nvSpPr>
        <p:spPr>
          <a:xfrm>
            <a:off x="3458789" y="420082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9" name="Google Shape;129;p16"/>
          <p:cNvSpPr/>
          <p:nvPr/>
        </p:nvSpPr>
        <p:spPr>
          <a:xfrm>
            <a:off x="3749658" y="420921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 name="Google Shape;130;p16"/>
          <p:cNvSpPr/>
          <p:nvPr/>
        </p:nvSpPr>
        <p:spPr>
          <a:xfrm>
            <a:off x="3751768" y="474655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p:nvPr/>
        </p:nvSpPr>
        <p:spPr>
          <a:xfrm>
            <a:off x="3748357" y="4575673"/>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2" name="Google Shape;132;p16"/>
          <p:cNvSpPr/>
          <p:nvPr/>
        </p:nvSpPr>
        <p:spPr>
          <a:xfrm>
            <a:off x="6718499" y="84321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 name="Google Shape;133;p16"/>
          <p:cNvSpPr/>
          <p:nvPr/>
        </p:nvSpPr>
        <p:spPr>
          <a:xfrm>
            <a:off x="6718499" y="104827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16"/>
          <p:cNvSpPr/>
          <p:nvPr/>
        </p:nvSpPr>
        <p:spPr>
          <a:xfrm>
            <a:off x="6718499" y="125332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 name="Google Shape;135;p16"/>
          <p:cNvSpPr/>
          <p:nvPr/>
        </p:nvSpPr>
        <p:spPr>
          <a:xfrm>
            <a:off x="6718499" y="145838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6" name="Google Shape;136;p16"/>
          <p:cNvSpPr txBox="1"/>
          <p:nvPr/>
        </p:nvSpPr>
        <p:spPr>
          <a:xfrm>
            <a:off x="6898625" y="801499"/>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Google Gemini</a:t>
            </a:r>
            <a:endParaRPr sz="1100" b="1" i="0" u="none" strike="noStrike" cap="none">
              <a:solidFill>
                <a:srgbClr val="000000"/>
              </a:solidFill>
              <a:latin typeface="Calibri"/>
              <a:ea typeface="Calibri"/>
              <a:cs typeface="Calibri"/>
              <a:sym typeface="Calibri"/>
            </a:endParaRPr>
          </a:p>
        </p:txBody>
      </p:sp>
      <p:sp>
        <p:nvSpPr>
          <p:cNvPr id="137" name="Google Shape;137;p16"/>
          <p:cNvSpPr txBox="1"/>
          <p:nvPr/>
        </p:nvSpPr>
        <p:spPr>
          <a:xfrm>
            <a:off x="6895175" y="1006556"/>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Claude</a:t>
            </a:r>
            <a:endParaRPr sz="1100" b="1" i="0" u="none" strike="noStrike" cap="none">
              <a:solidFill>
                <a:srgbClr val="000000"/>
              </a:solidFill>
              <a:latin typeface="Calibri"/>
              <a:ea typeface="Calibri"/>
              <a:cs typeface="Calibri"/>
              <a:sym typeface="Calibri"/>
            </a:endParaRPr>
          </a:p>
        </p:txBody>
      </p:sp>
      <p:sp>
        <p:nvSpPr>
          <p:cNvPr id="138" name="Google Shape;138;p16"/>
          <p:cNvSpPr txBox="1"/>
          <p:nvPr/>
        </p:nvSpPr>
        <p:spPr>
          <a:xfrm>
            <a:off x="6901750" y="1211613"/>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OpenAI</a:t>
            </a:r>
            <a:endParaRPr sz="1100" b="1" i="0" u="none" strike="noStrike" cap="none">
              <a:solidFill>
                <a:srgbClr val="000000"/>
              </a:solidFill>
              <a:latin typeface="Calibri"/>
              <a:ea typeface="Calibri"/>
              <a:cs typeface="Calibri"/>
              <a:sym typeface="Calibri"/>
            </a:endParaRPr>
          </a:p>
        </p:txBody>
      </p:sp>
      <p:sp>
        <p:nvSpPr>
          <p:cNvPr id="139" name="Google Shape;139;p16"/>
          <p:cNvSpPr txBox="1"/>
          <p:nvPr/>
        </p:nvSpPr>
        <p:spPr>
          <a:xfrm>
            <a:off x="6903075" y="1416671"/>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 Source</a:t>
            </a:r>
            <a:endParaRPr sz="1100" b="1" i="0" u="none" strike="noStrike" cap="none">
              <a:solidFill>
                <a:srgbClr val="000000"/>
              </a:solidFill>
              <a:latin typeface="Calibri"/>
              <a:ea typeface="Calibri"/>
              <a:cs typeface="Calibri"/>
              <a:sym typeface="Calibri"/>
            </a:endParaRPr>
          </a:p>
        </p:txBody>
      </p:sp>
      <p:sp>
        <p:nvSpPr>
          <p:cNvPr id="140" name="Google Shape;140;p16"/>
          <p:cNvSpPr txBox="1"/>
          <p:nvPr/>
        </p:nvSpPr>
        <p:spPr>
          <a:xfrm>
            <a:off x="304271" y="419333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1" name="Google Shape;141;p16"/>
          <p:cNvSpPr/>
          <p:nvPr/>
        </p:nvSpPr>
        <p:spPr>
          <a:xfrm>
            <a:off x="603537" y="420058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2" name="Google Shape;142;p16"/>
          <p:cNvSpPr txBox="1"/>
          <p:nvPr/>
        </p:nvSpPr>
        <p:spPr>
          <a:xfrm flipH="1">
            <a:off x="3520633" y="2751635"/>
            <a:ext cx="3498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a:solidFill>
                  <a:srgbClr val="1F2937"/>
                </a:solidFill>
                <a:latin typeface="Calibri"/>
                <a:ea typeface="Calibri"/>
                <a:cs typeface="Calibri"/>
                <a:sym typeface="Calibri"/>
              </a:rPr>
              <a:t>Mistral</a:t>
            </a:r>
            <a:endParaRPr sz="800" b="0" i="0" u="none" strike="noStrike" cap="none">
              <a:solidFill>
                <a:srgbClr val="1F2937"/>
              </a:solidFill>
              <a:latin typeface="Calibri"/>
              <a:ea typeface="Calibri"/>
              <a:cs typeface="Calibri"/>
              <a:sym typeface="Calibri"/>
            </a:endParaRPr>
          </a:p>
        </p:txBody>
      </p:sp>
      <p:graphicFrame>
        <p:nvGraphicFramePr>
          <p:cNvPr id="143" name="Google Shape;143;p16"/>
          <p:cNvGraphicFramePr/>
          <p:nvPr/>
        </p:nvGraphicFramePr>
        <p:xfrm>
          <a:off x="739637" y="562803"/>
          <a:ext cx="3000000" cy="3000000"/>
        </p:xfrm>
        <a:graphic>
          <a:graphicData uri="http://schemas.openxmlformats.org/drawingml/2006/table">
            <a:tbl>
              <a:tblPr>
                <a:noFill/>
                <a:tableStyleId>{5165E559-1564-49F7-BCF5-72F59B2DBFEC}</a:tableStyleId>
              </a:tblPr>
              <a:tblGrid>
                <a:gridCol w="1800225">
                  <a:extLst>
                    <a:ext uri="{9D8B030D-6E8A-4147-A177-3AD203B41FA5}">
                      <a16:colId xmlns:a16="http://schemas.microsoft.com/office/drawing/2014/main" val="20000"/>
                    </a:ext>
                  </a:extLst>
                </a:gridCol>
                <a:gridCol w="295275">
                  <a:extLst>
                    <a:ext uri="{9D8B030D-6E8A-4147-A177-3AD203B41FA5}">
                      <a16:colId xmlns:a16="http://schemas.microsoft.com/office/drawing/2014/main" val="20001"/>
                    </a:ext>
                  </a:extLst>
                </a:gridCol>
              </a:tblGrid>
              <a:tr h="1104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577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577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577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grok-4-1-fast-reasoning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104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deepseek-v3.2-exp</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44" name="Google Shape;144;p16"/>
          <p:cNvGraphicFramePr/>
          <p:nvPr/>
        </p:nvGraphicFramePr>
        <p:xfrm>
          <a:off x="3889762" y="558667"/>
          <a:ext cx="3000000" cy="3000000"/>
        </p:xfrm>
        <a:graphic>
          <a:graphicData uri="http://schemas.openxmlformats.org/drawingml/2006/table">
            <a:tbl>
              <a:tblPr>
                <a:noFill/>
                <a:tableStyleId>{5165E559-1564-49F7-BCF5-72F59B2DBFEC}</a:tableStyleId>
              </a:tblPr>
              <a:tblGrid>
                <a:gridCol w="1800225">
                  <a:extLst>
                    <a:ext uri="{9D8B030D-6E8A-4147-A177-3AD203B41FA5}">
                      <a16:colId xmlns:a16="http://schemas.microsoft.com/office/drawing/2014/main" val="20000"/>
                    </a:ext>
                  </a:extLst>
                </a:gridCol>
                <a:gridCol w="295275">
                  <a:extLst>
                    <a:ext uri="{9D8B030D-6E8A-4147-A177-3AD203B41FA5}">
                      <a16:colId xmlns:a16="http://schemas.microsoft.com/office/drawing/2014/main" val="20001"/>
                    </a:ext>
                  </a:extLst>
                </a:gridCol>
              </a:tblGrid>
              <a:tr h="158900">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1532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mistral-large-3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solidFill>
                            <a:srgbClr val="636879"/>
                          </a:solidFill>
                          <a:latin typeface="Calibri"/>
                          <a:ea typeface="Calibri"/>
                          <a:cs typeface="Calibri"/>
                          <a:sym typeface="Calibri"/>
                        </a:rPr>
                        <a:t>1484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claude-sonnet-4-20250514-thinking-32k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5890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deepseek-v3.2-exp</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17"/>
          <p:cNvSpPr txBox="1"/>
          <p:nvPr/>
        </p:nvSpPr>
        <p:spPr>
          <a:xfrm>
            <a:off x="55075" y="20375"/>
            <a:ext cx="166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Devstral-2</a:t>
            </a:r>
            <a:endParaRPr sz="2000" b="1" i="0" u="none" strike="noStrike" cap="none">
              <a:solidFill>
                <a:schemeClr val="dk1"/>
              </a:solidFill>
              <a:latin typeface="Calibri"/>
              <a:ea typeface="Calibri"/>
              <a:cs typeface="Calibri"/>
              <a:sym typeface="Calibri"/>
            </a:endParaRPr>
          </a:p>
        </p:txBody>
      </p:sp>
      <p:sp>
        <p:nvSpPr>
          <p:cNvPr id="150" name="Google Shape;150;p17"/>
          <p:cNvSpPr txBox="1"/>
          <p:nvPr/>
        </p:nvSpPr>
        <p:spPr>
          <a:xfrm>
            <a:off x="55075" y="346775"/>
            <a:ext cx="5312100" cy="618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Mistral AI released Devstral 2 and Devstral Small 2 Dense Models</a:t>
            </a:r>
            <a:endParaRPr sz="12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Devstral 2       : 123B params, 256K tokens, 72.2% on SWE-bench Verified</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Devstral Small 2 :  24B params, 256K tokens, 68.0% on SWE-bench Verified</a:t>
            </a:r>
            <a:endParaRPr sz="900" b="1">
              <a:solidFill>
                <a:srgbClr val="3C78D8"/>
              </a:solidFill>
              <a:latin typeface="Roboto Mono"/>
              <a:ea typeface="Roboto Mono"/>
              <a:cs typeface="Roboto Mono"/>
              <a:sym typeface="Roboto Mono"/>
            </a:endParaRPr>
          </a:p>
          <a:p>
            <a:pPr marL="171450" marR="0" lvl="0" indent="-114300" algn="l" rtl="0">
              <a:lnSpc>
                <a:spcPct val="100000"/>
              </a:lnSpc>
              <a:spcBef>
                <a:spcPts val="0"/>
              </a:spcBef>
              <a:spcAft>
                <a:spcPts val="0"/>
              </a:spcAft>
              <a:buClr>
                <a:srgbClr val="3C78D8"/>
              </a:buClr>
              <a:buSzPts val="900"/>
              <a:buFont typeface="Roboto Mono"/>
              <a:buChar char="●"/>
            </a:pPr>
            <a:r>
              <a:rPr lang="en" sz="900" b="1">
                <a:solidFill>
                  <a:srgbClr val="3C78D8"/>
                </a:solidFill>
                <a:latin typeface="Roboto Mono"/>
                <a:ea typeface="Roboto Mono"/>
                <a:cs typeface="Roboto Mono"/>
                <a:sym typeface="Roboto Mono"/>
              </a:rPr>
              <a:t>Devstral 1       :  24B params, 128K tokens, 53.6% on SWE-bench Verified</a:t>
            </a:r>
            <a:endParaRPr sz="1200">
              <a:latin typeface="Calibri"/>
              <a:ea typeface="Calibri"/>
              <a:cs typeface="Calibri"/>
              <a:sym typeface="Calibri"/>
            </a:endParaRPr>
          </a:p>
        </p:txBody>
      </p:sp>
      <p:sp>
        <p:nvSpPr>
          <p:cNvPr id="151" name="Google Shape;151;p17"/>
          <p:cNvSpPr txBox="1"/>
          <p:nvPr/>
        </p:nvSpPr>
        <p:spPr>
          <a:xfrm>
            <a:off x="55075" y="1363350"/>
            <a:ext cx="42858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3C78D8"/>
              </a:buClr>
              <a:buSzPts val="900"/>
              <a:buFont typeface="Roboto Mono"/>
              <a:buChar char="●"/>
            </a:pPr>
            <a:r>
              <a:rPr lang="en" sz="1200" b="1">
                <a:solidFill>
                  <a:srgbClr val="FF0000"/>
                </a:solidFill>
                <a:latin typeface="Calibri"/>
                <a:ea typeface="Calibri"/>
                <a:cs typeface="Calibri"/>
                <a:sym typeface="Calibri"/>
              </a:rPr>
              <a:t>Devstral 2 is 7x more cost-efficient than Claude Sonnet 4.5</a:t>
            </a:r>
            <a:r>
              <a:rPr lang="en" sz="1200">
                <a:latin typeface="Calibri"/>
                <a:ea typeface="Calibri"/>
                <a:cs typeface="Calibri"/>
                <a:sym typeface="Calibri"/>
              </a:rPr>
              <a:t> at real-world tasks, despite being 8x smaller than competitors like DeepSeek V3 and Kimi K2</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new version excels at multi-file edits, complex refactoring operations, and seamless integration into agentic workflows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emphasizes context awareness, allowing it to understand broader business context rather than just generating isolated code snippets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Both versions support on-premises deployment and custom fine-tuning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Devstral Small 2 can run entirely offline on a single GPU or laptop</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 human evaluations, Devstral 2 outperformed DeepSeek V3.2 with a 42.8% win rate versus 28.6% loss rate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However, Claude Sonnet 4.5 still maintains an edge, winning 53.1% of comparisons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https://mistral.ai/news/devstral-2-vibe-cli</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https://openrouter.ai/mistralai/devstral-2512:free</a:t>
            </a:r>
            <a:r>
              <a:rPr lang="en" sz="1200">
                <a:latin typeface="Calibri"/>
                <a:ea typeface="Calibri"/>
                <a:cs typeface="Calibri"/>
                <a:sym typeface="Calibri"/>
              </a:rPr>
              <a:t> </a:t>
            </a:r>
            <a:endParaRPr sz="1200">
              <a:latin typeface="Calibri"/>
              <a:ea typeface="Calibri"/>
              <a:cs typeface="Calibri"/>
              <a:sym typeface="Calibri"/>
            </a:endParaRPr>
          </a:p>
        </p:txBody>
      </p:sp>
      <p:pic>
        <p:nvPicPr>
          <p:cNvPr id="152" name="Google Shape;152;p1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558025" y="1363344"/>
            <a:ext cx="4529226" cy="286659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18"/>
          <p:cNvSpPr txBox="1"/>
          <p:nvPr/>
        </p:nvSpPr>
        <p:spPr>
          <a:xfrm>
            <a:off x="55075" y="20375"/>
            <a:ext cx="166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NeurIPS 2025</a:t>
            </a:r>
            <a:endParaRPr sz="2000" b="1" i="0" u="none" strike="noStrike" cap="none">
              <a:solidFill>
                <a:schemeClr val="dk1"/>
              </a:solidFill>
              <a:latin typeface="Calibri"/>
              <a:ea typeface="Calibri"/>
              <a:cs typeface="Calibri"/>
              <a:sym typeface="Calibri"/>
            </a:endParaRPr>
          </a:p>
        </p:txBody>
      </p:sp>
      <p:sp>
        <p:nvSpPr>
          <p:cNvPr id="158" name="Google Shape;158;p18"/>
          <p:cNvSpPr txBox="1"/>
          <p:nvPr/>
        </p:nvSpPr>
        <p:spPr>
          <a:xfrm>
            <a:off x="55075" y="466747"/>
            <a:ext cx="4444500" cy="3743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NeurIPS 2025, held December 2-7 in San Diego</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is 39th conference (first held in 1987)</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29,000 registrants (a 50% increase from the previous year)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5,300-6,000 papers, making it one of the largest ML conferences to date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Chinese dominance with Alibaba winning the best paper award and Mandarin being the most-heard language in hallways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American frontier AI labs have "gone dark" and stopped publishing research, while Chinese labs continue to publish openly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conference centered on three dominant areas: </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LLMs, Multimodality, RL; Also diffusion models for computer vision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766 papers on Reasoning research</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Best paper awards - diffusion model theory, self-supervised reinforcement learning, and attention mechanisms for LLMs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One notable award went to "Why Diffusion Models Don't Memorize: The Role of Implicit Dynamical Regularization in Training,"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Another best paper resolved a 30-year-old open problem concerning the power of unlabeled data in online learning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Research contributions from industry labs like NTT demonstrated practical applications including efficient LLMs running on single GPUs, decentralized AI systems, optical fiber sensing with transformers, and AI security through watermarking techniques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https://www.paperdigest.org/2025/11/neurips-2025-papers-highlights/</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159" name="Google Shape;159;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801713" y="3863519"/>
            <a:ext cx="2038488" cy="1019250"/>
          </a:xfrm>
          <a:prstGeom prst="rect">
            <a:avLst/>
          </a:prstGeom>
          <a:noFill/>
          <a:ln w="9525" cap="flat" cmpd="sng">
            <a:solidFill>
              <a:srgbClr val="FF0000"/>
            </a:solidFill>
            <a:prstDash val="solid"/>
            <a:round/>
            <a:headEnd type="none" w="sm" len="sm"/>
            <a:tailEnd type="none" w="sm" len="sm"/>
          </a:ln>
        </p:spPr>
      </p:pic>
      <p:pic>
        <p:nvPicPr>
          <p:cNvPr id="160" name="Google Shape;160;p1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74350" y="104129"/>
            <a:ext cx="4293224" cy="34198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19"/>
          <p:cNvSpPr txBox="1"/>
          <p:nvPr/>
        </p:nvSpPr>
        <p:spPr>
          <a:xfrm>
            <a:off x="55075" y="20375"/>
            <a:ext cx="166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- 1</a:t>
            </a:r>
            <a:endParaRPr sz="2000" b="1" i="0" u="none" strike="noStrike" cap="none">
              <a:solidFill>
                <a:schemeClr val="dk1"/>
              </a:solidFill>
              <a:latin typeface="Calibri"/>
              <a:ea typeface="Calibri"/>
              <a:cs typeface="Calibri"/>
              <a:sym typeface="Calibri"/>
            </a:endParaRPr>
          </a:p>
        </p:txBody>
      </p:sp>
      <p:sp>
        <p:nvSpPr>
          <p:cNvPr id="166" name="Google Shape;166;p19"/>
          <p:cNvSpPr txBox="1"/>
          <p:nvPr/>
        </p:nvSpPr>
        <p:spPr>
          <a:xfrm>
            <a:off x="144525" y="459575"/>
            <a:ext cx="44175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000000"/>
              </a:buClr>
              <a:buSzPts val="1200"/>
              <a:buFont typeface="Calibri"/>
              <a:buChar char="●"/>
            </a:pPr>
            <a:r>
              <a:rPr lang="en" sz="1200" b="1">
                <a:solidFill>
                  <a:srgbClr val="FF0000"/>
                </a:solidFill>
                <a:latin typeface="Calibri"/>
                <a:ea typeface="Calibri"/>
                <a:cs typeface="Calibri"/>
                <a:sym typeface="Calibri"/>
              </a:rPr>
              <a:t>GPT-5.2 release </a:t>
            </a:r>
            <a:r>
              <a:rPr lang="en" sz="1200">
                <a:latin typeface="Calibri"/>
                <a:ea typeface="Calibri"/>
                <a:cs typeface="Calibri"/>
                <a:sym typeface="Calibri"/>
              </a:rPr>
              <a:t> expected on December 11</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Also OpenAI develops a new model code-named "Garlic" - to be released in early 2026.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Garlic outperforming both Google's Gemini 3 and Anthropic's Claude Opus 4.5 in coding and reasoning tasks (according to Openai tests)</a:t>
            </a:r>
            <a:endParaRPr sz="1200">
              <a:latin typeface="Calibri"/>
              <a:ea typeface="Calibri"/>
              <a:cs typeface="Calibri"/>
              <a:sym typeface="Calibri"/>
            </a:endParaRPr>
          </a:p>
        </p:txBody>
      </p:sp>
      <p:sp>
        <p:nvSpPr>
          <p:cNvPr id="167" name="Google Shape;167;p19"/>
          <p:cNvSpPr txBox="1"/>
          <p:nvPr/>
        </p:nvSpPr>
        <p:spPr>
          <a:xfrm>
            <a:off x="144525" y="2702304"/>
            <a:ext cx="21588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000000"/>
              </a:buClr>
              <a:buSzPts val="1200"/>
              <a:buFont typeface="Calibri"/>
              <a:buChar char="●"/>
            </a:pPr>
            <a:r>
              <a:rPr lang="en" sz="1200" b="1">
                <a:solidFill>
                  <a:srgbClr val="FF0000"/>
                </a:solidFill>
                <a:latin typeface="Calibri"/>
                <a:ea typeface="Calibri"/>
                <a:cs typeface="Calibri"/>
                <a:sym typeface="Calibri"/>
              </a:rPr>
              <a:t>Agentic AI Foundation</a:t>
            </a:r>
            <a:r>
              <a:rPr lang="en" sz="1200">
                <a:latin typeface="Calibri"/>
                <a:ea typeface="Calibri"/>
                <a:cs typeface="Calibri"/>
                <a:sym typeface="Calibri"/>
              </a:rPr>
              <a:t> -  Anthropic and OpenAI donating MCP protocol and agents.md format respectively</a:t>
            </a:r>
            <a:endParaRPr sz="1200">
              <a:latin typeface="Calibri"/>
              <a:ea typeface="Calibri"/>
              <a:cs typeface="Calibri"/>
              <a:sym typeface="Calibri"/>
            </a:endParaRPr>
          </a:p>
        </p:txBody>
      </p:sp>
      <p:sp>
        <p:nvSpPr>
          <p:cNvPr id="168" name="Google Shape;168;p19"/>
          <p:cNvSpPr txBox="1"/>
          <p:nvPr/>
        </p:nvSpPr>
        <p:spPr>
          <a:xfrm>
            <a:off x="6293750" y="4192699"/>
            <a:ext cx="27180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Boom Supersonic 42 MW Generator</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latin typeface="Calibri"/>
                <a:ea typeface="Calibri"/>
                <a:cs typeface="Calibri"/>
                <a:sym typeface="Calibri"/>
              </a:rPr>
              <a:t>Natural Gas Turbine "Superpower" for AI data centers</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latin typeface="Calibri"/>
                <a:ea typeface="Calibri"/>
                <a:cs typeface="Calibri"/>
                <a:sym typeface="Calibri"/>
              </a:rPr>
              <a:t>Secured 1.25 Bln in orders</a:t>
            </a:r>
            <a:endParaRPr sz="1200">
              <a:latin typeface="Calibri"/>
              <a:ea typeface="Calibri"/>
              <a:cs typeface="Calibri"/>
              <a:sym typeface="Calibri"/>
            </a:endParaRPr>
          </a:p>
        </p:txBody>
      </p:sp>
      <p:pic>
        <p:nvPicPr>
          <p:cNvPr id="169" name="Google Shape;169;p19"/>
          <p:cNvPicPr preferRelativeResize="0"/>
          <p:nvPr/>
        </p:nvPicPr>
        <p:blipFill>
          <a:blip r:embed="rId3">
            <a:alphaModFix/>
          </a:blip>
          <a:stretch>
            <a:fillRect/>
          </a:stretch>
        </p:blipFill>
        <p:spPr>
          <a:xfrm>
            <a:off x="6224000" y="2516942"/>
            <a:ext cx="2857500" cy="1600200"/>
          </a:xfrm>
          <a:prstGeom prst="rect">
            <a:avLst/>
          </a:prstGeom>
          <a:noFill/>
          <a:ln w="9525" cap="flat" cmpd="sng">
            <a:solidFill>
              <a:srgbClr val="FF0000"/>
            </a:solidFill>
            <a:prstDash val="solid"/>
            <a:round/>
            <a:headEnd type="none" w="sm" len="sm"/>
            <a:tailEnd type="none" w="sm" len="sm"/>
          </a:ln>
        </p:spPr>
      </p:pic>
      <p:pic>
        <p:nvPicPr>
          <p:cNvPr id="170" name="Google Shape;170;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2455850" y="2473267"/>
            <a:ext cx="2857500" cy="1495425"/>
          </a:xfrm>
          <a:prstGeom prst="rect">
            <a:avLst/>
          </a:prstGeom>
          <a:noFill/>
          <a:ln w="9525" cap="flat" cmpd="sng">
            <a:solidFill>
              <a:srgbClr val="FF0000"/>
            </a:solidFill>
            <a:prstDash val="solid"/>
            <a:round/>
            <a:headEnd type="none" w="sm" len="sm"/>
            <a:tailEnd type="none" w="sm" len="sm"/>
          </a:ln>
        </p:spPr>
      </p:pic>
      <p:pic>
        <p:nvPicPr>
          <p:cNvPr id="171" name="Google Shape;171;p19"/>
          <p:cNvPicPr preferRelativeResize="0"/>
          <p:nvPr/>
        </p:nvPicPr>
        <p:blipFill>
          <a:blip r:embed="rId5">
            <a:alphaModFix/>
          </a:blip>
          <a:stretch>
            <a:fillRect/>
          </a:stretch>
        </p:blipFill>
        <p:spPr>
          <a:xfrm>
            <a:off x="4672250" y="219060"/>
            <a:ext cx="2857599"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20"/>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5.84K subscribers, 257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77" name="Google Shape;177;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27443" y="79125"/>
            <a:ext cx="3828725" cy="49852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1"/>
        <p:cNvGrpSpPr/>
        <p:nvPr/>
      </p:nvGrpSpPr>
      <p:grpSpPr>
        <a:xfrm>
          <a:off x="0" y="0"/>
          <a:ext cx="0" cy="0"/>
          <a:chOff x="0" y="0"/>
          <a:chExt cx="0" cy="0"/>
        </a:xfrm>
      </p:grpSpPr>
      <p:sp>
        <p:nvSpPr>
          <p:cNvPr id="182" name="Google Shape;182;p21"/>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HRM - Hierarchical Reasoning Models</a:t>
            </a:r>
            <a:endParaRPr sz="2000" b="1" i="0" u="none" strike="noStrike" cap="none">
              <a:solidFill>
                <a:schemeClr val="dk1"/>
              </a:solidFill>
              <a:latin typeface="Calibri"/>
              <a:ea typeface="Calibri"/>
              <a:cs typeface="Calibri"/>
              <a:sym typeface="Calibri"/>
            </a:endParaRPr>
          </a:p>
        </p:txBody>
      </p:sp>
      <p:sp>
        <p:nvSpPr>
          <p:cNvPr id="183" name="Google Shape;183;p21"/>
          <p:cNvSpPr txBox="1"/>
          <p:nvPr/>
        </p:nvSpPr>
        <p:spPr>
          <a:xfrm>
            <a:off x="55075" y="466747"/>
            <a:ext cx="44445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HRM - Hierarchical Reasoning Models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Developed by Sapient Intelligence that uses two inter-dependent recurrent modules to solve complex reasoning tasks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high-level module handles slow, abstract planning while the low-level module executes rapid, detailed computations, mimicking hierarchical and multi-timescale processing in the human brain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With only 27 million parameters, HRM achieves exceptional performance on challenging problems like complex Sudoku puzzles and maze pathfinding using just 1000 training samples, without pre-training or chain-of-thought supervision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model executes sequential reasoning in a single forward pass and gains enhanced effective depth through hierarchical convergence, allowing it to perform tasks that are intractable for even advanced large language models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architecture consists of four components: an input network, low-level recurrent module, high-level recurrent module, and output network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https://www.youtube.com/watch?v=ZgwHaI2C-9s</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https://arxiv.org/pdf/2506.21734</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https://github.com/sapientinc/HRM</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https://arxiv.org/pdf/2510.04871</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184" name="Google Shape;184;p21"/>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4725250" y="841950"/>
            <a:ext cx="4029324" cy="24928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8"/>
        <p:cNvGrpSpPr/>
        <p:nvPr/>
      </p:nvGrpSpPr>
      <p:grpSpPr>
        <a:xfrm>
          <a:off x="0" y="0"/>
          <a:ext cx="0" cy="0"/>
          <a:chOff x="0" y="0"/>
          <a:chExt cx="0" cy="0"/>
        </a:xfrm>
      </p:grpSpPr>
      <p:sp>
        <p:nvSpPr>
          <p:cNvPr id="189" name="Google Shape;189;p22"/>
          <p:cNvSpPr txBox="1"/>
          <p:nvPr/>
        </p:nvSpPr>
        <p:spPr>
          <a:xfrm>
            <a:off x="55075" y="20375"/>
            <a:ext cx="16632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2</a:t>
            </a:r>
            <a:endParaRPr sz="2000" b="1" i="0" u="none" strike="noStrike" cap="none">
              <a:solidFill>
                <a:schemeClr val="dk1"/>
              </a:solidFill>
              <a:latin typeface="Calibri"/>
              <a:ea typeface="Calibri"/>
              <a:cs typeface="Calibri"/>
              <a:sym typeface="Calibri"/>
            </a:endParaRPr>
          </a:p>
        </p:txBody>
      </p:sp>
      <p:sp>
        <p:nvSpPr>
          <p:cNvPr id="190" name="Google Shape;190;p22"/>
          <p:cNvSpPr txBox="1"/>
          <p:nvPr/>
        </p:nvSpPr>
        <p:spPr>
          <a:xfrm>
            <a:off x="55075" y="436164"/>
            <a:ext cx="40824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Postgres vs Pinecone for AI Projects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https://medium.com/@ArkProtocol1/the-new-postgres-feature-that-just-killed-the-vector-database-hype-cycle-556146ed5961</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PostgreSQL with pgvector extensions offers significant advantages over Pinecone for most AI projects, primarily due to lower costs and comparable or better performance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Recent benchmarks show that PostgreSQL with pgvectorscale achieves 28x lower p95 latency and 16x higher query throughput at 99% recall while costing only 25% of Pinecone's monthly price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Using PostgreSQL is much simpler. You can maintain structured data, vector data, and metadata together in one table - and query in one query. This simplifies maintenance and speeds-up queries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PostgreSQL is open-source and is universally everywhere. There are solutions for all operational tasks - backups, replication, etc. Teams can use familiar tools rather than learning new platforms with potentially incomplete SDKs or documentation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https://www.tigerdata.com/learn/pgvector-vs-pinecone</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191" name="Google Shape;191;p22"/>
          <p:cNvSpPr txBox="1"/>
          <p:nvPr/>
        </p:nvSpPr>
        <p:spPr>
          <a:xfrm>
            <a:off x="5758150" y="1816138"/>
            <a:ext cx="3310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Ai Smart Glasses with Chat GPT on Amazon</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Bluetooth Translation Glasses with 160+ Languages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$36</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"I connected the glasses via Bluetooth to my phone and opened the Google Translate app. I spoke in English and I chose Spanish to translate to. I said “Hello, how are you?” And in Spanish, the words came up on my phone’s screen. You have the option to play the phrase in Spanish. It says it out loud through the glasses’ speaker and you repeat the words out loud. It’s like being a parrot."</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https://www.amazon.com/dp/B0FBGNK5VN</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192" name="Google Shape;192;p2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7325250" y="77525"/>
            <a:ext cx="1743399" cy="1623150"/>
          </a:xfrm>
          <a:prstGeom prst="rect">
            <a:avLst/>
          </a:prstGeom>
          <a:noFill/>
          <a:ln w="9525" cap="flat" cmpd="sng">
            <a:solidFill>
              <a:srgbClr val="FF0000"/>
            </a:solidFill>
            <a:prstDash val="solid"/>
            <a:round/>
            <a:headEnd type="none" w="sm" len="sm"/>
            <a:tailEnd type="none" w="sm" len="sm"/>
          </a:ln>
        </p:spPr>
      </p:pic>
      <p:sp>
        <p:nvSpPr>
          <p:cNvPr id="193" name="Google Shape;193;p22"/>
          <p:cNvSpPr txBox="1"/>
          <p:nvPr/>
        </p:nvSpPr>
        <p:spPr>
          <a:xfrm>
            <a:off x="55075" y="3866350"/>
            <a:ext cx="4976700" cy="1203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Real-ESRGAN - Open Source Image Restoration</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used for upscaling and restoring degraded images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extends the ESRGAN model to handle real-world image problems like blur, noise, and compression artifacts using neural networks trained on synthetic data</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project supports various applications including photo restoration, video enhancement, and specialized face enhancement through GFPGAN integration.​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7"/>
              </a:rPr>
              <a:t>https://github.com/xinntao/Real-ESRGAN/blob/master/assets/teaser.jpg</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194" name="Google Shape;194;p22"/>
          <p:cNvPicPr preferRelativeResize="0"/>
          <p:nvPr/>
        </p:nvPicPr>
        <p:blipFill rotWithShape="1">
          <a:blip r:embed="rId8" cstate="email">
            <a:alphaModFix/>
            <a:extLst>
              <a:ext uri="{28A0092B-C50C-407E-A947-70E740481C1C}">
                <a14:useLocalDpi xmlns:a14="http://schemas.microsoft.com/office/drawing/2010/main"/>
              </a:ext>
            </a:extLst>
          </a:blip>
          <a:srcRect/>
          <a:stretch/>
        </p:blipFill>
        <p:spPr>
          <a:xfrm>
            <a:off x="5152100" y="3981825"/>
            <a:ext cx="2822951" cy="972650"/>
          </a:xfrm>
          <a:prstGeom prst="rect">
            <a:avLst/>
          </a:prstGeom>
          <a:noFill/>
          <a:ln w="9525" cap="flat" cmpd="sng">
            <a:solidFill>
              <a:srgbClr val="FF0000"/>
            </a:solidFill>
            <a:prstDash val="solid"/>
            <a:round/>
            <a:headEnd type="none" w="sm" len="sm"/>
            <a:tailEnd type="none" w="sm" len="sm"/>
          </a:ln>
        </p:spPr>
      </p:pic>
      <p:pic>
        <p:nvPicPr>
          <p:cNvPr id="195" name="Google Shape;195;p22"/>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4239438" y="665366"/>
            <a:ext cx="1203601" cy="1203601"/>
          </a:xfrm>
          <a:prstGeom prst="rect">
            <a:avLst/>
          </a:prstGeom>
          <a:noFill/>
          <a:ln w="9525" cap="flat" cmpd="sng">
            <a:solidFill>
              <a:srgbClr val="FF0000"/>
            </a:solidFill>
            <a:prstDash val="solid"/>
            <a:round/>
            <a:headEnd type="none" w="sm" len="sm"/>
            <a:tailEnd type="none" w="sm" len="sm"/>
          </a:ln>
        </p:spPr>
      </p:pic>
      <p:pic>
        <p:nvPicPr>
          <p:cNvPr id="196" name="Google Shape;196;p22"/>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239444" y="78141"/>
            <a:ext cx="2497975" cy="507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0"/>
        <p:cNvGrpSpPr/>
        <p:nvPr/>
      </p:nvGrpSpPr>
      <p:grpSpPr>
        <a:xfrm>
          <a:off x="0" y="0"/>
          <a:ext cx="0" cy="0"/>
          <a:chOff x="0" y="0"/>
          <a:chExt cx="0" cy="0"/>
        </a:xfrm>
      </p:grpSpPr>
      <p:sp>
        <p:nvSpPr>
          <p:cNvPr id="201" name="Google Shape;201;p23"/>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NVIDIA NVQLink open architecture</a:t>
            </a:r>
            <a:endParaRPr sz="2000" b="1">
              <a:solidFill>
                <a:schemeClr val="dk1"/>
              </a:solidFill>
              <a:latin typeface="Calibri"/>
              <a:ea typeface="Calibri"/>
              <a:cs typeface="Calibri"/>
              <a:sym typeface="Calibri"/>
            </a:endParaRPr>
          </a:p>
        </p:txBody>
      </p:sp>
      <p:sp>
        <p:nvSpPr>
          <p:cNvPr id="202" name="Google Shape;202;p23"/>
          <p:cNvSpPr txBox="1"/>
          <p:nvPr/>
        </p:nvSpPr>
        <p:spPr>
          <a:xfrm>
            <a:off x="55075" y="466747"/>
            <a:ext cx="4444500" cy="3851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NVIDIA announced NVQLink open architecture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NVQLink is connecting quantum processors directly to GPU supercomputers for hybrid quantum-classical computing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system enables microsecond-latency communication between quantum processing units and NVIDIA GPUs, allowing real-time error correction and control of fragile quantum systems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Announced at GTC in October 2025. More than a dozen additional supercomputing centers and national research institutions from Asia and Europe are now adopting NVQLink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NVQLink addresses quantum computing's major challenge: qubits are extremely fragile and error-prone, requiring constant monitoring and correction by AI-powered classical computers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platform supports up to 400 Gbps throughput with sub-4-microsecond latency, enabling practical quantum error correction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Seventeen quantum hardware companies and nine major U.S. national laboratories are participating, positioning NVQLink as infrastructure for future quantum-GPU hybrid supercomputers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CEO Jensen Huang called it the "Rosetta Stone" of computing, predicting all future supercomputers will combine quantum processors with GPUs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Applications include drug discovery, climate modeling, materials science, and training more powerful AI models</a:t>
            </a:r>
            <a:endParaRPr sz="11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https://www.youtube.com/watch?v=myx3De15iJY</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https://nvidianews.nvidia.com/news/nvidia-nvqlink-quantum-gpu-computing</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03" name="Google Shape;203;p2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85521" y="466750"/>
            <a:ext cx="4339627" cy="2474488"/>
          </a:xfrm>
          <a:prstGeom prst="rect">
            <a:avLst/>
          </a:prstGeom>
          <a:noFill/>
          <a:ln w="9525" cap="flat" cmpd="sng">
            <a:solidFill>
              <a:srgbClr val="FF0000"/>
            </a:solidFill>
            <a:prstDash val="solid"/>
            <a:round/>
            <a:headEnd type="none" w="sm" len="sm"/>
            <a:tailEnd type="none" w="sm" len="sm"/>
          </a:ln>
        </p:spPr>
      </p:pic>
      <p:sp>
        <p:nvSpPr>
          <p:cNvPr id="204" name="Google Shape;204;p23"/>
          <p:cNvSpPr txBox="1"/>
          <p:nvPr/>
        </p:nvSpPr>
        <p:spPr>
          <a:xfrm>
            <a:off x="4685525" y="3083250"/>
            <a:ext cx="43395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1100">
                <a:solidFill>
                  <a:schemeClr val="dk1"/>
                </a:solidFill>
                <a:latin typeface="Calibri"/>
                <a:ea typeface="Calibri"/>
                <a:cs typeface="Calibri"/>
                <a:sym typeface="Calibri"/>
              </a:rPr>
              <a:t>In practice, quantum computers are expected to be practical for "big compute on small data" - problems where the algorithmic depth and interference structure are complex but the final measurement output is small</a:t>
            </a:r>
            <a:endParaRPr sz="11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solidFill>
                  <a:schemeClr val="dk1"/>
                </a:solidFill>
                <a:latin typeface="Calibri"/>
                <a:ea typeface="Calibri"/>
                <a:cs typeface="Calibri"/>
                <a:sym typeface="Calibri"/>
              </a:rPr>
              <a:t>GPUs remain better for "big data" problems that parallelize classically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Cryptography (RSA/ECC factoring), quantum chemistry simulation, and certain machine‑learning kernels are prime candidates for exponential quantum advantage</a:t>
            </a:r>
            <a:endParaRPr sz="11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24"/>
          <p:cNvSpPr txBox="1"/>
          <p:nvPr/>
        </p:nvSpPr>
        <p:spPr>
          <a:xfrm>
            <a:off x="55075" y="20375"/>
            <a:ext cx="3467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Gemini Flash, Pro, Deep Think</a:t>
            </a:r>
            <a:endParaRPr sz="2000" b="1" i="0" u="none" strike="noStrike" cap="none">
              <a:solidFill>
                <a:schemeClr val="dk1"/>
              </a:solidFill>
              <a:latin typeface="Calibri"/>
              <a:ea typeface="Calibri"/>
              <a:cs typeface="Calibri"/>
              <a:sym typeface="Calibri"/>
            </a:endParaRPr>
          </a:p>
        </p:txBody>
      </p:sp>
      <p:sp>
        <p:nvSpPr>
          <p:cNvPr id="210" name="Google Shape;210;p24"/>
          <p:cNvSpPr txBox="1"/>
          <p:nvPr/>
        </p:nvSpPr>
        <p:spPr>
          <a:xfrm>
            <a:off x="55075" y="466750"/>
            <a:ext cx="4444500" cy="1881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Gemini for $20/mo includes:</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Fast = Gemini 2.5 Flash (April 2025)</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Thinking with 3 Pro (November 18th, 2025)</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Deep Research Tool - multi-step web research (December 2024)</a:t>
            </a:r>
            <a:br>
              <a:rPr lang="en" sz="1100">
                <a:solidFill>
                  <a:schemeClr val="dk1"/>
                </a:solidFill>
                <a:latin typeface="Calibri"/>
                <a:ea typeface="Calibri"/>
                <a:cs typeface="Calibri"/>
                <a:sym typeface="Calibri"/>
              </a:rPr>
            </a:b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t>
            </a:r>
            <a:r>
              <a:rPr lang="en" sz="1100" b="1">
                <a:solidFill>
                  <a:srgbClr val="FF0000"/>
                </a:solidFill>
                <a:latin typeface="Calibri"/>
                <a:ea typeface="Calibri"/>
                <a:cs typeface="Calibri"/>
                <a:sym typeface="Calibri"/>
              </a:rPr>
              <a:t>Deep Think</a:t>
            </a:r>
            <a:r>
              <a:rPr lang="en" sz="1100">
                <a:solidFill>
                  <a:schemeClr val="dk1"/>
                </a:solidFill>
                <a:latin typeface="Calibri"/>
                <a:ea typeface="Calibri"/>
                <a:cs typeface="Calibri"/>
                <a:sym typeface="Calibri"/>
              </a:rPr>
              <a:t>" (released December 6-8, 2025) - only for </a:t>
            </a:r>
            <a:r>
              <a:rPr lang="en" sz="1100" b="1">
                <a:solidFill>
                  <a:srgbClr val="FF0000"/>
                </a:solidFill>
                <a:latin typeface="Calibri"/>
                <a:ea typeface="Calibri"/>
                <a:cs typeface="Calibri"/>
                <a:sym typeface="Calibri"/>
              </a:rPr>
              <a:t>Gemini Ultra</a:t>
            </a:r>
            <a:r>
              <a:rPr lang="en" sz="1100">
                <a:solidFill>
                  <a:schemeClr val="dk1"/>
                </a:solidFill>
                <a:latin typeface="Calibri"/>
                <a:ea typeface="Calibri"/>
                <a:cs typeface="Calibri"/>
                <a:sym typeface="Calibri"/>
              </a:rPr>
              <a:t> users ($250/mo). "Deep Think" uses "parallel reasoning" - exploring multiple solution paths simultaneously before answering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Beats all other models ! But slow, expensive, not available via API yet</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https://blog.google/products/gemini/gemini-3-deep-think/</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https://gemini.google/overview/deep-research/</a:t>
            </a:r>
            <a:endParaRPr sz="1100">
              <a:solidFill>
                <a:schemeClr val="dk1"/>
              </a:solidFill>
              <a:latin typeface="Calibri"/>
              <a:ea typeface="Calibri"/>
              <a:cs typeface="Calibri"/>
              <a:sym typeface="Calibri"/>
            </a:endParaRPr>
          </a:p>
        </p:txBody>
      </p:sp>
      <p:sp>
        <p:nvSpPr>
          <p:cNvPr id="211" name="Google Shape;211;p24"/>
          <p:cNvSpPr txBox="1"/>
          <p:nvPr/>
        </p:nvSpPr>
        <p:spPr>
          <a:xfrm>
            <a:off x="55075" y="2847897"/>
            <a:ext cx="4444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"Skyhawk" and "Seahawk" models</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being tested on LM Arena</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These may be Gemini 3.0 Flash or Gemini 3.5 models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Extremely fast generation speeds, high-quality code output, and cost efficiency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Excel at creating complex web applications like browser-based operating systems, 3D weather simulations, and mechanical watch mechanisms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 CEO Sundar Pichai previously stated that Gemini 3.0 Flash would be their best model yet - combining Gemini 3-level intelligence with flash architecture for speed and low cost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Release is expected before New Year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https://www.youtube.com/watch?v=-aVFx7EU5hE</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212" name="Google Shape;212;p24"/>
          <p:cNvPicPr preferRelativeResize="0"/>
          <p:nvPr/>
        </p:nvPicPr>
        <p:blipFill>
          <a:blip r:embed="rId6">
            <a:alphaModFix/>
          </a:blip>
          <a:stretch>
            <a:fillRect/>
          </a:stretch>
        </p:blipFill>
        <p:spPr>
          <a:xfrm>
            <a:off x="4663175" y="3193775"/>
            <a:ext cx="2857500" cy="1600200"/>
          </a:xfrm>
          <a:prstGeom prst="rect">
            <a:avLst/>
          </a:prstGeom>
          <a:noFill/>
          <a:ln w="9525" cap="flat" cmpd="sng">
            <a:solidFill>
              <a:srgbClr val="FF0000"/>
            </a:solidFill>
            <a:prstDash val="solid"/>
            <a:round/>
            <a:headEnd type="none" w="sm" len="sm"/>
            <a:tailEnd type="none" w="sm" len="sm"/>
          </a:ln>
        </p:spPr>
      </p:pic>
      <p:pic>
        <p:nvPicPr>
          <p:cNvPr id="213" name="Google Shape;213;p24"/>
          <p:cNvPicPr preferRelativeResize="0"/>
          <p:nvPr/>
        </p:nvPicPr>
        <p:blipFill>
          <a:blip r:embed="rId7">
            <a:alphaModFix/>
          </a:blip>
          <a:stretch>
            <a:fillRect/>
          </a:stretch>
        </p:blipFill>
        <p:spPr>
          <a:xfrm>
            <a:off x="4663175" y="532575"/>
            <a:ext cx="2762250" cy="16573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25"/>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in Google Workspace</a:t>
            </a:r>
            <a:endParaRPr sz="2000" b="1" i="0" u="none" strike="noStrike" cap="none">
              <a:solidFill>
                <a:schemeClr val="dk1"/>
              </a:solidFill>
              <a:latin typeface="Calibri"/>
              <a:ea typeface="Calibri"/>
              <a:cs typeface="Calibri"/>
              <a:sym typeface="Calibri"/>
            </a:endParaRPr>
          </a:p>
        </p:txBody>
      </p:sp>
      <p:sp>
        <p:nvSpPr>
          <p:cNvPr id="219" name="Google Shape;219;p25"/>
          <p:cNvSpPr txBox="1"/>
          <p:nvPr/>
        </p:nvSpPr>
        <p:spPr>
          <a:xfrm>
            <a:off x="55075" y="466750"/>
            <a:ext cx="4444500" cy="3758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AI in Google Workspace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Gemini AI is available in Gmail, Docs, Sheets, Slides, Drive, Meet,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 Gmail, use Help me write to draft, refine, or summarize emails by entering prompts; In Docs, create documents from scratch or get writing assistance by asking Gemini to generate outlines, drafts, and content suggestions; In Sheets, Gemini can analyze data, create tables, generate formulas, and provide key takeaways from datasets; In Slides, generate images and create presentations with AI assistance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All apps have the Gemini sidebar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Business and Enterprise plans also include Gemini Advanced and NotebookLM Plus for advanced analysis and insights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Google Workspace Studio (previously called Google Workspace Flows)</a:t>
            </a:r>
            <a:r>
              <a:rPr lang="en" sz="1100">
                <a:solidFill>
                  <a:schemeClr val="dk1"/>
                </a:solidFill>
                <a:latin typeface="Calibri"/>
                <a:ea typeface="Calibri"/>
                <a:cs typeface="Calibri"/>
                <a:sym typeface="Calibri"/>
              </a:rPr>
              <a:t> is a new feature in Google Workspace that allows users to create, manage, and share </a:t>
            </a:r>
            <a:r>
              <a:rPr lang="en" sz="1100" b="1">
                <a:solidFill>
                  <a:srgbClr val="FF0000"/>
                </a:solidFill>
                <a:latin typeface="Calibri"/>
                <a:ea typeface="Calibri"/>
                <a:cs typeface="Calibri"/>
                <a:sym typeface="Calibri"/>
              </a:rPr>
              <a:t>AI agents </a:t>
            </a:r>
            <a:r>
              <a:rPr lang="en" sz="1100">
                <a:solidFill>
                  <a:schemeClr val="dk1"/>
                </a:solidFill>
                <a:latin typeface="Calibri"/>
                <a:ea typeface="Calibri"/>
                <a:cs typeface="Calibri"/>
                <a:sym typeface="Calibri"/>
              </a:rPr>
              <a:t>powered by Gemini to </a:t>
            </a:r>
            <a:r>
              <a:rPr lang="en" sz="1100" b="1">
                <a:solidFill>
                  <a:srgbClr val="FF0000"/>
                </a:solidFill>
                <a:latin typeface="Calibri"/>
                <a:ea typeface="Calibri"/>
                <a:cs typeface="Calibri"/>
                <a:sym typeface="Calibri"/>
              </a:rPr>
              <a:t>automate workflows across Workspace apps</a:t>
            </a: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Available with Business and Enterprise Workspace plans.</a:t>
            </a:r>
            <a:r>
              <a:rPr lang="en" sz="1100">
                <a:solidFill>
                  <a:schemeClr val="dk1"/>
                </a:solidFill>
                <a:latin typeface="Calibri"/>
                <a:ea typeface="Calibri"/>
                <a:cs typeface="Calibri"/>
                <a:sym typeface="Calibri"/>
              </a:rPr>
              <a:t> It enables </a:t>
            </a:r>
            <a:r>
              <a:rPr lang="en" sz="1100" b="1">
                <a:solidFill>
                  <a:srgbClr val="FF0000"/>
                </a:solidFill>
                <a:latin typeface="Calibri"/>
                <a:ea typeface="Calibri"/>
                <a:cs typeface="Calibri"/>
                <a:sym typeface="Calibri"/>
              </a:rPr>
              <a:t>no-code automation</a:t>
            </a:r>
            <a:r>
              <a:rPr lang="en" sz="1100">
                <a:solidFill>
                  <a:schemeClr val="dk1"/>
                </a:solidFill>
                <a:latin typeface="Calibri"/>
                <a:ea typeface="Calibri"/>
                <a:cs typeface="Calibri"/>
                <a:sym typeface="Calibri"/>
              </a:rPr>
              <a:t> of tasks using natural language prompts, connecting apps like Gmail, Chat, Drive, and external services such as Asana and Salesforce</a:t>
            </a:r>
            <a:endParaRPr sz="11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https://workspaceupdates.googleblog.com/2025/12/workspace-studio.html</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https://workspace.google.com/solutions/ai/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5"/>
              </a:rPr>
              <a:t>https://www.youtube.com/watch?v=igs5bw5P47s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6"/>
              </a:rPr>
              <a:t>https://support.google.com/a/users/answer/14628736?hl=en</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7"/>
              </a:rPr>
              <a:t>https://blog.google/feed/google-workspace-generative-ai-features/</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20" name="Google Shape;220;p25"/>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51975" y="152400"/>
            <a:ext cx="4339625" cy="43396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26"/>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lvl="0" indent="0" algn="l" rtl="0">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Titans Transformer-2</a:t>
            </a:r>
            <a:endParaRPr sz="2000" b="1">
              <a:solidFill>
                <a:schemeClr val="dk1"/>
              </a:solidFill>
              <a:latin typeface="Calibri"/>
              <a:ea typeface="Calibri"/>
              <a:cs typeface="Calibri"/>
              <a:sym typeface="Calibri"/>
            </a:endParaRPr>
          </a:p>
        </p:txBody>
      </p:sp>
      <p:sp>
        <p:nvSpPr>
          <p:cNvPr id="226" name="Google Shape;226;p26"/>
          <p:cNvSpPr txBox="1"/>
          <p:nvPr/>
        </p:nvSpPr>
        <p:spPr>
          <a:xfrm>
            <a:off x="55075" y="516725"/>
            <a:ext cx="4986600" cy="438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Google Titans Transformer-2 architecture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Titans = Transformers with Interleaved Attention and Neural Storage</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Titans is an implementation of a MIRAS theoretical framework for sequence models. MIRAS includes Memory architecture, (attentional) bIas, Retention gate, and (memory learning) Algorithm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NeuroIPS paper "Nested Learning" - neuroscience inspired hierarchical memory system similar to human cognition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It uses 3 types of memory: Core (Short-term) Memory, Long-term Neural Memory , and Persistent Memory (stable storage for task-specific knowledge)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Titans can handle massive contexts much faster </a:t>
            </a:r>
            <a:r>
              <a:rPr lang="en" sz="1100" b="1">
                <a:solidFill>
                  <a:srgbClr val="FF0000"/>
                </a:solidFill>
                <a:latin typeface="Calibri"/>
                <a:ea typeface="Calibri"/>
                <a:cs typeface="Calibri"/>
                <a:sym typeface="Calibri"/>
              </a:rPr>
              <a:t>by updating core memory in real-time during operation</a:t>
            </a: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combining RNN speed with Transformer accuracy</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Titans uses a deep neural network as a long-term memory module that actively learns and updates parameters as data streams in</a:t>
            </a:r>
            <a:r>
              <a:rPr lang="en" sz="1100">
                <a:solidFill>
                  <a:schemeClr val="dk1"/>
                </a:solidFill>
                <a:latin typeface="Calibri"/>
                <a:ea typeface="Calibri"/>
                <a:cs typeface="Calibri"/>
                <a:sym typeface="Calibri"/>
              </a:rPr>
              <a:t>, rather than compressing information into fixed-size states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architecture employs a </a:t>
            </a:r>
            <a:r>
              <a:rPr lang="en" sz="1100" b="1">
                <a:solidFill>
                  <a:srgbClr val="FF0000"/>
                </a:solidFill>
                <a:latin typeface="Calibri"/>
                <a:ea typeface="Calibri"/>
                <a:cs typeface="Calibri"/>
                <a:sym typeface="Calibri"/>
              </a:rPr>
              <a:t>surprise metric</a:t>
            </a:r>
            <a:r>
              <a:rPr lang="en" sz="1100">
                <a:solidFill>
                  <a:schemeClr val="dk1"/>
                </a:solidFill>
                <a:latin typeface="Calibri"/>
                <a:ea typeface="Calibri"/>
                <a:cs typeface="Calibri"/>
                <a:sym typeface="Calibri"/>
              </a:rPr>
              <a:t> to detect unexpected information and </a:t>
            </a:r>
            <a:r>
              <a:rPr lang="en" sz="1100" b="1">
                <a:solidFill>
                  <a:srgbClr val="FF0000"/>
                </a:solidFill>
                <a:latin typeface="Calibri"/>
                <a:ea typeface="Calibri"/>
                <a:cs typeface="Calibri"/>
                <a:sym typeface="Calibri"/>
              </a:rPr>
              <a:t>selectively memorize only novel, context-breaking inputs</a:t>
            </a:r>
            <a:r>
              <a:rPr lang="en" sz="1100">
                <a:solidFill>
                  <a:schemeClr val="dk1"/>
                </a:solidFill>
                <a:latin typeface="Calibri"/>
                <a:ea typeface="Calibri"/>
                <a:cs typeface="Calibri"/>
                <a:sym typeface="Calibri"/>
              </a:rPr>
              <a:t>, similar to how humans remember surprising events over routine ones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Titans outperforms Transformer++, Mamba-2, and even GPT-4 on extreme long-context tasks, successfully scaling to over 2 Mln tokens while maintaining efficient linear inference speeds</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3"/>
              </a:rPr>
              <a:t>https://research.google/blog/titans-miras-helping-ai-have-long-term-memory/</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https://medium.com/data-science-collective/google-introduces-transformer-2-0-with-a-neuroscience-inspired-architecture-cf7f0d8836a4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5"/>
              </a:rPr>
              <a:t>https://www.towardsdeeplearning.com/this-new-google-model-might-finally-fix-broken-ai-brains-74e6b3c985fc</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6"/>
              </a:rPr>
              <a:t>https://www.youtube.com/watch?v=x8jFFhCLDJY</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https://www.llmwatch.com/p/google-releases-transformer-20</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https://www.llmwatch.com/p/beyond-attention-comparing-potential</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9"/>
              </a:rPr>
              <a:t>https://www.youtube.com/watch?v=UMkCmOTX5Ow</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pic>
        <p:nvPicPr>
          <p:cNvPr id="227" name="Google Shape;227;p26"/>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5205400" y="516725"/>
            <a:ext cx="3797524" cy="37975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1"/>
        <p:cNvGrpSpPr/>
        <p:nvPr/>
      </p:nvGrpSpPr>
      <p:grpSpPr>
        <a:xfrm>
          <a:off x="0" y="0"/>
          <a:ext cx="0" cy="0"/>
          <a:chOff x="0" y="0"/>
          <a:chExt cx="0" cy="0"/>
        </a:xfrm>
      </p:grpSpPr>
      <p:sp>
        <p:nvSpPr>
          <p:cNvPr id="232" name="Google Shape;232;p27"/>
          <p:cNvSpPr txBox="1"/>
          <p:nvPr/>
        </p:nvSpPr>
        <p:spPr>
          <a:xfrm>
            <a:off x="55075" y="20375"/>
            <a:ext cx="3116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Product Management &amp; AI</a:t>
            </a:r>
            <a:endParaRPr sz="2000" b="1" i="0" u="none" strike="noStrike" cap="none">
              <a:solidFill>
                <a:schemeClr val="dk1"/>
              </a:solidFill>
              <a:latin typeface="Calibri"/>
              <a:ea typeface="Calibri"/>
              <a:cs typeface="Calibri"/>
              <a:sym typeface="Calibri"/>
            </a:endParaRPr>
          </a:p>
        </p:txBody>
      </p:sp>
      <p:sp>
        <p:nvSpPr>
          <p:cNvPr id="233" name="Google Shape;233;p27"/>
          <p:cNvSpPr txBox="1"/>
          <p:nvPr/>
        </p:nvSpPr>
        <p:spPr>
          <a:xfrm>
            <a:off x="55075" y="467475"/>
            <a:ext cx="4444500" cy="391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AI-native companies are hiring fewer PMs and favor small, extremely strong, T‑shaped teams where designers and engineers handle many traditional PM tasks</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Classic big-tech PM patterns (heavy process, “stay in your lane,” lots of docs and meetings) are devalued</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AI compresses idea‑to‑prototype cycles and makes building a baseline expectation for PMs</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Courses and certificates signal little; proof of work and side projects matter most</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As PMs rise in seniority, meetings crowd out actual building, so they must aggressively protect maker time or even step back into IC roles, given AI-augmented IC leverage</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Work intensity at AI startups clashes with parenting or other life constraints, so PMs must choose environments that match their reality</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Human skills—aligning stakeholders, resolving conflict, reading the room - grow more important alongside technical building</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The PMs who thrive will show “figure it out” energy, ignore rigid role boundaries, iterate fast, and let prototypes lead alignment</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Overall, there will be fewer but more rewarding PM roles: faster-moving, closer to the product, and better suited to builders who combine AI-enabled execution with strong influence and honest life-choice tradeoffs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https://substack.com/inbox/post/168175609</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34" name="Google Shape;234;p27"/>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993500" y="865425"/>
            <a:ext cx="3116700" cy="31167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28"/>
          <p:cNvSpPr txBox="1"/>
          <p:nvPr/>
        </p:nvSpPr>
        <p:spPr>
          <a:xfrm>
            <a:off x="55075" y="20375"/>
            <a:ext cx="4468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- 3</a:t>
            </a:r>
            <a:endParaRPr sz="2000" b="1" i="0" u="none" strike="noStrike" cap="none">
              <a:solidFill>
                <a:schemeClr val="dk1"/>
              </a:solidFill>
              <a:latin typeface="Calibri"/>
              <a:ea typeface="Calibri"/>
              <a:cs typeface="Calibri"/>
              <a:sym typeface="Calibri"/>
            </a:endParaRPr>
          </a:p>
        </p:txBody>
      </p:sp>
      <p:sp>
        <p:nvSpPr>
          <p:cNvPr id="240" name="Google Shape;240;p28"/>
          <p:cNvSpPr txBox="1"/>
          <p:nvPr/>
        </p:nvSpPr>
        <p:spPr>
          <a:xfrm>
            <a:off x="55075" y="531725"/>
            <a:ext cx="44688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100" b="1">
                <a:solidFill>
                  <a:srgbClr val="FF0000"/>
                </a:solidFill>
                <a:latin typeface="Calibri"/>
                <a:ea typeface="Calibri"/>
                <a:cs typeface="Calibri"/>
                <a:sym typeface="Calibri"/>
              </a:rPr>
              <a:t>Build a $5K/Mon Business in 15 Min (No Code, No Developers)</a:t>
            </a:r>
            <a:endParaRPr sz="11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Use Abacus AI's Deep Agent - a no-code platform</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It builds front-end, backend, database, payments processing, automated emails, authentication system, calendar scheduling, responsive design</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The agent deploys instantly to live URLs and handles real transactions</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Backend, databases, authentication - all handled by Abacus on the cloud.</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u="sng">
                <a:solidFill>
                  <a:schemeClr val="hlink"/>
                </a:solidFill>
                <a:latin typeface="Calibri"/>
                <a:ea typeface="Calibri"/>
                <a:cs typeface="Calibri"/>
                <a:sym typeface="Calibri"/>
                <a:hlinkClick r:id="rId3"/>
              </a:rPr>
              <a:t>https://www.youtube.com/watch?v=AbTHvit8w70</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u="sng">
                <a:solidFill>
                  <a:schemeClr val="hlink"/>
                </a:solidFill>
                <a:latin typeface="Calibri"/>
                <a:ea typeface="Calibri"/>
                <a:cs typeface="Calibri"/>
                <a:sym typeface="Calibri"/>
                <a:hlinkClick r:id="rId4"/>
              </a:rPr>
              <a:t>https://deepagent.abacus.ai</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u="sng">
                <a:solidFill>
                  <a:schemeClr val="hlink"/>
                </a:solidFill>
                <a:latin typeface="Calibri"/>
                <a:ea typeface="Calibri"/>
                <a:cs typeface="Calibri"/>
                <a:sym typeface="Calibri"/>
                <a:hlinkClick r:id="rId5"/>
              </a:rPr>
              <a:t>https://abacus.ai/help/chatllm-ai-super-assistant/deepagent</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u="sng">
                <a:solidFill>
                  <a:schemeClr val="hlink"/>
                </a:solidFill>
                <a:latin typeface="Calibri"/>
                <a:ea typeface="Calibri"/>
                <a:cs typeface="Calibri"/>
                <a:sym typeface="Calibri"/>
                <a:hlinkClick r:id="rId6"/>
              </a:rPr>
              <a:t>https://abacus.ai/help/chatllm-ai-super-assistant/deepagent-apps</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u="sng">
                <a:solidFill>
                  <a:schemeClr val="hlink"/>
                </a:solidFill>
                <a:latin typeface="Calibri"/>
                <a:ea typeface="Calibri"/>
                <a:cs typeface="Calibri"/>
                <a:sym typeface="Calibri"/>
                <a:hlinkClick r:id="rId7"/>
              </a:rPr>
              <a:t>https://abacus.ai</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u="sng">
                <a:solidFill>
                  <a:schemeClr val="hlink"/>
                </a:solidFill>
                <a:latin typeface="Calibri"/>
                <a:ea typeface="Calibri"/>
                <a:cs typeface="Calibri"/>
                <a:sym typeface="Calibri"/>
                <a:hlinkClick r:id="rId8"/>
              </a:rPr>
              <a:t>https://deepagent.abacus.ai/deepagent_faq</a:t>
            </a:r>
            <a:r>
              <a:rPr lang="en" sz="1100">
                <a:latin typeface="Calibri"/>
                <a:ea typeface="Calibri"/>
                <a:cs typeface="Calibri"/>
                <a:sym typeface="Calibri"/>
              </a:rPr>
              <a:t> </a:t>
            </a:r>
            <a:endParaRPr sz="1100">
              <a:latin typeface="Calibri"/>
              <a:ea typeface="Calibri"/>
              <a:cs typeface="Calibri"/>
              <a:sym typeface="Calibri"/>
            </a:endParaRPr>
          </a:p>
        </p:txBody>
      </p:sp>
      <p:sp>
        <p:nvSpPr>
          <p:cNvPr id="241" name="Google Shape;241;p28"/>
          <p:cNvSpPr txBox="1"/>
          <p:nvPr/>
        </p:nvSpPr>
        <p:spPr>
          <a:xfrm>
            <a:off x="55075" y="2700925"/>
            <a:ext cx="4468800" cy="2219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100" b="1">
                <a:solidFill>
                  <a:srgbClr val="FF0000"/>
                </a:solidFill>
                <a:latin typeface="Calibri"/>
                <a:ea typeface="Calibri"/>
                <a:cs typeface="Calibri"/>
                <a:sym typeface="Calibri"/>
              </a:rPr>
              <a:t>Neo Browser with Local AI</a:t>
            </a:r>
            <a:endParaRPr sz="11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Neo is Norton's new AI web browser built for privacy, security, automation</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Neo runs AI locally and keeps all your data locally on your device</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Includes Norton WebShield security that blocks phishing and malicious sites, an AI sidebar for contextual help, inline text summaries and explanations, smart tab grouping with automatic categorization, built-in ad blocking, image generation, and AI writing assistance</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The browser has long-term memory that personalizes over time based on your usage patterns</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Neo automates research, content creation, and daily browsing tasks while maintaining complete user control over data syncing and storage</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Neo is completely free and works across operating systems</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u="sng">
                <a:solidFill>
                  <a:schemeClr val="hlink"/>
                </a:solidFill>
                <a:latin typeface="Calibri"/>
                <a:ea typeface="Calibri"/>
                <a:cs typeface="Calibri"/>
                <a:sym typeface="Calibri"/>
                <a:hlinkClick r:id="rId9"/>
              </a:rPr>
              <a:t>https://www.youtube.com/watch?v=ztUwEI0oksY</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42" name="Google Shape;242;p28"/>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598000" y="2700924"/>
            <a:ext cx="3949010" cy="2219401"/>
          </a:xfrm>
          <a:prstGeom prst="rect">
            <a:avLst/>
          </a:prstGeom>
          <a:noFill/>
          <a:ln w="9525" cap="flat" cmpd="sng">
            <a:solidFill>
              <a:srgbClr val="FF0000"/>
            </a:solidFill>
            <a:prstDash val="solid"/>
            <a:round/>
            <a:headEnd type="none" w="sm" len="sm"/>
            <a:tailEnd type="none" w="sm" len="sm"/>
          </a:ln>
        </p:spPr>
      </p:pic>
      <p:pic>
        <p:nvPicPr>
          <p:cNvPr id="243" name="Google Shape;243;p28"/>
          <p:cNvPicPr preferRelativeResize="0"/>
          <p:nvPr/>
        </p:nvPicPr>
        <p:blipFill>
          <a:blip r:embed="rId11">
            <a:alphaModFix/>
          </a:blip>
          <a:stretch>
            <a:fillRect/>
          </a:stretch>
        </p:blipFill>
        <p:spPr>
          <a:xfrm>
            <a:off x="4598000" y="756725"/>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29"/>
          <p:cNvSpPr txBox="1"/>
          <p:nvPr/>
        </p:nvSpPr>
        <p:spPr>
          <a:xfrm>
            <a:off x="55075" y="20375"/>
            <a:ext cx="44688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- 4</a:t>
            </a:r>
            <a:endParaRPr sz="2000" b="1" i="0" u="none" strike="noStrike" cap="none">
              <a:solidFill>
                <a:schemeClr val="dk1"/>
              </a:solidFill>
              <a:latin typeface="Calibri"/>
              <a:ea typeface="Calibri"/>
              <a:cs typeface="Calibri"/>
              <a:sym typeface="Calibri"/>
            </a:endParaRPr>
          </a:p>
        </p:txBody>
      </p:sp>
      <p:sp>
        <p:nvSpPr>
          <p:cNvPr id="249" name="Google Shape;249;p29"/>
          <p:cNvSpPr txBox="1"/>
          <p:nvPr/>
        </p:nvSpPr>
        <p:spPr>
          <a:xfrm>
            <a:off x="55075" y="352825"/>
            <a:ext cx="5010300" cy="1542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100" b="1">
                <a:solidFill>
                  <a:srgbClr val="FF0000"/>
                </a:solidFill>
                <a:latin typeface="Calibri"/>
                <a:ea typeface="Calibri"/>
                <a:cs typeface="Calibri"/>
                <a:sym typeface="Calibri"/>
              </a:rPr>
              <a:t>Amazon Nova AI automation on AWS Bedrock</a:t>
            </a:r>
            <a:endParaRPr sz="11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Use API to handle lead qualification, customer support, inventory management, email responses, and appointment booking</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Three versions: Nova Micro for text tasks, Nova Light for images and text, and Nova Pro for video and complex reasoning</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Low cost compared to GPT, AWS security infrastructure, and scalability</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Amazon reports 76% accuracy in issue resolution and 86% tool accuracy</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The platform is designed for businesses running thousands of automated tasks</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u="sng">
                <a:solidFill>
                  <a:schemeClr val="hlink"/>
                </a:solidFill>
                <a:latin typeface="Calibri"/>
                <a:ea typeface="Calibri"/>
                <a:cs typeface="Calibri"/>
                <a:sym typeface="Calibri"/>
                <a:hlinkClick r:id="rId3"/>
              </a:rPr>
              <a:t>https://www.youtube.com/watch?v=WtakSx5lhcM</a:t>
            </a:r>
            <a:r>
              <a:rPr lang="en" sz="1100">
                <a:latin typeface="Calibri"/>
                <a:ea typeface="Calibri"/>
                <a:cs typeface="Calibri"/>
                <a:sym typeface="Calibri"/>
              </a:rPr>
              <a:t> </a:t>
            </a:r>
            <a:endParaRPr sz="1100">
              <a:latin typeface="Calibri"/>
              <a:ea typeface="Calibri"/>
              <a:cs typeface="Calibri"/>
              <a:sym typeface="Calibri"/>
            </a:endParaRPr>
          </a:p>
        </p:txBody>
      </p:sp>
      <p:sp>
        <p:nvSpPr>
          <p:cNvPr id="250" name="Google Shape;250;p29"/>
          <p:cNvSpPr txBox="1"/>
          <p:nvPr/>
        </p:nvSpPr>
        <p:spPr>
          <a:xfrm>
            <a:off x="55075" y="1947370"/>
            <a:ext cx="50103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100" b="1">
                <a:solidFill>
                  <a:srgbClr val="FF0000"/>
                </a:solidFill>
                <a:latin typeface="Calibri"/>
                <a:ea typeface="Calibri"/>
                <a:cs typeface="Calibri"/>
                <a:sym typeface="Calibri"/>
              </a:rPr>
              <a:t>Krea AI Node App Builder </a:t>
            </a:r>
            <a:endParaRPr sz="11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Clr>
                <a:srgbClr val="3C78D8"/>
              </a:buClr>
              <a:buSzPts val="900"/>
              <a:buFont typeface="Calibri"/>
              <a:buChar char="●"/>
            </a:pPr>
            <a:r>
              <a:rPr lang="en" sz="1100" b="1">
                <a:solidFill>
                  <a:srgbClr val="3C78D8"/>
                </a:solidFill>
                <a:latin typeface="Calibri"/>
                <a:ea typeface="Calibri"/>
                <a:cs typeface="Calibri"/>
                <a:sym typeface="Calibri"/>
              </a:rPr>
              <a:t>Convert complex AI workflows into standalone apps without coding</a:t>
            </a:r>
            <a:endParaRPr sz="11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The feature </a:t>
            </a:r>
            <a:r>
              <a:rPr lang="en" sz="1100" b="1">
                <a:solidFill>
                  <a:srgbClr val="6AA84F"/>
                </a:solidFill>
                <a:latin typeface="Calibri"/>
                <a:ea typeface="Calibri"/>
                <a:cs typeface="Calibri"/>
                <a:sym typeface="Calibri"/>
              </a:rPr>
              <a:t>builds on Krea's existing node-based system, which lets creators chain together over 50 AI models for image generation, video creation, upscaling, editing, and 3D work on a visual canvas</a:t>
            </a:r>
            <a:endParaRPr sz="1100" b="1">
              <a:solidFill>
                <a:srgbClr val="6AA84F"/>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Once a workflow is built, Node App Builder packages it into a simple interface where anyone can input a prompt, click generate, and receive results without understanding the underlying complexity</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This democratizes AI tool creation for marketers, agencies, designers, and small businesses, allowing them to automate repetitive tasks like generating branded video ads or product mockups while maintaining creative control and consistency</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Users design workflows once with full control over models and parameters, then deploy them as scalable, reusable apps for teams or clients</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a:latin typeface="Calibri"/>
                <a:ea typeface="Calibri"/>
                <a:cs typeface="Calibri"/>
                <a:sym typeface="Calibri"/>
              </a:rPr>
              <a:t>The update transforms creators into toolmakers, enabling AI-powered automation and productization without hiring developers</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u="sng">
                <a:solidFill>
                  <a:schemeClr val="hlink"/>
                </a:solidFill>
                <a:latin typeface="Calibri"/>
                <a:ea typeface="Calibri"/>
                <a:cs typeface="Calibri"/>
                <a:sym typeface="Calibri"/>
                <a:hlinkClick r:id="rId4"/>
              </a:rPr>
              <a:t>https://www.youtube.com/watch?v=nzhaHXT1DE4</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u="sng">
                <a:solidFill>
                  <a:schemeClr val="hlink"/>
                </a:solidFill>
                <a:latin typeface="Calibri"/>
                <a:ea typeface="Calibri"/>
                <a:cs typeface="Calibri"/>
                <a:sym typeface="Calibri"/>
                <a:hlinkClick r:id="rId5"/>
              </a:rPr>
              <a:t>https://www.krea.ai/features/nodes</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u="sng">
                <a:solidFill>
                  <a:schemeClr val="hlink"/>
                </a:solidFill>
                <a:latin typeface="Calibri"/>
                <a:ea typeface="Calibri"/>
                <a:cs typeface="Calibri"/>
                <a:sym typeface="Calibri"/>
                <a:hlinkClick r:id="rId6"/>
              </a:rPr>
              <a:t>https://www.krea.ai</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51" name="Google Shape;251;p2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184225" y="2420563"/>
            <a:ext cx="3773826" cy="2119632"/>
          </a:xfrm>
          <a:prstGeom prst="rect">
            <a:avLst/>
          </a:prstGeom>
          <a:noFill/>
          <a:ln w="9525" cap="flat" cmpd="sng">
            <a:solidFill>
              <a:srgbClr val="FF0000"/>
            </a:solidFill>
            <a:prstDash val="solid"/>
            <a:round/>
            <a:headEnd type="none" w="sm" len="sm"/>
            <a:tailEnd type="none" w="sm" len="sm"/>
          </a:ln>
        </p:spPr>
      </p:pic>
      <p:pic>
        <p:nvPicPr>
          <p:cNvPr id="252" name="Google Shape;252;p2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5217775" y="352825"/>
            <a:ext cx="2741885" cy="154229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p30"/>
          <p:cNvSpPr txBox="1"/>
          <p:nvPr/>
        </p:nvSpPr>
        <p:spPr>
          <a:xfrm>
            <a:off x="55075" y="20375"/>
            <a:ext cx="3120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Chinese AI Agents</a:t>
            </a:r>
            <a:endParaRPr sz="2000" b="1">
              <a:solidFill>
                <a:schemeClr val="dk1"/>
              </a:solidFill>
              <a:latin typeface="Calibri"/>
              <a:ea typeface="Calibri"/>
              <a:cs typeface="Calibri"/>
              <a:sym typeface="Calibri"/>
            </a:endParaRPr>
          </a:p>
        </p:txBody>
      </p:sp>
      <p:sp>
        <p:nvSpPr>
          <p:cNvPr id="258" name="Google Shape;258;p30"/>
          <p:cNvSpPr txBox="1"/>
          <p:nvPr/>
        </p:nvSpPr>
        <p:spPr>
          <a:xfrm>
            <a:off x="55075" y="431075"/>
            <a:ext cx="44688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chemeClr val="dk1"/>
              </a:buClr>
              <a:buSzPts val="900"/>
              <a:buFont typeface="Calibri"/>
              <a:buChar char="●"/>
            </a:pPr>
            <a:r>
              <a:rPr lang="en" sz="1100" b="1">
                <a:solidFill>
                  <a:srgbClr val="FF0000"/>
                </a:solidFill>
                <a:latin typeface="Calibri"/>
                <a:ea typeface="Calibri"/>
                <a:cs typeface="Calibri"/>
                <a:sym typeface="Calibri"/>
              </a:rPr>
              <a:t>Genspark Super Agent </a:t>
            </a:r>
            <a:r>
              <a:rPr lang="en" sz="1100">
                <a:latin typeface="Calibri"/>
                <a:ea typeface="Calibri"/>
                <a:cs typeface="Calibri"/>
                <a:sym typeface="Calibri"/>
              </a:rPr>
              <a:t>- multi-step workflows, making phone calls, sending emails, scheduling meetings, managing calendars, multi-tool orchestration</a:t>
            </a:r>
            <a:br>
              <a:rPr lang="en" sz="1100">
                <a:latin typeface="Calibri"/>
                <a:ea typeface="Calibri"/>
                <a:cs typeface="Calibri"/>
                <a:sym typeface="Calibri"/>
              </a:rPr>
            </a:br>
            <a:r>
              <a:rPr lang="en" sz="1100" u="sng">
                <a:solidFill>
                  <a:schemeClr val="hlink"/>
                </a:solidFill>
                <a:latin typeface="Calibri"/>
                <a:ea typeface="Calibri"/>
                <a:cs typeface="Calibri"/>
                <a:sym typeface="Calibri"/>
                <a:hlinkClick r:id="rId3"/>
              </a:rPr>
              <a:t>https://www.genspark.ai</a:t>
            </a:r>
            <a:r>
              <a:rPr lang="en" sz="1100">
                <a:latin typeface="Calibri"/>
                <a:ea typeface="Calibri"/>
                <a:cs typeface="Calibri"/>
                <a:sym typeface="Calibri"/>
              </a:rPr>
              <a:t> </a:t>
            </a:r>
            <a:br>
              <a:rPr lang="en" sz="1100">
                <a:latin typeface="Calibri"/>
                <a:ea typeface="Calibri"/>
                <a:cs typeface="Calibri"/>
                <a:sym typeface="Calibri"/>
              </a:rPr>
            </a:b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b="1">
                <a:solidFill>
                  <a:srgbClr val="FF0000"/>
                </a:solidFill>
                <a:latin typeface="Calibri"/>
                <a:ea typeface="Calibri"/>
                <a:cs typeface="Calibri"/>
                <a:sym typeface="Calibri"/>
              </a:rPr>
              <a:t>Quark AI Agent by Alibaba </a:t>
            </a:r>
            <a:r>
              <a:rPr lang="en" sz="1100">
                <a:latin typeface="Calibri"/>
                <a:ea typeface="Calibri"/>
                <a:cs typeface="Calibri"/>
                <a:sym typeface="Calibri"/>
              </a:rPr>
              <a:t>- research and automation assistant</a:t>
            </a:r>
            <a:br>
              <a:rPr lang="en" sz="1100">
                <a:latin typeface="Calibri"/>
                <a:ea typeface="Calibri"/>
                <a:cs typeface="Calibri"/>
                <a:sym typeface="Calibri"/>
              </a:rPr>
            </a:br>
            <a:r>
              <a:rPr lang="en" sz="1100">
                <a:latin typeface="Calibri"/>
                <a:ea typeface="Calibri"/>
                <a:cs typeface="Calibri"/>
                <a:sym typeface="Calibri"/>
              </a:rPr>
              <a:t>Used by millions, handling report writing, data analysis, content generation, and integrating across Alibaba's e-commerce ecosystem with over 200 million users</a:t>
            </a:r>
            <a:br>
              <a:rPr lang="en" sz="1100">
                <a:latin typeface="Calibri"/>
                <a:ea typeface="Calibri"/>
                <a:cs typeface="Calibri"/>
                <a:sym typeface="Calibri"/>
              </a:rPr>
            </a:br>
            <a:r>
              <a:rPr lang="en" sz="1100" u="sng">
                <a:solidFill>
                  <a:schemeClr val="hlink"/>
                </a:solidFill>
                <a:latin typeface="Calibri"/>
                <a:ea typeface="Calibri"/>
                <a:cs typeface="Calibri"/>
                <a:sym typeface="Calibri"/>
                <a:hlinkClick r:id="rId4"/>
              </a:rPr>
              <a:t>https://www.investors.com/news/technology/alibaba-stock-ai-agent-quark-deepseek-cloud/</a:t>
            </a:r>
            <a:r>
              <a:rPr lang="en" sz="1100">
                <a:latin typeface="Calibri"/>
                <a:ea typeface="Calibri"/>
                <a:cs typeface="Calibri"/>
                <a:sym typeface="Calibri"/>
              </a:rPr>
              <a:t> </a:t>
            </a:r>
            <a:br>
              <a:rPr lang="en" sz="1100">
                <a:latin typeface="Calibri"/>
                <a:ea typeface="Calibri"/>
                <a:cs typeface="Calibri"/>
                <a:sym typeface="Calibri"/>
              </a:rPr>
            </a:b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b="1">
                <a:solidFill>
                  <a:srgbClr val="FF0000"/>
                </a:solidFill>
                <a:latin typeface="Calibri"/>
                <a:ea typeface="Calibri"/>
                <a:cs typeface="Calibri"/>
                <a:sym typeface="Calibri"/>
              </a:rPr>
              <a:t>Coze Space by ByteDance </a:t>
            </a:r>
            <a:r>
              <a:rPr lang="en" sz="1100">
                <a:latin typeface="Calibri"/>
                <a:ea typeface="Calibri"/>
                <a:cs typeface="Calibri"/>
                <a:sym typeface="Calibri"/>
              </a:rPr>
              <a:t>- practical automation like creating apps without coding, generating reports with charts from spreadsheets, and integrating with ByteDance platforms including TikTok for video analytics and content scheduling</a:t>
            </a:r>
            <a:br>
              <a:rPr lang="en" sz="1100">
                <a:latin typeface="Calibri"/>
                <a:ea typeface="Calibri"/>
                <a:cs typeface="Calibri"/>
                <a:sym typeface="Calibri"/>
              </a:rPr>
            </a:br>
            <a:r>
              <a:rPr lang="en" sz="1100" u="sng">
                <a:solidFill>
                  <a:schemeClr val="hlink"/>
                </a:solidFill>
                <a:latin typeface="Calibri"/>
                <a:ea typeface="Calibri"/>
                <a:cs typeface="Calibri"/>
                <a:sym typeface="Calibri"/>
                <a:hlinkClick r:id="rId5"/>
              </a:rPr>
              <a:t>https://technode.com/2025/04/24/tiktoks-owner-bytedance-launches-internal-beta-for-coze-space-an-ai-agent-collaboration-platform/</a:t>
            </a:r>
            <a:r>
              <a:rPr lang="en" sz="1100">
                <a:latin typeface="Calibri"/>
                <a:ea typeface="Calibri"/>
                <a:cs typeface="Calibri"/>
                <a:sym typeface="Calibri"/>
              </a:rPr>
              <a:t> </a:t>
            </a:r>
            <a:br>
              <a:rPr lang="en" sz="1100">
                <a:latin typeface="Calibri"/>
                <a:ea typeface="Calibri"/>
                <a:cs typeface="Calibri"/>
                <a:sym typeface="Calibri"/>
              </a:rPr>
            </a:b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b="1">
                <a:solidFill>
                  <a:srgbClr val="FF0000"/>
                </a:solidFill>
                <a:latin typeface="Calibri"/>
                <a:ea typeface="Calibri"/>
                <a:cs typeface="Calibri"/>
                <a:sym typeface="Calibri"/>
              </a:rPr>
              <a:t>Manus Autonomous Agent </a:t>
            </a:r>
            <a:r>
              <a:rPr lang="en" sz="1100">
                <a:latin typeface="Calibri"/>
                <a:ea typeface="Calibri"/>
                <a:cs typeface="Calibri"/>
                <a:sym typeface="Calibri"/>
              </a:rPr>
              <a:t>- can now work with Google Drive; Users can now automatically update spreadsheets, generate new documents, search files by keywords, extract insights, create folders, and reorganize content without leaving Manus</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u="sng">
                <a:solidFill>
                  <a:schemeClr val="hlink"/>
                </a:solidFill>
                <a:latin typeface="Calibri"/>
                <a:ea typeface="Calibri"/>
                <a:cs typeface="Calibri"/>
                <a:sym typeface="Calibri"/>
                <a:hlinkClick r:id="rId6"/>
              </a:rPr>
              <a:t>https://www.youtube.com/watch?v=9VsMnpt2ntI</a:t>
            </a:r>
            <a:r>
              <a:rPr lang="en" sz="1100">
                <a:latin typeface="Calibri"/>
                <a:ea typeface="Calibri"/>
                <a:cs typeface="Calibri"/>
                <a:sym typeface="Calibri"/>
              </a:rPr>
              <a:t> </a:t>
            </a:r>
            <a:endParaRPr sz="1100">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1100" u="sng">
                <a:solidFill>
                  <a:schemeClr val="hlink"/>
                </a:solidFill>
                <a:latin typeface="Calibri"/>
                <a:ea typeface="Calibri"/>
                <a:cs typeface="Calibri"/>
                <a:sym typeface="Calibri"/>
                <a:hlinkClick r:id="rId7"/>
              </a:rPr>
              <a:t>https://manus.im/blog</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59" name="Google Shape;259;p30"/>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676275" y="152400"/>
            <a:ext cx="2013662" cy="1127647"/>
          </a:xfrm>
          <a:prstGeom prst="rect">
            <a:avLst/>
          </a:prstGeom>
          <a:noFill/>
          <a:ln w="9525" cap="flat" cmpd="sng">
            <a:solidFill>
              <a:srgbClr val="FF0000"/>
            </a:solidFill>
            <a:prstDash val="solid"/>
            <a:round/>
            <a:headEnd type="none" w="sm" len="sm"/>
            <a:tailEnd type="none" w="sm" len="sm"/>
          </a:ln>
        </p:spPr>
      </p:pic>
      <p:pic>
        <p:nvPicPr>
          <p:cNvPr id="260" name="Google Shape;260;p30"/>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6831925" y="992550"/>
            <a:ext cx="2244900" cy="1257139"/>
          </a:xfrm>
          <a:prstGeom prst="rect">
            <a:avLst/>
          </a:prstGeom>
          <a:noFill/>
          <a:ln w="9525" cap="flat" cmpd="sng">
            <a:solidFill>
              <a:srgbClr val="FF0000"/>
            </a:solidFill>
            <a:prstDash val="solid"/>
            <a:round/>
            <a:headEnd type="none" w="sm" len="sm"/>
            <a:tailEnd type="none" w="sm" len="sm"/>
          </a:ln>
        </p:spPr>
      </p:pic>
      <p:pic>
        <p:nvPicPr>
          <p:cNvPr id="261" name="Google Shape;261;p30"/>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676275" y="2370472"/>
            <a:ext cx="2612450" cy="1306225"/>
          </a:xfrm>
          <a:prstGeom prst="rect">
            <a:avLst/>
          </a:prstGeom>
          <a:noFill/>
          <a:ln w="9525" cap="flat" cmpd="sng">
            <a:solidFill>
              <a:srgbClr val="FF0000"/>
            </a:solidFill>
            <a:prstDash val="solid"/>
            <a:round/>
            <a:headEnd type="none" w="sm" len="sm"/>
            <a:tailEnd type="none" w="sm" len="sm"/>
          </a:ln>
        </p:spPr>
      </p:pic>
      <p:pic>
        <p:nvPicPr>
          <p:cNvPr id="262" name="Google Shape;262;p30"/>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6831925" y="3810875"/>
            <a:ext cx="2244900" cy="12571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6"/>
        <p:cNvGrpSpPr/>
        <p:nvPr/>
      </p:nvGrpSpPr>
      <p:grpSpPr>
        <a:xfrm>
          <a:off x="0" y="0"/>
          <a:ext cx="0" cy="0"/>
          <a:chOff x="0" y="0"/>
          <a:chExt cx="0" cy="0"/>
        </a:xfrm>
      </p:grpSpPr>
      <p:sp>
        <p:nvSpPr>
          <p:cNvPr id="267" name="Google Shape;267;p31"/>
          <p:cNvSpPr txBox="1"/>
          <p:nvPr/>
        </p:nvSpPr>
        <p:spPr>
          <a:xfrm>
            <a:off x="55075" y="20375"/>
            <a:ext cx="18681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GLM-4.6</a:t>
            </a:r>
            <a:endParaRPr sz="2000" b="1">
              <a:solidFill>
                <a:schemeClr val="dk1"/>
              </a:solidFill>
              <a:latin typeface="Calibri"/>
              <a:ea typeface="Calibri"/>
              <a:cs typeface="Calibri"/>
              <a:sym typeface="Calibri"/>
            </a:endParaRPr>
          </a:p>
        </p:txBody>
      </p:sp>
      <p:sp>
        <p:nvSpPr>
          <p:cNvPr id="268" name="Google Shape;268;p31"/>
          <p:cNvSpPr txBox="1"/>
          <p:nvPr/>
        </p:nvSpPr>
        <p:spPr>
          <a:xfrm>
            <a:off x="55075" y="447467"/>
            <a:ext cx="4457700" cy="3528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14300" algn="l" rtl="0">
              <a:lnSpc>
                <a:spcPct val="100000"/>
              </a:lnSpc>
              <a:spcBef>
                <a:spcPts val="0"/>
              </a:spcBef>
              <a:spcAft>
                <a:spcPts val="0"/>
              </a:spcAft>
              <a:buClr>
                <a:srgbClr val="FF0000"/>
              </a:buClr>
              <a:buSzPts val="900"/>
              <a:buFont typeface="Calibri"/>
              <a:buChar char="●"/>
            </a:pPr>
            <a:r>
              <a:rPr lang="en" sz="1200" b="1">
                <a:solidFill>
                  <a:srgbClr val="FF0000"/>
                </a:solidFill>
                <a:latin typeface="Calibri"/>
                <a:ea typeface="Calibri"/>
                <a:cs typeface="Calibri"/>
                <a:sym typeface="Calibri"/>
              </a:rPr>
              <a:t>GLM-4.6 Open Weights from Zhipu 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latin typeface="Calibri"/>
                <a:ea typeface="Calibri"/>
                <a:cs typeface="Calibri"/>
                <a:sym typeface="Calibri"/>
              </a:rPr>
              <a:t>Released late September 2025</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200K tokens context window, MIT-license</a:t>
            </a:r>
            <a:endParaRPr sz="1200">
              <a:solidFill>
                <a:srgbClr val="000000"/>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SOTA coding, reasoning, and agentic performance; </a:t>
            </a:r>
            <a:endParaRPr sz="1200">
              <a:solidFill>
                <a:srgbClr val="000000"/>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b="1">
                <a:solidFill>
                  <a:srgbClr val="FF0000"/>
                </a:solidFill>
                <a:latin typeface="Calibri"/>
                <a:ea typeface="Calibri"/>
                <a:cs typeface="Calibri"/>
                <a:sym typeface="Calibri"/>
              </a:rPr>
              <a:t>Performance close to Claude Sonnet 4</a:t>
            </a:r>
            <a:r>
              <a:rPr lang="en" sz="1200">
                <a:solidFill>
                  <a:srgbClr val="000000"/>
                </a:solidFill>
                <a:latin typeface="Calibri"/>
                <a:ea typeface="Calibri"/>
                <a:cs typeface="Calibri"/>
                <a:sym typeface="Calibri"/>
              </a:rPr>
              <a:t> </a:t>
            </a:r>
            <a:br>
              <a:rPr lang="en" sz="1200">
                <a:solidFill>
                  <a:srgbClr val="000000"/>
                </a:solidFill>
                <a:latin typeface="Calibri"/>
                <a:ea typeface="Calibri"/>
                <a:cs typeface="Calibri"/>
                <a:sym typeface="Calibri"/>
              </a:rPr>
            </a:br>
            <a:r>
              <a:rPr lang="en" sz="1200" b="1">
                <a:solidFill>
                  <a:srgbClr val="3C78D8"/>
                </a:solidFill>
                <a:latin typeface="Calibri"/>
                <a:ea typeface="Calibri"/>
                <a:cs typeface="Calibri"/>
                <a:sym typeface="Calibri"/>
              </a:rPr>
              <a:t>(not 4.5 - Sonnet 4.5 is still better)</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latin typeface="Calibri"/>
                <a:ea typeface="Calibri"/>
                <a:cs typeface="Calibri"/>
                <a:sym typeface="Calibri"/>
              </a:rPr>
              <a:t>GLM-4.6 costs $0.60/$2.20 per million tokens versus Claude Sonnet's $3/$15, making it approximately </a:t>
            </a:r>
            <a:r>
              <a:rPr lang="en" sz="1200" b="1">
                <a:solidFill>
                  <a:srgbClr val="FF0000"/>
                </a:solidFill>
                <a:latin typeface="Calibri"/>
                <a:ea typeface="Calibri"/>
                <a:cs typeface="Calibri"/>
                <a:sym typeface="Calibri"/>
              </a:rPr>
              <a:t>5x cheaper on input and 7-8x cheaper on output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355B params MoE (32B active) - half the size of DeepSeek-V3 (671B) and one-third of Kimi K2 (1043B)</a:t>
            </a:r>
            <a:endParaRPr sz="1200">
              <a:solidFill>
                <a:srgbClr val="000000"/>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Power-efficient, using </a:t>
            </a:r>
            <a:r>
              <a:rPr lang="en" sz="1200">
                <a:latin typeface="Calibri"/>
                <a:ea typeface="Calibri"/>
                <a:cs typeface="Calibri"/>
                <a:sym typeface="Calibri"/>
              </a:rPr>
              <a:t>15</a:t>
            </a:r>
            <a:r>
              <a:rPr lang="en" sz="1200">
                <a:solidFill>
                  <a:srgbClr val="000000"/>
                </a:solidFill>
                <a:latin typeface="Calibri"/>
                <a:ea typeface="Calibri"/>
                <a:cs typeface="Calibri"/>
                <a:sym typeface="Calibri"/>
              </a:rPr>
              <a:t>% fewer tokens than its predecessor; integrates well with agent frameworks</a:t>
            </a:r>
            <a:endParaRPr sz="1200">
              <a:solidFill>
                <a:srgbClr val="000000"/>
              </a:solidFill>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solidFill>
                  <a:srgbClr val="000000"/>
                </a:solidFill>
                <a:latin typeface="Calibri"/>
                <a:ea typeface="Calibri"/>
                <a:cs typeface="Calibri"/>
                <a:sym typeface="Calibri"/>
              </a:rPr>
              <a:t>Available for local deployment or via major platforms and APIs</a:t>
            </a:r>
            <a:endParaRPr sz="1200">
              <a:solidFill>
                <a:srgbClr val="000000"/>
              </a:solidFill>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u="sng">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https://huggingface.co/zai-org/GLM-4.6</a:t>
            </a:r>
            <a:r>
              <a:rPr lang="en" sz="1000">
                <a:solidFill>
                  <a:srgbClr val="000000"/>
                </a:solidFill>
                <a:latin typeface="Calibri"/>
                <a:ea typeface="Calibri"/>
                <a:cs typeface="Calibri"/>
                <a:sym typeface="Calibri"/>
              </a:rPr>
              <a:t> </a:t>
            </a:r>
            <a:endParaRPr sz="1000">
              <a:solidFill>
                <a:srgbClr val="000000"/>
              </a:solidFill>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u="sng">
                <a:solidFill>
                  <a:srgbClr val="0097A7"/>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https://docs.z.ai/guides/llm/glm-4.6</a:t>
            </a:r>
            <a:r>
              <a:rPr lang="en" sz="1000">
                <a:solidFill>
                  <a:srgbClr val="000000"/>
                </a:solidFill>
                <a:latin typeface="Calibri"/>
                <a:ea typeface="Calibri"/>
                <a:cs typeface="Calibri"/>
                <a:sym typeface="Calibri"/>
              </a:rPr>
              <a:t> </a:t>
            </a:r>
            <a:endParaRPr sz="1000">
              <a:solidFill>
                <a:srgbClr val="000000"/>
              </a:solidFill>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u="sng">
                <a:solidFill>
                  <a:srgbClr val="0097A7"/>
                </a:solidFill>
                <a:latin typeface="Calibri"/>
                <a:ea typeface="Calibri"/>
                <a:cs typeface="Calibri"/>
                <a:sym typeface="Calibri"/>
                <a:hlinkClick r:id="rId5">
                  <a:extLst>
                    <a:ext uri="{A12FA001-AC4F-418D-AE19-62706E023703}">
                      <ahyp:hlinkClr xmlns:ahyp="http://schemas.microsoft.com/office/drawing/2018/hyperlinkcolor" val="tx"/>
                    </a:ext>
                  </a:extLst>
                </a:hlinkClick>
              </a:rPr>
              <a:t>https://openrouter.ai/z-ai/glm-4.6</a:t>
            </a:r>
            <a:r>
              <a:rPr lang="en" sz="1000">
                <a:solidFill>
                  <a:srgbClr val="000000"/>
                </a:solidFill>
                <a:latin typeface="Calibri"/>
                <a:ea typeface="Calibri"/>
                <a:cs typeface="Calibri"/>
                <a:sym typeface="Calibri"/>
              </a:rPr>
              <a:t> </a:t>
            </a:r>
            <a:endParaRPr sz="1000">
              <a:solidFill>
                <a:srgbClr val="000000"/>
              </a:solidFill>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u="sng">
                <a:solidFill>
                  <a:srgbClr val="0097A7"/>
                </a:solidFill>
                <a:latin typeface="Calibri"/>
                <a:ea typeface="Calibri"/>
                <a:cs typeface="Calibri"/>
                <a:sym typeface="Calibri"/>
                <a:hlinkClick r:id="rId6">
                  <a:extLst>
                    <a:ext uri="{A12FA001-AC4F-418D-AE19-62706E023703}">
                      <ahyp:hlinkClr xmlns:ahyp="http://schemas.microsoft.com/office/drawing/2018/hyperlinkcolor" val="tx"/>
                    </a:ext>
                  </a:extLst>
                </a:hlinkClick>
              </a:rPr>
              <a:t>https://www.youtube.com/watch?v=k0M320a-TXs</a:t>
            </a:r>
            <a:r>
              <a:rPr lang="en" sz="1000">
                <a:solidFill>
                  <a:srgbClr val="000000"/>
                </a:solidFill>
                <a:latin typeface="Calibri"/>
                <a:ea typeface="Calibri"/>
                <a:cs typeface="Calibri"/>
                <a:sym typeface="Calibri"/>
              </a:rPr>
              <a:t> </a:t>
            </a:r>
            <a:endParaRPr sz="1000">
              <a:solidFill>
                <a:srgbClr val="000000"/>
              </a:solidFill>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u="sng">
                <a:solidFill>
                  <a:srgbClr val="0097A7"/>
                </a:solidFill>
                <a:latin typeface="Calibri"/>
                <a:ea typeface="Calibri"/>
                <a:cs typeface="Calibri"/>
                <a:sym typeface="Calibri"/>
                <a:hlinkClick r:id="rId7">
                  <a:extLst>
                    <a:ext uri="{A12FA001-AC4F-418D-AE19-62706E023703}">
                      <ahyp:hlinkClr xmlns:ahyp="http://schemas.microsoft.com/office/drawing/2018/hyperlinkcolor" val="tx"/>
                    </a:ext>
                  </a:extLst>
                </a:hlinkClick>
              </a:rPr>
              <a:t>https://www.youtube.com/watch?v=i3kO_GOt2Bo</a:t>
            </a:r>
            <a:r>
              <a:rPr lang="en" sz="1000">
                <a:solidFill>
                  <a:srgbClr val="000000"/>
                </a:solidFill>
                <a:latin typeface="Calibri"/>
                <a:ea typeface="Calibri"/>
                <a:cs typeface="Calibri"/>
                <a:sym typeface="Calibri"/>
              </a:rPr>
              <a:t> </a:t>
            </a:r>
            <a:endParaRPr sz="1000">
              <a:solidFill>
                <a:srgbClr val="000000"/>
              </a:solidFill>
              <a:latin typeface="Calibri"/>
              <a:ea typeface="Calibri"/>
              <a:cs typeface="Calibri"/>
              <a:sym typeface="Calibri"/>
            </a:endParaRPr>
          </a:p>
          <a:p>
            <a:pPr marL="171450" marR="0" lvl="0" indent="-120650" algn="l" rtl="0">
              <a:lnSpc>
                <a:spcPct val="100000"/>
              </a:lnSpc>
              <a:spcBef>
                <a:spcPts val="0"/>
              </a:spcBef>
              <a:spcAft>
                <a:spcPts val="0"/>
              </a:spcAft>
              <a:buClr>
                <a:srgbClr val="000000"/>
              </a:buClr>
              <a:buSzPts val="1000"/>
              <a:buFont typeface="Calibri"/>
              <a:buChar char="●"/>
            </a:pPr>
            <a:r>
              <a:rPr lang="en" sz="1000" u="sng">
                <a:solidFill>
                  <a:srgbClr val="0097A7"/>
                </a:solidFill>
                <a:latin typeface="Calibri"/>
                <a:ea typeface="Calibri"/>
                <a:cs typeface="Calibri"/>
                <a:sym typeface="Calibri"/>
                <a:hlinkClick r:id="rId8">
                  <a:extLst>
                    <a:ext uri="{A12FA001-AC4F-418D-AE19-62706E023703}">
                      <ahyp:hlinkClr xmlns:ahyp="http://schemas.microsoft.com/office/drawing/2018/hyperlinkcolor" val="tx"/>
                    </a:ext>
                  </a:extLst>
                </a:hlinkClick>
              </a:rPr>
              <a:t>https://docs.z.ai/devpack/overview</a:t>
            </a:r>
            <a:r>
              <a:rPr lang="en" sz="1000">
                <a:solidFill>
                  <a:srgbClr val="000000"/>
                </a:solidFill>
                <a:latin typeface="Calibri"/>
                <a:ea typeface="Calibri"/>
                <a:cs typeface="Calibri"/>
                <a:sym typeface="Calibri"/>
              </a:rPr>
              <a:t> </a:t>
            </a:r>
            <a:endParaRPr sz="1000">
              <a:solidFill>
                <a:srgbClr val="000000"/>
              </a:solidFill>
              <a:latin typeface="Calibri"/>
              <a:ea typeface="Calibri"/>
              <a:cs typeface="Calibri"/>
              <a:sym typeface="Calibri"/>
            </a:endParaRPr>
          </a:p>
        </p:txBody>
      </p:sp>
      <p:pic>
        <p:nvPicPr>
          <p:cNvPr id="269" name="Google Shape;269;p31"/>
          <p:cNvPicPr preferRelativeResize="0"/>
          <p:nvPr/>
        </p:nvPicPr>
        <p:blipFill rotWithShape="1">
          <a:blip r:embed="rId9" cstate="email">
            <a:alphaModFix/>
            <a:extLst>
              <a:ext uri="{28A0092B-C50C-407E-A947-70E740481C1C}">
                <a14:useLocalDpi xmlns:a14="http://schemas.microsoft.com/office/drawing/2010/main"/>
              </a:ext>
            </a:extLst>
          </a:blip>
          <a:srcRect/>
          <a:stretch/>
        </p:blipFill>
        <p:spPr>
          <a:xfrm>
            <a:off x="5367125" y="178900"/>
            <a:ext cx="2963100" cy="1665900"/>
          </a:xfrm>
          <a:prstGeom prst="rect">
            <a:avLst/>
          </a:prstGeom>
          <a:noFill/>
          <a:ln w="9525" cap="flat" cmpd="sng">
            <a:solidFill>
              <a:srgbClr val="FF0000"/>
            </a:solidFill>
            <a:prstDash val="solid"/>
            <a:round/>
            <a:headEnd type="none" w="sm" len="sm"/>
            <a:tailEnd type="none" w="sm" len="sm"/>
          </a:ln>
        </p:spPr>
      </p:pic>
      <p:pic>
        <p:nvPicPr>
          <p:cNvPr id="270" name="Google Shape;270;p31"/>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665175" y="1997200"/>
            <a:ext cx="4326423" cy="2591848"/>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p:cNvGrpSpPr/>
        <p:nvPr/>
      </p:nvGrpSpPr>
      <p:grpSpPr>
        <a:xfrm>
          <a:off x="0" y="0"/>
          <a:ext cx="0" cy="0"/>
          <a:chOff x="0" y="0"/>
          <a:chExt cx="0" cy="0"/>
        </a:xfrm>
      </p:grpSpPr>
      <p:sp>
        <p:nvSpPr>
          <p:cNvPr id="275" name="Google Shape;275;p32"/>
          <p:cNvSpPr txBox="1"/>
          <p:nvPr/>
        </p:nvSpPr>
        <p:spPr>
          <a:xfrm>
            <a:off x="55075" y="20375"/>
            <a:ext cx="4457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Gemini 3 vs Perplexity AI</a:t>
            </a:r>
            <a:endParaRPr sz="2000" b="1">
              <a:solidFill>
                <a:schemeClr val="dk1"/>
              </a:solidFill>
              <a:latin typeface="Calibri"/>
              <a:ea typeface="Calibri"/>
              <a:cs typeface="Calibri"/>
              <a:sym typeface="Calibri"/>
            </a:endParaRPr>
          </a:p>
        </p:txBody>
      </p:sp>
      <p:sp>
        <p:nvSpPr>
          <p:cNvPr id="276" name="Google Shape;276;p32"/>
          <p:cNvSpPr txBox="1"/>
          <p:nvPr/>
        </p:nvSpPr>
        <p:spPr>
          <a:xfrm>
            <a:off x="129600" y="481017"/>
            <a:ext cx="44577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000000"/>
              </a:buClr>
              <a:buSzPts val="1200"/>
              <a:buFont typeface="Calibri"/>
              <a:buChar char="●"/>
            </a:pPr>
            <a:r>
              <a:rPr lang="en" sz="1200">
                <a:latin typeface="Calibri"/>
                <a:ea typeface="Calibri"/>
                <a:cs typeface="Calibri"/>
                <a:sym typeface="Calibri"/>
              </a:rPr>
              <a:t>Google Gemini 3 vs Perplexity AI </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https://www.youtube.com/watch?v=EcDWK_ZyhFs</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latin typeface="Calibri"/>
                <a:ea typeface="Calibri"/>
                <a:cs typeface="Calibri"/>
                <a:sym typeface="Calibri"/>
              </a:rPr>
              <a:t>Gemini - provides comprehensive, structured answers with inline citations, analyzes uploaded form images. </a:t>
            </a:r>
            <a:r>
              <a:rPr lang="en" sz="1200">
                <a:solidFill>
                  <a:schemeClr val="dk1"/>
                </a:solidFill>
                <a:latin typeface="Calibri"/>
                <a:ea typeface="Calibri"/>
                <a:cs typeface="Calibri"/>
                <a:sym typeface="Calibri"/>
              </a:rPr>
              <a:t>Enterprise users need Gemini's Google ecosystem integration, security features, and agent marketplace; </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latin typeface="Calibri"/>
                <a:ea typeface="Calibri"/>
                <a:cs typeface="Calibri"/>
                <a:sym typeface="Calibri"/>
              </a:rPr>
              <a:t>Perplexity delivered concise, focused responses with clear numbered sources and one-line explanations for each citation - perfect for content creators and researchers - speed, clarity, and verifiable sources; </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latin typeface="Calibri"/>
                <a:ea typeface="Calibri"/>
                <a:cs typeface="Calibri"/>
                <a:sym typeface="Calibri"/>
              </a:rPr>
              <a:t>Google aims to build an everything platform while Perplexity focuses on perfecting answer quality; </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000000"/>
              </a:buClr>
              <a:buSzPts val="1200"/>
              <a:buFont typeface="Calibri"/>
              <a:buChar char="●"/>
            </a:pPr>
            <a:r>
              <a:rPr lang="en" sz="1200">
                <a:latin typeface="Calibri"/>
                <a:ea typeface="Calibri"/>
                <a:cs typeface="Calibri"/>
                <a:sym typeface="Calibri"/>
              </a:rPr>
              <a:t>The recommendation is to use both tools for their respective strengths</a:t>
            </a:r>
            <a:endParaRPr sz="1200">
              <a:latin typeface="Calibri"/>
              <a:ea typeface="Calibri"/>
              <a:cs typeface="Calibri"/>
              <a:sym typeface="Calibri"/>
            </a:endParaRPr>
          </a:p>
        </p:txBody>
      </p:sp>
      <p:pic>
        <p:nvPicPr>
          <p:cNvPr id="277" name="Google Shape;277;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739700" y="824275"/>
            <a:ext cx="2930825" cy="17474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81"/>
        <p:cNvGrpSpPr/>
        <p:nvPr/>
      </p:nvGrpSpPr>
      <p:grpSpPr>
        <a:xfrm>
          <a:off x="0" y="0"/>
          <a:ext cx="0" cy="0"/>
          <a:chOff x="0" y="0"/>
          <a:chExt cx="0" cy="0"/>
        </a:xfrm>
      </p:grpSpPr>
      <p:sp>
        <p:nvSpPr>
          <p:cNvPr id="282" name="Google Shape;282;p33"/>
          <p:cNvSpPr txBox="1"/>
          <p:nvPr/>
        </p:nvSpPr>
        <p:spPr>
          <a:xfrm>
            <a:off x="0" y="0"/>
            <a:ext cx="4730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OpenAI's 2025 State of Enterprise AI report</a:t>
            </a:r>
            <a:endParaRPr sz="2000" b="1">
              <a:solidFill>
                <a:schemeClr val="dk1"/>
              </a:solidFill>
              <a:latin typeface="Calibri"/>
              <a:ea typeface="Calibri"/>
              <a:cs typeface="Calibri"/>
              <a:sym typeface="Calibri"/>
            </a:endParaRPr>
          </a:p>
        </p:txBody>
      </p:sp>
      <p:sp>
        <p:nvSpPr>
          <p:cNvPr id="283" name="Google Shape;283;p33"/>
          <p:cNvSpPr txBox="1"/>
          <p:nvPr/>
        </p:nvSpPr>
        <p:spPr>
          <a:xfrm>
            <a:off x="77450" y="431100"/>
            <a:ext cx="4468800" cy="391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OpenAI's 2025 State of Enterprise AI report </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Significant growth, with ChatGPT now serving over 800 million weekly users and ChatGPT Enterprise experiencing 8x message volume growth since November 2024</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report indicates over one million businesses are paying for enterprise AI products, with 7 million paid employee seats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Key findings show that enterprise AI adoption is shifting from isolated usage to structured, workflow-driven integration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primary constraints are no longer model performance or tooling but organizational readiness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Leading firms invest in system integrations, workflow standardization, governance, and executive sponsorship to drive success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report shows that when 20 percent or more of team activity flows through custom AI tooling, efficiency gains become measurable and consistent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~25% of enterprises still have not connected AI to their core data systems, representing a significant opportunity for improvement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Case studies demonstrate measurable business results including revenue gains, improved customer satisfaction, faster product development, and cost savings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https://openai.com/index/the-state-of-enterprise-ai-2025-report/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https://cdn.openai.com/pdf/7ef17d82-96bf-4dd1-9df2-228f7f377a29/the-state-of-enterprise-ai_2025-report.pdf</a:t>
            </a:r>
            <a:endParaRPr sz="1100">
              <a:latin typeface="Calibri"/>
              <a:ea typeface="Calibri"/>
              <a:cs typeface="Calibri"/>
              <a:sym typeface="Calibri"/>
            </a:endParaRPr>
          </a:p>
        </p:txBody>
      </p:sp>
      <p:pic>
        <p:nvPicPr>
          <p:cNvPr id="284" name="Google Shape;284;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98650" y="478800"/>
            <a:ext cx="2759425" cy="27088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8"/>
        <p:cNvGrpSpPr/>
        <p:nvPr/>
      </p:nvGrpSpPr>
      <p:grpSpPr>
        <a:xfrm>
          <a:off x="0" y="0"/>
          <a:ext cx="0" cy="0"/>
          <a:chOff x="0" y="0"/>
          <a:chExt cx="0" cy="0"/>
        </a:xfrm>
      </p:grpSpPr>
      <p:sp>
        <p:nvSpPr>
          <p:cNvPr id="289" name="Google Shape;289;p34"/>
          <p:cNvSpPr txBox="1"/>
          <p:nvPr/>
        </p:nvSpPr>
        <p:spPr>
          <a:xfrm>
            <a:off x="55908" y="0"/>
            <a:ext cx="4092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Agentive - AI for Auditors</a:t>
            </a:r>
            <a:endParaRPr sz="2000" b="1">
              <a:solidFill>
                <a:schemeClr val="dk1"/>
              </a:solidFill>
              <a:latin typeface="Calibri"/>
              <a:ea typeface="Calibri"/>
              <a:cs typeface="Calibri"/>
              <a:sym typeface="Calibri"/>
            </a:endParaRPr>
          </a:p>
        </p:txBody>
      </p:sp>
      <p:sp>
        <p:nvSpPr>
          <p:cNvPr id="290" name="Google Shape;290;p34"/>
          <p:cNvSpPr txBox="1"/>
          <p:nvPr/>
        </p:nvSpPr>
        <p:spPr>
          <a:xfrm>
            <a:off x="77450" y="431100"/>
            <a:ext cx="4468800" cy="425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Agentive - AI-powered audit workflow automation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Founded by Danny Albertson to help auditors automate the tedious parts of audit work, particularly test of details procedures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Agentive is purpose-built to help auditors request evidence from clients and automatically test that evidence using AI</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platform integrates directly into the audit workflow - when clients upload documents, AI agents automatically run pre-defined audit procedures and provide answers with citations within 60 seconds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This differs from generic AI assistants by embedding automation directly into the PBC (Prepared By Client) list and testing workflow</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AI's improved ability to perform "function calling"allowed AI to independently work on complex tasks for extended periods, evaluate its own output, and decide next steps without constant human supervision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Agentive offers 2.5-hour training sessions where potential customers can actually use the product hands-on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In five years, Danny envisions junior auditors spending significantly less time on low-risk test of details work and more time on strategic discussions, audit planning, and higher-risk areas. AI agents will handle the preparation work while humans focus on review, professional judgment, and client relationships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Danny's strongest opinion: firms shouldn't sign three-year software contracts without trying the product first. He criticizes vendors that oversell capabilities and lock customers into long-term commitments based on demo presentations rather than actual product experience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https://www.youtube.com/watch?v=yR0ionORpEI</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91" name="Google Shape;291;p3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88750" y="431100"/>
            <a:ext cx="2692326" cy="21450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35"/>
          <p:cNvSpPr txBox="1"/>
          <p:nvPr/>
        </p:nvSpPr>
        <p:spPr>
          <a:xfrm>
            <a:off x="55908" y="0"/>
            <a:ext cx="4092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US AI Regulations - Federal &amp; State</a:t>
            </a:r>
            <a:endParaRPr sz="2000" b="1">
              <a:solidFill>
                <a:schemeClr val="dk1"/>
              </a:solidFill>
              <a:latin typeface="Calibri"/>
              <a:ea typeface="Calibri"/>
              <a:cs typeface="Calibri"/>
              <a:sym typeface="Calibri"/>
            </a:endParaRPr>
          </a:p>
        </p:txBody>
      </p:sp>
      <p:sp>
        <p:nvSpPr>
          <p:cNvPr id="297" name="Google Shape;297;p35"/>
          <p:cNvSpPr txBox="1"/>
          <p:nvPr/>
        </p:nvSpPr>
        <p:spPr>
          <a:xfrm>
            <a:off x="77450" y="431100"/>
            <a:ext cx="44688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Trump announced plans to issue an executive order establishing federal-level AI regulation to prevent states from creating conflicting rules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 argues that allowing 50 states to independently regulate AI would harm American competitiveness in the global AI race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David Sacks, Trump's AI advisor, provides the legal rationale: AI development spans multiple states through training, inference, and internet delivery, making it interstate commerce under federal jurisdiction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Over 1,200 AI bills have been introduced across state legislatures with 100 already passed, creating regulatory complexity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executive order would preempt state laws through an AI Litigation Task Force challenging state regulations in court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Sacks argues this prevents regulatory capture that benefits only large companies while harming startups unable to navigate 50 different compliance regimes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framework excludes child safety laws, local infrastructure decisions, and copyright issues, which remain under existing jurisdictions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https://www.youtube.com/watch?v=g-v8RgL4ToI</a:t>
            </a:r>
            <a:r>
              <a:rPr lang="en" sz="1100">
                <a:latin typeface="Calibri"/>
                <a:ea typeface="Calibri"/>
                <a:cs typeface="Calibri"/>
                <a:sym typeface="Calibri"/>
              </a:rPr>
              <a:t> </a:t>
            </a:r>
            <a:endParaRPr sz="1100">
              <a:latin typeface="Calibri"/>
              <a:ea typeface="Calibri"/>
              <a:cs typeface="Calibri"/>
              <a:sym typeface="Calibri"/>
            </a:endParaRPr>
          </a:p>
        </p:txBody>
      </p:sp>
      <p:pic>
        <p:nvPicPr>
          <p:cNvPr id="298" name="Google Shape;298;p35"/>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98650" y="800925"/>
            <a:ext cx="4292951" cy="234351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2"/>
        <p:cNvGrpSpPr/>
        <p:nvPr/>
      </p:nvGrpSpPr>
      <p:grpSpPr>
        <a:xfrm>
          <a:off x="0" y="0"/>
          <a:ext cx="0" cy="0"/>
          <a:chOff x="0" y="0"/>
          <a:chExt cx="0" cy="0"/>
        </a:xfrm>
      </p:grpSpPr>
      <p:sp>
        <p:nvSpPr>
          <p:cNvPr id="303" name="Google Shape;303;p36"/>
          <p:cNvSpPr txBox="1"/>
          <p:nvPr/>
        </p:nvSpPr>
        <p:spPr>
          <a:xfrm>
            <a:off x="55908" y="0"/>
            <a:ext cx="4092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and robotics - Moonshots Dec 9</a:t>
            </a:r>
            <a:endParaRPr sz="2000" b="1">
              <a:solidFill>
                <a:schemeClr val="dk1"/>
              </a:solidFill>
              <a:latin typeface="Calibri"/>
              <a:ea typeface="Calibri"/>
              <a:cs typeface="Calibri"/>
              <a:sym typeface="Calibri"/>
            </a:endParaRPr>
          </a:p>
        </p:txBody>
      </p:sp>
      <p:sp>
        <p:nvSpPr>
          <p:cNvPr id="304" name="Google Shape;304;p36"/>
          <p:cNvSpPr txBox="1"/>
          <p:nvPr/>
        </p:nvSpPr>
        <p:spPr>
          <a:xfrm>
            <a:off x="77450" y="431100"/>
            <a:ext cx="4468800" cy="3743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AI and robotics - Moonshots Dec 9</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NeurIPS 2025 Conference - 29K registrants; Chinese dominance with Alibaba winning the best paper award and Mandarin being the most-heard language in hallways; American frontier AI labs have "gone dark" and stopped publishing research, while Chinese labs continue to publish openly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Race of AI Models - Google's Gemini 3 and OpenAI's GPT-5.2 (rumored for next week) leapfrogging each other on benchmarks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Google's Titans and Miras architectures enable 2 Mln token context windows (about 3,000 pages)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Visual Reasoning - Chain-of-visual-thought methods showing 3-6% performance gains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Gemini 3 Deep Think - uses parallel reasoning with fleets of agents working simultaneously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China is tripling AI accelerator (hardware) output to 500,000 units in 2026 through Cambricon in response to US export restrictions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Michael Dell's $6.25 Bln "Invest America" initiative gives every child born after January 1, 2025 a $1,000 investment account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AI majors are exploding in popularity at universities like MIT, though the curriculum is struggling to keep pace with demand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overall theme emphasizes the unprecedented acceleration in AI development and the global race to achieve AGI</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https://www.youtube.com/watch?v=zGD5mv-XKU0</a:t>
            </a:r>
            <a:r>
              <a:rPr lang="en" sz="1100">
                <a:latin typeface="Calibri"/>
                <a:ea typeface="Calibri"/>
                <a:cs typeface="Calibri"/>
                <a:sym typeface="Calibri"/>
              </a:rPr>
              <a:t> </a:t>
            </a:r>
            <a:endParaRPr sz="1100">
              <a:latin typeface="Calibri"/>
              <a:ea typeface="Calibri"/>
              <a:cs typeface="Calibri"/>
              <a:sym typeface="Calibri"/>
            </a:endParaRPr>
          </a:p>
        </p:txBody>
      </p:sp>
      <p:pic>
        <p:nvPicPr>
          <p:cNvPr id="305" name="Google Shape;305;p3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65125" y="431101"/>
            <a:ext cx="4292951" cy="208266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9"/>
        <p:cNvGrpSpPr/>
        <p:nvPr/>
      </p:nvGrpSpPr>
      <p:grpSpPr>
        <a:xfrm>
          <a:off x="0" y="0"/>
          <a:ext cx="0" cy="0"/>
          <a:chOff x="0" y="0"/>
          <a:chExt cx="0" cy="0"/>
        </a:xfrm>
      </p:grpSpPr>
      <p:sp>
        <p:nvSpPr>
          <p:cNvPr id="310" name="Google Shape;310;p37"/>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11" name="Google Shape;311;p37"/>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12" name="Google Shape;312;p37"/>
          <p:cNvSpPr txBox="1"/>
          <p:nvPr/>
        </p:nvSpPr>
        <p:spPr>
          <a:xfrm>
            <a:off x="5126973" y="77475"/>
            <a:ext cx="398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120K in 2025 (as of November 28)</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13" name="Google Shape;313;p37"/>
          <p:cNvSpPr txBox="1"/>
          <p:nvPr/>
        </p:nvSpPr>
        <p:spPr>
          <a:xfrm>
            <a:off x="5162100" y="4228625"/>
            <a:ext cx="3981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 far in 2025, 206,527 people laid off (622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314" name="Google Shape;314;p37"/>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2529575"/>
            <a:ext cx="5030176" cy="2529320"/>
          </a:xfrm>
          <a:prstGeom prst="rect">
            <a:avLst/>
          </a:prstGeom>
          <a:noFill/>
          <a:ln w="9525" cap="flat" cmpd="sng">
            <a:solidFill>
              <a:srgbClr val="FF0000"/>
            </a:solidFill>
            <a:prstDash val="solid"/>
            <a:round/>
            <a:headEnd type="none" w="sm" len="sm"/>
            <a:tailEnd type="none" w="sm" len="sm"/>
          </a:ln>
        </p:spPr>
      </p:pic>
      <p:pic>
        <p:nvPicPr>
          <p:cNvPr id="315" name="Google Shape;315;p37"/>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718" y="560701"/>
            <a:ext cx="5030176" cy="187355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19"/>
        <p:cNvGrpSpPr/>
        <p:nvPr/>
      </p:nvGrpSpPr>
      <p:grpSpPr>
        <a:xfrm>
          <a:off x="0" y="0"/>
          <a:ext cx="0" cy="0"/>
          <a:chOff x="0" y="0"/>
          <a:chExt cx="0" cy="0"/>
        </a:xfrm>
      </p:grpSpPr>
      <p:pic>
        <p:nvPicPr>
          <p:cNvPr id="320" name="Google Shape;320;p38"/>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21" name="Google Shape;321;p38"/>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22" name="Google Shape;322;p38"/>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23" name="Google Shape;323;p38"/>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24" name="Google Shape;324;p38"/>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25" name="Google Shape;325;p38"/>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39"/>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4898</Words>
  <Application>Microsoft Macintosh PowerPoint</Application>
  <PresentationFormat>On-screen Show (16:9)</PresentationFormat>
  <Paragraphs>453</Paragraphs>
  <Slides>25</Slides>
  <Notes>25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25</vt:i4>
      </vt:variant>
    </vt:vector>
  </HeadingPairs>
  <TitlesOfParts>
    <vt:vector size="29" baseType="lpstr">
      <vt:lpstr>Roboto Mono</vt:lpstr>
      <vt:lpstr>Arial</vt:lpstr>
      <vt:lpstr>Calibri</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2025-12-10T03:55:59Z</dcterms:modified>
</cp:coreProperties>
</file>