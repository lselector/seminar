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61" r:id="rId1"/>
  </p:sldMasterIdLst>
  <p:notesMasterIdLst>
    <p:notesMasterId r:id="rId31"/>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Lst>
  <p:sldSz cx="9144000" cy="5143500" type="screen16x9"/>
  <p:notesSz cx="6858000" cy="9144000"/>
  <p:embeddedFontLst>
    <p:embeddedFont>
      <p:font typeface="Roboto Mono" pitchFamily="49" charset="0"/>
      <p:regular r:id="rId32"/>
      <p:bold r:id="rId33"/>
      <p:italic r:id="rId34"/>
      <p:boldItalic r:id="rId35"/>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D6C8E7C5-D1C3-4BD4-81A4-5DE7A65E04BF}">
  <a:tblStyle styleId="{D6C8E7C5-D1C3-4BD4-81A4-5DE7A65E04BF}" styleName="Table_0">
    <a:wholeTbl>
      <a:tcTxStyle>
        <a:font>
          <a:latin typeface="Arial"/>
          <a:ea typeface="Arial"/>
          <a:cs typeface="Arial"/>
        </a:font>
        <a:srgbClr val="000000"/>
      </a:tcTxStyle>
      <a:tcStyle>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11"/>
    <p:restoredTop sz="94711"/>
  </p:normalViewPr>
  <p:slideViewPr>
    <p:cSldViewPr>
      <p:cViewPr varScale="1">
        <p:scale>
          <a:sx n="125" d="100"/>
          <a:sy n="125" d="100"/>
        </p:scale>
        <p:origin x="536" y="17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tableStyles" Target="tableStyles.xml"/><Relationship Id="rId21" Type="http://schemas.openxmlformats.org/officeDocument/2006/relationships/slide" Target="slides/slide20.xml"/><Relationship Id="rId34" Type="http://schemas.openxmlformats.org/officeDocument/2006/relationships/font" Target="fonts/font3.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font" Target="fonts/font2.fntdata"/><Relationship Id="rId38"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font" Target="fonts/font1.fntdata"/><Relationship Id="rId37"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font" Target="fonts/font4.fntdata"/><Relationship Id="rId8" Type="http://schemas.openxmlformats.org/officeDocument/2006/relationships/slide" Target="slides/slide7.xml"/><Relationship Id="rId3"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9"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marR="0" lvl="0"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1pPr>
            <a:lvl2pPr marL="914400" marR="0" lvl="1"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2pPr>
            <a:lvl3pPr marL="1371600" marR="0" lvl="2"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3pPr>
            <a:lvl4pPr marL="1828800" marR="0" lvl="3"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4pPr>
            <a:lvl5pPr marL="2286000" marR="0" lvl="4"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5pPr>
            <a:lvl6pPr marL="2743200" marR="0" lvl="5"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6pPr>
            <a:lvl7pPr marL="3200400" marR="0" lvl="6"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7pPr>
            <a:lvl8pPr marL="3657600" marR="0" lvl="7"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8pPr>
            <a:lvl9pPr marL="4114800" marR="0" lvl="8"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9"/>
        <p:cNvGrpSpPr/>
        <p:nvPr/>
      </p:nvGrpSpPr>
      <p:grpSpPr>
        <a:xfrm>
          <a:off x="0" y="0"/>
          <a:ext cx="0" cy="0"/>
          <a:chOff x="0" y="0"/>
          <a:chExt cx="0" cy="0"/>
        </a:xfrm>
      </p:grpSpPr>
      <p:sp>
        <p:nvSpPr>
          <p:cNvPr id="60" name="Google Shape;60;g3633c15ed82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61" name="Google Shape;61;g3633c15ed82_0_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0"/>
        <p:cNvGrpSpPr/>
        <p:nvPr/>
      </p:nvGrpSpPr>
      <p:grpSpPr>
        <a:xfrm>
          <a:off x="0" y="0"/>
          <a:ext cx="0" cy="0"/>
          <a:chOff x="0" y="0"/>
          <a:chExt cx="0" cy="0"/>
        </a:xfrm>
      </p:grpSpPr>
      <p:sp>
        <p:nvSpPr>
          <p:cNvPr id="71" name="Google Shape;71;p22: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72" name="Google Shape;72;p22: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6"/>
        <p:cNvGrpSpPr/>
        <p:nvPr/>
      </p:nvGrpSpPr>
      <p:grpSpPr>
        <a:xfrm>
          <a:off x="0" y="0"/>
          <a:ext cx="0" cy="0"/>
          <a:chOff x="0" y="0"/>
          <a:chExt cx="0" cy="0"/>
        </a:xfrm>
      </p:grpSpPr>
      <p:sp>
        <p:nvSpPr>
          <p:cNvPr id="147" name="Google Shape;147;g3af21f26b72_0_1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48" name="Google Shape;148;g3af21f26b72_0_1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6"/>
        <p:cNvGrpSpPr/>
        <p:nvPr/>
      </p:nvGrpSpPr>
      <p:grpSpPr>
        <a:xfrm>
          <a:off x="0" y="0"/>
          <a:ext cx="0" cy="0"/>
          <a:chOff x="0" y="0"/>
          <a:chExt cx="0" cy="0"/>
        </a:xfrm>
      </p:grpSpPr>
      <p:sp>
        <p:nvSpPr>
          <p:cNvPr id="157" name="Google Shape;157;g3af21f26b72_0_2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58" name="Google Shape;158;g3af21f26b72_0_23: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4"/>
        <p:cNvGrpSpPr/>
        <p:nvPr/>
      </p:nvGrpSpPr>
      <p:grpSpPr>
        <a:xfrm>
          <a:off x="0" y="0"/>
          <a:ext cx="0" cy="0"/>
          <a:chOff x="0" y="0"/>
          <a:chExt cx="0" cy="0"/>
        </a:xfrm>
      </p:grpSpPr>
      <p:sp>
        <p:nvSpPr>
          <p:cNvPr id="165" name="Google Shape;165;g39161c60271_1_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66" name="Google Shape;166;g39161c60271_1_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2"/>
        <p:cNvGrpSpPr/>
        <p:nvPr/>
      </p:nvGrpSpPr>
      <p:grpSpPr>
        <a:xfrm>
          <a:off x="0" y="0"/>
          <a:ext cx="0" cy="0"/>
          <a:chOff x="0" y="0"/>
          <a:chExt cx="0" cy="0"/>
        </a:xfrm>
      </p:grpSpPr>
      <p:sp>
        <p:nvSpPr>
          <p:cNvPr id="173" name="Google Shape;173;g3ab6c7aaab3_0_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74" name="Google Shape;174;g3ab6c7aaab3_0_8: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8"/>
        <p:cNvGrpSpPr/>
        <p:nvPr/>
      </p:nvGrpSpPr>
      <p:grpSpPr>
        <a:xfrm>
          <a:off x="0" y="0"/>
          <a:ext cx="0" cy="0"/>
          <a:chOff x="0" y="0"/>
          <a:chExt cx="0" cy="0"/>
        </a:xfrm>
      </p:grpSpPr>
      <p:sp>
        <p:nvSpPr>
          <p:cNvPr id="179" name="Google Shape;179;g3af75551864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80" name="Google Shape;180;g3af75551864_0_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8"/>
        <p:cNvGrpSpPr/>
        <p:nvPr/>
      </p:nvGrpSpPr>
      <p:grpSpPr>
        <a:xfrm>
          <a:off x="0" y="0"/>
          <a:ext cx="0" cy="0"/>
          <a:chOff x="0" y="0"/>
          <a:chExt cx="0" cy="0"/>
        </a:xfrm>
      </p:grpSpPr>
      <p:sp>
        <p:nvSpPr>
          <p:cNvPr id="189" name="Google Shape;189;g3af98b9452d_0_1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90" name="Google Shape;190;g3af98b9452d_0_16: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1"/>
        <p:cNvGrpSpPr/>
        <p:nvPr/>
      </p:nvGrpSpPr>
      <p:grpSpPr>
        <a:xfrm>
          <a:off x="0" y="0"/>
          <a:ext cx="0" cy="0"/>
          <a:chOff x="0" y="0"/>
          <a:chExt cx="0" cy="0"/>
        </a:xfrm>
      </p:grpSpPr>
      <p:sp>
        <p:nvSpPr>
          <p:cNvPr id="202" name="Google Shape;202;g39161c60271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03" name="Google Shape;203;g39161c60271_0_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8"/>
        <p:cNvGrpSpPr/>
        <p:nvPr/>
      </p:nvGrpSpPr>
      <p:grpSpPr>
        <a:xfrm>
          <a:off x="0" y="0"/>
          <a:ext cx="0" cy="0"/>
          <a:chOff x="0" y="0"/>
          <a:chExt cx="0" cy="0"/>
        </a:xfrm>
      </p:grpSpPr>
      <p:sp>
        <p:nvSpPr>
          <p:cNvPr id="209" name="Google Shape;209;g3af21f26b72_3_2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10" name="Google Shape;210;g3af21f26b72_3_2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0"/>
        <p:cNvGrpSpPr/>
        <p:nvPr/>
      </p:nvGrpSpPr>
      <p:grpSpPr>
        <a:xfrm>
          <a:off x="0" y="0"/>
          <a:ext cx="0" cy="0"/>
          <a:chOff x="0" y="0"/>
          <a:chExt cx="0" cy="0"/>
        </a:xfrm>
      </p:grpSpPr>
      <p:sp>
        <p:nvSpPr>
          <p:cNvPr id="221" name="Google Shape;221;g3a9e4b4f929_0_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22" name="Google Shape;222;g3a9e4b4f929_0_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8"/>
        <p:cNvGrpSpPr/>
        <p:nvPr/>
      </p:nvGrpSpPr>
      <p:grpSpPr>
        <a:xfrm>
          <a:off x="0" y="0"/>
          <a:ext cx="0" cy="0"/>
          <a:chOff x="0" y="0"/>
          <a:chExt cx="0" cy="0"/>
        </a:xfrm>
      </p:grpSpPr>
      <p:sp>
        <p:nvSpPr>
          <p:cNvPr id="229" name="Google Shape;229;g3aec6d69049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30" name="Google Shape;230;g3aec6d69049_0_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9"/>
        <p:cNvGrpSpPr/>
        <p:nvPr/>
      </p:nvGrpSpPr>
      <p:grpSpPr>
        <a:xfrm>
          <a:off x="0" y="0"/>
          <a:ext cx="0" cy="0"/>
          <a:chOff x="0" y="0"/>
          <a:chExt cx="0" cy="0"/>
        </a:xfrm>
      </p:grpSpPr>
      <p:sp>
        <p:nvSpPr>
          <p:cNvPr id="240" name="Google Shape;240;g39161c60271_0_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41" name="Google Shape;241;g39161c60271_0_9: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6"/>
        <p:cNvGrpSpPr/>
        <p:nvPr/>
      </p:nvGrpSpPr>
      <p:grpSpPr>
        <a:xfrm>
          <a:off x="0" y="0"/>
          <a:ext cx="0" cy="0"/>
          <a:chOff x="0" y="0"/>
          <a:chExt cx="0" cy="0"/>
        </a:xfrm>
      </p:grpSpPr>
      <p:sp>
        <p:nvSpPr>
          <p:cNvPr id="247" name="Google Shape;247;g3ae82a462f9_0_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48" name="Google Shape;248;g3ae82a462f9_0_2: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3"/>
        <p:cNvGrpSpPr/>
        <p:nvPr/>
      </p:nvGrpSpPr>
      <p:grpSpPr>
        <a:xfrm>
          <a:off x="0" y="0"/>
          <a:ext cx="0" cy="0"/>
          <a:chOff x="0" y="0"/>
          <a:chExt cx="0" cy="0"/>
        </a:xfrm>
      </p:grpSpPr>
      <p:sp>
        <p:nvSpPr>
          <p:cNvPr id="254" name="Google Shape;254;g3aded902b87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55" name="Google Shape;255;g3aded902b87_0_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0"/>
        <p:cNvGrpSpPr/>
        <p:nvPr/>
      </p:nvGrpSpPr>
      <p:grpSpPr>
        <a:xfrm>
          <a:off x="0" y="0"/>
          <a:ext cx="0" cy="0"/>
          <a:chOff x="0" y="0"/>
          <a:chExt cx="0" cy="0"/>
        </a:xfrm>
      </p:grpSpPr>
      <p:sp>
        <p:nvSpPr>
          <p:cNvPr id="261" name="Google Shape;261;g3ae82a462f9_1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62" name="Google Shape;262;g3ae82a462f9_1_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p:cNvGrpSpPr/>
        <p:nvPr/>
      </p:nvGrpSpPr>
      <p:grpSpPr>
        <a:xfrm>
          <a:off x="0" y="0"/>
          <a:ext cx="0" cy="0"/>
          <a:chOff x="0" y="0"/>
          <a:chExt cx="0" cy="0"/>
        </a:xfrm>
      </p:grpSpPr>
      <p:sp>
        <p:nvSpPr>
          <p:cNvPr id="272" name="Google Shape;272;g3aece5796b0_1_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73" name="Google Shape;273;g3aece5796b0_1_8: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0"/>
        <p:cNvGrpSpPr/>
        <p:nvPr/>
      </p:nvGrpSpPr>
      <p:grpSpPr>
        <a:xfrm>
          <a:off x="0" y="0"/>
          <a:ext cx="0" cy="0"/>
          <a:chOff x="0" y="0"/>
          <a:chExt cx="0" cy="0"/>
        </a:xfrm>
      </p:grpSpPr>
      <p:sp>
        <p:nvSpPr>
          <p:cNvPr id="281" name="Google Shape;281;g3af44cdffc4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82" name="Google Shape;282;g3af44cdffc4_0_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1"/>
        <p:cNvGrpSpPr/>
        <p:nvPr/>
      </p:nvGrpSpPr>
      <p:grpSpPr>
        <a:xfrm>
          <a:off x="0" y="0"/>
          <a:ext cx="0" cy="0"/>
          <a:chOff x="0" y="0"/>
          <a:chExt cx="0" cy="0"/>
        </a:xfrm>
      </p:grpSpPr>
      <p:sp>
        <p:nvSpPr>
          <p:cNvPr id="292" name="Google Shape;292;g3aece5796b0_1_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93" name="Google Shape;293;g3aece5796b0_1_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1"/>
        <p:cNvGrpSpPr/>
        <p:nvPr/>
      </p:nvGrpSpPr>
      <p:grpSpPr>
        <a:xfrm>
          <a:off x="0" y="0"/>
          <a:ext cx="0" cy="0"/>
          <a:chOff x="0" y="0"/>
          <a:chExt cx="0" cy="0"/>
        </a:xfrm>
      </p:grpSpPr>
      <p:sp>
        <p:nvSpPr>
          <p:cNvPr id="302" name="Google Shape;302;g3af21f26b72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303" name="Google Shape;303;g3af21f26b72_0_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1"/>
        <p:cNvGrpSpPr/>
        <p:nvPr/>
      </p:nvGrpSpPr>
      <p:grpSpPr>
        <a:xfrm>
          <a:off x="0" y="0"/>
          <a:ext cx="0" cy="0"/>
          <a:chOff x="0" y="0"/>
          <a:chExt cx="0" cy="0"/>
        </a:xfrm>
      </p:grpSpPr>
      <p:sp>
        <p:nvSpPr>
          <p:cNvPr id="312" name="Google Shape;312;g3af21f26b72_3_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313" name="Google Shape;313;g3af21f26b72_3_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8"/>
        <p:cNvGrpSpPr/>
        <p:nvPr/>
      </p:nvGrpSpPr>
      <p:grpSpPr>
        <a:xfrm>
          <a:off x="0" y="0"/>
          <a:ext cx="0" cy="0"/>
          <a:chOff x="0" y="0"/>
          <a:chExt cx="0" cy="0"/>
        </a:xfrm>
      </p:grpSpPr>
      <p:sp>
        <p:nvSpPr>
          <p:cNvPr id="319" name="Google Shape;319;g3aef121e880_1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320" name="Google Shape;320;g3aef121e880_1_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5"/>
        <p:cNvGrpSpPr/>
        <p:nvPr/>
      </p:nvGrpSpPr>
      <p:grpSpPr>
        <a:xfrm>
          <a:off x="0" y="0"/>
          <a:ext cx="0" cy="0"/>
          <a:chOff x="0" y="0"/>
          <a:chExt cx="0" cy="0"/>
        </a:xfrm>
      </p:grpSpPr>
      <p:sp>
        <p:nvSpPr>
          <p:cNvPr id="326" name="Google Shape;326;g3aef121e880_0_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327" name="Google Shape;327;g3aef121e880_0_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3"/>
        <p:cNvGrpSpPr/>
        <p:nvPr/>
      </p:nvGrpSpPr>
      <p:grpSpPr>
        <a:xfrm>
          <a:off x="0" y="0"/>
          <a:ext cx="0" cy="0"/>
          <a:chOff x="0" y="0"/>
          <a:chExt cx="0" cy="0"/>
        </a:xfrm>
      </p:grpSpPr>
      <p:sp>
        <p:nvSpPr>
          <p:cNvPr id="334" name="Google Shape;334;g3aef121e880_1_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335" name="Google Shape;335;g3aef121e880_1_7: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0"/>
        <p:cNvGrpSpPr/>
        <p:nvPr/>
      </p:nvGrpSpPr>
      <p:grpSpPr>
        <a:xfrm>
          <a:off x="0" y="0"/>
          <a:ext cx="0" cy="0"/>
          <a:chOff x="0" y="0"/>
          <a:chExt cx="0" cy="0"/>
        </a:xfrm>
      </p:grpSpPr>
      <p:sp>
        <p:nvSpPr>
          <p:cNvPr id="341" name="Google Shape;341;g3aef121e880_1_1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342" name="Google Shape;342;g3aef121e880_1_15: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9"/>
        <p:cNvGrpSpPr/>
        <p:nvPr/>
      </p:nvGrpSpPr>
      <p:grpSpPr>
        <a:xfrm>
          <a:off x="0" y="0"/>
          <a:ext cx="0" cy="0"/>
          <a:chOff x="0" y="0"/>
          <a:chExt cx="0" cy="0"/>
        </a:xfrm>
      </p:grpSpPr>
      <p:sp>
        <p:nvSpPr>
          <p:cNvPr id="350" name="Google Shape;350;g3af98b9452d_0_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351" name="Google Shape;351;g3af98b9452d_0_2: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9"/>
        <p:cNvGrpSpPr/>
        <p:nvPr/>
      </p:nvGrpSpPr>
      <p:grpSpPr>
        <a:xfrm>
          <a:off x="0" y="0"/>
          <a:ext cx="0" cy="0"/>
          <a:chOff x="0" y="0"/>
          <a:chExt cx="0" cy="0"/>
        </a:xfrm>
      </p:grpSpPr>
      <p:sp>
        <p:nvSpPr>
          <p:cNvPr id="360" name="Google Shape;360;p2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361" name="Google Shape;361;p23: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9"/>
        <p:cNvGrpSpPr/>
        <p:nvPr/>
      </p:nvGrpSpPr>
      <p:grpSpPr>
        <a:xfrm>
          <a:off x="0" y="0"/>
          <a:ext cx="0" cy="0"/>
          <a:chOff x="0" y="0"/>
          <a:chExt cx="0" cy="0"/>
        </a:xfrm>
      </p:grpSpPr>
      <p:sp>
        <p:nvSpPr>
          <p:cNvPr id="370" name="Google Shape;370;p2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371" name="Google Shape;371;p24: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79"/>
        <p:cNvGrpSpPr/>
        <p:nvPr/>
      </p:nvGrpSpPr>
      <p:grpSpPr>
        <a:xfrm>
          <a:off x="0" y="0"/>
          <a:ext cx="0" cy="0"/>
          <a:chOff x="0" y="0"/>
          <a:chExt cx="0" cy="0"/>
        </a:xfrm>
      </p:grpSpPr>
      <p:sp>
        <p:nvSpPr>
          <p:cNvPr id="380" name="Google Shape;380;p25: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381" name="Google Shape;381;p25: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9"/>
        <p:cNvGrpSpPr/>
        <p:nvPr/>
      </p:nvGrpSpPr>
      <p:grpSpPr>
        <a:xfrm>
          <a:off x="0" y="0"/>
          <a:ext cx="0" cy="0"/>
          <a:chOff x="0" y="0"/>
          <a:chExt cx="0" cy="0"/>
        </a:xfrm>
      </p:grpSpPr>
      <p:sp>
        <p:nvSpPr>
          <p:cNvPr id="10" name="Google Shape;10;p2"/>
          <p:cNvSpPr txBox="1">
            <a:spLocks noGrp="1"/>
          </p:cNvSpPr>
          <p:nvPr>
            <p:ph type="ctrTitle"/>
          </p:nvPr>
        </p:nvSpPr>
        <p:spPr>
          <a:xfrm>
            <a:off x="311708" y="744575"/>
            <a:ext cx="8520600" cy="2052600"/>
          </a:xfrm>
          <a:prstGeom prst="rect">
            <a:avLst/>
          </a:prstGeom>
          <a:noFill/>
          <a:ln>
            <a:noFill/>
          </a:ln>
        </p:spPr>
        <p:txBody>
          <a:bodyPr spcFirstLastPara="1" wrap="square" lIns="91425" tIns="91425" rIns="91425" bIns="91425" anchor="b" anchorCtr="0">
            <a:normAutofit/>
          </a:bodyPr>
          <a:lstStyle>
            <a:lvl1pPr lvl="0" algn="ctr">
              <a:lnSpc>
                <a:spcPct val="100000"/>
              </a:lnSpc>
              <a:spcBef>
                <a:spcPts val="0"/>
              </a:spcBef>
              <a:spcAft>
                <a:spcPts val="0"/>
              </a:spcAft>
              <a:buSzPts val="5200"/>
              <a:buNone/>
              <a:defRPr sz="5200"/>
            </a:lvl1pPr>
            <a:lvl2pPr lvl="1" algn="ctr">
              <a:lnSpc>
                <a:spcPct val="100000"/>
              </a:lnSpc>
              <a:spcBef>
                <a:spcPts val="0"/>
              </a:spcBef>
              <a:spcAft>
                <a:spcPts val="0"/>
              </a:spcAft>
              <a:buSzPts val="5200"/>
              <a:buNone/>
              <a:defRPr sz="5200"/>
            </a:lvl2pPr>
            <a:lvl3pPr lvl="2" algn="ctr">
              <a:lnSpc>
                <a:spcPct val="100000"/>
              </a:lnSpc>
              <a:spcBef>
                <a:spcPts val="0"/>
              </a:spcBef>
              <a:spcAft>
                <a:spcPts val="0"/>
              </a:spcAft>
              <a:buSzPts val="5200"/>
              <a:buNone/>
              <a:defRPr sz="5200"/>
            </a:lvl3pPr>
            <a:lvl4pPr lvl="3" algn="ctr">
              <a:lnSpc>
                <a:spcPct val="100000"/>
              </a:lnSpc>
              <a:spcBef>
                <a:spcPts val="0"/>
              </a:spcBef>
              <a:spcAft>
                <a:spcPts val="0"/>
              </a:spcAft>
              <a:buSzPts val="5200"/>
              <a:buNone/>
              <a:defRPr sz="5200"/>
            </a:lvl4pPr>
            <a:lvl5pPr lvl="4" algn="ctr">
              <a:lnSpc>
                <a:spcPct val="100000"/>
              </a:lnSpc>
              <a:spcBef>
                <a:spcPts val="0"/>
              </a:spcBef>
              <a:spcAft>
                <a:spcPts val="0"/>
              </a:spcAft>
              <a:buSzPts val="5200"/>
              <a:buNone/>
              <a:defRPr sz="5200"/>
            </a:lvl5pPr>
            <a:lvl6pPr lvl="5" algn="ctr">
              <a:lnSpc>
                <a:spcPct val="100000"/>
              </a:lnSpc>
              <a:spcBef>
                <a:spcPts val="0"/>
              </a:spcBef>
              <a:spcAft>
                <a:spcPts val="0"/>
              </a:spcAft>
              <a:buSzPts val="5200"/>
              <a:buNone/>
              <a:defRPr sz="5200"/>
            </a:lvl6pPr>
            <a:lvl7pPr lvl="6" algn="ctr">
              <a:lnSpc>
                <a:spcPct val="100000"/>
              </a:lnSpc>
              <a:spcBef>
                <a:spcPts val="0"/>
              </a:spcBef>
              <a:spcAft>
                <a:spcPts val="0"/>
              </a:spcAft>
              <a:buSzPts val="5200"/>
              <a:buNone/>
              <a:defRPr sz="5200"/>
            </a:lvl7pPr>
            <a:lvl8pPr lvl="7" algn="ctr">
              <a:lnSpc>
                <a:spcPct val="100000"/>
              </a:lnSpc>
              <a:spcBef>
                <a:spcPts val="0"/>
              </a:spcBef>
              <a:spcAft>
                <a:spcPts val="0"/>
              </a:spcAft>
              <a:buSzPts val="5200"/>
              <a:buNone/>
              <a:defRPr sz="5200"/>
            </a:lvl8pPr>
            <a:lvl9pPr lvl="8" algn="ctr">
              <a:lnSpc>
                <a:spcPct val="100000"/>
              </a:lnSpc>
              <a:spcBef>
                <a:spcPts val="0"/>
              </a:spcBef>
              <a:spcAft>
                <a:spcPts val="0"/>
              </a:spcAft>
              <a:buSzPts val="5200"/>
              <a:buNone/>
              <a:defRPr sz="5200"/>
            </a:lvl9pPr>
          </a:lstStyle>
          <a:p>
            <a:endParaRPr/>
          </a:p>
        </p:txBody>
      </p:sp>
      <p:sp>
        <p:nvSpPr>
          <p:cNvPr id="11" name="Google Shape;11;p2"/>
          <p:cNvSpPr txBox="1">
            <a:spLocks noGrp="1"/>
          </p:cNvSpPr>
          <p:nvPr>
            <p:ph type="subTitle" idx="1"/>
          </p:nvPr>
        </p:nvSpPr>
        <p:spPr>
          <a:xfrm>
            <a:off x="311700" y="2834125"/>
            <a:ext cx="8520600" cy="792600"/>
          </a:xfrm>
          <a:prstGeom prst="rect">
            <a:avLst/>
          </a:prstGeom>
          <a:noFill/>
          <a:ln>
            <a:noFill/>
          </a:ln>
        </p:spPr>
        <p:txBody>
          <a:bodyPr spcFirstLastPara="1" wrap="square" lIns="91425" tIns="91425" rIns="91425" bIns="91425" anchor="t" anchorCtr="0">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a:endParaRPr/>
          </a:p>
        </p:txBody>
      </p:sp>
      <p:sp>
        <p:nvSpPr>
          <p:cNvPr id="12" name="Google Shape;12;p2"/>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3"/>
        <p:cNvGrpSpPr/>
        <p:nvPr/>
      </p:nvGrpSpPr>
      <p:grpSpPr>
        <a:xfrm>
          <a:off x="0" y="0"/>
          <a:ext cx="0" cy="0"/>
          <a:chOff x="0" y="0"/>
          <a:chExt cx="0" cy="0"/>
        </a:xfrm>
      </p:grpSpPr>
      <p:sp>
        <p:nvSpPr>
          <p:cNvPr id="14" name="Google Shape;14;p3"/>
          <p:cNvSpPr txBox="1">
            <a:spLocks noGrp="1"/>
          </p:cNvSpPr>
          <p:nvPr>
            <p:ph type="title"/>
          </p:nvPr>
        </p:nvSpPr>
        <p:spPr>
          <a:xfrm>
            <a:off x="311700" y="2150850"/>
            <a:ext cx="8520600" cy="841800"/>
          </a:xfrm>
          <a:prstGeom prst="rect">
            <a:avLst/>
          </a:prstGeom>
          <a:noFill/>
          <a:ln>
            <a:noFill/>
          </a:ln>
        </p:spPr>
        <p:txBody>
          <a:bodyPr spcFirstLastPara="1" wrap="square" lIns="91425" tIns="91425" rIns="91425" bIns="91425" anchor="ctr" anchorCtr="0">
            <a:normAutofit/>
          </a:bodyPr>
          <a:lstStyle>
            <a:lvl1pPr lvl="0" algn="ctr">
              <a:lnSpc>
                <a:spcPct val="100000"/>
              </a:lnSpc>
              <a:spcBef>
                <a:spcPts val="0"/>
              </a:spcBef>
              <a:spcAft>
                <a:spcPts val="0"/>
              </a:spcAft>
              <a:buSzPts val="3600"/>
              <a:buNone/>
              <a:defRPr sz="3600"/>
            </a:lvl1pPr>
            <a:lvl2pPr lvl="1" algn="ctr">
              <a:lnSpc>
                <a:spcPct val="100000"/>
              </a:lnSpc>
              <a:spcBef>
                <a:spcPts val="0"/>
              </a:spcBef>
              <a:spcAft>
                <a:spcPts val="0"/>
              </a:spcAft>
              <a:buSzPts val="3600"/>
              <a:buNone/>
              <a:defRPr sz="3600"/>
            </a:lvl2pPr>
            <a:lvl3pPr lvl="2" algn="ctr">
              <a:lnSpc>
                <a:spcPct val="100000"/>
              </a:lnSpc>
              <a:spcBef>
                <a:spcPts val="0"/>
              </a:spcBef>
              <a:spcAft>
                <a:spcPts val="0"/>
              </a:spcAft>
              <a:buSzPts val="3600"/>
              <a:buNone/>
              <a:defRPr sz="3600"/>
            </a:lvl3pPr>
            <a:lvl4pPr lvl="3" algn="ctr">
              <a:lnSpc>
                <a:spcPct val="100000"/>
              </a:lnSpc>
              <a:spcBef>
                <a:spcPts val="0"/>
              </a:spcBef>
              <a:spcAft>
                <a:spcPts val="0"/>
              </a:spcAft>
              <a:buSzPts val="3600"/>
              <a:buNone/>
              <a:defRPr sz="3600"/>
            </a:lvl4pPr>
            <a:lvl5pPr lvl="4" algn="ctr">
              <a:lnSpc>
                <a:spcPct val="100000"/>
              </a:lnSpc>
              <a:spcBef>
                <a:spcPts val="0"/>
              </a:spcBef>
              <a:spcAft>
                <a:spcPts val="0"/>
              </a:spcAft>
              <a:buSzPts val="3600"/>
              <a:buNone/>
              <a:defRPr sz="3600"/>
            </a:lvl5pPr>
            <a:lvl6pPr lvl="5" algn="ctr">
              <a:lnSpc>
                <a:spcPct val="100000"/>
              </a:lnSpc>
              <a:spcBef>
                <a:spcPts val="0"/>
              </a:spcBef>
              <a:spcAft>
                <a:spcPts val="0"/>
              </a:spcAft>
              <a:buSzPts val="3600"/>
              <a:buNone/>
              <a:defRPr sz="3600"/>
            </a:lvl6pPr>
            <a:lvl7pPr lvl="6" algn="ctr">
              <a:lnSpc>
                <a:spcPct val="100000"/>
              </a:lnSpc>
              <a:spcBef>
                <a:spcPts val="0"/>
              </a:spcBef>
              <a:spcAft>
                <a:spcPts val="0"/>
              </a:spcAft>
              <a:buSzPts val="3600"/>
              <a:buNone/>
              <a:defRPr sz="3600"/>
            </a:lvl7pPr>
            <a:lvl8pPr lvl="7" algn="ctr">
              <a:lnSpc>
                <a:spcPct val="100000"/>
              </a:lnSpc>
              <a:spcBef>
                <a:spcPts val="0"/>
              </a:spcBef>
              <a:spcAft>
                <a:spcPts val="0"/>
              </a:spcAft>
              <a:buSzPts val="3600"/>
              <a:buNone/>
              <a:defRPr sz="3600"/>
            </a:lvl8pPr>
            <a:lvl9pPr lvl="8" algn="ctr">
              <a:lnSpc>
                <a:spcPct val="100000"/>
              </a:lnSpc>
              <a:spcBef>
                <a:spcPts val="0"/>
              </a:spcBef>
              <a:spcAft>
                <a:spcPts val="0"/>
              </a:spcAft>
              <a:buSzPts val="3600"/>
              <a:buNone/>
              <a:defRPr sz="3600"/>
            </a:lvl9pPr>
          </a:lstStyle>
          <a:p>
            <a:endParaRPr/>
          </a:p>
        </p:txBody>
      </p:sp>
      <p:sp>
        <p:nvSpPr>
          <p:cNvPr id="15" name="Google Shape;15;p3"/>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16"/>
        <p:cNvGrpSpPr/>
        <p:nvPr/>
      </p:nvGrpSpPr>
      <p:grpSpPr>
        <a:xfrm>
          <a:off x="0" y="0"/>
          <a:ext cx="0" cy="0"/>
          <a:chOff x="0" y="0"/>
          <a:chExt cx="0" cy="0"/>
        </a:xfrm>
      </p:grpSpPr>
      <p:sp>
        <p:nvSpPr>
          <p:cNvPr id="17" name="Google Shape;17;p4"/>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a:endParaRPr/>
          </a:p>
        </p:txBody>
      </p:sp>
      <p:sp>
        <p:nvSpPr>
          <p:cNvPr id="18" name="Google Shape;18;p4"/>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lvl1pPr marL="457200" lvl="0" indent="-342900" algn="l">
              <a:lnSpc>
                <a:spcPct val="115000"/>
              </a:lnSpc>
              <a:spcBef>
                <a:spcPts val="0"/>
              </a:spcBef>
              <a:spcAft>
                <a:spcPts val="0"/>
              </a:spcAft>
              <a:buSzPts val="1800"/>
              <a:buChar char="●"/>
              <a:defRPr/>
            </a:lvl1pPr>
            <a:lvl2pPr marL="914400" lvl="1" indent="-317500" algn="l">
              <a:lnSpc>
                <a:spcPct val="115000"/>
              </a:lnSpc>
              <a:spcBef>
                <a:spcPts val="0"/>
              </a:spcBef>
              <a:spcAft>
                <a:spcPts val="0"/>
              </a:spcAft>
              <a:buSzPts val="1400"/>
              <a:buChar char="○"/>
              <a:defRPr/>
            </a:lvl2pPr>
            <a:lvl3pPr marL="1371600" lvl="2" indent="-317500" algn="l">
              <a:lnSpc>
                <a:spcPct val="115000"/>
              </a:lnSpc>
              <a:spcBef>
                <a:spcPts val="0"/>
              </a:spcBef>
              <a:spcAft>
                <a:spcPts val="0"/>
              </a:spcAft>
              <a:buSzPts val="1400"/>
              <a:buChar char="■"/>
              <a:defRPr/>
            </a:lvl3pPr>
            <a:lvl4pPr marL="1828800" lvl="3" indent="-317500" algn="l">
              <a:lnSpc>
                <a:spcPct val="115000"/>
              </a:lnSpc>
              <a:spcBef>
                <a:spcPts val="0"/>
              </a:spcBef>
              <a:spcAft>
                <a:spcPts val="0"/>
              </a:spcAft>
              <a:buSzPts val="1400"/>
              <a:buChar char="●"/>
              <a:defRPr/>
            </a:lvl4pPr>
            <a:lvl5pPr marL="2286000" lvl="4" indent="-317500" algn="l">
              <a:lnSpc>
                <a:spcPct val="115000"/>
              </a:lnSpc>
              <a:spcBef>
                <a:spcPts val="0"/>
              </a:spcBef>
              <a:spcAft>
                <a:spcPts val="0"/>
              </a:spcAft>
              <a:buSzPts val="1400"/>
              <a:buChar char="○"/>
              <a:defRPr/>
            </a:lvl5pPr>
            <a:lvl6pPr marL="2743200" lvl="5" indent="-317500" algn="l">
              <a:lnSpc>
                <a:spcPct val="115000"/>
              </a:lnSpc>
              <a:spcBef>
                <a:spcPts val="0"/>
              </a:spcBef>
              <a:spcAft>
                <a:spcPts val="0"/>
              </a:spcAft>
              <a:buSzPts val="1400"/>
              <a:buChar char="■"/>
              <a:defRPr/>
            </a:lvl6pPr>
            <a:lvl7pPr marL="3200400" lvl="6" indent="-317500" algn="l">
              <a:lnSpc>
                <a:spcPct val="115000"/>
              </a:lnSpc>
              <a:spcBef>
                <a:spcPts val="0"/>
              </a:spcBef>
              <a:spcAft>
                <a:spcPts val="0"/>
              </a:spcAft>
              <a:buSzPts val="1400"/>
              <a:buChar char="●"/>
              <a:defRPr/>
            </a:lvl7pPr>
            <a:lvl8pPr marL="3657600" lvl="7" indent="-317500" algn="l">
              <a:lnSpc>
                <a:spcPct val="115000"/>
              </a:lnSpc>
              <a:spcBef>
                <a:spcPts val="0"/>
              </a:spcBef>
              <a:spcAft>
                <a:spcPts val="0"/>
              </a:spcAft>
              <a:buSzPts val="1400"/>
              <a:buChar char="○"/>
              <a:defRPr/>
            </a:lvl8pPr>
            <a:lvl9pPr marL="4114800" lvl="8" indent="-317500" algn="l">
              <a:lnSpc>
                <a:spcPct val="115000"/>
              </a:lnSpc>
              <a:spcBef>
                <a:spcPts val="0"/>
              </a:spcBef>
              <a:spcAft>
                <a:spcPts val="0"/>
              </a:spcAft>
              <a:buSzPts val="1400"/>
              <a:buChar char="■"/>
              <a:defRPr/>
            </a:lvl9pPr>
          </a:lstStyle>
          <a:p>
            <a:endParaRPr/>
          </a:p>
        </p:txBody>
      </p:sp>
      <p:sp>
        <p:nvSpPr>
          <p:cNvPr id="19" name="Google Shape;19;p4"/>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20"/>
        <p:cNvGrpSpPr/>
        <p:nvPr/>
      </p:nvGrpSpPr>
      <p:grpSpPr>
        <a:xfrm>
          <a:off x="0" y="0"/>
          <a:ext cx="0" cy="0"/>
          <a:chOff x="0" y="0"/>
          <a:chExt cx="0" cy="0"/>
        </a:xfrm>
      </p:grpSpPr>
      <p:sp>
        <p:nvSpPr>
          <p:cNvPr id="21" name="Google Shape;21;p5"/>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a:endParaRPr/>
          </a:p>
        </p:txBody>
      </p:sp>
      <p:sp>
        <p:nvSpPr>
          <p:cNvPr id="22" name="Google Shape;22;p5"/>
          <p:cNvSpPr txBox="1">
            <a:spLocks noGrp="1"/>
          </p:cNvSpPr>
          <p:nvPr>
            <p:ph type="body" idx="1"/>
          </p:nvPr>
        </p:nvSpPr>
        <p:spPr>
          <a:xfrm>
            <a:off x="311700" y="1152475"/>
            <a:ext cx="3999900" cy="3416400"/>
          </a:xfrm>
          <a:prstGeom prst="rect">
            <a:avLst/>
          </a:prstGeom>
          <a:noFill/>
          <a:ln>
            <a:noFill/>
          </a:ln>
        </p:spPr>
        <p:txBody>
          <a:bodyPr spcFirstLastPara="1" wrap="square" lIns="91425" tIns="91425" rIns="91425" bIns="91425" anchor="t" anchorCtr="0">
            <a:normAutofit/>
          </a:bodyPr>
          <a:lstStyle>
            <a:lvl1pPr marL="457200" lvl="0" indent="-317500" algn="l">
              <a:lnSpc>
                <a:spcPct val="115000"/>
              </a:lnSpc>
              <a:spcBef>
                <a:spcPts val="0"/>
              </a:spcBef>
              <a:spcAft>
                <a:spcPts val="0"/>
              </a:spcAft>
              <a:buSzPts val="1400"/>
              <a:buChar char="●"/>
              <a:defRPr sz="1400"/>
            </a:lvl1pPr>
            <a:lvl2pPr marL="914400" lvl="1" indent="-304800" algn="l">
              <a:lnSpc>
                <a:spcPct val="115000"/>
              </a:lnSpc>
              <a:spcBef>
                <a:spcPts val="0"/>
              </a:spcBef>
              <a:spcAft>
                <a:spcPts val="0"/>
              </a:spcAft>
              <a:buSzPts val="1200"/>
              <a:buChar char="○"/>
              <a:defRPr sz="1200"/>
            </a:lvl2pPr>
            <a:lvl3pPr marL="1371600" lvl="2" indent="-304800" algn="l">
              <a:lnSpc>
                <a:spcPct val="115000"/>
              </a:lnSpc>
              <a:spcBef>
                <a:spcPts val="0"/>
              </a:spcBef>
              <a:spcAft>
                <a:spcPts val="0"/>
              </a:spcAft>
              <a:buSzPts val="1200"/>
              <a:buChar char="■"/>
              <a:defRPr sz="1200"/>
            </a:lvl3pPr>
            <a:lvl4pPr marL="1828800" lvl="3" indent="-304800" algn="l">
              <a:lnSpc>
                <a:spcPct val="115000"/>
              </a:lnSpc>
              <a:spcBef>
                <a:spcPts val="0"/>
              </a:spcBef>
              <a:spcAft>
                <a:spcPts val="0"/>
              </a:spcAft>
              <a:buSzPts val="1200"/>
              <a:buChar char="●"/>
              <a:defRPr sz="1200"/>
            </a:lvl4pPr>
            <a:lvl5pPr marL="2286000" lvl="4" indent="-304800" algn="l">
              <a:lnSpc>
                <a:spcPct val="115000"/>
              </a:lnSpc>
              <a:spcBef>
                <a:spcPts val="0"/>
              </a:spcBef>
              <a:spcAft>
                <a:spcPts val="0"/>
              </a:spcAft>
              <a:buSzPts val="1200"/>
              <a:buChar char="○"/>
              <a:defRPr sz="1200"/>
            </a:lvl5pPr>
            <a:lvl6pPr marL="2743200" lvl="5" indent="-304800" algn="l">
              <a:lnSpc>
                <a:spcPct val="115000"/>
              </a:lnSpc>
              <a:spcBef>
                <a:spcPts val="0"/>
              </a:spcBef>
              <a:spcAft>
                <a:spcPts val="0"/>
              </a:spcAft>
              <a:buSzPts val="1200"/>
              <a:buChar char="■"/>
              <a:defRPr sz="1200"/>
            </a:lvl6pPr>
            <a:lvl7pPr marL="3200400" lvl="6" indent="-304800" algn="l">
              <a:lnSpc>
                <a:spcPct val="115000"/>
              </a:lnSpc>
              <a:spcBef>
                <a:spcPts val="0"/>
              </a:spcBef>
              <a:spcAft>
                <a:spcPts val="0"/>
              </a:spcAft>
              <a:buSzPts val="1200"/>
              <a:buChar char="●"/>
              <a:defRPr sz="1200"/>
            </a:lvl7pPr>
            <a:lvl8pPr marL="3657600" lvl="7" indent="-304800" algn="l">
              <a:lnSpc>
                <a:spcPct val="115000"/>
              </a:lnSpc>
              <a:spcBef>
                <a:spcPts val="0"/>
              </a:spcBef>
              <a:spcAft>
                <a:spcPts val="0"/>
              </a:spcAft>
              <a:buSzPts val="1200"/>
              <a:buChar char="○"/>
              <a:defRPr sz="1200"/>
            </a:lvl8pPr>
            <a:lvl9pPr marL="4114800" lvl="8" indent="-304800" algn="l">
              <a:lnSpc>
                <a:spcPct val="115000"/>
              </a:lnSpc>
              <a:spcBef>
                <a:spcPts val="0"/>
              </a:spcBef>
              <a:spcAft>
                <a:spcPts val="0"/>
              </a:spcAft>
              <a:buSzPts val="1200"/>
              <a:buChar char="■"/>
              <a:defRPr sz="1200"/>
            </a:lvl9pPr>
          </a:lstStyle>
          <a:p>
            <a:endParaRPr/>
          </a:p>
        </p:txBody>
      </p:sp>
      <p:sp>
        <p:nvSpPr>
          <p:cNvPr id="23" name="Google Shape;23;p5"/>
          <p:cNvSpPr txBox="1">
            <a:spLocks noGrp="1"/>
          </p:cNvSpPr>
          <p:nvPr>
            <p:ph type="body" idx="2"/>
          </p:nvPr>
        </p:nvSpPr>
        <p:spPr>
          <a:xfrm>
            <a:off x="4832400" y="1152475"/>
            <a:ext cx="3999900" cy="3416400"/>
          </a:xfrm>
          <a:prstGeom prst="rect">
            <a:avLst/>
          </a:prstGeom>
          <a:noFill/>
          <a:ln>
            <a:noFill/>
          </a:ln>
        </p:spPr>
        <p:txBody>
          <a:bodyPr spcFirstLastPara="1" wrap="square" lIns="91425" tIns="91425" rIns="91425" bIns="91425" anchor="t" anchorCtr="0">
            <a:normAutofit/>
          </a:bodyPr>
          <a:lstStyle>
            <a:lvl1pPr marL="457200" lvl="0" indent="-317500" algn="l">
              <a:lnSpc>
                <a:spcPct val="115000"/>
              </a:lnSpc>
              <a:spcBef>
                <a:spcPts val="0"/>
              </a:spcBef>
              <a:spcAft>
                <a:spcPts val="0"/>
              </a:spcAft>
              <a:buSzPts val="1400"/>
              <a:buChar char="●"/>
              <a:defRPr sz="1400"/>
            </a:lvl1pPr>
            <a:lvl2pPr marL="914400" lvl="1" indent="-304800" algn="l">
              <a:lnSpc>
                <a:spcPct val="115000"/>
              </a:lnSpc>
              <a:spcBef>
                <a:spcPts val="0"/>
              </a:spcBef>
              <a:spcAft>
                <a:spcPts val="0"/>
              </a:spcAft>
              <a:buSzPts val="1200"/>
              <a:buChar char="○"/>
              <a:defRPr sz="1200"/>
            </a:lvl2pPr>
            <a:lvl3pPr marL="1371600" lvl="2" indent="-304800" algn="l">
              <a:lnSpc>
                <a:spcPct val="115000"/>
              </a:lnSpc>
              <a:spcBef>
                <a:spcPts val="0"/>
              </a:spcBef>
              <a:spcAft>
                <a:spcPts val="0"/>
              </a:spcAft>
              <a:buSzPts val="1200"/>
              <a:buChar char="■"/>
              <a:defRPr sz="1200"/>
            </a:lvl3pPr>
            <a:lvl4pPr marL="1828800" lvl="3" indent="-304800" algn="l">
              <a:lnSpc>
                <a:spcPct val="115000"/>
              </a:lnSpc>
              <a:spcBef>
                <a:spcPts val="0"/>
              </a:spcBef>
              <a:spcAft>
                <a:spcPts val="0"/>
              </a:spcAft>
              <a:buSzPts val="1200"/>
              <a:buChar char="●"/>
              <a:defRPr sz="1200"/>
            </a:lvl4pPr>
            <a:lvl5pPr marL="2286000" lvl="4" indent="-304800" algn="l">
              <a:lnSpc>
                <a:spcPct val="115000"/>
              </a:lnSpc>
              <a:spcBef>
                <a:spcPts val="0"/>
              </a:spcBef>
              <a:spcAft>
                <a:spcPts val="0"/>
              </a:spcAft>
              <a:buSzPts val="1200"/>
              <a:buChar char="○"/>
              <a:defRPr sz="1200"/>
            </a:lvl5pPr>
            <a:lvl6pPr marL="2743200" lvl="5" indent="-304800" algn="l">
              <a:lnSpc>
                <a:spcPct val="115000"/>
              </a:lnSpc>
              <a:spcBef>
                <a:spcPts val="0"/>
              </a:spcBef>
              <a:spcAft>
                <a:spcPts val="0"/>
              </a:spcAft>
              <a:buSzPts val="1200"/>
              <a:buChar char="■"/>
              <a:defRPr sz="1200"/>
            </a:lvl6pPr>
            <a:lvl7pPr marL="3200400" lvl="6" indent="-304800" algn="l">
              <a:lnSpc>
                <a:spcPct val="115000"/>
              </a:lnSpc>
              <a:spcBef>
                <a:spcPts val="0"/>
              </a:spcBef>
              <a:spcAft>
                <a:spcPts val="0"/>
              </a:spcAft>
              <a:buSzPts val="1200"/>
              <a:buChar char="●"/>
              <a:defRPr sz="1200"/>
            </a:lvl7pPr>
            <a:lvl8pPr marL="3657600" lvl="7" indent="-304800" algn="l">
              <a:lnSpc>
                <a:spcPct val="115000"/>
              </a:lnSpc>
              <a:spcBef>
                <a:spcPts val="0"/>
              </a:spcBef>
              <a:spcAft>
                <a:spcPts val="0"/>
              </a:spcAft>
              <a:buSzPts val="1200"/>
              <a:buChar char="○"/>
              <a:defRPr sz="1200"/>
            </a:lvl8pPr>
            <a:lvl9pPr marL="4114800" lvl="8" indent="-304800" algn="l">
              <a:lnSpc>
                <a:spcPct val="115000"/>
              </a:lnSpc>
              <a:spcBef>
                <a:spcPts val="0"/>
              </a:spcBef>
              <a:spcAft>
                <a:spcPts val="0"/>
              </a:spcAft>
              <a:buSzPts val="1200"/>
              <a:buChar char="■"/>
              <a:defRPr sz="1200"/>
            </a:lvl9pPr>
          </a:lstStyle>
          <a:p>
            <a:endParaRPr/>
          </a:p>
        </p:txBody>
      </p:sp>
      <p:sp>
        <p:nvSpPr>
          <p:cNvPr id="24" name="Google Shape;24;p5"/>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25"/>
        <p:cNvGrpSpPr/>
        <p:nvPr/>
      </p:nvGrpSpPr>
      <p:grpSpPr>
        <a:xfrm>
          <a:off x="0" y="0"/>
          <a:ext cx="0" cy="0"/>
          <a:chOff x="0" y="0"/>
          <a:chExt cx="0" cy="0"/>
        </a:xfrm>
      </p:grpSpPr>
      <p:sp>
        <p:nvSpPr>
          <p:cNvPr id="26" name="Google Shape;26;p6"/>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a:endParaRPr/>
          </a:p>
        </p:txBody>
      </p:sp>
      <p:sp>
        <p:nvSpPr>
          <p:cNvPr id="27" name="Google Shape;27;p6"/>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28"/>
        <p:cNvGrpSpPr/>
        <p:nvPr/>
      </p:nvGrpSpPr>
      <p:grpSpPr>
        <a:xfrm>
          <a:off x="0" y="0"/>
          <a:ext cx="0" cy="0"/>
          <a:chOff x="0" y="0"/>
          <a:chExt cx="0" cy="0"/>
        </a:xfrm>
      </p:grpSpPr>
      <p:sp>
        <p:nvSpPr>
          <p:cNvPr id="29" name="Google Shape;29;p7"/>
          <p:cNvSpPr txBox="1">
            <a:spLocks noGrp="1"/>
          </p:cNvSpPr>
          <p:nvPr>
            <p:ph type="title"/>
          </p:nvPr>
        </p:nvSpPr>
        <p:spPr>
          <a:xfrm>
            <a:off x="311700" y="555600"/>
            <a:ext cx="2808000" cy="755700"/>
          </a:xfrm>
          <a:prstGeom prst="rect">
            <a:avLst/>
          </a:prstGeom>
          <a:noFill/>
          <a:ln>
            <a:noFill/>
          </a:ln>
        </p:spPr>
        <p:txBody>
          <a:bodyPr spcFirstLastPara="1" wrap="square" lIns="91425" tIns="91425" rIns="91425" bIns="91425" anchor="b" anchorCtr="0">
            <a:normAutofit/>
          </a:bodyPr>
          <a:lstStyle>
            <a:lvl1pPr lvl="0" algn="l">
              <a:lnSpc>
                <a:spcPct val="100000"/>
              </a:lnSpc>
              <a:spcBef>
                <a:spcPts val="0"/>
              </a:spcBef>
              <a:spcAft>
                <a:spcPts val="0"/>
              </a:spcAft>
              <a:buSzPts val="2400"/>
              <a:buNone/>
              <a:defRPr sz="2400"/>
            </a:lvl1pPr>
            <a:lvl2pPr lvl="1" algn="l">
              <a:lnSpc>
                <a:spcPct val="100000"/>
              </a:lnSpc>
              <a:spcBef>
                <a:spcPts val="0"/>
              </a:spcBef>
              <a:spcAft>
                <a:spcPts val="0"/>
              </a:spcAft>
              <a:buSzPts val="2400"/>
              <a:buNone/>
              <a:defRPr sz="2400"/>
            </a:lvl2pPr>
            <a:lvl3pPr lvl="2" algn="l">
              <a:lnSpc>
                <a:spcPct val="100000"/>
              </a:lnSpc>
              <a:spcBef>
                <a:spcPts val="0"/>
              </a:spcBef>
              <a:spcAft>
                <a:spcPts val="0"/>
              </a:spcAft>
              <a:buSzPts val="2400"/>
              <a:buNone/>
              <a:defRPr sz="2400"/>
            </a:lvl3pPr>
            <a:lvl4pPr lvl="3" algn="l">
              <a:lnSpc>
                <a:spcPct val="100000"/>
              </a:lnSpc>
              <a:spcBef>
                <a:spcPts val="0"/>
              </a:spcBef>
              <a:spcAft>
                <a:spcPts val="0"/>
              </a:spcAft>
              <a:buSzPts val="2400"/>
              <a:buNone/>
              <a:defRPr sz="2400"/>
            </a:lvl4pPr>
            <a:lvl5pPr lvl="4" algn="l">
              <a:lnSpc>
                <a:spcPct val="100000"/>
              </a:lnSpc>
              <a:spcBef>
                <a:spcPts val="0"/>
              </a:spcBef>
              <a:spcAft>
                <a:spcPts val="0"/>
              </a:spcAft>
              <a:buSzPts val="2400"/>
              <a:buNone/>
              <a:defRPr sz="2400"/>
            </a:lvl5pPr>
            <a:lvl6pPr lvl="5" algn="l">
              <a:lnSpc>
                <a:spcPct val="100000"/>
              </a:lnSpc>
              <a:spcBef>
                <a:spcPts val="0"/>
              </a:spcBef>
              <a:spcAft>
                <a:spcPts val="0"/>
              </a:spcAft>
              <a:buSzPts val="2400"/>
              <a:buNone/>
              <a:defRPr sz="2400"/>
            </a:lvl6pPr>
            <a:lvl7pPr lvl="6" algn="l">
              <a:lnSpc>
                <a:spcPct val="100000"/>
              </a:lnSpc>
              <a:spcBef>
                <a:spcPts val="0"/>
              </a:spcBef>
              <a:spcAft>
                <a:spcPts val="0"/>
              </a:spcAft>
              <a:buSzPts val="2400"/>
              <a:buNone/>
              <a:defRPr sz="2400"/>
            </a:lvl7pPr>
            <a:lvl8pPr lvl="7" algn="l">
              <a:lnSpc>
                <a:spcPct val="100000"/>
              </a:lnSpc>
              <a:spcBef>
                <a:spcPts val="0"/>
              </a:spcBef>
              <a:spcAft>
                <a:spcPts val="0"/>
              </a:spcAft>
              <a:buSzPts val="2400"/>
              <a:buNone/>
              <a:defRPr sz="2400"/>
            </a:lvl8pPr>
            <a:lvl9pPr lvl="8" algn="l">
              <a:lnSpc>
                <a:spcPct val="100000"/>
              </a:lnSpc>
              <a:spcBef>
                <a:spcPts val="0"/>
              </a:spcBef>
              <a:spcAft>
                <a:spcPts val="0"/>
              </a:spcAft>
              <a:buSzPts val="2400"/>
              <a:buNone/>
              <a:defRPr sz="2400"/>
            </a:lvl9pPr>
          </a:lstStyle>
          <a:p>
            <a:endParaRPr/>
          </a:p>
        </p:txBody>
      </p:sp>
      <p:sp>
        <p:nvSpPr>
          <p:cNvPr id="30" name="Google Shape;30;p7"/>
          <p:cNvSpPr txBox="1">
            <a:spLocks noGrp="1"/>
          </p:cNvSpPr>
          <p:nvPr>
            <p:ph type="body" idx="1"/>
          </p:nvPr>
        </p:nvSpPr>
        <p:spPr>
          <a:xfrm>
            <a:off x="311700" y="1389600"/>
            <a:ext cx="2808000" cy="3179400"/>
          </a:xfrm>
          <a:prstGeom prst="rect">
            <a:avLst/>
          </a:prstGeom>
          <a:noFill/>
          <a:ln>
            <a:noFill/>
          </a:ln>
        </p:spPr>
        <p:txBody>
          <a:bodyPr spcFirstLastPara="1" wrap="square" lIns="91425" tIns="91425" rIns="91425" bIns="91425" anchor="t" anchorCtr="0">
            <a:normAutofit/>
          </a:bodyPr>
          <a:lstStyle>
            <a:lvl1pPr marL="457200" lvl="0" indent="-304800" algn="l">
              <a:lnSpc>
                <a:spcPct val="115000"/>
              </a:lnSpc>
              <a:spcBef>
                <a:spcPts val="0"/>
              </a:spcBef>
              <a:spcAft>
                <a:spcPts val="0"/>
              </a:spcAft>
              <a:buSzPts val="1200"/>
              <a:buChar char="●"/>
              <a:defRPr sz="1200"/>
            </a:lvl1pPr>
            <a:lvl2pPr marL="914400" lvl="1" indent="-304800" algn="l">
              <a:lnSpc>
                <a:spcPct val="115000"/>
              </a:lnSpc>
              <a:spcBef>
                <a:spcPts val="0"/>
              </a:spcBef>
              <a:spcAft>
                <a:spcPts val="0"/>
              </a:spcAft>
              <a:buSzPts val="1200"/>
              <a:buChar char="○"/>
              <a:defRPr sz="1200"/>
            </a:lvl2pPr>
            <a:lvl3pPr marL="1371600" lvl="2" indent="-304800" algn="l">
              <a:lnSpc>
                <a:spcPct val="115000"/>
              </a:lnSpc>
              <a:spcBef>
                <a:spcPts val="0"/>
              </a:spcBef>
              <a:spcAft>
                <a:spcPts val="0"/>
              </a:spcAft>
              <a:buSzPts val="1200"/>
              <a:buChar char="■"/>
              <a:defRPr sz="1200"/>
            </a:lvl3pPr>
            <a:lvl4pPr marL="1828800" lvl="3" indent="-304800" algn="l">
              <a:lnSpc>
                <a:spcPct val="115000"/>
              </a:lnSpc>
              <a:spcBef>
                <a:spcPts val="0"/>
              </a:spcBef>
              <a:spcAft>
                <a:spcPts val="0"/>
              </a:spcAft>
              <a:buSzPts val="1200"/>
              <a:buChar char="●"/>
              <a:defRPr sz="1200"/>
            </a:lvl4pPr>
            <a:lvl5pPr marL="2286000" lvl="4" indent="-304800" algn="l">
              <a:lnSpc>
                <a:spcPct val="115000"/>
              </a:lnSpc>
              <a:spcBef>
                <a:spcPts val="0"/>
              </a:spcBef>
              <a:spcAft>
                <a:spcPts val="0"/>
              </a:spcAft>
              <a:buSzPts val="1200"/>
              <a:buChar char="○"/>
              <a:defRPr sz="1200"/>
            </a:lvl5pPr>
            <a:lvl6pPr marL="2743200" lvl="5" indent="-304800" algn="l">
              <a:lnSpc>
                <a:spcPct val="115000"/>
              </a:lnSpc>
              <a:spcBef>
                <a:spcPts val="0"/>
              </a:spcBef>
              <a:spcAft>
                <a:spcPts val="0"/>
              </a:spcAft>
              <a:buSzPts val="1200"/>
              <a:buChar char="■"/>
              <a:defRPr sz="1200"/>
            </a:lvl6pPr>
            <a:lvl7pPr marL="3200400" lvl="6" indent="-304800" algn="l">
              <a:lnSpc>
                <a:spcPct val="115000"/>
              </a:lnSpc>
              <a:spcBef>
                <a:spcPts val="0"/>
              </a:spcBef>
              <a:spcAft>
                <a:spcPts val="0"/>
              </a:spcAft>
              <a:buSzPts val="1200"/>
              <a:buChar char="●"/>
              <a:defRPr sz="1200"/>
            </a:lvl7pPr>
            <a:lvl8pPr marL="3657600" lvl="7" indent="-304800" algn="l">
              <a:lnSpc>
                <a:spcPct val="115000"/>
              </a:lnSpc>
              <a:spcBef>
                <a:spcPts val="0"/>
              </a:spcBef>
              <a:spcAft>
                <a:spcPts val="0"/>
              </a:spcAft>
              <a:buSzPts val="1200"/>
              <a:buChar char="○"/>
              <a:defRPr sz="1200"/>
            </a:lvl8pPr>
            <a:lvl9pPr marL="4114800" lvl="8" indent="-304800" algn="l">
              <a:lnSpc>
                <a:spcPct val="115000"/>
              </a:lnSpc>
              <a:spcBef>
                <a:spcPts val="0"/>
              </a:spcBef>
              <a:spcAft>
                <a:spcPts val="0"/>
              </a:spcAft>
              <a:buSzPts val="1200"/>
              <a:buChar char="■"/>
              <a:defRPr sz="1200"/>
            </a:lvl9pPr>
          </a:lstStyle>
          <a:p>
            <a:endParaRPr/>
          </a:p>
        </p:txBody>
      </p:sp>
      <p:sp>
        <p:nvSpPr>
          <p:cNvPr id="31" name="Google Shape;31;p7"/>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32"/>
        <p:cNvGrpSpPr/>
        <p:nvPr/>
      </p:nvGrpSpPr>
      <p:grpSpPr>
        <a:xfrm>
          <a:off x="0" y="0"/>
          <a:ext cx="0" cy="0"/>
          <a:chOff x="0" y="0"/>
          <a:chExt cx="0" cy="0"/>
        </a:xfrm>
      </p:grpSpPr>
      <p:sp>
        <p:nvSpPr>
          <p:cNvPr id="33" name="Google Shape;33;p8"/>
          <p:cNvSpPr txBox="1">
            <a:spLocks noGrp="1"/>
          </p:cNvSpPr>
          <p:nvPr>
            <p:ph type="title"/>
          </p:nvPr>
        </p:nvSpPr>
        <p:spPr>
          <a:xfrm>
            <a:off x="490250" y="450150"/>
            <a:ext cx="6367800" cy="4090800"/>
          </a:xfrm>
          <a:prstGeom prst="rect">
            <a:avLst/>
          </a:prstGeom>
          <a:noFill/>
          <a:ln>
            <a:noFill/>
          </a:ln>
        </p:spPr>
        <p:txBody>
          <a:bodyPr spcFirstLastPara="1" wrap="square" lIns="91425" tIns="91425" rIns="91425" bIns="91425" anchor="ctr" anchorCtr="0">
            <a:normAutofit/>
          </a:bodyPr>
          <a:lstStyle>
            <a:lvl1pPr lvl="0" algn="l">
              <a:lnSpc>
                <a:spcPct val="100000"/>
              </a:lnSpc>
              <a:spcBef>
                <a:spcPts val="0"/>
              </a:spcBef>
              <a:spcAft>
                <a:spcPts val="0"/>
              </a:spcAft>
              <a:buSzPts val="4800"/>
              <a:buNone/>
              <a:defRPr sz="4800"/>
            </a:lvl1pPr>
            <a:lvl2pPr lvl="1" algn="l">
              <a:lnSpc>
                <a:spcPct val="100000"/>
              </a:lnSpc>
              <a:spcBef>
                <a:spcPts val="0"/>
              </a:spcBef>
              <a:spcAft>
                <a:spcPts val="0"/>
              </a:spcAft>
              <a:buSzPts val="4800"/>
              <a:buNone/>
              <a:defRPr sz="4800"/>
            </a:lvl2pPr>
            <a:lvl3pPr lvl="2" algn="l">
              <a:lnSpc>
                <a:spcPct val="100000"/>
              </a:lnSpc>
              <a:spcBef>
                <a:spcPts val="0"/>
              </a:spcBef>
              <a:spcAft>
                <a:spcPts val="0"/>
              </a:spcAft>
              <a:buSzPts val="4800"/>
              <a:buNone/>
              <a:defRPr sz="4800"/>
            </a:lvl3pPr>
            <a:lvl4pPr lvl="3" algn="l">
              <a:lnSpc>
                <a:spcPct val="100000"/>
              </a:lnSpc>
              <a:spcBef>
                <a:spcPts val="0"/>
              </a:spcBef>
              <a:spcAft>
                <a:spcPts val="0"/>
              </a:spcAft>
              <a:buSzPts val="4800"/>
              <a:buNone/>
              <a:defRPr sz="4800"/>
            </a:lvl4pPr>
            <a:lvl5pPr lvl="4" algn="l">
              <a:lnSpc>
                <a:spcPct val="100000"/>
              </a:lnSpc>
              <a:spcBef>
                <a:spcPts val="0"/>
              </a:spcBef>
              <a:spcAft>
                <a:spcPts val="0"/>
              </a:spcAft>
              <a:buSzPts val="4800"/>
              <a:buNone/>
              <a:defRPr sz="4800"/>
            </a:lvl5pPr>
            <a:lvl6pPr lvl="5" algn="l">
              <a:lnSpc>
                <a:spcPct val="100000"/>
              </a:lnSpc>
              <a:spcBef>
                <a:spcPts val="0"/>
              </a:spcBef>
              <a:spcAft>
                <a:spcPts val="0"/>
              </a:spcAft>
              <a:buSzPts val="4800"/>
              <a:buNone/>
              <a:defRPr sz="4800"/>
            </a:lvl6pPr>
            <a:lvl7pPr lvl="6" algn="l">
              <a:lnSpc>
                <a:spcPct val="100000"/>
              </a:lnSpc>
              <a:spcBef>
                <a:spcPts val="0"/>
              </a:spcBef>
              <a:spcAft>
                <a:spcPts val="0"/>
              </a:spcAft>
              <a:buSzPts val="4800"/>
              <a:buNone/>
              <a:defRPr sz="4800"/>
            </a:lvl7pPr>
            <a:lvl8pPr lvl="7" algn="l">
              <a:lnSpc>
                <a:spcPct val="100000"/>
              </a:lnSpc>
              <a:spcBef>
                <a:spcPts val="0"/>
              </a:spcBef>
              <a:spcAft>
                <a:spcPts val="0"/>
              </a:spcAft>
              <a:buSzPts val="4800"/>
              <a:buNone/>
              <a:defRPr sz="4800"/>
            </a:lvl8pPr>
            <a:lvl9pPr lvl="8" algn="l">
              <a:lnSpc>
                <a:spcPct val="100000"/>
              </a:lnSpc>
              <a:spcBef>
                <a:spcPts val="0"/>
              </a:spcBef>
              <a:spcAft>
                <a:spcPts val="0"/>
              </a:spcAft>
              <a:buSzPts val="4800"/>
              <a:buNone/>
              <a:defRPr sz="4800"/>
            </a:lvl9pPr>
          </a:lstStyle>
          <a:p>
            <a:endParaRPr/>
          </a:p>
        </p:txBody>
      </p:sp>
      <p:sp>
        <p:nvSpPr>
          <p:cNvPr id="34" name="Google Shape;34;p8"/>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7" name="Google Shape;37;p9"/>
          <p:cNvSpPr txBox="1">
            <a:spLocks noGrp="1"/>
          </p:cNvSpPr>
          <p:nvPr>
            <p:ph type="title"/>
          </p:nvPr>
        </p:nvSpPr>
        <p:spPr>
          <a:xfrm>
            <a:off x="265500" y="1233175"/>
            <a:ext cx="4045200" cy="1482300"/>
          </a:xfrm>
          <a:prstGeom prst="rect">
            <a:avLst/>
          </a:prstGeom>
          <a:noFill/>
          <a:ln>
            <a:noFill/>
          </a:ln>
        </p:spPr>
        <p:txBody>
          <a:bodyPr spcFirstLastPara="1" wrap="square" lIns="91425" tIns="91425" rIns="91425" bIns="91425" anchor="b" anchorCtr="0">
            <a:normAutofit/>
          </a:bodyPr>
          <a:lstStyle>
            <a:lvl1pPr lvl="0" algn="ctr">
              <a:lnSpc>
                <a:spcPct val="100000"/>
              </a:lnSpc>
              <a:spcBef>
                <a:spcPts val="0"/>
              </a:spcBef>
              <a:spcAft>
                <a:spcPts val="0"/>
              </a:spcAft>
              <a:buSzPts val="4200"/>
              <a:buNone/>
              <a:defRPr sz="4200"/>
            </a:lvl1pPr>
            <a:lvl2pPr lvl="1" algn="ctr">
              <a:lnSpc>
                <a:spcPct val="100000"/>
              </a:lnSpc>
              <a:spcBef>
                <a:spcPts val="0"/>
              </a:spcBef>
              <a:spcAft>
                <a:spcPts val="0"/>
              </a:spcAft>
              <a:buSzPts val="4200"/>
              <a:buNone/>
              <a:defRPr sz="4200"/>
            </a:lvl2pPr>
            <a:lvl3pPr lvl="2" algn="ctr">
              <a:lnSpc>
                <a:spcPct val="100000"/>
              </a:lnSpc>
              <a:spcBef>
                <a:spcPts val="0"/>
              </a:spcBef>
              <a:spcAft>
                <a:spcPts val="0"/>
              </a:spcAft>
              <a:buSzPts val="4200"/>
              <a:buNone/>
              <a:defRPr sz="4200"/>
            </a:lvl3pPr>
            <a:lvl4pPr lvl="3" algn="ctr">
              <a:lnSpc>
                <a:spcPct val="100000"/>
              </a:lnSpc>
              <a:spcBef>
                <a:spcPts val="0"/>
              </a:spcBef>
              <a:spcAft>
                <a:spcPts val="0"/>
              </a:spcAft>
              <a:buSzPts val="4200"/>
              <a:buNone/>
              <a:defRPr sz="4200"/>
            </a:lvl4pPr>
            <a:lvl5pPr lvl="4" algn="ctr">
              <a:lnSpc>
                <a:spcPct val="100000"/>
              </a:lnSpc>
              <a:spcBef>
                <a:spcPts val="0"/>
              </a:spcBef>
              <a:spcAft>
                <a:spcPts val="0"/>
              </a:spcAft>
              <a:buSzPts val="4200"/>
              <a:buNone/>
              <a:defRPr sz="4200"/>
            </a:lvl5pPr>
            <a:lvl6pPr lvl="5" algn="ctr">
              <a:lnSpc>
                <a:spcPct val="100000"/>
              </a:lnSpc>
              <a:spcBef>
                <a:spcPts val="0"/>
              </a:spcBef>
              <a:spcAft>
                <a:spcPts val="0"/>
              </a:spcAft>
              <a:buSzPts val="4200"/>
              <a:buNone/>
              <a:defRPr sz="4200"/>
            </a:lvl6pPr>
            <a:lvl7pPr lvl="6" algn="ctr">
              <a:lnSpc>
                <a:spcPct val="100000"/>
              </a:lnSpc>
              <a:spcBef>
                <a:spcPts val="0"/>
              </a:spcBef>
              <a:spcAft>
                <a:spcPts val="0"/>
              </a:spcAft>
              <a:buSzPts val="4200"/>
              <a:buNone/>
              <a:defRPr sz="4200"/>
            </a:lvl7pPr>
            <a:lvl8pPr lvl="7" algn="ctr">
              <a:lnSpc>
                <a:spcPct val="100000"/>
              </a:lnSpc>
              <a:spcBef>
                <a:spcPts val="0"/>
              </a:spcBef>
              <a:spcAft>
                <a:spcPts val="0"/>
              </a:spcAft>
              <a:buSzPts val="4200"/>
              <a:buNone/>
              <a:defRPr sz="4200"/>
            </a:lvl8pPr>
            <a:lvl9pPr lvl="8" algn="ctr">
              <a:lnSpc>
                <a:spcPct val="100000"/>
              </a:lnSpc>
              <a:spcBef>
                <a:spcPts val="0"/>
              </a:spcBef>
              <a:spcAft>
                <a:spcPts val="0"/>
              </a:spcAft>
              <a:buSzPts val="4200"/>
              <a:buNone/>
              <a:defRPr sz="4200"/>
            </a:lvl9pPr>
          </a:lstStyle>
          <a:p>
            <a:endParaRPr/>
          </a:p>
        </p:txBody>
      </p:sp>
      <p:sp>
        <p:nvSpPr>
          <p:cNvPr id="38" name="Google Shape;38;p9"/>
          <p:cNvSpPr txBox="1">
            <a:spLocks noGrp="1"/>
          </p:cNvSpPr>
          <p:nvPr>
            <p:ph type="subTitle" idx="1"/>
          </p:nvPr>
        </p:nvSpPr>
        <p:spPr>
          <a:xfrm>
            <a:off x="265500" y="2803075"/>
            <a:ext cx="4045200" cy="1235100"/>
          </a:xfrm>
          <a:prstGeom prst="rect">
            <a:avLst/>
          </a:prstGeom>
          <a:noFill/>
          <a:ln>
            <a:noFill/>
          </a:ln>
        </p:spPr>
        <p:txBody>
          <a:bodyPr spcFirstLastPara="1" wrap="square" lIns="91425" tIns="91425" rIns="91425" bIns="91425" anchor="t" anchorCtr="0">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a:endParaRPr/>
          </a:p>
        </p:txBody>
      </p:sp>
      <p:sp>
        <p:nvSpPr>
          <p:cNvPr id="39" name="Google Shape;39;p9"/>
          <p:cNvSpPr txBox="1">
            <a:spLocks noGrp="1"/>
          </p:cNvSpPr>
          <p:nvPr>
            <p:ph type="body" idx="2"/>
          </p:nvPr>
        </p:nvSpPr>
        <p:spPr>
          <a:xfrm>
            <a:off x="4939500" y="724075"/>
            <a:ext cx="3837000" cy="3695100"/>
          </a:xfrm>
          <a:prstGeom prst="rect">
            <a:avLst/>
          </a:prstGeom>
          <a:noFill/>
          <a:ln>
            <a:noFill/>
          </a:ln>
        </p:spPr>
        <p:txBody>
          <a:bodyPr spcFirstLastPara="1" wrap="square" lIns="91425" tIns="91425" rIns="91425" bIns="91425" anchor="ctr" anchorCtr="0">
            <a:normAutofit/>
          </a:bodyPr>
          <a:lstStyle>
            <a:lvl1pPr marL="457200" lvl="0" indent="-342900" algn="l">
              <a:lnSpc>
                <a:spcPct val="115000"/>
              </a:lnSpc>
              <a:spcBef>
                <a:spcPts val="0"/>
              </a:spcBef>
              <a:spcAft>
                <a:spcPts val="0"/>
              </a:spcAft>
              <a:buSzPts val="1800"/>
              <a:buChar char="●"/>
              <a:defRPr/>
            </a:lvl1pPr>
            <a:lvl2pPr marL="914400" lvl="1" indent="-317500" algn="l">
              <a:lnSpc>
                <a:spcPct val="115000"/>
              </a:lnSpc>
              <a:spcBef>
                <a:spcPts val="0"/>
              </a:spcBef>
              <a:spcAft>
                <a:spcPts val="0"/>
              </a:spcAft>
              <a:buSzPts val="1400"/>
              <a:buChar char="○"/>
              <a:defRPr/>
            </a:lvl2pPr>
            <a:lvl3pPr marL="1371600" lvl="2" indent="-317500" algn="l">
              <a:lnSpc>
                <a:spcPct val="115000"/>
              </a:lnSpc>
              <a:spcBef>
                <a:spcPts val="0"/>
              </a:spcBef>
              <a:spcAft>
                <a:spcPts val="0"/>
              </a:spcAft>
              <a:buSzPts val="1400"/>
              <a:buChar char="■"/>
              <a:defRPr/>
            </a:lvl3pPr>
            <a:lvl4pPr marL="1828800" lvl="3" indent="-317500" algn="l">
              <a:lnSpc>
                <a:spcPct val="115000"/>
              </a:lnSpc>
              <a:spcBef>
                <a:spcPts val="0"/>
              </a:spcBef>
              <a:spcAft>
                <a:spcPts val="0"/>
              </a:spcAft>
              <a:buSzPts val="1400"/>
              <a:buChar char="●"/>
              <a:defRPr/>
            </a:lvl4pPr>
            <a:lvl5pPr marL="2286000" lvl="4" indent="-317500" algn="l">
              <a:lnSpc>
                <a:spcPct val="115000"/>
              </a:lnSpc>
              <a:spcBef>
                <a:spcPts val="0"/>
              </a:spcBef>
              <a:spcAft>
                <a:spcPts val="0"/>
              </a:spcAft>
              <a:buSzPts val="1400"/>
              <a:buChar char="○"/>
              <a:defRPr/>
            </a:lvl5pPr>
            <a:lvl6pPr marL="2743200" lvl="5" indent="-317500" algn="l">
              <a:lnSpc>
                <a:spcPct val="115000"/>
              </a:lnSpc>
              <a:spcBef>
                <a:spcPts val="0"/>
              </a:spcBef>
              <a:spcAft>
                <a:spcPts val="0"/>
              </a:spcAft>
              <a:buSzPts val="1400"/>
              <a:buChar char="■"/>
              <a:defRPr/>
            </a:lvl6pPr>
            <a:lvl7pPr marL="3200400" lvl="6" indent="-317500" algn="l">
              <a:lnSpc>
                <a:spcPct val="115000"/>
              </a:lnSpc>
              <a:spcBef>
                <a:spcPts val="0"/>
              </a:spcBef>
              <a:spcAft>
                <a:spcPts val="0"/>
              </a:spcAft>
              <a:buSzPts val="1400"/>
              <a:buChar char="●"/>
              <a:defRPr/>
            </a:lvl7pPr>
            <a:lvl8pPr marL="3657600" lvl="7" indent="-317500" algn="l">
              <a:lnSpc>
                <a:spcPct val="115000"/>
              </a:lnSpc>
              <a:spcBef>
                <a:spcPts val="0"/>
              </a:spcBef>
              <a:spcAft>
                <a:spcPts val="0"/>
              </a:spcAft>
              <a:buSzPts val="1400"/>
              <a:buChar char="○"/>
              <a:defRPr/>
            </a:lvl8pPr>
            <a:lvl9pPr marL="4114800" lvl="8" indent="-317500" algn="l">
              <a:lnSpc>
                <a:spcPct val="115000"/>
              </a:lnSpc>
              <a:spcBef>
                <a:spcPts val="0"/>
              </a:spcBef>
              <a:spcAft>
                <a:spcPts val="0"/>
              </a:spcAft>
              <a:buSzPts val="1400"/>
              <a:buChar char="■"/>
              <a:defRPr/>
            </a:lvl9pPr>
          </a:lstStyle>
          <a:p>
            <a:endParaRPr/>
          </a:p>
        </p:txBody>
      </p:sp>
      <p:sp>
        <p:nvSpPr>
          <p:cNvPr id="40" name="Google Shape;40;p9"/>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41"/>
        <p:cNvGrpSpPr/>
        <p:nvPr/>
      </p:nvGrpSpPr>
      <p:grpSpPr>
        <a:xfrm>
          <a:off x="0" y="0"/>
          <a:ext cx="0" cy="0"/>
          <a:chOff x="0" y="0"/>
          <a:chExt cx="0" cy="0"/>
        </a:xfrm>
      </p:grpSpPr>
      <p:sp>
        <p:nvSpPr>
          <p:cNvPr id="42" name="Google Shape;42;p10"/>
          <p:cNvSpPr txBox="1">
            <a:spLocks noGrp="1"/>
          </p:cNvSpPr>
          <p:nvPr>
            <p:ph type="body" idx="1"/>
          </p:nvPr>
        </p:nvSpPr>
        <p:spPr>
          <a:xfrm>
            <a:off x="311700" y="4230575"/>
            <a:ext cx="5998800" cy="605100"/>
          </a:xfrm>
          <a:prstGeom prst="rect">
            <a:avLst/>
          </a:prstGeom>
          <a:noFill/>
          <a:ln>
            <a:noFill/>
          </a:ln>
        </p:spPr>
        <p:txBody>
          <a:bodyPr spcFirstLastPara="1" wrap="square" lIns="91425" tIns="91425" rIns="91425" bIns="91425" anchor="ctr" anchorCtr="0">
            <a:normAutofit/>
          </a:bodyPr>
          <a:lstStyle>
            <a:lvl1pPr marL="457200" lvl="0" indent="-228600" algn="l">
              <a:lnSpc>
                <a:spcPct val="100000"/>
              </a:lnSpc>
              <a:spcBef>
                <a:spcPts val="0"/>
              </a:spcBef>
              <a:spcAft>
                <a:spcPts val="0"/>
              </a:spcAft>
              <a:buSzPts val="1800"/>
              <a:buNone/>
              <a:defRPr/>
            </a:lvl1pPr>
          </a:lstStyle>
          <a:p>
            <a:endParaRPr/>
          </a:p>
        </p:txBody>
      </p:sp>
      <p:sp>
        <p:nvSpPr>
          <p:cNvPr id="43" name="Google Shape;43;p10"/>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44"/>
        <p:cNvGrpSpPr/>
        <p:nvPr/>
      </p:nvGrpSpPr>
      <p:grpSpPr>
        <a:xfrm>
          <a:off x="0" y="0"/>
          <a:ext cx="0" cy="0"/>
          <a:chOff x="0" y="0"/>
          <a:chExt cx="0" cy="0"/>
        </a:xfrm>
      </p:grpSpPr>
      <p:sp>
        <p:nvSpPr>
          <p:cNvPr id="45" name="Google Shape;45;p11"/>
          <p:cNvSpPr txBox="1">
            <a:spLocks noGrp="1"/>
          </p:cNvSpPr>
          <p:nvPr>
            <p:ph type="title" hasCustomPrompt="1"/>
          </p:nvPr>
        </p:nvSpPr>
        <p:spPr>
          <a:xfrm>
            <a:off x="311700" y="1106125"/>
            <a:ext cx="8520600" cy="1963500"/>
          </a:xfrm>
          <a:prstGeom prst="rect">
            <a:avLst/>
          </a:prstGeom>
          <a:noFill/>
          <a:ln>
            <a:noFill/>
          </a:ln>
        </p:spPr>
        <p:txBody>
          <a:bodyPr spcFirstLastPara="1" wrap="square" lIns="91425" tIns="91425" rIns="91425" bIns="91425" anchor="b" anchorCtr="0">
            <a:normAutofit/>
          </a:bodyPr>
          <a:lstStyle>
            <a:lvl1pPr lvl="0" algn="ctr">
              <a:lnSpc>
                <a:spcPct val="100000"/>
              </a:lnSpc>
              <a:spcBef>
                <a:spcPts val="0"/>
              </a:spcBef>
              <a:spcAft>
                <a:spcPts val="0"/>
              </a:spcAft>
              <a:buSzPts val="12000"/>
              <a:buNone/>
              <a:defRPr sz="12000"/>
            </a:lvl1pPr>
            <a:lvl2pPr lvl="1" algn="ctr">
              <a:lnSpc>
                <a:spcPct val="100000"/>
              </a:lnSpc>
              <a:spcBef>
                <a:spcPts val="0"/>
              </a:spcBef>
              <a:spcAft>
                <a:spcPts val="0"/>
              </a:spcAft>
              <a:buSzPts val="12000"/>
              <a:buNone/>
              <a:defRPr sz="12000"/>
            </a:lvl2pPr>
            <a:lvl3pPr lvl="2" algn="ctr">
              <a:lnSpc>
                <a:spcPct val="100000"/>
              </a:lnSpc>
              <a:spcBef>
                <a:spcPts val="0"/>
              </a:spcBef>
              <a:spcAft>
                <a:spcPts val="0"/>
              </a:spcAft>
              <a:buSzPts val="12000"/>
              <a:buNone/>
              <a:defRPr sz="12000"/>
            </a:lvl3pPr>
            <a:lvl4pPr lvl="3" algn="ctr">
              <a:lnSpc>
                <a:spcPct val="100000"/>
              </a:lnSpc>
              <a:spcBef>
                <a:spcPts val="0"/>
              </a:spcBef>
              <a:spcAft>
                <a:spcPts val="0"/>
              </a:spcAft>
              <a:buSzPts val="12000"/>
              <a:buNone/>
              <a:defRPr sz="12000"/>
            </a:lvl4pPr>
            <a:lvl5pPr lvl="4" algn="ctr">
              <a:lnSpc>
                <a:spcPct val="100000"/>
              </a:lnSpc>
              <a:spcBef>
                <a:spcPts val="0"/>
              </a:spcBef>
              <a:spcAft>
                <a:spcPts val="0"/>
              </a:spcAft>
              <a:buSzPts val="12000"/>
              <a:buNone/>
              <a:defRPr sz="12000"/>
            </a:lvl5pPr>
            <a:lvl6pPr lvl="5" algn="ctr">
              <a:lnSpc>
                <a:spcPct val="100000"/>
              </a:lnSpc>
              <a:spcBef>
                <a:spcPts val="0"/>
              </a:spcBef>
              <a:spcAft>
                <a:spcPts val="0"/>
              </a:spcAft>
              <a:buSzPts val="12000"/>
              <a:buNone/>
              <a:defRPr sz="12000"/>
            </a:lvl6pPr>
            <a:lvl7pPr lvl="6" algn="ctr">
              <a:lnSpc>
                <a:spcPct val="100000"/>
              </a:lnSpc>
              <a:spcBef>
                <a:spcPts val="0"/>
              </a:spcBef>
              <a:spcAft>
                <a:spcPts val="0"/>
              </a:spcAft>
              <a:buSzPts val="12000"/>
              <a:buNone/>
              <a:defRPr sz="12000"/>
            </a:lvl7pPr>
            <a:lvl8pPr lvl="7" algn="ctr">
              <a:lnSpc>
                <a:spcPct val="100000"/>
              </a:lnSpc>
              <a:spcBef>
                <a:spcPts val="0"/>
              </a:spcBef>
              <a:spcAft>
                <a:spcPts val="0"/>
              </a:spcAft>
              <a:buSzPts val="12000"/>
              <a:buNone/>
              <a:defRPr sz="12000"/>
            </a:lvl8pPr>
            <a:lvl9pPr lvl="8" algn="ctr">
              <a:lnSpc>
                <a:spcPct val="100000"/>
              </a:lnSpc>
              <a:spcBef>
                <a:spcPts val="0"/>
              </a:spcBef>
              <a:spcAft>
                <a:spcPts val="0"/>
              </a:spcAft>
              <a:buSzPts val="12000"/>
              <a:buNone/>
              <a:defRPr sz="12000"/>
            </a:lvl9pPr>
          </a:lstStyle>
          <a:p>
            <a:r>
              <a:t>xx%</a:t>
            </a:r>
          </a:p>
        </p:txBody>
      </p:sp>
      <p:sp>
        <p:nvSpPr>
          <p:cNvPr id="46" name="Google Shape;46;p11"/>
          <p:cNvSpPr txBox="1">
            <a:spLocks noGrp="1"/>
          </p:cNvSpPr>
          <p:nvPr>
            <p:ph type="body" idx="1"/>
          </p:nvPr>
        </p:nvSpPr>
        <p:spPr>
          <a:xfrm>
            <a:off x="311700" y="3152225"/>
            <a:ext cx="8520600" cy="1300800"/>
          </a:xfrm>
          <a:prstGeom prst="rect">
            <a:avLst/>
          </a:prstGeom>
          <a:noFill/>
          <a:ln>
            <a:noFill/>
          </a:ln>
        </p:spPr>
        <p:txBody>
          <a:bodyPr spcFirstLastPara="1" wrap="square" lIns="91425" tIns="91425" rIns="91425" bIns="91425" anchor="t" anchorCtr="0">
            <a:normAutofit/>
          </a:bodyPr>
          <a:lstStyle>
            <a:lvl1pPr marL="457200" lvl="0" indent="-342900" algn="ctr">
              <a:lnSpc>
                <a:spcPct val="115000"/>
              </a:lnSpc>
              <a:spcBef>
                <a:spcPts val="0"/>
              </a:spcBef>
              <a:spcAft>
                <a:spcPts val="0"/>
              </a:spcAft>
              <a:buSzPts val="1800"/>
              <a:buChar char="●"/>
              <a:defRPr/>
            </a:lvl1pPr>
            <a:lvl2pPr marL="914400" lvl="1" indent="-317500" algn="ctr">
              <a:lnSpc>
                <a:spcPct val="115000"/>
              </a:lnSpc>
              <a:spcBef>
                <a:spcPts val="0"/>
              </a:spcBef>
              <a:spcAft>
                <a:spcPts val="0"/>
              </a:spcAft>
              <a:buSzPts val="1400"/>
              <a:buChar char="○"/>
              <a:defRPr/>
            </a:lvl2pPr>
            <a:lvl3pPr marL="1371600" lvl="2" indent="-317500" algn="ctr">
              <a:lnSpc>
                <a:spcPct val="115000"/>
              </a:lnSpc>
              <a:spcBef>
                <a:spcPts val="0"/>
              </a:spcBef>
              <a:spcAft>
                <a:spcPts val="0"/>
              </a:spcAft>
              <a:buSzPts val="1400"/>
              <a:buChar char="■"/>
              <a:defRPr/>
            </a:lvl3pPr>
            <a:lvl4pPr marL="1828800" lvl="3" indent="-317500" algn="ctr">
              <a:lnSpc>
                <a:spcPct val="115000"/>
              </a:lnSpc>
              <a:spcBef>
                <a:spcPts val="0"/>
              </a:spcBef>
              <a:spcAft>
                <a:spcPts val="0"/>
              </a:spcAft>
              <a:buSzPts val="1400"/>
              <a:buChar char="●"/>
              <a:defRPr/>
            </a:lvl4pPr>
            <a:lvl5pPr marL="2286000" lvl="4" indent="-317500" algn="ctr">
              <a:lnSpc>
                <a:spcPct val="115000"/>
              </a:lnSpc>
              <a:spcBef>
                <a:spcPts val="0"/>
              </a:spcBef>
              <a:spcAft>
                <a:spcPts val="0"/>
              </a:spcAft>
              <a:buSzPts val="1400"/>
              <a:buChar char="○"/>
              <a:defRPr/>
            </a:lvl5pPr>
            <a:lvl6pPr marL="2743200" lvl="5" indent="-317500" algn="ctr">
              <a:lnSpc>
                <a:spcPct val="115000"/>
              </a:lnSpc>
              <a:spcBef>
                <a:spcPts val="0"/>
              </a:spcBef>
              <a:spcAft>
                <a:spcPts val="0"/>
              </a:spcAft>
              <a:buSzPts val="1400"/>
              <a:buChar char="■"/>
              <a:defRPr/>
            </a:lvl6pPr>
            <a:lvl7pPr marL="3200400" lvl="6" indent="-317500" algn="ctr">
              <a:lnSpc>
                <a:spcPct val="115000"/>
              </a:lnSpc>
              <a:spcBef>
                <a:spcPts val="0"/>
              </a:spcBef>
              <a:spcAft>
                <a:spcPts val="0"/>
              </a:spcAft>
              <a:buSzPts val="1400"/>
              <a:buChar char="●"/>
              <a:defRPr/>
            </a:lvl7pPr>
            <a:lvl8pPr marL="3657600" lvl="7" indent="-317500" algn="ctr">
              <a:lnSpc>
                <a:spcPct val="115000"/>
              </a:lnSpc>
              <a:spcBef>
                <a:spcPts val="0"/>
              </a:spcBef>
              <a:spcAft>
                <a:spcPts val="0"/>
              </a:spcAft>
              <a:buSzPts val="1400"/>
              <a:buChar char="○"/>
              <a:defRPr/>
            </a:lvl8pPr>
            <a:lvl9pPr marL="4114800" lvl="8" indent="-317500" algn="ctr">
              <a:lnSpc>
                <a:spcPct val="115000"/>
              </a:lnSpc>
              <a:spcBef>
                <a:spcPts val="0"/>
              </a:spcBef>
              <a:spcAft>
                <a:spcPts val="0"/>
              </a:spcAft>
              <a:buSzPts val="1400"/>
              <a:buChar char="■"/>
              <a:defRPr/>
            </a:lvl9pPr>
          </a:lstStyle>
          <a:p>
            <a:endParaRPr/>
          </a:p>
        </p:txBody>
      </p:sp>
      <p:sp>
        <p:nvSpPr>
          <p:cNvPr id="47" name="Google Shape;47;p11"/>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48"/>
        <p:cNvGrpSpPr/>
        <p:nvPr/>
      </p:nvGrpSpPr>
      <p:grpSpPr>
        <a:xfrm>
          <a:off x="0" y="0"/>
          <a:ext cx="0" cy="0"/>
          <a:chOff x="0" y="0"/>
          <a:chExt cx="0" cy="0"/>
        </a:xfrm>
      </p:grpSpPr>
      <p:sp>
        <p:nvSpPr>
          <p:cNvPr id="49" name="Google Shape;49;p12"/>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Title, Content" type="obj">
  <p:cSld name="OBJECT">
    <p:spTree>
      <p:nvGrpSpPr>
        <p:cNvPr id="1" name="Shape 50"/>
        <p:cNvGrpSpPr/>
        <p:nvPr/>
      </p:nvGrpSpPr>
      <p:grpSpPr>
        <a:xfrm>
          <a:off x="0" y="0"/>
          <a:ext cx="0" cy="0"/>
          <a:chOff x="0" y="0"/>
          <a:chExt cx="0" cy="0"/>
        </a:xfrm>
      </p:grpSpPr>
      <p:sp>
        <p:nvSpPr>
          <p:cNvPr id="51" name="Google Shape;51;p13"/>
          <p:cNvSpPr txBox="1">
            <a:spLocks noGrp="1"/>
          </p:cNvSpPr>
          <p:nvPr>
            <p:ph type="title"/>
          </p:nvPr>
        </p:nvSpPr>
        <p:spPr>
          <a:xfrm>
            <a:off x="457172" y="205067"/>
            <a:ext cx="8228700" cy="858600"/>
          </a:xfrm>
          <a:prstGeom prst="rect">
            <a:avLst/>
          </a:prstGeom>
          <a:noFill/>
          <a:ln>
            <a:noFill/>
          </a:ln>
        </p:spPr>
        <p:txBody>
          <a:bodyPr spcFirstLastPara="1" wrap="square" lIns="0" tIns="0" rIns="0" bIns="0" anchor="ctr" anchorCtr="0">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a:endParaRPr/>
          </a:p>
        </p:txBody>
      </p:sp>
      <p:sp>
        <p:nvSpPr>
          <p:cNvPr id="52" name="Google Shape;52;p13"/>
          <p:cNvSpPr txBox="1">
            <a:spLocks noGrp="1"/>
          </p:cNvSpPr>
          <p:nvPr>
            <p:ph type="body" idx="1"/>
          </p:nvPr>
        </p:nvSpPr>
        <p:spPr>
          <a:xfrm>
            <a:off x="457172" y="1203299"/>
            <a:ext cx="8228700" cy="2982600"/>
          </a:xfrm>
          <a:prstGeom prst="rect">
            <a:avLst/>
          </a:prstGeom>
          <a:noFill/>
          <a:ln>
            <a:noFill/>
          </a:ln>
        </p:spPr>
        <p:txBody>
          <a:bodyPr spcFirstLastPara="1" wrap="square" lIns="0" tIns="0" rIns="0" bIns="0" anchor="t" anchorCtr="0">
            <a:normAutofit/>
          </a:bodyPr>
          <a:lstStyle>
            <a:lvl1pPr marL="457200" lvl="0" indent="-228600" algn="l">
              <a:lnSpc>
                <a:spcPct val="115000"/>
              </a:lnSpc>
              <a:spcBef>
                <a:spcPts val="0"/>
              </a:spcBef>
              <a:spcAft>
                <a:spcPts val="0"/>
              </a:spcAft>
              <a:buSzPts val="1800"/>
              <a:buNone/>
              <a:defRPr/>
            </a:lvl1pPr>
            <a:lvl2pPr marL="914400" lvl="1" indent="-228600" algn="l">
              <a:lnSpc>
                <a:spcPct val="115000"/>
              </a:lnSpc>
              <a:spcBef>
                <a:spcPts val="0"/>
              </a:spcBef>
              <a:spcAft>
                <a:spcPts val="0"/>
              </a:spcAft>
              <a:buSzPts val="1400"/>
              <a:buNone/>
              <a:defRPr/>
            </a:lvl2pPr>
            <a:lvl3pPr marL="1371600" lvl="2" indent="-228600" algn="l">
              <a:lnSpc>
                <a:spcPct val="115000"/>
              </a:lnSpc>
              <a:spcBef>
                <a:spcPts val="0"/>
              </a:spcBef>
              <a:spcAft>
                <a:spcPts val="0"/>
              </a:spcAft>
              <a:buSzPts val="1400"/>
              <a:buNone/>
              <a:defRPr/>
            </a:lvl3pPr>
            <a:lvl4pPr marL="1828800" lvl="3" indent="-228600" algn="l">
              <a:lnSpc>
                <a:spcPct val="115000"/>
              </a:lnSpc>
              <a:spcBef>
                <a:spcPts val="0"/>
              </a:spcBef>
              <a:spcAft>
                <a:spcPts val="0"/>
              </a:spcAft>
              <a:buSzPts val="1400"/>
              <a:buNone/>
              <a:defRPr/>
            </a:lvl4pPr>
            <a:lvl5pPr marL="2286000" lvl="4" indent="-228600" algn="l">
              <a:lnSpc>
                <a:spcPct val="115000"/>
              </a:lnSpc>
              <a:spcBef>
                <a:spcPts val="0"/>
              </a:spcBef>
              <a:spcAft>
                <a:spcPts val="0"/>
              </a:spcAft>
              <a:buSzPts val="1400"/>
              <a:buNone/>
              <a:defRPr/>
            </a:lvl5pPr>
            <a:lvl6pPr marL="2743200" lvl="5" indent="-228600" algn="l">
              <a:lnSpc>
                <a:spcPct val="115000"/>
              </a:lnSpc>
              <a:spcBef>
                <a:spcPts val="0"/>
              </a:spcBef>
              <a:spcAft>
                <a:spcPts val="0"/>
              </a:spcAft>
              <a:buSzPts val="1400"/>
              <a:buNone/>
              <a:defRPr/>
            </a:lvl6pPr>
            <a:lvl7pPr marL="3200400" lvl="6" indent="-228600" algn="l">
              <a:lnSpc>
                <a:spcPct val="115000"/>
              </a:lnSpc>
              <a:spcBef>
                <a:spcPts val="0"/>
              </a:spcBef>
              <a:spcAft>
                <a:spcPts val="0"/>
              </a:spcAft>
              <a:buSzPts val="1400"/>
              <a:buNone/>
              <a:defRPr/>
            </a:lvl7pPr>
            <a:lvl8pPr marL="3657600" lvl="7" indent="-228600" algn="l">
              <a:lnSpc>
                <a:spcPct val="115000"/>
              </a:lnSpc>
              <a:spcBef>
                <a:spcPts val="0"/>
              </a:spcBef>
              <a:spcAft>
                <a:spcPts val="0"/>
              </a:spcAft>
              <a:buSzPts val="1400"/>
              <a:buNone/>
              <a:defRPr/>
            </a:lvl8pPr>
            <a:lvl9pPr marL="4114800" lvl="8" indent="-228600" algn="l">
              <a:lnSpc>
                <a:spcPct val="115000"/>
              </a:lnSpc>
              <a:spcBef>
                <a:spcPts val="0"/>
              </a:spcBef>
              <a:spcAft>
                <a:spcPts val="0"/>
              </a:spcAft>
              <a:buSzPts val="1400"/>
              <a:buNone/>
              <a:defRPr/>
            </a:lvl9pPr>
          </a:lstStyle>
          <a:p>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Section Header">
  <p:cSld name="SECTION_HEADER_1">
    <p:spTree>
      <p:nvGrpSpPr>
        <p:cNvPr id="1" name="Shape 53"/>
        <p:cNvGrpSpPr/>
        <p:nvPr/>
      </p:nvGrpSpPr>
      <p:grpSpPr>
        <a:xfrm>
          <a:off x="0" y="0"/>
          <a:ext cx="0" cy="0"/>
          <a:chOff x="0" y="0"/>
          <a:chExt cx="0" cy="0"/>
        </a:xfrm>
      </p:grpSpPr>
      <p:sp>
        <p:nvSpPr>
          <p:cNvPr id="54" name="Google Shape;54;p14"/>
          <p:cNvSpPr txBox="1">
            <a:spLocks noGrp="1"/>
          </p:cNvSpPr>
          <p:nvPr>
            <p:ph type="title"/>
          </p:nvPr>
        </p:nvSpPr>
        <p:spPr>
          <a:xfrm>
            <a:off x="623888" y="1282303"/>
            <a:ext cx="7886700" cy="2139600"/>
          </a:xfrm>
          <a:prstGeom prst="rect">
            <a:avLst/>
          </a:prstGeom>
          <a:noFill/>
          <a:ln>
            <a:noFill/>
          </a:ln>
        </p:spPr>
        <p:txBody>
          <a:bodyPr spcFirstLastPara="1" wrap="square" lIns="68575" tIns="68575" rIns="68575" bIns="68575" anchor="b" anchorCtr="0">
            <a:noAutofit/>
          </a:bodyPr>
          <a:lstStyle>
            <a:lvl1pPr marR="0" lvl="0" algn="l">
              <a:lnSpc>
                <a:spcPct val="90000"/>
              </a:lnSpc>
              <a:spcBef>
                <a:spcPts val="0"/>
              </a:spcBef>
              <a:spcAft>
                <a:spcPts val="0"/>
              </a:spcAft>
              <a:buClr>
                <a:schemeClr val="dk1"/>
              </a:buClr>
              <a:buSzPts val="4500"/>
              <a:buFont typeface="Calibri"/>
              <a:buNone/>
              <a:defRPr sz="4500" b="0" i="0" u="none" strike="noStrike" cap="none">
                <a:solidFill>
                  <a:schemeClr val="dk1"/>
                </a:solidFill>
                <a:latin typeface="Calibri"/>
                <a:ea typeface="Calibri"/>
                <a:cs typeface="Calibri"/>
                <a:sym typeface="Calibri"/>
              </a:defRPr>
            </a:lvl1pPr>
            <a:lvl2pPr lvl="1" algn="l">
              <a:lnSpc>
                <a:spcPct val="100000"/>
              </a:lnSpc>
              <a:spcBef>
                <a:spcPts val="0"/>
              </a:spcBef>
              <a:spcAft>
                <a:spcPts val="0"/>
              </a:spcAft>
              <a:buSzPts val="1100"/>
              <a:buNone/>
              <a:defRPr sz="1400"/>
            </a:lvl2pPr>
            <a:lvl3pPr lvl="2" algn="l">
              <a:lnSpc>
                <a:spcPct val="100000"/>
              </a:lnSpc>
              <a:spcBef>
                <a:spcPts val="0"/>
              </a:spcBef>
              <a:spcAft>
                <a:spcPts val="0"/>
              </a:spcAft>
              <a:buSzPts val="1100"/>
              <a:buNone/>
              <a:defRPr sz="1400"/>
            </a:lvl3pPr>
            <a:lvl4pPr lvl="3" algn="l">
              <a:lnSpc>
                <a:spcPct val="100000"/>
              </a:lnSpc>
              <a:spcBef>
                <a:spcPts val="0"/>
              </a:spcBef>
              <a:spcAft>
                <a:spcPts val="0"/>
              </a:spcAft>
              <a:buSzPts val="1100"/>
              <a:buNone/>
              <a:defRPr sz="1400"/>
            </a:lvl4pPr>
            <a:lvl5pPr lvl="4" algn="l">
              <a:lnSpc>
                <a:spcPct val="100000"/>
              </a:lnSpc>
              <a:spcBef>
                <a:spcPts val="0"/>
              </a:spcBef>
              <a:spcAft>
                <a:spcPts val="0"/>
              </a:spcAft>
              <a:buSzPts val="1100"/>
              <a:buNone/>
              <a:defRPr sz="1400"/>
            </a:lvl5pPr>
            <a:lvl6pPr lvl="5" algn="l">
              <a:lnSpc>
                <a:spcPct val="100000"/>
              </a:lnSpc>
              <a:spcBef>
                <a:spcPts val="0"/>
              </a:spcBef>
              <a:spcAft>
                <a:spcPts val="0"/>
              </a:spcAft>
              <a:buSzPts val="1100"/>
              <a:buNone/>
              <a:defRPr sz="1400"/>
            </a:lvl6pPr>
            <a:lvl7pPr lvl="6" algn="l">
              <a:lnSpc>
                <a:spcPct val="100000"/>
              </a:lnSpc>
              <a:spcBef>
                <a:spcPts val="0"/>
              </a:spcBef>
              <a:spcAft>
                <a:spcPts val="0"/>
              </a:spcAft>
              <a:buSzPts val="1100"/>
              <a:buNone/>
              <a:defRPr sz="1400"/>
            </a:lvl7pPr>
            <a:lvl8pPr lvl="7" algn="l">
              <a:lnSpc>
                <a:spcPct val="100000"/>
              </a:lnSpc>
              <a:spcBef>
                <a:spcPts val="0"/>
              </a:spcBef>
              <a:spcAft>
                <a:spcPts val="0"/>
              </a:spcAft>
              <a:buSzPts val="1100"/>
              <a:buNone/>
              <a:defRPr sz="1400"/>
            </a:lvl8pPr>
            <a:lvl9pPr lvl="8" algn="l">
              <a:lnSpc>
                <a:spcPct val="100000"/>
              </a:lnSpc>
              <a:spcBef>
                <a:spcPts val="0"/>
              </a:spcBef>
              <a:spcAft>
                <a:spcPts val="0"/>
              </a:spcAft>
              <a:buSzPts val="1100"/>
              <a:buNone/>
              <a:defRPr sz="1400"/>
            </a:lvl9pPr>
          </a:lstStyle>
          <a:p>
            <a:endParaRPr/>
          </a:p>
        </p:txBody>
      </p:sp>
      <p:sp>
        <p:nvSpPr>
          <p:cNvPr id="55" name="Google Shape;55;p14"/>
          <p:cNvSpPr txBox="1">
            <a:spLocks noGrp="1"/>
          </p:cNvSpPr>
          <p:nvPr>
            <p:ph type="body" idx="1"/>
          </p:nvPr>
        </p:nvSpPr>
        <p:spPr>
          <a:xfrm>
            <a:off x="623888" y="3442097"/>
            <a:ext cx="7886700" cy="1125300"/>
          </a:xfrm>
          <a:prstGeom prst="rect">
            <a:avLst/>
          </a:prstGeom>
          <a:noFill/>
          <a:ln>
            <a:noFill/>
          </a:ln>
        </p:spPr>
        <p:txBody>
          <a:bodyPr spcFirstLastPara="1" wrap="square" lIns="68575" tIns="68575" rIns="68575" bIns="68575" anchor="t" anchorCtr="0">
            <a:noAutofit/>
          </a:bodyPr>
          <a:lstStyle>
            <a:lvl1pPr marL="457200" marR="0" lvl="0" indent="-228600" algn="l">
              <a:lnSpc>
                <a:spcPct val="90000"/>
              </a:lnSpc>
              <a:spcBef>
                <a:spcPts val="800"/>
              </a:spcBef>
              <a:spcAft>
                <a:spcPts val="0"/>
              </a:spcAft>
              <a:buClr>
                <a:srgbClr val="888888"/>
              </a:buClr>
              <a:buSzPts val="1800"/>
              <a:buFont typeface="Arial"/>
              <a:buNone/>
              <a:defRPr sz="1800" b="0" i="0" u="none" strike="noStrike" cap="none">
                <a:solidFill>
                  <a:srgbClr val="888888"/>
                </a:solidFill>
                <a:latin typeface="Calibri"/>
                <a:ea typeface="Calibri"/>
                <a:cs typeface="Calibri"/>
                <a:sym typeface="Calibri"/>
              </a:defRPr>
            </a:lvl1pPr>
            <a:lvl2pPr marL="914400" marR="0" lvl="1" indent="-228600" algn="l">
              <a:lnSpc>
                <a:spcPct val="90000"/>
              </a:lnSpc>
              <a:spcBef>
                <a:spcPts val="400"/>
              </a:spcBef>
              <a:spcAft>
                <a:spcPts val="0"/>
              </a:spcAft>
              <a:buClr>
                <a:srgbClr val="888888"/>
              </a:buClr>
              <a:buSzPts val="1500"/>
              <a:buFont typeface="Arial"/>
              <a:buNone/>
              <a:defRPr sz="1500" b="0" i="0" u="none" strike="noStrike" cap="none">
                <a:solidFill>
                  <a:srgbClr val="888888"/>
                </a:solidFill>
                <a:latin typeface="Calibri"/>
                <a:ea typeface="Calibri"/>
                <a:cs typeface="Calibri"/>
                <a:sym typeface="Calibri"/>
              </a:defRPr>
            </a:lvl2pPr>
            <a:lvl3pPr marL="1371600" marR="0" lvl="2" indent="-228600" algn="l">
              <a:lnSpc>
                <a:spcPct val="90000"/>
              </a:lnSpc>
              <a:spcBef>
                <a:spcPts val="400"/>
              </a:spcBef>
              <a:spcAft>
                <a:spcPts val="0"/>
              </a:spcAft>
              <a:buClr>
                <a:srgbClr val="888888"/>
              </a:buClr>
              <a:buSzPts val="1400"/>
              <a:buFont typeface="Arial"/>
              <a:buNone/>
              <a:defRPr sz="1400" b="0" i="0" u="none" strike="noStrike" cap="none">
                <a:solidFill>
                  <a:srgbClr val="888888"/>
                </a:solidFill>
                <a:latin typeface="Calibri"/>
                <a:ea typeface="Calibri"/>
                <a:cs typeface="Calibri"/>
                <a:sym typeface="Calibri"/>
              </a:defRPr>
            </a:lvl3pPr>
            <a:lvl4pPr marL="1828800" marR="0" lvl="3" indent="-228600" algn="l">
              <a:lnSpc>
                <a:spcPct val="90000"/>
              </a:lnSpc>
              <a:spcBef>
                <a:spcPts val="400"/>
              </a:spcBef>
              <a:spcAft>
                <a:spcPts val="0"/>
              </a:spcAft>
              <a:buClr>
                <a:srgbClr val="888888"/>
              </a:buClr>
              <a:buSzPts val="1200"/>
              <a:buFont typeface="Arial"/>
              <a:buNone/>
              <a:defRPr sz="1200" b="0" i="0" u="none" strike="noStrike" cap="none">
                <a:solidFill>
                  <a:srgbClr val="888888"/>
                </a:solidFill>
                <a:latin typeface="Calibri"/>
                <a:ea typeface="Calibri"/>
                <a:cs typeface="Calibri"/>
                <a:sym typeface="Calibri"/>
              </a:defRPr>
            </a:lvl4pPr>
            <a:lvl5pPr marL="2286000" marR="0" lvl="4" indent="-228600" algn="l">
              <a:lnSpc>
                <a:spcPct val="90000"/>
              </a:lnSpc>
              <a:spcBef>
                <a:spcPts val="400"/>
              </a:spcBef>
              <a:spcAft>
                <a:spcPts val="0"/>
              </a:spcAft>
              <a:buClr>
                <a:srgbClr val="888888"/>
              </a:buClr>
              <a:buSzPts val="1200"/>
              <a:buFont typeface="Arial"/>
              <a:buNone/>
              <a:defRPr sz="1200" b="0" i="0" u="none" strike="noStrike" cap="none">
                <a:solidFill>
                  <a:srgbClr val="888888"/>
                </a:solidFill>
                <a:latin typeface="Calibri"/>
                <a:ea typeface="Calibri"/>
                <a:cs typeface="Calibri"/>
                <a:sym typeface="Calibri"/>
              </a:defRPr>
            </a:lvl5pPr>
            <a:lvl6pPr marL="2743200" marR="0" lvl="5" indent="-228600" algn="l">
              <a:lnSpc>
                <a:spcPct val="90000"/>
              </a:lnSpc>
              <a:spcBef>
                <a:spcPts val="400"/>
              </a:spcBef>
              <a:spcAft>
                <a:spcPts val="0"/>
              </a:spcAft>
              <a:buClr>
                <a:srgbClr val="888888"/>
              </a:buClr>
              <a:buSzPts val="1200"/>
              <a:buFont typeface="Arial"/>
              <a:buNone/>
              <a:defRPr sz="1200" b="0" i="0" u="none" strike="noStrike" cap="none">
                <a:solidFill>
                  <a:srgbClr val="888888"/>
                </a:solidFill>
                <a:latin typeface="Calibri"/>
                <a:ea typeface="Calibri"/>
                <a:cs typeface="Calibri"/>
                <a:sym typeface="Calibri"/>
              </a:defRPr>
            </a:lvl6pPr>
            <a:lvl7pPr marL="3200400" marR="0" lvl="6" indent="-228600" algn="l">
              <a:lnSpc>
                <a:spcPct val="90000"/>
              </a:lnSpc>
              <a:spcBef>
                <a:spcPts val="400"/>
              </a:spcBef>
              <a:spcAft>
                <a:spcPts val="0"/>
              </a:spcAft>
              <a:buClr>
                <a:srgbClr val="888888"/>
              </a:buClr>
              <a:buSzPts val="1200"/>
              <a:buFont typeface="Arial"/>
              <a:buNone/>
              <a:defRPr sz="1200" b="0" i="0" u="none" strike="noStrike" cap="none">
                <a:solidFill>
                  <a:srgbClr val="888888"/>
                </a:solidFill>
                <a:latin typeface="Calibri"/>
                <a:ea typeface="Calibri"/>
                <a:cs typeface="Calibri"/>
                <a:sym typeface="Calibri"/>
              </a:defRPr>
            </a:lvl7pPr>
            <a:lvl8pPr marL="3657600" marR="0" lvl="7" indent="-228600" algn="l">
              <a:lnSpc>
                <a:spcPct val="90000"/>
              </a:lnSpc>
              <a:spcBef>
                <a:spcPts val="400"/>
              </a:spcBef>
              <a:spcAft>
                <a:spcPts val="0"/>
              </a:spcAft>
              <a:buClr>
                <a:srgbClr val="888888"/>
              </a:buClr>
              <a:buSzPts val="1200"/>
              <a:buFont typeface="Arial"/>
              <a:buNone/>
              <a:defRPr sz="1200" b="0" i="0" u="none" strike="noStrike" cap="none">
                <a:solidFill>
                  <a:srgbClr val="888888"/>
                </a:solidFill>
                <a:latin typeface="Calibri"/>
                <a:ea typeface="Calibri"/>
                <a:cs typeface="Calibri"/>
                <a:sym typeface="Calibri"/>
              </a:defRPr>
            </a:lvl8pPr>
            <a:lvl9pPr marL="4114800" marR="0" lvl="8" indent="-228600" algn="l">
              <a:lnSpc>
                <a:spcPct val="90000"/>
              </a:lnSpc>
              <a:spcBef>
                <a:spcPts val="400"/>
              </a:spcBef>
              <a:spcAft>
                <a:spcPts val="0"/>
              </a:spcAft>
              <a:buClr>
                <a:srgbClr val="888888"/>
              </a:buClr>
              <a:buSzPts val="1200"/>
              <a:buFont typeface="Arial"/>
              <a:buNone/>
              <a:defRPr sz="1200" b="0" i="0" u="none" strike="noStrike" cap="none">
                <a:solidFill>
                  <a:srgbClr val="888888"/>
                </a:solidFill>
                <a:latin typeface="Calibri"/>
                <a:ea typeface="Calibri"/>
                <a:cs typeface="Calibri"/>
                <a:sym typeface="Calibri"/>
              </a:defRPr>
            </a:lvl9pPr>
          </a:lstStyle>
          <a:p>
            <a:endParaRPr/>
          </a:p>
        </p:txBody>
      </p:sp>
      <p:sp>
        <p:nvSpPr>
          <p:cNvPr id="56" name="Google Shape;56;p14"/>
          <p:cNvSpPr txBox="1">
            <a:spLocks noGrp="1"/>
          </p:cNvSpPr>
          <p:nvPr>
            <p:ph type="dt" idx="10"/>
          </p:nvPr>
        </p:nvSpPr>
        <p:spPr>
          <a:xfrm>
            <a:off x="628650" y="4767263"/>
            <a:ext cx="2057400" cy="273900"/>
          </a:xfrm>
          <a:prstGeom prst="rect">
            <a:avLst/>
          </a:prstGeom>
          <a:noFill/>
          <a:ln>
            <a:noFill/>
          </a:ln>
        </p:spPr>
        <p:txBody>
          <a:bodyPr spcFirstLastPara="1" wrap="square" lIns="68575" tIns="68575" rIns="68575" bIns="68575" anchor="ctr" anchorCtr="0">
            <a:noAutofit/>
          </a:bodyPr>
          <a:lstStyle>
            <a:lvl1pPr marR="0" lvl="0" algn="l" rtl="0">
              <a:lnSpc>
                <a:spcPct val="100000"/>
              </a:lnSpc>
              <a:spcBef>
                <a:spcPts val="0"/>
              </a:spcBef>
              <a:spcAft>
                <a:spcPts val="0"/>
              </a:spcAft>
              <a:buClr>
                <a:srgbClr val="000000"/>
              </a:buClr>
              <a:buSzPts val="1100"/>
              <a:buFont typeface="Arial"/>
              <a:buNone/>
              <a:defRPr sz="9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Calibri"/>
                <a:ea typeface="Calibri"/>
                <a:cs typeface="Calibri"/>
                <a:sym typeface="Calibri"/>
              </a:defRPr>
            </a:lvl9pPr>
          </a:lstStyle>
          <a:p>
            <a:endParaRPr/>
          </a:p>
        </p:txBody>
      </p:sp>
      <p:sp>
        <p:nvSpPr>
          <p:cNvPr id="57" name="Google Shape;57;p14"/>
          <p:cNvSpPr txBox="1">
            <a:spLocks noGrp="1"/>
          </p:cNvSpPr>
          <p:nvPr>
            <p:ph type="ftr" idx="11"/>
          </p:nvPr>
        </p:nvSpPr>
        <p:spPr>
          <a:xfrm>
            <a:off x="3028950" y="4767263"/>
            <a:ext cx="3086100" cy="273900"/>
          </a:xfrm>
          <a:prstGeom prst="rect">
            <a:avLst/>
          </a:prstGeom>
          <a:noFill/>
          <a:ln>
            <a:noFill/>
          </a:ln>
        </p:spPr>
        <p:txBody>
          <a:bodyPr spcFirstLastPara="1" wrap="square" lIns="68575" tIns="68575" rIns="68575" bIns="68575" anchor="ctr" anchorCtr="0">
            <a:noAutofit/>
          </a:bodyPr>
          <a:lstStyle>
            <a:lvl1pPr marR="0" lvl="0" algn="ctr" rtl="0">
              <a:lnSpc>
                <a:spcPct val="100000"/>
              </a:lnSpc>
              <a:spcBef>
                <a:spcPts val="0"/>
              </a:spcBef>
              <a:spcAft>
                <a:spcPts val="0"/>
              </a:spcAft>
              <a:buClr>
                <a:srgbClr val="000000"/>
              </a:buClr>
              <a:buSzPts val="1100"/>
              <a:buFont typeface="Arial"/>
              <a:buNone/>
              <a:defRPr sz="9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Calibri"/>
                <a:ea typeface="Calibri"/>
                <a:cs typeface="Calibri"/>
                <a:sym typeface="Calibri"/>
              </a:defRPr>
            </a:lvl9pPr>
          </a:lstStyle>
          <a:p>
            <a:endParaRPr/>
          </a:p>
        </p:txBody>
      </p:sp>
      <p:sp>
        <p:nvSpPr>
          <p:cNvPr id="58" name="Google Shape;58;p14"/>
          <p:cNvSpPr txBox="1">
            <a:spLocks noGrp="1"/>
          </p:cNvSpPr>
          <p:nvPr>
            <p:ph type="sldNum" idx="12"/>
          </p:nvPr>
        </p:nvSpPr>
        <p:spPr>
          <a:xfrm>
            <a:off x="6457950" y="4767263"/>
            <a:ext cx="2057400" cy="273900"/>
          </a:xfrm>
          <a:prstGeom prst="rect">
            <a:avLst/>
          </a:prstGeom>
          <a:noFill/>
          <a:ln>
            <a:noFill/>
          </a:ln>
        </p:spPr>
        <p:txBody>
          <a:bodyPr spcFirstLastPara="1" wrap="square" lIns="68575" tIns="34275" rIns="68575" bIns="34275" anchor="ctr" anchorCtr="0">
            <a:noAutofit/>
          </a:bodyPr>
          <a:lstStyle>
            <a:lvl1pPr marL="0" marR="0" lvl="0"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marR="0" lvl="0"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9pPr>
          </a:lstStyle>
          <a:p>
            <a:endParaRPr/>
          </a:p>
        </p:txBody>
      </p:sp>
      <p:sp>
        <p:nvSpPr>
          <p:cNvPr id="7" name="Google Shape;7;p1"/>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lvl1pPr marL="457200" marR="0" lvl="0" indent="-342900" algn="l" rtl="0">
              <a:lnSpc>
                <a:spcPct val="115000"/>
              </a:lnSpc>
              <a:spcBef>
                <a:spcPts val="0"/>
              </a:spcBef>
              <a:spcAft>
                <a:spcPts val="0"/>
              </a:spcAft>
              <a:buClr>
                <a:schemeClr val="dk2"/>
              </a:buClr>
              <a:buSzPts val="1800"/>
              <a:buFont typeface="Arial"/>
              <a:buChar char="●"/>
              <a:defRPr sz="1800" b="0" i="0" u="none" strike="noStrike" cap="none">
                <a:solidFill>
                  <a:schemeClr val="dk2"/>
                </a:solidFill>
                <a:latin typeface="Arial"/>
                <a:ea typeface="Arial"/>
                <a:cs typeface="Arial"/>
                <a:sym typeface="Arial"/>
              </a:defRPr>
            </a:lvl1pPr>
            <a:lvl2pPr marL="914400" marR="0" lvl="1"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2pPr>
            <a:lvl3pPr marL="1371600" marR="0" lvl="2"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3pPr>
            <a:lvl4pPr marL="1828800" marR="0" lvl="3"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4pPr>
            <a:lvl5pPr marL="2286000" marR="0" lvl="4"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5pPr>
            <a:lvl6pPr marL="2743200" marR="0" lvl="5"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6pPr>
            <a:lvl7pPr marL="3200400" marR="0" lvl="6"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7pPr>
            <a:lvl8pPr marL="3657600" marR="0" lvl="7"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8pPr>
            <a:lvl9pPr marL="4114800" marR="0" lvl="8"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9pPr>
          </a:lstStyle>
          <a:p>
            <a:endParaRPr/>
          </a:p>
        </p:txBody>
      </p:sp>
      <p:sp>
        <p:nvSpPr>
          <p:cNvPr id="8" name="Google Shape;8;p1"/>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3" Type="http://schemas.openxmlformats.org/officeDocument/2006/relationships/hyperlink" Target="https://huggingface.co/open-llm-leaderboard" TargetMode="External"/><Relationship Id="rId18" Type="http://schemas.openxmlformats.org/officeDocument/2006/relationships/hyperlink" Target="https://x.ai/news/grok-4-1" TargetMode="External"/><Relationship Id="rId26" Type="http://schemas.openxmlformats.org/officeDocument/2006/relationships/hyperlink" Target="https://platform.openai.com/docs/models/gpt-5" TargetMode="External"/><Relationship Id="rId39" Type="http://schemas.openxmlformats.org/officeDocument/2006/relationships/hyperlink" Target="https://huggingface.co/Qwen/Qwen3-235B-A22B-Instruct-2507" TargetMode="External"/><Relationship Id="rId21" Type="http://schemas.openxmlformats.org/officeDocument/2006/relationships/hyperlink" Target="http://aistudio.google.com/app/prompts/new_chat?model=gemini-2.5-pro" TargetMode="External"/><Relationship Id="rId34" Type="http://schemas.openxmlformats.org/officeDocument/2006/relationships/hyperlink" Target="https://qwen.ai/blog?id=241398b9cd6353de490b0f82806c7848c5d2777d&amp;from=research.latest-advancements-list" TargetMode="External"/><Relationship Id="rId7" Type="http://schemas.openxmlformats.org/officeDocument/2006/relationships/hyperlink" Target="https://openlm.ai/chatbot-arena/" TargetMode="External"/><Relationship Id="rId12" Type="http://schemas.openxmlformats.org/officeDocument/2006/relationships/hyperlink" Target="https://artificialanalysis.ai/leaderboards/models" TargetMode="External"/><Relationship Id="rId17" Type="http://schemas.openxmlformats.org/officeDocument/2006/relationships/hyperlink" Target="http://aistudio.google.com/app/prompts/new_chat?model=gemini-3-pro-preview" TargetMode="External"/><Relationship Id="rId25" Type="http://schemas.openxmlformats.org/officeDocument/2006/relationships/hyperlink" Target="https://x.com/OpenAI/status/1905331956856050135" TargetMode="External"/><Relationship Id="rId33" Type="http://schemas.openxmlformats.org/officeDocument/2006/relationships/hyperlink" Target="https://docs.z.ai/guides/llm/glm-4.6" TargetMode="External"/><Relationship Id="rId38" Type="http://schemas.openxmlformats.org/officeDocument/2006/relationships/hyperlink" Target="https://huggingface.co/meituan-longcat/LongCat-Flash-Chat" TargetMode="External"/><Relationship Id="rId2" Type="http://schemas.openxmlformats.org/officeDocument/2006/relationships/notesSlide" Target="../notesSlides/notesSlide2.xml"/><Relationship Id="rId16" Type="http://schemas.openxmlformats.org/officeDocument/2006/relationships/hyperlink" Target="https://artificialanalysis.ai/models/grok-4" TargetMode="External"/><Relationship Id="rId20" Type="http://schemas.openxmlformats.org/officeDocument/2006/relationships/hyperlink" Target="https://openai.com/index/gpt-5-1/" TargetMode="External"/><Relationship Id="rId29" Type="http://schemas.openxmlformats.org/officeDocument/2006/relationships/hyperlink" Target="https://x.ai/news/grok-4-1-fast" TargetMode="External"/><Relationship Id="rId1" Type="http://schemas.openxmlformats.org/officeDocument/2006/relationships/slideLayout" Target="../slideLayouts/slideLayout1.xml"/><Relationship Id="rId6" Type="http://schemas.openxmlformats.org/officeDocument/2006/relationships/hyperlink" Target="https://www.designarena.ai" TargetMode="External"/><Relationship Id="rId11" Type="http://schemas.openxmlformats.org/officeDocument/2006/relationships/hyperlink" Target="https://www.stack-ai.com/llm-leaderboard" TargetMode="External"/><Relationship Id="rId24" Type="http://schemas.openxmlformats.org/officeDocument/2006/relationships/hyperlink" Target="https://openai.com/index/introducing-gpt-4-5/" TargetMode="External"/><Relationship Id="rId32" Type="http://schemas.openxmlformats.org/officeDocument/2006/relationships/hyperlink" Target="https://platform.openai.com/docs/models/gpt-5-chat-latest" TargetMode="External"/><Relationship Id="rId37" Type="http://schemas.openxmlformats.org/officeDocument/2006/relationships/hyperlink" Target="https://www.anthropic.com/news/claude-haiku-4-5" TargetMode="External"/><Relationship Id="rId40" Type="http://schemas.openxmlformats.org/officeDocument/2006/relationships/hyperlink" Target="https://mistral.ai/news/mistral-3" TargetMode="External"/><Relationship Id="rId5" Type="http://schemas.openxmlformats.org/officeDocument/2006/relationships/hyperlink" Target="https://lmarena.ai/leaderboard/text/coding" TargetMode="External"/><Relationship Id="rId15" Type="http://schemas.openxmlformats.org/officeDocument/2006/relationships/hyperlink" Target="https://epoch.ai/data/ai-benchmarking-dashboard" TargetMode="External"/><Relationship Id="rId23" Type="http://schemas.openxmlformats.org/officeDocument/2006/relationships/hyperlink" Target="https://www.anthropic.com/news/claude-opus-4-1" TargetMode="External"/><Relationship Id="rId28" Type="http://schemas.openxmlformats.org/officeDocument/2006/relationships/hyperlink" Target="https://www.alibabacloud.com/help/en/model-studio/models" TargetMode="External"/><Relationship Id="rId36" Type="http://schemas.openxmlformats.org/officeDocument/2006/relationships/hyperlink" Target="https://www.anthropic.com/news/claude-4" TargetMode="External"/><Relationship Id="rId10" Type="http://schemas.openxmlformats.org/officeDocument/2006/relationships/hyperlink" Target="https://llmworld.net/llm_leaderboards/" TargetMode="External"/><Relationship Id="rId19" Type="http://schemas.openxmlformats.org/officeDocument/2006/relationships/hyperlink" Target="https://www.anthropic.com/news/claude-opus-4-5" TargetMode="External"/><Relationship Id="rId31" Type="http://schemas.openxmlformats.org/officeDocument/2006/relationships/hyperlink" Target="https://huggingface.co/moonshotai/Kimi-K2-Thinking" TargetMode="External"/><Relationship Id="rId4" Type="http://schemas.openxmlformats.org/officeDocument/2006/relationships/hyperlink" Target="https://lmarena.ai/leaderboard/text" TargetMode="External"/><Relationship Id="rId9" Type="http://schemas.openxmlformats.org/officeDocument/2006/relationships/hyperlink" Target="https://web.lmarena.ai/leaderboard" TargetMode="External"/><Relationship Id="rId14" Type="http://schemas.openxmlformats.org/officeDocument/2006/relationships/hyperlink" Target="https://www.vellum.ai/llm-leaderboard" TargetMode="External"/><Relationship Id="rId22" Type="http://schemas.openxmlformats.org/officeDocument/2006/relationships/hyperlink" Target="https://www.anthropic.com/news/claude-sonnet-4-5" TargetMode="External"/><Relationship Id="rId27" Type="http://schemas.openxmlformats.org/officeDocument/2006/relationships/hyperlink" Target="https://openai.com/index/introducing-o3-and-o4-mini/" TargetMode="External"/><Relationship Id="rId30" Type="http://schemas.openxmlformats.org/officeDocument/2006/relationships/hyperlink" Target="https://ernie.baidu.com/blog/posts/ernie-5.0-preview-1103-release-on-lmarena/" TargetMode="External"/><Relationship Id="rId35" Type="http://schemas.openxmlformats.org/officeDocument/2006/relationships/hyperlink" Target="https://api-docs.deepseek.com/news/news250929" TargetMode="External"/><Relationship Id="rId8" Type="http://schemas.openxmlformats.org/officeDocument/2006/relationships/hyperlink" Target="https://beta.lmarena.ai" TargetMode="External"/><Relationship Id="rId3" Type="http://schemas.openxmlformats.org/officeDocument/2006/relationships/hyperlink" Target="https://en.wikipedia.org/wiki/Elo_rating_system" TargetMode="External"/></Relationships>
</file>

<file path=ppt/slides/_rels/slide3.xml.rels><?xml version="1.0" encoding="UTF-8" standalone="yes"?>
<Relationships xmlns="http://schemas.openxmlformats.org/package/2006/relationships"><Relationship Id="rId3" Type="http://schemas.openxmlformats.org/officeDocument/2006/relationships/hyperlink" Target="https://openai.com/index/introducing-gpt-5-2/" TargetMode="External"/><Relationship Id="rId2" Type="http://schemas.openxmlformats.org/officeDocument/2006/relationships/notesSlide" Target="../notesSlides/notesSlide3.xml"/><Relationship Id="rId1" Type="http://schemas.openxmlformats.org/officeDocument/2006/relationships/slideLayout" Target="../slideLayouts/slideLayout1.xml"/><Relationship Id="rId6" Type="http://schemas.openxmlformats.org/officeDocument/2006/relationships/image" Target="../media/image3.png"/><Relationship Id="rId5" Type="http://schemas.openxmlformats.org/officeDocument/2006/relationships/image" Target="../media/image2.jpeg"/><Relationship Id="rId4" Type="http://schemas.openxmlformats.org/officeDocument/2006/relationships/image" Target="../media/image1.jpeg"/></Relationships>
</file>

<file path=ppt/slides/_rels/slide4.xml.rels><?xml version="1.0" encoding="UTF-8" standalone="yes"?>
<Relationships xmlns="http://schemas.openxmlformats.org/package/2006/relationships"><Relationship Id="rId3" Type="http://schemas.openxmlformats.org/officeDocument/2006/relationships/hyperlink" Target="https://mistral.ai/news/devstral-2-vibe-cli" TargetMode="External"/><Relationship Id="rId2" Type="http://schemas.openxmlformats.org/officeDocument/2006/relationships/notesSlide" Target="../notesSlides/notesSlide4.xml"/><Relationship Id="rId1" Type="http://schemas.openxmlformats.org/officeDocument/2006/relationships/slideLayout" Target="../slideLayouts/slideLayout1.xml"/><Relationship Id="rId5" Type="http://schemas.openxmlformats.org/officeDocument/2006/relationships/image" Target="../media/image4.png"/><Relationship Id="rId4" Type="http://schemas.openxmlformats.org/officeDocument/2006/relationships/hyperlink" Target="https://openrouter.ai/mistralai/devstral-2512:free" TargetMode="External"/></Relationships>
</file>

<file path=ppt/slides/_rels/slide5.xml.rels><?xml version="1.0" encoding="UTF-8" standalone="yes"?>
<Relationships xmlns="http://schemas.openxmlformats.org/package/2006/relationships"><Relationship Id="rId3" Type="http://schemas.openxmlformats.org/officeDocument/2006/relationships/hyperlink" Target="https://www.paperdigest.org/2025/11/neurips-2025-papers-highlights/" TargetMode="External"/><Relationship Id="rId2" Type="http://schemas.openxmlformats.org/officeDocument/2006/relationships/notesSlide" Target="../notesSlides/notesSlide5.xml"/><Relationship Id="rId1" Type="http://schemas.openxmlformats.org/officeDocument/2006/relationships/slideLayout" Target="../slideLayouts/slideLayout1.xml"/><Relationship Id="rId5" Type="http://schemas.openxmlformats.org/officeDocument/2006/relationships/image" Target="../media/image6.png"/><Relationship Id="rId4" Type="http://schemas.openxmlformats.org/officeDocument/2006/relationships/image" Target="../media/image5.png"/></Relationships>
</file>

<file path=ppt/slides/_rels/slide6.xml.rels><?xml version="1.0" encoding="UTF-8" standalone="yes"?>
<Relationships xmlns="http://schemas.openxmlformats.org/package/2006/relationships"><Relationship Id="rId3" Type="http://schemas.openxmlformats.org/officeDocument/2006/relationships/hyperlink" Target="https://www.youtube.com/@lev-selector/videos" TargetMode="External"/><Relationship Id="rId2" Type="http://schemas.openxmlformats.org/officeDocument/2006/relationships/notesSlide" Target="../notesSlides/notesSlide6.xml"/><Relationship Id="rId1" Type="http://schemas.openxmlformats.org/officeDocument/2006/relationships/slideLayout" Target="../slideLayouts/slideLayout1.xml"/><Relationship Id="rId4" Type="http://schemas.openxmlformats.org/officeDocument/2006/relationships/image" Target="../media/image7.png"/></Relationships>
</file>

<file path=ppt/slides/_rels/slide7.xml.rels><?xml version="1.0" encoding="UTF-8" standalone="yes"?>
<Relationships xmlns="http://schemas.openxmlformats.org/package/2006/relationships"><Relationship Id="rId8" Type="http://schemas.openxmlformats.org/officeDocument/2006/relationships/hyperlink" Target="https://github.com/allenai/pixmo-docs%E2%80%8B" TargetMode="External"/><Relationship Id="rId3" Type="http://schemas.openxmlformats.org/officeDocument/2006/relationships/image" Target="../media/image8.jpeg"/><Relationship Id="rId7" Type="http://schemas.openxmlformats.org/officeDocument/2006/relationships/hyperlink" Target="https://allenai.org/blog/molmo%E2%80%8B" TargetMode="External"/><Relationship Id="rId2" Type="http://schemas.openxmlformats.org/officeDocument/2006/relationships/notesSlide" Target="../notesSlides/notesSlide7.xml"/><Relationship Id="rId1" Type="http://schemas.openxmlformats.org/officeDocument/2006/relationships/slideLayout" Target="../slideLayouts/slideLayout1.xml"/><Relationship Id="rId6" Type="http://schemas.openxmlformats.org/officeDocument/2006/relationships/hyperlink" Target="https://github.com/allenai/molmo%E2%80%8B" TargetMode="External"/><Relationship Id="rId5" Type="http://schemas.openxmlformats.org/officeDocument/2006/relationships/hyperlink" Target="https://molmo.allenai.org/blog%E2%80%8B" TargetMode="External"/><Relationship Id="rId10" Type="http://schemas.openxmlformats.org/officeDocument/2006/relationships/image" Target="../media/image9.png"/><Relationship Id="rId4" Type="http://schemas.openxmlformats.org/officeDocument/2006/relationships/hyperlink" Target="https://arxiv.org/abs/2409.17146" TargetMode="External"/><Relationship Id="rId9" Type="http://schemas.openxmlformats.org/officeDocument/2006/relationships/hyperlink" Target="about:blank" TargetMode="External"/></Relationships>
</file>

<file path=ppt/slides/_rels/slide8.xml.rels><?xml version="1.0" encoding="UTF-8" standalone="yes"?>
<Relationships xmlns="http://schemas.openxmlformats.org/package/2006/relationships"><Relationship Id="rId3" Type="http://schemas.openxmlformats.org/officeDocument/2006/relationships/image" Target="../media/image10.png"/><Relationship Id="rId7" Type="http://schemas.openxmlformats.org/officeDocument/2006/relationships/image" Target="../media/image14.png"/><Relationship Id="rId2" Type="http://schemas.openxmlformats.org/officeDocument/2006/relationships/notesSlide" Target="../notesSlides/notesSlide8.xml"/><Relationship Id="rId1" Type="http://schemas.openxmlformats.org/officeDocument/2006/relationships/slideLayout" Target="../slideLayouts/slideLayout1.xml"/><Relationship Id="rId6" Type="http://schemas.openxmlformats.org/officeDocument/2006/relationships/image" Target="../media/image13.jpeg"/><Relationship Id="rId5" Type="http://schemas.openxmlformats.org/officeDocument/2006/relationships/image" Target="../media/image12.png"/><Relationship Id="rId4" Type="http://schemas.openxmlformats.org/officeDocument/2006/relationships/image" Target="../media/image11.jpeg"/></Relationships>
</file>

<file path=ppt/slides/_rels/slide9.xml.rels><?xml version="1.0" encoding="UTF-8" standalone="yes"?>
<Relationships xmlns="http://schemas.openxmlformats.org/package/2006/relationships"><Relationship Id="rId3" Type="http://schemas.openxmlformats.org/officeDocument/2006/relationships/hyperlink" Target="https://www.youtube.com/watch?v=ZgwHaI2C-9s" TargetMode="External"/><Relationship Id="rId7" Type="http://schemas.openxmlformats.org/officeDocument/2006/relationships/image" Target="../media/image15.png"/><Relationship Id="rId2" Type="http://schemas.openxmlformats.org/officeDocument/2006/relationships/notesSlide" Target="../notesSlides/notesSlide9.xml"/><Relationship Id="rId1" Type="http://schemas.openxmlformats.org/officeDocument/2006/relationships/slideLayout" Target="../slideLayouts/slideLayout1.xml"/><Relationship Id="rId6" Type="http://schemas.openxmlformats.org/officeDocument/2006/relationships/hyperlink" Target="https://arxiv.org/pdf/2510.04871" TargetMode="External"/><Relationship Id="rId5" Type="http://schemas.openxmlformats.org/officeDocument/2006/relationships/hyperlink" Target="https://github.com/sapientinc/HRM" TargetMode="External"/><Relationship Id="rId4" Type="http://schemas.openxmlformats.org/officeDocument/2006/relationships/hyperlink" Target="https://arxiv.org/pdf/2506.21734" TargetMode="External"/></Relationships>
</file>

<file path=ppt/slides/_rels/slide10.xml.rels><?xml version="1.0" encoding="UTF-8" standalone="yes"?>
<Relationships xmlns="http://schemas.openxmlformats.org/package/2006/relationships"><Relationship Id="rId8" Type="http://schemas.openxmlformats.org/officeDocument/2006/relationships/image" Target="../media/image17.png"/><Relationship Id="rId3" Type="http://schemas.openxmlformats.org/officeDocument/2006/relationships/hyperlink" Target="https://medium.com/@ArkProtocol1/the-new-postgres-feature-that-just-killed-the-vector-database-hype-cycle-556146ed5961" TargetMode="External"/><Relationship Id="rId7" Type="http://schemas.openxmlformats.org/officeDocument/2006/relationships/hyperlink" Target="https://github.com/xinntao/Real-ESRGAN/blob/master/assets/teaser.jpg" TargetMode="External"/><Relationship Id="rId2" Type="http://schemas.openxmlformats.org/officeDocument/2006/relationships/notesSlide" Target="../notesSlides/notesSlide10.xml"/><Relationship Id="rId1" Type="http://schemas.openxmlformats.org/officeDocument/2006/relationships/slideLayout" Target="../slideLayouts/slideLayout1.xml"/><Relationship Id="rId6" Type="http://schemas.openxmlformats.org/officeDocument/2006/relationships/image" Target="../media/image16.png"/><Relationship Id="rId5" Type="http://schemas.openxmlformats.org/officeDocument/2006/relationships/hyperlink" Target="https://www.amazon.com/dp/B0FBGNK5VN" TargetMode="External"/><Relationship Id="rId10" Type="http://schemas.openxmlformats.org/officeDocument/2006/relationships/image" Target="../media/image19.png"/><Relationship Id="rId4" Type="http://schemas.openxmlformats.org/officeDocument/2006/relationships/hyperlink" Target="https://www.tigerdata.com/learn/pgvector-vs-pinecone" TargetMode="External"/><Relationship Id="rId9" Type="http://schemas.openxmlformats.org/officeDocument/2006/relationships/image" Target="../media/image18.png"/></Relationships>
</file>

<file path=ppt/slides/_rels/slide11.xml.rels><?xml version="1.0" encoding="UTF-8" standalone="yes"?>
<Relationships xmlns="http://schemas.openxmlformats.org/package/2006/relationships"><Relationship Id="rId3" Type="http://schemas.openxmlformats.org/officeDocument/2006/relationships/hyperlink" Target="https://www.youtube.com/watch?v=myx3De15iJY" TargetMode="External"/><Relationship Id="rId2" Type="http://schemas.openxmlformats.org/officeDocument/2006/relationships/notesSlide" Target="../notesSlides/notesSlide11.xml"/><Relationship Id="rId1" Type="http://schemas.openxmlformats.org/officeDocument/2006/relationships/slideLayout" Target="../slideLayouts/slideLayout1.xml"/><Relationship Id="rId5" Type="http://schemas.openxmlformats.org/officeDocument/2006/relationships/image" Target="../media/image20.png"/><Relationship Id="rId4" Type="http://schemas.openxmlformats.org/officeDocument/2006/relationships/hyperlink" Target="https://nvidianews.nvidia.com/news/nvidia-nvqlink-quantum-gpu-computing" TargetMode="External"/></Relationships>
</file>

<file path=ppt/slides/_rels/slide12.xml.rels><?xml version="1.0" encoding="UTF-8" standalone="yes"?>
<Relationships xmlns="http://schemas.openxmlformats.org/package/2006/relationships"><Relationship Id="rId8" Type="http://schemas.openxmlformats.org/officeDocument/2006/relationships/hyperlink" Target="https://blog.google/technology/developers/deep-research-agent-gemini-api/" TargetMode="External"/><Relationship Id="rId3" Type="http://schemas.openxmlformats.org/officeDocument/2006/relationships/hyperlink" Target="https://blog.google/products/gemini/gemini-3-deep-think/" TargetMode="External"/><Relationship Id="rId7" Type="http://schemas.openxmlformats.org/officeDocument/2006/relationships/image" Target="../media/image22.png"/><Relationship Id="rId2" Type="http://schemas.openxmlformats.org/officeDocument/2006/relationships/notesSlide" Target="../notesSlides/notesSlide12.xml"/><Relationship Id="rId1" Type="http://schemas.openxmlformats.org/officeDocument/2006/relationships/slideLayout" Target="../slideLayouts/slideLayout1.xml"/><Relationship Id="rId6" Type="http://schemas.openxmlformats.org/officeDocument/2006/relationships/image" Target="../media/image21.jpeg"/><Relationship Id="rId5" Type="http://schemas.openxmlformats.org/officeDocument/2006/relationships/hyperlink" Target="https://www.youtube.com/watch?v=-aVFx7EU5hE" TargetMode="External"/><Relationship Id="rId4" Type="http://schemas.openxmlformats.org/officeDocument/2006/relationships/hyperlink" Target="https://gemini.google/overview/deep-research/" TargetMode="External"/><Relationship Id="rId9" Type="http://schemas.openxmlformats.org/officeDocument/2006/relationships/image" Target="../media/image23.png"/></Relationships>
</file>

<file path=ppt/slides/_rels/slide13.xml.rels><?xml version="1.0" encoding="UTF-8" standalone="yes"?>
<Relationships xmlns="http://schemas.openxmlformats.org/package/2006/relationships"><Relationship Id="rId8" Type="http://schemas.openxmlformats.org/officeDocument/2006/relationships/image" Target="../media/image24.png"/><Relationship Id="rId3" Type="http://schemas.openxmlformats.org/officeDocument/2006/relationships/hyperlink" Target="https://workspaceupdates.googleblog.com/2025/12/workspace-studio.html" TargetMode="External"/><Relationship Id="rId7" Type="http://schemas.openxmlformats.org/officeDocument/2006/relationships/hyperlink" Target="https://blog.google/feed/google-workspace-generative-ai-features/" TargetMode="External"/><Relationship Id="rId2" Type="http://schemas.openxmlformats.org/officeDocument/2006/relationships/notesSlide" Target="../notesSlides/notesSlide13.xml"/><Relationship Id="rId1" Type="http://schemas.openxmlformats.org/officeDocument/2006/relationships/slideLayout" Target="../slideLayouts/slideLayout1.xml"/><Relationship Id="rId6" Type="http://schemas.openxmlformats.org/officeDocument/2006/relationships/hyperlink" Target="https://support.google.com/a/users/answer/14628736?hl=en" TargetMode="External"/><Relationship Id="rId5" Type="http://schemas.openxmlformats.org/officeDocument/2006/relationships/hyperlink" Target="https://www.youtube.com/watch?v=igs5bw5P47s" TargetMode="External"/><Relationship Id="rId4" Type="http://schemas.openxmlformats.org/officeDocument/2006/relationships/hyperlink" Target="https://workspace.google.com/solutions/ai/" TargetMode="External"/></Relationships>
</file>

<file path=ppt/slides/_rels/slide14.xml.rels><?xml version="1.0" encoding="UTF-8" standalone="yes"?>
<Relationships xmlns="http://schemas.openxmlformats.org/package/2006/relationships"><Relationship Id="rId8" Type="http://schemas.openxmlformats.org/officeDocument/2006/relationships/hyperlink" Target="https://www.llmwatch.com/p/beyond-attention-comparing-potential" TargetMode="External"/><Relationship Id="rId3" Type="http://schemas.openxmlformats.org/officeDocument/2006/relationships/hyperlink" Target="https://research.google/blog/titans-miras-helping-ai-have-long-term-memory/" TargetMode="External"/><Relationship Id="rId7" Type="http://schemas.openxmlformats.org/officeDocument/2006/relationships/hyperlink" Target="https://www.llmwatch.com/p/google-releases-transformer-20" TargetMode="External"/><Relationship Id="rId2" Type="http://schemas.openxmlformats.org/officeDocument/2006/relationships/notesSlide" Target="../notesSlides/notesSlide14.xml"/><Relationship Id="rId1" Type="http://schemas.openxmlformats.org/officeDocument/2006/relationships/slideLayout" Target="../slideLayouts/slideLayout1.xml"/><Relationship Id="rId6" Type="http://schemas.openxmlformats.org/officeDocument/2006/relationships/hyperlink" Target="https://www.youtube.com/watch?v=x8jFFhCLDJY" TargetMode="External"/><Relationship Id="rId5" Type="http://schemas.openxmlformats.org/officeDocument/2006/relationships/hyperlink" Target="https://www.towardsdeeplearning.com/this-new-google-model-might-finally-fix-broken-ai-brains-74e6b3c985fc" TargetMode="External"/><Relationship Id="rId10" Type="http://schemas.openxmlformats.org/officeDocument/2006/relationships/image" Target="../media/image25.png"/><Relationship Id="rId4" Type="http://schemas.openxmlformats.org/officeDocument/2006/relationships/hyperlink" Target="https://medium.com/data-science-collective/google-introduces-transformer-2-0-with-a-neuroscience-inspired-architecture-cf7f0d8836a4" TargetMode="External"/><Relationship Id="rId9" Type="http://schemas.openxmlformats.org/officeDocument/2006/relationships/hyperlink" Target="https://www.youtube.com/watch?v=UMkCmOTX5Ow" TargetMode="External"/></Relationships>
</file>

<file path=ppt/slides/_rels/slide15.xml.rels><?xml version="1.0" encoding="UTF-8" standalone="yes"?>
<Relationships xmlns="http://schemas.openxmlformats.org/package/2006/relationships"><Relationship Id="rId3" Type="http://schemas.openxmlformats.org/officeDocument/2006/relationships/hyperlink" Target="https://substack.com/inbox/post/168175609" TargetMode="External"/><Relationship Id="rId2" Type="http://schemas.openxmlformats.org/officeDocument/2006/relationships/notesSlide" Target="../notesSlides/notesSlide15.xml"/><Relationship Id="rId1" Type="http://schemas.openxmlformats.org/officeDocument/2006/relationships/slideLayout" Target="../slideLayouts/slideLayout1.xml"/><Relationship Id="rId4" Type="http://schemas.openxmlformats.org/officeDocument/2006/relationships/image" Target="../media/image26.png"/></Relationships>
</file>

<file path=ppt/slides/_rels/slide16.xml.rels><?xml version="1.0" encoding="UTF-8" standalone="yes"?>
<Relationships xmlns="http://schemas.openxmlformats.org/package/2006/relationships"><Relationship Id="rId8" Type="http://schemas.openxmlformats.org/officeDocument/2006/relationships/image" Target="../media/image29.png"/><Relationship Id="rId3" Type="http://schemas.openxmlformats.org/officeDocument/2006/relationships/hyperlink" Target="https://www.youtube.com/watch?v=AbTHvit8w70" TargetMode="External"/><Relationship Id="rId7" Type="http://schemas.openxmlformats.org/officeDocument/2006/relationships/image" Target="../media/image28.jpeg"/><Relationship Id="rId2" Type="http://schemas.openxmlformats.org/officeDocument/2006/relationships/notesSlide" Target="../notesSlides/notesSlide16.xml"/><Relationship Id="rId1" Type="http://schemas.openxmlformats.org/officeDocument/2006/relationships/slideLayout" Target="../slideLayouts/slideLayout1.xml"/><Relationship Id="rId6" Type="http://schemas.openxmlformats.org/officeDocument/2006/relationships/image" Target="../media/image27.png"/><Relationship Id="rId5" Type="http://schemas.openxmlformats.org/officeDocument/2006/relationships/hyperlink" Target="https://www.youtube.com/watch?v=ztUwEI0oksY" TargetMode="External"/><Relationship Id="rId4" Type="http://schemas.openxmlformats.org/officeDocument/2006/relationships/hyperlink" Target="https://deepagent.abacus.ai" TargetMode="External"/></Relationships>
</file>

<file path=ppt/slides/_rels/slide17.xml.rels><?xml version="1.0" encoding="UTF-8" standalone="yes"?>
<Relationships xmlns="http://schemas.openxmlformats.org/package/2006/relationships"><Relationship Id="rId8" Type="http://schemas.openxmlformats.org/officeDocument/2006/relationships/image" Target="../media/image31.png"/><Relationship Id="rId3" Type="http://schemas.openxmlformats.org/officeDocument/2006/relationships/hyperlink" Target="https://www.youtube.com/watch?v=WtakSx5lhcM" TargetMode="External"/><Relationship Id="rId7" Type="http://schemas.openxmlformats.org/officeDocument/2006/relationships/image" Target="../media/image30.png"/><Relationship Id="rId2" Type="http://schemas.openxmlformats.org/officeDocument/2006/relationships/notesSlide" Target="../notesSlides/notesSlide17.xml"/><Relationship Id="rId1" Type="http://schemas.openxmlformats.org/officeDocument/2006/relationships/slideLayout" Target="../slideLayouts/slideLayout1.xml"/><Relationship Id="rId6" Type="http://schemas.openxmlformats.org/officeDocument/2006/relationships/hyperlink" Target="https://www.krea.ai" TargetMode="External"/><Relationship Id="rId5" Type="http://schemas.openxmlformats.org/officeDocument/2006/relationships/hyperlink" Target="https://www.krea.ai/features/nodes" TargetMode="External"/><Relationship Id="rId4" Type="http://schemas.openxmlformats.org/officeDocument/2006/relationships/hyperlink" Target="https://www.youtube.com/watch?v=nzhaHXT1DE4" TargetMode="External"/></Relationships>
</file>

<file path=ppt/slides/_rels/slide18.xml.rels><?xml version="1.0" encoding="UTF-8" standalone="yes"?>
<Relationships xmlns="http://schemas.openxmlformats.org/package/2006/relationships"><Relationship Id="rId3" Type="http://schemas.openxmlformats.org/officeDocument/2006/relationships/hyperlink" Target="https://magazine.sebastianraschka.com/p/technical-deepseek" TargetMode="External"/><Relationship Id="rId2" Type="http://schemas.openxmlformats.org/officeDocument/2006/relationships/notesSlide" Target="../notesSlides/notesSlide18.xml"/><Relationship Id="rId1" Type="http://schemas.openxmlformats.org/officeDocument/2006/relationships/slideLayout" Target="../slideLayouts/slideLayout1.xml"/><Relationship Id="rId6" Type="http://schemas.openxmlformats.org/officeDocument/2006/relationships/image" Target="../media/image34.png"/><Relationship Id="rId5" Type="http://schemas.openxmlformats.org/officeDocument/2006/relationships/image" Target="../media/image33.png"/><Relationship Id="rId4" Type="http://schemas.openxmlformats.org/officeDocument/2006/relationships/image" Target="../media/image32.png"/></Relationships>
</file>

<file path=ppt/slides/_rels/slide19.xml.rels><?xml version="1.0" encoding="UTF-8" standalone="yes"?>
<Relationships xmlns="http://schemas.openxmlformats.org/package/2006/relationships"><Relationship Id="rId8" Type="http://schemas.openxmlformats.org/officeDocument/2006/relationships/image" Target="../media/image35.png"/><Relationship Id="rId3" Type="http://schemas.openxmlformats.org/officeDocument/2006/relationships/hyperlink" Target="https://www.genspark.ai" TargetMode="External"/><Relationship Id="rId7" Type="http://schemas.openxmlformats.org/officeDocument/2006/relationships/hyperlink" Target="https://manus.im/blog" TargetMode="External"/><Relationship Id="rId2" Type="http://schemas.openxmlformats.org/officeDocument/2006/relationships/notesSlide" Target="../notesSlides/notesSlide19.xml"/><Relationship Id="rId1" Type="http://schemas.openxmlformats.org/officeDocument/2006/relationships/slideLayout" Target="../slideLayouts/slideLayout1.xml"/><Relationship Id="rId6" Type="http://schemas.openxmlformats.org/officeDocument/2006/relationships/hyperlink" Target="https://www.youtube.com/watch?v=9VsMnpt2ntI" TargetMode="External"/><Relationship Id="rId11" Type="http://schemas.openxmlformats.org/officeDocument/2006/relationships/image" Target="../media/image38.png"/><Relationship Id="rId5" Type="http://schemas.openxmlformats.org/officeDocument/2006/relationships/hyperlink" Target="https://technode.com/2025/04/24/tiktoks-owner-bytedance-launches-internal-beta-for-coze-space-an-ai-agent-collaboration-platform/" TargetMode="External"/><Relationship Id="rId10" Type="http://schemas.openxmlformats.org/officeDocument/2006/relationships/image" Target="../media/image37.png"/><Relationship Id="rId4" Type="http://schemas.openxmlformats.org/officeDocument/2006/relationships/hyperlink" Target="https://www.investors.com/news/technology/alibaba-stock-ai-agent-quark-deepseek-cloud/" TargetMode="External"/><Relationship Id="rId9" Type="http://schemas.openxmlformats.org/officeDocument/2006/relationships/image" Target="../media/image36.png"/></Relationships>
</file>

<file path=ppt/slides/_rels/slide20.xml.rels><?xml version="1.0" encoding="UTF-8" standalone="yes"?>
<Relationships xmlns="http://schemas.openxmlformats.org/package/2006/relationships"><Relationship Id="rId8" Type="http://schemas.openxmlformats.org/officeDocument/2006/relationships/hyperlink" Target="https://openrouter.ai/z-ai/glm-4.6" TargetMode="External"/><Relationship Id="rId3" Type="http://schemas.openxmlformats.org/officeDocument/2006/relationships/image" Target="../media/image39.png"/><Relationship Id="rId7" Type="http://schemas.openxmlformats.org/officeDocument/2006/relationships/hyperlink" Target="https://docs.z.ai/guides/llm/glm-4.6" TargetMode="External"/><Relationship Id="rId2" Type="http://schemas.openxmlformats.org/officeDocument/2006/relationships/notesSlide" Target="../notesSlides/notesSlide20.xml"/><Relationship Id="rId1" Type="http://schemas.openxmlformats.org/officeDocument/2006/relationships/slideLayout" Target="../slideLayouts/slideLayout1.xml"/><Relationship Id="rId6" Type="http://schemas.openxmlformats.org/officeDocument/2006/relationships/hyperlink" Target="https://huggingface.co/zai-org/GLM-4.6" TargetMode="External"/><Relationship Id="rId11" Type="http://schemas.openxmlformats.org/officeDocument/2006/relationships/hyperlink" Target="https://docs.z.ai/devpack/overview" TargetMode="External"/><Relationship Id="rId5" Type="http://schemas.openxmlformats.org/officeDocument/2006/relationships/image" Target="../media/image41.png"/><Relationship Id="rId10" Type="http://schemas.openxmlformats.org/officeDocument/2006/relationships/hyperlink" Target="https://www.youtube.com/watch?v=i3kO_GOt2Bo" TargetMode="External"/><Relationship Id="rId4" Type="http://schemas.openxmlformats.org/officeDocument/2006/relationships/image" Target="../media/image40.jpeg"/><Relationship Id="rId9" Type="http://schemas.openxmlformats.org/officeDocument/2006/relationships/hyperlink" Target="https://www.youtube.com/watch?v=k0M320a-TXs" TargetMode="External"/></Relationships>
</file>

<file path=ppt/slides/_rels/slide21.xml.rels><?xml version="1.0" encoding="UTF-8" standalone="yes"?>
<Relationships xmlns="http://schemas.openxmlformats.org/package/2006/relationships"><Relationship Id="rId3" Type="http://schemas.openxmlformats.org/officeDocument/2006/relationships/hyperlink" Target="https://www.youtube.com/watch?v=EcDWK_ZyhFs" TargetMode="External"/><Relationship Id="rId2" Type="http://schemas.openxmlformats.org/officeDocument/2006/relationships/notesSlide" Target="../notesSlides/notesSlide21.xml"/><Relationship Id="rId1" Type="http://schemas.openxmlformats.org/officeDocument/2006/relationships/slideLayout" Target="../slideLayouts/slideLayout1.xml"/><Relationship Id="rId4" Type="http://schemas.openxmlformats.org/officeDocument/2006/relationships/image" Target="../media/image42.png"/></Relationships>
</file>

<file path=ppt/slides/_rels/slide22.xml.rels><?xml version="1.0" encoding="UTF-8" standalone="yes"?>
<Relationships xmlns="http://schemas.openxmlformats.org/package/2006/relationships"><Relationship Id="rId3" Type="http://schemas.openxmlformats.org/officeDocument/2006/relationships/hyperlink" Target="https://openai.com/index/the-state-of-enterprise-ai-2025-report/" TargetMode="External"/><Relationship Id="rId2" Type="http://schemas.openxmlformats.org/officeDocument/2006/relationships/notesSlide" Target="../notesSlides/notesSlide22.xml"/><Relationship Id="rId1" Type="http://schemas.openxmlformats.org/officeDocument/2006/relationships/slideLayout" Target="../slideLayouts/slideLayout1.xml"/><Relationship Id="rId5" Type="http://schemas.openxmlformats.org/officeDocument/2006/relationships/image" Target="../media/image43.png"/><Relationship Id="rId4" Type="http://schemas.openxmlformats.org/officeDocument/2006/relationships/hyperlink" Target="https://cdn.openai.com/pdf/7ef17d82-96bf-4dd1-9df2-228f7f377a29/the-state-of-enterprise-ai_2025-report.pdf" TargetMode="External"/></Relationships>
</file>

<file path=ppt/slides/_rels/slide23.xml.rels><?xml version="1.0" encoding="UTF-8" standalone="yes"?>
<Relationships xmlns="http://schemas.openxmlformats.org/package/2006/relationships"><Relationship Id="rId3" Type="http://schemas.openxmlformats.org/officeDocument/2006/relationships/hyperlink" Target="https://www.youtube.com/watch?v=yR0ionORpEI" TargetMode="External"/><Relationship Id="rId2" Type="http://schemas.openxmlformats.org/officeDocument/2006/relationships/notesSlide" Target="../notesSlides/notesSlide23.xml"/><Relationship Id="rId1" Type="http://schemas.openxmlformats.org/officeDocument/2006/relationships/slideLayout" Target="../slideLayouts/slideLayout1.xml"/><Relationship Id="rId6" Type="http://schemas.openxmlformats.org/officeDocument/2006/relationships/image" Target="../media/image45.png"/><Relationship Id="rId5" Type="http://schemas.openxmlformats.org/officeDocument/2006/relationships/image" Target="../media/image44.jpeg"/><Relationship Id="rId4" Type="http://schemas.openxmlformats.org/officeDocument/2006/relationships/hyperlink" Target="https://www.goagentive.com" TargetMode="External"/></Relationships>
</file>

<file path=ppt/slides/_rels/slide24.xml.rels><?xml version="1.0" encoding="UTF-8" standalone="yes"?>
<Relationships xmlns="http://schemas.openxmlformats.org/package/2006/relationships"><Relationship Id="rId3" Type="http://schemas.openxmlformats.org/officeDocument/2006/relationships/hyperlink" Target="https://www.youtube.com/watch?v=g-v8RgL4ToI" TargetMode="External"/><Relationship Id="rId2" Type="http://schemas.openxmlformats.org/officeDocument/2006/relationships/notesSlide" Target="../notesSlides/notesSlide24.xml"/><Relationship Id="rId1" Type="http://schemas.openxmlformats.org/officeDocument/2006/relationships/slideLayout" Target="../slideLayouts/slideLayout1.xml"/><Relationship Id="rId4" Type="http://schemas.openxmlformats.org/officeDocument/2006/relationships/image" Target="../media/image46.png"/></Relationships>
</file>

<file path=ppt/slides/_rels/slide25.xml.rels><?xml version="1.0" encoding="UTF-8" standalone="yes"?>
<Relationships xmlns="http://schemas.openxmlformats.org/package/2006/relationships"><Relationship Id="rId3" Type="http://schemas.openxmlformats.org/officeDocument/2006/relationships/hyperlink" Target="https://www.youtube.com/watch?v=zGD5mv-XKU0" TargetMode="External"/><Relationship Id="rId2" Type="http://schemas.openxmlformats.org/officeDocument/2006/relationships/notesSlide" Target="../notesSlides/notesSlide25.xml"/><Relationship Id="rId1" Type="http://schemas.openxmlformats.org/officeDocument/2006/relationships/slideLayout" Target="../slideLayouts/slideLayout1.xml"/><Relationship Id="rId5" Type="http://schemas.openxmlformats.org/officeDocument/2006/relationships/image" Target="../media/image48.jpeg"/><Relationship Id="rId4" Type="http://schemas.openxmlformats.org/officeDocument/2006/relationships/image" Target="../media/image47.png"/></Relationships>
</file>

<file path=ppt/slides/_rels/slide26.xml.rels><?xml version="1.0" encoding="UTF-8" standalone="yes"?>
<Relationships xmlns="http://schemas.openxmlformats.org/package/2006/relationships"><Relationship Id="rId3" Type="http://schemas.openxmlformats.org/officeDocument/2006/relationships/hyperlink" Target="https://www.threads.com/@YannLecun" TargetMode="External"/><Relationship Id="rId2" Type="http://schemas.openxmlformats.org/officeDocument/2006/relationships/notesSlide" Target="../notesSlides/notesSlide26.xml"/><Relationship Id="rId1" Type="http://schemas.openxmlformats.org/officeDocument/2006/relationships/slideLayout" Target="../slideLayouts/slideLayout1.xml"/><Relationship Id="rId5" Type="http://schemas.openxmlformats.org/officeDocument/2006/relationships/image" Target="../media/image50.jpeg"/><Relationship Id="rId4" Type="http://schemas.openxmlformats.org/officeDocument/2006/relationships/image" Target="../media/image49.jpeg"/></Relationships>
</file>

<file path=ppt/slides/_rels/slide27.xml.rels><?xml version="1.0" encoding="UTF-8" standalone="yes"?>
<Relationships xmlns="http://schemas.openxmlformats.org/package/2006/relationships"><Relationship Id="rId3" Type="http://schemas.openxmlformats.org/officeDocument/2006/relationships/hyperlink" Target="https://layoffs.fyi" TargetMode="External"/><Relationship Id="rId2" Type="http://schemas.openxmlformats.org/officeDocument/2006/relationships/notesSlide" Target="../notesSlides/notesSlide27.xml"/><Relationship Id="rId1" Type="http://schemas.openxmlformats.org/officeDocument/2006/relationships/slideLayout" Target="../slideLayouts/slideLayout1.xml"/><Relationship Id="rId6" Type="http://schemas.openxmlformats.org/officeDocument/2006/relationships/image" Target="../media/image52.png"/><Relationship Id="rId5" Type="http://schemas.openxmlformats.org/officeDocument/2006/relationships/image" Target="../media/image51.png"/><Relationship Id="rId4" Type="http://schemas.openxmlformats.org/officeDocument/2006/relationships/hyperlink" Target="https://trueup.io/layoffs" TargetMode="External"/></Relationships>
</file>

<file path=ppt/slides/_rels/slide28.xml.rels><?xml version="1.0" encoding="UTF-8" standalone="yes"?>
<Relationships xmlns="http://schemas.openxmlformats.org/package/2006/relationships"><Relationship Id="rId3" Type="http://schemas.openxmlformats.org/officeDocument/2006/relationships/image" Target="../media/image53.jpeg"/><Relationship Id="rId2" Type="http://schemas.openxmlformats.org/officeDocument/2006/relationships/notesSlide" Target="../notesSlides/notesSlide28.xml"/><Relationship Id="rId1" Type="http://schemas.openxmlformats.org/officeDocument/2006/relationships/slideLayout" Target="../slideLayouts/slideLayout1.xml"/><Relationship Id="rId5" Type="http://schemas.openxmlformats.org/officeDocument/2006/relationships/hyperlink" Target="https://eais.ai" TargetMode="External"/><Relationship Id="rId4" Type="http://schemas.openxmlformats.org/officeDocument/2006/relationships/image" Target="../media/image54.png"/></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62"/>
        <p:cNvGrpSpPr/>
        <p:nvPr/>
      </p:nvGrpSpPr>
      <p:grpSpPr>
        <a:xfrm>
          <a:off x="0" y="0"/>
          <a:ext cx="0" cy="0"/>
          <a:chOff x="0" y="0"/>
          <a:chExt cx="0" cy="0"/>
        </a:xfrm>
      </p:grpSpPr>
      <p:sp>
        <p:nvSpPr>
          <p:cNvPr id="63" name="Google Shape;63;p15"/>
          <p:cNvSpPr txBox="1"/>
          <p:nvPr/>
        </p:nvSpPr>
        <p:spPr>
          <a:xfrm>
            <a:off x="78650" y="672050"/>
            <a:ext cx="3762600" cy="14961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228600" marR="0" lvl="0" indent="-215900" algn="l" rtl="0">
              <a:lnSpc>
                <a:spcPct val="100000"/>
              </a:lnSpc>
              <a:spcBef>
                <a:spcPts val="0"/>
              </a:spcBef>
              <a:spcAft>
                <a:spcPts val="0"/>
              </a:spcAft>
              <a:buClr>
                <a:srgbClr val="3C78D8"/>
              </a:buClr>
              <a:buSzPts val="1600"/>
              <a:buFont typeface="Calibri"/>
              <a:buChar char="●"/>
            </a:pPr>
            <a:r>
              <a:rPr lang="en" sz="1600" b="1">
                <a:solidFill>
                  <a:srgbClr val="3C78D8"/>
                </a:solidFill>
                <a:latin typeface="Calibri"/>
                <a:ea typeface="Calibri"/>
                <a:cs typeface="Calibri"/>
                <a:sym typeface="Calibri"/>
              </a:rPr>
              <a:t>Crowd-sourced "LM Arena" Leaderboard</a:t>
            </a:r>
            <a:endParaRPr sz="1600" b="1">
              <a:solidFill>
                <a:srgbClr val="3C78D8"/>
              </a:solidFill>
              <a:latin typeface="Calibri"/>
              <a:ea typeface="Calibri"/>
              <a:cs typeface="Calibri"/>
              <a:sym typeface="Calibri"/>
            </a:endParaRPr>
          </a:p>
          <a:p>
            <a:pPr marL="228600" marR="0" lvl="0" indent="-215900" algn="l" rtl="0">
              <a:lnSpc>
                <a:spcPct val="100000"/>
              </a:lnSpc>
              <a:spcBef>
                <a:spcPts val="0"/>
              </a:spcBef>
              <a:spcAft>
                <a:spcPts val="0"/>
              </a:spcAft>
              <a:buClr>
                <a:srgbClr val="3C78D8"/>
              </a:buClr>
              <a:buSzPts val="1600"/>
              <a:buFont typeface="Calibri"/>
              <a:buChar char="●"/>
            </a:pPr>
            <a:r>
              <a:rPr lang="en" sz="1600" b="1">
                <a:solidFill>
                  <a:srgbClr val="3C78D8"/>
                </a:solidFill>
                <a:latin typeface="Calibri"/>
                <a:ea typeface="Calibri"/>
                <a:cs typeface="Calibri"/>
                <a:sym typeface="Calibri"/>
              </a:rPr>
              <a:t>Devstral-2</a:t>
            </a:r>
            <a:endParaRPr sz="1600" b="1">
              <a:solidFill>
                <a:srgbClr val="3C78D8"/>
              </a:solidFill>
              <a:latin typeface="Calibri"/>
              <a:ea typeface="Calibri"/>
              <a:cs typeface="Calibri"/>
              <a:sym typeface="Calibri"/>
            </a:endParaRPr>
          </a:p>
          <a:p>
            <a:pPr marL="228600" marR="0" lvl="0" indent="-215900" algn="l" rtl="0">
              <a:lnSpc>
                <a:spcPct val="100000"/>
              </a:lnSpc>
              <a:spcBef>
                <a:spcPts val="0"/>
              </a:spcBef>
              <a:spcAft>
                <a:spcPts val="0"/>
              </a:spcAft>
              <a:buClr>
                <a:srgbClr val="3C78D8"/>
              </a:buClr>
              <a:buSzPts val="1600"/>
              <a:buFont typeface="Calibri"/>
              <a:buChar char="●"/>
            </a:pPr>
            <a:r>
              <a:rPr lang="en" sz="1600" b="1">
                <a:solidFill>
                  <a:srgbClr val="3C78D8"/>
                </a:solidFill>
                <a:latin typeface="Calibri"/>
                <a:ea typeface="Calibri"/>
                <a:cs typeface="Calibri"/>
                <a:sym typeface="Calibri"/>
              </a:rPr>
              <a:t>NeurIPS 2025</a:t>
            </a:r>
            <a:endParaRPr sz="1600" b="1">
              <a:solidFill>
                <a:srgbClr val="3C78D8"/>
              </a:solidFill>
              <a:latin typeface="Calibri"/>
              <a:ea typeface="Calibri"/>
              <a:cs typeface="Calibri"/>
              <a:sym typeface="Calibri"/>
            </a:endParaRPr>
          </a:p>
          <a:p>
            <a:pPr marL="228600" marR="0" lvl="0" indent="-215900" algn="l" rtl="0">
              <a:lnSpc>
                <a:spcPct val="100000"/>
              </a:lnSpc>
              <a:spcBef>
                <a:spcPts val="0"/>
              </a:spcBef>
              <a:spcAft>
                <a:spcPts val="0"/>
              </a:spcAft>
              <a:buClr>
                <a:srgbClr val="3C78D8"/>
              </a:buClr>
              <a:buSzPts val="1600"/>
              <a:buFont typeface="Calibri"/>
              <a:buChar char="●"/>
            </a:pPr>
            <a:r>
              <a:rPr lang="en" sz="1600" b="1">
                <a:solidFill>
                  <a:srgbClr val="3C78D8"/>
                </a:solidFill>
                <a:latin typeface="Calibri"/>
                <a:ea typeface="Calibri"/>
                <a:cs typeface="Calibri"/>
                <a:sym typeface="Calibri"/>
              </a:rPr>
              <a:t>Molmo Vision Language Model</a:t>
            </a:r>
            <a:endParaRPr sz="1600" b="1">
              <a:solidFill>
                <a:srgbClr val="3C78D8"/>
              </a:solidFill>
              <a:latin typeface="Calibri"/>
              <a:ea typeface="Calibri"/>
              <a:cs typeface="Calibri"/>
              <a:sym typeface="Calibri"/>
            </a:endParaRPr>
          </a:p>
          <a:p>
            <a:pPr marL="228600" marR="0" lvl="0" indent="-215900" algn="l" rtl="0">
              <a:lnSpc>
                <a:spcPct val="100000"/>
              </a:lnSpc>
              <a:spcBef>
                <a:spcPts val="0"/>
              </a:spcBef>
              <a:spcAft>
                <a:spcPts val="0"/>
              </a:spcAft>
              <a:buClr>
                <a:srgbClr val="3C78D8"/>
              </a:buClr>
              <a:buSzPts val="1600"/>
              <a:buFont typeface="Calibri"/>
              <a:buChar char="●"/>
            </a:pPr>
            <a:r>
              <a:rPr lang="en" sz="1600" b="1">
                <a:solidFill>
                  <a:srgbClr val="3C78D8"/>
                </a:solidFill>
                <a:latin typeface="Calibri"/>
                <a:ea typeface="Calibri"/>
                <a:cs typeface="Calibri"/>
                <a:sym typeface="Calibri"/>
              </a:rPr>
              <a:t>GPT-5.2 on Dec 11 ??</a:t>
            </a:r>
            <a:endParaRPr sz="1600" b="1">
              <a:solidFill>
                <a:srgbClr val="3C78D8"/>
              </a:solidFill>
              <a:latin typeface="Calibri"/>
              <a:ea typeface="Calibri"/>
              <a:cs typeface="Calibri"/>
              <a:sym typeface="Calibri"/>
            </a:endParaRPr>
          </a:p>
          <a:p>
            <a:pPr marL="228600" marR="0" lvl="0" indent="-215900" algn="l" rtl="0">
              <a:lnSpc>
                <a:spcPct val="100000"/>
              </a:lnSpc>
              <a:spcBef>
                <a:spcPts val="0"/>
              </a:spcBef>
              <a:spcAft>
                <a:spcPts val="0"/>
              </a:spcAft>
              <a:buClr>
                <a:srgbClr val="3C78D8"/>
              </a:buClr>
              <a:buSzPts val="1600"/>
              <a:buFont typeface="Calibri"/>
              <a:buChar char="●"/>
            </a:pPr>
            <a:r>
              <a:rPr lang="en" sz="1600" b="1">
                <a:solidFill>
                  <a:srgbClr val="3C78D8"/>
                </a:solidFill>
                <a:latin typeface="Calibri"/>
                <a:ea typeface="Calibri"/>
                <a:cs typeface="Calibri"/>
                <a:sym typeface="Calibri"/>
              </a:rPr>
              <a:t>Agentic AI Foundation</a:t>
            </a:r>
            <a:endParaRPr sz="1600" b="1">
              <a:solidFill>
                <a:srgbClr val="3C78D8"/>
              </a:solidFill>
              <a:latin typeface="Calibri"/>
              <a:ea typeface="Calibri"/>
              <a:cs typeface="Calibri"/>
              <a:sym typeface="Calibri"/>
            </a:endParaRPr>
          </a:p>
        </p:txBody>
      </p:sp>
      <p:sp>
        <p:nvSpPr>
          <p:cNvPr id="64" name="Google Shape;64;p15"/>
          <p:cNvSpPr txBox="1"/>
          <p:nvPr/>
        </p:nvSpPr>
        <p:spPr>
          <a:xfrm>
            <a:off x="0" y="-1"/>
            <a:ext cx="3633000" cy="480300"/>
          </a:xfrm>
          <a:prstGeom prst="rect">
            <a:avLst/>
          </a:prstGeom>
          <a:noFill/>
          <a:ln>
            <a:noFill/>
          </a:ln>
        </p:spPr>
        <p:txBody>
          <a:bodyPr spcFirstLastPara="1" wrap="square" lIns="9125" tIns="9125" rIns="9125" bIns="9125" anchor="t" anchorCtr="0">
            <a:spAutoFit/>
          </a:bodyPr>
          <a:lstStyle/>
          <a:p>
            <a:pPr marL="0" marR="0" lvl="0" indent="0" algn="ctr" rtl="0">
              <a:lnSpc>
                <a:spcPct val="100000"/>
              </a:lnSpc>
              <a:spcBef>
                <a:spcPts val="0"/>
              </a:spcBef>
              <a:spcAft>
                <a:spcPts val="0"/>
              </a:spcAft>
              <a:buClr>
                <a:srgbClr val="000000"/>
              </a:buClr>
              <a:buSzPts val="3600"/>
              <a:buFont typeface="Arial"/>
              <a:buNone/>
            </a:pPr>
            <a:r>
              <a:rPr lang="en" sz="3000" b="1" i="0" u="none" strike="noStrike" cap="none">
                <a:solidFill>
                  <a:srgbClr val="3C78D8"/>
                </a:solidFill>
                <a:latin typeface="Calibri"/>
                <a:ea typeface="Calibri"/>
                <a:cs typeface="Calibri"/>
                <a:sym typeface="Calibri"/>
              </a:rPr>
              <a:t>AI Updates</a:t>
            </a:r>
            <a:r>
              <a:rPr lang="en" sz="2200" b="1" i="0" u="none" strike="noStrike" cap="none">
                <a:solidFill>
                  <a:srgbClr val="3C78D8"/>
                </a:solidFill>
                <a:latin typeface="Calibri"/>
                <a:ea typeface="Calibri"/>
                <a:cs typeface="Calibri"/>
                <a:sym typeface="Calibri"/>
              </a:rPr>
              <a:t> - Dec </a:t>
            </a:r>
            <a:r>
              <a:rPr lang="en" sz="2200" b="1">
                <a:solidFill>
                  <a:srgbClr val="3C78D8"/>
                </a:solidFill>
                <a:latin typeface="Calibri"/>
                <a:ea typeface="Calibri"/>
                <a:cs typeface="Calibri"/>
                <a:sym typeface="Calibri"/>
              </a:rPr>
              <a:t>12, </a:t>
            </a:r>
            <a:r>
              <a:rPr lang="en" sz="2200" b="1" i="0" u="none" strike="noStrike" cap="none">
                <a:solidFill>
                  <a:srgbClr val="3C78D8"/>
                </a:solidFill>
                <a:latin typeface="Calibri"/>
                <a:ea typeface="Calibri"/>
                <a:cs typeface="Calibri"/>
                <a:sym typeface="Calibri"/>
              </a:rPr>
              <a:t>2025</a:t>
            </a:r>
            <a:endParaRPr sz="2200" b="1" i="0" u="none" strike="noStrike" cap="none">
              <a:solidFill>
                <a:srgbClr val="3C78D8"/>
              </a:solidFill>
              <a:latin typeface="Calibri"/>
              <a:ea typeface="Calibri"/>
              <a:cs typeface="Calibri"/>
              <a:sym typeface="Calibri"/>
            </a:endParaRPr>
          </a:p>
        </p:txBody>
      </p:sp>
      <p:sp>
        <p:nvSpPr>
          <p:cNvPr id="65" name="Google Shape;65;p15"/>
          <p:cNvSpPr txBox="1"/>
          <p:nvPr/>
        </p:nvSpPr>
        <p:spPr>
          <a:xfrm>
            <a:off x="4599877" y="3767400"/>
            <a:ext cx="3633000" cy="12498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228600" marR="0" lvl="0" indent="-215900" algn="l" rtl="0">
              <a:lnSpc>
                <a:spcPct val="100000"/>
              </a:lnSpc>
              <a:spcBef>
                <a:spcPts val="0"/>
              </a:spcBef>
              <a:spcAft>
                <a:spcPts val="0"/>
              </a:spcAft>
              <a:buClr>
                <a:srgbClr val="3C78D8"/>
              </a:buClr>
              <a:buSzPts val="1600"/>
              <a:buFont typeface="Calibri"/>
              <a:buChar char="●"/>
            </a:pPr>
            <a:r>
              <a:rPr lang="en" sz="1600" b="1">
                <a:solidFill>
                  <a:srgbClr val="3C78D8"/>
                </a:solidFill>
                <a:latin typeface="Calibri"/>
                <a:ea typeface="Calibri"/>
                <a:cs typeface="Calibri"/>
                <a:sym typeface="Calibri"/>
              </a:rPr>
              <a:t>US AI Regulations - Federal &amp; State</a:t>
            </a:r>
            <a:endParaRPr sz="1600" b="1">
              <a:solidFill>
                <a:srgbClr val="3C78D8"/>
              </a:solidFill>
              <a:latin typeface="Calibri"/>
              <a:ea typeface="Calibri"/>
              <a:cs typeface="Calibri"/>
              <a:sym typeface="Calibri"/>
            </a:endParaRPr>
          </a:p>
          <a:p>
            <a:pPr marL="228600" marR="0" lvl="0" indent="-215900" algn="l" rtl="0">
              <a:lnSpc>
                <a:spcPct val="100000"/>
              </a:lnSpc>
              <a:spcBef>
                <a:spcPts val="0"/>
              </a:spcBef>
              <a:spcAft>
                <a:spcPts val="0"/>
              </a:spcAft>
              <a:buClr>
                <a:srgbClr val="3C78D8"/>
              </a:buClr>
              <a:buSzPts val="1600"/>
              <a:buFont typeface="Calibri"/>
              <a:buChar char="●"/>
            </a:pPr>
            <a:r>
              <a:rPr lang="en" sz="1600" b="1">
                <a:solidFill>
                  <a:srgbClr val="3C78D8"/>
                </a:solidFill>
                <a:latin typeface="Calibri"/>
                <a:ea typeface="Calibri"/>
                <a:cs typeface="Calibri"/>
                <a:sym typeface="Calibri"/>
              </a:rPr>
              <a:t>AI and robotics - Moonshots Dec 9</a:t>
            </a:r>
            <a:endParaRPr sz="1600" b="1">
              <a:solidFill>
                <a:srgbClr val="3C78D8"/>
              </a:solidFill>
              <a:latin typeface="Calibri"/>
              <a:ea typeface="Calibri"/>
              <a:cs typeface="Calibri"/>
              <a:sym typeface="Calibri"/>
            </a:endParaRPr>
          </a:p>
          <a:p>
            <a:pPr marL="228600" marR="0" lvl="0" indent="-215900" algn="l" rtl="0">
              <a:lnSpc>
                <a:spcPct val="100000"/>
              </a:lnSpc>
              <a:spcBef>
                <a:spcPts val="0"/>
              </a:spcBef>
              <a:spcAft>
                <a:spcPts val="0"/>
              </a:spcAft>
              <a:buClr>
                <a:srgbClr val="3C78D8"/>
              </a:buClr>
              <a:buSzPts val="1600"/>
              <a:buFont typeface="Calibri"/>
              <a:buChar char="●"/>
            </a:pPr>
            <a:r>
              <a:rPr lang="en" sz="1600" b="1">
                <a:solidFill>
                  <a:srgbClr val="3C78D8"/>
                </a:solidFill>
                <a:latin typeface="Calibri"/>
                <a:ea typeface="Calibri"/>
                <a:cs typeface="Calibri"/>
                <a:sym typeface="Calibri"/>
              </a:rPr>
              <a:t>Boom Supersonic 42 MW Generator</a:t>
            </a:r>
            <a:endParaRPr sz="1600" b="1">
              <a:solidFill>
                <a:srgbClr val="3C78D8"/>
              </a:solidFill>
              <a:latin typeface="Calibri"/>
              <a:ea typeface="Calibri"/>
              <a:cs typeface="Calibri"/>
              <a:sym typeface="Calibri"/>
            </a:endParaRPr>
          </a:p>
          <a:p>
            <a:pPr marL="228600" marR="0" lvl="0" indent="-215900" algn="l" rtl="0">
              <a:lnSpc>
                <a:spcPct val="100000"/>
              </a:lnSpc>
              <a:spcBef>
                <a:spcPts val="0"/>
              </a:spcBef>
              <a:spcAft>
                <a:spcPts val="0"/>
              </a:spcAft>
              <a:buClr>
                <a:srgbClr val="3C78D8"/>
              </a:buClr>
              <a:buSzPts val="1600"/>
              <a:buFont typeface="Calibri"/>
              <a:buChar char="●"/>
            </a:pPr>
            <a:r>
              <a:rPr lang="en" sz="1600" b="1">
                <a:solidFill>
                  <a:srgbClr val="3C78D8"/>
                </a:solidFill>
                <a:latin typeface="Calibri"/>
                <a:ea typeface="Calibri"/>
                <a:cs typeface="Calibri"/>
                <a:sym typeface="Calibri"/>
              </a:rPr>
              <a:t>World Models</a:t>
            </a:r>
            <a:endParaRPr sz="1600" b="1">
              <a:solidFill>
                <a:srgbClr val="3C78D8"/>
              </a:solidFill>
              <a:latin typeface="Calibri"/>
              <a:ea typeface="Calibri"/>
              <a:cs typeface="Calibri"/>
              <a:sym typeface="Calibri"/>
            </a:endParaRPr>
          </a:p>
          <a:p>
            <a:pPr marL="228600" marR="0" lvl="0" indent="-215900" algn="l" rtl="0">
              <a:lnSpc>
                <a:spcPct val="100000"/>
              </a:lnSpc>
              <a:spcBef>
                <a:spcPts val="0"/>
              </a:spcBef>
              <a:spcAft>
                <a:spcPts val="0"/>
              </a:spcAft>
              <a:buClr>
                <a:srgbClr val="3C78D8"/>
              </a:buClr>
              <a:buSzPts val="1600"/>
              <a:buFont typeface="Calibri"/>
              <a:buChar char="●"/>
            </a:pPr>
            <a:r>
              <a:rPr lang="en" sz="1600" b="1" i="0" u="none" strike="noStrike" cap="none">
                <a:solidFill>
                  <a:srgbClr val="3C78D8"/>
                </a:solidFill>
                <a:latin typeface="Calibri"/>
                <a:ea typeface="Calibri"/>
                <a:cs typeface="Calibri"/>
                <a:sym typeface="Calibri"/>
              </a:rPr>
              <a:t>Jobs, Layoffs, </a:t>
            </a:r>
            <a:r>
              <a:rPr lang="en" sz="1600" b="1">
                <a:solidFill>
                  <a:srgbClr val="3C78D8"/>
                </a:solidFill>
                <a:latin typeface="Calibri"/>
                <a:ea typeface="Calibri"/>
                <a:cs typeface="Calibri"/>
                <a:sym typeface="Calibri"/>
              </a:rPr>
              <a:t>demand for AI Engineers</a:t>
            </a:r>
            <a:endParaRPr sz="1600" b="1" i="0" u="none" strike="noStrike" cap="none">
              <a:solidFill>
                <a:srgbClr val="3C78D8"/>
              </a:solidFill>
              <a:latin typeface="Calibri"/>
              <a:ea typeface="Calibri"/>
              <a:cs typeface="Calibri"/>
              <a:sym typeface="Calibri"/>
            </a:endParaRPr>
          </a:p>
        </p:txBody>
      </p:sp>
      <p:sp>
        <p:nvSpPr>
          <p:cNvPr id="66" name="Google Shape;66;p15"/>
          <p:cNvSpPr txBox="1"/>
          <p:nvPr/>
        </p:nvSpPr>
        <p:spPr>
          <a:xfrm>
            <a:off x="78650" y="2260175"/>
            <a:ext cx="4283700" cy="2727600"/>
          </a:xfrm>
          <a:prstGeom prst="rect">
            <a:avLst/>
          </a:prstGeom>
          <a:solidFill>
            <a:srgbClr val="FCE5CD"/>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228600" marR="0" lvl="0" indent="-215900" algn="l" rtl="0">
              <a:lnSpc>
                <a:spcPct val="100000"/>
              </a:lnSpc>
              <a:spcBef>
                <a:spcPts val="0"/>
              </a:spcBef>
              <a:spcAft>
                <a:spcPts val="0"/>
              </a:spcAft>
              <a:buClr>
                <a:srgbClr val="3C78D8"/>
              </a:buClr>
              <a:buSzPts val="1600"/>
              <a:buFont typeface="Calibri"/>
              <a:buChar char="●"/>
            </a:pPr>
            <a:r>
              <a:rPr lang="en" sz="1600" b="1">
                <a:solidFill>
                  <a:srgbClr val="3C78D8"/>
                </a:solidFill>
                <a:latin typeface="Calibri"/>
                <a:ea typeface="Calibri"/>
                <a:cs typeface="Calibri"/>
                <a:sym typeface="Calibri"/>
              </a:rPr>
              <a:t>HRM - Hierarchical Models</a:t>
            </a:r>
            <a:endParaRPr sz="1600" b="1">
              <a:solidFill>
                <a:srgbClr val="3C78D8"/>
              </a:solidFill>
              <a:latin typeface="Calibri"/>
              <a:ea typeface="Calibri"/>
              <a:cs typeface="Calibri"/>
              <a:sym typeface="Calibri"/>
            </a:endParaRPr>
          </a:p>
          <a:p>
            <a:pPr marL="228600" marR="0" lvl="0" indent="-215900" algn="l" rtl="0">
              <a:lnSpc>
                <a:spcPct val="100000"/>
              </a:lnSpc>
              <a:spcBef>
                <a:spcPts val="0"/>
              </a:spcBef>
              <a:spcAft>
                <a:spcPts val="0"/>
              </a:spcAft>
              <a:buClr>
                <a:srgbClr val="3C78D8"/>
              </a:buClr>
              <a:buSzPts val="1600"/>
              <a:buFont typeface="Calibri"/>
              <a:buChar char="●"/>
            </a:pPr>
            <a:r>
              <a:rPr lang="en" sz="1600" b="1">
                <a:solidFill>
                  <a:srgbClr val="3C78D8"/>
                </a:solidFill>
                <a:latin typeface="Calibri"/>
                <a:ea typeface="Calibri"/>
                <a:cs typeface="Calibri"/>
                <a:sym typeface="Calibri"/>
              </a:rPr>
              <a:t>Postgres vs Pinecone for AI Projects</a:t>
            </a:r>
            <a:endParaRPr sz="1600" b="1">
              <a:solidFill>
                <a:srgbClr val="3C78D8"/>
              </a:solidFill>
              <a:latin typeface="Calibri"/>
              <a:ea typeface="Calibri"/>
              <a:cs typeface="Calibri"/>
              <a:sym typeface="Calibri"/>
            </a:endParaRPr>
          </a:p>
          <a:p>
            <a:pPr marL="228600" marR="0" lvl="0" indent="-215900" algn="l" rtl="0">
              <a:lnSpc>
                <a:spcPct val="100000"/>
              </a:lnSpc>
              <a:spcBef>
                <a:spcPts val="0"/>
              </a:spcBef>
              <a:spcAft>
                <a:spcPts val="0"/>
              </a:spcAft>
              <a:buClr>
                <a:srgbClr val="3C78D8"/>
              </a:buClr>
              <a:buSzPts val="1600"/>
              <a:buFont typeface="Calibri"/>
              <a:buChar char="●"/>
            </a:pPr>
            <a:r>
              <a:rPr lang="en" sz="1600" b="1">
                <a:solidFill>
                  <a:srgbClr val="3C78D8"/>
                </a:solidFill>
                <a:latin typeface="Calibri"/>
                <a:ea typeface="Calibri"/>
                <a:cs typeface="Calibri"/>
                <a:sym typeface="Calibri"/>
              </a:rPr>
              <a:t>Ai Smart Glasses with Chat GPT on Amazon</a:t>
            </a:r>
            <a:endParaRPr sz="1600" b="1">
              <a:solidFill>
                <a:srgbClr val="3C78D8"/>
              </a:solidFill>
              <a:latin typeface="Calibri"/>
              <a:ea typeface="Calibri"/>
              <a:cs typeface="Calibri"/>
              <a:sym typeface="Calibri"/>
            </a:endParaRPr>
          </a:p>
          <a:p>
            <a:pPr marL="228600" marR="0" lvl="0" indent="-215900" algn="l" rtl="0">
              <a:lnSpc>
                <a:spcPct val="100000"/>
              </a:lnSpc>
              <a:spcBef>
                <a:spcPts val="0"/>
              </a:spcBef>
              <a:spcAft>
                <a:spcPts val="0"/>
              </a:spcAft>
              <a:buClr>
                <a:srgbClr val="3C78D8"/>
              </a:buClr>
              <a:buSzPts val="1600"/>
              <a:buFont typeface="Calibri"/>
              <a:buChar char="●"/>
            </a:pPr>
            <a:r>
              <a:rPr lang="en" sz="1600" b="1">
                <a:solidFill>
                  <a:srgbClr val="3C78D8"/>
                </a:solidFill>
                <a:latin typeface="Calibri"/>
                <a:ea typeface="Calibri"/>
                <a:cs typeface="Calibri"/>
                <a:sym typeface="Calibri"/>
              </a:rPr>
              <a:t>Real-ESRGAN - Open Source Image Restoration</a:t>
            </a:r>
            <a:endParaRPr sz="1600" b="1">
              <a:solidFill>
                <a:srgbClr val="3C78D8"/>
              </a:solidFill>
              <a:latin typeface="Calibri"/>
              <a:ea typeface="Calibri"/>
              <a:cs typeface="Calibri"/>
              <a:sym typeface="Calibri"/>
            </a:endParaRPr>
          </a:p>
          <a:p>
            <a:pPr marL="228600" marR="0" lvl="0" indent="-215900" algn="l" rtl="0">
              <a:lnSpc>
                <a:spcPct val="100000"/>
              </a:lnSpc>
              <a:spcBef>
                <a:spcPts val="0"/>
              </a:spcBef>
              <a:spcAft>
                <a:spcPts val="0"/>
              </a:spcAft>
              <a:buClr>
                <a:srgbClr val="3C78D8"/>
              </a:buClr>
              <a:buSzPts val="1600"/>
              <a:buFont typeface="Calibri"/>
              <a:buChar char="●"/>
            </a:pPr>
            <a:r>
              <a:rPr lang="en" sz="1600" b="1">
                <a:solidFill>
                  <a:srgbClr val="3C78D8"/>
                </a:solidFill>
                <a:latin typeface="Calibri"/>
                <a:ea typeface="Calibri"/>
                <a:cs typeface="Calibri"/>
                <a:sym typeface="Calibri"/>
              </a:rPr>
              <a:t>NVIDIA NVQLink open architecture</a:t>
            </a:r>
            <a:endParaRPr sz="1600" b="1">
              <a:solidFill>
                <a:srgbClr val="3C78D8"/>
              </a:solidFill>
              <a:latin typeface="Calibri"/>
              <a:ea typeface="Calibri"/>
              <a:cs typeface="Calibri"/>
              <a:sym typeface="Calibri"/>
            </a:endParaRPr>
          </a:p>
          <a:p>
            <a:pPr marL="228600" marR="0" lvl="0" indent="-215900" algn="l" rtl="0">
              <a:lnSpc>
                <a:spcPct val="100000"/>
              </a:lnSpc>
              <a:spcBef>
                <a:spcPts val="0"/>
              </a:spcBef>
              <a:spcAft>
                <a:spcPts val="0"/>
              </a:spcAft>
              <a:buClr>
                <a:srgbClr val="3C78D8"/>
              </a:buClr>
              <a:buSzPts val="1600"/>
              <a:buFont typeface="Calibri"/>
              <a:buChar char="●"/>
            </a:pPr>
            <a:r>
              <a:rPr lang="en" sz="1600" b="1">
                <a:solidFill>
                  <a:srgbClr val="3C78D8"/>
                </a:solidFill>
                <a:latin typeface="Calibri"/>
                <a:ea typeface="Calibri"/>
                <a:cs typeface="Calibri"/>
                <a:sym typeface="Calibri"/>
              </a:rPr>
              <a:t>Gemini Flash, Pro, Deep Think</a:t>
            </a:r>
            <a:endParaRPr sz="1600" b="1">
              <a:solidFill>
                <a:srgbClr val="3C78D8"/>
              </a:solidFill>
              <a:latin typeface="Calibri"/>
              <a:ea typeface="Calibri"/>
              <a:cs typeface="Calibri"/>
              <a:sym typeface="Calibri"/>
            </a:endParaRPr>
          </a:p>
          <a:p>
            <a:pPr marL="228600" marR="0" lvl="0" indent="-215900" algn="l" rtl="0">
              <a:lnSpc>
                <a:spcPct val="100000"/>
              </a:lnSpc>
              <a:spcBef>
                <a:spcPts val="0"/>
              </a:spcBef>
              <a:spcAft>
                <a:spcPts val="0"/>
              </a:spcAft>
              <a:buClr>
                <a:srgbClr val="3C78D8"/>
              </a:buClr>
              <a:buSzPts val="1600"/>
              <a:buFont typeface="Calibri"/>
              <a:buChar char="●"/>
            </a:pPr>
            <a:r>
              <a:rPr lang="en" sz="1600" b="1">
                <a:solidFill>
                  <a:srgbClr val="3C78D8"/>
                </a:solidFill>
                <a:latin typeface="Calibri"/>
                <a:ea typeface="Calibri"/>
                <a:cs typeface="Calibri"/>
                <a:sym typeface="Calibri"/>
              </a:rPr>
              <a:t>Gemini Deep Research Agent via API</a:t>
            </a:r>
            <a:endParaRPr sz="1600" b="1">
              <a:solidFill>
                <a:srgbClr val="3C78D8"/>
              </a:solidFill>
              <a:latin typeface="Calibri"/>
              <a:ea typeface="Calibri"/>
              <a:cs typeface="Calibri"/>
              <a:sym typeface="Calibri"/>
            </a:endParaRPr>
          </a:p>
          <a:p>
            <a:pPr marL="228600" marR="0" lvl="0" indent="-215900" algn="l" rtl="0">
              <a:lnSpc>
                <a:spcPct val="100000"/>
              </a:lnSpc>
              <a:spcBef>
                <a:spcPts val="0"/>
              </a:spcBef>
              <a:spcAft>
                <a:spcPts val="0"/>
              </a:spcAft>
              <a:buClr>
                <a:srgbClr val="3C78D8"/>
              </a:buClr>
              <a:buSzPts val="1600"/>
              <a:buFont typeface="Calibri"/>
              <a:buChar char="●"/>
            </a:pPr>
            <a:r>
              <a:rPr lang="en" sz="1600" b="1">
                <a:solidFill>
                  <a:srgbClr val="3C78D8"/>
                </a:solidFill>
                <a:latin typeface="Calibri"/>
                <a:ea typeface="Calibri"/>
                <a:cs typeface="Calibri"/>
                <a:sym typeface="Calibri"/>
              </a:rPr>
              <a:t>AI in Google Workspace</a:t>
            </a:r>
            <a:endParaRPr sz="1600" b="1">
              <a:solidFill>
                <a:srgbClr val="3C78D8"/>
              </a:solidFill>
              <a:latin typeface="Calibri"/>
              <a:ea typeface="Calibri"/>
              <a:cs typeface="Calibri"/>
              <a:sym typeface="Calibri"/>
            </a:endParaRPr>
          </a:p>
          <a:p>
            <a:pPr marL="228600" marR="0" lvl="0" indent="-215900" algn="l" rtl="0">
              <a:lnSpc>
                <a:spcPct val="100000"/>
              </a:lnSpc>
              <a:spcBef>
                <a:spcPts val="0"/>
              </a:spcBef>
              <a:spcAft>
                <a:spcPts val="0"/>
              </a:spcAft>
              <a:buClr>
                <a:srgbClr val="3C78D8"/>
              </a:buClr>
              <a:buSzPts val="1600"/>
              <a:buFont typeface="Calibri"/>
              <a:buChar char="●"/>
            </a:pPr>
            <a:r>
              <a:rPr lang="en" sz="1600" b="1">
                <a:solidFill>
                  <a:srgbClr val="3C78D8"/>
                </a:solidFill>
                <a:latin typeface="Calibri"/>
                <a:ea typeface="Calibri"/>
                <a:cs typeface="Calibri"/>
                <a:sym typeface="Calibri"/>
              </a:rPr>
              <a:t>Google Titans Transformer-2</a:t>
            </a:r>
            <a:endParaRPr sz="1600" b="1">
              <a:solidFill>
                <a:srgbClr val="3C78D8"/>
              </a:solidFill>
              <a:latin typeface="Calibri"/>
              <a:ea typeface="Calibri"/>
              <a:cs typeface="Calibri"/>
              <a:sym typeface="Calibri"/>
            </a:endParaRPr>
          </a:p>
          <a:p>
            <a:pPr marL="228600" marR="0" lvl="0" indent="-215900" algn="l" rtl="0">
              <a:lnSpc>
                <a:spcPct val="100000"/>
              </a:lnSpc>
              <a:spcBef>
                <a:spcPts val="0"/>
              </a:spcBef>
              <a:spcAft>
                <a:spcPts val="0"/>
              </a:spcAft>
              <a:buClr>
                <a:srgbClr val="3C78D8"/>
              </a:buClr>
              <a:buSzPts val="1600"/>
              <a:buFont typeface="Calibri"/>
              <a:buChar char="●"/>
            </a:pPr>
            <a:r>
              <a:rPr lang="en" sz="1600" b="1">
                <a:solidFill>
                  <a:srgbClr val="3C78D8"/>
                </a:solidFill>
                <a:latin typeface="Calibri"/>
                <a:ea typeface="Calibri"/>
                <a:cs typeface="Calibri"/>
                <a:sym typeface="Calibri"/>
              </a:rPr>
              <a:t>Product Management &amp; AI</a:t>
            </a:r>
            <a:endParaRPr sz="1600" b="1">
              <a:solidFill>
                <a:srgbClr val="3C78D8"/>
              </a:solidFill>
              <a:latin typeface="Calibri"/>
              <a:ea typeface="Calibri"/>
              <a:cs typeface="Calibri"/>
              <a:sym typeface="Calibri"/>
            </a:endParaRPr>
          </a:p>
          <a:p>
            <a:pPr marL="228600" marR="0" lvl="0" indent="-215900" algn="l" rtl="0">
              <a:lnSpc>
                <a:spcPct val="100000"/>
              </a:lnSpc>
              <a:spcBef>
                <a:spcPts val="0"/>
              </a:spcBef>
              <a:spcAft>
                <a:spcPts val="0"/>
              </a:spcAft>
              <a:buClr>
                <a:srgbClr val="3C78D8"/>
              </a:buClr>
              <a:buSzPts val="1600"/>
              <a:buFont typeface="Calibri"/>
              <a:buChar char="●"/>
            </a:pPr>
            <a:r>
              <a:rPr lang="en" sz="1600" b="1">
                <a:solidFill>
                  <a:srgbClr val="3C78D8"/>
                </a:solidFill>
                <a:latin typeface="Calibri"/>
                <a:ea typeface="Calibri"/>
                <a:cs typeface="Calibri"/>
                <a:sym typeface="Calibri"/>
              </a:rPr>
              <a:t>Build a $5K/Mon Business in 15 Min</a:t>
            </a:r>
            <a:endParaRPr sz="1600" b="1">
              <a:solidFill>
                <a:srgbClr val="3C78D8"/>
              </a:solidFill>
              <a:latin typeface="Calibri"/>
              <a:ea typeface="Calibri"/>
              <a:cs typeface="Calibri"/>
              <a:sym typeface="Calibri"/>
            </a:endParaRPr>
          </a:p>
        </p:txBody>
      </p:sp>
      <p:sp>
        <p:nvSpPr>
          <p:cNvPr id="67" name="Google Shape;67;p15"/>
          <p:cNvSpPr txBox="1"/>
          <p:nvPr/>
        </p:nvSpPr>
        <p:spPr>
          <a:xfrm>
            <a:off x="4599876" y="737850"/>
            <a:ext cx="4202700" cy="2973900"/>
          </a:xfrm>
          <a:prstGeom prst="rect">
            <a:avLst/>
          </a:prstGeom>
          <a:solidFill>
            <a:srgbClr val="C7E6AF"/>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228600" marR="0" lvl="0" indent="-215900" algn="l" rtl="0">
              <a:lnSpc>
                <a:spcPct val="100000"/>
              </a:lnSpc>
              <a:spcBef>
                <a:spcPts val="0"/>
              </a:spcBef>
              <a:spcAft>
                <a:spcPts val="0"/>
              </a:spcAft>
              <a:buClr>
                <a:srgbClr val="3C78D8"/>
              </a:buClr>
              <a:buSzPts val="1600"/>
              <a:buFont typeface="Calibri"/>
              <a:buChar char="●"/>
            </a:pPr>
            <a:r>
              <a:rPr lang="en" sz="1600" b="1">
                <a:solidFill>
                  <a:srgbClr val="3C78D8"/>
                </a:solidFill>
                <a:latin typeface="Calibri"/>
                <a:ea typeface="Calibri"/>
                <a:cs typeface="Calibri"/>
                <a:sym typeface="Calibri"/>
              </a:rPr>
              <a:t>Neo Browser with Local AI</a:t>
            </a:r>
            <a:endParaRPr sz="1600" b="1">
              <a:solidFill>
                <a:srgbClr val="3C78D8"/>
              </a:solidFill>
              <a:latin typeface="Calibri"/>
              <a:ea typeface="Calibri"/>
              <a:cs typeface="Calibri"/>
              <a:sym typeface="Calibri"/>
            </a:endParaRPr>
          </a:p>
          <a:p>
            <a:pPr marL="228600" marR="0" lvl="0" indent="-215900" algn="l" rtl="0">
              <a:lnSpc>
                <a:spcPct val="100000"/>
              </a:lnSpc>
              <a:spcBef>
                <a:spcPts val="0"/>
              </a:spcBef>
              <a:spcAft>
                <a:spcPts val="0"/>
              </a:spcAft>
              <a:buClr>
                <a:srgbClr val="3C78D8"/>
              </a:buClr>
              <a:buSzPts val="1600"/>
              <a:buFont typeface="Calibri"/>
              <a:buChar char="●"/>
            </a:pPr>
            <a:r>
              <a:rPr lang="en" sz="1600" b="1">
                <a:solidFill>
                  <a:srgbClr val="3C78D8"/>
                </a:solidFill>
                <a:latin typeface="Calibri"/>
                <a:ea typeface="Calibri"/>
                <a:cs typeface="Calibri"/>
                <a:sym typeface="Calibri"/>
              </a:rPr>
              <a:t>OpenAI and Disney $1B licensing deal</a:t>
            </a:r>
            <a:endParaRPr sz="1600" b="1">
              <a:solidFill>
                <a:srgbClr val="3C78D8"/>
              </a:solidFill>
              <a:latin typeface="Calibri"/>
              <a:ea typeface="Calibri"/>
              <a:cs typeface="Calibri"/>
              <a:sym typeface="Calibri"/>
            </a:endParaRPr>
          </a:p>
          <a:p>
            <a:pPr marL="228600" marR="0" lvl="0" indent="-215900" algn="l" rtl="0">
              <a:lnSpc>
                <a:spcPct val="100000"/>
              </a:lnSpc>
              <a:spcBef>
                <a:spcPts val="0"/>
              </a:spcBef>
              <a:spcAft>
                <a:spcPts val="0"/>
              </a:spcAft>
              <a:buClr>
                <a:srgbClr val="3C78D8"/>
              </a:buClr>
              <a:buSzPts val="1600"/>
              <a:buFont typeface="Calibri"/>
              <a:buChar char="●"/>
            </a:pPr>
            <a:r>
              <a:rPr lang="en" sz="1600" b="1">
                <a:solidFill>
                  <a:srgbClr val="3C78D8"/>
                </a:solidFill>
                <a:latin typeface="Calibri"/>
                <a:ea typeface="Calibri"/>
                <a:cs typeface="Calibri"/>
                <a:sym typeface="Calibri"/>
              </a:rPr>
              <a:t>Amazon Nova AI automation on AWS Bedrock</a:t>
            </a:r>
            <a:endParaRPr sz="1600" b="1">
              <a:solidFill>
                <a:srgbClr val="3C78D8"/>
              </a:solidFill>
              <a:latin typeface="Calibri"/>
              <a:ea typeface="Calibri"/>
              <a:cs typeface="Calibri"/>
              <a:sym typeface="Calibri"/>
            </a:endParaRPr>
          </a:p>
          <a:p>
            <a:pPr marL="228600" marR="0" lvl="0" indent="-215900" algn="l" rtl="0">
              <a:lnSpc>
                <a:spcPct val="100000"/>
              </a:lnSpc>
              <a:spcBef>
                <a:spcPts val="0"/>
              </a:spcBef>
              <a:spcAft>
                <a:spcPts val="0"/>
              </a:spcAft>
              <a:buClr>
                <a:srgbClr val="3C78D8"/>
              </a:buClr>
              <a:buSzPts val="1600"/>
              <a:buFont typeface="Calibri"/>
              <a:buChar char="●"/>
            </a:pPr>
            <a:r>
              <a:rPr lang="en" sz="1600" b="1">
                <a:solidFill>
                  <a:srgbClr val="3C78D8"/>
                </a:solidFill>
                <a:latin typeface="Calibri"/>
                <a:ea typeface="Calibri"/>
                <a:cs typeface="Calibri"/>
                <a:sym typeface="Calibri"/>
              </a:rPr>
              <a:t>Krea AI Node App Builder</a:t>
            </a:r>
            <a:endParaRPr sz="1600" b="1">
              <a:solidFill>
                <a:srgbClr val="3C78D8"/>
              </a:solidFill>
              <a:latin typeface="Calibri"/>
              <a:ea typeface="Calibri"/>
              <a:cs typeface="Calibri"/>
              <a:sym typeface="Calibri"/>
            </a:endParaRPr>
          </a:p>
          <a:p>
            <a:pPr marL="228600" marR="0" lvl="0" indent="-215900" algn="l" rtl="0">
              <a:lnSpc>
                <a:spcPct val="100000"/>
              </a:lnSpc>
              <a:spcBef>
                <a:spcPts val="0"/>
              </a:spcBef>
              <a:spcAft>
                <a:spcPts val="0"/>
              </a:spcAft>
              <a:buClr>
                <a:srgbClr val="3C78D8"/>
              </a:buClr>
              <a:buSzPts val="1600"/>
              <a:buFont typeface="Calibri"/>
              <a:buChar char="●"/>
            </a:pPr>
            <a:r>
              <a:rPr lang="en" sz="1600" b="1">
                <a:solidFill>
                  <a:srgbClr val="3C78D8"/>
                </a:solidFill>
                <a:latin typeface="Calibri"/>
                <a:ea typeface="Calibri"/>
                <a:cs typeface="Calibri"/>
                <a:sym typeface="Calibri"/>
              </a:rPr>
              <a:t>Pentagon Ordered to Monitor for AI Threats</a:t>
            </a:r>
            <a:endParaRPr sz="1600" b="1">
              <a:solidFill>
                <a:srgbClr val="3C78D8"/>
              </a:solidFill>
              <a:latin typeface="Calibri"/>
              <a:ea typeface="Calibri"/>
              <a:cs typeface="Calibri"/>
              <a:sym typeface="Calibri"/>
            </a:endParaRPr>
          </a:p>
          <a:p>
            <a:pPr marL="228600" marR="0" lvl="0" indent="-215900" algn="l" rtl="0">
              <a:lnSpc>
                <a:spcPct val="100000"/>
              </a:lnSpc>
              <a:spcBef>
                <a:spcPts val="0"/>
              </a:spcBef>
              <a:spcAft>
                <a:spcPts val="0"/>
              </a:spcAft>
              <a:buClr>
                <a:srgbClr val="3C78D8"/>
              </a:buClr>
              <a:buSzPts val="1600"/>
              <a:buFont typeface="Calibri"/>
              <a:buChar char="●"/>
            </a:pPr>
            <a:r>
              <a:rPr lang="en" sz="1600" b="1">
                <a:solidFill>
                  <a:srgbClr val="3C78D8"/>
                </a:solidFill>
                <a:latin typeface="Calibri"/>
                <a:ea typeface="Calibri"/>
                <a:cs typeface="Calibri"/>
                <a:sym typeface="Calibri"/>
              </a:rPr>
              <a:t>SpaceX IPO in mid-2026 ?</a:t>
            </a:r>
            <a:endParaRPr sz="1600" b="1">
              <a:solidFill>
                <a:srgbClr val="3C78D8"/>
              </a:solidFill>
              <a:latin typeface="Calibri"/>
              <a:ea typeface="Calibri"/>
              <a:cs typeface="Calibri"/>
              <a:sym typeface="Calibri"/>
            </a:endParaRPr>
          </a:p>
          <a:p>
            <a:pPr marL="228600" marR="0" lvl="0" indent="-215900" algn="l" rtl="0">
              <a:lnSpc>
                <a:spcPct val="100000"/>
              </a:lnSpc>
              <a:spcBef>
                <a:spcPts val="0"/>
              </a:spcBef>
              <a:spcAft>
                <a:spcPts val="0"/>
              </a:spcAft>
              <a:buClr>
                <a:srgbClr val="3C78D8"/>
              </a:buClr>
              <a:buSzPts val="1600"/>
              <a:buFont typeface="Calibri"/>
              <a:buChar char="●"/>
            </a:pPr>
            <a:r>
              <a:rPr lang="en" sz="1600" b="1">
                <a:solidFill>
                  <a:srgbClr val="3C78D8"/>
                </a:solidFill>
                <a:latin typeface="Calibri"/>
                <a:ea typeface="Calibri"/>
                <a:cs typeface="Calibri"/>
                <a:sym typeface="Calibri"/>
              </a:rPr>
              <a:t>DeepSeek V3.2 - December 1</a:t>
            </a:r>
            <a:endParaRPr sz="1600" b="1">
              <a:solidFill>
                <a:srgbClr val="3C78D8"/>
              </a:solidFill>
              <a:latin typeface="Calibri"/>
              <a:ea typeface="Calibri"/>
              <a:cs typeface="Calibri"/>
              <a:sym typeface="Calibri"/>
            </a:endParaRPr>
          </a:p>
          <a:p>
            <a:pPr marL="228600" marR="0" lvl="0" indent="-215900" algn="l" rtl="0">
              <a:lnSpc>
                <a:spcPct val="100000"/>
              </a:lnSpc>
              <a:spcBef>
                <a:spcPts val="0"/>
              </a:spcBef>
              <a:spcAft>
                <a:spcPts val="0"/>
              </a:spcAft>
              <a:buClr>
                <a:srgbClr val="3C78D8"/>
              </a:buClr>
              <a:buSzPts val="1600"/>
              <a:buFont typeface="Calibri"/>
              <a:buChar char="●"/>
            </a:pPr>
            <a:r>
              <a:rPr lang="en" sz="1600" b="1">
                <a:solidFill>
                  <a:srgbClr val="3C78D8"/>
                </a:solidFill>
                <a:latin typeface="Calibri"/>
                <a:ea typeface="Calibri"/>
                <a:cs typeface="Calibri"/>
                <a:sym typeface="Calibri"/>
              </a:rPr>
              <a:t>Chinese AI Agents</a:t>
            </a:r>
            <a:endParaRPr sz="1600" b="1">
              <a:solidFill>
                <a:srgbClr val="3C78D8"/>
              </a:solidFill>
              <a:latin typeface="Calibri"/>
              <a:ea typeface="Calibri"/>
              <a:cs typeface="Calibri"/>
              <a:sym typeface="Calibri"/>
            </a:endParaRPr>
          </a:p>
          <a:p>
            <a:pPr marL="228600" marR="0" lvl="0" indent="-215900" algn="l" rtl="0">
              <a:lnSpc>
                <a:spcPct val="100000"/>
              </a:lnSpc>
              <a:spcBef>
                <a:spcPts val="0"/>
              </a:spcBef>
              <a:spcAft>
                <a:spcPts val="0"/>
              </a:spcAft>
              <a:buClr>
                <a:srgbClr val="3C78D8"/>
              </a:buClr>
              <a:buSzPts val="1600"/>
              <a:buFont typeface="Calibri"/>
              <a:buChar char="●"/>
            </a:pPr>
            <a:r>
              <a:rPr lang="en" sz="1600" b="1">
                <a:solidFill>
                  <a:srgbClr val="3C78D8"/>
                </a:solidFill>
                <a:latin typeface="Calibri"/>
                <a:ea typeface="Calibri"/>
                <a:cs typeface="Calibri"/>
                <a:sym typeface="Calibri"/>
              </a:rPr>
              <a:t>GLM-4.6</a:t>
            </a:r>
            <a:endParaRPr sz="1600" b="1">
              <a:solidFill>
                <a:srgbClr val="3C78D8"/>
              </a:solidFill>
              <a:latin typeface="Calibri"/>
              <a:ea typeface="Calibri"/>
              <a:cs typeface="Calibri"/>
              <a:sym typeface="Calibri"/>
            </a:endParaRPr>
          </a:p>
          <a:p>
            <a:pPr marL="228600" marR="0" lvl="0" indent="-215900" algn="l" rtl="0">
              <a:lnSpc>
                <a:spcPct val="100000"/>
              </a:lnSpc>
              <a:spcBef>
                <a:spcPts val="0"/>
              </a:spcBef>
              <a:spcAft>
                <a:spcPts val="0"/>
              </a:spcAft>
              <a:buClr>
                <a:srgbClr val="3C78D8"/>
              </a:buClr>
              <a:buSzPts val="1600"/>
              <a:buFont typeface="Calibri"/>
              <a:buChar char="●"/>
            </a:pPr>
            <a:r>
              <a:rPr lang="en" sz="1600" b="1">
                <a:solidFill>
                  <a:srgbClr val="3C78D8"/>
                </a:solidFill>
                <a:latin typeface="Calibri"/>
                <a:ea typeface="Calibri"/>
                <a:cs typeface="Calibri"/>
                <a:sym typeface="Calibri"/>
              </a:rPr>
              <a:t>Google Gemini 3 vs Perplexity AI</a:t>
            </a:r>
            <a:endParaRPr sz="1600" b="1">
              <a:solidFill>
                <a:srgbClr val="3C78D8"/>
              </a:solidFill>
              <a:latin typeface="Calibri"/>
              <a:ea typeface="Calibri"/>
              <a:cs typeface="Calibri"/>
              <a:sym typeface="Calibri"/>
            </a:endParaRPr>
          </a:p>
          <a:p>
            <a:pPr marL="228600" marR="0" lvl="0" indent="-215900" algn="l" rtl="0">
              <a:lnSpc>
                <a:spcPct val="100000"/>
              </a:lnSpc>
              <a:spcBef>
                <a:spcPts val="0"/>
              </a:spcBef>
              <a:spcAft>
                <a:spcPts val="0"/>
              </a:spcAft>
              <a:buClr>
                <a:srgbClr val="3C78D8"/>
              </a:buClr>
              <a:buSzPts val="1600"/>
              <a:buFont typeface="Calibri"/>
              <a:buChar char="●"/>
            </a:pPr>
            <a:r>
              <a:rPr lang="en" sz="1600" b="1">
                <a:solidFill>
                  <a:srgbClr val="3C78D8"/>
                </a:solidFill>
                <a:latin typeface="Calibri"/>
                <a:ea typeface="Calibri"/>
                <a:cs typeface="Calibri"/>
                <a:sym typeface="Calibri"/>
              </a:rPr>
              <a:t>OpenAI's 2025 State of Enterprise AI report</a:t>
            </a:r>
            <a:endParaRPr sz="1600" b="1">
              <a:solidFill>
                <a:srgbClr val="3C78D8"/>
              </a:solidFill>
              <a:latin typeface="Calibri"/>
              <a:ea typeface="Calibri"/>
              <a:cs typeface="Calibri"/>
              <a:sym typeface="Calibri"/>
            </a:endParaRPr>
          </a:p>
          <a:p>
            <a:pPr marL="228600" marR="0" lvl="0" indent="-215900" algn="l" rtl="0">
              <a:lnSpc>
                <a:spcPct val="100000"/>
              </a:lnSpc>
              <a:spcBef>
                <a:spcPts val="0"/>
              </a:spcBef>
              <a:spcAft>
                <a:spcPts val="0"/>
              </a:spcAft>
              <a:buClr>
                <a:srgbClr val="3C78D8"/>
              </a:buClr>
              <a:buSzPts val="1600"/>
              <a:buFont typeface="Calibri"/>
              <a:buChar char="●"/>
            </a:pPr>
            <a:r>
              <a:rPr lang="en" sz="1600" b="1">
                <a:solidFill>
                  <a:srgbClr val="3C78D8"/>
                </a:solidFill>
                <a:latin typeface="Calibri"/>
                <a:ea typeface="Calibri"/>
                <a:cs typeface="Calibri"/>
                <a:sym typeface="Calibri"/>
              </a:rPr>
              <a:t>Agentive - AI for Auditors</a:t>
            </a:r>
            <a:endParaRPr sz="1600" b="1">
              <a:solidFill>
                <a:srgbClr val="3C78D8"/>
              </a:solidFill>
              <a:latin typeface="Calibri"/>
              <a:ea typeface="Calibri"/>
              <a:cs typeface="Calibri"/>
              <a:sym typeface="Calibri"/>
            </a:endParaRPr>
          </a:p>
        </p:txBody>
      </p:sp>
      <p:sp>
        <p:nvSpPr>
          <p:cNvPr id="68" name="Google Shape;68;p15"/>
          <p:cNvSpPr txBox="1"/>
          <p:nvPr/>
        </p:nvSpPr>
        <p:spPr>
          <a:xfrm>
            <a:off x="5000226" y="18975"/>
            <a:ext cx="4114800" cy="664800"/>
          </a:xfrm>
          <a:prstGeom prst="rect">
            <a:avLst/>
          </a:prstGeom>
          <a:noFill/>
          <a:ln>
            <a:noFill/>
          </a:ln>
        </p:spPr>
        <p:txBody>
          <a:bodyPr spcFirstLastPara="1" wrap="square" lIns="9125" tIns="9125" rIns="9125" bIns="9125" anchor="t" anchorCtr="0">
            <a:spAutoFit/>
          </a:bodyPr>
          <a:lstStyle/>
          <a:p>
            <a:pPr marL="0" marR="0" lvl="0" indent="0" algn="l" rtl="0">
              <a:lnSpc>
                <a:spcPct val="100000"/>
              </a:lnSpc>
              <a:spcBef>
                <a:spcPts val="0"/>
              </a:spcBef>
              <a:spcAft>
                <a:spcPts val="0"/>
              </a:spcAft>
              <a:buNone/>
            </a:pPr>
            <a:r>
              <a:rPr lang="en" b="1" i="1">
                <a:solidFill>
                  <a:srgbClr val="3C78D8"/>
                </a:solidFill>
                <a:latin typeface="Roboto Mono"/>
                <a:ea typeface="Roboto Mono"/>
                <a:cs typeface="Roboto Mono"/>
                <a:sym typeface="Roboto Mono"/>
              </a:rPr>
              <a:t>- "The Year Everything Changed - Again"</a:t>
            </a:r>
            <a:endParaRPr b="1" i="1">
              <a:solidFill>
                <a:srgbClr val="3C78D8"/>
              </a:solidFill>
              <a:latin typeface="Roboto Mono"/>
              <a:ea typeface="Roboto Mono"/>
              <a:cs typeface="Roboto Mono"/>
              <a:sym typeface="Roboto Mono"/>
            </a:endParaRPr>
          </a:p>
          <a:p>
            <a:pPr marL="0" marR="0" lvl="0" indent="0" algn="l" rtl="0">
              <a:lnSpc>
                <a:spcPct val="100000"/>
              </a:lnSpc>
              <a:spcBef>
                <a:spcPts val="0"/>
              </a:spcBef>
              <a:spcAft>
                <a:spcPts val="0"/>
              </a:spcAft>
              <a:buNone/>
            </a:pPr>
            <a:r>
              <a:rPr lang="en" b="1" i="1">
                <a:solidFill>
                  <a:srgbClr val="3C78D8"/>
                </a:solidFill>
                <a:latin typeface="Roboto Mono"/>
                <a:ea typeface="Roboto Mono"/>
                <a:cs typeface="Roboto Mono"/>
                <a:sym typeface="Roboto Mono"/>
              </a:rPr>
              <a:t>- "East Meets West in the Race to AGI"</a:t>
            </a:r>
            <a:endParaRPr b="1" i="1">
              <a:solidFill>
                <a:srgbClr val="3C78D8"/>
              </a:solidFill>
              <a:latin typeface="Roboto Mono"/>
              <a:ea typeface="Roboto Mono"/>
              <a:cs typeface="Roboto Mono"/>
              <a:sym typeface="Roboto Mono"/>
            </a:endParaRPr>
          </a:p>
          <a:p>
            <a:pPr marL="0" marR="0" lvl="0" indent="0" algn="l" rtl="0">
              <a:lnSpc>
                <a:spcPct val="100000"/>
              </a:lnSpc>
              <a:spcBef>
                <a:spcPts val="0"/>
              </a:spcBef>
              <a:spcAft>
                <a:spcPts val="0"/>
              </a:spcAft>
              <a:buNone/>
            </a:pPr>
            <a:r>
              <a:rPr lang="en" b="1" i="1">
                <a:solidFill>
                  <a:srgbClr val="3C78D8"/>
                </a:solidFill>
                <a:latin typeface="Roboto Mono"/>
                <a:ea typeface="Roboto Mono"/>
                <a:cs typeface="Roboto Mono"/>
                <a:sym typeface="Roboto Mono"/>
              </a:rPr>
              <a:t>- "From Benchmarks to Business"</a:t>
            </a:r>
            <a:endParaRPr b="1" i="1">
              <a:solidFill>
                <a:srgbClr val="3C78D8"/>
              </a:solidFill>
              <a:latin typeface="Roboto Mono"/>
              <a:ea typeface="Roboto Mono"/>
              <a:cs typeface="Roboto Mono"/>
              <a:sym typeface="Roboto Mono"/>
            </a:endParaRPr>
          </a:p>
        </p:txBody>
      </p:sp>
      <p:sp>
        <p:nvSpPr>
          <p:cNvPr id="69" name="Google Shape;69;p15"/>
          <p:cNvSpPr txBox="1"/>
          <p:nvPr/>
        </p:nvSpPr>
        <p:spPr>
          <a:xfrm>
            <a:off x="3698093" y="69131"/>
            <a:ext cx="1185000" cy="510900"/>
          </a:xfrm>
          <a:prstGeom prst="rect">
            <a:avLst/>
          </a:prstGeom>
          <a:no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0" marR="0" lvl="0" indent="0" algn="ctr" rtl="0">
              <a:lnSpc>
                <a:spcPct val="100000"/>
              </a:lnSpc>
              <a:spcBef>
                <a:spcPts val="0"/>
              </a:spcBef>
              <a:spcAft>
                <a:spcPts val="0"/>
              </a:spcAft>
              <a:buNone/>
            </a:pPr>
            <a:r>
              <a:rPr lang="en" sz="1600" b="1" i="1">
                <a:solidFill>
                  <a:srgbClr val="FF0000"/>
                </a:solidFill>
                <a:latin typeface="Roboto Mono"/>
                <a:ea typeface="Roboto Mono"/>
                <a:cs typeface="Roboto Mono"/>
                <a:sym typeface="Roboto Mono"/>
              </a:rPr>
              <a:t>OpenAI</a:t>
            </a:r>
            <a:endParaRPr sz="1600" b="1" i="1">
              <a:solidFill>
                <a:srgbClr val="FF0000"/>
              </a:solidFill>
              <a:latin typeface="Roboto Mono"/>
              <a:ea typeface="Roboto Mono"/>
              <a:cs typeface="Roboto Mono"/>
              <a:sym typeface="Roboto Mono"/>
            </a:endParaRPr>
          </a:p>
          <a:p>
            <a:pPr marL="0" marR="0" lvl="0" indent="0" algn="ctr" rtl="0">
              <a:lnSpc>
                <a:spcPct val="100000"/>
              </a:lnSpc>
              <a:spcBef>
                <a:spcPts val="0"/>
              </a:spcBef>
              <a:spcAft>
                <a:spcPts val="0"/>
              </a:spcAft>
              <a:buNone/>
            </a:pPr>
            <a:r>
              <a:rPr lang="en" sz="1600" b="1" i="1">
                <a:solidFill>
                  <a:srgbClr val="FF0000"/>
                </a:solidFill>
                <a:latin typeface="Roboto Mono"/>
                <a:ea typeface="Roboto Mono"/>
                <a:cs typeface="Roboto Mono"/>
                <a:sym typeface="Roboto Mono"/>
              </a:rPr>
              <a:t>10 Years</a:t>
            </a:r>
            <a:endParaRPr sz="1600" b="1" i="1">
              <a:solidFill>
                <a:srgbClr val="FF0000"/>
              </a:solidFill>
              <a:latin typeface="Roboto Mono"/>
              <a:ea typeface="Roboto Mono"/>
              <a:cs typeface="Roboto Mono"/>
              <a:sym typeface="Roboto Mono"/>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73"/>
        <p:cNvGrpSpPr/>
        <p:nvPr/>
      </p:nvGrpSpPr>
      <p:grpSpPr>
        <a:xfrm>
          <a:off x="0" y="0"/>
          <a:ext cx="0" cy="0"/>
          <a:chOff x="0" y="0"/>
          <a:chExt cx="0" cy="0"/>
        </a:xfrm>
      </p:grpSpPr>
      <p:sp>
        <p:nvSpPr>
          <p:cNvPr id="74" name="Google Shape;74;p16"/>
          <p:cNvSpPr txBox="1"/>
          <p:nvPr/>
        </p:nvSpPr>
        <p:spPr>
          <a:xfrm>
            <a:off x="6736325" y="52350"/>
            <a:ext cx="2356200" cy="3417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0" marR="0" lvl="0" indent="0" algn="l" rtl="0">
              <a:lnSpc>
                <a:spcPct val="100000"/>
              </a:lnSpc>
              <a:spcBef>
                <a:spcPts val="0"/>
              </a:spcBef>
              <a:spcAft>
                <a:spcPts val="0"/>
              </a:spcAft>
              <a:buClr>
                <a:schemeClr val="dk1"/>
              </a:buClr>
              <a:buSzPts val="1100"/>
              <a:buFont typeface="Arial"/>
              <a:buNone/>
            </a:pPr>
            <a:r>
              <a:rPr lang="en" sz="1200" b="0" i="0" u="none" strike="noStrike" cap="none">
                <a:solidFill>
                  <a:schemeClr val="dk1"/>
                </a:solidFill>
                <a:latin typeface="Calibri"/>
                <a:ea typeface="Calibri"/>
                <a:cs typeface="Calibri"/>
                <a:sym typeface="Calibri"/>
              </a:rPr>
              <a:t>Starting Elo rating = 1000</a:t>
            </a:r>
            <a:endParaRPr sz="1200" b="0" i="0" u="none" strike="noStrike" cap="none">
              <a:solidFill>
                <a:schemeClr val="dk1"/>
              </a:solidFill>
              <a:latin typeface="Calibri"/>
              <a:ea typeface="Calibri"/>
              <a:cs typeface="Calibri"/>
              <a:sym typeface="Calibri"/>
            </a:endParaRPr>
          </a:p>
          <a:p>
            <a:pPr marL="0" marR="0" lvl="0" indent="0" algn="l" rtl="0">
              <a:lnSpc>
                <a:spcPct val="100000"/>
              </a:lnSpc>
              <a:spcBef>
                <a:spcPts val="0"/>
              </a:spcBef>
              <a:spcAft>
                <a:spcPts val="0"/>
              </a:spcAft>
              <a:buClr>
                <a:schemeClr val="dk1"/>
              </a:buClr>
              <a:buSzPts val="1100"/>
              <a:buFont typeface="Arial"/>
              <a:buNone/>
            </a:pPr>
            <a:r>
              <a:rPr lang="en" sz="900" b="0" i="0" u="sng" strike="noStrike" cap="none">
                <a:solidFill>
                  <a:schemeClr val="hlink"/>
                </a:solidFill>
                <a:latin typeface="Calibri"/>
                <a:ea typeface="Calibri"/>
                <a:cs typeface="Calibri"/>
                <a:sym typeface="Calibri"/>
                <a:hlinkClick r:id="rId3"/>
              </a:rPr>
              <a:t>https://en.wikipedia.org/wiki/Elo_rating_system</a:t>
            </a:r>
            <a:r>
              <a:rPr lang="en" sz="900" b="0" i="0" u="none" strike="noStrike" cap="none">
                <a:solidFill>
                  <a:schemeClr val="dk1"/>
                </a:solidFill>
                <a:latin typeface="Calibri"/>
                <a:ea typeface="Calibri"/>
                <a:cs typeface="Calibri"/>
                <a:sym typeface="Calibri"/>
              </a:rPr>
              <a:t> </a:t>
            </a:r>
            <a:endParaRPr sz="900" b="0" i="0" u="none" strike="noStrike" cap="none">
              <a:solidFill>
                <a:schemeClr val="dk1"/>
              </a:solidFill>
              <a:latin typeface="Calibri"/>
              <a:ea typeface="Calibri"/>
              <a:cs typeface="Calibri"/>
              <a:sym typeface="Calibri"/>
            </a:endParaRPr>
          </a:p>
        </p:txBody>
      </p:sp>
      <p:sp>
        <p:nvSpPr>
          <p:cNvPr id="75" name="Google Shape;75;p16"/>
          <p:cNvSpPr txBox="1"/>
          <p:nvPr/>
        </p:nvSpPr>
        <p:spPr>
          <a:xfrm>
            <a:off x="38150" y="2125"/>
            <a:ext cx="3924000" cy="295500"/>
          </a:xfrm>
          <a:prstGeom prst="rect">
            <a:avLst/>
          </a:prstGeom>
          <a:noFill/>
          <a:ln>
            <a:noFill/>
          </a:ln>
        </p:spPr>
        <p:txBody>
          <a:bodyPr spcFirstLastPara="1" wrap="square" lIns="9125" tIns="9125" rIns="9125" bIns="9125" anchor="t" anchorCtr="0">
            <a:spAutoFit/>
          </a:bodyPr>
          <a:lstStyle/>
          <a:p>
            <a:pPr marL="0" marR="0" lvl="0" indent="0" algn="l" rtl="0">
              <a:lnSpc>
                <a:spcPct val="100000"/>
              </a:lnSpc>
              <a:spcBef>
                <a:spcPts val="0"/>
              </a:spcBef>
              <a:spcAft>
                <a:spcPts val="0"/>
              </a:spcAft>
              <a:buClr>
                <a:srgbClr val="000000"/>
              </a:buClr>
              <a:buSzPts val="2000"/>
              <a:buFont typeface="Arial"/>
              <a:buNone/>
            </a:pPr>
            <a:r>
              <a:rPr lang="en" sz="1800" b="1" i="0" u="none" strike="noStrike" cap="none">
                <a:solidFill>
                  <a:schemeClr val="dk1"/>
                </a:solidFill>
                <a:latin typeface="Calibri"/>
                <a:ea typeface="Calibri"/>
                <a:cs typeface="Calibri"/>
                <a:sym typeface="Calibri"/>
              </a:rPr>
              <a:t>Crowd-sourced "LM Arena" Leaderboard</a:t>
            </a:r>
            <a:endParaRPr sz="1800" b="1" i="0" u="none" strike="noStrike" cap="none">
              <a:solidFill>
                <a:srgbClr val="000000"/>
              </a:solidFill>
              <a:latin typeface="Calibri"/>
              <a:ea typeface="Calibri"/>
              <a:cs typeface="Calibri"/>
              <a:sym typeface="Calibri"/>
            </a:endParaRPr>
          </a:p>
        </p:txBody>
      </p:sp>
      <p:sp>
        <p:nvSpPr>
          <p:cNvPr id="76" name="Google Shape;76;p16"/>
          <p:cNvSpPr txBox="1"/>
          <p:nvPr/>
        </p:nvSpPr>
        <p:spPr>
          <a:xfrm>
            <a:off x="469100" y="318397"/>
            <a:ext cx="2599800" cy="2031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0" marR="0" lvl="0" indent="0" algn="ctr" rtl="0">
              <a:lnSpc>
                <a:spcPct val="100000"/>
              </a:lnSpc>
              <a:spcBef>
                <a:spcPts val="0"/>
              </a:spcBef>
              <a:spcAft>
                <a:spcPts val="0"/>
              </a:spcAft>
              <a:buClr>
                <a:schemeClr val="dk1"/>
              </a:buClr>
              <a:buSzPts val="1100"/>
              <a:buFont typeface="Arial"/>
              <a:buNone/>
            </a:pPr>
            <a:r>
              <a:rPr lang="en" sz="1200" b="1">
                <a:solidFill>
                  <a:srgbClr val="FF0000"/>
                </a:solidFill>
                <a:latin typeface="Calibri"/>
                <a:ea typeface="Calibri"/>
                <a:cs typeface="Calibri"/>
                <a:sym typeface="Calibri"/>
              </a:rPr>
              <a:t>English - </a:t>
            </a:r>
            <a:r>
              <a:rPr lang="en" sz="900" b="1" u="sng">
                <a:solidFill>
                  <a:schemeClr val="hlink"/>
                </a:solidFill>
                <a:latin typeface="Calibri"/>
                <a:ea typeface="Calibri"/>
                <a:cs typeface="Calibri"/>
                <a:sym typeface="Calibri"/>
                <a:hlinkClick r:id="rId4"/>
              </a:rPr>
              <a:t>https://lmarena.ai/leaderboard/text</a:t>
            </a:r>
            <a:r>
              <a:rPr lang="en" sz="900" b="1">
                <a:solidFill>
                  <a:srgbClr val="FF0000"/>
                </a:solidFill>
                <a:latin typeface="Calibri"/>
                <a:ea typeface="Calibri"/>
                <a:cs typeface="Calibri"/>
                <a:sym typeface="Calibri"/>
              </a:rPr>
              <a:t> </a:t>
            </a:r>
            <a:endParaRPr sz="900" b="1">
              <a:solidFill>
                <a:srgbClr val="FF0000"/>
              </a:solidFill>
              <a:latin typeface="Calibri"/>
              <a:ea typeface="Calibri"/>
              <a:cs typeface="Calibri"/>
              <a:sym typeface="Calibri"/>
            </a:endParaRPr>
          </a:p>
        </p:txBody>
      </p:sp>
      <p:sp>
        <p:nvSpPr>
          <p:cNvPr id="77" name="Google Shape;77;p16"/>
          <p:cNvSpPr txBox="1"/>
          <p:nvPr/>
        </p:nvSpPr>
        <p:spPr>
          <a:xfrm>
            <a:off x="3513152" y="322115"/>
            <a:ext cx="2839500" cy="2031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0" marR="0" lvl="0" indent="0" algn="ctr" rtl="0">
              <a:lnSpc>
                <a:spcPct val="100000"/>
              </a:lnSpc>
              <a:spcBef>
                <a:spcPts val="0"/>
              </a:spcBef>
              <a:spcAft>
                <a:spcPts val="0"/>
              </a:spcAft>
              <a:buClr>
                <a:schemeClr val="dk1"/>
              </a:buClr>
              <a:buSzPts val="1100"/>
              <a:buFont typeface="Arial"/>
              <a:buNone/>
            </a:pPr>
            <a:r>
              <a:rPr lang="en" sz="1200" b="1">
                <a:solidFill>
                  <a:srgbClr val="FF0000"/>
                </a:solidFill>
                <a:latin typeface="Calibri"/>
                <a:ea typeface="Calibri"/>
                <a:cs typeface="Calibri"/>
                <a:sym typeface="Calibri"/>
              </a:rPr>
              <a:t>Coding - </a:t>
            </a:r>
            <a:r>
              <a:rPr lang="en" sz="900" b="1" u="sng">
                <a:solidFill>
                  <a:schemeClr val="hlink"/>
                </a:solidFill>
                <a:latin typeface="Calibri"/>
                <a:ea typeface="Calibri"/>
                <a:cs typeface="Calibri"/>
                <a:sym typeface="Calibri"/>
                <a:hlinkClick r:id="rId5"/>
              </a:rPr>
              <a:t>https://lmarena.ai/leaderboard/text/coding</a:t>
            </a:r>
            <a:r>
              <a:rPr lang="en" sz="900" b="1">
                <a:solidFill>
                  <a:srgbClr val="FF0000"/>
                </a:solidFill>
                <a:latin typeface="Calibri"/>
                <a:ea typeface="Calibri"/>
                <a:cs typeface="Calibri"/>
                <a:sym typeface="Calibri"/>
              </a:rPr>
              <a:t>  </a:t>
            </a:r>
            <a:endParaRPr sz="900" b="0" i="0" u="none" strike="noStrike" cap="none">
              <a:solidFill>
                <a:schemeClr val="dk1"/>
              </a:solidFill>
              <a:latin typeface="Calibri"/>
              <a:ea typeface="Calibri"/>
              <a:cs typeface="Calibri"/>
              <a:sym typeface="Calibri"/>
            </a:endParaRPr>
          </a:p>
        </p:txBody>
      </p:sp>
      <p:sp>
        <p:nvSpPr>
          <p:cNvPr id="78" name="Google Shape;78;p16"/>
          <p:cNvSpPr/>
          <p:nvPr/>
        </p:nvSpPr>
        <p:spPr>
          <a:xfrm>
            <a:off x="603518" y="4388796"/>
            <a:ext cx="125400" cy="125400"/>
          </a:xfrm>
          <a:prstGeom prst="ellipse">
            <a:avLst/>
          </a:prstGeom>
          <a:solidFill>
            <a:srgbClr val="FFFF00"/>
          </a:soli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9" name="Google Shape;79;p16"/>
          <p:cNvSpPr/>
          <p:nvPr/>
        </p:nvSpPr>
        <p:spPr>
          <a:xfrm>
            <a:off x="605693" y="781055"/>
            <a:ext cx="125400" cy="125400"/>
          </a:xfrm>
          <a:prstGeom prst="ellipse">
            <a:avLst/>
          </a:prstGeom>
          <a:solidFill>
            <a:srgbClr val="FF0000"/>
          </a:soli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80" name="Google Shape;80;p16"/>
          <p:cNvSpPr txBox="1"/>
          <p:nvPr/>
        </p:nvSpPr>
        <p:spPr>
          <a:xfrm>
            <a:off x="6549674" y="2171102"/>
            <a:ext cx="2356200" cy="26043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171450" marR="0" lvl="0" indent="-107950" algn="l" rtl="0">
              <a:lnSpc>
                <a:spcPct val="100000"/>
              </a:lnSpc>
              <a:spcBef>
                <a:spcPts val="0"/>
              </a:spcBef>
              <a:spcAft>
                <a:spcPts val="0"/>
              </a:spcAft>
              <a:buClr>
                <a:schemeClr val="dk1"/>
              </a:buClr>
              <a:buSzPts val="800"/>
              <a:buFont typeface="Calibri"/>
              <a:buChar char="●"/>
            </a:pPr>
            <a:r>
              <a:rPr lang="en" sz="800" u="sng">
                <a:solidFill>
                  <a:schemeClr val="hlink"/>
                </a:solidFill>
                <a:latin typeface="Calibri"/>
                <a:ea typeface="Calibri"/>
                <a:cs typeface="Calibri"/>
                <a:sym typeface="Calibri"/>
                <a:hlinkClick r:id="rId4"/>
              </a:rPr>
              <a:t>https://lmarena.ai/leaderboard/text</a:t>
            </a:r>
            <a:r>
              <a:rPr lang="en" sz="800">
                <a:latin typeface="Calibri"/>
                <a:ea typeface="Calibri"/>
                <a:cs typeface="Calibri"/>
                <a:sym typeface="Calibri"/>
              </a:rPr>
              <a:t> </a:t>
            </a:r>
            <a:endParaRPr sz="800">
              <a:latin typeface="Calibri"/>
              <a:ea typeface="Calibri"/>
              <a:cs typeface="Calibri"/>
              <a:sym typeface="Calibri"/>
            </a:endParaRPr>
          </a:p>
          <a:p>
            <a:pPr marL="171450" marR="0" lvl="0" indent="-107950" algn="l" rtl="0">
              <a:lnSpc>
                <a:spcPct val="100000"/>
              </a:lnSpc>
              <a:spcBef>
                <a:spcPts val="0"/>
              </a:spcBef>
              <a:spcAft>
                <a:spcPts val="0"/>
              </a:spcAft>
              <a:buClr>
                <a:schemeClr val="dk1"/>
              </a:buClr>
              <a:buSzPts val="800"/>
              <a:buFont typeface="Calibri"/>
              <a:buChar char="●"/>
            </a:pPr>
            <a:r>
              <a:rPr lang="en" sz="800">
                <a:latin typeface="Calibri"/>
                <a:ea typeface="Calibri"/>
                <a:cs typeface="Calibri"/>
                <a:sym typeface="Calibri"/>
              </a:rPr>
              <a:t>Design Arena - </a:t>
            </a:r>
            <a:br>
              <a:rPr lang="en" sz="800">
                <a:latin typeface="Calibri"/>
                <a:ea typeface="Calibri"/>
                <a:cs typeface="Calibri"/>
                <a:sym typeface="Calibri"/>
              </a:rPr>
            </a:br>
            <a:r>
              <a:rPr lang="en" sz="800" u="sng">
                <a:solidFill>
                  <a:schemeClr val="hlink"/>
                </a:solidFill>
                <a:latin typeface="Calibri"/>
                <a:ea typeface="Calibri"/>
                <a:cs typeface="Calibri"/>
                <a:sym typeface="Calibri"/>
                <a:hlinkClick r:id="rId6"/>
              </a:rPr>
              <a:t>https://www.designarena.ai</a:t>
            </a:r>
            <a:r>
              <a:rPr lang="en" sz="800">
                <a:latin typeface="Calibri"/>
                <a:ea typeface="Calibri"/>
                <a:cs typeface="Calibri"/>
                <a:sym typeface="Calibri"/>
              </a:rPr>
              <a:t> </a:t>
            </a:r>
            <a:endParaRPr sz="800">
              <a:latin typeface="Calibri"/>
              <a:ea typeface="Calibri"/>
              <a:cs typeface="Calibri"/>
              <a:sym typeface="Calibri"/>
            </a:endParaRPr>
          </a:p>
          <a:p>
            <a:pPr marL="171450" marR="0" lvl="0" indent="-107950" algn="l" rtl="0">
              <a:lnSpc>
                <a:spcPct val="100000"/>
              </a:lnSpc>
              <a:spcBef>
                <a:spcPts val="0"/>
              </a:spcBef>
              <a:spcAft>
                <a:spcPts val="0"/>
              </a:spcAft>
              <a:buClr>
                <a:schemeClr val="dk1"/>
              </a:buClr>
              <a:buSzPts val="800"/>
              <a:buFont typeface="Calibri"/>
              <a:buChar char="●"/>
            </a:pPr>
            <a:r>
              <a:rPr lang="en" sz="800" u="sng">
                <a:solidFill>
                  <a:schemeClr val="hlink"/>
                </a:solidFill>
                <a:latin typeface="Calibri"/>
                <a:ea typeface="Calibri"/>
                <a:cs typeface="Calibri"/>
                <a:sym typeface="Calibri"/>
                <a:hlinkClick r:id="rId7"/>
              </a:rPr>
              <a:t>https://openlm.ai/chatbot-arena/</a:t>
            </a:r>
            <a:r>
              <a:rPr lang="en" sz="800">
                <a:solidFill>
                  <a:schemeClr val="dk1"/>
                </a:solidFill>
                <a:latin typeface="Calibri"/>
                <a:ea typeface="Calibri"/>
                <a:cs typeface="Calibri"/>
                <a:sym typeface="Calibri"/>
              </a:rPr>
              <a:t> </a:t>
            </a:r>
            <a:endParaRPr sz="800">
              <a:solidFill>
                <a:schemeClr val="dk1"/>
              </a:solidFill>
              <a:latin typeface="Calibri"/>
              <a:ea typeface="Calibri"/>
              <a:cs typeface="Calibri"/>
              <a:sym typeface="Calibri"/>
            </a:endParaRPr>
          </a:p>
          <a:p>
            <a:pPr marL="171450" marR="0" lvl="0" indent="-107950" algn="l" rtl="0">
              <a:lnSpc>
                <a:spcPct val="100000"/>
              </a:lnSpc>
              <a:spcBef>
                <a:spcPts val="0"/>
              </a:spcBef>
              <a:spcAft>
                <a:spcPts val="0"/>
              </a:spcAft>
              <a:buClr>
                <a:schemeClr val="dk1"/>
              </a:buClr>
              <a:buSzPts val="800"/>
              <a:buFont typeface="Calibri"/>
              <a:buChar char="●"/>
            </a:pPr>
            <a:r>
              <a:rPr lang="en" sz="800" u="sng">
                <a:solidFill>
                  <a:schemeClr val="hlink"/>
                </a:solidFill>
                <a:latin typeface="Calibri"/>
                <a:ea typeface="Calibri"/>
                <a:cs typeface="Calibri"/>
                <a:sym typeface="Calibri"/>
                <a:hlinkClick r:id="rId8"/>
              </a:rPr>
              <a:t>https://beta.lmarena.ai</a:t>
            </a:r>
            <a:r>
              <a:rPr lang="en" sz="800">
                <a:solidFill>
                  <a:schemeClr val="dk1"/>
                </a:solidFill>
                <a:latin typeface="Calibri"/>
                <a:ea typeface="Calibri"/>
                <a:cs typeface="Calibri"/>
                <a:sym typeface="Calibri"/>
              </a:rPr>
              <a:t> </a:t>
            </a:r>
            <a:endParaRPr sz="800">
              <a:solidFill>
                <a:schemeClr val="dk1"/>
              </a:solidFill>
              <a:latin typeface="Calibri"/>
              <a:ea typeface="Calibri"/>
              <a:cs typeface="Calibri"/>
              <a:sym typeface="Calibri"/>
            </a:endParaRPr>
          </a:p>
          <a:p>
            <a:pPr marL="171450" marR="0" lvl="0" indent="-107950" algn="l" rtl="0">
              <a:lnSpc>
                <a:spcPct val="100000"/>
              </a:lnSpc>
              <a:spcBef>
                <a:spcPts val="0"/>
              </a:spcBef>
              <a:spcAft>
                <a:spcPts val="0"/>
              </a:spcAft>
              <a:buClr>
                <a:schemeClr val="dk1"/>
              </a:buClr>
              <a:buSzPts val="800"/>
              <a:buFont typeface="Calibri"/>
              <a:buChar char="●"/>
            </a:pPr>
            <a:r>
              <a:rPr lang="en" sz="800" b="0" i="0" u="none" strike="noStrike" cap="none">
                <a:solidFill>
                  <a:schemeClr val="dk1"/>
                </a:solidFill>
                <a:latin typeface="Calibri"/>
                <a:ea typeface="Calibri"/>
                <a:cs typeface="Calibri"/>
                <a:sym typeface="Calibri"/>
              </a:rPr>
              <a:t>Web Leaderboard -  1T params</a:t>
            </a:r>
            <a:br>
              <a:rPr lang="en" sz="800" b="0" i="0" u="none" strike="noStrike" cap="none">
                <a:solidFill>
                  <a:schemeClr val="dk1"/>
                </a:solidFill>
                <a:latin typeface="Calibri"/>
                <a:ea typeface="Calibri"/>
                <a:cs typeface="Calibri"/>
                <a:sym typeface="Calibri"/>
              </a:rPr>
            </a:br>
            <a:r>
              <a:rPr lang="en" sz="800" b="0" i="0" u="sng" strike="noStrike" cap="none">
                <a:solidFill>
                  <a:schemeClr val="hlink"/>
                </a:solidFill>
                <a:latin typeface="Calibri"/>
                <a:ea typeface="Calibri"/>
                <a:cs typeface="Calibri"/>
                <a:sym typeface="Calibri"/>
                <a:hlinkClick r:id="rId9"/>
              </a:rPr>
              <a:t>https://web.lmarena.ai/leaderboard</a:t>
            </a:r>
            <a:r>
              <a:rPr lang="en" sz="800" b="0" i="0" u="none" strike="noStrike" cap="none">
                <a:solidFill>
                  <a:schemeClr val="dk1"/>
                </a:solidFill>
                <a:latin typeface="Calibri"/>
                <a:ea typeface="Calibri"/>
                <a:cs typeface="Calibri"/>
                <a:sym typeface="Calibri"/>
              </a:rPr>
              <a:t> </a:t>
            </a:r>
            <a:endParaRPr sz="800" b="0" i="0" u="none" strike="noStrike" cap="none">
              <a:solidFill>
                <a:schemeClr val="dk1"/>
              </a:solidFill>
              <a:latin typeface="Calibri"/>
              <a:ea typeface="Calibri"/>
              <a:cs typeface="Calibri"/>
              <a:sym typeface="Calibri"/>
            </a:endParaRPr>
          </a:p>
          <a:p>
            <a:pPr marL="171450" marR="0" lvl="0" indent="-107950" algn="l" rtl="0">
              <a:lnSpc>
                <a:spcPct val="100000"/>
              </a:lnSpc>
              <a:spcBef>
                <a:spcPts val="0"/>
              </a:spcBef>
              <a:spcAft>
                <a:spcPts val="0"/>
              </a:spcAft>
              <a:buClr>
                <a:schemeClr val="dk1"/>
              </a:buClr>
              <a:buSzPts val="800"/>
              <a:buFont typeface="Calibri"/>
              <a:buChar char="●"/>
            </a:pPr>
            <a:r>
              <a:rPr lang="en" sz="800" b="0" i="0" u="none" strike="noStrike" cap="none">
                <a:solidFill>
                  <a:schemeClr val="dk1"/>
                </a:solidFill>
                <a:latin typeface="Calibri"/>
                <a:ea typeface="Calibri"/>
                <a:cs typeface="Calibri"/>
                <a:sym typeface="Calibri"/>
              </a:rPr>
              <a:t>LLM Leaderboard - by @LlmStats - </a:t>
            </a:r>
            <a:br>
              <a:rPr lang="en" sz="800" b="0" i="0" u="none" strike="noStrike" cap="none">
                <a:solidFill>
                  <a:schemeClr val="dk1"/>
                </a:solidFill>
                <a:latin typeface="Calibri"/>
                <a:ea typeface="Calibri"/>
                <a:cs typeface="Calibri"/>
                <a:sym typeface="Calibri"/>
              </a:rPr>
            </a:br>
            <a:r>
              <a:rPr lang="en" sz="800" b="0" i="0" u="sng" strike="noStrike" cap="none">
                <a:solidFill>
                  <a:schemeClr val="hlink"/>
                </a:solidFill>
                <a:latin typeface="Calibri"/>
                <a:ea typeface="Calibri"/>
                <a:cs typeface="Calibri"/>
                <a:sym typeface="Calibri"/>
                <a:hlinkClick r:id="rId10"/>
              </a:rPr>
              <a:t>https://llmworld.net/llm_leaderboards/</a:t>
            </a:r>
            <a:r>
              <a:rPr lang="en" sz="800" b="0" i="0" u="none" strike="noStrike" cap="none">
                <a:solidFill>
                  <a:schemeClr val="dk1"/>
                </a:solidFill>
                <a:latin typeface="Calibri"/>
                <a:ea typeface="Calibri"/>
                <a:cs typeface="Calibri"/>
                <a:sym typeface="Calibri"/>
              </a:rPr>
              <a:t> </a:t>
            </a:r>
            <a:endParaRPr sz="800" b="0" i="0" u="none" strike="noStrike" cap="none">
              <a:solidFill>
                <a:schemeClr val="dk1"/>
              </a:solidFill>
              <a:latin typeface="Calibri"/>
              <a:ea typeface="Calibri"/>
              <a:cs typeface="Calibri"/>
              <a:sym typeface="Calibri"/>
            </a:endParaRPr>
          </a:p>
          <a:p>
            <a:pPr marL="171450" marR="0" lvl="0" indent="-107950" algn="l" rtl="0">
              <a:lnSpc>
                <a:spcPct val="100000"/>
              </a:lnSpc>
              <a:spcBef>
                <a:spcPts val="0"/>
              </a:spcBef>
              <a:spcAft>
                <a:spcPts val="0"/>
              </a:spcAft>
              <a:buClr>
                <a:schemeClr val="dk1"/>
              </a:buClr>
              <a:buSzPts val="800"/>
              <a:buFont typeface="Calibri"/>
              <a:buChar char="●"/>
            </a:pPr>
            <a:r>
              <a:rPr lang="en" sz="800" b="0" i="0" u="none" strike="noStrike" cap="none">
                <a:solidFill>
                  <a:schemeClr val="dk1"/>
                </a:solidFill>
                <a:latin typeface="Calibri"/>
                <a:ea typeface="Calibri"/>
                <a:cs typeface="Calibri"/>
                <a:sym typeface="Calibri"/>
              </a:rPr>
              <a:t>LLM Leaderboard - by StackAI</a:t>
            </a:r>
            <a:r>
              <a:rPr lang="en" sz="800">
                <a:solidFill>
                  <a:schemeClr val="dk1"/>
                </a:solidFill>
                <a:latin typeface="Calibri"/>
                <a:ea typeface="Calibri"/>
                <a:cs typeface="Calibri"/>
                <a:sym typeface="Calibri"/>
              </a:rPr>
              <a:t> - </a:t>
            </a:r>
            <a:br>
              <a:rPr lang="en" sz="800">
                <a:solidFill>
                  <a:schemeClr val="dk1"/>
                </a:solidFill>
                <a:latin typeface="Calibri"/>
                <a:ea typeface="Calibri"/>
                <a:cs typeface="Calibri"/>
                <a:sym typeface="Calibri"/>
              </a:rPr>
            </a:br>
            <a:r>
              <a:rPr lang="en" sz="800" b="0" i="0" u="sng" strike="noStrike" cap="none">
                <a:solidFill>
                  <a:schemeClr val="hlink"/>
                </a:solidFill>
                <a:latin typeface="Calibri"/>
                <a:ea typeface="Calibri"/>
                <a:cs typeface="Calibri"/>
                <a:sym typeface="Calibri"/>
                <a:hlinkClick r:id="rId11"/>
              </a:rPr>
              <a:t>https://www.stack-ai.com/llm-leaderboard</a:t>
            </a:r>
            <a:r>
              <a:rPr lang="en" sz="800" b="0" i="0" u="none" strike="noStrike" cap="none">
                <a:solidFill>
                  <a:schemeClr val="dk1"/>
                </a:solidFill>
                <a:latin typeface="Calibri"/>
                <a:ea typeface="Calibri"/>
                <a:cs typeface="Calibri"/>
                <a:sym typeface="Calibri"/>
              </a:rPr>
              <a:t> </a:t>
            </a:r>
            <a:endParaRPr sz="800" b="0" i="0" u="none" strike="noStrike" cap="none">
              <a:solidFill>
                <a:schemeClr val="dk1"/>
              </a:solidFill>
              <a:latin typeface="Calibri"/>
              <a:ea typeface="Calibri"/>
              <a:cs typeface="Calibri"/>
              <a:sym typeface="Calibri"/>
            </a:endParaRPr>
          </a:p>
          <a:p>
            <a:pPr marL="171450" marR="0" lvl="0" indent="-107950" algn="l" rtl="0">
              <a:lnSpc>
                <a:spcPct val="100000"/>
              </a:lnSpc>
              <a:spcBef>
                <a:spcPts val="0"/>
              </a:spcBef>
              <a:spcAft>
                <a:spcPts val="0"/>
              </a:spcAft>
              <a:buClr>
                <a:schemeClr val="dk1"/>
              </a:buClr>
              <a:buSzPts val="800"/>
              <a:buFont typeface="Calibri"/>
              <a:buChar char="●"/>
            </a:pPr>
            <a:r>
              <a:rPr lang="en" sz="800" b="0" i="0" u="none" strike="noStrike" cap="none">
                <a:solidFill>
                  <a:schemeClr val="dk1"/>
                </a:solidFill>
                <a:latin typeface="Calibri"/>
                <a:ea typeface="Calibri"/>
                <a:cs typeface="Calibri"/>
                <a:sym typeface="Calibri"/>
              </a:rPr>
              <a:t>LLM Leaderboard - by Artificial Analysis</a:t>
            </a:r>
            <a:r>
              <a:rPr lang="en" sz="800">
                <a:solidFill>
                  <a:schemeClr val="dk1"/>
                </a:solidFill>
                <a:latin typeface="Calibri"/>
                <a:ea typeface="Calibri"/>
                <a:cs typeface="Calibri"/>
                <a:sym typeface="Calibri"/>
              </a:rPr>
              <a:t> - </a:t>
            </a:r>
            <a:br>
              <a:rPr lang="en" sz="800">
                <a:solidFill>
                  <a:schemeClr val="dk1"/>
                </a:solidFill>
                <a:latin typeface="Calibri"/>
                <a:ea typeface="Calibri"/>
                <a:cs typeface="Calibri"/>
                <a:sym typeface="Calibri"/>
              </a:rPr>
            </a:br>
            <a:r>
              <a:rPr lang="en" sz="800" b="0" i="0" u="sng" strike="noStrike" cap="none">
                <a:solidFill>
                  <a:schemeClr val="hlink"/>
                </a:solidFill>
                <a:latin typeface="Calibri"/>
                <a:ea typeface="Calibri"/>
                <a:cs typeface="Calibri"/>
                <a:sym typeface="Calibri"/>
                <a:hlinkClick r:id="rId12"/>
              </a:rPr>
              <a:t>https://artificialanalysis.ai/leaderboards/models</a:t>
            </a:r>
            <a:r>
              <a:rPr lang="en" sz="800" b="0" i="0" u="none" strike="noStrike" cap="none">
                <a:solidFill>
                  <a:schemeClr val="dk1"/>
                </a:solidFill>
                <a:latin typeface="Calibri"/>
                <a:ea typeface="Calibri"/>
                <a:cs typeface="Calibri"/>
                <a:sym typeface="Calibri"/>
              </a:rPr>
              <a:t> </a:t>
            </a:r>
            <a:endParaRPr sz="800" b="0" i="0" u="none" strike="noStrike" cap="none">
              <a:solidFill>
                <a:schemeClr val="dk1"/>
              </a:solidFill>
              <a:latin typeface="Calibri"/>
              <a:ea typeface="Calibri"/>
              <a:cs typeface="Calibri"/>
              <a:sym typeface="Calibri"/>
            </a:endParaRPr>
          </a:p>
          <a:p>
            <a:pPr marL="171450" marR="0" lvl="0" indent="-107950" algn="l" rtl="0">
              <a:lnSpc>
                <a:spcPct val="100000"/>
              </a:lnSpc>
              <a:spcBef>
                <a:spcPts val="0"/>
              </a:spcBef>
              <a:spcAft>
                <a:spcPts val="0"/>
              </a:spcAft>
              <a:buClr>
                <a:schemeClr val="dk1"/>
              </a:buClr>
              <a:buSzPts val="800"/>
              <a:buFont typeface="Calibri"/>
              <a:buChar char="●"/>
            </a:pPr>
            <a:r>
              <a:rPr lang="en" sz="800" b="0" i="0" u="none" strike="noStrike" cap="none">
                <a:solidFill>
                  <a:schemeClr val="dk1"/>
                </a:solidFill>
                <a:latin typeface="Calibri"/>
                <a:ea typeface="Calibri"/>
                <a:cs typeface="Calibri"/>
                <a:sym typeface="Calibri"/>
              </a:rPr>
              <a:t>Open LLM Leaderboard - by Hugging Face - </a:t>
            </a:r>
            <a:br>
              <a:rPr lang="en" sz="800" b="0" i="0" u="none" strike="noStrike" cap="none">
                <a:solidFill>
                  <a:schemeClr val="dk1"/>
                </a:solidFill>
                <a:latin typeface="Calibri"/>
                <a:ea typeface="Calibri"/>
                <a:cs typeface="Calibri"/>
                <a:sym typeface="Calibri"/>
              </a:rPr>
            </a:br>
            <a:r>
              <a:rPr lang="en" sz="800" b="0" i="0" u="sng" strike="noStrike" cap="none">
                <a:solidFill>
                  <a:schemeClr val="hlink"/>
                </a:solidFill>
                <a:latin typeface="Calibri"/>
                <a:ea typeface="Calibri"/>
                <a:cs typeface="Calibri"/>
                <a:sym typeface="Calibri"/>
                <a:hlinkClick r:id="rId13"/>
              </a:rPr>
              <a:t>https://huggingface.co/open-llm-leaderboard</a:t>
            </a:r>
            <a:r>
              <a:rPr lang="en" sz="800" b="0" i="0" u="none" strike="noStrike" cap="none">
                <a:solidFill>
                  <a:schemeClr val="dk1"/>
                </a:solidFill>
                <a:latin typeface="Calibri"/>
                <a:ea typeface="Calibri"/>
                <a:cs typeface="Calibri"/>
                <a:sym typeface="Calibri"/>
              </a:rPr>
              <a:t> </a:t>
            </a:r>
            <a:endParaRPr sz="800" b="0" i="0" u="none" strike="noStrike" cap="none">
              <a:solidFill>
                <a:schemeClr val="dk1"/>
              </a:solidFill>
              <a:latin typeface="Calibri"/>
              <a:ea typeface="Calibri"/>
              <a:cs typeface="Calibri"/>
              <a:sym typeface="Calibri"/>
            </a:endParaRPr>
          </a:p>
          <a:p>
            <a:pPr marL="171450" marR="0" lvl="0" indent="-107950" algn="l" rtl="0">
              <a:lnSpc>
                <a:spcPct val="100000"/>
              </a:lnSpc>
              <a:spcBef>
                <a:spcPts val="0"/>
              </a:spcBef>
              <a:spcAft>
                <a:spcPts val="0"/>
              </a:spcAft>
              <a:buClr>
                <a:schemeClr val="dk1"/>
              </a:buClr>
              <a:buSzPts val="800"/>
              <a:buFont typeface="Calibri"/>
              <a:buChar char="●"/>
            </a:pPr>
            <a:r>
              <a:rPr lang="en" sz="800" b="0" i="0" u="none" strike="noStrike" cap="none">
                <a:solidFill>
                  <a:schemeClr val="dk1"/>
                </a:solidFill>
                <a:latin typeface="Calibri"/>
                <a:ea typeface="Calibri"/>
                <a:cs typeface="Calibri"/>
                <a:sym typeface="Calibri"/>
              </a:rPr>
              <a:t>LLM Leaderboard - by Vellum - </a:t>
            </a:r>
            <a:br>
              <a:rPr lang="en" sz="800" b="0" i="0" u="none" strike="noStrike" cap="none">
                <a:solidFill>
                  <a:schemeClr val="dk1"/>
                </a:solidFill>
                <a:latin typeface="Calibri"/>
                <a:ea typeface="Calibri"/>
                <a:cs typeface="Calibri"/>
                <a:sym typeface="Calibri"/>
              </a:rPr>
            </a:br>
            <a:r>
              <a:rPr lang="en" sz="800" b="0" i="0" u="sng" strike="noStrike" cap="none">
                <a:solidFill>
                  <a:schemeClr val="hlink"/>
                </a:solidFill>
                <a:latin typeface="Calibri"/>
                <a:ea typeface="Calibri"/>
                <a:cs typeface="Calibri"/>
                <a:sym typeface="Calibri"/>
                <a:hlinkClick r:id="rId14"/>
              </a:rPr>
              <a:t>https://www.vellum.ai/llm-leaderboard</a:t>
            </a:r>
            <a:r>
              <a:rPr lang="en" sz="800" b="0" i="0" u="none" strike="noStrike" cap="none">
                <a:solidFill>
                  <a:schemeClr val="dk1"/>
                </a:solidFill>
                <a:latin typeface="Calibri"/>
                <a:ea typeface="Calibri"/>
                <a:cs typeface="Calibri"/>
                <a:sym typeface="Calibri"/>
              </a:rPr>
              <a:t> </a:t>
            </a:r>
            <a:endParaRPr sz="800" b="0" i="0" u="none" strike="noStrike" cap="none">
              <a:solidFill>
                <a:schemeClr val="dk1"/>
              </a:solidFill>
              <a:latin typeface="Calibri"/>
              <a:ea typeface="Calibri"/>
              <a:cs typeface="Calibri"/>
              <a:sym typeface="Calibri"/>
            </a:endParaRPr>
          </a:p>
          <a:p>
            <a:pPr marL="171450" marR="0" lvl="0" indent="-107950" algn="l" rtl="0">
              <a:lnSpc>
                <a:spcPct val="100000"/>
              </a:lnSpc>
              <a:spcBef>
                <a:spcPts val="0"/>
              </a:spcBef>
              <a:spcAft>
                <a:spcPts val="0"/>
              </a:spcAft>
              <a:buClr>
                <a:schemeClr val="dk1"/>
              </a:buClr>
              <a:buSzPts val="800"/>
              <a:buFont typeface="Calibri"/>
              <a:buChar char="●"/>
            </a:pPr>
            <a:r>
              <a:rPr lang="en" sz="800">
                <a:solidFill>
                  <a:schemeClr val="dk1"/>
                </a:solidFill>
                <a:latin typeface="Calibri"/>
                <a:ea typeface="Calibri"/>
                <a:cs typeface="Calibri"/>
                <a:sym typeface="Calibri"/>
              </a:rPr>
              <a:t>AI Benchmarking Hub - </a:t>
            </a:r>
            <a:br>
              <a:rPr lang="en" sz="800">
                <a:solidFill>
                  <a:schemeClr val="dk1"/>
                </a:solidFill>
                <a:latin typeface="Calibri"/>
                <a:ea typeface="Calibri"/>
                <a:cs typeface="Calibri"/>
                <a:sym typeface="Calibri"/>
              </a:rPr>
            </a:br>
            <a:r>
              <a:rPr lang="en" sz="800" u="sng">
                <a:solidFill>
                  <a:schemeClr val="hlink"/>
                </a:solidFill>
                <a:latin typeface="Calibri"/>
                <a:ea typeface="Calibri"/>
                <a:cs typeface="Calibri"/>
                <a:sym typeface="Calibri"/>
                <a:hlinkClick r:id="rId15"/>
              </a:rPr>
              <a:t>https://epoch.ai/data/ai-benchmarking-dashboard</a:t>
            </a:r>
            <a:endParaRPr sz="800">
              <a:solidFill>
                <a:schemeClr val="dk1"/>
              </a:solidFill>
              <a:latin typeface="Calibri"/>
              <a:ea typeface="Calibri"/>
              <a:cs typeface="Calibri"/>
              <a:sym typeface="Calibri"/>
            </a:endParaRPr>
          </a:p>
          <a:p>
            <a:pPr marL="171450" marR="0" lvl="0" indent="-107950" algn="l" rtl="0">
              <a:lnSpc>
                <a:spcPct val="100000"/>
              </a:lnSpc>
              <a:spcBef>
                <a:spcPts val="0"/>
              </a:spcBef>
              <a:spcAft>
                <a:spcPts val="0"/>
              </a:spcAft>
              <a:buClr>
                <a:schemeClr val="dk1"/>
              </a:buClr>
              <a:buSzPts val="800"/>
              <a:buFont typeface="Calibri"/>
              <a:buChar char="●"/>
            </a:pPr>
            <a:r>
              <a:rPr lang="en" sz="800">
                <a:solidFill>
                  <a:schemeClr val="dk1"/>
                </a:solidFill>
                <a:latin typeface="Calibri"/>
                <a:ea typeface="Calibri"/>
                <a:cs typeface="Calibri"/>
                <a:sym typeface="Calibri"/>
              </a:rPr>
              <a:t>Grok 4 Benchmarks - </a:t>
            </a:r>
            <a:endParaRPr sz="800">
              <a:solidFill>
                <a:schemeClr val="dk1"/>
              </a:solidFill>
              <a:latin typeface="Calibri"/>
              <a:ea typeface="Calibri"/>
              <a:cs typeface="Calibri"/>
              <a:sym typeface="Calibri"/>
            </a:endParaRPr>
          </a:p>
          <a:p>
            <a:pPr marL="171450" marR="0" lvl="0" indent="-107950" algn="l" rtl="0">
              <a:lnSpc>
                <a:spcPct val="100000"/>
              </a:lnSpc>
              <a:spcBef>
                <a:spcPts val="0"/>
              </a:spcBef>
              <a:spcAft>
                <a:spcPts val="0"/>
              </a:spcAft>
              <a:buClr>
                <a:schemeClr val="dk1"/>
              </a:buClr>
              <a:buSzPts val="800"/>
              <a:buFont typeface="Calibri"/>
              <a:buChar char="●"/>
            </a:pPr>
            <a:r>
              <a:rPr lang="en" sz="800" u="sng">
                <a:solidFill>
                  <a:schemeClr val="hlink"/>
                </a:solidFill>
                <a:latin typeface="Calibri"/>
                <a:ea typeface="Calibri"/>
                <a:cs typeface="Calibri"/>
                <a:sym typeface="Calibri"/>
                <a:hlinkClick r:id="rId16"/>
              </a:rPr>
              <a:t>https://artificialanalysis.ai/models/grok-4</a:t>
            </a:r>
            <a:r>
              <a:rPr lang="en" sz="800">
                <a:solidFill>
                  <a:schemeClr val="dk1"/>
                </a:solidFill>
                <a:latin typeface="Calibri"/>
                <a:ea typeface="Calibri"/>
                <a:cs typeface="Calibri"/>
                <a:sym typeface="Calibri"/>
              </a:rPr>
              <a:t> </a:t>
            </a:r>
            <a:endParaRPr sz="800">
              <a:solidFill>
                <a:schemeClr val="dk1"/>
              </a:solidFill>
              <a:latin typeface="Calibri"/>
              <a:ea typeface="Calibri"/>
              <a:cs typeface="Calibri"/>
              <a:sym typeface="Calibri"/>
            </a:endParaRPr>
          </a:p>
        </p:txBody>
      </p:sp>
      <p:sp>
        <p:nvSpPr>
          <p:cNvPr id="81" name="Google Shape;81;p16"/>
          <p:cNvSpPr/>
          <p:nvPr/>
        </p:nvSpPr>
        <p:spPr>
          <a:xfrm>
            <a:off x="3751244" y="771089"/>
            <a:ext cx="125400" cy="125400"/>
          </a:xfrm>
          <a:prstGeom prst="ellipse">
            <a:avLst/>
          </a:prstGeom>
          <a:solidFill>
            <a:srgbClr val="3C78D8"/>
          </a:soli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82" name="Google Shape;82;p16"/>
          <p:cNvSpPr/>
          <p:nvPr/>
        </p:nvSpPr>
        <p:spPr>
          <a:xfrm>
            <a:off x="610001" y="1677135"/>
            <a:ext cx="125400" cy="125400"/>
          </a:xfrm>
          <a:prstGeom prst="ellipse">
            <a:avLst/>
          </a:prstGeom>
          <a:solidFill>
            <a:srgbClr val="FFFF00"/>
          </a:soli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83" name="Google Shape;83;p16"/>
          <p:cNvSpPr/>
          <p:nvPr/>
        </p:nvSpPr>
        <p:spPr>
          <a:xfrm>
            <a:off x="603081" y="1317558"/>
            <a:ext cx="125400" cy="125400"/>
          </a:xfrm>
          <a:prstGeom prst="ellipse">
            <a:avLst/>
          </a:prstGeom>
          <a:solidFill>
            <a:srgbClr val="3C78D8"/>
          </a:soli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84" name="Google Shape;84;p16"/>
          <p:cNvSpPr/>
          <p:nvPr/>
        </p:nvSpPr>
        <p:spPr>
          <a:xfrm>
            <a:off x="3748244" y="953750"/>
            <a:ext cx="125400" cy="125400"/>
          </a:xfrm>
          <a:prstGeom prst="ellipse">
            <a:avLst/>
          </a:prstGeom>
          <a:solidFill>
            <a:srgbClr val="3C78D8"/>
          </a:soli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85" name="Google Shape;85;p16"/>
          <p:cNvSpPr txBox="1"/>
          <p:nvPr/>
        </p:nvSpPr>
        <p:spPr>
          <a:xfrm>
            <a:off x="3448497" y="2924349"/>
            <a:ext cx="288900" cy="141600"/>
          </a:xfrm>
          <a:prstGeom prst="rect">
            <a:avLst/>
          </a:prstGeom>
          <a:no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0" marR="0" lvl="0" indent="0" algn="l" rtl="0">
              <a:lnSpc>
                <a:spcPct val="100000"/>
              </a:lnSpc>
              <a:spcBef>
                <a:spcPts val="0"/>
              </a:spcBef>
              <a:spcAft>
                <a:spcPts val="0"/>
              </a:spcAft>
              <a:buClr>
                <a:srgbClr val="000000"/>
              </a:buClr>
              <a:buSzPts val="1100"/>
              <a:buFont typeface="Arial"/>
              <a:buNone/>
            </a:pPr>
            <a:r>
              <a:rPr lang="en" sz="800" b="0" i="0" u="none" strike="noStrike" cap="none">
                <a:solidFill>
                  <a:srgbClr val="1F2937"/>
                </a:solidFill>
                <a:highlight>
                  <a:srgbClr val="FFFFFF"/>
                </a:highlight>
                <a:latin typeface="Calibri"/>
                <a:ea typeface="Calibri"/>
                <a:cs typeface="Calibri"/>
                <a:sym typeface="Calibri"/>
              </a:rPr>
              <a:t>China</a:t>
            </a:r>
            <a:endParaRPr sz="800" b="0" i="0" u="none" strike="noStrike" cap="none">
              <a:solidFill>
                <a:srgbClr val="1F2937"/>
              </a:solidFill>
              <a:highlight>
                <a:srgbClr val="FFFFFF"/>
              </a:highlight>
              <a:latin typeface="Calibri"/>
              <a:ea typeface="Calibri"/>
              <a:cs typeface="Calibri"/>
              <a:sym typeface="Calibri"/>
            </a:endParaRPr>
          </a:p>
        </p:txBody>
      </p:sp>
      <p:sp>
        <p:nvSpPr>
          <p:cNvPr id="86" name="Google Shape;86;p16"/>
          <p:cNvSpPr/>
          <p:nvPr/>
        </p:nvSpPr>
        <p:spPr>
          <a:xfrm>
            <a:off x="3748954" y="2935638"/>
            <a:ext cx="125400" cy="125400"/>
          </a:xfrm>
          <a:prstGeom prst="ellipse">
            <a:avLst/>
          </a:prstGeom>
          <a:solidFill>
            <a:srgbClr val="6AA84F"/>
          </a:soli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87" name="Google Shape;87;p16"/>
          <p:cNvSpPr txBox="1"/>
          <p:nvPr/>
        </p:nvSpPr>
        <p:spPr>
          <a:xfrm>
            <a:off x="3587049" y="2750673"/>
            <a:ext cx="288900" cy="141600"/>
          </a:xfrm>
          <a:prstGeom prst="rect">
            <a:avLst/>
          </a:prstGeom>
          <a:no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0" marR="0" lvl="0" indent="0" algn="l" rtl="0">
              <a:lnSpc>
                <a:spcPct val="100000"/>
              </a:lnSpc>
              <a:spcBef>
                <a:spcPts val="0"/>
              </a:spcBef>
              <a:spcAft>
                <a:spcPts val="0"/>
              </a:spcAft>
              <a:buClr>
                <a:srgbClr val="000000"/>
              </a:buClr>
              <a:buSzPts val="1100"/>
              <a:buFont typeface="Arial"/>
              <a:buNone/>
            </a:pPr>
            <a:r>
              <a:rPr lang="en" sz="800" b="0" i="0" u="none" strike="noStrike" cap="none">
                <a:solidFill>
                  <a:srgbClr val="1F2937"/>
                </a:solidFill>
                <a:highlight>
                  <a:srgbClr val="FFFFFF"/>
                </a:highlight>
                <a:latin typeface="Calibri"/>
                <a:ea typeface="Calibri"/>
                <a:cs typeface="Calibri"/>
                <a:sym typeface="Calibri"/>
              </a:rPr>
              <a:t>China</a:t>
            </a:r>
            <a:endParaRPr sz="800" b="0" i="0" u="none" strike="noStrike" cap="none">
              <a:solidFill>
                <a:srgbClr val="1F2937"/>
              </a:solidFill>
              <a:highlight>
                <a:srgbClr val="FFFFFF"/>
              </a:highlight>
              <a:latin typeface="Calibri"/>
              <a:ea typeface="Calibri"/>
              <a:cs typeface="Calibri"/>
              <a:sym typeface="Calibri"/>
            </a:endParaRPr>
          </a:p>
        </p:txBody>
      </p:sp>
      <p:sp>
        <p:nvSpPr>
          <p:cNvPr id="88" name="Google Shape;88;p16"/>
          <p:cNvSpPr txBox="1"/>
          <p:nvPr/>
        </p:nvSpPr>
        <p:spPr>
          <a:xfrm>
            <a:off x="444825" y="4747134"/>
            <a:ext cx="287100" cy="141600"/>
          </a:xfrm>
          <a:prstGeom prst="rect">
            <a:avLst/>
          </a:prstGeom>
          <a:no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0" marR="0" lvl="0" indent="0" algn="l" rtl="0">
              <a:lnSpc>
                <a:spcPct val="100000"/>
              </a:lnSpc>
              <a:spcBef>
                <a:spcPts val="0"/>
              </a:spcBef>
              <a:spcAft>
                <a:spcPts val="0"/>
              </a:spcAft>
              <a:buClr>
                <a:srgbClr val="000000"/>
              </a:buClr>
              <a:buSzPts val="1100"/>
              <a:buFont typeface="Arial"/>
              <a:buNone/>
            </a:pPr>
            <a:r>
              <a:rPr lang="en" sz="800" b="0" i="0" u="none" strike="noStrike" cap="none">
                <a:solidFill>
                  <a:srgbClr val="1F2937"/>
                </a:solidFill>
                <a:highlight>
                  <a:srgbClr val="FFFFFF"/>
                </a:highlight>
                <a:latin typeface="Calibri"/>
                <a:ea typeface="Calibri"/>
                <a:cs typeface="Calibri"/>
                <a:sym typeface="Calibri"/>
              </a:rPr>
              <a:t>China</a:t>
            </a:r>
            <a:endParaRPr sz="800" b="0" i="0" u="none" strike="noStrike" cap="none">
              <a:solidFill>
                <a:srgbClr val="1F2937"/>
              </a:solidFill>
              <a:highlight>
                <a:srgbClr val="FFFFFF"/>
              </a:highlight>
              <a:latin typeface="Calibri"/>
              <a:ea typeface="Calibri"/>
              <a:cs typeface="Calibri"/>
              <a:sym typeface="Calibri"/>
            </a:endParaRPr>
          </a:p>
        </p:txBody>
      </p:sp>
      <p:sp>
        <p:nvSpPr>
          <p:cNvPr id="89" name="Google Shape;89;p16"/>
          <p:cNvSpPr txBox="1"/>
          <p:nvPr/>
        </p:nvSpPr>
        <p:spPr>
          <a:xfrm>
            <a:off x="446720" y="3660874"/>
            <a:ext cx="287100" cy="141600"/>
          </a:xfrm>
          <a:prstGeom prst="rect">
            <a:avLst/>
          </a:prstGeom>
          <a:no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0" marR="0" lvl="0" indent="0" algn="l" rtl="0">
              <a:lnSpc>
                <a:spcPct val="100000"/>
              </a:lnSpc>
              <a:spcBef>
                <a:spcPts val="0"/>
              </a:spcBef>
              <a:spcAft>
                <a:spcPts val="0"/>
              </a:spcAft>
              <a:buClr>
                <a:srgbClr val="000000"/>
              </a:buClr>
              <a:buSzPts val="1100"/>
              <a:buFont typeface="Arial"/>
              <a:buNone/>
            </a:pPr>
            <a:r>
              <a:rPr lang="en" sz="800" b="0" i="0" u="none" strike="noStrike" cap="none">
                <a:solidFill>
                  <a:srgbClr val="1F2937"/>
                </a:solidFill>
                <a:highlight>
                  <a:srgbClr val="FFFFFF"/>
                </a:highlight>
                <a:latin typeface="Calibri"/>
                <a:ea typeface="Calibri"/>
                <a:cs typeface="Calibri"/>
                <a:sym typeface="Calibri"/>
              </a:rPr>
              <a:t>China</a:t>
            </a:r>
            <a:endParaRPr sz="800" b="0" i="0" u="none" strike="noStrike" cap="none">
              <a:solidFill>
                <a:srgbClr val="1F2937"/>
              </a:solidFill>
              <a:highlight>
                <a:srgbClr val="FFFFFF"/>
              </a:highlight>
              <a:latin typeface="Calibri"/>
              <a:ea typeface="Calibri"/>
              <a:cs typeface="Calibri"/>
              <a:sym typeface="Calibri"/>
            </a:endParaRPr>
          </a:p>
        </p:txBody>
      </p:sp>
      <p:sp>
        <p:nvSpPr>
          <p:cNvPr id="90" name="Google Shape;90;p16"/>
          <p:cNvSpPr/>
          <p:nvPr/>
        </p:nvSpPr>
        <p:spPr>
          <a:xfrm>
            <a:off x="3751768" y="3119849"/>
            <a:ext cx="125400" cy="125400"/>
          </a:xfrm>
          <a:prstGeom prst="ellipse">
            <a:avLst/>
          </a:prstGeom>
          <a:solidFill>
            <a:srgbClr val="3C78D8"/>
          </a:soli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91" name="Google Shape;91;p16"/>
          <p:cNvSpPr txBox="1"/>
          <p:nvPr/>
        </p:nvSpPr>
        <p:spPr>
          <a:xfrm>
            <a:off x="3466409" y="3829240"/>
            <a:ext cx="287100" cy="141600"/>
          </a:xfrm>
          <a:prstGeom prst="rect">
            <a:avLst/>
          </a:prstGeom>
          <a:no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0" marR="0" lvl="0" indent="0" algn="l" rtl="0">
              <a:lnSpc>
                <a:spcPct val="100000"/>
              </a:lnSpc>
              <a:spcBef>
                <a:spcPts val="0"/>
              </a:spcBef>
              <a:spcAft>
                <a:spcPts val="0"/>
              </a:spcAft>
              <a:buClr>
                <a:srgbClr val="000000"/>
              </a:buClr>
              <a:buSzPts val="1100"/>
              <a:buFont typeface="Arial"/>
              <a:buNone/>
            </a:pPr>
            <a:r>
              <a:rPr lang="en" sz="800" b="0" i="0" u="none" strike="noStrike" cap="none">
                <a:solidFill>
                  <a:srgbClr val="1F2937"/>
                </a:solidFill>
                <a:highlight>
                  <a:srgbClr val="FFFFFF"/>
                </a:highlight>
                <a:latin typeface="Calibri"/>
                <a:ea typeface="Calibri"/>
                <a:cs typeface="Calibri"/>
                <a:sym typeface="Calibri"/>
              </a:rPr>
              <a:t>China</a:t>
            </a:r>
            <a:endParaRPr sz="800" b="0" i="0" u="none" strike="noStrike" cap="none">
              <a:solidFill>
                <a:srgbClr val="1F2937"/>
              </a:solidFill>
              <a:highlight>
                <a:srgbClr val="FFFFFF"/>
              </a:highlight>
              <a:latin typeface="Calibri"/>
              <a:ea typeface="Calibri"/>
              <a:cs typeface="Calibri"/>
              <a:sym typeface="Calibri"/>
            </a:endParaRPr>
          </a:p>
        </p:txBody>
      </p:sp>
      <p:sp>
        <p:nvSpPr>
          <p:cNvPr id="92" name="Google Shape;92;p16"/>
          <p:cNvSpPr/>
          <p:nvPr/>
        </p:nvSpPr>
        <p:spPr>
          <a:xfrm>
            <a:off x="3757278" y="3837634"/>
            <a:ext cx="125400" cy="125400"/>
          </a:xfrm>
          <a:prstGeom prst="ellipse">
            <a:avLst/>
          </a:prstGeom>
          <a:solidFill>
            <a:srgbClr val="6AA84F"/>
          </a:soli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93" name="Google Shape;93;p16"/>
          <p:cNvSpPr txBox="1"/>
          <p:nvPr/>
        </p:nvSpPr>
        <p:spPr>
          <a:xfrm>
            <a:off x="4566100" y="63625"/>
            <a:ext cx="1408200" cy="1725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171450" marR="0" lvl="0" indent="-120650" algn="l" rtl="0">
              <a:lnSpc>
                <a:spcPct val="100000"/>
              </a:lnSpc>
              <a:spcBef>
                <a:spcPts val="0"/>
              </a:spcBef>
              <a:spcAft>
                <a:spcPts val="0"/>
              </a:spcAft>
              <a:buClr>
                <a:schemeClr val="dk1"/>
              </a:buClr>
              <a:buSzPts val="1000"/>
              <a:buFont typeface="Calibri"/>
              <a:buChar char="●"/>
            </a:pPr>
            <a:r>
              <a:rPr lang="en" sz="1000">
                <a:latin typeface="Calibri"/>
                <a:ea typeface="Calibri"/>
                <a:cs typeface="Calibri"/>
                <a:sym typeface="Calibri"/>
              </a:rPr>
              <a:t>Data for December 10</a:t>
            </a:r>
            <a:endParaRPr sz="1000">
              <a:solidFill>
                <a:schemeClr val="dk1"/>
              </a:solidFill>
              <a:latin typeface="Calibri"/>
              <a:ea typeface="Calibri"/>
              <a:cs typeface="Calibri"/>
              <a:sym typeface="Calibri"/>
            </a:endParaRPr>
          </a:p>
        </p:txBody>
      </p:sp>
      <p:sp>
        <p:nvSpPr>
          <p:cNvPr id="94" name="Google Shape;94;p16"/>
          <p:cNvSpPr/>
          <p:nvPr/>
        </p:nvSpPr>
        <p:spPr>
          <a:xfrm>
            <a:off x="3751782" y="2560142"/>
            <a:ext cx="125400" cy="125400"/>
          </a:xfrm>
          <a:prstGeom prst="ellipse">
            <a:avLst/>
          </a:prstGeom>
          <a:solidFill>
            <a:srgbClr val="FFFF00"/>
          </a:soli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95" name="Google Shape;95;p16"/>
          <p:cNvSpPr/>
          <p:nvPr/>
        </p:nvSpPr>
        <p:spPr>
          <a:xfrm>
            <a:off x="3750579" y="1300400"/>
            <a:ext cx="125400" cy="125400"/>
          </a:xfrm>
          <a:prstGeom prst="ellipse">
            <a:avLst/>
          </a:prstGeom>
          <a:solidFill>
            <a:srgbClr val="3C78D8"/>
          </a:soli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96" name="Google Shape;96;p16"/>
          <p:cNvSpPr txBox="1"/>
          <p:nvPr/>
        </p:nvSpPr>
        <p:spPr>
          <a:xfrm>
            <a:off x="3466409" y="4921739"/>
            <a:ext cx="287100" cy="141600"/>
          </a:xfrm>
          <a:prstGeom prst="rect">
            <a:avLst/>
          </a:prstGeom>
          <a:no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0" marR="0" lvl="0" indent="0" algn="l" rtl="0">
              <a:lnSpc>
                <a:spcPct val="100000"/>
              </a:lnSpc>
              <a:spcBef>
                <a:spcPts val="0"/>
              </a:spcBef>
              <a:spcAft>
                <a:spcPts val="0"/>
              </a:spcAft>
              <a:buClr>
                <a:srgbClr val="000000"/>
              </a:buClr>
              <a:buSzPts val="1100"/>
              <a:buFont typeface="Arial"/>
              <a:buNone/>
            </a:pPr>
            <a:r>
              <a:rPr lang="en" sz="800" b="0" i="0" u="none" strike="noStrike" cap="none">
                <a:solidFill>
                  <a:srgbClr val="1F2937"/>
                </a:solidFill>
                <a:highlight>
                  <a:srgbClr val="FFFFFF"/>
                </a:highlight>
                <a:latin typeface="Calibri"/>
                <a:ea typeface="Calibri"/>
                <a:cs typeface="Calibri"/>
                <a:sym typeface="Calibri"/>
              </a:rPr>
              <a:t>China</a:t>
            </a:r>
            <a:endParaRPr sz="800" b="0" i="0" u="none" strike="noStrike" cap="none">
              <a:solidFill>
                <a:srgbClr val="1F2937"/>
              </a:solidFill>
              <a:highlight>
                <a:srgbClr val="FFFFFF"/>
              </a:highlight>
              <a:latin typeface="Calibri"/>
              <a:ea typeface="Calibri"/>
              <a:cs typeface="Calibri"/>
              <a:sym typeface="Calibri"/>
            </a:endParaRPr>
          </a:p>
        </p:txBody>
      </p:sp>
      <p:sp>
        <p:nvSpPr>
          <p:cNvPr id="97" name="Google Shape;97;p16"/>
          <p:cNvSpPr/>
          <p:nvPr/>
        </p:nvSpPr>
        <p:spPr>
          <a:xfrm>
            <a:off x="3757278" y="4930133"/>
            <a:ext cx="125400" cy="125400"/>
          </a:xfrm>
          <a:prstGeom prst="ellipse">
            <a:avLst/>
          </a:prstGeom>
          <a:solidFill>
            <a:srgbClr val="6AA84F"/>
          </a:soli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98" name="Google Shape;98;p16"/>
          <p:cNvSpPr/>
          <p:nvPr/>
        </p:nvSpPr>
        <p:spPr>
          <a:xfrm>
            <a:off x="3748357" y="1138857"/>
            <a:ext cx="125400" cy="125400"/>
          </a:xfrm>
          <a:prstGeom prst="ellipse">
            <a:avLst/>
          </a:prstGeom>
          <a:solidFill>
            <a:srgbClr val="FF0000"/>
          </a:soli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99" name="Google Shape;99;p16"/>
          <p:cNvSpPr txBox="1"/>
          <p:nvPr/>
        </p:nvSpPr>
        <p:spPr>
          <a:xfrm flipH="1">
            <a:off x="3679393" y="1659585"/>
            <a:ext cx="194400" cy="141600"/>
          </a:xfrm>
          <a:prstGeom prst="rect">
            <a:avLst/>
          </a:prstGeom>
          <a:solidFill>
            <a:srgbClr val="FCE5CD"/>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0" marR="0" lvl="0" indent="0" algn="l" rtl="0">
              <a:lnSpc>
                <a:spcPct val="100000"/>
              </a:lnSpc>
              <a:spcBef>
                <a:spcPts val="0"/>
              </a:spcBef>
              <a:spcAft>
                <a:spcPts val="0"/>
              </a:spcAft>
              <a:buClr>
                <a:srgbClr val="000000"/>
              </a:buClr>
              <a:buSzPts val="1100"/>
              <a:buFont typeface="Arial"/>
              <a:buNone/>
            </a:pPr>
            <a:r>
              <a:rPr lang="en" sz="800" b="0" i="0" u="none" strike="noStrike" cap="none">
                <a:solidFill>
                  <a:srgbClr val="1F2937"/>
                </a:solidFill>
                <a:latin typeface="Calibri"/>
                <a:ea typeface="Calibri"/>
                <a:cs typeface="Calibri"/>
                <a:sym typeface="Calibri"/>
              </a:rPr>
              <a:t>x.ai</a:t>
            </a:r>
            <a:endParaRPr sz="800" b="0" i="0" u="none" strike="noStrike" cap="none">
              <a:solidFill>
                <a:srgbClr val="1F2937"/>
              </a:solidFill>
              <a:latin typeface="Calibri"/>
              <a:ea typeface="Calibri"/>
              <a:cs typeface="Calibri"/>
              <a:sym typeface="Calibri"/>
            </a:endParaRPr>
          </a:p>
        </p:txBody>
      </p:sp>
      <p:sp>
        <p:nvSpPr>
          <p:cNvPr id="100" name="Google Shape;100;p16"/>
          <p:cNvSpPr txBox="1"/>
          <p:nvPr/>
        </p:nvSpPr>
        <p:spPr>
          <a:xfrm flipH="1">
            <a:off x="3691285" y="2378252"/>
            <a:ext cx="194400" cy="141600"/>
          </a:xfrm>
          <a:prstGeom prst="rect">
            <a:avLst/>
          </a:prstGeom>
          <a:solidFill>
            <a:srgbClr val="FCE5CD"/>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0" marR="0" lvl="0" indent="0" algn="l" rtl="0">
              <a:lnSpc>
                <a:spcPct val="100000"/>
              </a:lnSpc>
              <a:spcBef>
                <a:spcPts val="0"/>
              </a:spcBef>
              <a:spcAft>
                <a:spcPts val="0"/>
              </a:spcAft>
              <a:buClr>
                <a:srgbClr val="000000"/>
              </a:buClr>
              <a:buSzPts val="1100"/>
              <a:buFont typeface="Arial"/>
              <a:buNone/>
            </a:pPr>
            <a:r>
              <a:rPr lang="en" sz="800" b="0" i="0" u="none" strike="noStrike" cap="none">
                <a:solidFill>
                  <a:srgbClr val="1F2937"/>
                </a:solidFill>
                <a:latin typeface="Calibri"/>
                <a:ea typeface="Calibri"/>
                <a:cs typeface="Calibri"/>
                <a:sym typeface="Calibri"/>
              </a:rPr>
              <a:t>x.ai</a:t>
            </a:r>
            <a:endParaRPr sz="800" b="0" i="0" u="none" strike="noStrike" cap="none">
              <a:solidFill>
                <a:srgbClr val="1F2937"/>
              </a:solidFill>
              <a:latin typeface="Calibri"/>
              <a:ea typeface="Calibri"/>
              <a:cs typeface="Calibri"/>
              <a:sym typeface="Calibri"/>
            </a:endParaRPr>
          </a:p>
        </p:txBody>
      </p:sp>
      <p:sp>
        <p:nvSpPr>
          <p:cNvPr id="101" name="Google Shape;101;p16"/>
          <p:cNvSpPr/>
          <p:nvPr/>
        </p:nvSpPr>
        <p:spPr>
          <a:xfrm>
            <a:off x="3750579" y="1482293"/>
            <a:ext cx="125400" cy="125400"/>
          </a:xfrm>
          <a:prstGeom prst="ellipse">
            <a:avLst/>
          </a:prstGeom>
          <a:solidFill>
            <a:srgbClr val="3C78D8"/>
          </a:soli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02" name="Google Shape;102;p16"/>
          <p:cNvSpPr/>
          <p:nvPr/>
        </p:nvSpPr>
        <p:spPr>
          <a:xfrm>
            <a:off x="3750579" y="1849587"/>
            <a:ext cx="125400" cy="125400"/>
          </a:xfrm>
          <a:prstGeom prst="ellipse">
            <a:avLst/>
          </a:prstGeom>
          <a:solidFill>
            <a:srgbClr val="3C78D8"/>
          </a:soli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03" name="Google Shape;103;p16"/>
          <p:cNvSpPr/>
          <p:nvPr/>
        </p:nvSpPr>
        <p:spPr>
          <a:xfrm>
            <a:off x="3750579" y="2203227"/>
            <a:ext cx="125400" cy="125400"/>
          </a:xfrm>
          <a:prstGeom prst="ellipse">
            <a:avLst/>
          </a:prstGeom>
          <a:solidFill>
            <a:srgbClr val="3C78D8"/>
          </a:soli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04" name="Google Shape;104;p16"/>
          <p:cNvSpPr/>
          <p:nvPr/>
        </p:nvSpPr>
        <p:spPr>
          <a:xfrm>
            <a:off x="613313" y="1860065"/>
            <a:ext cx="125400" cy="125400"/>
          </a:xfrm>
          <a:prstGeom prst="ellipse">
            <a:avLst/>
          </a:prstGeom>
          <a:solidFill>
            <a:srgbClr val="FF0000"/>
          </a:soli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05" name="Google Shape;105;p16"/>
          <p:cNvSpPr txBox="1"/>
          <p:nvPr/>
        </p:nvSpPr>
        <p:spPr>
          <a:xfrm flipH="1">
            <a:off x="539953" y="950663"/>
            <a:ext cx="194400" cy="141600"/>
          </a:xfrm>
          <a:prstGeom prst="rect">
            <a:avLst/>
          </a:prstGeom>
          <a:solidFill>
            <a:srgbClr val="FCE5CD"/>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0" marR="0" lvl="0" indent="0" algn="l" rtl="0">
              <a:lnSpc>
                <a:spcPct val="100000"/>
              </a:lnSpc>
              <a:spcBef>
                <a:spcPts val="0"/>
              </a:spcBef>
              <a:spcAft>
                <a:spcPts val="0"/>
              </a:spcAft>
              <a:buClr>
                <a:srgbClr val="000000"/>
              </a:buClr>
              <a:buSzPts val="1100"/>
              <a:buFont typeface="Arial"/>
              <a:buNone/>
            </a:pPr>
            <a:r>
              <a:rPr lang="en" sz="800" b="0" i="0" u="none" strike="noStrike" cap="none">
                <a:solidFill>
                  <a:srgbClr val="1F2937"/>
                </a:solidFill>
                <a:latin typeface="Calibri"/>
                <a:ea typeface="Calibri"/>
                <a:cs typeface="Calibri"/>
                <a:sym typeface="Calibri"/>
              </a:rPr>
              <a:t>x.ai</a:t>
            </a:r>
            <a:endParaRPr sz="800" b="0" i="0" u="none" strike="noStrike" cap="none">
              <a:solidFill>
                <a:srgbClr val="1F2937"/>
              </a:solidFill>
              <a:latin typeface="Calibri"/>
              <a:ea typeface="Calibri"/>
              <a:cs typeface="Calibri"/>
              <a:sym typeface="Calibri"/>
            </a:endParaRPr>
          </a:p>
        </p:txBody>
      </p:sp>
      <p:sp>
        <p:nvSpPr>
          <p:cNvPr id="106" name="Google Shape;106;p16"/>
          <p:cNvSpPr/>
          <p:nvPr/>
        </p:nvSpPr>
        <p:spPr>
          <a:xfrm>
            <a:off x="611444" y="2037155"/>
            <a:ext cx="125400" cy="125400"/>
          </a:xfrm>
          <a:prstGeom prst="ellipse">
            <a:avLst/>
          </a:prstGeom>
          <a:solidFill>
            <a:srgbClr val="3C78D8"/>
          </a:soli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07" name="Google Shape;107;p16"/>
          <p:cNvSpPr/>
          <p:nvPr/>
        </p:nvSpPr>
        <p:spPr>
          <a:xfrm>
            <a:off x="611444" y="2212922"/>
            <a:ext cx="125400" cy="125400"/>
          </a:xfrm>
          <a:prstGeom prst="ellipse">
            <a:avLst/>
          </a:prstGeom>
          <a:solidFill>
            <a:srgbClr val="3C78D8"/>
          </a:soli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08" name="Google Shape;108;p16"/>
          <p:cNvSpPr/>
          <p:nvPr/>
        </p:nvSpPr>
        <p:spPr>
          <a:xfrm>
            <a:off x="609673" y="2577276"/>
            <a:ext cx="125400" cy="125400"/>
          </a:xfrm>
          <a:prstGeom prst="ellipse">
            <a:avLst/>
          </a:prstGeom>
          <a:solidFill>
            <a:srgbClr val="FFFF00"/>
          </a:soli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09" name="Google Shape;109;p16"/>
          <p:cNvSpPr/>
          <p:nvPr/>
        </p:nvSpPr>
        <p:spPr>
          <a:xfrm>
            <a:off x="609673" y="3121000"/>
            <a:ext cx="125400" cy="125400"/>
          </a:xfrm>
          <a:prstGeom prst="ellipse">
            <a:avLst/>
          </a:prstGeom>
          <a:solidFill>
            <a:srgbClr val="FFFF00"/>
          </a:soli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10" name="Google Shape;110;p16"/>
          <p:cNvSpPr txBox="1"/>
          <p:nvPr/>
        </p:nvSpPr>
        <p:spPr>
          <a:xfrm flipH="1">
            <a:off x="539953" y="3836279"/>
            <a:ext cx="194400" cy="141600"/>
          </a:xfrm>
          <a:prstGeom prst="rect">
            <a:avLst/>
          </a:prstGeom>
          <a:solidFill>
            <a:srgbClr val="FCE5CD"/>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0" marR="0" lvl="0" indent="0" algn="l" rtl="0">
              <a:lnSpc>
                <a:spcPct val="100000"/>
              </a:lnSpc>
              <a:spcBef>
                <a:spcPts val="0"/>
              </a:spcBef>
              <a:spcAft>
                <a:spcPts val="0"/>
              </a:spcAft>
              <a:buClr>
                <a:srgbClr val="000000"/>
              </a:buClr>
              <a:buSzPts val="1100"/>
              <a:buFont typeface="Arial"/>
              <a:buNone/>
            </a:pPr>
            <a:r>
              <a:rPr lang="en" sz="800" b="0" i="0" u="none" strike="noStrike" cap="none">
                <a:solidFill>
                  <a:srgbClr val="1F2937"/>
                </a:solidFill>
                <a:latin typeface="Calibri"/>
                <a:ea typeface="Calibri"/>
                <a:cs typeface="Calibri"/>
                <a:sym typeface="Calibri"/>
              </a:rPr>
              <a:t>x.ai</a:t>
            </a:r>
            <a:endParaRPr sz="800" b="0" i="0" u="none" strike="noStrike" cap="none">
              <a:solidFill>
                <a:srgbClr val="1F2937"/>
              </a:solidFill>
              <a:latin typeface="Calibri"/>
              <a:ea typeface="Calibri"/>
              <a:cs typeface="Calibri"/>
              <a:sym typeface="Calibri"/>
            </a:endParaRPr>
          </a:p>
        </p:txBody>
      </p:sp>
      <p:sp>
        <p:nvSpPr>
          <p:cNvPr id="111" name="Google Shape;111;p16"/>
          <p:cNvSpPr txBox="1"/>
          <p:nvPr/>
        </p:nvSpPr>
        <p:spPr>
          <a:xfrm>
            <a:off x="311891" y="4922448"/>
            <a:ext cx="287100" cy="141600"/>
          </a:xfrm>
          <a:prstGeom prst="rect">
            <a:avLst/>
          </a:prstGeom>
          <a:no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0" marR="0" lvl="0" indent="0" algn="l" rtl="0">
              <a:lnSpc>
                <a:spcPct val="100000"/>
              </a:lnSpc>
              <a:spcBef>
                <a:spcPts val="0"/>
              </a:spcBef>
              <a:spcAft>
                <a:spcPts val="0"/>
              </a:spcAft>
              <a:buClr>
                <a:srgbClr val="000000"/>
              </a:buClr>
              <a:buSzPts val="1100"/>
              <a:buFont typeface="Arial"/>
              <a:buNone/>
            </a:pPr>
            <a:r>
              <a:rPr lang="en" sz="800" b="0" i="0" u="none" strike="noStrike" cap="none">
                <a:solidFill>
                  <a:srgbClr val="1F2937"/>
                </a:solidFill>
                <a:highlight>
                  <a:srgbClr val="FFFFFF"/>
                </a:highlight>
                <a:latin typeface="Calibri"/>
                <a:ea typeface="Calibri"/>
                <a:cs typeface="Calibri"/>
                <a:sym typeface="Calibri"/>
              </a:rPr>
              <a:t>China</a:t>
            </a:r>
            <a:endParaRPr sz="800" b="0" i="0" u="none" strike="noStrike" cap="none">
              <a:solidFill>
                <a:srgbClr val="1F2937"/>
              </a:solidFill>
              <a:highlight>
                <a:srgbClr val="FFFFFF"/>
              </a:highlight>
              <a:latin typeface="Calibri"/>
              <a:ea typeface="Calibri"/>
              <a:cs typeface="Calibri"/>
              <a:sym typeface="Calibri"/>
            </a:endParaRPr>
          </a:p>
        </p:txBody>
      </p:sp>
      <p:sp>
        <p:nvSpPr>
          <p:cNvPr id="112" name="Google Shape;112;p16"/>
          <p:cNvSpPr/>
          <p:nvPr/>
        </p:nvSpPr>
        <p:spPr>
          <a:xfrm>
            <a:off x="611157" y="4929695"/>
            <a:ext cx="125400" cy="125400"/>
          </a:xfrm>
          <a:prstGeom prst="ellipse">
            <a:avLst/>
          </a:prstGeom>
          <a:solidFill>
            <a:srgbClr val="6AA84F"/>
          </a:soli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13" name="Google Shape;113;p16"/>
          <p:cNvSpPr/>
          <p:nvPr/>
        </p:nvSpPr>
        <p:spPr>
          <a:xfrm>
            <a:off x="609673" y="3293277"/>
            <a:ext cx="125400" cy="125400"/>
          </a:xfrm>
          <a:prstGeom prst="ellipse">
            <a:avLst/>
          </a:prstGeom>
          <a:solidFill>
            <a:srgbClr val="FFFF00"/>
          </a:soli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14" name="Google Shape;114;p16"/>
          <p:cNvSpPr/>
          <p:nvPr/>
        </p:nvSpPr>
        <p:spPr>
          <a:xfrm>
            <a:off x="609673" y="2929598"/>
            <a:ext cx="125400" cy="125400"/>
          </a:xfrm>
          <a:prstGeom prst="ellipse">
            <a:avLst/>
          </a:prstGeom>
          <a:solidFill>
            <a:srgbClr val="FFFF00"/>
          </a:soli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15" name="Google Shape;115;p16"/>
          <p:cNvSpPr/>
          <p:nvPr/>
        </p:nvSpPr>
        <p:spPr>
          <a:xfrm>
            <a:off x="3754343" y="4375041"/>
            <a:ext cx="125400" cy="125400"/>
          </a:xfrm>
          <a:prstGeom prst="ellipse">
            <a:avLst/>
          </a:prstGeom>
          <a:solidFill>
            <a:srgbClr val="FF0000"/>
          </a:soli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16" name="Google Shape;116;p16"/>
          <p:cNvSpPr txBox="1"/>
          <p:nvPr/>
        </p:nvSpPr>
        <p:spPr>
          <a:xfrm flipH="1">
            <a:off x="551797" y="1496435"/>
            <a:ext cx="194400" cy="141600"/>
          </a:xfrm>
          <a:prstGeom prst="rect">
            <a:avLst/>
          </a:prstGeom>
          <a:solidFill>
            <a:srgbClr val="FCE5CD"/>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0" marR="0" lvl="0" indent="0" algn="l" rtl="0">
              <a:lnSpc>
                <a:spcPct val="100000"/>
              </a:lnSpc>
              <a:spcBef>
                <a:spcPts val="0"/>
              </a:spcBef>
              <a:spcAft>
                <a:spcPts val="0"/>
              </a:spcAft>
              <a:buClr>
                <a:srgbClr val="000000"/>
              </a:buClr>
              <a:buSzPts val="1100"/>
              <a:buFont typeface="Arial"/>
              <a:buNone/>
            </a:pPr>
            <a:r>
              <a:rPr lang="en" sz="800" b="0" i="0" u="none" strike="noStrike" cap="none">
                <a:solidFill>
                  <a:srgbClr val="1F2937"/>
                </a:solidFill>
                <a:latin typeface="Calibri"/>
                <a:ea typeface="Calibri"/>
                <a:cs typeface="Calibri"/>
                <a:sym typeface="Calibri"/>
              </a:rPr>
              <a:t>x.ai</a:t>
            </a:r>
            <a:endParaRPr sz="800" b="0" i="0" u="none" strike="noStrike" cap="none">
              <a:solidFill>
                <a:srgbClr val="1F2937"/>
              </a:solidFill>
              <a:latin typeface="Calibri"/>
              <a:ea typeface="Calibri"/>
              <a:cs typeface="Calibri"/>
              <a:sym typeface="Calibri"/>
            </a:endParaRPr>
          </a:p>
        </p:txBody>
      </p:sp>
      <p:sp>
        <p:nvSpPr>
          <p:cNvPr id="117" name="Google Shape;117;p16"/>
          <p:cNvSpPr/>
          <p:nvPr/>
        </p:nvSpPr>
        <p:spPr>
          <a:xfrm>
            <a:off x="603081" y="1130881"/>
            <a:ext cx="125400" cy="125400"/>
          </a:xfrm>
          <a:prstGeom prst="ellipse">
            <a:avLst/>
          </a:prstGeom>
          <a:solidFill>
            <a:srgbClr val="3C78D8"/>
          </a:soli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18" name="Google Shape;118;p16"/>
          <p:cNvSpPr/>
          <p:nvPr/>
        </p:nvSpPr>
        <p:spPr>
          <a:xfrm>
            <a:off x="611444" y="2395999"/>
            <a:ext cx="125400" cy="125400"/>
          </a:xfrm>
          <a:prstGeom prst="ellipse">
            <a:avLst/>
          </a:prstGeom>
          <a:solidFill>
            <a:srgbClr val="3C78D8"/>
          </a:soli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19" name="Google Shape;119;p16"/>
          <p:cNvSpPr/>
          <p:nvPr/>
        </p:nvSpPr>
        <p:spPr>
          <a:xfrm>
            <a:off x="611444" y="2766773"/>
            <a:ext cx="125400" cy="125400"/>
          </a:xfrm>
          <a:prstGeom prst="ellipse">
            <a:avLst/>
          </a:prstGeom>
          <a:solidFill>
            <a:srgbClr val="3C78D8"/>
          </a:soli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20" name="Google Shape;120;p16"/>
          <p:cNvSpPr/>
          <p:nvPr/>
        </p:nvSpPr>
        <p:spPr>
          <a:xfrm>
            <a:off x="609673" y="3473748"/>
            <a:ext cx="125400" cy="125400"/>
          </a:xfrm>
          <a:prstGeom prst="ellipse">
            <a:avLst/>
          </a:prstGeom>
          <a:solidFill>
            <a:srgbClr val="FFFF00"/>
          </a:soli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21" name="Google Shape;121;p16"/>
          <p:cNvSpPr/>
          <p:nvPr/>
        </p:nvSpPr>
        <p:spPr>
          <a:xfrm>
            <a:off x="3750579" y="2019832"/>
            <a:ext cx="125400" cy="125400"/>
          </a:xfrm>
          <a:prstGeom prst="ellipse">
            <a:avLst/>
          </a:prstGeom>
          <a:solidFill>
            <a:srgbClr val="3C78D8"/>
          </a:soli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22" name="Google Shape;122;p16"/>
          <p:cNvSpPr/>
          <p:nvPr/>
        </p:nvSpPr>
        <p:spPr>
          <a:xfrm>
            <a:off x="3751782" y="3303340"/>
            <a:ext cx="125400" cy="125400"/>
          </a:xfrm>
          <a:prstGeom prst="ellipse">
            <a:avLst/>
          </a:prstGeom>
          <a:solidFill>
            <a:srgbClr val="FFFF00"/>
          </a:soli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23" name="Google Shape;123;p16"/>
          <p:cNvSpPr txBox="1"/>
          <p:nvPr/>
        </p:nvSpPr>
        <p:spPr>
          <a:xfrm>
            <a:off x="3598231" y="3650133"/>
            <a:ext cx="288900" cy="141600"/>
          </a:xfrm>
          <a:prstGeom prst="rect">
            <a:avLst/>
          </a:prstGeom>
          <a:no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0" marR="0" lvl="0" indent="0" algn="l" rtl="0">
              <a:lnSpc>
                <a:spcPct val="100000"/>
              </a:lnSpc>
              <a:spcBef>
                <a:spcPts val="0"/>
              </a:spcBef>
              <a:spcAft>
                <a:spcPts val="0"/>
              </a:spcAft>
              <a:buClr>
                <a:srgbClr val="000000"/>
              </a:buClr>
              <a:buSzPts val="1100"/>
              <a:buFont typeface="Arial"/>
              <a:buNone/>
            </a:pPr>
            <a:r>
              <a:rPr lang="en" sz="800" b="0" i="0" u="none" strike="noStrike" cap="none">
                <a:solidFill>
                  <a:srgbClr val="1F2937"/>
                </a:solidFill>
                <a:highlight>
                  <a:srgbClr val="FFFFFF"/>
                </a:highlight>
                <a:latin typeface="Calibri"/>
                <a:ea typeface="Calibri"/>
                <a:cs typeface="Calibri"/>
                <a:sym typeface="Calibri"/>
              </a:rPr>
              <a:t>China</a:t>
            </a:r>
            <a:endParaRPr sz="800" b="0" i="0" u="none" strike="noStrike" cap="none">
              <a:solidFill>
                <a:srgbClr val="1F2937"/>
              </a:solidFill>
              <a:highlight>
                <a:srgbClr val="FFFFFF"/>
              </a:highlight>
              <a:latin typeface="Calibri"/>
              <a:ea typeface="Calibri"/>
              <a:cs typeface="Calibri"/>
              <a:sym typeface="Calibri"/>
            </a:endParaRPr>
          </a:p>
        </p:txBody>
      </p:sp>
      <p:sp>
        <p:nvSpPr>
          <p:cNvPr id="124" name="Google Shape;124;p16"/>
          <p:cNvSpPr txBox="1"/>
          <p:nvPr/>
        </p:nvSpPr>
        <p:spPr>
          <a:xfrm>
            <a:off x="3466409" y="3469105"/>
            <a:ext cx="287100" cy="141600"/>
          </a:xfrm>
          <a:prstGeom prst="rect">
            <a:avLst/>
          </a:prstGeom>
          <a:no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0" marR="0" lvl="0" indent="0" algn="l" rtl="0">
              <a:lnSpc>
                <a:spcPct val="100000"/>
              </a:lnSpc>
              <a:spcBef>
                <a:spcPts val="0"/>
              </a:spcBef>
              <a:spcAft>
                <a:spcPts val="0"/>
              </a:spcAft>
              <a:buClr>
                <a:srgbClr val="000000"/>
              </a:buClr>
              <a:buSzPts val="1100"/>
              <a:buFont typeface="Arial"/>
              <a:buNone/>
            </a:pPr>
            <a:r>
              <a:rPr lang="en" sz="800" b="0" i="0" u="none" strike="noStrike" cap="none">
                <a:solidFill>
                  <a:srgbClr val="1F2937"/>
                </a:solidFill>
                <a:highlight>
                  <a:srgbClr val="FFFFFF"/>
                </a:highlight>
                <a:latin typeface="Calibri"/>
                <a:ea typeface="Calibri"/>
                <a:cs typeface="Calibri"/>
                <a:sym typeface="Calibri"/>
              </a:rPr>
              <a:t>China</a:t>
            </a:r>
            <a:endParaRPr sz="800" b="0" i="0" u="none" strike="noStrike" cap="none">
              <a:solidFill>
                <a:srgbClr val="1F2937"/>
              </a:solidFill>
              <a:highlight>
                <a:srgbClr val="FFFFFF"/>
              </a:highlight>
              <a:latin typeface="Calibri"/>
              <a:ea typeface="Calibri"/>
              <a:cs typeface="Calibri"/>
              <a:sym typeface="Calibri"/>
            </a:endParaRPr>
          </a:p>
        </p:txBody>
      </p:sp>
      <p:sp>
        <p:nvSpPr>
          <p:cNvPr id="125" name="Google Shape;125;p16"/>
          <p:cNvSpPr/>
          <p:nvPr/>
        </p:nvSpPr>
        <p:spPr>
          <a:xfrm>
            <a:off x="3757278" y="3477499"/>
            <a:ext cx="125400" cy="125400"/>
          </a:xfrm>
          <a:prstGeom prst="ellipse">
            <a:avLst/>
          </a:prstGeom>
          <a:solidFill>
            <a:srgbClr val="6AA84F"/>
          </a:soli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26" name="Google Shape;126;p16"/>
          <p:cNvSpPr txBox="1"/>
          <p:nvPr/>
        </p:nvSpPr>
        <p:spPr>
          <a:xfrm>
            <a:off x="3466409" y="4193202"/>
            <a:ext cx="287100" cy="141600"/>
          </a:xfrm>
          <a:prstGeom prst="rect">
            <a:avLst/>
          </a:prstGeom>
          <a:no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0" marR="0" lvl="0" indent="0" algn="l" rtl="0">
              <a:lnSpc>
                <a:spcPct val="100000"/>
              </a:lnSpc>
              <a:spcBef>
                <a:spcPts val="0"/>
              </a:spcBef>
              <a:spcAft>
                <a:spcPts val="0"/>
              </a:spcAft>
              <a:buClr>
                <a:srgbClr val="000000"/>
              </a:buClr>
              <a:buSzPts val="1100"/>
              <a:buFont typeface="Arial"/>
              <a:buNone/>
            </a:pPr>
            <a:r>
              <a:rPr lang="en" sz="800" b="0" i="0" u="none" strike="noStrike" cap="none">
                <a:solidFill>
                  <a:srgbClr val="1F2937"/>
                </a:solidFill>
                <a:highlight>
                  <a:srgbClr val="FFFFFF"/>
                </a:highlight>
                <a:latin typeface="Calibri"/>
                <a:ea typeface="Calibri"/>
                <a:cs typeface="Calibri"/>
                <a:sym typeface="Calibri"/>
              </a:rPr>
              <a:t>China</a:t>
            </a:r>
            <a:endParaRPr sz="800" b="0" i="0" u="none" strike="noStrike" cap="none">
              <a:solidFill>
                <a:srgbClr val="1F2937"/>
              </a:solidFill>
              <a:highlight>
                <a:srgbClr val="FFFFFF"/>
              </a:highlight>
              <a:latin typeface="Calibri"/>
              <a:ea typeface="Calibri"/>
              <a:cs typeface="Calibri"/>
              <a:sym typeface="Calibri"/>
            </a:endParaRPr>
          </a:p>
        </p:txBody>
      </p:sp>
      <p:sp>
        <p:nvSpPr>
          <p:cNvPr id="127" name="Google Shape;127;p16"/>
          <p:cNvSpPr/>
          <p:nvPr/>
        </p:nvSpPr>
        <p:spPr>
          <a:xfrm>
            <a:off x="3757278" y="4201596"/>
            <a:ext cx="125400" cy="125400"/>
          </a:xfrm>
          <a:prstGeom prst="ellipse">
            <a:avLst/>
          </a:prstGeom>
          <a:solidFill>
            <a:srgbClr val="6AA84F"/>
          </a:soli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28" name="Google Shape;128;p16"/>
          <p:cNvSpPr/>
          <p:nvPr/>
        </p:nvSpPr>
        <p:spPr>
          <a:xfrm>
            <a:off x="3757268" y="4557648"/>
            <a:ext cx="125400" cy="125400"/>
          </a:xfrm>
          <a:prstGeom prst="ellipse">
            <a:avLst/>
          </a:prstGeom>
          <a:solidFill>
            <a:srgbClr val="3C78D8"/>
          </a:soli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29" name="Google Shape;129;p16"/>
          <p:cNvSpPr/>
          <p:nvPr/>
        </p:nvSpPr>
        <p:spPr>
          <a:xfrm>
            <a:off x="3755977" y="4014361"/>
            <a:ext cx="125400" cy="125400"/>
          </a:xfrm>
          <a:prstGeom prst="ellipse">
            <a:avLst/>
          </a:prstGeom>
          <a:solidFill>
            <a:srgbClr val="FFFF00"/>
          </a:soli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30" name="Google Shape;130;p16"/>
          <p:cNvSpPr/>
          <p:nvPr/>
        </p:nvSpPr>
        <p:spPr>
          <a:xfrm>
            <a:off x="6718499" y="843215"/>
            <a:ext cx="125400" cy="125400"/>
          </a:xfrm>
          <a:prstGeom prst="ellipse">
            <a:avLst/>
          </a:prstGeom>
          <a:solidFill>
            <a:srgbClr val="FF0000"/>
          </a:soli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31" name="Google Shape;131;p16"/>
          <p:cNvSpPr/>
          <p:nvPr/>
        </p:nvSpPr>
        <p:spPr>
          <a:xfrm>
            <a:off x="6718499" y="1048272"/>
            <a:ext cx="125400" cy="125400"/>
          </a:xfrm>
          <a:prstGeom prst="ellipse">
            <a:avLst/>
          </a:prstGeom>
          <a:solidFill>
            <a:srgbClr val="3C78D8"/>
          </a:soli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32" name="Google Shape;132;p16"/>
          <p:cNvSpPr/>
          <p:nvPr/>
        </p:nvSpPr>
        <p:spPr>
          <a:xfrm>
            <a:off x="6718499" y="1253329"/>
            <a:ext cx="125400" cy="125400"/>
          </a:xfrm>
          <a:prstGeom prst="ellipse">
            <a:avLst/>
          </a:prstGeom>
          <a:solidFill>
            <a:srgbClr val="FFFF00"/>
          </a:soli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33" name="Google Shape;133;p16"/>
          <p:cNvSpPr/>
          <p:nvPr/>
        </p:nvSpPr>
        <p:spPr>
          <a:xfrm>
            <a:off x="6718499" y="1458386"/>
            <a:ext cx="125400" cy="125400"/>
          </a:xfrm>
          <a:prstGeom prst="ellipse">
            <a:avLst/>
          </a:prstGeom>
          <a:solidFill>
            <a:srgbClr val="6AA84F"/>
          </a:soli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34" name="Google Shape;134;p16"/>
          <p:cNvSpPr txBox="1"/>
          <p:nvPr/>
        </p:nvSpPr>
        <p:spPr>
          <a:xfrm>
            <a:off x="6898625" y="801499"/>
            <a:ext cx="1003200" cy="187800"/>
          </a:xfrm>
          <a:prstGeom prst="rect">
            <a:avLst/>
          </a:prstGeom>
          <a:noFill/>
          <a:ln>
            <a:noFill/>
          </a:ln>
        </p:spPr>
        <p:txBody>
          <a:bodyPr spcFirstLastPara="1" wrap="square" lIns="9125" tIns="9125" rIns="9125" bIns="9125" anchor="t" anchorCtr="0">
            <a:spAutoFit/>
          </a:bodyPr>
          <a:lstStyle/>
          <a:p>
            <a:pPr marL="0" marR="0" lvl="0" indent="0" algn="l" rtl="0">
              <a:lnSpc>
                <a:spcPct val="100000"/>
              </a:lnSpc>
              <a:spcBef>
                <a:spcPts val="0"/>
              </a:spcBef>
              <a:spcAft>
                <a:spcPts val="0"/>
              </a:spcAft>
              <a:buClr>
                <a:srgbClr val="000000"/>
              </a:buClr>
              <a:buSzPts val="1100"/>
              <a:buFont typeface="Arial"/>
              <a:buNone/>
            </a:pPr>
            <a:r>
              <a:rPr lang="en" sz="1100" b="1">
                <a:solidFill>
                  <a:srgbClr val="000000"/>
                </a:solidFill>
                <a:latin typeface="Calibri"/>
                <a:ea typeface="Calibri"/>
                <a:cs typeface="Calibri"/>
                <a:sym typeface="Calibri"/>
              </a:rPr>
              <a:t>Google Gemini</a:t>
            </a:r>
            <a:endParaRPr sz="1100" b="1" i="0" u="none" strike="noStrike" cap="none">
              <a:solidFill>
                <a:srgbClr val="000000"/>
              </a:solidFill>
              <a:latin typeface="Calibri"/>
              <a:ea typeface="Calibri"/>
              <a:cs typeface="Calibri"/>
              <a:sym typeface="Calibri"/>
            </a:endParaRPr>
          </a:p>
        </p:txBody>
      </p:sp>
      <p:sp>
        <p:nvSpPr>
          <p:cNvPr id="135" name="Google Shape;135;p16"/>
          <p:cNvSpPr txBox="1"/>
          <p:nvPr/>
        </p:nvSpPr>
        <p:spPr>
          <a:xfrm>
            <a:off x="6895175" y="1006556"/>
            <a:ext cx="1003200" cy="187800"/>
          </a:xfrm>
          <a:prstGeom prst="rect">
            <a:avLst/>
          </a:prstGeom>
          <a:noFill/>
          <a:ln>
            <a:noFill/>
          </a:ln>
        </p:spPr>
        <p:txBody>
          <a:bodyPr spcFirstLastPara="1" wrap="square" lIns="9125" tIns="9125" rIns="9125" bIns="9125" anchor="t" anchorCtr="0">
            <a:spAutoFit/>
          </a:bodyPr>
          <a:lstStyle/>
          <a:p>
            <a:pPr marL="0" marR="0" lvl="0" indent="0" algn="l" rtl="0">
              <a:lnSpc>
                <a:spcPct val="100000"/>
              </a:lnSpc>
              <a:spcBef>
                <a:spcPts val="0"/>
              </a:spcBef>
              <a:spcAft>
                <a:spcPts val="0"/>
              </a:spcAft>
              <a:buClr>
                <a:srgbClr val="000000"/>
              </a:buClr>
              <a:buSzPts val="1100"/>
              <a:buFont typeface="Arial"/>
              <a:buNone/>
            </a:pPr>
            <a:r>
              <a:rPr lang="en" sz="1100" b="1">
                <a:solidFill>
                  <a:srgbClr val="000000"/>
                </a:solidFill>
                <a:latin typeface="Calibri"/>
                <a:ea typeface="Calibri"/>
                <a:cs typeface="Calibri"/>
                <a:sym typeface="Calibri"/>
              </a:rPr>
              <a:t>Claude</a:t>
            </a:r>
            <a:endParaRPr sz="1100" b="1" i="0" u="none" strike="noStrike" cap="none">
              <a:solidFill>
                <a:srgbClr val="000000"/>
              </a:solidFill>
              <a:latin typeface="Calibri"/>
              <a:ea typeface="Calibri"/>
              <a:cs typeface="Calibri"/>
              <a:sym typeface="Calibri"/>
            </a:endParaRPr>
          </a:p>
        </p:txBody>
      </p:sp>
      <p:sp>
        <p:nvSpPr>
          <p:cNvPr id="136" name="Google Shape;136;p16"/>
          <p:cNvSpPr txBox="1"/>
          <p:nvPr/>
        </p:nvSpPr>
        <p:spPr>
          <a:xfrm>
            <a:off x="6901750" y="1211613"/>
            <a:ext cx="1003200" cy="187800"/>
          </a:xfrm>
          <a:prstGeom prst="rect">
            <a:avLst/>
          </a:prstGeom>
          <a:noFill/>
          <a:ln>
            <a:noFill/>
          </a:ln>
        </p:spPr>
        <p:txBody>
          <a:bodyPr spcFirstLastPara="1" wrap="square" lIns="9125" tIns="9125" rIns="9125" bIns="9125" anchor="t" anchorCtr="0">
            <a:spAutoFit/>
          </a:bodyPr>
          <a:lstStyle/>
          <a:p>
            <a:pPr marL="0" marR="0" lvl="0" indent="0" algn="l" rtl="0">
              <a:lnSpc>
                <a:spcPct val="100000"/>
              </a:lnSpc>
              <a:spcBef>
                <a:spcPts val="0"/>
              </a:spcBef>
              <a:spcAft>
                <a:spcPts val="0"/>
              </a:spcAft>
              <a:buClr>
                <a:srgbClr val="000000"/>
              </a:buClr>
              <a:buSzPts val="1100"/>
              <a:buFont typeface="Arial"/>
              <a:buNone/>
            </a:pPr>
            <a:r>
              <a:rPr lang="en" sz="1100" b="1">
                <a:solidFill>
                  <a:srgbClr val="000000"/>
                </a:solidFill>
                <a:latin typeface="Calibri"/>
                <a:ea typeface="Calibri"/>
                <a:cs typeface="Calibri"/>
                <a:sym typeface="Calibri"/>
              </a:rPr>
              <a:t>OpenAI</a:t>
            </a:r>
            <a:endParaRPr sz="1100" b="1" i="0" u="none" strike="noStrike" cap="none">
              <a:solidFill>
                <a:srgbClr val="000000"/>
              </a:solidFill>
              <a:latin typeface="Calibri"/>
              <a:ea typeface="Calibri"/>
              <a:cs typeface="Calibri"/>
              <a:sym typeface="Calibri"/>
            </a:endParaRPr>
          </a:p>
        </p:txBody>
      </p:sp>
      <p:sp>
        <p:nvSpPr>
          <p:cNvPr id="137" name="Google Shape;137;p16"/>
          <p:cNvSpPr txBox="1"/>
          <p:nvPr/>
        </p:nvSpPr>
        <p:spPr>
          <a:xfrm>
            <a:off x="6903075" y="1416671"/>
            <a:ext cx="1003200" cy="187800"/>
          </a:xfrm>
          <a:prstGeom prst="rect">
            <a:avLst/>
          </a:prstGeom>
          <a:noFill/>
          <a:ln>
            <a:noFill/>
          </a:ln>
        </p:spPr>
        <p:txBody>
          <a:bodyPr spcFirstLastPara="1" wrap="square" lIns="9125" tIns="9125" rIns="9125" bIns="9125" anchor="t" anchorCtr="0">
            <a:spAutoFit/>
          </a:bodyPr>
          <a:lstStyle/>
          <a:p>
            <a:pPr marL="0" marR="0" lvl="0" indent="0" algn="l" rtl="0">
              <a:lnSpc>
                <a:spcPct val="100000"/>
              </a:lnSpc>
              <a:spcBef>
                <a:spcPts val="0"/>
              </a:spcBef>
              <a:spcAft>
                <a:spcPts val="0"/>
              </a:spcAft>
              <a:buClr>
                <a:srgbClr val="000000"/>
              </a:buClr>
              <a:buSzPts val="1100"/>
              <a:buFont typeface="Arial"/>
              <a:buNone/>
            </a:pPr>
            <a:r>
              <a:rPr lang="en" sz="1100" b="1">
                <a:solidFill>
                  <a:srgbClr val="000000"/>
                </a:solidFill>
                <a:latin typeface="Calibri"/>
                <a:ea typeface="Calibri"/>
                <a:cs typeface="Calibri"/>
                <a:sym typeface="Calibri"/>
              </a:rPr>
              <a:t>Open Source</a:t>
            </a:r>
            <a:endParaRPr sz="1100" b="1" i="0" u="none" strike="noStrike" cap="none">
              <a:solidFill>
                <a:srgbClr val="000000"/>
              </a:solidFill>
              <a:latin typeface="Calibri"/>
              <a:ea typeface="Calibri"/>
              <a:cs typeface="Calibri"/>
              <a:sym typeface="Calibri"/>
            </a:endParaRPr>
          </a:p>
        </p:txBody>
      </p:sp>
      <p:sp>
        <p:nvSpPr>
          <p:cNvPr id="138" name="Google Shape;138;p16"/>
          <p:cNvSpPr txBox="1"/>
          <p:nvPr/>
        </p:nvSpPr>
        <p:spPr>
          <a:xfrm>
            <a:off x="304271" y="4200957"/>
            <a:ext cx="287100" cy="141600"/>
          </a:xfrm>
          <a:prstGeom prst="rect">
            <a:avLst/>
          </a:prstGeom>
          <a:no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0" marR="0" lvl="0" indent="0" algn="l" rtl="0">
              <a:lnSpc>
                <a:spcPct val="100000"/>
              </a:lnSpc>
              <a:spcBef>
                <a:spcPts val="0"/>
              </a:spcBef>
              <a:spcAft>
                <a:spcPts val="0"/>
              </a:spcAft>
              <a:buClr>
                <a:srgbClr val="000000"/>
              </a:buClr>
              <a:buSzPts val="1100"/>
              <a:buFont typeface="Arial"/>
              <a:buNone/>
            </a:pPr>
            <a:r>
              <a:rPr lang="en" sz="800" b="0" i="0" u="none" strike="noStrike" cap="none">
                <a:solidFill>
                  <a:srgbClr val="1F2937"/>
                </a:solidFill>
                <a:highlight>
                  <a:srgbClr val="FFFFFF"/>
                </a:highlight>
                <a:latin typeface="Calibri"/>
                <a:ea typeface="Calibri"/>
                <a:cs typeface="Calibri"/>
                <a:sym typeface="Calibri"/>
              </a:rPr>
              <a:t>China</a:t>
            </a:r>
            <a:endParaRPr sz="800" b="0" i="0" u="none" strike="noStrike" cap="none">
              <a:solidFill>
                <a:srgbClr val="1F2937"/>
              </a:solidFill>
              <a:highlight>
                <a:srgbClr val="FFFFFF"/>
              </a:highlight>
              <a:latin typeface="Calibri"/>
              <a:ea typeface="Calibri"/>
              <a:cs typeface="Calibri"/>
              <a:sym typeface="Calibri"/>
            </a:endParaRPr>
          </a:p>
        </p:txBody>
      </p:sp>
      <p:sp>
        <p:nvSpPr>
          <p:cNvPr id="139" name="Google Shape;139;p16"/>
          <p:cNvSpPr/>
          <p:nvPr/>
        </p:nvSpPr>
        <p:spPr>
          <a:xfrm>
            <a:off x="603537" y="4208204"/>
            <a:ext cx="125400" cy="125400"/>
          </a:xfrm>
          <a:prstGeom prst="ellipse">
            <a:avLst/>
          </a:prstGeom>
          <a:solidFill>
            <a:srgbClr val="6AA84F"/>
          </a:soli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40" name="Google Shape;140;p16"/>
          <p:cNvSpPr txBox="1"/>
          <p:nvPr/>
        </p:nvSpPr>
        <p:spPr>
          <a:xfrm flipH="1">
            <a:off x="3556596" y="4731735"/>
            <a:ext cx="349800" cy="141600"/>
          </a:xfrm>
          <a:prstGeom prst="rect">
            <a:avLst/>
          </a:prstGeom>
          <a:solidFill>
            <a:srgbClr val="FCE5CD"/>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0" marR="0" lvl="0" indent="0" algn="l" rtl="0">
              <a:lnSpc>
                <a:spcPct val="100000"/>
              </a:lnSpc>
              <a:spcBef>
                <a:spcPts val="0"/>
              </a:spcBef>
              <a:spcAft>
                <a:spcPts val="0"/>
              </a:spcAft>
              <a:buClr>
                <a:srgbClr val="000000"/>
              </a:buClr>
              <a:buSzPts val="1100"/>
              <a:buFont typeface="Arial"/>
              <a:buNone/>
            </a:pPr>
            <a:r>
              <a:rPr lang="en" sz="800">
                <a:solidFill>
                  <a:srgbClr val="1F2937"/>
                </a:solidFill>
                <a:latin typeface="Calibri"/>
                <a:ea typeface="Calibri"/>
                <a:cs typeface="Calibri"/>
                <a:sym typeface="Calibri"/>
              </a:rPr>
              <a:t>Mistral</a:t>
            </a:r>
            <a:endParaRPr sz="800" b="0" i="0" u="none" strike="noStrike" cap="none">
              <a:solidFill>
                <a:srgbClr val="1F2937"/>
              </a:solidFill>
              <a:latin typeface="Calibri"/>
              <a:ea typeface="Calibri"/>
              <a:cs typeface="Calibri"/>
              <a:sym typeface="Calibri"/>
            </a:endParaRPr>
          </a:p>
        </p:txBody>
      </p:sp>
      <p:sp>
        <p:nvSpPr>
          <p:cNvPr id="141" name="Google Shape;141;p16"/>
          <p:cNvSpPr txBox="1"/>
          <p:nvPr/>
        </p:nvSpPr>
        <p:spPr>
          <a:xfrm>
            <a:off x="311891" y="4569781"/>
            <a:ext cx="287100" cy="141600"/>
          </a:xfrm>
          <a:prstGeom prst="rect">
            <a:avLst/>
          </a:prstGeom>
          <a:no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0" marR="0" lvl="0" indent="0" algn="l" rtl="0">
              <a:lnSpc>
                <a:spcPct val="100000"/>
              </a:lnSpc>
              <a:spcBef>
                <a:spcPts val="0"/>
              </a:spcBef>
              <a:spcAft>
                <a:spcPts val="0"/>
              </a:spcAft>
              <a:buClr>
                <a:srgbClr val="000000"/>
              </a:buClr>
              <a:buSzPts val="1100"/>
              <a:buFont typeface="Arial"/>
              <a:buNone/>
            </a:pPr>
            <a:r>
              <a:rPr lang="en" sz="800" b="0" i="0" u="none" strike="noStrike" cap="none">
                <a:solidFill>
                  <a:srgbClr val="1F2937"/>
                </a:solidFill>
                <a:highlight>
                  <a:srgbClr val="FFFFFF"/>
                </a:highlight>
                <a:latin typeface="Calibri"/>
                <a:ea typeface="Calibri"/>
                <a:cs typeface="Calibri"/>
                <a:sym typeface="Calibri"/>
              </a:rPr>
              <a:t>China</a:t>
            </a:r>
            <a:endParaRPr sz="800" b="0" i="0" u="none" strike="noStrike" cap="none">
              <a:solidFill>
                <a:srgbClr val="1F2937"/>
              </a:solidFill>
              <a:highlight>
                <a:srgbClr val="FFFFFF"/>
              </a:highlight>
              <a:latin typeface="Calibri"/>
              <a:ea typeface="Calibri"/>
              <a:cs typeface="Calibri"/>
              <a:sym typeface="Calibri"/>
            </a:endParaRPr>
          </a:p>
        </p:txBody>
      </p:sp>
      <p:sp>
        <p:nvSpPr>
          <p:cNvPr id="142" name="Google Shape;142;p16"/>
          <p:cNvSpPr/>
          <p:nvPr/>
        </p:nvSpPr>
        <p:spPr>
          <a:xfrm>
            <a:off x="611157" y="4577028"/>
            <a:ext cx="125400" cy="125400"/>
          </a:xfrm>
          <a:prstGeom prst="ellipse">
            <a:avLst/>
          </a:prstGeom>
          <a:solidFill>
            <a:srgbClr val="6AA84F"/>
          </a:soli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aphicFrame>
        <p:nvGraphicFramePr>
          <p:cNvPr id="143" name="Google Shape;143;p16"/>
          <p:cNvGraphicFramePr/>
          <p:nvPr/>
        </p:nvGraphicFramePr>
        <p:xfrm>
          <a:off x="751207" y="566322"/>
          <a:ext cx="3000000" cy="3000000"/>
        </p:xfrm>
        <a:graphic>
          <a:graphicData uri="http://schemas.openxmlformats.org/drawingml/2006/table">
            <a:tbl>
              <a:tblPr>
                <a:noFill/>
                <a:tableStyleId>{D6C8E7C5-D1C3-4BD4-81A4-5DE7A65E04BF}</a:tableStyleId>
              </a:tblPr>
              <a:tblGrid>
                <a:gridCol w="1800225">
                  <a:extLst>
                    <a:ext uri="{9D8B030D-6E8A-4147-A177-3AD203B41FA5}">
                      <a16:colId xmlns:a16="http://schemas.microsoft.com/office/drawing/2014/main" val="20000"/>
                    </a:ext>
                  </a:extLst>
                </a:gridCol>
                <a:gridCol w="295275">
                  <a:extLst>
                    <a:ext uri="{9D8B030D-6E8A-4147-A177-3AD203B41FA5}">
                      <a16:colId xmlns:a16="http://schemas.microsoft.com/office/drawing/2014/main" val="20001"/>
                    </a:ext>
                  </a:extLst>
                </a:gridCol>
              </a:tblGrid>
              <a:tr h="151200">
                <a:tc>
                  <a:txBody>
                    <a:bodyPr/>
                    <a:lstStyle/>
                    <a:p>
                      <a:pPr marL="0" lvl="0" indent="0" algn="l" rtl="0">
                        <a:lnSpc>
                          <a:spcPct val="115000"/>
                        </a:lnSpc>
                        <a:spcBef>
                          <a:spcPts val="0"/>
                        </a:spcBef>
                        <a:spcAft>
                          <a:spcPts val="0"/>
                        </a:spcAft>
                        <a:buNone/>
                      </a:pPr>
                      <a:r>
                        <a:rPr lang="en" sz="800">
                          <a:latin typeface="Calibri"/>
                          <a:ea typeface="Calibri"/>
                          <a:cs typeface="Calibri"/>
                          <a:sym typeface="Calibri"/>
                        </a:rPr>
                        <a:t>Model</a:t>
                      </a:r>
                      <a:endParaRPr sz="800">
                        <a:latin typeface="Calibri"/>
                        <a:ea typeface="Calibri"/>
                        <a:cs typeface="Calibri"/>
                        <a:sym typeface="Calibri"/>
                      </a:endParaRPr>
                    </a:p>
                  </a:txBody>
                  <a:tcPr marL="28575" marR="28575" marT="19050" marB="19050" anchor="b">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chemeClr val="lt1"/>
                    </a:solidFill>
                  </a:tcPr>
                </a:tc>
                <a:tc>
                  <a:txBody>
                    <a:bodyPr/>
                    <a:lstStyle/>
                    <a:p>
                      <a:pPr marL="0" lvl="0" indent="0" algn="l" rtl="0">
                        <a:lnSpc>
                          <a:spcPct val="115000"/>
                        </a:lnSpc>
                        <a:spcBef>
                          <a:spcPts val="0"/>
                        </a:spcBef>
                        <a:spcAft>
                          <a:spcPts val="0"/>
                        </a:spcAft>
                        <a:buNone/>
                      </a:pPr>
                      <a:r>
                        <a:rPr lang="en" sz="800">
                          <a:latin typeface="Calibri"/>
                          <a:ea typeface="Calibri"/>
                          <a:cs typeface="Calibri"/>
                          <a:sym typeface="Calibri"/>
                        </a:rPr>
                        <a:t>Score</a:t>
                      </a:r>
                      <a:endParaRPr sz="800">
                        <a:latin typeface="Calibri"/>
                        <a:ea typeface="Calibri"/>
                        <a:cs typeface="Calibri"/>
                        <a:sym typeface="Calibri"/>
                      </a:endParaRPr>
                    </a:p>
                  </a:txBody>
                  <a:tcPr marL="28575" marR="28575" marT="19050" marB="19050" anchor="b">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chemeClr val="lt1"/>
                    </a:solidFill>
                  </a:tcPr>
                </a:tc>
                <a:extLst>
                  <a:ext uri="{0D108BD9-81ED-4DB2-BD59-A6C34878D82A}">
                    <a16:rowId xmlns:a16="http://schemas.microsoft.com/office/drawing/2014/main" val="10000"/>
                  </a:ext>
                </a:extLst>
              </a:tr>
              <a:tr h="151200">
                <a:tc>
                  <a:txBody>
                    <a:bodyPr/>
                    <a:lstStyle/>
                    <a:p>
                      <a:pPr marL="0" lvl="0" indent="0" algn="l" rtl="0">
                        <a:lnSpc>
                          <a:spcPct val="115000"/>
                        </a:lnSpc>
                        <a:spcBef>
                          <a:spcPts val="0"/>
                        </a:spcBef>
                        <a:spcAft>
                          <a:spcPts val="0"/>
                        </a:spcAft>
                        <a:buNone/>
                      </a:pPr>
                      <a:r>
                        <a:rPr lang="en" sz="800" u="sng">
                          <a:solidFill>
                            <a:srgbClr val="1155CC"/>
                          </a:solidFill>
                          <a:latin typeface="Calibri"/>
                          <a:ea typeface="Calibri"/>
                          <a:cs typeface="Calibri"/>
                          <a:sym typeface="Calibri"/>
                          <a:hlinkClick r:id="rId17">
                            <a:extLst>
                              <a:ext uri="{A12FA001-AC4F-418D-AE19-62706E023703}">
                                <ahyp:hlinkClr xmlns:ahyp="http://schemas.microsoft.com/office/drawing/2018/hyperlinkcolor" val="tx"/>
                              </a:ext>
                            </a:extLst>
                          </a:hlinkClick>
                        </a:rPr>
                        <a:t>gemini-3-pro</a:t>
                      </a:r>
                      <a:endParaRPr sz="800" u="sng">
                        <a:solidFill>
                          <a:srgbClr val="1155CC"/>
                        </a:solidFill>
                        <a:latin typeface="Calibri"/>
                        <a:ea typeface="Calibri"/>
                        <a:cs typeface="Calibri"/>
                        <a:sym typeface="Calibri"/>
                      </a:endParaRPr>
                    </a:p>
                  </a:txBody>
                  <a:tcPr marL="28575" marR="28575" marT="19050" marB="19050" anchor="b">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chemeClr val="lt1"/>
                    </a:solidFill>
                  </a:tcPr>
                </a:tc>
                <a:tc>
                  <a:txBody>
                    <a:bodyPr/>
                    <a:lstStyle/>
                    <a:p>
                      <a:pPr marL="0" lvl="0" indent="0" algn="r" rtl="0">
                        <a:lnSpc>
                          <a:spcPct val="115000"/>
                        </a:lnSpc>
                        <a:spcBef>
                          <a:spcPts val="0"/>
                        </a:spcBef>
                        <a:spcAft>
                          <a:spcPts val="0"/>
                        </a:spcAft>
                        <a:buNone/>
                      </a:pPr>
                      <a:r>
                        <a:rPr lang="en" sz="800">
                          <a:solidFill>
                            <a:srgbClr val="636879"/>
                          </a:solidFill>
                          <a:latin typeface="Calibri"/>
                          <a:ea typeface="Calibri"/>
                          <a:cs typeface="Calibri"/>
                          <a:sym typeface="Calibri"/>
                        </a:rPr>
                        <a:t>1492</a:t>
                      </a:r>
                      <a:endParaRPr sz="800">
                        <a:solidFill>
                          <a:srgbClr val="636879"/>
                        </a:solidFill>
                        <a:latin typeface="Calibri"/>
                        <a:ea typeface="Calibri"/>
                        <a:cs typeface="Calibri"/>
                        <a:sym typeface="Calibri"/>
                      </a:endParaRPr>
                    </a:p>
                  </a:txBody>
                  <a:tcPr marL="28575" marR="28575" marT="19050" marB="19050" anchor="b">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chemeClr val="lt1"/>
                    </a:solidFill>
                  </a:tcPr>
                </a:tc>
                <a:extLst>
                  <a:ext uri="{0D108BD9-81ED-4DB2-BD59-A6C34878D82A}">
                    <a16:rowId xmlns:a16="http://schemas.microsoft.com/office/drawing/2014/main" val="10001"/>
                  </a:ext>
                </a:extLst>
              </a:tr>
              <a:tr h="151200">
                <a:tc>
                  <a:txBody>
                    <a:bodyPr/>
                    <a:lstStyle/>
                    <a:p>
                      <a:pPr marL="0" lvl="0" indent="0" algn="l" rtl="0">
                        <a:lnSpc>
                          <a:spcPct val="115000"/>
                        </a:lnSpc>
                        <a:spcBef>
                          <a:spcPts val="0"/>
                        </a:spcBef>
                        <a:spcAft>
                          <a:spcPts val="0"/>
                        </a:spcAft>
                        <a:buNone/>
                      </a:pPr>
                      <a:r>
                        <a:rPr lang="en" sz="800" u="sng">
                          <a:solidFill>
                            <a:srgbClr val="1155CC"/>
                          </a:solidFill>
                          <a:latin typeface="Calibri"/>
                          <a:ea typeface="Calibri"/>
                          <a:cs typeface="Calibri"/>
                          <a:sym typeface="Calibri"/>
                          <a:hlinkClick r:id="rId18">
                            <a:extLst>
                              <a:ext uri="{A12FA001-AC4F-418D-AE19-62706E023703}">
                                <ahyp:hlinkClr xmlns:ahyp="http://schemas.microsoft.com/office/drawing/2018/hyperlinkcolor" val="tx"/>
                              </a:ext>
                            </a:extLst>
                          </a:hlinkClick>
                        </a:rPr>
                        <a:t>grok-4.1-thinking</a:t>
                      </a:r>
                      <a:endParaRPr sz="800" u="sng">
                        <a:solidFill>
                          <a:srgbClr val="1155CC"/>
                        </a:solidFill>
                        <a:latin typeface="Calibri"/>
                        <a:ea typeface="Calibri"/>
                        <a:cs typeface="Calibri"/>
                        <a:sym typeface="Calibri"/>
                      </a:endParaRPr>
                    </a:p>
                  </a:txBody>
                  <a:tcPr marL="28575" marR="28575" marT="19050" marB="19050" anchor="b">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chemeClr val="lt1"/>
                    </a:solidFill>
                  </a:tcPr>
                </a:tc>
                <a:tc>
                  <a:txBody>
                    <a:bodyPr/>
                    <a:lstStyle/>
                    <a:p>
                      <a:pPr marL="0" lvl="0" indent="0" algn="r" rtl="0">
                        <a:lnSpc>
                          <a:spcPct val="115000"/>
                        </a:lnSpc>
                        <a:spcBef>
                          <a:spcPts val="0"/>
                        </a:spcBef>
                        <a:spcAft>
                          <a:spcPts val="0"/>
                        </a:spcAft>
                        <a:buNone/>
                      </a:pPr>
                      <a:r>
                        <a:rPr lang="en" sz="800">
                          <a:solidFill>
                            <a:srgbClr val="636879"/>
                          </a:solidFill>
                          <a:latin typeface="Calibri"/>
                          <a:ea typeface="Calibri"/>
                          <a:cs typeface="Calibri"/>
                          <a:sym typeface="Calibri"/>
                        </a:rPr>
                        <a:t>1478</a:t>
                      </a:r>
                      <a:endParaRPr sz="800">
                        <a:solidFill>
                          <a:srgbClr val="636879"/>
                        </a:solidFill>
                        <a:latin typeface="Calibri"/>
                        <a:ea typeface="Calibri"/>
                        <a:cs typeface="Calibri"/>
                        <a:sym typeface="Calibri"/>
                      </a:endParaRPr>
                    </a:p>
                  </a:txBody>
                  <a:tcPr marL="28575" marR="28575" marT="19050" marB="19050" anchor="b">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chemeClr val="lt1"/>
                    </a:solidFill>
                  </a:tcPr>
                </a:tc>
                <a:extLst>
                  <a:ext uri="{0D108BD9-81ED-4DB2-BD59-A6C34878D82A}">
                    <a16:rowId xmlns:a16="http://schemas.microsoft.com/office/drawing/2014/main" val="10002"/>
                  </a:ext>
                </a:extLst>
              </a:tr>
              <a:tr h="151200">
                <a:tc>
                  <a:txBody>
                    <a:bodyPr/>
                    <a:lstStyle/>
                    <a:p>
                      <a:pPr marL="0" lvl="0" indent="0" algn="l" rtl="0">
                        <a:lnSpc>
                          <a:spcPct val="115000"/>
                        </a:lnSpc>
                        <a:spcBef>
                          <a:spcPts val="0"/>
                        </a:spcBef>
                        <a:spcAft>
                          <a:spcPts val="0"/>
                        </a:spcAft>
                        <a:buNone/>
                      </a:pPr>
                      <a:r>
                        <a:rPr lang="en" sz="800" u="sng">
                          <a:solidFill>
                            <a:srgbClr val="1155CC"/>
                          </a:solidFill>
                          <a:latin typeface="Calibri"/>
                          <a:ea typeface="Calibri"/>
                          <a:cs typeface="Calibri"/>
                          <a:sym typeface="Calibri"/>
                          <a:hlinkClick r:id="rId19">
                            <a:extLst>
                              <a:ext uri="{A12FA001-AC4F-418D-AE19-62706E023703}">
                                <ahyp:hlinkClr xmlns:ahyp="http://schemas.microsoft.com/office/drawing/2018/hyperlinkcolor" val="tx"/>
                              </a:ext>
                            </a:extLst>
                          </a:hlinkClick>
                        </a:rPr>
                        <a:t>claude-opus-4-5-20251101-thinking-32k</a:t>
                      </a:r>
                      <a:endParaRPr sz="800" u="sng">
                        <a:solidFill>
                          <a:srgbClr val="1155CC"/>
                        </a:solidFill>
                        <a:latin typeface="Calibri"/>
                        <a:ea typeface="Calibri"/>
                        <a:cs typeface="Calibri"/>
                        <a:sym typeface="Calibri"/>
                      </a:endParaRPr>
                    </a:p>
                  </a:txBody>
                  <a:tcPr marL="28575" marR="28575" marT="19050" marB="19050" anchor="b">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chemeClr val="lt1"/>
                    </a:solidFill>
                  </a:tcPr>
                </a:tc>
                <a:tc>
                  <a:txBody>
                    <a:bodyPr/>
                    <a:lstStyle/>
                    <a:p>
                      <a:pPr marL="0" lvl="0" indent="0" algn="r" rtl="0">
                        <a:lnSpc>
                          <a:spcPct val="115000"/>
                        </a:lnSpc>
                        <a:spcBef>
                          <a:spcPts val="0"/>
                        </a:spcBef>
                        <a:spcAft>
                          <a:spcPts val="0"/>
                        </a:spcAft>
                        <a:buNone/>
                      </a:pPr>
                      <a:r>
                        <a:rPr lang="en" sz="800">
                          <a:solidFill>
                            <a:srgbClr val="636879"/>
                          </a:solidFill>
                          <a:latin typeface="Calibri"/>
                          <a:ea typeface="Calibri"/>
                          <a:cs typeface="Calibri"/>
                          <a:sym typeface="Calibri"/>
                        </a:rPr>
                        <a:t>1470</a:t>
                      </a:r>
                      <a:endParaRPr sz="800">
                        <a:solidFill>
                          <a:srgbClr val="636879"/>
                        </a:solidFill>
                        <a:latin typeface="Calibri"/>
                        <a:ea typeface="Calibri"/>
                        <a:cs typeface="Calibri"/>
                        <a:sym typeface="Calibri"/>
                      </a:endParaRPr>
                    </a:p>
                  </a:txBody>
                  <a:tcPr marL="28575" marR="28575" marT="19050" marB="19050" anchor="b">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chemeClr val="lt1"/>
                    </a:solidFill>
                  </a:tcPr>
                </a:tc>
                <a:extLst>
                  <a:ext uri="{0D108BD9-81ED-4DB2-BD59-A6C34878D82A}">
                    <a16:rowId xmlns:a16="http://schemas.microsoft.com/office/drawing/2014/main" val="10003"/>
                  </a:ext>
                </a:extLst>
              </a:tr>
              <a:tr h="151200">
                <a:tc>
                  <a:txBody>
                    <a:bodyPr/>
                    <a:lstStyle/>
                    <a:p>
                      <a:pPr marL="0" lvl="0" indent="0" algn="l" rtl="0">
                        <a:lnSpc>
                          <a:spcPct val="115000"/>
                        </a:lnSpc>
                        <a:spcBef>
                          <a:spcPts val="0"/>
                        </a:spcBef>
                        <a:spcAft>
                          <a:spcPts val="0"/>
                        </a:spcAft>
                        <a:buNone/>
                      </a:pPr>
                      <a:r>
                        <a:rPr lang="en" sz="800" u="sng">
                          <a:solidFill>
                            <a:srgbClr val="1155CC"/>
                          </a:solidFill>
                          <a:latin typeface="Calibri"/>
                          <a:ea typeface="Calibri"/>
                          <a:cs typeface="Calibri"/>
                          <a:sym typeface="Calibri"/>
                          <a:hlinkClick r:id="rId19">
                            <a:extLst>
                              <a:ext uri="{A12FA001-AC4F-418D-AE19-62706E023703}">
                                <ahyp:hlinkClr xmlns:ahyp="http://schemas.microsoft.com/office/drawing/2018/hyperlinkcolor" val="tx"/>
                              </a:ext>
                            </a:extLst>
                          </a:hlinkClick>
                        </a:rPr>
                        <a:t>claude-opus-4-5-20251101</a:t>
                      </a:r>
                      <a:endParaRPr sz="800" u="sng">
                        <a:solidFill>
                          <a:srgbClr val="1155CC"/>
                        </a:solidFill>
                        <a:latin typeface="Calibri"/>
                        <a:ea typeface="Calibri"/>
                        <a:cs typeface="Calibri"/>
                        <a:sym typeface="Calibri"/>
                      </a:endParaRPr>
                    </a:p>
                  </a:txBody>
                  <a:tcPr marL="28575" marR="28575" marT="19050" marB="19050" anchor="b">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chemeClr val="lt1"/>
                    </a:solidFill>
                  </a:tcPr>
                </a:tc>
                <a:tc>
                  <a:txBody>
                    <a:bodyPr/>
                    <a:lstStyle/>
                    <a:p>
                      <a:pPr marL="0" lvl="0" indent="0" algn="r" rtl="0">
                        <a:lnSpc>
                          <a:spcPct val="115000"/>
                        </a:lnSpc>
                        <a:spcBef>
                          <a:spcPts val="0"/>
                        </a:spcBef>
                        <a:spcAft>
                          <a:spcPts val="0"/>
                        </a:spcAft>
                        <a:buNone/>
                      </a:pPr>
                      <a:r>
                        <a:rPr lang="en" sz="800">
                          <a:solidFill>
                            <a:srgbClr val="636879"/>
                          </a:solidFill>
                          <a:latin typeface="Calibri"/>
                          <a:ea typeface="Calibri"/>
                          <a:cs typeface="Calibri"/>
                          <a:sym typeface="Calibri"/>
                        </a:rPr>
                        <a:t>1467</a:t>
                      </a:r>
                      <a:endParaRPr sz="800">
                        <a:solidFill>
                          <a:srgbClr val="636879"/>
                        </a:solidFill>
                        <a:latin typeface="Calibri"/>
                        <a:ea typeface="Calibri"/>
                        <a:cs typeface="Calibri"/>
                        <a:sym typeface="Calibri"/>
                      </a:endParaRPr>
                    </a:p>
                  </a:txBody>
                  <a:tcPr marL="28575" marR="28575" marT="19050" marB="19050" anchor="b">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chemeClr val="lt1"/>
                    </a:solidFill>
                  </a:tcPr>
                </a:tc>
                <a:extLst>
                  <a:ext uri="{0D108BD9-81ED-4DB2-BD59-A6C34878D82A}">
                    <a16:rowId xmlns:a16="http://schemas.microsoft.com/office/drawing/2014/main" val="10004"/>
                  </a:ext>
                </a:extLst>
              </a:tr>
              <a:tr h="151200">
                <a:tc>
                  <a:txBody>
                    <a:bodyPr/>
                    <a:lstStyle/>
                    <a:p>
                      <a:pPr marL="0" lvl="0" indent="0" algn="l" rtl="0">
                        <a:lnSpc>
                          <a:spcPct val="115000"/>
                        </a:lnSpc>
                        <a:spcBef>
                          <a:spcPts val="0"/>
                        </a:spcBef>
                        <a:spcAft>
                          <a:spcPts val="0"/>
                        </a:spcAft>
                        <a:buNone/>
                      </a:pPr>
                      <a:r>
                        <a:rPr lang="en" sz="800" u="sng">
                          <a:solidFill>
                            <a:srgbClr val="1155CC"/>
                          </a:solidFill>
                          <a:latin typeface="Calibri"/>
                          <a:ea typeface="Calibri"/>
                          <a:cs typeface="Calibri"/>
                          <a:sym typeface="Calibri"/>
                          <a:hlinkClick r:id="rId18">
                            <a:extLst>
                              <a:ext uri="{A12FA001-AC4F-418D-AE19-62706E023703}">
                                <ahyp:hlinkClr xmlns:ahyp="http://schemas.microsoft.com/office/drawing/2018/hyperlinkcolor" val="tx"/>
                              </a:ext>
                            </a:extLst>
                          </a:hlinkClick>
                        </a:rPr>
                        <a:t>grok-4.1</a:t>
                      </a:r>
                      <a:endParaRPr sz="800" u="sng">
                        <a:solidFill>
                          <a:srgbClr val="1155CC"/>
                        </a:solidFill>
                        <a:latin typeface="Calibri"/>
                        <a:ea typeface="Calibri"/>
                        <a:cs typeface="Calibri"/>
                        <a:sym typeface="Calibri"/>
                      </a:endParaRPr>
                    </a:p>
                  </a:txBody>
                  <a:tcPr marL="28575" marR="28575" marT="19050" marB="19050" anchor="b">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chemeClr val="lt1"/>
                    </a:solidFill>
                  </a:tcPr>
                </a:tc>
                <a:tc>
                  <a:txBody>
                    <a:bodyPr/>
                    <a:lstStyle/>
                    <a:p>
                      <a:pPr marL="0" lvl="0" indent="0" algn="r" rtl="0">
                        <a:lnSpc>
                          <a:spcPct val="115000"/>
                        </a:lnSpc>
                        <a:spcBef>
                          <a:spcPts val="0"/>
                        </a:spcBef>
                        <a:spcAft>
                          <a:spcPts val="0"/>
                        </a:spcAft>
                        <a:buNone/>
                      </a:pPr>
                      <a:r>
                        <a:rPr lang="en" sz="800">
                          <a:solidFill>
                            <a:srgbClr val="636879"/>
                          </a:solidFill>
                          <a:latin typeface="Calibri"/>
                          <a:ea typeface="Calibri"/>
                          <a:cs typeface="Calibri"/>
                          <a:sym typeface="Calibri"/>
                        </a:rPr>
                        <a:t>1465</a:t>
                      </a:r>
                      <a:endParaRPr sz="800">
                        <a:solidFill>
                          <a:srgbClr val="636879"/>
                        </a:solidFill>
                        <a:latin typeface="Calibri"/>
                        <a:ea typeface="Calibri"/>
                        <a:cs typeface="Calibri"/>
                        <a:sym typeface="Calibri"/>
                      </a:endParaRPr>
                    </a:p>
                  </a:txBody>
                  <a:tcPr marL="28575" marR="28575" marT="19050" marB="19050" anchor="b">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chemeClr val="lt1"/>
                    </a:solidFill>
                  </a:tcPr>
                </a:tc>
                <a:extLst>
                  <a:ext uri="{0D108BD9-81ED-4DB2-BD59-A6C34878D82A}">
                    <a16:rowId xmlns:a16="http://schemas.microsoft.com/office/drawing/2014/main" val="10005"/>
                  </a:ext>
                </a:extLst>
              </a:tr>
              <a:tr h="151200">
                <a:tc>
                  <a:txBody>
                    <a:bodyPr/>
                    <a:lstStyle/>
                    <a:p>
                      <a:pPr marL="0" lvl="0" indent="0" algn="l" rtl="0">
                        <a:lnSpc>
                          <a:spcPct val="115000"/>
                        </a:lnSpc>
                        <a:spcBef>
                          <a:spcPts val="0"/>
                        </a:spcBef>
                        <a:spcAft>
                          <a:spcPts val="0"/>
                        </a:spcAft>
                        <a:buNone/>
                      </a:pPr>
                      <a:r>
                        <a:rPr lang="en" sz="800" u="sng">
                          <a:solidFill>
                            <a:srgbClr val="1155CC"/>
                          </a:solidFill>
                          <a:latin typeface="Calibri"/>
                          <a:ea typeface="Calibri"/>
                          <a:cs typeface="Calibri"/>
                          <a:sym typeface="Calibri"/>
                          <a:hlinkClick r:id="rId20">
                            <a:extLst>
                              <a:ext uri="{A12FA001-AC4F-418D-AE19-62706E023703}">
                                <ahyp:hlinkClr xmlns:ahyp="http://schemas.microsoft.com/office/drawing/2018/hyperlinkcolor" val="tx"/>
                              </a:ext>
                            </a:extLst>
                          </a:hlinkClick>
                        </a:rPr>
                        <a:t>gpt-5.1-high</a:t>
                      </a:r>
                      <a:endParaRPr sz="800" u="sng">
                        <a:solidFill>
                          <a:srgbClr val="1155CC"/>
                        </a:solidFill>
                        <a:latin typeface="Calibri"/>
                        <a:ea typeface="Calibri"/>
                        <a:cs typeface="Calibri"/>
                        <a:sym typeface="Calibri"/>
                      </a:endParaRPr>
                    </a:p>
                  </a:txBody>
                  <a:tcPr marL="28575" marR="28575" marT="19050" marB="19050" anchor="b">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chemeClr val="lt1"/>
                    </a:solidFill>
                  </a:tcPr>
                </a:tc>
                <a:tc>
                  <a:txBody>
                    <a:bodyPr/>
                    <a:lstStyle/>
                    <a:p>
                      <a:pPr marL="0" lvl="0" indent="0" algn="r" rtl="0">
                        <a:lnSpc>
                          <a:spcPct val="115000"/>
                        </a:lnSpc>
                        <a:spcBef>
                          <a:spcPts val="0"/>
                        </a:spcBef>
                        <a:spcAft>
                          <a:spcPts val="0"/>
                        </a:spcAft>
                        <a:buNone/>
                      </a:pPr>
                      <a:r>
                        <a:rPr lang="en" sz="800">
                          <a:solidFill>
                            <a:srgbClr val="636879"/>
                          </a:solidFill>
                          <a:latin typeface="Calibri"/>
                          <a:ea typeface="Calibri"/>
                          <a:cs typeface="Calibri"/>
                          <a:sym typeface="Calibri"/>
                        </a:rPr>
                        <a:t>1457</a:t>
                      </a:r>
                      <a:endParaRPr sz="800">
                        <a:solidFill>
                          <a:srgbClr val="636879"/>
                        </a:solidFill>
                        <a:latin typeface="Calibri"/>
                        <a:ea typeface="Calibri"/>
                        <a:cs typeface="Calibri"/>
                        <a:sym typeface="Calibri"/>
                      </a:endParaRPr>
                    </a:p>
                  </a:txBody>
                  <a:tcPr marL="28575" marR="28575" marT="19050" marB="19050" anchor="b">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chemeClr val="lt1"/>
                    </a:solidFill>
                  </a:tcPr>
                </a:tc>
                <a:extLst>
                  <a:ext uri="{0D108BD9-81ED-4DB2-BD59-A6C34878D82A}">
                    <a16:rowId xmlns:a16="http://schemas.microsoft.com/office/drawing/2014/main" val="10006"/>
                  </a:ext>
                </a:extLst>
              </a:tr>
              <a:tr h="151200">
                <a:tc>
                  <a:txBody>
                    <a:bodyPr/>
                    <a:lstStyle/>
                    <a:p>
                      <a:pPr marL="0" lvl="0" indent="0" algn="l" rtl="0">
                        <a:lnSpc>
                          <a:spcPct val="115000"/>
                        </a:lnSpc>
                        <a:spcBef>
                          <a:spcPts val="0"/>
                        </a:spcBef>
                        <a:spcAft>
                          <a:spcPts val="0"/>
                        </a:spcAft>
                        <a:buNone/>
                      </a:pPr>
                      <a:r>
                        <a:rPr lang="en" sz="800" u="sng">
                          <a:solidFill>
                            <a:srgbClr val="1155CC"/>
                          </a:solidFill>
                          <a:latin typeface="Calibri"/>
                          <a:ea typeface="Calibri"/>
                          <a:cs typeface="Calibri"/>
                          <a:sym typeface="Calibri"/>
                          <a:hlinkClick r:id="rId21">
                            <a:extLst>
                              <a:ext uri="{A12FA001-AC4F-418D-AE19-62706E023703}">
                                <ahyp:hlinkClr xmlns:ahyp="http://schemas.microsoft.com/office/drawing/2018/hyperlinkcolor" val="tx"/>
                              </a:ext>
                            </a:extLst>
                          </a:hlinkClick>
                        </a:rPr>
                        <a:t>gemini-2.5-pro</a:t>
                      </a:r>
                      <a:endParaRPr sz="800" u="sng">
                        <a:solidFill>
                          <a:srgbClr val="1155CC"/>
                        </a:solidFill>
                        <a:latin typeface="Calibri"/>
                        <a:ea typeface="Calibri"/>
                        <a:cs typeface="Calibri"/>
                        <a:sym typeface="Calibri"/>
                      </a:endParaRPr>
                    </a:p>
                  </a:txBody>
                  <a:tcPr marL="28575" marR="28575" marT="19050" marB="19050" anchor="b">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chemeClr val="lt1"/>
                    </a:solidFill>
                  </a:tcPr>
                </a:tc>
                <a:tc>
                  <a:txBody>
                    <a:bodyPr/>
                    <a:lstStyle/>
                    <a:p>
                      <a:pPr marL="0" lvl="0" indent="0" algn="r" rtl="0">
                        <a:lnSpc>
                          <a:spcPct val="115000"/>
                        </a:lnSpc>
                        <a:spcBef>
                          <a:spcPts val="0"/>
                        </a:spcBef>
                        <a:spcAft>
                          <a:spcPts val="0"/>
                        </a:spcAft>
                        <a:buNone/>
                      </a:pPr>
                      <a:r>
                        <a:rPr lang="en" sz="800">
                          <a:solidFill>
                            <a:srgbClr val="636879"/>
                          </a:solidFill>
                          <a:latin typeface="Calibri"/>
                          <a:ea typeface="Calibri"/>
                          <a:cs typeface="Calibri"/>
                          <a:sym typeface="Calibri"/>
                        </a:rPr>
                        <a:t>1451</a:t>
                      </a:r>
                      <a:endParaRPr sz="800">
                        <a:solidFill>
                          <a:srgbClr val="636879"/>
                        </a:solidFill>
                        <a:latin typeface="Calibri"/>
                        <a:ea typeface="Calibri"/>
                        <a:cs typeface="Calibri"/>
                        <a:sym typeface="Calibri"/>
                      </a:endParaRPr>
                    </a:p>
                  </a:txBody>
                  <a:tcPr marL="28575" marR="28575" marT="19050" marB="19050" anchor="b">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chemeClr val="lt1"/>
                    </a:solidFill>
                  </a:tcPr>
                </a:tc>
                <a:extLst>
                  <a:ext uri="{0D108BD9-81ED-4DB2-BD59-A6C34878D82A}">
                    <a16:rowId xmlns:a16="http://schemas.microsoft.com/office/drawing/2014/main" val="10007"/>
                  </a:ext>
                </a:extLst>
              </a:tr>
              <a:tr h="151200">
                <a:tc>
                  <a:txBody>
                    <a:bodyPr/>
                    <a:lstStyle/>
                    <a:p>
                      <a:pPr marL="0" lvl="0" indent="0" algn="l" rtl="0">
                        <a:lnSpc>
                          <a:spcPct val="115000"/>
                        </a:lnSpc>
                        <a:spcBef>
                          <a:spcPts val="0"/>
                        </a:spcBef>
                        <a:spcAft>
                          <a:spcPts val="0"/>
                        </a:spcAft>
                        <a:buNone/>
                      </a:pPr>
                      <a:r>
                        <a:rPr lang="en" sz="800" u="sng">
                          <a:solidFill>
                            <a:srgbClr val="1155CC"/>
                          </a:solidFill>
                          <a:latin typeface="Calibri"/>
                          <a:ea typeface="Calibri"/>
                          <a:cs typeface="Calibri"/>
                          <a:sym typeface="Calibri"/>
                          <a:hlinkClick r:id="rId22">
                            <a:extLst>
                              <a:ext uri="{A12FA001-AC4F-418D-AE19-62706E023703}">
                                <ahyp:hlinkClr xmlns:ahyp="http://schemas.microsoft.com/office/drawing/2018/hyperlinkcolor" val="tx"/>
                              </a:ext>
                            </a:extLst>
                          </a:hlinkClick>
                        </a:rPr>
                        <a:t>claude-sonnet-4-5-20250929-thinking-32k</a:t>
                      </a:r>
                      <a:endParaRPr sz="800" u="sng">
                        <a:solidFill>
                          <a:srgbClr val="1155CC"/>
                        </a:solidFill>
                        <a:latin typeface="Calibri"/>
                        <a:ea typeface="Calibri"/>
                        <a:cs typeface="Calibri"/>
                        <a:sym typeface="Calibri"/>
                      </a:endParaRPr>
                    </a:p>
                  </a:txBody>
                  <a:tcPr marL="28575" marR="28575" marT="19050" marB="19050" anchor="b">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chemeClr val="lt1"/>
                    </a:solidFill>
                  </a:tcPr>
                </a:tc>
                <a:tc>
                  <a:txBody>
                    <a:bodyPr/>
                    <a:lstStyle/>
                    <a:p>
                      <a:pPr marL="0" lvl="0" indent="0" algn="r" rtl="0">
                        <a:lnSpc>
                          <a:spcPct val="115000"/>
                        </a:lnSpc>
                        <a:spcBef>
                          <a:spcPts val="0"/>
                        </a:spcBef>
                        <a:spcAft>
                          <a:spcPts val="0"/>
                        </a:spcAft>
                        <a:buNone/>
                      </a:pPr>
                      <a:r>
                        <a:rPr lang="en" sz="800">
                          <a:solidFill>
                            <a:srgbClr val="636879"/>
                          </a:solidFill>
                          <a:latin typeface="Calibri"/>
                          <a:ea typeface="Calibri"/>
                          <a:cs typeface="Calibri"/>
                          <a:sym typeface="Calibri"/>
                        </a:rPr>
                        <a:t>1450</a:t>
                      </a:r>
                      <a:endParaRPr sz="800">
                        <a:solidFill>
                          <a:srgbClr val="636879"/>
                        </a:solidFill>
                        <a:latin typeface="Calibri"/>
                        <a:ea typeface="Calibri"/>
                        <a:cs typeface="Calibri"/>
                        <a:sym typeface="Calibri"/>
                      </a:endParaRPr>
                    </a:p>
                  </a:txBody>
                  <a:tcPr marL="28575" marR="28575" marT="19050" marB="19050" anchor="b">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chemeClr val="lt1"/>
                    </a:solidFill>
                  </a:tcPr>
                </a:tc>
                <a:extLst>
                  <a:ext uri="{0D108BD9-81ED-4DB2-BD59-A6C34878D82A}">
                    <a16:rowId xmlns:a16="http://schemas.microsoft.com/office/drawing/2014/main" val="10008"/>
                  </a:ext>
                </a:extLst>
              </a:tr>
              <a:tr h="151200">
                <a:tc>
                  <a:txBody>
                    <a:bodyPr/>
                    <a:lstStyle/>
                    <a:p>
                      <a:pPr marL="0" lvl="0" indent="0" algn="l" rtl="0">
                        <a:lnSpc>
                          <a:spcPct val="115000"/>
                        </a:lnSpc>
                        <a:spcBef>
                          <a:spcPts val="0"/>
                        </a:spcBef>
                        <a:spcAft>
                          <a:spcPts val="0"/>
                        </a:spcAft>
                        <a:buNone/>
                      </a:pPr>
                      <a:r>
                        <a:rPr lang="en" sz="800" u="sng">
                          <a:solidFill>
                            <a:srgbClr val="1155CC"/>
                          </a:solidFill>
                          <a:latin typeface="Calibri"/>
                          <a:ea typeface="Calibri"/>
                          <a:cs typeface="Calibri"/>
                          <a:sym typeface="Calibri"/>
                          <a:hlinkClick r:id="rId23">
                            <a:extLst>
                              <a:ext uri="{A12FA001-AC4F-418D-AE19-62706E023703}">
                                <ahyp:hlinkClr xmlns:ahyp="http://schemas.microsoft.com/office/drawing/2018/hyperlinkcolor" val="tx"/>
                              </a:ext>
                            </a:extLst>
                          </a:hlinkClick>
                        </a:rPr>
                        <a:t>claude-opus-4-1-20250805-thinking-16k</a:t>
                      </a:r>
                      <a:endParaRPr sz="800" u="sng">
                        <a:solidFill>
                          <a:srgbClr val="1155CC"/>
                        </a:solidFill>
                        <a:latin typeface="Calibri"/>
                        <a:ea typeface="Calibri"/>
                        <a:cs typeface="Calibri"/>
                        <a:sym typeface="Calibri"/>
                      </a:endParaRPr>
                    </a:p>
                  </a:txBody>
                  <a:tcPr marL="28575" marR="28575" marT="19050" marB="19050" anchor="b">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chemeClr val="lt1"/>
                    </a:solidFill>
                  </a:tcPr>
                </a:tc>
                <a:tc>
                  <a:txBody>
                    <a:bodyPr/>
                    <a:lstStyle/>
                    <a:p>
                      <a:pPr marL="0" lvl="0" indent="0" algn="r" rtl="0">
                        <a:lnSpc>
                          <a:spcPct val="115000"/>
                        </a:lnSpc>
                        <a:spcBef>
                          <a:spcPts val="0"/>
                        </a:spcBef>
                        <a:spcAft>
                          <a:spcPts val="0"/>
                        </a:spcAft>
                        <a:buNone/>
                      </a:pPr>
                      <a:r>
                        <a:rPr lang="en" sz="800">
                          <a:solidFill>
                            <a:srgbClr val="636879"/>
                          </a:solidFill>
                          <a:latin typeface="Calibri"/>
                          <a:ea typeface="Calibri"/>
                          <a:cs typeface="Calibri"/>
                          <a:sym typeface="Calibri"/>
                        </a:rPr>
                        <a:t>1448</a:t>
                      </a:r>
                      <a:endParaRPr sz="800">
                        <a:solidFill>
                          <a:srgbClr val="636879"/>
                        </a:solidFill>
                        <a:latin typeface="Calibri"/>
                        <a:ea typeface="Calibri"/>
                        <a:cs typeface="Calibri"/>
                        <a:sym typeface="Calibri"/>
                      </a:endParaRPr>
                    </a:p>
                  </a:txBody>
                  <a:tcPr marL="28575" marR="28575" marT="19050" marB="19050" anchor="b">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chemeClr val="lt1"/>
                    </a:solidFill>
                  </a:tcPr>
                </a:tc>
                <a:extLst>
                  <a:ext uri="{0D108BD9-81ED-4DB2-BD59-A6C34878D82A}">
                    <a16:rowId xmlns:a16="http://schemas.microsoft.com/office/drawing/2014/main" val="10009"/>
                  </a:ext>
                </a:extLst>
              </a:tr>
              <a:tr h="151200">
                <a:tc>
                  <a:txBody>
                    <a:bodyPr/>
                    <a:lstStyle/>
                    <a:p>
                      <a:pPr marL="0" lvl="0" indent="0" algn="l" rtl="0">
                        <a:lnSpc>
                          <a:spcPct val="115000"/>
                        </a:lnSpc>
                        <a:spcBef>
                          <a:spcPts val="0"/>
                        </a:spcBef>
                        <a:spcAft>
                          <a:spcPts val="0"/>
                        </a:spcAft>
                        <a:buNone/>
                      </a:pPr>
                      <a:r>
                        <a:rPr lang="en" sz="800" u="sng">
                          <a:solidFill>
                            <a:srgbClr val="1155CC"/>
                          </a:solidFill>
                          <a:latin typeface="Calibri"/>
                          <a:ea typeface="Calibri"/>
                          <a:cs typeface="Calibri"/>
                          <a:sym typeface="Calibri"/>
                          <a:hlinkClick r:id="rId22">
                            <a:extLst>
                              <a:ext uri="{A12FA001-AC4F-418D-AE19-62706E023703}">
                                <ahyp:hlinkClr xmlns:ahyp="http://schemas.microsoft.com/office/drawing/2018/hyperlinkcolor" val="tx"/>
                              </a:ext>
                            </a:extLst>
                          </a:hlinkClick>
                        </a:rPr>
                        <a:t>claude-sonnet-4-5-20250929</a:t>
                      </a:r>
                      <a:endParaRPr sz="800" u="sng">
                        <a:solidFill>
                          <a:srgbClr val="1155CC"/>
                        </a:solidFill>
                        <a:latin typeface="Calibri"/>
                        <a:ea typeface="Calibri"/>
                        <a:cs typeface="Calibri"/>
                        <a:sym typeface="Calibri"/>
                      </a:endParaRPr>
                    </a:p>
                  </a:txBody>
                  <a:tcPr marL="28575" marR="28575" marT="19050" marB="19050" anchor="b">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chemeClr val="lt1"/>
                    </a:solidFill>
                  </a:tcPr>
                </a:tc>
                <a:tc>
                  <a:txBody>
                    <a:bodyPr/>
                    <a:lstStyle/>
                    <a:p>
                      <a:pPr marL="0" lvl="0" indent="0" algn="r" rtl="0">
                        <a:lnSpc>
                          <a:spcPct val="115000"/>
                        </a:lnSpc>
                        <a:spcBef>
                          <a:spcPts val="0"/>
                        </a:spcBef>
                        <a:spcAft>
                          <a:spcPts val="0"/>
                        </a:spcAft>
                        <a:buNone/>
                      </a:pPr>
                      <a:r>
                        <a:rPr lang="en" sz="800">
                          <a:solidFill>
                            <a:srgbClr val="636879"/>
                          </a:solidFill>
                          <a:latin typeface="Calibri"/>
                          <a:ea typeface="Calibri"/>
                          <a:cs typeface="Calibri"/>
                          <a:sym typeface="Calibri"/>
                        </a:rPr>
                        <a:t>1445</a:t>
                      </a:r>
                      <a:endParaRPr sz="800">
                        <a:solidFill>
                          <a:srgbClr val="636879"/>
                        </a:solidFill>
                        <a:latin typeface="Calibri"/>
                        <a:ea typeface="Calibri"/>
                        <a:cs typeface="Calibri"/>
                        <a:sym typeface="Calibri"/>
                      </a:endParaRPr>
                    </a:p>
                  </a:txBody>
                  <a:tcPr marL="28575" marR="28575" marT="19050" marB="19050" anchor="b">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chemeClr val="lt1"/>
                    </a:solidFill>
                  </a:tcPr>
                </a:tc>
                <a:extLst>
                  <a:ext uri="{0D108BD9-81ED-4DB2-BD59-A6C34878D82A}">
                    <a16:rowId xmlns:a16="http://schemas.microsoft.com/office/drawing/2014/main" val="10010"/>
                  </a:ext>
                </a:extLst>
              </a:tr>
              <a:tr h="151200">
                <a:tc>
                  <a:txBody>
                    <a:bodyPr/>
                    <a:lstStyle/>
                    <a:p>
                      <a:pPr marL="0" lvl="0" indent="0" algn="l" rtl="0">
                        <a:lnSpc>
                          <a:spcPct val="115000"/>
                        </a:lnSpc>
                        <a:spcBef>
                          <a:spcPts val="0"/>
                        </a:spcBef>
                        <a:spcAft>
                          <a:spcPts val="0"/>
                        </a:spcAft>
                        <a:buNone/>
                      </a:pPr>
                      <a:r>
                        <a:rPr lang="en" sz="800" u="sng">
                          <a:solidFill>
                            <a:srgbClr val="1155CC"/>
                          </a:solidFill>
                          <a:latin typeface="Calibri"/>
                          <a:ea typeface="Calibri"/>
                          <a:cs typeface="Calibri"/>
                          <a:sym typeface="Calibri"/>
                          <a:hlinkClick r:id="rId24">
                            <a:extLst>
                              <a:ext uri="{A12FA001-AC4F-418D-AE19-62706E023703}">
                                <ahyp:hlinkClr xmlns:ahyp="http://schemas.microsoft.com/office/drawing/2018/hyperlinkcolor" val="tx"/>
                              </a:ext>
                            </a:extLst>
                          </a:hlinkClick>
                        </a:rPr>
                        <a:t>gpt-4.5-preview-2025-02-27</a:t>
                      </a:r>
                      <a:endParaRPr sz="800" u="sng">
                        <a:solidFill>
                          <a:srgbClr val="1155CC"/>
                        </a:solidFill>
                        <a:latin typeface="Calibri"/>
                        <a:ea typeface="Calibri"/>
                        <a:cs typeface="Calibri"/>
                        <a:sym typeface="Calibri"/>
                      </a:endParaRPr>
                    </a:p>
                  </a:txBody>
                  <a:tcPr marL="28575" marR="28575" marT="19050" marB="19050" anchor="b">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chemeClr val="lt1"/>
                    </a:solidFill>
                  </a:tcPr>
                </a:tc>
                <a:tc>
                  <a:txBody>
                    <a:bodyPr/>
                    <a:lstStyle/>
                    <a:p>
                      <a:pPr marL="0" lvl="0" indent="0" algn="r" rtl="0">
                        <a:lnSpc>
                          <a:spcPct val="115000"/>
                        </a:lnSpc>
                        <a:spcBef>
                          <a:spcPts val="0"/>
                        </a:spcBef>
                        <a:spcAft>
                          <a:spcPts val="0"/>
                        </a:spcAft>
                        <a:buNone/>
                      </a:pPr>
                      <a:r>
                        <a:rPr lang="en" sz="800">
                          <a:solidFill>
                            <a:srgbClr val="636879"/>
                          </a:solidFill>
                          <a:latin typeface="Calibri"/>
                          <a:ea typeface="Calibri"/>
                          <a:cs typeface="Calibri"/>
                          <a:sym typeface="Calibri"/>
                        </a:rPr>
                        <a:t>1443</a:t>
                      </a:r>
                      <a:endParaRPr sz="800">
                        <a:solidFill>
                          <a:srgbClr val="636879"/>
                        </a:solidFill>
                        <a:latin typeface="Calibri"/>
                        <a:ea typeface="Calibri"/>
                        <a:cs typeface="Calibri"/>
                        <a:sym typeface="Calibri"/>
                      </a:endParaRPr>
                    </a:p>
                  </a:txBody>
                  <a:tcPr marL="28575" marR="28575" marT="19050" marB="19050" anchor="b">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chemeClr val="lt1"/>
                    </a:solidFill>
                  </a:tcPr>
                </a:tc>
                <a:extLst>
                  <a:ext uri="{0D108BD9-81ED-4DB2-BD59-A6C34878D82A}">
                    <a16:rowId xmlns:a16="http://schemas.microsoft.com/office/drawing/2014/main" val="10011"/>
                  </a:ext>
                </a:extLst>
              </a:tr>
              <a:tr h="151200">
                <a:tc>
                  <a:txBody>
                    <a:bodyPr/>
                    <a:lstStyle/>
                    <a:p>
                      <a:pPr marL="0" lvl="0" indent="0" algn="l" rtl="0">
                        <a:lnSpc>
                          <a:spcPct val="115000"/>
                        </a:lnSpc>
                        <a:spcBef>
                          <a:spcPts val="0"/>
                        </a:spcBef>
                        <a:spcAft>
                          <a:spcPts val="0"/>
                        </a:spcAft>
                        <a:buNone/>
                      </a:pPr>
                      <a:r>
                        <a:rPr lang="en" sz="800" u="sng">
                          <a:solidFill>
                            <a:srgbClr val="1155CC"/>
                          </a:solidFill>
                          <a:latin typeface="Calibri"/>
                          <a:ea typeface="Calibri"/>
                          <a:cs typeface="Calibri"/>
                          <a:sym typeface="Calibri"/>
                          <a:hlinkClick r:id="rId23">
                            <a:extLst>
                              <a:ext uri="{A12FA001-AC4F-418D-AE19-62706E023703}">
                                <ahyp:hlinkClr xmlns:ahyp="http://schemas.microsoft.com/office/drawing/2018/hyperlinkcolor" val="tx"/>
                              </a:ext>
                            </a:extLst>
                          </a:hlinkClick>
                        </a:rPr>
                        <a:t>claude-opus-4-1-20250805</a:t>
                      </a:r>
                      <a:endParaRPr sz="800" u="sng">
                        <a:solidFill>
                          <a:srgbClr val="1155CC"/>
                        </a:solidFill>
                        <a:latin typeface="Calibri"/>
                        <a:ea typeface="Calibri"/>
                        <a:cs typeface="Calibri"/>
                        <a:sym typeface="Calibri"/>
                      </a:endParaRPr>
                    </a:p>
                  </a:txBody>
                  <a:tcPr marL="28575" marR="28575" marT="19050" marB="19050" anchor="b">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chemeClr val="lt1"/>
                    </a:solidFill>
                  </a:tcPr>
                </a:tc>
                <a:tc>
                  <a:txBody>
                    <a:bodyPr/>
                    <a:lstStyle/>
                    <a:p>
                      <a:pPr marL="0" lvl="0" indent="0" algn="r" rtl="0">
                        <a:lnSpc>
                          <a:spcPct val="115000"/>
                        </a:lnSpc>
                        <a:spcBef>
                          <a:spcPts val="0"/>
                        </a:spcBef>
                        <a:spcAft>
                          <a:spcPts val="0"/>
                        </a:spcAft>
                        <a:buNone/>
                      </a:pPr>
                      <a:r>
                        <a:rPr lang="en" sz="800">
                          <a:solidFill>
                            <a:srgbClr val="636879"/>
                          </a:solidFill>
                          <a:latin typeface="Calibri"/>
                          <a:ea typeface="Calibri"/>
                          <a:cs typeface="Calibri"/>
                          <a:sym typeface="Calibri"/>
                        </a:rPr>
                        <a:t>1441</a:t>
                      </a:r>
                      <a:endParaRPr sz="800">
                        <a:solidFill>
                          <a:srgbClr val="636879"/>
                        </a:solidFill>
                        <a:latin typeface="Calibri"/>
                        <a:ea typeface="Calibri"/>
                        <a:cs typeface="Calibri"/>
                        <a:sym typeface="Calibri"/>
                      </a:endParaRPr>
                    </a:p>
                  </a:txBody>
                  <a:tcPr marL="28575" marR="28575" marT="19050" marB="19050" anchor="b">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chemeClr val="lt1"/>
                    </a:solidFill>
                  </a:tcPr>
                </a:tc>
                <a:extLst>
                  <a:ext uri="{0D108BD9-81ED-4DB2-BD59-A6C34878D82A}">
                    <a16:rowId xmlns:a16="http://schemas.microsoft.com/office/drawing/2014/main" val="10012"/>
                  </a:ext>
                </a:extLst>
              </a:tr>
              <a:tr h="151200">
                <a:tc>
                  <a:txBody>
                    <a:bodyPr/>
                    <a:lstStyle/>
                    <a:p>
                      <a:pPr marL="0" lvl="0" indent="0" algn="l" rtl="0">
                        <a:lnSpc>
                          <a:spcPct val="115000"/>
                        </a:lnSpc>
                        <a:spcBef>
                          <a:spcPts val="0"/>
                        </a:spcBef>
                        <a:spcAft>
                          <a:spcPts val="0"/>
                        </a:spcAft>
                        <a:buNone/>
                      </a:pPr>
                      <a:r>
                        <a:rPr lang="en" sz="800" u="sng">
                          <a:solidFill>
                            <a:srgbClr val="1155CC"/>
                          </a:solidFill>
                          <a:latin typeface="Calibri"/>
                          <a:ea typeface="Calibri"/>
                          <a:cs typeface="Calibri"/>
                          <a:sym typeface="Calibri"/>
                          <a:hlinkClick r:id="rId25">
                            <a:extLst>
                              <a:ext uri="{A12FA001-AC4F-418D-AE19-62706E023703}">
                                <ahyp:hlinkClr xmlns:ahyp="http://schemas.microsoft.com/office/drawing/2018/hyperlinkcolor" val="tx"/>
                              </a:ext>
                            </a:extLst>
                          </a:hlinkClick>
                        </a:rPr>
                        <a:t>chatgpt-4o-latest-20250326</a:t>
                      </a:r>
                      <a:endParaRPr sz="800" u="sng">
                        <a:solidFill>
                          <a:srgbClr val="1155CC"/>
                        </a:solidFill>
                        <a:latin typeface="Calibri"/>
                        <a:ea typeface="Calibri"/>
                        <a:cs typeface="Calibri"/>
                        <a:sym typeface="Calibri"/>
                      </a:endParaRPr>
                    </a:p>
                  </a:txBody>
                  <a:tcPr marL="28575" marR="28575" marT="19050" marB="19050" anchor="b">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chemeClr val="lt1"/>
                    </a:solidFill>
                  </a:tcPr>
                </a:tc>
                <a:tc>
                  <a:txBody>
                    <a:bodyPr/>
                    <a:lstStyle/>
                    <a:p>
                      <a:pPr marL="0" lvl="0" indent="0" algn="r" rtl="0">
                        <a:lnSpc>
                          <a:spcPct val="115000"/>
                        </a:lnSpc>
                        <a:spcBef>
                          <a:spcPts val="0"/>
                        </a:spcBef>
                        <a:spcAft>
                          <a:spcPts val="0"/>
                        </a:spcAft>
                        <a:buNone/>
                      </a:pPr>
                      <a:r>
                        <a:rPr lang="en" sz="800">
                          <a:solidFill>
                            <a:srgbClr val="636879"/>
                          </a:solidFill>
                          <a:latin typeface="Calibri"/>
                          <a:ea typeface="Calibri"/>
                          <a:cs typeface="Calibri"/>
                          <a:sym typeface="Calibri"/>
                        </a:rPr>
                        <a:t>1440</a:t>
                      </a:r>
                      <a:endParaRPr sz="800">
                        <a:solidFill>
                          <a:srgbClr val="636879"/>
                        </a:solidFill>
                        <a:latin typeface="Calibri"/>
                        <a:ea typeface="Calibri"/>
                        <a:cs typeface="Calibri"/>
                        <a:sym typeface="Calibri"/>
                      </a:endParaRPr>
                    </a:p>
                  </a:txBody>
                  <a:tcPr marL="28575" marR="28575" marT="19050" marB="19050" anchor="b">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chemeClr val="lt1"/>
                    </a:solidFill>
                  </a:tcPr>
                </a:tc>
                <a:extLst>
                  <a:ext uri="{0D108BD9-81ED-4DB2-BD59-A6C34878D82A}">
                    <a16:rowId xmlns:a16="http://schemas.microsoft.com/office/drawing/2014/main" val="10013"/>
                  </a:ext>
                </a:extLst>
              </a:tr>
              <a:tr h="151200">
                <a:tc>
                  <a:txBody>
                    <a:bodyPr/>
                    <a:lstStyle/>
                    <a:p>
                      <a:pPr marL="0" lvl="0" indent="0" algn="l" rtl="0">
                        <a:lnSpc>
                          <a:spcPct val="115000"/>
                        </a:lnSpc>
                        <a:spcBef>
                          <a:spcPts val="0"/>
                        </a:spcBef>
                        <a:spcAft>
                          <a:spcPts val="0"/>
                        </a:spcAft>
                        <a:buNone/>
                      </a:pPr>
                      <a:r>
                        <a:rPr lang="en" sz="800" u="sng">
                          <a:solidFill>
                            <a:srgbClr val="1155CC"/>
                          </a:solidFill>
                          <a:latin typeface="Calibri"/>
                          <a:ea typeface="Calibri"/>
                          <a:cs typeface="Calibri"/>
                          <a:sym typeface="Calibri"/>
                          <a:hlinkClick r:id="rId20">
                            <a:extLst>
                              <a:ext uri="{A12FA001-AC4F-418D-AE19-62706E023703}">
                                <ahyp:hlinkClr xmlns:ahyp="http://schemas.microsoft.com/office/drawing/2018/hyperlinkcolor" val="tx"/>
                              </a:ext>
                            </a:extLst>
                          </a:hlinkClick>
                        </a:rPr>
                        <a:t>gpt-5.1</a:t>
                      </a:r>
                      <a:endParaRPr sz="800" u="sng">
                        <a:solidFill>
                          <a:srgbClr val="1155CC"/>
                        </a:solidFill>
                        <a:latin typeface="Calibri"/>
                        <a:ea typeface="Calibri"/>
                        <a:cs typeface="Calibri"/>
                        <a:sym typeface="Calibri"/>
                      </a:endParaRPr>
                    </a:p>
                  </a:txBody>
                  <a:tcPr marL="28575" marR="28575" marT="19050" marB="19050" anchor="b">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chemeClr val="lt1"/>
                    </a:solidFill>
                  </a:tcPr>
                </a:tc>
                <a:tc>
                  <a:txBody>
                    <a:bodyPr/>
                    <a:lstStyle/>
                    <a:p>
                      <a:pPr marL="0" lvl="0" indent="0" algn="r" rtl="0">
                        <a:lnSpc>
                          <a:spcPct val="115000"/>
                        </a:lnSpc>
                        <a:spcBef>
                          <a:spcPts val="0"/>
                        </a:spcBef>
                        <a:spcAft>
                          <a:spcPts val="0"/>
                        </a:spcAft>
                        <a:buNone/>
                      </a:pPr>
                      <a:r>
                        <a:rPr lang="en" sz="800">
                          <a:solidFill>
                            <a:srgbClr val="636879"/>
                          </a:solidFill>
                          <a:latin typeface="Calibri"/>
                          <a:ea typeface="Calibri"/>
                          <a:cs typeface="Calibri"/>
                          <a:sym typeface="Calibri"/>
                        </a:rPr>
                        <a:t>1437</a:t>
                      </a:r>
                      <a:endParaRPr sz="800">
                        <a:solidFill>
                          <a:srgbClr val="636879"/>
                        </a:solidFill>
                        <a:latin typeface="Calibri"/>
                        <a:ea typeface="Calibri"/>
                        <a:cs typeface="Calibri"/>
                        <a:sym typeface="Calibri"/>
                      </a:endParaRPr>
                    </a:p>
                  </a:txBody>
                  <a:tcPr marL="28575" marR="28575" marT="19050" marB="19050" anchor="b">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chemeClr val="lt1"/>
                    </a:solidFill>
                  </a:tcPr>
                </a:tc>
                <a:extLst>
                  <a:ext uri="{0D108BD9-81ED-4DB2-BD59-A6C34878D82A}">
                    <a16:rowId xmlns:a16="http://schemas.microsoft.com/office/drawing/2014/main" val="10014"/>
                  </a:ext>
                </a:extLst>
              </a:tr>
              <a:tr h="151200">
                <a:tc>
                  <a:txBody>
                    <a:bodyPr/>
                    <a:lstStyle/>
                    <a:p>
                      <a:pPr marL="0" lvl="0" indent="0" algn="l" rtl="0">
                        <a:lnSpc>
                          <a:spcPct val="115000"/>
                        </a:lnSpc>
                        <a:spcBef>
                          <a:spcPts val="0"/>
                        </a:spcBef>
                        <a:spcAft>
                          <a:spcPts val="0"/>
                        </a:spcAft>
                        <a:buNone/>
                      </a:pPr>
                      <a:r>
                        <a:rPr lang="en" sz="800" u="sng">
                          <a:solidFill>
                            <a:srgbClr val="1155CC"/>
                          </a:solidFill>
                          <a:latin typeface="Calibri"/>
                          <a:ea typeface="Calibri"/>
                          <a:cs typeface="Calibri"/>
                          <a:sym typeface="Calibri"/>
                          <a:hlinkClick r:id="rId26">
                            <a:extLst>
                              <a:ext uri="{A12FA001-AC4F-418D-AE19-62706E023703}">
                                <ahyp:hlinkClr xmlns:ahyp="http://schemas.microsoft.com/office/drawing/2018/hyperlinkcolor" val="tx"/>
                              </a:ext>
                            </a:extLst>
                          </a:hlinkClick>
                        </a:rPr>
                        <a:t>gpt-5-high</a:t>
                      </a:r>
                      <a:endParaRPr sz="800" u="sng">
                        <a:solidFill>
                          <a:srgbClr val="1155CC"/>
                        </a:solidFill>
                        <a:latin typeface="Calibri"/>
                        <a:ea typeface="Calibri"/>
                        <a:cs typeface="Calibri"/>
                        <a:sym typeface="Calibri"/>
                      </a:endParaRPr>
                    </a:p>
                  </a:txBody>
                  <a:tcPr marL="28575" marR="28575" marT="19050" marB="19050" anchor="b">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chemeClr val="lt1"/>
                    </a:solidFill>
                  </a:tcPr>
                </a:tc>
                <a:tc>
                  <a:txBody>
                    <a:bodyPr/>
                    <a:lstStyle/>
                    <a:p>
                      <a:pPr marL="0" lvl="0" indent="0" algn="r" rtl="0">
                        <a:lnSpc>
                          <a:spcPct val="115000"/>
                        </a:lnSpc>
                        <a:spcBef>
                          <a:spcPts val="0"/>
                        </a:spcBef>
                        <a:spcAft>
                          <a:spcPts val="0"/>
                        </a:spcAft>
                        <a:buNone/>
                      </a:pPr>
                      <a:r>
                        <a:rPr lang="en" sz="800">
                          <a:solidFill>
                            <a:srgbClr val="636879"/>
                          </a:solidFill>
                          <a:latin typeface="Calibri"/>
                          <a:ea typeface="Calibri"/>
                          <a:cs typeface="Calibri"/>
                          <a:sym typeface="Calibri"/>
                        </a:rPr>
                        <a:t>1436</a:t>
                      </a:r>
                      <a:endParaRPr sz="800">
                        <a:solidFill>
                          <a:srgbClr val="636879"/>
                        </a:solidFill>
                        <a:latin typeface="Calibri"/>
                        <a:ea typeface="Calibri"/>
                        <a:cs typeface="Calibri"/>
                        <a:sym typeface="Calibri"/>
                      </a:endParaRPr>
                    </a:p>
                  </a:txBody>
                  <a:tcPr marL="28575" marR="28575" marT="19050" marB="19050" anchor="b">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chemeClr val="lt1"/>
                    </a:solidFill>
                  </a:tcPr>
                </a:tc>
                <a:extLst>
                  <a:ext uri="{0D108BD9-81ED-4DB2-BD59-A6C34878D82A}">
                    <a16:rowId xmlns:a16="http://schemas.microsoft.com/office/drawing/2014/main" val="10015"/>
                  </a:ext>
                </a:extLst>
              </a:tr>
              <a:tr h="151200">
                <a:tc>
                  <a:txBody>
                    <a:bodyPr/>
                    <a:lstStyle/>
                    <a:p>
                      <a:pPr marL="0" lvl="0" indent="0" algn="l" rtl="0">
                        <a:lnSpc>
                          <a:spcPct val="115000"/>
                        </a:lnSpc>
                        <a:spcBef>
                          <a:spcPts val="0"/>
                        </a:spcBef>
                        <a:spcAft>
                          <a:spcPts val="0"/>
                        </a:spcAft>
                        <a:buNone/>
                      </a:pPr>
                      <a:r>
                        <a:rPr lang="en" sz="800" u="sng">
                          <a:solidFill>
                            <a:srgbClr val="1155CC"/>
                          </a:solidFill>
                          <a:latin typeface="Calibri"/>
                          <a:ea typeface="Calibri"/>
                          <a:cs typeface="Calibri"/>
                          <a:sym typeface="Calibri"/>
                          <a:hlinkClick r:id="rId27">
                            <a:extLst>
                              <a:ext uri="{A12FA001-AC4F-418D-AE19-62706E023703}">
                                <ahyp:hlinkClr xmlns:ahyp="http://schemas.microsoft.com/office/drawing/2018/hyperlinkcolor" val="tx"/>
                              </a:ext>
                            </a:extLst>
                          </a:hlinkClick>
                        </a:rPr>
                        <a:t>o3-2025-04-16</a:t>
                      </a:r>
                      <a:endParaRPr sz="800" u="sng">
                        <a:solidFill>
                          <a:srgbClr val="1155CC"/>
                        </a:solidFill>
                        <a:latin typeface="Calibri"/>
                        <a:ea typeface="Calibri"/>
                        <a:cs typeface="Calibri"/>
                        <a:sym typeface="Calibri"/>
                      </a:endParaRPr>
                    </a:p>
                  </a:txBody>
                  <a:tcPr marL="28575" marR="28575" marT="19050" marB="19050" anchor="b">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chemeClr val="lt1"/>
                    </a:solidFill>
                  </a:tcPr>
                </a:tc>
                <a:tc>
                  <a:txBody>
                    <a:bodyPr/>
                    <a:lstStyle/>
                    <a:p>
                      <a:pPr marL="0" lvl="0" indent="0" algn="r" rtl="0">
                        <a:lnSpc>
                          <a:spcPct val="115000"/>
                        </a:lnSpc>
                        <a:spcBef>
                          <a:spcPts val="0"/>
                        </a:spcBef>
                        <a:spcAft>
                          <a:spcPts val="0"/>
                        </a:spcAft>
                        <a:buNone/>
                      </a:pPr>
                      <a:r>
                        <a:rPr lang="en" sz="800">
                          <a:solidFill>
                            <a:srgbClr val="636879"/>
                          </a:solidFill>
                          <a:latin typeface="Calibri"/>
                          <a:ea typeface="Calibri"/>
                          <a:cs typeface="Calibri"/>
                          <a:sym typeface="Calibri"/>
                        </a:rPr>
                        <a:t>1433</a:t>
                      </a:r>
                      <a:endParaRPr sz="800">
                        <a:solidFill>
                          <a:srgbClr val="636879"/>
                        </a:solidFill>
                        <a:latin typeface="Calibri"/>
                        <a:ea typeface="Calibri"/>
                        <a:cs typeface="Calibri"/>
                        <a:sym typeface="Calibri"/>
                      </a:endParaRPr>
                    </a:p>
                  </a:txBody>
                  <a:tcPr marL="28575" marR="28575" marT="19050" marB="19050" anchor="b">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chemeClr val="lt1"/>
                    </a:solidFill>
                  </a:tcPr>
                </a:tc>
                <a:extLst>
                  <a:ext uri="{0D108BD9-81ED-4DB2-BD59-A6C34878D82A}">
                    <a16:rowId xmlns:a16="http://schemas.microsoft.com/office/drawing/2014/main" val="10016"/>
                  </a:ext>
                </a:extLst>
              </a:tr>
              <a:tr h="151200">
                <a:tc>
                  <a:txBody>
                    <a:bodyPr/>
                    <a:lstStyle/>
                    <a:p>
                      <a:pPr marL="0" lvl="0" indent="0" algn="l" rtl="0">
                        <a:lnSpc>
                          <a:spcPct val="115000"/>
                        </a:lnSpc>
                        <a:spcBef>
                          <a:spcPts val="0"/>
                        </a:spcBef>
                        <a:spcAft>
                          <a:spcPts val="0"/>
                        </a:spcAft>
                        <a:buNone/>
                      </a:pPr>
                      <a:r>
                        <a:rPr lang="en" sz="800" u="sng">
                          <a:solidFill>
                            <a:srgbClr val="1155CC"/>
                          </a:solidFill>
                          <a:latin typeface="Calibri"/>
                          <a:ea typeface="Calibri"/>
                          <a:cs typeface="Calibri"/>
                          <a:sym typeface="Calibri"/>
                          <a:hlinkClick r:id="rId28">
                            <a:extLst>
                              <a:ext uri="{A12FA001-AC4F-418D-AE19-62706E023703}">
                                <ahyp:hlinkClr xmlns:ahyp="http://schemas.microsoft.com/office/drawing/2018/hyperlinkcolor" val="tx"/>
                              </a:ext>
                            </a:extLst>
                          </a:hlinkClick>
                        </a:rPr>
                        <a:t>qwen3-max-preview</a:t>
                      </a:r>
                      <a:r>
                        <a:rPr lang="en" sz="800">
                          <a:solidFill>
                            <a:schemeClr val="dk1"/>
                          </a:solidFill>
                          <a:latin typeface="Calibri"/>
                          <a:ea typeface="Calibri"/>
                          <a:cs typeface="Calibri"/>
                          <a:sym typeface="Calibri"/>
                        </a:rPr>
                        <a:t> -  1T params</a:t>
                      </a:r>
                      <a:endParaRPr sz="800" u="sng">
                        <a:solidFill>
                          <a:srgbClr val="1155CC"/>
                        </a:solidFill>
                        <a:latin typeface="Calibri"/>
                        <a:ea typeface="Calibri"/>
                        <a:cs typeface="Calibri"/>
                        <a:sym typeface="Calibri"/>
                      </a:endParaRPr>
                    </a:p>
                  </a:txBody>
                  <a:tcPr marL="28575" marR="28575" marT="19050" marB="19050" anchor="b">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chemeClr val="lt1"/>
                    </a:solidFill>
                  </a:tcPr>
                </a:tc>
                <a:tc>
                  <a:txBody>
                    <a:bodyPr/>
                    <a:lstStyle/>
                    <a:p>
                      <a:pPr marL="0" lvl="0" indent="0" algn="r" rtl="0">
                        <a:lnSpc>
                          <a:spcPct val="115000"/>
                        </a:lnSpc>
                        <a:spcBef>
                          <a:spcPts val="0"/>
                        </a:spcBef>
                        <a:spcAft>
                          <a:spcPts val="0"/>
                        </a:spcAft>
                        <a:buNone/>
                      </a:pPr>
                      <a:r>
                        <a:rPr lang="en" sz="800">
                          <a:solidFill>
                            <a:srgbClr val="636879"/>
                          </a:solidFill>
                          <a:latin typeface="Calibri"/>
                          <a:ea typeface="Calibri"/>
                          <a:cs typeface="Calibri"/>
                          <a:sym typeface="Calibri"/>
                        </a:rPr>
                        <a:t>1433</a:t>
                      </a:r>
                      <a:endParaRPr sz="800">
                        <a:solidFill>
                          <a:srgbClr val="636879"/>
                        </a:solidFill>
                        <a:latin typeface="Calibri"/>
                        <a:ea typeface="Calibri"/>
                        <a:cs typeface="Calibri"/>
                        <a:sym typeface="Calibri"/>
                      </a:endParaRPr>
                    </a:p>
                  </a:txBody>
                  <a:tcPr marL="28575" marR="28575" marT="19050" marB="19050" anchor="b">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chemeClr val="lt1"/>
                    </a:solidFill>
                  </a:tcPr>
                </a:tc>
                <a:extLst>
                  <a:ext uri="{0D108BD9-81ED-4DB2-BD59-A6C34878D82A}">
                    <a16:rowId xmlns:a16="http://schemas.microsoft.com/office/drawing/2014/main" val="10017"/>
                  </a:ext>
                </a:extLst>
              </a:tr>
              <a:tr h="151200">
                <a:tc>
                  <a:txBody>
                    <a:bodyPr/>
                    <a:lstStyle/>
                    <a:p>
                      <a:pPr marL="0" lvl="0" indent="0" algn="l" rtl="0">
                        <a:lnSpc>
                          <a:spcPct val="115000"/>
                        </a:lnSpc>
                        <a:spcBef>
                          <a:spcPts val="0"/>
                        </a:spcBef>
                        <a:spcAft>
                          <a:spcPts val="0"/>
                        </a:spcAft>
                        <a:buNone/>
                      </a:pPr>
                      <a:r>
                        <a:rPr lang="en" sz="800" u="sng">
                          <a:solidFill>
                            <a:srgbClr val="1155CC"/>
                          </a:solidFill>
                          <a:latin typeface="Calibri"/>
                          <a:ea typeface="Calibri"/>
                          <a:cs typeface="Calibri"/>
                          <a:sym typeface="Calibri"/>
                          <a:hlinkClick r:id="rId29">
                            <a:extLst>
                              <a:ext uri="{A12FA001-AC4F-418D-AE19-62706E023703}">
                                <ahyp:hlinkClr xmlns:ahyp="http://schemas.microsoft.com/office/drawing/2018/hyperlinkcolor" val="tx"/>
                              </a:ext>
                            </a:extLst>
                          </a:hlinkClick>
                        </a:rPr>
                        <a:t>grok-4-1-fast-reasoning</a:t>
                      </a:r>
                      <a:endParaRPr sz="800" u="sng">
                        <a:solidFill>
                          <a:srgbClr val="1155CC"/>
                        </a:solidFill>
                        <a:latin typeface="Calibri"/>
                        <a:ea typeface="Calibri"/>
                        <a:cs typeface="Calibri"/>
                        <a:sym typeface="Calibri"/>
                      </a:endParaRPr>
                    </a:p>
                  </a:txBody>
                  <a:tcPr marL="28575" marR="28575" marT="19050" marB="19050" anchor="b">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chemeClr val="lt1"/>
                    </a:solidFill>
                  </a:tcPr>
                </a:tc>
                <a:tc>
                  <a:txBody>
                    <a:bodyPr/>
                    <a:lstStyle/>
                    <a:p>
                      <a:pPr marL="0" lvl="0" indent="0" algn="r" rtl="0">
                        <a:lnSpc>
                          <a:spcPct val="115000"/>
                        </a:lnSpc>
                        <a:spcBef>
                          <a:spcPts val="0"/>
                        </a:spcBef>
                        <a:spcAft>
                          <a:spcPts val="0"/>
                        </a:spcAft>
                        <a:buNone/>
                      </a:pPr>
                      <a:r>
                        <a:rPr lang="en" sz="800">
                          <a:solidFill>
                            <a:srgbClr val="636879"/>
                          </a:solidFill>
                          <a:latin typeface="Calibri"/>
                          <a:ea typeface="Calibri"/>
                          <a:cs typeface="Calibri"/>
                          <a:sym typeface="Calibri"/>
                        </a:rPr>
                        <a:t>1428</a:t>
                      </a:r>
                      <a:endParaRPr sz="800">
                        <a:solidFill>
                          <a:srgbClr val="636879"/>
                        </a:solidFill>
                        <a:latin typeface="Calibri"/>
                        <a:ea typeface="Calibri"/>
                        <a:cs typeface="Calibri"/>
                        <a:sym typeface="Calibri"/>
                      </a:endParaRPr>
                    </a:p>
                  </a:txBody>
                  <a:tcPr marL="28575" marR="28575" marT="19050" marB="19050" anchor="b">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chemeClr val="lt1"/>
                    </a:solidFill>
                  </a:tcPr>
                </a:tc>
                <a:extLst>
                  <a:ext uri="{0D108BD9-81ED-4DB2-BD59-A6C34878D82A}">
                    <a16:rowId xmlns:a16="http://schemas.microsoft.com/office/drawing/2014/main" val="10018"/>
                  </a:ext>
                </a:extLst>
              </a:tr>
              <a:tr h="151200">
                <a:tc>
                  <a:txBody>
                    <a:bodyPr/>
                    <a:lstStyle/>
                    <a:p>
                      <a:pPr marL="0" lvl="0" indent="0" algn="l" rtl="0">
                        <a:lnSpc>
                          <a:spcPct val="115000"/>
                        </a:lnSpc>
                        <a:spcBef>
                          <a:spcPts val="0"/>
                        </a:spcBef>
                        <a:spcAft>
                          <a:spcPts val="0"/>
                        </a:spcAft>
                        <a:buNone/>
                      </a:pPr>
                      <a:r>
                        <a:rPr lang="en" sz="800" u="sng">
                          <a:solidFill>
                            <a:srgbClr val="1155CC"/>
                          </a:solidFill>
                          <a:latin typeface="Calibri"/>
                          <a:ea typeface="Calibri"/>
                          <a:cs typeface="Calibri"/>
                          <a:sym typeface="Calibri"/>
                          <a:hlinkClick r:id="rId30">
                            <a:extLst>
                              <a:ext uri="{A12FA001-AC4F-418D-AE19-62706E023703}">
                                <ahyp:hlinkClr xmlns:ahyp="http://schemas.microsoft.com/office/drawing/2018/hyperlinkcolor" val="tx"/>
                              </a:ext>
                            </a:extLst>
                          </a:hlinkClick>
                        </a:rPr>
                        <a:t>ernie-5.0-preview-1103</a:t>
                      </a:r>
                      <a:r>
                        <a:rPr lang="en" sz="800">
                          <a:solidFill>
                            <a:schemeClr val="dk1"/>
                          </a:solidFill>
                          <a:latin typeface="Calibri"/>
                          <a:ea typeface="Calibri"/>
                          <a:cs typeface="Calibri"/>
                          <a:sym typeface="Calibri"/>
                        </a:rPr>
                        <a:t> - 2.4T params</a:t>
                      </a:r>
                      <a:endParaRPr sz="800" u="sng">
                        <a:solidFill>
                          <a:srgbClr val="1155CC"/>
                        </a:solidFill>
                        <a:latin typeface="Calibri"/>
                        <a:ea typeface="Calibri"/>
                        <a:cs typeface="Calibri"/>
                        <a:sym typeface="Calibri"/>
                      </a:endParaRPr>
                    </a:p>
                  </a:txBody>
                  <a:tcPr marL="28575" marR="28575" marT="19050" marB="19050" anchor="b">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chemeClr val="lt1"/>
                    </a:solidFill>
                  </a:tcPr>
                </a:tc>
                <a:tc>
                  <a:txBody>
                    <a:bodyPr/>
                    <a:lstStyle/>
                    <a:p>
                      <a:pPr marL="0" lvl="0" indent="0" algn="r" rtl="0">
                        <a:lnSpc>
                          <a:spcPct val="115000"/>
                        </a:lnSpc>
                        <a:spcBef>
                          <a:spcPts val="0"/>
                        </a:spcBef>
                        <a:spcAft>
                          <a:spcPts val="0"/>
                        </a:spcAft>
                        <a:buNone/>
                      </a:pPr>
                      <a:r>
                        <a:rPr lang="en" sz="800">
                          <a:solidFill>
                            <a:srgbClr val="636879"/>
                          </a:solidFill>
                          <a:latin typeface="Calibri"/>
                          <a:ea typeface="Calibri"/>
                          <a:cs typeface="Calibri"/>
                          <a:sym typeface="Calibri"/>
                        </a:rPr>
                        <a:t>1428</a:t>
                      </a:r>
                      <a:endParaRPr sz="800">
                        <a:solidFill>
                          <a:srgbClr val="636879"/>
                        </a:solidFill>
                        <a:latin typeface="Calibri"/>
                        <a:ea typeface="Calibri"/>
                        <a:cs typeface="Calibri"/>
                        <a:sym typeface="Calibri"/>
                      </a:endParaRPr>
                    </a:p>
                  </a:txBody>
                  <a:tcPr marL="28575" marR="28575" marT="19050" marB="19050" anchor="b">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chemeClr val="lt1"/>
                    </a:solidFill>
                  </a:tcPr>
                </a:tc>
                <a:extLst>
                  <a:ext uri="{0D108BD9-81ED-4DB2-BD59-A6C34878D82A}">
                    <a16:rowId xmlns:a16="http://schemas.microsoft.com/office/drawing/2014/main" val="10019"/>
                  </a:ext>
                </a:extLst>
              </a:tr>
              <a:tr h="151200">
                <a:tc>
                  <a:txBody>
                    <a:bodyPr/>
                    <a:lstStyle/>
                    <a:p>
                      <a:pPr marL="0" lvl="0" indent="0" algn="l" rtl="0">
                        <a:lnSpc>
                          <a:spcPct val="115000"/>
                        </a:lnSpc>
                        <a:spcBef>
                          <a:spcPts val="0"/>
                        </a:spcBef>
                        <a:spcAft>
                          <a:spcPts val="0"/>
                        </a:spcAft>
                        <a:buNone/>
                      </a:pPr>
                      <a:r>
                        <a:rPr lang="en" sz="800" u="sng">
                          <a:solidFill>
                            <a:srgbClr val="1155CC"/>
                          </a:solidFill>
                          <a:latin typeface="Calibri"/>
                          <a:ea typeface="Calibri"/>
                          <a:cs typeface="Calibri"/>
                          <a:sym typeface="Calibri"/>
                          <a:hlinkClick r:id="rId31">
                            <a:extLst>
                              <a:ext uri="{A12FA001-AC4F-418D-AE19-62706E023703}">
                                <ahyp:hlinkClr xmlns:ahyp="http://schemas.microsoft.com/office/drawing/2018/hyperlinkcolor" val="tx"/>
                              </a:ext>
                            </a:extLst>
                          </a:hlinkClick>
                        </a:rPr>
                        <a:t>kimi-k2-thinking-turbo</a:t>
                      </a:r>
                      <a:r>
                        <a:rPr lang="en" sz="800">
                          <a:solidFill>
                            <a:schemeClr val="dk1"/>
                          </a:solidFill>
                          <a:latin typeface="Calibri"/>
                          <a:ea typeface="Calibri"/>
                          <a:cs typeface="Calibri"/>
                          <a:sym typeface="Calibri"/>
                        </a:rPr>
                        <a:t> -  1T params</a:t>
                      </a:r>
                      <a:endParaRPr sz="800" u="sng">
                        <a:solidFill>
                          <a:srgbClr val="1155CC"/>
                        </a:solidFill>
                        <a:latin typeface="Calibri"/>
                        <a:ea typeface="Calibri"/>
                        <a:cs typeface="Calibri"/>
                        <a:sym typeface="Calibri"/>
                      </a:endParaRPr>
                    </a:p>
                  </a:txBody>
                  <a:tcPr marL="28575" marR="28575" marT="19050" marB="19050" anchor="b">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chemeClr val="lt1"/>
                    </a:solidFill>
                  </a:tcPr>
                </a:tc>
                <a:tc>
                  <a:txBody>
                    <a:bodyPr/>
                    <a:lstStyle/>
                    <a:p>
                      <a:pPr marL="0" lvl="0" indent="0" algn="r" rtl="0">
                        <a:lnSpc>
                          <a:spcPct val="115000"/>
                        </a:lnSpc>
                        <a:spcBef>
                          <a:spcPts val="0"/>
                        </a:spcBef>
                        <a:spcAft>
                          <a:spcPts val="0"/>
                        </a:spcAft>
                        <a:buNone/>
                      </a:pPr>
                      <a:r>
                        <a:rPr lang="en" sz="800">
                          <a:solidFill>
                            <a:srgbClr val="636879"/>
                          </a:solidFill>
                          <a:latin typeface="Calibri"/>
                          <a:ea typeface="Calibri"/>
                          <a:cs typeface="Calibri"/>
                          <a:sym typeface="Calibri"/>
                        </a:rPr>
                        <a:t>1426</a:t>
                      </a:r>
                      <a:endParaRPr sz="800">
                        <a:solidFill>
                          <a:srgbClr val="636879"/>
                        </a:solidFill>
                        <a:latin typeface="Calibri"/>
                        <a:ea typeface="Calibri"/>
                        <a:cs typeface="Calibri"/>
                        <a:sym typeface="Calibri"/>
                      </a:endParaRPr>
                    </a:p>
                  </a:txBody>
                  <a:tcPr marL="28575" marR="28575" marT="19050" marB="19050" anchor="b">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chemeClr val="lt1"/>
                    </a:solidFill>
                  </a:tcPr>
                </a:tc>
                <a:extLst>
                  <a:ext uri="{0D108BD9-81ED-4DB2-BD59-A6C34878D82A}">
                    <a16:rowId xmlns:a16="http://schemas.microsoft.com/office/drawing/2014/main" val="10020"/>
                  </a:ext>
                </a:extLst>
              </a:tr>
              <a:tr h="151200">
                <a:tc>
                  <a:txBody>
                    <a:bodyPr/>
                    <a:lstStyle/>
                    <a:p>
                      <a:pPr marL="0" lvl="0" indent="0" algn="l" rtl="0">
                        <a:lnSpc>
                          <a:spcPct val="115000"/>
                        </a:lnSpc>
                        <a:spcBef>
                          <a:spcPts val="0"/>
                        </a:spcBef>
                        <a:spcAft>
                          <a:spcPts val="0"/>
                        </a:spcAft>
                        <a:buNone/>
                      </a:pPr>
                      <a:r>
                        <a:rPr lang="en" sz="800" u="sng">
                          <a:solidFill>
                            <a:srgbClr val="1155CC"/>
                          </a:solidFill>
                          <a:latin typeface="Calibri"/>
                          <a:ea typeface="Calibri"/>
                          <a:cs typeface="Calibri"/>
                          <a:sym typeface="Calibri"/>
                          <a:hlinkClick r:id="rId32">
                            <a:extLst>
                              <a:ext uri="{A12FA001-AC4F-418D-AE19-62706E023703}">
                                <ahyp:hlinkClr xmlns:ahyp="http://schemas.microsoft.com/office/drawing/2018/hyperlinkcolor" val="tx"/>
                              </a:ext>
                            </a:extLst>
                          </a:hlinkClick>
                        </a:rPr>
                        <a:t>gpt-5-chat</a:t>
                      </a:r>
                      <a:endParaRPr sz="800" u="sng">
                        <a:solidFill>
                          <a:srgbClr val="1155CC"/>
                        </a:solidFill>
                        <a:latin typeface="Calibri"/>
                        <a:ea typeface="Calibri"/>
                        <a:cs typeface="Calibri"/>
                        <a:sym typeface="Calibri"/>
                      </a:endParaRPr>
                    </a:p>
                  </a:txBody>
                  <a:tcPr marL="28575" marR="28575" marT="19050" marB="19050" anchor="b">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chemeClr val="lt1"/>
                    </a:solidFill>
                  </a:tcPr>
                </a:tc>
                <a:tc>
                  <a:txBody>
                    <a:bodyPr/>
                    <a:lstStyle/>
                    <a:p>
                      <a:pPr marL="0" lvl="0" indent="0" algn="r" rtl="0">
                        <a:lnSpc>
                          <a:spcPct val="115000"/>
                        </a:lnSpc>
                        <a:spcBef>
                          <a:spcPts val="0"/>
                        </a:spcBef>
                        <a:spcAft>
                          <a:spcPts val="0"/>
                        </a:spcAft>
                        <a:buNone/>
                      </a:pPr>
                      <a:r>
                        <a:rPr lang="en" sz="800">
                          <a:solidFill>
                            <a:srgbClr val="636879"/>
                          </a:solidFill>
                          <a:latin typeface="Calibri"/>
                          <a:ea typeface="Calibri"/>
                          <a:cs typeface="Calibri"/>
                          <a:sym typeface="Calibri"/>
                        </a:rPr>
                        <a:t>1425</a:t>
                      </a:r>
                      <a:endParaRPr sz="800">
                        <a:solidFill>
                          <a:srgbClr val="636879"/>
                        </a:solidFill>
                        <a:latin typeface="Calibri"/>
                        <a:ea typeface="Calibri"/>
                        <a:cs typeface="Calibri"/>
                        <a:sym typeface="Calibri"/>
                      </a:endParaRPr>
                    </a:p>
                  </a:txBody>
                  <a:tcPr marL="28575" marR="28575" marT="19050" marB="19050" anchor="b">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chemeClr val="lt1"/>
                    </a:solidFill>
                  </a:tcPr>
                </a:tc>
                <a:extLst>
                  <a:ext uri="{0D108BD9-81ED-4DB2-BD59-A6C34878D82A}">
                    <a16:rowId xmlns:a16="http://schemas.microsoft.com/office/drawing/2014/main" val="10021"/>
                  </a:ext>
                </a:extLst>
              </a:tr>
              <a:tr h="151200">
                <a:tc>
                  <a:txBody>
                    <a:bodyPr/>
                    <a:lstStyle/>
                    <a:p>
                      <a:pPr marL="0" lvl="0" indent="0" algn="l" rtl="0">
                        <a:lnSpc>
                          <a:spcPct val="115000"/>
                        </a:lnSpc>
                        <a:spcBef>
                          <a:spcPts val="0"/>
                        </a:spcBef>
                        <a:spcAft>
                          <a:spcPts val="0"/>
                        </a:spcAft>
                        <a:buNone/>
                      </a:pPr>
                      <a:r>
                        <a:rPr lang="en" sz="800" u="sng">
                          <a:solidFill>
                            <a:srgbClr val="1155CC"/>
                          </a:solidFill>
                          <a:latin typeface="Calibri"/>
                          <a:ea typeface="Calibri"/>
                          <a:cs typeface="Calibri"/>
                          <a:sym typeface="Calibri"/>
                          <a:hlinkClick r:id="rId33">
                            <a:extLst>
                              <a:ext uri="{A12FA001-AC4F-418D-AE19-62706E023703}">
                                <ahyp:hlinkClr xmlns:ahyp="http://schemas.microsoft.com/office/drawing/2018/hyperlinkcolor" val="tx"/>
                              </a:ext>
                            </a:extLst>
                          </a:hlinkClick>
                        </a:rPr>
                        <a:t>glm-4.6</a:t>
                      </a:r>
                      <a:r>
                        <a:rPr lang="en" sz="800" u="sng">
                          <a:solidFill>
                            <a:srgbClr val="1155CC"/>
                          </a:solidFill>
                          <a:latin typeface="Calibri"/>
                          <a:ea typeface="Calibri"/>
                          <a:cs typeface="Calibri"/>
                          <a:sym typeface="Calibri"/>
                        </a:rPr>
                        <a:t>  </a:t>
                      </a:r>
                      <a:r>
                        <a:rPr lang="en" sz="800">
                          <a:solidFill>
                            <a:schemeClr val="dk1"/>
                          </a:solidFill>
                          <a:latin typeface="Calibri"/>
                          <a:ea typeface="Calibri"/>
                          <a:cs typeface="Calibri"/>
                          <a:sym typeface="Calibri"/>
                        </a:rPr>
                        <a:t>   355B</a:t>
                      </a:r>
                      <a:endParaRPr sz="800" u="sng">
                        <a:solidFill>
                          <a:srgbClr val="1155CC"/>
                        </a:solidFill>
                        <a:latin typeface="Calibri"/>
                        <a:ea typeface="Calibri"/>
                        <a:cs typeface="Calibri"/>
                        <a:sym typeface="Calibri"/>
                      </a:endParaRPr>
                    </a:p>
                  </a:txBody>
                  <a:tcPr marL="28575" marR="28575" marT="19050" marB="19050" anchor="b">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chemeClr val="lt1"/>
                    </a:solidFill>
                  </a:tcPr>
                </a:tc>
                <a:tc>
                  <a:txBody>
                    <a:bodyPr/>
                    <a:lstStyle/>
                    <a:p>
                      <a:pPr marL="0" lvl="0" indent="0" algn="r" rtl="0">
                        <a:lnSpc>
                          <a:spcPct val="115000"/>
                        </a:lnSpc>
                        <a:spcBef>
                          <a:spcPts val="0"/>
                        </a:spcBef>
                        <a:spcAft>
                          <a:spcPts val="0"/>
                        </a:spcAft>
                        <a:buNone/>
                      </a:pPr>
                      <a:r>
                        <a:rPr lang="en" sz="800">
                          <a:solidFill>
                            <a:srgbClr val="636879"/>
                          </a:solidFill>
                          <a:latin typeface="Calibri"/>
                          <a:ea typeface="Calibri"/>
                          <a:cs typeface="Calibri"/>
                          <a:sym typeface="Calibri"/>
                        </a:rPr>
                        <a:t>1425</a:t>
                      </a:r>
                      <a:endParaRPr sz="800">
                        <a:solidFill>
                          <a:srgbClr val="636879"/>
                        </a:solidFill>
                        <a:latin typeface="Calibri"/>
                        <a:ea typeface="Calibri"/>
                        <a:cs typeface="Calibri"/>
                        <a:sym typeface="Calibri"/>
                      </a:endParaRPr>
                    </a:p>
                  </a:txBody>
                  <a:tcPr marL="28575" marR="28575" marT="19050" marB="19050" anchor="b">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chemeClr val="lt1"/>
                    </a:solidFill>
                  </a:tcPr>
                </a:tc>
                <a:extLst>
                  <a:ext uri="{0D108BD9-81ED-4DB2-BD59-A6C34878D82A}">
                    <a16:rowId xmlns:a16="http://schemas.microsoft.com/office/drawing/2014/main" val="10022"/>
                  </a:ext>
                </a:extLst>
              </a:tr>
              <a:tr h="151200">
                <a:tc>
                  <a:txBody>
                    <a:bodyPr/>
                    <a:lstStyle/>
                    <a:p>
                      <a:pPr marL="0" lvl="0" indent="0" algn="l" rtl="0">
                        <a:lnSpc>
                          <a:spcPct val="115000"/>
                        </a:lnSpc>
                        <a:spcBef>
                          <a:spcPts val="0"/>
                        </a:spcBef>
                        <a:spcAft>
                          <a:spcPts val="0"/>
                        </a:spcAft>
                        <a:buNone/>
                      </a:pPr>
                      <a:r>
                        <a:rPr lang="en" sz="800" u="sng">
                          <a:solidFill>
                            <a:srgbClr val="1155CC"/>
                          </a:solidFill>
                          <a:latin typeface="Calibri"/>
                          <a:ea typeface="Calibri"/>
                          <a:cs typeface="Calibri"/>
                          <a:sym typeface="Calibri"/>
                          <a:hlinkClick r:id="rId34">
                            <a:extLst>
                              <a:ext uri="{A12FA001-AC4F-418D-AE19-62706E023703}">
                                <ahyp:hlinkClr xmlns:ahyp="http://schemas.microsoft.com/office/drawing/2018/hyperlinkcolor" val="tx"/>
                              </a:ext>
                            </a:extLst>
                          </a:hlinkClick>
                        </a:rPr>
                        <a:t>qwen3-max-2025-09-23</a:t>
                      </a:r>
                      <a:r>
                        <a:rPr lang="en" sz="800" u="sng">
                          <a:solidFill>
                            <a:srgbClr val="1155CC"/>
                          </a:solidFill>
                          <a:latin typeface="Calibri"/>
                          <a:ea typeface="Calibri"/>
                          <a:cs typeface="Calibri"/>
                          <a:sym typeface="Calibri"/>
                        </a:rPr>
                        <a:t>    </a:t>
                      </a:r>
                      <a:r>
                        <a:rPr lang="en" sz="800">
                          <a:solidFill>
                            <a:schemeClr val="dk1"/>
                          </a:solidFill>
                          <a:latin typeface="Calibri"/>
                          <a:ea typeface="Calibri"/>
                          <a:cs typeface="Calibri"/>
                          <a:sym typeface="Calibri"/>
                        </a:rPr>
                        <a:t>1T params</a:t>
                      </a:r>
                      <a:endParaRPr sz="800" u="sng">
                        <a:solidFill>
                          <a:srgbClr val="1155CC"/>
                        </a:solidFill>
                        <a:latin typeface="Calibri"/>
                        <a:ea typeface="Calibri"/>
                        <a:cs typeface="Calibri"/>
                        <a:sym typeface="Calibri"/>
                      </a:endParaRPr>
                    </a:p>
                  </a:txBody>
                  <a:tcPr marL="28575" marR="28575" marT="19050" marB="19050" anchor="b">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chemeClr val="lt1"/>
                    </a:solidFill>
                  </a:tcPr>
                </a:tc>
                <a:tc>
                  <a:txBody>
                    <a:bodyPr/>
                    <a:lstStyle/>
                    <a:p>
                      <a:pPr marL="0" lvl="0" indent="0" algn="r" rtl="0">
                        <a:lnSpc>
                          <a:spcPct val="115000"/>
                        </a:lnSpc>
                        <a:spcBef>
                          <a:spcPts val="0"/>
                        </a:spcBef>
                        <a:spcAft>
                          <a:spcPts val="0"/>
                        </a:spcAft>
                        <a:buNone/>
                      </a:pPr>
                      <a:r>
                        <a:rPr lang="en" sz="800">
                          <a:solidFill>
                            <a:srgbClr val="636879"/>
                          </a:solidFill>
                          <a:latin typeface="Calibri"/>
                          <a:ea typeface="Calibri"/>
                          <a:cs typeface="Calibri"/>
                          <a:sym typeface="Calibri"/>
                        </a:rPr>
                        <a:t>1423</a:t>
                      </a:r>
                      <a:endParaRPr sz="800">
                        <a:solidFill>
                          <a:srgbClr val="636879"/>
                        </a:solidFill>
                        <a:latin typeface="Calibri"/>
                        <a:ea typeface="Calibri"/>
                        <a:cs typeface="Calibri"/>
                        <a:sym typeface="Calibri"/>
                      </a:endParaRPr>
                    </a:p>
                  </a:txBody>
                  <a:tcPr marL="28575" marR="28575" marT="19050" marB="19050" anchor="b">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chemeClr val="lt1"/>
                    </a:solidFill>
                  </a:tcPr>
                </a:tc>
                <a:extLst>
                  <a:ext uri="{0D108BD9-81ED-4DB2-BD59-A6C34878D82A}">
                    <a16:rowId xmlns:a16="http://schemas.microsoft.com/office/drawing/2014/main" val="10023"/>
                  </a:ext>
                </a:extLst>
              </a:tr>
              <a:tr h="151200">
                <a:tc>
                  <a:txBody>
                    <a:bodyPr/>
                    <a:lstStyle/>
                    <a:p>
                      <a:pPr marL="0" lvl="0" indent="0" algn="l" rtl="0">
                        <a:lnSpc>
                          <a:spcPct val="115000"/>
                        </a:lnSpc>
                        <a:spcBef>
                          <a:spcPts val="0"/>
                        </a:spcBef>
                        <a:spcAft>
                          <a:spcPts val="0"/>
                        </a:spcAft>
                        <a:buNone/>
                      </a:pPr>
                      <a:r>
                        <a:rPr lang="en" sz="800" u="sng">
                          <a:solidFill>
                            <a:srgbClr val="1155CC"/>
                          </a:solidFill>
                          <a:latin typeface="Calibri"/>
                          <a:ea typeface="Calibri"/>
                          <a:cs typeface="Calibri"/>
                          <a:sym typeface="Calibri"/>
                          <a:hlinkClick r:id="rId35">
                            <a:extLst>
                              <a:ext uri="{A12FA001-AC4F-418D-AE19-62706E023703}">
                                <ahyp:hlinkClr xmlns:ahyp="http://schemas.microsoft.com/office/drawing/2018/hyperlinkcolor" val="tx"/>
                              </a:ext>
                            </a:extLst>
                          </a:hlinkClick>
                        </a:rPr>
                        <a:t>deepseek-v3.2-exp</a:t>
                      </a:r>
                      <a:r>
                        <a:rPr lang="en" sz="800" u="sng">
                          <a:solidFill>
                            <a:srgbClr val="1155CC"/>
                          </a:solidFill>
                          <a:latin typeface="Calibri"/>
                          <a:ea typeface="Calibri"/>
                          <a:cs typeface="Calibri"/>
                          <a:sym typeface="Calibri"/>
                        </a:rPr>
                        <a:t> </a:t>
                      </a:r>
                      <a:r>
                        <a:rPr lang="en" sz="800">
                          <a:solidFill>
                            <a:schemeClr val="dk1"/>
                          </a:solidFill>
                          <a:latin typeface="Calibri"/>
                          <a:ea typeface="Calibri"/>
                          <a:cs typeface="Calibri"/>
                          <a:sym typeface="Calibri"/>
                        </a:rPr>
                        <a:t>   671B</a:t>
                      </a:r>
                      <a:endParaRPr sz="800" u="sng">
                        <a:solidFill>
                          <a:srgbClr val="1155CC"/>
                        </a:solidFill>
                        <a:latin typeface="Calibri"/>
                        <a:ea typeface="Calibri"/>
                        <a:cs typeface="Calibri"/>
                        <a:sym typeface="Calibri"/>
                      </a:endParaRPr>
                    </a:p>
                  </a:txBody>
                  <a:tcPr marL="28575" marR="28575" marT="19050" marB="19050" anchor="b">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chemeClr val="lt1"/>
                    </a:solidFill>
                  </a:tcPr>
                </a:tc>
                <a:tc>
                  <a:txBody>
                    <a:bodyPr/>
                    <a:lstStyle/>
                    <a:p>
                      <a:pPr marL="0" lvl="0" indent="0" algn="r" rtl="0">
                        <a:lnSpc>
                          <a:spcPct val="115000"/>
                        </a:lnSpc>
                        <a:spcBef>
                          <a:spcPts val="0"/>
                        </a:spcBef>
                        <a:spcAft>
                          <a:spcPts val="0"/>
                        </a:spcAft>
                        <a:buNone/>
                      </a:pPr>
                      <a:r>
                        <a:rPr lang="en" sz="800">
                          <a:solidFill>
                            <a:srgbClr val="636879"/>
                          </a:solidFill>
                          <a:latin typeface="Calibri"/>
                          <a:ea typeface="Calibri"/>
                          <a:cs typeface="Calibri"/>
                          <a:sym typeface="Calibri"/>
                        </a:rPr>
                        <a:t>1423</a:t>
                      </a:r>
                      <a:endParaRPr sz="800">
                        <a:solidFill>
                          <a:srgbClr val="636879"/>
                        </a:solidFill>
                        <a:latin typeface="Calibri"/>
                        <a:ea typeface="Calibri"/>
                        <a:cs typeface="Calibri"/>
                        <a:sym typeface="Calibri"/>
                      </a:endParaRPr>
                    </a:p>
                  </a:txBody>
                  <a:tcPr marL="28575" marR="28575" marT="19050" marB="19050" anchor="b">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chemeClr val="lt1"/>
                    </a:solidFill>
                  </a:tcPr>
                </a:tc>
                <a:extLst>
                  <a:ext uri="{0D108BD9-81ED-4DB2-BD59-A6C34878D82A}">
                    <a16:rowId xmlns:a16="http://schemas.microsoft.com/office/drawing/2014/main" val="10024"/>
                  </a:ext>
                </a:extLst>
              </a:tr>
            </a:tbl>
          </a:graphicData>
        </a:graphic>
      </p:graphicFrame>
      <p:graphicFrame>
        <p:nvGraphicFramePr>
          <p:cNvPr id="144" name="Google Shape;144;p16"/>
          <p:cNvGraphicFramePr/>
          <p:nvPr/>
        </p:nvGraphicFramePr>
        <p:xfrm>
          <a:off x="3900810" y="547852"/>
          <a:ext cx="3000000" cy="3000000"/>
        </p:xfrm>
        <a:graphic>
          <a:graphicData uri="http://schemas.openxmlformats.org/drawingml/2006/table">
            <a:tbl>
              <a:tblPr>
                <a:noFill/>
                <a:tableStyleId>{D6C8E7C5-D1C3-4BD4-81A4-5DE7A65E04BF}</a:tableStyleId>
              </a:tblPr>
              <a:tblGrid>
                <a:gridCol w="1800225">
                  <a:extLst>
                    <a:ext uri="{9D8B030D-6E8A-4147-A177-3AD203B41FA5}">
                      <a16:colId xmlns:a16="http://schemas.microsoft.com/office/drawing/2014/main" val="20000"/>
                    </a:ext>
                  </a:extLst>
                </a:gridCol>
                <a:gridCol w="295275">
                  <a:extLst>
                    <a:ext uri="{9D8B030D-6E8A-4147-A177-3AD203B41FA5}">
                      <a16:colId xmlns:a16="http://schemas.microsoft.com/office/drawing/2014/main" val="20001"/>
                    </a:ext>
                  </a:extLst>
                </a:gridCol>
              </a:tblGrid>
              <a:tr h="151200">
                <a:tc>
                  <a:txBody>
                    <a:bodyPr/>
                    <a:lstStyle/>
                    <a:p>
                      <a:pPr marL="0" lvl="0" indent="0" algn="l" rtl="0">
                        <a:lnSpc>
                          <a:spcPct val="115000"/>
                        </a:lnSpc>
                        <a:spcBef>
                          <a:spcPts val="0"/>
                        </a:spcBef>
                        <a:spcAft>
                          <a:spcPts val="0"/>
                        </a:spcAft>
                        <a:buNone/>
                      </a:pPr>
                      <a:r>
                        <a:rPr lang="en" sz="800">
                          <a:latin typeface="Calibri"/>
                          <a:ea typeface="Calibri"/>
                          <a:cs typeface="Calibri"/>
                          <a:sym typeface="Calibri"/>
                        </a:rPr>
                        <a:t>Model</a:t>
                      </a:r>
                      <a:endParaRPr sz="800">
                        <a:latin typeface="Calibri"/>
                        <a:ea typeface="Calibri"/>
                        <a:cs typeface="Calibri"/>
                        <a:sym typeface="Calibri"/>
                      </a:endParaRPr>
                    </a:p>
                  </a:txBody>
                  <a:tcPr marL="28575" marR="28575" marT="19050" marB="19050" anchor="b">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chemeClr val="lt1"/>
                    </a:solidFill>
                  </a:tcPr>
                </a:tc>
                <a:tc>
                  <a:txBody>
                    <a:bodyPr/>
                    <a:lstStyle/>
                    <a:p>
                      <a:pPr marL="0" lvl="0" indent="0" algn="l" rtl="0">
                        <a:lnSpc>
                          <a:spcPct val="115000"/>
                        </a:lnSpc>
                        <a:spcBef>
                          <a:spcPts val="0"/>
                        </a:spcBef>
                        <a:spcAft>
                          <a:spcPts val="0"/>
                        </a:spcAft>
                        <a:buNone/>
                      </a:pPr>
                      <a:r>
                        <a:rPr lang="en" sz="800">
                          <a:latin typeface="Calibri"/>
                          <a:ea typeface="Calibri"/>
                          <a:cs typeface="Calibri"/>
                          <a:sym typeface="Calibri"/>
                        </a:rPr>
                        <a:t>Score</a:t>
                      </a:r>
                      <a:endParaRPr sz="800">
                        <a:latin typeface="Calibri"/>
                        <a:ea typeface="Calibri"/>
                        <a:cs typeface="Calibri"/>
                        <a:sym typeface="Calibri"/>
                      </a:endParaRPr>
                    </a:p>
                  </a:txBody>
                  <a:tcPr marL="28575" marR="28575" marT="19050" marB="19050" anchor="b">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chemeClr val="lt1"/>
                    </a:solidFill>
                  </a:tcPr>
                </a:tc>
                <a:extLst>
                  <a:ext uri="{0D108BD9-81ED-4DB2-BD59-A6C34878D82A}">
                    <a16:rowId xmlns:a16="http://schemas.microsoft.com/office/drawing/2014/main" val="10000"/>
                  </a:ext>
                </a:extLst>
              </a:tr>
              <a:tr h="151200">
                <a:tc>
                  <a:txBody>
                    <a:bodyPr/>
                    <a:lstStyle/>
                    <a:p>
                      <a:pPr marL="0" lvl="0" indent="0" algn="l" rtl="0">
                        <a:lnSpc>
                          <a:spcPct val="115000"/>
                        </a:lnSpc>
                        <a:spcBef>
                          <a:spcPts val="0"/>
                        </a:spcBef>
                        <a:spcAft>
                          <a:spcPts val="0"/>
                        </a:spcAft>
                        <a:buNone/>
                      </a:pPr>
                      <a:r>
                        <a:rPr lang="en" sz="800" u="sng">
                          <a:solidFill>
                            <a:srgbClr val="1155CC"/>
                          </a:solidFill>
                          <a:latin typeface="Calibri"/>
                          <a:ea typeface="Calibri"/>
                          <a:cs typeface="Calibri"/>
                          <a:sym typeface="Calibri"/>
                          <a:hlinkClick r:id="rId19">
                            <a:extLst>
                              <a:ext uri="{A12FA001-AC4F-418D-AE19-62706E023703}">
                                <ahyp:hlinkClr xmlns:ahyp="http://schemas.microsoft.com/office/drawing/2018/hyperlinkcolor" val="tx"/>
                              </a:ext>
                            </a:extLst>
                          </a:hlinkClick>
                        </a:rPr>
                        <a:t>claude-opus-4-5-20251101-thinking-32k</a:t>
                      </a:r>
                      <a:endParaRPr sz="800" u="sng">
                        <a:solidFill>
                          <a:srgbClr val="1155CC"/>
                        </a:solidFill>
                        <a:latin typeface="Calibri"/>
                        <a:ea typeface="Calibri"/>
                        <a:cs typeface="Calibri"/>
                        <a:sym typeface="Calibri"/>
                      </a:endParaRPr>
                    </a:p>
                  </a:txBody>
                  <a:tcPr marL="28575" marR="28575" marT="19050" marB="19050" anchor="b">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chemeClr val="lt1"/>
                    </a:solidFill>
                  </a:tcPr>
                </a:tc>
                <a:tc>
                  <a:txBody>
                    <a:bodyPr/>
                    <a:lstStyle/>
                    <a:p>
                      <a:pPr marL="0" lvl="0" indent="0" algn="r" rtl="0">
                        <a:lnSpc>
                          <a:spcPct val="115000"/>
                        </a:lnSpc>
                        <a:spcBef>
                          <a:spcPts val="0"/>
                        </a:spcBef>
                        <a:spcAft>
                          <a:spcPts val="0"/>
                        </a:spcAft>
                        <a:buNone/>
                      </a:pPr>
                      <a:r>
                        <a:rPr lang="en" sz="800">
                          <a:solidFill>
                            <a:srgbClr val="636879"/>
                          </a:solidFill>
                          <a:latin typeface="Calibri"/>
                          <a:ea typeface="Calibri"/>
                          <a:cs typeface="Calibri"/>
                          <a:sym typeface="Calibri"/>
                        </a:rPr>
                        <a:t>1539</a:t>
                      </a:r>
                      <a:endParaRPr sz="800">
                        <a:solidFill>
                          <a:srgbClr val="636879"/>
                        </a:solidFill>
                        <a:latin typeface="Calibri"/>
                        <a:ea typeface="Calibri"/>
                        <a:cs typeface="Calibri"/>
                        <a:sym typeface="Calibri"/>
                      </a:endParaRPr>
                    </a:p>
                  </a:txBody>
                  <a:tcPr marL="28575" marR="28575" marT="19050" marB="19050" anchor="b">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chemeClr val="lt1"/>
                    </a:solidFill>
                  </a:tcPr>
                </a:tc>
                <a:extLst>
                  <a:ext uri="{0D108BD9-81ED-4DB2-BD59-A6C34878D82A}">
                    <a16:rowId xmlns:a16="http://schemas.microsoft.com/office/drawing/2014/main" val="10001"/>
                  </a:ext>
                </a:extLst>
              </a:tr>
              <a:tr h="151200">
                <a:tc>
                  <a:txBody>
                    <a:bodyPr/>
                    <a:lstStyle/>
                    <a:p>
                      <a:pPr marL="0" lvl="0" indent="0" algn="l" rtl="0">
                        <a:lnSpc>
                          <a:spcPct val="115000"/>
                        </a:lnSpc>
                        <a:spcBef>
                          <a:spcPts val="0"/>
                        </a:spcBef>
                        <a:spcAft>
                          <a:spcPts val="0"/>
                        </a:spcAft>
                        <a:buNone/>
                      </a:pPr>
                      <a:r>
                        <a:rPr lang="en" sz="800" u="sng">
                          <a:solidFill>
                            <a:srgbClr val="1155CC"/>
                          </a:solidFill>
                          <a:latin typeface="Calibri"/>
                          <a:ea typeface="Calibri"/>
                          <a:cs typeface="Calibri"/>
                          <a:sym typeface="Calibri"/>
                          <a:hlinkClick r:id="rId22">
                            <a:extLst>
                              <a:ext uri="{A12FA001-AC4F-418D-AE19-62706E023703}">
                                <ahyp:hlinkClr xmlns:ahyp="http://schemas.microsoft.com/office/drawing/2018/hyperlinkcolor" val="tx"/>
                              </a:ext>
                            </a:extLst>
                          </a:hlinkClick>
                        </a:rPr>
                        <a:t>claude-sonnet-4-5-20250929-thinking-32k</a:t>
                      </a:r>
                      <a:endParaRPr sz="800" u="sng">
                        <a:solidFill>
                          <a:srgbClr val="1155CC"/>
                        </a:solidFill>
                        <a:latin typeface="Calibri"/>
                        <a:ea typeface="Calibri"/>
                        <a:cs typeface="Calibri"/>
                        <a:sym typeface="Calibri"/>
                      </a:endParaRPr>
                    </a:p>
                  </a:txBody>
                  <a:tcPr marL="28575" marR="28575" marT="19050" marB="19050" anchor="b">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chemeClr val="lt1"/>
                    </a:solidFill>
                  </a:tcPr>
                </a:tc>
                <a:tc>
                  <a:txBody>
                    <a:bodyPr/>
                    <a:lstStyle/>
                    <a:p>
                      <a:pPr marL="0" lvl="0" indent="0" algn="r" rtl="0">
                        <a:lnSpc>
                          <a:spcPct val="115000"/>
                        </a:lnSpc>
                        <a:spcBef>
                          <a:spcPts val="0"/>
                        </a:spcBef>
                        <a:spcAft>
                          <a:spcPts val="0"/>
                        </a:spcAft>
                        <a:buNone/>
                      </a:pPr>
                      <a:r>
                        <a:rPr lang="en" sz="800">
                          <a:solidFill>
                            <a:srgbClr val="636879"/>
                          </a:solidFill>
                          <a:latin typeface="Calibri"/>
                          <a:ea typeface="Calibri"/>
                          <a:cs typeface="Calibri"/>
                          <a:sym typeface="Calibri"/>
                        </a:rPr>
                        <a:t>1526</a:t>
                      </a:r>
                      <a:endParaRPr sz="800">
                        <a:solidFill>
                          <a:srgbClr val="636879"/>
                        </a:solidFill>
                        <a:latin typeface="Calibri"/>
                        <a:ea typeface="Calibri"/>
                        <a:cs typeface="Calibri"/>
                        <a:sym typeface="Calibri"/>
                      </a:endParaRPr>
                    </a:p>
                  </a:txBody>
                  <a:tcPr marL="28575" marR="28575" marT="19050" marB="19050" anchor="b">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chemeClr val="lt1"/>
                    </a:solidFill>
                  </a:tcPr>
                </a:tc>
                <a:extLst>
                  <a:ext uri="{0D108BD9-81ED-4DB2-BD59-A6C34878D82A}">
                    <a16:rowId xmlns:a16="http://schemas.microsoft.com/office/drawing/2014/main" val="10002"/>
                  </a:ext>
                </a:extLst>
              </a:tr>
              <a:tr h="151200">
                <a:tc>
                  <a:txBody>
                    <a:bodyPr/>
                    <a:lstStyle/>
                    <a:p>
                      <a:pPr marL="0" lvl="0" indent="0" algn="l" rtl="0">
                        <a:lnSpc>
                          <a:spcPct val="115000"/>
                        </a:lnSpc>
                        <a:spcBef>
                          <a:spcPts val="0"/>
                        </a:spcBef>
                        <a:spcAft>
                          <a:spcPts val="0"/>
                        </a:spcAft>
                        <a:buNone/>
                      </a:pPr>
                      <a:r>
                        <a:rPr lang="en" sz="800" u="sng">
                          <a:solidFill>
                            <a:srgbClr val="1155CC"/>
                          </a:solidFill>
                          <a:latin typeface="Calibri"/>
                          <a:ea typeface="Calibri"/>
                          <a:cs typeface="Calibri"/>
                          <a:sym typeface="Calibri"/>
                          <a:hlinkClick r:id="rId17">
                            <a:extLst>
                              <a:ext uri="{A12FA001-AC4F-418D-AE19-62706E023703}">
                                <ahyp:hlinkClr xmlns:ahyp="http://schemas.microsoft.com/office/drawing/2018/hyperlinkcolor" val="tx"/>
                              </a:ext>
                            </a:extLst>
                          </a:hlinkClick>
                        </a:rPr>
                        <a:t>gemini-3-pro</a:t>
                      </a:r>
                      <a:endParaRPr sz="800" u="sng">
                        <a:solidFill>
                          <a:srgbClr val="1155CC"/>
                        </a:solidFill>
                        <a:latin typeface="Calibri"/>
                        <a:ea typeface="Calibri"/>
                        <a:cs typeface="Calibri"/>
                        <a:sym typeface="Calibri"/>
                      </a:endParaRPr>
                    </a:p>
                  </a:txBody>
                  <a:tcPr marL="28575" marR="28575" marT="19050" marB="19050" anchor="b">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chemeClr val="lt1"/>
                    </a:solidFill>
                  </a:tcPr>
                </a:tc>
                <a:tc>
                  <a:txBody>
                    <a:bodyPr/>
                    <a:lstStyle/>
                    <a:p>
                      <a:pPr marL="0" lvl="0" indent="0" algn="r" rtl="0">
                        <a:lnSpc>
                          <a:spcPct val="115000"/>
                        </a:lnSpc>
                        <a:spcBef>
                          <a:spcPts val="0"/>
                        </a:spcBef>
                        <a:spcAft>
                          <a:spcPts val="0"/>
                        </a:spcAft>
                        <a:buNone/>
                      </a:pPr>
                      <a:r>
                        <a:rPr lang="en" sz="800">
                          <a:solidFill>
                            <a:srgbClr val="636879"/>
                          </a:solidFill>
                          <a:latin typeface="Calibri"/>
                          <a:ea typeface="Calibri"/>
                          <a:cs typeface="Calibri"/>
                          <a:sym typeface="Calibri"/>
                        </a:rPr>
                        <a:t>1520</a:t>
                      </a:r>
                      <a:endParaRPr sz="800">
                        <a:solidFill>
                          <a:srgbClr val="636879"/>
                        </a:solidFill>
                        <a:latin typeface="Calibri"/>
                        <a:ea typeface="Calibri"/>
                        <a:cs typeface="Calibri"/>
                        <a:sym typeface="Calibri"/>
                      </a:endParaRPr>
                    </a:p>
                  </a:txBody>
                  <a:tcPr marL="28575" marR="28575" marT="19050" marB="19050" anchor="b">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chemeClr val="lt1"/>
                    </a:solidFill>
                  </a:tcPr>
                </a:tc>
                <a:extLst>
                  <a:ext uri="{0D108BD9-81ED-4DB2-BD59-A6C34878D82A}">
                    <a16:rowId xmlns:a16="http://schemas.microsoft.com/office/drawing/2014/main" val="10003"/>
                  </a:ext>
                </a:extLst>
              </a:tr>
              <a:tr h="151200">
                <a:tc>
                  <a:txBody>
                    <a:bodyPr/>
                    <a:lstStyle/>
                    <a:p>
                      <a:pPr marL="0" lvl="0" indent="0" algn="l" rtl="0">
                        <a:lnSpc>
                          <a:spcPct val="115000"/>
                        </a:lnSpc>
                        <a:spcBef>
                          <a:spcPts val="0"/>
                        </a:spcBef>
                        <a:spcAft>
                          <a:spcPts val="0"/>
                        </a:spcAft>
                        <a:buNone/>
                      </a:pPr>
                      <a:r>
                        <a:rPr lang="en" sz="800" u="sng">
                          <a:solidFill>
                            <a:srgbClr val="1155CC"/>
                          </a:solidFill>
                          <a:latin typeface="Calibri"/>
                          <a:ea typeface="Calibri"/>
                          <a:cs typeface="Calibri"/>
                          <a:sym typeface="Calibri"/>
                          <a:hlinkClick r:id="rId23">
                            <a:extLst>
                              <a:ext uri="{A12FA001-AC4F-418D-AE19-62706E023703}">
                                <ahyp:hlinkClr xmlns:ahyp="http://schemas.microsoft.com/office/drawing/2018/hyperlinkcolor" val="tx"/>
                              </a:ext>
                            </a:extLst>
                          </a:hlinkClick>
                        </a:rPr>
                        <a:t>claude-opus-4-1-20250805-thinking-16k</a:t>
                      </a:r>
                      <a:endParaRPr sz="800" u="sng">
                        <a:solidFill>
                          <a:srgbClr val="1155CC"/>
                        </a:solidFill>
                        <a:latin typeface="Calibri"/>
                        <a:ea typeface="Calibri"/>
                        <a:cs typeface="Calibri"/>
                        <a:sym typeface="Calibri"/>
                      </a:endParaRPr>
                    </a:p>
                  </a:txBody>
                  <a:tcPr marL="28575" marR="28575" marT="19050" marB="19050" anchor="b">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chemeClr val="lt1"/>
                    </a:solidFill>
                  </a:tcPr>
                </a:tc>
                <a:tc>
                  <a:txBody>
                    <a:bodyPr/>
                    <a:lstStyle/>
                    <a:p>
                      <a:pPr marL="0" lvl="0" indent="0" algn="r" rtl="0">
                        <a:lnSpc>
                          <a:spcPct val="115000"/>
                        </a:lnSpc>
                        <a:spcBef>
                          <a:spcPts val="0"/>
                        </a:spcBef>
                        <a:spcAft>
                          <a:spcPts val="0"/>
                        </a:spcAft>
                        <a:buNone/>
                      </a:pPr>
                      <a:r>
                        <a:rPr lang="en" sz="800">
                          <a:solidFill>
                            <a:srgbClr val="636879"/>
                          </a:solidFill>
                          <a:latin typeface="Calibri"/>
                          <a:ea typeface="Calibri"/>
                          <a:cs typeface="Calibri"/>
                          <a:sym typeface="Calibri"/>
                        </a:rPr>
                        <a:t>1514</a:t>
                      </a:r>
                      <a:endParaRPr sz="800">
                        <a:solidFill>
                          <a:srgbClr val="636879"/>
                        </a:solidFill>
                        <a:latin typeface="Calibri"/>
                        <a:ea typeface="Calibri"/>
                        <a:cs typeface="Calibri"/>
                        <a:sym typeface="Calibri"/>
                      </a:endParaRPr>
                    </a:p>
                  </a:txBody>
                  <a:tcPr marL="28575" marR="28575" marT="19050" marB="19050" anchor="b">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chemeClr val="lt1"/>
                    </a:solidFill>
                  </a:tcPr>
                </a:tc>
                <a:extLst>
                  <a:ext uri="{0D108BD9-81ED-4DB2-BD59-A6C34878D82A}">
                    <a16:rowId xmlns:a16="http://schemas.microsoft.com/office/drawing/2014/main" val="10004"/>
                  </a:ext>
                </a:extLst>
              </a:tr>
              <a:tr h="151200">
                <a:tc>
                  <a:txBody>
                    <a:bodyPr/>
                    <a:lstStyle/>
                    <a:p>
                      <a:pPr marL="0" lvl="0" indent="0" algn="l" rtl="0">
                        <a:lnSpc>
                          <a:spcPct val="115000"/>
                        </a:lnSpc>
                        <a:spcBef>
                          <a:spcPts val="0"/>
                        </a:spcBef>
                        <a:spcAft>
                          <a:spcPts val="0"/>
                        </a:spcAft>
                        <a:buNone/>
                      </a:pPr>
                      <a:r>
                        <a:rPr lang="en" sz="800" u="sng">
                          <a:solidFill>
                            <a:srgbClr val="1155CC"/>
                          </a:solidFill>
                          <a:latin typeface="Calibri"/>
                          <a:ea typeface="Calibri"/>
                          <a:cs typeface="Calibri"/>
                          <a:sym typeface="Calibri"/>
                          <a:hlinkClick r:id="rId19">
                            <a:extLst>
                              <a:ext uri="{A12FA001-AC4F-418D-AE19-62706E023703}">
                                <ahyp:hlinkClr xmlns:ahyp="http://schemas.microsoft.com/office/drawing/2018/hyperlinkcolor" val="tx"/>
                              </a:ext>
                            </a:extLst>
                          </a:hlinkClick>
                        </a:rPr>
                        <a:t>claude-opus-4-5-20251101</a:t>
                      </a:r>
                      <a:endParaRPr sz="800" u="sng">
                        <a:solidFill>
                          <a:srgbClr val="1155CC"/>
                        </a:solidFill>
                        <a:latin typeface="Calibri"/>
                        <a:ea typeface="Calibri"/>
                        <a:cs typeface="Calibri"/>
                        <a:sym typeface="Calibri"/>
                      </a:endParaRPr>
                    </a:p>
                  </a:txBody>
                  <a:tcPr marL="28575" marR="28575" marT="19050" marB="19050" anchor="b">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chemeClr val="lt1"/>
                    </a:solidFill>
                  </a:tcPr>
                </a:tc>
                <a:tc>
                  <a:txBody>
                    <a:bodyPr/>
                    <a:lstStyle/>
                    <a:p>
                      <a:pPr marL="0" lvl="0" indent="0" algn="r" rtl="0">
                        <a:lnSpc>
                          <a:spcPct val="115000"/>
                        </a:lnSpc>
                        <a:spcBef>
                          <a:spcPts val="0"/>
                        </a:spcBef>
                        <a:spcAft>
                          <a:spcPts val="0"/>
                        </a:spcAft>
                        <a:buNone/>
                      </a:pPr>
                      <a:r>
                        <a:rPr lang="en" sz="800">
                          <a:solidFill>
                            <a:srgbClr val="636879"/>
                          </a:solidFill>
                          <a:latin typeface="Calibri"/>
                          <a:ea typeface="Calibri"/>
                          <a:cs typeface="Calibri"/>
                          <a:sym typeface="Calibri"/>
                        </a:rPr>
                        <a:t>1514</a:t>
                      </a:r>
                      <a:endParaRPr sz="800">
                        <a:solidFill>
                          <a:srgbClr val="636879"/>
                        </a:solidFill>
                        <a:latin typeface="Calibri"/>
                        <a:ea typeface="Calibri"/>
                        <a:cs typeface="Calibri"/>
                        <a:sym typeface="Calibri"/>
                      </a:endParaRPr>
                    </a:p>
                  </a:txBody>
                  <a:tcPr marL="28575" marR="28575" marT="19050" marB="19050" anchor="b">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chemeClr val="lt1"/>
                    </a:solidFill>
                  </a:tcPr>
                </a:tc>
                <a:extLst>
                  <a:ext uri="{0D108BD9-81ED-4DB2-BD59-A6C34878D82A}">
                    <a16:rowId xmlns:a16="http://schemas.microsoft.com/office/drawing/2014/main" val="10005"/>
                  </a:ext>
                </a:extLst>
              </a:tr>
              <a:tr h="151200">
                <a:tc>
                  <a:txBody>
                    <a:bodyPr/>
                    <a:lstStyle/>
                    <a:p>
                      <a:pPr marL="0" lvl="0" indent="0" algn="l" rtl="0">
                        <a:lnSpc>
                          <a:spcPct val="115000"/>
                        </a:lnSpc>
                        <a:spcBef>
                          <a:spcPts val="0"/>
                        </a:spcBef>
                        <a:spcAft>
                          <a:spcPts val="0"/>
                        </a:spcAft>
                        <a:buNone/>
                      </a:pPr>
                      <a:r>
                        <a:rPr lang="en" sz="800" u="sng">
                          <a:solidFill>
                            <a:srgbClr val="1155CC"/>
                          </a:solidFill>
                          <a:latin typeface="Calibri"/>
                          <a:ea typeface="Calibri"/>
                          <a:cs typeface="Calibri"/>
                          <a:sym typeface="Calibri"/>
                          <a:hlinkClick r:id="rId18">
                            <a:extLst>
                              <a:ext uri="{A12FA001-AC4F-418D-AE19-62706E023703}">
                                <ahyp:hlinkClr xmlns:ahyp="http://schemas.microsoft.com/office/drawing/2018/hyperlinkcolor" val="tx"/>
                              </a:ext>
                            </a:extLst>
                          </a:hlinkClick>
                        </a:rPr>
                        <a:t>grok-4.1-thinking</a:t>
                      </a:r>
                      <a:endParaRPr sz="800" u="sng">
                        <a:solidFill>
                          <a:srgbClr val="1155CC"/>
                        </a:solidFill>
                        <a:latin typeface="Calibri"/>
                        <a:ea typeface="Calibri"/>
                        <a:cs typeface="Calibri"/>
                        <a:sym typeface="Calibri"/>
                      </a:endParaRPr>
                    </a:p>
                  </a:txBody>
                  <a:tcPr marL="28575" marR="28575" marT="19050" marB="19050" anchor="b">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chemeClr val="lt1"/>
                    </a:solidFill>
                  </a:tcPr>
                </a:tc>
                <a:tc>
                  <a:txBody>
                    <a:bodyPr/>
                    <a:lstStyle/>
                    <a:p>
                      <a:pPr marL="0" lvl="0" indent="0" algn="r" rtl="0">
                        <a:lnSpc>
                          <a:spcPct val="115000"/>
                        </a:lnSpc>
                        <a:spcBef>
                          <a:spcPts val="0"/>
                        </a:spcBef>
                        <a:spcAft>
                          <a:spcPts val="0"/>
                        </a:spcAft>
                        <a:buNone/>
                      </a:pPr>
                      <a:r>
                        <a:rPr lang="en" sz="800">
                          <a:solidFill>
                            <a:srgbClr val="636879"/>
                          </a:solidFill>
                          <a:latin typeface="Calibri"/>
                          <a:ea typeface="Calibri"/>
                          <a:cs typeface="Calibri"/>
                          <a:sym typeface="Calibri"/>
                        </a:rPr>
                        <a:t>1505</a:t>
                      </a:r>
                      <a:endParaRPr sz="800">
                        <a:solidFill>
                          <a:srgbClr val="636879"/>
                        </a:solidFill>
                        <a:latin typeface="Calibri"/>
                        <a:ea typeface="Calibri"/>
                        <a:cs typeface="Calibri"/>
                        <a:sym typeface="Calibri"/>
                      </a:endParaRPr>
                    </a:p>
                  </a:txBody>
                  <a:tcPr marL="28575" marR="28575" marT="19050" marB="19050" anchor="b">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chemeClr val="lt1"/>
                    </a:solidFill>
                  </a:tcPr>
                </a:tc>
                <a:extLst>
                  <a:ext uri="{0D108BD9-81ED-4DB2-BD59-A6C34878D82A}">
                    <a16:rowId xmlns:a16="http://schemas.microsoft.com/office/drawing/2014/main" val="10006"/>
                  </a:ext>
                </a:extLst>
              </a:tr>
              <a:tr h="151200">
                <a:tc>
                  <a:txBody>
                    <a:bodyPr/>
                    <a:lstStyle/>
                    <a:p>
                      <a:pPr marL="0" lvl="0" indent="0" algn="l" rtl="0">
                        <a:lnSpc>
                          <a:spcPct val="115000"/>
                        </a:lnSpc>
                        <a:spcBef>
                          <a:spcPts val="0"/>
                        </a:spcBef>
                        <a:spcAft>
                          <a:spcPts val="0"/>
                        </a:spcAft>
                        <a:buNone/>
                      </a:pPr>
                      <a:r>
                        <a:rPr lang="en" sz="800" u="sng">
                          <a:solidFill>
                            <a:srgbClr val="1155CC"/>
                          </a:solidFill>
                          <a:latin typeface="Calibri"/>
                          <a:ea typeface="Calibri"/>
                          <a:cs typeface="Calibri"/>
                          <a:sym typeface="Calibri"/>
                          <a:hlinkClick r:id="rId22">
                            <a:extLst>
                              <a:ext uri="{A12FA001-AC4F-418D-AE19-62706E023703}">
                                <ahyp:hlinkClr xmlns:ahyp="http://schemas.microsoft.com/office/drawing/2018/hyperlinkcolor" val="tx"/>
                              </a:ext>
                            </a:extLst>
                          </a:hlinkClick>
                        </a:rPr>
                        <a:t>claude-sonnet-4-5-20250929</a:t>
                      </a:r>
                      <a:endParaRPr sz="800" u="sng">
                        <a:solidFill>
                          <a:srgbClr val="1155CC"/>
                        </a:solidFill>
                        <a:latin typeface="Calibri"/>
                        <a:ea typeface="Calibri"/>
                        <a:cs typeface="Calibri"/>
                        <a:sym typeface="Calibri"/>
                      </a:endParaRPr>
                    </a:p>
                  </a:txBody>
                  <a:tcPr marL="28575" marR="28575" marT="19050" marB="19050" anchor="b">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chemeClr val="lt1"/>
                    </a:solidFill>
                  </a:tcPr>
                </a:tc>
                <a:tc>
                  <a:txBody>
                    <a:bodyPr/>
                    <a:lstStyle/>
                    <a:p>
                      <a:pPr marL="0" lvl="0" indent="0" algn="r" rtl="0">
                        <a:lnSpc>
                          <a:spcPct val="115000"/>
                        </a:lnSpc>
                        <a:spcBef>
                          <a:spcPts val="0"/>
                        </a:spcBef>
                        <a:spcAft>
                          <a:spcPts val="0"/>
                        </a:spcAft>
                        <a:buNone/>
                      </a:pPr>
                      <a:r>
                        <a:rPr lang="en" sz="800">
                          <a:solidFill>
                            <a:srgbClr val="636879"/>
                          </a:solidFill>
                          <a:latin typeface="Calibri"/>
                          <a:ea typeface="Calibri"/>
                          <a:cs typeface="Calibri"/>
                          <a:sym typeface="Calibri"/>
                        </a:rPr>
                        <a:t>1504</a:t>
                      </a:r>
                      <a:endParaRPr sz="800">
                        <a:solidFill>
                          <a:srgbClr val="636879"/>
                        </a:solidFill>
                        <a:latin typeface="Calibri"/>
                        <a:ea typeface="Calibri"/>
                        <a:cs typeface="Calibri"/>
                        <a:sym typeface="Calibri"/>
                      </a:endParaRPr>
                    </a:p>
                  </a:txBody>
                  <a:tcPr marL="28575" marR="28575" marT="19050" marB="19050" anchor="b">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chemeClr val="lt1"/>
                    </a:solidFill>
                  </a:tcPr>
                </a:tc>
                <a:extLst>
                  <a:ext uri="{0D108BD9-81ED-4DB2-BD59-A6C34878D82A}">
                    <a16:rowId xmlns:a16="http://schemas.microsoft.com/office/drawing/2014/main" val="10007"/>
                  </a:ext>
                </a:extLst>
              </a:tr>
              <a:tr h="151200">
                <a:tc>
                  <a:txBody>
                    <a:bodyPr/>
                    <a:lstStyle/>
                    <a:p>
                      <a:pPr marL="0" lvl="0" indent="0" algn="l" rtl="0">
                        <a:lnSpc>
                          <a:spcPct val="115000"/>
                        </a:lnSpc>
                        <a:spcBef>
                          <a:spcPts val="0"/>
                        </a:spcBef>
                        <a:spcAft>
                          <a:spcPts val="0"/>
                        </a:spcAft>
                        <a:buNone/>
                      </a:pPr>
                      <a:r>
                        <a:rPr lang="en" sz="800" u="sng">
                          <a:solidFill>
                            <a:srgbClr val="1155CC"/>
                          </a:solidFill>
                          <a:latin typeface="Calibri"/>
                          <a:ea typeface="Calibri"/>
                          <a:cs typeface="Calibri"/>
                          <a:sym typeface="Calibri"/>
                          <a:hlinkClick r:id="rId23">
                            <a:extLst>
                              <a:ext uri="{A12FA001-AC4F-418D-AE19-62706E023703}">
                                <ahyp:hlinkClr xmlns:ahyp="http://schemas.microsoft.com/office/drawing/2018/hyperlinkcolor" val="tx"/>
                              </a:ext>
                            </a:extLst>
                          </a:hlinkClick>
                        </a:rPr>
                        <a:t>claude-opus-4-1-20250805</a:t>
                      </a:r>
                      <a:endParaRPr sz="800" u="sng">
                        <a:solidFill>
                          <a:srgbClr val="1155CC"/>
                        </a:solidFill>
                        <a:latin typeface="Calibri"/>
                        <a:ea typeface="Calibri"/>
                        <a:cs typeface="Calibri"/>
                        <a:sym typeface="Calibri"/>
                      </a:endParaRPr>
                    </a:p>
                  </a:txBody>
                  <a:tcPr marL="28575" marR="28575" marT="19050" marB="19050" anchor="b">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chemeClr val="lt1"/>
                    </a:solidFill>
                  </a:tcPr>
                </a:tc>
                <a:tc>
                  <a:txBody>
                    <a:bodyPr/>
                    <a:lstStyle/>
                    <a:p>
                      <a:pPr marL="0" lvl="0" indent="0" algn="r" rtl="0">
                        <a:lnSpc>
                          <a:spcPct val="115000"/>
                        </a:lnSpc>
                        <a:spcBef>
                          <a:spcPts val="0"/>
                        </a:spcBef>
                        <a:spcAft>
                          <a:spcPts val="0"/>
                        </a:spcAft>
                        <a:buNone/>
                      </a:pPr>
                      <a:r>
                        <a:rPr lang="en" sz="800">
                          <a:solidFill>
                            <a:srgbClr val="636879"/>
                          </a:solidFill>
                          <a:latin typeface="Calibri"/>
                          <a:ea typeface="Calibri"/>
                          <a:cs typeface="Calibri"/>
                          <a:sym typeface="Calibri"/>
                        </a:rPr>
                        <a:t>1499</a:t>
                      </a:r>
                      <a:endParaRPr sz="800">
                        <a:solidFill>
                          <a:srgbClr val="636879"/>
                        </a:solidFill>
                        <a:latin typeface="Calibri"/>
                        <a:ea typeface="Calibri"/>
                        <a:cs typeface="Calibri"/>
                        <a:sym typeface="Calibri"/>
                      </a:endParaRPr>
                    </a:p>
                  </a:txBody>
                  <a:tcPr marL="28575" marR="28575" marT="19050" marB="19050" anchor="b">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chemeClr val="lt1"/>
                    </a:solidFill>
                  </a:tcPr>
                </a:tc>
                <a:extLst>
                  <a:ext uri="{0D108BD9-81ED-4DB2-BD59-A6C34878D82A}">
                    <a16:rowId xmlns:a16="http://schemas.microsoft.com/office/drawing/2014/main" val="10008"/>
                  </a:ext>
                </a:extLst>
              </a:tr>
              <a:tr h="151200">
                <a:tc>
                  <a:txBody>
                    <a:bodyPr/>
                    <a:lstStyle/>
                    <a:p>
                      <a:pPr marL="0" lvl="0" indent="0" algn="l" rtl="0">
                        <a:lnSpc>
                          <a:spcPct val="115000"/>
                        </a:lnSpc>
                        <a:spcBef>
                          <a:spcPts val="0"/>
                        </a:spcBef>
                        <a:spcAft>
                          <a:spcPts val="0"/>
                        </a:spcAft>
                        <a:buNone/>
                      </a:pPr>
                      <a:r>
                        <a:rPr lang="en" sz="800" u="sng">
                          <a:solidFill>
                            <a:srgbClr val="1155CC"/>
                          </a:solidFill>
                          <a:latin typeface="Calibri"/>
                          <a:ea typeface="Calibri"/>
                          <a:cs typeface="Calibri"/>
                          <a:sym typeface="Calibri"/>
                          <a:hlinkClick r:id="rId36">
                            <a:extLst>
                              <a:ext uri="{A12FA001-AC4F-418D-AE19-62706E023703}">
                                <ahyp:hlinkClr xmlns:ahyp="http://schemas.microsoft.com/office/drawing/2018/hyperlinkcolor" val="tx"/>
                              </a:ext>
                            </a:extLst>
                          </a:hlinkClick>
                        </a:rPr>
                        <a:t>claude-opus-4-20250514-thinking-16k</a:t>
                      </a:r>
                      <a:endParaRPr sz="800" u="sng">
                        <a:solidFill>
                          <a:srgbClr val="1155CC"/>
                        </a:solidFill>
                        <a:latin typeface="Calibri"/>
                        <a:ea typeface="Calibri"/>
                        <a:cs typeface="Calibri"/>
                        <a:sym typeface="Calibri"/>
                      </a:endParaRPr>
                    </a:p>
                  </a:txBody>
                  <a:tcPr marL="28575" marR="28575" marT="19050" marB="19050" anchor="b">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chemeClr val="lt1"/>
                    </a:solidFill>
                  </a:tcPr>
                </a:tc>
                <a:tc>
                  <a:txBody>
                    <a:bodyPr/>
                    <a:lstStyle/>
                    <a:p>
                      <a:pPr marL="0" lvl="0" indent="0" algn="r" rtl="0">
                        <a:lnSpc>
                          <a:spcPct val="115000"/>
                        </a:lnSpc>
                        <a:spcBef>
                          <a:spcPts val="0"/>
                        </a:spcBef>
                        <a:spcAft>
                          <a:spcPts val="0"/>
                        </a:spcAft>
                        <a:buNone/>
                      </a:pPr>
                      <a:r>
                        <a:rPr lang="en" sz="800">
                          <a:solidFill>
                            <a:srgbClr val="636879"/>
                          </a:solidFill>
                          <a:latin typeface="Calibri"/>
                          <a:ea typeface="Calibri"/>
                          <a:cs typeface="Calibri"/>
                          <a:sym typeface="Calibri"/>
                        </a:rPr>
                        <a:t>1495</a:t>
                      </a:r>
                      <a:endParaRPr sz="800">
                        <a:solidFill>
                          <a:srgbClr val="636879"/>
                        </a:solidFill>
                        <a:latin typeface="Calibri"/>
                        <a:ea typeface="Calibri"/>
                        <a:cs typeface="Calibri"/>
                        <a:sym typeface="Calibri"/>
                      </a:endParaRPr>
                    </a:p>
                  </a:txBody>
                  <a:tcPr marL="28575" marR="28575" marT="19050" marB="19050" anchor="b">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chemeClr val="lt1"/>
                    </a:solidFill>
                  </a:tcPr>
                </a:tc>
                <a:extLst>
                  <a:ext uri="{0D108BD9-81ED-4DB2-BD59-A6C34878D82A}">
                    <a16:rowId xmlns:a16="http://schemas.microsoft.com/office/drawing/2014/main" val="10009"/>
                  </a:ext>
                </a:extLst>
              </a:tr>
              <a:tr h="151200">
                <a:tc>
                  <a:txBody>
                    <a:bodyPr/>
                    <a:lstStyle/>
                    <a:p>
                      <a:pPr marL="0" lvl="0" indent="0" algn="l" rtl="0">
                        <a:lnSpc>
                          <a:spcPct val="115000"/>
                        </a:lnSpc>
                        <a:spcBef>
                          <a:spcPts val="0"/>
                        </a:spcBef>
                        <a:spcAft>
                          <a:spcPts val="0"/>
                        </a:spcAft>
                        <a:buNone/>
                      </a:pPr>
                      <a:r>
                        <a:rPr lang="en" sz="800" u="sng">
                          <a:solidFill>
                            <a:srgbClr val="1155CC"/>
                          </a:solidFill>
                          <a:latin typeface="Calibri"/>
                          <a:ea typeface="Calibri"/>
                          <a:cs typeface="Calibri"/>
                          <a:sym typeface="Calibri"/>
                          <a:hlinkClick r:id="rId18">
                            <a:extLst>
                              <a:ext uri="{A12FA001-AC4F-418D-AE19-62706E023703}">
                                <ahyp:hlinkClr xmlns:ahyp="http://schemas.microsoft.com/office/drawing/2018/hyperlinkcolor" val="tx"/>
                              </a:ext>
                            </a:extLst>
                          </a:hlinkClick>
                        </a:rPr>
                        <a:t>grok-4.1</a:t>
                      </a:r>
                      <a:endParaRPr sz="800" u="sng">
                        <a:solidFill>
                          <a:srgbClr val="1155CC"/>
                        </a:solidFill>
                        <a:latin typeface="Calibri"/>
                        <a:ea typeface="Calibri"/>
                        <a:cs typeface="Calibri"/>
                        <a:sym typeface="Calibri"/>
                      </a:endParaRPr>
                    </a:p>
                  </a:txBody>
                  <a:tcPr marL="28575" marR="28575" marT="19050" marB="19050" anchor="b">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chemeClr val="lt1"/>
                    </a:solidFill>
                  </a:tcPr>
                </a:tc>
                <a:tc>
                  <a:txBody>
                    <a:bodyPr/>
                    <a:lstStyle/>
                    <a:p>
                      <a:pPr marL="0" lvl="0" indent="0" algn="r" rtl="0">
                        <a:lnSpc>
                          <a:spcPct val="115000"/>
                        </a:lnSpc>
                        <a:spcBef>
                          <a:spcPts val="0"/>
                        </a:spcBef>
                        <a:spcAft>
                          <a:spcPts val="0"/>
                        </a:spcAft>
                        <a:buNone/>
                      </a:pPr>
                      <a:r>
                        <a:rPr lang="en" sz="800">
                          <a:solidFill>
                            <a:srgbClr val="636879"/>
                          </a:solidFill>
                          <a:latin typeface="Calibri"/>
                          <a:ea typeface="Calibri"/>
                          <a:cs typeface="Calibri"/>
                          <a:sym typeface="Calibri"/>
                        </a:rPr>
                        <a:t>1488</a:t>
                      </a:r>
                      <a:endParaRPr sz="800">
                        <a:solidFill>
                          <a:srgbClr val="636879"/>
                        </a:solidFill>
                        <a:latin typeface="Calibri"/>
                        <a:ea typeface="Calibri"/>
                        <a:cs typeface="Calibri"/>
                        <a:sym typeface="Calibri"/>
                      </a:endParaRPr>
                    </a:p>
                  </a:txBody>
                  <a:tcPr marL="28575" marR="28575" marT="19050" marB="19050" anchor="b">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chemeClr val="lt1"/>
                    </a:solidFill>
                  </a:tcPr>
                </a:tc>
                <a:extLst>
                  <a:ext uri="{0D108BD9-81ED-4DB2-BD59-A6C34878D82A}">
                    <a16:rowId xmlns:a16="http://schemas.microsoft.com/office/drawing/2014/main" val="10010"/>
                  </a:ext>
                </a:extLst>
              </a:tr>
              <a:tr h="151200">
                <a:tc>
                  <a:txBody>
                    <a:bodyPr/>
                    <a:lstStyle/>
                    <a:p>
                      <a:pPr marL="0" lvl="0" indent="0" algn="l" rtl="0">
                        <a:lnSpc>
                          <a:spcPct val="115000"/>
                        </a:lnSpc>
                        <a:spcBef>
                          <a:spcPts val="0"/>
                        </a:spcBef>
                        <a:spcAft>
                          <a:spcPts val="0"/>
                        </a:spcAft>
                        <a:buNone/>
                      </a:pPr>
                      <a:r>
                        <a:rPr lang="en" sz="800" u="sng">
                          <a:solidFill>
                            <a:srgbClr val="1155CC"/>
                          </a:solidFill>
                          <a:latin typeface="Calibri"/>
                          <a:ea typeface="Calibri"/>
                          <a:cs typeface="Calibri"/>
                          <a:sym typeface="Calibri"/>
                          <a:hlinkClick r:id="rId20">
                            <a:extLst>
                              <a:ext uri="{A12FA001-AC4F-418D-AE19-62706E023703}">
                                <ahyp:hlinkClr xmlns:ahyp="http://schemas.microsoft.com/office/drawing/2018/hyperlinkcolor" val="tx"/>
                              </a:ext>
                            </a:extLst>
                          </a:hlinkClick>
                        </a:rPr>
                        <a:t>gpt-5.1-high</a:t>
                      </a:r>
                      <a:endParaRPr sz="800" u="sng">
                        <a:solidFill>
                          <a:srgbClr val="1155CC"/>
                        </a:solidFill>
                        <a:latin typeface="Calibri"/>
                        <a:ea typeface="Calibri"/>
                        <a:cs typeface="Calibri"/>
                        <a:sym typeface="Calibri"/>
                      </a:endParaRPr>
                    </a:p>
                  </a:txBody>
                  <a:tcPr marL="28575" marR="28575" marT="19050" marB="19050" anchor="b">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chemeClr val="lt1"/>
                    </a:solidFill>
                  </a:tcPr>
                </a:tc>
                <a:tc>
                  <a:txBody>
                    <a:bodyPr/>
                    <a:lstStyle/>
                    <a:p>
                      <a:pPr marL="0" lvl="0" indent="0" algn="r" rtl="0">
                        <a:lnSpc>
                          <a:spcPct val="115000"/>
                        </a:lnSpc>
                        <a:spcBef>
                          <a:spcPts val="0"/>
                        </a:spcBef>
                        <a:spcAft>
                          <a:spcPts val="0"/>
                        </a:spcAft>
                        <a:buNone/>
                      </a:pPr>
                      <a:r>
                        <a:rPr lang="en" sz="800">
                          <a:solidFill>
                            <a:srgbClr val="636879"/>
                          </a:solidFill>
                          <a:latin typeface="Calibri"/>
                          <a:ea typeface="Calibri"/>
                          <a:cs typeface="Calibri"/>
                          <a:sym typeface="Calibri"/>
                        </a:rPr>
                        <a:t>1486</a:t>
                      </a:r>
                      <a:endParaRPr sz="800">
                        <a:solidFill>
                          <a:srgbClr val="636879"/>
                        </a:solidFill>
                        <a:latin typeface="Calibri"/>
                        <a:ea typeface="Calibri"/>
                        <a:cs typeface="Calibri"/>
                        <a:sym typeface="Calibri"/>
                      </a:endParaRPr>
                    </a:p>
                  </a:txBody>
                  <a:tcPr marL="28575" marR="28575" marT="19050" marB="19050" anchor="b">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chemeClr val="lt1"/>
                    </a:solidFill>
                  </a:tcPr>
                </a:tc>
                <a:extLst>
                  <a:ext uri="{0D108BD9-81ED-4DB2-BD59-A6C34878D82A}">
                    <a16:rowId xmlns:a16="http://schemas.microsoft.com/office/drawing/2014/main" val="10011"/>
                  </a:ext>
                </a:extLst>
              </a:tr>
              <a:tr h="151200">
                <a:tc>
                  <a:txBody>
                    <a:bodyPr/>
                    <a:lstStyle/>
                    <a:p>
                      <a:pPr marL="0" lvl="0" indent="0" algn="l" rtl="0">
                        <a:lnSpc>
                          <a:spcPct val="115000"/>
                        </a:lnSpc>
                        <a:spcBef>
                          <a:spcPts val="0"/>
                        </a:spcBef>
                        <a:spcAft>
                          <a:spcPts val="0"/>
                        </a:spcAft>
                        <a:buNone/>
                      </a:pPr>
                      <a:r>
                        <a:rPr lang="en" sz="800" u="sng">
                          <a:solidFill>
                            <a:srgbClr val="1155CC"/>
                          </a:solidFill>
                          <a:latin typeface="Calibri"/>
                          <a:ea typeface="Calibri"/>
                          <a:cs typeface="Calibri"/>
                          <a:sym typeface="Calibri"/>
                          <a:hlinkClick r:id="rId28">
                            <a:extLst>
                              <a:ext uri="{A12FA001-AC4F-418D-AE19-62706E023703}">
                                <ahyp:hlinkClr xmlns:ahyp="http://schemas.microsoft.com/office/drawing/2018/hyperlinkcolor" val="tx"/>
                              </a:ext>
                            </a:extLst>
                          </a:hlinkClick>
                        </a:rPr>
                        <a:t>qwen3-max-preview</a:t>
                      </a:r>
                      <a:r>
                        <a:rPr lang="en" sz="800" u="sng">
                          <a:solidFill>
                            <a:srgbClr val="1155CC"/>
                          </a:solidFill>
                          <a:latin typeface="Calibri"/>
                          <a:ea typeface="Calibri"/>
                          <a:cs typeface="Calibri"/>
                          <a:sym typeface="Calibri"/>
                        </a:rPr>
                        <a:t> </a:t>
                      </a:r>
                      <a:r>
                        <a:rPr lang="en" sz="800">
                          <a:solidFill>
                            <a:schemeClr val="dk1"/>
                          </a:solidFill>
                          <a:latin typeface="Calibri"/>
                          <a:ea typeface="Calibri"/>
                          <a:cs typeface="Calibri"/>
                          <a:sym typeface="Calibri"/>
                        </a:rPr>
                        <a:t>  1T params</a:t>
                      </a:r>
                      <a:endParaRPr sz="800" u="sng">
                        <a:solidFill>
                          <a:srgbClr val="1155CC"/>
                        </a:solidFill>
                        <a:latin typeface="Calibri"/>
                        <a:ea typeface="Calibri"/>
                        <a:cs typeface="Calibri"/>
                        <a:sym typeface="Calibri"/>
                      </a:endParaRPr>
                    </a:p>
                  </a:txBody>
                  <a:tcPr marL="28575" marR="28575" marT="19050" marB="19050" anchor="b">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chemeClr val="lt1"/>
                    </a:solidFill>
                  </a:tcPr>
                </a:tc>
                <a:tc>
                  <a:txBody>
                    <a:bodyPr/>
                    <a:lstStyle/>
                    <a:p>
                      <a:pPr marL="0" lvl="0" indent="0" algn="r" rtl="0">
                        <a:lnSpc>
                          <a:spcPct val="115000"/>
                        </a:lnSpc>
                        <a:spcBef>
                          <a:spcPts val="0"/>
                        </a:spcBef>
                        <a:spcAft>
                          <a:spcPts val="0"/>
                        </a:spcAft>
                        <a:buNone/>
                      </a:pPr>
                      <a:r>
                        <a:rPr lang="en" sz="800">
                          <a:solidFill>
                            <a:srgbClr val="636879"/>
                          </a:solidFill>
                          <a:latin typeface="Calibri"/>
                          <a:ea typeface="Calibri"/>
                          <a:cs typeface="Calibri"/>
                          <a:sym typeface="Calibri"/>
                        </a:rPr>
                        <a:t>1481</a:t>
                      </a:r>
                      <a:endParaRPr sz="800">
                        <a:solidFill>
                          <a:srgbClr val="636879"/>
                        </a:solidFill>
                        <a:latin typeface="Calibri"/>
                        <a:ea typeface="Calibri"/>
                        <a:cs typeface="Calibri"/>
                        <a:sym typeface="Calibri"/>
                      </a:endParaRPr>
                    </a:p>
                  </a:txBody>
                  <a:tcPr marL="28575" marR="28575" marT="19050" marB="19050" anchor="b">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chemeClr val="lt1"/>
                    </a:solidFill>
                  </a:tcPr>
                </a:tc>
                <a:extLst>
                  <a:ext uri="{0D108BD9-81ED-4DB2-BD59-A6C34878D82A}">
                    <a16:rowId xmlns:a16="http://schemas.microsoft.com/office/drawing/2014/main" val="10012"/>
                  </a:ext>
                </a:extLst>
              </a:tr>
              <a:tr h="151200">
                <a:tc>
                  <a:txBody>
                    <a:bodyPr/>
                    <a:lstStyle/>
                    <a:p>
                      <a:pPr marL="0" lvl="0" indent="0" algn="l" rtl="0">
                        <a:lnSpc>
                          <a:spcPct val="115000"/>
                        </a:lnSpc>
                        <a:spcBef>
                          <a:spcPts val="0"/>
                        </a:spcBef>
                        <a:spcAft>
                          <a:spcPts val="0"/>
                        </a:spcAft>
                        <a:buNone/>
                      </a:pPr>
                      <a:r>
                        <a:rPr lang="en" sz="800" u="sng">
                          <a:solidFill>
                            <a:srgbClr val="1155CC"/>
                          </a:solidFill>
                          <a:latin typeface="Calibri"/>
                          <a:ea typeface="Calibri"/>
                          <a:cs typeface="Calibri"/>
                          <a:sym typeface="Calibri"/>
                          <a:hlinkClick r:id="rId31">
                            <a:extLst>
                              <a:ext uri="{A12FA001-AC4F-418D-AE19-62706E023703}">
                                <ahyp:hlinkClr xmlns:ahyp="http://schemas.microsoft.com/office/drawing/2018/hyperlinkcolor" val="tx"/>
                              </a:ext>
                            </a:extLst>
                          </a:hlinkClick>
                        </a:rPr>
                        <a:t>kimi-k2-thinking-turbo</a:t>
                      </a:r>
                      <a:r>
                        <a:rPr lang="en" sz="800" u="sng">
                          <a:solidFill>
                            <a:srgbClr val="1155CC"/>
                          </a:solidFill>
                          <a:latin typeface="Calibri"/>
                          <a:ea typeface="Calibri"/>
                          <a:cs typeface="Calibri"/>
                          <a:sym typeface="Calibri"/>
                        </a:rPr>
                        <a:t>  </a:t>
                      </a:r>
                      <a:r>
                        <a:rPr lang="en" sz="800">
                          <a:solidFill>
                            <a:schemeClr val="dk1"/>
                          </a:solidFill>
                          <a:latin typeface="Calibri"/>
                          <a:ea typeface="Calibri"/>
                          <a:cs typeface="Calibri"/>
                          <a:sym typeface="Calibri"/>
                        </a:rPr>
                        <a:t>  1T params</a:t>
                      </a:r>
                      <a:endParaRPr sz="800" u="sng">
                        <a:solidFill>
                          <a:srgbClr val="1155CC"/>
                        </a:solidFill>
                        <a:latin typeface="Calibri"/>
                        <a:ea typeface="Calibri"/>
                        <a:cs typeface="Calibri"/>
                        <a:sym typeface="Calibri"/>
                      </a:endParaRPr>
                    </a:p>
                  </a:txBody>
                  <a:tcPr marL="28575" marR="28575" marT="19050" marB="19050" anchor="b">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chemeClr val="lt1"/>
                    </a:solidFill>
                  </a:tcPr>
                </a:tc>
                <a:tc>
                  <a:txBody>
                    <a:bodyPr/>
                    <a:lstStyle/>
                    <a:p>
                      <a:pPr marL="0" lvl="0" indent="0" algn="r" rtl="0">
                        <a:lnSpc>
                          <a:spcPct val="115000"/>
                        </a:lnSpc>
                        <a:spcBef>
                          <a:spcPts val="0"/>
                        </a:spcBef>
                        <a:spcAft>
                          <a:spcPts val="0"/>
                        </a:spcAft>
                        <a:buNone/>
                      </a:pPr>
                      <a:r>
                        <a:rPr lang="en" sz="800">
                          <a:solidFill>
                            <a:srgbClr val="636879"/>
                          </a:solidFill>
                          <a:latin typeface="Calibri"/>
                          <a:ea typeface="Calibri"/>
                          <a:cs typeface="Calibri"/>
                          <a:sym typeface="Calibri"/>
                        </a:rPr>
                        <a:t>1480</a:t>
                      </a:r>
                      <a:endParaRPr sz="800">
                        <a:solidFill>
                          <a:srgbClr val="636879"/>
                        </a:solidFill>
                        <a:latin typeface="Calibri"/>
                        <a:ea typeface="Calibri"/>
                        <a:cs typeface="Calibri"/>
                        <a:sym typeface="Calibri"/>
                      </a:endParaRPr>
                    </a:p>
                  </a:txBody>
                  <a:tcPr marL="28575" marR="28575" marT="19050" marB="19050" anchor="b">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chemeClr val="lt1"/>
                    </a:solidFill>
                  </a:tcPr>
                </a:tc>
                <a:extLst>
                  <a:ext uri="{0D108BD9-81ED-4DB2-BD59-A6C34878D82A}">
                    <a16:rowId xmlns:a16="http://schemas.microsoft.com/office/drawing/2014/main" val="10013"/>
                  </a:ext>
                </a:extLst>
              </a:tr>
              <a:tr h="151200">
                <a:tc>
                  <a:txBody>
                    <a:bodyPr/>
                    <a:lstStyle/>
                    <a:p>
                      <a:pPr marL="0" lvl="0" indent="0" algn="l" rtl="0">
                        <a:lnSpc>
                          <a:spcPct val="115000"/>
                        </a:lnSpc>
                        <a:spcBef>
                          <a:spcPts val="0"/>
                        </a:spcBef>
                        <a:spcAft>
                          <a:spcPts val="0"/>
                        </a:spcAft>
                        <a:buNone/>
                      </a:pPr>
                      <a:r>
                        <a:rPr lang="en" sz="800" u="sng">
                          <a:solidFill>
                            <a:srgbClr val="1155CC"/>
                          </a:solidFill>
                          <a:latin typeface="Calibri"/>
                          <a:ea typeface="Calibri"/>
                          <a:cs typeface="Calibri"/>
                          <a:sym typeface="Calibri"/>
                          <a:hlinkClick r:id="rId37">
                            <a:extLst>
                              <a:ext uri="{A12FA001-AC4F-418D-AE19-62706E023703}">
                                <ahyp:hlinkClr xmlns:ahyp="http://schemas.microsoft.com/office/drawing/2018/hyperlinkcolor" val="tx"/>
                              </a:ext>
                            </a:extLst>
                          </a:hlinkClick>
                        </a:rPr>
                        <a:t>claude-haiku-4-5-20251001</a:t>
                      </a:r>
                      <a:endParaRPr sz="800" u="sng">
                        <a:solidFill>
                          <a:srgbClr val="1155CC"/>
                        </a:solidFill>
                        <a:latin typeface="Calibri"/>
                        <a:ea typeface="Calibri"/>
                        <a:cs typeface="Calibri"/>
                        <a:sym typeface="Calibri"/>
                      </a:endParaRPr>
                    </a:p>
                  </a:txBody>
                  <a:tcPr marL="28575" marR="28575" marT="19050" marB="19050" anchor="b">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chemeClr val="lt1"/>
                    </a:solidFill>
                  </a:tcPr>
                </a:tc>
                <a:tc>
                  <a:txBody>
                    <a:bodyPr/>
                    <a:lstStyle/>
                    <a:p>
                      <a:pPr marL="0" lvl="0" indent="0" algn="r" rtl="0">
                        <a:lnSpc>
                          <a:spcPct val="115000"/>
                        </a:lnSpc>
                        <a:spcBef>
                          <a:spcPts val="0"/>
                        </a:spcBef>
                        <a:spcAft>
                          <a:spcPts val="0"/>
                        </a:spcAft>
                        <a:buNone/>
                      </a:pPr>
                      <a:r>
                        <a:rPr lang="en" sz="800">
                          <a:solidFill>
                            <a:srgbClr val="636879"/>
                          </a:solidFill>
                          <a:latin typeface="Calibri"/>
                          <a:ea typeface="Calibri"/>
                          <a:cs typeface="Calibri"/>
                          <a:sym typeface="Calibri"/>
                        </a:rPr>
                        <a:t>1477</a:t>
                      </a:r>
                      <a:endParaRPr sz="800">
                        <a:solidFill>
                          <a:srgbClr val="636879"/>
                        </a:solidFill>
                        <a:latin typeface="Calibri"/>
                        <a:ea typeface="Calibri"/>
                        <a:cs typeface="Calibri"/>
                        <a:sym typeface="Calibri"/>
                      </a:endParaRPr>
                    </a:p>
                  </a:txBody>
                  <a:tcPr marL="28575" marR="28575" marT="19050" marB="19050" anchor="b">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chemeClr val="lt1"/>
                    </a:solidFill>
                  </a:tcPr>
                </a:tc>
                <a:extLst>
                  <a:ext uri="{0D108BD9-81ED-4DB2-BD59-A6C34878D82A}">
                    <a16:rowId xmlns:a16="http://schemas.microsoft.com/office/drawing/2014/main" val="10014"/>
                  </a:ext>
                </a:extLst>
              </a:tr>
              <a:tr h="151200">
                <a:tc>
                  <a:txBody>
                    <a:bodyPr/>
                    <a:lstStyle/>
                    <a:p>
                      <a:pPr marL="0" lvl="0" indent="0" algn="l" rtl="0">
                        <a:lnSpc>
                          <a:spcPct val="115000"/>
                        </a:lnSpc>
                        <a:spcBef>
                          <a:spcPts val="0"/>
                        </a:spcBef>
                        <a:spcAft>
                          <a:spcPts val="0"/>
                        </a:spcAft>
                        <a:buNone/>
                      </a:pPr>
                      <a:r>
                        <a:rPr lang="en" sz="800" u="sng">
                          <a:solidFill>
                            <a:srgbClr val="1155CC"/>
                          </a:solidFill>
                          <a:latin typeface="Calibri"/>
                          <a:ea typeface="Calibri"/>
                          <a:cs typeface="Calibri"/>
                          <a:sym typeface="Calibri"/>
                          <a:hlinkClick r:id="rId20">
                            <a:extLst>
                              <a:ext uri="{A12FA001-AC4F-418D-AE19-62706E023703}">
                                <ahyp:hlinkClr xmlns:ahyp="http://schemas.microsoft.com/office/drawing/2018/hyperlinkcolor" val="tx"/>
                              </a:ext>
                            </a:extLst>
                          </a:hlinkClick>
                        </a:rPr>
                        <a:t>gpt-5.1</a:t>
                      </a:r>
                      <a:endParaRPr sz="800" u="sng">
                        <a:solidFill>
                          <a:srgbClr val="1155CC"/>
                        </a:solidFill>
                        <a:latin typeface="Calibri"/>
                        <a:ea typeface="Calibri"/>
                        <a:cs typeface="Calibri"/>
                        <a:sym typeface="Calibri"/>
                      </a:endParaRPr>
                    </a:p>
                  </a:txBody>
                  <a:tcPr marL="28575" marR="28575" marT="19050" marB="19050" anchor="b">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chemeClr val="lt1"/>
                    </a:solidFill>
                  </a:tcPr>
                </a:tc>
                <a:tc>
                  <a:txBody>
                    <a:bodyPr/>
                    <a:lstStyle/>
                    <a:p>
                      <a:pPr marL="0" lvl="0" indent="0" algn="r" rtl="0">
                        <a:lnSpc>
                          <a:spcPct val="115000"/>
                        </a:lnSpc>
                        <a:spcBef>
                          <a:spcPts val="0"/>
                        </a:spcBef>
                        <a:spcAft>
                          <a:spcPts val="0"/>
                        </a:spcAft>
                        <a:buNone/>
                      </a:pPr>
                      <a:r>
                        <a:rPr lang="en" sz="800">
                          <a:solidFill>
                            <a:srgbClr val="636879"/>
                          </a:solidFill>
                          <a:latin typeface="Calibri"/>
                          <a:ea typeface="Calibri"/>
                          <a:cs typeface="Calibri"/>
                          <a:sym typeface="Calibri"/>
                        </a:rPr>
                        <a:t>1476</a:t>
                      </a:r>
                      <a:endParaRPr sz="800">
                        <a:solidFill>
                          <a:srgbClr val="636879"/>
                        </a:solidFill>
                        <a:latin typeface="Calibri"/>
                        <a:ea typeface="Calibri"/>
                        <a:cs typeface="Calibri"/>
                        <a:sym typeface="Calibri"/>
                      </a:endParaRPr>
                    </a:p>
                  </a:txBody>
                  <a:tcPr marL="28575" marR="28575" marT="19050" marB="19050" anchor="b">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chemeClr val="lt1"/>
                    </a:solidFill>
                  </a:tcPr>
                </a:tc>
                <a:extLst>
                  <a:ext uri="{0D108BD9-81ED-4DB2-BD59-A6C34878D82A}">
                    <a16:rowId xmlns:a16="http://schemas.microsoft.com/office/drawing/2014/main" val="10015"/>
                  </a:ext>
                </a:extLst>
              </a:tr>
              <a:tr h="151200">
                <a:tc>
                  <a:txBody>
                    <a:bodyPr/>
                    <a:lstStyle/>
                    <a:p>
                      <a:pPr marL="0" lvl="0" indent="0" algn="l" rtl="0">
                        <a:lnSpc>
                          <a:spcPct val="115000"/>
                        </a:lnSpc>
                        <a:spcBef>
                          <a:spcPts val="0"/>
                        </a:spcBef>
                        <a:spcAft>
                          <a:spcPts val="0"/>
                        </a:spcAft>
                        <a:buNone/>
                      </a:pPr>
                      <a:r>
                        <a:rPr lang="en" sz="800" u="sng">
                          <a:solidFill>
                            <a:srgbClr val="1155CC"/>
                          </a:solidFill>
                          <a:latin typeface="Calibri"/>
                          <a:ea typeface="Calibri"/>
                          <a:cs typeface="Calibri"/>
                          <a:sym typeface="Calibri"/>
                          <a:hlinkClick r:id="rId38">
                            <a:extLst>
                              <a:ext uri="{A12FA001-AC4F-418D-AE19-62706E023703}">
                                <ahyp:hlinkClr xmlns:ahyp="http://schemas.microsoft.com/office/drawing/2018/hyperlinkcolor" val="tx"/>
                              </a:ext>
                            </a:extLst>
                          </a:hlinkClick>
                        </a:rPr>
                        <a:t>longcat-flash-chat</a:t>
                      </a:r>
                      <a:r>
                        <a:rPr lang="en" sz="800" u="sng">
                          <a:solidFill>
                            <a:srgbClr val="1155CC"/>
                          </a:solidFill>
                          <a:latin typeface="Calibri"/>
                          <a:ea typeface="Calibri"/>
                          <a:cs typeface="Calibri"/>
                          <a:sym typeface="Calibri"/>
                        </a:rPr>
                        <a:t>  </a:t>
                      </a:r>
                      <a:r>
                        <a:rPr lang="en" sz="800">
                          <a:solidFill>
                            <a:schemeClr val="dk1"/>
                          </a:solidFill>
                          <a:latin typeface="Calibri"/>
                          <a:ea typeface="Calibri"/>
                          <a:cs typeface="Calibri"/>
                          <a:sym typeface="Calibri"/>
                        </a:rPr>
                        <a:t>  560B params</a:t>
                      </a:r>
                      <a:endParaRPr sz="800" u="sng">
                        <a:solidFill>
                          <a:srgbClr val="1155CC"/>
                        </a:solidFill>
                        <a:latin typeface="Calibri"/>
                        <a:ea typeface="Calibri"/>
                        <a:cs typeface="Calibri"/>
                        <a:sym typeface="Calibri"/>
                      </a:endParaRPr>
                    </a:p>
                  </a:txBody>
                  <a:tcPr marL="28575" marR="28575" marT="19050" marB="19050" anchor="b">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chemeClr val="lt1"/>
                    </a:solidFill>
                  </a:tcPr>
                </a:tc>
                <a:tc>
                  <a:txBody>
                    <a:bodyPr/>
                    <a:lstStyle/>
                    <a:p>
                      <a:pPr marL="0" lvl="0" indent="0" algn="r" rtl="0">
                        <a:lnSpc>
                          <a:spcPct val="115000"/>
                        </a:lnSpc>
                        <a:spcBef>
                          <a:spcPts val="0"/>
                        </a:spcBef>
                        <a:spcAft>
                          <a:spcPts val="0"/>
                        </a:spcAft>
                        <a:buNone/>
                      </a:pPr>
                      <a:r>
                        <a:rPr lang="en" sz="800">
                          <a:solidFill>
                            <a:srgbClr val="636879"/>
                          </a:solidFill>
                          <a:latin typeface="Calibri"/>
                          <a:ea typeface="Calibri"/>
                          <a:cs typeface="Calibri"/>
                          <a:sym typeface="Calibri"/>
                        </a:rPr>
                        <a:t>1474</a:t>
                      </a:r>
                      <a:endParaRPr sz="800">
                        <a:solidFill>
                          <a:srgbClr val="636879"/>
                        </a:solidFill>
                        <a:latin typeface="Calibri"/>
                        <a:ea typeface="Calibri"/>
                        <a:cs typeface="Calibri"/>
                        <a:sym typeface="Calibri"/>
                      </a:endParaRPr>
                    </a:p>
                  </a:txBody>
                  <a:tcPr marL="28575" marR="28575" marT="19050" marB="19050" anchor="b">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chemeClr val="lt1"/>
                    </a:solidFill>
                  </a:tcPr>
                </a:tc>
                <a:extLst>
                  <a:ext uri="{0D108BD9-81ED-4DB2-BD59-A6C34878D82A}">
                    <a16:rowId xmlns:a16="http://schemas.microsoft.com/office/drawing/2014/main" val="10016"/>
                  </a:ext>
                </a:extLst>
              </a:tr>
              <a:tr h="151200">
                <a:tc>
                  <a:txBody>
                    <a:bodyPr/>
                    <a:lstStyle/>
                    <a:p>
                      <a:pPr marL="0" lvl="0" indent="0" algn="l" rtl="0">
                        <a:lnSpc>
                          <a:spcPct val="115000"/>
                        </a:lnSpc>
                        <a:spcBef>
                          <a:spcPts val="0"/>
                        </a:spcBef>
                        <a:spcAft>
                          <a:spcPts val="0"/>
                        </a:spcAft>
                        <a:buNone/>
                      </a:pPr>
                      <a:r>
                        <a:rPr lang="en" sz="800" u="sng">
                          <a:solidFill>
                            <a:srgbClr val="1155CC"/>
                          </a:solidFill>
                          <a:latin typeface="Calibri"/>
                          <a:ea typeface="Calibri"/>
                          <a:cs typeface="Calibri"/>
                          <a:sym typeface="Calibri"/>
                          <a:hlinkClick r:id="rId34">
                            <a:extLst>
                              <a:ext uri="{A12FA001-AC4F-418D-AE19-62706E023703}">
                                <ahyp:hlinkClr xmlns:ahyp="http://schemas.microsoft.com/office/drawing/2018/hyperlinkcolor" val="tx"/>
                              </a:ext>
                            </a:extLst>
                          </a:hlinkClick>
                        </a:rPr>
                        <a:t>qwen3-max-2025-09-23</a:t>
                      </a:r>
                      <a:r>
                        <a:rPr lang="en" sz="800" u="sng">
                          <a:solidFill>
                            <a:srgbClr val="1155CC"/>
                          </a:solidFill>
                          <a:latin typeface="Calibri"/>
                          <a:ea typeface="Calibri"/>
                          <a:cs typeface="Calibri"/>
                          <a:sym typeface="Calibri"/>
                        </a:rPr>
                        <a:t>  </a:t>
                      </a:r>
                      <a:r>
                        <a:rPr lang="en" sz="800">
                          <a:solidFill>
                            <a:schemeClr val="dk1"/>
                          </a:solidFill>
                          <a:latin typeface="Calibri"/>
                          <a:ea typeface="Calibri"/>
                          <a:cs typeface="Calibri"/>
                          <a:sym typeface="Calibri"/>
                        </a:rPr>
                        <a:t>1T params</a:t>
                      </a:r>
                      <a:endParaRPr sz="800" u="sng">
                        <a:solidFill>
                          <a:srgbClr val="1155CC"/>
                        </a:solidFill>
                        <a:latin typeface="Calibri"/>
                        <a:ea typeface="Calibri"/>
                        <a:cs typeface="Calibri"/>
                        <a:sym typeface="Calibri"/>
                      </a:endParaRPr>
                    </a:p>
                  </a:txBody>
                  <a:tcPr marL="28575" marR="28575" marT="19050" marB="19050" anchor="b">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chemeClr val="lt1"/>
                    </a:solidFill>
                  </a:tcPr>
                </a:tc>
                <a:tc>
                  <a:txBody>
                    <a:bodyPr/>
                    <a:lstStyle/>
                    <a:p>
                      <a:pPr marL="0" lvl="0" indent="0" algn="r" rtl="0">
                        <a:lnSpc>
                          <a:spcPct val="115000"/>
                        </a:lnSpc>
                        <a:spcBef>
                          <a:spcPts val="0"/>
                        </a:spcBef>
                        <a:spcAft>
                          <a:spcPts val="0"/>
                        </a:spcAft>
                        <a:buNone/>
                      </a:pPr>
                      <a:r>
                        <a:rPr lang="en" sz="800">
                          <a:solidFill>
                            <a:srgbClr val="636879"/>
                          </a:solidFill>
                          <a:latin typeface="Calibri"/>
                          <a:ea typeface="Calibri"/>
                          <a:cs typeface="Calibri"/>
                          <a:sym typeface="Calibri"/>
                        </a:rPr>
                        <a:t>1474</a:t>
                      </a:r>
                      <a:endParaRPr sz="800">
                        <a:solidFill>
                          <a:srgbClr val="636879"/>
                        </a:solidFill>
                        <a:latin typeface="Calibri"/>
                        <a:ea typeface="Calibri"/>
                        <a:cs typeface="Calibri"/>
                        <a:sym typeface="Calibri"/>
                      </a:endParaRPr>
                    </a:p>
                  </a:txBody>
                  <a:tcPr marL="28575" marR="28575" marT="19050" marB="19050" anchor="b">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chemeClr val="lt1"/>
                    </a:solidFill>
                  </a:tcPr>
                </a:tc>
                <a:extLst>
                  <a:ext uri="{0D108BD9-81ED-4DB2-BD59-A6C34878D82A}">
                    <a16:rowId xmlns:a16="http://schemas.microsoft.com/office/drawing/2014/main" val="10017"/>
                  </a:ext>
                </a:extLst>
              </a:tr>
              <a:tr h="151200">
                <a:tc>
                  <a:txBody>
                    <a:bodyPr/>
                    <a:lstStyle/>
                    <a:p>
                      <a:pPr marL="0" lvl="0" indent="0" algn="l" rtl="0">
                        <a:lnSpc>
                          <a:spcPct val="115000"/>
                        </a:lnSpc>
                        <a:spcBef>
                          <a:spcPts val="0"/>
                        </a:spcBef>
                        <a:spcAft>
                          <a:spcPts val="0"/>
                        </a:spcAft>
                        <a:buNone/>
                      </a:pPr>
                      <a:r>
                        <a:rPr lang="en" sz="800" u="sng">
                          <a:solidFill>
                            <a:srgbClr val="1155CC"/>
                          </a:solidFill>
                          <a:latin typeface="Calibri"/>
                          <a:ea typeface="Calibri"/>
                          <a:cs typeface="Calibri"/>
                          <a:sym typeface="Calibri"/>
                          <a:hlinkClick r:id="rId35">
                            <a:extLst>
                              <a:ext uri="{A12FA001-AC4F-418D-AE19-62706E023703}">
                                <ahyp:hlinkClr xmlns:ahyp="http://schemas.microsoft.com/office/drawing/2018/hyperlinkcolor" val="tx"/>
                              </a:ext>
                            </a:extLst>
                          </a:hlinkClick>
                        </a:rPr>
                        <a:t>deepseek-v3.2-exp-thinking</a:t>
                      </a:r>
                      <a:r>
                        <a:rPr lang="en" sz="800" u="sng">
                          <a:solidFill>
                            <a:srgbClr val="1155CC"/>
                          </a:solidFill>
                          <a:latin typeface="Calibri"/>
                          <a:ea typeface="Calibri"/>
                          <a:cs typeface="Calibri"/>
                          <a:sym typeface="Calibri"/>
                        </a:rPr>
                        <a:t> </a:t>
                      </a:r>
                      <a:r>
                        <a:rPr lang="en" sz="800">
                          <a:solidFill>
                            <a:schemeClr val="dk1"/>
                          </a:solidFill>
                          <a:latin typeface="Calibri"/>
                          <a:ea typeface="Calibri"/>
                          <a:cs typeface="Calibri"/>
                          <a:sym typeface="Calibri"/>
                        </a:rPr>
                        <a:t>   671B </a:t>
                      </a:r>
                      <a:endParaRPr sz="800" u="sng">
                        <a:solidFill>
                          <a:srgbClr val="1155CC"/>
                        </a:solidFill>
                        <a:latin typeface="Calibri"/>
                        <a:ea typeface="Calibri"/>
                        <a:cs typeface="Calibri"/>
                        <a:sym typeface="Calibri"/>
                      </a:endParaRPr>
                    </a:p>
                  </a:txBody>
                  <a:tcPr marL="28575" marR="28575" marT="19050" marB="19050" anchor="b">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chemeClr val="lt1"/>
                    </a:solidFill>
                  </a:tcPr>
                </a:tc>
                <a:tc>
                  <a:txBody>
                    <a:bodyPr/>
                    <a:lstStyle/>
                    <a:p>
                      <a:pPr marL="0" lvl="0" indent="0" algn="r" rtl="0">
                        <a:lnSpc>
                          <a:spcPct val="115000"/>
                        </a:lnSpc>
                        <a:spcBef>
                          <a:spcPts val="0"/>
                        </a:spcBef>
                        <a:spcAft>
                          <a:spcPts val="0"/>
                        </a:spcAft>
                        <a:buNone/>
                      </a:pPr>
                      <a:r>
                        <a:rPr lang="en" sz="800">
                          <a:solidFill>
                            <a:srgbClr val="636879"/>
                          </a:solidFill>
                          <a:latin typeface="Calibri"/>
                          <a:ea typeface="Calibri"/>
                          <a:cs typeface="Calibri"/>
                          <a:sym typeface="Calibri"/>
                        </a:rPr>
                        <a:t>1470</a:t>
                      </a:r>
                      <a:endParaRPr sz="800">
                        <a:solidFill>
                          <a:srgbClr val="636879"/>
                        </a:solidFill>
                        <a:latin typeface="Calibri"/>
                        <a:ea typeface="Calibri"/>
                        <a:cs typeface="Calibri"/>
                        <a:sym typeface="Calibri"/>
                      </a:endParaRPr>
                    </a:p>
                  </a:txBody>
                  <a:tcPr marL="28575" marR="28575" marT="19050" marB="19050" anchor="b">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chemeClr val="lt1"/>
                    </a:solidFill>
                  </a:tcPr>
                </a:tc>
                <a:extLst>
                  <a:ext uri="{0D108BD9-81ED-4DB2-BD59-A6C34878D82A}">
                    <a16:rowId xmlns:a16="http://schemas.microsoft.com/office/drawing/2014/main" val="10018"/>
                  </a:ext>
                </a:extLst>
              </a:tr>
              <a:tr h="151200">
                <a:tc>
                  <a:txBody>
                    <a:bodyPr/>
                    <a:lstStyle/>
                    <a:p>
                      <a:pPr marL="0" lvl="0" indent="0" algn="l" rtl="0">
                        <a:lnSpc>
                          <a:spcPct val="115000"/>
                        </a:lnSpc>
                        <a:spcBef>
                          <a:spcPts val="0"/>
                        </a:spcBef>
                        <a:spcAft>
                          <a:spcPts val="0"/>
                        </a:spcAft>
                        <a:buNone/>
                      </a:pPr>
                      <a:r>
                        <a:rPr lang="en" sz="800" u="sng">
                          <a:solidFill>
                            <a:srgbClr val="1155CC"/>
                          </a:solidFill>
                          <a:latin typeface="Calibri"/>
                          <a:ea typeface="Calibri"/>
                          <a:cs typeface="Calibri"/>
                          <a:sym typeface="Calibri"/>
                          <a:hlinkClick r:id="rId26">
                            <a:extLst>
                              <a:ext uri="{A12FA001-AC4F-418D-AE19-62706E023703}">
                                <ahyp:hlinkClr xmlns:ahyp="http://schemas.microsoft.com/office/drawing/2018/hyperlinkcolor" val="tx"/>
                              </a:ext>
                            </a:extLst>
                          </a:hlinkClick>
                        </a:rPr>
                        <a:t>gpt-5-high</a:t>
                      </a:r>
                      <a:endParaRPr sz="800" u="sng">
                        <a:solidFill>
                          <a:srgbClr val="1155CC"/>
                        </a:solidFill>
                        <a:latin typeface="Calibri"/>
                        <a:ea typeface="Calibri"/>
                        <a:cs typeface="Calibri"/>
                        <a:sym typeface="Calibri"/>
                      </a:endParaRPr>
                    </a:p>
                  </a:txBody>
                  <a:tcPr marL="28575" marR="28575" marT="19050" marB="19050" anchor="b">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chemeClr val="lt1"/>
                    </a:solidFill>
                  </a:tcPr>
                </a:tc>
                <a:tc>
                  <a:txBody>
                    <a:bodyPr/>
                    <a:lstStyle/>
                    <a:p>
                      <a:pPr marL="0" lvl="0" indent="0" algn="r" rtl="0">
                        <a:lnSpc>
                          <a:spcPct val="115000"/>
                        </a:lnSpc>
                        <a:spcBef>
                          <a:spcPts val="0"/>
                        </a:spcBef>
                        <a:spcAft>
                          <a:spcPts val="0"/>
                        </a:spcAft>
                        <a:buNone/>
                      </a:pPr>
                      <a:r>
                        <a:rPr lang="en" sz="800">
                          <a:solidFill>
                            <a:srgbClr val="636879"/>
                          </a:solidFill>
                          <a:latin typeface="Calibri"/>
                          <a:ea typeface="Calibri"/>
                          <a:cs typeface="Calibri"/>
                          <a:sym typeface="Calibri"/>
                        </a:rPr>
                        <a:t>1470</a:t>
                      </a:r>
                      <a:endParaRPr sz="800">
                        <a:solidFill>
                          <a:srgbClr val="636879"/>
                        </a:solidFill>
                        <a:latin typeface="Calibri"/>
                        <a:ea typeface="Calibri"/>
                        <a:cs typeface="Calibri"/>
                        <a:sym typeface="Calibri"/>
                      </a:endParaRPr>
                    </a:p>
                  </a:txBody>
                  <a:tcPr marL="28575" marR="28575" marT="19050" marB="19050" anchor="b">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chemeClr val="lt1"/>
                    </a:solidFill>
                  </a:tcPr>
                </a:tc>
                <a:extLst>
                  <a:ext uri="{0D108BD9-81ED-4DB2-BD59-A6C34878D82A}">
                    <a16:rowId xmlns:a16="http://schemas.microsoft.com/office/drawing/2014/main" val="10019"/>
                  </a:ext>
                </a:extLst>
              </a:tr>
              <a:tr h="151200">
                <a:tc>
                  <a:txBody>
                    <a:bodyPr/>
                    <a:lstStyle/>
                    <a:p>
                      <a:pPr marL="0" lvl="0" indent="0" algn="l" rtl="0">
                        <a:lnSpc>
                          <a:spcPct val="115000"/>
                        </a:lnSpc>
                        <a:spcBef>
                          <a:spcPts val="0"/>
                        </a:spcBef>
                        <a:spcAft>
                          <a:spcPts val="0"/>
                        </a:spcAft>
                        <a:buNone/>
                      </a:pPr>
                      <a:r>
                        <a:rPr lang="en" sz="800" u="sng">
                          <a:solidFill>
                            <a:srgbClr val="1155CC"/>
                          </a:solidFill>
                          <a:latin typeface="Calibri"/>
                          <a:ea typeface="Calibri"/>
                          <a:cs typeface="Calibri"/>
                          <a:sym typeface="Calibri"/>
                          <a:hlinkClick r:id="rId39">
                            <a:extLst>
                              <a:ext uri="{A12FA001-AC4F-418D-AE19-62706E023703}">
                                <ahyp:hlinkClr xmlns:ahyp="http://schemas.microsoft.com/office/drawing/2018/hyperlinkcolor" val="tx"/>
                              </a:ext>
                            </a:extLst>
                          </a:hlinkClick>
                        </a:rPr>
                        <a:t>qwen3-235b-a22b-instruct-2507</a:t>
                      </a:r>
                      <a:r>
                        <a:rPr lang="en" sz="800" u="sng">
                          <a:solidFill>
                            <a:srgbClr val="1155CC"/>
                          </a:solidFill>
                          <a:latin typeface="Calibri"/>
                          <a:ea typeface="Calibri"/>
                          <a:cs typeface="Calibri"/>
                          <a:sym typeface="Calibri"/>
                        </a:rPr>
                        <a:t> </a:t>
                      </a:r>
                      <a:r>
                        <a:rPr lang="en" sz="800">
                          <a:solidFill>
                            <a:schemeClr val="dk1"/>
                          </a:solidFill>
                          <a:latin typeface="Calibri"/>
                          <a:ea typeface="Calibri"/>
                          <a:cs typeface="Calibri"/>
                          <a:sym typeface="Calibri"/>
                        </a:rPr>
                        <a:t> 235B</a:t>
                      </a:r>
                      <a:endParaRPr sz="800" u="sng">
                        <a:solidFill>
                          <a:srgbClr val="1155CC"/>
                        </a:solidFill>
                        <a:latin typeface="Calibri"/>
                        <a:ea typeface="Calibri"/>
                        <a:cs typeface="Calibri"/>
                        <a:sym typeface="Calibri"/>
                      </a:endParaRPr>
                    </a:p>
                  </a:txBody>
                  <a:tcPr marL="28575" marR="28575" marT="19050" marB="19050" anchor="b">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chemeClr val="lt1"/>
                    </a:solidFill>
                  </a:tcPr>
                </a:tc>
                <a:tc>
                  <a:txBody>
                    <a:bodyPr/>
                    <a:lstStyle/>
                    <a:p>
                      <a:pPr marL="0" lvl="0" indent="0" algn="r" rtl="0">
                        <a:lnSpc>
                          <a:spcPct val="115000"/>
                        </a:lnSpc>
                        <a:spcBef>
                          <a:spcPts val="0"/>
                        </a:spcBef>
                        <a:spcAft>
                          <a:spcPts val="0"/>
                        </a:spcAft>
                        <a:buNone/>
                      </a:pPr>
                      <a:r>
                        <a:rPr lang="en" sz="800">
                          <a:solidFill>
                            <a:srgbClr val="636879"/>
                          </a:solidFill>
                          <a:latin typeface="Calibri"/>
                          <a:ea typeface="Calibri"/>
                          <a:cs typeface="Calibri"/>
                          <a:sym typeface="Calibri"/>
                        </a:rPr>
                        <a:t>1470</a:t>
                      </a:r>
                      <a:endParaRPr sz="800">
                        <a:solidFill>
                          <a:srgbClr val="636879"/>
                        </a:solidFill>
                        <a:latin typeface="Calibri"/>
                        <a:ea typeface="Calibri"/>
                        <a:cs typeface="Calibri"/>
                        <a:sym typeface="Calibri"/>
                      </a:endParaRPr>
                    </a:p>
                  </a:txBody>
                  <a:tcPr marL="28575" marR="28575" marT="19050" marB="19050" anchor="b">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chemeClr val="lt1"/>
                    </a:solidFill>
                  </a:tcPr>
                </a:tc>
                <a:extLst>
                  <a:ext uri="{0D108BD9-81ED-4DB2-BD59-A6C34878D82A}">
                    <a16:rowId xmlns:a16="http://schemas.microsoft.com/office/drawing/2014/main" val="10020"/>
                  </a:ext>
                </a:extLst>
              </a:tr>
              <a:tr h="151200">
                <a:tc>
                  <a:txBody>
                    <a:bodyPr/>
                    <a:lstStyle/>
                    <a:p>
                      <a:pPr marL="0" lvl="0" indent="0" algn="l" rtl="0">
                        <a:lnSpc>
                          <a:spcPct val="115000"/>
                        </a:lnSpc>
                        <a:spcBef>
                          <a:spcPts val="0"/>
                        </a:spcBef>
                        <a:spcAft>
                          <a:spcPts val="0"/>
                        </a:spcAft>
                        <a:buNone/>
                      </a:pPr>
                      <a:r>
                        <a:rPr lang="en" sz="800" u="sng">
                          <a:solidFill>
                            <a:srgbClr val="1155CC"/>
                          </a:solidFill>
                          <a:latin typeface="Calibri"/>
                          <a:ea typeface="Calibri"/>
                          <a:cs typeface="Calibri"/>
                          <a:sym typeface="Calibri"/>
                          <a:hlinkClick r:id="rId21">
                            <a:extLst>
                              <a:ext uri="{A12FA001-AC4F-418D-AE19-62706E023703}">
                                <ahyp:hlinkClr xmlns:ahyp="http://schemas.microsoft.com/office/drawing/2018/hyperlinkcolor" val="tx"/>
                              </a:ext>
                            </a:extLst>
                          </a:hlinkClick>
                        </a:rPr>
                        <a:t>gemini-2.5-pro</a:t>
                      </a:r>
                      <a:endParaRPr sz="800" u="sng">
                        <a:solidFill>
                          <a:srgbClr val="1155CC"/>
                        </a:solidFill>
                        <a:latin typeface="Calibri"/>
                        <a:ea typeface="Calibri"/>
                        <a:cs typeface="Calibri"/>
                        <a:sym typeface="Calibri"/>
                      </a:endParaRPr>
                    </a:p>
                  </a:txBody>
                  <a:tcPr marL="28575" marR="28575" marT="19050" marB="19050" anchor="b">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chemeClr val="lt1"/>
                    </a:solidFill>
                  </a:tcPr>
                </a:tc>
                <a:tc>
                  <a:txBody>
                    <a:bodyPr/>
                    <a:lstStyle/>
                    <a:p>
                      <a:pPr marL="0" lvl="0" indent="0" algn="r" rtl="0">
                        <a:lnSpc>
                          <a:spcPct val="115000"/>
                        </a:lnSpc>
                        <a:spcBef>
                          <a:spcPts val="0"/>
                        </a:spcBef>
                        <a:spcAft>
                          <a:spcPts val="0"/>
                        </a:spcAft>
                        <a:buNone/>
                      </a:pPr>
                      <a:r>
                        <a:rPr lang="en" sz="800">
                          <a:solidFill>
                            <a:srgbClr val="636879"/>
                          </a:solidFill>
                          <a:latin typeface="Calibri"/>
                          <a:ea typeface="Calibri"/>
                          <a:cs typeface="Calibri"/>
                          <a:sym typeface="Calibri"/>
                        </a:rPr>
                        <a:t>1469</a:t>
                      </a:r>
                      <a:endParaRPr sz="800">
                        <a:solidFill>
                          <a:srgbClr val="636879"/>
                        </a:solidFill>
                        <a:latin typeface="Calibri"/>
                        <a:ea typeface="Calibri"/>
                        <a:cs typeface="Calibri"/>
                        <a:sym typeface="Calibri"/>
                      </a:endParaRPr>
                    </a:p>
                  </a:txBody>
                  <a:tcPr marL="28575" marR="28575" marT="19050" marB="19050" anchor="b">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chemeClr val="lt1"/>
                    </a:solidFill>
                  </a:tcPr>
                </a:tc>
                <a:extLst>
                  <a:ext uri="{0D108BD9-81ED-4DB2-BD59-A6C34878D82A}">
                    <a16:rowId xmlns:a16="http://schemas.microsoft.com/office/drawing/2014/main" val="10021"/>
                  </a:ext>
                </a:extLst>
              </a:tr>
              <a:tr h="151200">
                <a:tc>
                  <a:txBody>
                    <a:bodyPr/>
                    <a:lstStyle/>
                    <a:p>
                      <a:pPr marL="0" lvl="0" indent="0" algn="l" rtl="0">
                        <a:lnSpc>
                          <a:spcPct val="115000"/>
                        </a:lnSpc>
                        <a:spcBef>
                          <a:spcPts val="0"/>
                        </a:spcBef>
                        <a:spcAft>
                          <a:spcPts val="0"/>
                        </a:spcAft>
                        <a:buNone/>
                      </a:pPr>
                      <a:r>
                        <a:rPr lang="en" sz="800" u="sng">
                          <a:solidFill>
                            <a:srgbClr val="1155CC"/>
                          </a:solidFill>
                          <a:latin typeface="Calibri"/>
                          <a:ea typeface="Calibri"/>
                          <a:cs typeface="Calibri"/>
                          <a:sym typeface="Calibri"/>
                          <a:hlinkClick r:id="rId36">
                            <a:extLst>
                              <a:ext uri="{A12FA001-AC4F-418D-AE19-62706E023703}">
                                <ahyp:hlinkClr xmlns:ahyp="http://schemas.microsoft.com/office/drawing/2018/hyperlinkcolor" val="tx"/>
                              </a:ext>
                            </a:extLst>
                          </a:hlinkClick>
                        </a:rPr>
                        <a:t>claude-sonnet-4-20250514-thinking-32k</a:t>
                      </a:r>
                      <a:endParaRPr sz="800" u="sng">
                        <a:solidFill>
                          <a:srgbClr val="1155CC"/>
                        </a:solidFill>
                        <a:latin typeface="Calibri"/>
                        <a:ea typeface="Calibri"/>
                        <a:cs typeface="Calibri"/>
                        <a:sym typeface="Calibri"/>
                      </a:endParaRPr>
                    </a:p>
                  </a:txBody>
                  <a:tcPr marL="28575" marR="28575" marT="19050" marB="19050" anchor="b">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chemeClr val="lt1"/>
                    </a:solidFill>
                  </a:tcPr>
                </a:tc>
                <a:tc>
                  <a:txBody>
                    <a:bodyPr/>
                    <a:lstStyle/>
                    <a:p>
                      <a:pPr marL="0" lvl="0" indent="0" algn="r" rtl="0">
                        <a:lnSpc>
                          <a:spcPct val="115000"/>
                        </a:lnSpc>
                        <a:spcBef>
                          <a:spcPts val="0"/>
                        </a:spcBef>
                        <a:spcAft>
                          <a:spcPts val="0"/>
                        </a:spcAft>
                        <a:buNone/>
                      </a:pPr>
                      <a:r>
                        <a:rPr lang="en" sz="800">
                          <a:solidFill>
                            <a:srgbClr val="636879"/>
                          </a:solidFill>
                          <a:latin typeface="Calibri"/>
                          <a:ea typeface="Calibri"/>
                          <a:cs typeface="Calibri"/>
                          <a:sym typeface="Calibri"/>
                        </a:rPr>
                        <a:t>1469</a:t>
                      </a:r>
                      <a:endParaRPr sz="800">
                        <a:solidFill>
                          <a:srgbClr val="636879"/>
                        </a:solidFill>
                        <a:latin typeface="Calibri"/>
                        <a:ea typeface="Calibri"/>
                        <a:cs typeface="Calibri"/>
                        <a:sym typeface="Calibri"/>
                      </a:endParaRPr>
                    </a:p>
                  </a:txBody>
                  <a:tcPr marL="28575" marR="28575" marT="19050" marB="19050" anchor="b">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chemeClr val="lt1"/>
                    </a:solidFill>
                  </a:tcPr>
                </a:tc>
                <a:extLst>
                  <a:ext uri="{0D108BD9-81ED-4DB2-BD59-A6C34878D82A}">
                    <a16:rowId xmlns:a16="http://schemas.microsoft.com/office/drawing/2014/main" val="10022"/>
                  </a:ext>
                </a:extLst>
              </a:tr>
              <a:tr h="151200">
                <a:tc>
                  <a:txBody>
                    <a:bodyPr/>
                    <a:lstStyle/>
                    <a:p>
                      <a:pPr marL="0" lvl="0" indent="0" algn="l" rtl="0">
                        <a:lnSpc>
                          <a:spcPct val="115000"/>
                        </a:lnSpc>
                        <a:spcBef>
                          <a:spcPts val="0"/>
                        </a:spcBef>
                        <a:spcAft>
                          <a:spcPts val="0"/>
                        </a:spcAft>
                        <a:buNone/>
                      </a:pPr>
                      <a:r>
                        <a:rPr lang="en" sz="800" u="sng">
                          <a:solidFill>
                            <a:srgbClr val="1155CC"/>
                          </a:solidFill>
                          <a:latin typeface="Calibri"/>
                          <a:ea typeface="Calibri"/>
                          <a:cs typeface="Calibri"/>
                          <a:sym typeface="Calibri"/>
                          <a:hlinkClick r:id="rId40">
                            <a:extLst>
                              <a:ext uri="{A12FA001-AC4F-418D-AE19-62706E023703}">
                                <ahyp:hlinkClr xmlns:ahyp="http://schemas.microsoft.com/office/drawing/2018/hyperlinkcolor" val="tx"/>
                              </a:ext>
                            </a:extLst>
                          </a:hlinkClick>
                        </a:rPr>
                        <a:t>mistral-large-3</a:t>
                      </a:r>
                      <a:endParaRPr sz="800" u="sng">
                        <a:solidFill>
                          <a:srgbClr val="1155CC"/>
                        </a:solidFill>
                        <a:latin typeface="Calibri"/>
                        <a:ea typeface="Calibri"/>
                        <a:cs typeface="Calibri"/>
                        <a:sym typeface="Calibri"/>
                      </a:endParaRPr>
                    </a:p>
                  </a:txBody>
                  <a:tcPr marL="28575" marR="28575" marT="19050" marB="19050" anchor="b">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chemeClr val="lt1"/>
                    </a:solidFill>
                  </a:tcPr>
                </a:tc>
                <a:tc>
                  <a:txBody>
                    <a:bodyPr/>
                    <a:lstStyle/>
                    <a:p>
                      <a:pPr marL="0" lvl="0" indent="0" algn="r" rtl="0">
                        <a:lnSpc>
                          <a:spcPct val="115000"/>
                        </a:lnSpc>
                        <a:spcBef>
                          <a:spcPts val="0"/>
                        </a:spcBef>
                        <a:spcAft>
                          <a:spcPts val="0"/>
                        </a:spcAft>
                        <a:buNone/>
                      </a:pPr>
                      <a:r>
                        <a:rPr lang="en" sz="800">
                          <a:solidFill>
                            <a:srgbClr val="636879"/>
                          </a:solidFill>
                          <a:latin typeface="Calibri"/>
                          <a:ea typeface="Calibri"/>
                          <a:cs typeface="Calibri"/>
                          <a:sym typeface="Calibri"/>
                        </a:rPr>
                        <a:t>1467</a:t>
                      </a:r>
                      <a:endParaRPr sz="800">
                        <a:solidFill>
                          <a:srgbClr val="636879"/>
                        </a:solidFill>
                        <a:latin typeface="Calibri"/>
                        <a:ea typeface="Calibri"/>
                        <a:cs typeface="Calibri"/>
                        <a:sym typeface="Calibri"/>
                      </a:endParaRPr>
                    </a:p>
                  </a:txBody>
                  <a:tcPr marL="28575" marR="28575" marT="19050" marB="19050" anchor="b">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chemeClr val="lt1"/>
                    </a:solidFill>
                  </a:tcPr>
                </a:tc>
                <a:extLst>
                  <a:ext uri="{0D108BD9-81ED-4DB2-BD59-A6C34878D82A}">
                    <a16:rowId xmlns:a16="http://schemas.microsoft.com/office/drawing/2014/main" val="10023"/>
                  </a:ext>
                </a:extLst>
              </a:tr>
              <a:tr h="151200">
                <a:tc>
                  <a:txBody>
                    <a:bodyPr/>
                    <a:lstStyle/>
                    <a:p>
                      <a:pPr marL="0" lvl="0" indent="0" algn="l" rtl="0">
                        <a:lnSpc>
                          <a:spcPct val="115000"/>
                        </a:lnSpc>
                        <a:spcBef>
                          <a:spcPts val="0"/>
                        </a:spcBef>
                        <a:spcAft>
                          <a:spcPts val="0"/>
                        </a:spcAft>
                        <a:buNone/>
                      </a:pPr>
                      <a:r>
                        <a:rPr lang="en" sz="800" u="sng">
                          <a:solidFill>
                            <a:srgbClr val="1155CC"/>
                          </a:solidFill>
                          <a:latin typeface="Calibri"/>
                          <a:ea typeface="Calibri"/>
                          <a:cs typeface="Calibri"/>
                          <a:sym typeface="Calibri"/>
                          <a:hlinkClick r:id="rId35">
                            <a:extLst>
                              <a:ext uri="{A12FA001-AC4F-418D-AE19-62706E023703}">
                                <ahyp:hlinkClr xmlns:ahyp="http://schemas.microsoft.com/office/drawing/2018/hyperlinkcolor" val="tx"/>
                              </a:ext>
                            </a:extLst>
                          </a:hlinkClick>
                        </a:rPr>
                        <a:t>deepseek-v3.2-exp</a:t>
                      </a:r>
                      <a:r>
                        <a:rPr lang="en" sz="800" u="sng">
                          <a:solidFill>
                            <a:srgbClr val="1155CC"/>
                          </a:solidFill>
                          <a:latin typeface="Calibri"/>
                          <a:ea typeface="Calibri"/>
                          <a:cs typeface="Calibri"/>
                          <a:sym typeface="Calibri"/>
                        </a:rPr>
                        <a:t>   </a:t>
                      </a:r>
                      <a:r>
                        <a:rPr lang="en" sz="800">
                          <a:solidFill>
                            <a:schemeClr val="dk1"/>
                          </a:solidFill>
                          <a:latin typeface="Calibri"/>
                          <a:ea typeface="Calibri"/>
                          <a:cs typeface="Calibri"/>
                          <a:sym typeface="Calibri"/>
                        </a:rPr>
                        <a:t> 671B</a:t>
                      </a:r>
                      <a:endParaRPr sz="800" u="sng">
                        <a:solidFill>
                          <a:srgbClr val="1155CC"/>
                        </a:solidFill>
                        <a:latin typeface="Calibri"/>
                        <a:ea typeface="Calibri"/>
                        <a:cs typeface="Calibri"/>
                        <a:sym typeface="Calibri"/>
                      </a:endParaRPr>
                    </a:p>
                  </a:txBody>
                  <a:tcPr marL="28575" marR="28575" marT="19050" marB="19050" anchor="b">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chemeClr val="lt1"/>
                    </a:solidFill>
                  </a:tcPr>
                </a:tc>
                <a:tc>
                  <a:txBody>
                    <a:bodyPr/>
                    <a:lstStyle/>
                    <a:p>
                      <a:pPr marL="0" lvl="0" indent="0" algn="r" rtl="0">
                        <a:lnSpc>
                          <a:spcPct val="115000"/>
                        </a:lnSpc>
                        <a:spcBef>
                          <a:spcPts val="0"/>
                        </a:spcBef>
                        <a:spcAft>
                          <a:spcPts val="0"/>
                        </a:spcAft>
                        <a:buNone/>
                      </a:pPr>
                      <a:r>
                        <a:rPr lang="en" sz="800">
                          <a:solidFill>
                            <a:srgbClr val="636879"/>
                          </a:solidFill>
                          <a:latin typeface="Calibri"/>
                          <a:ea typeface="Calibri"/>
                          <a:cs typeface="Calibri"/>
                          <a:sym typeface="Calibri"/>
                        </a:rPr>
                        <a:t>1467</a:t>
                      </a:r>
                      <a:endParaRPr sz="800">
                        <a:solidFill>
                          <a:srgbClr val="636879"/>
                        </a:solidFill>
                        <a:latin typeface="Calibri"/>
                        <a:ea typeface="Calibri"/>
                        <a:cs typeface="Calibri"/>
                        <a:sym typeface="Calibri"/>
                      </a:endParaRPr>
                    </a:p>
                  </a:txBody>
                  <a:tcPr marL="28575" marR="28575" marT="19050" marB="19050" anchor="b">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chemeClr val="lt1"/>
                    </a:solidFill>
                  </a:tcPr>
                </a:tc>
                <a:extLst>
                  <a:ext uri="{0D108BD9-81ED-4DB2-BD59-A6C34878D82A}">
                    <a16:rowId xmlns:a16="http://schemas.microsoft.com/office/drawing/2014/main" val="10024"/>
                  </a:ext>
                </a:extLst>
              </a:tr>
            </a:tbl>
          </a:graphicData>
        </a:graphic>
      </p:graphicFrame>
      <p:sp>
        <p:nvSpPr>
          <p:cNvPr id="145" name="Google Shape;145;p16"/>
          <p:cNvSpPr txBox="1"/>
          <p:nvPr/>
        </p:nvSpPr>
        <p:spPr>
          <a:xfrm>
            <a:off x="446720" y="4026634"/>
            <a:ext cx="287100" cy="141600"/>
          </a:xfrm>
          <a:prstGeom prst="rect">
            <a:avLst/>
          </a:prstGeom>
          <a:no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0" marR="0" lvl="0" indent="0" algn="l" rtl="0">
              <a:lnSpc>
                <a:spcPct val="100000"/>
              </a:lnSpc>
              <a:spcBef>
                <a:spcPts val="0"/>
              </a:spcBef>
              <a:spcAft>
                <a:spcPts val="0"/>
              </a:spcAft>
              <a:buClr>
                <a:srgbClr val="000000"/>
              </a:buClr>
              <a:buSzPts val="1100"/>
              <a:buFont typeface="Arial"/>
              <a:buNone/>
            </a:pPr>
            <a:r>
              <a:rPr lang="en" sz="800" b="0" i="0" u="none" strike="noStrike" cap="none">
                <a:solidFill>
                  <a:srgbClr val="1F2937"/>
                </a:solidFill>
                <a:highlight>
                  <a:srgbClr val="FFFFFF"/>
                </a:highlight>
                <a:latin typeface="Calibri"/>
                <a:ea typeface="Calibri"/>
                <a:cs typeface="Calibri"/>
                <a:sym typeface="Calibri"/>
              </a:rPr>
              <a:t>China</a:t>
            </a:r>
            <a:endParaRPr sz="800" b="0" i="0" u="none" strike="noStrike" cap="none">
              <a:solidFill>
                <a:srgbClr val="1F2937"/>
              </a:solidFill>
              <a:highlight>
                <a:srgbClr val="FFFFFF"/>
              </a:highlight>
              <a:latin typeface="Calibri"/>
              <a:ea typeface="Calibri"/>
              <a:cs typeface="Calibri"/>
              <a:sym typeface="Calibri"/>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49"/>
        <p:cNvGrpSpPr/>
        <p:nvPr/>
      </p:nvGrpSpPr>
      <p:grpSpPr>
        <a:xfrm>
          <a:off x="0" y="0"/>
          <a:ext cx="0" cy="0"/>
          <a:chOff x="0" y="0"/>
          <a:chExt cx="0" cy="0"/>
        </a:xfrm>
      </p:grpSpPr>
      <p:sp>
        <p:nvSpPr>
          <p:cNvPr id="150" name="Google Shape;150;p17"/>
          <p:cNvSpPr txBox="1"/>
          <p:nvPr/>
        </p:nvSpPr>
        <p:spPr>
          <a:xfrm>
            <a:off x="55075" y="20375"/>
            <a:ext cx="4034700" cy="326400"/>
          </a:xfrm>
          <a:prstGeom prst="rect">
            <a:avLst/>
          </a:prstGeom>
          <a:noFill/>
          <a:ln>
            <a:noFill/>
          </a:ln>
        </p:spPr>
        <p:txBody>
          <a:bodyPr spcFirstLastPara="1" wrap="square" lIns="9125" tIns="9125" rIns="9125" bIns="9125" anchor="t" anchorCtr="0">
            <a:spAutoFit/>
          </a:bodyPr>
          <a:lstStyle/>
          <a:p>
            <a:pPr marL="0" marR="0" lvl="0" indent="0" algn="l" rtl="0">
              <a:lnSpc>
                <a:spcPct val="100000"/>
              </a:lnSpc>
              <a:spcBef>
                <a:spcPts val="0"/>
              </a:spcBef>
              <a:spcAft>
                <a:spcPts val="0"/>
              </a:spcAft>
              <a:buClr>
                <a:schemeClr val="dk1"/>
              </a:buClr>
              <a:buSzPts val="1100"/>
              <a:buFont typeface="Arial"/>
              <a:buNone/>
            </a:pPr>
            <a:r>
              <a:rPr lang="en" sz="2000" b="1">
                <a:solidFill>
                  <a:schemeClr val="dk1"/>
                </a:solidFill>
                <a:latin typeface="Calibri"/>
                <a:ea typeface="Calibri"/>
                <a:cs typeface="Calibri"/>
                <a:sym typeface="Calibri"/>
              </a:rPr>
              <a:t>OpenAI GPT-5.2</a:t>
            </a:r>
            <a:endParaRPr sz="2000" b="1" i="0" u="none" strike="noStrike" cap="none">
              <a:solidFill>
                <a:schemeClr val="dk1"/>
              </a:solidFill>
              <a:latin typeface="Calibri"/>
              <a:ea typeface="Calibri"/>
              <a:cs typeface="Calibri"/>
              <a:sym typeface="Calibri"/>
            </a:endParaRPr>
          </a:p>
        </p:txBody>
      </p:sp>
      <p:sp>
        <p:nvSpPr>
          <p:cNvPr id="151" name="Google Shape;151;p17"/>
          <p:cNvSpPr txBox="1"/>
          <p:nvPr/>
        </p:nvSpPr>
        <p:spPr>
          <a:xfrm>
            <a:off x="144525" y="359803"/>
            <a:ext cx="5172600" cy="37434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171450" marR="0" lvl="0" indent="-133350" algn="l" rtl="0">
              <a:lnSpc>
                <a:spcPct val="100000"/>
              </a:lnSpc>
              <a:spcBef>
                <a:spcPts val="0"/>
              </a:spcBef>
              <a:spcAft>
                <a:spcPts val="0"/>
              </a:spcAft>
              <a:buClr>
                <a:srgbClr val="000000"/>
              </a:buClr>
              <a:buSzPts val="1200"/>
              <a:buFont typeface="Calibri"/>
              <a:buChar char="●"/>
            </a:pPr>
            <a:r>
              <a:rPr lang="en" sz="1200" b="1">
                <a:solidFill>
                  <a:srgbClr val="FF0000"/>
                </a:solidFill>
                <a:latin typeface="Calibri"/>
                <a:ea typeface="Calibri"/>
                <a:cs typeface="Calibri"/>
                <a:sym typeface="Calibri"/>
              </a:rPr>
              <a:t>GPT-5.2 - </a:t>
            </a:r>
            <a:r>
              <a:rPr lang="en" sz="1200">
                <a:latin typeface="Calibri"/>
                <a:ea typeface="Calibri"/>
                <a:cs typeface="Calibri"/>
                <a:sym typeface="Calibri"/>
              </a:rPr>
              <a:t> December 11</a:t>
            </a:r>
            <a:br>
              <a:rPr lang="en" sz="1200">
                <a:latin typeface="Calibri"/>
                <a:ea typeface="Calibri"/>
                <a:cs typeface="Calibri"/>
                <a:sym typeface="Calibri"/>
              </a:rPr>
            </a:br>
            <a:r>
              <a:rPr lang="en" sz="1200" u="sng">
                <a:solidFill>
                  <a:schemeClr val="hlink"/>
                </a:solidFill>
                <a:latin typeface="Calibri"/>
                <a:ea typeface="Calibri"/>
                <a:cs typeface="Calibri"/>
                <a:sym typeface="Calibri"/>
                <a:hlinkClick r:id="rId3"/>
              </a:rPr>
              <a:t>https://openai.com/index/introducing-gpt-5-2/</a:t>
            </a:r>
            <a:r>
              <a:rPr lang="en" sz="1200">
                <a:latin typeface="Calibri"/>
                <a:ea typeface="Calibri"/>
                <a:cs typeface="Calibri"/>
                <a:sym typeface="Calibri"/>
              </a:rPr>
              <a:t> </a:t>
            </a:r>
            <a:endParaRPr sz="1200">
              <a:latin typeface="Calibri"/>
              <a:ea typeface="Calibri"/>
              <a:cs typeface="Calibri"/>
              <a:sym typeface="Calibri"/>
            </a:endParaRPr>
          </a:p>
          <a:p>
            <a:pPr marL="171450" marR="0" lvl="0" indent="-133350" algn="l" rtl="0">
              <a:lnSpc>
                <a:spcPct val="100000"/>
              </a:lnSpc>
              <a:spcBef>
                <a:spcPts val="0"/>
              </a:spcBef>
              <a:spcAft>
                <a:spcPts val="0"/>
              </a:spcAft>
              <a:buClr>
                <a:srgbClr val="3C78D8"/>
              </a:buClr>
              <a:buSzPts val="1200"/>
              <a:buFont typeface="Calibri"/>
              <a:buChar char="●"/>
            </a:pPr>
            <a:r>
              <a:rPr lang="en" sz="1200" b="1">
                <a:solidFill>
                  <a:srgbClr val="3C78D8"/>
                </a:solidFill>
                <a:latin typeface="Calibri"/>
                <a:ea typeface="Calibri"/>
                <a:cs typeface="Calibri"/>
                <a:sym typeface="Calibri"/>
              </a:rPr>
              <a:t>"Most advanced frontier model for prof. work and long-running AI agents"</a:t>
            </a:r>
            <a:endParaRPr sz="1200" b="1">
              <a:solidFill>
                <a:srgbClr val="3C78D8"/>
              </a:solidFill>
              <a:latin typeface="Calibri"/>
              <a:ea typeface="Calibri"/>
              <a:cs typeface="Calibri"/>
              <a:sym typeface="Calibri"/>
            </a:endParaRPr>
          </a:p>
          <a:p>
            <a:pPr marL="171450" marR="0" lvl="0" indent="-133350" algn="l" rtl="0">
              <a:lnSpc>
                <a:spcPct val="100000"/>
              </a:lnSpc>
              <a:spcBef>
                <a:spcPts val="0"/>
              </a:spcBef>
              <a:spcAft>
                <a:spcPts val="0"/>
              </a:spcAft>
              <a:buSzPts val="1200"/>
              <a:buFont typeface="Calibri"/>
              <a:buChar char="●"/>
            </a:pPr>
            <a:r>
              <a:rPr lang="en" sz="1200">
                <a:latin typeface="Calibri"/>
                <a:ea typeface="Calibri"/>
                <a:cs typeface="Calibri"/>
                <a:sym typeface="Calibri"/>
              </a:rPr>
              <a:t>Three Model Variants: </a:t>
            </a:r>
            <a:r>
              <a:rPr lang="en" sz="1200" b="1">
                <a:solidFill>
                  <a:srgbClr val="FF0000"/>
                </a:solidFill>
                <a:latin typeface="Calibri"/>
                <a:ea typeface="Calibri"/>
                <a:cs typeface="Calibri"/>
                <a:sym typeface="Calibri"/>
              </a:rPr>
              <a:t>Instant, Thinking, Pro</a:t>
            </a:r>
            <a:r>
              <a:rPr lang="en" sz="1200">
                <a:latin typeface="Calibri"/>
                <a:ea typeface="Calibri"/>
                <a:cs typeface="Calibri"/>
                <a:sym typeface="Calibri"/>
              </a:rPr>
              <a:t> (more thinking)</a:t>
            </a:r>
            <a:endParaRPr sz="1200">
              <a:latin typeface="Calibri"/>
              <a:ea typeface="Calibri"/>
              <a:cs typeface="Calibri"/>
              <a:sym typeface="Calibri"/>
            </a:endParaRPr>
          </a:p>
          <a:p>
            <a:pPr marL="171450" marR="0" lvl="0" indent="-133350" algn="l" rtl="0">
              <a:lnSpc>
                <a:spcPct val="100000"/>
              </a:lnSpc>
              <a:spcBef>
                <a:spcPts val="0"/>
              </a:spcBef>
              <a:spcAft>
                <a:spcPts val="0"/>
              </a:spcAft>
              <a:buSzPts val="1200"/>
              <a:buFont typeface="Calibri"/>
              <a:buChar char="●"/>
            </a:pPr>
            <a:r>
              <a:rPr lang="en" sz="1200">
                <a:latin typeface="Calibri"/>
                <a:ea typeface="Calibri"/>
                <a:cs typeface="Calibri"/>
                <a:sym typeface="Calibri"/>
              </a:rPr>
              <a:t>All 3 variants have 400K input tokens and 128K output tokens length</a:t>
            </a:r>
            <a:endParaRPr sz="1200">
              <a:latin typeface="Calibri"/>
              <a:ea typeface="Calibri"/>
              <a:cs typeface="Calibri"/>
              <a:sym typeface="Calibri"/>
            </a:endParaRPr>
          </a:p>
          <a:p>
            <a:pPr marL="171450" marR="0" lvl="0" indent="-133350" algn="l" rtl="0">
              <a:lnSpc>
                <a:spcPct val="100000"/>
              </a:lnSpc>
              <a:spcBef>
                <a:spcPts val="0"/>
              </a:spcBef>
              <a:spcAft>
                <a:spcPts val="0"/>
              </a:spcAft>
              <a:buSzPts val="1200"/>
              <a:buFont typeface="Calibri"/>
              <a:buChar char="●"/>
            </a:pPr>
            <a:r>
              <a:rPr lang="en" sz="1200">
                <a:latin typeface="Calibri"/>
                <a:ea typeface="Calibri"/>
                <a:cs typeface="Calibri"/>
                <a:sym typeface="Calibri"/>
              </a:rPr>
              <a:t>Examples: creating spreadsheets, building presentations, coding, image interpretation, understanding lengthy contexts, tool usage, and managing complex multi-step projects</a:t>
            </a:r>
            <a:endParaRPr sz="1200">
              <a:latin typeface="Calibri"/>
              <a:ea typeface="Calibri"/>
              <a:cs typeface="Calibri"/>
              <a:sym typeface="Calibri"/>
            </a:endParaRPr>
          </a:p>
          <a:p>
            <a:pPr marL="171450" marR="0" lvl="0" indent="-133350" algn="l" rtl="0">
              <a:lnSpc>
                <a:spcPct val="100000"/>
              </a:lnSpc>
              <a:spcBef>
                <a:spcPts val="0"/>
              </a:spcBef>
              <a:spcAft>
                <a:spcPts val="0"/>
              </a:spcAft>
              <a:buSzPts val="1200"/>
              <a:buFont typeface="Calibri"/>
              <a:buChar char="●"/>
            </a:pPr>
            <a:r>
              <a:rPr lang="en" sz="1200">
                <a:latin typeface="Calibri"/>
                <a:ea typeface="Calibri"/>
                <a:cs typeface="Calibri"/>
                <a:sym typeface="Calibri"/>
              </a:rPr>
              <a:t>The model introduces new features that manage what it "knows" and "remembers" to improve accuracy</a:t>
            </a:r>
            <a:endParaRPr sz="1200">
              <a:latin typeface="Calibri"/>
              <a:ea typeface="Calibri"/>
              <a:cs typeface="Calibri"/>
              <a:sym typeface="Calibri"/>
            </a:endParaRPr>
          </a:p>
          <a:p>
            <a:pPr marL="171450" marR="0" lvl="0" indent="-133350" algn="l" rtl="0">
              <a:lnSpc>
                <a:spcPct val="100000"/>
              </a:lnSpc>
              <a:spcBef>
                <a:spcPts val="0"/>
              </a:spcBef>
              <a:spcAft>
                <a:spcPts val="0"/>
              </a:spcAft>
              <a:buSzPts val="1200"/>
              <a:buFont typeface="Calibri"/>
              <a:buChar char="●"/>
            </a:pPr>
            <a:r>
              <a:rPr lang="en" sz="1200">
                <a:latin typeface="Calibri"/>
                <a:ea typeface="Calibri"/>
                <a:cs typeface="Calibri"/>
                <a:sym typeface="Calibri"/>
              </a:rPr>
              <a:t>Context window length 400,000 tokens for Thinking and Pro</a:t>
            </a:r>
            <a:endParaRPr sz="1200">
              <a:latin typeface="Calibri"/>
              <a:ea typeface="Calibri"/>
              <a:cs typeface="Calibri"/>
              <a:sym typeface="Calibri"/>
            </a:endParaRPr>
          </a:p>
          <a:p>
            <a:pPr marL="171450" marR="0" lvl="0" indent="-133350" algn="l" rtl="0">
              <a:lnSpc>
                <a:spcPct val="100000"/>
              </a:lnSpc>
              <a:spcBef>
                <a:spcPts val="0"/>
              </a:spcBef>
              <a:spcAft>
                <a:spcPts val="0"/>
              </a:spcAft>
              <a:buSzPts val="1200"/>
              <a:buFont typeface="Calibri"/>
              <a:buChar char="●"/>
            </a:pPr>
            <a:r>
              <a:rPr lang="en" sz="1200">
                <a:latin typeface="Calibri"/>
                <a:ea typeface="Calibri"/>
                <a:cs typeface="Calibri"/>
                <a:sym typeface="Calibri"/>
              </a:rPr>
              <a:t>Hallucination rate ~1% for Thinking</a:t>
            </a:r>
            <a:endParaRPr sz="1200">
              <a:latin typeface="Calibri"/>
              <a:ea typeface="Calibri"/>
              <a:cs typeface="Calibri"/>
              <a:sym typeface="Calibri"/>
            </a:endParaRPr>
          </a:p>
          <a:p>
            <a:pPr marL="171450" marR="0" lvl="0" indent="-133350" algn="l" rtl="0">
              <a:lnSpc>
                <a:spcPct val="100000"/>
              </a:lnSpc>
              <a:spcBef>
                <a:spcPts val="0"/>
              </a:spcBef>
              <a:spcAft>
                <a:spcPts val="0"/>
              </a:spcAft>
              <a:buClr>
                <a:srgbClr val="3C78D8"/>
              </a:buClr>
              <a:buSzPts val="1200"/>
              <a:buFont typeface="Calibri"/>
              <a:buChar char="●"/>
            </a:pPr>
            <a:r>
              <a:rPr lang="en" sz="1200" b="1">
                <a:solidFill>
                  <a:srgbClr val="3C78D8"/>
                </a:solidFill>
                <a:latin typeface="Calibri"/>
                <a:ea typeface="Calibri"/>
                <a:cs typeface="Calibri"/>
                <a:sym typeface="Calibri"/>
              </a:rPr>
              <a:t>Updated knowledge cutoff date of August 31, 2025</a:t>
            </a:r>
            <a:endParaRPr sz="1200" b="1">
              <a:solidFill>
                <a:srgbClr val="3C78D8"/>
              </a:solidFill>
              <a:latin typeface="Calibri"/>
              <a:ea typeface="Calibri"/>
              <a:cs typeface="Calibri"/>
              <a:sym typeface="Calibri"/>
            </a:endParaRPr>
          </a:p>
          <a:p>
            <a:pPr marL="171450" marR="0" lvl="0" indent="-133350" algn="l" rtl="0">
              <a:lnSpc>
                <a:spcPct val="100000"/>
              </a:lnSpc>
              <a:spcBef>
                <a:spcPts val="0"/>
              </a:spcBef>
              <a:spcAft>
                <a:spcPts val="0"/>
              </a:spcAft>
              <a:buSzPts val="1200"/>
              <a:buFont typeface="Calibri"/>
              <a:buChar char="●"/>
            </a:pPr>
            <a:r>
              <a:rPr lang="en" sz="1200">
                <a:latin typeface="Calibri"/>
                <a:ea typeface="Calibri"/>
                <a:cs typeface="Calibri"/>
                <a:sym typeface="Calibri"/>
              </a:rPr>
              <a:t>Available via API. Price $/1M in/out:</a:t>
            </a:r>
            <a:br>
              <a:rPr lang="en" sz="1200">
                <a:latin typeface="Calibri"/>
                <a:ea typeface="Calibri"/>
                <a:cs typeface="Calibri"/>
                <a:sym typeface="Calibri"/>
              </a:rPr>
            </a:br>
            <a:r>
              <a:rPr lang="en" sz="900" b="1">
                <a:solidFill>
                  <a:srgbClr val="FF0000"/>
                </a:solidFill>
                <a:latin typeface="Roboto Mono"/>
                <a:ea typeface="Roboto Mono"/>
                <a:cs typeface="Roboto Mono"/>
                <a:sym typeface="Roboto Mono"/>
              </a:rPr>
              <a:t>gpt-5.2 instant   1.75 /  14.0</a:t>
            </a:r>
            <a:br>
              <a:rPr lang="en" sz="900" b="1">
                <a:solidFill>
                  <a:srgbClr val="FF0000"/>
                </a:solidFill>
                <a:latin typeface="Roboto Mono"/>
                <a:ea typeface="Roboto Mono"/>
                <a:cs typeface="Roboto Mono"/>
                <a:sym typeface="Roboto Mono"/>
              </a:rPr>
            </a:br>
            <a:r>
              <a:rPr lang="en" sz="900" b="1">
                <a:solidFill>
                  <a:srgbClr val="FF0000"/>
                </a:solidFill>
                <a:latin typeface="Roboto Mono"/>
                <a:ea typeface="Roboto Mono"/>
                <a:cs typeface="Roboto Mono"/>
                <a:sym typeface="Roboto Mono"/>
              </a:rPr>
              <a:t>gpt-5.2 thinking  1.75 /  14.0</a:t>
            </a:r>
            <a:br>
              <a:rPr lang="en" sz="900" b="1">
                <a:solidFill>
                  <a:srgbClr val="FF0000"/>
                </a:solidFill>
                <a:latin typeface="Roboto Mono"/>
                <a:ea typeface="Roboto Mono"/>
                <a:cs typeface="Roboto Mono"/>
                <a:sym typeface="Roboto Mono"/>
              </a:rPr>
            </a:br>
            <a:r>
              <a:rPr lang="en" sz="900" b="1">
                <a:solidFill>
                  <a:srgbClr val="FF0000"/>
                </a:solidFill>
                <a:latin typeface="Roboto Mono"/>
                <a:ea typeface="Roboto Mono"/>
                <a:cs typeface="Roboto Mono"/>
                <a:sym typeface="Roboto Mono"/>
              </a:rPr>
              <a:t>gpt-5.2-pro      21.0  / 168.0</a:t>
            </a:r>
            <a:br>
              <a:rPr lang="en" sz="900" b="1">
                <a:solidFill>
                  <a:srgbClr val="3C78D8"/>
                </a:solidFill>
                <a:latin typeface="Roboto Mono"/>
                <a:ea typeface="Roboto Mono"/>
                <a:cs typeface="Roboto Mono"/>
                <a:sym typeface="Roboto Mono"/>
              </a:rPr>
            </a:br>
            <a:r>
              <a:rPr lang="en" sz="900" b="1">
                <a:solidFill>
                  <a:srgbClr val="3C78D8"/>
                </a:solidFill>
                <a:latin typeface="Roboto Mono"/>
                <a:ea typeface="Roboto Mono"/>
                <a:cs typeface="Roboto Mono"/>
                <a:sym typeface="Roboto Mono"/>
              </a:rPr>
              <a:t>gpt-5-pro        15.0  / 120.0</a:t>
            </a:r>
            <a:endParaRPr sz="900" b="1">
              <a:solidFill>
                <a:srgbClr val="3C78D8"/>
              </a:solidFill>
              <a:latin typeface="Roboto Mono"/>
              <a:ea typeface="Roboto Mono"/>
              <a:cs typeface="Roboto Mono"/>
              <a:sym typeface="Roboto Mono"/>
            </a:endParaRPr>
          </a:p>
          <a:p>
            <a:pPr marL="171450" marR="0" lvl="0" indent="-114300" algn="l" rtl="0">
              <a:lnSpc>
                <a:spcPct val="100000"/>
              </a:lnSpc>
              <a:spcBef>
                <a:spcPts val="0"/>
              </a:spcBef>
              <a:spcAft>
                <a:spcPts val="0"/>
              </a:spcAft>
              <a:buClr>
                <a:srgbClr val="3C78D8"/>
              </a:buClr>
              <a:buSzPts val="900"/>
              <a:buFont typeface="Roboto Mono"/>
              <a:buChar char="●"/>
            </a:pPr>
            <a:r>
              <a:rPr lang="en" sz="900" b="1">
                <a:solidFill>
                  <a:srgbClr val="3C78D8"/>
                </a:solidFill>
                <a:latin typeface="Roboto Mono"/>
                <a:ea typeface="Roboto Mono"/>
                <a:cs typeface="Roboto Mono"/>
                <a:sym typeface="Roboto Mono"/>
              </a:rPr>
              <a:t>Gemini 3.0 Pro    2    /  12</a:t>
            </a:r>
            <a:endParaRPr sz="900" b="1">
              <a:solidFill>
                <a:srgbClr val="3C78D8"/>
              </a:solidFill>
              <a:latin typeface="Roboto Mono"/>
              <a:ea typeface="Roboto Mono"/>
              <a:cs typeface="Roboto Mono"/>
              <a:sym typeface="Roboto Mono"/>
            </a:endParaRPr>
          </a:p>
          <a:p>
            <a:pPr marL="171450" marR="0" lvl="0" indent="-114300" algn="l" rtl="0">
              <a:lnSpc>
                <a:spcPct val="100000"/>
              </a:lnSpc>
              <a:spcBef>
                <a:spcPts val="0"/>
              </a:spcBef>
              <a:spcAft>
                <a:spcPts val="0"/>
              </a:spcAft>
              <a:buClr>
                <a:srgbClr val="3C78D8"/>
              </a:buClr>
              <a:buSzPts val="900"/>
              <a:buFont typeface="Roboto Mono"/>
              <a:buChar char="●"/>
            </a:pPr>
            <a:r>
              <a:rPr lang="en" sz="900" b="1">
                <a:solidFill>
                  <a:srgbClr val="3C78D8"/>
                </a:solidFill>
                <a:latin typeface="Roboto Mono"/>
                <a:ea typeface="Roboto Mono"/>
                <a:cs typeface="Roboto Mono"/>
                <a:sym typeface="Roboto Mono"/>
              </a:rPr>
              <a:t>Claude 4.5 Sonnet 3    /  15</a:t>
            </a:r>
            <a:endParaRPr sz="900" b="1">
              <a:solidFill>
                <a:srgbClr val="3C78D8"/>
              </a:solidFill>
              <a:latin typeface="Roboto Mono"/>
              <a:ea typeface="Roboto Mono"/>
              <a:cs typeface="Roboto Mono"/>
              <a:sym typeface="Roboto Mono"/>
            </a:endParaRPr>
          </a:p>
          <a:p>
            <a:pPr marL="171450" marR="0" lvl="0" indent="-114300" algn="l" rtl="0">
              <a:lnSpc>
                <a:spcPct val="100000"/>
              </a:lnSpc>
              <a:spcBef>
                <a:spcPts val="0"/>
              </a:spcBef>
              <a:spcAft>
                <a:spcPts val="0"/>
              </a:spcAft>
              <a:buClr>
                <a:srgbClr val="3C78D8"/>
              </a:buClr>
              <a:buSzPts val="900"/>
              <a:buFont typeface="Roboto Mono"/>
              <a:buChar char="●"/>
            </a:pPr>
            <a:r>
              <a:rPr lang="en" sz="900" b="1">
                <a:solidFill>
                  <a:srgbClr val="3C78D8"/>
                </a:solidFill>
                <a:latin typeface="Roboto Mono"/>
                <a:ea typeface="Roboto Mono"/>
                <a:cs typeface="Roboto Mono"/>
                <a:sym typeface="Roboto Mono"/>
              </a:rPr>
              <a:t>Claude 4.5 Opus   5    /  25</a:t>
            </a:r>
            <a:endParaRPr sz="900" b="1">
              <a:solidFill>
                <a:srgbClr val="3C78D8"/>
              </a:solidFill>
              <a:latin typeface="Roboto Mono"/>
              <a:ea typeface="Roboto Mono"/>
              <a:cs typeface="Roboto Mono"/>
              <a:sym typeface="Roboto Mono"/>
            </a:endParaRPr>
          </a:p>
          <a:p>
            <a:pPr marL="171450" marR="0" lvl="0" indent="-127000" algn="l" rtl="0">
              <a:lnSpc>
                <a:spcPct val="100000"/>
              </a:lnSpc>
              <a:spcBef>
                <a:spcPts val="0"/>
              </a:spcBef>
              <a:spcAft>
                <a:spcPts val="0"/>
              </a:spcAft>
              <a:buClr>
                <a:srgbClr val="FF0000"/>
              </a:buClr>
              <a:buSzPts val="1100"/>
              <a:buFont typeface="Calibri"/>
              <a:buChar char="●"/>
            </a:pPr>
            <a:r>
              <a:rPr lang="en" sz="1100" b="1">
                <a:solidFill>
                  <a:srgbClr val="FF0000"/>
                </a:solidFill>
                <a:latin typeface="Calibri"/>
                <a:ea typeface="Calibri"/>
                <a:cs typeface="Calibri"/>
                <a:sym typeface="Calibri"/>
              </a:rPr>
              <a:t>GPT-5.2 Pro may take long time (up to 40 min) when using extended thinking</a:t>
            </a:r>
            <a:endParaRPr sz="1100" b="1">
              <a:solidFill>
                <a:srgbClr val="FF0000"/>
              </a:solidFill>
              <a:latin typeface="Calibri"/>
              <a:ea typeface="Calibri"/>
              <a:cs typeface="Calibri"/>
              <a:sym typeface="Calibri"/>
            </a:endParaRPr>
          </a:p>
        </p:txBody>
      </p:sp>
      <p:pic>
        <p:nvPicPr>
          <p:cNvPr id="152" name="Google Shape;152;p17"/>
          <p:cNvPicPr preferRelativeResize="0"/>
          <p:nvPr/>
        </p:nvPicPr>
        <p:blipFill rotWithShape="1">
          <a:blip r:embed="rId4" cstate="email">
            <a:alphaModFix/>
            <a:extLst>
              <a:ext uri="{28A0092B-C50C-407E-A947-70E740481C1C}">
                <a14:useLocalDpi xmlns:a14="http://schemas.microsoft.com/office/drawing/2010/main"/>
              </a:ext>
            </a:extLst>
          </a:blip>
          <a:srcRect/>
          <a:stretch/>
        </p:blipFill>
        <p:spPr>
          <a:xfrm>
            <a:off x="5407901" y="343391"/>
            <a:ext cx="2958025" cy="1419775"/>
          </a:xfrm>
          <a:prstGeom prst="rect">
            <a:avLst/>
          </a:prstGeom>
          <a:noFill/>
          <a:ln w="9525" cap="flat" cmpd="sng">
            <a:solidFill>
              <a:srgbClr val="FF0000"/>
            </a:solidFill>
            <a:prstDash val="solid"/>
            <a:round/>
            <a:headEnd type="none" w="sm" len="sm"/>
            <a:tailEnd type="none" w="sm" len="sm"/>
          </a:ln>
        </p:spPr>
      </p:pic>
      <p:sp>
        <p:nvSpPr>
          <p:cNvPr id="153" name="Google Shape;153;p17"/>
          <p:cNvSpPr txBox="1"/>
          <p:nvPr/>
        </p:nvSpPr>
        <p:spPr>
          <a:xfrm>
            <a:off x="5407900" y="4151112"/>
            <a:ext cx="3648900" cy="9420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171450" marR="0" lvl="0" indent="-133350" algn="l" rtl="0">
              <a:lnSpc>
                <a:spcPct val="100000"/>
              </a:lnSpc>
              <a:spcBef>
                <a:spcPts val="0"/>
              </a:spcBef>
              <a:spcAft>
                <a:spcPts val="0"/>
              </a:spcAft>
              <a:buSzPts val="1200"/>
              <a:buFont typeface="Calibri"/>
              <a:buChar char="●"/>
            </a:pPr>
            <a:r>
              <a:rPr lang="en" sz="1200">
                <a:latin typeface="Calibri"/>
                <a:ea typeface="Calibri"/>
                <a:cs typeface="Calibri"/>
                <a:sym typeface="Calibri"/>
              </a:rPr>
              <a:t>Also OpenAI develops a new model code-named "Garlic" - to be released in early 2026 - outperforming both Google's Gemini 3 </a:t>
            </a:r>
            <a:br>
              <a:rPr lang="en" sz="1200">
                <a:latin typeface="Calibri"/>
                <a:ea typeface="Calibri"/>
                <a:cs typeface="Calibri"/>
                <a:sym typeface="Calibri"/>
              </a:rPr>
            </a:br>
            <a:r>
              <a:rPr lang="en" sz="1200">
                <a:latin typeface="Calibri"/>
                <a:ea typeface="Calibri"/>
                <a:cs typeface="Calibri"/>
                <a:sym typeface="Calibri"/>
              </a:rPr>
              <a:t>and Anthropic's Claude Opus 4.5 in coding and reasoning tasks (according to Openai tests)</a:t>
            </a:r>
            <a:endParaRPr sz="1200">
              <a:latin typeface="Calibri"/>
              <a:ea typeface="Calibri"/>
              <a:cs typeface="Calibri"/>
              <a:sym typeface="Calibri"/>
            </a:endParaRPr>
          </a:p>
        </p:txBody>
      </p:sp>
      <p:pic>
        <p:nvPicPr>
          <p:cNvPr id="154" name="Google Shape;154;p17"/>
          <p:cNvPicPr preferRelativeResize="0"/>
          <p:nvPr/>
        </p:nvPicPr>
        <p:blipFill>
          <a:blip r:embed="rId5" cstate="email">
            <a:alphaModFix/>
            <a:extLst>
              <a:ext uri="{28A0092B-C50C-407E-A947-70E740481C1C}">
                <a14:useLocalDpi xmlns:a14="http://schemas.microsoft.com/office/drawing/2010/main"/>
              </a:ext>
            </a:extLst>
          </a:blip>
          <a:stretch>
            <a:fillRect/>
          </a:stretch>
        </p:blipFill>
        <p:spPr>
          <a:xfrm>
            <a:off x="4089778" y="4333820"/>
            <a:ext cx="1239625" cy="694175"/>
          </a:xfrm>
          <a:prstGeom prst="rect">
            <a:avLst/>
          </a:prstGeom>
          <a:noFill/>
          <a:ln w="9525" cap="flat" cmpd="sng">
            <a:solidFill>
              <a:srgbClr val="FF0000"/>
            </a:solidFill>
            <a:prstDash val="solid"/>
            <a:round/>
            <a:headEnd type="none" w="sm" len="sm"/>
            <a:tailEnd type="none" w="sm" len="sm"/>
          </a:ln>
        </p:spPr>
      </p:pic>
      <p:pic>
        <p:nvPicPr>
          <p:cNvPr id="155" name="Google Shape;155;p17"/>
          <p:cNvPicPr preferRelativeResize="0"/>
          <p:nvPr/>
        </p:nvPicPr>
        <p:blipFill>
          <a:blip r:embed="rId6" cstate="email">
            <a:alphaModFix/>
            <a:extLst>
              <a:ext uri="{28A0092B-C50C-407E-A947-70E740481C1C}">
                <a14:useLocalDpi xmlns:a14="http://schemas.microsoft.com/office/drawing/2010/main"/>
              </a:ext>
            </a:extLst>
          </a:blip>
          <a:stretch>
            <a:fillRect/>
          </a:stretch>
        </p:blipFill>
        <p:spPr>
          <a:xfrm>
            <a:off x="5407900" y="1787530"/>
            <a:ext cx="2958025" cy="2313176"/>
          </a:xfrm>
          <a:prstGeom prst="rect">
            <a:avLst/>
          </a:prstGeom>
          <a:noFill/>
          <a:ln w="9525" cap="flat" cmpd="sng">
            <a:solidFill>
              <a:srgbClr val="FF0000"/>
            </a:solidFill>
            <a:prstDash val="solid"/>
            <a:round/>
            <a:headEnd type="none" w="sm" len="sm"/>
            <a:tailEnd type="none" w="sm" len="sm"/>
          </a:ln>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59"/>
        <p:cNvGrpSpPr/>
        <p:nvPr/>
      </p:nvGrpSpPr>
      <p:grpSpPr>
        <a:xfrm>
          <a:off x="0" y="0"/>
          <a:ext cx="0" cy="0"/>
          <a:chOff x="0" y="0"/>
          <a:chExt cx="0" cy="0"/>
        </a:xfrm>
      </p:grpSpPr>
      <p:sp>
        <p:nvSpPr>
          <p:cNvPr id="160" name="Google Shape;160;p18"/>
          <p:cNvSpPr txBox="1"/>
          <p:nvPr/>
        </p:nvSpPr>
        <p:spPr>
          <a:xfrm>
            <a:off x="55075" y="20375"/>
            <a:ext cx="1663200" cy="326400"/>
          </a:xfrm>
          <a:prstGeom prst="rect">
            <a:avLst/>
          </a:prstGeom>
          <a:noFill/>
          <a:ln>
            <a:noFill/>
          </a:ln>
        </p:spPr>
        <p:txBody>
          <a:bodyPr spcFirstLastPara="1" wrap="square" lIns="9125" tIns="9125" rIns="9125" bIns="9125" anchor="t" anchorCtr="0">
            <a:spAutoFit/>
          </a:bodyPr>
          <a:lstStyle/>
          <a:p>
            <a:pPr marL="0" marR="0" lvl="0" indent="0" algn="l" rtl="0">
              <a:lnSpc>
                <a:spcPct val="100000"/>
              </a:lnSpc>
              <a:spcBef>
                <a:spcPts val="0"/>
              </a:spcBef>
              <a:spcAft>
                <a:spcPts val="0"/>
              </a:spcAft>
              <a:buClr>
                <a:schemeClr val="dk1"/>
              </a:buClr>
              <a:buSzPts val="1100"/>
              <a:buFont typeface="Arial"/>
              <a:buNone/>
            </a:pPr>
            <a:r>
              <a:rPr lang="en" sz="2000" b="1">
                <a:solidFill>
                  <a:schemeClr val="dk1"/>
                </a:solidFill>
                <a:latin typeface="Calibri"/>
                <a:ea typeface="Calibri"/>
                <a:cs typeface="Calibri"/>
                <a:sym typeface="Calibri"/>
              </a:rPr>
              <a:t>Devstral-2</a:t>
            </a:r>
            <a:endParaRPr sz="2000" b="1" i="0" u="none" strike="noStrike" cap="none">
              <a:solidFill>
                <a:schemeClr val="dk1"/>
              </a:solidFill>
              <a:latin typeface="Calibri"/>
              <a:ea typeface="Calibri"/>
              <a:cs typeface="Calibri"/>
              <a:sym typeface="Calibri"/>
            </a:endParaRPr>
          </a:p>
        </p:txBody>
      </p:sp>
      <p:sp>
        <p:nvSpPr>
          <p:cNvPr id="161" name="Google Shape;161;p18"/>
          <p:cNvSpPr txBox="1"/>
          <p:nvPr/>
        </p:nvSpPr>
        <p:spPr>
          <a:xfrm>
            <a:off x="55075" y="346775"/>
            <a:ext cx="5312100" cy="6186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171450" marR="0" lvl="0" indent="-133350" algn="l" rtl="0">
              <a:lnSpc>
                <a:spcPct val="100000"/>
              </a:lnSpc>
              <a:spcBef>
                <a:spcPts val="0"/>
              </a:spcBef>
              <a:spcAft>
                <a:spcPts val="0"/>
              </a:spcAft>
              <a:buClr>
                <a:srgbClr val="FF0000"/>
              </a:buClr>
              <a:buSzPts val="1200"/>
              <a:buFont typeface="Calibri"/>
              <a:buChar char="●"/>
            </a:pPr>
            <a:r>
              <a:rPr lang="en" sz="1200" b="1">
                <a:solidFill>
                  <a:srgbClr val="FF0000"/>
                </a:solidFill>
                <a:latin typeface="Calibri"/>
                <a:ea typeface="Calibri"/>
                <a:cs typeface="Calibri"/>
                <a:sym typeface="Calibri"/>
              </a:rPr>
              <a:t>Mistral AI released Devstral 2 and Devstral Small 2 Dense Models</a:t>
            </a:r>
            <a:endParaRPr sz="1200" b="1">
              <a:solidFill>
                <a:srgbClr val="FF0000"/>
              </a:solidFill>
              <a:latin typeface="Calibri"/>
              <a:ea typeface="Calibri"/>
              <a:cs typeface="Calibri"/>
              <a:sym typeface="Calibri"/>
            </a:endParaRPr>
          </a:p>
          <a:p>
            <a:pPr marL="171450" marR="0" lvl="0" indent="-114300" algn="l" rtl="0">
              <a:lnSpc>
                <a:spcPct val="100000"/>
              </a:lnSpc>
              <a:spcBef>
                <a:spcPts val="0"/>
              </a:spcBef>
              <a:spcAft>
                <a:spcPts val="0"/>
              </a:spcAft>
              <a:buClr>
                <a:srgbClr val="3C78D8"/>
              </a:buClr>
              <a:buSzPts val="900"/>
              <a:buFont typeface="Roboto Mono"/>
              <a:buChar char="●"/>
            </a:pPr>
            <a:r>
              <a:rPr lang="en" sz="900" b="1">
                <a:solidFill>
                  <a:srgbClr val="3C78D8"/>
                </a:solidFill>
                <a:latin typeface="Roboto Mono"/>
                <a:ea typeface="Roboto Mono"/>
                <a:cs typeface="Roboto Mono"/>
                <a:sym typeface="Roboto Mono"/>
              </a:rPr>
              <a:t>Devstral 2       : 123B params, 256K tokens, 72.2% on SWE-bench Verified</a:t>
            </a:r>
            <a:endParaRPr sz="900" b="1">
              <a:solidFill>
                <a:srgbClr val="3C78D8"/>
              </a:solidFill>
              <a:latin typeface="Roboto Mono"/>
              <a:ea typeface="Roboto Mono"/>
              <a:cs typeface="Roboto Mono"/>
              <a:sym typeface="Roboto Mono"/>
            </a:endParaRPr>
          </a:p>
          <a:p>
            <a:pPr marL="171450" marR="0" lvl="0" indent="-114300" algn="l" rtl="0">
              <a:lnSpc>
                <a:spcPct val="100000"/>
              </a:lnSpc>
              <a:spcBef>
                <a:spcPts val="0"/>
              </a:spcBef>
              <a:spcAft>
                <a:spcPts val="0"/>
              </a:spcAft>
              <a:buClr>
                <a:srgbClr val="3C78D8"/>
              </a:buClr>
              <a:buSzPts val="900"/>
              <a:buFont typeface="Roboto Mono"/>
              <a:buChar char="●"/>
            </a:pPr>
            <a:r>
              <a:rPr lang="en" sz="900" b="1">
                <a:solidFill>
                  <a:srgbClr val="3C78D8"/>
                </a:solidFill>
                <a:latin typeface="Roboto Mono"/>
                <a:ea typeface="Roboto Mono"/>
                <a:cs typeface="Roboto Mono"/>
                <a:sym typeface="Roboto Mono"/>
              </a:rPr>
              <a:t>Devstral Small 2 :  24B params, 256K tokens, 68.0% on SWE-bench Verified</a:t>
            </a:r>
            <a:endParaRPr sz="900" b="1">
              <a:solidFill>
                <a:srgbClr val="3C78D8"/>
              </a:solidFill>
              <a:latin typeface="Roboto Mono"/>
              <a:ea typeface="Roboto Mono"/>
              <a:cs typeface="Roboto Mono"/>
              <a:sym typeface="Roboto Mono"/>
            </a:endParaRPr>
          </a:p>
          <a:p>
            <a:pPr marL="171450" marR="0" lvl="0" indent="-114300" algn="l" rtl="0">
              <a:lnSpc>
                <a:spcPct val="100000"/>
              </a:lnSpc>
              <a:spcBef>
                <a:spcPts val="0"/>
              </a:spcBef>
              <a:spcAft>
                <a:spcPts val="0"/>
              </a:spcAft>
              <a:buClr>
                <a:srgbClr val="3C78D8"/>
              </a:buClr>
              <a:buSzPts val="900"/>
              <a:buFont typeface="Roboto Mono"/>
              <a:buChar char="●"/>
            </a:pPr>
            <a:r>
              <a:rPr lang="en" sz="900" b="1">
                <a:solidFill>
                  <a:srgbClr val="3C78D8"/>
                </a:solidFill>
                <a:latin typeface="Roboto Mono"/>
                <a:ea typeface="Roboto Mono"/>
                <a:cs typeface="Roboto Mono"/>
                <a:sym typeface="Roboto Mono"/>
              </a:rPr>
              <a:t>Devstral 1       :  24B params, 128K tokens, 53.6% on SWE-bench Verified</a:t>
            </a:r>
            <a:endParaRPr sz="1200">
              <a:latin typeface="Calibri"/>
              <a:ea typeface="Calibri"/>
              <a:cs typeface="Calibri"/>
              <a:sym typeface="Calibri"/>
            </a:endParaRPr>
          </a:p>
        </p:txBody>
      </p:sp>
      <p:sp>
        <p:nvSpPr>
          <p:cNvPr id="162" name="Google Shape;162;p18"/>
          <p:cNvSpPr txBox="1"/>
          <p:nvPr/>
        </p:nvSpPr>
        <p:spPr>
          <a:xfrm>
            <a:off x="55075" y="1071550"/>
            <a:ext cx="4433700" cy="37125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171450" marR="0" lvl="0" indent="-114300" algn="l" rtl="0">
              <a:lnSpc>
                <a:spcPct val="100000"/>
              </a:lnSpc>
              <a:spcBef>
                <a:spcPts val="0"/>
              </a:spcBef>
              <a:spcAft>
                <a:spcPts val="0"/>
              </a:spcAft>
              <a:buClr>
                <a:srgbClr val="3C78D8"/>
              </a:buClr>
              <a:buSzPts val="900"/>
              <a:buFont typeface="Roboto Mono"/>
              <a:buChar char="●"/>
            </a:pPr>
            <a:r>
              <a:rPr lang="en" sz="1200" b="1">
                <a:solidFill>
                  <a:srgbClr val="FF0000"/>
                </a:solidFill>
                <a:latin typeface="Calibri"/>
                <a:ea typeface="Calibri"/>
                <a:cs typeface="Calibri"/>
                <a:sym typeface="Calibri"/>
              </a:rPr>
              <a:t>Devstral 2 is 7x more cost-efficient than Claude Sonnet 4.5</a:t>
            </a:r>
            <a:r>
              <a:rPr lang="en" sz="1200">
                <a:latin typeface="Calibri"/>
                <a:ea typeface="Calibri"/>
                <a:cs typeface="Calibri"/>
                <a:sym typeface="Calibri"/>
              </a:rPr>
              <a:t> at real-world tasks, despite being 8x smaller than competitors like DeepSeek V3 and Kimi K2</a:t>
            </a:r>
            <a:endParaRPr sz="1200">
              <a:latin typeface="Calibri"/>
              <a:ea typeface="Calibri"/>
              <a:cs typeface="Calibri"/>
              <a:sym typeface="Calibri"/>
            </a:endParaRPr>
          </a:p>
          <a:p>
            <a:pPr marL="171450" marR="0" lvl="0" indent="-133350" algn="l" rtl="0">
              <a:lnSpc>
                <a:spcPct val="100000"/>
              </a:lnSpc>
              <a:spcBef>
                <a:spcPts val="0"/>
              </a:spcBef>
              <a:spcAft>
                <a:spcPts val="0"/>
              </a:spcAft>
              <a:buSzPts val="1200"/>
              <a:buFont typeface="Calibri"/>
              <a:buChar char="●"/>
            </a:pPr>
            <a:r>
              <a:rPr lang="en" sz="1200">
                <a:latin typeface="Calibri"/>
                <a:ea typeface="Calibri"/>
                <a:cs typeface="Calibri"/>
                <a:sym typeface="Calibri"/>
              </a:rPr>
              <a:t>The new version excels at multi-file edits, complex refactoring operations, and seamless integration into agentic workflows</a:t>
            </a:r>
            <a:endParaRPr sz="1200">
              <a:latin typeface="Calibri"/>
              <a:ea typeface="Calibri"/>
              <a:cs typeface="Calibri"/>
              <a:sym typeface="Calibri"/>
            </a:endParaRPr>
          </a:p>
          <a:p>
            <a:pPr marL="171450" marR="0" lvl="0" indent="-133350" algn="l" rtl="0">
              <a:lnSpc>
                <a:spcPct val="100000"/>
              </a:lnSpc>
              <a:spcBef>
                <a:spcPts val="0"/>
              </a:spcBef>
              <a:spcAft>
                <a:spcPts val="0"/>
              </a:spcAft>
              <a:buSzPts val="1200"/>
              <a:buFont typeface="Calibri"/>
              <a:buChar char="●"/>
            </a:pPr>
            <a:r>
              <a:rPr lang="en" sz="1200">
                <a:latin typeface="Calibri"/>
                <a:ea typeface="Calibri"/>
                <a:cs typeface="Calibri"/>
                <a:sym typeface="Calibri"/>
              </a:rPr>
              <a:t>It emphasizes context awareness, allowing it to understand broader business context rather than just generating isolated code snippets</a:t>
            </a:r>
            <a:endParaRPr sz="1200">
              <a:latin typeface="Calibri"/>
              <a:ea typeface="Calibri"/>
              <a:cs typeface="Calibri"/>
              <a:sym typeface="Calibri"/>
            </a:endParaRPr>
          </a:p>
          <a:p>
            <a:pPr marL="171450" marR="0" lvl="0" indent="-133350" algn="l" rtl="0">
              <a:lnSpc>
                <a:spcPct val="100000"/>
              </a:lnSpc>
              <a:spcBef>
                <a:spcPts val="0"/>
              </a:spcBef>
              <a:spcAft>
                <a:spcPts val="0"/>
              </a:spcAft>
              <a:buSzPts val="1200"/>
              <a:buFont typeface="Calibri"/>
              <a:buChar char="●"/>
            </a:pPr>
            <a:r>
              <a:rPr lang="en" sz="1200">
                <a:latin typeface="Calibri"/>
                <a:ea typeface="Calibri"/>
                <a:cs typeface="Calibri"/>
                <a:sym typeface="Calibri"/>
              </a:rPr>
              <a:t>Both versions support on-premises deployment and custom fine-tuning</a:t>
            </a:r>
            <a:endParaRPr sz="1200">
              <a:latin typeface="Calibri"/>
              <a:ea typeface="Calibri"/>
              <a:cs typeface="Calibri"/>
              <a:sym typeface="Calibri"/>
            </a:endParaRPr>
          </a:p>
          <a:p>
            <a:pPr marL="171450" marR="0" lvl="0" indent="-133350" algn="l" rtl="0">
              <a:lnSpc>
                <a:spcPct val="100000"/>
              </a:lnSpc>
              <a:spcBef>
                <a:spcPts val="0"/>
              </a:spcBef>
              <a:spcAft>
                <a:spcPts val="0"/>
              </a:spcAft>
              <a:buSzPts val="1200"/>
              <a:buFont typeface="Calibri"/>
              <a:buChar char="●"/>
            </a:pPr>
            <a:r>
              <a:rPr lang="en" sz="1200">
                <a:latin typeface="Calibri"/>
                <a:ea typeface="Calibri"/>
                <a:cs typeface="Calibri"/>
                <a:sym typeface="Calibri"/>
              </a:rPr>
              <a:t>Devstral 2 needs four H100 GPUs</a:t>
            </a:r>
            <a:endParaRPr sz="1200">
              <a:latin typeface="Calibri"/>
              <a:ea typeface="Calibri"/>
              <a:cs typeface="Calibri"/>
              <a:sym typeface="Calibri"/>
            </a:endParaRPr>
          </a:p>
          <a:p>
            <a:pPr marL="171450" marR="0" lvl="0" indent="-133350" algn="l" rtl="0">
              <a:lnSpc>
                <a:spcPct val="100000"/>
              </a:lnSpc>
              <a:spcBef>
                <a:spcPts val="0"/>
              </a:spcBef>
              <a:spcAft>
                <a:spcPts val="0"/>
              </a:spcAft>
              <a:buSzPts val="1200"/>
              <a:buFont typeface="Calibri"/>
              <a:buChar char="●"/>
            </a:pPr>
            <a:r>
              <a:rPr lang="en" sz="1200">
                <a:latin typeface="Calibri"/>
                <a:ea typeface="Calibri"/>
                <a:cs typeface="Calibri"/>
                <a:sym typeface="Calibri"/>
              </a:rPr>
              <a:t>Devstral Small 2 can run entirely offline on a single GPU or laptop</a:t>
            </a:r>
            <a:endParaRPr sz="1200">
              <a:latin typeface="Calibri"/>
              <a:ea typeface="Calibri"/>
              <a:cs typeface="Calibri"/>
              <a:sym typeface="Calibri"/>
            </a:endParaRPr>
          </a:p>
          <a:p>
            <a:pPr marL="171450" marR="0" lvl="0" indent="-133350" algn="l" rtl="0">
              <a:lnSpc>
                <a:spcPct val="100000"/>
              </a:lnSpc>
              <a:spcBef>
                <a:spcPts val="0"/>
              </a:spcBef>
              <a:spcAft>
                <a:spcPts val="0"/>
              </a:spcAft>
              <a:buSzPts val="1200"/>
              <a:buFont typeface="Calibri"/>
              <a:buChar char="●"/>
            </a:pPr>
            <a:r>
              <a:rPr lang="en" sz="1200">
                <a:latin typeface="Calibri"/>
                <a:ea typeface="Calibri"/>
                <a:cs typeface="Calibri"/>
                <a:sym typeface="Calibri"/>
              </a:rPr>
              <a:t>In human evaluations, Devstral 2 outperformed DeepSeek V3.2 with a 42.8% win rate versus 28.6% loss rate</a:t>
            </a:r>
            <a:endParaRPr sz="1200">
              <a:latin typeface="Calibri"/>
              <a:ea typeface="Calibri"/>
              <a:cs typeface="Calibri"/>
              <a:sym typeface="Calibri"/>
            </a:endParaRPr>
          </a:p>
          <a:p>
            <a:pPr marL="171450" marR="0" lvl="0" indent="-133350" algn="l" rtl="0">
              <a:lnSpc>
                <a:spcPct val="100000"/>
              </a:lnSpc>
              <a:spcBef>
                <a:spcPts val="0"/>
              </a:spcBef>
              <a:spcAft>
                <a:spcPts val="0"/>
              </a:spcAft>
              <a:buSzPts val="1200"/>
              <a:buFont typeface="Calibri"/>
              <a:buChar char="●"/>
            </a:pPr>
            <a:r>
              <a:rPr lang="en" sz="1200">
                <a:latin typeface="Calibri"/>
                <a:ea typeface="Calibri"/>
                <a:cs typeface="Calibri"/>
                <a:sym typeface="Calibri"/>
              </a:rPr>
              <a:t>However, Claude Sonnet 4.5 still maintains an edge, winning 53.1% of comparisons</a:t>
            </a:r>
            <a:endParaRPr sz="1200">
              <a:latin typeface="Calibri"/>
              <a:ea typeface="Calibri"/>
              <a:cs typeface="Calibri"/>
              <a:sym typeface="Calibri"/>
            </a:endParaRPr>
          </a:p>
          <a:p>
            <a:pPr marL="171450" marR="0" lvl="0" indent="-133350" algn="l" rtl="0">
              <a:lnSpc>
                <a:spcPct val="100000"/>
              </a:lnSpc>
              <a:spcBef>
                <a:spcPts val="0"/>
              </a:spcBef>
              <a:spcAft>
                <a:spcPts val="0"/>
              </a:spcAft>
              <a:buSzPts val="1200"/>
              <a:buFont typeface="Calibri"/>
              <a:buChar char="●"/>
            </a:pPr>
            <a:r>
              <a:rPr lang="en" sz="1200" u="sng">
                <a:solidFill>
                  <a:schemeClr val="hlink"/>
                </a:solidFill>
                <a:latin typeface="Calibri"/>
                <a:ea typeface="Calibri"/>
                <a:cs typeface="Calibri"/>
                <a:sym typeface="Calibri"/>
                <a:hlinkClick r:id="rId3"/>
              </a:rPr>
              <a:t>https://mistral.ai/news/devstral-2-vibe-cli</a:t>
            </a:r>
            <a:r>
              <a:rPr lang="en" sz="1200">
                <a:latin typeface="Calibri"/>
                <a:ea typeface="Calibri"/>
                <a:cs typeface="Calibri"/>
                <a:sym typeface="Calibri"/>
              </a:rPr>
              <a:t> </a:t>
            </a:r>
            <a:endParaRPr sz="1200">
              <a:latin typeface="Calibri"/>
              <a:ea typeface="Calibri"/>
              <a:cs typeface="Calibri"/>
              <a:sym typeface="Calibri"/>
            </a:endParaRPr>
          </a:p>
          <a:p>
            <a:pPr marL="171450" marR="0" lvl="0" indent="-133350" algn="l" rtl="0">
              <a:lnSpc>
                <a:spcPct val="100000"/>
              </a:lnSpc>
              <a:spcBef>
                <a:spcPts val="0"/>
              </a:spcBef>
              <a:spcAft>
                <a:spcPts val="0"/>
              </a:spcAft>
              <a:buSzPts val="1200"/>
              <a:buFont typeface="Calibri"/>
              <a:buChar char="●"/>
            </a:pPr>
            <a:r>
              <a:rPr lang="en" sz="1200" u="sng">
                <a:solidFill>
                  <a:schemeClr val="hlink"/>
                </a:solidFill>
                <a:latin typeface="Calibri"/>
                <a:ea typeface="Calibri"/>
                <a:cs typeface="Calibri"/>
                <a:sym typeface="Calibri"/>
                <a:hlinkClick r:id="rId4"/>
              </a:rPr>
              <a:t>https://openrouter.ai/mistralai/devstral-2512:free</a:t>
            </a:r>
            <a:r>
              <a:rPr lang="en" sz="1200">
                <a:latin typeface="Calibri"/>
                <a:ea typeface="Calibri"/>
                <a:cs typeface="Calibri"/>
                <a:sym typeface="Calibri"/>
              </a:rPr>
              <a:t> </a:t>
            </a:r>
            <a:endParaRPr sz="1200">
              <a:latin typeface="Calibri"/>
              <a:ea typeface="Calibri"/>
              <a:cs typeface="Calibri"/>
              <a:sym typeface="Calibri"/>
            </a:endParaRPr>
          </a:p>
          <a:p>
            <a:pPr marL="171450" marR="0" lvl="0" indent="-133350" algn="l" rtl="0">
              <a:lnSpc>
                <a:spcPct val="100000"/>
              </a:lnSpc>
              <a:spcBef>
                <a:spcPts val="0"/>
              </a:spcBef>
              <a:spcAft>
                <a:spcPts val="0"/>
              </a:spcAft>
              <a:buSzPts val="1200"/>
              <a:buFont typeface="Calibri"/>
              <a:buChar char="●"/>
            </a:pPr>
            <a:r>
              <a:rPr lang="en" sz="1200">
                <a:latin typeface="Calibri"/>
                <a:ea typeface="Calibri"/>
                <a:cs typeface="Calibri"/>
                <a:sym typeface="Calibri"/>
              </a:rPr>
              <a:t>Post-introductory pricing for 2 &amp; 2small:  </a:t>
            </a:r>
            <a:br>
              <a:rPr lang="en" sz="1200">
                <a:latin typeface="Calibri"/>
                <a:ea typeface="Calibri"/>
                <a:cs typeface="Calibri"/>
                <a:sym typeface="Calibri"/>
              </a:rPr>
            </a:br>
            <a:r>
              <a:rPr lang="en" sz="1200">
                <a:latin typeface="Calibri"/>
                <a:ea typeface="Calibri"/>
                <a:cs typeface="Calibri"/>
                <a:sym typeface="Calibri"/>
              </a:rPr>
              <a:t>$0.40/$1.20  &amp; $0.10/$0.30  per Mln tokens in/out</a:t>
            </a:r>
            <a:endParaRPr sz="1200">
              <a:latin typeface="Calibri"/>
              <a:ea typeface="Calibri"/>
              <a:cs typeface="Calibri"/>
              <a:sym typeface="Calibri"/>
            </a:endParaRPr>
          </a:p>
          <a:p>
            <a:pPr marL="171450" marR="0" lvl="0" indent="-133350" algn="l" rtl="0">
              <a:lnSpc>
                <a:spcPct val="100000"/>
              </a:lnSpc>
              <a:spcBef>
                <a:spcPts val="0"/>
              </a:spcBef>
              <a:spcAft>
                <a:spcPts val="0"/>
              </a:spcAft>
              <a:buSzPts val="1200"/>
              <a:buFont typeface="Calibri"/>
              <a:buChar char="●"/>
            </a:pPr>
            <a:r>
              <a:rPr lang="en" sz="1200">
                <a:latin typeface="Calibri"/>
                <a:ea typeface="Calibri"/>
                <a:cs typeface="Calibri"/>
                <a:sym typeface="Calibri"/>
              </a:rPr>
              <a:t>Mistral also launched Vibe CLI, an open-source CLI coding assistant</a:t>
            </a:r>
            <a:endParaRPr sz="1200">
              <a:latin typeface="Calibri"/>
              <a:ea typeface="Calibri"/>
              <a:cs typeface="Calibri"/>
              <a:sym typeface="Calibri"/>
            </a:endParaRPr>
          </a:p>
        </p:txBody>
      </p:sp>
      <p:pic>
        <p:nvPicPr>
          <p:cNvPr id="163" name="Google Shape;163;p18"/>
          <p:cNvPicPr preferRelativeResize="0"/>
          <p:nvPr/>
        </p:nvPicPr>
        <p:blipFill>
          <a:blip r:embed="rId5" cstate="email">
            <a:alphaModFix/>
            <a:extLst>
              <a:ext uri="{28A0092B-C50C-407E-A947-70E740481C1C}">
                <a14:useLocalDpi xmlns:a14="http://schemas.microsoft.com/office/drawing/2010/main"/>
              </a:ext>
            </a:extLst>
          </a:blip>
          <a:stretch>
            <a:fillRect/>
          </a:stretch>
        </p:blipFill>
        <p:spPr>
          <a:xfrm>
            <a:off x="4558025" y="1363344"/>
            <a:ext cx="4529226" cy="2866599"/>
          </a:xfrm>
          <a:prstGeom prst="rect">
            <a:avLst/>
          </a:prstGeom>
          <a:noFill/>
          <a:ln w="9525" cap="flat" cmpd="sng">
            <a:solidFill>
              <a:srgbClr val="FF0000"/>
            </a:solidFill>
            <a:prstDash val="solid"/>
            <a:round/>
            <a:headEnd type="none" w="sm" len="sm"/>
            <a:tailEnd type="none" w="sm" len="sm"/>
          </a:ln>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67"/>
        <p:cNvGrpSpPr/>
        <p:nvPr/>
      </p:nvGrpSpPr>
      <p:grpSpPr>
        <a:xfrm>
          <a:off x="0" y="0"/>
          <a:ext cx="0" cy="0"/>
          <a:chOff x="0" y="0"/>
          <a:chExt cx="0" cy="0"/>
        </a:xfrm>
      </p:grpSpPr>
      <p:sp>
        <p:nvSpPr>
          <p:cNvPr id="168" name="Google Shape;168;p19"/>
          <p:cNvSpPr txBox="1"/>
          <p:nvPr/>
        </p:nvSpPr>
        <p:spPr>
          <a:xfrm>
            <a:off x="55075" y="20375"/>
            <a:ext cx="1663200" cy="326400"/>
          </a:xfrm>
          <a:prstGeom prst="rect">
            <a:avLst/>
          </a:prstGeom>
          <a:noFill/>
          <a:ln>
            <a:noFill/>
          </a:ln>
        </p:spPr>
        <p:txBody>
          <a:bodyPr spcFirstLastPara="1" wrap="square" lIns="9125" tIns="9125" rIns="9125" bIns="9125" anchor="t" anchorCtr="0">
            <a:spAutoFit/>
          </a:bodyPr>
          <a:lstStyle/>
          <a:p>
            <a:pPr marL="0" marR="0" lvl="0" indent="0" algn="l" rtl="0">
              <a:lnSpc>
                <a:spcPct val="100000"/>
              </a:lnSpc>
              <a:spcBef>
                <a:spcPts val="0"/>
              </a:spcBef>
              <a:spcAft>
                <a:spcPts val="0"/>
              </a:spcAft>
              <a:buClr>
                <a:schemeClr val="dk1"/>
              </a:buClr>
              <a:buSzPts val="1100"/>
              <a:buFont typeface="Arial"/>
              <a:buNone/>
            </a:pPr>
            <a:r>
              <a:rPr lang="en" sz="2000" b="1">
                <a:solidFill>
                  <a:schemeClr val="dk1"/>
                </a:solidFill>
                <a:latin typeface="Calibri"/>
                <a:ea typeface="Calibri"/>
                <a:cs typeface="Calibri"/>
                <a:sym typeface="Calibri"/>
              </a:rPr>
              <a:t>NeurIPS 2025</a:t>
            </a:r>
            <a:endParaRPr sz="2000" b="1" i="0" u="none" strike="noStrike" cap="none">
              <a:solidFill>
                <a:schemeClr val="dk1"/>
              </a:solidFill>
              <a:latin typeface="Calibri"/>
              <a:ea typeface="Calibri"/>
              <a:cs typeface="Calibri"/>
              <a:sym typeface="Calibri"/>
            </a:endParaRPr>
          </a:p>
        </p:txBody>
      </p:sp>
      <p:sp>
        <p:nvSpPr>
          <p:cNvPr id="169" name="Google Shape;169;p19"/>
          <p:cNvSpPr txBox="1"/>
          <p:nvPr/>
        </p:nvSpPr>
        <p:spPr>
          <a:xfrm>
            <a:off x="55075" y="466747"/>
            <a:ext cx="4444500" cy="37434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171450" marR="0" lvl="0" indent="-127000" algn="l" rtl="0">
              <a:lnSpc>
                <a:spcPct val="100000"/>
              </a:lnSpc>
              <a:spcBef>
                <a:spcPts val="0"/>
              </a:spcBef>
              <a:spcAft>
                <a:spcPts val="0"/>
              </a:spcAft>
              <a:buClr>
                <a:srgbClr val="FF0000"/>
              </a:buClr>
              <a:buSzPts val="1100"/>
              <a:buFont typeface="Calibri"/>
              <a:buChar char="●"/>
            </a:pPr>
            <a:r>
              <a:rPr lang="en" sz="1100" b="1">
                <a:solidFill>
                  <a:srgbClr val="FF0000"/>
                </a:solidFill>
                <a:latin typeface="Calibri"/>
                <a:ea typeface="Calibri"/>
                <a:cs typeface="Calibri"/>
                <a:sym typeface="Calibri"/>
              </a:rPr>
              <a:t>NeurIPS 2025, held December 2-7 in San Diego</a:t>
            </a:r>
            <a:endParaRPr sz="1100" b="1">
              <a:solidFill>
                <a:srgbClr val="FF0000"/>
              </a:solidFill>
              <a:latin typeface="Calibri"/>
              <a:ea typeface="Calibri"/>
              <a:cs typeface="Calibri"/>
              <a:sym typeface="Calibri"/>
            </a:endParaRPr>
          </a:p>
          <a:p>
            <a:pPr marL="171450" marR="0" lvl="0" indent="-127000" algn="l" rtl="0">
              <a:lnSpc>
                <a:spcPct val="100000"/>
              </a:lnSpc>
              <a:spcBef>
                <a:spcPts val="0"/>
              </a:spcBef>
              <a:spcAft>
                <a:spcPts val="0"/>
              </a:spcAft>
              <a:buClr>
                <a:schemeClr val="dk1"/>
              </a:buClr>
              <a:buSzPts val="1100"/>
              <a:buFont typeface="Calibri"/>
              <a:buChar char="●"/>
            </a:pPr>
            <a:r>
              <a:rPr lang="en" sz="1100">
                <a:solidFill>
                  <a:schemeClr val="dk1"/>
                </a:solidFill>
                <a:latin typeface="Calibri"/>
                <a:ea typeface="Calibri"/>
                <a:cs typeface="Calibri"/>
                <a:sym typeface="Calibri"/>
              </a:rPr>
              <a:t>It is 39th conference (first held in 1987)</a:t>
            </a:r>
            <a:endParaRPr sz="1100">
              <a:solidFill>
                <a:schemeClr val="dk1"/>
              </a:solidFill>
              <a:latin typeface="Calibri"/>
              <a:ea typeface="Calibri"/>
              <a:cs typeface="Calibri"/>
              <a:sym typeface="Calibri"/>
            </a:endParaRPr>
          </a:p>
          <a:p>
            <a:pPr marL="171450" marR="0" lvl="0" indent="-127000" algn="l" rtl="0">
              <a:lnSpc>
                <a:spcPct val="100000"/>
              </a:lnSpc>
              <a:spcBef>
                <a:spcPts val="0"/>
              </a:spcBef>
              <a:spcAft>
                <a:spcPts val="0"/>
              </a:spcAft>
              <a:buClr>
                <a:srgbClr val="FF0000"/>
              </a:buClr>
              <a:buSzPts val="1100"/>
              <a:buFont typeface="Calibri"/>
              <a:buChar char="●"/>
            </a:pPr>
            <a:r>
              <a:rPr lang="en" sz="1100" b="1">
                <a:solidFill>
                  <a:srgbClr val="FF0000"/>
                </a:solidFill>
                <a:latin typeface="Calibri"/>
                <a:ea typeface="Calibri"/>
                <a:cs typeface="Calibri"/>
                <a:sym typeface="Calibri"/>
              </a:rPr>
              <a:t>29,000 registrants (a 50% increase from the previous year)</a:t>
            </a:r>
            <a:endParaRPr sz="1100" b="1">
              <a:solidFill>
                <a:srgbClr val="FF0000"/>
              </a:solidFill>
              <a:latin typeface="Calibri"/>
              <a:ea typeface="Calibri"/>
              <a:cs typeface="Calibri"/>
              <a:sym typeface="Calibri"/>
            </a:endParaRPr>
          </a:p>
          <a:p>
            <a:pPr marL="171450" marR="0" lvl="0" indent="-127000" algn="l" rtl="0">
              <a:lnSpc>
                <a:spcPct val="100000"/>
              </a:lnSpc>
              <a:spcBef>
                <a:spcPts val="0"/>
              </a:spcBef>
              <a:spcAft>
                <a:spcPts val="0"/>
              </a:spcAft>
              <a:buClr>
                <a:schemeClr val="dk1"/>
              </a:buClr>
              <a:buSzPts val="1100"/>
              <a:buFont typeface="Calibri"/>
              <a:buChar char="●"/>
            </a:pPr>
            <a:r>
              <a:rPr lang="en" sz="1100" b="1">
                <a:solidFill>
                  <a:srgbClr val="3C78D8"/>
                </a:solidFill>
                <a:latin typeface="Calibri"/>
                <a:ea typeface="Calibri"/>
                <a:cs typeface="Calibri"/>
                <a:sym typeface="Calibri"/>
              </a:rPr>
              <a:t>5,300-6,000 </a:t>
            </a:r>
            <a:r>
              <a:rPr lang="en" sz="1100">
                <a:solidFill>
                  <a:schemeClr val="dk1"/>
                </a:solidFill>
                <a:latin typeface="Calibri"/>
                <a:ea typeface="Calibri"/>
                <a:cs typeface="Calibri"/>
                <a:sym typeface="Calibri"/>
              </a:rPr>
              <a:t>papers, making it one of the largest ML conferences to date</a:t>
            </a:r>
            <a:endParaRPr sz="1100">
              <a:solidFill>
                <a:schemeClr val="dk1"/>
              </a:solidFill>
              <a:latin typeface="Calibri"/>
              <a:ea typeface="Calibri"/>
              <a:cs typeface="Calibri"/>
              <a:sym typeface="Calibri"/>
            </a:endParaRPr>
          </a:p>
          <a:p>
            <a:pPr marL="171450" marR="0" lvl="0" indent="-127000" algn="l" rtl="0">
              <a:lnSpc>
                <a:spcPct val="100000"/>
              </a:lnSpc>
              <a:spcBef>
                <a:spcPts val="0"/>
              </a:spcBef>
              <a:spcAft>
                <a:spcPts val="0"/>
              </a:spcAft>
              <a:buClr>
                <a:srgbClr val="6AA84F"/>
              </a:buClr>
              <a:buSzPts val="1100"/>
              <a:buFont typeface="Calibri"/>
              <a:buChar char="●"/>
            </a:pPr>
            <a:r>
              <a:rPr lang="en" sz="1100" b="1">
                <a:solidFill>
                  <a:srgbClr val="6AA84F"/>
                </a:solidFill>
                <a:latin typeface="Calibri"/>
                <a:ea typeface="Calibri"/>
                <a:cs typeface="Calibri"/>
                <a:sym typeface="Calibri"/>
              </a:rPr>
              <a:t>Chinese dominance with Alibaba winning the best paper award and Mandarin being the most-heard language in hallways</a:t>
            </a:r>
            <a:endParaRPr sz="1100" b="1">
              <a:solidFill>
                <a:srgbClr val="6AA84F"/>
              </a:solidFill>
              <a:latin typeface="Calibri"/>
              <a:ea typeface="Calibri"/>
              <a:cs typeface="Calibri"/>
              <a:sym typeface="Calibri"/>
            </a:endParaRPr>
          </a:p>
          <a:p>
            <a:pPr marL="171450" marR="0" lvl="0" indent="-127000" algn="l" rtl="0">
              <a:lnSpc>
                <a:spcPct val="100000"/>
              </a:lnSpc>
              <a:spcBef>
                <a:spcPts val="0"/>
              </a:spcBef>
              <a:spcAft>
                <a:spcPts val="0"/>
              </a:spcAft>
              <a:buClr>
                <a:schemeClr val="dk1"/>
              </a:buClr>
              <a:buSzPts val="1100"/>
              <a:buFont typeface="Calibri"/>
              <a:buChar char="●"/>
            </a:pPr>
            <a:r>
              <a:rPr lang="en" sz="1100">
                <a:solidFill>
                  <a:schemeClr val="dk1"/>
                </a:solidFill>
                <a:latin typeface="Calibri"/>
                <a:ea typeface="Calibri"/>
                <a:cs typeface="Calibri"/>
                <a:sym typeface="Calibri"/>
              </a:rPr>
              <a:t>American frontier AI labs have "gone dark" and stopped publishing research, while Chinese labs continue to publish openly</a:t>
            </a:r>
            <a:endParaRPr sz="1100">
              <a:solidFill>
                <a:schemeClr val="dk1"/>
              </a:solidFill>
              <a:latin typeface="Calibri"/>
              <a:ea typeface="Calibri"/>
              <a:cs typeface="Calibri"/>
              <a:sym typeface="Calibri"/>
            </a:endParaRPr>
          </a:p>
          <a:p>
            <a:pPr marL="171450" marR="0" lvl="0" indent="-127000" algn="l" rtl="0">
              <a:lnSpc>
                <a:spcPct val="100000"/>
              </a:lnSpc>
              <a:spcBef>
                <a:spcPts val="0"/>
              </a:spcBef>
              <a:spcAft>
                <a:spcPts val="0"/>
              </a:spcAft>
              <a:buClr>
                <a:schemeClr val="dk1"/>
              </a:buClr>
              <a:buSzPts val="1100"/>
              <a:buFont typeface="Calibri"/>
              <a:buChar char="●"/>
            </a:pPr>
            <a:r>
              <a:rPr lang="en" sz="1100">
                <a:solidFill>
                  <a:schemeClr val="dk1"/>
                </a:solidFill>
                <a:latin typeface="Calibri"/>
                <a:ea typeface="Calibri"/>
                <a:cs typeface="Calibri"/>
                <a:sym typeface="Calibri"/>
              </a:rPr>
              <a:t>The conference centered on three dominant areas: </a:t>
            </a:r>
            <a:br>
              <a:rPr lang="en" sz="1100">
                <a:solidFill>
                  <a:schemeClr val="dk1"/>
                </a:solidFill>
                <a:latin typeface="Calibri"/>
                <a:ea typeface="Calibri"/>
                <a:cs typeface="Calibri"/>
                <a:sym typeface="Calibri"/>
              </a:rPr>
            </a:br>
            <a:r>
              <a:rPr lang="en" sz="1100">
                <a:solidFill>
                  <a:schemeClr val="dk1"/>
                </a:solidFill>
                <a:latin typeface="Calibri"/>
                <a:ea typeface="Calibri"/>
                <a:cs typeface="Calibri"/>
                <a:sym typeface="Calibri"/>
              </a:rPr>
              <a:t>LLMs, Multimodality, RL; Also diffusion models for computer vision</a:t>
            </a:r>
            <a:endParaRPr sz="1100">
              <a:solidFill>
                <a:schemeClr val="dk1"/>
              </a:solidFill>
              <a:latin typeface="Calibri"/>
              <a:ea typeface="Calibri"/>
              <a:cs typeface="Calibri"/>
              <a:sym typeface="Calibri"/>
            </a:endParaRPr>
          </a:p>
          <a:p>
            <a:pPr marL="171450" marR="0" lvl="0" indent="-127000" algn="l" rtl="0">
              <a:lnSpc>
                <a:spcPct val="100000"/>
              </a:lnSpc>
              <a:spcBef>
                <a:spcPts val="0"/>
              </a:spcBef>
              <a:spcAft>
                <a:spcPts val="0"/>
              </a:spcAft>
              <a:buClr>
                <a:schemeClr val="dk1"/>
              </a:buClr>
              <a:buSzPts val="1100"/>
              <a:buFont typeface="Calibri"/>
              <a:buChar char="●"/>
            </a:pPr>
            <a:r>
              <a:rPr lang="en" sz="1100">
                <a:solidFill>
                  <a:schemeClr val="dk1"/>
                </a:solidFill>
                <a:latin typeface="Calibri"/>
                <a:ea typeface="Calibri"/>
                <a:cs typeface="Calibri"/>
                <a:sym typeface="Calibri"/>
              </a:rPr>
              <a:t>766 papers on Reasoning research</a:t>
            </a:r>
            <a:endParaRPr sz="1100">
              <a:solidFill>
                <a:schemeClr val="dk1"/>
              </a:solidFill>
              <a:latin typeface="Calibri"/>
              <a:ea typeface="Calibri"/>
              <a:cs typeface="Calibri"/>
              <a:sym typeface="Calibri"/>
            </a:endParaRPr>
          </a:p>
          <a:p>
            <a:pPr marL="171450" marR="0" lvl="0" indent="-127000" algn="l" rtl="0">
              <a:lnSpc>
                <a:spcPct val="100000"/>
              </a:lnSpc>
              <a:spcBef>
                <a:spcPts val="0"/>
              </a:spcBef>
              <a:spcAft>
                <a:spcPts val="0"/>
              </a:spcAft>
              <a:buClr>
                <a:schemeClr val="dk1"/>
              </a:buClr>
              <a:buSzPts val="1100"/>
              <a:buFont typeface="Calibri"/>
              <a:buChar char="●"/>
            </a:pPr>
            <a:r>
              <a:rPr lang="en" sz="1100">
                <a:solidFill>
                  <a:schemeClr val="dk1"/>
                </a:solidFill>
                <a:latin typeface="Calibri"/>
                <a:ea typeface="Calibri"/>
                <a:cs typeface="Calibri"/>
                <a:sym typeface="Calibri"/>
              </a:rPr>
              <a:t>Best paper awards - diffusion model theory, self-supervised reinforcement learning, and attention mechanisms for LLMs</a:t>
            </a:r>
            <a:endParaRPr sz="1100">
              <a:solidFill>
                <a:schemeClr val="dk1"/>
              </a:solidFill>
              <a:latin typeface="Calibri"/>
              <a:ea typeface="Calibri"/>
              <a:cs typeface="Calibri"/>
              <a:sym typeface="Calibri"/>
            </a:endParaRPr>
          </a:p>
          <a:p>
            <a:pPr marL="171450" marR="0" lvl="0" indent="-127000" algn="l" rtl="0">
              <a:lnSpc>
                <a:spcPct val="100000"/>
              </a:lnSpc>
              <a:spcBef>
                <a:spcPts val="0"/>
              </a:spcBef>
              <a:spcAft>
                <a:spcPts val="0"/>
              </a:spcAft>
              <a:buClr>
                <a:schemeClr val="dk1"/>
              </a:buClr>
              <a:buSzPts val="1100"/>
              <a:buFont typeface="Calibri"/>
              <a:buChar char="●"/>
            </a:pPr>
            <a:r>
              <a:rPr lang="en" sz="1100">
                <a:solidFill>
                  <a:schemeClr val="dk1"/>
                </a:solidFill>
                <a:latin typeface="Calibri"/>
                <a:ea typeface="Calibri"/>
                <a:cs typeface="Calibri"/>
                <a:sym typeface="Calibri"/>
              </a:rPr>
              <a:t>One notable award went to "Why Diffusion Models Don't Memorize: The Role of Implicit Dynamical Regularization in Training," </a:t>
            </a:r>
            <a:endParaRPr sz="1100">
              <a:solidFill>
                <a:schemeClr val="dk1"/>
              </a:solidFill>
              <a:latin typeface="Calibri"/>
              <a:ea typeface="Calibri"/>
              <a:cs typeface="Calibri"/>
              <a:sym typeface="Calibri"/>
            </a:endParaRPr>
          </a:p>
          <a:p>
            <a:pPr marL="171450" marR="0" lvl="0" indent="-127000" algn="l" rtl="0">
              <a:lnSpc>
                <a:spcPct val="100000"/>
              </a:lnSpc>
              <a:spcBef>
                <a:spcPts val="0"/>
              </a:spcBef>
              <a:spcAft>
                <a:spcPts val="0"/>
              </a:spcAft>
              <a:buClr>
                <a:schemeClr val="dk1"/>
              </a:buClr>
              <a:buSzPts val="1100"/>
              <a:buFont typeface="Calibri"/>
              <a:buChar char="●"/>
            </a:pPr>
            <a:r>
              <a:rPr lang="en" sz="1100">
                <a:solidFill>
                  <a:schemeClr val="dk1"/>
                </a:solidFill>
                <a:latin typeface="Calibri"/>
                <a:ea typeface="Calibri"/>
                <a:cs typeface="Calibri"/>
                <a:sym typeface="Calibri"/>
              </a:rPr>
              <a:t>Another best paper resolved a 30-year-old open problem concerning the power of unlabeled data in online learning</a:t>
            </a:r>
            <a:endParaRPr sz="1100">
              <a:solidFill>
                <a:schemeClr val="dk1"/>
              </a:solidFill>
              <a:latin typeface="Calibri"/>
              <a:ea typeface="Calibri"/>
              <a:cs typeface="Calibri"/>
              <a:sym typeface="Calibri"/>
            </a:endParaRPr>
          </a:p>
          <a:p>
            <a:pPr marL="171450" marR="0" lvl="0" indent="-127000" algn="l" rtl="0">
              <a:lnSpc>
                <a:spcPct val="100000"/>
              </a:lnSpc>
              <a:spcBef>
                <a:spcPts val="0"/>
              </a:spcBef>
              <a:spcAft>
                <a:spcPts val="0"/>
              </a:spcAft>
              <a:buClr>
                <a:schemeClr val="dk1"/>
              </a:buClr>
              <a:buSzPts val="1100"/>
              <a:buFont typeface="Calibri"/>
              <a:buChar char="●"/>
            </a:pPr>
            <a:r>
              <a:rPr lang="en" sz="1100">
                <a:solidFill>
                  <a:schemeClr val="dk1"/>
                </a:solidFill>
                <a:latin typeface="Calibri"/>
                <a:ea typeface="Calibri"/>
                <a:cs typeface="Calibri"/>
                <a:sym typeface="Calibri"/>
              </a:rPr>
              <a:t>Research contributions from industry labs like NTT (Nippon) demonstrated practical applications including efficient LLMs running on single GPUs, decentralized AI systems, optical fiber sensing with transformers, and AI security through watermarking techniques</a:t>
            </a:r>
            <a:endParaRPr sz="1100">
              <a:solidFill>
                <a:schemeClr val="dk1"/>
              </a:solidFill>
              <a:latin typeface="Calibri"/>
              <a:ea typeface="Calibri"/>
              <a:cs typeface="Calibri"/>
              <a:sym typeface="Calibri"/>
            </a:endParaRPr>
          </a:p>
          <a:p>
            <a:pPr marL="171450" marR="0" lvl="0" indent="-127000" algn="l" rtl="0">
              <a:lnSpc>
                <a:spcPct val="100000"/>
              </a:lnSpc>
              <a:spcBef>
                <a:spcPts val="0"/>
              </a:spcBef>
              <a:spcAft>
                <a:spcPts val="0"/>
              </a:spcAft>
              <a:buClr>
                <a:schemeClr val="dk1"/>
              </a:buClr>
              <a:buSzPts val="1100"/>
              <a:buFont typeface="Calibri"/>
              <a:buChar char="●"/>
            </a:pPr>
            <a:r>
              <a:rPr lang="en" sz="1100" u="sng">
                <a:solidFill>
                  <a:schemeClr val="hlink"/>
                </a:solidFill>
                <a:latin typeface="Calibri"/>
                <a:ea typeface="Calibri"/>
                <a:cs typeface="Calibri"/>
                <a:sym typeface="Calibri"/>
                <a:hlinkClick r:id="rId3"/>
              </a:rPr>
              <a:t>https://www.paperdigest.org/2025/11/neurips-2025-papers-highlights/</a:t>
            </a:r>
            <a:r>
              <a:rPr lang="en" sz="1100">
                <a:solidFill>
                  <a:schemeClr val="dk1"/>
                </a:solidFill>
                <a:latin typeface="Calibri"/>
                <a:ea typeface="Calibri"/>
                <a:cs typeface="Calibri"/>
                <a:sym typeface="Calibri"/>
              </a:rPr>
              <a:t> </a:t>
            </a:r>
            <a:endParaRPr sz="1100">
              <a:solidFill>
                <a:schemeClr val="dk1"/>
              </a:solidFill>
              <a:latin typeface="Calibri"/>
              <a:ea typeface="Calibri"/>
              <a:cs typeface="Calibri"/>
              <a:sym typeface="Calibri"/>
            </a:endParaRPr>
          </a:p>
        </p:txBody>
      </p:sp>
      <p:pic>
        <p:nvPicPr>
          <p:cNvPr id="170" name="Google Shape;170;p19"/>
          <p:cNvPicPr preferRelativeResize="0"/>
          <p:nvPr/>
        </p:nvPicPr>
        <p:blipFill>
          <a:blip r:embed="rId4" cstate="email">
            <a:alphaModFix/>
            <a:extLst>
              <a:ext uri="{28A0092B-C50C-407E-A947-70E740481C1C}">
                <a14:useLocalDpi xmlns:a14="http://schemas.microsoft.com/office/drawing/2010/main"/>
              </a:ext>
            </a:extLst>
          </a:blip>
          <a:stretch>
            <a:fillRect/>
          </a:stretch>
        </p:blipFill>
        <p:spPr>
          <a:xfrm>
            <a:off x="5878673" y="4017439"/>
            <a:ext cx="2038488" cy="1019250"/>
          </a:xfrm>
          <a:prstGeom prst="rect">
            <a:avLst/>
          </a:prstGeom>
          <a:noFill/>
          <a:ln w="9525" cap="flat" cmpd="sng">
            <a:solidFill>
              <a:srgbClr val="FF0000"/>
            </a:solidFill>
            <a:prstDash val="solid"/>
            <a:round/>
            <a:headEnd type="none" w="sm" len="sm"/>
            <a:tailEnd type="none" w="sm" len="sm"/>
          </a:ln>
        </p:spPr>
      </p:pic>
      <p:pic>
        <p:nvPicPr>
          <p:cNvPr id="171" name="Google Shape;171;p19"/>
          <p:cNvPicPr preferRelativeResize="0"/>
          <p:nvPr/>
        </p:nvPicPr>
        <p:blipFill>
          <a:blip r:embed="rId5" cstate="email">
            <a:alphaModFix/>
            <a:extLst>
              <a:ext uri="{28A0092B-C50C-407E-A947-70E740481C1C}">
                <a14:useLocalDpi xmlns:a14="http://schemas.microsoft.com/office/drawing/2010/main"/>
              </a:ext>
            </a:extLst>
          </a:blip>
          <a:stretch>
            <a:fillRect/>
          </a:stretch>
        </p:blipFill>
        <p:spPr>
          <a:xfrm>
            <a:off x="4751310" y="488930"/>
            <a:ext cx="4293224" cy="3419850"/>
          </a:xfrm>
          <a:prstGeom prst="rect">
            <a:avLst/>
          </a:prstGeom>
          <a:noFill/>
          <a:ln w="9525" cap="flat" cmpd="sng">
            <a:solidFill>
              <a:srgbClr val="FF0000"/>
            </a:solidFill>
            <a:prstDash val="solid"/>
            <a:round/>
            <a:headEnd type="none" w="sm" len="sm"/>
            <a:tailEnd type="none" w="sm" len="sm"/>
          </a:ln>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75"/>
        <p:cNvGrpSpPr/>
        <p:nvPr/>
      </p:nvGrpSpPr>
      <p:grpSpPr>
        <a:xfrm>
          <a:off x="0" y="0"/>
          <a:ext cx="0" cy="0"/>
          <a:chOff x="0" y="0"/>
          <a:chExt cx="0" cy="0"/>
        </a:xfrm>
      </p:grpSpPr>
      <p:sp>
        <p:nvSpPr>
          <p:cNvPr id="176" name="Google Shape;176;p20"/>
          <p:cNvSpPr txBox="1"/>
          <p:nvPr/>
        </p:nvSpPr>
        <p:spPr>
          <a:xfrm>
            <a:off x="148651" y="619300"/>
            <a:ext cx="4917900" cy="41868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chemeClr val="dk1"/>
              </a:buClr>
              <a:buSzPts val="2500"/>
              <a:buFont typeface="Arial"/>
              <a:buNone/>
            </a:pPr>
            <a:r>
              <a:rPr lang="en" sz="2200">
                <a:solidFill>
                  <a:schemeClr val="dk1"/>
                </a:solidFill>
                <a:latin typeface="Calibri"/>
                <a:ea typeface="Calibri"/>
                <a:cs typeface="Calibri"/>
                <a:sym typeface="Calibri"/>
              </a:rPr>
              <a:t>We do these weekly videos every Friday</a:t>
            </a:r>
            <a:endParaRPr sz="2200">
              <a:solidFill>
                <a:schemeClr val="dk1"/>
              </a:solidFill>
              <a:latin typeface="Calibri"/>
              <a:ea typeface="Calibri"/>
              <a:cs typeface="Calibri"/>
              <a:sym typeface="Calibri"/>
            </a:endParaRPr>
          </a:p>
          <a:p>
            <a:pPr marL="0" lvl="0" indent="0" algn="l" rtl="0">
              <a:spcBef>
                <a:spcPts val="0"/>
              </a:spcBef>
              <a:spcAft>
                <a:spcPts val="0"/>
              </a:spcAft>
              <a:buClr>
                <a:schemeClr val="dk1"/>
              </a:buClr>
              <a:buSzPts val="2500"/>
              <a:buFont typeface="Arial"/>
              <a:buNone/>
            </a:pPr>
            <a:r>
              <a:rPr lang="en" sz="2200">
                <a:solidFill>
                  <a:schemeClr val="dk1"/>
                </a:solidFill>
                <a:latin typeface="Calibri"/>
                <a:ea typeface="Calibri"/>
                <a:cs typeface="Calibri"/>
                <a:sym typeface="Calibri"/>
              </a:rPr>
              <a:t>Stats: 5.84K subscribers, 257 videos</a:t>
            </a:r>
            <a:endParaRPr sz="2200">
              <a:solidFill>
                <a:schemeClr val="dk1"/>
              </a:solidFill>
              <a:latin typeface="Calibri"/>
              <a:ea typeface="Calibri"/>
              <a:cs typeface="Calibri"/>
              <a:sym typeface="Calibri"/>
            </a:endParaRPr>
          </a:p>
          <a:p>
            <a:pPr marL="0" marR="0" lvl="0" indent="0" algn="l" rtl="0">
              <a:lnSpc>
                <a:spcPct val="100000"/>
              </a:lnSpc>
              <a:spcBef>
                <a:spcPts val="0"/>
              </a:spcBef>
              <a:spcAft>
                <a:spcPts val="0"/>
              </a:spcAft>
              <a:buClr>
                <a:schemeClr val="dk1"/>
              </a:buClr>
              <a:buSzPts val="2500"/>
              <a:buFont typeface="Arial"/>
              <a:buNone/>
            </a:pPr>
            <a:endParaRPr sz="2200">
              <a:solidFill>
                <a:schemeClr val="dk1"/>
              </a:solidFill>
              <a:latin typeface="Calibri"/>
              <a:ea typeface="Calibri"/>
              <a:cs typeface="Calibri"/>
              <a:sym typeface="Calibri"/>
            </a:endParaRPr>
          </a:p>
          <a:p>
            <a:pPr marL="0" lvl="0" indent="0" algn="l" rtl="0">
              <a:spcBef>
                <a:spcPts val="0"/>
              </a:spcBef>
              <a:spcAft>
                <a:spcPts val="0"/>
              </a:spcAft>
              <a:buClr>
                <a:schemeClr val="dk1"/>
              </a:buClr>
              <a:buSzPts val="2500"/>
              <a:buFont typeface="Arial"/>
              <a:buNone/>
            </a:pPr>
            <a:r>
              <a:rPr lang="en" sz="2200">
                <a:solidFill>
                  <a:schemeClr val="dk1"/>
                </a:solidFill>
                <a:latin typeface="Calibri"/>
                <a:ea typeface="Calibri"/>
                <a:cs typeface="Calibri"/>
                <a:sym typeface="Calibri"/>
              </a:rPr>
              <a:t>Subscribe to this channel</a:t>
            </a:r>
            <a:endParaRPr sz="2200">
              <a:solidFill>
                <a:schemeClr val="dk1"/>
              </a:solidFill>
              <a:latin typeface="Calibri"/>
              <a:ea typeface="Calibri"/>
              <a:cs typeface="Calibri"/>
              <a:sym typeface="Calibri"/>
            </a:endParaRPr>
          </a:p>
          <a:p>
            <a:pPr marL="0" lvl="0" indent="0" algn="l" rtl="0">
              <a:spcBef>
                <a:spcPts val="0"/>
              </a:spcBef>
              <a:spcAft>
                <a:spcPts val="0"/>
              </a:spcAft>
              <a:buClr>
                <a:schemeClr val="dk1"/>
              </a:buClr>
              <a:buSzPts val="2500"/>
              <a:buFont typeface="Arial"/>
              <a:buNone/>
            </a:pPr>
            <a:r>
              <a:rPr lang="en" sz="1800" b="1" u="sng">
                <a:solidFill>
                  <a:schemeClr val="accent5"/>
                </a:solidFill>
                <a:latin typeface="Calibri"/>
                <a:ea typeface="Calibri"/>
                <a:cs typeface="Calibri"/>
                <a:sym typeface="Calibri"/>
                <a:hlinkClick r:id="rId3">
                  <a:extLst>
                    <a:ext uri="{A12FA001-AC4F-418D-AE19-62706E023703}">
                      <ahyp:hlinkClr xmlns:ahyp="http://schemas.microsoft.com/office/drawing/2018/hyperlinkcolor" val="tx"/>
                    </a:ext>
                  </a:extLst>
                </a:hlinkClick>
              </a:rPr>
              <a:t>https://www.youtube.com/@lev-selector</a:t>
            </a:r>
            <a:r>
              <a:rPr lang="en" sz="1800" b="1">
                <a:solidFill>
                  <a:schemeClr val="dk1"/>
                </a:solidFill>
                <a:latin typeface="Calibri"/>
                <a:ea typeface="Calibri"/>
                <a:cs typeface="Calibri"/>
                <a:sym typeface="Calibri"/>
              </a:rPr>
              <a:t> </a:t>
            </a:r>
            <a:endParaRPr sz="1800" b="1">
              <a:solidFill>
                <a:schemeClr val="dk1"/>
              </a:solidFill>
              <a:latin typeface="Calibri"/>
              <a:ea typeface="Calibri"/>
              <a:cs typeface="Calibri"/>
              <a:sym typeface="Calibri"/>
            </a:endParaRPr>
          </a:p>
          <a:p>
            <a:pPr marL="0" marR="0" lvl="0" indent="0" algn="l" rtl="0">
              <a:lnSpc>
                <a:spcPct val="100000"/>
              </a:lnSpc>
              <a:spcBef>
                <a:spcPts val="0"/>
              </a:spcBef>
              <a:spcAft>
                <a:spcPts val="0"/>
              </a:spcAft>
              <a:buClr>
                <a:schemeClr val="dk1"/>
              </a:buClr>
              <a:buSzPts val="2500"/>
              <a:buFont typeface="Arial"/>
              <a:buNone/>
            </a:pPr>
            <a:endParaRPr sz="2200">
              <a:solidFill>
                <a:schemeClr val="dk1"/>
              </a:solidFill>
              <a:latin typeface="Calibri"/>
              <a:ea typeface="Calibri"/>
              <a:cs typeface="Calibri"/>
              <a:sym typeface="Calibri"/>
            </a:endParaRPr>
          </a:p>
          <a:p>
            <a:pPr marL="0" marR="0" lvl="0" indent="0" algn="l" rtl="0">
              <a:lnSpc>
                <a:spcPct val="100000"/>
              </a:lnSpc>
              <a:spcBef>
                <a:spcPts val="0"/>
              </a:spcBef>
              <a:spcAft>
                <a:spcPts val="0"/>
              </a:spcAft>
              <a:buClr>
                <a:schemeClr val="dk1"/>
              </a:buClr>
              <a:buSzPts val="2500"/>
              <a:buFont typeface="Arial"/>
              <a:buNone/>
            </a:pPr>
            <a:r>
              <a:rPr lang="en" sz="2200">
                <a:solidFill>
                  <a:schemeClr val="dk1"/>
                </a:solidFill>
                <a:latin typeface="Calibri"/>
                <a:ea typeface="Calibri"/>
                <a:cs typeface="Calibri"/>
                <a:sym typeface="Calibri"/>
              </a:rPr>
              <a:t>Download slides from GitHub using links under the videos</a:t>
            </a:r>
            <a:endParaRPr sz="2200">
              <a:solidFill>
                <a:schemeClr val="dk1"/>
              </a:solidFill>
              <a:latin typeface="Calibri"/>
              <a:ea typeface="Calibri"/>
              <a:cs typeface="Calibri"/>
              <a:sym typeface="Calibri"/>
            </a:endParaRPr>
          </a:p>
          <a:p>
            <a:pPr marL="0" lvl="0" indent="0" algn="l" rtl="0">
              <a:spcBef>
                <a:spcPts val="0"/>
              </a:spcBef>
              <a:spcAft>
                <a:spcPts val="0"/>
              </a:spcAft>
              <a:buClr>
                <a:schemeClr val="dk1"/>
              </a:buClr>
              <a:buSzPts val="2500"/>
              <a:buFont typeface="Arial"/>
              <a:buNone/>
            </a:pPr>
            <a:endParaRPr sz="2200">
              <a:solidFill>
                <a:schemeClr val="dk1"/>
              </a:solidFill>
              <a:latin typeface="Calibri"/>
              <a:ea typeface="Calibri"/>
              <a:cs typeface="Calibri"/>
              <a:sym typeface="Calibri"/>
            </a:endParaRPr>
          </a:p>
          <a:p>
            <a:pPr marL="0" marR="0" lvl="0" indent="0" algn="l" rtl="0">
              <a:lnSpc>
                <a:spcPct val="100000"/>
              </a:lnSpc>
              <a:spcBef>
                <a:spcPts val="0"/>
              </a:spcBef>
              <a:spcAft>
                <a:spcPts val="0"/>
              </a:spcAft>
              <a:buClr>
                <a:schemeClr val="dk1"/>
              </a:buClr>
              <a:buSzPts val="2500"/>
              <a:buFont typeface="Arial"/>
              <a:buNone/>
            </a:pPr>
            <a:r>
              <a:rPr lang="en" sz="2200" b="1">
                <a:solidFill>
                  <a:srgbClr val="FF0000"/>
                </a:solidFill>
                <a:latin typeface="Calibri"/>
                <a:ea typeface="Calibri"/>
                <a:cs typeface="Calibri"/>
                <a:sym typeface="Calibri"/>
              </a:rPr>
              <a:t>Please pause the video - and answer the pinned question in comments under the video</a:t>
            </a:r>
            <a:endParaRPr sz="1800" b="1" i="0" u="none" strike="noStrike" cap="none">
              <a:solidFill>
                <a:srgbClr val="FF0000"/>
              </a:solidFill>
              <a:latin typeface="Calibri"/>
              <a:ea typeface="Calibri"/>
              <a:cs typeface="Calibri"/>
              <a:sym typeface="Calibri"/>
            </a:endParaRPr>
          </a:p>
        </p:txBody>
      </p:sp>
      <p:pic>
        <p:nvPicPr>
          <p:cNvPr id="177" name="Google Shape;177;p20"/>
          <p:cNvPicPr preferRelativeResize="0"/>
          <p:nvPr/>
        </p:nvPicPr>
        <p:blipFill>
          <a:blip r:embed="rId4" cstate="email">
            <a:alphaModFix/>
            <a:extLst>
              <a:ext uri="{28A0092B-C50C-407E-A947-70E740481C1C}">
                <a14:useLocalDpi xmlns:a14="http://schemas.microsoft.com/office/drawing/2010/main"/>
              </a:ext>
            </a:extLst>
          </a:blip>
          <a:stretch>
            <a:fillRect/>
          </a:stretch>
        </p:blipFill>
        <p:spPr>
          <a:xfrm>
            <a:off x="5227443" y="79125"/>
            <a:ext cx="3828725" cy="4985251"/>
          </a:xfrm>
          <a:prstGeom prst="rect">
            <a:avLst/>
          </a:prstGeom>
          <a:noFill/>
          <a:ln w="9525" cap="flat" cmpd="sng">
            <a:solidFill>
              <a:srgbClr val="FF0000"/>
            </a:solidFill>
            <a:prstDash val="solid"/>
            <a:round/>
            <a:headEnd type="none" w="sm" len="sm"/>
            <a:tailEnd type="none" w="sm" len="sm"/>
          </a:ln>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81"/>
        <p:cNvGrpSpPr/>
        <p:nvPr/>
      </p:nvGrpSpPr>
      <p:grpSpPr>
        <a:xfrm>
          <a:off x="0" y="0"/>
          <a:ext cx="0" cy="0"/>
          <a:chOff x="0" y="0"/>
          <a:chExt cx="0" cy="0"/>
        </a:xfrm>
      </p:grpSpPr>
      <p:sp>
        <p:nvSpPr>
          <p:cNvPr id="182" name="Google Shape;182;p21"/>
          <p:cNvSpPr txBox="1"/>
          <p:nvPr/>
        </p:nvSpPr>
        <p:spPr>
          <a:xfrm>
            <a:off x="55075" y="20375"/>
            <a:ext cx="4444500" cy="326400"/>
          </a:xfrm>
          <a:prstGeom prst="rect">
            <a:avLst/>
          </a:prstGeom>
          <a:noFill/>
          <a:ln>
            <a:noFill/>
          </a:ln>
        </p:spPr>
        <p:txBody>
          <a:bodyPr spcFirstLastPara="1" wrap="square" lIns="9125" tIns="9125" rIns="9125" bIns="9125" anchor="t" anchorCtr="0">
            <a:spAutoFit/>
          </a:bodyPr>
          <a:lstStyle/>
          <a:p>
            <a:pPr marL="0" marR="0" lvl="0" indent="0" algn="l" rtl="0">
              <a:lnSpc>
                <a:spcPct val="100000"/>
              </a:lnSpc>
              <a:spcBef>
                <a:spcPts val="0"/>
              </a:spcBef>
              <a:spcAft>
                <a:spcPts val="0"/>
              </a:spcAft>
              <a:buClr>
                <a:schemeClr val="dk1"/>
              </a:buClr>
              <a:buSzPts val="1100"/>
              <a:buFont typeface="Arial"/>
              <a:buNone/>
            </a:pPr>
            <a:r>
              <a:rPr lang="en" sz="2000" b="1">
                <a:solidFill>
                  <a:schemeClr val="dk1"/>
                </a:solidFill>
                <a:latin typeface="Calibri"/>
                <a:ea typeface="Calibri"/>
                <a:cs typeface="Calibri"/>
                <a:sym typeface="Calibri"/>
              </a:rPr>
              <a:t>Molmo Vision Language Model</a:t>
            </a:r>
            <a:endParaRPr sz="2000" b="1" i="0" u="none" strike="noStrike" cap="none">
              <a:solidFill>
                <a:schemeClr val="dk1"/>
              </a:solidFill>
              <a:latin typeface="Calibri"/>
              <a:ea typeface="Calibri"/>
              <a:cs typeface="Calibri"/>
              <a:sym typeface="Calibri"/>
            </a:endParaRPr>
          </a:p>
        </p:txBody>
      </p:sp>
      <p:sp>
        <p:nvSpPr>
          <p:cNvPr id="183" name="Google Shape;183;p21"/>
          <p:cNvSpPr txBox="1"/>
          <p:nvPr/>
        </p:nvSpPr>
        <p:spPr>
          <a:xfrm>
            <a:off x="55075" y="361777"/>
            <a:ext cx="4444500" cy="15423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171450" marR="0" lvl="0" indent="-127000" algn="l" rtl="0">
              <a:lnSpc>
                <a:spcPct val="100000"/>
              </a:lnSpc>
              <a:spcBef>
                <a:spcPts val="0"/>
              </a:spcBef>
              <a:spcAft>
                <a:spcPts val="0"/>
              </a:spcAft>
              <a:buClr>
                <a:schemeClr val="dk1"/>
              </a:buClr>
              <a:buSzPts val="1100"/>
              <a:buFont typeface="Calibri"/>
              <a:buChar char="●"/>
            </a:pPr>
            <a:r>
              <a:rPr lang="en" sz="1100">
                <a:solidFill>
                  <a:schemeClr val="dk1"/>
                </a:solidFill>
                <a:latin typeface="Calibri"/>
                <a:ea typeface="Calibri"/>
                <a:cs typeface="Calibri"/>
                <a:sym typeface="Calibri"/>
              </a:rPr>
              <a:t>A 24-year-old researcher </a:t>
            </a:r>
            <a:r>
              <a:rPr lang="en" sz="1100" b="1">
                <a:solidFill>
                  <a:srgbClr val="FF0000"/>
                </a:solidFill>
                <a:latin typeface="Calibri"/>
                <a:ea typeface="Calibri"/>
                <a:cs typeface="Calibri"/>
                <a:sym typeface="Calibri"/>
              </a:rPr>
              <a:t>Matt Deitke received a $250 Mln personal offer from Meta's Superintelligence Lab</a:t>
            </a:r>
            <a:endParaRPr sz="1100" b="1">
              <a:solidFill>
                <a:srgbClr val="FF0000"/>
              </a:solidFill>
              <a:latin typeface="Calibri"/>
              <a:ea typeface="Calibri"/>
              <a:cs typeface="Calibri"/>
              <a:sym typeface="Calibri"/>
            </a:endParaRPr>
          </a:p>
          <a:p>
            <a:pPr marL="171450" marR="0" lvl="0" indent="-127000" algn="l" rtl="0">
              <a:lnSpc>
                <a:spcPct val="100000"/>
              </a:lnSpc>
              <a:spcBef>
                <a:spcPts val="0"/>
              </a:spcBef>
              <a:spcAft>
                <a:spcPts val="0"/>
              </a:spcAft>
              <a:buClr>
                <a:schemeClr val="dk1"/>
              </a:buClr>
              <a:buSzPts val="1100"/>
              <a:buFont typeface="Calibri"/>
              <a:buChar char="●"/>
            </a:pPr>
            <a:r>
              <a:rPr lang="en" sz="1100">
                <a:solidFill>
                  <a:schemeClr val="dk1"/>
                </a:solidFill>
                <a:latin typeface="Calibri"/>
                <a:ea typeface="Calibri"/>
                <a:cs typeface="Calibri"/>
                <a:sym typeface="Calibri"/>
              </a:rPr>
              <a:t>Matt was a lead developer on the Molmo project, then co-founded Vercept - a startup focused on autonomous AI agents</a:t>
            </a:r>
            <a:endParaRPr sz="1100">
              <a:solidFill>
                <a:schemeClr val="dk1"/>
              </a:solidFill>
              <a:latin typeface="Calibri"/>
              <a:ea typeface="Calibri"/>
              <a:cs typeface="Calibri"/>
              <a:sym typeface="Calibri"/>
            </a:endParaRPr>
          </a:p>
          <a:p>
            <a:pPr marL="171450" marR="0" lvl="0" indent="-127000" algn="l" rtl="0">
              <a:lnSpc>
                <a:spcPct val="100000"/>
              </a:lnSpc>
              <a:spcBef>
                <a:spcPts val="0"/>
              </a:spcBef>
              <a:spcAft>
                <a:spcPts val="0"/>
              </a:spcAft>
              <a:buClr>
                <a:schemeClr val="dk1"/>
              </a:buClr>
              <a:buSzPts val="1100"/>
              <a:buFont typeface="Calibri"/>
              <a:buChar char="●"/>
            </a:pPr>
            <a:r>
              <a:rPr lang="en" sz="1100">
                <a:solidFill>
                  <a:schemeClr val="dk1"/>
                </a:solidFill>
                <a:latin typeface="Calibri"/>
                <a:ea typeface="Calibri"/>
                <a:cs typeface="Calibri"/>
                <a:sym typeface="Calibri"/>
              </a:rPr>
              <a:t>Deitke's expertise in multimodal AI, embodied AI, and 3D computer vision aligned perfectly with Meta's focus on building versatile, human-like AI systems. His work on autonomous agents capable of real-world digital action represented cutting-edge capabilities Meta wanted for its Superintelligence Lab</a:t>
            </a:r>
            <a:endParaRPr sz="1100">
              <a:solidFill>
                <a:schemeClr val="dk1"/>
              </a:solidFill>
              <a:latin typeface="Calibri"/>
              <a:ea typeface="Calibri"/>
              <a:cs typeface="Calibri"/>
              <a:sym typeface="Calibri"/>
            </a:endParaRPr>
          </a:p>
        </p:txBody>
      </p:sp>
      <p:pic>
        <p:nvPicPr>
          <p:cNvPr id="184" name="Google Shape;184;p21"/>
          <p:cNvPicPr preferRelativeResize="0"/>
          <p:nvPr/>
        </p:nvPicPr>
        <p:blipFill>
          <a:blip r:embed="rId3" cstate="email">
            <a:alphaModFix/>
            <a:extLst>
              <a:ext uri="{28A0092B-C50C-407E-A947-70E740481C1C}">
                <a14:useLocalDpi xmlns:a14="http://schemas.microsoft.com/office/drawing/2010/main"/>
              </a:ext>
            </a:extLst>
          </a:blip>
          <a:stretch>
            <a:fillRect/>
          </a:stretch>
        </p:blipFill>
        <p:spPr>
          <a:xfrm>
            <a:off x="4628675" y="346775"/>
            <a:ext cx="1389575" cy="1389575"/>
          </a:xfrm>
          <a:prstGeom prst="rect">
            <a:avLst/>
          </a:prstGeom>
          <a:noFill/>
          <a:ln w="9525" cap="flat" cmpd="sng">
            <a:solidFill>
              <a:srgbClr val="FF0000"/>
            </a:solidFill>
            <a:prstDash val="solid"/>
            <a:round/>
            <a:headEnd type="none" w="sm" len="sm"/>
            <a:tailEnd type="none" w="sm" len="sm"/>
          </a:ln>
        </p:spPr>
      </p:pic>
      <p:sp>
        <p:nvSpPr>
          <p:cNvPr id="185" name="Google Shape;185;p21"/>
          <p:cNvSpPr txBox="1"/>
          <p:nvPr/>
        </p:nvSpPr>
        <p:spPr>
          <a:xfrm>
            <a:off x="4628675" y="2510447"/>
            <a:ext cx="4444500" cy="23889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171450" marR="0" lvl="0" indent="-127000" algn="l" rtl="0">
              <a:lnSpc>
                <a:spcPct val="100000"/>
              </a:lnSpc>
              <a:spcBef>
                <a:spcPts val="0"/>
              </a:spcBef>
              <a:spcAft>
                <a:spcPts val="0"/>
              </a:spcAft>
              <a:buClr>
                <a:schemeClr val="dk1"/>
              </a:buClr>
              <a:buSzPts val="1100"/>
              <a:buFont typeface="Calibri"/>
              <a:buChar char="●"/>
            </a:pPr>
            <a:r>
              <a:rPr lang="en" sz="1100">
                <a:solidFill>
                  <a:schemeClr val="dk1"/>
                </a:solidFill>
                <a:latin typeface="Calibri"/>
                <a:ea typeface="Calibri"/>
                <a:cs typeface="Calibri"/>
                <a:sym typeface="Calibri"/>
              </a:rPr>
              <a:t>ArXiv Paper: </a:t>
            </a:r>
            <a:r>
              <a:rPr lang="en" sz="1100" u="sng">
                <a:solidFill>
                  <a:schemeClr val="hlink"/>
                </a:solidFill>
                <a:latin typeface="Calibri"/>
                <a:ea typeface="Calibri"/>
                <a:cs typeface="Calibri"/>
                <a:sym typeface="Calibri"/>
                <a:hlinkClick r:id="rId4"/>
              </a:rPr>
              <a:t>https://arxiv.org/abs/2409.17146</a:t>
            </a:r>
            <a:r>
              <a:rPr lang="en" sz="1100">
                <a:solidFill>
                  <a:schemeClr val="dk1"/>
                </a:solidFill>
                <a:latin typeface="Calibri"/>
                <a:ea typeface="Calibri"/>
                <a:cs typeface="Calibri"/>
                <a:sym typeface="Calibri"/>
              </a:rPr>
              <a:t> - 50 authors</a:t>
            </a:r>
            <a:endParaRPr sz="1100">
              <a:solidFill>
                <a:schemeClr val="dk1"/>
              </a:solidFill>
              <a:latin typeface="Calibri"/>
              <a:ea typeface="Calibri"/>
              <a:cs typeface="Calibri"/>
              <a:sym typeface="Calibri"/>
            </a:endParaRPr>
          </a:p>
          <a:p>
            <a:pPr marL="171450" marR="0" lvl="0" indent="-127000" algn="l" rtl="0">
              <a:lnSpc>
                <a:spcPct val="100000"/>
              </a:lnSpc>
              <a:spcBef>
                <a:spcPts val="0"/>
              </a:spcBef>
              <a:spcAft>
                <a:spcPts val="0"/>
              </a:spcAft>
              <a:buClr>
                <a:schemeClr val="dk1"/>
              </a:buClr>
              <a:buSzPts val="1100"/>
              <a:buFont typeface="Calibri"/>
              <a:buChar char="●"/>
            </a:pPr>
            <a:r>
              <a:rPr lang="en" sz="1100">
                <a:solidFill>
                  <a:schemeClr val="dk1"/>
                </a:solidFill>
                <a:latin typeface="Calibri"/>
                <a:ea typeface="Calibri"/>
                <a:cs typeface="Calibri"/>
                <a:sym typeface="Calibri"/>
              </a:rPr>
              <a:t>Official Project Page: </a:t>
            </a:r>
            <a:r>
              <a:rPr lang="en" sz="1100" u="sng">
                <a:solidFill>
                  <a:schemeClr val="hlink"/>
                </a:solidFill>
                <a:latin typeface="Calibri"/>
                <a:ea typeface="Calibri"/>
                <a:cs typeface="Calibri"/>
                <a:sym typeface="Calibri"/>
                <a:hlinkClick r:id="rId5"/>
              </a:rPr>
              <a:t>https://molmo.allenai.org/blog​</a:t>
            </a:r>
            <a:r>
              <a:rPr lang="en" sz="1100">
                <a:solidFill>
                  <a:schemeClr val="dk1"/>
                </a:solidFill>
                <a:latin typeface="Calibri"/>
                <a:ea typeface="Calibri"/>
                <a:cs typeface="Calibri"/>
                <a:sym typeface="Calibri"/>
              </a:rPr>
              <a:t> </a:t>
            </a:r>
            <a:endParaRPr sz="1100">
              <a:solidFill>
                <a:schemeClr val="dk1"/>
              </a:solidFill>
              <a:latin typeface="Calibri"/>
              <a:ea typeface="Calibri"/>
              <a:cs typeface="Calibri"/>
              <a:sym typeface="Calibri"/>
            </a:endParaRPr>
          </a:p>
          <a:p>
            <a:pPr marL="171450" marR="0" lvl="0" indent="-127000" algn="l" rtl="0">
              <a:lnSpc>
                <a:spcPct val="100000"/>
              </a:lnSpc>
              <a:spcBef>
                <a:spcPts val="0"/>
              </a:spcBef>
              <a:spcAft>
                <a:spcPts val="0"/>
              </a:spcAft>
              <a:buClr>
                <a:schemeClr val="dk1"/>
              </a:buClr>
              <a:buSzPts val="1100"/>
              <a:buFont typeface="Calibri"/>
              <a:buChar char="●"/>
            </a:pPr>
            <a:r>
              <a:rPr lang="en" sz="1100">
                <a:solidFill>
                  <a:schemeClr val="dk1"/>
                </a:solidFill>
                <a:latin typeface="Calibri"/>
                <a:ea typeface="Calibri"/>
                <a:cs typeface="Calibri"/>
                <a:sym typeface="Calibri"/>
              </a:rPr>
              <a:t>GitHub Repository: </a:t>
            </a:r>
            <a:r>
              <a:rPr lang="en" sz="1100" u="sng">
                <a:solidFill>
                  <a:schemeClr val="hlink"/>
                </a:solidFill>
                <a:latin typeface="Calibri"/>
                <a:ea typeface="Calibri"/>
                <a:cs typeface="Calibri"/>
                <a:sym typeface="Calibri"/>
                <a:hlinkClick r:id="rId6"/>
              </a:rPr>
              <a:t>https://github.com/allenai/molmo​</a:t>
            </a:r>
            <a:r>
              <a:rPr lang="en" sz="1100">
                <a:solidFill>
                  <a:schemeClr val="dk1"/>
                </a:solidFill>
                <a:latin typeface="Calibri"/>
                <a:ea typeface="Calibri"/>
                <a:cs typeface="Calibri"/>
                <a:sym typeface="Calibri"/>
              </a:rPr>
              <a:t> </a:t>
            </a:r>
            <a:endParaRPr sz="1100">
              <a:solidFill>
                <a:schemeClr val="dk1"/>
              </a:solidFill>
              <a:latin typeface="Calibri"/>
              <a:ea typeface="Calibri"/>
              <a:cs typeface="Calibri"/>
              <a:sym typeface="Calibri"/>
            </a:endParaRPr>
          </a:p>
          <a:p>
            <a:pPr marL="171450" marR="0" lvl="0" indent="-127000" algn="l" rtl="0">
              <a:lnSpc>
                <a:spcPct val="100000"/>
              </a:lnSpc>
              <a:spcBef>
                <a:spcPts val="0"/>
              </a:spcBef>
              <a:spcAft>
                <a:spcPts val="0"/>
              </a:spcAft>
              <a:buClr>
                <a:schemeClr val="dk1"/>
              </a:buClr>
              <a:buSzPts val="1100"/>
              <a:buFont typeface="Calibri"/>
              <a:buChar char="●"/>
            </a:pPr>
            <a:r>
              <a:rPr lang="en" sz="1100">
                <a:solidFill>
                  <a:schemeClr val="dk1"/>
                </a:solidFill>
                <a:latin typeface="Calibri"/>
                <a:ea typeface="Calibri"/>
                <a:cs typeface="Calibri"/>
                <a:sym typeface="Calibri"/>
              </a:rPr>
              <a:t>Allen AI Blog Post: </a:t>
            </a:r>
            <a:r>
              <a:rPr lang="en" sz="1100" u="sng">
                <a:solidFill>
                  <a:schemeClr val="hlink"/>
                </a:solidFill>
                <a:latin typeface="Calibri"/>
                <a:ea typeface="Calibri"/>
                <a:cs typeface="Calibri"/>
                <a:sym typeface="Calibri"/>
                <a:hlinkClick r:id="rId7"/>
              </a:rPr>
              <a:t>https://allenai.org/blog/molmo​</a:t>
            </a:r>
            <a:r>
              <a:rPr lang="en" sz="1100">
                <a:solidFill>
                  <a:schemeClr val="dk1"/>
                </a:solidFill>
                <a:latin typeface="Calibri"/>
                <a:ea typeface="Calibri"/>
                <a:cs typeface="Calibri"/>
                <a:sym typeface="Calibri"/>
              </a:rPr>
              <a:t> </a:t>
            </a:r>
            <a:endParaRPr sz="1100">
              <a:solidFill>
                <a:schemeClr val="dk1"/>
              </a:solidFill>
              <a:latin typeface="Calibri"/>
              <a:ea typeface="Calibri"/>
              <a:cs typeface="Calibri"/>
              <a:sym typeface="Calibri"/>
            </a:endParaRPr>
          </a:p>
          <a:p>
            <a:pPr marL="171450" marR="0" lvl="0" indent="-127000" algn="l" rtl="0">
              <a:lnSpc>
                <a:spcPct val="100000"/>
              </a:lnSpc>
              <a:spcBef>
                <a:spcPts val="0"/>
              </a:spcBef>
              <a:spcAft>
                <a:spcPts val="0"/>
              </a:spcAft>
              <a:buClr>
                <a:schemeClr val="dk1"/>
              </a:buClr>
              <a:buSzPts val="1100"/>
              <a:buFont typeface="Calibri"/>
              <a:buChar char="●"/>
            </a:pPr>
            <a:r>
              <a:rPr lang="en" sz="1100">
                <a:solidFill>
                  <a:schemeClr val="dk1"/>
                </a:solidFill>
                <a:latin typeface="Calibri"/>
                <a:ea typeface="Calibri"/>
                <a:cs typeface="Calibri"/>
                <a:sym typeface="Calibri"/>
              </a:rPr>
              <a:t>PixMo-Docs Dataset Repository: </a:t>
            </a:r>
            <a:r>
              <a:rPr lang="en" sz="1100" u="sng">
                <a:solidFill>
                  <a:schemeClr val="hlink"/>
                </a:solidFill>
                <a:latin typeface="Calibri"/>
                <a:ea typeface="Calibri"/>
                <a:cs typeface="Calibri"/>
                <a:sym typeface="Calibri"/>
                <a:hlinkClick r:id="rId8"/>
              </a:rPr>
              <a:t>https://github.com/allenai/pixmo-docs​</a:t>
            </a:r>
            <a:r>
              <a:rPr lang="en" sz="1100">
                <a:solidFill>
                  <a:schemeClr val="dk1"/>
                </a:solidFill>
                <a:latin typeface="Calibri"/>
                <a:ea typeface="Calibri"/>
                <a:cs typeface="Calibri"/>
                <a:sym typeface="Calibri"/>
              </a:rPr>
              <a:t> </a:t>
            </a:r>
            <a:endParaRPr sz="1100">
              <a:solidFill>
                <a:schemeClr val="dk1"/>
              </a:solidFill>
              <a:latin typeface="Calibri"/>
              <a:ea typeface="Calibri"/>
              <a:cs typeface="Calibri"/>
              <a:sym typeface="Calibri"/>
            </a:endParaRPr>
          </a:p>
          <a:p>
            <a:pPr marL="171450" marR="0" lvl="0" indent="-127000" algn="l" rtl="0">
              <a:lnSpc>
                <a:spcPct val="100000"/>
              </a:lnSpc>
              <a:spcBef>
                <a:spcPts val="0"/>
              </a:spcBef>
              <a:spcAft>
                <a:spcPts val="0"/>
              </a:spcAft>
              <a:buClr>
                <a:schemeClr val="dk1"/>
              </a:buClr>
              <a:buSzPts val="1100"/>
              <a:buFont typeface="Calibri"/>
              <a:buChar char="●"/>
            </a:pPr>
            <a:r>
              <a:rPr lang="en" sz="1100">
                <a:solidFill>
                  <a:schemeClr val="dk1"/>
                </a:solidFill>
                <a:latin typeface="Calibri"/>
                <a:ea typeface="Calibri"/>
                <a:cs typeface="Calibri"/>
                <a:sym typeface="Calibri"/>
              </a:rPr>
              <a:t>Matt Deitke's Website: </a:t>
            </a:r>
            <a:r>
              <a:rPr lang="en" sz="1100" u="sng">
                <a:solidFill>
                  <a:schemeClr val="hlink"/>
                </a:solidFill>
                <a:latin typeface="Calibri"/>
                <a:ea typeface="Calibri"/>
                <a:cs typeface="Calibri"/>
                <a:sym typeface="Calibri"/>
                <a:hlinkClick r:id="rId9"/>
              </a:rPr>
              <a:t>https://mattdeitke.com​</a:t>
            </a:r>
            <a:r>
              <a:rPr lang="en" sz="1100">
                <a:solidFill>
                  <a:schemeClr val="dk1"/>
                </a:solidFill>
                <a:latin typeface="Calibri"/>
                <a:ea typeface="Calibri"/>
                <a:cs typeface="Calibri"/>
                <a:sym typeface="Calibri"/>
              </a:rPr>
              <a:t> </a:t>
            </a:r>
            <a:endParaRPr sz="1100">
              <a:solidFill>
                <a:schemeClr val="dk1"/>
              </a:solidFill>
              <a:latin typeface="Calibri"/>
              <a:ea typeface="Calibri"/>
              <a:cs typeface="Calibri"/>
              <a:sym typeface="Calibri"/>
            </a:endParaRPr>
          </a:p>
          <a:p>
            <a:pPr marL="171450" marR="0" lvl="0" indent="-127000" algn="l" rtl="0">
              <a:lnSpc>
                <a:spcPct val="100000"/>
              </a:lnSpc>
              <a:spcBef>
                <a:spcPts val="0"/>
              </a:spcBef>
              <a:spcAft>
                <a:spcPts val="0"/>
              </a:spcAft>
              <a:buClr>
                <a:schemeClr val="dk1"/>
              </a:buClr>
              <a:buSzPts val="1100"/>
              <a:buFont typeface="Calibri"/>
              <a:buChar char="●"/>
            </a:pPr>
            <a:r>
              <a:rPr lang="en" sz="1100">
                <a:solidFill>
                  <a:schemeClr val="dk1"/>
                </a:solidFill>
                <a:latin typeface="Calibri"/>
                <a:ea typeface="Calibri"/>
                <a:cs typeface="Calibri"/>
                <a:sym typeface="Calibri"/>
              </a:rPr>
              <a:t>The work shows thoughtful dataset design simplifies training while improving results, offering a path forward for independent AI research</a:t>
            </a:r>
            <a:endParaRPr sz="1100">
              <a:solidFill>
                <a:schemeClr val="dk1"/>
              </a:solidFill>
              <a:latin typeface="Calibri"/>
              <a:ea typeface="Calibri"/>
              <a:cs typeface="Calibri"/>
              <a:sym typeface="Calibri"/>
            </a:endParaRPr>
          </a:p>
          <a:p>
            <a:pPr marL="171450" marR="0" lvl="0" indent="-127000" algn="l" rtl="0">
              <a:lnSpc>
                <a:spcPct val="100000"/>
              </a:lnSpc>
              <a:spcBef>
                <a:spcPts val="0"/>
              </a:spcBef>
              <a:spcAft>
                <a:spcPts val="0"/>
              </a:spcAft>
              <a:buClr>
                <a:schemeClr val="dk1"/>
              </a:buClr>
              <a:buSzPts val="1100"/>
              <a:buFont typeface="Calibri"/>
              <a:buChar char="●"/>
            </a:pPr>
            <a:r>
              <a:rPr lang="en" sz="1100">
                <a:solidFill>
                  <a:schemeClr val="dk1"/>
                </a:solidFill>
                <a:latin typeface="Calibri"/>
                <a:ea typeface="Calibri"/>
                <a:cs typeface="Calibri"/>
                <a:sym typeface="Calibri"/>
              </a:rPr>
              <a:t>Molmo was created and financed by the Allen Institute for AI (Ai2). Ai2 is a nonprofit research institute founded by the late Paul Allen, co-founder of Microsoft.</a:t>
            </a:r>
            <a:endParaRPr sz="1100">
              <a:solidFill>
                <a:schemeClr val="dk1"/>
              </a:solidFill>
              <a:latin typeface="Calibri"/>
              <a:ea typeface="Calibri"/>
              <a:cs typeface="Calibri"/>
              <a:sym typeface="Calibri"/>
            </a:endParaRPr>
          </a:p>
          <a:p>
            <a:pPr marL="171450" marR="0" lvl="0" indent="-127000" algn="l" rtl="0">
              <a:lnSpc>
                <a:spcPct val="100000"/>
              </a:lnSpc>
              <a:spcBef>
                <a:spcPts val="0"/>
              </a:spcBef>
              <a:spcAft>
                <a:spcPts val="0"/>
              </a:spcAft>
              <a:buClr>
                <a:schemeClr val="dk1"/>
              </a:buClr>
              <a:buSzPts val="1100"/>
              <a:buFont typeface="Calibri"/>
              <a:buChar char="●"/>
            </a:pPr>
            <a:r>
              <a:rPr lang="en" sz="1100">
                <a:solidFill>
                  <a:schemeClr val="dk1"/>
                </a:solidFill>
                <a:latin typeface="Calibri"/>
                <a:ea typeface="Calibri"/>
                <a:cs typeface="Calibri"/>
                <a:sym typeface="Calibri"/>
              </a:rPr>
              <a:t>The project was led by Ali Farhadi, who explained that their goal was to make advanced multimodal AI more accessible to researchers, developers, and app creators</a:t>
            </a:r>
            <a:endParaRPr sz="1100">
              <a:solidFill>
                <a:schemeClr val="dk1"/>
              </a:solidFill>
              <a:latin typeface="Calibri"/>
              <a:ea typeface="Calibri"/>
              <a:cs typeface="Calibri"/>
              <a:sym typeface="Calibri"/>
            </a:endParaRPr>
          </a:p>
        </p:txBody>
      </p:sp>
      <p:pic>
        <p:nvPicPr>
          <p:cNvPr id="186" name="Google Shape;186;p21"/>
          <p:cNvPicPr preferRelativeResize="0"/>
          <p:nvPr/>
        </p:nvPicPr>
        <p:blipFill>
          <a:blip r:embed="rId10" cstate="email">
            <a:alphaModFix/>
            <a:extLst>
              <a:ext uri="{28A0092B-C50C-407E-A947-70E740481C1C}">
                <a14:useLocalDpi xmlns:a14="http://schemas.microsoft.com/office/drawing/2010/main"/>
              </a:ext>
            </a:extLst>
          </a:blip>
          <a:stretch>
            <a:fillRect/>
          </a:stretch>
        </p:blipFill>
        <p:spPr>
          <a:xfrm>
            <a:off x="6252225" y="152400"/>
            <a:ext cx="2820952" cy="2245847"/>
          </a:xfrm>
          <a:prstGeom prst="rect">
            <a:avLst/>
          </a:prstGeom>
          <a:noFill/>
          <a:ln w="9525" cap="flat" cmpd="sng">
            <a:solidFill>
              <a:srgbClr val="FF0000"/>
            </a:solidFill>
            <a:prstDash val="solid"/>
            <a:round/>
            <a:headEnd type="none" w="sm" len="sm"/>
            <a:tailEnd type="none" w="sm" len="sm"/>
          </a:ln>
        </p:spPr>
      </p:pic>
      <p:sp>
        <p:nvSpPr>
          <p:cNvPr id="187" name="Google Shape;187;p21"/>
          <p:cNvSpPr txBox="1"/>
          <p:nvPr/>
        </p:nvSpPr>
        <p:spPr>
          <a:xfrm>
            <a:off x="55075" y="1976302"/>
            <a:ext cx="4444500" cy="30660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171450" marR="0" lvl="0" indent="-127000" algn="l" rtl="0">
              <a:lnSpc>
                <a:spcPct val="100000"/>
              </a:lnSpc>
              <a:spcBef>
                <a:spcPts val="0"/>
              </a:spcBef>
              <a:spcAft>
                <a:spcPts val="0"/>
              </a:spcAft>
              <a:buClr>
                <a:srgbClr val="FF0000"/>
              </a:buClr>
              <a:buSzPts val="1100"/>
              <a:buFont typeface="Calibri"/>
              <a:buChar char="●"/>
            </a:pPr>
            <a:r>
              <a:rPr lang="en" sz="1100" b="1">
                <a:solidFill>
                  <a:srgbClr val="FF0000"/>
                </a:solidFill>
                <a:latin typeface="Calibri"/>
                <a:ea typeface="Calibri"/>
                <a:cs typeface="Calibri"/>
                <a:sym typeface="Calibri"/>
              </a:rPr>
              <a:t>Molmo project (2024)</a:t>
            </a:r>
            <a:endParaRPr sz="1100" b="1">
              <a:solidFill>
                <a:srgbClr val="FF0000"/>
              </a:solidFill>
              <a:latin typeface="Calibri"/>
              <a:ea typeface="Calibri"/>
              <a:cs typeface="Calibri"/>
              <a:sym typeface="Calibri"/>
            </a:endParaRPr>
          </a:p>
          <a:p>
            <a:pPr marL="171450" marR="0" lvl="0" indent="-127000" algn="l" rtl="0">
              <a:lnSpc>
                <a:spcPct val="100000"/>
              </a:lnSpc>
              <a:spcBef>
                <a:spcPts val="0"/>
              </a:spcBef>
              <a:spcAft>
                <a:spcPts val="0"/>
              </a:spcAft>
              <a:buClr>
                <a:schemeClr val="dk1"/>
              </a:buClr>
              <a:buSzPts val="1100"/>
              <a:buFont typeface="Calibri"/>
              <a:buChar char="●"/>
            </a:pPr>
            <a:r>
              <a:rPr lang="en" sz="1100">
                <a:solidFill>
                  <a:schemeClr val="dk1"/>
                </a:solidFill>
                <a:latin typeface="Calibri"/>
                <a:ea typeface="Calibri"/>
                <a:cs typeface="Calibri"/>
                <a:sym typeface="Calibri"/>
              </a:rPr>
              <a:t>Molmo is a vision-language model built entirely without proprietary systems - and completely open source</a:t>
            </a:r>
            <a:endParaRPr sz="1100">
              <a:solidFill>
                <a:schemeClr val="dk1"/>
              </a:solidFill>
              <a:latin typeface="Calibri"/>
              <a:ea typeface="Calibri"/>
              <a:cs typeface="Calibri"/>
              <a:sym typeface="Calibri"/>
            </a:endParaRPr>
          </a:p>
          <a:p>
            <a:pPr marL="171450" marR="0" lvl="0" indent="-127000" algn="l" rtl="0">
              <a:lnSpc>
                <a:spcPct val="100000"/>
              </a:lnSpc>
              <a:spcBef>
                <a:spcPts val="0"/>
              </a:spcBef>
              <a:spcAft>
                <a:spcPts val="0"/>
              </a:spcAft>
              <a:buClr>
                <a:schemeClr val="dk1"/>
              </a:buClr>
              <a:buSzPts val="1100"/>
              <a:buFont typeface="Calibri"/>
              <a:buChar char="●"/>
            </a:pPr>
            <a:r>
              <a:rPr lang="en" sz="1100">
                <a:solidFill>
                  <a:schemeClr val="dk1"/>
                </a:solidFill>
                <a:latin typeface="Calibri"/>
                <a:ea typeface="Calibri"/>
                <a:cs typeface="Calibri"/>
                <a:sym typeface="Calibri"/>
              </a:rPr>
              <a:t>Most open VLMs rely on distillation from closed models like GPT-4 Vision (where a close model generates captions for images). This limits open models to rely on closed, it is like copying somebody elses homework</a:t>
            </a:r>
            <a:endParaRPr sz="1100">
              <a:solidFill>
                <a:schemeClr val="dk1"/>
              </a:solidFill>
              <a:latin typeface="Calibri"/>
              <a:ea typeface="Calibri"/>
              <a:cs typeface="Calibri"/>
              <a:sym typeface="Calibri"/>
            </a:endParaRPr>
          </a:p>
          <a:p>
            <a:pPr marL="171450" marR="0" lvl="0" indent="-127000" algn="l" rtl="0">
              <a:lnSpc>
                <a:spcPct val="100000"/>
              </a:lnSpc>
              <a:spcBef>
                <a:spcPts val="0"/>
              </a:spcBef>
              <a:spcAft>
                <a:spcPts val="0"/>
              </a:spcAft>
              <a:buClr>
                <a:schemeClr val="dk1"/>
              </a:buClr>
              <a:buSzPts val="1100"/>
              <a:buFont typeface="Calibri"/>
              <a:buChar char="●"/>
            </a:pPr>
            <a:r>
              <a:rPr lang="en" sz="1100">
                <a:solidFill>
                  <a:schemeClr val="dk1"/>
                </a:solidFill>
                <a:latin typeface="Calibri"/>
                <a:ea typeface="Calibri"/>
                <a:cs typeface="Calibri"/>
                <a:sym typeface="Calibri"/>
              </a:rPr>
              <a:t>Molmo breaks this cycle using PixMo datasets:</a:t>
            </a:r>
            <a:br>
              <a:rPr lang="en" sz="1100">
                <a:solidFill>
                  <a:schemeClr val="dk1"/>
                </a:solidFill>
                <a:latin typeface="Calibri"/>
                <a:ea typeface="Calibri"/>
                <a:cs typeface="Calibri"/>
                <a:sym typeface="Calibri"/>
              </a:rPr>
            </a:br>
            <a:r>
              <a:rPr lang="en" sz="1100">
                <a:solidFill>
                  <a:schemeClr val="dk1"/>
                </a:solidFill>
                <a:latin typeface="Calibri"/>
                <a:ea typeface="Calibri"/>
                <a:cs typeface="Calibri"/>
                <a:sym typeface="Calibri"/>
              </a:rPr>
              <a:t>.. </a:t>
            </a:r>
            <a:r>
              <a:rPr lang="en" sz="1100" b="1">
                <a:solidFill>
                  <a:srgbClr val="FF0000"/>
                </a:solidFill>
                <a:latin typeface="Calibri"/>
                <a:ea typeface="Calibri"/>
                <a:cs typeface="Calibri"/>
                <a:sym typeface="Calibri"/>
              </a:rPr>
              <a:t>human-spoken captions</a:t>
            </a:r>
            <a:r>
              <a:rPr lang="en" sz="1100">
                <a:solidFill>
                  <a:schemeClr val="dk1"/>
                </a:solidFill>
                <a:latin typeface="Calibri"/>
                <a:ea typeface="Calibri"/>
                <a:cs typeface="Calibri"/>
                <a:sym typeface="Calibri"/>
              </a:rPr>
              <a:t> averaging 196 words (vs typical 11), </a:t>
            </a:r>
            <a:br>
              <a:rPr lang="en" sz="1100">
                <a:solidFill>
                  <a:schemeClr val="dk1"/>
                </a:solidFill>
                <a:latin typeface="Calibri"/>
                <a:ea typeface="Calibri"/>
                <a:cs typeface="Calibri"/>
                <a:sym typeface="Calibri"/>
              </a:rPr>
            </a:br>
            <a:r>
              <a:rPr lang="en" sz="1100">
                <a:solidFill>
                  <a:schemeClr val="dk1"/>
                </a:solidFill>
                <a:latin typeface="Calibri"/>
                <a:ea typeface="Calibri"/>
                <a:cs typeface="Calibri"/>
                <a:sym typeface="Calibri"/>
              </a:rPr>
              <a:t>.. </a:t>
            </a:r>
            <a:r>
              <a:rPr lang="en" sz="1100" b="1">
                <a:solidFill>
                  <a:srgbClr val="FF0000"/>
                </a:solidFill>
                <a:latin typeface="Calibri"/>
                <a:ea typeface="Calibri"/>
                <a:cs typeface="Calibri"/>
                <a:sym typeface="Calibri"/>
              </a:rPr>
              <a:t>2.3 million point annotations</a:t>
            </a:r>
            <a:r>
              <a:rPr lang="en" sz="1100">
                <a:solidFill>
                  <a:schemeClr val="dk1"/>
                </a:solidFill>
                <a:latin typeface="Calibri"/>
                <a:ea typeface="Calibri"/>
                <a:cs typeface="Calibri"/>
                <a:sym typeface="Calibri"/>
              </a:rPr>
              <a:t> for spatial grounding, and </a:t>
            </a:r>
            <a:br>
              <a:rPr lang="en" sz="1100">
                <a:solidFill>
                  <a:schemeClr val="dk1"/>
                </a:solidFill>
                <a:latin typeface="Calibri"/>
                <a:ea typeface="Calibri"/>
                <a:cs typeface="Calibri"/>
                <a:sym typeface="Calibri"/>
              </a:rPr>
            </a:br>
            <a:r>
              <a:rPr lang="en" sz="1100">
                <a:solidFill>
                  <a:schemeClr val="dk1"/>
                </a:solidFill>
                <a:latin typeface="Calibri"/>
                <a:ea typeface="Calibri"/>
                <a:cs typeface="Calibri"/>
                <a:sym typeface="Calibri"/>
              </a:rPr>
              <a:t>.. </a:t>
            </a:r>
            <a:r>
              <a:rPr lang="en" sz="1100" b="1">
                <a:solidFill>
                  <a:srgbClr val="FF0000"/>
                </a:solidFill>
                <a:latin typeface="Calibri"/>
                <a:ea typeface="Calibri"/>
                <a:cs typeface="Calibri"/>
                <a:sym typeface="Calibri"/>
              </a:rPr>
              <a:t>human-verified question-answer pairs</a:t>
            </a:r>
            <a:r>
              <a:rPr lang="en" sz="1100">
                <a:solidFill>
                  <a:schemeClr val="dk1"/>
                </a:solidFill>
                <a:latin typeface="Calibri"/>
                <a:ea typeface="Calibri"/>
                <a:cs typeface="Calibri"/>
                <a:sym typeface="Calibri"/>
              </a:rPr>
              <a:t>. </a:t>
            </a:r>
            <a:endParaRPr sz="1100">
              <a:solidFill>
                <a:schemeClr val="dk1"/>
              </a:solidFill>
              <a:latin typeface="Calibri"/>
              <a:ea typeface="Calibri"/>
              <a:cs typeface="Calibri"/>
              <a:sym typeface="Calibri"/>
            </a:endParaRPr>
          </a:p>
          <a:p>
            <a:pPr marL="171450" marR="0" lvl="0" indent="-127000" algn="l" rtl="0">
              <a:lnSpc>
                <a:spcPct val="100000"/>
              </a:lnSpc>
              <a:spcBef>
                <a:spcPts val="0"/>
              </a:spcBef>
              <a:spcAft>
                <a:spcPts val="0"/>
              </a:spcAft>
              <a:buClr>
                <a:schemeClr val="dk1"/>
              </a:buClr>
              <a:buSzPts val="1100"/>
              <a:buFont typeface="Calibri"/>
              <a:buChar char="●"/>
            </a:pPr>
            <a:r>
              <a:rPr lang="en" sz="1100">
                <a:solidFill>
                  <a:schemeClr val="dk1"/>
                </a:solidFill>
                <a:latin typeface="Calibri"/>
                <a:ea typeface="Calibri"/>
                <a:cs typeface="Calibri"/>
                <a:sym typeface="Calibri"/>
              </a:rPr>
              <a:t>The architecture uses overlapping image crops to preserve objects, efficient batching, and text-only dropout to strengthen visual understanding</a:t>
            </a:r>
            <a:endParaRPr sz="1100">
              <a:solidFill>
                <a:schemeClr val="dk1"/>
              </a:solidFill>
              <a:latin typeface="Calibri"/>
              <a:ea typeface="Calibri"/>
              <a:cs typeface="Calibri"/>
              <a:sym typeface="Calibri"/>
            </a:endParaRPr>
          </a:p>
          <a:p>
            <a:pPr marL="171450" marR="0" lvl="0" indent="-127000" algn="l" rtl="0">
              <a:lnSpc>
                <a:spcPct val="100000"/>
              </a:lnSpc>
              <a:spcBef>
                <a:spcPts val="0"/>
              </a:spcBef>
              <a:spcAft>
                <a:spcPts val="0"/>
              </a:spcAft>
              <a:buClr>
                <a:schemeClr val="dk1"/>
              </a:buClr>
              <a:buSzPts val="1100"/>
              <a:buFont typeface="Calibri"/>
              <a:buChar char="●"/>
            </a:pPr>
            <a:r>
              <a:rPr lang="en" sz="1100">
                <a:solidFill>
                  <a:schemeClr val="dk1"/>
                </a:solidFill>
                <a:latin typeface="Calibri"/>
                <a:ea typeface="Calibri"/>
                <a:cs typeface="Calibri"/>
                <a:sym typeface="Calibri"/>
              </a:rPr>
              <a:t>Molmo can point to objects sequentially for counting, making reasoning verifiable</a:t>
            </a:r>
            <a:endParaRPr sz="1100">
              <a:solidFill>
                <a:schemeClr val="dk1"/>
              </a:solidFill>
              <a:latin typeface="Calibri"/>
              <a:ea typeface="Calibri"/>
              <a:cs typeface="Calibri"/>
              <a:sym typeface="Calibri"/>
            </a:endParaRPr>
          </a:p>
          <a:p>
            <a:pPr marL="171450" marR="0" lvl="0" indent="-127000" algn="l" rtl="0">
              <a:lnSpc>
                <a:spcPct val="100000"/>
              </a:lnSpc>
              <a:spcBef>
                <a:spcPts val="0"/>
              </a:spcBef>
              <a:spcAft>
                <a:spcPts val="0"/>
              </a:spcAft>
              <a:buClr>
                <a:schemeClr val="dk1"/>
              </a:buClr>
              <a:buSzPts val="1100"/>
              <a:buFont typeface="Calibri"/>
              <a:buChar char="●"/>
            </a:pPr>
            <a:r>
              <a:rPr lang="en" sz="1100">
                <a:solidFill>
                  <a:schemeClr val="dk1"/>
                </a:solidFill>
                <a:latin typeface="Calibri"/>
                <a:ea typeface="Calibri"/>
                <a:cs typeface="Calibri"/>
                <a:sym typeface="Calibri"/>
              </a:rPr>
              <a:t>This first-principles approach demonstrates that high-quality human data can outperform synthetic data from closed models, enabling truly reproducible open multimodal systems</a:t>
            </a:r>
            <a:endParaRPr sz="1100">
              <a:solidFill>
                <a:schemeClr val="dk1"/>
              </a:solidFill>
              <a:latin typeface="Calibri"/>
              <a:ea typeface="Calibri"/>
              <a:cs typeface="Calibri"/>
              <a:sym typeface="Calibri"/>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91"/>
        <p:cNvGrpSpPr/>
        <p:nvPr/>
      </p:nvGrpSpPr>
      <p:grpSpPr>
        <a:xfrm>
          <a:off x="0" y="0"/>
          <a:ext cx="0" cy="0"/>
          <a:chOff x="0" y="0"/>
          <a:chExt cx="0" cy="0"/>
        </a:xfrm>
      </p:grpSpPr>
      <p:sp>
        <p:nvSpPr>
          <p:cNvPr id="192" name="Google Shape;192;p22"/>
          <p:cNvSpPr txBox="1"/>
          <p:nvPr/>
        </p:nvSpPr>
        <p:spPr>
          <a:xfrm>
            <a:off x="55075" y="20375"/>
            <a:ext cx="4451100" cy="326400"/>
          </a:xfrm>
          <a:prstGeom prst="rect">
            <a:avLst/>
          </a:prstGeom>
          <a:noFill/>
          <a:ln>
            <a:noFill/>
          </a:ln>
        </p:spPr>
        <p:txBody>
          <a:bodyPr spcFirstLastPara="1" wrap="square" lIns="9125" tIns="9125" rIns="9125" bIns="9125" anchor="t" anchorCtr="0">
            <a:spAutoFit/>
          </a:bodyPr>
          <a:lstStyle/>
          <a:p>
            <a:pPr marL="0" marR="0" lvl="0" indent="0" algn="l" rtl="0">
              <a:lnSpc>
                <a:spcPct val="100000"/>
              </a:lnSpc>
              <a:spcBef>
                <a:spcPts val="0"/>
              </a:spcBef>
              <a:spcAft>
                <a:spcPts val="0"/>
              </a:spcAft>
              <a:buClr>
                <a:schemeClr val="dk1"/>
              </a:buClr>
              <a:buSzPts val="1100"/>
              <a:buFont typeface="Arial"/>
              <a:buNone/>
            </a:pPr>
            <a:r>
              <a:rPr lang="en" sz="2000" b="1">
                <a:solidFill>
                  <a:schemeClr val="dk1"/>
                </a:solidFill>
                <a:latin typeface="Calibri"/>
                <a:ea typeface="Calibri"/>
                <a:cs typeface="Calibri"/>
                <a:sym typeface="Calibri"/>
              </a:rPr>
              <a:t>Agentic AI Foundation</a:t>
            </a:r>
            <a:endParaRPr sz="2000" b="1" i="0" u="none" strike="noStrike" cap="none">
              <a:solidFill>
                <a:schemeClr val="dk1"/>
              </a:solidFill>
              <a:latin typeface="Calibri"/>
              <a:ea typeface="Calibri"/>
              <a:cs typeface="Calibri"/>
              <a:sym typeface="Calibri"/>
            </a:endParaRPr>
          </a:p>
        </p:txBody>
      </p:sp>
      <p:sp>
        <p:nvSpPr>
          <p:cNvPr id="193" name="Google Shape;193;p22"/>
          <p:cNvSpPr txBox="1"/>
          <p:nvPr/>
        </p:nvSpPr>
        <p:spPr>
          <a:xfrm>
            <a:off x="55075" y="702026"/>
            <a:ext cx="2369400" cy="7572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171450" marR="0" lvl="0" indent="-133350" algn="l" rtl="0">
              <a:lnSpc>
                <a:spcPct val="100000"/>
              </a:lnSpc>
              <a:spcBef>
                <a:spcPts val="0"/>
              </a:spcBef>
              <a:spcAft>
                <a:spcPts val="0"/>
              </a:spcAft>
              <a:buClr>
                <a:srgbClr val="000000"/>
              </a:buClr>
              <a:buSzPts val="1200"/>
              <a:buFont typeface="Calibri"/>
              <a:buChar char="●"/>
            </a:pPr>
            <a:r>
              <a:rPr lang="en" sz="1200" b="1">
                <a:solidFill>
                  <a:srgbClr val="FF0000"/>
                </a:solidFill>
                <a:latin typeface="Calibri"/>
                <a:ea typeface="Calibri"/>
                <a:cs typeface="Calibri"/>
                <a:sym typeface="Calibri"/>
              </a:rPr>
              <a:t>Agentic AI Foundation</a:t>
            </a:r>
            <a:r>
              <a:rPr lang="en" sz="1200">
                <a:latin typeface="Calibri"/>
                <a:ea typeface="Calibri"/>
                <a:cs typeface="Calibri"/>
                <a:sym typeface="Calibri"/>
              </a:rPr>
              <a:t> -  Anthropic and OpenAI donating MCP protocol and agents.md format respectively</a:t>
            </a:r>
            <a:endParaRPr sz="1200">
              <a:latin typeface="Calibri"/>
              <a:ea typeface="Calibri"/>
              <a:cs typeface="Calibri"/>
              <a:sym typeface="Calibri"/>
            </a:endParaRPr>
          </a:p>
        </p:txBody>
      </p:sp>
      <p:pic>
        <p:nvPicPr>
          <p:cNvPr id="194" name="Google Shape;194;p22"/>
          <p:cNvPicPr preferRelativeResize="0"/>
          <p:nvPr/>
        </p:nvPicPr>
        <p:blipFill>
          <a:blip r:embed="rId3" cstate="email">
            <a:alphaModFix/>
            <a:extLst>
              <a:ext uri="{28A0092B-C50C-407E-A947-70E740481C1C}">
                <a14:useLocalDpi xmlns:a14="http://schemas.microsoft.com/office/drawing/2010/main"/>
              </a:ext>
            </a:extLst>
          </a:blip>
          <a:stretch>
            <a:fillRect/>
          </a:stretch>
        </p:blipFill>
        <p:spPr>
          <a:xfrm>
            <a:off x="2525487" y="394175"/>
            <a:ext cx="3373074" cy="1765250"/>
          </a:xfrm>
          <a:prstGeom prst="rect">
            <a:avLst/>
          </a:prstGeom>
          <a:noFill/>
          <a:ln w="9525" cap="flat" cmpd="sng">
            <a:solidFill>
              <a:srgbClr val="FF0000"/>
            </a:solidFill>
            <a:prstDash val="solid"/>
            <a:round/>
            <a:headEnd type="none" w="sm" len="sm"/>
            <a:tailEnd type="none" w="sm" len="sm"/>
          </a:ln>
        </p:spPr>
      </p:pic>
      <p:sp>
        <p:nvSpPr>
          <p:cNvPr id="195" name="Google Shape;195;p22"/>
          <p:cNvSpPr txBox="1"/>
          <p:nvPr/>
        </p:nvSpPr>
        <p:spPr>
          <a:xfrm>
            <a:off x="6737450" y="637792"/>
            <a:ext cx="1901700" cy="16809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171450" marR="0" lvl="0" indent="-133350" algn="l" rtl="0">
              <a:lnSpc>
                <a:spcPct val="100000"/>
              </a:lnSpc>
              <a:spcBef>
                <a:spcPts val="0"/>
              </a:spcBef>
              <a:spcAft>
                <a:spcPts val="0"/>
              </a:spcAft>
              <a:buClr>
                <a:srgbClr val="000000"/>
              </a:buClr>
              <a:buSzPts val="1200"/>
              <a:buFont typeface="Calibri"/>
              <a:buChar char="●"/>
            </a:pPr>
            <a:r>
              <a:rPr lang="en" sz="1200">
                <a:latin typeface="Calibri"/>
                <a:ea typeface="Calibri"/>
                <a:cs typeface="Calibri"/>
                <a:sym typeface="Calibri"/>
              </a:rPr>
              <a:t>Open Source Licensing </a:t>
            </a:r>
            <a:br>
              <a:rPr lang="en" sz="1200">
                <a:latin typeface="Calibri"/>
                <a:ea typeface="Calibri"/>
                <a:cs typeface="Calibri"/>
                <a:sym typeface="Calibri"/>
              </a:rPr>
            </a:br>
            <a:r>
              <a:rPr lang="en" sz="1200">
                <a:latin typeface="Calibri"/>
                <a:ea typeface="Calibri"/>
                <a:cs typeface="Calibri"/>
                <a:sym typeface="Calibri"/>
              </a:rPr>
              <a:t>(1984, Richard Stallman)</a:t>
            </a:r>
            <a:endParaRPr sz="1200">
              <a:latin typeface="Calibri"/>
              <a:ea typeface="Calibri"/>
              <a:cs typeface="Calibri"/>
              <a:sym typeface="Calibri"/>
            </a:endParaRPr>
          </a:p>
          <a:p>
            <a:pPr marL="171450" marR="0" lvl="0" indent="-133350" algn="l" rtl="0">
              <a:lnSpc>
                <a:spcPct val="100000"/>
              </a:lnSpc>
              <a:spcBef>
                <a:spcPts val="0"/>
              </a:spcBef>
              <a:spcAft>
                <a:spcPts val="0"/>
              </a:spcAft>
              <a:buClr>
                <a:srgbClr val="000000"/>
              </a:buClr>
              <a:buSzPts val="1200"/>
              <a:buFont typeface="Calibri"/>
              <a:buChar char="●"/>
            </a:pPr>
            <a:r>
              <a:rPr lang="en" sz="1200">
                <a:latin typeface="Calibri"/>
                <a:ea typeface="Calibri"/>
                <a:cs typeface="Calibri"/>
                <a:sym typeface="Calibri"/>
              </a:rPr>
              <a:t>GNU</a:t>
            </a:r>
            <a:endParaRPr sz="1200">
              <a:latin typeface="Calibri"/>
              <a:ea typeface="Calibri"/>
              <a:cs typeface="Calibri"/>
              <a:sym typeface="Calibri"/>
            </a:endParaRPr>
          </a:p>
          <a:p>
            <a:pPr marL="171450" marR="0" lvl="0" indent="-133350" algn="l" rtl="0">
              <a:lnSpc>
                <a:spcPct val="100000"/>
              </a:lnSpc>
              <a:spcBef>
                <a:spcPts val="0"/>
              </a:spcBef>
              <a:spcAft>
                <a:spcPts val="0"/>
              </a:spcAft>
              <a:buClr>
                <a:srgbClr val="000000"/>
              </a:buClr>
              <a:buSzPts val="1200"/>
              <a:buFont typeface="Calibri"/>
              <a:buChar char="●"/>
            </a:pPr>
            <a:r>
              <a:rPr lang="en" sz="1200">
                <a:latin typeface="Calibri"/>
                <a:ea typeface="Calibri"/>
                <a:cs typeface="Calibri"/>
                <a:sym typeface="Calibri"/>
              </a:rPr>
              <a:t>Linux</a:t>
            </a:r>
            <a:endParaRPr sz="1200">
              <a:latin typeface="Calibri"/>
              <a:ea typeface="Calibri"/>
              <a:cs typeface="Calibri"/>
              <a:sym typeface="Calibri"/>
            </a:endParaRPr>
          </a:p>
          <a:p>
            <a:pPr marL="171450" marR="0" lvl="0" indent="-133350" algn="l" rtl="0">
              <a:lnSpc>
                <a:spcPct val="100000"/>
              </a:lnSpc>
              <a:spcBef>
                <a:spcPts val="0"/>
              </a:spcBef>
              <a:spcAft>
                <a:spcPts val="0"/>
              </a:spcAft>
              <a:buClr>
                <a:srgbClr val="000000"/>
              </a:buClr>
              <a:buSzPts val="1200"/>
              <a:buFont typeface="Calibri"/>
              <a:buChar char="●"/>
            </a:pPr>
            <a:r>
              <a:rPr lang="en" sz="1200">
                <a:latin typeface="Calibri"/>
                <a:ea typeface="Calibri"/>
                <a:cs typeface="Calibri"/>
                <a:sym typeface="Calibri"/>
              </a:rPr>
              <a:t>Apache</a:t>
            </a:r>
            <a:endParaRPr sz="1200">
              <a:latin typeface="Calibri"/>
              <a:ea typeface="Calibri"/>
              <a:cs typeface="Calibri"/>
              <a:sym typeface="Calibri"/>
            </a:endParaRPr>
          </a:p>
          <a:p>
            <a:pPr marL="171450" marR="0" lvl="0" indent="-133350" algn="l" rtl="0">
              <a:lnSpc>
                <a:spcPct val="100000"/>
              </a:lnSpc>
              <a:spcBef>
                <a:spcPts val="0"/>
              </a:spcBef>
              <a:spcAft>
                <a:spcPts val="0"/>
              </a:spcAft>
              <a:buClr>
                <a:srgbClr val="000000"/>
              </a:buClr>
              <a:buSzPts val="1200"/>
              <a:buFont typeface="Calibri"/>
              <a:buChar char="●"/>
            </a:pPr>
            <a:r>
              <a:rPr lang="en" sz="1200">
                <a:latin typeface="Calibri"/>
                <a:ea typeface="Calibri"/>
                <a:cs typeface="Calibri"/>
                <a:sym typeface="Calibri"/>
              </a:rPr>
              <a:t>MIT</a:t>
            </a:r>
            <a:endParaRPr sz="1200">
              <a:latin typeface="Calibri"/>
              <a:ea typeface="Calibri"/>
              <a:cs typeface="Calibri"/>
              <a:sym typeface="Calibri"/>
            </a:endParaRPr>
          </a:p>
          <a:p>
            <a:pPr marL="171450" marR="0" lvl="0" indent="-133350" algn="l" rtl="0">
              <a:lnSpc>
                <a:spcPct val="100000"/>
              </a:lnSpc>
              <a:spcBef>
                <a:spcPts val="0"/>
              </a:spcBef>
              <a:spcAft>
                <a:spcPts val="0"/>
              </a:spcAft>
              <a:buClr>
                <a:srgbClr val="000000"/>
              </a:buClr>
              <a:buSzPts val="1200"/>
              <a:buFont typeface="Calibri"/>
              <a:buChar char="●"/>
            </a:pPr>
            <a:r>
              <a:rPr lang="en" sz="1200">
                <a:latin typeface="Calibri"/>
                <a:ea typeface="Calibri"/>
                <a:cs typeface="Calibri"/>
                <a:sym typeface="Calibri"/>
              </a:rPr>
              <a:t>GitHub</a:t>
            </a:r>
            <a:endParaRPr sz="1200">
              <a:latin typeface="Calibri"/>
              <a:ea typeface="Calibri"/>
              <a:cs typeface="Calibri"/>
              <a:sym typeface="Calibri"/>
            </a:endParaRPr>
          </a:p>
          <a:p>
            <a:pPr marL="171450" marR="0" lvl="0" indent="-133350" algn="l" rtl="0">
              <a:lnSpc>
                <a:spcPct val="100000"/>
              </a:lnSpc>
              <a:spcBef>
                <a:spcPts val="0"/>
              </a:spcBef>
              <a:spcAft>
                <a:spcPts val="0"/>
              </a:spcAft>
              <a:buSzPts val="1200"/>
              <a:buFont typeface="Calibri"/>
              <a:buChar char="●"/>
            </a:pPr>
            <a:r>
              <a:rPr lang="en" sz="1200">
                <a:latin typeface="Calibri"/>
                <a:ea typeface="Calibri"/>
                <a:cs typeface="Calibri"/>
                <a:sym typeface="Calibri"/>
              </a:rPr>
              <a:t>HuggingFace</a:t>
            </a:r>
            <a:endParaRPr sz="1200">
              <a:latin typeface="Calibri"/>
              <a:ea typeface="Calibri"/>
              <a:cs typeface="Calibri"/>
              <a:sym typeface="Calibri"/>
            </a:endParaRPr>
          </a:p>
          <a:p>
            <a:pPr marL="171450" marR="0" lvl="0" indent="-133350" algn="l" rtl="0">
              <a:lnSpc>
                <a:spcPct val="100000"/>
              </a:lnSpc>
              <a:spcBef>
                <a:spcPts val="0"/>
              </a:spcBef>
              <a:spcAft>
                <a:spcPts val="0"/>
              </a:spcAft>
              <a:buSzPts val="1200"/>
              <a:buFont typeface="Calibri"/>
              <a:buChar char="●"/>
            </a:pPr>
            <a:r>
              <a:rPr lang="en" sz="1200">
                <a:latin typeface="Calibri"/>
                <a:ea typeface="Calibri"/>
                <a:cs typeface="Calibri"/>
                <a:sym typeface="Calibri"/>
              </a:rPr>
              <a:t>Allen Institute for AI</a:t>
            </a:r>
            <a:endParaRPr sz="1200">
              <a:latin typeface="Calibri"/>
              <a:ea typeface="Calibri"/>
              <a:cs typeface="Calibri"/>
              <a:sym typeface="Calibri"/>
            </a:endParaRPr>
          </a:p>
        </p:txBody>
      </p:sp>
      <p:pic>
        <p:nvPicPr>
          <p:cNvPr id="196" name="Google Shape;196;p22"/>
          <p:cNvPicPr preferRelativeResize="0"/>
          <p:nvPr/>
        </p:nvPicPr>
        <p:blipFill>
          <a:blip r:embed="rId4" cstate="email">
            <a:alphaModFix/>
            <a:extLst>
              <a:ext uri="{28A0092B-C50C-407E-A947-70E740481C1C}">
                <a14:useLocalDpi xmlns:a14="http://schemas.microsoft.com/office/drawing/2010/main"/>
              </a:ext>
            </a:extLst>
          </a:blip>
          <a:stretch>
            <a:fillRect/>
          </a:stretch>
        </p:blipFill>
        <p:spPr>
          <a:xfrm>
            <a:off x="6506550" y="2396283"/>
            <a:ext cx="868850" cy="1035375"/>
          </a:xfrm>
          <a:prstGeom prst="rect">
            <a:avLst/>
          </a:prstGeom>
          <a:noFill/>
          <a:ln w="9525" cap="flat" cmpd="sng">
            <a:solidFill>
              <a:srgbClr val="FF0000"/>
            </a:solidFill>
            <a:prstDash val="solid"/>
            <a:round/>
            <a:headEnd type="none" w="sm" len="sm"/>
            <a:tailEnd type="none" w="sm" len="sm"/>
          </a:ln>
        </p:spPr>
      </p:pic>
      <p:pic>
        <p:nvPicPr>
          <p:cNvPr id="197" name="Google Shape;197;p22"/>
          <p:cNvPicPr preferRelativeResize="0"/>
          <p:nvPr/>
        </p:nvPicPr>
        <p:blipFill>
          <a:blip r:embed="rId5">
            <a:alphaModFix/>
          </a:blip>
          <a:stretch>
            <a:fillRect/>
          </a:stretch>
        </p:blipFill>
        <p:spPr>
          <a:xfrm>
            <a:off x="7445675" y="2396283"/>
            <a:ext cx="1571625" cy="1114425"/>
          </a:xfrm>
          <a:prstGeom prst="rect">
            <a:avLst/>
          </a:prstGeom>
          <a:noFill/>
          <a:ln w="9525" cap="flat" cmpd="sng">
            <a:solidFill>
              <a:srgbClr val="FF0000"/>
            </a:solidFill>
            <a:prstDash val="solid"/>
            <a:round/>
            <a:headEnd type="none" w="sm" len="sm"/>
            <a:tailEnd type="none" w="sm" len="sm"/>
          </a:ln>
        </p:spPr>
      </p:pic>
      <p:pic>
        <p:nvPicPr>
          <p:cNvPr id="198" name="Google Shape;198;p22"/>
          <p:cNvPicPr preferRelativeResize="0"/>
          <p:nvPr/>
        </p:nvPicPr>
        <p:blipFill>
          <a:blip r:embed="rId6" cstate="email">
            <a:alphaModFix/>
            <a:extLst>
              <a:ext uri="{28A0092B-C50C-407E-A947-70E740481C1C}">
                <a14:useLocalDpi xmlns:a14="http://schemas.microsoft.com/office/drawing/2010/main"/>
              </a:ext>
            </a:extLst>
          </a:blip>
          <a:stretch>
            <a:fillRect/>
          </a:stretch>
        </p:blipFill>
        <p:spPr>
          <a:xfrm>
            <a:off x="455275" y="1620676"/>
            <a:ext cx="1670550" cy="935500"/>
          </a:xfrm>
          <a:prstGeom prst="rect">
            <a:avLst/>
          </a:prstGeom>
          <a:noFill/>
          <a:ln w="9525" cap="flat" cmpd="sng">
            <a:solidFill>
              <a:srgbClr val="FF0000"/>
            </a:solidFill>
            <a:prstDash val="solid"/>
            <a:round/>
            <a:headEnd type="none" w="sm" len="sm"/>
            <a:tailEnd type="none" w="sm" len="sm"/>
          </a:ln>
        </p:spPr>
      </p:pic>
      <p:pic>
        <p:nvPicPr>
          <p:cNvPr id="199" name="Google Shape;199;p22"/>
          <p:cNvPicPr preferRelativeResize="0"/>
          <p:nvPr/>
        </p:nvPicPr>
        <p:blipFill>
          <a:blip r:embed="rId7" cstate="email">
            <a:alphaModFix/>
            <a:extLst>
              <a:ext uri="{28A0092B-C50C-407E-A947-70E740481C1C}">
                <a14:useLocalDpi xmlns:a14="http://schemas.microsoft.com/office/drawing/2010/main"/>
              </a:ext>
            </a:extLst>
          </a:blip>
          <a:stretch>
            <a:fillRect/>
          </a:stretch>
        </p:blipFill>
        <p:spPr>
          <a:xfrm>
            <a:off x="3357050" y="3168825"/>
            <a:ext cx="2070748" cy="1757305"/>
          </a:xfrm>
          <a:prstGeom prst="rect">
            <a:avLst/>
          </a:prstGeom>
          <a:noFill/>
          <a:ln w="9525" cap="flat" cmpd="sng">
            <a:solidFill>
              <a:srgbClr val="FF0000"/>
            </a:solidFill>
            <a:prstDash val="solid"/>
            <a:round/>
            <a:headEnd type="none" w="sm" len="sm"/>
            <a:tailEnd type="none" w="sm" len="sm"/>
          </a:ln>
        </p:spPr>
      </p:pic>
      <p:sp>
        <p:nvSpPr>
          <p:cNvPr id="200" name="Google Shape;200;p22"/>
          <p:cNvSpPr txBox="1"/>
          <p:nvPr/>
        </p:nvSpPr>
        <p:spPr>
          <a:xfrm>
            <a:off x="55075" y="3113075"/>
            <a:ext cx="3177300" cy="16809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171450" marR="0" lvl="0" indent="-133350" algn="l" rtl="0">
              <a:lnSpc>
                <a:spcPct val="100000"/>
              </a:lnSpc>
              <a:spcBef>
                <a:spcPts val="0"/>
              </a:spcBef>
              <a:spcAft>
                <a:spcPts val="0"/>
              </a:spcAft>
              <a:buClr>
                <a:srgbClr val="FF0000"/>
              </a:buClr>
              <a:buSzPts val="1200"/>
              <a:buFont typeface="Calibri"/>
              <a:buChar char="●"/>
            </a:pPr>
            <a:r>
              <a:rPr lang="en" sz="1200" b="1">
                <a:solidFill>
                  <a:srgbClr val="FF0000"/>
                </a:solidFill>
                <a:latin typeface="Calibri"/>
                <a:ea typeface="Calibri"/>
                <a:cs typeface="Calibri"/>
                <a:sym typeface="Calibri"/>
              </a:rPr>
              <a:t>China:</a:t>
            </a:r>
            <a:endParaRPr sz="1200" b="1">
              <a:solidFill>
                <a:srgbClr val="FF0000"/>
              </a:solidFill>
              <a:latin typeface="Calibri"/>
              <a:ea typeface="Calibri"/>
              <a:cs typeface="Calibri"/>
              <a:sym typeface="Calibri"/>
            </a:endParaRPr>
          </a:p>
          <a:p>
            <a:pPr marL="171450" marR="0" lvl="0" indent="-133350" algn="l" rtl="0">
              <a:lnSpc>
                <a:spcPct val="100000"/>
              </a:lnSpc>
              <a:spcBef>
                <a:spcPts val="0"/>
              </a:spcBef>
              <a:spcAft>
                <a:spcPts val="0"/>
              </a:spcAft>
              <a:buSzPts val="1200"/>
              <a:buFont typeface="Calibri"/>
              <a:buChar char="●"/>
            </a:pPr>
            <a:r>
              <a:rPr lang="en" sz="1200">
                <a:latin typeface="Calibri"/>
                <a:ea typeface="Calibri"/>
                <a:cs typeface="Calibri"/>
                <a:sym typeface="Calibri"/>
              </a:rPr>
              <a:t>Qwen (Tongyi Qianwen division of  Alibaba)</a:t>
            </a:r>
            <a:endParaRPr sz="1200">
              <a:latin typeface="Calibri"/>
              <a:ea typeface="Calibri"/>
              <a:cs typeface="Calibri"/>
              <a:sym typeface="Calibri"/>
            </a:endParaRPr>
          </a:p>
          <a:p>
            <a:pPr marL="171450" marR="0" lvl="0" indent="-133350" algn="l" rtl="0">
              <a:lnSpc>
                <a:spcPct val="100000"/>
              </a:lnSpc>
              <a:spcBef>
                <a:spcPts val="0"/>
              </a:spcBef>
              <a:spcAft>
                <a:spcPts val="0"/>
              </a:spcAft>
              <a:buSzPts val="1200"/>
              <a:buFont typeface="Calibri"/>
              <a:buChar char="●"/>
            </a:pPr>
            <a:r>
              <a:rPr lang="en" sz="1200">
                <a:latin typeface="Calibri"/>
                <a:ea typeface="Calibri"/>
                <a:cs typeface="Calibri"/>
                <a:sym typeface="Calibri"/>
              </a:rPr>
              <a:t>DeepSeek, Zhipu (Z.ai) </a:t>
            </a:r>
            <a:endParaRPr sz="1200">
              <a:latin typeface="Calibri"/>
              <a:ea typeface="Calibri"/>
              <a:cs typeface="Calibri"/>
              <a:sym typeface="Calibri"/>
            </a:endParaRPr>
          </a:p>
          <a:p>
            <a:pPr marL="171450" marR="0" lvl="0" indent="-133350" algn="l" rtl="0">
              <a:lnSpc>
                <a:spcPct val="100000"/>
              </a:lnSpc>
              <a:spcBef>
                <a:spcPts val="0"/>
              </a:spcBef>
              <a:spcAft>
                <a:spcPts val="0"/>
              </a:spcAft>
              <a:buSzPts val="1200"/>
              <a:buFont typeface="Calibri"/>
              <a:buChar char="●"/>
            </a:pPr>
            <a:r>
              <a:rPr lang="en" sz="1200">
                <a:latin typeface="Calibri"/>
                <a:ea typeface="Calibri"/>
                <a:cs typeface="Calibri"/>
                <a:sym typeface="Calibri"/>
              </a:rPr>
              <a:t>Beijing Academy of Artificial Intelligence (BAAI)</a:t>
            </a:r>
            <a:endParaRPr sz="1200">
              <a:latin typeface="Calibri"/>
              <a:ea typeface="Calibri"/>
              <a:cs typeface="Calibri"/>
              <a:sym typeface="Calibri"/>
            </a:endParaRPr>
          </a:p>
          <a:p>
            <a:pPr marL="171450" marR="0" lvl="0" indent="-133350" algn="l" rtl="0">
              <a:lnSpc>
                <a:spcPct val="100000"/>
              </a:lnSpc>
              <a:spcBef>
                <a:spcPts val="0"/>
              </a:spcBef>
              <a:spcAft>
                <a:spcPts val="0"/>
              </a:spcAft>
              <a:buSzPts val="1200"/>
              <a:buFont typeface="Calibri"/>
              <a:buChar char="●"/>
            </a:pPr>
            <a:r>
              <a:rPr lang="en" sz="1200">
                <a:latin typeface="Calibri"/>
                <a:ea typeface="Calibri"/>
                <a:cs typeface="Calibri"/>
                <a:sym typeface="Calibri"/>
              </a:rPr>
              <a:t>Zhiyuan Research Institute</a:t>
            </a:r>
            <a:endParaRPr sz="1200">
              <a:latin typeface="Calibri"/>
              <a:ea typeface="Calibri"/>
              <a:cs typeface="Calibri"/>
              <a:sym typeface="Calibri"/>
            </a:endParaRPr>
          </a:p>
          <a:p>
            <a:pPr marL="171450" marR="0" lvl="0" indent="-133350" algn="l" rtl="0">
              <a:lnSpc>
                <a:spcPct val="100000"/>
              </a:lnSpc>
              <a:spcBef>
                <a:spcPts val="0"/>
              </a:spcBef>
              <a:spcAft>
                <a:spcPts val="0"/>
              </a:spcAft>
              <a:buSzPts val="1200"/>
              <a:buFont typeface="Calibri"/>
              <a:buChar char="●"/>
            </a:pPr>
            <a:r>
              <a:rPr lang="en" sz="1200">
                <a:latin typeface="Calibri"/>
                <a:ea typeface="Calibri"/>
                <a:cs typeface="Calibri"/>
                <a:sym typeface="Calibri"/>
              </a:rPr>
              <a:t>OpenBMB from Tsinghua University</a:t>
            </a:r>
            <a:endParaRPr sz="1200">
              <a:latin typeface="Calibri"/>
              <a:ea typeface="Calibri"/>
              <a:cs typeface="Calibri"/>
              <a:sym typeface="Calibri"/>
            </a:endParaRPr>
          </a:p>
          <a:p>
            <a:pPr marL="171450" marR="0" lvl="0" indent="-133350" algn="l" rtl="0">
              <a:lnSpc>
                <a:spcPct val="100000"/>
              </a:lnSpc>
              <a:spcBef>
                <a:spcPts val="0"/>
              </a:spcBef>
              <a:spcAft>
                <a:spcPts val="0"/>
              </a:spcAft>
              <a:buSzPts val="1200"/>
              <a:buFont typeface="Calibri"/>
              <a:buChar char="●"/>
            </a:pPr>
            <a:r>
              <a:rPr lang="en" sz="1200">
                <a:latin typeface="Calibri"/>
                <a:ea typeface="Calibri"/>
                <a:cs typeface="Calibri"/>
                <a:sym typeface="Calibri"/>
              </a:rPr>
              <a:t>Baichuan, Moonshot AI, Ant Group, </a:t>
            </a:r>
            <a:br>
              <a:rPr lang="en" sz="1200">
                <a:latin typeface="Calibri"/>
                <a:ea typeface="Calibri"/>
                <a:cs typeface="Calibri"/>
                <a:sym typeface="Calibri"/>
              </a:rPr>
            </a:br>
            <a:r>
              <a:rPr lang="en" sz="1200">
                <a:latin typeface="Calibri"/>
                <a:ea typeface="Calibri"/>
                <a:cs typeface="Calibri"/>
                <a:sym typeface="Calibri"/>
              </a:rPr>
              <a:t>Shanghai AI Laboratory, </a:t>
            </a:r>
            <a:br>
              <a:rPr lang="en" sz="1200">
                <a:latin typeface="Calibri"/>
                <a:ea typeface="Calibri"/>
                <a:cs typeface="Calibri"/>
                <a:sym typeface="Calibri"/>
              </a:rPr>
            </a:br>
            <a:r>
              <a:rPr lang="en" sz="1200">
                <a:latin typeface="Calibri"/>
                <a:ea typeface="Calibri"/>
                <a:cs typeface="Calibri"/>
                <a:sym typeface="Calibri"/>
              </a:rPr>
              <a:t>China Telecom AI Research Institute</a:t>
            </a:r>
            <a:endParaRPr sz="1200">
              <a:latin typeface="Calibri"/>
              <a:ea typeface="Calibri"/>
              <a:cs typeface="Calibri"/>
              <a:sym typeface="Calibri"/>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204"/>
        <p:cNvGrpSpPr/>
        <p:nvPr/>
      </p:nvGrpSpPr>
      <p:grpSpPr>
        <a:xfrm>
          <a:off x="0" y="0"/>
          <a:ext cx="0" cy="0"/>
          <a:chOff x="0" y="0"/>
          <a:chExt cx="0" cy="0"/>
        </a:xfrm>
      </p:grpSpPr>
      <p:sp>
        <p:nvSpPr>
          <p:cNvPr id="205" name="Google Shape;205;p23"/>
          <p:cNvSpPr txBox="1"/>
          <p:nvPr/>
        </p:nvSpPr>
        <p:spPr>
          <a:xfrm>
            <a:off x="55075" y="20375"/>
            <a:ext cx="4444500" cy="326400"/>
          </a:xfrm>
          <a:prstGeom prst="rect">
            <a:avLst/>
          </a:prstGeom>
          <a:noFill/>
          <a:ln>
            <a:noFill/>
          </a:ln>
        </p:spPr>
        <p:txBody>
          <a:bodyPr spcFirstLastPara="1" wrap="square" lIns="9125" tIns="9125" rIns="9125" bIns="9125" anchor="t" anchorCtr="0">
            <a:spAutoFit/>
          </a:bodyPr>
          <a:lstStyle/>
          <a:p>
            <a:pPr marL="0" marR="0" lvl="0" indent="0" algn="l" rtl="0">
              <a:lnSpc>
                <a:spcPct val="100000"/>
              </a:lnSpc>
              <a:spcBef>
                <a:spcPts val="0"/>
              </a:spcBef>
              <a:spcAft>
                <a:spcPts val="0"/>
              </a:spcAft>
              <a:buClr>
                <a:schemeClr val="dk1"/>
              </a:buClr>
              <a:buSzPts val="1100"/>
              <a:buFont typeface="Arial"/>
              <a:buNone/>
            </a:pPr>
            <a:r>
              <a:rPr lang="en" sz="2000" b="1">
                <a:solidFill>
                  <a:schemeClr val="dk1"/>
                </a:solidFill>
                <a:latin typeface="Calibri"/>
                <a:ea typeface="Calibri"/>
                <a:cs typeface="Calibri"/>
                <a:sym typeface="Calibri"/>
              </a:rPr>
              <a:t>HRM - Hierarchical Reasoning Models</a:t>
            </a:r>
            <a:endParaRPr sz="2000" b="1" i="0" u="none" strike="noStrike" cap="none">
              <a:solidFill>
                <a:schemeClr val="dk1"/>
              </a:solidFill>
              <a:latin typeface="Calibri"/>
              <a:ea typeface="Calibri"/>
              <a:cs typeface="Calibri"/>
              <a:sym typeface="Calibri"/>
            </a:endParaRPr>
          </a:p>
        </p:txBody>
      </p:sp>
      <p:sp>
        <p:nvSpPr>
          <p:cNvPr id="206" name="Google Shape;206;p23"/>
          <p:cNvSpPr txBox="1"/>
          <p:nvPr/>
        </p:nvSpPr>
        <p:spPr>
          <a:xfrm>
            <a:off x="55075" y="466747"/>
            <a:ext cx="4444500" cy="34047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171450" marR="0" lvl="0" indent="-127000" algn="l" rtl="0">
              <a:lnSpc>
                <a:spcPct val="100000"/>
              </a:lnSpc>
              <a:spcBef>
                <a:spcPts val="0"/>
              </a:spcBef>
              <a:spcAft>
                <a:spcPts val="0"/>
              </a:spcAft>
              <a:buClr>
                <a:srgbClr val="FF0000"/>
              </a:buClr>
              <a:buSzPts val="1100"/>
              <a:buFont typeface="Calibri"/>
              <a:buChar char="●"/>
            </a:pPr>
            <a:r>
              <a:rPr lang="en" sz="1100" b="1">
                <a:solidFill>
                  <a:srgbClr val="FF0000"/>
                </a:solidFill>
                <a:latin typeface="Calibri"/>
                <a:ea typeface="Calibri"/>
                <a:cs typeface="Calibri"/>
                <a:sym typeface="Calibri"/>
              </a:rPr>
              <a:t>HRM - Hierarchical Reasoning Models</a:t>
            </a:r>
            <a:endParaRPr sz="1100" b="1">
              <a:solidFill>
                <a:srgbClr val="FF0000"/>
              </a:solidFill>
              <a:latin typeface="Calibri"/>
              <a:ea typeface="Calibri"/>
              <a:cs typeface="Calibri"/>
              <a:sym typeface="Calibri"/>
            </a:endParaRPr>
          </a:p>
          <a:p>
            <a:pPr marL="171450" marR="0" lvl="0" indent="-127000" algn="l" rtl="0">
              <a:lnSpc>
                <a:spcPct val="100000"/>
              </a:lnSpc>
              <a:spcBef>
                <a:spcPts val="0"/>
              </a:spcBef>
              <a:spcAft>
                <a:spcPts val="0"/>
              </a:spcAft>
              <a:buClr>
                <a:schemeClr val="dk1"/>
              </a:buClr>
              <a:buSzPts val="1100"/>
              <a:buFont typeface="Calibri"/>
              <a:buChar char="●"/>
            </a:pPr>
            <a:r>
              <a:rPr lang="en" sz="1100">
                <a:solidFill>
                  <a:schemeClr val="dk1"/>
                </a:solidFill>
                <a:latin typeface="Calibri"/>
                <a:ea typeface="Calibri"/>
                <a:cs typeface="Calibri"/>
                <a:sym typeface="Calibri"/>
              </a:rPr>
              <a:t>Developed by Sapient Intelligence (Singapore) that uses two inter-dependent recurrent modules to solve complex reasoning tasks</a:t>
            </a:r>
            <a:endParaRPr sz="1100">
              <a:solidFill>
                <a:schemeClr val="dk1"/>
              </a:solidFill>
              <a:latin typeface="Calibri"/>
              <a:ea typeface="Calibri"/>
              <a:cs typeface="Calibri"/>
              <a:sym typeface="Calibri"/>
            </a:endParaRPr>
          </a:p>
          <a:p>
            <a:pPr marL="171450" marR="0" lvl="0" indent="-127000" algn="l" rtl="0">
              <a:lnSpc>
                <a:spcPct val="100000"/>
              </a:lnSpc>
              <a:spcBef>
                <a:spcPts val="0"/>
              </a:spcBef>
              <a:spcAft>
                <a:spcPts val="0"/>
              </a:spcAft>
              <a:buClr>
                <a:schemeClr val="dk1"/>
              </a:buClr>
              <a:buSzPts val="1100"/>
              <a:buFont typeface="Calibri"/>
              <a:buChar char="●"/>
            </a:pPr>
            <a:r>
              <a:rPr lang="en" sz="1100">
                <a:solidFill>
                  <a:schemeClr val="dk1"/>
                </a:solidFill>
                <a:latin typeface="Calibri"/>
                <a:ea typeface="Calibri"/>
                <a:cs typeface="Calibri"/>
                <a:sym typeface="Calibri"/>
              </a:rPr>
              <a:t>The high-level module handles slow, abstract planning while the low-level module executes rapid, detailed computations, mimicking hierarchical and multi-timescale processing in the human brain</a:t>
            </a:r>
            <a:endParaRPr sz="1100">
              <a:solidFill>
                <a:schemeClr val="dk1"/>
              </a:solidFill>
              <a:latin typeface="Calibri"/>
              <a:ea typeface="Calibri"/>
              <a:cs typeface="Calibri"/>
              <a:sym typeface="Calibri"/>
            </a:endParaRPr>
          </a:p>
          <a:p>
            <a:pPr marL="171450" marR="0" lvl="0" indent="-127000" algn="l" rtl="0">
              <a:lnSpc>
                <a:spcPct val="100000"/>
              </a:lnSpc>
              <a:spcBef>
                <a:spcPts val="0"/>
              </a:spcBef>
              <a:spcAft>
                <a:spcPts val="0"/>
              </a:spcAft>
              <a:buClr>
                <a:schemeClr val="dk1"/>
              </a:buClr>
              <a:buSzPts val="1100"/>
              <a:buFont typeface="Calibri"/>
              <a:buChar char="●"/>
            </a:pPr>
            <a:r>
              <a:rPr lang="en" sz="1100">
                <a:solidFill>
                  <a:schemeClr val="dk1"/>
                </a:solidFill>
                <a:latin typeface="Calibri"/>
                <a:ea typeface="Calibri"/>
                <a:cs typeface="Calibri"/>
                <a:sym typeface="Calibri"/>
              </a:rPr>
              <a:t>With only 27 million parameters, HRM achieves exceptional performance on challenging problems like complex Sudoku puzzles and maze pathfinding using just 1000 training samples, without pre-training or chain-of-thought supervision</a:t>
            </a:r>
            <a:endParaRPr sz="1100">
              <a:solidFill>
                <a:schemeClr val="dk1"/>
              </a:solidFill>
              <a:latin typeface="Calibri"/>
              <a:ea typeface="Calibri"/>
              <a:cs typeface="Calibri"/>
              <a:sym typeface="Calibri"/>
            </a:endParaRPr>
          </a:p>
          <a:p>
            <a:pPr marL="171450" marR="0" lvl="0" indent="-127000" algn="l" rtl="0">
              <a:lnSpc>
                <a:spcPct val="100000"/>
              </a:lnSpc>
              <a:spcBef>
                <a:spcPts val="0"/>
              </a:spcBef>
              <a:spcAft>
                <a:spcPts val="0"/>
              </a:spcAft>
              <a:buClr>
                <a:schemeClr val="dk1"/>
              </a:buClr>
              <a:buSzPts val="1100"/>
              <a:buFont typeface="Calibri"/>
              <a:buChar char="●"/>
            </a:pPr>
            <a:r>
              <a:rPr lang="en" sz="1100">
                <a:solidFill>
                  <a:schemeClr val="dk1"/>
                </a:solidFill>
                <a:latin typeface="Calibri"/>
                <a:ea typeface="Calibri"/>
                <a:cs typeface="Calibri"/>
                <a:sym typeface="Calibri"/>
              </a:rPr>
              <a:t>The model executes sequential reasoning in a single forward pass and gains enhanced effective depth through hierarchical convergence, allowing it to perform tasks that are intractable for even advanced large language models</a:t>
            </a:r>
            <a:endParaRPr sz="1100">
              <a:solidFill>
                <a:schemeClr val="dk1"/>
              </a:solidFill>
              <a:latin typeface="Calibri"/>
              <a:ea typeface="Calibri"/>
              <a:cs typeface="Calibri"/>
              <a:sym typeface="Calibri"/>
            </a:endParaRPr>
          </a:p>
          <a:p>
            <a:pPr marL="171450" marR="0" lvl="0" indent="-127000" algn="l" rtl="0">
              <a:lnSpc>
                <a:spcPct val="100000"/>
              </a:lnSpc>
              <a:spcBef>
                <a:spcPts val="0"/>
              </a:spcBef>
              <a:spcAft>
                <a:spcPts val="0"/>
              </a:spcAft>
              <a:buClr>
                <a:schemeClr val="dk1"/>
              </a:buClr>
              <a:buSzPts val="1100"/>
              <a:buFont typeface="Calibri"/>
              <a:buChar char="●"/>
            </a:pPr>
            <a:r>
              <a:rPr lang="en" sz="1100">
                <a:solidFill>
                  <a:schemeClr val="dk1"/>
                </a:solidFill>
                <a:latin typeface="Calibri"/>
                <a:ea typeface="Calibri"/>
                <a:cs typeface="Calibri"/>
                <a:sym typeface="Calibri"/>
              </a:rPr>
              <a:t>The architecture consists of four components: an input network, low-level recurrent module, high-level recurrent module, and output network</a:t>
            </a:r>
            <a:endParaRPr sz="1100">
              <a:solidFill>
                <a:schemeClr val="dk1"/>
              </a:solidFill>
              <a:latin typeface="Calibri"/>
              <a:ea typeface="Calibri"/>
              <a:cs typeface="Calibri"/>
              <a:sym typeface="Calibri"/>
            </a:endParaRPr>
          </a:p>
          <a:p>
            <a:pPr marL="171450" marR="0" lvl="0" indent="-127000" algn="l" rtl="0">
              <a:lnSpc>
                <a:spcPct val="100000"/>
              </a:lnSpc>
              <a:spcBef>
                <a:spcPts val="0"/>
              </a:spcBef>
              <a:spcAft>
                <a:spcPts val="0"/>
              </a:spcAft>
              <a:buClr>
                <a:schemeClr val="dk1"/>
              </a:buClr>
              <a:buSzPts val="1100"/>
              <a:buFont typeface="Calibri"/>
              <a:buChar char="●"/>
            </a:pPr>
            <a:r>
              <a:rPr lang="en" sz="1100" u="sng">
                <a:solidFill>
                  <a:schemeClr val="hlink"/>
                </a:solidFill>
                <a:latin typeface="Calibri"/>
                <a:ea typeface="Calibri"/>
                <a:cs typeface="Calibri"/>
                <a:sym typeface="Calibri"/>
                <a:hlinkClick r:id="rId3"/>
              </a:rPr>
              <a:t>https://www.youtube.com/watch?v=ZgwHaI2C-9s</a:t>
            </a:r>
            <a:r>
              <a:rPr lang="en" sz="1100">
                <a:solidFill>
                  <a:schemeClr val="dk1"/>
                </a:solidFill>
                <a:latin typeface="Calibri"/>
                <a:ea typeface="Calibri"/>
                <a:cs typeface="Calibri"/>
                <a:sym typeface="Calibri"/>
              </a:rPr>
              <a:t> </a:t>
            </a:r>
            <a:endParaRPr sz="1100">
              <a:solidFill>
                <a:schemeClr val="dk1"/>
              </a:solidFill>
              <a:latin typeface="Calibri"/>
              <a:ea typeface="Calibri"/>
              <a:cs typeface="Calibri"/>
              <a:sym typeface="Calibri"/>
            </a:endParaRPr>
          </a:p>
          <a:p>
            <a:pPr marL="171450" marR="0" lvl="0" indent="-127000" algn="l" rtl="0">
              <a:lnSpc>
                <a:spcPct val="100000"/>
              </a:lnSpc>
              <a:spcBef>
                <a:spcPts val="0"/>
              </a:spcBef>
              <a:spcAft>
                <a:spcPts val="0"/>
              </a:spcAft>
              <a:buClr>
                <a:schemeClr val="dk1"/>
              </a:buClr>
              <a:buSzPts val="1100"/>
              <a:buFont typeface="Calibri"/>
              <a:buChar char="●"/>
            </a:pPr>
            <a:r>
              <a:rPr lang="en" sz="1100" u="sng">
                <a:solidFill>
                  <a:schemeClr val="hlink"/>
                </a:solidFill>
                <a:latin typeface="Calibri"/>
                <a:ea typeface="Calibri"/>
                <a:cs typeface="Calibri"/>
                <a:sym typeface="Calibri"/>
                <a:hlinkClick r:id="rId4"/>
              </a:rPr>
              <a:t>https://arxiv.org/pdf/2506.21734</a:t>
            </a:r>
            <a:r>
              <a:rPr lang="en" sz="1100">
                <a:solidFill>
                  <a:schemeClr val="dk1"/>
                </a:solidFill>
                <a:latin typeface="Calibri"/>
                <a:ea typeface="Calibri"/>
                <a:cs typeface="Calibri"/>
                <a:sym typeface="Calibri"/>
              </a:rPr>
              <a:t> </a:t>
            </a:r>
            <a:endParaRPr sz="1100">
              <a:solidFill>
                <a:schemeClr val="dk1"/>
              </a:solidFill>
              <a:latin typeface="Calibri"/>
              <a:ea typeface="Calibri"/>
              <a:cs typeface="Calibri"/>
              <a:sym typeface="Calibri"/>
            </a:endParaRPr>
          </a:p>
          <a:p>
            <a:pPr marL="171450" marR="0" lvl="0" indent="-127000" algn="l" rtl="0">
              <a:lnSpc>
                <a:spcPct val="100000"/>
              </a:lnSpc>
              <a:spcBef>
                <a:spcPts val="0"/>
              </a:spcBef>
              <a:spcAft>
                <a:spcPts val="0"/>
              </a:spcAft>
              <a:buClr>
                <a:schemeClr val="dk1"/>
              </a:buClr>
              <a:buSzPts val="1100"/>
              <a:buFont typeface="Calibri"/>
              <a:buChar char="●"/>
            </a:pPr>
            <a:r>
              <a:rPr lang="en" sz="1100" u="sng">
                <a:solidFill>
                  <a:schemeClr val="hlink"/>
                </a:solidFill>
                <a:latin typeface="Calibri"/>
                <a:ea typeface="Calibri"/>
                <a:cs typeface="Calibri"/>
                <a:sym typeface="Calibri"/>
                <a:hlinkClick r:id="rId5"/>
              </a:rPr>
              <a:t>https://github.com/sapientinc/HRM</a:t>
            </a:r>
            <a:r>
              <a:rPr lang="en" sz="1100">
                <a:solidFill>
                  <a:schemeClr val="dk1"/>
                </a:solidFill>
                <a:latin typeface="Calibri"/>
                <a:ea typeface="Calibri"/>
                <a:cs typeface="Calibri"/>
                <a:sym typeface="Calibri"/>
              </a:rPr>
              <a:t> - open source Apache 2.0</a:t>
            </a:r>
            <a:endParaRPr sz="1100">
              <a:solidFill>
                <a:schemeClr val="dk1"/>
              </a:solidFill>
              <a:latin typeface="Calibri"/>
              <a:ea typeface="Calibri"/>
              <a:cs typeface="Calibri"/>
              <a:sym typeface="Calibri"/>
            </a:endParaRPr>
          </a:p>
          <a:p>
            <a:pPr marL="171450" marR="0" lvl="0" indent="-127000" algn="l" rtl="0">
              <a:lnSpc>
                <a:spcPct val="100000"/>
              </a:lnSpc>
              <a:spcBef>
                <a:spcPts val="0"/>
              </a:spcBef>
              <a:spcAft>
                <a:spcPts val="0"/>
              </a:spcAft>
              <a:buClr>
                <a:schemeClr val="dk1"/>
              </a:buClr>
              <a:buSzPts val="1100"/>
              <a:buFont typeface="Calibri"/>
              <a:buChar char="●"/>
            </a:pPr>
            <a:r>
              <a:rPr lang="en" sz="1100" u="sng">
                <a:solidFill>
                  <a:schemeClr val="hlink"/>
                </a:solidFill>
                <a:latin typeface="Calibri"/>
                <a:ea typeface="Calibri"/>
                <a:cs typeface="Calibri"/>
                <a:sym typeface="Calibri"/>
                <a:hlinkClick r:id="rId6"/>
              </a:rPr>
              <a:t>https://arxiv.org/pdf/2510.04871</a:t>
            </a:r>
            <a:r>
              <a:rPr lang="en" sz="1100">
                <a:solidFill>
                  <a:schemeClr val="dk1"/>
                </a:solidFill>
                <a:latin typeface="Calibri"/>
                <a:ea typeface="Calibri"/>
                <a:cs typeface="Calibri"/>
                <a:sym typeface="Calibri"/>
              </a:rPr>
              <a:t> </a:t>
            </a:r>
            <a:endParaRPr sz="1100">
              <a:solidFill>
                <a:schemeClr val="dk1"/>
              </a:solidFill>
              <a:latin typeface="Calibri"/>
              <a:ea typeface="Calibri"/>
              <a:cs typeface="Calibri"/>
              <a:sym typeface="Calibri"/>
            </a:endParaRPr>
          </a:p>
        </p:txBody>
      </p:sp>
      <p:pic>
        <p:nvPicPr>
          <p:cNvPr id="207" name="Google Shape;207;p23"/>
          <p:cNvPicPr preferRelativeResize="0"/>
          <p:nvPr/>
        </p:nvPicPr>
        <p:blipFill rotWithShape="1">
          <a:blip r:embed="rId7" cstate="email">
            <a:alphaModFix/>
            <a:extLst>
              <a:ext uri="{28A0092B-C50C-407E-A947-70E740481C1C}">
                <a14:useLocalDpi xmlns:a14="http://schemas.microsoft.com/office/drawing/2010/main"/>
              </a:ext>
            </a:extLst>
          </a:blip>
          <a:srcRect/>
          <a:stretch/>
        </p:blipFill>
        <p:spPr>
          <a:xfrm>
            <a:off x="4725250" y="841950"/>
            <a:ext cx="4029324" cy="2492849"/>
          </a:xfrm>
          <a:prstGeom prst="rect">
            <a:avLst/>
          </a:prstGeom>
          <a:noFill/>
          <a:ln w="9525" cap="flat" cmpd="sng">
            <a:solidFill>
              <a:srgbClr val="FF0000"/>
            </a:solidFill>
            <a:prstDash val="solid"/>
            <a:round/>
            <a:headEnd type="none" w="sm" len="sm"/>
            <a:tailEnd type="none" w="sm" len="sm"/>
          </a:ln>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211"/>
        <p:cNvGrpSpPr/>
        <p:nvPr/>
      </p:nvGrpSpPr>
      <p:grpSpPr>
        <a:xfrm>
          <a:off x="0" y="0"/>
          <a:ext cx="0" cy="0"/>
          <a:chOff x="0" y="0"/>
          <a:chExt cx="0" cy="0"/>
        </a:xfrm>
      </p:grpSpPr>
      <p:sp>
        <p:nvSpPr>
          <p:cNvPr id="212" name="Google Shape;212;p24"/>
          <p:cNvSpPr txBox="1"/>
          <p:nvPr/>
        </p:nvSpPr>
        <p:spPr>
          <a:xfrm>
            <a:off x="55075" y="20375"/>
            <a:ext cx="1663200" cy="326400"/>
          </a:xfrm>
          <a:prstGeom prst="rect">
            <a:avLst/>
          </a:prstGeom>
          <a:noFill/>
          <a:ln>
            <a:noFill/>
          </a:ln>
        </p:spPr>
        <p:txBody>
          <a:bodyPr spcFirstLastPara="1" wrap="square" lIns="9125" tIns="9125" rIns="9125" bIns="9125" anchor="t" anchorCtr="0">
            <a:spAutoFit/>
          </a:bodyPr>
          <a:lstStyle/>
          <a:p>
            <a:pPr marL="0" marR="0" lvl="0" indent="0" algn="l" rtl="0">
              <a:lnSpc>
                <a:spcPct val="100000"/>
              </a:lnSpc>
              <a:spcBef>
                <a:spcPts val="0"/>
              </a:spcBef>
              <a:spcAft>
                <a:spcPts val="0"/>
              </a:spcAft>
              <a:buClr>
                <a:schemeClr val="dk1"/>
              </a:buClr>
              <a:buSzPts val="1100"/>
              <a:buFont typeface="Arial"/>
              <a:buNone/>
            </a:pPr>
            <a:r>
              <a:rPr lang="en" sz="2000" b="1">
                <a:solidFill>
                  <a:schemeClr val="dk1"/>
                </a:solidFill>
                <a:latin typeface="Calibri"/>
                <a:ea typeface="Calibri"/>
                <a:cs typeface="Calibri"/>
                <a:sym typeface="Calibri"/>
              </a:rPr>
              <a:t>AI Updates 2</a:t>
            </a:r>
            <a:endParaRPr sz="2000" b="1" i="0" u="none" strike="noStrike" cap="none">
              <a:solidFill>
                <a:schemeClr val="dk1"/>
              </a:solidFill>
              <a:latin typeface="Calibri"/>
              <a:ea typeface="Calibri"/>
              <a:cs typeface="Calibri"/>
              <a:sym typeface="Calibri"/>
            </a:endParaRPr>
          </a:p>
        </p:txBody>
      </p:sp>
      <p:sp>
        <p:nvSpPr>
          <p:cNvPr id="213" name="Google Shape;213;p24"/>
          <p:cNvSpPr txBox="1"/>
          <p:nvPr/>
        </p:nvSpPr>
        <p:spPr>
          <a:xfrm>
            <a:off x="55075" y="436164"/>
            <a:ext cx="4082400" cy="28968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171450" marR="0" lvl="0" indent="-127000" algn="l" rtl="0">
              <a:lnSpc>
                <a:spcPct val="100000"/>
              </a:lnSpc>
              <a:spcBef>
                <a:spcPts val="0"/>
              </a:spcBef>
              <a:spcAft>
                <a:spcPts val="0"/>
              </a:spcAft>
              <a:buClr>
                <a:srgbClr val="FF0000"/>
              </a:buClr>
              <a:buSzPts val="1100"/>
              <a:buFont typeface="Calibri"/>
              <a:buChar char="●"/>
            </a:pPr>
            <a:r>
              <a:rPr lang="en" sz="1100" b="1">
                <a:solidFill>
                  <a:srgbClr val="FF0000"/>
                </a:solidFill>
                <a:latin typeface="Calibri"/>
                <a:ea typeface="Calibri"/>
                <a:cs typeface="Calibri"/>
                <a:sym typeface="Calibri"/>
              </a:rPr>
              <a:t>Postgres vs Pinecone for AI Projects</a:t>
            </a:r>
            <a:endParaRPr sz="1100" b="1">
              <a:solidFill>
                <a:srgbClr val="FF0000"/>
              </a:solidFill>
              <a:latin typeface="Calibri"/>
              <a:ea typeface="Calibri"/>
              <a:cs typeface="Calibri"/>
              <a:sym typeface="Calibri"/>
            </a:endParaRPr>
          </a:p>
          <a:p>
            <a:pPr marL="171450" marR="0" lvl="0" indent="-127000" algn="l" rtl="0">
              <a:lnSpc>
                <a:spcPct val="100000"/>
              </a:lnSpc>
              <a:spcBef>
                <a:spcPts val="0"/>
              </a:spcBef>
              <a:spcAft>
                <a:spcPts val="0"/>
              </a:spcAft>
              <a:buClr>
                <a:schemeClr val="dk1"/>
              </a:buClr>
              <a:buSzPts val="1100"/>
              <a:buFont typeface="Calibri"/>
              <a:buChar char="●"/>
            </a:pPr>
            <a:r>
              <a:rPr lang="en" sz="1100" u="sng">
                <a:solidFill>
                  <a:schemeClr val="hlink"/>
                </a:solidFill>
                <a:latin typeface="Calibri"/>
                <a:ea typeface="Calibri"/>
                <a:cs typeface="Calibri"/>
                <a:sym typeface="Calibri"/>
                <a:hlinkClick r:id="rId3"/>
              </a:rPr>
              <a:t>https://medium.com/@ArkProtocol1/the-new-postgres-feature-that-just-killed-the-vector-database-hype-cycle-556146ed5961</a:t>
            </a:r>
            <a:r>
              <a:rPr lang="en" sz="1100">
                <a:solidFill>
                  <a:schemeClr val="dk1"/>
                </a:solidFill>
                <a:latin typeface="Calibri"/>
                <a:ea typeface="Calibri"/>
                <a:cs typeface="Calibri"/>
                <a:sym typeface="Calibri"/>
              </a:rPr>
              <a:t> </a:t>
            </a:r>
            <a:endParaRPr sz="1100">
              <a:solidFill>
                <a:schemeClr val="dk1"/>
              </a:solidFill>
              <a:latin typeface="Calibri"/>
              <a:ea typeface="Calibri"/>
              <a:cs typeface="Calibri"/>
              <a:sym typeface="Calibri"/>
            </a:endParaRPr>
          </a:p>
          <a:p>
            <a:pPr marL="171450" marR="0" lvl="0" indent="-127000" algn="l" rtl="0">
              <a:lnSpc>
                <a:spcPct val="100000"/>
              </a:lnSpc>
              <a:spcBef>
                <a:spcPts val="0"/>
              </a:spcBef>
              <a:spcAft>
                <a:spcPts val="0"/>
              </a:spcAft>
              <a:buClr>
                <a:schemeClr val="dk1"/>
              </a:buClr>
              <a:buSzPts val="1100"/>
              <a:buFont typeface="Calibri"/>
              <a:buChar char="●"/>
            </a:pPr>
            <a:r>
              <a:rPr lang="en" sz="1100">
                <a:solidFill>
                  <a:schemeClr val="dk1"/>
                </a:solidFill>
                <a:latin typeface="Calibri"/>
                <a:ea typeface="Calibri"/>
                <a:cs typeface="Calibri"/>
                <a:sym typeface="Calibri"/>
              </a:rPr>
              <a:t>PostgreSQL with pgvector extensions offers significant advantages over Pinecone for most AI projects, primarily due to lower costs and comparable or better performance</a:t>
            </a:r>
            <a:endParaRPr sz="1100">
              <a:solidFill>
                <a:schemeClr val="dk1"/>
              </a:solidFill>
              <a:latin typeface="Calibri"/>
              <a:ea typeface="Calibri"/>
              <a:cs typeface="Calibri"/>
              <a:sym typeface="Calibri"/>
            </a:endParaRPr>
          </a:p>
          <a:p>
            <a:pPr marL="171450" marR="0" lvl="0" indent="-127000" algn="l" rtl="0">
              <a:lnSpc>
                <a:spcPct val="100000"/>
              </a:lnSpc>
              <a:spcBef>
                <a:spcPts val="0"/>
              </a:spcBef>
              <a:spcAft>
                <a:spcPts val="0"/>
              </a:spcAft>
              <a:buClr>
                <a:schemeClr val="dk1"/>
              </a:buClr>
              <a:buSzPts val="1100"/>
              <a:buFont typeface="Calibri"/>
              <a:buChar char="●"/>
            </a:pPr>
            <a:r>
              <a:rPr lang="en" sz="1100">
                <a:solidFill>
                  <a:schemeClr val="dk1"/>
                </a:solidFill>
                <a:latin typeface="Calibri"/>
                <a:ea typeface="Calibri"/>
                <a:cs typeface="Calibri"/>
                <a:sym typeface="Calibri"/>
              </a:rPr>
              <a:t>Recent benchmarks show that PostgreSQL with pgvectorscale achieves 28x lower p95 latency and 16x higher query throughput at 99% recall while costing only 25% of Pinecone's monthly price</a:t>
            </a:r>
            <a:endParaRPr sz="1100">
              <a:solidFill>
                <a:schemeClr val="dk1"/>
              </a:solidFill>
              <a:latin typeface="Calibri"/>
              <a:ea typeface="Calibri"/>
              <a:cs typeface="Calibri"/>
              <a:sym typeface="Calibri"/>
            </a:endParaRPr>
          </a:p>
          <a:p>
            <a:pPr marL="171450" marR="0" lvl="0" indent="-127000" algn="l" rtl="0">
              <a:lnSpc>
                <a:spcPct val="100000"/>
              </a:lnSpc>
              <a:spcBef>
                <a:spcPts val="0"/>
              </a:spcBef>
              <a:spcAft>
                <a:spcPts val="0"/>
              </a:spcAft>
              <a:buClr>
                <a:schemeClr val="dk1"/>
              </a:buClr>
              <a:buSzPts val="1100"/>
              <a:buFont typeface="Calibri"/>
              <a:buChar char="●"/>
            </a:pPr>
            <a:r>
              <a:rPr lang="en" sz="1100">
                <a:solidFill>
                  <a:schemeClr val="dk1"/>
                </a:solidFill>
                <a:latin typeface="Calibri"/>
                <a:ea typeface="Calibri"/>
                <a:cs typeface="Calibri"/>
                <a:sym typeface="Calibri"/>
              </a:rPr>
              <a:t>Using PostgreSQL is much simpler. You can maintain structured data, vector data, and metadata together in one table - and query in one query. This simplifies maintenance and speeds-up queries</a:t>
            </a:r>
            <a:endParaRPr sz="1100">
              <a:solidFill>
                <a:schemeClr val="dk1"/>
              </a:solidFill>
              <a:latin typeface="Calibri"/>
              <a:ea typeface="Calibri"/>
              <a:cs typeface="Calibri"/>
              <a:sym typeface="Calibri"/>
            </a:endParaRPr>
          </a:p>
          <a:p>
            <a:pPr marL="171450" marR="0" lvl="0" indent="-127000" algn="l" rtl="0">
              <a:lnSpc>
                <a:spcPct val="100000"/>
              </a:lnSpc>
              <a:spcBef>
                <a:spcPts val="0"/>
              </a:spcBef>
              <a:spcAft>
                <a:spcPts val="0"/>
              </a:spcAft>
              <a:buClr>
                <a:schemeClr val="dk1"/>
              </a:buClr>
              <a:buSzPts val="1100"/>
              <a:buFont typeface="Calibri"/>
              <a:buChar char="●"/>
            </a:pPr>
            <a:r>
              <a:rPr lang="en" sz="1100">
                <a:solidFill>
                  <a:schemeClr val="dk1"/>
                </a:solidFill>
                <a:latin typeface="Calibri"/>
                <a:ea typeface="Calibri"/>
                <a:cs typeface="Calibri"/>
                <a:sym typeface="Calibri"/>
              </a:rPr>
              <a:t>PostgreSQL is open-source and is universally everywhere. There are solutions for all operational tasks - backups, replication, etc. Teams can use familiar tools rather than learning new platforms with potentially incomplete SDKs or documentation</a:t>
            </a:r>
            <a:endParaRPr sz="1100">
              <a:solidFill>
                <a:schemeClr val="dk1"/>
              </a:solidFill>
              <a:latin typeface="Calibri"/>
              <a:ea typeface="Calibri"/>
              <a:cs typeface="Calibri"/>
              <a:sym typeface="Calibri"/>
            </a:endParaRPr>
          </a:p>
          <a:p>
            <a:pPr marL="171450" marR="0" lvl="0" indent="-127000" algn="l" rtl="0">
              <a:lnSpc>
                <a:spcPct val="100000"/>
              </a:lnSpc>
              <a:spcBef>
                <a:spcPts val="0"/>
              </a:spcBef>
              <a:spcAft>
                <a:spcPts val="0"/>
              </a:spcAft>
              <a:buClr>
                <a:schemeClr val="dk1"/>
              </a:buClr>
              <a:buSzPts val="1100"/>
              <a:buFont typeface="Calibri"/>
              <a:buChar char="●"/>
            </a:pPr>
            <a:r>
              <a:rPr lang="en" sz="1100" u="sng">
                <a:solidFill>
                  <a:schemeClr val="hlink"/>
                </a:solidFill>
                <a:latin typeface="Calibri"/>
                <a:ea typeface="Calibri"/>
                <a:cs typeface="Calibri"/>
                <a:sym typeface="Calibri"/>
                <a:hlinkClick r:id="rId4"/>
              </a:rPr>
              <a:t>https://www.tigerdata.com/learn/pgvector-vs-pinecone</a:t>
            </a:r>
            <a:r>
              <a:rPr lang="en" sz="1100">
                <a:solidFill>
                  <a:schemeClr val="dk1"/>
                </a:solidFill>
                <a:latin typeface="Calibri"/>
                <a:ea typeface="Calibri"/>
                <a:cs typeface="Calibri"/>
                <a:sym typeface="Calibri"/>
              </a:rPr>
              <a:t> </a:t>
            </a:r>
            <a:endParaRPr sz="1100">
              <a:solidFill>
                <a:schemeClr val="dk1"/>
              </a:solidFill>
              <a:latin typeface="Calibri"/>
              <a:ea typeface="Calibri"/>
              <a:cs typeface="Calibri"/>
              <a:sym typeface="Calibri"/>
            </a:endParaRPr>
          </a:p>
        </p:txBody>
      </p:sp>
      <p:sp>
        <p:nvSpPr>
          <p:cNvPr id="214" name="Google Shape;214;p24"/>
          <p:cNvSpPr txBox="1"/>
          <p:nvPr/>
        </p:nvSpPr>
        <p:spPr>
          <a:xfrm>
            <a:off x="5769332" y="1312969"/>
            <a:ext cx="3310500" cy="23889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171450" marR="0" lvl="0" indent="-127000" algn="l" rtl="0">
              <a:lnSpc>
                <a:spcPct val="100000"/>
              </a:lnSpc>
              <a:spcBef>
                <a:spcPts val="0"/>
              </a:spcBef>
              <a:spcAft>
                <a:spcPts val="0"/>
              </a:spcAft>
              <a:buClr>
                <a:srgbClr val="FF0000"/>
              </a:buClr>
              <a:buSzPts val="1100"/>
              <a:buFont typeface="Calibri"/>
              <a:buChar char="●"/>
            </a:pPr>
            <a:r>
              <a:rPr lang="en" sz="1100" b="1">
                <a:solidFill>
                  <a:srgbClr val="FF0000"/>
                </a:solidFill>
                <a:latin typeface="Calibri"/>
                <a:ea typeface="Calibri"/>
                <a:cs typeface="Calibri"/>
                <a:sym typeface="Calibri"/>
              </a:rPr>
              <a:t>Ai Smart Glasses with Chat GPT on Amazon</a:t>
            </a:r>
            <a:endParaRPr sz="1100" b="1">
              <a:solidFill>
                <a:srgbClr val="FF0000"/>
              </a:solidFill>
              <a:latin typeface="Calibri"/>
              <a:ea typeface="Calibri"/>
              <a:cs typeface="Calibri"/>
              <a:sym typeface="Calibri"/>
            </a:endParaRPr>
          </a:p>
          <a:p>
            <a:pPr marL="171450" marR="0" lvl="0" indent="-127000" algn="l" rtl="0">
              <a:lnSpc>
                <a:spcPct val="100000"/>
              </a:lnSpc>
              <a:spcBef>
                <a:spcPts val="0"/>
              </a:spcBef>
              <a:spcAft>
                <a:spcPts val="0"/>
              </a:spcAft>
              <a:buClr>
                <a:schemeClr val="dk1"/>
              </a:buClr>
              <a:buSzPts val="1100"/>
              <a:buFont typeface="Calibri"/>
              <a:buChar char="●"/>
            </a:pPr>
            <a:r>
              <a:rPr lang="en" sz="1100">
                <a:solidFill>
                  <a:schemeClr val="dk1"/>
                </a:solidFill>
                <a:latin typeface="Calibri"/>
                <a:ea typeface="Calibri"/>
                <a:cs typeface="Calibri"/>
                <a:sym typeface="Calibri"/>
              </a:rPr>
              <a:t>Bluetooth Translation Glasses with 160+ Languages </a:t>
            </a:r>
            <a:endParaRPr sz="1100">
              <a:solidFill>
                <a:schemeClr val="dk1"/>
              </a:solidFill>
              <a:latin typeface="Calibri"/>
              <a:ea typeface="Calibri"/>
              <a:cs typeface="Calibri"/>
              <a:sym typeface="Calibri"/>
            </a:endParaRPr>
          </a:p>
          <a:p>
            <a:pPr marL="171450" marR="0" lvl="0" indent="-127000" algn="l" rtl="0">
              <a:lnSpc>
                <a:spcPct val="100000"/>
              </a:lnSpc>
              <a:spcBef>
                <a:spcPts val="0"/>
              </a:spcBef>
              <a:spcAft>
                <a:spcPts val="0"/>
              </a:spcAft>
              <a:buClr>
                <a:schemeClr val="dk1"/>
              </a:buClr>
              <a:buSzPts val="1100"/>
              <a:buFont typeface="Calibri"/>
              <a:buChar char="●"/>
            </a:pPr>
            <a:r>
              <a:rPr lang="en" sz="1100">
                <a:solidFill>
                  <a:schemeClr val="dk1"/>
                </a:solidFill>
                <a:latin typeface="Calibri"/>
                <a:ea typeface="Calibri"/>
                <a:cs typeface="Calibri"/>
                <a:sym typeface="Calibri"/>
              </a:rPr>
              <a:t>$36 - </a:t>
            </a:r>
            <a:r>
              <a:rPr lang="en" sz="1100" u="sng">
                <a:solidFill>
                  <a:schemeClr val="accent5"/>
                </a:solidFill>
                <a:latin typeface="Calibri"/>
                <a:ea typeface="Calibri"/>
                <a:cs typeface="Calibri"/>
                <a:sym typeface="Calibri"/>
                <a:hlinkClick r:id="rId5">
                  <a:extLst>
                    <a:ext uri="{A12FA001-AC4F-418D-AE19-62706E023703}">
                      <ahyp:hlinkClr xmlns:ahyp="http://schemas.microsoft.com/office/drawing/2018/hyperlinkcolor" val="tx"/>
                    </a:ext>
                  </a:extLst>
                </a:hlinkClick>
              </a:rPr>
              <a:t>https://www.amazon.com/dp/B0FBGNK5VN</a:t>
            </a:r>
            <a:r>
              <a:rPr lang="en" sz="1100">
                <a:solidFill>
                  <a:schemeClr val="dk1"/>
                </a:solidFill>
                <a:latin typeface="Calibri"/>
                <a:ea typeface="Calibri"/>
                <a:cs typeface="Calibri"/>
                <a:sym typeface="Calibri"/>
              </a:rPr>
              <a:t> </a:t>
            </a:r>
            <a:endParaRPr sz="1100">
              <a:solidFill>
                <a:schemeClr val="dk1"/>
              </a:solidFill>
              <a:latin typeface="Calibri"/>
              <a:ea typeface="Calibri"/>
              <a:cs typeface="Calibri"/>
              <a:sym typeface="Calibri"/>
            </a:endParaRPr>
          </a:p>
          <a:p>
            <a:pPr marL="171450" marR="0" lvl="0" indent="-127000" algn="l" rtl="0">
              <a:lnSpc>
                <a:spcPct val="100000"/>
              </a:lnSpc>
              <a:spcBef>
                <a:spcPts val="0"/>
              </a:spcBef>
              <a:spcAft>
                <a:spcPts val="0"/>
              </a:spcAft>
              <a:buClr>
                <a:schemeClr val="dk1"/>
              </a:buClr>
              <a:buSzPts val="1100"/>
              <a:buFont typeface="Calibri"/>
              <a:buChar char="●"/>
            </a:pPr>
            <a:r>
              <a:rPr lang="en" sz="1100">
                <a:solidFill>
                  <a:schemeClr val="dk1"/>
                </a:solidFill>
                <a:latin typeface="Calibri"/>
                <a:ea typeface="Calibri"/>
                <a:cs typeface="Calibri"/>
                <a:sym typeface="Calibri"/>
              </a:rPr>
              <a:t>Uses bluetooth to connect to your phone translation app</a:t>
            </a:r>
            <a:endParaRPr sz="1100">
              <a:solidFill>
                <a:schemeClr val="dk1"/>
              </a:solidFill>
              <a:latin typeface="Calibri"/>
              <a:ea typeface="Calibri"/>
              <a:cs typeface="Calibri"/>
              <a:sym typeface="Calibri"/>
            </a:endParaRPr>
          </a:p>
          <a:p>
            <a:pPr marL="171450" marR="0" lvl="0" indent="-127000" algn="l" rtl="0">
              <a:lnSpc>
                <a:spcPct val="100000"/>
              </a:lnSpc>
              <a:spcBef>
                <a:spcPts val="0"/>
              </a:spcBef>
              <a:spcAft>
                <a:spcPts val="0"/>
              </a:spcAft>
              <a:buClr>
                <a:schemeClr val="dk1"/>
              </a:buClr>
              <a:buSzPts val="1100"/>
              <a:buFont typeface="Calibri"/>
              <a:buChar char="●"/>
            </a:pPr>
            <a:r>
              <a:rPr lang="en" sz="1100" b="1">
                <a:solidFill>
                  <a:srgbClr val="FF0000"/>
                </a:solidFill>
                <a:latin typeface="Calibri"/>
                <a:ea typeface="Calibri"/>
                <a:cs typeface="Calibri"/>
                <a:sym typeface="Calibri"/>
              </a:rPr>
              <a:t>Face-to-Face Translation Mode: </a:t>
            </a:r>
            <a:r>
              <a:rPr lang="en" sz="1100">
                <a:solidFill>
                  <a:schemeClr val="dk1"/>
                </a:solidFill>
                <a:latin typeface="Calibri"/>
                <a:ea typeface="Calibri"/>
                <a:cs typeface="Calibri"/>
                <a:sym typeface="Calibri"/>
              </a:rPr>
              <a:t>You tap the glasses and speak, your words translate to your phone app, then the other person speaks into your phone and the translation plays through your glasses speakers​​</a:t>
            </a:r>
            <a:endParaRPr sz="1100">
              <a:solidFill>
                <a:schemeClr val="dk1"/>
              </a:solidFill>
              <a:latin typeface="Calibri"/>
              <a:ea typeface="Calibri"/>
              <a:cs typeface="Calibri"/>
              <a:sym typeface="Calibri"/>
            </a:endParaRPr>
          </a:p>
          <a:p>
            <a:pPr marL="171450" marR="0" lvl="0" indent="-127000" algn="l" rtl="0">
              <a:lnSpc>
                <a:spcPct val="100000"/>
              </a:lnSpc>
              <a:spcBef>
                <a:spcPts val="0"/>
              </a:spcBef>
              <a:spcAft>
                <a:spcPts val="0"/>
              </a:spcAft>
              <a:buClr>
                <a:schemeClr val="dk1"/>
              </a:buClr>
              <a:buSzPts val="1100"/>
              <a:buFont typeface="Calibri"/>
              <a:buChar char="●"/>
            </a:pPr>
            <a:r>
              <a:rPr lang="en" sz="1100" b="1">
                <a:solidFill>
                  <a:srgbClr val="FF0000"/>
                </a:solidFill>
                <a:latin typeface="Calibri"/>
                <a:ea typeface="Calibri"/>
                <a:cs typeface="Calibri"/>
                <a:sym typeface="Calibri"/>
              </a:rPr>
              <a:t>Group Meeting Mode:</a:t>
            </a:r>
            <a:r>
              <a:rPr lang="en" sz="1100">
                <a:solidFill>
                  <a:schemeClr val="dk1"/>
                </a:solidFill>
                <a:latin typeface="Calibri"/>
                <a:ea typeface="Calibri"/>
                <a:cs typeface="Calibri"/>
                <a:sym typeface="Calibri"/>
              </a:rPr>
              <a:t> Both parties speak into the phone and translations play through the phone's loudspeaker, functioning as a shared interpreter​</a:t>
            </a:r>
            <a:endParaRPr sz="1100">
              <a:solidFill>
                <a:schemeClr val="dk1"/>
              </a:solidFill>
              <a:latin typeface="Calibri"/>
              <a:ea typeface="Calibri"/>
              <a:cs typeface="Calibri"/>
              <a:sym typeface="Calibri"/>
            </a:endParaRPr>
          </a:p>
          <a:p>
            <a:pPr marL="171450" marR="0" lvl="0" indent="-127000" algn="l" rtl="0">
              <a:lnSpc>
                <a:spcPct val="100000"/>
              </a:lnSpc>
              <a:spcBef>
                <a:spcPts val="0"/>
              </a:spcBef>
              <a:spcAft>
                <a:spcPts val="0"/>
              </a:spcAft>
              <a:buClr>
                <a:schemeClr val="dk1"/>
              </a:buClr>
              <a:buSzPts val="1100"/>
              <a:buFont typeface="Calibri"/>
              <a:buChar char="●"/>
            </a:pPr>
            <a:r>
              <a:rPr lang="en" sz="1100" b="1">
                <a:solidFill>
                  <a:srgbClr val="FF0000"/>
                </a:solidFill>
                <a:latin typeface="Calibri"/>
                <a:ea typeface="Calibri"/>
                <a:cs typeface="Calibri"/>
                <a:sym typeface="Calibri"/>
              </a:rPr>
              <a:t>Call Translation:</a:t>
            </a:r>
            <a:r>
              <a:rPr lang="en" sz="1100">
                <a:solidFill>
                  <a:schemeClr val="dk1"/>
                </a:solidFill>
                <a:latin typeface="Calibri"/>
                <a:ea typeface="Calibri"/>
                <a:cs typeface="Calibri"/>
                <a:sym typeface="Calibri"/>
              </a:rPr>
              <a:t> Provides real-time bilingual subtitles during voice or video calls</a:t>
            </a:r>
            <a:endParaRPr sz="1100">
              <a:solidFill>
                <a:schemeClr val="dk1"/>
              </a:solidFill>
              <a:latin typeface="Calibri"/>
              <a:ea typeface="Calibri"/>
              <a:cs typeface="Calibri"/>
              <a:sym typeface="Calibri"/>
            </a:endParaRPr>
          </a:p>
        </p:txBody>
      </p:sp>
      <p:pic>
        <p:nvPicPr>
          <p:cNvPr id="215" name="Google Shape;215;p24"/>
          <p:cNvPicPr preferRelativeResize="0"/>
          <p:nvPr/>
        </p:nvPicPr>
        <p:blipFill>
          <a:blip r:embed="rId6" cstate="email">
            <a:alphaModFix/>
            <a:extLst>
              <a:ext uri="{28A0092B-C50C-407E-A947-70E740481C1C}">
                <a14:useLocalDpi xmlns:a14="http://schemas.microsoft.com/office/drawing/2010/main"/>
              </a:ext>
            </a:extLst>
          </a:blip>
          <a:stretch>
            <a:fillRect/>
          </a:stretch>
        </p:blipFill>
        <p:spPr>
          <a:xfrm>
            <a:off x="7775882" y="77525"/>
            <a:ext cx="1292767" cy="1203601"/>
          </a:xfrm>
          <a:prstGeom prst="rect">
            <a:avLst/>
          </a:prstGeom>
          <a:noFill/>
          <a:ln w="9525" cap="flat" cmpd="sng">
            <a:solidFill>
              <a:srgbClr val="FF0000"/>
            </a:solidFill>
            <a:prstDash val="solid"/>
            <a:round/>
            <a:headEnd type="none" w="sm" len="sm"/>
            <a:tailEnd type="none" w="sm" len="sm"/>
          </a:ln>
        </p:spPr>
      </p:pic>
      <p:sp>
        <p:nvSpPr>
          <p:cNvPr id="216" name="Google Shape;216;p24"/>
          <p:cNvSpPr txBox="1"/>
          <p:nvPr/>
        </p:nvSpPr>
        <p:spPr>
          <a:xfrm>
            <a:off x="55075" y="3866350"/>
            <a:ext cx="4976700" cy="12036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171450" marR="0" lvl="0" indent="-127000" algn="l" rtl="0">
              <a:lnSpc>
                <a:spcPct val="100000"/>
              </a:lnSpc>
              <a:spcBef>
                <a:spcPts val="0"/>
              </a:spcBef>
              <a:spcAft>
                <a:spcPts val="0"/>
              </a:spcAft>
              <a:buClr>
                <a:srgbClr val="FF0000"/>
              </a:buClr>
              <a:buSzPts val="1100"/>
              <a:buFont typeface="Calibri"/>
              <a:buChar char="●"/>
            </a:pPr>
            <a:r>
              <a:rPr lang="en" sz="1100" b="1">
                <a:solidFill>
                  <a:srgbClr val="FF0000"/>
                </a:solidFill>
                <a:latin typeface="Calibri"/>
                <a:ea typeface="Calibri"/>
                <a:cs typeface="Calibri"/>
                <a:sym typeface="Calibri"/>
              </a:rPr>
              <a:t>Real-ESRGAN - Open Source Image Restoration</a:t>
            </a:r>
            <a:endParaRPr sz="1100" b="1">
              <a:solidFill>
                <a:srgbClr val="FF0000"/>
              </a:solidFill>
              <a:latin typeface="Calibri"/>
              <a:ea typeface="Calibri"/>
              <a:cs typeface="Calibri"/>
              <a:sym typeface="Calibri"/>
            </a:endParaRPr>
          </a:p>
          <a:p>
            <a:pPr marL="171450" marR="0" lvl="0" indent="-127000" algn="l" rtl="0">
              <a:lnSpc>
                <a:spcPct val="100000"/>
              </a:lnSpc>
              <a:spcBef>
                <a:spcPts val="0"/>
              </a:spcBef>
              <a:spcAft>
                <a:spcPts val="0"/>
              </a:spcAft>
              <a:buClr>
                <a:schemeClr val="dk1"/>
              </a:buClr>
              <a:buSzPts val="1100"/>
              <a:buFont typeface="Calibri"/>
              <a:buChar char="●"/>
            </a:pPr>
            <a:r>
              <a:rPr lang="en" sz="1100">
                <a:solidFill>
                  <a:schemeClr val="dk1"/>
                </a:solidFill>
                <a:latin typeface="Calibri"/>
                <a:ea typeface="Calibri"/>
                <a:cs typeface="Calibri"/>
                <a:sym typeface="Calibri"/>
              </a:rPr>
              <a:t>AI used for upscaling and restoring degraded images</a:t>
            </a:r>
            <a:endParaRPr sz="1100">
              <a:solidFill>
                <a:schemeClr val="dk1"/>
              </a:solidFill>
              <a:latin typeface="Calibri"/>
              <a:ea typeface="Calibri"/>
              <a:cs typeface="Calibri"/>
              <a:sym typeface="Calibri"/>
            </a:endParaRPr>
          </a:p>
          <a:p>
            <a:pPr marL="171450" marR="0" lvl="0" indent="-127000" algn="l" rtl="0">
              <a:lnSpc>
                <a:spcPct val="100000"/>
              </a:lnSpc>
              <a:spcBef>
                <a:spcPts val="0"/>
              </a:spcBef>
              <a:spcAft>
                <a:spcPts val="0"/>
              </a:spcAft>
              <a:buClr>
                <a:schemeClr val="dk1"/>
              </a:buClr>
              <a:buSzPts val="1100"/>
              <a:buFont typeface="Calibri"/>
              <a:buChar char="●"/>
            </a:pPr>
            <a:r>
              <a:rPr lang="en" sz="1100">
                <a:solidFill>
                  <a:schemeClr val="dk1"/>
                </a:solidFill>
                <a:latin typeface="Calibri"/>
                <a:ea typeface="Calibri"/>
                <a:cs typeface="Calibri"/>
                <a:sym typeface="Calibri"/>
              </a:rPr>
              <a:t>It extends the ESRGAN model to handle real-world image problems like blur, noise, and compression artifacts using neural networks trained on synthetic data</a:t>
            </a:r>
            <a:endParaRPr sz="1100">
              <a:solidFill>
                <a:schemeClr val="dk1"/>
              </a:solidFill>
              <a:latin typeface="Calibri"/>
              <a:ea typeface="Calibri"/>
              <a:cs typeface="Calibri"/>
              <a:sym typeface="Calibri"/>
            </a:endParaRPr>
          </a:p>
          <a:p>
            <a:pPr marL="171450" marR="0" lvl="0" indent="-127000" algn="l" rtl="0">
              <a:lnSpc>
                <a:spcPct val="100000"/>
              </a:lnSpc>
              <a:spcBef>
                <a:spcPts val="0"/>
              </a:spcBef>
              <a:spcAft>
                <a:spcPts val="0"/>
              </a:spcAft>
              <a:buClr>
                <a:schemeClr val="dk1"/>
              </a:buClr>
              <a:buSzPts val="1100"/>
              <a:buFont typeface="Calibri"/>
              <a:buChar char="●"/>
            </a:pPr>
            <a:r>
              <a:rPr lang="en" sz="1100">
                <a:solidFill>
                  <a:schemeClr val="dk1"/>
                </a:solidFill>
                <a:latin typeface="Calibri"/>
                <a:ea typeface="Calibri"/>
                <a:cs typeface="Calibri"/>
                <a:sym typeface="Calibri"/>
              </a:rPr>
              <a:t>The project supports various applications including photo restoration, video enhancement, and specialized face enhancement through GFPGAN integration.​</a:t>
            </a:r>
            <a:endParaRPr sz="1100">
              <a:solidFill>
                <a:schemeClr val="dk1"/>
              </a:solidFill>
              <a:latin typeface="Calibri"/>
              <a:ea typeface="Calibri"/>
              <a:cs typeface="Calibri"/>
              <a:sym typeface="Calibri"/>
            </a:endParaRPr>
          </a:p>
          <a:p>
            <a:pPr marL="171450" marR="0" lvl="0" indent="-127000" algn="l" rtl="0">
              <a:lnSpc>
                <a:spcPct val="100000"/>
              </a:lnSpc>
              <a:spcBef>
                <a:spcPts val="0"/>
              </a:spcBef>
              <a:spcAft>
                <a:spcPts val="0"/>
              </a:spcAft>
              <a:buClr>
                <a:schemeClr val="dk1"/>
              </a:buClr>
              <a:buSzPts val="1100"/>
              <a:buFont typeface="Calibri"/>
              <a:buChar char="●"/>
            </a:pPr>
            <a:r>
              <a:rPr lang="en" sz="1100" u="sng">
                <a:solidFill>
                  <a:schemeClr val="hlink"/>
                </a:solidFill>
                <a:latin typeface="Calibri"/>
                <a:ea typeface="Calibri"/>
                <a:cs typeface="Calibri"/>
                <a:sym typeface="Calibri"/>
                <a:hlinkClick r:id="rId7"/>
              </a:rPr>
              <a:t>https://github.com/xinntao/Real-ESRGAN/blob/master/assets/teaser.jpg</a:t>
            </a:r>
            <a:r>
              <a:rPr lang="en" sz="1100">
                <a:solidFill>
                  <a:schemeClr val="dk1"/>
                </a:solidFill>
                <a:latin typeface="Calibri"/>
                <a:ea typeface="Calibri"/>
                <a:cs typeface="Calibri"/>
                <a:sym typeface="Calibri"/>
              </a:rPr>
              <a:t> </a:t>
            </a:r>
            <a:endParaRPr sz="1100">
              <a:solidFill>
                <a:schemeClr val="dk1"/>
              </a:solidFill>
              <a:latin typeface="Calibri"/>
              <a:ea typeface="Calibri"/>
              <a:cs typeface="Calibri"/>
              <a:sym typeface="Calibri"/>
            </a:endParaRPr>
          </a:p>
        </p:txBody>
      </p:sp>
      <p:pic>
        <p:nvPicPr>
          <p:cNvPr id="217" name="Google Shape;217;p24"/>
          <p:cNvPicPr preferRelativeResize="0"/>
          <p:nvPr/>
        </p:nvPicPr>
        <p:blipFill rotWithShape="1">
          <a:blip r:embed="rId8" cstate="email">
            <a:alphaModFix/>
            <a:extLst>
              <a:ext uri="{28A0092B-C50C-407E-A947-70E740481C1C}">
                <a14:useLocalDpi xmlns:a14="http://schemas.microsoft.com/office/drawing/2010/main"/>
              </a:ext>
            </a:extLst>
          </a:blip>
          <a:srcRect/>
          <a:stretch/>
        </p:blipFill>
        <p:spPr>
          <a:xfrm>
            <a:off x="5073829" y="3981825"/>
            <a:ext cx="2822951" cy="972650"/>
          </a:xfrm>
          <a:prstGeom prst="rect">
            <a:avLst/>
          </a:prstGeom>
          <a:noFill/>
          <a:ln w="9525" cap="flat" cmpd="sng">
            <a:solidFill>
              <a:srgbClr val="FF0000"/>
            </a:solidFill>
            <a:prstDash val="solid"/>
            <a:round/>
            <a:headEnd type="none" w="sm" len="sm"/>
            <a:tailEnd type="none" w="sm" len="sm"/>
          </a:ln>
        </p:spPr>
      </p:pic>
      <p:pic>
        <p:nvPicPr>
          <p:cNvPr id="218" name="Google Shape;218;p24"/>
          <p:cNvPicPr preferRelativeResize="0"/>
          <p:nvPr/>
        </p:nvPicPr>
        <p:blipFill>
          <a:blip r:embed="rId9" cstate="email">
            <a:alphaModFix/>
            <a:extLst>
              <a:ext uri="{28A0092B-C50C-407E-A947-70E740481C1C}">
                <a14:useLocalDpi xmlns:a14="http://schemas.microsoft.com/office/drawing/2010/main"/>
              </a:ext>
            </a:extLst>
          </a:blip>
          <a:stretch>
            <a:fillRect/>
          </a:stretch>
        </p:blipFill>
        <p:spPr>
          <a:xfrm>
            <a:off x="4239438" y="665366"/>
            <a:ext cx="1203601" cy="1203601"/>
          </a:xfrm>
          <a:prstGeom prst="rect">
            <a:avLst/>
          </a:prstGeom>
          <a:noFill/>
          <a:ln w="9525" cap="flat" cmpd="sng">
            <a:solidFill>
              <a:srgbClr val="FF0000"/>
            </a:solidFill>
            <a:prstDash val="solid"/>
            <a:round/>
            <a:headEnd type="none" w="sm" len="sm"/>
            <a:tailEnd type="none" w="sm" len="sm"/>
          </a:ln>
        </p:spPr>
      </p:pic>
      <p:pic>
        <p:nvPicPr>
          <p:cNvPr id="219" name="Google Shape;219;p24"/>
          <p:cNvPicPr preferRelativeResize="0"/>
          <p:nvPr/>
        </p:nvPicPr>
        <p:blipFill>
          <a:blip r:embed="rId10" cstate="email">
            <a:alphaModFix/>
            <a:extLst>
              <a:ext uri="{28A0092B-C50C-407E-A947-70E740481C1C}">
                <a14:useLocalDpi xmlns:a14="http://schemas.microsoft.com/office/drawing/2010/main"/>
              </a:ext>
            </a:extLst>
          </a:blip>
          <a:stretch>
            <a:fillRect/>
          </a:stretch>
        </p:blipFill>
        <p:spPr>
          <a:xfrm>
            <a:off x="4239444" y="78141"/>
            <a:ext cx="2497975" cy="507625"/>
          </a:xfrm>
          <a:prstGeom prst="rect">
            <a:avLst/>
          </a:prstGeom>
          <a:noFill/>
          <a:ln w="9525" cap="flat" cmpd="sng">
            <a:solidFill>
              <a:srgbClr val="FF0000"/>
            </a:solidFill>
            <a:prstDash val="solid"/>
            <a:round/>
            <a:headEnd type="none" w="sm" len="sm"/>
            <a:tailEnd type="none" w="sm" len="sm"/>
          </a:ln>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223"/>
        <p:cNvGrpSpPr/>
        <p:nvPr/>
      </p:nvGrpSpPr>
      <p:grpSpPr>
        <a:xfrm>
          <a:off x="0" y="0"/>
          <a:ext cx="0" cy="0"/>
          <a:chOff x="0" y="0"/>
          <a:chExt cx="0" cy="0"/>
        </a:xfrm>
      </p:grpSpPr>
      <p:sp>
        <p:nvSpPr>
          <p:cNvPr id="224" name="Google Shape;224;p25"/>
          <p:cNvSpPr txBox="1"/>
          <p:nvPr/>
        </p:nvSpPr>
        <p:spPr>
          <a:xfrm>
            <a:off x="55075" y="20375"/>
            <a:ext cx="4444500" cy="326400"/>
          </a:xfrm>
          <a:prstGeom prst="rect">
            <a:avLst/>
          </a:prstGeom>
          <a:noFill/>
          <a:ln>
            <a:noFill/>
          </a:ln>
        </p:spPr>
        <p:txBody>
          <a:bodyPr spcFirstLastPara="1" wrap="square" lIns="9125" tIns="9125" rIns="9125" bIns="9125" anchor="t" anchorCtr="0">
            <a:spAutoFit/>
          </a:bodyPr>
          <a:lstStyle/>
          <a:p>
            <a:pPr marL="0" marR="0" lvl="0" indent="0" algn="l" rtl="0">
              <a:lnSpc>
                <a:spcPct val="100000"/>
              </a:lnSpc>
              <a:spcBef>
                <a:spcPts val="0"/>
              </a:spcBef>
              <a:spcAft>
                <a:spcPts val="0"/>
              </a:spcAft>
              <a:buClr>
                <a:schemeClr val="dk1"/>
              </a:buClr>
              <a:buSzPts val="1100"/>
              <a:buFont typeface="Arial"/>
              <a:buNone/>
            </a:pPr>
            <a:r>
              <a:rPr lang="en" sz="2000" b="1">
                <a:solidFill>
                  <a:schemeClr val="dk1"/>
                </a:solidFill>
                <a:latin typeface="Calibri"/>
                <a:ea typeface="Calibri"/>
                <a:cs typeface="Calibri"/>
                <a:sym typeface="Calibri"/>
              </a:rPr>
              <a:t>NVIDIA NVQLink open architecture</a:t>
            </a:r>
            <a:endParaRPr sz="2000" b="1">
              <a:solidFill>
                <a:schemeClr val="dk1"/>
              </a:solidFill>
              <a:latin typeface="Calibri"/>
              <a:ea typeface="Calibri"/>
              <a:cs typeface="Calibri"/>
              <a:sym typeface="Calibri"/>
            </a:endParaRPr>
          </a:p>
        </p:txBody>
      </p:sp>
      <p:sp>
        <p:nvSpPr>
          <p:cNvPr id="225" name="Google Shape;225;p25"/>
          <p:cNvSpPr txBox="1"/>
          <p:nvPr/>
        </p:nvSpPr>
        <p:spPr>
          <a:xfrm>
            <a:off x="55075" y="466747"/>
            <a:ext cx="4444500" cy="38511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171450" marR="0" lvl="0" indent="-127000" algn="l" rtl="0">
              <a:lnSpc>
                <a:spcPct val="100000"/>
              </a:lnSpc>
              <a:spcBef>
                <a:spcPts val="0"/>
              </a:spcBef>
              <a:spcAft>
                <a:spcPts val="0"/>
              </a:spcAft>
              <a:buClr>
                <a:srgbClr val="FF0000"/>
              </a:buClr>
              <a:buSzPts val="1100"/>
              <a:buFont typeface="Calibri"/>
              <a:buChar char="●"/>
            </a:pPr>
            <a:r>
              <a:rPr lang="en" sz="1100" b="1">
                <a:solidFill>
                  <a:srgbClr val="FF0000"/>
                </a:solidFill>
                <a:latin typeface="Calibri"/>
                <a:ea typeface="Calibri"/>
                <a:cs typeface="Calibri"/>
                <a:sym typeface="Calibri"/>
              </a:rPr>
              <a:t>NVIDIA announced NVQLink open architecture</a:t>
            </a:r>
            <a:endParaRPr sz="1100" b="1">
              <a:solidFill>
                <a:srgbClr val="FF0000"/>
              </a:solidFill>
              <a:latin typeface="Calibri"/>
              <a:ea typeface="Calibri"/>
              <a:cs typeface="Calibri"/>
              <a:sym typeface="Calibri"/>
            </a:endParaRPr>
          </a:p>
          <a:p>
            <a:pPr marL="171450" marR="0" lvl="0" indent="-127000" algn="l" rtl="0">
              <a:lnSpc>
                <a:spcPct val="100000"/>
              </a:lnSpc>
              <a:spcBef>
                <a:spcPts val="0"/>
              </a:spcBef>
              <a:spcAft>
                <a:spcPts val="0"/>
              </a:spcAft>
              <a:buClr>
                <a:schemeClr val="dk1"/>
              </a:buClr>
              <a:buSzPts val="1100"/>
              <a:buFont typeface="Calibri"/>
              <a:buChar char="●"/>
            </a:pPr>
            <a:r>
              <a:rPr lang="en" sz="1100">
                <a:solidFill>
                  <a:schemeClr val="dk1"/>
                </a:solidFill>
                <a:latin typeface="Calibri"/>
                <a:ea typeface="Calibri"/>
                <a:cs typeface="Calibri"/>
                <a:sym typeface="Calibri"/>
              </a:rPr>
              <a:t>NVQLink is </a:t>
            </a:r>
            <a:r>
              <a:rPr lang="en" sz="1100" b="1">
                <a:solidFill>
                  <a:srgbClr val="3C78D8"/>
                </a:solidFill>
                <a:latin typeface="Calibri"/>
                <a:ea typeface="Calibri"/>
                <a:cs typeface="Calibri"/>
                <a:sym typeface="Calibri"/>
              </a:rPr>
              <a:t>connecting quantum processors directly to GPU</a:t>
            </a:r>
            <a:r>
              <a:rPr lang="en" sz="1100">
                <a:solidFill>
                  <a:schemeClr val="dk1"/>
                </a:solidFill>
                <a:latin typeface="Calibri"/>
                <a:ea typeface="Calibri"/>
                <a:cs typeface="Calibri"/>
                <a:sym typeface="Calibri"/>
              </a:rPr>
              <a:t> supercomputers for hybrid quantum-classical computing</a:t>
            </a:r>
            <a:endParaRPr sz="1100">
              <a:solidFill>
                <a:schemeClr val="dk1"/>
              </a:solidFill>
              <a:latin typeface="Calibri"/>
              <a:ea typeface="Calibri"/>
              <a:cs typeface="Calibri"/>
              <a:sym typeface="Calibri"/>
            </a:endParaRPr>
          </a:p>
          <a:p>
            <a:pPr marL="171450" marR="0" lvl="0" indent="-127000" algn="l" rtl="0">
              <a:lnSpc>
                <a:spcPct val="100000"/>
              </a:lnSpc>
              <a:spcBef>
                <a:spcPts val="0"/>
              </a:spcBef>
              <a:spcAft>
                <a:spcPts val="0"/>
              </a:spcAft>
              <a:buClr>
                <a:schemeClr val="dk1"/>
              </a:buClr>
              <a:buSzPts val="1100"/>
              <a:buFont typeface="Calibri"/>
              <a:buChar char="●"/>
            </a:pPr>
            <a:r>
              <a:rPr lang="en" sz="1100">
                <a:solidFill>
                  <a:schemeClr val="dk1"/>
                </a:solidFill>
                <a:latin typeface="Calibri"/>
                <a:ea typeface="Calibri"/>
                <a:cs typeface="Calibri"/>
                <a:sym typeface="Calibri"/>
              </a:rPr>
              <a:t>The system enables microsecond-latency communication between quantum processing units and NVIDIA GPUs, allowing real-time error correction and control of fragile quantum systems</a:t>
            </a:r>
            <a:endParaRPr sz="1100">
              <a:solidFill>
                <a:schemeClr val="dk1"/>
              </a:solidFill>
              <a:latin typeface="Calibri"/>
              <a:ea typeface="Calibri"/>
              <a:cs typeface="Calibri"/>
              <a:sym typeface="Calibri"/>
            </a:endParaRPr>
          </a:p>
          <a:p>
            <a:pPr marL="171450" marR="0" lvl="0" indent="-127000" algn="l" rtl="0">
              <a:lnSpc>
                <a:spcPct val="100000"/>
              </a:lnSpc>
              <a:spcBef>
                <a:spcPts val="0"/>
              </a:spcBef>
              <a:spcAft>
                <a:spcPts val="0"/>
              </a:spcAft>
              <a:buClr>
                <a:schemeClr val="dk1"/>
              </a:buClr>
              <a:buSzPts val="1100"/>
              <a:buFont typeface="Calibri"/>
              <a:buChar char="●"/>
            </a:pPr>
            <a:r>
              <a:rPr lang="en" sz="1100" b="1">
                <a:solidFill>
                  <a:srgbClr val="3C78D8"/>
                </a:solidFill>
                <a:latin typeface="Calibri"/>
                <a:ea typeface="Calibri"/>
                <a:cs typeface="Calibri"/>
                <a:sym typeface="Calibri"/>
              </a:rPr>
              <a:t>Announced at GTC in October 2025</a:t>
            </a:r>
            <a:r>
              <a:rPr lang="en" sz="1100">
                <a:solidFill>
                  <a:schemeClr val="dk1"/>
                </a:solidFill>
                <a:latin typeface="Calibri"/>
                <a:ea typeface="Calibri"/>
                <a:cs typeface="Calibri"/>
                <a:sym typeface="Calibri"/>
              </a:rPr>
              <a:t>. </a:t>
            </a:r>
            <a:r>
              <a:rPr lang="en" sz="1100" b="1">
                <a:solidFill>
                  <a:srgbClr val="6AA84F"/>
                </a:solidFill>
                <a:latin typeface="Calibri"/>
                <a:ea typeface="Calibri"/>
                <a:cs typeface="Calibri"/>
                <a:sym typeface="Calibri"/>
              </a:rPr>
              <a:t>More than a dozen additional supercomputing centers</a:t>
            </a:r>
            <a:r>
              <a:rPr lang="en" sz="1100">
                <a:solidFill>
                  <a:schemeClr val="dk1"/>
                </a:solidFill>
                <a:latin typeface="Calibri"/>
                <a:ea typeface="Calibri"/>
                <a:cs typeface="Calibri"/>
                <a:sym typeface="Calibri"/>
              </a:rPr>
              <a:t> and national research institutions from Asia and Europe are now adopting NVQLink</a:t>
            </a:r>
            <a:endParaRPr sz="1100">
              <a:solidFill>
                <a:schemeClr val="dk1"/>
              </a:solidFill>
              <a:latin typeface="Calibri"/>
              <a:ea typeface="Calibri"/>
              <a:cs typeface="Calibri"/>
              <a:sym typeface="Calibri"/>
            </a:endParaRPr>
          </a:p>
          <a:p>
            <a:pPr marL="171450" marR="0" lvl="0" indent="-127000" algn="l" rtl="0">
              <a:lnSpc>
                <a:spcPct val="100000"/>
              </a:lnSpc>
              <a:spcBef>
                <a:spcPts val="0"/>
              </a:spcBef>
              <a:spcAft>
                <a:spcPts val="0"/>
              </a:spcAft>
              <a:buClr>
                <a:schemeClr val="dk1"/>
              </a:buClr>
              <a:buSzPts val="1100"/>
              <a:buFont typeface="Calibri"/>
              <a:buChar char="●"/>
            </a:pPr>
            <a:r>
              <a:rPr lang="en" sz="1100">
                <a:solidFill>
                  <a:schemeClr val="dk1"/>
                </a:solidFill>
                <a:latin typeface="Calibri"/>
                <a:ea typeface="Calibri"/>
                <a:cs typeface="Calibri"/>
                <a:sym typeface="Calibri"/>
              </a:rPr>
              <a:t>NVQLink addresses quantum computing's major challenge: qubits are extremely fragile and error-prone, requiring constant monitoring and correction by AI-powered classical computers</a:t>
            </a:r>
            <a:endParaRPr sz="1100">
              <a:solidFill>
                <a:schemeClr val="dk1"/>
              </a:solidFill>
              <a:latin typeface="Calibri"/>
              <a:ea typeface="Calibri"/>
              <a:cs typeface="Calibri"/>
              <a:sym typeface="Calibri"/>
            </a:endParaRPr>
          </a:p>
          <a:p>
            <a:pPr marL="171450" marR="0" lvl="0" indent="-127000" algn="l" rtl="0">
              <a:lnSpc>
                <a:spcPct val="100000"/>
              </a:lnSpc>
              <a:spcBef>
                <a:spcPts val="0"/>
              </a:spcBef>
              <a:spcAft>
                <a:spcPts val="0"/>
              </a:spcAft>
              <a:buClr>
                <a:schemeClr val="dk1"/>
              </a:buClr>
              <a:buSzPts val="1100"/>
              <a:buFont typeface="Calibri"/>
              <a:buChar char="●"/>
            </a:pPr>
            <a:r>
              <a:rPr lang="en" sz="1100">
                <a:solidFill>
                  <a:schemeClr val="dk1"/>
                </a:solidFill>
                <a:latin typeface="Calibri"/>
                <a:ea typeface="Calibri"/>
                <a:cs typeface="Calibri"/>
                <a:sym typeface="Calibri"/>
              </a:rPr>
              <a:t>The platform supports up to 400 Gbps throughput with sub-4-microsecond latency, enabling practical quantum error correction</a:t>
            </a:r>
            <a:endParaRPr sz="1100">
              <a:solidFill>
                <a:schemeClr val="dk1"/>
              </a:solidFill>
              <a:latin typeface="Calibri"/>
              <a:ea typeface="Calibri"/>
              <a:cs typeface="Calibri"/>
              <a:sym typeface="Calibri"/>
            </a:endParaRPr>
          </a:p>
          <a:p>
            <a:pPr marL="171450" marR="0" lvl="0" indent="-127000" algn="l" rtl="0">
              <a:lnSpc>
                <a:spcPct val="100000"/>
              </a:lnSpc>
              <a:spcBef>
                <a:spcPts val="0"/>
              </a:spcBef>
              <a:spcAft>
                <a:spcPts val="0"/>
              </a:spcAft>
              <a:buClr>
                <a:schemeClr val="dk1"/>
              </a:buClr>
              <a:buSzPts val="1100"/>
              <a:buFont typeface="Calibri"/>
              <a:buChar char="●"/>
            </a:pPr>
            <a:r>
              <a:rPr lang="en" sz="1100" b="1">
                <a:solidFill>
                  <a:srgbClr val="3C78D8"/>
                </a:solidFill>
                <a:latin typeface="Calibri"/>
                <a:ea typeface="Calibri"/>
                <a:cs typeface="Calibri"/>
                <a:sym typeface="Calibri"/>
              </a:rPr>
              <a:t>Seventeen quantum hardware companies and nine major U.S. national laboratories are participating,</a:t>
            </a:r>
            <a:r>
              <a:rPr lang="en" sz="1100">
                <a:solidFill>
                  <a:schemeClr val="dk1"/>
                </a:solidFill>
                <a:latin typeface="Calibri"/>
                <a:ea typeface="Calibri"/>
                <a:cs typeface="Calibri"/>
                <a:sym typeface="Calibri"/>
              </a:rPr>
              <a:t> positioning NVQLink as infrastructure for future quantum-GPU hybrid supercomputers</a:t>
            </a:r>
            <a:endParaRPr sz="1100">
              <a:solidFill>
                <a:schemeClr val="dk1"/>
              </a:solidFill>
              <a:latin typeface="Calibri"/>
              <a:ea typeface="Calibri"/>
              <a:cs typeface="Calibri"/>
              <a:sym typeface="Calibri"/>
            </a:endParaRPr>
          </a:p>
          <a:p>
            <a:pPr marL="171450" marR="0" lvl="0" indent="-127000" algn="l" rtl="0">
              <a:lnSpc>
                <a:spcPct val="100000"/>
              </a:lnSpc>
              <a:spcBef>
                <a:spcPts val="0"/>
              </a:spcBef>
              <a:spcAft>
                <a:spcPts val="0"/>
              </a:spcAft>
              <a:buClr>
                <a:schemeClr val="dk1"/>
              </a:buClr>
              <a:buSzPts val="1100"/>
              <a:buFont typeface="Calibri"/>
              <a:buChar char="●"/>
            </a:pPr>
            <a:r>
              <a:rPr lang="en" sz="1100" b="1">
                <a:solidFill>
                  <a:srgbClr val="3C78D8"/>
                </a:solidFill>
                <a:latin typeface="Calibri"/>
                <a:ea typeface="Calibri"/>
                <a:cs typeface="Calibri"/>
                <a:sym typeface="Calibri"/>
              </a:rPr>
              <a:t>CEO Jensen Huang called it the "Rosetta Stone" of computing</a:t>
            </a:r>
            <a:r>
              <a:rPr lang="en" sz="1100">
                <a:solidFill>
                  <a:schemeClr val="dk1"/>
                </a:solidFill>
                <a:latin typeface="Calibri"/>
                <a:ea typeface="Calibri"/>
                <a:cs typeface="Calibri"/>
                <a:sym typeface="Calibri"/>
              </a:rPr>
              <a:t>, predicting all future supercomputers will combine quantum processors with GPUs</a:t>
            </a:r>
            <a:endParaRPr sz="1100">
              <a:solidFill>
                <a:schemeClr val="dk1"/>
              </a:solidFill>
              <a:latin typeface="Calibri"/>
              <a:ea typeface="Calibri"/>
              <a:cs typeface="Calibri"/>
              <a:sym typeface="Calibri"/>
            </a:endParaRPr>
          </a:p>
          <a:p>
            <a:pPr marL="171450" marR="0" lvl="0" indent="-127000" algn="l" rtl="0">
              <a:lnSpc>
                <a:spcPct val="100000"/>
              </a:lnSpc>
              <a:spcBef>
                <a:spcPts val="0"/>
              </a:spcBef>
              <a:spcAft>
                <a:spcPts val="0"/>
              </a:spcAft>
              <a:buClr>
                <a:schemeClr val="dk1"/>
              </a:buClr>
              <a:buSzPts val="1100"/>
              <a:buFont typeface="Calibri"/>
              <a:buChar char="●"/>
            </a:pPr>
            <a:r>
              <a:rPr lang="en" sz="1100">
                <a:solidFill>
                  <a:schemeClr val="dk1"/>
                </a:solidFill>
                <a:latin typeface="Calibri"/>
                <a:ea typeface="Calibri"/>
                <a:cs typeface="Calibri"/>
                <a:sym typeface="Calibri"/>
              </a:rPr>
              <a:t>Applications include drug discovery, climate modeling, materials science, and training more powerful AI models</a:t>
            </a:r>
            <a:endParaRPr sz="1100">
              <a:solidFill>
                <a:schemeClr val="dk1"/>
              </a:solidFill>
              <a:latin typeface="Calibri"/>
              <a:ea typeface="Calibri"/>
              <a:cs typeface="Calibri"/>
              <a:sym typeface="Calibri"/>
            </a:endParaRPr>
          </a:p>
          <a:p>
            <a:pPr marL="171450" marR="0" lvl="0" indent="-114300" algn="l" rtl="0">
              <a:lnSpc>
                <a:spcPct val="100000"/>
              </a:lnSpc>
              <a:spcBef>
                <a:spcPts val="0"/>
              </a:spcBef>
              <a:spcAft>
                <a:spcPts val="0"/>
              </a:spcAft>
              <a:buClr>
                <a:schemeClr val="dk1"/>
              </a:buClr>
              <a:buSzPts val="900"/>
              <a:buFont typeface="Calibri"/>
              <a:buChar char="●"/>
            </a:pPr>
            <a:r>
              <a:rPr lang="en" sz="900" u="sng">
                <a:solidFill>
                  <a:schemeClr val="hlink"/>
                </a:solidFill>
                <a:latin typeface="Calibri"/>
                <a:ea typeface="Calibri"/>
                <a:cs typeface="Calibri"/>
                <a:sym typeface="Calibri"/>
                <a:hlinkClick r:id="rId3"/>
              </a:rPr>
              <a:t>https://www.youtube.com/watch?v=myx3De15iJY</a:t>
            </a:r>
            <a:r>
              <a:rPr lang="en" sz="900">
                <a:solidFill>
                  <a:schemeClr val="dk1"/>
                </a:solidFill>
                <a:latin typeface="Calibri"/>
                <a:ea typeface="Calibri"/>
                <a:cs typeface="Calibri"/>
                <a:sym typeface="Calibri"/>
              </a:rPr>
              <a:t> </a:t>
            </a:r>
            <a:endParaRPr sz="900">
              <a:solidFill>
                <a:schemeClr val="dk1"/>
              </a:solidFill>
              <a:latin typeface="Calibri"/>
              <a:ea typeface="Calibri"/>
              <a:cs typeface="Calibri"/>
              <a:sym typeface="Calibri"/>
            </a:endParaRPr>
          </a:p>
          <a:p>
            <a:pPr marL="171450" marR="0" lvl="0" indent="-114300" algn="l" rtl="0">
              <a:lnSpc>
                <a:spcPct val="100000"/>
              </a:lnSpc>
              <a:spcBef>
                <a:spcPts val="0"/>
              </a:spcBef>
              <a:spcAft>
                <a:spcPts val="0"/>
              </a:spcAft>
              <a:buClr>
                <a:schemeClr val="dk1"/>
              </a:buClr>
              <a:buSzPts val="900"/>
              <a:buFont typeface="Calibri"/>
              <a:buChar char="●"/>
            </a:pPr>
            <a:r>
              <a:rPr lang="en" sz="900" u="sng">
                <a:solidFill>
                  <a:schemeClr val="hlink"/>
                </a:solidFill>
                <a:latin typeface="Calibri"/>
                <a:ea typeface="Calibri"/>
                <a:cs typeface="Calibri"/>
                <a:sym typeface="Calibri"/>
                <a:hlinkClick r:id="rId4"/>
              </a:rPr>
              <a:t>https://nvidianews.nvidia.com/news/nvidia-nvqlink-quantum-gpu-computing</a:t>
            </a:r>
            <a:r>
              <a:rPr lang="en" sz="900">
                <a:solidFill>
                  <a:schemeClr val="dk1"/>
                </a:solidFill>
                <a:latin typeface="Calibri"/>
                <a:ea typeface="Calibri"/>
                <a:cs typeface="Calibri"/>
                <a:sym typeface="Calibri"/>
              </a:rPr>
              <a:t> </a:t>
            </a:r>
            <a:endParaRPr sz="900">
              <a:solidFill>
                <a:schemeClr val="dk1"/>
              </a:solidFill>
              <a:latin typeface="Calibri"/>
              <a:ea typeface="Calibri"/>
              <a:cs typeface="Calibri"/>
              <a:sym typeface="Calibri"/>
            </a:endParaRPr>
          </a:p>
        </p:txBody>
      </p:sp>
      <p:pic>
        <p:nvPicPr>
          <p:cNvPr id="226" name="Google Shape;226;p25"/>
          <p:cNvPicPr preferRelativeResize="0"/>
          <p:nvPr/>
        </p:nvPicPr>
        <p:blipFill>
          <a:blip r:embed="rId5" cstate="email">
            <a:alphaModFix/>
            <a:extLst>
              <a:ext uri="{28A0092B-C50C-407E-A947-70E740481C1C}">
                <a14:useLocalDpi xmlns:a14="http://schemas.microsoft.com/office/drawing/2010/main"/>
              </a:ext>
            </a:extLst>
          </a:blip>
          <a:stretch>
            <a:fillRect/>
          </a:stretch>
        </p:blipFill>
        <p:spPr>
          <a:xfrm>
            <a:off x="4685521" y="466750"/>
            <a:ext cx="4339627" cy="2474488"/>
          </a:xfrm>
          <a:prstGeom prst="rect">
            <a:avLst/>
          </a:prstGeom>
          <a:noFill/>
          <a:ln w="9525" cap="flat" cmpd="sng">
            <a:solidFill>
              <a:srgbClr val="FF0000"/>
            </a:solidFill>
            <a:prstDash val="solid"/>
            <a:round/>
            <a:headEnd type="none" w="sm" len="sm"/>
            <a:tailEnd type="none" w="sm" len="sm"/>
          </a:ln>
        </p:spPr>
      </p:pic>
      <p:sp>
        <p:nvSpPr>
          <p:cNvPr id="227" name="Google Shape;227;p25"/>
          <p:cNvSpPr txBox="1"/>
          <p:nvPr/>
        </p:nvSpPr>
        <p:spPr>
          <a:xfrm>
            <a:off x="4685525" y="3083250"/>
            <a:ext cx="4339500" cy="13731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171450" marR="0" lvl="0" indent="-114300" algn="l" rtl="0">
              <a:lnSpc>
                <a:spcPct val="100000"/>
              </a:lnSpc>
              <a:spcBef>
                <a:spcPts val="0"/>
              </a:spcBef>
              <a:spcAft>
                <a:spcPts val="0"/>
              </a:spcAft>
              <a:buClr>
                <a:schemeClr val="dk1"/>
              </a:buClr>
              <a:buSzPts val="900"/>
              <a:buFont typeface="Calibri"/>
              <a:buChar char="●"/>
            </a:pPr>
            <a:r>
              <a:rPr lang="en" sz="1100">
                <a:solidFill>
                  <a:schemeClr val="dk1"/>
                </a:solidFill>
                <a:latin typeface="Calibri"/>
                <a:ea typeface="Calibri"/>
                <a:cs typeface="Calibri"/>
                <a:sym typeface="Calibri"/>
              </a:rPr>
              <a:t>In practice, quantum computers are expected to be practical for "big compute on small data" - problems where the algorithmic depth and interference structure are complex but the final measurement output is small</a:t>
            </a:r>
            <a:endParaRPr sz="1100">
              <a:solidFill>
                <a:schemeClr val="dk1"/>
              </a:solidFill>
              <a:latin typeface="Calibri"/>
              <a:ea typeface="Calibri"/>
              <a:cs typeface="Calibri"/>
              <a:sym typeface="Calibri"/>
            </a:endParaRPr>
          </a:p>
          <a:p>
            <a:pPr marL="171450" marR="0" lvl="0" indent="-114300" algn="l" rtl="0">
              <a:lnSpc>
                <a:spcPct val="100000"/>
              </a:lnSpc>
              <a:spcBef>
                <a:spcPts val="0"/>
              </a:spcBef>
              <a:spcAft>
                <a:spcPts val="0"/>
              </a:spcAft>
              <a:buClr>
                <a:schemeClr val="dk1"/>
              </a:buClr>
              <a:buSzPts val="900"/>
              <a:buFont typeface="Calibri"/>
              <a:buChar char="●"/>
            </a:pPr>
            <a:r>
              <a:rPr lang="en" sz="1100">
                <a:solidFill>
                  <a:schemeClr val="dk1"/>
                </a:solidFill>
                <a:latin typeface="Calibri"/>
                <a:ea typeface="Calibri"/>
                <a:cs typeface="Calibri"/>
                <a:sym typeface="Calibri"/>
              </a:rPr>
              <a:t>GPUs remain better for "big data" problems that parallelize classically</a:t>
            </a:r>
            <a:endParaRPr sz="1100">
              <a:solidFill>
                <a:schemeClr val="dk1"/>
              </a:solidFill>
              <a:latin typeface="Calibri"/>
              <a:ea typeface="Calibri"/>
              <a:cs typeface="Calibri"/>
              <a:sym typeface="Calibri"/>
            </a:endParaRPr>
          </a:p>
          <a:p>
            <a:pPr marL="171450" marR="0" lvl="0" indent="-127000" algn="l" rtl="0">
              <a:lnSpc>
                <a:spcPct val="100000"/>
              </a:lnSpc>
              <a:spcBef>
                <a:spcPts val="0"/>
              </a:spcBef>
              <a:spcAft>
                <a:spcPts val="0"/>
              </a:spcAft>
              <a:buClr>
                <a:schemeClr val="dk1"/>
              </a:buClr>
              <a:buSzPts val="1100"/>
              <a:buFont typeface="Calibri"/>
              <a:buChar char="●"/>
            </a:pPr>
            <a:r>
              <a:rPr lang="en" sz="1100">
                <a:solidFill>
                  <a:schemeClr val="dk1"/>
                </a:solidFill>
                <a:latin typeface="Calibri"/>
                <a:ea typeface="Calibri"/>
                <a:cs typeface="Calibri"/>
                <a:sym typeface="Calibri"/>
              </a:rPr>
              <a:t>Cryptography (RSA/ECC factoring), quantum chemistry simulation, and certain machine‑learning kernels are prime candidates for exponential quantum advantage</a:t>
            </a:r>
            <a:endParaRPr sz="1100">
              <a:solidFill>
                <a:schemeClr val="dk1"/>
              </a:solidFill>
              <a:latin typeface="Calibri"/>
              <a:ea typeface="Calibri"/>
              <a:cs typeface="Calibri"/>
              <a:sym typeface="Calibri"/>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231"/>
        <p:cNvGrpSpPr/>
        <p:nvPr/>
      </p:nvGrpSpPr>
      <p:grpSpPr>
        <a:xfrm>
          <a:off x="0" y="0"/>
          <a:ext cx="0" cy="0"/>
          <a:chOff x="0" y="0"/>
          <a:chExt cx="0" cy="0"/>
        </a:xfrm>
      </p:grpSpPr>
      <p:sp>
        <p:nvSpPr>
          <p:cNvPr id="232" name="Google Shape;232;p26"/>
          <p:cNvSpPr txBox="1"/>
          <p:nvPr/>
        </p:nvSpPr>
        <p:spPr>
          <a:xfrm>
            <a:off x="55075" y="20375"/>
            <a:ext cx="3467100" cy="326400"/>
          </a:xfrm>
          <a:prstGeom prst="rect">
            <a:avLst/>
          </a:prstGeom>
          <a:noFill/>
          <a:ln>
            <a:noFill/>
          </a:ln>
        </p:spPr>
        <p:txBody>
          <a:bodyPr spcFirstLastPara="1" wrap="square" lIns="9125" tIns="9125" rIns="9125" bIns="9125" anchor="t" anchorCtr="0">
            <a:spAutoFit/>
          </a:bodyPr>
          <a:lstStyle/>
          <a:p>
            <a:pPr marL="0" marR="0" lvl="0" indent="0" algn="l" rtl="0">
              <a:lnSpc>
                <a:spcPct val="100000"/>
              </a:lnSpc>
              <a:spcBef>
                <a:spcPts val="0"/>
              </a:spcBef>
              <a:spcAft>
                <a:spcPts val="0"/>
              </a:spcAft>
              <a:buClr>
                <a:schemeClr val="dk1"/>
              </a:buClr>
              <a:buSzPts val="1100"/>
              <a:buFont typeface="Arial"/>
              <a:buNone/>
            </a:pPr>
            <a:r>
              <a:rPr lang="en" sz="2000" b="1">
                <a:solidFill>
                  <a:schemeClr val="dk1"/>
                </a:solidFill>
                <a:latin typeface="Calibri"/>
                <a:ea typeface="Calibri"/>
                <a:cs typeface="Calibri"/>
                <a:sym typeface="Calibri"/>
              </a:rPr>
              <a:t>Gemini Flash, Pro, Deep Think</a:t>
            </a:r>
            <a:endParaRPr sz="2000" b="1" i="0" u="none" strike="noStrike" cap="none">
              <a:solidFill>
                <a:schemeClr val="dk1"/>
              </a:solidFill>
              <a:latin typeface="Calibri"/>
              <a:ea typeface="Calibri"/>
              <a:cs typeface="Calibri"/>
              <a:sym typeface="Calibri"/>
            </a:endParaRPr>
          </a:p>
        </p:txBody>
      </p:sp>
      <p:sp>
        <p:nvSpPr>
          <p:cNvPr id="233" name="Google Shape;233;p26"/>
          <p:cNvSpPr txBox="1"/>
          <p:nvPr/>
        </p:nvSpPr>
        <p:spPr>
          <a:xfrm>
            <a:off x="55075" y="466750"/>
            <a:ext cx="4444500" cy="18810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171450" marR="0" lvl="0" indent="-127000" algn="l" rtl="0">
              <a:lnSpc>
                <a:spcPct val="100000"/>
              </a:lnSpc>
              <a:spcBef>
                <a:spcPts val="0"/>
              </a:spcBef>
              <a:spcAft>
                <a:spcPts val="0"/>
              </a:spcAft>
              <a:buClr>
                <a:schemeClr val="dk1"/>
              </a:buClr>
              <a:buSzPts val="1100"/>
              <a:buFont typeface="Calibri"/>
              <a:buChar char="●"/>
            </a:pPr>
            <a:r>
              <a:rPr lang="en" sz="1100">
                <a:solidFill>
                  <a:schemeClr val="dk1"/>
                </a:solidFill>
                <a:latin typeface="Calibri"/>
                <a:ea typeface="Calibri"/>
                <a:cs typeface="Calibri"/>
                <a:sym typeface="Calibri"/>
              </a:rPr>
              <a:t>Gemini for $20/mo includes:</a:t>
            </a:r>
            <a:br>
              <a:rPr lang="en" sz="1100">
                <a:solidFill>
                  <a:schemeClr val="dk1"/>
                </a:solidFill>
                <a:latin typeface="Calibri"/>
                <a:ea typeface="Calibri"/>
                <a:cs typeface="Calibri"/>
                <a:sym typeface="Calibri"/>
              </a:rPr>
            </a:br>
            <a:r>
              <a:rPr lang="en" sz="1100">
                <a:solidFill>
                  <a:schemeClr val="dk1"/>
                </a:solidFill>
                <a:latin typeface="Calibri"/>
                <a:ea typeface="Calibri"/>
                <a:cs typeface="Calibri"/>
                <a:sym typeface="Calibri"/>
              </a:rPr>
              <a:t>.. Fast = Gemini 2.5 Flash (April 2025)</a:t>
            </a:r>
            <a:br>
              <a:rPr lang="en" sz="1100">
                <a:solidFill>
                  <a:schemeClr val="dk1"/>
                </a:solidFill>
                <a:latin typeface="Calibri"/>
                <a:ea typeface="Calibri"/>
                <a:cs typeface="Calibri"/>
                <a:sym typeface="Calibri"/>
              </a:rPr>
            </a:br>
            <a:r>
              <a:rPr lang="en" sz="1100">
                <a:solidFill>
                  <a:schemeClr val="dk1"/>
                </a:solidFill>
                <a:latin typeface="Calibri"/>
                <a:ea typeface="Calibri"/>
                <a:cs typeface="Calibri"/>
                <a:sym typeface="Calibri"/>
              </a:rPr>
              <a:t>.. Thinking with 3 Pro (November 18th, 2025)</a:t>
            </a:r>
            <a:br>
              <a:rPr lang="en" sz="1100">
                <a:solidFill>
                  <a:schemeClr val="dk1"/>
                </a:solidFill>
                <a:latin typeface="Calibri"/>
                <a:ea typeface="Calibri"/>
                <a:cs typeface="Calibri"/>
                <a:sym typeface="Calibri"/>
              </a:rPr>
            </a:br>
            <a:r>
              <a:rPr lang="en" sz="1100">
                <a:solidFill>
                  <a:schemeClr val="dk1"/>
                </a:solidFill>
                <a:latin typeface="Calibri"/>
                <a:ea typeface="Calibri"/>
                <a:cs typeface="Calibri"/>
                <a:sym typeface="Calibri"/>
              </a:rPr>
              <a:t>.. Deep Research Tool - multi-step web research (December 2024)</a:t>
            </a:r>
            <a:br>
              <a:rPr lang="en" sz="1100">
                <a:solidFill>
                  <a:schemeClr val="dk1"/>
                </a:solidFill>
                <a:latin typeface="Calibri"/>
                <a:ea typeface="Calibri"/>
                <a:cs typeface="Calibri"/>
                <a:sym typeface="Calibri"/>
              </a:rPr>
            </a:br>
            <a:endParaRPr sz="1100">
              <a:solidFill>
                <a:schemeClr val="dk1"/>
              </a:solidFill>
              <a:latin typeface="Calibri"/>
              <a:ea typeface="Calibri"/>
              <a:cs typeface="Calibri"/>
              <a:sym typeface="Calibri"/>
            </a:endParaRPr>
          </a:p>
          <a:p>
            <a:pPr marL="171450" marR="0" lvl="0" indent="-127000" algn="l" rtl="0">
              <a:lnSpc>
                <a:spcPct val="100000"/>
              </a:lnSpc>
              <a:spcBef>
                <a:spcPts val="0"/>
              </a:spcBef>
              <a:spcAft>
                <a:spcPts val="0"/>
              </a:spcAft>
              <a:buClr>
                <a:schemeClr val="dk1"/>
              </a:buClr>
              <a:buSzPts val="1100"/>
              <a:buFont typeface="Calibri"/>
              <a:buChar char="●"/>
            </a:pPr>
            <a:r>
              <a:rPr lang="en" sz="1100">
                <a:solidFill>
                  <a:schemeClr val="dk1"/>
                </a:solidFill>
                <a:latin typeface="Calibri"/>
                <a:ea typeface="Calibri"/>
                <a:cs typeface="Calibri"/>
                <a:sym typeface="Calibri"/>
              </a:rPr>
              <a:t>"</a:t>
            </a:r>
            <a:r>
              <a:rPr lang="en" sz="1100" b="1">
                <a:solidFill>
                  <a:srgbClr val="FF0000"/>
                </a:solidFill>
                <a:latin typeface="Calibri"/>
                <a:ea typeface="Calibri"/>
                <a:cs typeface="Calibri"/>
                <a:sym typeface="Calibri"/>
              </a:rPr>
              <a:t>Deep Think</a:t>
            </a:r>
            <a:r>
              <a:rPr lang="en" sz="1100">
                <a:solidFill>
                  <a:schemeClr val="dk1"/>
                </a:solidFill>
                <a:latin typeface="Calibri"/>
                <a:ea typeface="Calibri"/>
                <a:cs typeface="Calibri"/>
                <a:sym typeface="Calibri"/>
              </a:rPr>
              <a:t>" (released December 6-8, 2025) - only for </a:t>
            </a:r>
            <a:r>
              <a:rPr lang="en" sz="1100" b="1">
                <a:solidFill>
                  <a:srgbClr val="FF0000"/>
                </a:solidFill>
                <a:latin typeface="Calibri"/>
                <a:ea typeface="Calibri"/>
                <a:cs typeface="Calibri"/>
                <a:sym typeface="Calibri"/>
              </a:rPr>
              <a:t>Gemini Ultra</a:t>
            </a:r>
            <a:r>
              <a:rPr lang="en" sz="1100">
                <a:solidFill>
                  <a:schemeClr val="dk1"/>
                </a:solidFill>
                <a:latin typeface="Calibri"/>
                <a:ea typeface="Calibri"/>
                <a:cs typeface="Calibri"/>
                <a:sym typeface="Calibri"/>
              </a:rPr>
              <a:t> users ($250/mo). "Deep Think" uses "parallel reasoning" - exploring multiple solution paths simultaneously before answering</a:t>
            </a:r>
            <a:endParaRPr sz="1100">
              <a:solidFill>
                <a:schemeClr val="dk1"/>
              </a:solidFill>
              <a:latin typeface="Calibri"/>
              <a:ea typeface="Calibri"/>
              <a:cs typeface="Calibri"/>
              <a:sym typeface="Calibri"/>
            </a:endParaRPr>
          </a:p>
          <a:p>
            <a:pPr marL="171450" marR="0" lvl="0" indent="-127000" algn="l" rtl="0">
              <a:lnSpc>
                <a:spcPct val="100000"/>
              </a:lnSpc>
              <a:spcBef>
                <a:spcPts val="0"/>
              </a:spcBef>
              <a:spcAft>
                <a:spcPts val="0"/>
              </a:spcAft>
              <a:buClr>
                <a:srgbClr val="FF0000"/>
              </a:buClr>
              <a:buSzPts val="1100"/>
              <a:buFont typeface="Calibri"/>
              <a:buChar char="●"/>
            </a:pPr>
            <a:r>
              <a:rPr lang="en" sz="1100" b="1">
                <a:solidFill>
                  <a:srgbClr val="FF0000"/>
                </a:solidFill>
                <a:latin typeface="Calibri"/>
                <a:ea typeface="Calibri"/>
                <a:cs typeface="Calibri"/>
                <a:sym typeface="Calibri"/>
              </a:rPr>
              <a:t>Beats all other models ! But slow, expensive, not available via API yet</a:t>
            </a:r>
            <a:endParaRPr sz="1100" b="1">
              <a:solidFill>
                <a:srgbClr val="FF0000"/>
              </a:solidFill>
              <a:latin typeface="Calibri"/>
              <a:ea typeface="Calibri"/>
              <a:cs typeface="Calibri"/>
              <a:sym typeface="Calibri"/>
            </a:endParaRPr>
          </a:p>
          <a:p>
            <a:pPr marL="171450" marR="0" lvl="0" indent="-127000" algn="l" rtl="0">
              <a:lnSpc>
                <a:spcPct val="100000"/>
              </a:lnSpc>
              <a:spcBef>
                <a:spcPts val="0"/>
              </a:spcBef>
              <a:spcAft>
                <a:spcPts val="0"/>
              </a:spcAft>
              <a:buClr>
                <a:schemeClr val="dk1"/>
              </a:buClr>
              <a:buSzPts val="1100"/>
              <a:buFont typeface="Calibri"/>
              <a:buChar char="●"/>
            </a:pPr>
            <a:r>
              <a:rPr lang="en" sz="1100" u="sng">
                <a:solidFill>
                  <a:schemeClr val="hlink"/>
                </a:solidFill>
                <a:latin typeface="Calibri"/>
                <a:ea typeface="Calibri"/>
                <a:cs typeface="Calibri"/>
                <a:sym typeface="Calibri"/>
                <a:hlinkClick r:id="rId3"/>
              </a:rPr>
              <a:t>https://blog.google/products/gemini/gemini-3-deep-think/</a:t>
            </a:r>
            <a:endParaRPr sz="1100">
              <a:solidFill>
                <a:schemeClr val="dk1"/>
              </a:solidFill>
              <a:latin typeface="Calibri"/>
              <a:ea typeface="Calibri"/>
              <a:cs typeface="Calibri"/>
              <a:sym typeface="Calibri"/>
            </a:endParaRPr>
          </a:p>
          <a:p>
            <a:pPr marL="171450" marR="0" lvl="0" indent="-127000" algn="l" rtl="0">
              <a:lnSpc>
                <a:spcPct val="100000"/>
              </a:lnSpc>
              <a:spcBef>
                <a:spcPts val="0"/>
              </a:spcBef>
              <a:spcAft>
                <a:spcPts val="0"/>
              </a:spcAft>
              <a:buClr>
                <a:schemeClr val="dk1"/>
              </a:buClr>
              <a:buSzPts val="1100"/>
              <a:buFont typeface="Calibri"/>
              <a:buChar char="●"/>
            </a:pPr>
            <a:r>
              <a:rPr lang="en" sz="1100" u="sng">
                <a:solidFill>
                  <a:schemeClr val="hlink"/>
                </a:solidFill>
                <a:latin typeface="Calibri"/>
                <a:ea typeface="Calibri"/>
                <a:cs typeface="Calibri"/>
                <a:sym typeface="Calibri"/>
                <a:hlinkClick r:id="rId4"/>
              </a:rPr>
              <a:t>https://gemini.google/overview/deep-research/</a:t>
            </a:r>
            <a:endParaRPr sz="1100">
              <a:solidFill>
                <a:schemeClr val="dk1"/>
              </a:solidFill>
              <a:latin typeface="Calibri"/>
              <a:ea typeface="Calibri"/>
              <a:cs typeface="Calibri"/>
              <a:sym typeface="Calibri"/>
            </a:endParaRPr>
          </a:p>
        </p:txBody>
      </p:sp>
      <p:sp>
        <p:nvSpPr>
          <p:cNvPr id="234" name="Google Shape;234;p26"/>
          <p:cNvSpPr txBox="1"/>
          <p:nvPr/>
        </p:nvSpPr>
        <p:spPr>
          <a:xfrm>
            <a:off x="55075" y="2405147"/>
            <a:ext cx="4444500" cy="8649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171450" marR="0" lvl="0" indent="-127000" algn="l" rtl="0">
              <a:lnSpc>
                <a:spcPct val="100000"/>
              </a:lnSpc>
              <a:spcBef>
                <a:spcPts val="0"/>
              </a:spcBef>
              <a:spcAft>
                <a:spcPts val="0"/>
              </a:spcAft>
              <a:buClr>
                <a:srgbClr val="FF0000"/>
              </a:buClr>
              <a:buSzPts val="1100"/>
              <a:buFont typeface="Calibri"/>
              <a:buChar char="●"/>
            </a:pPr>
            <a:r>
              <a:rPr lang="en" sz="1100" b="1">
                <a:solidFill>
                  <a:srgbClr val="FF0000"/>
                </a:solidFill>
                <a:latin typeface="Calibri"/>
                <a:ea typeface="Calibri"/>
                <a:cs typeface="Calibri"/>
                <a:sym typeface="Calibri"/>
              </a:rPr>
              <a:t>Google "Skyhawk" and "Seahawk" models on LM Arena</a:t>
            </a:r>
            <a:endParaRPr sz="1100">
              <a:solidFill>
                <a:schemeClr val="dk1"/>
              </a:solidFill>
              <a:latin typeface="Calibri"/>
              <a:ea typeface="Calibri"/>
              <a:cs typeface="Calibri"/>
              <a:sym typeface="Calibri"/>
            </a:endParaRPr>
          </a:p>
          <a:p>
            <a:pPr marL="171450" marR="0" lvl="0" indent="-127000" algn="l" rtl="0">
              <a:lnSpc>
                <a:spcPct val="100000"/>
              </a:lnSpc>
              <a:spcBef>
                <a:spcPts val="0"/>
              </a:spcBef>
              <a:spcAft>
                <a:spcPts val="0"/>
              </a:spcAft>
              <a:buClr>
                <a:schemeClr val="dk1"/>
              </a:buClr>
              <a:buSzPts val="1100"/>
              <a:buFont typeface="Calibri"/>
              <a:buChar char="●"/>
            </a:pPr>
            <a:r>
              <a:rPr lang="en" sz="1100">
                <a:solidFill>
                  <a:schemeClr val="dk1"/>
                </a:solidFill>
                <a:latin typeface="Calibri"/>
                <a:ea typeface="Calibri"/>
                <a:cs typeface="Calibri"/>
                <a:sym typeface="Calibri"/>
              </a:rPr>
              <a:t>These may be Gemini 3.0 Flash or Gemini 3.5 models</a:t>
            </a:r>
            <a:endParaRPr sz="1100">
              <a:solidFill>
                <a:schemeClr val="dk1"/>
              </a:solidFill>
              <a:latin typeface="Calibri"/>
              <a:ea typeface="Calibri"/>
              <a:cs typeface="Calibri"/>
              <a:sym typeface="Calibri"/>
            </a:endParaRPr>
          </a:p>
          <a:p>
            <a:pPr marL="171450" marR="0" lvl="0" indent="-127000" algn="l" rtl="0">
              <a:lnSpc>
                <a:spcPct val="100000"/>
              </a:lnSpc>
              <a:spcBef>
                <a:spcPts val="0"/>
              </a:spcBef>
              <a:spcAft>
                <a:spcPts val="0"/>
              </a:spcAft>
              <a:buClr>
                <a:schemeClr val="dk1"/>
              </a:buClr>
              <a:buSzPts val="1100"/>
              <a:buFont typeface="Calibri"/>
              <a:buChar char="●"/>
            </a:pPr>
            <a:r>
              <a:rPr lang="en" sz="1100">
                <a:solidFill>
                  <a:schemeClr val="dk1"/>
                </a:solidFill>
                <a:latin typeface="Calibri"/>
                <a:ea typeface="Calibri"/>
                <a:cs typeface="Calibri"/>
                <a:sym typeface="Calibri"/>
              </a:rPr>
              <a:t>Extremely fastl high-quality code output, and cost efficiency</a:t>
            </a:r>
            <a:endParaRPr sz="1100">
              <a:solidFill>
                <a:schemeClr val="dk1"/>
              </a:solidFill>
              <a:latin typeface="Calibri"/>
              <a:ea typeface="Calibri"/>
              <a:cs typeface="Calibri"/>
              <a:sym typeface="Calibri"/>
            </a:endParaRPr>
          </a:p>
          <a:p>
            <a:pPr marL="171450" marR="0" lvl="0" indent="-127000" algn="l" rtl="0">
              <a:lnSpc>
                <a:spcPct val="100000"/>
              </a:lnSpc>
              <a:spcBef>
                <a:spcPts val="0"/>
              </a:spcBef>
              <a:spcAft>
                <a:spcPts val="0"/>
              </a:spcAft>
              <a:buClr>
                <a:schemeClr val="dk1"/>
              </a:buClr>
              <a:buSzPts val="1100"/>
              <a:buFont typeface="Calibri"/>
              <a:buChar char="●"/>
            </a:pPr>
            <a:r>
              <a:rPr lang="en" sz="1100">
                <a:solidFill>
                  <a:schemeClr val="dk1"/>
                </a:solidFill>
                <a:latin typeface="Calibri"/>
                <a:ea typeface="Calibri"/>
                <a:cs typeface="Calibri"/>
                <a:sym typeface="Calibri"/>
              </a:rPr>
              <a:t>Release is expected before New Year</a:t>
            </a:r>
            <a:endParaRPr sz="1100">
              <a:solidFill>
                <a:schemeClr val="dk1"/>
              </a:solidFill>
              <a:latin typeface="Calibri"/>
              <a:ea typeface="Calibri"/>
              <a:cs typeface="Calibri"/>
              <a:sym typeface="Calibri"/>
            </a:endParaRPr>
          </a:p>
          <a:p>
            <a:pPr marL="171450" marR="0" lvl="0" indent="-127000" algn="l" rtl="0">
              <a:lnSpc>
                <a:spcPct val="100000"/>
              </a:lnSpc>
              <a:spcBef>
                <a:spcPts val="0"/>
              </a:spcBef>
              <a:spcAft>
                <a:spcPts val="0"/>
              </a:spcAft>
              <a:buClr>
                <a:schemeClr val="dk1"/>
              </a:buClr>
              <a:buSzPts val="1100"/>
              <a:buFont typeface="Calibri"/>
              <a:buChar char="●"/>
            </a:pPr>
            <a:r>
              <a:rPr lang="en" sz="1100" u="sng">
                <a:solidFill>
                  <a:schemeClr val="hlink"/>
                </a:solidFill>
                <a:latin typeface="Calibri"/>
                <a:ea typeface="Calibri"/>
                <a:cs typeface="Calibri"/>
                <a:sym typeface="Calibri"/>
                <a:hlinkClick r:id="rId5"/>
              </a:rPr>
              <a:t>https://www.youtube.com/watch?v=-aVFx7EU5hE</a:t>
            </a:r>
            <a:r>
              <a:rPr lang="en" sz="1100">
                <a:solidFill>
                  <a:schemeClr val="dk1"/>
                </a:solidFill>
                <a:latin typeface="Calibri"/>
                <a:ea typeface="Calibri"/>
                <a:cs typeface="Calibri"/>
                <a:sym typeface="Calibri"/>
              </a:rPr>
              <a:t> </a:t>
            </a:r>
            <a:endParaRPr sz="1100">
              <a:solidFill>
                <a:schemeClr val="dk1"/>
              </a:solidFill>
              <a:latin typeface="Calibri"/>
              <a:ea typeface="Calibri"/>
              <a:cs typeface="Calibri"/>
              <a:sym typeface="Calibri"/>
            </a:endParaRPr>
          </a:p>
        </p:txBody>
      </p:sp>
      <p:pic>
        <p:nvPicPr>
          <p:cNvPr id="235" name="Google Shape;235;p26"/>
          <p:cNvPicPr preferRelativeResize="0"/>
          <p:nvPr/>
        </p:nvPicPr>
        <p:blipFill>
          <a:blip r:embed="rId6" cstate="email">
            <a:alphaModFix/>
            <a:extLst>
              <a:ext uri="{28A0092B-C50C-407E-A947-70E740481C1C}">
                <a14:useLocalDpi xmlns:a14="http://schemas.microsoft.com/office/drawing/2010/main"/>
              </a:ext>
            </a:extLst>
          </a:blip>
          <a:stretch>
            <a:fillRect/>
          </a:stretch>
        </p:blipFill>
        <p:spPr>
          <a:xfrm>
            <a:off x="4615550" y="2405150"/>
            <a:ext cx="1544464" cy="864900"/>
          </a:xfrm>
          <a:prstGeom prst="rect">
            <a:avLst/>
          </a:prstGeom>
          <a:noFill/>
          <a:ln w="9525" cap="flat" cmpd="sng">
            <a:solidFill>
              <a:srgbClr val="FF0000"/>
            </a:solidFill>
            <a:prstDash val="solid"/>
            <a:round/>
            <a:headEnd type="none" w="sm" len="sm"/>
            <a:tailEnd type="none" w="sm" len="sm"/>
          </a:ln>
        </p:spPr>
      </p:pic>
      <p:pic>
        <p:nvPicPr>
          <p:cNvPr id="236" name="Google Shape;236;p26"/>
          <p:cNvPicPr preferRelativeResize="0"/>
          <p:nvPr/>
        </p:nvPicPr>
        <p:blipFill>
          <a:blip r:embed="rId7">
            <a:alphaModFix/>
          </a:blip>
          <a:stretch>
            <a:fillRect/>
          </a:stretch>
        </p:blipFill>
        <p:spPr>
          <a:xfrm>
            <a:off x="4663175" y="532575"/>
            <a:ext cx="2762250" cy="1657350"/>
          </a:xfrm>
          <a:prstGeom prst="rect">
            <a:avLst/>
          </a:prstGeom>
          <a:noFill/>
          <a:ln w="9525" cap="flat" cmpd="sng">
            <a:solidFill>
              <a:srgbClr val="FF0000"/>
            </a:solidFill>
            <a:prstDash val="solid"/>
            <a:round/>
            <a:headEnd type="none" w="sm" len="sm"/>
            <a:tailEnd type="none" w="sm" len="sm"/>
          </a:ln>
        </p:spPr>
      </p:pic>
      <p:sp>
        <p:nvSpPr>
          <p:cNvPr id="237" name="Google Shape;237;p26"/>
          <p:cNvSpPr txBox="1"/>
          <p:nvPr/>
        </p:nvSpPr>
        <p:spPr>
          <a:xfrm>
            <a:off x="55075" y="3379872"/>
            <a:ext cx="4444500" cy="10035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171450" marR="0" lvl="0" indent="-127000" algn="l" rtl="0">
              <a:lnSpc>
                <a:spcPct val="100000"/>
              </a:lnSpc>
              <a:spcBef>
                <a:spcPts val="0"/>
              </a:spcBef>
              <a:spcAft>
                <a:spcPts val="0"/>
              </a:spcAft>
              <a:buClr>
                <a:srgbClr val="FF0000"/>
              </a:buClr>
              <a:buSzPts val="1100"/>
              <a:buFont typeface="Calibri"/>
              <a:buChar char="●"/>
            </a:pPr>
            <a:r>
              <a:rPr lang="en" sz="1100" b="1">
                <a:solidFill>
                  <a:srgbClr val="FF0000"/>
                </a:solidFill>
                <a:latin typeface="Calibri"/>
                <a:ea typeface="Calibri"/>
                <a:cs typeface="Calibri"/>
                <a:sym typeface="Calibri"/>
              </a:rPr>
              <a:t>Gemini Deep Research Agent</a:t>
            </a:r>
            <a:endParaRPr sz="1100">
              <a:solidFill>
                <a:schemeClr val="dk1"/>
              </a:solidFill>
              <a:latin typeface="Calibri"/>
              <a:ea typeface="Calibri"/>
              <a:cs typeface="Calibri"/>
              <a:sym typeface="Calibri"/>
            </a:endParaRPr>
          </a:p>
          <a:p>
            <a:pPr marL="171450" marR="0" lvl="0" indent="-127000" algn="l" rtl="0">
              <a:lnSpc>
                <a:spcPct val="100000"/>
              </a:lnSpc>
              <a:spcBef>
                <a:spcPts val="0"/>
              </a:spcBef>
              <a:spcAft>
                <a:spcPts val="0"/>
              </a:spcAft>
              <a:buClr>
                <a:schemeClr val="dk1"/>
              </a:buClr>
              <a:buSzPts val="1100"/>
              <a:buFont typeface="Calibri"/>
              <a:buChar char="●"/>
            </a:pPr>
            <a:r>
              <a:rPr lang="en" sz="1100">
                <a:solidFill>
                  <a:schemeClr val="dk1"/>
                </a:solidFill>
                <a:latin typeface="Calibri"/>
                <a:ea typeface="Calibri"/>
                <a:cs typeface="Calibri"/>
                <a:sym typeface="Calibri"/>
              </a:rPr>
              <a:t>You can now access the new powerful Deep Research agent using the Gemini API key from Google AI Studio and embed this into your apps</a:t>
            </a:r>
            <a:endParaRPr sz="1100">
              <a:solidFill>
                <a:schemeClr val="dk1"/>
              </a:solidFill>
              <a:latin typeface="Calibri"/>
              <a:ea typeface="Calibri"/>
              <a:cs typeface="Calibri"/>
              <a:sym typeface="Calibri"/>
            </a:endParaRPr>
          </a:p>
          <a:p>
            <a:pPr marL="171450" marR="0" lvl="0" indent="-127000" algn="l" rtl="0">
              <a:lnSpc>
                <a:spcPct val="100000"/>
              </a:lnSpc>
              <a:spcBef>
                <a:spcPts val="0"/>
              </a:spcBef>
              <a:spcAft>
                <a:spcPts val="0"/>
              </a:spcAft>
              <a:buClr>
                <a:schemeClr val="dk1"/>
              </a:buClr>
              <a:buSzPts val="1100"/>
              <a:buFont typeface="Calibri"/>
              <a:buChar char="●"/>
            </a:pPr>
            <a:r>
              <a:rPr lang="en" sz="1100">
                <a:solidFill>
                  <a:schemeClr val="dk1"/>
                </a:solidFill>
                <a:latin typeface="Calibri"/>
                <a:ea typeface="Calibri"/>
                <a:cs typeface="Calibri"/>
                <a:sym typeface="Calibri"/>
              </a:rPr>
              <a:t>Also open-sourced DeepSearchQA benchmark to test agents on web research tasks</a:t>
            </a:r>
            <a:endParaRPr sz="900">
              <a:solidFill>
                <a:schemeClr val="dk1"/>
              </a:solidFill>
              <a:latin typeface="Calibri"/>
              <a:ea typeface="Calibri"/>
              <a:cs typeface="Calibri"/>
              <a:sym typeface="Calibri"/>
            </a:endParaRPr>
          </a:p>
          <a:p>
            <a:pPr marL="171450" marR="0" lvl="0" indent="-114300" algn="l" rtl="0">
              <a:lnSpc>
                <a:spcPct val="100000"/>
              </a:lnSpc>
              <a:spcBef>
                <a:spcPts val="0"/>
              </a:spcBef>
              <a:spcAft>
                <a:spcPts val="0"/>
              </a:spcAft>
              <a:buClr>
                <a:schemeClr val="dk1"/>
              </a:buClr>
              <a:buSzPts val="900"/>
              <a:buFont typeface="Calibri"/>
              <a:buChar char="●"/>
            </a:pPr>
            <a:r>
              <a:rPr lang="en" sz="900" u="sng">
                <a:solidFill>
                  <a:schemeClr val="hlink"/>
                </a:solidFill>
                <a:latin typeface="Calibri"/>
                <a:ea typeface="Calibri"/>
                <a:cs typeface="Calibri"/>
                <a:sym typeface="Calibri"/>
                <a:hlinkClick r:id="rId8"/>
              </a:rPr>
              <a:t>https://blog.google/technology/developers/deep-research-agent-gemini-api/</a:t>
            </a:r>
            <a:r>
              <a:rPr lang="en" sz="900">
                <a:solidFill>
                  <a:schemeClr val="dk1"/>
                </a:solidFill>
                <a:latin typeface="Calibri"/>
                <a:ea typeface="Calibri"/>
                <a:cs typeface="Calibri"/>
                <a:sym typeface="Calibri"/>
              </a:rPr>
              <a:t> </a:t>
            </a:r>
            <a:endParaRPr sz="900">
              <a:solidFill>
                <a:schemeClr val="dk1"/>
              </a:solidFill>
              <a:latin typeface="Calibri"/>
              <a:ea typeface="Calibri"/>
              <a:cs typeface="Calibri"/>
              <a:sym typeface="Calibri"/>
            </a:endParaRPr>
          </a:p>
        </p:txBody>
      </p:sp>
      <p:pic>
        <p:nvPicPr>
          <p:cNvPr id="238" name="Google Shape;238;p26"/>
          <p:cNvPicPr preferRelativeResize="0"/>
          <p:nvPr/>
        </p:nvPicPr>
        <p:blipFill>
          <a:blip r:embed="rId9" cstate="email">
            <a:alphaModFix/>
            <a:extLst>
              <a:ext uri="{28A0092B-C50C-407E-A947-70E740481C1C}">
                <a14:useLocalDpi xmlns:a14="http://schemas.microsoft.com/office/drawing/2010/main"/>
              </a:ext>
            </a:extLst>
          </a:blip>
          <a:stretch>
            <a:fillRect/>
          </a:stretch>
        </p:blipFill>
        <p:spPr>
          <a:xfrm>
            <a:off x="4637133" y="3379874"/>
            <a:ext cx="2951471" cy="1003500"/>
          </a:xfrm>
          <a:prstGeom prst="rect">
            <a:avLst/>
          </a:prstGeom>
          <a:noFill/>
          <a:ln w="9525" cap="flat" cmpd="sng">
            <a:solidFill>
              <a:srgbClr val="FF0000"/>
            </a:solidFill>
            <a:prstDash val="solid"/>
            <a:round/>
            <a:headEnd type="none" w="sm" len="sm"/>
            <a:tailEnd type="none" w="sm" len="sm"/>
          </a:ln>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242"/>
        <p:cNvGrpSpPr/>
        <p:nvPr/>
      </p:nvGrpSpPr>
      <p:grpSpPr>
        <a:xfrm>
          <a:off x="0" y="0"/>
          <a:ext cx="0" cy="0"/>
          <a:chOff x="0" y="0"/>
          <a:chExt cx="0" cy="0"/>
        </a:xfrm>
      </p:grpSpPr>
      <p:sp>
        <p:nvSpPr>
          <p:cNvPr id="243" name="Google Shape;243;p27"/>
          <p:cNvSpPr txBox="1"/>
          <p:nvPr/>
        </p:nvSpPr>
        <p:spPr>
          <a:xfrm>
            <a:off x="55075" y="20375"/>
            <a:ext cx="4444500" cy="326400"/>
          </a:xfrm>
          <a:prstGeom prst="rect">
            <a:avLst/>
          </a:prstGeom>
          <a:noFill/>
          <a:ln>
            <a:noFill/>
          </a:ln>
        </p:spPr>
        <p:txBody>
          <a:bodyPr spcFirstLastPara="1" wrap="square" lIns="9125" tIns="9125" rIns="9125" bIns="9125" anchor="t" anchorCtr="0">
            <a:spAutoFit/>
          </a:bodyPr>
          <a:lstStyle/>
          <a:p>
            <a:pPr marL="0" marR="0" lvl="0" indent="0" algn="l" rtl="0">
              <a:lnSpc>
                <a:spcPct val="100000"/>
              </a:lnSpc>
              <a:spcBef>
                <a:spcPts val="0"/>
              </a:spcBef>
              <a:spcAft>
                <a:spcPts val="0"/>
              </a:spcAft>
              <a:buClr>
                <a:schemeClr val="dk1"/>
              </a:buClr>
              <a:buSzPts val="1100"/>
              <a:buFont typeface="Arial"/>
              <a:buNone/>
            </a:pPr>
            <a:r>
              <a:rPr lang="en" sz="2000" b="1">
                <a:solidFill>
                  <a:schemeClr val="dk1"/>
                </a:solidFill>
                <a:latin typeface="Calibri"/>
                <a:ea typeface="Calibri"/>
                <a:cs typeface="Calibri"/>
                <a:sym typeface="Calibri"/>
              </a:rPr>
              <a:t>AI in Google Workspace</a:t>
            </a:r>
            <a:endParaRPr sz="2000" b="1" i="0" u="none" strike="noStrike" cap="none">
              <a:solidFill>
                <a:schemeClr val="dk1"/>
              </a:solidFill>
              <a:latin typeface="Calibri"/>
              <a:ea typeface="Calibri"/>
              <a:cs typeface="Calibri"/>
              <a:sym typeface="Calibri"/>
            </a:endParaRPr>
          </a:p>
        </p:txBody>
      </p:sp>
      <p:sp>
        <p:nvSpPr>
          <p:cNvPr id="244" name="Google Shape;244;p27"/>
          <p:cNvSpPr txBox="1"/>
          <p:nvPr/>
        </p:nvSpPr>
        <p:spPr>
          <a:xfrm>
            <a:off x="55075" y="466750"/>
            <a:ext cx="4444500" cy="37587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171450" marR="0" lvl="0" indent="-127000" algn="l" rtl="0">
              <a:lnSpc>
                <a:spcPct val="100000"/>
              </a:lnSpc>
              <a:spcBef>
                <a:spcPts val="0"/>
              </a:spcBef>
              <a:spcAft>
                <a:spcPts val="0"/>
              </a:spcAft>
              <a:buClr>
                <a:srgbClr val="FF0000"/>
              </a:buClr>
              <a:buSzPts val="1100"/>
              <a:buFont typeface="Calibri"/>
              <a:buChar char="●"/>
            </a:pPr>
            <a:r>
              <a:rPr lang="en" sz="1100" b="1">
                <a:solidFill>
                  <a:srgbClr val="FF0000"/>
                </a:solidFill>
                <a:latin typeface="Calibri"/>
                <a:ea typeface="Calibri"/>
                <a:cs typeface="Calibri"/>
                <a:sym typeface="Calibri"/>
              </a:rPr>
              <a:t>AI in Google Workspace</a:t>
            </a:r>
            <a:endParaRPr sz="1100" b="1">
              <a:solidFill>
                <a:srgbClr val="FF0000"/>
              </a:solidFill>
              <a:latin typeface="Calibri"/>
              <a:ea typeface="Calibri"/>
              <a:cs typeface="Calibri"/>
              <a:sym typeface="Calibri"/>
            </a:endParaRPr>
          </a:p>
          <a:p>
            <a:pPr marL="171450" marR="0" lvl="0" indent="-127000" algn="l" rtl="0">
              <a:lnSpc>
                <a:spcPct val="100000"/>
              </a:lnSpc>
              <a:spcBef>
                <a:spcPts val="0"/>
              </a:spcBef>
              <a:spcAft>
                <a:spcPts val="0"/>
              </a:spcAft>
              <a:buClr>
                <a:schemeClr val="dk1"/>
              </a:buClr>
              <a:buSzPts val="1100"/>
              <a:buFont typeface="Calibri"/>
              <a:buChar char="●"/>
            </a:pPr>
            <a:r>
              <a:rPr lang="en" sz="1100">
                <a:solidFill>
                  <a:schemeClr val="dk1"/>
                </a:solidFill>
                <a:latin typeface="Calibri"/>
                <a:ea typeface="Calibri"/>
                <a:cs typeface="Calibri"/>
                <a:sym typeface="Calibri"/>
              </a:rPr>
              <a:t>Gemini AI is available in Gmail, Docs, Sheets, Slides, Drive, Meet, ...</a:t>
            </a:r>
            <a:endParaRPr sz="1100">
              <a:solidFill>
                <a:schemeClr val="dk1"/>
              </a:solidFill>
              <a:latin typeface="Calibri"/>
              <a:ea typeface="Calibri"/>
              <a:cs typeface="Calibri"/>
              <a:sym typeface="Calibri"/>
            </a:endParaRPr>
          </a:p>
          <a:p>
            <a:pPr marL="171450" marR="0" lvl="0" indent="-127000" algn="l" rtl="0">
              <a:lnSpc>
                <a:spcPct val="100000"/>
              </a:lnSpc>
              <a:spcBef>
                <a:spcPts val="0"/>
              </a:spcBef>
              <a:spcAft>
                <a:spcPts val="0"/>
              </a:spcAft>
              <a:buClr>
                <a:schemeClr val="dk1"/>
              </a:buClr>
              <a:buSzPts val="1100"/>
              <a:buFont typeface="Calibri"/>
              <a:buChar char="●"/>
            </a:pPr>
            <a:r>
              <a:rPr lang="en" sz="1100">
                <a:solidFill>
                  <a:schemeClr val="dk1"/>
                </a:solidFill>
                <a:latin typeface="Calibri"/>
                <a:ea typeface="Calibri"/>
                <a:cs typeface="Calibri"/>
                <a:sym typeface="Calibri"/>
              </a:rPr>
              <a:t>In Gmail, use Help me write to draft, refine, or summarize emails by entering prompts; In Docs, create documents from scratch or get writing assistance by asking Gemini to generate outlines, drafts, and content suggestions; In Sheets, Gemini can analyze data, create tables, generate formulas, and provide key takeaways from datasets; In Slides, generate images and create presentations with AI assistance</a:t>
            </a:r>
            <a:endParaRPr sz="1100">
              <a:solidFill>
                <a:schemeClr val="dk1"/>
              </a:solidFill>
              <a:latin typeface="Calibri"/>
              <a:ea typeface="Calibri"/>
              <a:cs typeface="Calibri"/>
              <a:sym typeface="Calibri"/>
            </a:endParaRPr>
          </a:p>
          <a:p>
            <a:pPr marL="171450" marR="0" lvl="0" indent="-127000" algn="l" rtl="0">
              <a:lnSpc>
                <a:spcPct val="100000"/>
              </a:lnSpc>
              <a:spcBef>
                <a:spcPts val="0"/>
              </a:spcBef>
              <a:spcAft>
                <a:spcPts val="0"/>
              </a:spcAft>
              <a:buClr>
                <a:schemeClr val="dk1"/>
              </a:buClr>
              <a:buSzPts val="1100"/>
              <a:buFont typeface="Calibri"/>
              <a:buChar char="●"/>
            </a:pPr>
            <a:r>
              <a:rPr lang="en" sz="1100">
                <a:solidFill>
                  <a:schemeClr val="dk1"/>
                </a:solidFill>
                <a:latin typeface="Calibri"/>
                <a:ea typeface="Calibri"/>
                <a:cs typeface="Calibri"/>
                <a:sym typeface="Calibri"/>
              </a:rPr>
              <a:t>All apps have the Gemini sidebar</a:t>
            </a:r>
            <a:endParaRPr sz="1100">
              <a:solidFill>
                <a:schemeClr val="dk1"/>
              </a:solidFill>
              <a:latin typeface="Calibri"/>
              <a:ea typeface="Calibri"/>
              <a:cs typeface="Calibri"/>
              <a:sym typeface="Calibri"/>
            </a:endParaRPr>
          </a:p>
          <a:p>
            <a:pPr marL="171450" marR="0" lvl="0" indent="-127000" algn="l" rtl="0">
              <a:lnSpc>
                <a:spcPct val="100000"/>
              </a:lnSpc>
              <a:spcBef>
                <a:spcPts val="0"/>
              </a:spcBef>
              <a:spcAft>
                <a:spcPts val="0"/>
              </a:spcAft>
              <a:buClr>
                <a:schemeClr val="dk1"/>
              </a:buClr>
              <a:buSzPts val="1100"/>
              <a:buFont typeface="Calibri"/>
              <a:buChar char="●"/>
            </a:pPr>
            <a:r>
              <a:rPr lang="en" sz="1100">
                <a:solidFill>
                  <a:schemeClr val="dk1"/>
                </a:solidFill>
                <a:latin typeface="Calibri"/>
                <a:ea typeface="Calibri"/>
                <a:cs typeface="Calibri"/>
                <a:sym typeface="Calibri"/>
              </a:rPr>
              <a:t>Business and Enterprise plans also include Gemini Advanced and NotebookLM Plus for advanced analysis and insights</a:t>
            </a:r>
            <a:endParaRPr sz="1100">
              <a:solidFill>
                <a:schemeClr val="dk1"/>
              </a:solidFill>
              <a:latin typeface="Calibri"/>
              <a:ea typeface="Calibri"/>
              <a:cs typeface="Calibri"/>
              <a:sym typeface="Calibri"/>
            </a:endParaRPr>
          </a:p>
          <a:p>
            <a:pPr marL="171450" marR="0" lvl="0" indent="-127000" algn="l" rtl="0">
              <a:lnSpc>
                <a:spcPct val="100000"/>
              </a:lnSpc>
              <a:spcBef>
                <a:spcPts val="0"/>
              </a:spcBef>
              <a:spcAft>
                <a:spcPts val="0"/>
              </a:spcAft>
              <a:buClr>
                <a:schemeClr val="dk1"/>
              </a:buClr>
              <a:buSzPts val="1100"/>
              <a:buFont typeface="Calibri"/>
              <a:buChar char="●"/>
            </a:pPr>
            <a:r>
              <a:rPr lang="en" sz="1100" b="1">
                <a:solidFill>
                  <a:srgbClr val="FF0000"/>
                </a:solidFill>
                <a:latin typeface="Calibri"/>
                <a:ea typeface="Calibri"/>
                <a:cs typeface="Calibri"/>
                <a:sym typeface="Calibri"/>
              </a:rPr>
              <a:t>Google Workspace Studio (previously called Google Workspace Flows)</a:t>
            </a:r>
            <a:r>
              <a:rPr lang="en" sz="1100">
                <a:solidFill>
                  <a:schemeClr val="dk1"/>
                </a:solidFill>
                <a:latin typeface="Calibri"/>
                <a:ea typeface="Calibri"/>
                <a:cs typeface="Calibri"/>
                <a:sym typeface="Calibri"/>
              </a:rPr>
              <a:t> is a new feature in Google Workspace that allows users to create, manage, and share </a:t>
            </a:r>
            <a:r>
              <a:rPr lang="en" sz="1100" b="1">
                <a:solidFill>
                  <a:srgbClr val="FF0000"/>
                </a:solidFill>
                <a:latin typeface="Calibri"/>
                <a:ea typeface="Calibri"/>
                <a:cs typeface="Calibri"/>
                <a:sym typeface="Calibri"/>
              </a:rPr>
              <a:t>AI agents </a:t>
            </a:r>
            <a:r>
              <a:rPr lang="en" sz="1100">
                <a:solidFill>
                  <a:schemeClr val="dk1"/>
                </a:solidFill>
                <a:latin typeface="Calibri"/>
                <a:ea typeface="Calibri"/>
                <a:cs typeface="Calibri"/>
                <a:sym typeface="Calibri"/>
              </a:rPr>
              <a:t>powered by Gemini to </a:t>
            </a:r>
            <a:r>
              <a:rPr lang="en" sz="1100" b="1">
                <a:solidFill>
                  <a:srgbClr val="FF0000"/>
                </a:solidFill>
                <a:latin typeface="Calibri"/>
                <a:ea typeface="Calibri"/>
                <a:cs typeface="Calibri"/>
                <a:sym typeface="Calibri"/>
              </a:rPr>
              <a:t>automate workflows across Workspace apps</a:t>
            </a:r>
            <a:r>
              <a:rPr lang="en" sz="1100">
                <a:solidFill>
                  <a:schemeClr val="dk1"/>
                </a:solidFill>
                <a:latin typeface="Calibri"/>
                <a:ea typeface="Calibri"/>
                <a:cs typeface="Calibri"/>
                <a:sym typeface="Calibri"/>
              </a:rPr>
              <a:t>. </a:t>
            </a:r>
            <a:r>
              <a:rPr lang="en" sz="1100" b="1">
                <a:solidFill>
                  <a:srgbClr val="3C78D8"/>
                </a:solidFill>
                <a:latin typeface="Calibri"/>
                <a:ea typeface="Calibri"/>
                <a:cs typeface="Calibri"/>
                <a:sym typeface="Calibri"/>
              </a:rPr>
              <a:t>Available with Business and Enterprise Workspace plans.</a:t>
            </a:r>
            <a:r>
              <a:rPr lang="en" sz="1100">
                <a:solidFill>
                  <a:schemeClr val="dk1"/>
                </a:solidFill>
                <a:latin typeface="Calibri"/>
                <a:ea typeface="Calibri"/>
                <a:cs typeface="Calibri"/>
                <a:sym typeface="Calibri"/>
              </a:rPr>
              <a:t> It enables </a:t>
            </a:r>
            <a:r>
              <a:rPr lang="en" sz="1100" b="1">
                <a:solidFill>
                  <a:srgbClr val="FF0000"/>
                </a:solidFill>
                <a:latin typeface="Calibri"/>
                <a:ea typeface="Calibri"/>
                <a:cs typeface="Calibri"/>
                <a:sym typeface="Calibri"/>
              </a:rPr>
              <a:t>no-code automation</a:t>
            </a:r>
            <a:r>
              <a:rPr lang="en" sz="1100">
                <a:solidFill>
                  <a:schemeClr val="dk1"/>
                </a:solidFill>
                <a:latin typeface="Calibri"/>
                <a:ea typeface="Calibri"/>
                <a:cs typeface="Calibri"/>
                <a:sym typeface="Calibri"/>
              </a:rPr>
              <a:t> of tasks using natural language prompts, connecting apps like Gmail, Chat, Drive, and external services such as Asana and Salesforce</a:t>
            </a:r>
            <a:endParaRPr sz="1100">
              <a:solidFill>
                <a:schemeClr val="dk1"/>
              </a:solidFill>
              <a:latin typeface="Calibri"/>
              <a:ea typeface="Calibri"/>
              <a:cs typeface="Calibri"/>
              <a:sym typeface="Calibri"/>
            </a:endParaRPr>
          </a:p>
          <a:p>
            <a:pPr marL="171450" marR="0" lvl="0" indent="-114300" algn="l" rtl="0">
              <a:lnSpc>
                <a:spcPct val="100000"/>
              </a:lnSpc>
              <a:spcBef>
                <a:spcPts val="0"/>
              </a:spcBef>
              <a:spcAft>
                <a:spcPts val="0"/>
              </a:spcAft>
              <a:buClr>
                <a:schemeClr val="dk1"/>
              </a:buClr>
              <a:buSzPts val="900"/>
              <a:buFont typeface="Calibri"/>
              <a:buChar char="●"/>
            </a:pPr>
            <a:r>
              <a:rPr lang="en" sz="900" u="sng">
                <a:solidFill>
                  <a:schemeClr val="hlink"/>
                </a:solidFill>
                <a:latin typeface="Calibri"/>
                <a:ea typeface="Calibri"/>
                <a:cs typeface="Calibri"/>
                <a:sym typeface="Calibri"/>
                <a:hlinkClick r:id="rId3"/>
              </a:rPr>
              <a:t>https://workspaceupdates.googleblog.com/2025/12/workspace-studio.html</a:t>
            </a:r>
            <a:r>
              <a:rPr lang="en" sz="900">
                <a:solidFill>
                  <a:schemeClr val="dk1"/>
                </a:solidFill>
                <a:latin typeface="Calibri"/>
                <a:ea typeface="Calibri"/>
                <a:cs typeface="Calibri"/>
                <a:sym typeface="Calibri"/>
              </a:rPr>
              <a:t> </a:t>
            </a:r>
            <a:endParaRPr sz="900">
              <a:solidFill>
                <a:schemeClr val="dk1"/>
              </a:solidFill>
              <a:latin typeface="Calibri"/>
              <a:ea typeface="Calibri"/>
              <a:cs typeface="Calibri"/>
              <a:sym typeface="Calibri"/>
            </a:endParaRPr>
          </a:p>
          <a:p>
            <a:pPr marL="171450" marR="0" lvl="0" indent="-114300" algn="l" rtl="0">
              <a:lnSpc>
                <a:spcPct val="100000"/>
              </a:lnSpc>
              <a:spcBef>
                <a:spcPts val="0"/>
              </a:spcBef>
              <a:spcAft>
                <a:spcPts val="0"/>
              </a:spcAft>
              <a:buClr>
                <a:schemeClr val="dk1"/>
              </a:buClr>
              <a:buSzPts val="900"/>
              <a:buFont typeface="Calibri"/>
              <a:buChar char="●"/>
            </a:pPr>
            <a:r>
              <a:rPr lang="en" sz="900" u="sng">
                <a:solidFill>
                  <a:schemeClr val="hlink"/>
                </a:solidFill>
                <a:latin typeface="Calibri"/>
                <a:ea typeface="Calibri"/>
                <a:cs typeface="Calibri"/>
                <a:sym typeface="Calibri"/>
                <a:hlinkClick r:id="rId4"/>
              </a:rPr>
              <a:t>https://workspace.google.com/solutions/ai/</a:t>
            </a:r>
            <a:r>
              <a:rPr lang="en" sz="900">
                <a:solidFill>
                  <a:schemeClr val="dk1"/>
                </a:solidFill>
                <a:latin typeface="Calibri"/>
                <a:ea typeface="Calibri"/>
                <a:cs typeface="Calibri"/>
                <a:sym typeface="Calibri"/>
              </a:rPr>
              <a:t> </a:t>
            </a:r>
            <a:endParaRPr sz="900">
              <a:solidFill>
                <a:schemeClr val="dk1"/>
              </a:solidFill>
              <a:latin typeface="Calibri"/>
              <a:ea typeface="Calibri"/>
              <a:cs typeface="Calibri"/>
              <a:sym typeface="Calibri"/>
            </a:endParaRPr>
          </a:p>
          <a:p>
            <a:pPr marL="171450" marR="0" lvl="0" indent="-114300" algn="l" rtl="0">
              <a:lnSpc>
                <a:spcPct val="100000"/>
              </a:lnSpc>
              <a:spcBef>
                <a:spcPts val="0"/>
              </a:spcBef>
              <a:spcAft>
                <a:spcPts val="0"/>
              </a:spcAft>
              <a:buClr>
                <a:schemeClr val="dk1"/>
              </a:buClr>
              <a:buSzPts val="900"/>
              <a:buFont typeface="Calibri"/>
              <a:buChar char="●"/>
            </a:pPr>
            <a:r>
              <a:rPr lang="en" sz="900" u="sng">
                <a:solidFill>
                  <a:schemeClr val="hlink"/>
                </a:solidFill>
                <a:latin typeface="Calibri"/>
                <a:ea typeface="Calibri"/>
                <a:cs typeface="Calibri"/>
                <a:sym typeface="Calibri"/>
                <a:hlinkClick r:id="rId5"/>
              </a:rPr>
              <a:t>https://www.youtube.com/watch?v=igs5bw5P47s</a:t>
            </a:r>
            <a:r>
              <a:rPr lang="en" sz="900">
                <a:solidFill>
                  <a:schemeClr val="dk1"/>
                </a:solidFill>
                <a:latin typeface="Calibri"/>
                <a:ea typeface="Calibri"/>
                <a:cs typeface="Calibri"/>
                <a:sym typeface="Calibri"/>
              </a:rPr>
              <a:t> </a:t>
            </a:r>
            <a:endParaRPr sz="900">
              <a:solidFill>
                <a:schemeClr val="dk1"/>
              </a:solidFill>
              <a:latin typeface="Calibri"/>
              <a:ea typeface="Calibri"/>
              <a:cs typeface="Calibri"/>
              <a:sym typeface="Calibri"/>
            </a:endParaRPr>
          </a:p>
          <a:p>
            <a:pPr marL="171450" marR="0" lvl="0" indent="-114300" algn="l" rtl="0">
              <a:lnSpc>
                <a:spcPct val="100000"/>
              </a:lnSpc>
              <a:spcBef>
                <a:spcPts val="0"/>
              </a:spcBef>
              <a:spcAft>
                <a:spcPts val="0"/>
              </a:spcAft>
              <a:buClr>
                <a:schemeClr val="dk1"/>
              </a:buClr>
              <a:buSzPts val="900"/>
              <a:buFont typeface="Calibri"/>
              <a:buChar char="●"/>
            </a:pPr>
            <a:r>
              <a:rPr lang="en" sz="900" u="sng">
                <a:solidFill>
                  <a:schemeClr val="hlink"/>
                </a:solidFill>
                <a:latin typeface="Calibri"/>
                <a:ea typeface="Calibri"/>
                <a:cs typeface="Calibri"/>
                <a:sym typeface="Calibri"/>
                <a:hlinkClick r:id="rId6"/>
              </a:rPr>
              <a:t>https://support.google.com/a/users/answer/14628736?hl=en</a:t>
            </a:r>
            <a:r>
              <a:rPr lang="en" sz="900">
                <a:solidFill>
                  <a:schemeClr val="dk1"/>
                </a:solidFill>
                <a:latin typeface="Calibri"/>
                <a:ea typeface="Calibri"/>
                <a:cs typeface="Calibri"/>
                <a:sym typeface="Calibri"/>
              </a:rPr>
              <a:t> </a:t>
            </a:r>
            <a:endParaRPr sz="900">
              <a:solidFill>
                <a:schemeClr val="dk1"/>
              </a:solidFill>
              <a:latin typeface="Calibri"/>
              <a:ea typeface="Calibri"/>
              <a:cs typeface="Calibri"/>
              <a:sym typeface="Calibri"/>
            </a:endParaRPr>
          </a:p>
          <a:p>
            <a:pPr marL="171450" marR="0" lvl="0" indent="-114300" algn="l" rtl="0">
              <a:lnSpc>
                <a:spcPct val="100000"/>
              </a:lnSpc>
              <a:spcBef>
                <a:spcPts val="0"/>
              </a:spcBef>
              <a:spcAft>
                <a:spcPts val="0"/>
              </a:spcAft>
              <a:buClr>
                <a:schemeClr val="dk1"/>
              </a:buClr>
              <a:buSzPts val="900"/>
              <a:buFont typeface="Calibri"/>
              <a:buChar char="●"/>
            </a:pPr>
            <a:r>
              <a:rPr lang="en" sz="900" u="sng">
                <a:solidFill>
                  <a:schemeClr val="hlink"/>
                </a:solidFill>
                <a:latin typeface="Calibri"/>
                <a:ea typeface="Calibri"/>
                <a:cs typeface="Calibri"/>
                <a:sym typeface="Calibri"/>
                <a:hlinkClick r:id="rId7"/>
              </a:rPr>
              <a:t>https://blog.google/feed/google-workspace-generative-ai-features/</a:t>
            </a:r>
            <a:r>
              <a:rPr lang="en" sz="900">
                <a:solidFill>
                  <a:schemeClr val="dk1"/>
                </a:solidFill>
                <a:latin typeface="Calibri"/>
                <a:ea typeface="Calibri"/>
                <a:cs typeface="Calibri"/>
                <a:sym typeface="Calibri"/>
              </a:rPr>
              <a:t> </a:t>
            </a:r>
            <a:endParaRPr sz="900">
              <a:solidFill>
                <a:schemeClr val="dk1"/>
              </a:solidFill>
              <a:latin typeface="Calibri"/>
              <a:ea typeface="Calibri"/>
              <a:cs typeface="Calibri"/>
              <a:sym typeface="Calibri"/>
            </a:endParaRPr>
          </a:p>
        </p:txBody>
      </p:sp>
      <p:pic>
        <p:nvPicPr>
          <p:cNvPr id="245" name="Google Shape;245;p27"/>
          <p:cNvPicPr preferRelativeResize="0"/>
          <p:nvPr/>
        </p:nvPicPr>
        <p:blipFill>
          <a:blip r:embed="rId8" cstate="email">
            <a:alphaModFix/>
            <a:extLst>
              <a:ext uri="{28A0092B-C50C-407E-A947-70E740481C1C}">
                <a14:useLocalDpi xmlns:a14="http://schemas.microsoft.com/office/drawing/2010/main"/>
              </a:ext>
            </a:extLst>
          </a:blip>
          <a:stretch>
            <a:fillRect/>
          </a:stretch>
        </p:blipFill>
        <p:spPr>
          <a:xfrm>
            <a:off x="4651975" y="152400"/>
            <a:ext cx="4339625" cy="4339625"/>
          </a:xfrm>
          <a:prstGeom prst="rect">
            <a:avLst/>
          </a:prstGeom>
          <a:noFill/>
          <a:ln w="9525" cap="flat" cmpd="sng">
            <a:solidFill>
              <a:srgbClr val="FF0000"/>
            </a:solidFill>
            <a:prstDash val="solid"/>
            <a:round/>
            <a:headEnd type="none" w="sm" len="sm"/>
            <a:tailEnd type="none" w="sm" len="sm"/>
          </a:ln>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249"/>
        <p:cNvGrpSpPr/>
        <p:nvPr/>
      </p:nvGrpSpPr>
      <p:grpSpPr>
        <a:xfrm>
          <a:off x="0" y="0"/>
          <a:ext cx="0" cy="0"/>
          <a:chOff x="0" y="0"/>
          <a:chExt cx="0" cy="0"/>
        </a:xfrm>
      </p:grpSpPr>
      <p:sp>
        <p:nvSpPr>
          <p:cNvPr id="250" name="Google Shape;250;p28"/>
          <p:cNvSpPr txBox="1"/>
          <p:nvPr/>
        </p:nvSpPr>
        <p:spPr>
          <a:xfrm>
            <a:off x="55075" y="20375"/>
            <a:ext cx="4444500" cy="326400"/>
          </a:xfrm>
          <a:prstGeom prst="rect">
            <a:avLst/>
          </a:prstGeom>
          <a:noFill/>
          <a:ln>
            <a:noFill/>
          </a:ln>
        </p:spPr>
        <p:txBody>
          <a:bodyPr spcFirstLastPara="1" wrap="square" lIns="9125" tIns="9125" rIns="9125" bIns="9125" anchor="t" anchorCtr="0">
            <a:spAutoFit/>
          </a:bodyPr>
          <a:lstStyle/>
          <a:p>
            <a:pPr marL="0" lvl="0" indent="0" algn="l" rtl="0">
              <a:spcBef>
                <a:spcPts val="0"/>
              </a:spcBef>
              <a:spcAft>
                <a:spcPts val="0"/>
              </a:spcAft>
              <a:buClr>
                <a:schemeClr val="dk1"/>
              </a:buClr>
              <a:buSzPts val="1100"/>
              <a:buFont typeface="Arial"/>
              <a:buNone/>
            </a:pPr>
            <a:r>
              <a:rPr lang="en" sz="2000" b="1">
                <a:solidFill>
                  <a:schemeClr val="dk1"/>
                </a:solidFill>
                <a:latin typeface="Calibri"/>
                <a:ea typeface="Calibri"/>
                <a:cs typeface="Calibri"/>
                <a:sym typeface="Calibri"/>
              </a:rPr>
              <a:t>Google Titans Transformer-2</a:t>
            </a:r>
            <a:endParaRPr sz="2000" b="1">
              <a:solidFill>
                <a:schemeClr val="dk1"/>
              </a:solidFill>
              <a:latin typeface="Calibri"/>
              <a:ea typeface="Calibri"/>
              <a:cs typeface="Calibri"/>
              <a:sym typeface="Calibri"/>
            </a:endParaRPr>
          </a:p>
        </p:txBody>
      </p:sp>
      <p:sp>
        <p:nvSpPr>
          <p:cNvPr id="251" name="Google Shape;251;p28"/>
          <p:cNvSpPr txBox="1"/>
          <p:nvPr/>
        </p:nvSpPr>
        <p:spPr>
          <a:xfrm>
            <a:off x="55075" y="516725"/>
            <a:ext cx="4986600" cy="43899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171450" marR="0" lvl="0" indent="-127000" algn="l" rtl="0">
              <a:lnSpc>
                <a:spcPct val="100000"/>
              </a:lnSpc>
              <a:spcBef>
                <a:spcPts val="0"/>
              </a:spcBef>
              <a:spcAft>
                <a:spcPts val="0"/>
              </a:spcAft>
              <a:buClr>
                <a:srgbClr val="FF0000"/>
              </a:buClr>
              <a:buSzPts val="1100"/>
              <a:buFont typeface="Calibri"/>
              <a:buChar char="●"/>
            </a:pPr>
            <a:r>
              <a:rPr lang="en" sz="1100" b="1">
                <a:solidFill>
                  <a:srgbClr val="FF0000"/>
                </a:solidFill>
                <a:latin typeface="Calibri"/>
                <a:ea typeface="Calibri"/>
                <a:cs typeface="Calibri"/>
                <a:sym typeface="Calibri"/>
              </a:rPr>
              <a:t>Google Titans Transformer-2 architecture</a:t>
            </a:r>
            <a:endParaRPr sz="1100" b="1">
              <a:solidFill>
                <a:srgbClr val="FF0000"/>
              </a:solidFill>
              <a:latin typeface="Calibri"/>
              <a:ea typeface="Calibri"/>
              <a:cs typeface="Calibri"/>
              <a:sym typeface="Calibri"/>
            </a:endParaRPr>
          </a:p>
          <a:p>
            <a:pPr marL="171450" marR="0" lvl="0" indent="-127000" algn="l" rtl="0">
              <a:lnSpc>
                <a:spcPct val="100000"/>
              </a:lnSpc>
              <a:spcBef>
                <a:spcPts val="0"/>
              </a:spcBef>
              <a:spcAft>
                <a:spcPts val="0"/>
              </a:spcAft>
              <a:buClr>
                <a:srgbClr val="3C78D8"/>
              </a:buClr>
              <a:buSzPts val="1100"/>
              <a:buFont typeface="Calibri"/>
              <a:buChar char="●"/>
            </a:pPr>
            <a:r>
              <a:rPr lang="en" sz="1100" b="1">
                <a:solidFill>
                  <a:srgbClr val="3C78D8"/>
                </a:solidFill>
                <a:latin typeface="Calibri"/>
                <a:ea typeface="Calibri"/>
                <a:cs typeface="Calibri"/>
                <a:sym typeface="Calibri"/>
              </a:rPr>
              <a:t>Titans = Transformers with Interleaved Attention and Neural Storage</a:t>
            </a:r>
            <a:endParaRPr sz="1100" b="1">
              <a:solidFill>
                <a:srgbClr val="3C78D8"/>
              </a:solidFill>
              <a:latin typeface="Calibri"/>
              <a:ea typeface="Calibri"/>
              <a:cs typeface="Calibri"/>
              <a:sym typeface="Calibri"/>
            </a:endParaRPr>
          </a:p>
          <a:p>
            <a:pPr marL="171450" marR="0" lvl="0" indent="-127000" algn="l" rtl="0">
              <a:lnSpc>
                <a:spcPct val="100000"/>
              </a:lnSpc>
              <a:spcBef>
                <a:spcPts val="0"/>
              </a:spcBef>
              <a:spcAft>
                <a:spcPts val="0"/>
              </a:spcAft>
              <a:buClr>
                <a:schemeClr val="dk1"/>
              </a:buClr>
              <a:buSzPts val="1100"/>
              <a:buFont typeface="Calibri"/>
              <a:buChar char="●"/>
            </a:pPr>
            <a:r>
              <a:rPr lang="en" sz="1100" b="1">
                <a:solidFill>
                  <a:srgbClr val="6AA84F"/>
                </a:solidFill>
                <a:latin typeface="Calibri"/>
                <a:ea typeface="Calibri"/>
                <a:cs typeface="Calibri"/>
                <a:sym typeface="Calibri"/>
              </a:rPr>
              <a:t>Titans is an implementation of a MIRAS </a:t>
            </a:r>
            <a:r>
              <a:rPr lang="en" sz="1100">
                <a:solidFill>
                  <a:schemeClr val="dk1"/>
                </a:solidFill>
                <a:latin typeface="Calibri"/>
                <a:ea typeface="Calibri"/>
                <a:cs typeface="Calibri"/>
                <a:sym typeface="Calibri"/>
              </a:rPr>
              <a:t>theoretical framework for sequence models. MIRAS includes Memory architecture, (attentional) bIas, Retention gate, and (memory learning) Algorithm</a:t>
            </a:r>
            <a:endParaRPr sz="1100">
              <a:solidFill>
                <a:schemeClr val="dk1"/>
              </a:solidFill>
              <a:latin typeface="Calibri"/>
              <a:ea typeface="Calibri"/>
              <a:cs typeface="Calibri"/>
              <a:sym typeface="Calibri"/>
            </a:endParaRPr>
          </a:p>
          <a:p>
            <a:pPr marL="171450" marR="0" lvl="0" indent="-127000" algn="l" rtl="0">
              <a:lnSpc>
                <a:spcPct val="100000"/>
              </a:lnSpc>
              <a:spcBef>
                <a:spcPts val="0"/>
              </a:spcBef>
              <a:spcAft>
                <a:spcPts val="0"/>
              </a:spcAft>
              <a:buClr>
                <a:schemeClr val="dk1"/>
              </a:buClr>
              <a:buSzPts val="1100"/>
              <a:buFont typeface="Calibri"/>
              <a:buChar char="●"/>
            </a:pPr>
            <a:r>
              <a:rPr lang="en" sz="1100">
                <a:solidFill>
                  <a:schemeClr val="dk1"/>
                </a:solidFill>
                <a:latin typeface="Calibri"/>
                <a:ea typeface="Calibri"/>
                <a:cs typeface="Calibri"/>
                <a:sym typeface="Calibri"/>
              </a:rPr>
              <a:t>NeuroIPS paper "Nested Learning" - neuroscience inspired hierarchical memory system similar to human cognition</a:t>
            </a:r>
            <a:endParaRPr sz="1100">
              <a:solidFill>
                <a:schemeClr val="dk1"/>
              </a:solidFill>
              <a:latin typeface="Calibri"/>
              <a:ea typeface="Calibri"/>
              <a:cs typeface="Calibri"/>
              <a:sym typeface="Calibri"/>
            </a:endParaRPr>
          </a:p>
          <a:p>
            <a:pPr marL="171450" marR="0" lvl="0" indent="-127000" algn="l" rtl="0">
              <a:lnSpc>
                <a:spcPct val="100000"/>
              </a:lnSpc>
              <a:spcBef>
                <a:spcPts val="0"/>
              </a:spcBef>
              <a:spcAft>
                <a:spcPts val="0"/>
              </a:spcAft>
              <a:buClr>
                <a:schemeClr val="dk1"/>
              </a:buClr>
              <a:buSzPts val="1100"/>
              <a:buFont typeface="Calibri"/>
              <a:buChar char="●"/>
            </a:pPr>
            <a:r>
              <a:rPr lang="en" sz="1100">
                <a:solidFill>
                  <a:schemeClr val="dk1"/>
                </a:solidFill>
                <a:latin typeface="Calibri"/>
                <a:ea typeface="Calibri"/>
                <a:cs typeface="Calibri"/>
                <a:sym typeface="Calibri"/>
              </a:rPr>
              <a:t>It uses 3 types of memory: </a:t>
            </a:r>
            <a:r>
              <a:rPr lang="en" sz="1100" b="1">
                <a:solidFill>
                  <a:srgbClr val="6AA84F"/>
                </a:solidFill>
                <a:latin typeface="Calibri"/>
                <a:ea typeface="Calibri"/>
                <a:cs typeface="Calibri"/>
                <a:sym typeface="Calibri"/>
              </a:rPr>
              <a:t>Core (Short-term) Memory, Long-term Neural Memory , and Persistent Memory (stable storage for task-specific knowledge)</a:t>
            </a:r>
            <a:endParaRPr sz="1100" b="1">
              <a:solidFill>
                <a:srgbClr val="6AA84F"/>
              </a:solidFill>
              <a:latin typeface="Calibri"/>
              <a:ea typeface="Calibri"/>
              <a:cs typeface="Calibri"/>
              <a:sym typeface="Calibri"/>
            </a:endParaRPr>
          </a:p>
          <a:p>
            <a:pPr marL="171450" marR="0" lvl="0" indent="-127000" algn="l" rtl="0">
              <a:lnSpc>
                <a:spcPct val="100000"/>
              </a:lnSpc>
              <a:spcBef>
                <a:spcPts val="0"/>
              </a:spcBef>
              <a:spcAft>
                <a:spcPts val="0"/>
              </a:spcAft>
              <a:buClr>
                <a:schemeClr val="dk1"/>
              </a:buClr>
              <a:buSzPts val="1100"/>
              <a:buFont typeface="Calibri"/>
              <a:buChar char="●"/>
            </a:pPr>
            <a:r>
              <a:rPr lang="en" sz="1100">
                <a:solidFill>
                  <a:schemeClr val="dk1"/>
                </a:solidFill>
                <a:latin typeface="Calibri"/>
                <a:ea typeface="Calibri"/>
                <a:cs typeface="Calibri"/>
                <a:sym typeface="Calibri"/>
              </a:rPr>
              <a:t>Titans can handle massive contexts much faster </a:t>
            </a:r>
            <a:r>
              <a:rPr lang="en" sz="1100" b="1">
                <a:solidFill>
                  <a:srgbClr val="FF0000"/>
                </a:solidFill>
                <a:latin typeface="Calibri"/>
                <a:ea typeface="Calibri"/>
                <a:cs typeface="Calibri"/>
                <a:sym typeface="Calibri"/>
              </a:rPr>
              <a:t>by updating core memory in real-time during operation</a:t>
            </a:r>
            <a:r>
              <a:rPr lang="en" sz="1100">
                <a:solidFill>
                  <a:schemeClr val="dk1"/>
                </a:solidFill>
                <a:latin typeface="Calibri"/>
                <a:ea typeface="Calibri"/>
                <a:cs typeface="Calibri"/>
                <a:sym typeface="Calibri"/>
              </a:rPr>
              <a:t>, </a:t>
            </a:r>
            <a:r>
              <a:rPr lang="en" sz="1100" b="1">
                <a:solidFill>
                  <a:srgbClr val="3C78D8"/>
                </a:solidFill>
                <a:latin typeface="Calibri"/>
                <a:ea typeface="Calibri"/>
                <a:cs typeface="Calibri"/>
                <a:sym typeface="Calibri"/>
              </a:rPr>
              <a:t>combining RNN speed with Transformer accuracy</a:t>
            </a:r>
            <a:endParaRPr sz="1100" b="1">
              <a:solidFill>
                <a:srgbClr val="3C78D8"/>
              </a:solidFill>
              <a:latin typeface="Calibri"/>
              <a:ea typeface="Calibri"/>
              <a:cs typeface="Calibri"/>
              <a:sym typeface="Calibri"/>
            </a:endParaRPr>
          </a:p>
          <a:p>
            <a:pPr marL="171450" marR="0" lvl="0" indent="-127000" algn="l" rtl="0">
              <a:lnSpc>
                <a:spcPct val="100000"/>
              </a:lnSpc>
              <a:spcBef>
                <a:spcPts val="0"/>
              </a:spcBef>
              <a:spcAft>
                <a:spcPts val="0"/>
              </a:spcAft>
              <a:buClr>
                <a:schemeClr val="dk1"/>
              </a:buClr>
              <a:buSzPts val="1100"/>
              <a:buFont typeface="Calibri"/>
              <a:buChar char="●"/>
            </a:pPr>
            <a:r>
              <a:rPr lang="en" sz="1100" b="1">
                <a:solidFill>
                  <a:srgbClr val="FF0000"/>
                </a:solidFill>
                <a:latin typeface="Calibri"/>
                <a:ea typeface="Calibri"/>
                <a:cs typeface="Calibri"/>
                <a:sym typeface="Calibri"/>
              </a:rPr>
              <a:t>Titans uses a deep neural network as a long-term memory module that actively learns and updates parameters as data streams in</a:t>
            </a:r>
            <a:r>
              <a:rPr lang="en" sz="1100">
                <a:solidFill>
                  <a:schemeClr val="dk1"/>
                </a:solidFill>
                <a:latin typeface="Calibri"/>
                <a:ea typeface="Calibri"/>
                <a:cs typeface="Calibri"/>
                <a:sym typeface="Calibri"/>
              </a:rPr>
              <a:t>, rather than compressing information into fixed-size states</a:t>
            </a:r>
            <a:endParaRPr sz="1100">
              <a:solidFill>
                <a:schemeClr val="dk1"/>
              </a:solidFill>
              <a:latin typeface="Calibri"/>
              <a:ea typeface="Calibri"/>
              <a:cs typeface="Calibri"/>
              <a:sym typeface="Calibri"/>
            </a:endParaRPr>
          </a:p>
          <a:p>
            <a:pPr marL="171450" marR="0" lvl="0" indent="-127000" algn="l" rtl="0">
              <a:lnSpc>
                <a:spcPct val="100000"/>
              </a:lnSpc>
              <a:spcBef>
                <a:spcPts val="0"/>
              </a:spcBef>
              <a:spcAft>
                <a:spcPts val="0"/>
              </a:spcAft>
              <a:buClr>
                <a:schemeClr val="dk1"/>
              </a:buClr>
              <a:buSzPts val="1100"/>
              <a:buFont typeface="Calibri"/>
              <a:buChar char="●"/>
            </a:pPr>
            <a:r>
              <a:rPr lang="en" sz="1100">
                <a:solidFill>
                  <a:schemeClr val="dk1"/>
                </a:solidFill>
                <a:latin typeface="Calibri"/>
                <a:ea typeface="Calibri"/>
                <a:cs typeface="Calibri"/>
                <a:sym typeface="Calibri"/>
              </a:rPr>
              <a:t>The architecture employs a </a:t>
            </a:r>
            <a:r>
              <a:rPr lang="en" sz="1100" b="1">
                <a:solidFill>
                  <a:srgbClr val="FF0000"/>
                </a:solidFill>
                <a:latin typeface="Calibri"/>
                <a:ea typeface="Calibri"/>
                <a:cs typeface="Calibri"/>
                <a:sym typeface="Calibri"/>
              </a:rPr>
              <a:t>surprise metric</a:t>
            </a:r>
            <a:r>
              <a:rPr lang="en" sz="1100">
                <a:solidFill>
                  <a:schemeClr val="dk1"/>
                </a:solidFill>
                <a:latin typeface="Calibri"/>
                <a:ea typeface="Calibri"/>
                <a:cs typeface="Calibri"/>
                <a:sym typeface="Calibri"/>
              </a:rPr>
              <a:t> to detect unexpected information and </a:t>
            </a:r>
            <a:r>
              <a:rPr lang="en" sz="1100" b="1">
                <a:solidFill>
                  <a:srgbClr val="FF0000"/>
                </a:solidFill>
                <a:latin typeface="Calibri"/>
                <a:ea typeface="Calibri"/>
                <a:cs typeface="Calibri"/>
                <a:sym typeface="Calibri"/>
              </a:rPr>
              <a:t>selectively memorize only novel, context-breaking inputs</a:t>
            </a:r>
            <a:r>
              <a:rPr lang="en" sz="1100">
                <a:solidFill>
                  <a:schemeClr val="dk1"/>
                </a:solidFill>
                <a:latin typeface="Calibri"/>
                <a:ea typeface="Calibri"/>
                <a:cs typeface="Calibri"/>
                <a:sym typeface="Calibri"/>
              </a:rPr>
              <a:t>, similar to how humans remember surprising events over routine ones</a:t>
            </a:r>
            <a:endParaRPr sz="1100">
              <a:solidFill>
                <a:schemeClr val="dk1"/>
              </a:solidFill>
              <a:latin typeface="Calibri"/>
              <a:ea typeface="Calibri"/>
              <a:cs typeface="Calibri"/>
              <a:sym typeface="Calibri"/>
            </a:endParaRPr>
          </a:p>
          <a:p>
            <a:pPr marL="171450" marR="0" lvl="0" indent="-127000" algn="l" rtl="0">
              <a:lnSpc>
                <a:spcPct val="100000"/>
              </a:lnSpc>
              <a:spcBef>
                <a:spcPts val="0"/>
              </a:spcBef>
              <a:spcAft>
                <a:spcPts val="0"/>
              </a:spcAft>
              <a:buClr>
                <a:schemeClr val="dk1"/>
              </a:buClr>
              <a:buSzPts val="1100"/>
              <a:buFont typeface="Calibri"/>
              <a:buChar char="●"/>
            </a:pPr>
            <a:r>
              <a:rPr lang="en" sz="1100">
                <a:solidFill>
                  <a:schemeClr val="dk1"/>
                </a:solidFill>
                <a:latin typeface="Calibri"/>
                <a:ea typeface="Calibri"/>
                <a:cs typeface="Calibri"/>
                <a:sym typeface="Calibri"/>
              </a:rPr>
              <a:t>Titans outperforms Transformer++, Mamba-2, and even GPT-4 on extreme long-context tasks, successfully scaling to over 2 Mln tokens while maintaining efficient linear inference speeds</a:t>
            </a:r>
            <a:endParaRPr sz="1100">
              <a:solidFill>
                <a:schemeClr val="dk1"/>
              </a:solidFill>
              <a:latin typeface="Calibri"/>
              <a:ea typeface="Calibri"/>
              <a:cs typeface="Calibri"/>
              <a:sym typeface="Calibri"/>
            </a:endParaRPr>
          </a:p>
          <a:p>
            <a:pPr marL="171450" marR="0" lvl="0" indent="-107950" algn="l" rtl="0">
              <a:lnSpc>
                <a:spcPct val="100000"/>
              </a:lnSpc>
              <a:spcBef>
                <a:spcPts val="0"/>
              </a:spcBef>
              <a:spcAft>
                <a:spcPts val="0"/>
              </a:spcAft>
              <a:buClr>
                <a:schemeClr val="dk1"/>
              </a:buClr>
              <a:buSzPts val="800"/>
              <a:buFont typeface="Calibri"/>
              <a:buChar char="●"/>
            </a:pPr>
            <a:r>
              <a:rPr lang="en" sz="800" u="sng">
                <a:solidFill>
                  <a:schemeClr val="hlink"/>
                </a:solidFill>
                <a:latin typeface="Calibri"/>
                <a:ea typeface="Calibri"/>
                <a:cs typeface="Calibri"/>
                <a:sym typeface="Calibri"/>
                <a:hlinkClick r:id="rId3"/>
              </a:rPr>
              <a:t>https://research.google/blog/titans-miras-helping-ai-have-long-term-memory/</a:t>
            </a:r>
            <a:r>
              <a:rPr lang="en" sz="800">
                <a:solidFill>
                  <a:schemeClr val="dk1"/>
                </a:solidFill>
                <a:latin typeface="Calibri"/>
                <a:ea typeface="Calibri"/>
                <a:cs typeface="Calibri"/>
                <a:sym typeface="Calibri"/>
              </a:rPr>
              <a:t> </a:t>
            </a:r>
            <a:endParaRPr sz="800">
              <a:solidFill>
                <a:schemeClr val="dk1"/>
              </a:solidFill>
              <a:latin typeface="Calibri"/>
              <a:ea typeface="Calibri"/>
              <a:cs typeface="Calibri"/>
              <a:sym typeface="Calibri"/>
            </a:endParaRPr>
          </a:p>
          <a:p>
            <a:pPr marL="171450" marR="0" lvl="0" indent="-107950" algn="l" rtl="0">
              <a:lnSpc>
                <a:spcPct val="100000"/>
              </a:lnSpc>
              <a:spcBef>
                <a:spcPts val="0"/>
              </a:spcBef>
              <a:spcAft>
                <a:spcPts val="0"/>
              </a:spcAft>
              <a:buClr>
                <a:schemeClr val="dk1"/>
              </a:buClr>
              <a:buSzPts val="800"/>
              <a:buFont typeface="Calibri"/>
              <a:buChar char="●"/>
            </a:pPr>
            <a:r>
              <a:rPr lang="en" sz="800" u="sng">
                <a:solidFill>
                  <a:schemeClr val="hlink"/>
                </a:solidFill>
                <a:latin typeface="Calibri"/>
                <a:ea typeface="Calibri"/>
                <a:cs typeface="Calibri"/>
                <a:sym typeface="Calibri"/>
                <a:hlinkClick r:id="rId4"/>
              </a:rPr>
              <a:t>https://medium.com/data-science-collective/google-introduces-transformer-2-0-with-a-neuroscience-inspired-architecture-cf7f0d8836a4</a:t>
            </a:r>
            <a:r>
              <a:rPr lang="en" sz="800">
                <a:solidFill>
                  <a:schemeClr val="dk1"/>
                </a:solidFill>
                <a:latin typeface="Calibri"/>
                <a:ea typeface="Calibri"/>
                <a:cs typeface="Calibri"/>
                <a:sym typeface="Calibri"/>
              </a:rPr>
              <a:t> </a:t>
            </a:r>
            <a:endParaRPr sz="800">
              <a:solidFill>
                <a:schemeClr val="dk1"/>
              </a:solidFill>
              <a:latin typeface="Calibri"/>
              <a:ea typeface="Calibri"/>
              <a:cs typeface="Calibri"/>
              <a:sym typeface="Calibri"/>
            </a:endParaRPr>
          </a:p>
          <a:p>
            <a:pPr marL="171450" marR="0" lvl="0" indent="-107950" algn="l" rtl="0">
              <a:lnSpc>
                <a:spcPct val="100000"/>
              </a:lnSpc>
              <a:spcBef>
                <a:spcPts val="0"/>
              </a:spcBef>
              <a:spcAft>
                <a:spcPts val="0"/>
              </a:spcAft>
              <a:buClr>
                <a:schemeClr val="dk1"/>
              </a:buClr>
              <a:buSzPts val="800"/>
              <a:buFont typeface="Calibri"/>
              <a:buChar char="●"/>
            </a:pPr>
            <a:r>
              <a:rPr lang="en" sz="800" u="sng">
                <a:solidFill>
                  <a:schemeClr val="hlink"/>
                </a:solidFill>
                <a:latin typeface="Calibri"/>
                <a:ea typeface="Calibri"/>
                <a:cs typeface="Calibri"/>
                <a:sym typeface="Calibri"/>
                <a:hlinkClick r:id="rId5"/>
              </a:rPr>
              <a:t>https://www.towardsdeeplearning.com/this-new-google-model-might-finally-fix-broken-ai-brains-74e6b3c985fc</a:t>
            </a:r>
            <a:r>
              <a:rPr lang="en" sz="800">
                <a:solidFill>
                  <a:schemeClr val="dk1"/>
                </a:solidFill>
                <a:latin typeface="Calibri"/>
                <a:ea typeface="Calibri"/>
                <a:cs typeface="Calibri"/>
                <a:sym typeface="Calibri"/>
              </a:rPr>
              <a:t> </a:t>
            </a:r>
            <a:endParaRPr sz="800">
              <a:solidFill>
                <a:schemeClr val="dk1"/>
              </a:solidFill>
              <a:latin typeface="Calibri"/>
              <a:ea typeface="Calibri"/>
              <a:cs typeface="Calibri"/>
              <a:sym typeface="Calibri"/>
            </a:endParaRPr>
          </a:p>
          <a:p>
            <a:pPr marL="171450" marR="0" lvl="0" indent="-107950" algn="l" rtl="0">
              <a:lnSpc>
                <a:spcPct val="100000"/>
              </a:lnSpc>
              <a:spcBef>
                <a:spcPts val="0"/>
              </a:spcBef>
              <a:spcAft>
                <a:spcPts val="0"/>
              </a:spcAft>
              <a:buClr>
                <a:schemeClr val="dk1"/>
              </a:buClr>
              <a:buSzPts val="800"/>
              <a:buFont typeface="Calibri"/>
              <a:buChar char="●"/>
            </a:pPr>
            <a:r>
              <a:rPr lang="en" sz="800" u="sng">
                <a:solidFill>
                  <a:schemeClr val="hlink"/>
                </a:solidFill>
                <a:latin typeface="Calibri"/>
                <a:ea typeface="Calibri"/>
                <a:cs typeface="Calibri"/>
                <a:sym typeface="Calibri"/>
                <a:hlinkClick r:id="rId6"/>
              </a:rPr>
              <a:t>https://www.youtube.com/watch?v=x8jFFhCLDJY</a:t>
            </a:r>
            <a:r>
              <a:rPr lang="en" sz="800">
                <a:solidFill>
                  <a:schemeClr val="dk1"/>
                </a:solidFill>
                <a:latin typeface="Calibri"/>
                <a:ea typeface="Calibri"/>
                <a:cs typeface="Calibri"/>
                <a:sym typeface="Calibri"/>
              </a:rPr>
              <a:t> </a:t>
            </a:r>
            <a:endParaRPr sz="800">
              <a:solidFill>
                <a:schemeClr val="dk1"/>
              </a:solidFill>
              <a:latin typeface="Calibri"/>
              <a:ea typeface="Calibri"/>
              <a:cs typeface="Calibri"/>
              <a:sym typeface="Calibri"/>
            </a:endParaRPr>
          </a:p>
          <a:p>
            <a:pPr marL="171450" marR="0" lvl="0" indent="-107950" algn="l" rtl="0">
              <a:lnSpc>
                <a:spcPct val="100000"/>
              </a:lnSpc>
              <a:spcBef>
                <a:spcPts val="0"/>
              </a:spcBef>
              <a:spcAft>
                <a:spcPts val="0"/>
              </a:spcAft>
              <a:buClr>
                <a:schemeClr val="dk1"/>
              </a:buClr>
              <a:buSzPts val="800"/>
              <a:buFont typeface="Calibri"/>
              <a:buChar char="●"/>
            </a:pPr>
            <a:r>
              <a:rPr lang="en" sz="800" u="sng">
                <a:solidFill>
                  <a:schemeClr val="hlink"/>
                </a:solidFill>
                <a:latin typeface="Calibri"/>
                <a:ea typeface="Calibri"/>
                <a:cs typeface="Calibri"/>
                <a:sym typeface="Calibri"/>
                <a:hlinkClick r:id="rId7"/>
              </a:rPr>
              <a:t>https://www.llmwatch.com/p/google-releases-transformer-20</a:t>
            </a:r>
            <a:r>
              <a:rPr lang="en" sz="800">
                <a:solidFill>
                  <a:schemeClr val="dk1"/>
                </a:solidFill>
                <a:latin typeface="Calibri"/>
                <a:ea typeface="Calibri"/>
                <a:cs typeface="Calibri"/>
                <a:sym typeface="Calibri"/>
              </a:rPr>
              <a:t> </a:t>
            </a:r>
            <a:endParaRPr sz="800">
              <a:solidFill>
                <a:schemeClr val="dk1"/>
              </a:solidFill>
              <a:latin typeface="Calibri"/>
              <a:ea typeface="Calibri"/>
              <a:cs typeface="Calibri"/>
              <a:sym typeface="Calibri"/>
            </a:endParaRPr>
          </a:p>
          <a:p>
            <a:pPr marL="171450" marR="0" lvl="0" indent="-107950" algn="l" rtl="0">
              <a:lnSpc>
                <a:spcPct val="100000"/>
              </a:lnSpc>
              <a:spcBef>
                <a:spcPts val="0"/>
              </a:spcBef>
              <a:spcAft>
                <a:spcPts val="0"/>
              </a:spcAft>
              <a:buClr>
                <a:schemeClr val="dk1"/>
              </a:buClr>
              <a:buSzPts val="800"/>
              <a:buFont typeface="Calibri"/>
              <a:buChar char="●"/>
            </a:pPr>
            <a:r>
              <a:rPr lang="en" sz="800" u="sng">
                <a:solidFill>
                  <a:schemeClr val="hlink"/>
                </a:solidFill>
                <a:latin typeface="Calibri"/>
                <a:ea typeface="Calibri"/>
                <a:cs typeface="Calibri"/>
                <a:sym typeface="Calibri"/>
                <a:hlinkClick r:id="rId8"/>
              </a:rPr>
              <a:t>https://www.llmwatch.com/p/beyond-attention-comparing-potential</a:t>
            </a:r>
            <a:r>
              <a:rPr lang="en" sz="800">
                <a:solidFill>
                  <a:schemeClr val="dk1"/>
                </a:solidFill>
                <a:latin typeface="Calibri"/>
                <a:ea typeface="Calibri"/>
                <a:cs typeface="Calibri"/>
                <a:sym typeface="Calibri"/>
              </a:rPr>
              <a:t> </a:t>
            </a:r>
            <a:endParaRPr sz="800">
              <a:solidFill>
                <a:schemeClr val="dk1"/>
              </a:solidFill>
              <a:latin typeface="Calibri"/>
              <a:ea typeface="Calibri"/>
              <a:cs typeface="Calibri"/>
              <a:sym typeface="Calibri"/>
            </a:endParaRPr>
          </a:p>
          <a:p>
            <a:pPr marL="171450" marR="0" lvl="0" indent="-107950" algn="l" rtl="0">
              <a:lnSpc>
                <a:spcPct val="100000"/>
              </a:lnSpc>
              <a:spcBef>
                <a:spcPts val="0"/>
              </a:spcBef>
              <a:spcAft>
                <a:spcPts val="0"/>
              </a:spcAft>
              <a:buClr>
                <a:schemeClr val="dk1"/>
              </a:buClr>
              <a:buSzPts val="800"/>
              <a:buFont typeface="Calibri"/>
              <a:buChar char="●"/>
            </a:pPr>
            <a:r>
              <a:rPr lang="en" sz="800" u="sng">
                <a:solidFill>
                  <a:schemeClr val="hlink"/>
                </a:solidFill>
                <a:latin typeface="Calibri"/>
                <a:ea typeface="Calibri"/>
                <a:cs typeface="Calibri"/>
                <a:sym typeface="Calibri"/>
                <a:hlinkClick r:id="rId9"/>
              </a:rPr>
              <a:t>https://www.youtube.com/watch?v=UMkCmOTX5Ow</a:t>
            </a:r>
            <a:r>
              <a:rPr lang="en" sz="800">
                <a:solidFill>
                  <a:schemeClr val="dk1"/>
                </a:solidFill>
                <a:latin typeface="Calibri"/>
                <a:ea typeface="Calibri"/>
                <a:cs typeface="Calibri"/>
                <a:sym typeface="Calibri"/>
              </a:rPr>
              <a:t> </a:t>
            </a:r>
            <a:endParaRPr sz="800">
              <a:solidFill>
                <a:schemeClr val="dk1"/>
              </a:solidFill>
              <a:latin typeface="Calibri"/>
              <a:ea typeface="Calibri"/>
              <a:cs typeface="Calibri"/>
              <a:sym typeface="Calibri"/>
            </a:endParaRPr>
          </a:p>
        </p:txBody>
      </p:sp>
      <p:pic>
        <p:nvPicPr>
          <p:cNvPr id="252" name="Google Shape;252;p28"/>
          <p:cNvPicPr preferRelativeResize="0"/>
          <p:nvPr/>
        </p:nvPicPr>
        <p:blipFill>
          <a:blip r:embed="rId10" cstate="email">
            <a:alphaModFix/>
            <a:extLst>
              <a:ext uri="{28A0092B-C50C-407E-A947-70E740481C1C}">
                <a14:useLocalDpi xmlns:a14="http://schemas.microsoft.com/office/drawing/2010/main"/>
              </a:ext>
            </a:extLst>
          </a:blip>
          <a:stretch>
            <a:fillRect/>
          </a:stretch>
        </p:blipFill>
        <p:spPr>
          <a:xfrm>
            <a:off x="5205400" y="516725"/>
            <a:ext cx="3797524" cy="3797524"/>
          </a:xfrm>
          <a:prstGeom prst="rect">
            <a:avLst/>
          </a:prstGeom>
          <a:noFill/>
          <a:ln w="9525" cap="flat" cmpd="sng">
            <a:solidFill>
              <a:srgbClr val="FF0000"/>
            </a:solidFill>
            <a:prstDash val="solid"/>
            <a:round/>
            <a:headEnd type="none" w="sm" len="sm"/>
            <a:tailEnd type="none" w="sm" len="sm"/>
          </a:ln>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256"/>
        <p:cNvGrpSpPr/>
        <p:nvPr/>
      </p:nvGrpSpPr>
      <p:grpSpPr>
        <a:xfrm>
          <a:off x="0" y="0"/>
          <a:ext cx="0" cy="0"/>
          <a:chOff x="0" y="0"/>
          <a:chExt cx="0" cy="0"/>
        </a:xfrm>
      </p:grpSpPr>
      <p:sp>
        <p:nvSpPr>
          <p:cNvPr id="257" name="Google Shape;257;p29"/>
          <p:cNvSpPr txBox="1"/>
          <p:nvPr/>
        </p:nvSpPr>
        <p:spPr>
          <a:xfrm>
            <a:off x="55075" y="20375"/>
            <a:ext cx="3116700" cy="326400"/>
          </a:xfrm>
          <a:prstGeom prst="rect">
            <a:avLst/>
          </a:prstGeom>
          <a:noFill/>
          <a:ln>
            <a:noFill/>
          </a:ln>
        </p:spPr>
        <p:txBody>
          <a:bodyPr spcFirstLastPara="1" wrap="square" lIns="9125" tIns="9125" rIns="9125" bIns="9125" anchor="t" anchorCtr="0">
            <a:spAutoFit/>
          </a:bodyPr>
          <a:lstStyle/>
          <a:p>
            <a:pPr marL="0" marR="0" lvl="0" indent="0" algn="l" rtl="0">
              <a:lnSpc>
                <a:spcPct val="100000"/>
              </a:lnSpc>
              <a:spcBef>
                <a:spcPts val="0"/>
              </a:spcBef>
              <a:spcAft>
                <a:spcPts val="0"/>
              </a:spcAft>
              <a:buClr>
                <a:schemeClr val="dk1"/>
              </a:buClr>
              <a:buSzPts val="1100"/>
              <a:buFont typeface="Arial"/>
              <a:buNone/>
            </a:pPr>
            <a:r>
              <a:rPr lang="en" sz="2000" b="1">
                <a:solidFill>
                  <a:schemeClr val="dk1"/>
                </a:solidFill>
                <a:latin typeface="Calibri"/>
                <a:ea typeface="Calibri"/>
                <a:cs typeface="Calibri"/>
                <a:sym typeface="Calibri"/>
              </a:rPr>
              <a:t>Product Management &amp; AI</a:t>
            </a:r>
            <a:endParaRPr sz="2000" b="1" i="0" u="none" strike="noStrike" cap="none">
              <a:solidFill>
                <a:schemeClr val="dk1"/>
              </a:solidFill>
              <a:latin typeface="Calibri"/>
              <a:ea typeface="Calibri"/>
              <a:cs typeface="Calibri"/>
              <a:sym typeface="Calibri"/>
            </a:endParaRPr>
          </a:p>
        </p:txBody>
      </p:sp>
      <p:sp>
        <p:nvSpPr>
          <p:cNvPr id="258" name="Google Shape;258;p29"/>
          <p:cNvSpPr txBox="1"/>
          <p:nvPr/>
        </p:nvSpPr>
        <p:spPr>
          <a:xfrm>
            <a:off x="55075" y="467475"/>
            <a:ext cx="4853700" cy="44208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171450" marR="0" lvl="0" indent="-114300" algn="l" rtl="0">
              <a:lnSpc>
                <a:spcPct val="100000"/>
              </a:lnSpc>
              <a:spcBef>
                <a:spcPts val="0"/>
              </a:spcBef>
              <a:spcAft>
                <a:spcPts val="0"/>
              </a:spcAft>
              <a:buClr>
                <a:schemeClr val="dk1"/>
              </a:buClr>
              <a:buSzPts val="900"/>
              <a:buFont typeface="Calibri"/>
              <a:buChar char="●"/>
            </a:pPr>
            <a:r>
              <a:rPr lang="en" sz="1100" b="1">
                <a:solidFill>
                  <a:srgbClr val="FF0000"/>
                </a:solidFill>
                <a:latin typeface="Calibri"/>
                <a:ea typeface="Calibri"/>
                <a:cs typeface="Calibri"/>
                <a:sym typeface="Calibri"/>
              </a:rPr>
              <a:t>AI-native companies are hiring fewer PMs </a:t>
            </a:r>
            <a:r>
              <a:rPr lang="en" sz="1100">
                <a:latin typeface="Calibri"/>
                <a:ea typeface="Calibri"/>
                <a:cs typeface="Calibri"/>
                <a:sym typeface="Calibri"/>
              </a:rPr>
              <a:t>and favor small, extremely strong, T‑shaped teams where designers and engineers handle many traditional PM tasks (</a:t>
            </a:r>
            <a:r>
              <a:rPr lang="en" sz="1100" b="1">
                <a:solidFill>
                  <a:srgbClr val="3C78D8"/>
                </a:solidFill>
                <a:latin typeface="Calibri"/>
                <a:ea typeface="Calibri"/>
                <a:cs typeface="Calibri"/>
                <a:sym typeface="Calibri"/>
              </a:rPr>
              <a:t>"T-shaped" - individuals who combine deep expertise in one specific area with broad knowledge and collaborative abilities across multiple disciplines.</a:t>
            </a:r>
            <a:r>
              <a:rPr lang="en" sz="1100">
                <a:latin typeface="Calibri"/>
                <a:ea typeface="Calibri"/>
                <a:cs typeface="Calibri"/>
                <a:sym typeface="Calibri"/>
              </a:rPr>
              <a:t>)</a:t>
            </a:r>
            <a:endParaRPr sz="1100">
              <a:latin typeface="Calibri"/>
              <a:ea typeface="Calibri"/>
              <a:cs typeface="Calibri"/>
              <a:sym typeface="Calibri"/>
            </a:endParaRPr>
          </a:p>
          <a:p>
            <a:pPr marL="171450" marR="0" lvl="0" indent="-114300" algn="l" rtl="0">
              <a:lnSpc>
                <a:spcPct val="100000"/>
              </a:lnSpc>
              <a:spcBef>
                <a:spcPts val="0"/>
              </a:spcBef>
              <a:spcAft>
                <a:spcPts val="0"/>
              </a:spcAft>
              <a:buClr>
                <a:schemeClr val="dk1"/>
              </a:buClr>
              <a:buSzPts val="900"/>
              <a:buFont typeface="Calibri"/>
              <a:buChar char="●"/>
            </a:pPr>
            <a:r>
              <a:rPr lang="en" sz="1100">
                <a:latin typeface="Calibri"/>
                <a:ea typeface="Calibri"/>
                <a:cs typeface="Calibri"/>
                <a:sym typeface="Calibri"/>
              </a:rPr>
              <a:t>Classic big-tech PM patterns (heavy process, “stay in your lane,” lots of docs and meetings) are devalued</a:t>
            </a:r>
            <a:br>
              <a:rPr lang="en" sz="1100">
                <a:latin typeface="Calibri"/>
                <a:ea typeface="Calibri"/>
                <a:cs typeface="Calibri"/>
                <a:sym typeface="Calibri"/>
              </a:rPr>
            </a:br>
            <a:endParaRPr sz="1100">
              <a:latin typeface="Calibri"/>
              <a:ea typeface="Calibri"/>
              <a:cs typeface="Calibri"/>
              <a:sym typeface="Calibri"/>
            </a:endParaRPr>
          </a:p>
          <a:p>
            <a:pPr marL="171450" marR="0" lvl="0" indent="-114300" algn="l" rtl="0">
              <a:lnSpc>
                <a:spcPct val="100000"/>
              </a:lnSpc>
              <a:spcBef>
                <a:spcPts val="0"/>
              </a:spcBef>
              <a:spcAft>
                <a:spcPts val="0"/>
              </a:spcAft>
              <a:buClr>
                <a:schemeClr val="dk1"/>
              </a:buClr>
              <a:buSzPts val="900"/>
              <a:buFont typeface="Calibri"/>
              <a:buChar char="●"/>
            </a:pPr>
            <a:r>
              <a:rPr lang="en" sz="1100">
                <a:latin typeface="Calibri"/>
                <a:ea typeface="Calibri"/>
                <a:cs typeface="Calibri"/>
                <a:sym typeface="Calibri"/>
              </a:rPr>
              <a:t>AI compresses idea‑to‑prototype cycles. PMs are now expected to actually build prototypes themselves</a:t>
            </a:r>
            <a:endParaRPr sz="1100">
              <a:latin typeface="Calibri"/>
              <a:ea typeface="Calibri"/>
              <a:cs typeface="Calibri"/>
              <a:sym typeface="Calibri"/>
            </a:endParaRPr>
          </a:p>
          <a:p>
            <a:pPr marL="171450" marR="0" lvl="0" indent="-114300" algn="l" rtl="0">
              <a:lnSpc>
                <a:spcPct val="100000"/>
              </a:lnSpc>
              <a:spcBef>
                <a:spcPts val="0"/>
              </a:spcBef>
              <a:spcAft>
                <a:spcPts val="0"/>
              </a:spcAft>
              <a:buClr>
                <a:schemeClr val="dk1"/>
              </a:buClr>
              <a:buSzPts val="900"/>
              <a:buFont typeface="Calibri"/>
              <a:buChar char="●"/>
            </a:pPr>
            <a:r>
              <a:rPr lang="en" sz="1100">
                <a:latin typeface="Calibri"/>
                <a:ea typeface="Calibri"/>
                <a:cs typeface="Calibri"/>
                <a:sym typeface="Calibri"/>
              </a:rPr>
              <a:t>Courses and certificates signal little; proof of work and side projects matter most</a:t>
            </a:r>
            <a:br>
              <a:rPr lang="en" sz="1100">
                <a:latin typeface="Calibri"/>
                <a:ea typeface="Calibri"/>
                <a:cs typeface="Calibri"/>
                <a:sym typeface="Calibri"/>
              </a:rPr>
            </a:br>
            <a:endParaRPr sz="1100">
              <a:latin typeface="Calibri"/>
              <a:ea typeface="Calibri"/>
              <a:cs typeface="Calibri"/>
              <a:sym typeface="Calibri"/>
            </a:endParaRPr>
          </a:p>
          <a:p>
            <a:pPr marL="171450" marR="0" lvl="0" indent="-114300" algn="l" rtl="0">
              <a:lnSpc>
                <a:spcPct val="100000"/>
              </a:lnSpc>
              <a:spcBef>
                <a:spcPts val="0"/>
              </a:spcBef>
              <a:spcAft>
                <a:spcPts val="0"/>
              </a:spcAft>
              <a:buClr>
                <a:schemeClr val="dk1"/>
              </a:buClr>
              <a:buSzPts val="900"/>
              <a:buFont typeface="Calibri"/>
              <a:buChar char="●"/>
            </a:pPr>
            <a:r>
              <a:rPr lang="en" sz="1100">
                <a:latin typeface="Calibri"/>
                <a:ea typeface="Calibri"/>
                <a:cs typeface="Calibri"/>
                <a:sym typeface="Calibri"/>
              </a:rPr>
              <a:t>As PMs rise in seniority, meetings crowd-out actual building, so they must aggressively protect maker time or even step back into IC roles, given AI-augmented IC leverage</a:t>
            </a:r>
            <a:endParaRPr sz="1100">
              <a:latin typeface="Calibri"/>
              <a:ea typeface="Calibri"/>
              <a:cs typeface="Calibri"/>
              <a:sym typeface="Calibri"/>
            </a:endParaRPr>
          </a:p>
          <a:p>
            <a:pPr marL="171450" marR="0" lvl="0" indent="-114300" algn="l" rtl="0">
              <a:lnSpc>
                <a:spcPct val="100000"/>
              </a:lnSpc>
              <a:spcBef>
                <a:spcPts val="0"/>
              </a:spcBef>
              <a:spcAft>
                <a:spcPts val="0"/>
              </a:spcAft>
              <a:buClr>
                <a:schemeClr val="dk1"/>
              </a:buClr>
              <a:buSzPts val="900"/>
              <a:buFont typeface="Calibri"/>
              <a:buChar char="●"/>
            </a:pPr>
            <a:r>
              <a:rPr lang="en" sz="1100">
                <a:latin typeface="Calibri"/>
                <a:ea typeface="Calibri"/>
                <a:cs typeface="Calibri"/>
                <a:sym typeface="Calibri"/>
              </a:rPr>
              <a:t>Work intensity at AI startups clashes with parenting or other life constraints, so PMs must choose environments that match their reality</a:t>
            </a:r>
            <a:br>
              <a:rPr lang="en" sz="1100">
                <a:latin typeface="Calibri"/>
                <a:ea typeface="Calibri"/>
                <a:cs typeface="Calibri"/>
                <a:sym typeface="Calibri"/>
              </a:rPr>
            </a:br>
            <a:endParaRPr sz="1100">
              <a:latin typeface="Calibri"/>
              <a:ea typeface="Calibri"/>
              <a:cs typeface="Calibri"/>
              <a:sym typeface="Calibri"/>
            </a:endParaRPr>
          </a:p>
          <a:p>
            <a:pPr marL="171450" marR="0" lvl="0" indent="-114300" algn="l" rtl="0">
              <a:lnSpc>
                <a:spcPct val="100000"/>
              </a:lnSpc>
              <a:spcBef>
                <a:spcPts val="0"/>
              </a:spcBef>
              <a:spcAft>
                <a:spcPts val="0"/>
              </a:spcAft>
              <a:buClr>
                <a:schemeClr val="dk1"/>
              </a:buClr>
              <a:buSzPts val="900"/>
              <a:buFont typeface="Calibri"/>
              <a:buChar char="●"/>
            </a:pPr>
            <a:r>
              <a:rPr lang="en" sz="1100">
                <a:latin typeface="Calibri"/>
                <a:ea typeface="Calibri"/>
                <a:cs typeface="Calibri"/>
                <a:sym typeface="Calibri"/>
              </a:rPr>
              <a:t>Human skills - aligning stakeholders, resolving conflict, reading the room - grow more important alongside technical building</a:t>
            </a:r>
            <a:endParaRPr sz="1100">
              <a:latin typeface="Calibri"/>
              <a:ea typeface="Calibri"/>
              <a:cs typeface="Calibri"/>
              <a:sym typeface="Calibri"/>
            </a:endParaRPr>
          </a:p>
          <a:p>
            <a:pPr marL="171450" marR="0" lvl="0" indent="-114300" algn="l" rtl="0">
              <a:lnSpc>
                <a:spcPct val="100000"/>
              </a:lnSpc>
              <a:spcBef>
                <a:spcPts val="0"/>
              </a:spcBef>
              <a:spcAft>
                <a:spcPts val="0"/>
              </a:spcAft>
              <a:buClr>
                <a:schemeClr val="dk1"/>
              </a:buClr>
              <a:buSzPts val="900"/>
              <a:buFont typeface="Calibri"/>
              <a:buChar char="●"/>
            </a:pPr>
            <a:r>
              <a:rPr lang="en" sz="1100">
                <a:latin typeface="Calibri"/>
                <a:ea typeface="Calibri"/>
                <a:cs typeface="Calibri"/>
                <a:sym typeface="Calibri"/>
              </a:rPr>
              <a:t>The PMs who thrive will show "figure it out" energy, ignore rigid role boundaries, iterate fast, and let prototypes lead alignment</a:t>
            </a:r>
            <a:br>
              <a:rPr lang="en" sz="1100">
                <a:latin typeface="Calibri"/>
                <a:ea typeface="Calibri"/>
                <a:cs typeface="Calibri"/>
                <a:sym typeface="Calibri"/>
              </a:rPr>
            </a:br>
            <a:endParaRPr sz="1100">
              <a:latin typeface="Calibri"/>
              <a:ea typeface="Calibri"/>
              <a:cs typeface="Calibri"/>
              <a:sym typeface="Calibri"/>
            </a:endParaRPr>
          </a:p>
          <a:p>
            <a:pPr marL="171450" marR="0" lvl="0" indent="-114300" algn="l" rtl="0">
              <a:lnSpc>
                <a:spcPct val="100000"/>
              </a:lnSpc>
              <a:spcBef>
                <a:spcPts val="0"/>
              </a:spcBef>
              <a:spcAft>
                <a:spcPts val="0"/>
              </a:spcAft>
              <a:buClr>
                <a:schemeClr val="dk1"/>
              </a:buClr>
              <a:buSzPts val="900"/>
              <a:buFont typeface="Calibri"/>
              <a:buChar char="●"/>
            </a:pPr>
            <a:r>
              <a:rPr lang="en" sz="1100">
                <a:latin typeface="Calibri"/>
                <a:ea typeface="Calibri"/>
                <a:cs typeface="Calibri"/>
                <a:sym typeface="Calibri"/>
              </a:rPr>
              <a:t>Overall, there will be fewer but more rewarding PM roles: faster-moving, closer to the product, and better suited to builders who combine AI-enabled execution with strong influence and honest life-choice tradeoffs</a:t>
            </a:r>
            <a:endParaRPr sz="1100">
              <a:latin typeface="Calibri"/>
              <a:ea typeface="Calibri"/>
              <a:cs typeface="Calibri"/>
              <a:sym typeface="Calibri"/>
            </a:endParaRPr>
          </a:p>
          <a:p>
            <a:pPr marL="171450" marR="0" lvl="0" indent="-127000" algn="l" rtl="0">
              <a:lnSpc>
                <a:spcPct val="100000"/>
              </a:lnSpc>
              <a:spcBef>
                <a:spcPts val="0"/>
              </a:spcBef>
              <a:spcAft>
                <a:spcPts val="0"/>
              </a:spcAft>
              <a:buSzPts val="1100"/>
              <a:buFont typeface="Calibri"/>
              <a:buChar char="●"/>
            </a:pPr>
            <a:r>
              <a:rPr lang="en" sz="1100" u="sng">
                <a:solidFill>
                  <a:schemeClr val="hlink"/>
                </a:solidFill>
                <a:latin typeface="Calibri"/>
                <a:ea typeface="Calibri"/>
                <a:cs typeface="Calibri"/>
                <a:sym typeface="Calibri"/>
                <a:hlinkClick r:id="rId3"/>
              </a:rPr>
              <a:t>https://substack.com/inbox/post/168175609</a:t>
            </a:r>
            <a:r>
              <a:rPr lang="en" sz="1100">
                <a:latin typeface="Calibri"/>
                <a:ea typeface="Calibri"/>
                <a:cs typeface="Calibri"/>
                <a:sym typeface="Calibri"/>
              </a:rPr>
              <a:t> </a:t>
            </a:r>
            <a:endParaRPr sz="1100">
              <a:latin typeface="Calibri"/>
              <a:ea typeface="Calibri"/>
              <a:cs typeface="Calibri"/>
              <a:sym typeface="Calibri"/>
            </a:endParaRPr>
          </a:p>
        </p:txBody>
      </p:sp>
      <p:pic>
        <p:nvPicPr>
          <p:cNvPr id="259" name="Google Shape;259;p29"/>
          <p:cNvPicPr preferRelativeResize="0"/>
          <p:nvPr/>
        </p:nvPicPr>
        <p:blipFill>
          <a:blip r:embed="rId4" cstate="email">
            <a:alphaModFix/>
            <a:extLst>
              <a:ext uri="{28A0092B-C50C-407E-A947-70E740481C1C}">
                <a14:useLocalDpi xmlns:a14="http://schemas.microsoft.com/office/drawing/2010/main"/>
              </a:ext>
            </a:extLst>
          </a:blip>
          <a:stretch>
            <a:fillRect/>
          </a:stretch>
        </p:blipFill>
        <p:spPr>
          <a:xfrm>
            <a:off x="4993500" y="865425"/>
            <a:ext cx="3116700" cy="3116700"/>
          </a:xfrm>
          <a:prstGeom prst="rect">
            <a:avLst/>
          </a:prstGeom>
          <a:noFill/>
          <a:ln w="9525" cap="flat" cmpd="sng">
            <a:solidFill>
              <a:srgbClr val="FF0000"/>
            </a:solidFill>
            <a:prstDash val="solid"/>
            <a:round/>
            <a:headEnd type="none" w="sm" len="sm"/>
            <a:tailEnd type="none" w="sm" len="sm"/>
          </a:ln>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263"/>
        <p:cNvGrpSpPr/>
        <p:nvPr/>
      </p:nvGrpSpPr>
      <p:grpSpPr>
        <a:xfrm>
          <a:off x="0" y="0"/>
          <a:ext cx="0" cy="0"/>
          <a:chOff x="0" y="0"/>
          <a:chExt cx="0" cy="0"/>
        </a:xfrm>
      </p:grpSpPr>
      <p:sp>
        <p:nvSpPr>
          <p:cNvPr id="264" name="Google Shape;264;p30"/>
          <p:cNvSpPr txBox="1"/>
          <p:nvPr/>
        </p:nvSpPr>
        <p:spPr>
          <a:xfrm>
            <a:off x="55075" y="20375"/>
            <a:ext cx="4468800" cy="326400"/>
          </a:xfrm>
          <a:prstGeom prst="rect">
            <a:avLst/>
          </a:prstGeom>
          <a:noFill/>
          <a:ln>
            <a:noFill/>
          </a:ln>
        </p:spPr>
        <p:txBody>
          <a:bodyPr spcFirstLastPara="1" wrap="square" lIns="9125" tIns="9125" rIns="9125" bIns="9125" anchor="t" anchorCtr="0">
            <a:spAutoFit/>
          </a:bodyPr>
          <a:lstStyle/>
          <a:p>
            <a:pPr marL="0" marR="0" lvl="0" indent="0" algn="l" rtl="0">
              <a:lnSpc>
                <a:spcPct val="100000"/>
              </a:lnSpc>
              <a:spcBef>
                <a:spcPts val="0"/>
              </a:spcBef>
              <a:spcAft>
                <a:spcPts val="0"/>
              </a:spcAft>
              <a:buClr>
                <a:schemeClr val="dk1"/>
              </a:buClr>
              <a:buSzPts val="1100"/>
              <a:buFont typeface="Arial"/>
              <a:buNone/>
            </a:pPr>
            <a:r>
              <a:rPr lang="en" sz="2000" b="1">
                <a:solidFill>
                  <a:schemeClr val="dk1"/>
                </a:solidFill>
                <a:latin typeface="Calibri"/>
                <a:ea typeface="Calibri"/>
                <a:cs typeface="Calibri"/>
                <a:sym typeface="Calibri"/>
              </a:rPr>
              <a:t>AI Updates - 3</a:t>
            </a:r>
            <a:endParaRPr sz="2000" b="1" i="0" u="none" strike="noStrike" cap="none">
              <a:solidFill>
                <a:schemeClr val="dk1"/>
              </a:solidFill>
              <a:latin typeface="Calibri"/>
              <a:ea typeface="Calibri"/>
              <a:cs typeface="Calibri"/>
              <a:sym typeface="Calibri"/>
            </a:endParaRPr>
          </a:p>
        </p:txBody>
      </p:sp>
      <p:sp>
        <p:nvSpPr>
          <p:cNvPr id="265" name="Google Shape;265;p30"/>
          <p:cNvSpPr txBox="1"/>
          <p:nvPr/>
        </p:nvSpPr>
        <p:spPr>
          <a:xfrm>
            <a:off x="55075" y="531725"/>
            <a:ext cx="4542900" cy="13113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171450" marR="0" lvl="0" indent="-114300" algn="l" rtl="0">
              <a:lnSpc>
                <a:spcPct val="100000"/>
              </a:lnSpc>
              <a:spcBef>
                <a:spcPts val="0"/>
              </a:spcBef>
              <a:spcAft>
                <a:spcPts val="0"/>
              </a:spcAft>
              <a:buClr>
                <a:srgbClr val="FF0000"/>
              </a:buClr>
              <a:buSzPts val="900"/>
              <a:buFont typeface="Calibri"/>
              <a:buChar char="●"/>
            </a:pPr>
            <a:r>
              <a:rPr lang="en" sz="1100" b="1">
                <a:solidFill>
                  <a:srgbClr val="FF0000"/>
                </a:solidFill>
                <a:latin typeface="Calibri"/>
                <a:ea typeface="Calibri"/>
                <a:cs typeface="Calibri"/>
                <a:sym typeface="Calibri"/>
              </a:rPr>
              <a:t>Build a $5K/Mon Business in 15 Min (No Code, No Developers)</a:t>
            </a:r>
            <a:endParaRPr sz="1100" b="1">
              <a:solidFill>
                <a:srgbClr val="FF0000"/>
              </a:solidFill>
              <a:latin typeface="Calibri"/>
              <a:ea typeface="Calibri"/>
              <a:cs typeface="Calibri"/>
              <a:sym typeface="Calibri"/>
            </a:endParaRPr>
          </a:p>
          <a:p>
            <a:pPr marL="171450" marR="0" lvl="0" indent="-114300" algn="l" rtl="0">
              <a:lnSpc>
                <a:spcPct val="100000"/>
              </a:lnSpc>
              <a:spcBef>
                <a:spcPts val="0"/>
              </a:spcBef>
              <a:spcAft>
                <a:spcPts val="0"/>
              </a:spcAft>
              <a:buClr>
                <a:schemeClr val="dk1"/>
              </a:buClr>
              <a:buSzPts val="900"/>
              <a:buFont typeface="Calibri"/>
              <a:buChar char="●"/>
            </a:pPr>
            <a:r>
              <a:rPr lang="en" sz="1100">
                <a:latin typeface="Calibri"/>
                <a:ea typeface="Calibri"/>
                <a:cs typeface="Calibri"/>
                <a:sym typeface="Calibri"/>
              </a:rPr>
              <a:t>Use Abacus AI's Deep Agent - a no-code platform</a:t>
            </a:r>
            <a:endParaRPr sz="1100">
              <a:latin typeface="Calibri"/>
              <a:ea typeface="Calibri"/>
              <a:cs typeface="Calibri"/>
              <a:sym typeface="Calibri"/>
            </a:endParaRPr>
          </a:p>
          <a:p>
            <a:pPr marL="171450" marR="0" lvl="0" indent="-114300" algn="l" rtl="0">
              <a:lnSpc>
                <a:spcPct val="100000"/>
              </a:lnSpc>
              <a:spcBef>
                <a:spcPts val="0"/>
              </a:spcBef>
              <a:spcAft>
                <a:spcPts val="0"/>
              </a:spcAft>
              <a:buClr>
                <a:schemeClr val="dk1"/>
              </a:buClr>
              <a:buSzPts val="900"/>
              <a:buFont typeface="Calibri"/>
              <a:buChar char="●"/>
            </a:pPr>
            <a:r>
              <a:rPr lang="en" sz="1100">
                <a:latin typeface="Calibri"/>
                <a:ea typeface="Calibri"/>
                <a:cs typeface="Calibri"/>
                <a:sym typeface="Calibri"/>
              </a:rPr>
              <a:t>It builds front-end, backend, database, payments processing, automated emails, authentication system, calendar scheduling, responsive design</a:t>
            </a:r>
            <a:endParaRPr sz="1100">
              <a:latin typeface="Calibri"/>
              <a:ea typeface="Calibri"/>
              <a:cs typeface="Calibri"/>
              <a:sym typeface="Calibri"/>
            </a:endParaRPr>
          </a:p>
          <a:p>
            <a:pPr marL="171450" marR="0" lvl="0" indent="-114300" algn="l" rtl="0">
              <a:lnSpc>
                <a:spcPct val="100000"/>
              </a:lnSpc>
              <a:spcBef>
                <a:spcPts val="0"/>
              </a:spcBef>
              <a:spcAft>
                <a:spcPts val="0"/>
              </a:spcAft>
              <a:buClr>
                <a:schemeClr val="dk1"/>
              </a:buClr>
              <a:buSzPts val="900"/>
              <a:buFont typeface="Calibri"/>
              <a:buChar char="●"/>
            </a:pPr>
            <a:r>
              <a:rPr lang="en" sz="1100">
                <a:latin typeface="Calibri"/>
                <a:ea typeface="Calibri"/>
                <a:cs typeface="Calibri"/>
                <a:sym typeface="Calibri"/>
              </a:rPr>
              <a:t>The agent deploys instantly to live URLs and handles real transactions</a:t>
            </a:r>
            <a:endParaRPr sz="1100">
              <a:latin typeface="Calibri"/>
              <a:ea typeface="Calibri"/>
              <a:cs typeface="Calibri"/>
              <a:sym typeface="Calibri"/>
            </a:endParaRPr>
          </a:p>
          <a:p>
            <a:pPr marL="171450" marR="0" lvl="0" indent="-114300" algn="l" rtl="0">
              <a:lnSpc>
                <a:spcPct val="100000"/>
              </a:lnSpc>
              <a:spcBef>
                <a:spcPts val="0"/>
              </a:spcBef>
              <a:spcAft>
                <a:spcPts val="0"/>
              </a:spcAft>
              <a:buClr>
                <a:schemeClr val="dk1"/>
              </a:buClr>
              <a:buSzPts val="900"/>
              <a:buFont typeface="Calibri"/>
              <a:buChar char="●"/>
            </a:pPr>
            <a:r>
              <a:rPr lang="en" sz="1100">
                <a:latin typeface="Calibri"/>
                <a:ea typeface="Calibri"/>
                <a:cs typeface="Calibri"/>
                <a:sym typeface="Calibri"/>
              </a:rPr>
              <a:t>Backend, databases, authentication - all handled by Abacus on the cloud.</a:t>
            </a:r>
            <a:endParaRPr sz="1100">
              <a:latin typeface="Calibri"/>
              <a:ea typeface="Calibri"/>
              <a:cs typeface="Calibri"/>
              <a:sym typeface="Calibri"/>
            </a:endParaRPr>
          </a:p>
          <a:p>
            <a:pPr marL="171450" marR="0" lvl="0" indent="-101600" algn="l" rtl="0">
              <a:lnSpc>
                <a:spcPct val="100000"/>
              </a:lnSpc>
              <a:spcBef>
                <a:spcPts val="0"/>
              </a:spcBef>
              <a:spcAft>
                <a:spcPts val="0"/>
              </a:spcAft>
              <a:buClr>
                <a:schemeClr val="dk1"/>
              </a:buClr>
              <a:buSzPts val="700"/>
              <a:buFont typeface="Calibri"/>
              <a:buChar char="●"/>
            </a:pPr>
            <a:r>
              <a:rPr lang="en" sz="900" u="sng">
                <a:solidFill>
                  <a:schemeClr val="hlink"/>
                </a:solidFill>
                <a:latin typeface="Calibri"/>
                <a:ea typeface="Calibri"/>
                <a:cs typeface="Calibri"/>
                <a:sym typeface="Calibri"/>
                <a:hlinkClick r:id="rId3"/>
              </a:rPr>
              <a:t>https://www.youtube.com/watch?v=AbTHvit8w70</a:t>
            </a:r>
            <a:r>
              <a:rPr lang="en" sz="900">
                <a:latin typeface="Calibri"/>
                <a:ea typeface="Calibri"/>
                <a:cs typeface="Calibri"/>
                <a:sym typeface="Calibri"/>
              </a:rPr>
              <a:t> </a:t>
            </a:r>
            <a:endParaRPr sz="900">
              <a:latin typeface="Calibri"/>
              <a:ea typeface="Calibri"/>
              <a:cs typeface="Calibri"/>
              <a:sym typeface="Calibri"/>
            </a:endParaRPr>
          </a:p>
          <a:p>
            <a:pPr marL="171450" marR="0" lvl="0" indent="-101600" algn="l" rtl="0">
              <a:lnSpc>
                <a:spcPct val="100000"/>
              </a:lnSpc>
              <a:spcBef>
                <a:spcPts val="0"/>
              </a:spcBef>
              <a:spcAft>
                <a:spcPts val="0"/>
              </a:spcAft>
              <a:buClr>
                <a:schemeClr val="dk1"/>
              </a:buClr>
              <a:buSzPts val="700"/>
              <a:buFont typeface="Calibri"/>
              <a:buChar char="●"/>
            </a:pPr>
            <a:r>
              <a:rPr lang="en" sz="900" u="sng">
                <a:solidFill>
                  <a:schemeClr val="hlink"/>
                </a:solidFill>
                <a:latin typeface="Calibri"/>
                <a:ea typeface="Calibri"/>
                <a:cs typeface="Calibri"/>
                <a:sym typeface="Calibri"/>
                <a:hlinkClick r:id="rId4"/>
              </a:rPr>
              <a:t>https://deepagent.abacus.ai</a:t>
            </a:r>
            <a:r>
              <a:rPr lang="en" sz="900">
                <a:latin typeface="Calibri"/>
                <a:ea typeface="Calibri"/>
                <a:cs typeface="Calibri"/>
                <a:sym typeface="Calibri"/>
              </a:rPr>
              <a:t> </a:t>
            </a:r>
            <a:endParaRPr sz="900">
              <a:latin typeface="Calibri"/>
              <a:ea typeface="Calibri"/>
              <a:cs typeface="Calibri"/>
              <a:sym typeface="Calibri"/>
            </a:endParaRPr>
          </a:p>
        </p:txBody>
      </p:sp>
      <p:sp>
        <p:nvSpPr>
          <p:cNvPr id="266" name="Google Shape;266;p30"/>
          <p:cNvSpPr txBox="1"/>
          <p:nvPr/>
        </p:nvSpPr>
        <p:spPr>
          <a:xfrm>
            <a:off x="55075" y="1919625"/>
            <a:ext cx="4542900" cy="18810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171450" marR="0" lvl="0" indent="-114300" algn="l" rtl="0">
              <a:lnSpc>
                <a:spcPct val="100000"/>
              </a:lnSpc>
              <a:spcBef>
                <a:spcPts val="0"/>
              </a:spcBef>
              <a:spcAft>
                <a:spcPts val="0"/>
              </a:spcAft>
              <a:buClr>
                <a:srgbClr val="FF0000"/>
              </a:buClr>
              <a:buSzPts val="900"/>
              <a:buFont typeface="Calibri"/>
              <a:buChar char="●"/>
            </a:pPr>
            <a:r>
              <a:rPr lang="en" sz="1100" b="1">
                <a:solidFill>
                  <a:srgbClr val="FF0000"/>
                </a:solidFill>
                <a:latin typeface="Calibri"/>
                <a:ea typeface="Calibri"/>
                <a:cs typeface="Calibri"/>
                <a:sym typeface="Calibri"/>
              </a:rPr>
              <a:t>Neo Browser with Local AI</a:t>
            </a:r>
            <a:endParaRPr sz="1100" b="1">
              <a:solidFill>
                <a:srgbClr val="FF0000"/>
              </a:solidFill>
              <a:latin typeface="Calibri"/>
              <a:ea typeface="Calibri"/>
              <a:cs typeface="Calibri"/>
              <a:sym typeface="Calibri"/>
            </a:endParaRPr>
          </a:p>
          <a:p>
            <a:pPr marL="171450" marR="0" lvl="0" indent="-114300" algn="l" rtl="0">
              <a:lnSpc>
                <a:spcPct val="100000"/>
              </a:lnSpc>
              <a:spcBef>
                <a:spcPts val="0"/>
              </a:spcBef>
              <a:spcAft>
                <a:spcPts val="0"/>
              </a:spcAft>
              <a:buClr>
                <a:schemeClr val="dk1"/>
              </a:buClr>
              <a:buSzPts val="900"/>
              <a:buFont typeface="Calibri"/>
              <a:buChar char="●"/>
            </a:pPr>
            <a:r>
              <a:rPr lang="en" sz="1100">
                <a:latin typeface="Calibri"/>
                <a:ea typeface="Calibri"/>
                <a:cs typeface="Calibri"/>
                <a:sym typeface="Calibri"/>
              </a:rPr>
              <a:t>Neo is Norton's new AI web browser built for privacy, security, automation</a:t>
            </a:r>
            <a:endParaRPr sz="1100">
              <a:latin typeface="Calibri"/>
              <a:ea typeface="Calibri"/>
              <a:cs typeface="Calibri"/>
              <a:sym typeface="Calibri"/>
            </a:endParaRPr>
          </a:p>
          <a:p>
            <a:pPr marL="171450" marR="0" lvl="0" indent="-114300" algn="l" rtl="0">
              <a:lnSpc>
                <a:spcPct val="100000"/>
              </a:lnSpc>
              <a:spcBef>
                <a:spcPts val="0"/>
              </a:spcBef>
              <a:spcAft>
                <a:spcPts val="0"/>
              </a:spcAft>
              <a:buClr>
                <a:schemeClr val="dk1"/>
              </a:buClr>
              <a:buSzPts val="900"/>
              <a:buFont typeface="Calibri"/>
              <a:buChar char="●"/>
            </a:pPr>
            <a:r>
              <a:rPr lang="en" sz="1100">
                <a:latin typeface="Calibri"/>
                <a:ea typeface="Calibri"/>
                <a:cs typeface="Calibri"/>
                <a:sym typeface="Calibri"/>
              </a:rPr>
              <a:t>It runs locally and keeps all your data locally on your device</a:t>
            </a:r>
            <a:endParaRPr sz="1100">
              <a:latin typeface="Calibri"/>
              <a:ea typeface="Calibri"/>
              <a:cs typeface="Calibri"/>
              <a:sym typeface="Calibri"/>
            </a:endParaRPr>
          </a:p>
          <a:p>
            <a:pPr marL="171450" marR="0" lvl="0" indent="-114300" algn="l" rtl="0">
              <a:lnSpc>
                <a:spcPct val="100000"/>
              </a:lnSpc>
              <a:spcBef>
                <a:spcPts val="0"/>
              </a:spcBef>
              <a:spcAft>
                <a:spcPts val="0"/>
              </a:spcAft>
              <a:buClr>
                <a:schemeClr val="dk1"/>
              </a:buClr>
              <a:buSzPts val="900"/>
              <a:buFont typeface="Calibri"/>
              <a:buChar char="●"/>
            </a:pPr>
            <a:r>
              <a:rPr lang="en" sz="1100">
                <a:latin typeface="Calibri"/>
                <a:ea typeface="Calibri"/>
                <a:cs typeface="Calibri"/>
                <a:sym typeface="Calibri"/>
              </a:rPr>
              <a:t>Includes Norton WebShield security that blocks phishing and malicious sites, an AI sidebar for contextual help, inline text summaries and explanations, built-in ad blocking, image generation, and AI writing assistance</a:t>
            </a:r>
            <a:endParaRPr sz="1100">
              <a:latin typeface="Calibri"/>
              <a:ea typeface="Calibri"/>
              <a:cs typeface="Calibri"/>
              <a:sym typeface="Calibri"/>
            </a:endParaRPr>
          </a:p>
          <a:p>
            <a:pPr marL="171450" marR="0" lvl="0" indent="-114300" algn="l" rtl="0">
              <a:lnSpc>
                <a:spcPct val="100000"/>
              </a:lnSpc>
              <a:spcBef>
                <a:spcPts val="0"/>
              </a:spcBef>
              <a:spcAft>
                <a:spcPts val="0"/>
              </a:spcAft>
              <a:buClr>
                <a:schemeClr val="dk1"/>
              </a:buClr>
              <a:buSzPts val="900"/>
              <a:buFont typeface="Calibri"/>
              <a:buChar char="●"/>
            </a:pPr>
            <a:r>
              <a:rPr lang="en" sz="1100">
                <a:latin typeface="Calibri"/>
                <a:ea typeface="Calibri"/>
                <a:cs typeface="Calibri"/>
                <a:sym typeface="Calibri"/>
              </a:rPr>
              <a:t>It has long-term memory to personalize based on your usage patterns</a:t>
            </a:r>
            <a:endParaRPr sz="1100">
              <a:latin typeface="Calibri"/>
              <a:ea typeface="Calibri"/>
              <a:cs typeface="Calibri"/>
              <a:sym typeface="Calibri"/>
            </a:endParaRPr>
          </a:p>
          <a:p>
            <a:pPr marL="171450" marR="0" lvl="0" indent="-114300" algn="l" rtl="0">
              <a:lnSpc>
                <a:spcPct val="100000"/>
              </a:lnSpc>
              <a:spcBef>
                <a:spcPts val="0"/>
              </a:spcBef>
              <a:spcAft>
                <a:spcPts val="0"/>
              </a:spcAft>
              <a:buClr>
                <a:schemeClr val="dk1"/>
              </a:buClr>
              <a:buSzPts val="900"/>
              <a:buFont typeface="Calibri"/>
              <a:buChar char="●"/>
            </a:pPr>
            <a:r>
              <a:rPr lang="en" sz="1100">
                <a:latin typeface="Calibri"/>
                <a:ea typeface="Calibri"/>
                <a:cs typeface="Calibri"/>
                <a:sym typeface="Calibri"/>
              </a:rPr>
              <a:t>Neo automates research, content creation, and daily browsing tasks while maintaining complete user control over data syncing and storage</a:t>
            </a:r>
            <a:endParaRPr sz="1100">
              <a:latin typeface="Calibri"/>
              <a:ea typeface="Calibri"/>
              <a:cs typeface="Calibri"/>
              <a:sym typeface="Calibri"/>
            </a:endParaRPr>
          </a:p>
          <a:p>
            <a:pPr marL="171450" marR="0" lvl="0" indent="-114300" algn="l" rtl="0">
              <a:lnSpc>
                <a:spcPct val="100000"/>
              </a:lnSpc>
              <a:spcBef>
                <a:spcPts val="0"/>
              </a:spcBef>
              <a:spcAft>
                <a:spcPts val="0"/>
              </a:spcAft>
              <a:buClr>
                <a:schemeClr val="dk1"/>
              </a:buClr>
              <a:buSzPts val="900"/>
              <a:buFont typeface="Calibri"/>
              <a:buChar char="●"/>
            </a:pPr>
            <a:r>
              <a:rPr lang="en" sz="1100">
                <a:latin typeface="Calibri"/>
                <a:ea typeface="Calibri"/>
                <a:cs typeface="Calibri"/>
                <a:sym typeface="Calibri"/>
              </a:rPr>
              <a:t>Neo is completely free and works across operating systems</a:t>
            </a:r>
            <a:endParaRPr sz="1100">
              <a:latin typeface="Calibri"/>
              <a:ea typeface="Calibri"/>
              <a:cs typeface="Calibri"/>
              <a:sym typeface="Calibri"/>
            </a:endParaRPr>
          </a:p>
          <a:p>
            <a:pPr marL="171450" marR="0" lvl="0" indent="-114300" algn="l" rtl="0">
              <a:lnSpc>
                <a:spcPct val="100000"/>
              </a:lnSpc>
              <a:spcBef>
                <a:spcPts val="0"/>
              </a:spcBef>
              <a:spcAft>
                <a:spcPts val="0"/>
              </a:spcAft>
              <a:buClr>
                <a:schemeClr val="dk1"/>
              </a:buClr>
              <a:buSzPts val="900"/>
              <a:buFont typeface="Calibri"/>
              <a:buChar char="●"/>
            </a:pPr>
            <a:r>
              <a:rPr lang="en" sz="1100" u="sng">
                <a:solidFill>
                  <a:schemeClr val="hlink"/>
                </a:solidFill>
                <a:latin typeface="Calibri"/>
                <a:ea typeface="Calibri"/>
                <a:cs typeface="Calibri"/>
                <a:sym typeface="Calibri"/>
                <a:hlinkClick r:id="rId5"/>
              </a:rPr>
              <a:t>https://www.youtube.com/watch?v=ztUwEI0oksY</a:t>
            </a:r>
            <a:r>
              <a:rPr lang="en" sz="1100">
                <a:latin typeface="Calibri"/>
                <a:ea typeface="Calibri"/>
                <a:cs typeface="Calibri"/>
                <a:sym typeface="Calibri"/>
              </a:rPr>
              <a:t> </a:t>
            </a:r>
            <a:endParaRPr sz="1100">
              <a:latin typeface="Calibri"/>
              <a:ea typeface="Calibri"/>
              <a:cs typeface="Calibri"/>
              <a:sym typeface="Calibri"/>
            </a:endParaRPr>
          </a:p>
        </p:txBody>
      </p:sp>
      <p:pic>
        <p:nvPicPr>
          <p:cNvPr id="267" name="Google Shape;267;p30"/>
          <p:cNvPicPr preferRelativeResize="0"/>
          <p:nvPr/>
        </p:nvPicPr>
        <p:blipFill>
          <a:blip r:embed="rId6" cstate="email">
            <a:alphaModFix/>
            <a:extLst>
              <a:ext uri="{28A0092B-C50C-407E-A947-70E740481C1C}">
                <a14:useLocalDpi xmlns:a14="http://schemas.microsoft.com/office/drawing/2010/main"/>
              </a:ext>
            </a:extLst>
          </a:blip>
          <a:stretch>
            <a:fillRect/>
          </a:stretch>
        </p:blipFill>
        <p:spPr>
          <a:xfrm>
            <a:off x="4728225" y="1919625"/>
            <a:ext cx="3346883" cy="1880999"/>
          </a:xfrm>
          <a:prstGeom prst="rect">
            <a:avLst/>
          </a:prstGeom>
          <a:noFill/>
          <a:ln w="9525" cap="flat" cmpd="sng">
            <a:solidFill>
              <a:srgbClr val="FF0000"/>
            </a:solidFill>
            <a:prstDash val="solid"/>
            <a:round/>
            <a:headEnd type="none" w="sm" len="sm"/>
            <a:tailEnd type="none" w="sm" len="sm"/>
          </a:ln>
        </p:spPr>
      </p:pic>
      <p:pic>
        <p:nvPicPr>
          <p:cNvPr id="268" name="Google Shape;268;p30"/>
          <p:cNvPicPr preferRelativeResize="0"/>
          <p:nvPr/>
        </p:nvPicPr>
        <p:blipFill>
          <a:blip r:embed="rId7" cstate="email">
            <a:alphaModFix/>
            <a:extLst>
              <a:ext uri="{28A0092B-C50C-407E-A947-70E740481C1C}">
                <a14:useLocalDpi xmlns:a14="http://schemas.microsoft.com/office/drawing/2010/main"/>
              </a:ext>
            </a:extLst>
          </a:blip>
          <a:stretch>
            <a:fillRect/>
          </a:stretch>
        </p:blipFill>
        <p:spPr>
          <a:xfrm>
            <a:off x="4728225" y="531725"/>
            <a:ext cx="2229688" cy="1248625"/>
          </a:xfrm>
          <a:prstGeom prst="rect">
            <a:avLst/>
          </a:prstGeom>
          <a:noFill/>
          <a:ln w="9525" cap="flat" cmpd="sng">
            <a:solidFill>
              <a:srgbClr val="FF0000"/>
            </a:solidFill>
            <a:prstDash val="solid"/>
            <a:round/>
            <a:headEnd type="none" w="sm" len="sm"/>
            <a:tailEnd type="none" w="sm" len="sm"/>
          </a:ln>
        </p:spPr>
      </p:pic>
      <p:sp>
        <p:nvSpPr>
          <p:cNvPr id="269" name="Google Shape;269;p30"/>
          <p:cNvSpPr txBox="1"/>
          <p:nvPr/>
        </p:nvSpPr>
        <p:spPr>
          <a:xfrm>
            <a:off x="55075" y="3877225"/>
            <a:ext cx="4542900" cy="12036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171450" marR="0" lvl="0" indent="-114300" algn="l" rtl="0">
              <a:lnSpc>
                <a:spcPct val="100000"/>
              </a:lnSpc>
              <a:spcBef>
                <a:spcPts val="0"/>
              </a:spcBef>
              <a:spcAft>
                <a:spcPts val="0"/>
              </a:spcAft>
              <a:buClr>
                <a:srgbClr val="FF0000"/>
              </a:buClr>
              <a:buSzPts val="900"/>
              <a:buFont typeface="Calibri"/>
              <a:buChar char="●"/>
            </a:pPr>
            <a:r>
              <a:rPr lang="en" sz="1100" b="1">
                <a:solidFill>
                  <a:srgbClr val="FF0000"/>
                </a:solidFill>
                <a:latin typeface="Calibri"/>
                <a:ea typeface="Calibri"/>
                <a:cs typeface="Calibri"/>
                <a:sym typeface="Calibri"/>
              </a:rPr>
              <a:t>OpenAI and Disney $1B licensing deal</a:t>
            </a:r>
            <a:endParaRPr sz="1100" b="1">
              <a:solidFill>
                <a:srgbClr val="FF0000"/>
              </a:solidFill>
              <a:latin typeface="Calibri"/>
              <a:ea typeface="Calibri"/>
              <a:cs typeface="Calibri"/>
              <a:sym typeface="Calibri"/>
            </a:endParaRPr>
          </a:p>
          <a:p>
            <a:pPr marL="171450" marR="0" lvl="0" indent="-114300" algn="l" rtl="0">
              <a:lnSpc>
                <a:spcPct val="100000"/>
              </a:lnSpc>
              <a:spcBef>
                <a:spcPts val="0"/>
              </a:spcBef>
              <a:spcAft>
                <a:spcPts val="0"/>
              </a:spcAft>
              <a:buClr>
                <a:schemeClr val="dk1"/>
              </a:buClr>
              <a:buSzPts val="900"/>
              <a:buFont typeface="Calibri"/>
              <a:buChar char="●"/>
            </a:pPr>
            <a:r>
              <a:rPr lang="en" sz="1100">
                <a:latin typeface="Calibri"/>
                <a:ea typeface="Calibri"/>
                <a:cs typeface="Calibri"/>
                <a:sym typeface="Calibri"/>
              </a:rPr>
              <a:t>Disney invests $1B into OpenAI and gives it a 3-year licensing deal giving Sora users access to 200+ characters from Disney, Marvel, Pixar, and Star Wars</a:t>
            </a:r>
            <a:endParaRPr sz="1100">
              <a:latin typeface="Calibri"/>
              <a:ea typeface="Calibri"/>
              <a:cs typeface="Calibri"/>
              <a:sym typeface="Calibri"/>
            </a:endParaRPr>
          </a:p>
          <a:p>
            <a:pPr marL="171450" marR="0" lvl="0" indent="-127000" algn="l" rtl="0">
              <a:lnSpc>
                <a:spcPct val="100000"/>
              </a:lnSpc>
              <a:spcBef>
                <a:spcPts val="0"/>
              </a:spcBef>
              <a:spcAft>
                <a:spcPts val="0"/>
              </a:spcAft>
              <a:buSzPts val="1100"/>
              <a:buFont typeface="Calibri"/>
              <a:buChar char="●"/>
            </a:pPr>
            <a:r>
              <a:rPr lang="en" sz="1100">
                <a:latin typeface="Calibri"/>
                <a:ea typeface="Calibri"/>
                <a:cs typeface="Calibri"/>
                <a:sym typeface="Calibri"/>
              </a:rPr>
              <a:t>Disney is also deploying OpenAI’s APIs across products and rolling out ChatGPT internally as part of a broader enterprise push</a:t>
            </a:r>
            <a:endParaRPr sz="1100">
              <a:latin typeface="Calibri"/>
              <a:ea typeface="Calibri"/>
              <a:cs typeface="Calibri"/>
              <a:sym typeface="Calibri"/>
            </a:endParaRPr>
          </a:p>
          <a:p>
            <a:pPr marL="171450" marR="0" lvl="0" indent="-114300" algn="l" rtl="0">
              <a:lnSpc>
                <a:spcPct val="100000"/>
              </a:lnSpc>
              <a:spcBef>
                <a:spcPts val="0"/>
              </a:spcBef>
              <a:spcAft>
                <a:spcPts val="0"/>
              </a:spcAft>
              <a:buClr>
                <a:schemeClr val="dk1"/>
              </a:buClr>
              <a:buSzPts val="900"/>
              <a:buFont typeface="Calibri"/>
              <a:buChar char="●"/>
            </a:pPr>
            <a:r>
              <a:rPr lang="en" sz="1100">
                <a:latin typeface="Calibri"/>
                <a:ea typeface="Calibri"/>
                <a:cs typeface="Calibri"/>
                <a:sym typeface="Calibri"/>
              </a:rPr>
              <a:t>Disney also sent a cease-and-desist to Google on the same day</a:t>
            </a:r>
            <a:endParaRPr sz="1100">
              <a:latin typeface="Calibri"/>
              <a:ea typeface="Calibri"/>
              <a:cs typeface="Calibri"/>
              <a:sym typeface="Calibri"/>
            </a:endParaRPr>
          </a:p>
        </p:txBody>
      </p:sp>
      <p:pic>
        <p:nvPicPr>
          <p:cNvPr id="270" name="Google Shape;270;p30"/>
          <p:cNvPicPr preferRelativeResize="0"/>
          <p:nvPr/>
        </p:nvPicPr>
        <p:blipFill>
          <a:blip r:embed="rId8" cstate="email">
            <a:alphaModFix/>
            <a:extLst>
              <a:ext uri="{28A0092B-C50C-407E-A947-70E740481C1C}">
                <a14:useLocalDpi xmlns:a14="http://schemas.microsoft.com/office/drawing/2010/main"/>
              </a:ext>
            </a:extLst>
          </a:blip>
          <a:stretch>
            <a:fillRect/>
          </a:stretch>
        </p:blipFill>
        <p:spPr>
          <a:xfrm>
            <a:off x="4725913" y="3877225"/>
            <a:ext cx="4197922" cy="1203600"/>
          </a:xfrm>
          <a:prstGeom prst="rect">
            <a:avLst/>
          </a:prstGeom>
          <a:noFill/>
          <a:ln w="9525" cap="flat" cmpd="sng">
            <a:solidFill>
              <a:srgbClr val="FF0000"/>
            </a:solidFill>
            <a:prstDash val="solid"/>
            <a:round/>
            <a:headEnd type="none" w="sm" len="sm"/>
            <a:tailEnd type="none" w="sm" len="sm"/>
          </a:ln>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274"/>
        <p:cNvGrpSpPr/>
        <p:nvPr/>
      </p:nvGrpSpPr>
      <p:grpSpPr>
        <a:xfrm>
          <a:off x="0" y="0"/>
          <a:ext cx="0" cy="0"/>
          <a:chOff x="0" y="0"/>
          <a:chExt cx="0" cy="0"/>
        </a:xfrm>
      </p:grpSpPr>
      <p:sp>
        <p:nvSpPr>
          <p:cNvPr id="275" name="Google Shape;275;p31"/>
          <p:cNvSpPr txBox="1"/>
          <p:nvPr/>
        </p:nvSpPr>
        <p:spPr>
          <a:xfrm>
            <a:off x="55075" y="20375"/>
            <a:ext cx="4468800" cy="326400"/>
          </a:xfrm>
          <a:prstGeom prst="rect">
            <a:avLst/>
          </a:prstGeom>
          <a:noFill/>
          <a:ln>
            <a:noFill/>
          </a:ln>
        </p:spPr>
        <p:txBody>
          <a:bodyPr spcFirstLastPara="1" wrap="square" lIns="9125" tIns="9125" rIns="9125" bIns="9125" anchor="t" anchorCtr="0">
            <a:spAutoFit/>
          </a:bodyPr>
          <a:lstStyle/>
          <a:p>
            <a:pPr marL="0" marR="0" lvl="0" indent="0" algn="l" rtl="0">
              <a:lnSpc>
                <a:spcPct val="100000"/>
              </a:lnSpc>
              <a:spcBef>
                <a:spcPts val="0"/>
              </a:spcBef>
              <a:spcAft>
                <a:spcPts val="0"/>
              </a:spcAft>
              <a:buClr>
                <a:schemeClr val="dk1"/>
              </a:buClr>
              <a:buSzPts val="1100"/>
              <a:buFont typeface="Arial"/>
              <a:buNone/>
            </a:pPr>
            <a:r>
              <a:rPr lang="en" sz="2000" b="1">
                <a:solidFill>
                  <a:schemeClr val="dk1"/>
                </a:solidFill>
                <a:latin typeface="Calibri"/>
                <a:ea typeface="Calibri"/>
                <a:cs typeface="Calibri"/>
                <a:sym typeface="Calibri"/>
              </a:rPr>
              <a:t>AI Updates - 4</a:t>
            </a:r>
            <a:endParaRPr sz="2000" b="1" i="0" u="none" strike="noStrike" cap="none">
              <a:solidFill>
                <a:schemeClr val="dk1"/>
              </a:solidFill>
              <a:latin typeface="Calibri"/>
              <a:ea typeface="Calibri"/>
              <a:cs typeface="Calibri"/>
              <a:sym typeface="Calibri"/>
            </a:endParaRPr>
          </a:p>
        </p:txBody>
      </p:sp>
      <p:sp>
        <p:nvSpPr>
          <p:cNvPr id="276" name="Google Shape;276;p31"/>
          <p:cNvSpPr txBox="1"/>
          <p:nvPr/>
        </p:nvSpPr>
        <p:spPr>
          <a:xfrm>
            <a:off x="55075" y="352825"/>
            <a:ext cx="5010300" cy="17115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171450" marR="0" lvl="0" indent="-114300" algn="l" rtl="0">
              <a:lnSpc>
                <a:spcPct val="100000"/>
              </a:lnSpc>
              <a:spcBef>
                <a:spcPts val="0"/>
              </a:spcBef>
              <a:spcAft>
                <a:spcPts val="0"/>
              </a:spcAft>
              <a:buClr>
                <a:srgbClr val="FF0000"/>
              </a:buClr>
              <a:buSzPts val="900"/>
              <a:buFont typeface="Calibri"/>
              <a:buChar char="●"/>
            </a:pPr>
            <a:r>
              <a:rPr lang="en" sz="1100" b="1">
                <a:solidFill>
                  <a:srgbClr val="FF0000"/>
                </a:solidFill>
                <a:latin typeface="Calibri"/>
                <a:ea typeface="Calibri"/>
                <a:cs typeface="Calibri"/>
                <a:sym typeface="Calibri"/>
              </a:rPr>
              <a:t>Amazon Nova AI automation on AWS Bedrock</a:t>
            </a:r>
            <a:endParaRPr sz="1100" b="1">
              <a:solidFill>
                <a:srgbClr val="FF0000"/>
              </a:solidFill>
              <a:latin typeface="Calibri"/>
              <a:ea typeface="Calibri"/>
              <a:cs typeface="Calibri"/>
              <a:sym typeface="Calibri"/>
            </a:endParaRPr>
          </a:p>
          <a:p>
            <a:pPr marL="171450" marR="0" lvl="0" indent="-114300" algn="l" rtl="0">
              <a:lnSpc>
                <a:spcPct val="100000"/>
              </a:lnSpc>
              <a:spcBef>
                <a:spcPts val="0"/>
              </a:spcBef>
              <a:spcAft>
                <a:spcPts val="0"/>
              </a:spcAft>
              <a:buClr>
                <a:schemeClr val="dk1"/>
              </a:buClr>
              <a:buSzPts val="900"/>
              <a:buFont typeface="Calibri"/>
              <a:buChar char="●"/>
            </a:pPr>
            <a:r>
              <a:rPr lang="en" sz="1100">
                <a:latin typeface="Calibri"/>
                <a:ea typeface="Calibri"/>
                <a:cs typeface="Calibri"/>
                <a:sym typeface="Calibri"/>
              </a:rPr>
              <a:t>Examples: use API to handle lead qualification, customer support, inventory management, email responses, and appointment booking</a:t>
            </a:r>
            <a:endParaRPr sz="1100">
              <a:latin typeface="Calibri"/>
              <a:ea typeface="Calibri"/>
              <a:cs typeface="Calibri"/>
              <a:sym typeface="Calibri"/>
            </a:endParaRPr>
          </a:p>
          <a:p>
            <a:pPr marL="171450" marR="0" lvl="0" indent="-114300" algn="l" rtl="0">
              <a:lnSpc>
                <a:spcPct val="100000"/>
              </a:lnSpc>
              <a:spcBef>
                <a:spcPts val="0"/>
              </a:spcBef>
              <a:spcAft>
                <a:spcPts val="0"/>
              </a:spcAft>
              <a:buClr>
                <a:schemeClr val="dk1"/>
              </a:buClr>
              <a:buSzPts val="900"/>
              <a:buFont typeface="Calibri"/>
              <a:buChar char="●"/>
            </a:pPr>
            <a:r>
              <a:rPr lang="en" sz="1100">
                <a:latin typeface="Calibri"/>
                <a:ea typeface="Calibri"/>
                <a:cs typeface="Calibri"/>
                <a:sym typeface="Calibri"/>
              </a:rPr>
              <a:t>Three versions: Nova Micro for text tasks, Nova Light for images and text, and Nova Pro for video and complex reasoning</a:t>
            </a:r>
            <a:endParaRPr sz="1100">
              <a:latin typeface="Calibri"/>
              <a:ea typeface="Calibri"/>
              <a:cs typeface="Calibri"/>
              <a:sym typeface="Calibri"/>
            </a:endParaRPr>
          </a:p>
          <a:p>
            <a:pPr marL="171450" marR="0" lvl="0" indent="-114300" algn="l" rtl="0">
              <a:lnSpc>
                <a:spcPct val="100000"/>
              </a:lnSpc>
              <a:spcBef>
                <a:spcPts val="0"/>
              </a:spcBef>
              <a:spcAft>
                <a:spcPts val="0"/>
              </a:spcAft>
              <a:buClr>
                <a:schemeClr val="dk1"/>
              </a:buClr>
              <a:buSzPts val="900"/>
              <a:buFont typeface="Calibri"/>
              <a:buChar char="●"/>
            </a:pPr>
            <a:r>
              <a:rPr lang="en" sz="1100">
                <a:latin typeface="Calibri"/>
                <a:ea typeface="Calibri"/>
                <a:cs typeface="Calibri"/>
                <a:sym typeface="Calibri"/>
              </a:rPr>
              <a:t>Low cost compared to GPT</a:t>
            </a:r>
            <a:endParaRPr sz="1100">
              <a:latin typeface="Calibri"/>
              <a:ea typeface="Calibri"/>
              <a:cs typeface="Calibri"/>
              <a:sym typeface="Calibri"/>
            </a:endParaRPr>
          </a:p>
          <a:p>
            <a:pPr marL="171450" marR="0" lvl="0" indent="-114300" algn="l" rtl="0">
              <a:lnSpc>
                <a:spcPct val="100000"/>
              </a:lnSpc>
              <a:spcBef>
                <a:spcPts val="0"/>
              </a:spcBef>
              <a:spcAft>
                <a:spcPts val="0"/>
              </a:spcAft>
              <a:buClr>
                <a:schemeClr val="dk1"/>
              </a:buClr>
              <a:buSzPts val="900"/>
              <a:buFont typeface="Calibri"/>
              <a:buChar char="●"/>
            </a:pPr>
            <a:r>
              <a:rPr lang="en" sz="1100">
                <a:latin typeface="Calibri"/>
                <a:ea typeface="Calibri"/>
                <a:cs typeface="Calibri"/>
                <a:sym typeface="Calibri"/>
              </a:rPr>
              <a:t>AWS security infrastructure, and scalability</a:t>
            </a:r>
            <a:endParaRPr sz="1100">
              <a:latin typeface="Calibri"/>
              <a:ea typeface="Calibri"/>
              <a:cs typeface="Calibri"/>
              <a:sym typeface="Calibri"/>
            </a:endParaRPr>
          </a:p>
          <a:p>
            <a:pPr marL="171450" marR="0" lvl="0" indent="-114300" algn="l" rtl="0">
              <a:lnSpc>
                <a:spcPct val="100000"/>
              </a:lnSpc>
              <a:spcBef>
                <a:spcPts val="0"/>
              </a:spcBef>
              <a:spcAft>
                <a:spcPts val="0"/>
              </a:spcAft>
              <a:buClr>
                <a:schemeClr val="dk1"/>
              </a:buClr>
              <a:buSzPts val="900"/>
              <a:buFont typeface="Calibri"/>
              <a:buChar char="●"/>
            </a:pPr>
            <a:r>
              <a:rPr lang="en" sz="1100">
                <a:latin typeface="Calibri"/>
                <a:ea typeface="Calibri"/>
                <a:cs typeface="Calibri"/>
                <a:sym typeface="Calibri"/>
              </a:rPr>
              <a:t>Amazon reports 76% accuracy in issue resolution and 86% tool accuracy</a:t>
            </a:r>
            <a:endParaRPr sz="1100">
              <a:latin typeface="Calibri"/>
              <a:ea typeface="Calibri"/>
              <a:cs typeface="Calibri"/>
              <a:sym typeface="Calibri"/>
            </a:endParaRPr>
          </a:p>
          <a:p>
            <a:pPr marL="171450" marR="0" lvl="0" indent="-114300" algn="l" rtl="0">
              <a:lnSpc>
                <a:spcPct val="100000"/>
              </a:lnSpc>
              <a:spcBef>
                <a:spcPts val="0"/>
              </a:spcBef>
              <a:spcAft>
                <a:spcPts val="0"/>
              </a:spcAft>
              <a:buClr>
                <a:schemeClr val="dk1"/>
              </a:buClr>
              <a:buSzPts val="900"/>
              <a:buFont typeface="Calibri"/>
              <a:buChar char="●"/>
            </a:pPr>
            <a:r>
              <a:rPr lang="en" sz="1100">
                <a:latin typeface="Calibri"/>
                <a:ea typeface="Calibri"/>
                <a:cs typeface="Calibri"/>
                <a:sym typeface="Calibri"/>
              </a:rPr>
              <a:t>The platform is designed for businesses running thousands of automated tasks</a:t>
            </a:r>
            <a:endParaRPr sz="1100">
              <a:latin typeface="Calibri"/>
              <a:ea typeface="Calibri"/>
              <a:cs typeface="Calibri"/>
              <a:sym typeface="Calibri"/>
            </a:endParaRPr>
          </a:p>
          <a:p>
            <a:pPr marL="171450" marR="0" lvl="0" indent="-114300" algn="l" rtl="0">
              <a:lnSpc>
                <a:spcPct val="100000"/>
              </a:lnSpc>
              <a:spcBef>
                <a:spcPts val="0"/>
              </a:spcBef>
              <a:spcAft>
                <a:spcPts val="0"/>
              </a:spcAft>
              <a:buClr>
                <a:schemeClr val="dk1"/>
              </a:buClr>
              <a:buSzPts val="900"/>
              <a:buFont typeface="Calibri"/>
              <a:buChar char="●"/>
            </a:pPr>
            <a:r>
              <a:rPr lang="en" sz="1100" u="sng">
                <a:solidFill>
                  <a:schemeClr val="hlink"/>
                </a:solidFill>
                <a:latin typeface="Calibri"/>
                <a:ea typeface="Calibri"/>
                <a:cs typeface="Calibri"/>
                <a:sym typeface="Calibri"/>
                <a:hlinkClick r:id="rId3"/>
              </a:rPr>
              <a:t>https://www.youtube.com/watch?v=WtakSx5lhcM</a:t>
            </a:r>
            <a:r>
              <a:rPr lang="en" sz="1100">
                <a:latin typeface="Calibri"/>
                <a:ea typeface="Calibri"/>
                <a:cs typeface="Calibri"/>
                <a:sym typeface="Calibri"/>
              </a:rPr>
              <a:t> </a:t>
            </a:r>
            <a:endParaRPr sz="1100">
              <a:latin typeface="Calibri"/>
              <a:ea typeface="Calibri"/>
              <a:cs typeface="Calibri"/>
              <a:sym typeface="Calibri"/>
            </a:endParaRPr>
          </a:p>
        </p:txBody>
      </p:sp>
      <p:sp>
        <p:nvSpPr>
          <p:cNvPr id="277" name="Google Shape;277;p31"/>
          <p:cNvSpPr txBox="1"/>
          <p:nvPr/>
        </p:nvSpPr>
        <p:spPr>
          <a:xfrm>
            <a:off x="55075" y="2115093"/>
            <a:ext cx="5010300" cy="29739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171450" marR="0" lvl="0" indent="-114300" algn="l" rtl="0">
              <a:lnSpc>
                <a:spcPct val="100000"/>
              </a:lnSpc>
              <a:spcBef>
                <a:spcPts val="0"/>
              </a:spcBef>
              <a:spcAft>
                <a:spcPts val="0"/>
              </a:spcAft>
              <a:buClr>
                <a:srgbClr val="FF0000"/>
              </a:buClr>
              <a:buSzPts val="900"/>
              <a:buFont typeface="Calibri"/>
              <a:buChar char="●"/>
            </a:pPr>
            <a:r>
              <a:rPr lang="en" sz="1100" b="1">
                <a:solidFill>
                  <a:srgbClr val="FF0000"/>
                </a:solidFill>
                <a:latin typeface="Calibri"/>
                <a:ea typeface="Calibri"/>
                <a:cs typeface="Calibri"/>
                <a:sym typeface="Calibri"/>
              </a:rPr>
              <a:t>Krea AI Node App Builder </a:t>
            </a:r>
            <a:endParaRPr sz="1100" b="1">
              <a:solidFill>
                <a:srgbClr val="FF0000"/>
              </a:solidFill>
              <a:latin typeface="Calibri"/>
              <a:ea typeface="Calibri"/>
              <a:cs typeface="Calibri"/>
              <a:sym typeface="Calibri"/>
            </a:endParaRPr>
          </a:p>
          <a:p>
            <a:pPr marL="171450" marR="0" lvl="0" indent="-114300" algn="l" rtl="0">
              <a:lnSpc>
                <a:spcPct val="100000"/>
              </a:lnSpc>
              <a:spcBef>
                <a:spcPts val="0"/>
              </a:spcBef>
              <a:spcAft>
                <a:spcPts val="0"/>
              </a:spcAft>
              <a:buClr>
                <a:srgbClr val="3C78D8"/>
              </a:buClr>
              <a:buSzPts val="900"/>
              <a:buFont typeface="Calibri"/>
              <a:buChar char="●"/>
            </a:pPr>
            <a:r>
              <a:rPr lang="en" sz="1100" b="1">
                <a:solidFill>
                  <a:srgbClr val="3C78D8"/>
                </a:solidFill>
                <a:latin typeface="Calibri"/>
                <a:ea typeface="Calibri"/>
                <a:cs typeface="Calibri"/>
                <a:sym typeface="Calibri"/>
              </a:rPr>
              <a:t>Convert complex AI workflows into standalone apps without coding</a:t>
            </a:r>
            <a:endParaRPr sz="1100" b="1">
              <a:solidFill>
                <a:srgbClr val="3C78D8"/>
              </a:solidFill>
              <a:latin typeface="Calibri"/>
              <a:ea typeface="Calibri"/>
              <a:cs typeface="Calibri"/>
              <a:sym typeface="Calibri"/>
            </a:endParaRPr>
          </a:p>
          <a:p>
            <a:pPr marL="171450" marR="0" lvl="0" indent="-114300" algn="l" rtl="0">
              <a:lnSpc>
                <a:spcPct val="100000"/>
              </a:lnSpc>
              <a:spcBef>
                <a:spcPts val="0"/>
              </a:spcBef>
              <a:spcAft>
                <a:spcPts val="0"/>
              </a:spcAft>
              <a:buClr>
                <a:schemeClr val="dk1"/>
              </a:buClr>
              <a:buSzPts val="900"/>
              <a:buFont typeface="Calibri"/>
              <a:buChar char="●"/>
            </a:pPr>
            <a:r>
              <a:rPr lang="en" sz="1100">
                <a:latin typeface="Calibri"/>
                <a:ea typeface="Calibri"/>
                <a:cs typeface="Calibri"/>
                <a:sym typeface="Calibri"/>
              </a:rPr>
              <a:t>The feature </a:t>
            </a:r>
            <a:r>
              <a:rPr lang="en" sz="1100" b="1">
                <a:solidFill>
                  <a:srgbClr val="6AA84F"/>
                </a:solidFill>
                <a:latin typeface="Calibri"/>
                <a:ea typeface="Calibri"/>
                <a:cs typeface="Calibri"/>
                <a:sym typeface="Calibri"/>
              </a:rPr>
              <a:t>builds on Krea's existing node-based system, which lets creators chain together over 50 AI models for image generation, video creation, upscaling, editing, and 3D work on a visual canvas</a:t>
            </a:r>
            <a:endParaRPr sz="1100" b="1">
              <a:solidFill>
                <a:srgbClr val="6AA84F"/>
              </a:solidFill>
              <a:latin typeface="Calibri"/>
              <a:ea typeface="Calibri"/>
              <a:cs typeface="Calibri"/>
              <a:sym typeface="Calibri"/>
            </a:endParaRPr>
          </a:p>
          <a:p>
            <a:pPr marL="171450" marR="0" lvl="0" indent="-114300" algn="l" rtl="0">
              <a:lnSpc>
                <a:spcPct val="100000"/>
              </a:lnSpc>
              <a:spcBef>
                <a:spcPts val="0"/>
              </a:spcBef>
              <a:spcAft>
                <a:spcPts val="0"/>
              </a:spcAft>
              <a:buClr>
                <a:schemeClr val="dk1"/>
              </a:buClr>
              <a:buSzPts val="900"/>
              <a:buFont typeface="Calibri"/>
              <a:buChar char="●"/>
            </a:pPr>
            <a:r>
              <a:rPr lang="en" sz="1100">
                <a:latin typeface="Calibri"/>
                <a:ea typeface="Calibri"/>
                <a:cs typeface="Calibri"/>
                <a:sym typeface="Calibri"/>
              </a:rPr>
              <a:t>Once a workflow is built, Node App Builder packages it into a simple interface where anyone can input a prompt, click generate, and receive results without understanding the underlying complexity</a:t>
            </a:r>
            <a:endParaRPr sz="1100">
              <a:latin typeface="Calibri"/>
              <a:ea typeface="Calibri"/>
              <a:cs typeface="Calibri"/>
              <a:sym typeface="Calibri"/>
            </a:endParaRPr>
          </a:p>
          <a:p>
            <a:pPr marL="171450" marR="0" lvl="0" indent="-114300" algn="l" rtl="0">
              <a:lnSpc>
                <a:spcPct val="100000"/>
              </a:lnSpc>
              <a:spcBef>
                <a:spcPts val="0"/>
              </a:spcBef>
              <a:spcAft>
                <a:spcPts val="0"/>
              </a:spcAft>
              <a:buClr>
                <a:schemeClr val="dk1"/>
              </a:buClr>
              <a:buSzPts val="900"/>
              <a:buFont typeface="Calibri"/>
              <a:buChar char="●"/>
            </a:pPr>
            <a:r>
              <a:rPr lang="en" sz="1100">
                <a:latin typeface="Calibri"/>
                <a:ea typeface="Calibri"/>
                <a:cs typeface="Calibri"/>
                <a:sym typeface="Calibri"/>
              </a:rPr>
              <a:t>This democratizes AI tool creation for marketers, agencies, designers, and small businesses, allowing them to automate repetitive tasks like generating branded video ads or product mockups while maintaining creative control and consistency</a:t>
            </a:r>
            <a:endParaRPr sz="1100">
              <a:latin typeface="Calibri"/>
              <a:ea typeface="Calibri"/>
              <a:cs typeface="Calibri"/>
              <a:sym typeface="Calibri"/>
            </a:endParaRPr>
          </a:p>
          <a:p>
            <a:pPr marL="171450" marR="0" lvl="0" indent="-114300" algn="l" rtl="0">
              <a:lnSpc>
                <a:spcPct val="100000"/>
              </a:lnSpc>
              <a:spcBef>
                <a:spcPts val="0"/>
              </a:spcBef>
              <a:spcAft>
                <a:spcPts val="0"/>
              </a:spcAft>
              <a:buClr>
                <a:schemeClr val="dk1"/>
              </a:buClr>
              <a:buSzPts val="900"/>
              <a:buFont typeface="Calibri"/>
              <a:buChar char="●"/>
            </a:pPr>
            <a:r>
              <a:rPr lang="en" sz="1100">
                <a:latin typeface="Calibri"/>
                <a:ea typeface="Calibri"/>
                <a:cs typeface="Calibri"/>
                <a:sym typeface="Calibri"/>
              </a:rPr>
              <a:t>Users design workflows once with full control over models and parameters, then deploy them as scalable, reusable apps for teams or clients</a:t>
            </a:r>
            <a:endParaRPr sz="1100">
              <a:latin typeface="Calibri"/>
              <a:ea typeface="Calibri"/>
              <a:cs typeface="Calibri"/>
              <a:sym typeface="Calibri"/>
            </a:endParaRPr>
          </a:p>
          <a:p>
            <a:pPr marL="171450" marR="0" lvl="0" indent="-114300" algn="l" rtl="0">
              <a:lnSpc>
                <a:spcPct val="100000"/>
              </a:lnSpc>
              <a:spcBef>
                <a:spcPts val="0"/>
              </a:spcBef>
              <a:spcAft>
                <a:spcPts val="0"/>
              </a:spcAft>
              <a:buClr>
                <a:schemeClr val="dk1"/>
              </a:buClr>
              <a:buSzPts val="900"/>
              <a:buFont typeface="Calibri"/>
              <a:buChar char="●"/>
            </a:pPr>
            <a:r>
              <a:rPr lang="en" sz="1100">
                <a:latin typeface="Calibri"/>
                <a:ea typeface="Calibri"/>
                <a:cs typeface="Calibri"/>
                <a:sym typeface="Calibri"/>
              </a:rPr>
              <a:t>The update transforms creators into toolmakers, enabling AI-powered automation and productization without hiring developers</a:t>
            </a:r>
            <a:endParaRPr sz="1100">
              <a:latin typeface="Calibri"/>
              <a:ea typeface="Calibri"/>
              <a:cs typeface="Calibri"/>
              <a:sym typeface="Calibri"/>
            </a:endParaRPr>
          </a:p>
          <a:p>
            <a:pPr marL="171450" marR="0" lvl="0" indent="-101600" algn="l" rtl="0">
              <a:lnSpc>
                <a:spcPct val="100000"/>
              </a:lnSpc>
              <a:spcBef>
                <a:spcPts val="0"/>
              </a:spcBef>
              <a:spcAft>
                <a:spcPts val="0"/>
              </a:spcAft>
              <a:buClr>
                <a:schemeClr val="dk1"/>
              </a:buClr>
              <a:buSzPts val="700"/>
              <a:buFont typeface="Calibri"/>
              <a:buChar char="●"/>
            </a:pPr>
            <a:r>
              <a:rPr lang="en" sz="900" u="sng">
                <a:solidFill>
                  <a:schemeClr val="hlink"/>
                </a:solidFill>
                <a:latin typeface="Calibri"/>
                <a:ea typeface="Calibri"/>
                <a:cs typeface="Calibri"/>
                <a:sym typeface="Calibri"/>
                <a:hlinkClick r:id="rId4"/>
              </a:rPr>
              <a:t>https://www.youtube.com/watch?v=nzhaHXT1DE4</a:t>
            </a:r>
            <a:r>
              <a:rPr lang="en" sz="900">
                <a:latin typeface="Calibri"/>
                <a:ea typeface="Calibri"/>
                <a:cs typeface="Calibri"/>
                <a:sym typeface="Calibri"/>
              </a:rPr>
              <a:t> </a:t>
            </a:r>
            <a:endParaRPr sz="900">
              <a:latin typeface="Calibri"/>
              <a:ea typeface="Calibri"/>
              <a:cs typeface="Calibri"/>
              <a:sym typeface="Calibri"/>
            </a:endParaRPr>
          </a:p>
          <a:p>
            <a:pPr marL="171450" marR="0" lvl="0" indent="-101600" algn="l" rtl="0">
              <a:lnSpc>
                <a:spcPct val="100000"/>
              </a:lnSpc>
              <a:spcBef>
                <a:spcPts val="0"/>
              </a:spcBef>
              <a:spcAft>
                <a:spcPts val="0"/>
              </a:spcAft>
              <a:buClr>
                <a:schemeClr val="dk1"/>
              </a:buClr>
              <a:buSzPts val="700"/>
              <a:buFont typeface="Calibri"/>
              <a:buChar char="●"/>
            </a:pPr>
            <a:r>
              <a:rPr lang="en" sz="900" u="sng">
                <a:solidFill>
                  <a:schemeClr val="hlink"/>
                </a:solidFill>
                <a:latin typeface="Calibri"/>
                <a:ea typeface="Calibri"/>
                <a:cs typeface="Calibri"/>
                <a:sym typeface="Calibri"/>
                <a:hlinkClick r:id="rId5"/>
              </a:rPr>
              <a:t>https://www.krea.ai/features/nodes</a:t>
            </a:r>
            <a:r>
              <a:rPr lang="en" sz="900">
                <a:latin typeface="Calibri"/>
                <a:ea typeface="Calibri"/>
                <a:cs typeface="Calibri"/>
                <a:sym typeface="Calibri"/>
              </a:rPr>
              <a:t> </a:t>
            </a:r>
            <a:endParaRPr sz="900">
              <a:latin typeface="Calibri"/>
              <a:ea typeface="Calibri"/>
              <a:cs typeface="Calibri"/>
              <a:sym typeface="Calibri"/>
            </a:endParaRPr>
          </a:p>
          <a:p>
            <a:pPr marL="171450" marR="0" lvl="0" indent="-101600" algn="l" rtl="0">
              <a:lnSpc>
                <a:spcPct val="100000"/>
              </a:lnSpc>
              <a:spcBef>
                <a:spcPts val="0"/>
              </a:spcBef>
              <a:spcAft>
                <a:spcPts val="0"/>
              </a:spcAft>
              <a:buClr>
                <a:schemeClr val="dk1"/>
              </a:buClr>
              <a:buSzPts val="700"/>
              <a:buFont typeface="Calibri"/>
              <a:buChar char="●"/>
            </a:pPr>
            <a:r>
              <a:rPr lang="en" sz="900" u="sng">
                <a:solidFill>
                  <a:schemeClr val="hlink"/>
                </a:solidFill>
                <a:latin typeface="Calibri"/>
                <a:ea typeface="Calibri"/>
                <a:cs typeface="Calibri"/>
                <a:sym typeface="Calibri"/>
                <a:hlinkClick r:id="rId6"/>
              </a:rPr>
              <a:t>https://www.krea.ai</a:t>
            </a:r>
            <a:r>
              <a:rPr lang="en" sz="900">
                <a:latin typeface="Calibri"/>
                <a:ea typeface="Calibri"/>
                <a:cs typeface="Calibri"/>
                <a:sym typeface="Calibri"/>
              </a:rPr>
              <a:t> </a:t>
            </a:r>
            <a:endParaRPr sz="900">
              <a:latin typeface="Calibri"/>
              <a:ea typeface="Calibri"/>
              <a:cs typeface="Calibri"/>
              <a:sym typeface="Calibri"/>
            </a:endParaRPr>
          </a:p>
        </p:txBody>
      </p:sp>
      <p:pic>
        <p:nvPicPr>
          <p:cNvPr id="278" name="Google Shape;278;p31"/>
          <p:cNvPicPr preferRelativeResize="0"/>
          <p:nvPr/>
        </p:nvPicPr>
        <p:blipFill>
          <a:blip r:embed="rId7" cstate="email">
            <a:alphaModFix/>
            <a:extLst>
              <a:ext uri="{28A0092B-C50C-407E-A947-70E740481C1C}">
                <a14:useLocalDpi xmlns:a14="http://schemas.microsoft.com/office/drawing/2010/main"/>
              </a:ext>
            </a:extLst>
          </a:blip>
          <a:stretch>
            <a:fillRect/>
          </a:stretch>
        </p:blipFill>
        <p:spPr>
          <a:xfrm>
            <a:off x="5184225" y="2420563"/>
            <a:ext cx="3773826" cy="2119632"/>
          </a:xfrm>
          <a:prstGeom prst="rect">
            <a:avLst/>
          </a:prstGeom>
          <a:noFill/>
          <a:ln w="9525" cap="flat" cmpd="sng">
            <a:solidFill>
              <a:srgbClr val="FF0000"/>
            </a:solidFill>
            <a:prstDash val="solid"/>
            <a:round/>
            <a:headEnd type="none" w="sm" len="sm"/>
            <a:tailEnd type="none" w="sm" len="sm"/>
          </a:ln>
        </p:spPr>
      </p:pic>
      <p:pic>
        <p:nvPicPr>
          <p:cNvPr id="279" name="Google Shape;279;p31"/>
          <p:cNvPicPr preferRelativeResize="0"/>
          <p:nvPr/>
        </p:nvPicPr>
        <p:blipFill>
          <a:blip r:embed="rId8" cstate="email">
            <a:alphaModFix/>
            <a:extLst>
              <a:ext uri="{28A0092B-C50C-407E-A947-70E740481C1C}">
                <a14:useLocalDpi xmlns:a14="http://schemas.microsoft.com/office/drawing/2010/main"/>
              </a:ext>
            </a:extLst>
          </a:blip>
          <a:stretch>
            <a:fillRect/>
          </a:stretch>
        </p:blipFill>
        <p:spPr>
          <a:xfrm>
            <a:off x="5217775" y="352825"/>
            <a:ext cx="2741885" cy="1542299"/>
          </a:xfrm>
          <a:prstGeom prst="rect">
            <a:avLst/>
          </a:prstGeom>
          <a:noFill/>
          <a:ln w="9525" cap="flat" cmpd="sng">
            <a:solidFill>
              <a:srgbClr val="FF0000"/>
            </a:solidFill>
            <a:prstDash val="solid"/>
            <a:round/>
            <a:headEnd type="none" w="sm" len="sm"/>
            <a:tailEnd type="none" w="sm" len="sm"/>
          </a:ln>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283"/>
        <p:cNvGrpSpPr/>
        <p:nvPr/>
      </p:nvGrpSpPr>
      <p:grpSpPr>
        <a:xfrm>
          <a:off x="0" y="0"/>
          <a:ext cx="0" cy="0"/>
          <a:chOff x="0" y="0"/>
          <a:chExt cx="0" cy="0"/>
        </a:xfrm>
      </p:grpSpPr>
      <p:sp>
        <p:nvSpPr>
          <p:cNvPr id="284" name="Google Shape;284;p32"/>
          <p:cNvSpPr txBox="1"/>
          <p:nvPr/>
        </p:nvSpPr>
        <p:spPr>
          <a:xfrm>
            <a:off x="55075" y="20375"/>
            <a:ext cx="4468800" cy="326400"/>
          </a:xfrm>
          <a:prstGeom prst="rect">
            <a:avLst/>
          </a:prstGeom>
          <a:noFill/>
          <a:ln>
            <a:noFill/>
          </a:ln>
        </p:spPr>
        <p:txBody>
          <a:bodyPr spcFirstLastPara="1" wrap="square" lIns="9125" tIns="9125" rIns="9125" bIns="9125" anchor="t" anchorCtr="0">
            <a:spAutoFit/>
          </a:bodyPr>
          <a:lstStyle/>
          <a:p>
            <a:pPr marL="0" marR="0" lvl="0" indent="0" algn="l" rtl="0">
              <a:lnSpc>
                <a:spcPct val="100000"/>
              </a:lnSpc>
              <a:spcBef>
                <a:spcPts val="0"/>
              </a:spcBef>
              <a:spcAft>
                <a:spcPts val="0"/>
              </a:spcAft>
              <a:buClr>
                <a:schemeClr val="dk1"/>
              </a:buClr>
              <a:buSzPts val="1100"/>
              <a:buFont typeface="Arial"/>
              <a:buNone/>
            </a:pPr>
            <a:r>
              <a:rPr lang="en" sz="2000" b="1">
                <a:solidFill>
                  <a:schemeClr val="dk1"/>
                </a:solidFill>
                <a:latin typeface="Calibri"/>
                <a:ea typeface="Calibri"/>
                <a:cs typeface="Calibri"/>
                <a:sym typeface="Calibri"/>
              </a:rPr>
              <a:t>AI Updates - 5</a:t>
            </a:r>
            <a:endParaRPr sz="2000" b="1" i="0" u="none" strike="noStrike" cap="none">
              <a:solidFill>
                <a:schemeClr val="dk1"/>
              </a:solidFill>
              <a:latin typeface="Calibri"/>
              <a:ea typeface="Calibri"/>
              <a:cs typeface="Calibri"/>
              <a:sym typeface="Calibri"/>
            </a:endParaRPr>
          </a:p>
        </p:txBody>
      </p:sp>
      <p:sp>
        <p:nvSpPr>
          <p:cNvPr id="285" name="Google Shape;285;p32"/>
          <p:cNvSpPr txBox="1"/>
          <p:nvPr/>
        </p:nvSpPr>
        <p:spPr>
          <a:xfrm>
            <a:off x="55075" y="352825"/>
            <a:ext cx="5435100" cy="6957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171450" marR="0" lvl="0" indent="-114300" algn="l" rtl="0">
              <a:lnSpc>
                <a:spcPct val="100000"/>
              </a:lnSpc>
              <a:spcBef>
                <a:spcPts val="0"/>
              </a:spcBef>
              <a:spcAft>
                <a:spcPts val="0"/>
              </a:spcAft>
              <a:buClr>
                <a:srgbClr val="FF0000"/>
              </a:buClr>
              <a:buSzPts val="900"/>
              <a:buFont typeface="Calibri"/>
              <a:buChar char="●"/>
            </a:pPr>
            <a:r>
              <a:rPr lang="en" sz="1100" b="1">
                <a:solidFill>
                  <a:srgbClr val="FF0000"/>
                </a:solidFill>
                <a:latin typeface="Calibri"/>
                <a:ea typeface="Calibri"/>
                <a:cs typeface="Calibri"/>
                <a:sym typeface="Calibri"/>
              </a:rPr>
              <a:t>Pentagon Ordered to Monitor for AI Threats</a:t>
            </a:r>
            <a:endParaRPr sz="1100" b="1">
              <a:solidFill>
                <a:srgbClr val="FF0000"/>
              </a:solidFill>
              <a:latin typeface="Calibri"/>
              <a:ea typeface="Calibri"/>
              <a:cs typeface="Calibri"/>
              <a:sym typeface="Calibri"/>
            </a:endParaRPr>
          </a:p>
          <a:p>
            <a:pPr marL="171450" marR="0" lvl="0" indent="-114300" algn="l" rtl="0">
              <a:lnSpc>
                <a:spcPct val="100000"/>
              </a:lnSpc>
              <a:spcBef>
                <a:spcPts val="0"/>
              </a:spcBef>
              <a:spcAft>
                <a:spcPts val="0"/>
              </a:spcAft>
              <a:buClr>
                <a:schemeClr val="dk1"/>
              </a:buClr>
              <a:buSzPts val="900"/>
              <a:buFont typeface="Calibri"/>
              <a:buChar char="●"/>
            </a:pPr>
            <a:r>
              <a:rPr lang="en" sz="1100">
                <a:solidFill>
                  <a:schemeClr val="dk1"/>
                </a:solidFill>
                <a:latin typeface="Calibri"/>
                <a:ea typeface="Calibri"/>
                <a:cs typeface="Calibri"/>
                <a:sym typeface="Calibri"/>
              </a:rPr>
              <a:t>Pentagon </a:t>
            </a:r>
            <a:r>
              <a:rPr lang="en" sz="1100">
                <a:latin typeface="Calibri"/>
                <a:ea typeface="Calibri"/>
                <a:cs typeface="Calibri"/>
                <a:sym typeface="Calibri"/>
              </a:rPr>
              <a:t>has been ordered to prepare for AGI through a $900 billion defense bill requiring </a:t>
            </a:r>
            <a:r>
              <a:rPr lang="en" sz="1100" b="1">
                <a:solidFill>
                  <a:srgbClr val="FF0000"/>
                </a:solidFill>
                <a:latin typeface="Calibri"/>
                <a:ea typeface="Calibri"/>
                <a:cs typeface="Calibri"/>
                <a:sym typeface="Calibri"/>
              </a:rPr>
              <a:t>creation of an AI futures steering committee by April 2026</a:t>
            </a:r>
            <a:r>
              <a:rPr lang="en" sz="1100">
                <a:latin typeface="Calibri"/>
                <a:ea typeface="Calibri"/>
                <a:cs typeface="Calibri"/>
                <a:sym typeface="Calibri"/>
              </a:rPr>
              <a:t> to monitor frontier AI threats and ensure human override capabilities for superintelligent systems</a:t>
            </a:r>
            <a:endParaRPr sz="1100">
              <a:latin typeface="Calibri"/>
              <a:ea typeface="Calibri"/>
              <a:cs typeface="Calibri"/>
              <a:sym typeface="Calibri"/>
            </a:endParaRPr>
          </a:p>
        </p:txBody>
      </p:sp>
      <p:sp>
        <p:nvSpPr>
          <p:cNvPr id="286" name="Google Shape;286;p32"/>
          <p:cNvSpPr txBox="1"/>
          <p:nvPr/>
        </p:nvSpPr>
        <p:spPr>
          <a:xfrm>
            <a:off x="55075" y="1331926"/>
            <a:ext cx="2226000" cy="6957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171450" marR="0" lvl="0" indent="-114300" algn="l" rtl="0">
              <a:lnSpc>
                <a:spcPct val="100000"/>
              </a:lnSpc>
              <a:spcBef>
                <a:spcPts val="0"/>
              </a:spcBef>
              <a:spcAft>
                <a:spcPts val="0"/>
              </a:spcAft>
              <a:buClr>
                <a:srgbClr val="FF0000"/>
              </a:buClr>
              <a:buSzPts val="900"/>
              <a:buFont typeface="Calibri"/>
              <a:buChar char="●"/>
            </a:pPr>
            <a:r>
              <a:rPr lang="en" sz="1100" b="1">
                <a:solidFill>
                  <a:srgbClr val="FF0000"/>
                </a:solidFill>
                <a:latin typeface="Calibri"/>
                <a:ea typeface="Calibri"/>
                <a:cs typeface="Calibri"/>
                <a:sym typeface="Calibri"/>
              </a:rPr>
              <a:t>SpaceX IPO in mid-2026 ?</a:t>
            </a:r>
            <a:endParaRPr sz="1100" b="1">
              <a:solidFill>
                <a:srgbClr val="FF0000"/>
              </a:solidFill>
              <a:latin typeface="Calibri"/>
              <a:ea typeface="Calibri"/>
              <a:cs typeface="Calibri"/>
              <a:sym typeface="Calibri"/>
            </a:endParaRPr>
          </a:p>
          <a:p>
            <a:pPr marL="171450" marR="0" lvl="0" indent="-114300" algn="l" rtl="0">
              <a:lnSpc>
                <a:spcPct val="100000"/>
              </a:lnSpc>
              <a:spcBef>
                <a:spcPts val="0"/>
              </a:spcBef>
              <a:spcAft>
                <a:spcPts val="0"/>
              </a:spcAft>
              <a:buClr>
                <a:schemeClr val="dk1"/>
              </a:buClr>
              <a:buSzPts val="900"/>
              <a:buFont typeface="Calibri"/>
              <a:buChar char="●"/>
            </a:pPr>
            <a:r>
              <a:rPr lang="en" sz="1100">
                <a:latin typeface="Calibri"/>
                <a:ea typeface="Calibri"/>
                <a:cs typeface="Calibri"/>
                <a:sym typeface="Calibri"/>
              </a:rPr>
              <a:t>Valuations between $1.5-3 Trillion partly driven by plans for space-based AI data centers</a:t>
            </a:r>
            <a:endParaRPr sz="1100">
              <a:latin typeface="Calibri"/>
              <a:ea typeface="Calibri"/>
              <a:cs typeface="Calibri"/>
              <a:sym typeface="Calibri"/>
            </a:endParaRPr>
          </a:p>
        </p:txBody>
      </p:sp>
      <p:sp>
        <p:nvSpPr>
          <p:cNvPr id="287" name="Google Shape;287;p32"/>
          <p:cNvSpPr txBox="1"/>
          <p:nvPr/>
        </p:nvSpPr>
        <p:spPr>
          <a:xfrm>
            <a:off x="55075" y="2197109"/>
            <a:ext cx="4641300" cy="28968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171450" marR="0" lvl="0" indent="-114300" algn="l" rtl="0">
              <a:lnSpc>
                <a:spcPct val="100000"/>
              </a:lnSpc>
              <a:spcBef>
                <a:spcPts val="0"/>
              </a:spcBef>
              <a:spcAft>
                <a:spcPts val="0"/>
              </a:spcAft>
              <a:buClr>
                <a:srgbClr val="FF0000"/>
              </a:buClr>
              <a:buSzPts val="900"/>
              <a:buFont typeface="Calibri"/>
              <a:buChar char="●"/>
            </a:pPr>
            <a:r>
              <a:rPr lang="en" sz="1100" b="1">
                <a:solidFill>
                  <a:srgbClr val="FF0000"/>
                </a:solidFill>
                <a:latin typeface="Calibri"/>
                <a:ea typeface="Calibri"/>
                <a:cs typeface="Calibri"/>
                <a:sym typeface="Calibri"/>
              </a:rPr>
              <a:t>DeepSeek V3.2 - December 1</a:t>
            </a:r>
            <a:endParaRPr sz="1100" b="1">
              <a:solidFill>
                <a:srgbClr val="FF0000"/>
              </a:solidFill>
              <a:latin typeface="Calibri"/>
              <a:ea typeface="Calibri"/>
              <a:cs typeface="Calibri"/>
              <a:sym typeface="Calibri"/>
            </a:endParaRPr>
          </a:p>
          <a:p>
            <a:pPr marL="171450" marR="0" lvl="0" indent="-114300" algn="l" rtl="0">
              <a:lnSpc>
                <a:spcPct val="100000"/>
              </a:lnSpc>
              <a:spcBef>
                <a:spcPts val="0"/>
              </a:spcBef>
              <a:spcAft>
                <a:spcPts val="0"/>
              </a:spcAft>
              <a:buClr>
                <a:schemeClr val="dk1"/>
              </a:buClr>
              <a:buSzPts val="900"/>
              <a:buFont typeface="Calibri"/>
              <a:buChar char="●"/>
            </a:pPr>
            <a:r>
              <a:rPr lang="en" sz="1100">
                <a:latin typeface="Calibri"/>
                <a:ea typeface="Calibri"/>
                <a:cs typeface="Calibri"/>
                <a:sym typeface="Calibri"/>
              </a:rPr>
              <a:t>Open-source, </a:t>
            </a:r>
            <a:r>
              <a:rPr lang="en" sz="1100">
                <a:solidFill>
                  <a:schemeClr val="dk1"/>
                </a:solidFill>
                <a:latin typeface="Calibri"/>
                <a:ea typeface="Calibri"/>
                <a:cs typeface="Calibri"/>
                <a:sym typeface="Calibri"/>
              </a:rPr>
              <a:t>enhanced "reasoning first"</a:t>
            </a:r>
            <a:endParaRPr sz="1100">
              <a:solidFill>
                <a:schemeClr val="dk1"/>
              </a:solidFill>
              <a:latin typeface="Calibri"/>
              <a:ea typeface="Calibri"/>
              <a:cs typeface="Calibri"/>
              <a:sym typeface="Calibri"/>
            </a:endParaRPr>
          </a:p>
          <a:p>
            <a:pPr marL="171450" marR="0" lvl="0" indent="-127000" algn="l" rtl="0">
              <a:lnSpc>
                <a:spcPct val="100000"/>
              </a:lnSpc>
              <a:spcBef>
                <a:spcPts val="0"/>
              </a:spcBef>
              <a:spcAft>
                <a:spcPts val="0"/>
              </a:spcAft>
              <a:buClr>
                <a:schemeClr val="dk1"/>
              </a:buClr>
              <a:buSzPts val="1100"/>
              <a:buFont typeface="Calibri"/>
              <a:buChar char="●"/>
            </a:pPr>
            <a:r>
              <a:rPr lang="en" sz="1100">
                <a:solidFill>
                  <a:schemeClr val="dk1"/>
                </a:solidFill>
                <a:latin typeface="Calibri"/>
                <a:ea typeface="Calibri"/>
                <a:cs typeface="Calibri"/>
                <a:sym typeface="Calibri"/>
              </a:rPr>
              <a:t>Hybrid reasoning architecture supports both thinking mode and non-thinking mode within a single model</a:t>
            </a:r>
            <a:endParaRPr sz="1100">
              <a:solidFill>
                <a:schemeClr val="dk1"/>
              </a:solidFill>
              <a:latin typeface="Calibri"/>
              <a:ea typeface="Calibri"/>
              <a:cs typeface="Calibri"/>
              <a:sym typeface="Calibri"/>
            </a:endParaRPr>
          </a:p>
          <a:p>
            <a:pPr marL="171450" marR="0" lvl="0" indent="-127000" algn="l" rtl="0">
              <a:lnSpc>
                <a:spcPct val="100000"/>
              </a:lnSpc>
              <a:spcBef>
                <a:spcPts val="0"/>
              </a:spcBef>
              <a:spcAft>
                <a:spcPts val="0"/>
              </a:spcAft>
              <a:buClr>
                <a:schemeClr val="dk1"/>
              </a:buClr>
              <a:buSzPts val="1100"/>
              <a:buFont typeface="Calibri"/>
              <a:buChar char="●"/>
            </a:pPr>
            <a:r>
              <a:rPr lang="en" sz="1100" b="1">
                <a:solidFill>
                  <a:srgbClr val="FF0000"/>
                </a:solidFill>
                <a:latin typeface="Calibri"/>
                <a:ea typeface="Calibri"/>
                <a:cs typeface="Calibri"/>
                <a:sym typeface="Calibri"/>
              </a:rPr>
              <a:t>V3.2-Speciale </a:t>
            </a:r>
            <a:r>
              <a:rPr lang="en" sz="1100">
                <a:solidFill>
                  <a:schemeClr val="dk1"/>
                </a:solidFill>
                <a:latin typeface="Calibri"/>
                <a:ea typeface="Calibri"/>
                <a:cs typeface="Calibri"/>
                <a:sym typeface="Calibri"/>
              </a:rPr>
              <a:t>- uses 2-3 times more tokens to reason</a:t>
            </a:r>
            <a:endParaRPr sz="1100">
              <a:solidFill>
                <a:schemeClr val="dk1"/>
              </a:solidFill>
              <a:latin typeface="Calibri"/>
              <a:ea typeface="Calibri"/>
              <a:cs typeface="Calibri"/>
              <a:sym typeface="Calibri"/>
            </a:endParaRPr>
          </a:p>
          <a:p>
            <a:pPr marL="171450" marR="0" lvl="0" indent="-127000" algn="l" rtl="0">
              <a:lnSpc>
                <a:spcPct val="100000"/>
              </a:lnSpc>
              <a:spcBef>
                <a:spcPts val="0"/>
              </a:spcBef>
              <a:spcAft>
                <a:spcPts val="0"/>
              </a:spcAft>
              <a:buClr>
                <a:schemeClr val="dk1"/>
              </a:buClr>
              <a:buSzPts val="1100"/>
              <a:buFont typeface="Calibri"/>
              <a:buChar char="●"/>
            </a:pPr>
            <a:r>
              <a:rPr lang="en" sz="1100">
                <a:solidFill>
                  <a:schemeClr val="dk1"/>
                </a:solidFill>
                <a:latin typeface="Calibri"/>
                <a:ea typeface="Calibri"/>
                <a:cs typeface="Calibri"/>
                <a:sym typeface="Calibri"/>
              </a:rPr>
              <a:t>Fine-grained sparse attention - improves long-text processing efficiency by 2-3x while reducing memory usage by 30-40% </a:t>
            </a:r>
            <a:endParaRPr sz="1100">
              <a:solidFill>
                <a:schemeClr val="dk1"/>
              </a:solidFill>
              <a:latin typeface="Calibri"/>
              <a:ea typeface="Calibri"/>
              <a:cs typeface="Calibri"/>
              <a:sym typeface="Calibri"/>
            </a:endParaRPr>
          </a:p>
          <a:p>
            <a:pPr marL="171450" marR="0" lvl="0" indent="-127000" algn="l" rtl="0">
              <a:lnSpc>
                <a:spcPct val="100000"/>
              </a:lnSpc>
              <a:spcBef>
                <a:spcPts val="0"/>
              </a:spcBef>
              <a:spcAft>
                <a:spcPts val="0"/>
              </a:spcAft>
              <a:buClr>
                <a:schemeClr val="dk1"/>
              </a:buClr>
              <a:buSzPts val="1100"/>
              <a:buFont typeface="Calibri"/>
              <a:buChar char="●"/>
            </a:pPr>
            <a:r>
              <a:rPr lang="en" sz="1100">
                <a:solidFill>
                  <a:schemeClr val="dk1"/>
                </a:solidFill>
                <a:latin typeface="Calibri"/>
                <a:ea typeface="Calibri"/>
                <a:cs typeface="Calibri"/>
                <a:sym typeface="Calibri"/>
              </a:rPr>
              <a:t>Self-verification approach adopted from DeepSeekMath V2</a:t>
            </a:r>
            <a:endParaRPr sz="1100">
              <a:solidFill>
                <a:schemeClr val="dk1"/>
              </a:solidFill>
              <a:latin typeface="Calibri"/>
              <a:ea typeface="Calibri"/>
              <a:cs typeface="Calibri"/>
              <a:sym typeface="Calibri"/>
            </a:endParaRPr>
          </a:p>
          <a:p>
            <a:pPr marL="171450" marR="0" lvl="0" indent="-114300" algn="l" rtl="0">
              <a:lnSpc>
                <a:spcPct val="100000"/>
              </a:lnSpc>
              <a:spcBef>
                <a:spcPts val="0"/>
              </a:spcBef>
              <a:spcAft>
                <a:spcPts val="0"/>
              </a:spcAft>
              <a:buClr>
                <a:srgbClr val="FF0000"/>
              </a:buClr>
              <a:buSzPts val="900"/>
              <a:buFont typeface="Calibri"/>
              <a:buChar char="●"/>
            </a:pPr>
            <a:r>
              <a:rPr lang="en" sz="1100" b="1">
                <a:solidFill>
                  <a:srgbClr val="FF0000"/>
                </a:solidFill>
                <a:latin typeface="Calibri"/>
                <a:ea typeface="Calibri"/>
                <a:cs typeface="Calibri"/>
                <a:sym typeface="Calibri"/>
              </a:rPr>
              <a:t>Outperforming Claude Sonnet 4.5 in coding tests, cost less to run</a:t>
            </a:r>
            <a:endParaRPr sz="1100" b="1">
              <a:solidFill>
                <a:srgbClr val="FF0000"/>
              </a:solidFill>
              <a:latin typeface="Calibri"/>
              <a:ea typeface="Calibri"/>
              <a:cs typeface="Calibri"/>
              <a:sym typeface="Calibri"/>
            </a:endParaRPr>
          </a:p>
          <a:p>
            <a:pPr marL="171450" marR="0" lvl="0" indent="-114300" algn="l" rtl="0">
              <a:lnSpc>
                <a:spcPct val="100000"/>
              </a:lnSpc>
              <a:spcBef>
                <a:spcPts val="0"/>
              </a:spcBef>
              <a:spcAft>
                <a:spcPts val="0"/>
              </a:spcAft>
              <a:buClr>
                <a:schemeClr val="dk1"/>
              </a:buClr>
              <a:buSzPts val="900"/>
              <a:buFont typeface="Calibri"/>
              <a:buChar char="●"/>
            </a:pPr>
            <a:r>
              <a:rPr lang="en" sz="1100">
                <a:latin typeface="Calibri"/>
                <a:ea typeface="Calibri"/>
                <a:cs typeface="Calibri"/>
                <a:sym typeface="Calibri"/>
              </a:rPr>
              <a:t>671B MoE (37B active) - extremely fast and cost-efficient</a:t>
            </a:r>
            <a:endParaRPr sz="1100">
              <a:latin typeface="Calibri"/>
              <a:ea typeface="Calibri"/>
              <a:cs typeface="Calibri"/>
              <a:sym typeface="Calibri"/>
            </a:endParaRPr>
          </a:p>
          <a:p>
            <a:pPr marL="171450" marR="0" lvl="0" indent="-114300" algn="l" rtl="0">
              <a:lnSpc>
                <a:spcPct val="100000"/>
              </a:lnSpc>
              <a:spcBef>
                <a:spcPts val="0"/>
              </a:spcBef>
              <a:spcAft>
                <a:spcPts val="0"/>
              </a:spcAft>
              <a:buClr>
                <a:schemeClr val="dk1"/>
              </a:buClr>
              <a:buSzPts val="900"/>
              <a:buFont typeface="Calibri"/>
              <a:buChar char="●"/>
            </a:pPr>
            <a:r>
              <a:rPr lang="en" sz="1100">
                <a:latin typeface="Calibri"/>
                <a:ea typeface="Calibri"/>
                <a:cs typeface="Calibri"/>
                <a:sym typeface="Calibri"/>
              </a:rPr>
              <a:t>Coding in Python, JavaScript, TypeScript, C++, and Rust, with strong debugging capabilities and context awareness</a:t>
            </a:r>
            <a:endParaRPr sz="1100">
              <a:latin typeface="Calibri"/>
              <a:ea typeface="Calibri"/>
              <a:cs typeface="Calibri"/>
              <a:sym typeface="Calibri"/>
            </a:endParaRPr>
          </a:p>
          <a:p>
            <a:pPr marL="171450" marR="0" lvl="0" indent="-114300" algn="l" rtl="0">
              <a:lnSpc>
                <a:spcPct val="100000"/>
              </a:lnSpc>
              <a:spcBef>
                <a:spcPts val="0"/>
              </a:spcBef>
              <a:spcAft>
                <a:spcPts val="0"/>
              </a:spcAft>
              <a:buClr>
                <a:schemeClr val="dk1"/>
              </a:buClr>
              <a:buSzPts val="900"/>
              <a:buFont typeface="Calibri"/>
              <a:buChar char="●"/>
            </a:pPr>
            <a:r>
              <a:rPr lang="en" sz="1100">
                <a:latin typeface="Calibri"/>
                <a:ea typeface="Calibri"/>
                <a:cs typeface="Calibri"/>
                <a:sym typeface="Calibri"/>
              </a:rPr>
              <a:t>It uses multi-head latent attention and DeepSeek Sparse Attention to process information faster while maintaining accuracy, responding in 2-3 seconds versus 10 seconds for competitors</a:t>
            </a:r>
            <a:endParaRPr sz="1100">
              <a:latin typeface="Calibri"/>
              <a:ea typeface="Calibri"/>
              <a:cs typeface="Calibri"/>
              <a:sym typeface="Calibri"/>
            </a:endParaRPr>
          </a:p>
          <a:p>
            <a:pPr marL="171450" marR="0" lvl="0" indent="-127000" algn="l" rtl="0">
              <a:lnSpc>
                <a:spcPct val="100000"/>
              </a:lnSpc>
              <a:spcBef>
                <a:spcPts val="0"/>
              </a:spcBef>
              <a:spcAft>
                <a:spcPts val="0"/>
              </a:spcAft>
              <a:buSzPts val="1100"/>
              <a:buFont typeface="Calibri"/>
              <a:buChar char="●"/>
            </a:pPr>
            <a:r>
              <a:rPr lang="en" sz="1100">
                <a:latin typeface="Calibri"/>
                <a:ea typeface="Calibri"/>
                <a:cs typeface="Calibri"/>
                <a:sym typeface="Calibri"/>
              </a:rPr>
              <a:t>Major improvements in tool usage and agent capabilities</a:t>
            </a:r>
            <a:endParaRPr sz="1100">
              <a:latin typeface="Calibri"/>
              <a:ea typeface="Calibri"/>
              <a:cs typeface="Calibri"/>
              <a:sym typeface="Calibri"/>
            </a:endParaRPr>
          </a:p>
          <a:p>
            <a:pPr marL="171450" marR="0" lvl="0" indent="-127000" algn="l" rtl="0">
              <a:lnSpc>
                <a:spcPct val="100000"/>
              </a:lnSpc>
              <a:spcBef>
                <a:spcPts val="0"/>
              </a:spcBef>
              <a:spcAft>
                <a:spcPts val="0"/>
              </a:spcAft>
              <a:buSzPts val="1100"/>
              <a:buFont typeface="Calibri"/>
              <a:buChar char="●"/>
            </a:pPr>
            <a:r>
              <a:rPr lang="en" sz="1100" u="sng">
                <a:solidFill>
                  <a:schemeClr val="hlink"/>
                </a:solidFill>
                <a:latin typeface="Calibri"/>
                <a:ea typeface="Calibri"/>
                <a:cs typeface="Calibri"/>
                <a:sym typeface="Calibri"/>
                <a:hlinkClick r:id="rId3"/>
              </a:rPr>
              <a:t>https://magazine.sebastianraschka.com/p/technical-deepseek</a:t>
            </a:r>
            <a:r>
              <a:rPr lang="en" sz="1100">
                <a:latin typeface="Calibri"/>
                <a:ea typeface="Calibri"/>
                <a:cs typeface="Calibri"/>
                <a:sym typeface="Calibri"/>
              </a:rPr>
              <a:t> </a:t>
            </a:r>
            <a:endParaRPr sz="1100">
              <a:latin typeface="Calibri"/>
              <a:ea typeface="Calibri"/>
              <a:cs typeface="Calibri"/>
              <a:sym typeface="Calibri"/>
            </a:endParaRPr>
          </a:p>
        </p:txBody>
      </p:sp>
      <p:pic>
        <p:nvPicPr>
          <p:cNvPr id="288" name="Google Shape;288;p32"/>
          <p:cNvPicPr preferRelativeResize="0"/>
          <p:nvPr/>
        </p:nvPicPr>
        <p:blipFill>
          <a:blip r:embed="rId4" cstate="email">
            <a:alphaModFix/>
            <a:extLst>
              <a:ext uri="{28A0092B-C50C-407E-A947-70E740481C1C}">
                <a14:useLocalDpi xmlns:a14="http://schemas.microsoft.com/office/drawing/2010/main"/>
              </a:ext>
            </a:extLst>
          </a:blip>
          <a:stretch>
            <a:fillRect/>
          </a:stretch>
        </p:blipFill>
        <p:spPr>
          <a:xfrm>
            <a:off x="4785700" y="2244100"/>
            <a:ext cx="4060551" cy="2802799"/>
          </a:xfrm>
          <a:prstGeom prst="rect">
            <a:avLst/>
          </a:prstGeom>
          <a:noFill/>
          <a:ln w="9525" cap="flat" cmpd="sng">
            <a:solidFill>
              <a:srgbClr val="FF0000"/>
            </a:solidFill>
            <a:prstDash val="solid"/>
            <a:round/>
            <a:headEnd type="none" w="sm" len="sm"/>
            <a:tailEnd type="none" w="sm" len="sm"/>
          </a:ln>
        </p:spPr>
      </p:pic>
      <p:pic>
        <p:nvPicPr>
          <p:cNvPr id="289" name="Google Shape;289;p32"/>
          <p:cNvPicPr preferRelativeResize="0"/>
          <p:nvPr/>
        </p:nvPicPr>
        <p:blipFill>
          <a:blip r:embed="rId5" cstate="email">
            <a:alphaModFix/>
            <a:extLst>
              <a:ext uri="{28A0092B-C50C-407E-A947-70E740481C1C}">
                <a14:useLocalDpi xmlns:a14="http://schemas.microsoft.com/office/drawing/2010/main"/>
              </a:ext>
            </a:extLst>
          </a:blip>
          <a:stretch>
            <a:fillRect/>
          </a:stretch>
        </p:blipFill>
        <p:spPr>
          <a:xfrm>
            <a:off x="2433425" y="1291250"/>
            <a:ext cx="1307050" cy="777050"/>
          </a:xfrm>
          <a:prstGeom prst="rect">
            <a:avLst/>
          </a:prstGeom>
          <a:noFill/>
          <a:ln w="9525" cap="flat" cmpd="sng">
            <a:solidFill>
              <a:srgbClr val="FF0000"/>
            </a:solidFill>
            <a:prstDash val="solid"/>
            <a:round/>
            <a:headEnd type="none" w="sm" len="sm"/>
            <a:tailEnd type="none" w="sm" len="sm"/>
          </a:ln>
        </p:spPr>
      </p:pic>
      <p:pic>
        <p:nvPicPr>
          <p:cNvPr id="290" name="Google Shape;290;p32"/>
          <p:cNvPicPr preferRelativeResize="0"/>
          <p:nvPr/>
        </p:nvPicPr>
        <p:blipFill>
          <a:blip r:embed="rId6">
            <a:alphaModFix/>
          </a:blip>
          <a:stretch>
            <a:fillRect/>
          </a:stretch>
        </p:blipFill>
        <p:spPr>
          <a:xfrm>
            <a:off x="5563825" y="86550"/>
            <a:ext cx="2628900" cy="1733550"/>
          </a:xfrm>
          <a:prstGeom prst="rect">
            <a:avLst/>
          </a:prstGeom>
          <a:noFill/>
          <a:ln w="9525" cap="flat" cmpd="sng">
            <a:solidFill>
              <a:srgbClr val="FF0000"/>
            </a:solidFill>
            <a:prstDash val="solid"/>
            <a:round/>
            <a:headEnd type="none" w="sm" len="sm"/>
            <a:tailEnd type="none" w="sm" len="sm"/>
          </a:ln>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294"/>
        <p:cNvGrpSpPr/>
        <p:nvPr/>
      </p:nvGrpSpPr>
      <p:grpSpPr>
        <a:xfrm>
          <a:off x="0" y="0"/>
          <a:ext cx="0" cy="0"/>
          <a:chOff x="0" y="0"/>
          <a:chExt cx="0" cy="0"/>
        </a:xfrm>
      </p:grpSpPr>
      <p:sp>
        <p:nvSpPr>
          <p:cNvPr id="295" name="Google Shape;295;p33"/>
          <p:cNvSpPr txBox="1"/>
          <p:nvPr/>
        </p:nvSpPr>
        <p:spPr>
          <a:xfrm>
            <a:off x="55075" y="20375"/>
            <a:ext cx="3120600" cy="326400"/>
          </a:xfrm>
          <a:prstGeom prst="rect">
            <a:avLst/>
          </a:prstGeom>
          <a:noFill/>
          <a:ln>
            <a:noFill/>
          </a:ln>
        </p:spPr>
        <p:txBody>
          <a:bodyPr spcFirstLastPara="1" wrap="square" lIns="9125" tIns="9125" rIns="9125" bIns="9125" anchor="t" anchorCtr="0">
            <a:spAutoFit/>
          </a:bodyPr>
          <a:lstStyle/>
          <a:p>
            <a:pPr marL="0" marR="0" lvl="0" indent="0" algn="l" rtl="0">
              <a:lnSpc>
                <a:spcPct val="100000"/>
              </a:lnSpc>
              <a:spcBef>
                <a:spcPts val="0"/>
              </a:spcBef>
              <a:spcAft>
                <a:spcPts val="0"/>
              </a:spcAft>
              <a:buClr>
                <a:schemeClr val="dk1"/>
              </a:buClr>
              <a:buSzPts val="1100"/>
              <a:buFont typeface="Arial"/>
              <a:buNone/>
            </a:pPr>
            <a:r>
              <a:rPr lang="en" sz="2000" b="1">
                <a:solidFill>
                  <a:schemeClr val="dk1"/>
                </a:solidFill>
                <a:latin typeface="Calibri"/>
                <a:ea typeface="Calibri"/>
                <a:cs typeface="Calibri"/>
                <a:sym typeface="Calibri"/>
              </a:rPr>
              <a:t>Chinese AI Agents</a:t>
            </a:r>
            <a:endParaRPr sz="2000" b="1">
              <a:solidFill>
                <a:schemeClr val="dk1"/>
              </a:solidFill>
              <a:latin typeface="Calibri"/>
              <a:ea typeface="Calibri"/>
              <a:cs typeface="Calibri"/>
              <a:sym typeface="Calibri"/>
            </a:endParaRPr>
          </a:p>
        </p:txBody>
      </p:sp>
      <p:sp>
        <p:nvSpPr>
          <p:cNvPr id="296" name="Google Shape;296;p33"/>
          <p:cNvSpPr txBox="1"/>
          <p:nvPr/>
        </p:nvSpPr>
        <p:spPr>
          <a:xfrm>
            <a:off x="55075" y="431075"/>
            <a:ext cx="4468800" cy="40821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171450" marR="0" lvl="0" indent="-114300" algn="l" rtl="0">
              <a:lnSpc>
                <a:spcPct val="100000"/>
              </a:lnSpc>
              <a:spcBef>
                <a:spcPts val="0"/>
              </a:spcBef>
              <a:spcAft>
                <a:spcPts val="0"/>
              </a:spcAft>
              <a:buClr>
                <a:schemeClr val="dk1"/>
              </a:buClr>
              <a:buSzPts val="900"/>
              <a:buFont typeface="Calibri"/>
              <a:buChar char="●"/>
            </a:pPr>
            <a:r>
              <a:rPr lang="en" sz="1100" b="1">
                <a:solidFill>
                  <a:srgbClr val="FF0000"/>
                </a:solidFill>
                <a:latin typeface="Calibri"/>
                <a:ea typeface="Calibri"/>
                <a:cs typeface="Calibri"/>
                <a:sym typeface="Calibri"/>
              </a:rPr>
              <a:t>Genspark Super Agent </a:t>
            </a:r>
            <a:r>
              <a:rPr lang="en" sz="1100">
                <a:latin typeface="Calibri"/>
                <a:ea typeface="Calibri"/>
                <a:cs typeface="Calibri"/>
                <a:sym typeface="Calibri"/>
              </a:rPr>
              <a:t>- multi-step workflows, making phone calls, sending emails, scheduling meetings, managing calendars, multi-tool orchestration</a:t>
            </a:r>
            <a:br>
              <a:rPr lang="en" sz="1100">
                <a:latin typeface="Calibri"/>
                <a:ea typeface="Calibri"/>
                <a:cs typeface="Calibri"/>
                <a:sym typeface="Calibri"/>
              </a:rPr>
            </a:br>
            <a:r>
              <a:rPr lang="en" sz="1100" u="sng">
                <a:solidFill>
                  <a:schemeClr val="hlink"/>
                </a:solidFill>
                <a:latin typeface="Calibri"/>
                <a:ea typeface="Calibri"/>
                <a:cs typeface="Calibri"/>
                <a:sym typeface="Calibri"/>
                <a:hlinkClick r:id="rId3"/>
              </a:rPr>
              <a:t>https://www.genspark.ai</a:t>
            </a:r>
            <a:r>
              <a:rPr lang="en" sz="1100">
                <a:latin typeface="Calibri"/>
                <a:ea typeface="Calibri"/>
                <a:cs typeface="Calibri"/>
                <a:sym typeface="Calibri"/>
              </a:rPr>
              <a:t> </a:t>
            </a:r>
            <a:br>
              <a:rPr lang="en" sz="1100">
                <a:latin typeface="Calibri"/>
                <a:ea typeface="Calibri"/>
                <a:cs typeface="Calibri"/>
                <a:sym typeface="Calibri"/>
              </a:rPr>
            </a:br>
            <a:endParaRPr sz="1100">
              <a:latin typeface="Calibri"/>
              <a:ea typeface="Calibri"/>
              <a:cs typeface="Calibri"/>
              <a:sym typeface="Calibri"/>
            </a:endParaRPr>
          </a:p>
          <a:p>
            <a:pPr marL="171450" marR="0" lvl="0" indent="-114300" algn="l" rtl="0">
              <a:lnSpc>
                <a:spcPct val="100000"/>
              </a:lnSpc>
              <a:spcBef>
                <a:spcPts val="0"/>
              </a:spcBef>
              <a:spcAft>
                <a:spcPts val="0"/>
              </a:spcAft>
              <a:buClr>
                <a:schemeClr val="dk1"/>
              </a:buClr>
              <a:buSzPts val="900"/>
              <a:buFont typeface="Calibri"/>
              <a:buChar char="●"/>
            </a:pPr>
            <a:r>
              <a:rPr lang="en" sz="1100" b="1">
                <a:solidFill>
                  <a:srgbClr val="FF0000"/>
                </a:solidFill>
                <a:latin typeface="Calibri"/>
                <a:ea typeface="Calibri"/>
                <a:cs typeface="Calibri"/>
                <a:sym typeface="Calibri"/>
              </a:rPr>
              <a:t>Quark AI Agent by Alibaba </a:t>
            </a:r>
            <a:r>
              <a:rPr lang="en" sz="1100">
                <a:latin typeface="Calibri"/>
                <a:ea typeface="Calibri"/>
                <a:cs typeface="Calibri"/>
                <a:sym typeface="Calibri"/>
              </a:rPr>
              <a:t>- research and automation assistant</a:t>
            </a:r>
            <a:br>
              <a:rPr lang="en" sz="1100">
                <a:latin typeface="Calibri"/>
                <a:ea typeface="Calibri"/>
                <a:cs typeface="Calibri"/>
                <a:sym typeface="Calibri"/>
              </a:rPr>
            </a:br>
            <a:r>
              <a:rPr lang="en" sz="1100">
                <a:latin typeface="Calibri"/>
                <a:ea typeface="Calibri"/>
                <a:cs typeface="Calibri"/>
                <a:sym typeface="Calibri"/>
              </a:rPr>
              <a:t>Used by millions, handling report writing, data analysis, content generation, and integrating across Alibaba's e-commerce ecosystem with over 200 million users</a:t>
            </a:r>
            <a:br>
              <a:rPr lang="en" sz="1100">
                <a:latin typeface="Calibri"/>
                <a:ea typeface="Calibri"/>
                <a:cs typeface="Calibri"/>
                <a:sym typeface="Calibri"/>
              </a:rPr>
            </a:br>
            <a:r>
              <a:rPr lang="en" sz="1100" u="sng">
                <a:solidFill>
                  <a:schemeClr val="hlink"/>
                </a:solidFill>
                <a:latin typeface="Calibri"/>
                <a:ea typeface="Calibri"/>
                <a:cs typeface="Calibri"/>
                <a:sym typeface="Calibri"/>
                <a:hlinkClick r:id="rId4"/>
              </a:rPr>
              <a:t>https://www.investors.com/news/technology/alibaba-stock-ai-agent-quark-deepseek-cloud/</a:t>
            </a:r>
            <a:r>
              <a:rPr lang="en" sz="1100">
                <a:latin typeface="Calibri"/>
                <a:ea typeface="Calibri"/>
                <a:cs typeface="Calibri"/>
                <a:sym typeface="Calibri"/>
              </a:rPr>
              <a:t> </a:t>
            </a:r>
            <a:br>
              <a:rPr lang="en" sz="1100">
                <a:latin typeface="Calibri"/>
                <a:ea typeface="Calibri"/>
                <a:cs typeface="Calibri"/>
                <a:sym typeface="Calibri"/>
              </a:rPr>
            </a:br>
            <a:endParaRPr sz="1100">
              <a:latin typeface="Calibri"/>
              <a:ea typeface="Calibri"/>
              <a:cs typeface="Calibri"/>
              <a:sym typeface="Calibri"/>
            </a:endParaRPr>
          </a:p>
          <a:p>
            <a:pPr marL="171450" marR="0" lvl="0" indent="-114300" algn="l" rtl="0">
              <a:lnSpc>
                <a:spcPct val="100000"/>
              </a:lnSpc>
              <a:spcBef>
                <a:spcPts val="0"/>
              </a:spcBef>
              <a:spcAft>
                <a:spcPts val="0"/>
              </a:spcAft>
              <a:buClr>
                <a:schemeClr val="dk1"/>
              </a:buClr>
              <a:buSzPts val="900"/>
              <a:buFont typeface="Calibri"/>
              <a:buChar char="●"/>
            </a:pPr>
            <a:r>
              <a:rPr lang="en" sz="1100" b="1">
                <a:solidFill>
                  <a:srgbClr val="FF0000"/>
                </a:solidFill>
                <a:latin typeface="Calibri"/>
                <a:ea typeface="Calibri"/>
                <a:cs typeface="Calibri"/>
                <a:sym typeface="Calibri"/>
              </a:rPr>
              <a:t>Coze Space by ByteDance </a:t>
            </a:r>
            <a:r>
              <a:rPr lang="en" sz="1100">
                <a:latin typeface="Calibri"/>
                <a:ea typeface="Calibri"/>
                <a:cs typeface="Calibri"/>
                <a:sym typeface="Calibri"/>
              </a:rPr>
              <a:t>- practical automation like creating apps without coding, generating reports with charts from spreadsheets, and integrating with ByteDance platforms including TikTok for video analytics and content scheduling</a:t>
            </a:r>
            <a:br>
              <a:rPr lang="en" sz="1100">
                <a:latin typeface="Calibri"/>
                <a:ea typeface="Calibri"/>
                <a:cs typeface="Calibri"/>
                <a:sym typeface="Calibri"/>
              </a:rPr>
            </a:br>
            <a:r>
              <a:rPr lang="en" sz="1100" u="sng">
                <a:solidFill>
                  <a:schemeClr val="hlink"/>
                </a:solidFill>
                <a:latin typeface="Calibri"/>
                <a:ea typeface="Calibri"/>
                <a:cs typeface="Calibri"/>
                <a:sym typeface="Calibri"/>
                <a:hlinkClick r:id="rId5"/>
              </a:rPr>
              <a:t>https://technode.com/2025/04/24/tiktoks-owner-bytedance-launches-internal-beta-for-coze-space-an-ai-agent-collaboration-platform/</a:t>
            </a:r>
            <a:r>
              <a:rPr lang="en" sz="1100">
                <a:latin typeface="Calibri"/>
                <a:ea typeface="Calibri"/>
                <a:cs typeface="Calibri"/>
                <a:sym typeface="Calibri"/>
              </a:rPr>
              <a:t> </a:t>
            </a:r>
            <a:br>
              <a:rPr lang="en" sz="1100">
                <a:latin typeface="Calibri"/>
                <a:ea typeface="Calibri"/>
                <a:cs typeface="Calibri"/>
                <a:sym typeface="Calibri"/>
              </a:rPr>
            </a:br>
            <a:endParaRPr sz="1100">
              <a:latin typeface="Calibri"/>
              <a:ea typeface="Calibri"/>
              <a:cs typeface="Calibri"/>
              <a:sym typeface="Calibri"/>
            </a:endParaRPr>
          </a:p>
          <a:p>
            <a:pPr marL="171450" marR="0" lvl="0" indent="-114300" algn="l" rtl="0">
              <a:lnSpc>
                <a:spcPct val="100000"/>
              </a:lnSpc>
              <a:spcBef>
                <a:spcPts val="0"/>
              </a:spcBef>
              <a:spcAft>
                <a:spcPts val="0"/>
              </a:spcAft>
              <a:buClr>
                <a:schemeClr val="dk1"/>
              </a:buClr>
              <a:buSzPts val="900"/>
              <a:buFont typeface="Calibri"/>
              <a:buChar char="●"/>
            </a:pPr>
            <a:r>
              <a:rPr lang="en" sz="1100" b="1">
                <a:solidFill>
                  <a:srgbClr val="FF0000"/>
                </a:solidFill>
                <a:latin typeface="Calibri"/>
                <a:ea typeface="Calibri"/>
                <a:cs typeface="Calibri"/>
                <a:sym typeface="Calibri"/>
              </a:rPr>
              <a:t>Manus Autonomous Agent </a:t>
            </a:r>
            <a:r>
              <a:rPr lang="en" sz="1100">
                <a:latin typeface="Calibri"/>
                <a:ea typeface="Calibri"/>
                <a:cs typeface="Calibri"/>
                <a:sym typeface="Calibri"/>
              </a:rPr>
              <a:t>- can now work with Google Drive; Users can now automatically update spreadsheets, generate new documents, search files by keywords, extract insights, create folders, and reorganize content without leaving Manus</a:t>
            </a:r>
            <a:endParaRPr sz="1100">
              <a:latin typeface="Calibri"/>
              <a:ea typeface="Calibri"/>
              <a:cs typeface="Calibri"/>
              <a:sym typeface="Calibri"/>
            </a:endParaRPr>
          </a:p>
          <a:p>
            <a:pPr marL="171450" marR="0" lvl="0" indent="-114300" algn="l" rtl="0">
              <a:lnSpc>
                <a:spcPct val="100000"/>
              </a:lnSpc>
              <a:spcBef>
                <a:spcPts val="0"/>
              </a:spcBef>
              <a:spcAft>
                <a:spcPts val="0"/>
              </a:spcAft>
              <a:buClr>
                <a:schemeClr val="dk1"/>
              </a:buClr>
              <a:buSzPts val="900"/>
              <a:buFont typeface="Calibri"/>
              <a:buChar char="●"/>
            </a:pPr>
            <a:r>
              <a:rPr lang="en" sz="1100" u="sng">
                <a:solidFill>
                  <a:schemeClr val="hlink"/>
                </a:solidFill>
                <a:latin typeface="Calibri"/>
                <a:ea typeface="Calibri"/>
                <a:cs typeface="Calibri"/>
                <a:sym typeface="Calibri"/>
                <a:hlinkClick r:id="rId6"/>
              </a:rPr>
              <a:t>https://www.youtube.com/watch?v=9VsMnpt2ntI</a:t>
            </a:r>
            <a:r>
              <a:rPr lang="en" sz="1100">
                <a:latin typeface="Calibri"/>
                <a:ea typeface="Calibri"/>
                <a:cs typeface="Calibri"/>
                <a:sym typeface="Calibri"/>
              </a:rPr>
              <a:t> </a:t>
            </a:r>
            <a:endParaRPr sz="1100">
              <a:latin typeface="Calibri"/>
              <a:ea typeface="Calibri"/>
              <a:cs typeface="Calibri"/>
              <a:sym typeface="Calibri"/>
            </a:endParaRPr>
          </a:p>
          <a:p>
            <a:pPr marL="171450" marR="0" lvl="0" indent="-114300" algn="l" rtl="0">
              <a:lnSpc>
                <a:spcPct val="100000"/>
              </a:lnSpc>
              <a:spcBef>
                <a:spcPts val="0"/>
              </a:spcBef>
              <a:spcAft>
                <a:spcPts val="0"/>
              </a:spcAft>
              <a:buClr>
                <a:schemeClr val="dk1"/>
              </a:buClr>
              <a:buSzPts val="900"/>
              <a:buFont typeface="Calibri"/>
              <a:buChar char="●"/>
            </a:pPr>
            <a:r>
              <a:rPr lang="en" sz="1100" u="sng">
                <a:solidFill>
                  <a:schemeClr val="hlink"/>
                </a:solidFill>
                <a:latin typeface="Calibri"/>
                <a:ea typeface="Calibri"/>
                <a:cs typeface="Calibri"/>
                <a:sym typeface="Calibri"/>
                <a:hlinkClick r:id="rId7"/>
              </a:rPr>
              <a:t>https://manus.im/blog</a:t>
            </a:r>
            <a:r>
              <a:rPr lang="en" sz="1100">
                <a:latin typeface="Calibri"/>
                <a:ea typeface="Calibri"/>
                <a:cs typeface="Calibri"/>
                <a:sym typeface="Calibri"/>
              </a:rPr>
              <a:t> </a:t>
            </a:r>
            <a:endParaRPr sz="1100">
              <a:latin typeface="Calibri"/>
              <a:ea typeface="Calibri"/>
              <a:cs typeface="Calibri"/>
              <a:sym typeface="Calibri"/>
            </a:endParaRPr>
          </a:p>
        </p:txBody>
      </p:sp>
      <p:pic>
        <p:nvPicPr>
          <p:cNvPr id="297" name="Google Shape;297;p33"/>
          <p:cNvPicPr preferRelativeResize="0"/>
          <p:nvPr/>
        </p:nvPicPr>
        <p:blipFill>
          <a:blip r:embed="rId8" cstate="email">
            <a:alphaModFix/>
            <a:extLst>
              <a:ext uri="{28A0092B-C50C-407E-A947-70E740481C1C}">
                <a14:useLocalDpi xmlns:a14="http://schemas.microsoft.com/office/drawing/2010/main"/>
              </a:ext>
            </a:extLst>
          </a:blip>
          <a:stretch>
            <a:fillRect/>
          </a:stretch>
        </p:blipFill>
        <p:spPr>
          <a:xfrm>
            <a:off x="4676275" y="152400"/>
            <a:ext cx="2013662" cy="1127647"/>
          </a:xfrm>
          <a:prstGeom prst="rect">
            <a:avLst/>
          </a:prstGeom>
          <a:noFill/>
          <a:ln w="9525" cap="flat" cmpd="sng">
            <a:solidFill>
              <a:srgbClr val="FF0000"/>
            </a:solidFill>
            <a:prstDash val="solid"/>
            <a:round/>
            <a:headEnd type="none" w="sm" len="sm"/>
            <a:tailEnd type="none" w="sm" len="sm"/>
          </a:ln>
        </p:spPr>
      </p:pic>
      <p:pic>
        <p:nvPicPr>
          <p:cNvPr id="298" name="Google Shape;298;p33"/>
          <p:cNvPicPr preferRelativeResize="0"/>
          <p:nvPr/>
        </p:nvPicPr>
        <p:blipFill>
          <a:blip r:embed="rId9" cstate="email">
            <a:alphaModFix/>
            <a:extLst>
              <a:ext uri="{28A0092B-C50C-407E-A947-70E740481C1C}">
                <a14:useLocalDpi xmlns:a14="http://schemas.microsoft.com/office/drawing/2010/main"/>
              </a:ext>
            </a:extLst>
          </a:blip>
          <a:stretch>
            <a:fillRect/>
          </a:stretch>
        </p:blipFill>
        <p:spPr>
          <a:xfrm>
            <a:off x="6831925" y="992550"/>
            <a:ext cx="2244900" cy="1257139"/>
          </a:xfrm>
          <a:prstGeom prst="rect">
            <a:avLst/>
          </a:prstGeom>
          <a:noFill/>
          <a:ln w="9525" cap="flat" cmpd="sng">
            <a:solidFill>
              <a:srgbClr val="FF0000"/>
            </a:solidFill>
            <a:prstDash val="solid"/>
            <a:round/>
            <a:headEnd type="none" w="sm" len="sm"/>
            <a:tailEnd type="none" w="sm" len="sm"/>
          </a:ln>
        </p:spPr>
      </p:pic>
      <p:pic>
        <p:nvPicPr>
          <p:cNvPr id="299" name="Google Shape;299;p33"/>
          <p:cNvPicPr preferRelativeResize="0"/>
          <p:nvPr/>
        </p:nvPicPr>
        <p:blipFill>
          <a:blip r:embed="rId10" cstate="email">
            <a:alphaModFix/>
            <a:extLst>
              <a:ext uri="{28A0092B-C50C-407E-A947-70E740481C1C}">
                <a14:useLocalDpi xmlns:a14="http://schemas.microsoft.com/office/drawing/2010/main"/>
              </a:ext>
            </a:extLst>
          </a:blip>
          <a:stretch>
            <a:fillRect/>
          </a:stretch>
        </p:blipFill>
        <p:spPr>
          <a:xfrm>
            <a:off x="4676275" y="2370472"/>
            <a:ext cx="2612450" cy="1306225"/>
          </a:xfrm>
          <a:prstGeom prst="rect">
            <a:avLst/>
          </a:prstGeom>
          <a:noFill/>
          <a:ln w="9525" cap="flat" cmpd="sng">
            <a:solidFill>
              <a:srgbClr val="FF0000"/>
            </a:solidFill>
            <a:prstDash val="solid"/>
            <a:round/>
            <a:headEnd type="none" w="sm" len="sm"/>
            <a:tailEnd type="none" w="sm" len="sm"/>
          </a:ln>
        </p:spPr>
      </p:pic>
      <p:pic>
        <p:nvPicPr>
          <p:cNvPr id="300" name="Google Shape;300;p33"/>
          <p:cNvPicPr preferRelativeResize="0"/>
          <p:nvPr/>
        </p:nvPicPr>
        <p:blipFill>
          <a:blip r:embed="rId11" cstate="email">
            <a:alphaModFix/>
            <a:extLst>
              <a:ext uri="{28A0092B-C50C-407E-A947-70E740481C1C}">
                <a14:useLocalDpi xmlns:a14="http://schemas.microsoft.com/office/drawing/2010/main"/>
              </a:ext>
            </a:extLst>
          </a:blip>
          <a:stretch>
            <a:fillRect/>
          </a:stretch>
        </p:blipFill>
        <p:spPr>
          <a:xfrm>
            <a:off x="6831925" y="3810875"/>
            <a:ext cx="2244900" cy="1257150"/>
          </a:xfrm>
          <a:prstGeom prst="rect">
            <a:avLst/>
          </a:prstGeom>
          <a:noFill/>
          <a:ln w="9525" cap="flat" cmpd="sng">
            <a:solidFill>
              <a:srgbClr val="FF0000"/>
            </a:solidFill>
            <a:prstDash val="solid"/>
            <a:round/>
            <a:headEnd type="none" w="sm" len="sm"/>
            <a:tailEnd type="none" w="sm" len="sm"/>
          </a:ln>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304"/>
        <p:cNvGrpSpPr/>
        <p:nvPr/>
      </p:nvGrpSpPr>
      <p:grpSpPr>
        <a:xfrm>
          <a:off x="0" y="0"/>
          <a:ext cx="0" cy="0"/>
          <a:chOff x="0" y="0"/>
          <a:chExt cx="0" cy="0"/>
        </a:xfrm>
      </p:grpSpPr>
      <p:pic>
        <p:nvPicPr>
          <p:cNvPr id="305" name="Google Shape;305;p34"/>
          <p:cNvPicPr preferRelativeResize="0"/>
          <p:nvPr/>
        </p:nvPicPr>
        <p:blipFill>
          <a:blip r:embed="rId3" cstate="email">
            <a:alphaModFix/>
            <a:extLst>
              <a:ext uri="{28A0092B-C50C-407E-A947-70E740481C1C}">
                <a14:useLocalDpi xmlns:a14="http://schemas.microsoft.com/office/drawing/2010/main"/>
              </a:ext>
            </a:extLst>
          </a:blip>
          <a:stretch>
            <a:fillRect/>
          </a:stretch>
        </p:blipFill>
        <p:spPr>
          <a:xfrm>
            <a:off x="3358025" y="3007826"/>
            <a:ext cx="3442000" cy="2062025"/>
          </a:xfrm>
          <a:prstGeom prst="rect">
            <a:avLst/>
          </a:prstGeom>
          <a:noFill/>
          <a:ln w="9525" cap="flat" cmpd="sng">
            <a:solidFill>
              <a:srgbClr val="FF0000"/>
            </a:solidFill>
            <a:prstDash val="solid"/>
            <a:round/>
            <a:headEnd type="none" w="sm" len="sm"/>
            <a:tailEnd type="none" w="sm" len="sm"/>
          </a:ln>
        </p:spPr>
      </p:pic>
      <p:sp>
        <p:nvSpPr>
          <p:cNvPr id="306" name="Google Shape;306;p34"/>
          <p:cNvSpPr txBox="1"/>
          <p:nvPr/>
        </p:nvSpPr>
        <p:spPr>
          <a:xfrm>
            <a:off x="55075" y="20375"/>
            <a:ext cx="1868100" cy="326400"/>
          </a:xfrm>
          <a:prstGeom prst="rect">
            <a:avLst/>
          </a:prstGeom>
          <a:noFill/>
          <a:ln>
            <a:noFill/>
          </a:ln>
        </p:spPr>
        <p:txBody>
          <a:bodyPr spcFirstLastPara="1" wrap="square" lIns="9125" tIns="9125" rIns="9125" bIns="9125" anchor="t" anchorCtr="0">
            <a:spAutoFit/>
          </a:bodyPr>
          <a:lstStyle/>
          <a:p>
            <a:pPr marL="0" marR="0" lvl="0" indent="0" algn="l" rtl="0">
              <a:lnSpc>
                <a:spcPct val="100000"/>
              </a:lnSpc>
              <a:spcBef>
                <a:spcPts val="0"/>
              </a:spcBef>
              <a:spcAft>
                <a:spcPts val="0"/>
              </a:spcAft>
              <a:buClr>
                <a:schemeClr val="dk1"/>
              </a:buClr>
              <a:buSzPts val="1100"/>
              <a:buFont typeface="Arial"/>
              <a:buNone/>
            </a:pPr>
            <a:r>
              <a:rPr lang="en" sz="2000" b="1">
                <a:solidFill>
                  <a:schemeClr val="dk1"/>
                </a:solidFill>
                <a:latin typeface="Calibri"/>
                <a:ea typeface="Calibri"/>
                <a:cs typeface="Calibri"/>
                <a:sym typeface="Calibri"/>
              </a:rPr>
              <a:t>GLM-4.6</a:t>
            </a:r>
            <a:endParaRPr sz="2000" b="1">
              <a:solidFill>
                <a:schemeClr val="dk1"/>
              </a:solidFill>
              <a:latin typeface="Calibri"/>
              <a:ea typeface="Calibri"/>
              <a:cs typeface="Calibri"/>
              <a:sym typeface="Calibri"/>
            </a:endParaRPr>
          </a:p>
        </p:txBody>
      </p:sp>
      <p:sp>
        <p:nvSpPr>
          <p:cNvPr id="307" name="Google Shape;307;p34"/>
          <p:cNvSpPr txBox="1"/>
          <p:nvPr/>
        </p:nvSpPr>
        <p:spPr>
          <a:xfrm>
            <a:off x="55025" y="346775"/>
            <a:ext cx="4301700" cy="26043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171450" marR="0" lvl="0" indent="-114300" algn="l" rtl="0">
              <a:lnSpc>
                <a:spcPct val="100000"/>
              </a:lnSpc>
              <a:spcBef>
                <a:spcPts val="0"/>
              </a:spcBef>
              <a:spcAft>
                <a:spcPts val="0"/>
              </a:spcAft>
              <a:buClr>
                <a:srgbClr val="FF0000"/>
              </a:buClr>
              <a:buSzPts val="900"/>
              <a:buFont typeface="Calibri"/>
              <a:buChar char="●"/>
            </a:pPr>
            <a:r>
              <a:rPr lang="en" sz="1200" b="1">
                <a:solidFill>
                  <a:srgbClr val="FF0000"/>
                </a:solidFill>
                <a:latin typeface="Calibri"/>
                <a:ea typeface="Calibri"/>
                <a:cs typeface="Calibri"/>
                <a:sym typeface="Calibri"/>
              </a:rPr>
              <a:t>GLM-4.6 Open Weights from Zhipu AI</a:t>
            </a:r>
            <a:endParaRPr sz="1200" b="1">
              <a:solidFill>
                <a:srgbClr val="FF0000"/>
              </a:solidFill>
              <a:latin typeface="Calibri"/>
              <a:ea typeface="Calibri"/>
              <a:cs typeface="Calibri"/>
              <a:sym typeface="Calibri"/>
            </a:endParaRPr>
          </a:p>
          <a:p>
            <a:pPr marL="171450" marR="0" lvl="0" indent="-133350" algn="l" rtl="0">
              <a:lnSpc>
                <a:spcPct val="100000"/>
              </a:lnSpc>
              <a:spcBef>
                <a:spcPts val="0"/>
              </a:spcBef>
              <a:spcAft>
                <a:spcPts val="0"/>
              </a:spcAft>
              <a:buClr>
                <a:srgbClr val="000000"/>
              </a:buClr>
              <a:buSzPts val="1200"/>
              <a:buFont typeface="Calibri"/>
              <a:buChar char="●"/>
            </a:pPr>
            <a:r>
              <a:rPr lang="en" sz="1200">
                <a:latin typeface="Calibri"/>
                <a:ea typeface="Calibri"/>
                <a:cs typeface="Calibri"/>
                <a:sym typeface="Calibri"/>
              </a:rPr>
              <a:t>Released late September 2025</a:t>
            </a:r>
            <a:endParaRPr sz="1200">
              <a:latin typeface="Calibri"/>
              <a:ea typeface="Calibri"/>
              <a:cs typeface="Calibri"/>
              <a:sym typeface="Calibri"/>
            </a:endParaRPr>
          </a:p>
          <a:p>
            <a:pPr marL="171450" marR="0" lvl="0" indent="-133350" algn="l" rtl="0">
              <a:lnSpc>
                <a:spcPct val="100000"/>
              </a:lnSpc>
              <a:spcBef>
                <a:spcPts val="0"/>
              </a:spcBef>
              <a:spcAft>
                <a:spcPts val="0"/>
              </a:spcAft>
              <a:buClr>
                <a:srgbClr val="000000"/>
              </a:buClr>
              <a:buSzPts val="1200"/>
              <a:buFont typeface="Calibri"/>
              <a:buChar char="●"/>
            </a:pPr>
            <a:r>
              <a:rPr lang="en" sz="1200">
                <a:solidFill>
                  <a:srgbClr val="000000"/>
                </a:solidFill>
                <a:latin typeface="Calibri"/>
                <a:ea typeface="Calibri"/>
                <a:cs typeface="Calibri"/>
                <a:sym typeface="Calibri"/>
              </a:rPr>
              <a:t>200K tokens context window, MIT-license</a:t>
            </a:r>
            <a:endParaRPr sz="1200">
              <a:solidFill>
                <a:srgbClr val="000000"/>
              </a:solidFill>
              <a:latin typeface="Calibri"/>
              <a:ea typeface="Calibri"/>
              <a:cs typeface="Calibri"/>
              <a:sym typeface="Calibri"/>
            </a:endParaRPr>
          </a:p>
          <a:p>
            <a:pPr marL="171450" marR="0" lvl="0" indent="-133350" algn="l" rtl="0">
              <a:lnSpc>
                <a:spcPct val="100000"/>
              </a:lnSpc>
              <a:spcBef>
                <a:spcPts val="0"/>
              </a:spcBef>
              <a:spcAft>
                <a:spcPts val="0"/>
              </a:spcAft>
              <a:buClr>
                <a:srgbClr val="000000"/>
              </a:buClr>
              <a:buSzPts val="1200"/>
              <a:buFont typeface="Calibri"/>
              <a:buChar char="●"/>
            </a:pPr>
            <a:r>
              <a:rPr lang="en" sz="1200">
                <a:solidFill>
                  <a:srgbClr val="000000"/>
                </a:solidFill>
                <a:latin typeface="Calibri"/>
                <a:ea typeface="Calibri"/>
                <a:cs typeface="Calibri"/>
                <a:sym typeface="Calibri"/>
              </a:rPr>
              <a:t>SOTA coding, reasoning, and agentic performance; </a:t>
            </a:r>
            <a:endParaRPr sz="1200">
              <a:solidFill>
                <a:srgbClr val="000000"/>
              </a:solidFill>
              <a:latin typeface="Calibri"/>
              <a:ea typeface="Calibri"/>
              <a:cs typeface="Calibri"/>
              <a:sym typeface="Calibri"/>
            </a:endParaRPr>
          </a:p>
          <a:p>
            <a:pPr marL="171450" marR="0" lvl="0" indent="-133350" algn="l" rtl="0">
              <a:lnSpc>
                <a:spcPct val="100000"/>
              </a:lnSpc>
              <a:spcBef>
                <a:spcPts val="0"/>
              </a:spcBef>
              <a:spcAft>
                <a:spcPts val="0"/>
              </a:spcAft>
              <a:buClr>
                <a:srgbClr val="000000"/>
              </a:buClr>
              <a:buSzPts val="1200"/>
              <a:buFont typeface="Calibri"/>
              <a:buChar char="●"/>
            </a:pPr>
            <a:r>
              <a:rPr lang="en" sz="1200" b="1">
                <a:solidFill>
                  <a:srgbClr val="FF0000"/>
                </a:solidFill>
                <a:latin typeface="Calibri"/>
                <a:ea typeface="Calibri"/>
                <a:cs typeface="Calibri"/>
                <a:sym typeface="Calibri"/>
              </a:rPr>
              <a:t>Performance close to Claude Sonnet 4</a:t>
            </a:r>
            <a:r>
              <a:rPr lang="en" sz="1200">
                <a:solidFill>
                  <a:srgbClr val="000000"/>
                </a:solidFill>
                <a:latin typeface="Calibri"/>
                <a:ea typeface="Calibri"/>
                <a:cs typeface="Calibri"/>
                <a:sym typeface="Calibri"/>
              </a:rPr>
              <a:t> </a:t>
            </a:r>
            <a:br>
              <a:rPr lang="en" sz="1200">
                <a:solidFill>
                  <a:srgbClr val="000000"/>
                </a:solidFill>
                <a:latin typeface="Calibri"/>
                <a:ea typeface="Calibri"/>
                <a:cs typeface="Calibri"/>
                <a:sym typeface="Calibri"/>
              </a:rPr>
            </a:br>
            <a:r>
              <a:rPr lang="en" sz="1200" b="1">
                <a:solidFill>
                  <a:srgbClr val="3C78D8"/>
                </a:solidFill>
                <a:latin typeface="Calibri"/>
                <a:ea typeface="Calibri"/>
                <a:cs typeface="Calibri"/>
                <a:sym typeface="Calibri"/>
              </a:rPr>
              <a:t>(not 4.5 - Sonnet 4.5 is still better)</a:t>
            </a:r>
            <a:endParaRPr sz="1200" b="1">
              <a:solidFill>
                <a:srgbClr val="3C78D8"/>
              </a:solidFill>
              <a:latin typeface="Calibri"/>
              <a:ea typeface="Calibri"/>
              <a:cs typeface="Calibri"/>
              <a:sym typeface="Calibri"/>
            </a:endParaRPr>
          </a:p>
          <a:p>
            <a:pPr marL="171450" marR="0" lvl="0" indent="-133350" algn="l" rtl="0">
              <a:lnSpc>
                <a:spcPct val="100000"/>
              </a:lnSpc>
              <a:spcBef>
                <a:spcPts val="0"/>
              </a:spcBef>
              <a:spcAft>
                <a:spcPts val="0"/>
              </a:spcAft>
              <a:buClr>
                <a:srgbClr val="000000"/>
              </a:buClr>
              <a:buSzPts val="1200"/>
              <a:buFont typeface="Calibri"/>
              <a:buChar char="●"/>
            </a:pPr>
            <a:r>
              <a:rPr lang="en" sz="1200">
                <a:latin typeface="Calibri"/>
                <a:ea typeface="Calibri"/>
                <a:cs typeface="Calibri"/>
                <a:sym typeface="Calibri"/>
              </a:rPr>
              <a:t>GLM-4.6 costs $0.60/$2.20 per million tokens versus Claude Sonnet's $3/$15, making it approximately </a:t>
            </a:r>
            <a:r>
              <a:rPr lang="en" sz="1200" b="1">
                <a:solidFill>
                  <a:srgbClr val="FF0000"/>
                </a:solidFill>
                <a:latin typeface="Calibri"/>
                <a:ea typeface="Calibri"/>
                <a:cs typeface="Calibri"/>
                <a:sym typeface="Calibri"/>
              </a:rPr>
              <a:t>5x cheaper on input and 7-8x cheaper on output</a:t>
            </a:r>
            <a:endParaRPr sz="1200" b="1">
              <a:solidFill>
                <a:srgbClr val="FF0000"/>
              </a:solidFill>
              <a:latin typeface="Calibri"/>
              <a:ea typeface="Calibri"/>
              <a:cs typeface="Calibri"/>
              <a:sym typeface="Calibri"/>
            </a:endParaRPr>
          </a:p>
          <a:p>
            <a:pPr marL="171450" marR="0" lvl="0" indent="-133350" algn="l" rtl="0">
              <a:lnSpc>
                <a:spcPct val="100000"/>
              </a:lnSpc>
              <a:spcBef>
                <a:spcPts val="0"/>
              </a:spcBef>
              <a:spcAft>
                <a:spcPts val="0"/>
              </a:spcAft>
              <a:buClr>
                <a:srgbClr val="000000"/>
              </a:buClr>
              <a:buSzPts val="1200"/>
              <a:buFont typeface="Calibri"/>
              <a:buChar char="●"/>
            </a:pPr>
            <a:r>
              <a:rPr lang="en" sz="1200" b="1">
                <a:solidFill>
                  <a:srgbClr val="6AA84F"/>
                </a:solidFill>
                <a:latin typeface="Calibri"/>
                <a:ea typeface="Calibri"/>
                <a:cs typeface="Calibri"/>
                <a:sym typeface="Calibri"/>
              </a:rPr>
              <a:t>355B params MoE (32B active)</a:t>
            </a:r>
            <a:r>
              <a:rPr lang="en" sz="1200">
                <a:solidFill>
                  <a:srgbClr val="000000"/>
                </a:solidFill>
                <a:latin typeface="Calibri"/>
                <a:ea typeface="Calibri"/>
                <a:cs typeface="Calibri"/>
                <a:sym typeface="Calibri"/>
              </a:rPr>
              <a:t> - half the size of DeepSeek-V3 (671B) and one-third of Kimi K2 (1043B)</a:t>
            </a:r>
            <a:endParaRPr sz="1200">
              <a:solidFill>
                <a:srgbClr val="000000"/>
              </a:solidFill>
              <a:latin typeface="Calibri"/>
              <a:ea typeface="Calibri"/>
              <a:cs typeface="Calibri"/>
              <a:sym typeface="Calibri"/>
            </a:endParaRPr>
          </a:p>
          <a:p>
            <a:pPr marL="171450" marR="0" lvl="0" indent="-133350" algn="l" rtl="0">
              <a:lnSpc>
                <a:spcPct val="100000"/>
              </a:lnSpc>
              <a:spcBef>
                <a:spcPts val="0"/>
              </a:spcBef>
              <a:spcAft>
                <a:spcPts val="0"/>
              </a:spcAft>
              <a:buClr>
                <a:srgbClr val="000000"/>
              </a:buClr>
              <a:buSzPts val="1200"/>
              <a:buFont typeface="Calibri"/>
              <a:buChar char="●"/>
            </a:pPr>
            <a:r>
              <a:rPr lang="en" sz="1200">
                <a:solidFill>
                  <a:srgbClr val="000000"/>
                </a:solidFill>
                <a:latin typeface="Calibri"/>
                <a:ea typeface="Calibri"/>
                <a:cs typeface="Calibri"/>
                <a:sym typeface="Calibri"/>
              </a:rPr>
              <a:t>Power-efficient, using </a:t>
            </a:r>
            <a:r>
              <a:rPr lang="en" sz="1200">
                <a:latin typeface="Calibri"/>
                <a:ea typeface="Calibri"/>
                <a:cs typeface="Calibri"/>
                <a:sym typeface="Calibri"/>
              </a:rPr>
              <a:t>15</a:t>
            </a:r>
            <a:r>
              <a:rPr lang="en" sz="1200">
                <a:solidFill>
                  <a:srgbClr val="000000"/>
                </a:solidFill>
                <a:latin typeface="Calibri"/>
                <a:ea typeface="Calibri"/>
                <a:cs typeface="Calibri"/>
                <a:sym typeface="Calibri"/>
              </a:rPr>
              <a:t>% fewer tokens than its predecessor; integrates well with agent frameworks</a:t>
            </a:r>
            <a:endParaRPr sz="1200">
              <a:solidFill>
                <a:srgbClr val="000000"/>
              </a:solidFill>
              <a:latin typeface="Calibri"/>
              <a:ea typeface="Calibri"/>
              <a:cs typeface="Calibri"/>
              <a:sym typeface="Calibri"/>
            </a:endParaRPr>
          </a:p>
          <a:p>
            <a:pPr marL="171450" marR="0" lvl="0" indent="-133350" algn="l" rtl="0">
              <a:lnSpc>
                <a:spcPct val="100000"/>
              </a:lnSpc>
              <a:spcBef>
                <a:spcPts val="0"/>
              </a:spcBef>
              <a:spcAft>
                <a:spcPts val="0"/>
              </a:spcAft>
              <a:buClr>
                <a:srgbClr val="000000"/>
              </a:buClr>
              <a:buSzPts val="1200"/>
              <a:buFont typeface="Calibri"/>
              <a:buChar char="●"/>
            </a:pPr>
            <a:r>
              <a:rPr lang="en" sz="1200">
                <a:solidFill>
                  <a:srgbClr val="000000"/>
                </a:solidFill>
                <a:latin typeface="Calibri"/>
                <a:ea typeface="Calibri"/>
                <a:cs typeface="Calibri"/>
                <a:sym typeface="Calibri"/>
              </a:rPr>
              <a:t>Available for local deployment or via major platforms and APIs</a:t>
            </a:r>
            <a:endParaRPr sz="900">
              <a:solidFill>
                <a:srgbClr val="000000"/>
              </a:solidFill>
              <a:latin typeface="Calibri"/>
              <a:ea typeface="Calibri"/>
              <a:cs typeface="Calibri"/>
              <a:sym typeface="Calibri"/>
            </a:endParaRPr>
          </a:p>
        </p:txBody>
      </p:sp>
      <p:pic>
        <p:nvPicPr>
          <p:cNvPr id="308" name="Google Shape;308;p34"/>
          <p:cNvPicPr preferRelativeResize="0"/>
          <p:nvPr/>
        </p:nvPicPr>
        <p:blipFill rotWithShape="1">
          <a:blip r:embed="rId4" cstate="email">
            <a:alphaModFix/>
            <a:extLst>
              <a:ext uri="{28A0092B-C50C-407E-A947-70E740481C1C}">
                <a14:useLocalDpi xmlns:a14="http://schemas.microsoft.com/office/drawing/2010/main"/>
              </a:ext>
            </a:extLst>
          </a:blip>
          <a:srcRect/>
          <a:stretch/>
        </p:blipFill>
        <p:spPr>
          <a:xfrm>
            <a:off x="4486275" y="111825"/>
            <a:ext cx="2267225" cy="1274675"/>
          </a:xfrm>
          <a:prstGeom prst="rect">
            <a:avLst/>
          </a:prstGeom>
          <a:noFill/>
          <a:ln w="9525" cap="flat" cmpd="sng">
            <a:solidFill>
              <a:srgbClr val="FF0000"/>
            </a:solidFill>
            <a:prstDash val="solid"/>
            <a:round/>
            <a:headEnd type="none" w="sm" len="sm"/>
            <a:tailEnd type="none" w="sm" len="sm"/>
          </a:ln>
        </p:spPr>
      </p:pic>
      <p:pic>
        <p:nvPicPr>
          <p:cNvPr id="309" name="Google Shape;309;p34"/>
          <p:cNvPicPr preferRelativeResize="0"/>
          <p:nvPr/>
        </p:nvPicPr>
        <p:blipFill>
          <a:blip r:embed="rId5" cstate="email">
            <a:alphaModFix/>
            <a:extLst>
              <a:ext uri="{28A0092B-C50C-407E-A947-70E740481C1C}">
                <a14:useLocalDpi xmlns:a14="http://schemas.microsoft.com/office/drawing/2010/main"/>
              </a:ext>
            </a:extLst>
          </a:blip>
          <a:stretch>
            <a:fillRect/>
          </a:stretch>
        </p:blipFill>
        <p:spPr>
          <a:xfrm>
            <a:off x="6883043" y="212597"/>
            <a:ext cx="2210881" cy="4734251"/>
          </a:xfrm>
          <a:prstGeom prst="rect">
            <a:avLst/>
          </a:prstGeom>
          <a:noFill/>
          <a:ln>
            <a:noFill/>
          </a:ln>
        </p:spPr>
      </p:pic>
      <p:sp>
        <p:nvSpPr>
          <p:cNvPr id="310" name="Google Shape;310;p34"/>
          <p:cNvSpPr txBox="1"/>
          <p:nvPr/>
        </p:nvSpPr>
        <p:spPr>
          <a:xfrm>
            <a:off x="55075" y="3227525"/>
            <a:ext cx="2661900" cy="8496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171450" marR="0" lvl="0" indent="-114300" algn="l" rtl="0">
              <a:lnSpc>
                <a:spcPct val="100000"/>
              </a:lnSpc>
              <a:spcBef>
                <a:spcPts val="0"/>
              </a:spcBef>
              <a:spcAft>
                <a:spcPts val="0"/>
              </a:spcAft>
              <a:buClr>
                <a:srgbClr val="000000"/>
              </a:buClr>
              <a:buSzPts val="900"/>
              <a:buFont typeface="Calibri"/>
              <a:buChar char="●"/>
            </a:pPr>
            <a:r>
              <a:rPr lang="en" sz="900" u="sng">
                <a:solidFill>
                  <a:srgbClr val="0097A7"/>
                </a:solidFill>
                <a:latin typeface="Calibri"/>
                <a:ea typeface="Calibri"/>
                <a:cs typeface="Calibri"/>
                <a:sym typeface="Calibri"/>
                <a:hlinkClick r:id="rId6">
                  <a:extLst>
                    <a:ext uri="{A12FA001-AC4F-418D-AE19-62706E023703}">
                      <ahyp:hlinkClr xmlns:ahyp="http://schemas.microsoft.com/office/drawing/2018/hyperlinkcolor" val="tx"/>
                    </a:ext>
                  </a:extLst>
                </a:hlinkClick>
              </a:rPr>
              <a:t>https://huggingface.co/zai-org/GLM-4.6</a:t>
            </a:r>
            <a:r>
              <a:rPr lang="en" sz="900">
                <a:solidFill>
                  <a:srgbClr val="000000"/>
                </a:solidFill>
                <a:latin typeface="Calibri"/>
                <a:ea typeface="Calibri"/>
                <a:cs typeface="Calibri"/>
                <a:sym typeface="Calibri"/>
              </a:rPr>
              <a:t> </a:t>
            </a:r>
            <a:endParaRPr sz="900">
              <a:solidFill>
                <a:srgbClr val="000000"/>
              </a:solidFill>
              <a:latin typeface="Calibri"/>
              <a:ea typeface="Calibri"/>
              <a:cs typeface="Calibri"/>
              <a:sym typeface="Calibri"/>
            </a:endParaRPr>
          </a:p>
          <a:p>
            <a:pPr marL="171450" marR="0" lvl="0" indent="-114300" algn="l" rtl="0">
              <a:lnSpc>
                <a:spcPct val="100000"/>
              </a:lnSpc>
              <a:spcBef>
                <a:spcPts val="0"/>
              </a:spcBef>
              <a:spcAft>
                <a:spcPts val="0"/>
              </a:spcAft>
              <a:buClr>
                <a:srgbClr val="000000"/>
              </a:buClr>
              <a:buSzPts val="900"/>
              <a:buFont typeface="Calibri"/>
              <a:buChar char="●"/>
            </a:pPr>
            <a:r>
              <a:rPr lang="en" sz="900" u="sng">
                <a:solidFill>
                  <a:srgbClr val="0097A7"/>
                </a:solidFill>
                <a:latin typeface="Calibri"/>
                <a:ea typeface="Calibri"/>
                <a:cs typeface="Calibri"/>
                <a:sym typeface="Calibri"/>
                <a:hlinkClick r:id="rId7">
                  <a:extLst>
                    <a:ext uri="{A12FA001-AC4F-418D-AE19-62706E023703}">
                      <ahyp:hlinkClr xmlns:ahyp="http://schemas.microsoft.com/office/drawing/2018/hyperlinkcolor" val="tx"/>
                    </a:ext>
                  </a:extLst>
                </a:hlinkClick>
              </a:rPr>
              <a:t>https://docs.z.ai/guides/llm/glm-4.6</a:t>
            </a:r>
            <a:r>
              <a:rPr lang="en" sz="900">
                <a:solidFill>
                  <a:srgbClr val="000000"/>
                </a:solidFill>
                <a:latin typeface="Calibri"/>
                <a:ea typeface="Calibri"/>
                <a:cs typeface="Calibri"/>
                <a:sym typeface="Calibri"/>
              </a:rPr>
              <a:t> </a:t>
            </a:r>
            <a:endParaRPr sz="900">
              <a:solidFill>
                <a:srgbClr val="000000"/>
              </a:solidFill>
              <a:latin typeface="Calibri"/>
              <a:ea typeface="Calibri"/>
              <a:cs typeface="Calibri"/>
              <a:sym typeface="Calibri"/>
            </a:endParaRPr>
          </a:p>
          <a:p>
            <a:pPr marL="171450" marR="0" lvl="0" indent="-114300" algn="l" rtl="0">
              <a:lnSpc>
                <a:spcPct val="100000"/>
              </a:lnSpc>
              <a:spcBef>
                <a:spcPts val="0"/>
              </a:spcBef>
              <a:spcAft>
                <a:spcPts val="0"/>
              </a:spcAft>
              <a:buClr>
                <a:srgbClr val="000000"/>
              </a:buClr>
              <a:buSzPts val="900"/>
              <a:buFont typeface="Calibri"/>
              <a:buChar char="●"/>
            </a:pPr>
            <a:r>
              <a:rPr lang="en" sz="900" u="sng">
                <a:solidFill>
                  <a:srgbClr val="0097A7"/>
                </a:solidFill>
                <a:latin typeface="Calibri"/>
                <a:ea typeface="Calibri"/>
                <a:cs typeface="Calibri"/>
                <a:sym typeface="Calibri"/>
                <a:hlinkClick r:id="rId8">
                  <a:extLst>
                    <a:ext uri="{A12FA001-AC4F-418D-AE19-62706E023703}">
                      <ahyp:hlinkClr xmlns:ahyp="http://schemas.microsoft.com/office/drawing/2018/hyperlinkcolor" val="tx"/>
                    </a:ext>
                  </a:extLst>
                </a:hlinkClick>
              </a:rPr>
              <a:t>https://openrouter.ai/z-ai/glm-4.6</a:t>
            </a:r>
            <a:r>
              <a:rPr lang="en" sz="900">
                <a:solidFill>
                  <a:srgbClr val="000000"/>
                </a:solidFill>
                <a:latin typeface="Calibri"/>
                <a:ea typeface="Calibri"/>
                <a:cs typeface="Calibri"/>
                <a:sym typeface="Calibri"/>
              </a:rPr>
              <a:t> </a:t>
            </a:r>
            <a:endParaRPr sz="900">
              <a:solidFill>
                <a:srgbClr val="000000"/>
              </a:solidFill>
              <a:latin typeface="Calibri"/>
              <a:ea typeface="Calibri"/>
              <a:cs typeface="Calibri"/>
              <a:sym typeface="Calibri"/>
            </a:endParaRPr>
          </a:p>
          <a:p>
            <a:pPr marL="171450" marR="0" lvl="0" indent="-114300" algn="l" rtl="0">
              <a:lnSpc>
                <a:spcPct val="100000"/>
              </a:lnSpc>
              <a:spcBef>
                <a:spcPts val="0"/>
              </a:spcBef>
              <a:spcAft>
                <a:spcPts val="0"/>
              </a:spcAft>
              <a:buClr>
                <a:srgbClr val="000000"/>
              </a:buClr>
              <a:buSzPts val="900"/>
              <a:buFont typeface="Calibri"/>
              <a:buChar char="●"/>
            </a:pPr>
            <a:r>
              <a:rPr lang="en" sz="900" u="sng">
                <a:solidFill>
                  <a:srgbClr val="0097A7"/>
                </a:solidFill>
                <a:latin typeface="Calibri"/>
                <a:ea typeface="Calibri"/>
                <a:cs typeface="Calibri"/>
                <a:sym typeface="Calibri"/>
                <a:hlinkClick r:id="rId9">
                  <a:extLst>
                    <a:ext uri="{A12FA001-AC4F-418D-AE19-62706E023703}">
                      <ahyp:hlinkClr xmlns:ahyp="http://schemas.microsoft.com/office/drawing/2018/hyperlinkcolor" val="tx"/>
                    </a:ext>
                  </a:extLst>
                </a:hlinkClick>
              </a:rPr>
              <a:t>https://www.youtube.com/watch?v=k0M320a-TXs</a:t>
            </a:r>
            <a:r>
              <a:rPr lang="en" sz="900">
                <a:solidFill>
                  <a:srgbClr val="000000"/>
                </a:solidFill>
                <a:latin typeface="Calibri"/>
                <a:ea typeface="Calibri"/>
                <a:cs typeface="Calibri"/>
                <a:sym typeface="Calibri"/>
              </a:rPr>
              <a:t> </a:t>
            </a:r>
            <a:endParaRPr sz="900">
              <a:solidFill>
                <a:srgbClr val="000000"/>
              </a:solidFill>
              <a:latin typeface="Calibri"/>
              <a:ea typeface="Calibri"/>
              <a:cs typeface="Calibri"/>
              <a:sym typeface="Calibri"/>
            </a:endParaRPr>
          </a:p>
          <a:p>
            <a:pPr marL="171450" marR="0" lvl="0" indent="-114300" algn="l" rtl="0">
              <a:lnSpc>
                <a:spcPct val="100000"/>
              </a:lnSpc>
              <a:spcBef>
                <a:spcPts val="0"/>
              </a:spcBef>
              <a:spcAft>
                <a:spcPts val="0"/>
              </a:spcAft>
              <a:buClr>
                <a:srgbClr val="000000"/>
              </a:buClr>
              <a:buSzPts val="900"/>
              <a:buFont typeface="Calibri"/>
              <a:buChar char="●"/>
            </a:pPr>
            <a:r>
              <a:rPr lang="en" sz="900" u="sng">
                <a:solidFill>
                  <a:srgbClr val="0097A7"/>
                </a:solidFill>
                <a:latin typeface="Calibri"/>
                <a:ea typeface="Calibri"/>
                <a:cs typeface="Calibri"/>
                <a:sym typeface="Calibri"/>
                <a:hlinkClick r:id="rId10">
                  <a:extLst>
                    <a:ext uri="{A12FA001-AC4F-418D-AE19-62706E023703}">
                      <ahyp:hlinkClr xmlns:ahyp="http://schemas.microsoft.com/office/drawing/2018/hyperlinkcolor" val="tx"/>
                    </a:ext>
                  </a:extLst>
                </a:hlinkClick>
              </a:rPr>
              <a:t>https://www.youtube.com/watch?v=i3kO_GOt2Bo</a:t>
            </a:r>
            <a:r>
              <a:rPr lang="en" sz="900">
                <a:solidFill>
                  <a:srgbClr val="000000"/>
                </a:solidFill>
                <a:latin typeface="Calibri"/>
                <a:ea typeface="Calibri"/>
                <a:cs typeface="Calibri"/>
                <a:sym typeface="Calibri"/>
              </a:rPr>
              <a:t> </a:t>
            </a:r>
            <a:endParaRPr sz="900">
              <a:solidFill>
                <a:srgbClr val="000000"/>
              </a:solidFill>
              <a:latin typeface="Calibri"/>
              <a:ea typeface="Calibri"/>
              <a:cs typeface="Calibri"/>
              <a:sym typeface="Calibri"/>
            </a:endParaRPr>
          </a:p>
          <a:p>
            <a:pPr marL="171450" marR="0" lvl="0" indent="-114300" algn="l" rtl="0">
              <a:lnSpc>
                <a:spcPct val="100000"/>
              </a:lnSpc>
              <a:spcBef>
                <a:spcPts val="0"/>
              </a:spcBef>
              <a:spcAft>
                <a:spcPts val="0"/>
              </a:spcAft>
              <a:buClr>
                <a:srgbClr val="000000"/>
              </a:buClr>
              <a:buSzPts val="900"/>
              <a:buFont typeface="Calibri"/>
              <a:buChar char="●"/>
            </a:pPr>
            <a:r>
              <a:rPr lang="en" sz="900" u="sng">
                <a:solidFill>
                  <a:srgbClr val="0097A7"/>
                </a:solidFill>
                <a:latin typeface="Calibri"/>
                <a:ea typeface="Calibri"/>
                <a:cs typeface="Calibri"/>
                <a:sym typeface="Calibri"/>
                <a:hlinkClick r:id="rId11">
                  <a:extLst>
                    <a:ext uri="{A12FA001-AC4F-418D-AE19-62706E023703}">
                      <ahyp:hlinkClr xmlns:ahyp="http://schemas.microsoft.com/office/drawing/2018/hyperlinkcolor" val="tx"/>
                    </a:ext>
                  </a:extLst>
                </a:hlinkClick>
              </a:rPr>
              <a:t>https://docs.z.ai/devpack/overview</a:t>
            </a:r>
            <a:r>
              <a:rPr lang="en" sz="900">
                <a:solidFill>
                  <a:srgbClr val="000000"/>
                </a:solidFill>
                <a:latin typeface="Calibri"/>
                <a:ea typeface="Calibri"/>
                <a:cs typeface="Calibri"/>
                <a:sym typeface="Calibri"/>
              </a:rPr>
              <a:t> </a:t>
            </a:r>
            <a:endParaRPr sz="900">
              <a:solidFill>
                <a:srgbClr val="000000"/>
              </a:solidFill>
              <a:latin typeface="Calibri"/>
              <a:ea typeface="Calibri"/>
              <a:cs typeface="Calibri"/>
              <a:sym typeface="Calibri"/>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314"/>
        <p:cNvGrpSpPr/>
        <p:nvPr/>
      </p:nvGrpSpPr>
      <p:grpSpPr>
        <a:xfrm>
          <a:off x="0" y="0"/>
          <a:ext cx="0" cy="0"/>
          <a:chOff x="0" y="0"/>
          <a:chExt cx="0" cy="0"/>
        </a:xfrm>
      </p:grpSpPr>
      <p:sp>
        <p:nvSpPr>
          <p:cNvPr id="315" name="Google Shape;315;p35"/>
          <p:cNvSpPr txBox="1"/>
          <p:nvPr/>
        </p:nvSpPr>
        <p:spPr>
          <a:xfrm>
            <a:off x="55075" y="20375"/>
            <a:ext cx="4457700" cy="326400"/>
          </a:xfrm>
          <a:prstGeom prst="rect">
            <a:avLst/>
          </a:prstGeom>
          <a:noFill/>
          <a:ln>
            <a:noFill/>
          </a:ln>
        </p:spPr>
        <p:txBody>
          <a:bodyPr spcFirstLastPara="1" wrap="square" lIns="9125" tIns="9125" rIns="9125" bIns="9125" anchor="t" anchorCtr="0">
            <a:spAutoFit/>
          </a:bodyPr>
          <a:lstStyle/>
          <a:p>
            <a:pPr marL="0" marR="0" lvl="0" indent="0" algn="l" rtl="0">
              <a:lnSpc>
                <a:spcPct val="100000"/>
              </a:lnSpc>
              <a:spcBef>
                <a:spcPts val="0"/>
              </a:spcBef>
              <a:spcAft>
                <a:spcPts val="0"/>
              </a:spcAft>
              <a:buClr>
                <a:schemeClr val="dk1"/>
              </a:buClr>
              <a:buSzPts val="1100"/>
              <a:buFont typeface="Arial"/>
              <a:buNone/>
            </a:pPr>
            <a:r>
              <a:rPr lang="en" sz="2000" b="1">
                <a:solidFill>
                  <a:schemeClr val="dk1"/>
                </a:solidFill>
                <a:latin typeface="Calibri"/>
                <a:ea typeface="Calibri"/>
                <a:cs typeface="Calibri"/>
                <a:sym typeface="Calibri"/>
              </a:rPr>
              <a:t>Google Gemini 3 vs Perplexity AI</a:t>
            </a:r>
            <a:endParaRPr sz="2000" b="1">
              <a:solidFill>
                <a:schemeClr val="dk1"/>
              </a:solidFill>
              <a:latin typeface="Calibri"/>
              <a:ea typeface="Calibri"/>
              <a:cs typeface="Calibri"/>
              <a:sym typeface="Calibri"/>
            </a:endParaRPr>
          </a:p>
        </p:txBody>
      </p:sp>
      <p:sp>
        <p:nvSpPr>
          <p:cNvPr id="316" name="Google Shape;316;p35"/>
          <p:cNvSpPr txBox="1"/>
          <p:nvPr/>
        </p:nvSpPr>
        <p:spPr>
          <a:xfrm>
            <a:off x="129600" y="481017"/>
            <a:ext cx="4457700" cy="26043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171450" marR="0" lvl="0" indent="-133350" algn="l" rtl="0">
              <a:lnSpc>
                <a:spcPct val="100000"/>
              </a:lnSpc>
              <a:spcBef>
                <a:spcPts val="0"/>
              </a:spcBef>
              <a:spcAft>
                <a:spcPts val="0"/>
              </a:spcAft>
              <a:buClr>
                <a:srgbClr val="000000"/>
              </a:buClr>
              <a:buSzPts val="1200"/>
              <a:buFont typeface="Calibri"/>
              <a:buChar char="●"/>
            </a:pPr>
            <a:r>
              <a:rPr lang="en" sz="1200" b="1">
                <a:solidFill>
                  <a:srgbClr val="FF0000"/>
                </a:solidFill>
                <a:latin typeface="Calibri"/>
                <a:ea typeface="Calibri"/>
                <a:cs typeface="Calibri"/>
                <a:sym typeface="Calibri"/>
              </a:rPr>
              <a:t>Google Gemini 3 vs Perplexity AI </a:t>
            </a:r>
            <a:br>
              <a:rPr lang="en" sz="1200">
                <a:latin typeface="Calibri"/>
                <a:ea typeface="Calibri"/>
                <a:cs typeface="Calibri"/>
                <a:sym typeface="Calibri"/>
              </a:rPr>
            </a:br>
            <a:r>
              <a:rPr lang="en" sz="1200" u="sng">
                <a:solidFill>
                  <a:schemeClr val="hlink"/>
                </a:solidFill>
                <a:latin typeface="Calibri"/>
                <a:ea typeface="Calibri"/>
                <a:cs typeface="Calibri"/>
                <a:sym typeface="Calibri"/>
                <a:hlinkClick r:id="rId3"/>
              </a:rPr>
              <a:t>https://www.youtube.com/watch?v=EcDWK_ZyhFs</a:t>
            </a:r>
            <a:endParaRPr sz="1200">
              <a:latin typeface="Calibri"/>
              <a:ea typeface="Calibri"/>
              <a:cs typeface="Calibri"/>
              <a:sym typeface="Calibri"/>
            </a:endParaRPr>
          </a:p>
          <a:p>
            <a:pPr marL="171450" marR="0" lvl="0" indent="-133350" algn="l" rtl="0">
              <a:lnSpc>
                <a:spcPct val="100000"/>
              </a:lnSpc>
              <a:spcBef>
                <a:spcPts val="0"/>
              </a:spcBef>
              <a:spcAft>
                <a:spcPts val="0"/>
              </a:spcAft>
              <a:buClr>
                <a:srgbClr val="000000"/>
              </a:buClr>
              <a:buSzPts val="1200"/>
              <a:buFont typeface="Calibri"/>
              <a:buChar char="●"/>
            </a:pPr>
            <a:r>
              <a:rPr lang="en" sz="1200">
                <a:latin typeface="Calibri"/>
                <a:ea typeface="Calibri"/>
                <a:cs typeface="Calibri"/>
                <a:sym typeface="Calibri"/>
              </a:rPr>
              <a:t>Gemini - provides comprehensive, structured answers with inline citations, analyzes uploaded form images. </a:t>
            </a:r>
            <a:r>
              <a:rPr lang="en" sz="1200">
                <a:solidFill>
                  <a:schemeClr val="dk1"/>
                </a:solidFill>
                <a:latin typeface="Calibri"/>
                <a:ea typeface="Calibri"/>
                <a:cs typeface="Calibri"/>
                <a:sym typeface="Calibri"/>
              </a:rPr>
              <a:t>Enterprise users need Gemini's Google ecosystem integration, security features, and agent marketplace; </a:t>
            </a:r>
            <a:endParaRPr sz="1200">
              <a:latin typeface="Calibri"/>
              <a:ea typeface="Calibri"/>
              <a:cs typeface="Calibri"/>
              <a:sym typeface="Calibri"/>
            </a:endParaRPr>
          </a:p>
          <a:p>
            <a:pPr marL="171450" marR="0" lvl="0" indent="-133350" algn="l" rtl="0">
              <a:lnSpc>
                <a:spcPct val="100000"/>
              </a:lnSpc>
              <a:spcBef>
                <a:spcPts val="0"/>
              </a:spcBef>
              <a:spcAft>
                <a:spcPts val="0"/>
              </a:spcAft>
              <a:buClr>
                <a:srgbClr val="000000"/>
              </a:buClr>
              <a:buSzPts val="1200"/>
              <a:buFont typeface="Calibri"/>
              <a:buChar char="●"/>
            </a:pPr>
            <a:r>
              <a:rPr lang="en" sz="1200">
                <a:latin typeface="Calibri"/>
                <a:ea typeface="Calibri"/>
                <a:cs typeface="Calibri"/>
                <a:sym typeface="Calibri"/>
              </a:rPr>
              <a:t>Perplexity delivered concise, focused responses with clear numbered sources and one-line explanations for each citation - perfect for content creators and researchers - speed, clarity, and verifiable sources; </a:t>
            </a:r>
            <a:endParaRPr sz="1200">
              <a:latin typeface="Calibri"/>
              <a:ea typeface="Calibri"/>
              <a:cs typeface="Calibri"/>
              <a:sym typeface="Calibri"/>
            </a:endParaRPr>
          </a:p>
          <a:p>
            <a:pPr marL="171450" marR="0" lvl="0" indent="-133350" algn="l" rtl="0">
              <a:lnSpc>
                <a:spcPct val="100000"/>
              </a:lnSpc>
              <a:spcBef>
                <a:spcPts val="0"/>
              </a:spcBef>
              <a:spcAft>
                <a:spcPts val="0"/>
              </a:spcAft>
              <a:buClr>
                <a:srgbClr val="FF0000"/>
              </a:buClr>
              <a:buSzPts val="1200"/>
              <a:buFont typeface="Calibri"/>
              <a:buChar char="●"/>
            </a:pPr>
            <a:r>
              <a:rPr lang="en" sz="1200" b="1">
                <a:solidFill>
                  <a:srgbClr val="FF0000"/>
                </a:solidFill>
                <a:latin typeface="Calibri"/>
                <a:ea typeface="Calibri"/>
                <a:cs typeface="Calibri"/>
                <a:sym typeface="Calibri"/>
              </a:rPr>
              <a:t>Google aims to build an everything platform while Perplexity focuses on perfecting answer quality; </a:t>
            </a:r>
            <a:endParaRPr sz="1200" b="1">
              <a:solidFill>
                <a:srgbClr val="FF0000"/>
              </a:solidFill>
              <a:latin typeface="Calibri"/>
              <a:ea typeface="Calibri"/>
              <a:cs typeface="Calibri"/>
              <a:sym typeface="Calibri"/>
            </a:endParaRPr>
          </a:p>
          <a:p>
            <a:pPr marL="171450" marR="0" lvl="0" indent="-133350" algn="l" rtl="0">
              <a:lnSpc>
                <a:spcPct val="100000"/>
              </a:lnSpc>
              <a:spcBef>
                <a:spcPts val="0"/>
              </a:spcBef>
              <a:spcAft>
                <a:spcPts val="0"/>
              </a:spcAft>
              <a:buClr>
                <a:srgbClr val="000000"/>
              </a:buClr>
              <a:buSzPts val="1200"/>
              <a:buFont typeface="Calibri"/>
              <a:buChar char="●"/>
            </a:pPr>
            <a:r>
              <a:rPr lang="en" sz="1200">
                <a:latin typeface="Calibri"/>
                <a:ea typeface="Calibri"/>
                <a:cs typeface="Calibri"/>
                <a:sym typeface="Calibri"/>
              </a:rPr>
              <a:t>The recommendation is to use both tools for their respective strengths</a:t>
            </a:r>
            <a:endParaRPr sz="1200">
              <a:latin typeface="Calibri"/>
              <a:ea typeface="Calibri"/>
              <a:cs typeface="Calibri"/>
              <a:sym typeface="Calibri"/>
            </a:endParaRPr>
          </a:p>
        </p:txBody>
      </p:sp>
      <p:pic>
        <p:nvPicPr>
          <p:cNvPr id="317" name="Google Shape;317;p35"/>
          <p:cNvPicPr preferRelativeResize="0"/>
          <p:nvPr/>
        </p:nvPicPr>
        <p:blipFill>
          <a:blip r:embed="rId4" cstate="email">
            <a:alphaModFix/>
            <a:extLst>
              <a:ext uri="{28A0092B-C50C-407E-A947-70E740481C1C}">
                <a14:useLocalDpi xmlns:a14="http://schemas.microsoft.com/office/drawing/2010/main"/>
              </a:ext>
            </a:extLst>
          </a:blip>
          <a:stretch>
            <a:fillRect/>
          </a:stretch>
        </p:blipFill>
        <p:spPr>
          <a:xfrm>
            <a:off x="4739700" y="824275"/>
            <a:ext cx="2930825" cy="1747475"/>
          </a:xfrm>
          <a:prstGeom prst="rect">
            <a:avLst/>
          </a:prstGeom>
          <a:noFill/>
          <a:ln w="9525" cap="flat" cmpd="sng">
            <a:solidFill>
              <a:srgbClr val="FF0000"/>
            </a:solidFill>
            <a:prstDash val="solid"/>
            <a:round/>
            <a:headEnd type="none" w="sm" len="sm"/>
            <a:tailEnd type="none" w="sm" len="sm"/>
          </a:ln>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321"/>
        <p:cNvGrpSpPr/>
        <p:nvPr/>
      </p:nvGrpSpPr>
      <p:grpSpPr>
        <a:xfrm>
          <a:off x="0" y="0"/>
          <a:ext cx="0" cy="0"/>
          <a:chOff x="0" y="0"/>
          <a:chExt cx="0" cy="0"/>
        </a:xfrm>
      </p:grpSpPr>
      <p:sp>
        <p:nvSpPr>
          <p:cNvPr id="322" name="Google Shape;322;p36"/>
          <p:cNvSpPr txBox="1"/>
          <p:nvPr/>
        </p:nvSpPr>
        <p:spPr>
          <a:xfrm>
            <a:off x="0" y="0"/>
            <a:ext cx="4730700" cy="326400"/>
          </a:xfrm>
          <a:prstGeom prst="rect">
            <a:avLst/>
          </a:prstGeom>
          <a:noFill/>
          <a:ln>
            <a:noFill/>
          </a:ln>
        </p:spPr>
        <p:txBody>
          <a:bodyPr spcFirstLastPara="1" wrap="square" lIns="9125" tIns="9125" rIns="9125" bIns="9125" anchor="t" anchorCtr="0">
            <a:spAutoFit/>
          </a:bodyPr>
          <a:lstStyle/>
          <a:p>
            <a:pPr marL="0" marR="0" lvl="0" indent="0" algn="l" rtl="0">
              <a:lnSpc>
                <a:spcPct val="100000"/>
              </a:lnSpc>
              <a:spcBef>
                <a:spcPts val="0"/>
              </a:spcBef>
              <a:spcAft>
                <a:spcPts val="0"/>
              </a:spcAft>
              <a:buClr>
                <a:schemeClr val="dk1"/>
              </a:buClr>
              <a:buSzPts val="1100"/>
              <a:buFont typeface="Arial"/>
              <a:buNone/>
            </a:pPr>
            <a:r>
              <a:rPr lang="en" sz="2000" b="1">
                <a:solidFill>
                  <a:schemeClr val="dk1"/>
                </a:solidFill>
                <a:latin typeface="Calibri"/>
                <a:ea typeface="Calibri"/>
                <a:cs typeface="Calibri"/>
                <a:sym typeface="Calibri"/>
              </a:rPr>
              <a:t>OpenAI's 2025 State of Enterprise AI report</a:t>
            </a:r>
            <a:endParaRPr sz="2000" b="1">
              <a:solidFill>
                <a:schemeClr val="dk1"/>
              </a:solidFill>
              <a:latin typeface="Calibri"/>
              <a:ea typeface="Calibri"/>
              <a:cs typeface="Calibri"/>
              <a:sym typeface="Calibri"/>
            </a:endParaRPr>
          </a:p>
        </p:txBody>
      </p:sp>
      <p:sp>
        <p:nvSpPr>
          <p:cNvPr id="323" name="Google Shape;323;p36"/>
          <p:cNvSpPr txBox="1"/>
          <p:nvPr/>
        </p:nvSpPr>
        <p:spPr>
          <a:xfrm>
            <a:off x="77450" y="431100"/>
            <a:ext cx="4468800" cy="39126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171450" marR="0" lvl="0" indent="-127000" algn="l" rtl="0">
              <a:lnSpc>
                <a:spcPct val="100000"/>
              </a:lnSpc>
              <a:spcBef>
                <a:spcPts val="0"/>
              </a:spcBef>
              <a:spcAft>
                <a:spcPts val="0"/>
              </a:spcAft>
              <a:buClr>
                <a:srgbClr val="FF0000"/>
              </a:buClr>
              <a:buSzPts val="1100"/>
              <a:buFont typeface="Calibri"/>
              <a:buChar char="●"/>
            </a:pPr>
            <a:r>
              <a:rPr lang="en" sz="1100" b="1">
                <a:solidFill>
                  <a:srgbClr val="FF0000"/>
                </a:solidFill>
                <a:latin typeface="Calibri"/>
                <a:ea typeface="Calibri"/>
                <a:cs typeface="Calibri"/>
                <a:sym typeface="Calibri"/>
              </a:rPr>
              <a:t>OpenAI's 2025 State of Enterprise AI report </a:t>
            </a:r>
            <a:endParaRPr sz="1100" b="1">
              <a:solidFill>
                <a:srgbClr val="FF0000"/>
              </a:solidFill>
              <a:latin typeface="Calibri"/>
              <a:ea typeface="Calibri"/>
              <a:cs typeface="Calibri"/>
              <a:sym typeface="Calibri"/>
            </a:endParaRPr>
          </a:p>
          <a:p>
            <a:pPr marL="171450" marR="0" lvl="0" indent="-127000" algn="l" rtl="0">
              <a:lnSpc>
                <a:spcPct val="100000"/>
              </a:lnSpc>
              <a:spcBef>
                <a:spcPts val="0"/>
              </a:spcBef>
              <a:spcAft>
                <a:spcPts val="0"/>
              </a:spcAft>
              <a:buSzPts val="1100"/>
              <a:buFont typeface="Calibri"/>
              <a:buChar char="●"/>
            </a:pPr>
            <a:r>
              <a:rPr lang="en" sz="1100">
                <a:latin typeface="Calibri"/>
                <a:ea typeface="Calibri"/>
                <a:cs typeface="Calibri"/>
                <a:sym typeface="Calibri"/>
              </a:rPr>
              <a:t>Significant growth, with ChatGPT now serving over 800 million weekly users and ChatGPT Enterprise experiencing 8x message volume growth since November 2024</a:t>
            </a:r>
            <a:endParaRPr sz="1100">
              <a:latin typeface="Calibri"/>
              <a:ea typeface="Calibri"/>
              <a:cs typeface="Calibri"/>
              <a:sym typeface="Calibri"/>
            </a:endParaRPr>
          </a:p>
          <a:p>
            <a:pPr marL="171450" marR="0" lvl="0" indent="-127000" algn="l" rtl="0">
              <a:lnSpc>
                <a:spcPct val="100000"/>
              </a:lnSpc>
              <a:spcBef>
                <a:spcPts val="0"/>
              </a:spcBef>
              <a:spcAft>
                <a:spcPts val="0"/>
              </a:spcAft>
              <a:buSzPts val="1100"/>
              <a:buFont typeface="Calibri"/>
              <a:buChar char="●"/>
            </a:pPr>
            <a:r>
              <a:rPr lang="en" sz="1100">
                <a:latin typeface="Calibri"/>
                <a:ea typeface="Calibri"/>
                <a:cs typeface="Calibri"/>
                <a:sym typeface="Calibri"/>
              </a:rPr>
              <a:t>The report indicates over one million businesses are paying for enterprise AI products, with 7 million paid employee seats</a:t>
            </a:r>
            <a:endParaRPr sz="1100">
              <a:latin typeface="Calibri"/>
              <a:ea typeface="Calibri"/>
              <a:cs typeface="Calibri"/>
              <a:sym typeface="Calibri"/>
            </a:endParaRPr>
          </a:p>
          <a:p>
            <a:pPr marL="171450" marR="0" lvl="0" indent="-127000" algn="l" rtl="0">
              <a:lnSpc>
                <a:spcPct val="100000"/>
              </a:lnSpc>
              <a:spcBef>
                <a:spcPts val="0"/>
              </a:spcBef>
              <a:spcAft>
                <a:spcPts val="0"/>
              </a:spcAft>
              <a:buSzPts val="1100"/>
              <a:buFont typeface="Calibri"/>
              <a:buChar char="●"/>
            </a:pPr>
            <a:r>
              <a:rPr lang="en" sz="1100">
                <a:latin typeface="Calibri"/>
                <a:ea typeface="Calibri"/>
                <a:cs typeface="Calibri"/>
                <a:sym typeface="Calibri"/>
              </a:rPr>
              <a:t>Key findings show that </a:t>
            </a:r>
            <a:r>
              <a:rPr lang="en" sz="1100" b="1">
                <a:solidFill>
                  <a:srgbClr val="FF0000"/>
                </a:solidFill>
                <a:latin typeface="Calibri"/>
                <a:ea typeface="Calibri"/>
                <a:cs typeface="Calibri"/>
                <a:sym typeface="Calibri"/>
              </a:rPr>
              <a:t>enterprise AI adoption is shifting from isolated usage to structured, workflow-driven integration</a:t>
            </a:r>
            <a:endParaRPr sz="1100" b="1">
              <a:solidFill>
                <a:srgbClr val="FF0000"/>
              </a:solidFill>
              <a:latin typeface="Calibri"/>
              <a:ea typeface="Calibri"/>
              <a:cs typeface="Calibri"/>
              <a:sym typeface="Calibri"/>
            </a:endParaRPr>
          </a:p>
          <a:p>
            <a:pPr marL="171450" marR="0" lvl="0" indent="-127000" algn="l" rtl="0">
              <a:lnSpc>
                <a:spcPct val="100000"/>
              </a:lnSpc>
              <a:spcBef>
                <a:spcPts val="0"/>
              </a:spcBef>
              <a:spcAft>
                <a:spcPts val="0"/>
              </a:spcAft>
              <a:buClr>
                <a:srgbClr val="3C78D8"/>
              </a:buClr>
              <a:buSzPts val="1100"/>
              <a:buFont typeface="Calibri"/>
              <a:buChar char="●"/>
            </a:pPr>
            <a:r>
              <a:rPr lang="en" sz="1100" b="1">
                <a:solidFill>
                  <a:srgbClr val="3C78D8"/>
                </a:solidFill>
                <a:latin typeface="Calibri"/>
                <a:ea typeface="Calibri"/>
                <a:cs typeface="Calibri"/>
                <a:sym typeface="Calibri"/>
              </a:rPr>
              <a:t>The primary constraints are no longer model performance or tooling but organizational readiness</a:t>
            </a:r>
            <a:endParaRPr sz="1100" b="1">
              <a:solidFill>
                <a:srgbClr val="3C78D8"/>
              </a:solidFill>
              <a:latin typeface="Calibri"/>
              <a:ea typeface="Calibri"/>
              <a:cs typeface="Calibri"/>
              <a:sym typeface="Calibri"/>
            </a:endParaRPr>
          </a:p>
          <a:p>
            <a:pPr marL="171450" marR="0" lvl="0" indent="-127000" algn="l" rtl="0">
              <a:lnSpc>
                <a:spcPct val="100000"/>
              </a:lnSpc>
              <a:spcBef>
                <a:spcPts val="0"/>
              </a:spcBef>
              <a:spcAft>
                <a:spcPts val="0"/>
              </a:spcAft>
              <a:buClr>
                <a:srgbClr val="3C78D8"/>
              </a:buClr>
              <a:buSzPts val="1100"/>
              <a:buFont typeface="Calibri"/>
              <a:buChar char="●"/>
            </a:pPr>
            <a:r>
              <a:rPr lang="en" sz="1100" b="1">
                <a:solidFill>
                  <a:srgbClr val="3C78D8"/>
                </a:solidFill>
                <a:latin typeface="Calibri"/>
                <a:ea typeface="Calibri"/>
                <a:cs typeface="Calibri"/>
                <a:sym typeface="Calibri"/>
              </a:rPr>
              <a:t>Leading firms invest in system integrations, workflow standardization, governance, and executive sponsorship to drive success</a:t>
            </a:r>
            <a:endParaRPr sz="1100" b="1">
              <a:solidFill>
                <a:srgbClr val="3C78D8"/>
              </a:solidFill>
              <a:latin typeface="Calibri"/>
              <a:ea typeface="Calibri"/>
              <a:cs typeface="Calibri"/>
              <a:sym typeface="Calibri"/>
            </a:endParaRPr>
          </a:p>
          <a:p>
            <a:pPr marL="171450" marR="0" lvl="0" indent="-127000" algn="l" rtl="0">
              <a:lnSpc>
                <a:spcPct val="100000"/>
              </a:lnSpc>
              <a:spcBef>
                <a:spcPts val="0"/>
              </a:spcBef>
              <a:spcAft>
                <a:spcPts val="0"/>
              </a:spcAft>
              <a:buSzPts val="1100"/>
              <a:buFont typeface="Calibri"/>
              <a:buChar char="●"/>
            </a:pPr>
            <a:r>
              <a:rPr lang="en" sz="1100">
                <a:latin typeface="Calibri"/>
                <a:ea typeface="Calibri"/>
                <a:cs typeface="Calibri"/>
                <a:sym typeface="Calibri"/>
              </a:rPr>
              <a:t>The report shows that when 20 percent or more of team activity flows through custom AI tooling, efficiency gains become measurable and consistent</a:t>
            </a:r>
            <a:endParaRPr sz="1100">
              <a:latin typeface="Calibri"/>
              <a:ea typeface="Calibri"/>
              <a:cs typeface="Calibri"/>
              <a:sym typeface="Calibri"/>
            </a:endParaRPr>
          </a:p>
          <a:p>
            <a:pPr marL="171450" marR="0" lvl="0" indent="-127000" algn="l" rtl="0">
              <a:lnSpc>
                <a:spcPct val="100000"/>
              </a:lnSpc>
              <a:spcBef>
                <a:spcPts val="0"/>
              </a:spcBef>
              <a:spcAft>
                <a:spcPts val="0"/>
              </a:spcAft>
              <a:buSzPts val="1100"/>
              <a:buFont typeface="Calibri"/>
              <a:buChar char="●"/>
            </a:pPr>
            <a:r>
              <a:rPr lang="en" sz="1100">
                <a:latin typeface="Calibri"/>
                <a:ea typeface="Calibri"/>
                <a:cs typeface="Calibri"/>
                <a:sym typeface="Calibri"/>
              </a:rPr>
              <a:t>~25% of enterprises still have not connected AI to their core data systems, representing a significant opportunity for improvement</a:t>
            </a:r>
            <a:endParaRPr sz="1100">
              <a:latin typeface="Calibri"/>
              <a:ea typeface="Calibri"/>
              <a:cs typeface="Calibri"/>
              <a:sym typeface="Calibri"/>
            </a:endParaRPr>
          </a:p>
          <a:p>
            <a:pPr marL="171450" marR="0" lvl="0" indent="-127000" algn="l" rtl="0">
              <a:lnSpc>
                <a:spcPct val="100000"/>
              </a:lnSpc>
              <a:spcBef>
                <a:spcPts val="0"/>
              </a:spcBef>
              <a:spcAft>
                <a:spcPts val="0"/>
              </a:spcAft>
              <a:buSzPts val="1100"/>
              <a:buFont typeface="Calibri"/>
              <a:buChar char="●"/>
            </a:pPr>
            <a:r>
              <a:rPr lang="en" sz="1100">
                <a:latin typeface="Calibri"/>
                <a:ea typeface="Calibri"/>
                <a:cs typeface="Calibri"/>
                <a:sym typeface="Calibri"/>
              </a:rPr>
              <a:t>Case studies demonstrate measurable business results including revenue gains, improved customer satisfaction, faster product development, and cost savings</a:t>
            </a:r>
            <a:endParaRPr sz="1100">
              <a:latin typeface="Calibri"/>
              <a:ea typeface="Calibri"/>
              <a:cs typeface="Calibri"/>
              <a:sym typeface="Calibri"/>
            </a:endParaRPr>
          </a:p>
          <a:p>
            <a:pPr marL="171450" marR="0" lvl="0" indent="-127000" algn="l" rtl="0">
              <a:lnSpc>
                <a:spcPct val="100000"/>
              </a:lnSpc>
              <a:spcBef>
                <a:spcPts val="0"/>
              </a:spcBef>
              <a:spcAft>
                <a:spcPts val="0"/>
              </a:spcAft>
              <a:buSzPts val="1100"/>
              <a:buFont typeface="Calibri"/>
              <a:buChar char="●"/>
            </a:pPr>
            <a:r>
              <a:rPr lang="en" sz="1100" u="sng">
                <a:solidFill>
                  <a:schemeClr val="hlink"/>
                </a:solidFill>
                <a:latin typeface="Calibri"/>
                <a:ea typeface="Calibri"/>
                <a:cs typeface="Calibri"/>
                <a:sym typeface="Calibri"/>
                <a:hlinkClick r:id="rId3"/>
              </a:rPr>
              <a:t>https://openai.com/index/the-state-of-enterprise-ai-2025-report/</a:t>
            </a:r>
            <a:endParaRPr sz="1100">
              <a:latin typeface="Calibri"/>
              <a:ea typeface="Calibri"/>
              <a:cs typeface="Calibri"/>
              <a:sym typeface="Calibri"/>
            </a:endParaRPr>
          </a:p>
          <a:p>
            <a:pPr marL="171450" marR="0" lvl="0" indent="-127000" algn="l" rtl="0">
              <a:lnSpc>
                <a:spcPct val="100000"/>
              </a:lnSpc>
              <a:spcBef>
                <a:spcPts val="0"/>
              </a:spcBef>
              <a:spcAft>
                <a:spcPts val="0"/>
              </a:spcAft>
              <a:buSzPts val="1100"/>
              <a:buFont typeface="Calibri"/>
              <a:buChar char="●"/>
            </a:pPr>
            <a:r>
              <a:rPr lang="en" sz="1100" u="sng">
                <a:solidFill>
                  <a:schemeClr val="hlink"/>
                </a:solidFill>
                <a:latin typeface="Calibri"/>
                <a:ea typeface="Calibri"/>
                <a:cs typeface="Calibri"/>
                <a:sym typeface="Calibri"/>
                <a:hlinkClick r:id="rId4"/>
              </a:rPr>
              <a:t>https://cdn.openai.com/pdf/7ef17d82-96bf-4dd1-9df2-228f7f377a29/the-state-of-enterprise-ai_2025-report.pdf</a:t>
            </a:r>
            <a:endParaRPr sz="1100">
              <a:latin typeface="Calibri"/>
              <a:ea typeface="Calibri"/>
              <a:cs typeface="Calibri"/>
              <a:sym typeface="Calibri"/>
            </a:endParaRPr>
          </a:p>
        </p:txBody>
      </p:sp>
      <p:pic>
        <p:nvPicPr>
          <p:cNvPr id="324" name="Google Shape;324;p36"/>
          <p:cNvPicPr preferRelativeResize="0"/>
          <p:nvPr/>
        </p:nvPicPr>
        <p:blipFill>
          <a:blip r:embed="rId5" cstate="email">
            <a:alphaModFix/>
            <a:extLst>
              <a:ext uri="{28A0092B-C50C-407E-A947-70E740481C1C}">
                <a14:useLocalDpi xmlns:a14="http://schemas.microsoft.com/office/drawing/2010/main"/>
              </a:ext>
            </a:extLst>
          </a:blip>
          <a:stretch>
            <a:fillRect/>
          </a:stretch>
        </p:blipFill>
        <p:spPr>
          <a:xfrm>
            <a:off x="4698650" y="478800"/>
            <a:ext cx="2759425" cy="2708850"/>
          </a:xfrm>
          <a:prstGeom prst="rect">
            <a:avLst/>
          </a:prstGeom>
          <a:noFill/>
          <a:ln w="9525" cap="flat" cmpd="sng">
            <a:solidFill>
              <a:srgbClr val="FF0000"/>
            </a:solidFill>
            <a:prstDash val="solid"/>
            <a:round/>
            <a:headEnd type="none" w="sm" len="sm"/>
            <a:tailEnd type="none" w="sm" len="sm"/>
          </a:ln>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328"/>
        <p:cNvGrpSpPr/>
        <p:nvPr/>
      </p:nvGrpSpPr>
      <p:grpSpPr>
        <a:xfrm>
          <a:off x="0" y="0"/>
          <a:ext cx="0" cy="0"/>
          <a:chOff x="0" y="0"/>
          <a:chExt cx="0" cy="0"/>
        </a:xfrm>
      </p:grpSpPr>
      <p:sp>
        <p:nvSpPr>
          <p:cNvPr id="329" name="Google Shape;329;p37"/>
          <p:cNvSpPr txBox="1"/>
          <p:nvPr/>
        </p:nvSpPr>
        <p:spPr>
          <a:xfrm>
            <a:off x="55908" y="0"/>
            <a:ext cx="4092300" cy="326400"/>
          </a:xfrm>
          <a:prstGeom prst="rect">
            <a:avLst/>
          </a:prstGeom>
          <a:noFill/>
          <a:ln>
            <a:noFill/>
          </a:ln>
        </p:spPr>
        <p:txBody>
          <a:bodyPr spcFirstLastPara="1" wrap="square" lIns="9125" tIns="9125" rIns="9125" bIns="9125" anchor="t" anchorCtr="0">
            <a:spAutoFit/>
          </a:bodyPr>
          <a:lstStyle/>
          <a:p>
            <a:pPr marL="0" marR="0" lvl="0" indent="0" algn="l" rtl="0">
              <a:lnSpc>
                <a:spcPct val="100000"/>
              </a:lnSpc>
              <a:spcBef>
                <a:spcPts val="0"/>
              </a:spcBef>
              <a:spcAft>
                <a:spcPts val="0"/>
              </a:spcAft>
              <a:buClr>
                <a:schemeClr val="dk1"/>
              </a:buClr>
              <a:buSzPts val="1100"/>
              <a:buFont typeface="Arial"/>
              <a:buNone/>
            </a:pPr>
            <a:r>
              <a:rPr lang="en" sz="2000" b="1">
                <a:solidFill>
                  <a:schemeClr val="dk1"/>
                </a:solidFill>
                <a:latin typeface="Calibri"/>
                <a:ea typeface="Calibri"/>
                <a:cs typeface="Calibri"/>
                <a:sym typeface="Calibri"/>
              </a:rPr>
              <a:t>Agentive - AI for Auditors</a:t>
            </a:r>
            <a:endParaRPr sz="2000" b="1">
              <a:solidFill>
                <a:schemeClr val="dk1"/>
              </a:solidFill>
              <a:latin typeface="Calibri"/>
              <a:ea typeface="Calibri"/>
              <a:cs typeface="Calibri"/>
              <a:sym typeface="Calibri"/>
            </a:endParaRPr>
          </a:p>
        </p:txBody>
      </p:sp>
      <p:sp>
        <p:nvSpPr>
          <p:cNvPr id="330" name="Google Shape;330;p37"/>
          <p:cNvSpPr txBox="1"/>
          <p:nvPr/>
        </p:nvSpPr>
        <p:spPr>
          <a:xfrm>
            <a:off x="77450" y="431100"/>
            <a:ext cx="4468800" cy="44208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171450" marR="0" lvl="0" indent="-127000" algn="l" rtl="0">
              <a:lnSpc>
                <a:spcPct val="100000"/>
              </a:lnSpc>
              <a:spcBef>
                <a:spcPts val="0"/>
              </a:spcBef>
              <a:spcAft>
                <a:spcPts val="0"/>
              </a:spcAft>
              <a:buClr>
                <a:srgbClr val="FF0000"/>
              </a:buClr>
              <a:buSzPts val="1100"/>
              <a:buFont typeface="Calibri"/>
              <a:buChar char="●"/>
            </a:pPr>
            <a:r>
              <a:rPr lang="en" sz="1100" b="1">
                <a:solidFill>
                  <a:srgbClr val="FF0000"/>
                </a:solidFill>
                <a:latin typeface="Calibri"/>
                <a:ea typeface="Calibri"/>
                <a:cs typeface="Calibri"/>
                <a:sym typeface="Calibri"/>
              </a:rPr>
              <a:t>Agentive - AI-powered audit workflow automation</a:t>
            </a:r>
            <a:endParaRPr sz="1100" b="1">
              <a:solidFill>
                <a:srgbClr val="FF0000"/>
              </a:solidFill>
              <a:latin typeface="Calibri"/>
              <a:ea typeface="Calibri"/>
              <a:cs typeface="Calibri"/>
              <a:sym typeface="Calibri"/>
            </a:endParaRPr>
          </a:p>
          <a:p>
            <a:pPr marL="171450" marR="0" lvl="0" indent="-127000" algn="l" rtl="0">
              <a:lnSpc>
                <a:spcPct val="100000"/>
              </a:lnSpc>
              <a:spcBef>
                <a:spcPts val="0"/>
              </a:spcBef>
              <a:spcAft>
                <a:spcPts val="0"/>
              </a:spcAft>
              <a:buSzPts val="1100"/>
              <a:buFont typeface="Calibri"/>
              <a:buChar char="●"/>
            </a:pPr>
            <a:r>
              <a:rPr lang="en" sz="1100">
                <a:latin typeface="Calibri"/>
                <a:ea typeface="Calibri"/>
                <a:cs typeface="Calibri"/>
                <a:sym typeface="Calibri"/>
              </a:rPr>
              <a:t>Founded by Danny Albertson to help auditors automate the tedious parts of audit work, particularly test of details procedures</a:t>
            </a:r>
            <a:endParaRPr sz="1100">
              <a:latin typeface="Calibri"/>
              <a:ea typeface="Calibri"/>
              <a:cs typeface="Calibri"/>
              <a:sym typeface="Calibri"/>
            </a:endParaRPr>
          </a:p>
          <a:p>
            <a:pPr marL="171450" marR="0" lvl="0" indent="-127000" algn="l" rtl="0">
              <a:lnSpc>
                <a:spcPct val="100000"/>
              </a:lnSpc>
              <a:spcBef>
                <a:spcPts val="0"/>
              </a:spcBef>
              <a:spcAft>
                <a:spcPts val="0"/>
              </a:spcAft>
              <a:buSzPts val="1100"/>
              <a:buFont typeface="Calibri"/>
              <a:buChar char="●"/>
            </a:pPr>
            <a:r>
              <a:rPr lang="en" sz="1100">
                <a:latin typeface="Calibri"/>
                <a:ea typeface="Calibri"/>
                <a:cs typeface="Calibri"/>
                <a:sym typeface="Calibri"/>
              </a:rPr>
              <a:t>Agentive is purpose-built to help auditors request evidence from clients and automatically test that evidence using AI</a:t>
            </a:r>
            <a:endParaRPr sz="1100">
              <a:latin typeface="Calibri"/>
              <a:ea typeface="Calibri"/>
              <a:cs typeface="Calibri"/>
              <a:sym typeface="Calibri"/>
            </a:endParaRPr>
          </a:p>
          <a:p>
            <a:pPr marL="171450" marR="0" lvl="0" indent="-127000" algn="l" rtl="0">
              <a:lnSpc>
                <a:spcPct val="100000"/>
              </a:lnSpc>
              <a:spcBef>
                <a:spcPts val="0"/>
              </a:spcBef>
              <a:spcAft>
                <a:spcPts val="0"/>
              </a:spcAft>
              <a:buSzPts val="1100"/>
              <a:buFont typeface="Calibri"/>
              <a:buChar char="●"/>
            </a:pPr>
            <a:r>
              <a:rPr lang="en" sz="1100">
                <a:latin typeface="Calibri"/>
                <a:ea typeface="Calibri"/>
                <a:cs typeface="Calibri"/>
                <a:sym typeface="Calibri"/>
              </a:rPr>
              <a:t>The platform integrates directly into the audit workflow - when clients upload documents, AI agents automatically run pre-defined audit procedures and provide answers with citations within 60 seconds</a:t>
            </a:r>
            <a:endParaRPr sz="1100">
              <a:latin typeface="Calibri"/>
              <a:ea typeface="Calibri"/>
              <a:cs typeface="Calibri"/>
              <a:sym typeface="Calibri"/>
            </a:endParaRPr>
          </a:p>
          <a:p>
            <a:pPr marL="171450" marR="0" lvl="0" indent="-127000" algn="l" rtl="0">
              <a:lnSpc>
                <a:spcPct val="100000"/>
              </a:lnSpc>
              <a:spcBef>
                <a:spcPts val="0"/>
              </a:spcBef>
              <a:spcAft>
                <a:spcPts val="0"/>
              </a:spcAft>
              <a:buSzPts val="1100"/>
              <a:buFont typeface="Calibri"/>
              <a:buChar char="●"/>
            </a:pPr>
            <a:r>
              <a:rPr lang="en" sz="1100">
                <a:latin typeface="Calibri"/>
                <a:ea typeface="Calibri"/>
                <a:cs typeface="Calibri"/>
                <a:sym typeface="Calibri"/>
              </a:rPr>
              <a:t>This differs from generic AI assistants by embedding automation directly into the PBC (Prepared By Client) list and testing workflow</a:t>
            </a:r>
            <a:endParaRPr sz="1100">
              <a:latin typeface="Calibri"/>
              <a:ea typeface="Calibri"/>
              <a:cs typeface="Calibri"/>
              <a:sym typeface="Calibri"/>
            </a:endParaRPr>
          </a:p>
          <a:p>
            <a:pPr marL="171450" marR="0" lvl="0" indent="-127000" algn="l" rtl="0">
              <a:lnSpc>
                <a:spcPct val="100000"/>
              </a:lnSpc>
              <a:spcBef>
                <a:spcPts val="0"/>
              </a:spcBef>
              <a:spcAft>
                <a:spcPts val="0"/>
              </a:spcAft>
              <a:buSzPts val="1100"/>
              <a:buFont typeface="Calibri"/>
              <a:buChar char="●"/>
            </a:pPr>
            <a:r>
              <a:rPr lang="en" sz="1100">
                <a:latin typeface="Calibri"/>
                <a:ea typeface="Calibri"/>
                <a:cs typeface="Calibri"/>
                <a:sym typeface="Calibri"/>
              </a:rPr>
              <a:t>AI's improved ability to perform "function calling"allowed AI to independently work on complex tasks for extended periods, evaluate its own output, and decide next steps without constant human supervision</a:t>
            </a:r>
            <a:endParaRPr sz="1100">
              <a:latin typeface="Calibri"/>
              <a:ea typeface="Calibri"/>
              <a:cs typeface="Calibri"/>
              <a:sym typeface="Calibri"/>
            </a:endParaRPr>
          </a:p>
          <a:p>
            <a:pPr marL="171450" marR="0" lvl="0" indent="-127000" algn="l" rtl="0">
              <a:lnSpc>
                <a:spcPct val="100000"/>
              </a:lnSpc>
              <a:spcBef>
                <a:spcPts val="0"/>
              </a:spcBef>
              <a:spcAft>
                <a:spcPts val="0"/>
              </a:spcAft>
              <a:buSzPts val="1100"/>
              <a:buFont typeface="Calibri"/>
              <a:buChar char="●"/>
            </a:pPr>
            <a:r>
              <a:rPr lang="en" sz="1100">
                <a:latin typeface="Calibri"/>
                <a:ea typeface="Calibri"/>
                <a:cs typeface="Calibri"/>
                <a:sym typeface="Calibri"/>
              </a:rPr>
              <a:t>Agentive offers 2.5-hour training sessions where potential customers can actually use the product hands-on</a:t>
            </a:r>
            <a:endParaRPr sz="1100">
              <a:latin typeface="Calibri"/>
              <a:ea typeface="Calibri"/>
              <a:cs typeface="Calibri"/>
              <a:sym typeface="Calibri"/>
            </a:endParaRPr>
          </a:p>
          <a:p>
            <a:pPr marL="171450" marR="0" lvl="0" indent="-127000" algn="l" rtl="0">
              <a:lnSpc>
                <a:spcPct val="100000"/>
              </a:lnSpc>
              <a:spcBef>
                <a:spcPts val="0"/>
              </a:spcBef>
              <a:spcAft>
                <a:spcPts val="0"/>
              </a:spcAft>
              <a:buSzPts val="1100"/>
              <a:buFont typeface="Calibri"/>
              <a:buChar char="●"/>
            </a:pPr>
            <a:r>
              <a:rPr lang="en" sz="1100">
                <a:latin typeface="Calibri"/>
                <a:ea typeface="Calibri"/>
                <a:cs typeface="Calibri"/>
                <a:sym typeface="Calibri"/>
              </a:rPr>
              <a:t>In five years, Danny envisions junior auditors spending significantly less time on low-risk test of details work and more time on strategic discussions, audit planning, and higher-risk areas. AI agents will handle the preparation work while humans focus on review, professional judgment, and client relationships</a:t>
            </a:r>
            <a:endParaRPr sz="1100">
              <a:latin typeface="Calibri"/>
              <a:ea typeface="Calibri"/>
              <a:cs typeface="Calibri"/>
              <a:sym typeface="Calibri"/>
            </a:endParaRPr>
          </a:p>
          <a:p>
            <a:pPr marL="171450" marR="0" lvl="0" indent="-127000" algn="l" rtl="0">
              <a:lnSpc>
                <a:spcPct val="100000"/>
              </a:lnSpc>
              <a:spcBef>
                <a:spcPts val="0"/>
              </a:spcBef>
              <a:spcAft>
                <a:spcPts val="0"/>
              </a:spcAft>
              <a:buSzPts val="1100"/>
              <a:buFont typeface="Calibri"/>
              <a:buChar char="●"/>
            </a:pPr>
            <a:r>
              <a:rPr lang="en" sz="1100">
                <a:latin typeface="Calibri"/>
                <a:ea typeface="Calibri"/>
                <a:cs typeface="Calibri"/>
                <a:sym typeface="Calibri"/>
              </a:rPr>
              <a:t>Danny's strongest opinion: firms shouldn't sign three-year software contracts without trying the product first. He criticizes vendors that oversell capabilities and lock customers into long-term commitments based on demo presentations rather than actual product experience</a:t>
            </a:r>
            <a:endParaRPr sz="1100">
              <a:latin typeface="Calibri"/>
              <a:ea typeface="Calibri"/>
              <a:cs typeface="Calibri"/>
              <a:sym typeface="Calibri"/>
            </a:endParaRPr>
          </a:p>
          <a:p>
            <a:pPr marL="171450" marR="0" lvl="0" indent="-127000" algn="l" rtl="0">
              <a:lnSpc>
                <a:spcPct val="100000"/>
              </a:lnSpc>
              <a:spcBef>
                <a:spcPts val="0"/>
              </a:spcBef>
              <a:spcAft>
                <a:spcPts val="0"/>
              </a:spcAft>
              <a:buSzPts val="1100"/>
              <a:buFont typeface="Calibri"/>
              <a:buChar char="●"/>
            </a:pPr>
            <a:r>
              <a:rPr lang="en" sz="1100" u="sng">
                <a:solidFill>
                  <a:schemeClr val="hlink"/>
                </a:solidFill>
                <a:latin typeface="Calibri"/>
                <a:ea typeface="Calibri"/>
                <a:cs typeface="Calibri"/>
                <a:sym typeface="Calibri"/>
                <a:hlinkClick r:id="rId3"/>
              </a:rPr>
              <a:t>https://www.youtube.com/watch?v=yR0ionORpEI</a:t>
            </a:r>
            <a:r>
              <a:rPr lang="en" sz="1100">
                <a:latin typeface="Calibri"/>
                <a:ea typeface="Calibri"/>
                <a:cs typeface="Calibri"/>
                <a:sym typeface="Calibri"/>
              </a:rPr>
              <a:t> </a:t>
            </a:r>
            <a:endParaRPr sz="1100">
              <a:latin typeface="Calibri"/>
              <a:ea typeface="Calibri"/>
              <a:cs typeface="Calibri"/>
              <a:sym typeface="Calibri"/>
            </a:endParaRPr>
          </a:p>
          <a:p>
            <a:pPr marL="171450" marR="0" lvl="0" indent="-127000" algn="l" rtl="0">
              <a:lnSpc>
                <a:spcPct val="100000"/>
              </a:lnSpc>
              <a:spcBef>
                <a:spcPts val="0"/>
              </a:spcBef>
              <a:spcAft>
                <a:spcPts val="0"/>
              </a:spcAft>
              <a:buSzPts val="1100"/>
              <a:buFont typeface="Calibri"/>
              <a:buChar char="●"/>
            </a:pPr>
            <a:r>
              <a:rPr lang="en" sz="1100" u="sng">
                <a:solidFill>
                  <a:schemeClr val="hlink"/>
                </a:solidFill>
                <a:latin typeface="Calibri"/>
                <a:ea typeface="Calibri"/>
                <a:cs typeface="Calibri"/>
                <a:sym typeface="Calibri"/>
                <a:hlinkClick r:id="rId4"/>
              </a:rPr>
              <a:t>https://www.goagentive.com</a:t>
            </a:r>
            <a:r>
              <a:rPr lang="en" sz="1100">
                <a:latin typeface="Calibri"/>
                <a:ea typeface="Calibri"/>
                <a:cs typeface="Calibri"/>
                <a:sym typeface="Calibri"/>
              </a:rPr>
              <a:t> </a:t>
            </a:r>
            <a:endParaRPr sz="1100">
              <a:latin typeface="Calibri"/>
              <a:ea typeface="Calibri"/>
              <a:cs typeface="Calibri"/>
              <a:sym typeface="Calibri"/>
            </a:endParaRPr>
          </a:p>
        </p:txBody>
      </p:sp>
      <p:pic>
        <p:nvPicPr>
          <p:cNvPr id="331" name="Google Shape;331;p37"/>
          <p:cNvPicPr preferRelativeResize="0"/>
          <p:nvPr/>
        </p:nvPicPr>
        <p:blipFill rotWithShape="1">
          <a:blip r:embed="rId5" cstate="email">
            <a:alphaModFix/>
            <a:extLst>
              <a:ext uri="{28A0092B-C50C-407E-A947-70E740481C1C}">
                <a14:useLocalDpi xmlns:a14="http://schemas.microsoft.com/office/drawing/2010/main"/>
              </a:ext>
            </a:extLst>
          </a:blip>
          <a:srcRect/>
          <a:stretch/>
        </p:blipFill>
        <p:spPr>
          <a:xfrm>
            <a:off x="4651500" y="67100"/>
            <a:ext cx="1660537" cy="1449451"/>
          </a:xfrm>
          <a:prstGeom prst="rect">
            <a:avLst/>
          </a:prstGeom>
          <a:noFill/>
          <a:ln w="9525" cap="flat" cmpd="sng">
            <a:solidFill>
              <a:srgbClr val="FF0000"/>
            </a:solidFill>
            <a:prstDash val="solid"/>
            <a:round/>
            <a:headEnd type="none" w="sm" len="sm"/>
            <a:tailEnd type="none" w="sm" len="sm"/>
          </a:ln>
        </p:spPr>
      </p:pic>
      <p:pic>
        <p:nvPicPr>
          <p:cNvPr id="332" name="Google Shape;332;p37"/>
          <p:cNvPicPr preferRelativeResize="0"/>
          <p:nvPr/>
        </p:nvPicPr>
        <p:blipFill>
          <a:blip r:embed="rId6" cstate="email">
            <a:alphaModFix/>
            <a:extLst>
              <a:ext uri="{28A0092B-C50C-407E-A947-70E740481C1C}">
                <a14:useLocalDpi xmlns:a14="http://schemas.microsoft.com/office/drawing/2010/main"/>
              </a:ext>
            </a:extLst>
          </a:blip>
          <a:stretch>
            <a:fillRect/>
          </a:stretch>
        </p:blipFill>
        <p:spPr>
          <a:xfrm>
            <a:off x="4982826" y="1516550"/>
            <a:ext cx="4087049" cy="3559086"/>
          </a:xfrm>
          <a:prstGeom prst="rect">
            <a:avLst/>
          </a:prstGeom>
          <a:noFill/>
          <a:ln w="9525" cap="flat" cmpd="sng">
            <a:solidFill>
              <a:srgbClr val="FF0000"/>
            </a:solidFill>
            <a:prstDash val="solid"/>
            <a:round/>
            <a:headEnd type="none" w="sm" len="sm"/>
            <a:tailEnd type="none" w="sm" len="sm"/>
          </a:ln>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336"/>
        <p:cNvGrpSpPr/>
        <p:nvPr/>
      </p:nvGrpSpPr>
      <p:grpSpPr>
        <a:xfrm>
          <a:off x="0" y="0"/>
          <a:ext cx="0" cy="0"/>
          <a:chOff x="0" y="0"/>
          <a:chExt cx="0" cy="0"/>
        </a:xfrm>
      </p:grpSpPr>
      <p:sp>
        <p:nvSpPr>
          <p:cNvPr id="337" name="Google Shape;337;p38"/>
          <p:cNvSpPr txBox="1"/>
          <p:nvPr/>
        </p:nvSpPr>
        <p:spPr>
          <a:xfrm>
            <a:off x="55908" y="0"/>
            <a:ext cx="4092300" cy="326400"/>
          </a:xfrm>
          <a:prstGeom prst="rect">
            <a:avLst/>
          </a:prstGeom>
          <a:noFill/>
          <a:ln>
            <a:noFill/>
          </a:ln>
        </p:spPr>
        <p:txBody>
          <a:bodyPr spcFirstLastPara="1" wrap="square" lIns="9125" tIns="9125" rIns="9125" bIns="9125" anchor="t" anchorCtr="0">
            <a:spAutoFit/>
          </a:bodyPr>
          <a:lstStyle/>
          <a:p>
            <a:pPr marL="0" marR="0" lvl="0" indent="0" algn="l" rtl="0">
              <a:lnSpc>
                <a:spcPct val="100000"/>
              </a:lnSpc>
              <a:spcBef>
                <a:spcPts val="0"/>
              </a:spcBef>
              <a:spcAft>
                <a:spcPts val="0"/>
              </a:spcAft>
              <a:buClr>
                <a:schemeClr val="dk1"/>
              </a:buClr>
              <a:buSzPts val="1100"/>
              <a:buFont typeface="Arial"/>
              <a:buNone/>
            </a:pPr>
            <a:r>
              <a:rPr lang="en" sz="2000" b="1">
                <a:solidFill>
                  <a:schemeClr val="dk1"/>
                </a:solidFill>
                <a:latin typeface="Calibri"/>
                <a:ea typeface="Calibri"/>
                <a:cs typeface="Calibri"/>
                <a:sym typeface="Calibri"/>
              </a:rPr>
              <a:t>US AI Regulations - Federal &amp; State</a:t>
            </a:r>
            <a:endParaRPr sz="2000" b="1">
              <a:solidFill>
                <a:schemeClr val="dk1"/>
              </a:solidFill>
              <a:latin typeface="Calibri"/>
              <a:ea typeface="Calibri"/>
              <a:cs typeface="Calibri"/>
              <a:sym typeface="Calibri"/>
            </a:endParaRPr>
          </a:p>
        </p:txBody>
      </p:sp>
      <p:sp>
        <p:nvSpPr>
          <p:cNvPr id="338" name="Google Shape;338;p38"/>
          <p:cNvSpPr txBox="1"/>
          <p:nvPr/>
        </p:nvSpPr>
        <p:spPr>
          <a:xfrm>
            <a:off x="77450" y="431100"/>
            <a:ext cx="4468800" cy="35280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171450" marR="0" lvl="0" indent="-133350" algn="l" rtl="0">
              <a:lnSpc>
                <a:spcPct val="100000"/>
              </a:lnSpc>
              <a:spcBef>
                <a:spcPts val="0"/>
              </a:spcBef>
              <a:spcAft>
                <a:spcPts val="0"/>
              </a:spcAft>
              <a:buClr>
                <a:srgbClr val="FF0000"/>
              </a:buClr>
              <a:buSzPts val="1200"/>
              <a:buFont typeface="Calibri"/>
              <a:buChar char="●"/>
            </a:pPr>
            <a:r>
              <a:rPr lang="en" sz="1200" b="1">
                <a:solidFill>
                  <a:srgbClr val="FF0000"/>
                </a:solidFill>
                <a:latin typeface="Calibri"/>
                <a:ea typeface="Calibri"/>
                <a:cs typeface="Calibri"/>
                <a:sym typeface="Calibri"/>
              </a:rPr>
              <a:t>Trump signs (Dec 12) an executive order establishing federal-level AI regulation to prevent states from creating conflicting rules</a:t>
            </a:r>
            <a:endParaRPr sz="1200" b="1">
              <a:solidFill>
                <a:srgbClr val="FF0000"/>
              </a:solidFill>
              <a:latin typeface="Calibri"/>
              <a:ea typeface="Calibri"/>
              <a:cs typeface="Calibri"/>
              <a:sym typeface="Calibri"/>
            </a:endParaRPr>
          </a:p>
          <a:p>
            <a:pPr marL="171450" marR="0" lvl="0" indent="-133350" algn="l" rtl="0">
              <a:lnSpc>
                <a:spcPct val="100000"/>
              </a:lnSpc>
              <a:spcBef>
                <a:spcPts val="0"/>
              </a:spcBef>
              <a:spcAft>
                <a:spcPts val="0"/>
              </a:spcAft>
              <a:buSzPts val="1200"/>
              <a:buFont typeface="Calibri"/>
              <a:buChar char="●"/>
            </a:pPr>
            <a:r>
              <a:rPr lang="en" sz="1200">
                <a:latin typeface="Calibri"/>
                <a:ea typeface="Calibri"/>
                <a:cs typeface="Calibri"/>
                <a:sym typeface="Calibri"/>
              </a:rPr>
              <a:t>He argues that allowing 50 states to independently regulate AI would harm American competitiveness in the global AI race</a:t>
            </a:r>
            <a:endParaRPr sz="1200">
              <a:latin typeface="Calibri"/>
              <a:ea typeface="Calibri"/>
              <a:cs typeface="Calibri"/>
              <a:sym typeface="Calibri"/>
            </a:endParaRPr>
          </a:p>
          <a:p>
            <a:pPr marL="171450" marR="0" lvl="0" indent="-133350" algn="l" rtl="0">
              <a:lnSpc>
                <a:spcPct val="100000"/>
              </a:lnSpc>
              <a:spcBef>
                <a:spcPts val="0"/>
              </a:spcBef>
              <a:spcAft>
                <a:spcPts val="0"/>
              </a:spcAft>
              <a:buSzPts val="1200"/>
              <a:buFont typeface="Calibri"/>
              <a:buChar char="●"/>
            </a:pPr>
            <a:r>
              <a:rPr lang="en" sz="1200">
                <a:latin typeface="Calibri"/>
                <a:ea typeface="Calibri"/>
                <a:cs typeface="Calibri"/>
                <a:sym typeface="Calibri"/>
              </a:rPr>
              <a:t>David Sacks, Trump's AI advisor, provides the legal rationale: AI development spans multiple states through training, inference, and internet delivery, making it interstate commerce under federal jurisdiction</a:t>
            </a:r>
            <a:endParaRPr sz="1200">
              <a:latin typeface="Calibri"/>
              <a:ea typeface="Calibri"/>
              <a:cs typeface="Calibri"/>
              <a:sym typeface="Calibri"/>
            </a:endParaRPr>
          </a:p>
          <a:p>
            <a:pPr marL="171450" marR="0" lvl="0" indent="-133350" algn="l" rtl="0">
              <a:lnSpc>
                <a:spcPct val="100000"/>
              </a:lnSpc>
              <a:spcBef>
                <a:spcPts val="0"/>
              </a:spcBef>
              <a:spcAft>
                <a:spcPts val="0"/>
              </a:spcAft>
              <a:buClr>
                <a:srgbClr val="FF0000"/>
              </a:buClr>
              <a:buSzPts val="1200"/>
              <a:buFont typeface="Calibri"/>
              <a:buChar char="●"/>
            </a:pPr>
            <a:r>
              <a:rPr lang="en" sz="1200" b="1">
                <a:solidFill>
                  <a:srgbClr val="FF0000"/>
                </a:solidFill>
                <a:latin typeface="Calibri"/>
                <a:ea typeface="Calibri"/>
                <a:cs typeface="Calibri"/>
                <a:sym typeface="Calibri"/>
              </a:rPr>
              <a:t>Over 1,200 AI bills have been introduced across state legislatures with 100 already passed, creating regulatory complexity</a:t>
            </a:r>
            <a:endParaRPr sz="1200" b="1">
              <a:solidFill>
                <a:srgbClr val="FF0000"/>
              </a:solidFill>
              <a:latin typeface="Calibri"/>
              <a:ea typeface="Calibri"/>
              <a:cs typeface="Calibri"/>
              <a:sym typeface="Calibri"/>
            </a:endParaRPr>
          </a:p>
          <a:p>
            <a:pPr marL="171450" marR="0" lvl="0" indent="-133350" algn="l" rtl="0">
              <a:lnSpc>
                <a:spcPct val="100000"/>
              </a:lnSpc>
              <a:spcBef>
                <a:spcPts val="0"/>
              </a:spcBef>
              <a:spcAft>
                <a:spcPts val="0"/>
              </a:spcAft>
              <a:buSzPts val="1200"/>
              <a:buFont typeface="Calibri"/>
              <a:buChar char="●"/>
            </a:pPr>
            <a:r>
              <a:rPr lang="en" sz="1200">
                <a:latin typeface="Calibri"/>
                <a:ea typeface="Calibri"/>
                <a:cs typeface="Calibri"/>
                <a:sym typeface="Calibri"/>
              </a:rPr>
              <a:t>The executive order would preempt state laws through an AI Litigation Task Force challenging state regulations in court</a:t>
            </a:r>
            <a:endParaRPr sz="1200">
              <a:latin typeface="Calibri"/>
              <a:ea typeface="Calibri"/>
              <a:cs typeface="Calibri"/>
              <a:sym typeface="Calibri"/>
            </a:endParaRPr>
          </a:p>
          <a:p>
            <a:pPr marL="171450" marR="0" lvl="0" indent="-133350" algn="l" rtl="0">
              <a:lnSpc>
                <a:spcPct val="100000"/>
              </a:lnSpc>
              <a:spcBef>
                <a:spcPts val="0"/>
              </a:spcBef>
              <a:spcAft>
                <a:spcPts val="0"/>
              </a:spcAft>
              <a:buSzPts val="1200"/>
              <a:buFont typeface="Calibri"/>
              <a:buChar char="●"/>
            </a:pPr>
            <a:r>
              <a:rPr lang="en" sz="1200">
                <a:latin typeface="Calibri"/>
                <a:ea typeface="Calibri"/>
                <a:cs typeface="Calibri"/>
                <a:sym typeface="Calibri"/>
              </a:rPr>
              <a:t>Sacks argues </a:t>
            </a:r>
            <a:r>
              <a:rPr lang="en" sz="1200" b="1">
                <a:solidFill>
                  <a:srgbClr val="FF0000"/>
                </a:solidFill>
                <a:latin typeface="Calibri"/>
                <a:ea typeface="Calibri"/>
                <a:cs typeface="Calibri"/>
                <a:sym typeface="Calibri"/>
              </a:rPr>
              <a:t>this prevents regulatory capture that benefits only large companies while harming startups unable to navigate 50 different compliance regimes</a:t>
            </a:r>
            <a:endParaRPr sz="1200" b="1">
              <a:solidFill>
                <a:srgbClr val="FF0000"/>
              </a:solidFill>
              <a:latin typeface="Calibri"/>
              <a:ea typeface="Calibri"/>
              <a:cs typeface="Calibri"/>
              <a:sym typeface="Calibri"/>
            </a:endParaRPr>
          </a:p>
          <a:p>
            <a:pPr marL="171450" marR="0" lvl="0" indent="-133350" algn="l" rtl="0">
              <a:lnSpc>
                <a:spcPct val="100000"/>
              </a:lnSpc>
              <a:spcBef>
                <a:spcPts val="0"/>
              </a:spcBef>
              <a:spcAft>
                <a:spcPts val="0"/>
              </a:spcAft>
              <a:buSzPts val="1200"/>
              <a:buFont typeface="Calibri"/>
              <a:buChar char="●"/>
            </a:pPr>
            <a:r>
              <a:rPr lang="en" sz="1200">
                <a:latin typeface="Calibri"/>
                <a:ea typeface="Calibri"/>
                <a:cs typeface="Calibri"/>
                <a:sym typeface="Calibri"/>
              </a:rPr>
              <a:t>The framework excludes child safety laws, local infrastructure decisions, and copyright issues, which remain under existing jurisdictions</a:t>
            </a:r>
            <a:endParaRPr sz="1200">
              <a:latin typeface="Calibri"/>
              <a:ea typeface="Calibri"/>
              <a:cs typeface="Calibri"/>
              <a:sym typeface="Calibri"/>
            </a:endParaRPr>
          </a:p>
          <a:p>
            <a:pPr marL="171450" marR="0" lvl="0" indent="-133350" algn="l" rtl="0">
              <a:lnSpc>
                <a:spcPct val="100000"/>
              </a:lnSpc>
              <a:spcBef>
                <a:spcPts val="0"/>
              </a:spcBef>
              <a:spcAft>
                <a:spcPts val="0"/>
              </a:spcAft>
              <a:buSzPts val="1200"/>
              <a:buFont typeface="Calibri"/>
              <a:buChar char="●"/>
            </a:pPr>
            <a:r>
              <a:rPr lang="en" sz="1200" u="sng">
                <a:solidFill>
                  <a:schemeClr val="hlink"/>
                </a:solidFill>
                <a:latin typeface="Calibri"/>
                <a:ea typeface="Calibri"/>
                <a:cs typeface="Calibri"/>
                <a:sym typeface="Calibri"/>
                <a:hlinkClick r:id="rId3"/>
              </a:rPr>
              <a:t>https://www.youtube.com/watch?v=g-v8RgL4ToI</a:t>
            </a:r>
            <a:r>
              <a:rPr lang="en" sz="1200">
                <a:latin typeface="Calibri"/>
                <a:ea typeface="Calibri"/>
                <a:cs typeface="Calibri"/>
                <a:sym typeface="Calibri"/>
              </a:rPr>
              <a:t> </a:t>
            </a:r>
            <a:endParaRPr sz="1200">
              <a:latin typeface="Calibri"/>
              <a:ea typeface="Calibri"/>
              <a:cs typeface="Calibri"/>
              <a:sym typeface="Calibri"/>
            </a:endParaRPr>
          </a:p>
        </p:txBody>
      </p:sp>
      <p:pic>
        <p:nvPicPr>
          <p:cNvPr id="339" name="Google Shape;339;p38"/>
          <p:cNvPicPr preferRelativeResize="0"/>
          <p:nvPr/>
        </p:nvPicPr>
        <p:blipFill rotWithShape="1">
          <a:blip r:embed="rId4" cstate="email">
            <a:alphaModFix/>
            <a:extLst>
              <a:ext uri="{28A0092B-C50C-407E-A947-70E740481C1C}">
                <a14:useLocalDpi xmlns:a14="http://schemas.microsoft.com/office/drawing/2010/main"/>
              </a:ext>
            </a:extLst>
          </a:blip>
          <a:srcRect/>
          <a:stretch/>
        </p:blipFill>
        <p:spPr>
          <a:xfrm>
            <a:off x="5177050" y="431100"/>
            <a:ext cx="2862451" cy="2343525"/>
          </a:xfrm>
          <a:prstGeom prst="rect">
            <a:avLst/>
          </a:prstGeom>
          <a:noFill/>
          <a:ln w="9525" cap="flat" cmpd="sng">
            <a:solidFill>
              <a:srgbClr val="FF0000"/>
            </a:solidFill>
            <a:prstDash val="solid"/>
            <a:round/>
            <a:headEnd type="none" w="sm" len="sm"/>
            <a:tailEnd type="none" w="sm" len="sm"/>
          </a:ln>
        </p:spPr>
      </p:pic>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343"/>
        <p:cNvGrpSpPr/>
        <p:nvPr/>
      </p:nvGrpSpPr>
      <p:grpSpPr>
        <a:xfrm>
          <a:off x="0" y="0"/>
          <a:ext cx="0" cy="0"/>
          <a:chOff x="0" y="0"/>
          <a:chExt cx="0" cy="0"/>
        </a:xfrm>
      </p:grpSpPr>
      <p:sp>
        <p:nvSpPr>
          <p:cNvPr id="344" name="Google Shape;344;p39"/>
          <p:cNvSpPr txBox="1"/>
          <p:nvPr/>
        </p:nvSpPr>
        <p:spPr>
          <a:xfrm>
            <a:off x="55908" y="0"/>
            <a:ext cx="4092300" cy="326400"/>
          </a:xfrm>
          <a:prstGeom prst="rect">
            <a:avLst/>
          </a:prstGeom>
          <a:noFill/>
          <a:ln>
            <a:noFill/>
          </a:ln>
        </p:spPr>
        <p:txBody>
          <a:bodyPr spcFirstLastPara="1" wrap="square" lIns="9125" tIns="9125" rIns="9125" bIns="9125" anchor="t" anchorCtr="0">
            <a:spAutoFit/>
          </a:bodyPr>
          <a:lstStyle/>
          <a:p>
            <a:pPr marL="0" marR="0" lvl="0" indent="0" algn="l" rtl="0">
              <a:lnSpc>
                <a:spcPct val="100000"/>
              </a:lnSpc>
              <a:spcBef>
                <a:spcPts val="0"/>
              </a:spcBef>
              <a:spcAft>
                <a:spcPts val="0"/>
              </a:spcAft>
              <a:buClr>
                <a:schemeClr val="dk1"/>
              </a:buClr>
              <a:buSzPts val="1100"/>
              <a:buFont typeface="Arial"/>
              <a:buNone/>
            </a:pPr>
            <a:r>
              <a:rPr lang="en" sz="2000" b="1">
                <a:solidFill>
                  <a:schemeClr val="dk1"/>
                </a:solidFill>
                <a:latin typeface="Calibri"/>
                <a:ea typeface="Calibri"/>
                <a:cs typeface="Calibri"/>
                <a:sym typeface="Calibri"/>
              </a:rPr>
              <a:t>AI and robotics - Moonshots Dec 9</a:t>
            </a:r>
            <a:endParaRPr sz="2000" b="1">
              <a:solidFill>
                <a:schemeClr val="dk1"/>
              </a:solidFill>
              <a:latin typeface="Calibri"/>
              <a:ea typeface="Calibri"/>
              <a:cs typeface="Calibri"/>
              <a:sym typeface="Calibri"/>
            </a:endParaRPr>
          </a:p>
        </p:txBody>
      </p:sp>
      <p:sp>
        <p:nvSpPr>
          <p:cNvPr id="345" name="Google Shape;345;p39"/>
          <p:cNvSpPr txBox="1"/>
          <p:nvPr/>
        </p:nvSpPr>
        <p:spPr>
          <a:xfrm>
            <a:off x="77450" y="431100"/>
            <a:ext cx="4468800" cy="37434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171450" marR="0" lvl="0" indent="-127000" algn="l" rtl="0">
              <a:lnSpc>
                <a:spcPct val="100000"/>
              </a:lnSpc>
              <a:spcBef>
                <a:spcPts val="0"/>
              </a:spcBef>
              <a:spcAft>
                <a:spcPts val="0"/>
              </a:spcAft>
              <a:buClr>
                <a:srgbClr val="FF0000"/>
              </a:buClr>
              <a:buSzPts val="1100"/>
              <a:buFont typeface="Calibri"/>
              <a:buChar char="●"/>
            </a:pPr>
            <a:r>
              <a:rPr lang="en" sz="1100" b="1">
                <a:solidFill>
                  <a:srgbClr val="FF0000"/>
                </a:solidFill>
                <a:latin typeface="Calibri"/>
                <a:ea typeface="Calibri"/>
                <a:cs typeface="Calibri"/>
                <a:sym typeface="Calibri"/>
              </a:rPr>
              <a:t>AI and robotics - Moonshots Dec 9</a:t>
            </a:r>
            <a:endParaRPr sz="1100" b="1">
              <a:solidFill>
                <a:srgbClr val="FF0000"/>
              </a:solidFill>
              <a:latin typeface="Calibri"/>
              <a:ea typeface="Calibri"/>
              <a:cs typeface="Calibri"/>
              <a:sym typeface="Calibri"/>
            </a:endParaRPr>
          </a:p>
          <a:p>
            <a:pPr marL="171450" marR="0" lvl="0" indent="-127000" algn="l" rtl="0">
              <a:lnSpc>
                <a:spcPct val="100000"/>
              </a:lnSpc>
              <a:spcBef>
                <a:spcPts val="0"/>
              </a:spcBef>
              <a:spcAft>
                <a:spcPts val="0"/>
              </a:spcAft>
              <a:buSzPts val="1100"/>
              <a:buFont typeface="Calibri"/>
              <a:buChar char="●"/>
            </a:pPr>
            <a:r>
              <a:rPr lang="en" sz="1100">
                <a:latin typeface="Calibri"/>
                <a:ea typeface="Calibri"/>
                <a:cs typeface="Calibri"/>
                <a:sym typeface="Calibri"/>
              </a:rPr>
              <a:t>NeurIPS 2025 Conference - 29K registrants; Chinese dominance with Alibaba winning the best paper award and Mandarin being the most-heard language in hallways; American frontier AI labs have "gone dark" and stopped publishing research, while Chinese labs continue to publish openly</a:t>
            </a:r>
            <a:endParaRPr sz="1100">
              <a:latin typeface="Calibri"/>
              <a:ea typeface="Calibri"/>
              <a:cs typeface="Calibri"/>
              <a:sym typeface="Calibri"/>
            </a:endParaRPr>
          </a:p>
          <a:p>
            <a:pPr marL="171450" marR="0" lvl="0" indent="-127000" algn="l" rtl="0">
              <a:lnSpc>
                <a:spcPct val="100000"/>
              </a:lnSpc>
              <a:spcBef>
                <a:spcPts val="0"/>
              </a:spcBef>
              <a:spcAft>
                <a:spcPts val="0"/>
              </a:spcAft>
              <a:buSzPts val="1100"/>
              <a:buFont typeface="Calibri"/>
              <a:buChar char="●"/>
            </a:pPr>
            <a:r>
              <a:rPr lang="en" sz="1100" b="1">
                <a:solidFill>
                  <a:srgbClr val="FF0000"/>
                </a:solidFill>
                <a:latin typeface="Calibri"/>
                <a:ea typeface="Calibri"/>
                <a:cs typeface="Calibri"/>
                <a:sym typeface="Calibri"/>
              </a:rPr>
              <a:t>Race of AI Models </a:t>
            </a:r>
            <a:r>
              <a:rPr lang="en" sz="1100">
                <a:latin typeface="Calibri"/>
                <a:ea typeface="Calibri"/>
                <a:cs typeface="Calibri"/>
                <a:sym typeface="Calibri"/>
              </a:rPr>
              <a:t>- Google's Gemini 3 and OpenAI's GPT-5.2 (rumored for next week) </a:t>
            </a:r>
            <a:r>
              <a:rPr lang="en" sz="1100" b="1">
                <a:solidFill>
                  <a:srgbClr val="FF0000"/>
                </a:solidFill>
                <a:latin typeface="Calibri"/>
                <a:ea typeface="Calibri"/>
                <a:cs typeface="Calibri"/>
                <a:sym typeface="Calibri"/>
              </a:rPr>
              <a:t>leap-frogging each other </a:t>
            </a:r>
            <a:r>
              <a:rPr lang="en" sz="1100">
                <a:latin typeface="Calibri"/>
                <a:ea typeface="Calibri"/>
                <a:cs typeface="Calibri"/>
                <a:sym typeface="Calibri"/>
              </a:rPr>
              <a:t>on benchmarks</a:t>
            </a:r>
            <a:endParaRPr sz="1100">
              <a:latin typeface="Calibri"/>
              <a:ea typeface="Calibri"/>
              <a:cs typeface="Calibri"/>
              <a:sym typeface="Calibri"/>
            </a:endParaRPr>
          </a:p>
          <a:p>
            <a:pPr marL="171450" marR="0" lvl="0" indent="-127000" algn="l" rtl="0">
              <a:lnSpc>
                <a:spcPct val="100000"/>
              </a:lnSpc>
              <a:spcBef>
                <a:spcPts val="0"/>
              </a:spcBef>
              <a:spcAft>
                <a:spcPts val="0"/>
              </a:spcAft>
              <a:buSzPts val="1100"/>
              <a:buFont typeface="Calibri"/>
              <a:buChar char="●"/>
            </a:pPr>
            <a:r>
              <a:rPr lang="en" sz="1100">
                <a:latin typeface="Calibri"/>
                <a:ea typeface="Calibri"/>
                <a:cs typeface="Calibri"/>
                <a:sym typeface="Calibri"/>
              </a:rPr>
              <a:t>Google's Titans and Miras architectures enable 2 Mln token context windows (about 3,000 pages)</a:t>
            </a:r>
            <a:endParaRPr sz="1100">
              <a:latin typeface="Calibri"/>
              <a:ea typeface="Calibri"/>
              <a:cs typeface="Calibri"/>
              <a:sym typeface="Calibri"/>
            </a:endParaRPr>
          </a:p>
          <a:p>
            <a:pPr marL="171450" marR="0" lvl="0" indent="-127000" algn="l" rtl="0">
              <a:lnSpc>
                <a:spcPct val="100000"/>
              </a:lnSpc>
              <a:spcBef>
                <a:spcPts val="0"/>
              </a:spcBef>
              <a:spcAft>
                <a:spcPts val="0"/>
              </a:spcAft>
              <a:buSzPts val="1100"/>
              <a:buFont typeface="Calibri"/>
              <a:buChar char="●"/>
            </a:pPr>
            <a:r>
              <a:rPr lang="en" sz="1100">
                <a:latin typeface="Calibri"/>
                <a:ea typeface="Calibri"/>
                <a:cs typeface="Calibri"/>
                <a:sym typeface="Calibri"/>
              </a:rPr>
              <a:t>Visual Reasoning - Chain-of-visual-thought methods showing 3-6% performance gains</a:t>
            </a:r>
            <a:endParaRPr sz="1100">
              <a:latin typeface="Calibri"/>
              <a:ea typeface="Calibri"/>
              <a:cs typeface="Calibri"/>
              <a:sym typeface="Calibri"/>
            </a:endParaRPr>
          </a:p>
          <a:p>
            <a:pPr marL="171450" marR="0" lvl="0" indent="-127000" algn="l" rtl="0">
              <a:lnSpc>
                <a:spcPct val="100000"/>
              </a:lnSpc>
              <a:spcBef>
                <a:spcPts val="0"/>
              </a:spcBef>
              <a:spcAft>
                <a:spcPts val="0"/>
              </a:spcAft>
              <a:buSzPts val="1100"/>
              <a:buFont typeface="Calibri"/>
              <a:buChar char="●"/>
            </a:pPr>
            <a:r>
              <a:rPr lang="en" sz="1100">
                <a:latin typeface="Calibri"/>
                <a:ea typeface="Calibri"/>
                <a:cs typeface="Calibri"/>
                <a:sym typeface="Calibri"/>
              </a:rPr>
              <a:t>Gemini 3 Deep Think - uses parallel reasoning with fleets of agents working simultaneously</a:t>
            </a:r>
            <a:endParaRPr sz="1100">
              <a:latin typeface="Calibri"/>
              <a:ea typeface="Calibri"/>
              <a:cs typeface="Calibri"/>
              <a:sym typeface="Calibri"/>
            </a:endParaRPr>
          </a:p>
          <a:p>
            <a:pPr marL="171450" marR="0" lvl="0" indent="-127000" algn="l" rtl="0">
              <a:lnSpc>
                <a:spcPct val="100000"/>
              </a:lnSpc>
              <a:spcBef>
                <a:spcPts val="0"/>
              </a:spcBef>
              <a:spcAft>
                <a:spcPts val="0"/>
              </a:spcAft>
              <a:buSzPts val="1100"/>
              <a:buFont typeface="Calibri"/>
              <a:buChar char="●"/>
            </a:pPr>
            <a:r>
              <a:rPr lang="en" sz="1100" b="1">
                <a:solidFill>
                  <a:srgbClr val="FF0000"/>
                </a:solidFill>
                <a:latin typeface="Calibri"/>
                <a:ea typeface="Calibri"/>
                <a:cs typeface="Calibri"/>
                <a:sym typeface="Calibri"/>
              </a:rPr>
              <a:t>China is tripling AI accelerator (hardware) output </a:t>
            </a:r>
            <a:r>
              <a:rPr lang="en" sz="1100">
                <a:latin typeface="Calibri"/>
                <a:ea typeface="Calibri"/>
                <a:cs typeface="Calibri"/>
                <a:sym typeface="Calibri"/>
              </a:rPr>
              <a:t>to 500,000 units in 2026 through Cambricon in response to US export restrictions</a:t>
            </a:r>
            <a:endParaRPr sz="1100">
              <a:latin typeface="Calibri"/>
              <a:ea typeface="Calibri"/>
              <a:cs typeface="Calibri"/>
              <a:sym typeface="Calibri"/>
            </a:endParaRPr>
          </a:p>
          <a:p>
            <a:pPr marL="171450" marR="0" lvl="0" indent="-127000" algn="l" rtl="0">
              <a:lnSpc>
                <a:spcPct val="100000"/>
              </a:lnSpc>
              <a:spcBef>
                <a:spcPts val="0"/>
              </a:spcBef>
              <a:spcAft>
                <a:spcPts val="0"/>
              </a:spcAft>
              <a:buSzPts val="1100"/>
              <a:buFont typeface="Calibri"/>
              <a:buChar char="●"/>
            </a:pPr>
            <a:r>
              <a:rPr lang="en" sz="1100">
                <a:latin typeface="Calibri"/>
                <a:ea typeface="Calibri"/>
                <a:cs typeface="Calibri"/>
                <a:sym typeface="Calibri"/>
              </a:rPr>
              <a:t>Michael Dell's $6.25 Bln "Invest America" initiative gives every child born after January 1, 2025 a $1,000 investment account</a:t>
            </a:r>
            <a:endParaRPr sz="1100">
              <a:latin typeface="Calibri"/>
              <a:ea typeface="Calibri"/>
              <a:cs typeface="Calibri"/>
              <a:sym typeface="Calibri"/>
            </a:endParaRPr>
          </a:p>
          <a:p>
            <a:pPr marL="171450" marR="0" lvl="0" indent="-127000" algn="l" rtl="0">
              <a:lnSpc>
                <a:spcPct val="100000"/>
              </a:lnSpc>
              <a:spcBef>
                <a:spcPts val="0"/>
              </a:spcBef>
              <a:spcAft>
                <a:spcPts val="0"/>
              </a:spcAft>
              <a:buSzPts val="1100"/>
              <a:buFont typeface="Calibri"/>
              <a:buChar char="●"/>
            </a:pPr>
            <a:r>
              <a:rPr lang="en" sz="1100" b="1">
                <a:solidFill>
                  <a:srgbClr val="FF0000"/>
                </a:solidFill>
                <a:latin typeface="Calibri"/>
                <a:ea typeface="Calibri"/>
                <a:cs typeface="Calibri"/>
                <a:sym typeface="Calibri"/>
              </a:rPr>
              <a:t>AI majors are exploding in popularity at universities </a:t>
            </a:r>
            <a:r>
              <a:rPr lang="en" sz="1100">
                <a:latin typeface="Calibri"/>
                <a:ea typeface="Calibri"/>
                <a:cs typeface="Calibri"/>
                <a:sym typeface="Calibri"/>
              </a:rPr>
              <a:t>like MIT, though the curriculum is struggling to keep pace with demand</a:t>
            </a:r>
            <a:endParaRPr sz="1100">
              <a:latin typeface="Calibri"/>
              <a:ea typeface="Calibri"/>
              <a:cs typeface="Calibri"/>
              <a:sym typeface="Calibri"/>
            </a:endParaRPr>
          </a:p>
          <a:p>
            <a:pPr marL="171450" marR="0" lvl="0" indent="-127000" algn="l" rtl="0">
              <a:lnSpc>
                <a:spcPct val="100000"/>
              </a:lnSpc>
              <a:spcBef>
                <a:spcPts val="0"/>
              </a:spcBef>
              <a:spcAft>
                <a:spcPts val="0"/>
              </a:spcAft>
              <a:buSzPts val="1100"/>
              <a:buFont typeface="Calibri"/>
              <a:buChar char="●"/>
            </a:pPr>
            <a:r>
              <a:rPr lang="en" sz="1100">
                <a:latin typeface="Calibri"/>
                <a:ea typeface="Calibri"/>
                <a:cs typeface="Calibri"/>
                <a:sym typeface="Calibri"/>
              </a:rPr>
              <a:t>The overall theme emphasizes the unprecedented acceleration in AI development and the global race to achieve AGI</a:t>
            </a:r>
            <a:endParaRPr sz="1100">
              <a:latin typeface="Calibri"/>
              <a:ea typeface="Calibri"/>
              <a:cs typeface="Calibri"/>
              <a:sym typeface="Calibri"/>
            </a:endParaRPr>
          </a:p>
          <a:p>
            <a:pPr marL="171450" marR="0" lvl="0" indent="-127000" algn="l" rtl="0">
              <a:lnSpc>
                <a:spcPct val="100000"/>
              </a:lnSpc>
              <a:spcBef>
                <a:spcPts val="0"/>
              </a:spcBef>
              <a:spcAft>
                <a:spcPts val="0"/>
              </a:spcAft>
              <a:buSzPts val="1100"/>
              <a:buFont typeface="Calibri"/>
              <a:buChar char="●"/>
            </a:pPr>
            <a:r>
              <a:rPr lang="en" sz="1100" u="sng">
                <a:solidFill>
                  <a:schemeClr val="hlink"/>
                </a:solidFill>
                <a:latin typeface="Calibri"/>
                <a:ea typeface="Calibri"/>
                <a:cs typeface="Calibri"/>
                <a:sym typeface="Calibri"/>
                <a:hlinkClick r:id="rId3"/>
              </a:rPr>
              <a:t>https://www.youtube.com/watch?v=zGD5mv-XKU0</a:t>
            </a:r>
            <a:r>
              <a:rPr lang="en" sz="1100">
                <a:latin typeface="Calibri"/>
                <a:ea typeface="Calibri"/>
                <a:cs typeface="Calibri"/>
                <a:sym typeface="Calibri"/>
              </a:rPr>
              <a:t> </a:t>
            </a:r>
            <a:endParaRPr sz="1100">
              <a:latin typeface="Calibri"/>
              <a:ea typeface="Calibri"/>
              <a:cs typeface="Calibri"/>
              <a:sym typeface="Calibri"/>
            </a:endParaRPr>
          </a:p>
        </p:txBody>
      </p:sp>
      <p:pic>
        <p:nvPicPr>
          <p:cNvPr id="346" name="Google Shape;346;p39"/>
          <p:cNvPicPr preferRelativeResize="0"/>
          <p:nvPr/>
        </p:nvPicPr>
        <p:blipFill>
          <a:blip r:embed="rId4" cstate="email">
            <a:alphaModFix/>
            <a:extLst>
              <a:ext uri="{28A0092B-C50C-407E-A947-70E740481C1C}">
                <a14:useLocalDpi xmlns:a14="http://schemas.microsoft.com/office/drawing/2010/main"/>
              </a:ext>
            </a:extLst>
          </a:blip>
          <a:stretch>
            <a:fillRect/>
          </a:stretch>
        </p:blipFill>
        <p:spPr>
          <a:xfrm>
            <a:off x="4745850" y="131276"/>
            <a:ext cx="4292951" cy="2082661"/>
          </a:xfrm>
          <a:prstGeom prst="rect">
            <a:avLst/>
          </a:prstGeom>
          <a:noFill/>
          <a:ln w="9525" cap="flat" cmpd="sng">
            <a:solidFill>
              <a:srgbClr val="FF0000"/>
            </a:solidFill>
            <a:prstDash val="solid"/>
            <a:round/>
            <a:headEnd type="none" w="sm" len="sm"/>
            <a:tailEnd type="none" w="sm" len="sm"/>
          </a:ln>
        </p:spPr>
      </p:pic>
      <p:sp>
        <p:nvSpPr>
          <p:cNvPr id="347" name="Google Shape;347;p39"/>
          <p:cNvSpPr txBox="1"/>
          <p:nvPr/>
        </p:nvSpPr>
        <p:spPr>
          <a:xfrm>
            <a:off x="6363500" y="4319859"/>
            <a:ext cx="2718000" cy="7572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171450" marR="0" lvl="0" indent="-133350" algn="l" rtl="0">
              <a:lnSpc>
                <a:spcPct val="100000"/>
              </a:lnSpc>
              <a:spcBef>
                <a:spcPts val="0"/>
              </a:spcBef>
              <a:spcAft>
                <a:spcPts val="0"/>
              </a:spcAft>
              <a:buClr>
                <a:srgbClr val="FF0000"/>
              </a:buClr>
              <a:buSzPts val="1200"/>
              <a:buFont typeface="Calibri"/>
              <a:buChar char="●"/>
            </a:pPr>
            <a:r>
              <a:rPr lang="en" sz="1200" b="1">
                <a:solidFill>
                  <a:srgbClr val="FF0000"/>
                </a:solidFill>
                <a:latin typeface="Calibri"/>
                <a:ea typeface="Calibri"/>
                <a:cs typeface="Calibri"/>
                <a:sym typeface="Calibri"/>
              </a:rPr>
              <a:t>Boom Supersonic 42 MW Generator</a:t>
            </a:r>
            <a:endParaRPr sz="1200" b="1">
              <a:solidFill>
                <a:srgbClr val="FF0000"/>
              </a:solidFill>
              <a:latin typeface="Calibri"/>
              <a:ea typeface="Calibri"/>
              <a:cs typeface="Calibri"/>
              <a:sym typeface="Calibri"/>
            </a:endParaRPr>
          </a:p>
          <a:p>
            <a:pPr marL="171450" marR="0" lvl="0" indent="-133350" algn="l" rtl="0">
              <a:lnSpc>
                <a:spcPct val="100000"/>
              </a:lnSpc>
              <a:spcBef>
                <a:spcPts val="0"/>
              </a:spcBef>
              <a:spcAft>
                <a:spcPts val="0"/>
              </a:spcAft>
              <a:buClr>
                <a:srgbClr val="000000"/>
              </a:buClr>
              <a:buSzPts val="1200"/>
              <a:buFont typeface="Calibri"/>
              <a:buChar char="●"/>
            </a:pPr>
            <a:r>
              <a:rPr lang="en" sz="1200">
                <a:latin typeface="Calibri"/>
                <a:ea typeface="Calibri"/>
                <a:cs typeface="Calibri"/>
                <a:sym typeface="Calibri"/>
              </a:rPr>
              <a:t>Natural Gas Turbine "Superpower" for AI data centers</a:t>
            </a:r>
            <a:endParaRPr sz="1200">
              <a:latin typeface="Calibri"/>
              <a:ea typeface="Calibri"/>
              <a:cs typeface="Calibri"/>
              <a:sym typeface="Calibri"/>
            </a:endParaRPr>
          </a:p>
          <a:p>
            <a:pPr marL="171450" marR="0" lvl="0" indent="-133350" algn="l" rtl="0">
              <a:lnSpc>
                <a:spcPct val="100000"/>
              </a:lnSpc>
              <a:spcBef>
                <a:spcPts val="0"/>
              </a:spcBef>
              <a:spcAft>
                <a:spcPts val="0"/>
              </a:spcAft>
              <a:buClr>
                <a:srgbClr val="000000"/>
              </a:buClr>
              <a:buSzPts val="1200"/>
              <a:buFont typeface="Calibri"/>
              <a:buChar char="●"/>
            </a:pPr>
            <a:r>
              <a:rPr lang="en" sz="1200">
                <a:latin typeface="Calibri"/>
                <a:ea typeface="Calibri"/>
                <a:cs typeface="Calibri"/>
                <a:sym typeface="Calibri"/>
              </a:rPr>
              <a:t>Secured 1.25 Bln in orders</a:t>
            </a:r>
            <a:endParaRPr sz="1200">
              <a:latin typeface="Calibri"/>
              <a:ea typeface="Calibri"/>
              <a:cs typeface="Calibri"/>
              <a:sym typeface="Calibri"/>
            </a:endParaRPr>
          </a:p>
        </p:txBody>
      </p:sp>
      <p:pic>
        <p:nvPicPr>
          <p:cNvPr id="348" name="Google Shape;348;p39"/>
          <p:cNvPicPr preferRelativeResize="0"/>
          <p:nvPr/>
        </p:nvPicPr>
        <p:blipFill>
          <a:blip r:embed="rId5" cstate="email">
            <a:alphaModFix/>
            <a:extLst>
              <a:ext uri="{28A0092B-C50C-407E-A947-70E740481C1C}">
                <a14:useLocalDpi xmlns:a14="http://schemas.microsoft.com/office/drawing/2010/main"/>
              </a:ext>
            </a:extLst>
          </a:blip>
          <a:stretch>
            <a:fillRect/>
          </a:stretch>
        </p:blipFill>
        <p:spPr>
          <a:xfrm>
            <a:off x="6661275" y="2907188"/>
            <a:ext cx="2420225" cy="1355325"/>
          </a:xfrm>
          <a:prstGeom prst="rect">
            <a:avLst/>
          </a:prstGeom>
          <a:noFill/>
          <a:ln w="9525" cap="flat" cmpd="sng">
            <a:solidFill>
              <a:srgbClr val="FF0000"/>
            </a:solidFill>
            <a:prstDash val="solid"/>
            <a:round/>
            <a:headEnd type="none" w="sm" len="sm"/>
            <a:tailEnd type="none" w="sm" len="sm"/>
          </a:ln>
        </p:spPr>
      </p:pic>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352"/>
        <p:cNvGrpSpPr/>
        <p:nvPr/>
      </p:nvGrpSpPr>
      <p:grpSpPr>
        <a:xfrm>
          <a:off x="0" y="0"/>
          <a:ext cx="0" cy="0"/>
          <a:chOff x="0" y="0"/>
          <a:chExt cx="0" cy="0"/>
        </a:xfrm>
      </p:grpSpPr>
      <p:sp>
        <p:nvSpPr>
          <p:cNvPr id="353" name="Google Shape;353;p40"/>
          <p:cNvSpPr txBox="1"/>
          <p:nvPr/>
        </p:nvSpPr>
        <p:spPr>
          <a:xfrm>
            <a:off x="55903" y="0"/>
            <a:ext cx="2247600" cy="326400"/>
          </a:xfrm>
          <a:prstGeom prst="rect">
            <a:avLst/>
          </a:prstGeom>
          <a:noFill/>
          <a:ln>
            <a:noFill/>
          </a:ln>
        </p:spPr>
        <p:txBody>
          <a:bodyPr spcFirstLastPara="1" wrap="square" lIns="9125" tIns="9125" rIns="9125" bIns="9125" anchor="t" anchorCtr="0">
            <a:spAutoFit/>
          </a:bodyPr>
          <a:lstStyle/>
          <a:p>
            <a:pPr marL="0" marR="0" lvl="0" indent="0" algn="l" rtl="0">
              <a:lnSpc>
                <a:spcPct val="100000"/>
              </a:lnSpc>
              <a:spcBef>
                <a:spcPts val="0"/>
              </a:spcBef>
              <a:spcAft>
                <a:spcPts val="0"/>
              </a:spcAft>
              <a:buClr>
                <a:schemeClr val="dk1"/>
              </a:buClr>
              <a:buSzPts val="1100"/>
              <a:buFont typeface="Arial"/>
              <a:buNone/>
            </a:pPr>
            <a:r>
              <a:rPr lang="en" sz="2000" b="1">
                <a:solidFill>
                  <a:schemeClr val="dk1"/>
                </a:solidFill>
                <a:latin typeface="Calibri"/>
                <a:ea typeface="Calibri"/>
                <a:cs typeface="Calibri"/>
                <a:sym typeface="Calibri"/>
              </a:rPr>
              <a:t>World Models</a:t>
            </a:r>
            <a:endParaRPr sz="2000" b="1">
              <a:solidFill>
                <a:schemeClr val="dk1"/>
              </a:solidFill>
              <a:latin typeface="Calibri"/>
              <a:ea typeface="Calibri"/>
              <a:cs typeface="Calibri"/>
              <a:sym typeface="Calibri"/>
            </a:endParaRPr>
          </a:p>
        </p:txBody>
      </p:sp>
      <p:sp>
        <p:nvSpPr>
          <p:cNvPr id="354" name="Google Shape;354;p40"/>
          <p:cNvSpPr txBox="1"/>
          <p:nvPr/>
        </p:nvSpPr>
        <p:spPr>
          <a:xfrm>
            <a:off x="55900" y="474788"/>
            <a:ext cx="2784900" cy="13113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171450" marR="0" lvl="0" indent="-133350" algn="l" rtl="0">
              <a:lnSpc>
                <a:spcPct val="100000"/>
              </a:lnSpc>
              <a:spcBef>
                <a:spcPts val="0"/>
              </a:spcBef>
              <a:spcAft>
                <a:spcPts val="0"/>
              </a:spcAft>
              <a:buSzPts val="1200"/>
              <a:buFont typeface="Calibri"/>
              <a:buChar char="●"/>
            </a:pPr>
            <a:r>
              <a:rPr lang="en" sz="1200">
                <a:latin typeface="Calibri"/>
                <a:ea typeface="Calibri"/>
                <a:cs typeface="Calibri"/>
                <a:sym typeface="Calibri"/>
              </a:rPr>
              <a:t>@yannlecun on threads:</a:t>
            </a:r>
            <a:br>
              <a:rPr lang="en" sz="1200">
                <a:latin typeface="Calibri"/>
                <a:ea typeface="Calibri"/>
                <a:cs typeface="Calibri"/>
                <a:sym typeface="Calibri"/>
              </a:rPr>
            </a:br>
            <a:r>
              <a:rPr lang="en" sz="1200" u="sng">
                <a:solidFill>
                  <a:schemeClr val="hlink"/>
                </a:solidFill>
                <a:latin typeface="Calibri"/>
                <a:ea typeface="Calibri"/>
                <a:cs typeface="Calibri"/>
                <a:sym typeface="Calibri"/>
                <a:hlinkClick r:id="rId3"/>
              </a:rPr>
              <a:t>https://www.threads.com/@YannLecun</a:t>
            </a:r>
            <a:r>
              <a:rPr lang="en" sz="1200">
                <a:latin typeface="Calibri"/>
                <a:ea typeface="Calibri"/>
                <a:cs typeface="Calibri"/>
                <a:sym typeface="Calibri"/>
              </a:rPr>
              <a:t> </a:t>
            </a:r>
            <a:endParaRPr sz="1200">
              <a:latin typeface="Calibri"/>
              <a:ea typeface="Calibri"/>
              <a:cs typeface="Calibri"/>
              <a:sym typeface="Calibri"/>
            </a:endParaRPr>
          </a:p>
          <a:p>
            <a:pPr marL="171450" marR="0" lvl="0" indent="-133350" algn="l" rtl="0">
              <a:lnSpc>
                <a:spcPct val="100000"/>
              </a:lnSpc>
              <a:spcBef>
                <a:spcPts val="0"/>
              </a:spcBef>
              <a:spcAft>
                <a:spcPts val="0"/>
              </a:spcAft>
              <a:buSzPts val="1200"/>
              <a:buFont typeface="Calibri"/>
              <a:buChar char="●"/>
            </a:pPr>
            <a:r>
              <a:rPr lang="en" sz="1200">
                <a:latin typeface="Calibri"/>
                <a:ea typeface="Calibri"/>
                <a:cs typeface="Calibri"/>
                <a:sym typeface="Calibri"/>
              </a:rPr>
              <a:t>@pentagoniac asked ChatGPT to "rank the most promising approaches to world models". Result is below. In Silicon Valley, almost everyone is LLM-pilled, except LLMs themselves</a:t>
            </a:r>
            <a:endParaRPr sz="1200">
              <a:latin typeface="Calibri"/>
              <a:ea typeface="Calibri"/>
              <a:cs typeface="Calibri"/>
              <a:sym typeface="Calibri"/>
            </a:endParaRPr>
          </a:p>
        </p:txBody>
      </p:sp>
      <p:pic>
        <p:nvPicPr>
          <p:cNvPr id="355" name="Google Shape;355;p40" title="PHOTO-2025-12-09-16-27-27.jpg"/>
          <p:cNvPicPr preferRelativeResize="0"/>
          <p:nvPr/>
        </p:nvPicPr>
        <p:blipFill rotWithShape="1">
          <a:blip r:embed="rId4" cstate="email">
            <a:alphaModFix/>
            <a:extLst>
              <a:ext uri="{28A0092B-C50C-407E-A947-70E740481C1C}">
                <a14:useLocalDpi xmlns:a14="http://schemas.microsoft.com/office/drawing/2010/main"/>
              </a:ext>
            </a:extLst>
          </a:blip>
          <a:srcRect/>
          <a:stretch/>
        </p:blipFill>
        <p:spPr>
          <a:xfrm>
            <a:off x="2894746" y="108599"/>
            <a:ext cx="2918375" cy="4926326"/>
          </a:xfrm>
          <a:prstGeom prst="rect">
            <a:avLst/>
          </a:prstGeom>
          <a:noFill/>
          <a:ln w="9525" cap="flat" cmpd="sng">
            <a:solidFill>
              <a:srgbClr val="FF0000"/>
            </a:solidFill>
            <a:prstDash val="solid"/>
            <a:round/>
            <a:headEnd type="none" w="sm" len="sm"/>
            <a:tailEnd type="none" w="sm" len="sm"/>
          </a:ln>
        </p:spPr>
      </p:pic>
      <p:pic>
        <p:nvPicPr>
          <p:cNvPr id="356" name="Google Shape;356;p40"/>
          <p:cNvPicPr preferRelativeResize="0"/>
          <p:nvPr/>
        </p:nvPicPr>
        <p:blipFill>
          <a:blip r:embed="rId5" cstate="email">
            <a:alphaModFix/>
            <a:extLst>
              <a:ext uri="{28A0092B-C50C-407E-A947-70E740481C1C}">
                <a14:useLocalDpi xmlns:a14="http://schemas.microsoft.com/office/drawing/2010/main"/>
              </a:ext>
            </a:extLst>
          </a:blip>
          <a:stretch>
            <a:fillRect/>
          </a:stretch>
        </p:blipFill>
        <p:spPr>
          <a:xfrm>
            <a:off x="543046" y="1934475"/>
            <a:ext cx="1811325" cy="1811325"/>
          </a:xfrm>
          <a:prstGeom prst="rect">
            <a:avLst/>
          </a:prstGeom>
          <a:noFill/>
          <a:ln w="9525" cap="flat" cmpd="sng">
            <a:solidFill>
              <a:srgbClr val="FF0000"/>
            </a:solidFill>
            <a:prstDash val="solid"/>
            <a:round/>
            <a:headEnd type="none" w="sm" len="sm"/>
            <a:tailEnd type="none" w="sm" len="sm"/>
          </a:ln>
        </p:spPr>
      </p:pic>
      <p:sp>
        <p:nvSpPr>
          <p:cNvPr id="357" name="Google Shape;357;p40"/>
          <p:cNvSpPr txBox="1"/>
          <p:nvPr/>
        </p:nvSpPr>
        <p:spPr>
          <a:xfrm>
            <a:off x="5885717" y="95578"/>
            <a:ext cx="3193200" cy="22350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171450" marR="0" lvl="0" indent="-133350" algn="l" rtl="0">
              <a:lnSpc>
                <a:spcPct val="100000"/>
              </a:lnSpc>
              <a:spcBef>
                <a:spcPts val="0"/>
              </a:spcBef>
              <a:spcAft>
                <a:spcPts val="0"/>
              </a:spcAft>
              <a:buClr>
                <a:srgbClr val="FF0000"/>
              </a:buClr>
              <a:buSzPts val="1200"/>
              <a:buFont typeface="Calibri"/>
              <a:buChar char="●"/>
            </a:pPr>
            <a:r>
              <a:rPr lang="en" sz="1200" b="1">
                <a:solidFill>
                  <a:srgbClr val="FF0000"/>
                </a:solidFill>
                <a:latin typeface="Calibri"/>
                <a:ea typeface="Calibri"/>
                <a:cs typeface="Calibri"/>
                <a:sym typeface="Calibri"/>
              </a:rPr>
              <a:t>Some World Models</a:t>
            </a:r>
            <a:endParaRPr sz="1200" b="1">
              <a:solidFill>
                <a:srgbClr val="FF0000"/>
              </a:solidFill>
              <a:latin typeface="Calibri"/>
              <a:ea typeface="Calibri"/>
              <a:cs typeface="Calibri"/>
              <a:sym typeface="Calibri"/>
            </a:endParaRPr>
          </a:p>
          <a:p>
            <a:pPr marL="171450" marR="0" lvl="0" indent="-133350" algn="l" rtl="0">
              <a:lnSpc>
                <a:spcPct val="100000"/>
              </a:lnSpc>
              <a:spcBef>
                <a:spcPts val="0"/>
              </a:spcBef>
              <a:spcAft>
                <a:spcPts val="0"/>
              </a:spcAft>
              <a:buSzPts val="1200"/>
              <a:buFont typeface="Calibri"/>
              <a:buChar char="●"/>
            </a:pPr>
            <a:r>
              <a:rPr lang="en" sz="1200">
                <a:latin typeface="Calibri"/>
                <a:ea typeface="Calibri"/>
                <a:cs typeface="Calibri"/>
                <a:sym typeface="Calibri"/>
              </a:rPr>
              <a:t>Genie 3 by Google DeepMind</a:t>
            </a:r>
            <a:endParaRPr sz="1200">
              <a:latin typeface="Calibri"/>
              <a:ea typeface="Calibri"/>
              <a:cs typeface="Calibri"/>
              <a:sym typeface="Calibri"/>
            </a:endParaRPr>
          </a:p>
          <a:p>
            <a:pPr marL="171450" marR="0" lvl="0" indent="-133350" algn="l" rtl="0">
              <a:lnSpc>
                <a:spcPct val="100000"/>
              </a:lnSpc>
              <a:spcBef>
                <a:spcPts val="0"/>
              </a:spcBef>
              <a:spcAft>
                <a:spcPts val="0"/>
              </a:spcAft>
              <a:buSzPts val="1200"/>
              <a:buFont typeface="Calibri"/>
              <a:buChar char="●"/>
            </a:pPr>
            <a:r>
              <a:rPr lang="en" sz="1200">
                <a:latin typeface="Calibri"/>
                <a:ea typeface="Calibri"/>
                <a:cs typeface="Calibri"/>
                <a:sym typeface="Calibri"/>
              </a:rPr>
              <a:t>Marble by World Labs (Fei-Fei Li)</a:t>
            </a:r>
            <a:endParaRPr sz="1200">
              <a:latin typeface="Calibri"/>
              <a:ea typeface="Calibri"/>
              <a:cs typeface="Calibri"/>
              <a:sym typeface="Calibri"/>
            </a:endParaRPr>
          </a:p>
          <a:p>
            <a:pPr marL="171450" marR="0" lvl="0" indent="-133350" algn="l" rtl="0">
              <a:lnSpc>
                <a:spcPct val="100000"/>
              </a:lnSpc>
              <a:spcBef>
                <a:spcPts val="0"/>
              </a:spcBef>
              <a:spcAft>
                <a:spcPts val="0"/>
              </a:spcAft>
              <a:buSzPts val="1200"/>
              <a:buFont typeface="Calibri"/>
              <a:buChar char="●"/>
            </a:pPr>
            <a:r>
              <a:rPr lang="en" sz="1200">
                <a:latin typeface="Calibri"/>
                <a:ea typeface="Calibri"/>
                <a:cs typeface="Calibri"/>
                <a:sym typeface="Calibri"/>
              </a:rPr>
              <a:t>V-JEPA 2 by Meta is an action-free joint-embedding-predictive world model</a:t>
            </a:r>
            <a:endParaRPr sz="1200">
              <a:latin typeface="Calibri"/>
              <a:ea typeface="Calibri"/>
              <a:cs typeface="Calibri"/>
              <a:sym typeface="Calibri"/>
            </a:endParaRPr>
          </a:p>
          <a:p>
            <a:pPr marL="171450" marR="0" lvl="0" indent="-133350" algn="l" rtl="0">
              <a:lnSpc>
                <a:spcPct val="100000"/>
              </a:lnSpc>
              <a:spcBef>
                <a:spcPts val="0"/>
              </a:spcBef>
              <a:spcAft>
                <a:spcPts val="0"/>
              </a:spcAft>
              <a:buSzPts val="1200"/>
              <a:buFont typeface="Calibri"/>
              <a:buChar char="●"/>
            </a:pPr>
            <a:r>
              <a:rPr lang="en" sz="1200">
                <a:latin typeface="Calibri"/>
                <a:ea typeface="Calibri"/>
                <a:cs typeface="Calibri"/>
                <a:sym typeface="Calibri"/>
              </a:rPr>
              <a:t>Habitat 3.0 by Meta is a simulation platform for robot-human work</a:t>
            </a:r>
            <a:endParaRPr sz="1200">
              <a:latin typeface="Calibri"/>
              <a:ea typeface="Calibri"/>
              <a:cs typeface="Calibri"/>
              <a:sym typeface="Calibri"/>
            </a:endParaRPr>
          </a:p>
          <a:p>
            <a:pPr marL="171450" marR="0" lvl="0" indent="-133350" algn="l" rtl="0">
              <a:lnSpc>
                <a:spcPct val="100000"/>
              </a:lnSpc>
              <a:spcBef>
                <a:spcPts val="0"/>
              </a:spcBef>
              <a:spcAft>
                <a:spcPts val="0"/>
              </a:spcAft>
              <a:buSzPts val="1200"/>
              <a:buFont typeface="Calibri"/>
              <a:buChar char="●"/>
            </a:pPr>
            <a:r>
              <a:rPr lang="en" sz="1200">
                <a:latin typeface="Calibri"/>
                <a:ea typeface="Calibri"/>
                <a:cs typeface="Calibri"/>
                <a:sym typeface="Calibri"/>
              </a:rPr>
              <a:t>Large Geospatial Model (LGM) by Niantic</a:t>
            </a:r>
            <a:endParaRPr sz="1200">
              <a:latin typeface="Calibri"/>
              <a:ea typeface="Calibri"/>
              <a:cs typeface="Calibri"/>
              <a:sym typeface="Calibri"/>
            </a:endParaRPr>
          </a:p>
          <a:p>
            <a:pPr marL="171450" marR="0" lvl="0" indent="-133350" algn="l" rtl="0">
              <a:lnSpc>
                <a:spcPct val="100000"/>
              </a:lnSpc>
              <a:spcBef>
                <a:spcPts val="0"/>
              </a:spcBef>
              <a:spcAft>
                <a:spcPts val="0"/>
              </a:spcAft>
              <a:buSzPts val="1200"/>
              <a:buFont typeface="Calibri"/>
              <a:buChar char="●"/>
            </a:pPr>
            <a:r>
              <a:rPr lang="en" sz="1200">
                <a:latin typeface="Calibri"/>
                <a:ea typeface="Calibri"/>
                <a:cs typeface="Calibri"/>
                <a:sym typeface="Calibri"/>
              </a:rPr>
              <a:t>Runway Gen-3 Alpha by Runway</a:t>
            </a:r>
            <a:endParaRPr sz="1200">
              <a:latin typeface="Calibri"/>
              <a:ea typeface="Calibri"/>
              <a:cs typeface="Calibri"/>
              <a:sym typeface="Calibri"/>
            </a:endParaRPr>
          </a:p>
          <a:p>
            <a:pPr marL="171450" marR="0" lvl="0" indent="-133350" algn="l" rtl="0">
              <a:lnSpc>
                <a:spcPct val="100000"/>
              </a:lnSpc>
              <a:spcBef>
                <a:spcPts val="0"/>
              </a:spcBef>
              <a:spcAft>
                <a:spcPts val="0"/>
              </a:spcAft>
              <a:buSzPts val="1200"/>
              <a:buFont typeface="Calibri"/>
              <a:buChar char="●"/>
            </a:pPr>
            <a:r>
              <a:rPr lang="en" sz="1200">
                <a:latin typeface="Calibri"/>
                <a:ea typeface="Calibri"/>
                <a:cs typeface="Calibri"/>
                <a:sym typeface="Calibri"/>
              </a:rPr>
              <a:t>WorldDreamer from China</a:t>
            </a:r>
            <a:endParaRPr sz="1200">
              <a:latin typeface="Calibri"/>
              <a:ea typeface="Calibri"/>
              <a:cs typeface="Calibri"/>
              <a:sym typeface="Calibri"/>
            </a:endParaRPr>
          </a:p>
          <a:p>
            <a:pPr marL="171450" marR="0" lvl="0" indent="-133350" algn="l" rtl="0">
              <a:lnSpc>
                <a:spcPct val="100000"/>
              </a:lnSpc>
              <a:spcBef>
                <a:spcPts val="0"/>
              </a:spcBef>
              <a:spcAft>
                <a:spcPts val="0"/>
              </a:spcAft>
              <a:buSzPts val="1200"/>
              <a:buFont typeface="Calibri"/>
              <a:buChar char="●"/>
            </a:pPr>
            <a:r>
              <a:rPr lang="en" sz="1200">
                <a:latin typeface="Calibri"/>
                <a:ea typeface="Calibri"/>
                <a:cs typeface="Calibri"/>
                <a:sym typeface="Calibri"/>
              </a:rPr>
              <a:t>Luma Dream Machine</a:t>
            </a:r>
            <a:endParaRPr sz="1200">
              <a:latin typeface="Calibri"/>
              <a:ea typeface="Calibri"/>
              <a:cs typeface="Calibri"/>
              <a:sym typeface="Calibri"/>
            </a:endParaRPr>
          </a:p>
          <a:p>
            <a:pPr marL="171450" marR="0" lvl="0" indent="-133350" algn="l" rtl="0">
              <a:lnSpc>
                <a:spcPct val="100000"/>
              </a:lnSpc>
              <a:spcBef>
                <a:spcPts val="0"/>
              </a:spcBef>
              <a:spcAft>
                <a:spcPts val="0"/>
              </a:spcAft>
              <a:buSzPts val="1200"/>
              <a:buFont typeface="Calibri"/>
              <a:buChar char="●"/>
            </a:pPr>
            <a:r>
              <a:rPr lang="en" sz="1200">
                <a:latin typeface="Calibri"/>
                <a:ea typeface="Calibri"/>
                <a:cs typeface="Calibri"/>
                <a:sym typeface="Calibri"/>
              </a:rPr>
              <a:t>Video Retrieval Augmented Generation (VRAG)</a:t>
            </a:r>
            <a:endParaRPr sz="1200">
              <a:latin typeface="Calibri"/>
              <a:ea typeface="Calibri"/>
              <a:cs typeface="Calibri"/>
              <a:sym typeface="Calibri"/>
            </a:endParaRPr>
          </a:p>
        </p:txBody>
      </p:sp>
      <p:sp>
        <p:nvSpPr>
          <p:cNvPr id="358" name="Google Shape;358;p40"/>
          <p:cNvSpPr txBox="1"/>
          <p:nvPr/>
        </p:nvSpPr>
        <p:spPr>
          <a:xfrm>
            <a:off x="5884718" y="2423940"/>
            <a:ext cx="3193200" cy="26043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171450" marR="0" lvl="0" indent="-133350" algn="l" rtl="0">
              <a:lnSpc>
                <a:spcPct val="100000"/>
              </a:lnSpc>
              <a:spcBef>
                <a:spcPts val="0"/>
              </a:spcBef>
              <a:spcAft>
                <a:spcPts val="0"/>
              </a:spcAft>
              <a:buClr>
                <a:srgbClr val="FF0000"/>
              </a:buClr>
              <a:buSzPts val="1200"/>
              <a:buFont typeface="Calibri"/>
              <a:buChar char="●"/>
            </a:pPr>
            <a:r>
              <a:rPr lang="en" sz="1200" b="1">
                <a:solidFill>
                  <a:srgbClr val="FF0000"/>
                </a:solidFill>
                <a:latin typeface="Calibri"/>
                <a:ea typeface="Calibri"/>
                <a:cs typeface="Calibri"/>
                <a:sym typeface="Calibri"/>
              </a:rPr>
              <a:t>Yann LeCun has announced in November 2025 that he would depart Meta at the end of the year </a:t>
            </a:r>
            <a:endParaRPr sz="1200" b="1">
              <a:solidFill>
                <a:srgbClr val="FF0000"/>
              </a:solidFill>
              <a:latin typeface="Calibri"/>
              <a:ea typeface="Calibri"/>
              <a:cs typeface="Calibri"/>
              <a:sym typeface="Calibri"/>
            </a:endParaRPr>
          </a:p>
          <a:p>
            <a:pPr marL="171450" marR="0" lvl="0" indent="-133350" algn="l" rtl="0">
              <a:lnSpc>
                <a:spcPct val="100000"/>
              </a:lnSpc>
              <a:spcBef>
                <a:spcPts val="0"/>
              </a:spcBef>
              <a:spcAft>
                <a:spcPts val="0"/>
              </a:spcAft>
              <a:buSzPts val="1200"/>
              <a:buFont typeface="Calibri"/>
              <a:buChar char="●"/>
            </a:pPr>
            <a:r>
              <a:rPr lang="en" sz="1200">
                <a:latin typeface="Calibri"/>
                <a:ea typeface="Calibri"/>
                <a:cs typeface="Calibri"/>
                <a:sym typeface="Calibri"/>
              </a:rPr>
              <a:t>after 12 years with the company—5 years as founding director of FAIR (Fundamental AI Research) and 7 years as Chief AI Scientist</a:t>
            </a:r>
            <a:endParaRPr sz="1200">
              <a:latin typeface="Calibri"/>
              <a:ea typeface="Calibri"/>
              <a:cs typeface="Calibri"/>
              <a:sym typeface="Calibri"/>
            </a:endParaRPr>
          </a:p>
          <a:p>
            <a:pPr marL="171450" marR="0" lvl="0" indent="-133350" algn="l" rtl="0">
              <a:lnSpc>
                <a:spcPct val="100000"/>
              </a:lnSpc>
              <a:spcBef>
                <a:spcPts val="0"/>
              </a:spcBef>
              <a:spcAft>
                <a:spcPts val="0"/>
              </a:spcAft>
              <a:buSzPts val="1200"/>
              <a:buFont typeface="Calibri"/>
              <a:buChar char="●"/>
            </a:pPr>
            <a:r>
              <a:rPr lang="en" sz="1200">
                <a:latin typeface="Calibri"/>
                <a:ea typeface="Calibri"/>
                <a:cs typeface="Calibri"/>
                <a:sym typeface="Calibri"/>
              </a:rPr>
              <a:t>LeCun is launching a new AI startup focused on Advanced Machine Intelligence (AMI), which aims to develop systems that understand the physical world, have persistent memory, can reason, and can plan complex action sequences</a:t>
            </a:r>
            <a:endParaRPr sz="1200">
              <a:latin typeface="Calibri"/>
              <a:ea typeface="Calibri"/>
              <a:cs typeface="Calibri"/>
              <a:sym typeface="Calibri"/>
            </a:endParaRPr>
          </a:p>
          <a:p>
            <a:pPr marL="171450" marR="0" lvl="0" indent="-133350" algn="l" rtl="0">
              <a:lnSpc>
                <a:spcPct val="100000"/>
              </a:lnSpc>
              <a:spcBef>
                <a:spcPts val="0"/>
              </a:spcBef>
              <a:spcAft>
                <a:spcPts val="0"/>
              </a:spcAft>
              <a:buSzPts val="1200"/>
              <a:buFont typeface="Calibri"/>
              <a:buChar char="●"/>
            </a:pPr>
            <a:r>
              <a:rPr lang="en" sz="1200">
                <a:latin typeface="Calibri"/>
                <a:ea typeface="Calibri"/>
                <a:cs typeface="Calibri"/>
                <a:sym typeface="Calibri"/>
              </a:rPr>
              <a:t>Despite leaving, Meta will remain a partner in LeCun's new company</a:t>
            </a:r>
            <a:endParaRPr sz="1200">
              <a:latin typeface="Calibri"/>
              <a:ea typeface="Calibri"/>
              <a:cs typeface="Calibri"/>
              <a:sym typeface="Calibri"/>
            </a:endParaRPr>
          </a:p>
          <a:p>
            <a:pPr marL="171450" marR="0" lvl="0" indent="-133350" algn="l" rtl="0">
              <a:lnSpc>
                <a:spcPct val="100000"/>
              </a:lnSpc>
              <a:spcBef>
                <a:spcPts val="0"/>
              </a:spcBef>
              <a:spcAft>
                <a:spcPts val="0"/>
              </a:spcAft>
              <a:buSzPts val="1200"/>
              <a:buFont typeface="Calibri"/>
              <a:buChar char="●"/>
            </a:pPr>
            <a:r>
              <a:rPr lang="en" sz="1200">
                <a:latin typeface="Calibri"/>
                <a:ea typeface="Calibri"/>
                <a:cs typeface="Calibri"/>
                <a:sym typeface="Calibri"/>
              </a:rPr>
              <a:t>LeCun may build his new company in Europe</a:t>
            </a:r>
            <a:endParaRPr sz="1200">
              <a:latin typeface="Calibri"/>
              <a:ea typeface="Calibri"/>
              <a:cs typeface="Calibri"/>
              <a:sym typeface="Calibri"/>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362"/>
        <p:cNvGrpSpPr/>
        <p:nvPr/>
      </p:nvGrpSpPr>
      <p:grpSpPr>
        <a:xfrm>
          <a:off x="0" y="0"/>
          <a:ext cx="0" cy="0"/>
          <a:chOff x="0" y="0"/>
          <a:chExt cx="0" cy="0"/>
        </a:xfrm>
      </p:grpSpPr>
      <p:sp>
        <p:nvSpPr>
          <p:cNvPr id="363" name="Google Shape;363;p41"/>
          <p:cNvSpPr txBox="1"/>
          <p:nvPr/>
        </p:nvSpPr>
        <p:spPr>
          <a:xfrm>
            <a:off x="67350" y="52750"/>
            <a:ext cx="3179400" cy="326400"/>
          </a:xfrm>
          <a:prstGeom prst="rect">
            <a:avLst/>
          </a:prstGeom>
          <a:noFill/>
          <a:ln>
            <a:noFill/>
          </a:ln>
        </p:spPr>
        <p:txBody>
          <a:bodyPr spcFirstLastPara="1" wrap="square" lIns="9125" tIns="9125" rIns="9125" bIns="9125" anchor="t" anchorCtr="0">
            <a:spAutoFit/>
          </a:bodyPr>
          <a:lstStyle/>
          <a:p>
            <a:pPr marL="0" marR="0" lvl="0" indent="0" algn="l" rtl="0">
              <a:lnSpc>
                <a:spcPct val="100000"/>
              </a:lnSpc>
              <a:spcBef>
                <a:spcPts val="0"/>
              </a:spcBef>
              <a:spcAft>
                <a:spcPts val="0"/>
              </a:spcAft>
              <a:buClr>
                <a:schemeClr val="dk1"/>
              </a:buClr>
              <a:buSzPts val="1100"/>
              <a:buFont typeface="Arial"/>
              <a:buNone/>
            </a:pPr>
            <a:r>
              <a:rPr lang="en" sz="2000" b="1" i="0" u="none" strike="noStrike" cap="none">
                <a:solidFill>
                  <a:schemeClr val="dk1"/>
                </a:solidFill>
                <a:latin typeface="Calibri"/>
                <a:ea typeface="Calibri"/>
                <a:cs typeface="Calibri"/>
                <a:sym typeface="Calibri"/>
              </a:rPr>
              <a:t>Jobs</a:t>
            </a:r>
            <a:endParaRPr sz="2000" b="1" i="0" u="none" strike="noStrike" cap="none">
              <a:solidFill>
                <a:schemeClr val="dk1"/>
              </a:solidFill>
              <a:latin typeface="Calibri"/>
              <a:ea typeface="Calibri"/>
              <a:cs typeface="Calibri"/>
              <a:sym typeface="Calibri"/>
            </a:endParaRPr>
          </a:p>
        </p:txBody>
      </p:sp>
      <p:sp>
        <p:nvSpPr>
          <p:cNvPr id="364" name="Google Shape;364;p41"/>
          <p:cNvSpPr txBox="1"/>
          <p:nvPr/>
        </p:nvSpPr>
        <p:spPr>
          <a:xfrm>
            <a:off x="2102050" y="77475"/>
            <a:ext cx="1800600" cy="3879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171450" marR="0" lvl="0" indent="-133350" algn="l" rtl="0">
              <a:lnSpc>
                <a:spcPct val="100000"/>
              </a:lnSpc>
              <a:spcBef>
                <a:spcPts val="0"/>
              </a:spcBef>
              <a:spcAft>
                <a:spcPts val="0"/>
              </a:spcAft>
              <a:buSzPts val="1200"/>
              <a:buFont typeface="Calibri"/>
              <a:buChar char="●"/>
            </a:pPr>
            <a:r>
              <a:rPr lang="en" sz="1200" b="0" i="0" u="sng" strike="noStrike" cap="none">
                <a:solidFill>
                  <a:schemeClr val="hlink"/>
                </a:solidFill>
                <a:latin typeface="Calibri"/>
                <a:ea typeface="Calibri"/>
                <a:cs typeface="Calibri"/>
                <a:sym typeface="Calibri"/>
                <a:hlinkClick r:id="rId3"/>
              </a:rPr>
              <a:t>https://layoffs.fyi</a:t>
            </a:r>
            <a:endParaRPr sz="1200">
              <a:latin typeface="Calibri"/>
              <a:ea typeface="Calibri"/>
              <a:cs typeface="Calibri"/>
              <a:sym typeface="Calibri"/>
            </a:endParaRPr>
          </a:p>
          <a:p>
            <a:pPr marL="171450" marR="0" lvl="0" indent="-133350" algn="l" rtl="0">
              <a:lnSpc>
                <a:spcPct val="100000"/>
              </a:lnSpc>
              <a:spcBef>
                <a:spcPts val="0"/>
              </a:spcBef>
              <a:spcAft>
                <a:spcPts val="0"/>
              </a:spcAft>
              <a:buSzPts val="1200"/>
              <a:buFont typeface="Calibri"/>
              <a:buChar char="●"/>
            </a:pPr>
            <a:r>
              <a:rPr lang="en" sz="1200" u="sng">
                <a:solidFill>
                  <a:schemeClr val="hlink"/>
                </a:solidFill>
                <a:latin typeface="Calibri"/>
                <a:ea typeface="Calibri"/>
                <a:cs typeface="Calibri"/>
                <a:sym typeface="Calibri"/>
                <a:hlinkClick r:id="rId4"/>
              </a:rPr>
              <a:t>https://trueup.io/layoffs</a:t>
            </a:r>
            <a:r>
              <a:rPr lang="en" sz="1200">
                <a:latin typeface="Calibri"/>
                <a:ea typeface="Calibri"/>
                <a:cs typeface="Calibri"/>
                <a:sym typeface="Calibri"/>
              </a:rPr>
              <a:t> </a:t>
            </a:r>
            <a:r>
              <a:rPr lang="en" sz="1200" b="0" i="0" u="none" strike="noStrike" cap="none">
                <a:solidFill>
                  <a:srgbClr val="000000"/>
                </a:solidFill>
                <a:latin typeface="Calibri"/>
                <a:ea typeface="Calibri"/>
                <a:cs typeface="Calibri"/>
                <a:sym typeface="Calibri"/>
              </a:rPr>
              <a:t> </a:t>
            </a:r>
            <a:endParaRPr sz="1200" b="0" i="0" u="none" strike="noStrike" cap="none">
              <a:solidFill>
                <a:srgbClr val="000000"/>
              </a:solidFill>
              <a:latin typeface="Calibri"/>
              <a:ea typeface="Calibri"/>
              <a:cs typeface="Calibri"/>
              <a:sym typeface="Calibri"/>
            </a:endParaRPr>
          </a:p>
        </p:txBody>
      </p:sp>
      <p:sp>
        <p:nvSpPr>
          <p:cNvPr id="365" name="Google Shape;365;p41"/>
          <p:cNvSpPr txBox="1"/>
          <p:nvPr/>
        </p:nvSpPr>
        <p:spPr>
          <a:xfrm>
            <a:off x="5144548" y="507700"/>
            <a:ext cx="3981900" cy="9420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0" marR="0" lvl="0" indent="0" algn="l" rtl="0">
              <a:lnSpc>
                <a:spcPct val="100000"/>
              </a:lnSpc>
              <a:spcBef>
                <a:spcPts val="0"/>
              </a:spcBef>
              <a:spcAft>
                <a:spcPts val="0"/>
              </a:spcAft>
              <a:buNone/>
            </a:pPr>
            <a:r>
              <a:rPr lang="en" sz="1200" b="1">
                <a:solidFill>
                  <a:srgbClr val="FF0000"/>
                </a:solidFill>
                <a:latin typeface="Calibri"/>
                <a:ea typeface="Calibri"/>
                <a:cs typeface="Calibri"/>
                <a:sym typeface="Calibri"/>
              </a:rPr>
              <a:t>  Tech Layoffs by year (US only):</a:t>
            </a:r>
            <a:endParaRPr sz="1200" b="1">
              <a:solidFill>
                <a:srgbClr val="FF0000"/>
              </a:solidFill>
              <a:latin typeface="Calibri"/>
              <a:ea typeface="Calibri"/>
              <a:cs typeface="Calibri"/>
              <a:sym typeface="Calibri"/>
            </a:endParaRPr>
          </a:p>
          <a:p>
            <a:pPr marL="228600" marR="0" lvl="1" indent="-133350" algn="l" rtl="0">
              <a:lnSpc>
                <a:spcPct val="100000"/>
              </a:lnSpc>
              <a:spcBef>
                <a:spcPts val="0"/>
              </a:spcBef>
              <a:spcAft>
                <a:spcPts val="0"/>
              </a:spcAft>
              <a:buSzPts val="1200"/>
              <a:buFont typeface="Calibri"/>
              <a:buChar char="○"/>
            </a:pPr>
            <a:r>
              <a:rPr lang="en" sz="1000" b="1">
                <a:latin typeface="Roboto Mono"/>
                <a:ea typeface="Roboto Mono"/>
                <a:cs typeface="Roboto Mono"/>
                <a:sym typeface="Roboto Mono"/>
              </a:rPr>
              <a:t>123K in 2025 (as of December 11)</a:t>
            </a:r>
            <a:endParaRPr sz="1000" b="1">
              <a:latin typeface="Roboto Mono"/>
              <a:ea typeface="Roboto Mono"/>
              <a:cs typeface="Roboto Mono"/>
              <a:sym typeface="Roboto Mono"/>
            </a:endParaRPr>
          </a:p>
          <a:p>
            <a:pPr marL="228600" marR="0" lvl="1" indent="-133350" algn="l" rtl="0">
              <a:lnSpc>
                <a:spcPct val="100000"/>
              </a:lnSpc>
              <a:spcBef>
                <a:spcPts val="0"/>
              </a:spcBef>
              <a:spcAft>
                <a:spcPts val="0"/>
              </a:spcAft>
              <a:buSzPts val="1200"/>
              <a:buFont typeface="Calibri"/>
              <a:buChar char="○"/>
            </a:pPr>
            <a:r>
              <a:rPr lang="en" sz="1000" b="1">
                <a:latin typeface="Roboto Mono"/>
                <a:ea typeface="Roboto Mono"/>
                <a:cs typeface="Roboto Mono"/>
                <a:sym typeface="Roboto Mono"/>
              </a:rPr>
              <a:t>153K in </a:t>
            </a:r>
            <a:r>
              <a:rPr lang="en" sz="1000" b="1">
                <a:solidFill>
                  <a:srgbClr val="000000"/>
                </a:solidFill>
                <a:latin typeface="Roboto Mono"/>
                <a:ea typeface="Roboto Mono"/>
                <a:cs typeface="Roboto Mono"/>
                <a:sym typeface="Roboto Mono"/>
              </a:rPr>
              <a:t>2024</a:t>
            </a:r>
            <a:endParaRPr sz="1000" b="1">
              <a:latin typeface="Roboto Mono"/>
              <a:ea typeface="Roboto Mono"/>
              <a:cs typeface="Roboto Mono"/>
              <a:sym typeface="Roboto Mono"/>
            </a:endParaRPr>
          </a:p>
          <a:p>
            <a:pPr marL="228600" marR="0" lvl="1" indent="-133350" algn="l" rtl="0">
              <a:lnSpc>
                <a:spcPct val="100000"/>
              </a:lnSpc>
              <a:spcBef>
                <a:spcPts val="0"/>
              </a:spcBef>
              <a:spcAft>
                <a:spcPts val="0"/>
              </a:spcAft>
              <a:buSzPts val="1200"/>
              <a:buFont typeface="Calibri"/>
              <a:buChar char="○"/>
            </a:pPr>
            <a:r>
              <a:rPr lang="en" sz="1000" b="1">
                <a:latin typeface="Roboto Mono"/>
                <a:ea typeface="Roboto Mono"/>
                <a:cs typeface="Roboto Mono"/>
                <a:sym typeface="Roboto Mono"/>
              </a:rPr>
              <a:t>264K in 2023</a:t>
            </a:r>
            <a:endParaRPr sz="1000" b="1">
              <a:latin typeface="Roboto Mono"/>
              <a:ea typeface="Roboto Mono"/>
              <a:cs typeface="Roboto Mono"/>
              <a:sym typeface="Roboto Mono"/>
            </a:endParaRPr>
          </a:p>
          <a:p>
            <a:pPr marL="228600" marR="0" lvl="1" indent="-133350" algn="l" rtl="0">
              <a:lnSpc>
                <a:spcPct val="100000"/>
              </a:lnSpc>
              <a:spcBef>
                <a:spcPts val="0"/>
              </a:spcBef>
              <a:spcAft>
                <a:spcPts val="0"/>
              </a:spcAft>
              <a:buSzPts val="1200"/>
              <a:buFont typeface="Calibri"/>
              <a:buChar char="○"/>
            </a:pPr>
            <a:r>
              <a:rPr lang="en" sz="1000" b="1">
                <a:latin typeface="Roboto Mono"/>
                <a:ea typeface="Roboto Mono"/>
                <a:cs typeface="Roboto Mono"/>
                <a:sym typeface="Roboto Mono"/>
              </a:rPr>
              <a:t>165K in 2022                  </a:t>
            </a:r>
            <a:r>
              <a:rPr lang="en" sz="1200" i="0" u="sng" strike="noStrike" cap="none">
                <a:solidFill>
                  <a:srgbClr val="0097A7"/>
                </a:solidFill>
                <a:latin typeface="Calibri"/>
                <a:ea typeface="Calibri"/>
                <a:cs typeface="Calibri"/>
                <a:sym typeface="Calibri"/>
                <a:hlinkClick r:id="rId3">
                  <a:extLst>
                    <a:ext uri="{A12FA001-AC4F-418D-AE19-62706E023703}">
                      <ahyp:hlinkClr xmlns:ahyp="http://schemas.microsoft.com/office/drawing/2018/hyperlinkcolor" val="tx"/>
                    </a:ext>
                  </a:extLst>
                </a:hlinkClick>
              </a:rPr>
              <a:t>https://layoffs.fyi</a:t>
            </a:r>
            <a:endParaRPr sz="1200" i="0" u="none" strike="noStrike" cap="none">
              <a:solidFill>
                <a:srgbClr val="000000"/>
              </a:solidFill>
              <a:latin typeface="Calibri"/>
              <a:ea typeface="Calibri"/>
              <a:cs typeface="Calibri"/>
              <a:sym typeface="Calibri"/>
            </a:endParaRPr>
          </a:p>
        </p:txBody>
      </p:sp>
      <p:sp>
        <p:nvSpPr>
          <p:cNvPr id="366" name="Google Shape;366;p41"/>
          <p:cNvSpPr txBox="1"/>
          <p:nvPr/>
        </p:nvSpPr>
        <p:spPr>
          <a:xfrm>
            <a:off x="5162100" y="4228625"/>
            <a:ext cx="3946800" cy="7572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0" lvl="0" indent="0" algn="l" rtl="0">
              <a:spcBef>
                <a:spcPts val="0"/>
              </a:spcBef>
              <a:spcAft>
                <a:spcPts val="0"/>
              </a:spcAft>
              <a:buNone/>
            </a:pPr>
            <a:r>
              <a:rPr lang="en" sz="1200" b="1">
                <a:solidFill>
                  <a:srgbClr val="FF0000"/>
                </a:solidFill>
                <a:latin typeface="Calibri"/>
                <a:ea typeface="Calibri"/>
                <a:cs typeface="Calibri"/>
                <a:sym typeface="Calibri"/>
              </a:rPr>
              <a:t>  The Tech Layoff Tracker</a:t>
            </a:r>
            <a:endParaRPr sz="1200" b="1">
              <a:solidFill>
                <a:srgbClr val="FF0000"/>
              </a:solidFill>
              <a:latin typeface="Calibri"/>
              <a:ea typeface="Calibri"/>
              <a:cs typeface="Calibri"/>
              <a:sym typeface="Calibri"/>
            </a:endParaRPr>
          </a:p>
          <a:p>
            <a:pPr marL="228600" lvl="0" indent="-133350" algn="l" rtl="0">
              <a:spcBef>
                <a:spcPts val="0"/>
              </a:spcBef>
              <a:spcAft>
                <a:spcPts val="0"/>
              </a:spcAft>
              <a:buSzPts val="1200"/>
              <a:buFont typeface="Calibri"/>
              <a:buChar char="●"/>
            </a:pPr>
            <a:r>
              <a:rPr lang="en" sz="1200">
                <a:latin typeface="Calibri"/>
                <a:ea typeface="Calibri"/>
                <a:cs typeface="Calibri"/>
                <a:sym typeface="Calibri"/>
              </a:rPr>
              <a:t>So far in 2025, 208,643 people laid off (605 per day)</a:t>
            </a:r>
            <a:endParaRPr sz="1200">
              <a:latin typeface="Calibri"/>
              <a:ea typeface="Calibri"/>
              <a:cs typeface="Calibri"/>
              <a:sym typeface="Calibri"/>
            </a:endParaRPr>
          </a:p>
          <a:p>
            <a:pPr marL="228600" lvl="0" indent="-133350" algn="l" rtl="0">
              <a:spcBef>
                <a:spcPts val="0"/>
              </a:spcBef>
              <a:spcAft>
                <a:spcPts val="0"/>
              </a:spcAft>
              <a:buSzPts val="1200"/>
              <a:buFont typeface="Calibri"/>
              <a:buChar char="●"/>
            </a:pPr>
            <a:r>
              <a:rPr lang="en" sz="1200">
                <a:latin typeface="Calibri"/>
                <a:ea typeface="Calibri"/>
                <a:cs typeface="Calibri"/>
                <a:sym typeface="Calibri"/>
              </a:rPr>
              <a:t>In 2024, 238,461 people </a:t>
            </a:r>
            <a:r>
              <a:rPr lang="en" sz="1200">
                <a:solidFill>
                  <a:schemeClr val="dk1"/>
                </a:solidFill>
                <a:latin typeface="Calibri"/>
                <a:ea typeface="Calibri"/>
                <a:cs typeface="Calibri"/>
                <a:sym typeface="Calibri"/>
              </a:rPr>
              <a:t>laid off</a:t>
            </a:r>
            <a:r>
              <a:rPr lang="en" sz="1200">
                <a:latin typeface="Calibri"/>
                <a:ea typeface="Calibri"/>
                <a:cs typeface="Calibri"/>
                <a:sym typeface="Calibri"/>
              </a:rPr>
              <a:t> (653 per day)</a:t>
            </a:r>
            <a:endParaRPr sz="1200">
              <a:latin typeface="Calibri"/>
              <a:ea typeface="Calibri"/>
              <a:cs typeface="Calibri"/>
              <a:sym typeface="Calibri"/>
            </a:endParaRPr>
          </a:p>
          <a:p>
            <a:pPr marL="228600" marR="460857" lvl="0" indent="-57150" algn="r" rtl="0">
              <a:spcBef>
                <a:spcPts val="0"/>
              </a:spcBef>
              <a:spcAft>
                <a:spcPts val="0"/>
              </a:spcAft>
              <a:buNone/>
            </a:pPr>
            <a:r>
              <a:rPr lang="en" sz="1200" u="sng">
                <a:solidFill>
                  <a:schemeClr val="hlink"/>
                </a:solidFill>
                <a:latin typeface="Calibri"/>
                <a:ea typeface="Calibri"/>
                <a:cs typeface="Calibri"/>
                <a:sym typeface="Calibri"/>
                <a:hlinkClick r:id="rId4"/>
              </a:rPr>
              <a:t>https://trueup.io/layoffs</a:t>
            </a:r>
            <a:endParaRPr sz="1200">
              <a:latin typeface="Calibri"/>
              <a:ea typeface="Calibri"/>
              <a:cs typeface="Calibri"/>
              <a:sym typeface="Calibri"/>
            </a:endParaRPr>
          </a:p>
        </p:txBody>
      </p:sp>
      <p:pic>
        <p:nvPicPr>
          <p:cNvPr id="367" name="Google Shape;367;p41"/>
          <p:cNvPicPr preferRelativeResize="0"/>
          <p:nvPr/>
        </p:nvPicPr>
        <p:blipFill>
          <a:blip r:embed="rId5" cstate="email">
            <a:alphaModFix/>
            <a:extLst>
              <a:ext uri="{28A0092B-C50C-407E-A947-70E740481C1C}">
                <a14:useLocalDpi xmlns:a14="http://schemas.microsoft.com/office/drawing/2010/main"/>
              </a:ext>
            </a:extLst>
          </a:blip>
          <a:stretch>
            <a:fillRect/>
          </a:stretch>
        </p:blipFill>
        <p:spPr>
          <a:xfrm>
            <a:off x="67350" y="507700"/>
            <a:ext cx="5030174" cy="1893312"/>
          </a:xfrm>
          <a:prstGeom prst="rect">
            <a:avLst/>
          </a:prstGeom>
          <a:noFill/>
          <a:ln w="9525" cap="flat" cmpd="sng">
            <a:solidFill>
              <a:srgbClr val="FF0000"/>
            </a:solidFill>
            <a:prstDash val="solid"/>
            <a:round/>
            <a:headEnd type="none" w="sm" len="sm"/>
            <a:tailEnd type="none" w="sm" len="sm"/>
          </a:ln>
        </p:spPr>
      </p:pic>
      <p:pic>
        <p:nvPicPr>
          <p:cNvPr id="368" name="Google Shape;368;p41"/>
          <p:cNvPicPr preferRelativeResize="0"/>
          <p:nvPr/>
        </p:nvPicPr>
        <p:blipFill>
          <a:blip r:embed="rId6" cstate="email">
            <a:alphaModFix/>
            <a:extLst>
              <a:ext uri="{28A0092B-C50C-407E-A947-70E740481C1C}">
                <a14:useLocalDpi xmlns:a14="http://schemas.microsoft.com/office/drawing/2010/main"/>
              </a:ext>
            </a:extLst>
          </a:blip>
          <a:stretch>
            <a:fillRect/>
          </a:stretch>
        </p:blipFill>
        <p:spPr>
          <a:xfrm>
            <a:off x="67350" y="2444679"/>
            <a:ext cx="5030173" cy="2546420"/>
          </a:xfrm>
          <a:prstGeom prst="rect">
            <a:avLst/>
          </a:prstGeom>
          <a:noFill/>
          <a:ln w="9525" cap="flat" cmpd="sng">
            <a:solidFill>
              <a:srgbClr val="FF0000"/>
            </a:solidFill>
            <a:prstDash val="solid"/>
            <a:round/>
            <a:headEnd type="none" w="sm" len="sm"/>
            <a:tailEnd type="none" w="sm" len="sm"/>
          </a:ln>
        </p:spPr>
      </p:pic>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372"/>
        <p:cNvGrpSpPr/>
        <p:nvPr/>
      </p:nvGrpSpPr>
      <p:grpSpPr>
        <a:xfrm>
          <a:off x="0" y="0"/>
          <a:ext cx="0" cy="0"/>
          <a:chOff x="0" y="0"/>
          <a:chExt cx="0" cy="0"/>
        </a:xfrm>
      </p:grpSpPr>
      <p:pic>
        <p:nvPicPr>
          <p:cNvPr id="373" name="Google Shape;373;p42"/>
          <p:cNvPicPr preferRelativeResize="0"/>
          <p:nvPr/>
        </p:nvPicPr>
        <p:blipFill rotWithShape="1">
          <a:blip r:embed="rId3" cstate="email">
            <a:alphaModFix/>
            <a:extLst>
              <a:ext uri="{28A0092B-C50C-407E-A947-70E740481C1C}">
                <a14:useLocalDpi xmlns:a14="http://schemas.microsoft.com/office/drawing/2010/main"/>
              </a:ext>
            </a:extLst>
          </a:blip>
          <a:srcRect/>
          <a:stretch/>
        </p:blipFill>
        <p:spPr>
          <a:xfrm>
            <a:off x="645525" y="1203525"/>
            <a:ext cx="1570556" cy="1570556"/>
          </a:xfrm>
          <a:prstGeom prst="rect">
            <a:avLst/>
          </a:prstGeom>
          <a:noFill/>
          <a:ln>
            <a:noFill/>
          </a:ln>
        </p:spPr>
      </p:pic>
      <p:sp>
        <p:nvSpPr>
          <p:cNvPr id="374" name="Google Shape;374;p42"/>
          <p:cNvSpPr txBox="1"/>
          <p:nvPr/>
        </p:nvSpPr>
        <p:spPr>
          <a:xfrm>
            <a:off x="-25625" y="-14775"/>
            <a:ext cx="3355800" cy="5694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2500"/>
              <a:buFont typeface="Arial"/>
              <a:buNone/>
            </a:pPr>
            <a:r>
              <a:rPr lang="en" sz="2500" b="1" i="0" u="none" strike="noStrike" cap="none">
                <a:solidFill>
                  <a:srgbClr val="000000"/>
                </a:solidFill>
                <a:latin typeface="Calibri"/>
                <a:ea typeface="Calibri"/>
                <a:cs typeface="Calibri"/>
                <a:sym typeface="Calibri"/>
              </a:rPr>
              <a:t>About the Speaker</a:t>
            </a:r>
            <a:endParaRPr sz="2500" b="1" i="0" u="none" strike="noStrike" cap="none">
              <a:solidFill>
                <a:srgbClr val="000000"/>
              </a:solidFill>
              <a:latin typeface="Calibri"/>
              <a:ea typeface="Calibri"/>
              <a:cs typeface="Calibri"/>
              <a:sym typeface="Calibri"/>
            </a:endParaRPr>
          </a:p>
        </p:txBody>
      </p:sp>
      <p:sp>
        <p:nvSpPr>
          <p:cNvPr id="375" name="Google Shape;375;p42"/>
          <p:cNvSpPr txBox="1"/>
          <p:nvPr/>
        </p:nvSpPr>
        <p:spPr>
          <a:xfrm>
            <a:off x="3330175" y="878750"/>
            <a:ext cx="5621700" cy="33093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chemeClr val="dk1"/>
              </a:buClr>
              <a:buSzPts val="1100"/>
              <a:buFont typeface="Arial"/>
              <a:buNone/>
            </a:pPr>
            <a:r>
              <a:rPr lang="en" sz="2500" b="1" i="0" u="none" strike="noStrike" cap="none">
                <a:solidFill>
                  <a:srgbClr val="000000"/>
                </a:solidFill>
                <a:latin typeface="Calibri"/>
                <a:ea typeface="Calibri"/>
                <a:cs typeface="Calibri"/>
                <a:sym typeface="Calibri"/>
              </a:rPr>
              <a:t>Lev Selector, Ph.D.</a:t>
            </a:r>
            <a:endParaRPr sz="2500" b="1" i="0" u="none" strike="noStrike" cap="none">
              <a:solidFill>
                <a:srgbClr val="000000"/>
              </a:solidFill>
              <a:latin typeface="Calibri"/>
              <a:ea typeface="Calibri"/>
              <a:cs typeface="Calibri"/>
              <a:sym typeface="Calibri"/>
            </a:endParaRPr>
          </a:p>
          <a:p>
            <a:pPr marL="0" marR="0" lvl="0" indent="0" algn="l" rtl="0">
              <a:lnSpc>
                <a:spcPct val="100000"/>
              </a:lnSpc>
              <a:spcBef>
                <a:spcPts val="0"/>
              </a:spcBef>
              <a:spcAft>
                <a:spcPts val="0"/>
              </a:spcAft>
              <a:buClr>
                <a:schemeClr val="dk1"/>
              </a:buClr>
              <a:buSzPts val="1100"/>
              <a:buFont typeface="Arial"/>
              <a:buNone/>
            </a:pPr>
            <a:endParaRPr sz="1800" b="0" i="0" u="none" strike="noStrike" cap="none">
              <a:solidFill>
                <a:srgbClr val="000000"/>
              </a:solidFill>
              <a:latin typeface="Calibri"/>
              <a:ea typeface="Calibri"/>
              <a:cs typeface="Calibri"/>
              <a:sym typeface="Calibri"/>
            </a:endParaRPr>
          </a:p>
          <a:p>
            <a:pPr marL="457200" marR="0" lvl="0" indent="-330200" algn="l" rtl="0">
              <a:lnSpc>
                <a:spcPct val="100000"/>
              </a:lnSpc>
              <a:spcBef>
                <a:spcPts val="0"/>
              </a:spcBef>
              <a:spcAft>
                <a:spcPts val="0"/>
              </a:spcAft>
              <a:buClr>
                <a:srgbClr val="000000"/>
              </a:buClr>
              <a:buSzPts val="1600"/>
              <a:buFont typeface="Calibri"/>
              <a:buChar char="●"/>
            </a:pPr>
            <a:r>
              <a:rPr lang="en" sz="1600" b="0" i="0" u="none" strike="noStrike" cap="none">
                <a:solidFill>
                  <a:schemeClr val="dk1"/>
                </a:solidFill>
                <a:latin typeface="Calibri"/>
                <a:ea typeface="Calibri"/>
                <a:cs typeface="Calibri"/>
                <a:sym typeface="Calibri"/>
              </a:rPr>
              <a:t>40+ years of software engineering, data science, and building teams (hiring, training, and managing)</a:t>
            </a:r>
            <a:endParaRPr sz="1600" b="0" i="0" u="none" strike="noStrike" cap="none">
              <a:solidFill>
                <a:schemeClr val="dk1"/>
              </a:solidFill>
              <a:latin typeface="Calibri"/>
              <a:ea typeface="Calibri"/>
              <a:cs typeface="Calibri"/>
              <a:sym typeface="Calibri"/>
            </a:endParaRPr>
          </a:p>
          <a:p>
            <a:pPr marL="457200" marR="0" lvl="0" indent="-330200" algn="l" rtl="0">
              <a:lnSpc>
                <a:spcPct val="100000"/>
              </a:lnSpc>
              <a:spcBef>
                <a:spcPts val="0"/>
              </a:spcBef>
              <a:spcAft>
                <a:spcPts val="0"/>
              </a:spcAft>
              <a:buClr>
                <a:srgbClr val="000000"/>
              </a:buClr>
              <a:buSzPts val="1600"/>
              <a:buFont typeface="Calibri"/>
              <a:buChar char="●"/>
            </a:pPr>
            <a:r>
              <a:rPr lang="en" sz="1600" b="0" i="0" u="none" strike="noStrike" cap="none">
                <a:solidFill>
                  <a:schemeClr val="dk1"/>
                </a:solidFill>
                <a:latin typeface="Calibri"/>
                <a:ea typeface="Calibri"/>
                <a:cs typeface="Calibri"/>
                <a:sym typeface="Calibri"/>
              </a:rPr>
              <a:t>Ph.D. in mathematical modeling and computer simulations</a:t>
            </a:r>
            <a:endParaRPr sz="1600" b="0" i="0" u="none" strike="noStrike" cap="none">
              <a:solidFill>
                <a:srgbClr val="000000"/>
              </a:solidFill>
              <a:latin typeface="Calibri"/>
              <a:ea typeface="Calibri"/>
              <a:cs typeface="Calibri"/>
              <a:sym typeface="Calibri"/>
            </a:endParaRPr>
          </a:p>
          <a:p>
            <a:pPr marL="0" marR="0" lvl="0" indent="0" algn="l" rtl="0">
              <a:lnSpc>
                <a:spcPct val="100000"/>
              </a:lnSpc>
              <a:spcBef>
                <a:spcPts val="0"/>
              </a:spcBef>
              <a:spcAft>
                <a:spcPts val="0"/>
              </a:spcAft>
              <a:buClr>
                <a:schemeClr val="dk1"/>
              </a:buClr>
              <a:buSzPts val="1100"/>
              <a:buFont typeface="Arial"/>
              <a:buNone/>
            </a:pPr>
            <a:endParaRPr sz="1600" b="0" i="0" u="none" strike="noStrike" cap="none">
              <a:solidFill>
                <a:srgbClr val="000000"/>
              </a:solidFill>
              <a:latin typeface="Calibri"/>
              <a:ea typeface="Calibri"/>
              <a:cs typeface="Calibri"/>
              <a:sym typeface="Calibri"/>
            </a:endParaRPr>
          </a:p>
          <a:p>
            <a:pPr marL="0" marR="0" lvl="0" indent="0" algn="l" rtl="0">
              <a:lnSpc>
                <a:spcPct val="100000"/>
              </a:lnSpc>
              <a:spcBef>
                <a:spcPts val="0"/>
              </a:spcBef>
              <a:spcAft>
                <a:spcPts val="0"/>
              </a:spcAft>
              <a:buClr>
                <a:srgbClr val="000000"/>
              </a:buClr>
              <a:buSzPts val="1600"/>
              <a:buFont typeface="Arial"/>
              <a:buNone/>
            </a:pPr>
            <a:r>
              <a:rPr lang="en" sz="1600" b="0" i="0" u="none" strike="noStrike" cap="none">
                <a:solidFill>
                  <a:srgbClr val="000000"/>
                </a:solidFill>
                <a:latin typeface="Calibri"/>
                <a:ea typeface="Calibri"/>
                <a:cs typeface="Calibri"/>
                <a:sym typeface="Calibri"/>
              </a:rPr>
              <a:t>Interests: </a:t>
            </a:r>
            <a:endParaRPr sz="1600" b="0" i="0" u="none" strike="noStrike" cap="none">
              <a:solidFill>
                <a:srgbClr val="000000"/>
              </a:solidFill>
              <a:latin typeface="Calibri"/>
              <a:ea typeface="Calibri"/>
              <a:cs typeface="Calibri"/>
              <a:sym typeface="Calibri"/>
            </a:endParaRPr>
          </a:p>
          <a:p>
            <a:pPr marL="457200" marR="0" lvl="0" indent="-330200" algn="l" rtl="0">
              <a:lnSpc>
                <a:spcPct val="100000"/>
              </a:lnSpc>
              <a:spcBef>
                <a:spcPts val="0"/>
              </a:spcBef>
              <a:spcAft>
                <a:spcPts val="0"/>
              </a:spcAft>
              <a:buClr>
                <a:srgbClr val="000000"/>
              </a:buClr>
              <a:buSzPts val="1600"/>
              <a:buFont typeface="Calibri"/>
              <a:buChar char="●"/>
            </a:pPr>
            <a:r>
              <a:rPr lang="en" sz="1600" b="0" i="0" u="none" strike="noStrike" cap="none">
                <a:solidFill>
                  <a:schemeClr val="dk1"/>
                </a:solidFill>
                <a:latin typeface="Calibri"/>
                <a:ea typeface="Calibri"/>
                <a:cs typeface="Calibri"/>
                <a:sym typeface="Calibri"/>
              </a:rPr>
              <a:t>Generative AI, Using LLM with your data</a:t>
            </a:r>
            <a:endParaRPr sz="1600" b="0" i="0" u="none" strike="noStrike" cap="none">
              <a:solidFill>
                <a:schemeClr val="dk1"/>
              </a:solidFill>
              <a:latin typeface="Calibri"/>
              <a:ea typeface="Calibri"/>
              <a:cs typeface="Calibri"/>
              <a:sym typeface="Calibri"/>
            </a:endParaRPr>
          </a:p>
          <a:p>
            <a:pPr marL="457200" marR="0" lvl="0" indent="-330200" algn="l" rtl="0">
              <a:lnSpc>
                <a:spcPct val="100000"/>
              </a:lnSpc>
              <a:spcBef>
                <a:spcPts val="0"/>
              </a:spcBef>
              <a:spcAft>
                <a:spcPts val="0"/>
              </a:spcAft>
              <a:buClr>
                <a:schemeClr val="dk1"/>
              </a:buClr>
              <a:buSzPts val="1600"/>
              <a:buFont typeface="Calibri"/>
              <a:buChar char="●"/>
            </a:pPr>
            <a:r>
              <a:rPr lang="en" sz="1600" b="0" i="0" u="none" strike="noStrike" cap="none">
                <a:solidFill>
                  <a:schemeClr val="dk1"/>
                </a:solidFill>
                <a:latin typeface="Calibri"/>
                <a:ea typeface="Calibri"/>
                <a:cs typeface="Calibri"/>
                <a:sym typeface="Calibri"/>
              </a:rPr>
              <a:t>Local AI for Local Private Data</a:t>
            </a:r>
            <a:endParaRPr sz="1600" b="0" i="0" u="none" strike="noStrike" cap="none">
              <a:solidFill>
                <a:schemeClr val="dk1"/>
              </a:solidFill>
              <a:latin typeface="Calibri"/>
              <a:ea typeface="Calibri"/>
              <a:cs typeface="Calibri"/>
              <a:sym typeface="Calibri"/>
            </a:endParaRPr>
          </a:p>
          <a:p>
            <a:pPr marL="457200" marR="0" lvl="0" indent="-330200" algn="l" rtl="0">
              <a:lnSpc>
                <a:spcPct val="100000"/>
              </a:lnSpc>
              <a:spcBef>
                <a:spcPts val="0"/>
              </a:spcBef>
              <a:spcAft>
                <a:spcPts val="0"/>
              </a:spcAft>
              <a:buClr>
                <a:srgbClr val="000000"/>
              </a:buClr>
              <a:buSzPts val="1600"/>
              <a:buFont typeface="Calibri"/>
              <a:buChar char="●"/>
            </a:pPr>
            <a:r>
              <a:rPr lang="en" sz="1600" b="0" i="0" u="none" strike="noStrike" cap="none">
                <a:solidFill>
                  <a:srgbClr val="000000"/>
                </a:solidFill>
                <a:latin typeface="Calibri"/>
                <a:ea typeface="Calibri"/>
                <a:cs typeface="Calibri"/>
                <a:sym typeface="Calibri"/>
              </a:rPr>
              <a:t>Cloud architecture, fin-tech, application security</a:t>
            </a:r>
            <a:endParaRPr sz="1600" b="0" i="0" u="none" strike="noStrike" cap="none">
              <a:solidFill>
                <a:srgbClr val="000000"/>
              </a:solidFill>
              <a:latin typeface="Calibri"/>
              <a:ea typeface="Calibri"/>
              <a:cs typeface="Calibri"/>
              <a:sym typeface="Calibri"/>
            </a:endParaRPr>
          </a:p>
          <a:p>
            <a:pPr marL="0" marR="0" lvl="0" indent="0" algn="l" rtl="0">
              <a:lnSpc>
                <a:spcPct val="100000"/>
              </a:lnSpc>
              <a:spcBef>
                <a:spcPts val="0"/>
              </a:spcBef>
              <a:spcAft>
                <a:spcPts val="0"/>
              </a:spcAft>
              <a:buClr>
                <a:srgbClr val="000000"/>
              </a:buClr>
              <a:buSzPts val="1600"/>
              <a:buFont typeface="Arial"/>
              <a:buNone/>
            </a:pPr>
            <a:endParaRPr sz="1600" b="0" i="0" u="none" strike="noStrike" cap="none">
              <a:solidFill>
                <a:srgbClr val="000000"/>
              </a:solidFill>
              <a:latin typeface="Calibri"/>
              <a:ea typeface="Calibri"/>
              <a:cs typeface="Calibri"/>
              <a:sym typeface="Calibri"/>
            </a:endParaRPr>
          </a:p>
          <a:p>
            <a:pPr marL="0" marR="0" lvl="0" indent="0" algn="l" rtl="0">
              <a:lnSpc>
                <a:spcPct val="100000"/>
              </a:lnSpc>
              <a:spcBef>
                <a:spcPts val="0"/>
              </a:spcBef>
              <a:spcAft>
                <a:spcPts val="0"/>
              </a:spcAft>
              <a:buClr>
                <a:srgbClr val="000000"/>
              </a:buClr>
              <a:buSzPts val="1600"/>
              <a:buFont typeface="Arial"/>
              <a:buNone/>
            </a:pPr>
            <a:r>
              <a:rPr lang="en" sz="1600" b="0" i="0" u="none" strike="noStrike" cap="none">
                <a:solidFill>
                  <a:srgbClr val="000000"/>
                </a:solidFill>
                <a:latin typeface="Calibri"/>
                <a:ea typeface="Calibri"/>
                <a:cs typeface="Calibri"/>
                <a:sym typeface="Calibri"/>
              </a:rPr>
              <a:t>Find/connect: Linkedin, GitHub, YouTube, Google</a:t>
            </a:r>
            <a:endParaRPr sz="1600" b="0" i="0" u="none" strike="noStrike" cap="none">
              <a:solidFill>
                <a:srgbClr val="000000"/>
              </a:solidFill>
              <a:latin typeface="Calibri"/>
              <a:ea typeface="Calibri"/>
              <a:cs typeface="Calibri"/>
              <a:sym typeface="Calibri"/>
            </a:endParaRPr>
          </a:p>
        </p:txBody>
      </p:sp>
      <p:pic>
        <p:nvPicPr>
          <p:cNvPr id="376" name="Google Shape;376;p42"/>
          <p:cNvPicPr preferRelativeResize="0"/>
          <p:nvPr/>
        </p:nvPicPr>
        <p:blipFill rotWithShape="1">
          <a:blip r:embed="rId4" cstate="email">
            <a:alphaModFix/>
            <a:extLst>
              <a:ext uri="{28A0092B-C50C-407E-A947-70E740481C1C}">
                <a14:useLocalDpi xmlns:a14="http://schemas.microsoft.com/office/drawing/2010/main"/>
              </a:ext>
            </a:extLst>
          </a:blip>
          <a:srcRect/>
          <a:stretch/>
        </p:blipFill>
        <p:spPr>
          <a:xfrm>
            <a:off x="1001578" y="3664175"/>
            <a:ext cx="858450" cy="311906"/>
          </a:xfrm>
          <a:prstGeom prst="rect">
            <a:avLst/>
          </a:prstGeom>
          <a:noFill/>
          <a:ln>
            <a:noFill/>
          </a:ln>
        </p:spPr>
      </p:pic>
      <p:sp>
        <p:nvSpPr>
          <p:cNvPr id="377" name="Google Shape;377;p42"/>
          <p:cNvSpPr txBox="1"/>
          <p:nvPr/>
        </p:nvSpPr>
        <p:spPr>
          <a:xfrm>
            <a:off x="735103" y="4005903"/>
            <a:ext cx="1391400" cy="4311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1600"/>
              <a:buFont typeface="Arial"/>
              <a:buNone/>
            </a:pPr>
            <a:r>
              <a:rPr lang="en" sz="1600" b="0" i="0" u="sng" strike="noStrike" cap="none">
                <a:solidFill>
                  <a:schemeClr val="hlink"/>
                </a:solidFill>
                <a:latin typeface="Calibri"/>
                <a:ea typeface="Calibri"/>
                <a:cs typeface="Calibri"/>
                <a:sym typeface="Calibri"/>
                <a:hlinkClick r:id="rId5"/>
              </a:rPr>
              <a:t>https://eais.ai</a:t>
            </a:r>
            <a:r>
              <a:rPr lang="en" sz="1600" b="0" i="0" u="none" strike="noStrike" cap="none">
                <a:solidFill>
                  <a:srgbClr val="000000"/>
                </a:solidFill>
                <a:latin typeface="Calibri"/>
                <a:ea typeface="Calibri"/>
                <a:cs typeface="Calibri"/>
                <a:sym typeface="Calibri"/>
              </a:rPr>
              <a:t> </a:t>
            </a:r>
            <a:endParaRPr sz="1600" b="0" i="0" u="none" strike="noStrike" cap="none">
              <a:solidFill>
                <a:srgbClr val="000000"/>
              </a:solidFill>
              <a:latin typeface="Calibri"/>
              <a:ea typeface="Calibri"/>
              <a:cs typeface="Calibri"/>
              <a:sym typeface="Calibri"/>
            </a:endParaRPr>
          </a:p>
        </p:txBody>
      </p:sp>
      <p:sp>
        <p:nvSpPr>
          <p:cNvPr id="378" name="Google Shape;378;p42"/>
          <p:cNvSpPr txBox="1"/>
          <p:nvPr/>
        </p:nvSpPr>
        <p:spPr>
          <a:xfrm>
            <a:off x="383803" y="4360974"/>
            <a:ext cx="2094000" cy="431100"/>
          </a:xfrm>
          <a:prstGeom prst="rect">
            <a:avLst/>
          </a:prstGeom>
          <a:noFill/>
          <a:ln>
            <a:noFill/>
          </a:ln>
        </p:spPr>
        <p:txBody>
          <a:bodyPr spcFirstLastPara="1" wrap="square" lIns="91425" tIns="91425" rIns="91425" bIns="91425" anchor="t" anchorCtr="0">
            <a:spAutoFit/>
          </a:bodyPr>
          <a:lstStyle/>
          <a:p>
            <a:pPr marL="0" marR="0" lvl="0" indent="0" algn="ctr" rtl="0">
              <a:lnSpc>
                <a:spcPct val="100000"/>
              </a:lnSpc>
              <a:spcBef>
                <a:spcPts val="0"/>
              </a:spcBef>
              <a:spcAft>
                <a:spcPts val="0"/>
              </a:spcAft>
              <a:buClr>
                <a:schemeClr val="dk1"/>
              </a:buClr>
              <a:buSzPts val="1100"/>
              <a:buFont typeface="Arial"/>
              <a:buNone/>
            </a:pPr>
            <a:r>
              <a:rPr lang="en" sz="1600" b="0" i="0" u="none" strike="noStrike" cap="none">
                <a:solidFill>
                  <a:srgbClr val="000000"/>
                </a:solidFill>
                <a:latin typeface="Calibri"/>
                <a:ea typeface="Calibri"/>
                <a:cs typeface="Calibri"/>
                <a:sym typeface="Calibri"/>
              </a:rPr>
              <a:t>Enterprise AI Systems</a:t>
            </a:r>
            <a:endParaRPr sz="1600" b="0" i="0" u="none" strike="noStrike" cap="none">
              <a:solidFill>
                <a:srgbClr val="000000"/>
              </a:solidFill>
              <a:latin typeface="Calibri"/>
              <a:ea typeface="Calibri"/>
              <a:cs typeface="Calibri"/>
              <a:sym typeface="Calibri"/>
            </a:endParaRP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382"/>
        <p:cNvGrpSpPr/>
        <p:nvPr/>
      </p:nvGrpSpPr>
      <p:grpSpPr>
        <a:xfrm>
          <a:off x="0" y="0"/>
          <a:ext cx="0" cy="0"/>
          <a:chOff x="0" y="0"/>
          <a:chExt cx="0" cy="0"/>
        </a:xfrm>
      </p:grpSpPr>
      <p:sp>
        <p:nvSpPr>
          <p:cNvPr id="383" name="Google Shape;383;p43"/>
          <p:cNvSpPr txBox="1"/>
          <p:nvPr/>
        </p:nvSpPr>
        <p:spPr>
          <a:xfrm>
            <a:off x="2151375" y="1533150"/>
            <a:ext cx="4632600" cy="1262100"/>
          </a:xfrm>
          <a:prstGeom prst="rect">
            <a:avLst/>
          </a:prstGeom>
          <a:noFill/>
          <a:ln>
            <a:noFill/>
          </a:ln>
        </p:spPr>
        <p:txBody>
          <a:bodyPr spcFirstLastPara="1" wrap="square" lIns="91425" tIns="91425" rIns="91425" bIns="91425" anchor="t" anchorCtr="0">
            <a:spAutoFit/>
          </a:bodyPr>
          <a:lstStyle/>
          <a:p>
            <a:pPr marL="0" marR="0" lvl="0" indent="0" algn="ctr" rtl="0">
              <a:lnSpc>
                <a:spcPct val="100000"/>
              </a:lnSpc>
              <a:spcBef>
                <a:spcPts val="0"/>
              </a:spcBef>
              <a:spcAft>
                <a:spcPts val="0"/>
              </a:spcAft>
              <a:buClr>
                <a:srgbClr val="000000"/>
              </a:buClr>
              <a:buSzPts val="7000"/>
              <a:buFont typeface="Arial"/>
              <a:buNone/>
            </a:pPr>
            <a:r>
              <a:rPr lang="en" sz="7000" b="1" i="0" u="none" strike="noStrike" cap="none">
                <a:solidFill>
                  <a:srgbClr val="3C78D8"/>
                </a:solidFill>
                <a:latin typeface="Calibri"/>
                <a:ea typeface="Calibri"/>
                <a:cs typeface="Calibri"/>
                <a:sym typeface="Calibri"/>
              </a:rPr>
              <a:t>Thank You!</a:t>
            </a:r>
            <a:endParaRPr sz="7000" b="1" i="0" u="none" strike="noStrike" cap="none">
              <a:solidFill>
                <a:srgbClr val="3C78D8"/>
              </a:solidFill>
              <a:latin typeface="Calibri"/>
              <a:ea typeface="Calibri"/>
              <a:cs typeface="Calibri"/>
              <a:sym typeface="Calibri"/>
            </a:endParaRPr>
          </a:p>
        </p:txBody>
      </p:sp>
    </p:spTree>
  </p:cSld>
  <p:clrMapOvr>
    <a:masterClrMapping/>
  </p:clrMapOvr>
</p:sld>
</file>

<file path=ppt/theme/theme1.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6158</Words>
  <Application>Microsoft Macintosh PowerPoint</Application>
  <PresentationFormat>On-screen Show (16:9)</PresentationFormat>
  <Paragraphs>554</Paragraphs>
  <Slides>29</Slides>
  <Notes>29</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29</vt:i4>
      </vt:variant>
    </vt:vector>
  </HeadingPairs>
  <TitlesOfParts>
    <vt:vector size="33" baseType="lpstr">
      <vt:lpstr>Arial</vt:lpstr>
      <vt:lpstr>Calibri</vt:lpstr>
      <vt:lpstr>Roboto Mono</vt:lpstr>
      <vt:lpstr>Simple Light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Lev Selector</cp:lastModifiedBy>
  <cp:revision>1</cp:revision>
  <dcterms:modified xsi:type="dcterms:W3CDTF">2025-12-12T20:54:43Z</dcterms:modified>
</cp:coreProperties>
</file>