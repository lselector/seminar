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embeddedFontLst>
    <p:embeddedFont>
      <p:font typeface="Roboto Mono" pitchFamily="49"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0075E80-A169-42E4-8E9F-9A7D3A521B75}">
  <a:tblStyle styleId="{F0075E80-A169-42E4-8E9F-9A7D3A521B75}"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07" d="100"/>
          <a:sy n="107" d="100"/>
        </p:scale>
        <p:origin x="1056" y="4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3626ea12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3626ea124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b2ead8891e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b2ead8891e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b36cfba078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0" name="Google Shape;160;g3b36cfba078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b20bcec09b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b20bcec09b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3b367176662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1" name="Google Shape;181;g3b367176662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3b367176662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8" name="Google Shape;188;g3b367176662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
        <p:cNvGrpSpPr/>
        <p:nvPr/>
      </p:nvGrpSpPr>
      <p:grpSpPr>
        <a:xfrm>
          <a:off x="0" y="0"/>
          <a:ext cx="0" cy="0"/>
          <a:chOff x="0" y="0"/>
          <a:chExt cx="0" cy="0"/>
        </a:xfrm>
      </p:grpSpPr>
      <p:sp>
        <p:nvSpPr>
          <p:cNvPr id="194" name="Google Shape;194;g3b36cfba078_1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5" name="Google Shape;195;g3b36cfba078_1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3b36cfba078_1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4" name="Google Shape;204;g3b36cfba078_1_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b2ead8891e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2" name="Google Shape;212;g3b2ead8891e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3b322b5571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8" name="Google Shape;218;g3b322b55714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3b2ead8891e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4" name="Google Shape;224;g3b2ead8891e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b2eeb2cec6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b2eeb2cec6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
        <p:cNvGrpSpPr/>
        <p:nvPr/>
      </p:nvGrpSpPr>
      <p:grpSpPr>
        <a:xfrm>
          <a:off x="0" y="0"/>
          <a:ext cx="0" cy="0"/>
          <a:chOff x="0" y="0"/>
          <a:chExt cx="0" cy="0"/>
        </a:xfrm>
      </p:grpSpPr>
      <p:sp>
        <p:nvSpPr>
          <p:cNvPr id="243" name="Google Shape;243;g3b2eeb2cec6_0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4" name="Google Shape;244;g3b2eeb2cec6_0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3b2ead8891e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2" name="Google Shape;252;g3b2ead8891e_0_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b2f02863d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b2f02863d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3b3626ea124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7" name="Google Shape;267;g3b3626ea124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2"/>
        <p:cNvGrpSpPr/>
        <p:nvPr/>
      </p:nvGrpSpPr>
      <p:grpSpPr>
        <a:xfrm>
          <a:off x="0" y="0"/>
          <a:ext cx="0" cy="0"/>
          <a:chOff x="0" y="0"/>
          <a:chExt cx="0" cy="0"/>
        </a:xfrm>
      </p:grpSpPr>
      <p:sp>
        <p:nvSpPr>
          <p:cNvPr id="273" name="Google Shape;273;g3b3626ea124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4" name="Google Shape;274;g3b3626ea124_0_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b2eeb2cec6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g3b2eeb2cec6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3b369b37d9f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8" name="Google Shape;288;g3b369b37d9f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3"/>
        <p:cNvGrpSpPr/>
        <p:nvPr/>
      </p:nvGrpSpPr>
      <p:grpSpPr>
        <a:xfrm>
          <a:off x="0" y="0"/>
          <a:ext cx="0" cy="0"/>
          <a:chOff x="0" y="0"/>
          <a:chExt cx="0" cy="0"/>
        </a:xfrm>
      </p:grpSpPr>
      <p:sp>
        <p:nvSpPr>
          <p:cNvPr id="294" name="Google Shape;294;g3b369b37d9f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5" name="Google Shape;295;g3b369b37d9f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b369b37d9f_1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g3b369b37d9f_1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3b2f723cd6d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7" name="Google Shape;307;g3b2f723cd6d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3b2f723cd6d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g3b2f723cd6d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3b2f8fdd1e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9" name="Google Shape;319;g3b2f8fdd1e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3"/>
        <p:cNvGrpSpPr/>
        <p:nvPr/>
      </p:nvGrpSpPr>
      <p:grpSpPr>
        <a:xfrm>
          <a:off x="0" y="0"/>
          <a:ext cx="0" cy="0"/>
          <a:chOff x="0" y="0"/>
          <a:chExt cx="0" cy="0"/>
        </a:xfrm>
      </p:grpSpPr>
      <p:sp>
        <p:nvSpPr>
          <p:cNvPr id="324" name="Google Shape;324;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5" name="Google Shape;325;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3"/>
        <p:cNvGrpSpPr/>
        <p:nvPr/>
      </p:nvGrpSpPr>
      <p:grpSpPr>
        <a:xfrm>
          <a:off x="0" y="0"/>
          <a:ext cx="0" cy="0"/>
          <a:chOff x="0" y="0"/>
          <a:chExt cx="0" cy="0"/>
        </a:xfrm>
      </p:grpSpPr>
      <p:sp>
        <p:nvSpPr>
          <p:cNvPr id="334" name="Google Shape;334;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5" name="Google Shape;335;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5" name="Google Shape;345;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blog.google/products/gemini/gemini-3-flash" TargetMode="External"/><Relationship Id="rId26" Type="http://schemas.openxmlformats.org/officeDocument/2006/relationships/hyperlink" Target="https://openai.com/index/introducing-gpt-5-2" TargetMode="External"/><Relationship Id="rId39" Type="http://schemas.openxmlformats.org/officeDocument/2006/relationships/hyperlink" Target="https://api-docs.deepseek.com/news/news250929" TargetMode="External"/><Relationship Id="rId21" Type="http://schemas.openxmlformats.org/officeDocument/2006/relationships/hyperlink" Target="https://openai.com/index/gpt-5-1/" TargetMode="External"/><Relationship Id="rId34" Type="http://schemas.openxmlformats.org/officeDocument/2006/relationships/hyperlink" Target="https://huggingface.co/moonshotai/Kimi-K2-Thinking" TargetMode="External"/><Relationship Id="rId7" Type="http://schemas.openxmlformats.org/officeDocument/2006/relationships/hyperlink" Target="https://openlm.ai/chatbot-arena/"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5" TargetMode="External"/><Relationship Id="rId29" Type="http://schemas.openxmlformats.org/officeDocument/2006/relationships/hyperlink" Target="https://platform.openai.com/docs/models/gpt-5" TargetMode="External"/><Relationship Id="rId41" Type="http://schemas.openxmlformats.org/officeDocument/2006/relationships/hyperlink" Target="https://huggingface.co/Qwen/Qwen3-235B-A22B-Instruct-2507"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nthropic.com/news/claude-opus-4-1" TargetMode="External"/><Relationship Id="rId32" Type="http://schemas.openxmlformats.org/officeDocument/2006/relationships/hyperlink" Target="https://x.ai/news/grok-4-1-fast" TargetMode="External"/><Relationship Id="rId37" Type="http://schemas.openxmlformats.org/officeDocument/2006/relationships/hyperlink" Target="https://www.anthropic.com/news/claude-haiku-4-5" TargetMode="External"/><Relationship Id="rId40" Type="http://schemas.openxmlformats.org/officeDocument/2006/relationships/hyperlink" Target="https://mistral.ai/news/mistral-3"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sonnet-4-5" TargetMode="External"/><Relationship Id="rId28" Type="http://schemas.openxmlformats.org/officeDocument/2006/relationships/hyperlink" Target="https://x.com/OpenAI/status/1905331956856050135" TargetMode="External"/><Relationship Id="rId36" Type="http://schemas.openxmlformats.org/officeDocument/2006/relationships/hyperlink" Target="https://qwen.ai/blog?id=241398b9cd6353de490b0f82806c7848c5d2777d&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x.ai/news/grok-4-1" TargetMode="External"/><Relationship Id="rId31" Type="http://schemas.openxmlformats.org/officeDocument/2006/relationships/hyperlink" Target="https://www.alibabacloud.com/help/en/model-studio/models"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aistudio.google.com/app/prompts/new_chat?model=gemini-2.5-pro" TargetMode="External"/><Relationship Id="rId27" Type="http://schemas.openxmlformats.org/officeDocument/2006/relationships/hyperlink" Target="https://openai.com/index/introducing-gpt-4-5/" TargetMode="External"/><Relationship Id="rId30" Type="http://schemas.openxmlformats.org/officeDocument/2006/relationships/hyperlink" Target="https://openai.com/index/introducing-o3-and-o4-mini/" TargetMode="External"/><Relationship Id="rId35" Type="http://schemas.openxmlformats.org/officeDocument/2006/relationships/hyperlink" Target="https://www.anthropic.com/news/claude-4"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aistudio.google.com/app/prompts/new_chat?model=gemini-3-pro-preview" TargetMode="External"/><Relationship Id="rId25" Type="http://schemas.openxmlformats.org/officeDocument/2006/relationships/hyperlink" Target="https://ernie.baidu.com/blog/posts/ernie-5.0-preview-1203-release-on-lmarena/" TargetMode="External"/><Relationship Id="rId33" Type="http://schemas.openxmlformats.org/officeDocument/2006/relationships/hyperlink" Target="https://ernie.baidu.com/blog/posts/ernie-5.0-preview-1103-release-on-lmarena/" TargetMode="External"/><Relationship Id="rId38" Type="http://schemas.openxmlformats.org/officeDocument/2006/relationships/hyperlink" Target="https://huggingface.co/meituan-longcat/LongCat-Flash-Chat"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docs.z.ai/guides/llm/glm-4.7" TargetMode="External"/><Relationship Id="rId7" Type="http://schemas.openxmlformats.org/officeDocument/2006/relationships/hyperlink" Target="https://www.youtube.com/watch?v=zioKpt-E5vk"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huggingface.co/collections/zai-org/glm-47" TargetMode="External"/><Relationship Id="rId5" Type="http://schemas.openxmlformats.org/officeDocument/2006/relationships/hyperlink" Target="https://openrouter.ai/z-ai/glm-4.7" TargetMode="External"/><Relationship Id="rId4" Type="http://schemas.openxmlformats.org/officeDocument/2006/relationships/hyperlink" Target="https://z.ai/blog/glm-4.7"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blog.google/technology/developers/functiongemma"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hyperlink" Target="https://openai.com/index/introducing-gpt-5-2-codex/" TargetMode="External"/><Relationship Id="rId4" Type="http://schemas.openxmlformats.org/officeDocument/2006/relationships/hyperlink" Target="https://www.youtube.com/watch?v=-Tgc_9uYJLI"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alibabacloud.com/en/press-room/alibaba-unveils-wan2-6-series-enabling-everyone"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8" Type="http://schemas.openxmlformats.org/officeDocument/2006/relationships/hyperlink" Target="https://www.ibm.com/think/topics/continual-learning" TargetMode="External"/><Relationship Id="rId3" Type="http://schemas.openxmlformats.org/officeDocument/2006/relationships/hyperlink" Target="https://www.youtube.com/watch?v=mwpxEFpdlYo" TargetMode="External"/><Relationship Id="rId7" Type="http://schemas.openxmlformats.org/officeDocument/2006/relationships/hyperlink" Target="https://www.arxiv.org/pdf/2506.03320"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www.xoriant.com/thought-leadership/article/agentic-ai-and-continuous-learning-creating-ever-evolving-systems" TargetMode="External"/><Relationship Id="rId5" Type="http://schemas.openxmlformats.org/officeDocument/2006/relationships/hyperlink" Target="https://www.letta.com/blog/continual-learning" TargetMode="External"/><Relationship Id="rId4" Type="http://schemas.openxmlformats.org/officeDocument/2006/relationships/hyperlink" Target="https://beam.ai/agentic-insights/what-is-continual-learning-(and-why-it-powers-self-learning-ai-agents)" TargetMode="Externa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hyperlink" Target="https://www.llmwatch.com/p/beyond-attention-comparing-potential" TargetMode="External"/><Relationship Id="rId3" Type="http://schemas.openxmlformats.org/officeDocument/2006/relationships/hyperlink" Target="https://research.google/blog/titans-miras-helping-ai-have-long-term-memory/" TargetMode="External"/><Relationship Id="rId7" Type="http://schemas.openxmlformats.org/officeDocument/2006/relationships/hyperlink" Target="https://www.llmwatch.com/p/google-releases-transformer-20"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hyperlink" Target="https://www.youtube.com/watch?v=x8jFFhCLDJY" TargetMode="External"/><Relationship Id="rId5" Type="http://schemas.openxmlformats.org/officeDocument/2006/relationships/hyperlink" Target="https://www.towardsdeeplearning.com/this-new-google-model-might-finally-fix-broken-ai-brains-74e6b3c985fc" TargetMode="External"/><Relationship Id="rId10" Type="http://schemas.openxmlformats.org/officeDocument/2006/relationships/image" Target="../media/image3.png"/><Relationship Id="rId4" Type="http://schemas.openxmlformats.org/officeDocument/2006/relationships/hyperlink" Target="https://medium.com/data-science-collective/google-introduces-transformer-2-0-with-a-neuroscience-inspired-architecture-cf7f0d8836a4" TargetMode="External"/><Relationship Id="rId9" Type="http://schemas.openxmlformats.org/officeDocument/2006/relationships/hyperlink" Target="https://www.youtube.com/watch?v=UMkCmOTX5Ow" TargetMode="External"/></Relationships>
</file>

<file path=ppt/slides/_rels/slide10.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www.youtube.com/watch?v=rLu_3hpG0b8" TargetMode="External"/><Relationship Id="rId7" Type="http://schemas.openxmlformats.org/officeDocument/2006/relationships/hyperlink" Target="http://plan.md"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pec.md" TargetMode="External"/><Relationship Id="rId5" Type="http://schemas.openxmlformats.org/officeDocument/2006/relationships/hyperlink" Target="http://readme.md" TargetMode="External"/><Relationship Id="rId4" Type="http://schemas.openxmlformats.org/officeDocument/2006/relationships/hyperlink" Target="http://context-map.md"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claude.md"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hyperlink" Target="https://docs.cline.bot/features/multiroot-workspace" TargetMode="External"/><Relationship Id="rId4" Type="http://schemas.openxmlformats.org/officeDocument/2006/relationships/hyperlink" Target="https://docs.cline.bot/features/cline-rules"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futurism.com/future-society/ai-productivity-research"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hyperlink" Target="https://www.anthropic.com/research/bloom"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79a_q0PZMOU"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hyperlink" Target="https://www.youtube.com/watch?v=JZCvx6rEJzc" TargetMode="External"/><Relationship Id="rId4" Type="http://schemas.openxmlformats.org/officeDocument/2006/relationships/hyperlink" Target="https://finance.yahoo.com/news/ex-splunk-execs-startup-resolve-005842891.html"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Ixrpkub47vg"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ARRbBmXK7A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hyperlink" Target="https://www.youtube.com/watch?v=azZtbrpl28s" TargetMode="External"/><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3" Type="http://schemas.openxmlformats.org/officeDocument/2006/relationships/hyperlink" Target="https://www.earth.com/news/meet-x1-the-worlds-first-multi-robot-team-with-a-humanoid-and-a-drone/"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hyperlink" Target="https://gemini.google.com/share/41c30494b416"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hyperlink" Target="https://notebooklm.google.com/notebook/901d06ec-d0ff-41f6-9fb1-da37643d400d?pli=1" TargetMode="External"/></Relationships>
</file>

<file path=ppt/slides/_rels/slide1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www.youtube.com/watch?v=Q7INj06TUv4" TargetMode="External"/><Relationship Id="rId7" Type="http://schemas.openxmlformats.org/officeDocument/2006/relationships/hyperlink" Target="https://www.nature.com/articles/d41586-025-03959-9"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hyperlink" Target="https://huggingface.co/deepseek-ai/DeepSeek-Prover-V2-671B" TargetMode="External"/><Relationship Id="rId5" Type="http://schemas.openxmlformats.org/officeDocument/2006/relationships/hyperlink" Target="https://www.therundown.ai/p/ai-cracks-30-year-math-problem" TargetMode="External"/><Relationship Id="rId4" Type="http://schemas.openxmlformats.org/officeDocument/2006/relationships/hyperlink" Target="https://lean-lang.org"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axSGGYS4_Is"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hyperlink" Target="https://www.reuters.com/world/china/how-china-built-its-manhattan-project-rival-west-ai-chips-2025-12-17/"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NHAzpG95pt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7GFKB0oKd9A"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hyperlink" Target="https://www.youtube.com/watch?v=fjwu45wqgx0" TargetMode="External"/><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hyperlink" Target="https://www.youtube.com/watch?v=c9ov2HeuLQ8" TargetMode="External"/><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hyperlink" Target="https://x.com/testingcatalog/status/2001680413333319860" TargetMode="External"/><Relationship Id="rId3" Type="http://schemas.openxmlformats.org/officeDocument/2006/relationships/hyperlink" Target="https://x.com/DylanTFWang/status/2000943329928945985" TargetMode="External"/><Relationship Id="rId7" Type="http://schemas.openxmlformats.org/officeDocument/2006/relationships/hyperlink" Target="https://x.com/Alibaba_Wan/status/2000930078037827972"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hyperlink" Target="https://x.com/runwayml/status/1999481621326729530" TargetMode="External"/><Relationship Id="rId11" Type="http://schemas.openxmlformats.org/officeDocument/2006/relationships/hyperlink" Target="https://www.youtube.com/watch?v=IRWp2NKkg4Y" TargetMode="External"/><Relationship Id="rId5" Type="http://schemas.openxmlformats.org/officeDocument/2006/relationships/hyperlink" Target="https://x.com/_akhaliq/status/2001041559366598799" TargetMode="External"/><Relationship Id="rId10" Type="http://schemas.openxmlformats.org/officeDocument/2006/relationships/hyperlink" Target="https://x.com/wildmindai/status/2000483553587687922" TargetMode="External"/><Relationship Id="rId4" Type="http://schemas.openxmlformats.org/officeDocument/2006/relationships/hyperlink" Target="https://x.com/fal/status/2001090597092831325" TargetMode="External"/><Relationship Id="rId9" Type="http://schemas.openxmlformats.org/officeDocument/2006/relationships/hyperlink" Target="https://github.com/GVCLab/PersonaLive"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hyperlink" Target="https://trueup.io/layoffs"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15.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21001"/>
            <a:ext cx="4420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GLM-4.7 released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Everyone Hates The New ChatGPT-5.2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Function Gemma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GPT-5.2-Codex  (Caribou)</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Wan 2.6 R2V</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26,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3831477"/>
            <a:ext cx="45024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Visibility vs Standard Google SEO</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Nitrogen for game playing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Misc AI Updates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125502"/>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Model Quality Saturation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Importance of Continual learning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Catastrophic forgetting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Titans Transformer-2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CLI Conductor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Conductor, Rules, PRD Files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"Workslop" - low-quality output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 Bloom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Intel to make Apple Silicone Chips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Resolve AI - Reliably Maintains Software Systems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PDFs as an AI "goldmine" - Andrew Ng</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523201"/>
            <a:ext cx="4502400" cy="2727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toward an app-platform strategy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GPT is NOT the Future of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Automated AI Influencers to Generate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X1: Humanoid + Drone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Canvas using Flash 3.0</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Lean 4 - Math Proofs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is Building Its Own ASML Machines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 - Predictions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 - Surviving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T5Gemma 2  Multimodal Encoder-Decoder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Mistral OCR 3</a:t>
            </a:r>
            <a:endParaRPr sz="1600" b="1">
              <a:solidFill>
                <a:srgbClr val="3C78D8"/>
              </a:solidFill>
              <a:latin typeface="Calibri"/>
              <a:ea typeface="Calibri"/>
              <a:cs typeface="Calibri"/>
              <a:sym typeface="Calibri"/>
            </a:endParaRPr>
          </a:p>
        </p:txBody>
      </p:sp>
      <p:sp>
        <p:nvSpPr>
          <p:cNvPr id="68" name="Google Shape;68;p15"/>
          <p:cNvSpPr txBox="1"/>
          <p:nvPr/>
        </p:nvSpPr>
        <p:spPr>
          <a:xfrm>
            <a:off x="4599875" y="118900"/>
            <a:ext cx="4141800" cy="2646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600" b="1" i="1">
                <a:solidFill>
                  <a:srgbClr val="FF0000"/>
                </a:solidFill>
                <a:latin typeface="Roboto Mono"/>
                <a:ea typeface="Roboto Mono"/>
                <a:cs typeface="Roboto Mono"/>
                <a:sym typeface="Roboto Mono"/>
              </a:rPr>
              <a:t>2026 - Year of Continual Learning</a:t>
            </a:r>
            <a:endParaRPr sz="16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186125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3602289" y="311516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60065" y="474713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23</a:t>
            </a:r>
            <a:endParaRPr sz="1000">
              <a:solidFill>
                <a:schemeClr val="dk1"/>
              </a:solidFill>
              <a:latin typeface="Calibri"/>
              <a:ea typeface="Calibri"/>
              <a:cs typeface="Calibri"/>
              <a:sym typeface="Calibri"/>
            </a:endParaRPr>
          </a:p>
        </p:txBody>
      </p:sp>
      <p:sp>
        <p:nvSpPr>
          <p:cNvPr id="86" name="Google Shape;86;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66409" y="43883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57278" y="43967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txBox="1"/>
          <p:nvPr/>
        </p:nvSpPr>
        <p:spPr>
          <a:xfrm flipH="1">
            <a:off x="3691285" y="27567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2" name="Google Shape;92;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50579"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613313" y="20353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539953" y="112592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txBox="1"/>
          <p:nvPr/>
        </p:nvSpPr>
        <p:spPr>
          <a:xfrm flipH="1">
            <a:off x="547573" y="4560179"/>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txBox="1"/>
          <p:nvPr/>
        </p:nvSpPr>
        <p:spPr>
          <a:xfrm>
            <a:off x="311891" y="49224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8" name="Google Shape;98;p16"/>
          <p:cNvSpPr/>
          <p:nvPr/>
        </p:nvSpPr>
        <p:spPr>
          <a:xfrm>
            <a:off x="611157" y="49296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p:nvPr/>
        </p:nvSpPr>
        <p:spPr>
          <a:xfrm>
            <a:off x="609673" y="294483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54343" y="4754771"/>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2" name="Google Shape;102;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11444" y="221311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611444" y="25762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60967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3750579" y="2217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3751782" y="25845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a:off x="3466409" y="329257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p:nvPr/>
        </p:nvSpPr>
        <p:spPr>
          <a:xfrm>
            <a:off x="3757278" y="33009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txBox="1"/>
          <p:nvPr/>
        </p:nvSpPr>
        <p:spPr>
          <a:xfrm>
            <a:off x="3466409" y="420082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3757278" y="420921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6" name="Google Shape;116;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7" name="Google Shape;117;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8" name="Google Shape;118;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9" name="Google Shape;119;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20" name="Google Shape;120;p16"/>
          <p:cNvSpPr txBox="1"/>
          <p:nvPr/>
        </p:nvSpPr>
        <p:spPr>
          <a:xfrm>
            <a:off x="456671" y="43838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txBox="1"/>
          <p:nvPr/>
        </p:nvSpPr>
        <p:spPr>
          <a:xfrm flipH="1">
            <a:off x="3556596" y="456409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
        <p:nvSpPr>
          <p:cNvPr id="122" name="Google Shape;122;p16"/>
          <p:cNvSpPr/>
          <p:nvPr/>
        </p:nvSpPr>
        <p:spPr>
          <a:xfrm>
            <a:off x="605693" y="9563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603824" y="33001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609673" y="40376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3748357" y="204309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750579" y="24008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1782" y="36767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3602289" y="38454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p:nvPr/>
        </p:nvSpPr>
        <p:spPr>
          <a:xfrm>
            <a:off x="3750579" y="402643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3" name="Google Shape;133;p16"/>
          <p:cNvGraphicFramePr/>
          <p:nvPr>
            <p:extLst>
              <p:ext uri="{D42A27DB-BD31-4B8C-83A1-F6EECF244321}">
                <p14:modId xmlns:p14="http://schemas.microsoft.com/office/powerpoint/2010/main" val="2475542806"/>
              </p:ext>
            </p:extLst>
          </p:nvPr>
        </p:nvGraphicFramePr>
        <p:xfrm>
          <a:off x="749904" y="564712"/>
          <a:ext cx="2318995" cy="4490378"/>
        </p:xfrm>
        <a:graphic>
          <a:graphicData uri="http://schemas.openxmlformats.org/drawingml/2006/table">
            <a:tbl>
              <a:tblPr>
                <a:noFill/>
                <a:tableStyleId>{F0075E80-A169-42E4-8E9F-9A7D3A521B75}</a:tableStyleId>
              </a:tblPr>
              <a:tblGrid>
                <a:gridCol w="2008304">
                  <a:extLst>
                    <a:ext uri="{9D8B030D-6E8A-4147-A177-3AD203B41FA5}">
                      <a16:colId xmlns:a16="http://schemas.microsoft.com/office/drawing/2014/main" val="20000"/>
                    </a:ext>
                  </a:extLst>
                </a:gridCol>
                <a:gridCol w="310691">
                  <a:extLst>
                    <a:ext uri="{9D8B030D-6E8A-4147-A177-3AD203B41FA5}">
                      <a16:colId xmlns:a16="http://schemas.microsoft.com/office/drawing/2014/main" val="20001"/>
                    </a:ext>
                  </a:extLst>
                </a:gridCol>
              </a:tblGrid>
              <a:tr h="179436">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81675">
                <a:tc>
                  <a:txBody>
                    <a:bodyPr/>
                    <a:lstStyle/>
                    <a:p>
                      <a:pPr marL="0" lvl="0" indent="0" algn="l" rtl="0">
                        <a:lnSpc>
                          <a:spcPct val="115000"/>
                        </a:lnSpc>
                        <a:spcBef>
                          <a:spcPts val="0"/>
                        </a:spcBef>
                        <a:spcAft>
                          <a:spcPts val="0"/>
                        </a:spcAft>
                        <a:buNone/>
                      </a:pPr>
                      <a:r>
                        <a:rPr lang="en" sz="800" u="sng" dirty="0">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dirty="0">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816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ernie-5.0-preview-1203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ernie-5.0-preview-1103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dirty="0">
                          <a:solidFill>
                            <a:srgbClr val="636879"/>
                          </a:solidFill>
                          <a:latin typeface="Calibri"/>
                          <a:ea typeface="Calibri"/>
                          <a:cs typeface="Calibri"/>
                          <a:sym typeface="Calibri"/>
                        </a:rPr>
                        <a:t>1428</a:t>
                      </a:r>
                      <a:endParaRPr sz="800" dirty="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4" name="Google Shape;134;p16"/>
          <p:cNvGraphicFramePr/>
          <p:nvPr>
            <p:extLst>
              <p:ext uri="{D42A27DB-BD31-4B8C-83A1-F6EECF244321}">
                <p14:modId xmlns:p14="http://schemas.microsoft.com/office/powerpoint/2010/main" val="4103165078"/>
              </p:ext>
            </p:extLst>
          </p:nvPr>
        </p:nvGraphicFramePr>
        <p:xfrm>
          <a:off x="3885811" y="562363"/>
          <a:ext cx="2424026" cy="4485900"/>
        </p:xfrm>
        <a:graphic>
          <a:graphicData uri="http://schemas.openxmlformats.org/drawingml/2006/table">
            <a:tbl>
              <a:tblPr>
                <a:noFill/>
                <a:tableStyleId>{F0075E80-A169-42E4-8E9F-9A7D3A521B75}</a:tableStyleId>
              </a:tblPr>
              <a:tblGrid>
                <a:gridCol w="1979621">
                  <a:extLst>
                    <a:ext uri="{9D8B030D-6E8A-4147-A177-3AD203B41FA5}">
                      <a16:colId xmlns:a16="http://schemas.microsoft.com/office/drawing/2014/main" val="20000"/>
                    </a:ext>
                  </a:extLst>
                </a:gridCol>
                <a:gridCol w="444405">
                  <a:extLst>
                    <a:ext uri="{9D8B030D-6E8A-4147-A177-3AD203B41FA5}">
                      <a16:colId xmlns:a16="http://schemas.microsoft.com/office/drawing/2014/main" val="20001"/>
                    </a:ext>
                  </a:extLst>
                </a:gridCol>
              </a:tblGrid>
              <a:tr h="179436">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79436">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1">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35" name="Google Shape;135;p16"/>
          <p:cNvSpPr txBox="1"/>
          <p:nvPr/>
        </p:nvSpPr>
        <p:spPr>
          <a:xfrm>
            <a:off x="456671" y="275315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6" name="Google Shape;136;p16"/>
          <p:cNvSpPr/>
          <p:nvPr/>
        </p:nvSpPr>
        <p:spPr>
          <a:xfrm>
            <a:off x="609673" y="312771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7" name="Google Shape;137;p16"/>
          <p:cNvSpPr/>
          <p:nvPr/>
        </p:nvSpPr>
        <p:spPr>
          <a:xfrm>
            <a:off x="609673" y="42052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p:nvPr/>
        </p:nvSpPr>
        <p:spPr>
          <a:xfrm>
            <a:off x="3751782" y="29401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751782" y="34862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3466409"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1" name="Google Shape;141;p16"/>
          <p:cNvSpPr/>
          <p:nvPr/>
        </p:nvSpPr>
        <p:spPr>
          <a:xfrm>
            <a:off x="3757278"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20375"/>
            <a:ext cx="249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GLM-4.7 released</a:t>
            </a:r>
            <a:endParaRPr sz="2000" b="1" i="0" u="none" strike="noStrike" cap="none">
              <a:solidFill>
                <a:schemeClr val="dk1"/>
              </a:solidFill>
              <a:latin typeface="Calibri"/>
              <a:ea typeface="Calibri"/>
              <a:cs typeface="Calibri"/>
              <a:sym typeface="Calibri"/>
            </a:endParaRPr>
          </a:p>
        </p:txBody>
      </p:sp>
      <p:sp>
        <p:nvSpPr>
          <p:cNvPr id="147" name="Google Shape;147;p17"/>
          <p:cNvSpPr txBox="1"/>
          <p:nvPr/>
        </p:nvSpPr>
        <p:spPr>
          <a:xfrm>
            <a:off x="111575" y="420675"/>
            <a:ext cx="41820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GLM-4.7 released</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open-source, large-scale coding- and agent-focused LLM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Replacees GLM-4.6 - coding-first, agentic upgrade with better multi-language and terminal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"Think-before-act", stable multi-step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Stronger reasoning, tool use, and long-horizon task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Sparse MoE 355B total parameters with 32B active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 length - multi-hundred-thousand token (varies by provider - SiliconFlow/OpenRouter stats)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OpenRouter - "z-ai/glm-4.7"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Pricing: $0.60 / $2.20 per 1M in/out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https://docs.z.ai/guides/llm/glm-4.7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https://z.ai/blog/glm-4.7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 </a:t>
            </a:r>
            <a:r>
              <a:rPr lang="en" sz="1200" u="sng">
                <a:solidFill>
                  <a:schemeClr val="hlink"/>
                </a:solidFill>
                <a:latin typeface="Calibri"/>
                <a:ea typeface="Calibri"/>
                <a:cs typeface="Calibri"/>
                <a:sym typeface="Calibri"/>
                <a:hlinkClick r:id="rId5"/>
              </a:rPr>
              <a:t>https://openrouter.ai/z-ai/glm-4.7</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6"/>
              </a:rPr>
              <a:t>https://huggingface.co/collections/zai-org/glm-47</a:t>
            </a:r>
            <a:endParaRPr sz="1200">
              <a:latin typeface="Calibri"/>
              <a:ea typeface="Calibri"/>
              <a:cs typeface="Calibri"/>
              <a:sym typeface="Calibri"/>
            </a:endParaRPr>
          </a:p>
        </p:txBody>
      </p:sp>
      <p:sp>
        <p:nvSpPr>
          <p:cNvPr id="148" name="Google Shape;148;p17"/>
          <p:cNvSpPr txBox="1"/>
          <p:nvPr/>
        </p:nvSpPr>
        <p:spPr>
          <a:xfrm>
            <a:off x="4481250" y="2632187"/>
            <a:ext cx="4567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Everyone Hates The New ChatGPT-5.2</a:t>
            </a:r>
            <a:endParaRPr sz="2000" b="1" i="0" u="none" strike="noStrike" cap="none">
              <a:solidFill>
                <a:schemeClr val="dk1"/>
              </a:solidFill>
              <a:latin typeface="Calibri"/>
              <a:ea typeface="Calibri"/>
              <a:cs typeface="Calibri"/>
              <a:sym typeface="Calibri"/>
            </a:endParaRPr>
          </a:p>
        </p:txBody>
      </p:sp>
      <p:sp>
        <p:nvSpPr>
          <p:cNvPr id="149" name="Google Shape;149;p17"/>
          <p:cNvSpPr txBox="1"/>
          <p:nvPr/>
        </p:nvSpPr>
        <p:spPr>
          <a:xfrm>
            <a:off x="4481250" y="2981012"/>
            <a:ext cx="4567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Power users and developers claim GPT‑5.2 performs worse than expected, even worse than 5.1</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The model often ignores custom instructions, struggles with memory and context, and triggers safeguards too easily</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It is good on some benchmarks and bad on others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A popular theory blames overfitting to benchmarks leading in high scores  - but no real-world understanding</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1200">
                <a:latin typeface="Calibri"/>
                <a:ea typeface="Calibri"/>
                <a:cs typeface="Calibri"/>
                <a:sym typeface="Calibri"/>
              </a:rPr>
              <a:t>GPT‑5.2 may have been an “early checkpoint” version, not the full model originally planned. OpenAI has said a significantly improved version is expected in early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7"/>
              </a:rPr>
              <a:t>https://www.youtube.com/watch?v=zioKpt-E5vk</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8"/>
          <p:cNvSpPr txBox="1"/>
          <p:nvPr/>
        </p:nvSpPr>
        <p:spPr>
          <a:xfrm>
            <a:off x="55075" y="0"/>
            <a:ext cx="2196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Function Gemma</a:t>
            </a:r>
            <a:endParaRPr sz="2000" b="1" i="0" u="none" strike="noStrike" cap="none">
              <a:solidFill>
                <a:schemeClr val="dk1"/>
              </a:solidFill>
              <a:latin typeface="Calibri"/>
              <a:ea typeface="Calibri"/>
              <a:cs typeface="Calibri"/>
              <a:sym typeface="Calibri"/>
            </a:endParaRPr>
          </a:p>
        </p:txBody>
      </p:sp>
      <p:sp>
        <p:nvSpPr>
          <p:cNvPr id="155" name="Google Shape;155;p18"/>
          <p:cNvSpPr txBox="1"/>
          <p:nvPr/>
        </p:nvSpPr>
        <p:spPr>
          <a:xfrm>
            <a:off x="113100" y="346775"/>
            <a:ext cx="44139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Function Gemma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FunctionGemma is a </a:t>
            </a:r>
            <a:r>
              <a:rPr lang="en" sz="1200" b="1">
                <a:solidFill>
                  <a:srgbClr val="FF0000"/>
                </a:solidFill>
                <a:latin typeface="Calibri"/>
                <a:ea typeface="Calibri"/>
                <a:cs typeface="Calibri"/>
                <a:sym typeface="Calibri"/>
              </a:rPr>
              <a:t>fine-tuned version</a:t>
            </a:r>
            <a:r>
              <a:rPr lang="en" sz="1200">
                <a:latin typeface="Calibri"/>
                <a:ea typeface="Calibri"/>
                <a:cs typeface="Calibri"/>
                <a:sym typeface="Calibri"/>
              </a:rPr>
              <a:t> of Google DeepMind’s </a:t>
            </a:r>
            <a:r>
              <a:rPr lang="en" sz="1200" b="1">
                <a:solidFill>
                  <a:srgbClr val="FF0000"/>
                </a:solidFill>
                <a:latin typeface="Calibri"/>
                <a:ea typeface="Calibri"/>
                <a:cs typeface="Calibri"/>
                <a:sym typeface="Calibri"/>
              </a:rPr>
              <a:t>Gemma-3 270M</a:t>
            </a:r>
            <a:r>
              <a:rPr lang="en" sz="1200">
                <a:latin typeface="Calibri"/>
                <a:ea typeface="Calibri"/>
                <a:cs typeface="Calibri"/>
                <a:sym typeface="Calibri"/>
              </a:rPr>
              <a:t> model (very small)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optimized for function calling and tool 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enables developers to convert natural language into executable API actions for fast, private, and affordable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Despite its small size, the model runs efficiently on-device, ideal for mobile, embedded, and edge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Examples - voice-controlled mobile actions and a natural language games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https://blog.google/technology/developers/functiongemma</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https://www.youtube.com/watch?v=-Tgc_9uYJLI</a:t>
            </a:r>
            <a:r>
              <a:rPr lang="en" sz="1200">
                <a:latin typeface="Calibri"/>
                <a:ea typeface="Calibri"/>
                <a:cs typeface="Calibri"/>
                <a:sym typeface="Calibri"/>
              </a:rPr>
              <a:t> </a:t>
            </a:r>
            <a:endParaRPr sz="1200">
              <a:latin typeface="Calibri"/>
              <a:ea typeface="Calibri"/>
              <a:cs typeface="Calibri"/>
              <a:sym typeface="Calibri"/>
            </a:endParaRPr>
          </a:p>
        </p:txBody>
      </p:sp>
      <p:sp>
        <p:nvSpPr>
          <p:cNvPr id="156" name="Google Shape;156;p18"/>
          <p:cNvSpPr txBox="1"/>
          <p:nvPr/>
        </p:nvSpPr>
        <p:spPr>
          <a:xfrm>
            <a:off x="4649100" y="1859250"/>
            <a:ext cx="441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GPT-5.2-Codex  (Caribou)</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https://openai.com/index/introducing-gpt-5-2-codex/</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More advanced agentic coding capabilities - to handle complex, multi-step reasoning and sustained attention over extended coding sessions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Better long-context understanding &amp; context compaction ( large codebases, multi-file projects) thanks to “native compaction,”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Reliable tool calling and factual accuracy (running tests, using compilers, or interacting with terminal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Stronger cybersecurity capabilities, vulnerability discovery and defensive security workflows, safeguards to manage dual-use risks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 Improved efficiency and developer experience -token-efficient reasoning and performance improvements. GPT-5.2-Codex can iterate on complex tasks without losing track, handle large refactors and migrations more reliably, and better interpret technical diagrams and screenshots shared during coding sessions</a:t>
            </a:r>
            <a:endParaRPr sz="1200">
              <a:latin typeface="Calibri"/>
              <a:ea typeface="Calibri"/>
              <a:cs typeface="Calibri"/>
              <a:sym typeface="Calibri"/>
            </a:endParaRPr>
          </a:p>
        </p:txBody>
      </p:sp>
      <p:sp>
        <p:nvSpPr>
          <p:cNvPr id="157" name="Google Shape;157;p18"/>
          <p:cNvSpPr txBox="1"/>
          <p:nvPr/>
        </p:nvSpPr>
        <p:spPr>
          <a:xfrm>
            <a:off x="4648076" y="1447800"/>
            <a:ext cx="385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OpenAI GPT-5.2-Codex  (Caribou)</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19"/>
          <p:cNvSpPr txBox="1"/>
          <p:nvPr/>
        </p:nvSpPr>
        <p:spPr>
          <a:xfrm>
            <a:off x="55075" y="20375"/>
            <a:ext cx="2266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Wan 2.6 R2V</a:t>
            </a:r>
            <a:endParaRPr sz="2000" b="1" i="0" u="none" strike="noStrike" cap="none">
              <a:solidFill>
                <a:schemeClr val="dk1"/>
              </a:solidFill>
              <a:latin typeface="Calibri"/>
              <a:ea typeface="Calibri"/>
              <a:cs typeface="Calibri"/>
              <a:sym typeface="Calibri"/>
            </a:endParaRPr>
          </a:p>
        </p:txBody>
      </p:sp>
      <p:sp>
        <p:nvSpPr>
          <p:cNvPr id="163" name="Google Shape;163;p19"/>
          <p:cNvSpPr txBox="1"/>
          <p:nvPr/>
        </p:nvSpPr>
        <p:spPr>
          <a:xfrm>
            <a:off x="137950" y="580675"/>
            <a:ext cx="5348400" cy="237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Wan 2.6 R2V is Alibaba Cloud’s new reference‑to‑video model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Use a short reference video (5 sec) and text prompts to generate new scenes where that same subject appears, controlled by text prompts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Preserves key characteristics from the reference like appearance, style, and even voice, so the subject stays consistent across shots and different videos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Supports multi‑shot storytelling, so it can create sequences with multiple cuts and scene transitions while keeping the same character identity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Outputs HD video (up to 1080p) with native audio, auto‑generated speech and background sound based on your script and prompt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Good for generating many short talking‑head or character clips from a single reference video, for marketing, explainers, and virtual presenters where you need the same “digital twin” across multiple videos without new filming each time</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https://www.alibabacloud.com/en/press-room/alibaba-unveils-wan2-6-series-enabling-everyone</a:t>
            </a:r>
            <a:r>
              <a:rPr lang="en" sz="900">
                <a:latin typeface="Calibri"/>
                <a:ea typeface="Calibri"/>
                <a:cs typeface="Calibri"/>
                <a:sym typeface="Calibri"/>
              </a:rPr>
              <a:t> </a:t>
            </a:r>
            <a:endParaRPr sz="900">
              <a:latin typeface="Calibri"/>
              <a:ea typeface="Calibri"/>
              <a:cs typeface="Calibri"/>
              <a:sym typeface="Calibri"/>
            </a:endParaRPr>
          </a:p>
        </p:txBody>
      </p:sp>
      <p:pic>
        <p:nvPicPr>
          <p:cNvPr id="164" name="Google Shape;164;p19"/>
          <p:cNvPicPr preferRelativeResize="0"/>
          <p:nvPr/>
        </p:nvPicPr>
        <p:blipFill>
          <a:blip r:embed="rId4">
            <a:alphaModFix/>
          </a:blip>
          <a:stretch>
            <a:fillRect/>
          </a:stretch>
        </p:blipFill>
        <p:spPr>
          <a:xfrm>
            <a:off x="5823477" y="115202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5.94K subscribers, 259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0" name="Google Shape;170;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76" name="Google Shape;176;p21"/>
          <p:cNvSpPr txBox="1"/>
          <p:nvPr/>
        </p:nvSpPr>
        <p:spPr>
          <a:xfrm>
            <a:off x="111575" y="369200"/>
            <a:ext cx="44139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Model Quality Saturation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Model improvements no longer matter much for most users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models reach "PhD-level" capability, speed and integration become more valuable than raw intelligence gains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Reasoning models are slow. Users prefer fast good enough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Users want models to integrate with common apps (Gmail,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immediate battle is about embedding AI into existing workflows rather than making smarter models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https://www.youtube.com/watch?v=mwpxEFpdlYo</a:t>
            </a:r>
            <a:endParaRPr sz="1200">
              <a:latin typeface="Calibri"/>
              <a:ea typeface="Calibri"/>
              <a:cs typeface="Calibri"/>
              <a:sym typeface="Calibri"/>
            </a:endParaRPr>
          </a:p>
        </p:txBody>
      </p:sp>
      <p:sp>
        <p:nvSpPr>
          <p:cNvPr id="177" name="Google Shape;177;p21"/>
          <p:cNvSpPr txBox="1"/>
          <p:nvPr/>
        </p:nvSpPr>
        <p:spPr>
          <a:xfrm>
            <a:off x="111575" y="2133100"/>
            <a:ext cx="4413900" cy="2789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Importance of Continual learning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Continual learning</a:t>
            </a:r>
            <a:r>
              <a:rPr lang="en" sz="1200">
                <a:latin typeface="Calibri"/>
                <a:ea typeface="Calibri"/>
                <a:cs typeface="Calibri"/>
                <a:sym typeface="Calibri"/>
              </a:rPr>
              <a:t> enables AI agents to update their knowledge incrementally from new experiences without forgetting previously learned information, addressing the critical problem of "catastrophic forgetting" where traditional models lose old knowledge when learning new tasks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capability is essential for enterprise AI because real-world environments constantly change - business processes evolve, customer behaviors shift, policies update, and new edge cases emerge - requiring agents that adapt continuously rather than remaining frozen at their initial training state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Without continual learning, organizations face expensive retraining cycles, system downtime, and agents that quickly become outdated, whereas continually learning agents reduce operational overhead while improving performance organically over time</a:t>
            </a:r>
            <a:endParaRPr sz="1200">
              <a:latin typeface="Calibri"/>
              <a:ea typeface="Calibri"/>
              <a:cs typeface="Calibri"/>
              <a:sym typeface="Calibri"/>
            </a:endParaRPr>
          </a:p>
        </p:txBody>
      </p:sp>
      <p:sp>
        <p:nvSpPr>
          <p:cNvPr id="178" name="Google Shape;178;p21"/>
          <p:cNvSpPr txBox="1"/>
          <p:nvPr/>
        </p:nvSpPr>
        <p:spPr>
          <a:xfrm>
            <a:off x="4656925" y="1909446"/>
            <a:ext cx="4413900" cy="3020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Continual learning approach combines incremental updates that preserve existing knowledge with the ability to absorb new rules, exceptions, and workflows, making agents behave more like real team members who improve with experience rather than static tools requiring quarterly resets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 foundation models grow larger and retraining becomes prohibitively expensive, continual learning through memory-augmented architectures and token-space updates offers a sustainable path to adaptive, evolving systems that can transfer knowledge across model generations while maintaining durable improvements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https://beam.ai/agentic-insights/what-is-continual-learning-(and-why-it-powers-self-learning-ai-agents)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5"/>
              </a:rPr>
              <a:t>https://www.letta.com/blog/continual-learning</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6"/>
              </a:rPr>
              <a:t>https://www.xoriant.com/thought-leadership/article/agentic-ai-and-continuous-learning-creating-ever-evolving-systems</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7"/>
              </a:rPr>
              <a:t>https://www.arxiv.org/pdf/2506.03320</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8"/>
              </a:rPr>
              <a:t>https://www.ibm.com/think/topics/continual-learning</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Catastrophic forgetting</a:t>
            </a:r>
            <a:endParaRPr sz="2000" b="1" i="0" u="none" strike="noStrike" cap="none">
              <a:solidFill>
                <a:schemeClr val="dk1"/>
              </a:solidFill>
              <a:latin typeface="Calibri"/>
              <a:ea typeface="Calibri"/>
              <a:cs typeface="Calibri"/>
              <a:sym typeface="Calibri"/>
            </a:endParaRPr>
          </a:p>
        </p:txBody>
      </p:sp>
      <p:sp>
        <p:nvSpPr>
          <p:cNvPr id="184" name="Google Shape;184;p22"/>
          <p:cNvSpPr txBox="1"/>
          <p:nvPr/>
        </p:nvSpPr>
        <p:spPr>
          <a:xfrm>
            <a:off x="55075" y="418150"/>
            <a:ext cx="4413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Catastrophic forgetting - the model loses performance on old tasks/knowledge after being trained on new data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is a tendency of a model to “overwrite” previously acquired capabilities when adapted to new instructions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continual or sequential learning, catastrophic forgetting (also called catastrophic interference) is the abrupt degradation of performance on earlier tasks when the model is trained on new tasks using the same parameters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happens because gradient updates for the new data push weights into regions that no longer support the old behaviors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ordinary gradual forgetting in humans, this effect in neural nets can be sudden and severe a model that previously performed well on task A can almost completely fail after being optimized for task B if no precautions are taken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For LLMs, catastrophic forgetting commonly appears during fine‑tuning or continual training, where new supervision (e.g., instruction‑tuning, domain adaptation, safety or preference updates) can degrade earlier competencies such as reasoning, reading comprehension, or specialized domain knowledge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is a big problem for "live" / continually updated LLMs. For “live” language models that must be updated with new facts, domains, or behaviors over time, catastrophic forgetting is problematic because each update risks erasing or weakening earlier capabilities, undermining reliability and backward compatibility</a:t>
            </a:r>
            <a:endParaRPr sz="1200">
              <a:latin typeface="Calibri"/>
              <a:ea typeface="Calibri"/>
              <a:cs typeface="Calibri"/>
              <a:sym typeface="Calibri"/>
            </a:endParaRPr>
          </a:p>
        </p:txBody>
      </p:sp>
      <p:sp>
        <p:nvSpPr>
          <p:cNvPr id="185" name="Google Shape;185;p22"/>
          <p:cNvSpPr txBox="1"/>
          <p:nvPr/>
        </p:nvSpPr>
        <p:spPr>
          <a:xfrm>
            <a:off x="4616175" y="418150"/>
            <a:ext cx="441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 LLMs are increasingly used as long‑lived agents or systems that need continual learning, the ability to integrate new information without harming old skills becomes a core requirement, making catastrophic forgetting a central research and engineering concern.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Mitigation strategies: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regularization or parameter‑isolation methods (e.g., constraining updates, using separate low‑rank adapters, or orthogonal subspaces for new tasks)</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replay methods that mix a small buffer of old-task data with new data</a:t>
            </a:r>
            <a:endParaRPr sz="1200">
              <a:latin typeface="Calibri"/>
              <a:ea typeface="Calibri"/>
              <a:cs typeface="Calibri"/>
              <a:sym typeface="Calibri"/>
            </a:endParaRPr>
          </a:p>
          <a:p>
            <a:pPr marL="45720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selective or frozen-parameter fine‑tuning rather than updating the entire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Recent work suggests that some “forgetting” in LLMs is partly instruction-selection rather than literal loss of knowledge. A model can often still recover much of its apparent “forgotten” performance with better prompts, rationale guidance, or replay‑based continual learning algorithms</a:t>
            </a:r>
            <a:endParaRPr sz="1200">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2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Titans Transformer-2</a:t>
            </a:r>
            <a:endParaRPr sz="2000" b="1">
              <a:solidFill>
                <a:schemeClr val="dk1"/>
              </a:solidFill>
              <a:latin typeface="Calibri"/>
              <a:ea typeface="Calibri"/>
              <a:cs typeface="Calibri"/>
              <a:sym typeface="Calibri"/>
            </a:endParaRPr>
          </a:p>
        </p:txBody>
      </p:sp>
      <p:sp>
        <p:nvSpPr>
          <p:cNvPr id="191" name="Google Shape;191;p23"/>
          <p:cNvSpPr txBox="1"/>
          <p:nvPr/>
        </p:nvSpPr>
        <p:spPr>
          <a:xfrm>
            <a:off x="55075" y="516725"/>
            <a:ext cx="4986600" cy="438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Titans Transformer-2 architecture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Titans = Transformers with Interleaved Attention and Neural Storage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6AA84F"/>
                </a:solidFill>
                <a:latin typeface="Calibri"/>
                <a:ea typeface="Calibri"/>
                <a:cs typeface="Calibri"/>
                <a:sym typeface="Calibri"/>
              </a:rPr>
              <a:t>Titans is an implementation of a MIRAS </a:t>
            </a:r>
            <a:r>
              <a:rPr lang="en" sz="1100">
                <a:solidFill>
                  <a:schemeClr val="dk1"/>
                </a:solidFill>
                <a:latin typeface="Calibri"/>
                <a:ea typeface="Calibri"/>
                <a:cs typeface="Calibri"/>
                <a:sym typeface="Calibri"/>
              </a:rPr>
              <a:t>theoretical framework for sequence models. MIRAS includes Memory architecture, (attentional) bIas, Retention gate, and (memory learning) Algorithm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NeuroIPS paper "Nested Learning" - neuroscience inspired hierarchical memory system similar to human cognition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uses 3 types of memory: </a:t>
            </a:r>
            <a:r>
              <a:rPr lang="en" sz="1100" b="1">
                <a:solidFill>
                  <a:srgbClr val="6AA84F"/>
                </a:solidFill>
                <a:latin typeface="Calibri"/>
                <a:ea typeface="Calibri"/>
                <a:cs typeface="Calibri"/>
                <a:sym typeface="Calibri"/>
              </a:rPr>
              <a:t>Core (Short-term) Memory, Long-term Neural Memory , and Persistent Memory (stable storage for task-specific knowledge)</a:t>
            </a:r>
            <a:endParaRPr sz="1100" b="1">
              <a:solidFill>
                <a:srgbClr val="6AA84F"/>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can handle massive contexts much faster </a:t>
            </a:r>
            <a:r>
              <a:rPr lang="en" sz="1100" b="1">
                <a:solidFill>
                  <a:srgbClr val="FF0000"/>
                </a:solidFill>
                <a:latin typeface="Calibri"/>
                <a:ea typeface="Calibri"/>
                <a:cs typeface="Calibri"/>
                <a:sym typeface="Calibri"/>
              </a:rPr>
              <a:t>by updating core memory in real-time during operation</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combining RNN speed with Transformer accuracy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Titans uses a deep neural network as a long-term memory module that actively learns and updates parameters as data streams in</a:t>
            </a:r>
            <a:r>
              <a:rPr lang="en" sz="1100">
                <a:solidFill>
                  <a:schemeClr val="dk1"/>
                </a:solidFill>
                <a:latin typeface="Calibri"/>
                <a:ea typeface="Calibri"/>
                <a:cs typeface="Calibri"/>
                <a:sym typeface="Calibri"/>
              </a:rPr>
              <a:t>, rather than compressing information into fixed-size states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architecture employs a </a:t>
            </a:r>
            <a:r>
              <a:rPr lang="en" sz="1100" b="1">
                <a:solidFill>
                  <a:srgbClr val="FF0000"/>
                </a:solidFill>
                <a:latin typeface="Calibri"/>
                <a:ea typeface="Calibri"/>
                <a:cs typeface="Calibri"/>
                <a:sym typeface="Calibri"/>
              </a:rPr>
              <a:t>surprise metric</a:t>
            </a:r>
            <a:r>
              <a:rPr lang="en" sz="1100">
                <a:solidFill>
                  <a:schemeClr val="dk1"/>
                </a:solidFill>
                <a:latin typeface="Calibri"/>
                <a:ea typeface="Calibri"/>
                <a:cs typeface="Calibri"/>
                <a:sym typeface="Calibri"/>
              </a:rPr>
              <a:t> to detect unexpected information and </a:t>
            </a:r>
            <a:r>
              <a:rPr lang="en" sz="1100" b="1">
                <a:solidFill>
                  <a:srgbClr val="FF0000"/>
                </a:solidFill>
                <a:latin typeface="Calibri"/>
                <a:ea typeface="Calibri"/>
                <a:cs typeface="Calibri"/>
                <a:sym typeface="Calibri"/>
              </a:rPr>
              <a:t>selectively memorize only novel, context-breaking inputs</a:t>
            </a:r>
            <a:r>
              <a:rPr lang="en" sz="1100">
                <a:solidFill>
                  <a:schemeClr val="dk1"/>
                </a:solidFill>
                <a:latin typeface="Calibri"/>
                <a:ea typeface="Calibri"/>
                <a:cs typeface="Calibri"/>
                <a:sym typeface="Calibri"/>
              </a:rPr>
              <a:t>, similar to how humans remember surprising events over routine ones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outperforms Transformer++, Mamba-2, and even GPT-4 on extreme long-context tasks, successfully scaling to over 2 Mln tokens while maintaining efficient linear inference speeds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https://research.google/blog/titans-miras-helping-ai-have-long-term-memory/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https://medium.com/data-science-collective/google-introduces-transformer-2-0-with-a-neuroscience-inspired-architecture-cf7f0d8836a4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https://www.towardsdeeplearning.com/this-new-google-model-might-finally-fix-broken-ai-brains-74e6b3c985fc</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6"/>
              </a:rPr>
              <a:t>https://www.youtube.com/watch?v=x8jFFhCLDJY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https://www.llmwatch.com/p/google-releases-transformer-20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https://www.llmwatch.com/p/beyond-attention-comparing-potential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9"/>
              </a:rPr>
              <a:t>https://www.youtube.com/watch?v=UMkCmOTX5Ow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192" name="Google Shape;192;p23"/>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205400" y="516725"/>
            <a:ext cx="3797524" cy="37975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6"/>
        <p:cNvGrpSpPr/>
        <p:nvPr/>
      </p:nvGrpSpPr>
      <p:grpSpPr>
        <a:xfrm>
          <a:off x="0" y="0"/>
          <a:ext cx="0" cy="0"/>
          <a:chOff x="0" y="0"/>
          <a:chExt cx="0" cy="0"/>
        </a:xfrm>
      </p:grpSpPr>
      <p:sp>
        <p:nvSpPr>
          <p:cNvPr id="197" name="Google Shape;197;p24"/>
          <p:cNvSpPr txBox="1"/>
          <p:nvPr/>
        </p:nvSpPr>
        <p:spPr>
          <a:xfrm>
            <a:off x="55075" y="20375"/>
            <a:ext cx="252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CLI Conductor</a:t>
            </a:r>
            <a:endParaRPr sz="2000" b="1" i="0" u="none" strike="noStrike" cap="none">
              <a:solidFill>
                <a:schemeClr val="dk1"/>
              </a:solidFill>
              <a:latin typeface="Calibri"/>
              <a:ea typeface="Calibri"/>
              <a:cs typeface="Calibri"/>
              <a:sym typeface="Calibri"/>
            </a:endParaRPr>
          </a:p>
        </p:txBody>
      </p:sp>
      <p:sp>
        <p:nvSpPr>
          <p:cNvPr id="198" name="Google Shape;198;p24"/>
          <p:cNvSpPr txBox="1"/>
          <p:nvPr/>
        </p:nvSpPr>
        <p:spPr>
          <a:xfrm>
            <a:off x="55075" y="422601"/>
            <a:ext cx="441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CLI Conductor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https://www.youtube.com/watch?v=rLu_3hpG0b8</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Conductor is a dev. extension for Gemini CLI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Better than vibe coding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context-driven development. Developers formalize their project specifications and plans in Markdown files that persist within the codebase, giving AI agents structured context rather than relying on ephemeral chat logs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lets Conductor maintain persistent project understanding and follow consistent coding standards throughout the development process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Developers can define plans, specs, and project goals up front, then use Conductor to have the AI implement features reliably and with continuity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includes a tutorial showing how to install and use the toolkit, how it improves agent performance by anchoring context in the repository</a:t>
            </a:r>
            <a:endParaRPr sz="1200">
              <a:latin typeface="Calibri"/>
              <a:ea typeface="Calibri"/>
              <a:cs typeface="Calibri"/>
              <a:sym typeface="Calibri"/>
            </a:endParaRPr>
          </a:p>
        </p:txBody>
      </p:sp>
      <p:sp>
        <p:nvSpPr>
          <p:cNvPr id="199" name="Google Shape;199;p24"/>
          <p:cNvSpPr txBox="1"/>
          <p:nvPr/>
        </p:nvSpPr>
        <p:spPr>
          <a:xfrm>
            <a:off x="55075" y="3671126"/>
            <a:ext cx="4413900" cy="1403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conductor/product.md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conductor/tech-stack.md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conductor/workflow.md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conductor/architecture.md</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a:t>
            </a:r>
            <a:r>
              <a:rPr lang="en" sz="1000" b="1">
                <a:solidFill>
                  <a:srgbClr val="3C78D8"/>
                </a:solidFill>
                <a:uFill>
                  <a:noFill/>
                </a:uFill>
                <a:latin typeface="Roboto Mono"/>
                <a:ea typeface="Roboto Mono"/>
                <a:cs typeface="Roboto Mono"/>
                <a:sym typeface="Roboto Mono"/>
                <a:hlinkClick r:id="rId4">
                  <a:extLst>
                    <a:ext uri="{A12FA001-AC4F-418D-AE19-62706E023703}">
                      <ahyp:hlinkClr xmlns:ahyp="http://schemas.microsoft.com/office/drawing/2018/hyperlinkcolor" val="tx"/>
                    </a:ext>
                  </a:extLst>
                </a:hlinkClick>
              </a:rPr>
              <a:t>context-map.md</a:t>
            </a:r>
            <a:r>
              <a:rPr lang="en" sz="1000" b="1">
                <a:solidFill>
                  <a:srgbClr val="3C78D8"/>
                </a:solidFill>
                <a:latin typeface="Roboto Mono"/>
                <a:ea typeface="Roboto Mono"/>
                <a:cs typeface="Roboto Mono"/>
                <a:sym typeface="Roboto Mono"/>
              </a:rPr>
              <a:t>  # what to read for what</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conductor/tracks.md + conductor/tracks/&lt;id&gt;/{spec.md,plan.md} </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uFill>
                  <a:noFill/>
                </a:uFill>
                <a:latin typeface="Roboto Mono"/>
                <a:ea typeface="Roboto Mono"/>
                <a:cs typeface="Roboto Mono"/>
                <a:sym typeface="Roboto Mono"/>
                <a:hlinkClick r:id="rId5">
                  <a:extLst>
                    <a:ext uri="{A12FA001-AC4F-418D-AE19-62706E023703}">
                      <ahyp:hlinkClr xmlns:ahyp="http://schemas.microsoft.com/office/drawing/2018/hyperlinkcolor" val="tx"/>
                    </a:ext>
                  </a:extLst>
                </a:hlinkClick>
              </a:rPr>
              <a:t>README.md</a:t>
            </a:r>
            <a:r>
              <a:rPr lang="en" sz="1000" b="1">
                <a:solidFill>
                  <a:srgbClr val="3C78D8"/>
                </a:solidFill>
                <a:latin typeface="Roboto Mono"/>
                <a:ea typeface="Roboto Mono"/>
                <a:cs typeface="Roboto Mono"/>
                <a:sym typeface="Roboto Mono"/>
              </a:rPr>
              <a:t> for GitHub</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uFill>
                  <a:noFill/>
                </a:uFill>
                <a:latin typeface="Roboto Mono"/>
                <a:ea typeface="Roboto Mono"/>
                <a:cs typeface="Roboto Mono"/>
                <a:sym typeface="Roboto Mono"/>
                <a:hlinkClick r:id="rId5">
                  <a:extLst>
                    <a:ext uri="{A12FA001-AC4F-418D-AE19-62706E023703}">
                      <ahyp:hlinkClr xmlns:ahyp="http://schemas.microsoft.com/office/drawing/2018/hyperlinkcolor" val="tx"/>
                    </a:ext>
                  </a:extLst>
                </a:hlinkClick>
              </a:rPr>
              <a:t>README.md</a:t>
            </a:r>
            <a:r>
              <a:rPr lang="en" sz="1000" b="1">
                <a:solidFill>
                  <a:srgbClr val="3C78D8"/>
                </a:solidFill>
                <a:latin typeface="Roboto Mono"/>
                <a:ea typeface="Roboto Mono"/>
                <a:cs typeface="Roboto Mono"/>
                <a:sym typeface="Roboto Mono"/>
              </a:rPr>
              <a:t> only for “real” modules</a:t>
            </a:r>
            <a:endParaRPr sz="1000" b="1">
              <a:solidFill>
                <a:srgbClr val="3C78D8"/>
              </a:solidFill>
              <a:latin typeface="Roboto Mono"/>
              <a:ea typeface="Roboto Mono"/>
              <a:cs typeface="Roboto Mono"/>
              <a:sym typeface="Roboto Mono"/>
            </a:endParaRPr>
          </a:p>
        </p:txBody>
      </p:sp>
      <p:sp>
        <p:nvSpPr>
          <p:cNvPr id="200" name="Google Shape;200;p24"/>
          <p:cNvSpPr txBox="1"/>
          <p:nvPr/>
        </p:nvSpPr>
        <p:spPr>
          <a:xfrm>
            <a:off x="4595364" y="1916423"/>
            <a:ext cx="44139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Install and enable the Conductor in Gemini CLI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 exposes slash commands "/conductor:…"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/conductor:setup # creates the "/conductor/" directory and generates canonical context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/conductor:newTrack # start a new unit of work (feature, refactor, bug, experiment) - creates `conductor/tracks/&lt;track_id&gt;/`, </a:t>
            </a:r>
            <a:br>
              <a:rPr lang="en" sz="1200">
                <a:latin typeface="Calibri"/>
                <a:ea typeface="Calibri"/>
                <a:cs typeface="Calibri"/>
                <a:sym typeface="Calibri"/>
              </a:rPr>
            </a:br>
            <a:r>
              <a:rPr lang="en" sz="1200">
                <a:latin typeface="Calibri"/>
                <a:ea typeface="Calibri"/>
                <a:cs typeface="Calibri"/>
                <a:sym typeface="Calibri"/>
              </a:rPr>
              <a:t>generates  </a:t>
            </a:r>
            <a:r>
              <a:rPr lang="en" sz="1200" u="sng">
                <a:solidFill>
                  <a:schemeClr val="hlink"/>
                </a:solidFill>
                <a:latin typeface="Calibri"/>
                <a:ea typeface="Calibri"/>
                <a:cs typeface="Calibri"/>
                <a:sym typeface="Calibri"/>
                <a:hlinkClick r:id="rId6"/>
              </a:rPr>
              <a:t>spec.md</a:t>
            </a:r>
            <a:r>
              <a:rPr lang="en" sz="1200">
                <a:latin typeface="Calibri"/>
                <a:ea typeface="Calibri"/>
                <a:cs typeface="Calibri"/>
                <a:sym typeface="Calibri"/>
              </a:rPr>
              <a:t> and </a:t>
            </a:r>
            <a:r>
              <a:rPr lang="en" sz="1200" u="sng">
                <a:solidFill>
                  <a:schemeClr val="hlink"/>
                </a:solidFill>
                <a:latin typeface="Calibri"/>
                <a:ea typeface="Calibri"/>
                <a:cs typeface="Calibri"/>
                <a:sym typeface="Calibri"/>
                <a:hlinkClick r:id="rId7"/>
              </a:rPr>
              <a:t>plan.md</a:t>
            </a:r>
            <a:r>
              <a:rPr lang="en" sz="1200">
                <a:latin typeface="Calibri"/>
                <a:ea typeface="Calibri"/>
                <a:cs typeface="Calibri"/>
                <a:sym typeface="Calibri"/>
              </a:rPr>
              <a:t> files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/conductor:resume # continue work on an existing track, re-reads global conductor docs, the selected track’s `spec.md` and `</a:t>
            </a:r>
            <a:r>
              <a:rPr lang="en" sz="1200" u="sng">
                <a:solidFill>
                  <a:schemeClr val="hlink"/>
                </a:solidFill>
                <a:latin typeface="Calibri"/>
                <a:ea typeface="Calibri"/>
                <a:cs typeface="Calibri"/>
                <a:sym typeface="Calibri"/>
                <a:hlinkClick r:id="rId7"/>
              </a:rPr>
              <a:t>plan.md</a:t>
            </a:r>
            <a:r>
              <a:rPr lang="en" sz="1200">
                <a:latin typeface="Calibri"/>
                <a:ea typeface="Calibri"/>
                <a:cs typeface="Calibri"/>
                <a:sym typeface="Calibri"/>
              </a:rPr>
              <a:t>`, rehydrates context so the assistant behaves consistently across sessions - this is how Conductor avoids “AI amnesia”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/conductor:status # shows existing tracks and where you are:</a:t>
            </a:r>
            <a:br>
              <a:rPr lang="en" sz="1200">
                <a:latin typeface="Calibri"/>
                <a:ea typeface="Calibri"/>
                <a:cs typeface="Calibri"/>
                <a:sym typeface="Calibri"/>
              </a:rPr>
            </a:br>
            <a:r>
              <a:rPr lang="en" sz="1200">
                <a:latin typeface="Calibri"/>
                <a:ea typeface="Calibri"/>
                <a:cs typeface="Calibri"/>
                <a:sym typeface="Calibri"/>
              </a:rPr>
              <a:t>active track(s), completed tracks, files involved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/conductor:help - list available Conductor commands and usage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Conductor is a context-management system, not a coding engine; Conductor doesn't scan the repo automatically. But it reads its own Markdown files every time</a:t>
            </a:r>
            <a:endParaRPr sz="1200">
              <a:latin typeface="Calibri"/>
              <a:ea typeface="Calibri"/>
              <a:cs typeface="Calibri"/>
              <a:sym typeface="Calibri"/>
            </a:endParaRPr>
          </a:p>
        </p:txBody>
      </p:sp>
      <p:pic>
        <p:nvPicPr>
          <p:cNvPr id="201" name="Google Shape;201;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190063" y="177675"/>
            <a:ext cx="3108813" cy="16116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25"/>
          <p:cNvSpPr txBox="1"/>
          <p:nvPr/>
        </p:nvSpPr>
        <p:spPr>
          <a:xfrm>
            <a:off x="55075" y="20375"/>
            <a:ext cx="435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Conductor, Rules, PRD Files</a:t>
            </a:r>
            <a:endParaRPr sz="2000" b="1" i="0" u="none" strike="noStrike" cap="none">
              <a:solidFill>
                <a:schemeClr val="dk1"/>
              </a:solidFill>
              <a:latin typeface="Calibri"/>
              <a:ea typeface="Calibri"/>
              <a:cs typeface="Calibri"/>
              <a:sym typeface="Calibri"/>
            </a:endParaRPr>
          </a:p>
        </p:txBody>
      </p:sp>
      <p:sp>
        <p:nvSpPr>
          <p:cNvPr id="207" name="Google Shape;207;p25"/>
          <p:cNvSpPr txBox="1"/>
          <p:nvPr/>
        </p:nvSpPr>
        <p:spPr>
          <a:xfrm>
            <a:off x="55075" y="422817"/>
            <a:ext cx="3728100" cy="4035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Gemini CLI:</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./conductor/ </a:t>
            </a:r>
            <a:r>
              <a:rPr lang="en" sz="900" b="1">
                <a:solidFill>
                  <a:srgbClr val="6AA84F"/>
                </a:solidFill>
                <a:latin typeface="Roboto Mono"/>
                <a:ea typeface="Roboto Mono"/>
                <a:cs typeface="Roboto Mono"/>
                <a:sym typeface="Roboto Mono"/>
              </a:rPr>
              <a:t># in project root</a:t>
            </a:r>
            <a:endParaRPr sz="900" b="1">
              <a:solidFill>
                <a:srgbClr val="6AA84F"/>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Cursor:</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~/.cursor/</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Claude Code: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./CLAUDE.md </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./CLAUDE.local.md (gitignored)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a:t>
            </a:r>
            <a:r>
              <a:rPr lang="en" sz="900" b="1">
                <a:solidFill>
                  <a:srgbClr val="3C78D8"/>
                </a:solidFill>
                <a:uFill>
                  <a:noFill/>
                </a:uFill>
                <a:latin typeface="Roboto Mono"/>
                <a:ea typeface="Roboto Mono"/>
                <a:cs typeface="Roboto Mono"/>
                <a:sym typeface="Roboto Mono"/>
                <a:hlinkClick r:id="rId3">
                  <a:extLst>
                    <a:ext uri="{A12FA001-AC4F-418D-AE19-62706E023703}">
                      <ahyp:hlinkClr xmlns:ahyp="http://schemas.microsoft.com/office/drawing/2018/hyperlinkcolor" val="tx"/>
                    </a:ext>
                  </a:extLst>
                </a:hlinkClick>
              </a:rPr>
              <a:t>CLAUDE.md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./.claude/rules/*.md </a:t>
            </a:r>
            <a:r>
              <a:rPr lang="en" sz="900" b="1">
                <a:solidFill>
                  <a:srgbClr val="6AA84F"/>
                </a:solidFill>
                <a:latin typeface="Roboto Mono"/>
                <a:ea typeface="Roboto Mono"/>
                <a:cs typeface="Roboto Mono"/>
                <a:sym typeface="Roboto Mono"/>
              </a:rPr>
              <a:t># plan,testing,architecture</a:t>
            </a:r>
            <a:endParaRPr sz="900" b="1">
              <a:solidFill>
                <a:srgbClr val="6AA84F"/>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~/.claude/settings.json</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~/.claude.json</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Cline: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.clinerules  </a:t>
            </a:r>
            <a:r>
              <a:rPr lang="en" sz="900" b="1">
                <a:solidFill>
                  <a:srgbClr val="6AA84F"/>
                </a:solidFill>
                <a:latin typeface="Roboto Mono"/>
                <a:ea typeface="Roboto Mono"/>
                <a:cs typeface="Roboto Mono"/>
                <a:sym typeface="Roboto Mono"/>
              </a:rPr>
              <a:t># in project root</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./clinerules/</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OpenAI Codex:</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.codex/config.local.toml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.codex/auth.json , ...</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OpenCode:</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~/.config/opencode/ </a:t>
            </a:r>
            <a:r>
              <a:rPr lang="en" sz="900" b="1">
                <a:solidFill>
                  <a:srgbClr val="6AA84F"/>
                </a:solidFill>
                <a:latin typeface="Roboto Mono"/>
                <a:ea typeface="Roboto Mono"/>
                <a:cs typeface="Roboto Mono"/>
                <a:sym typeface="Roboto Mono"/>
              </a:rPr>
              <a:t># global</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  ~/.config/opencode/opencode.json</a:t>
            </a:r>
            <a:endParaRPr sz="900" b="1">
              <a:solidFill>
                <a:srgbClr val="3C78D8"/>
              </a:solidFill>
              <a:latin typeface="Roboto Mono"/>
              <a:ea typeface="Roboto Mono"/>
              <a:cs typeface="Roboto Mono"/>
              <a:sym typeface="Roboto Mono"/>
            </a:endParaRPr>
          </a:p>
        </p:txBody>
      </p:sp>
      <p:sp>
        <p:nvSpPr>
          <p:cNvPr id="208" name="Google Shape;208;p25"/>
          <p:cNvSpPr txBox="1"/>
          <p:nvPr/>
        </p:nvSpPr>
        <p:spPr>
          <a:xfrm>
            <a:off x="4005325" y="1059675"/>
            <a:ext cx="4777500" cy="2943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Cline in VSCode only loads rules from the folder where you start VS Code</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If you start VSCode in a subfolder, it will NOT walk up and find the `.clinerules/` at a higher level</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To force Cline to always read the rules, you can always open the real project root in VS Code </a:t>
            </a:r>
            <a:br>
              <a:rPr lang="en" sz="1000" b="1">
                <a:solidFill>
                  <a:srgbClr val="3C78D8"/>
                </a:solidFill>
                <a:latin typeface="Roboto Mono"/>
                <a:ea typeface="Roboto Mono"/>
                <a:cs typeface="Roboto Mono"/>
                <a:sym typeface="Roboto Mono"/>
              </a:rPr>
            </a:br>
            <a:r>
              <a:rPr lang="en" sz="1000" b="1">
                <a:solidFill>
                  <a:srgbClr val="3C78D8"/>
                </a:solidFill>
                <a:latin typeface="Roboto Mono"/>
                <a:ea typeface="Roboto Mono"/>
                <a:cs typeface="Roboto Mono"/>
                <a:sym typeface="Roboto Mono"/>
              </a:rPr>
              <a:t>(e.g. via "code ." from the repo root (or “Open Folder”) pointing at the root that contains `.clinerules/`)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add separate ".clinerules/" folders in those subfolders that you open directly as their own workspace roots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open VSCode by opening a workspace file ".code-workspace" - a JSON file that can define more than one root to open. Still you need to ensure that each folder has its own ".clinerules/"</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a:solidFill>
                  <a:srgbClr val="3C78D8"/>
                </a:solidFill>
                <a:latin typeface="Roboto Mono"/>
                <a:ea typeface="Roboto Mono"/>
                <a:cs typeface="Roboto Mono"/>
                <a:sym typeface="Roboto Mono"/>
              </a:rPr>
              <a:t>You can also store rules in "~/Documents/Cline/Rules/" - and they will be used by Cline globally</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u="sng">
                <a:solidFill>
                  <a:schemeClr val="hlink"/>
                </a:solidFill>
                <a:latin typeface="Roboto Mono"/>
                <a:ea typeface="Roboto Mono"/>
                <a:cs typeface="Roboto Mono"/>
                <a:sym typeface="Roboto Mono"/>
                <a:hlinkClick r:id="rId4"/>
              </a:rPr>
              <a:t>https://docs.cline.bot/features/cline-rules</a:t>
            </a:r>
            <a:r>
              <a:rPr lang="en" sz="1000" b="1">
                <a:solidFill>
                  <a:srgbClr val="3C78D8"/>
                </a:solidFill>
                <a:latin typeface="Roboto Mono"/>
                <a:ea typeface="Roboto Mono"/>
                <a:cs typeface="Roboto Mono"/>
                <a:sym typeface="Roboto Mono"/>
              </a:rPr>
              <a:t> </a:t>
            </a:r>
            <a:endParaRPr sz="1000" b="1">
              <a:solidFill>
                <a:srgbClr val="3C78D8"/>
              </a:solidFill>
              <a:latin typeface="Roboto Mono"/>
              <a:ea typeface="Roboto Mono"/>
              <a:cs typeface="Roboto Mono"/>
              <a:sym typeface="Roboto Mono"/>
            </a:endParaRPr>
          </a:p>
          <a:p>
            <a:pPr marL="171450" marR="0" lvl="0" indent="-120650" algn="l" rtl="0">
              <a:lnSpc>
                <a:spcPct val="100000"/>
              </a:lnSpc>
              <a:spcBef>
                <a:spcPts val="0"/>
              </a:spcBef>
              <a:spcAft>
                <a:spcPts val="0"/>
              </a:spcAft>
              <a:buClr>
                <a:srgbClr val="3C78D8"/>
              </a:buClr>
              <a:buSzPts val="1000"/>
              <a:buFont typeface="Roboto Mono"/>
              <a:buChar char="●"/>
            </a:pPr>
            <a:r>
              <a:rPr lang="en" sz="1000" b="1" u="sng">
                <a:solidFill>
                  <a:schemeClr val="hlink"/>
                </a:solidFill>
                <a:latin typeface="Roboto Mono"/>
                <a:ea typeface="Roboto Mono"/>
                <a:cs typeface="Roboto Mono"/>
                <a:sym typeface="Roboto Mono"/>
                <a:hlinkClick r:id="rId5"/>
              </a:rPr>
              <a:t>https://docs.cline.bot/features/multiroot-workspace</a:t>
            </a:r>
            <a:r>
              <a:rPr lang="en" sz="1000" b="1">
                <a:solidFill>
                  <a:srgbClr val="3C78D8"/>
                </a:solidFill>
                <a:latin typeface="Roboto Mono"/>
                <a:ea typeface="Roboto Mono"/>
                <a:cs typeface="Roboto Mono"/>
                <a:sym typeface="Roboto Mono"/>
              </a:rPr>
              <a:t> </a:t>
            </a:r>
            <a:endParaRPr sz="1000" b="1">
              <a:solidFill>
                <a:srgbClr val="3C78D8"/>
              </a:solidFill>
              <a:latin typeface="Roboto Mono"/>
              <a:ea typeface="Roboto Mono"/>
              <a:cs typeface="Roboto Mono"/>
              <a:sym typeface="Roboto Mono"/>
            </a:endParaRPr>
          </a:p>
        </p:txBody>
      </p:sp>
      <p:sp>
        <p:nvSpPr>
          <p:cNvPr id="209" name="Google Shape;209;p25"/>
          <p:cNvSpPr txBox="1"/>
          <p:nvPr/>
        </p:nvSpPr>
        <p:spPr>
          <a:xfrm>
            <a:off x="4005325" y="648025"/>
            <a:ext cx="25230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Cline Rules Location</a:t>
            </a:r>
            <a:endParaRPr sz="2000" b="1" i="0" u="none" strike="noStrike" cap="non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26"/>
          <p:cNvSpPr txBox="1"/>
          <p:nvPr/>
        </p:nvSpPr>
        <p:spPr>
          <a:xfrm>
            <a:off x="55075" y="20375"/>
            <a:ext cx="4510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"Workslop" - low-quality output</a:t>
            </a:r>
            <a:endParaRPr sz="2000" b="1" i="0" u="none" strike="noStrike" cap="none">
              <a:solidFill>
                <a:schemeClr val="dk1"/>
              </a:solidFill>
              <a:latin typeface="Calibri"/>
              <a:ea typeface="Calibri"/>
              <a:cs typeface="Calibri"/>
              <a:sym typeface="Calibri"/>
            </a:endParaRPr>
          </a:p>
        </p:txBody>
      </p:sp>
      <p:sp>
        <p:nvSpPr>
          <p:cNvPr id="215" name="Google Shape;215;p26"/>
          <p:cNvSpPr txBox="1"/>
          <p:nvPr/>
        </p:nvSpPr>
        <p:spPr>
          <a:xfrm>
            <a:off x="152075" y="530700"/>
            <a:ext cx="4413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AI "Workslop" (low-quality) Slows Down Prouctivity Growth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Stanford and BetterUp Labs study of 1,150 U.S. full‑time employees finds that workplace AI often generates </a:t>
            </a:r>
            <a:r>
              <a:rPr lang="en" sz="1200" b="1">
                <a:solidFill>
                  <a:srgbClr val="FF0000"/>
                </a:solidFill>
                <a:latin typeface="Calibri"/>
                <a:ea typeface="Calibri"/>
                <a:cs typeface="Calibri"/>
                <a:sym typeface="Calibri"/>
              </a:rPr>
              <a:t>"workslop": low‑effort, passable‑looking content that others must fix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"fixing" is undermining promised productivity gains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Many workers simply accept the first AI output and forward it, shifting the real cognitive and editing burden downstream to coworkers who must interpret, verify, or redo the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the survey, 40 percent of employees reported receiving workslop in the past month, and about 15 percent of all content they receive at work is AI‑generated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content mostly comes from peers (40 percent), but 16 percent comes from higher‑ups, further complicating power dynamics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Recipients say workslop wastes time through additional research, follow‑ups, and rework, and it damages perceptions of senders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54% see those colleagues as less creative</a:t>
            </a:r>
            <a:br>
              <a:rPr lang="en" sz="1200">
                <a:latin typeface="Calibri"/>
                <a:ea typeface="Calibri"/>
                <a:cs typeface="Calibri"/>
                <a:sym typeface="Calibri"/>
              </a:rPr>
            </a:br>
            <a:r>
              <a:rPr lang="en" sz="1200">
                <a:latin typeface="Calibri"/>
                <a:ea typeface="Calibri"/>
                <a:cs typeface="Calibri"/>
                <a:sym typeface="Calibri"/>
              </a:rPr>
              <a:t>42% as less trustworthy</a:t>
            </a:r>
            <a:br>
              <a:rPr lang="en" sz="1200">
                <a:latin typeface="Calibri"/>
                <a:ea typeface="Calibri"/>
                <a:cs typeface="Calibri"/>
                <a:sym typeface="Calibri"/>
              </a:rPr>
            </a:br>
            <a:r>
              <a:rPr lang="en" sz="1200">
                <a:latin typeface="Calibri"/>
                <a:ea typeface="Calibri"/>
                <a:cs typeface="Calibri"/>
                <a:sym typeface="Calibri"/>
              </a:rPr>
              <a:t>37% as less intelligent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Researchers argue that beyond limited, careful uses, </a:t>
            </a:r>
            <a:r>
              <a:rPr lang="en" sz="1200" b="1">
                <a:solidFill>
                  <a:srgbClr val="FF0000"/>
                </a:solidFill>
                <a:latin typeface="Calibri"/>
                <a:ea typeface="Calibri"/>
                <a:cs typeface="Calibri"/>
                <a:sym typeface="Calibri"/>
              </a:rPr>
              <a:t>AI’s hidden interpersonal and coordination costs may outweigh its productivity benefits</a:t>
            </a:r>
            <a:r>
              <a:rPr lang="en" sz="1200">
                <a:latin typeface="Calibri"/>
                <a:ea typeface="Calibri"/>
                <a:cs typeface="Calibri"/>
                <a:sym typeface="Calibri"/>
              </a:rPr>
              <a:t> in many current workplace deployments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https://futurism.com/future-society/ai-productivity-research</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27"/>
          <p:cNvSpPr txBox="1"/>
          <p:nvPr/>
        </p:nvSpPr>
        <p:spPr>
          <a:xfrm>
            <a:off x="55075" y="20375"/>
            <a:ext cx="2174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Anthropic Bloom</a:t>
            </a:r>
            <a:endParaRPr sz="2000" b="1" i="0" u="none" strike="noStrike" cap="none">
              <a:solidFill>
                <a:schemeClr val="dk1"/>
              </a:solidFill>
              <a:latin typeface="Calibri"/>
              <a:ea typeface="Calibri"/>
              <a:cs typeface="Calibri"/>
              <a:sym typeface="Calibri"/>
            </a:endParaRPr>
          </a:p>
        </p:txBody>
      </p:sp>
      <p:sp>
        <p:nvSpPr>
          <p:cNvPr id="221" name="Google Shape;221;p27"/>
          <p:cNvSpPr txBox="1"/>
          <p:nvPr/>
        </p:nvSpPr>
        <p:spPr>
          <a:xfrm>
            <a:off x="55075" y="438446"/>
            <a:ext cx="44139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 Bloom</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Open source tool for automated behavioral evaluations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starts from a researcher-specified behavior and a seed configuration, then creates many scenarios to measure how often and how strongly that behavior appears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Bloom runs in four stages: </a:t>
            </a:r>
            <a:endParaRPr sz="1200">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1. understanding the target behavior</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2. ideating scenarios</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3. rolling out interactions with simulated users and tools</a:t>
            </a:r>
            <a:endParaRPr sz="1200">
              <a:solidFill>
                <a:srgbClr val="3C78D8"/>
              </a:solidFill>
              <a:latin typeface="Calibri"/>
              <a:ea typeface="Calibri"/>
              <a:cs typeface="Calibri"/>
              <a:sym typeface="Calibri"/>
            </a:endParaRPr>
          </a:p>
          <a:p>
            <a:pPr marL="457200" marR="0" lvl="0" indent="-19050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4. judging transcripts with a model-based evaluator and meta-judge</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Unlike fixed test suites, it regenerates diverse scenarios each run while tracking the same underlying trait, with configurations controlling models, tools, conversation length, and scoring dimensions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Validation shows Bloom can distinguish intentionally quirky “model organisms” from production Claude models and that its judge correlates strongly with human labels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case study on self-preferential bias reproduces prior model rankings and reveals that higher reasoning effort can reduce bias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Bloom is already used for tasks like probing jailbreak vulnerabilities and evaluation awareness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https://www.anthropic.com/research/bloom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2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27" name="Google Shape;227;p28"/>
          <p:cNvSpPr txBox="1"/>
          <p:nvPr/>
        </p:nvSpPr>
        <p:spPr>
          <a:xfrm>
            <a:off x="111575" y="369200"/>
            <a:ext cx="44139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Intel to make Apple Silicone Chips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Apple used Intel 2005 - 2020</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Then they switched to TSMC (Taiwan) to manufacture M*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Now Apple is in talks with Intel to also manufacture M* chips (to break dep endency on TSMC</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https://www.youtube.com/watch?v=79a_q0PZMOU</a:t>
            </a:r>
            <a:r>
              <a:rPr lang="en" sz="1200">
                <a:latin typeface="Calibri"/>
                <a:ea typeface="Calibri"/>
                <a:cs typeface="Calibri"/>
                <a:sym typeface="Calibri"/>
              </a:rPr>
              <a:t> </a:t>
            </a:r>
            <a:endParaRPr sz="1200">
              <a:latin typeface="Calibri"/>
              <a:ea typeface="Calibri"/>
              <a:cs typeface="Calibri"/>
              <a:sym typeface="Calibri"/>
            </a:endParaRPr>
          </a:p>
        </p:txBody>
      </p:sp>
      <p:sp>
        <p:nvSpPr>
          <p:cNvPr id="228" name="Google Shape;228;p28"/>
          <p:cNvSpPr txBox="1"/>
          <p:nvPr/>
        </p:nvSpPr>
        <p:spPr>
          <a:xfrm>
            <a:off x="5435000" y="445600"/>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Apple</a:t>
            </a:r>
            <a:br>
              <a:rPr lang="en" sz="1200" b="1">
                <a:latin typeface="Calibri"/>
                <a:ea typeface="Calibri"/>
                <a:cs typeface="Calibri"/>
                <a:sym typeface="Calibri"/>
              </a:rPr>
            </a:br>
            <a:r>
              <a:rPr lang="en" sz="1200" b="1">
                <a:latin typeface="Calibri"/>
                <a:ea typeface="Calibri"/>
                <a:cs typeface="Calibri"/>
                <a:sym typeface="Calibri"/>
              </a:rPr>
              <a:t>M-chips</a:t>
            </a:r>
            <a:endParaRPr sz="1200" b="1">
              <a:latin typeface="Calibri"/>
              <a:ea typeface="Calibri"/>
              <a:cs typeface="Calibri"/>
              <a:sym typeface="Calibri"/>
            </a:endParaRPr>
          </a:p>
        </p:txBody>
      </p:sp>
      <p:sp>
        <p:nvSpPr>
          <p:cNvPr id="229" name="Google Shape;229;p28"/>
          <p:cNvSpPr txBox="1"/>
          <p:nvPr/>
        </p:nvSpPr>
        <p:spPr>
          <a:xfrm>
            <a:off x="7165523" y="174700"/>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TSMC</a:t>
            </a:r>
            <a:br>
              <a:rPr lang="en" sz="1200" b="1">
                <a:latin typeface="Calibri"/>
                <a:ea typeface="Calibri"/>
                <a:cs typeface="Calibri"/>
                <a:sym typeface="Calibri"/>
              </a:rPr>
            </a:br>
            <a:r>
              <a:rPr lang="en" sz="1200" b="1">
                <a:latin typeface="Calibri"/>
                <a:ea typeface="Calibri"/>
                <a:cs typeface="Calibri"/>
                <a:sym typeface="Calibri"/>
              </a:rPr>
              <a:t>Taiwan</a:t>
            </a:r>
            <a:endParaRPr sz="1200" b="1">
              <a:latin typeface="Calibri"/>
              <a:ea typeface="Calibri"/>
              <a:cs typeface="Calibri"/>
              <a:sym typeface="Calibri"/>
            </a:endParaRPr>
          </a:p>
        </p:txBody>
      </p:sp>
      <p:sp>
        <p:nvSpPr>
          <p:cNvPr id="230" name="Google Shape;230;p28"/>
          <p:cNvSpPr txBox="1"/>
          <p:nvPr/>
        </p:nvSpPr>
        <p:spPr>
          <a:xfrm>
            <a:off x="7165523" y="707125"/>
            <a:ext cx="987000" cy="4617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45700" tIns="45700" rIns="45700" bIns="45700" anchor="t" anchorCtr="0">
            <a:spAutoFit/>
          </a:bodyPr>
          <a:lstStyle/>
          <a:p>
            <a:pPr marL="0" marR="0" lvl="0" indent="0" algn="ctr" rtl="0">
              <a:lnSpc>
                <a:spcPct val="100000"/>
              </a:lnSpc>
              <a:spcBef>
                <a:spcPts val="0"/>
              </a:spcBef>
              <a:spcAft>
                <a:spcPts val="0"/>
              </a:spcAft>
              <a:buNone/>
            </a:pPr>
            <a:r>
              <a:rPr lang="en" sz="1200" b="1">
                <a:latin typeface="Calibri"/>
                <a:ea typeface="Calibri"/>
                <a:cs typeface="Calibri"/>
                <a:sym typeface="Calibri"/>
              </a:rPr>
              <a:t>Intel</a:t>
            </a:r>
            <a:br>
              <a:rPr lang="en" sz="1200" b="1">
                <a:latin typeface="Calibri"/>
                <a:ea typeface="Calibri"/>
                <a:cs typeface="Calibri"/>
                <a:sym typeface="Calibri"/>
              </a:rPr>
            </a:br>
            <a:r>
              <a:rPr lang="en" sz="1200" b="1">
                <a:latin typeface="Calibri"/>
                <a:ea typeface="Calibri"/>
                <a:cs typeface="Calibri"/>
                <a:sym typeface="Calibri"/>
              </a:rPr>
              <a:t>USA</a:t>
            </a:r>
            <a:endParaRPr sz="1200" b="1">
              <a:latin typeface="Calibri"/>
              <a:ea typeface="Calibri"/>
              <a:cs typeface="Calibri"/>
              <a:sym typeface="Calibri"/>
            </a:endParaRPr>
          </a:p>
        </p:txBody>
      </p:sp>
      <p:sp>
        <p:nvSpPr>
          <p:cNvPr id="231" name="Google Shape;231;p28"/>
          <p:cNvSpPr/>
          <p:nvPr/>
        </p:nvSpPr>
        <p:spPr>
          <a:xfrm rot="-1642973">
            <a:off x="6493507" y="256552"/>
            <a:ext cx="526379" cy="258159"/>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2" name="Google Shape;232;p28"/>
          <p:cNvSpPr/>
          <p:nvPr/>
        </p:nvSpPr>
        <p:spPr>
          <a:xfrm rot="1720067">
            <a:off x="6524311" y="827481"/>
            <a:ext cx="526546" cy="258173"/>
          </a:xfrm>
          <a:prstGeom prst="left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33" name="Google Shape;233;p28"/>
          <p:cNvSpPr txBox="1"/>
          <p:nvPr/>
        </p:nvSpPr>
        <p:spPr>
          <a:xfrm>
            <a:off x="111575" y="1557200"/>
            <a:ext cx="4413900" cy="526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Resolve AI - Reliably Maintains Software Systems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$1B valuation</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https://finance.yahoo.com/news/ex-splunk-execs-startup-resolve-005842891.html</a:t>
            </a:r>
            <a:r>
              <a:rPr lang="en" sz="900">
                <a:latin typeface="Calibri"/>
                <a:ea typeface="Calibri"/>
                <a:cs typeface="Calibri"/>
                <a:sym typeface="Calibri"/>
              </a:rPr>
              <a:t> </a:t>
            </a:r>
            <a:endParaRPr sz="900">
              <a:latin typeface="Calibri"/>
              <a:ea typeface="Calibri"/>
              <a:cs typeface="Calibri"/>
              <a:sym typeface="Calibri"/>
            </a:endParaRPr>
          </a:p>
        </p:txBody>
      </p:sp>
      <p:sp>
        <p:nvSpPr>
          <p:cNvPr id="234" name="Google Shape;234;p28"/>
          <p:cNvSpPr txBox="1"/>
          <p:nvPr/>
        </p:nvSpPr>
        <p:spPr>
          <a:xfrm>
            <a:off x="4881349" y="2859253"/>
            <a:ext cx="25677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ChatGPT’s evolution toward an app-platform strategy</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xxx</a:t>
            </a:r>
            <a:endParaRPr sz="1200">
              <a:latin typeface="Calibri"/>
              <a:ea typeface="Calibri"/>
              <a:cs typeface="Calibri"/>
              <a:sym typeface="Calibri"/>
            </a:endParaRPr>
          </a:p>
        </p:txBody>
      </p:sp>
      <p:sp>
        <p:nvSpPr>
          <p:cNvPr id="235" name="Google Shape;235;p28"/>
          <p:cNvSpPr txBox="1"/>
          <p:nvPr/>
        </p:nvSpPr>
        <p:spPr>
          <a:xfrm>
            <a:off x="94224" y="2148403"/>
            <a:ext cx="4413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PDFs as an AI "goldmine"</a:t>
            </a:r>
            <a:r>
              <a:rPr lang="en" sz="1200">
                <a:latin typeface="Calibri"/>
                <a:ea typeface="Calibri"/>
                <a:cs typeface="Calibri"/>
                <a:sym typeface="Calibri"/>
              </a:rPr>
              <a:t> - Andrew 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Biggest near‑term AI opportunity inside enterprises is unlocking the huge volume of “dark” unstructured data trapped in PDFs and other documents, then tying it to existing structured data to transform decision‑making and automation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Enterprises sit on massive troves of PDF files (financial statements, healthcare forms, contracts, tables) that are currently hard to use at scale; Agentic document extraction systems can automatically extract and structure the information in these PDFs, creating many new use cases in finance, healthcare,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Focus on indispensable features first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Own your data layer for flexibility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Advice: Everyone should learn to code with AI help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https://www.youtube.com/watch?v=JZCvx6rEJzc</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1" name="Google Shape;241;p29"/>
          <p:cNvSpPr txBox="1"/>
          <p:nvPr/>
        </p:nvSpPr>
        <p:spPr>
          <a:xfrm>
            <a:off x="152625" y="430400"/>
            <a:ext cx="44139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GPT is NOT the Future of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Decoder-only GPT models are fundamentally limited by causal, next-token prediction “tunnel vision,” making them great at generation but weaker at holistic understanding of long or complex inputs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may be better to return to encoder–decoder Transformers (T5-style) with bidirectional encoders that read the full input before decoding, enabling better long-context comprehension, multimodality, and efficiency via cross-attention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Google’s T5 Gemma 2 concept: adapting a decoder-only Gemma into an encoder–decoder model using “merged attention” (combining self- and cross-attention) and UL2-style training objectives to preserve generation while adding bidirectional understanding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Smaller, smarter edge models may benefit over the hyperscale datacenter scaling. Vision transformers as “eyes,” decoders as “mouth,” and diffusion transformers as “hands” for image generation.</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https://www.youtube.com/watch?v=Ixrpkub47vg</a:t>
            </a:r>
            <a:r>
              <a:rPr lang="en" sz="12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45"/>
        <p:cNvGrpSpPr/>
        <p:nvPr/>
      </p:nvGrpSpPr>
      <p:grpSpPr>
        <a:xfrm>
          <a:off x="0" y="0"/>
          <a:ext cx="0" cy="0"/>
          <a:chOff x="0" y="0"/>
          <a:chExt cx="0" cy="0"/>
        </a:xfrm>
      </p:grpSpPr>
      <p:sp>
        <p:nvSpPr>
          <p:cNvPr id="246" name="Google Shape;246;p30"/>
          <p:cNvSpPr txBox="1"/>
          <p:nvPr/>
        </p:nvSpPr>
        <p:spPr>
          <a:xfrm>
            <a:off x="55075" y="20375"/>
            <a:ext cx="4534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Automated AI Influencers to Generate $$</a:t>
            </a:r>
            <a:endParaRPr sz="2000" b="1" i="0" u="none" strike="noStrike" cap="none">
              <a:solidFill>
                <a:schemeClr val="dk1"/>
              </a:solidFill>
              <a:latin typeface="Calibri"/>
              <a:ea typeface="Calibri"/>
              <a:cs typeface="Calibri"/>
              <a:sym typeface="Calibri"/>
            </a:endParaRPr>
          </a:p>
        </p:txBody>
      </p:sp>
      <p:sp>
        <p:nvSpPr>
          <p:cNvPr id="247" name="Google Shape;247;p30"/>
          <p:cNvSpPr txBox="1"/>
          <p:nvPr/>
        </p:nvSpPr>
        <p:spPr>
          <a:xfrm>
            <a:off x="112125" y="535775"/>
            <a:ext cx="4413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Create Automated AI Influencers to Generate Income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AI-generated influencers are already earning significant recurring income without real people appearing on camera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Beginners can create digital models that work 24/7, never age, and monetize immediately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influencers avoid burnout, production costs, and long delays before monetization, while audiences are increasingly comfortable knowing the influencer is artificial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explains a simple process: create a unique AI character, generate photos and videos through prompts, and position the creator as a “director” rather than on-screen talent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Monetization is highlighted through a platform designed specifically for AI influencers, allowing anonymous creators to earn subscription revenue from day 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Important - provide real value in a clear niche. Distribute short-form content across major social platforms to drive subscribers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Revenue examples show how modest subscriber numbers can scale into substantial annual income, especially with higher pricing and multiple AI influencers across niches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Early adopters gain lasting advantages as tools improve, platforms grow, and niches become crowded.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https://www.youtube.com/watch?v=ARRbBmXK7AA</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48" name="Google Shape;248;p3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9275" y="712700"/>
            <a:ext cx="2632574" cy="1589100"/>
          </a:xfrm>
          <a:prstGeom prst="rect">
            <a:avLst/>
          </a:prstGeom>
          <a:noFill/>
          <a:ln w="9525" cap="flat" cmpd="sng">
            <a:solidFill>
              <a:srgbClr val="FF0000"/>
            </a:solidFill>
            <a:prstDash val="solid"/>
            <a:round/>
            <a:headEnd type="none" w="sm" len="sm"/>
            <a:tailEnd type="none" w="sm" len="sm"/>
          </a:ln>
        </p:spPr>
      </p:pic>
      <p:sp>
        <p:nvSpPr>
          <p:cNvPr id="249" name="Google Shape;249;p30"/>
          <p:cNvSpPr txBox="1"/>
          <p:nvPr/>
        </p:nvSpPr>
        <p:spPr>
          <a:xfrm>
            <a:off x="4679275" y="2594725"/>
            <a:ext cx="44139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Fully autonomous AI agents (workers) are now practical</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They can execute multi-step workflows on a schedule without human intervention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Tools like Abacus AI Deep Agent allow anyone to create such agents using plain-English prompts at low cost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Some tasks require human oversight while others can run fully independently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systems amplify human capability by automating routine work and freeing people to focus on strategy, creativity, and high-stakes decisions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Those who adopt and manage AI agents early will gain a major competitive advantage in the rapidly transforming future of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https://www.youtube.com/watch?v=azZtbrpl28s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3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X1: Humanoid + Drone</a:t>
            </a:r>
            <a:endParaRPr sz="2000" b="1" i="0" u="none" strike="noStrike" cap="none">
              <a:solidFill>
                <a:schemeClr val="dk1"/>
              </a:solidFill>
              <a:latin typeface="Calibri"/>
              <a:ea typeface="Calibri"/>
              <a:cs typeface="Calibri"/>
              <a:sym typeface="Calibri"/>
            </a:endParaRPr>
          </a:p>
        </p:txBody>
      </p:sp>
      <p:sp>
        <p:nvSpPr>
          <p:cNvPr id="255" name="Google Shape;255;p31"/>
          <p:cNvSpPr txBox="1"/>
          <p:nvPr/>
        </p:nvSpPr>
        <p:spPr>
          <a:xfrm>
            <a:off x="111575" y="369200"/>
            <a:ext cx="4413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X1: Humanoid + Drone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world's first multi-robot team with a humanoid and a drone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https://www.earth.com/news/meet-x1-the-worlds-first-multi-robot-team-with-a-humanoid-and-a-drone/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56" name="Google Shape;256;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50400" y="243800"/>
            <a:ext cx="3937376" cy="2803467"/>
          </a:xfrm>
          <a:prstGeom prst="rect">
            <a:avLst/>
          </a:prstGeom>
          <a:noFill/>
          <a:ln w="9525" cap="flat" cmpd="sng">
            <a:solidFill>
              <a:srgbClr val="FF0000"/>
            </a:solidFill>
            <a:prstDash val="solid"/>
            <a:round/>
            <a:headEnd type="none" w="sm" len="sm"/>
            <a:tailEnd type="none" w="sm" len="sm"/>
          </a:ln>
        </p:spPr>
      </p:pic>
      <p:pic>
        <p:nvPicPr>
          <p:cNvPr id="257" name="Google Shape;257;p31"/>
          <p:cNvPicPr preferRelativeResize="0"/>
          <p:nvPr/>
        </p:nvPicPr>
        <p:blipFill>
          <a:blip r:embed="rId5">
            <a:alphaModFix/>
          </a:blip>
          <a:stretch>
            <a:fillRect/>
          </a:stretch>
        </p:blipFill>
        <p:spPr>
          <a:xfrm>
            <a:off x="2190900" y="3132800"/>
            <a:ext cx="2466975" cy="1847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Canvas using Flash 3.0</a:t>
            </a:r>
            <a:endParaRPr sz="2000" b="1" i="0" u="none" strike="noStrike" cap="none">
              <a:solidFill>
                <a:schemeClr val="dk1"/>
              </a:solidFill>
              <a:latin typeface="Calibri"/>
              <a:ea typeface="Calibri"/>
              <a:cs typeface="Calibri"/>
              <a:sym typeface="Calibri"/>
            </a:endParaRPr>
          </a:p>
        </p:txBody>
      </p:sp>
      <p:sp>
        <p:nvSpPr>
          <p:cNvPr id="263" name="Google Shape;263;p32"/>
          <p:cNvSpPr txBox="1"/>
          <p:nvPr/>
        </p:nvSpPr>
        <p:spPr>
          <a:xfrm>
            <a:off x="111575" y="369200"/>
            <a:ext cx="44139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Gemini Canvas using Flash 3.0 - by Hans Beers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 worked on a project to simulate laws of physics in the 90-ies. I thought lets give it a try using AI. So I asked Gemini to create a physics simulation lab using laws of dynamics, thermodynamics etc. Initial result was promising, I got a simulator working.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Sometimes the UI gave an error, so I added an autotest function. This also seemed to work.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Then I added 2 "self modifying code" functions: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improve existing simulation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 generate ideas for new simulation and allow user to select to build one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Gemini implemented these functions - I saw it automatically build an interface (API key) to itself to let it evaluate.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is where I see it currently hit limitations: Gemini forgets context: When I improve an existing simulation or add a new one, other improvements are forgotten. I could not make it run without errors.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If this would work in any software development scenario, it would be the holy grail.</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https://gemini.google.com/share/41c30494b416</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https://notebooklm.google.com/notebook/901d06ec-d0ff-41f6-9fb1-da37643d400d?pli=1</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64" name="Google Shape;264;p3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7875" y="1275050"/>
            <a:ext cx="4313723" cy="2593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3"/>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Lean 4 - Math Proofs</a:t>
            </a:r>
            <a:endParaRPr sz="2000" b="1" i="0" u="none" strike="noStrike" cap="none">
              <a:solidFill>
                <a:schemeClr val="dk1"/>
              </a:solidFill>
              <a:latin typeface="Calibri"/>
              <a:ea typeface="Calibri"/>
              <a:cs typeface="Calibri"/>
              <a:sym typeface="Calibri"/>
            </a:endParaRPr>
          </a:p>
        </p:txBody>
      </p:sp>
      <p:sp>
        <p:nvSpPr>
          <p:cNvPr id="270" name="Google Shape;270;p33"/>
          <p:cNvSpPr txBox="1"/>
          <p:nvPr/>
        </p:nvSpPr>
        <p:spPr>
          <a:xfrm>
            <a:off x="111575" y="369200"/>
            <a:ext cx="5028600" cy="4420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can now generate machine-verified proofs in </a:t>
            </a:r>
            <a:r>
              <a:rPr lang="en" sz="1100" b="1">
                <a:solidFill>
                  <a:srgbClr val="FF0000"/>
                </a:solidFill>
                <a:latin typeface="Calibri"/>
                <a:ea typeface="Calibri"/>
                <a:cs typeface="Calibri"/>
                <a:sym typeface="Calibri"/>
              </a:rPr>
              <a:t>Lean 4</a:t>
            </a:r>
            <a:r>
              <a:rPr lang="en" sz="1100">
                <a:latin typeface="Calibri"/>
                <a:ea typeface="Calibri"/>
                <a:cs typeface="Calibri"/>
                <a:sym typeface="Calibri"/>
              </a:rPr>
              <a:t>, turning informal ideas into formally checked theorems in hours instead of months or years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Lean 4 is a modern programming language and interactive theorem  prover designed for writing machine-checkable mathematical proofs and formally verified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Mathematical statements and programs live in the same language, letting users express definitions, theorems, and proofs as executable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Lean 4 is open source, has its own package manager and ecosystem, and underpins the large Lean mathematical library (mathlib), which researchers and AI systems use to formalize advanced mathematics and verify software and hardware systems</a:t>
            </a:r>
            <a:endParaRPr sz="1100">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Siraj Raval runs a 24-hour experiment with three AI models and three Erdős problems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One known result is successfully formalized, a famous $1,000 graph-theory conjecture resists proof but gets a clean formal statement, and a nontrivial special case of an “impossible” additive number theory problem is fully proved in 285 lines of Lean 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Throughout, the human acts as pilot while Lean is the strict judge: the AI repeatedly proposes proofs, receives compiler errors, and patches them until the file compiles with no “sorry” placeholders, meaning every step is fully justified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video closes by claiming the real shift is not that AI solves all open problems, but that it collapses the cost of attempting serious math, opening formal theorem proving to engineers and amateurs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https://www.youtube.com/watch?v=Q7INj06TUv4</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https://lean-lang.org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https://www.therundown.ai/p/ai-cracks-30-year-math-problem</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6"/>
              </a:rPr>
              <a:t>https://huggingface.co/deepseek-ai/DeepSeek-Prover-V2-671B</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7"/>
              </a:rPr>
              <a:t>https://www.nature.com/articles/d41586-025-03959-9</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71" name="Google Shape;271;p3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523600" y="1130250"/>
            <a:ext cx="2457626" cy="1544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75"/>
        <p:cNvGrpSpPr/>
        <p:nvPr/>
      </p:nvGrpSpPr>
      <p:grpSpPr>
        <a:xfrm>
          <a:off x="0" y="0"/>
          <a:ext cx="0" cy="0"/>
          <a:chOff x="0" y="0"/>
          <a:chExt cx="0" cy="0"/>
        </a:xfrm>
      </p:grpSpPr>
      <p:sp>
        <p:nvSpPr>
          <p:cNvPr id="276" name="Google Shape;276;p34"/>
          <p:cNvSpPr txBox="1"/>
          <p:nvPr/>
        </p:nvSpPr>
        <p:spPr>
          <a:xfrm>
            <a:off x="55075" y="20375"/>
            <a:ext cx="5138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China is Building Its Own ASML Machines </a:t>
            </a:r>
            <a:endParaRPr sz="2000" b="1" i="0" u="none" strike="noStrike" cap="none">
              <a:solidFill>
                <a:schemeClr val="dk1"/>
              </a:solidFill>
              <a:latin typeface="Calibri"/>
              <a:ea typeface="Calibri"/>
              <a:cs typeface="Calibri"/>
              <a:sym typeface="Calibri"/>
            </a:endParaRPr>
          </a:p>
        </p:txBody>
      </p:sp>
      <p:sp>
        <p:nvSpPr>
          <p:cNvPr id="277" name="Google Shape;277;p34"/>
          <p:cNvSpPr txBox="1"/>
          <p:nvPr/>
        </p:nvSpPr>
        <p:spPr>
          <a:xfrm>
            <a:off x="111575" y="369200"/>
            <a:ext cx="5028600" cy="375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Reuters reports that Chinese scientists have secretly built a huge prototype EUV lithography machine in a secure Shenzhen lab using ex-ASML engineers and salvaged ASML parts, years earlier than Western experts expected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machine can generate 13.5 nm EUV light but is not yet producing working chips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China is officially targeting chip production by 2028, with engineers suggesting 2030 as more realistic, still far ahead of prior forecasts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project is treated as a “Chinese Manhattan Project,” run at the top levels of the CCP, aiming for full semiconductor and technological sovereignty so China can make cutting-edge AI chips without Western supply chains or export controls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If successful, it could erase the US compute advantage that underpins current AI and AGI strategy, compress timelines, intensify a US–China AI arms race, and weaken Western attempts to govern AI via hardware restrictions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EUV stands for “extreme ultraviolet” lithography, a chipmaking process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ASML is a Dutch semiconductor equipment company and the sole commercial producer of EUV lithography machines used in advanced chip manufacturing</a:t>
            </a:r>
            <a:br>
              <a:rPr lang="en" sz="1200">
                <a:latin typeface="Calibri"/>
                <a:ea typeface="Calibri"/>
                <a:cs typeface="Calibri"/>
                <a:sym typeface="Calibri"/>
              </a:rPr>
            </a:br>
            <a:r>
              <a:rPr lang="en" sz="1200">
                <a:latin typeface="Calibri"/>
                <a:ea typeface="Calibri"/>
                <a:cs typeface="Calibri"/>
                <a:sym typeface="Calibri"/>
              </a:rPr>
              <a:t>(ASML stood for Advanced Semiconductor Materials Lithography)</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https://www.youtube.com/watch?v=axSGGYS4_Is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https://www.reuters.com/world/china/how-china-built-its-manhattan-project-rival-west-ai-chips-2025-12-17/</a:t>
            </a:r>
            <a:r>
              <a:rPr lang="en" sz="900">
                <a:latin typeface="Calibri"/>
                <a:ea typeface="Calibri"/>
                <a:cs typeface="Calibri"/>
                <a:sym typeface="Calibri"/>
              </a:rPr>
              <a:t> </a:t>
            </a:r>
            <a:endParaRPr sz="900">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Predictions 2026</a:t>
            </a:r>
            <a:endParaRPr sz="2000" b="1" i="0" u="none" strike="noStrike" cap="none">
              <a:solidFill>
                <a:schemeClr val="dk1"/>
              </a:solidFill>
              <a:latin typeface="Calibri"/>
              <a:ea typeface="Calibri"/>
              <a:cs typeface="Calibri"/>
              <a:sym typeface="Calibri"/>
            </a:endParaRPr>
          </a:p>
        </p:txBody>
      </p:sp>
      <p:sp>
        <p:nvSpPr>
          <p:cNvPr id="283" name="Google Shape;283;p35"/>
          <p:cNvSpPr txBox="1"/>
          <p:nvPr/>
        </p:nvSpPr>
        <p:spPr>
          <a:xfrm>
            <a:off x="111575" y="369200"/>
            <a:ext cx="44139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Acceleration becomes obvious to everyone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becomes physical (robots, cars), AI everywhere (at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a:solidFill>
                  <a:schemeClr val="dk1"/>
                </a:solidFill>
                <a:latin typeface="Calibri"/>
                <a:ea typeface="Calibri"/>
                <a:cs typeface="Calibri"/>
                <a:sym typeface="Calibri"/>
              </a:rPr>
              <a:t>When, not if", </a:t>
            </a:r>
            <a:r>
              <a:rPr lang="en" sz="1200">
                <a:latin typeface="Calibri"/>
                <a:ea typeface="Calibri"/>
                <a:cs typeface="Calibri"/>
                <a:sym typeface="Calibri"/>
              </a:rPr>
              <a:t>"singularity" as a process,   compounding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Space "race" becomes visible again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starts solving math challenges (</a:t>
            </a:r>
            <a:r>
              <a:rPr lang="en" sz="1200">
                <a:solidFill>
                  <a:schemeClr val="dk1"/>
                </a:solidFill>
                <a:latin typeface="Calibri"/>
                <a:ea typeface="Calibri"/>
                <a:cs typeface="Calibri"/>
                <a:sym typeface="Calibri"/>
              </a:rPr>
              <a:t>Millennium Prize problems)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Quantization + memory/compression - better faster models; more thinking iterations, bigger context, better post-training reasoning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a:solidFill>
                  <a:schemeClr val="dk1"/>
                </a:solidFill>
                <a:latin typeface="Calibri"/>
                <a:ea typeface="Calibri"/>
                <a:cs typeface="Calibri"/>
                <a:sym typeface="Calibri"/>
              </a:rPr>
              <a:t>AI-native" replaces "Digital transformation"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From patching old system to building </a:t>
            </a:r>
            <a:r>
              <a:rPr lang="en" sz="1200">
                <a:latin typeface="Calibri"/>
                <a:ea typeface="Calibri"/>
                <a:cs typeface="Calibri"/>
                <a:sym typeface="Calibri"/>
              </a:rPr>
              <a:t>"AI-native clones on the edge"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Move humans "out of the bottleneck middle"; put them in "spot-checking / exception handling" roles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Expect 10x - 20x fewer employees for same output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Consulting becomes more about "rebuilding institutions" and providing "cover/scapegoat + guidance" in high-volatility change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"Remote Turing Test" becomes normal on Zoom</a:t>
            </a:r>
            <a:r>
              <a:rPr lang="en" sz="1200">
                <a:latin typeface="Calibri"/>
                <a:ea typeface="Calibri"/>
                <a:cs typeface="Calibri"/>
                <a:sym typeface="Calibri"/>
              </a:rPr>
              <a:t> - you can’t tell whether a coworker is human or AI (1080p/4K-quality, real-time)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employees (accountants/lawyers/marketers) sold as “full stack” workers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Benchmarks saturate, knowledge work can be automated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 can do more with less; multiple young billionaires - fast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cycle from “breakthrough” to "$10B valuation" gets shorter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Education: </a:t>
            </a:r>
            <a:r>
              <a:rPr lang="en" sz="1200">
                <a:solidFill>
                  <a:schemeClr val="dk1"/>
                </a:solidFill>
                <a:latin typeface="Calibri"/>
                <a:ea typeface="Calibri"/>
                <a:cs typeface="Calibri"/>
                <a:sym typeface="Calibri"/>
              </a:rPr>
              <a:t>training for fixed roles collapses. degrees/tests gets substituted by "</a:t>
            </a:r>
            <a:r>
              <a:rPr lang="en" sz="1200">
                <a:latin typeface="Calibri"/>
                <a:ea typeface="Calibri"/>
                <a:cs typeface="Calibri"/>
                <a:sym typeface="Calibri"/>
              </a:rPr>
              <a:t>portfolio of what you have built"; demonstrate initiative, speed, start stuff, don't wait for permission</a:t>
            </a:r>
            <a:endParaRPr sz="1200">
              <a:latin typeface="Calibri"/>
              <a:ea typeface="Calibri"/>
              <a:cs typeface="Calibri"/>
              <a:sym typeface="Calibri"/>
            </a:endParaRPr>
          </a:p>
        </p:txBody>
      </p:sp>
      <p:sp>
        <p:nvSpPr>
          <p:cNvPr id="284" name="Google Shape;284;p35"/>
          <p:cNvSpPr txBox="1"/>
          <p:nvPr/>
        </p:nvSpPr>
        <p:spPr>
          <a:xfrm>
            <a:off x="4649100" y="2047100"/>
            <a:ext cx="44139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Autonomous cars, robots; Capability may arrive before mass availability due to supply chain + cost + liability constraints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Prices will go down, some countries/zones will move faster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Human trials begin for partial epigenetic reprogramming (fixing genetics for eye disease,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Assume it’s coming; build plans now.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world rewards people who build, ship, adapt, and learn fast - especially as credentials lose value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Expect "humans in the loop" to move to exception-handling; Design workflows so humans aren’t the throughput bottleneck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Speed is leverage; speed compounds; windows of opportunity shrink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 normalize miracles fast. Even dramatic breakthroughs will feel "normal" surprisingly quickly—so keep raising your ambition level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https://www.youtube.com/watch?v=NHAzpG95ptI</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85" name="Google Shape;285;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77875" y="152400"/>
            <a:ext cx="3178809" cy="1742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36"/>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 - Surviving</a:t>
            </a:r>
            <a:endParaRPr sz="2000" b="1" i="0" u="none" strike="noStrike" cap="none">
              <a:solidFill>
                <a:schemeClr val="dk1"/>
              </a:solidFill>
              <a:latin typeface="Calibri"/>
              <a:ea typeface="Calibri"/>
              <a:cs typeface="Calibri"/>
              <a:sym typeface="Calibri"/>
            </a:endParaRPr>
          </a:p>
        </p:txBody>
      </p:sp>
      <p:sp>
        <p:nvSpPr>
          <p:cNvPr id="291" name="Google Shape;291;p36"/>
          <p:cNvSpPr txBox="1"/>
          <p:nvPr/>
        </p:nvSpPr>
        <p:spPr>
          <a:xfrm>
            <a:off x="111575" y="369200"/>
            <a:ext cx="50067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Enterprises must become AI-driven by 2026 or risk major disruption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Especially in knowledge-heavy sectors like media, legal services, BPO (Business Process Outsourcing), and customer support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Most firms should start with clean, focused data for 2–3 high-value use cases, run real pilots (often with external partners), and measure outcomes on concrete operational KPIs instead of broad AI “science projects”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Thousands of narrow, task-specific benchmarks, human-in-the-loop systems, and multi-agent architectures tailored to each company’s workflows, while predicting big gains from multimodal models, RL “gyms,” and AI-native startups that can redesign entire business functions from scratch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https://www.youtube.com/watch?v=7GFKB0oKd9A</a:t>
            </a:r>
            <a:r>
              <a:rPr lang="en" sz="1200">
                <a:latin typeface="Calibri"/>
                <a:ea typeface="Calibri"/>
                <a:cs typeface="Calibri"/>
                <a:sym typeface="Calibri"/>
              </a:rPr>
              <a:t> </a:t>
            </a:r>
            <a:endParaRPr sz="1200">
              <a:latin typeface="Calibri"/>
              <a:ea typeface="Calibri"/>
              <a:cs typeface="Calibri"/>
              <a:sym typeface="Calibri"/>
            </a:endParaRPr>
          </a:p>
        </p:txBody>
      </p:sp>
      <p:pic>
        <p:nvPicPr>
          <p:cNvPr id="292" name="Google Shape;292;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89375" y="497988"/>
            <a:ext cx="3275426" cy="179262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96"/>
        <p:cNvGrpSpPr/>
        <p:nvPr/>
      </p:nvGrpSpPr>
      <p:grpSpPr>
        <a:xfrm>
          <a:off x="0" y="0"/>
          <a:ext cx="0" cy="0"/>
          <a:chOff x="0" y="0"/>
          <a:chExt cx="0" cy="0"/>
        </a:xfrm>
      </p:grpSpPr>
      <p:sp>
        <p:nvSpPr>
          <p:cNvPr id="297" name="Google Shape;297;p37"/>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T5Gemma 2</a:t>
            </a:r>
            <a:endParaRPr sz="2000" b="1" i="0" u="none" strike="noStrike" cap="none">
              <a:solidFill>
                <a:schemeClr val="dk1"/>
              </a:solidFill>
              <a:latin typeface="Calibri"/>
              <a:ea typeface="Calibri"/>
              <a:cs typeface="Calibri"/>
              <a:sym typeface="Calibri"/>
            </a:endParaRPr>
          </a:p>
        </p:txBody>
      </p:sp>
      <p:sp>
        <p:nvSpPr>
          <p:cNvPr id="298" name="Google Shape;298;p37"/>
          <p:cNvSpPr txBox="1"/>
          <p:nvPr/>
        </p:nvSpPr>
        <p:spPr>
          <a:xfrm>
            <a:off x="111575" y="499101"/>
            <a:ext cx="56499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T5Gemma 2</a:t>
            </a:r>
            <a:r>
              <a:rPr lang="en" sz="1200">
                <a:latin typeface="Calibri"/>
                <a:ea typeface="Calibri"/>
                <a:cs typeface="Calibri"/>
                <a:sym typeface="Calibri"/>
              </a:rPr>
              <a:t> - a new family of open </a:t>
            </a:r>
            <a:r>
              <a:rPr lang="en" sz="1200" b="1">
                <a:solidFill>
                  <a:srgbClr val="FF0000"/>
                </a:solidFill>
                <a:latin typeface="Calibri"/>
                <a:ea typeface="Calibri"/>
                <a:cs typeface="Calibri"/>
                <a:sym typeface="Calibri"/>
              </a:rPr>
              <a:t>multimodal encoder–decoder</a:t>
            </a:r>
            <a:r>
              <a:rPr lang="en" sz="1200">
                <a:latin typeface="Calibri"/>
                <a:ea typeface="Calibri"/>
                <a:cs typeface="Calibri"/>
                <a:sym typeface="Calibri"/>
              </a:rPr>
              <a:t> models adapted from Gemma 3, designed to fully read and process inputs - text and images - before generating answers, prioritizing accurate understanding of long, complex documents over chatty responsiveness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 = Text-to-Text Transfer Transformer</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models use an encoder to build a structured internal representation of inputs (including SigLIP-based image tokens) and a decoder that generates text from this representation, making them well-suited for internal search, document analysis, legal files, specs, and other high-stakes long-context workloads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 Gemma 2 inherits Gemma 3’s strengths - multimodality, up to 128K-token context, and support for 140+ languages - and comes in three matched encoder–decoder sizes (≈370M, 1.7B, and 7B parameters excluding vision), with shared embeddings, merged attention, and a frozen vision encoder for efficiency and stability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T5Gemma 2 can be used for downstream fine-tuning where the cost of misunderstanding long inputs is higher than the cost of slightly slower responses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T5Gemma 2 shines at tasks that need deep understanding + generation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(e.g., translation, summarization, complex reasoning). Also when dealing with multimodal input (text + images) and very long context processing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Compared to Gemma 3 (decoder-only), T5Gemma 2 generally outperforms same-size Gemma 3 models on many benchmarks across reasoning, multilingual tasks, and multimodal tasks. But Gemma 3 might still be more efficient for pure autoregressive generation tasks or lightweight text generation</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8"/>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Mistral OCR 3</a:t>
            </a:r>
            <a:endParaRPr sz="2000" b="1" i="0" u="none" strike="noStrike" cap="none">
              <a:solidFill>
                <a:schemeClr val="dk1"/>
              </a:solidFill>
              <a:latin typeface="Calibri"/>
              <a:ea typeface="Calibri"/>
              <a:cs typeface="Calibri"/>
              <a:sym typeface="Calibri"/>
            </a:endParaRPr>
          </a:p>
        </p:txBody>
      </p:sp>
      <p:sp>
        <p:nvSpPr>
          <p:cNvPr id="304" name="Google Shape;304;p38"/>
          <p:cNvSpPr txBox="1"/>
          <p:nvPr/>
        </p:nvSpPr>
        <p:spPr>
          <a:xfrm>
            <a:off x="111575" y="369200"/>
            <a:ext cx="50067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Mistral AI released Mistral OCR 3, an OCR and document AI system aimed at messy, real-world documents—PDFs, scans, forms, invoices, handwritten notes, and complex tables—so AI systems can reliably consume them at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internal tests with real business documents, OCR 3 beats the previous version about 74% of the time, particularly on noisy forms and tables, which translates into fewer silent extraction errors in downstream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preserves layout and structure—keeping tables as tables and returning structured outputs instead of raw text—which is crucial for search, analytics, and agents that depend on clean schemas rather than flattened strings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OCR 3 is accessible both via a document AI playground (uploading files interactively) and a production API that handles PDFs, Word, PowerPoint, and images through the same pipeline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Pricing is aggressive: about $2 per 1,000 pages for standard API use and $1 per 1,000 pages for batch processing, a steep cut versus many incumbents and enough to make large-scale document processing economically feasible for more teams</a:t>
            </a:r>
            <a:endParaRPr sz="1200">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9"/>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Visibility vs Standard Google SEO</a:t>
            </a:r>
            <a:endParaRPr sz="2000" b="1" i="0" u="none" strike="noStrike" cap="none">
              <a:solidFill>
                <a:schemeClr val="dk1"/>
              </a:solidFill>
              <a:latin typeface="Calibri"/>
              <a:ea typeface="Calibri"/>
              <a:cs typeface="Calibri"/>
              <a:sym typeface="Calibri"/>
            </a:endParaRPr>
          </a:p>
        </p:txBody>
      </p:sp>
      <p:sp>
        <p:nvSpPr>
          <p:cNvPr id="310" name="Google Shape;310;p39"/>
          <p:cNvSpPr txBox="1"/>
          <p:nvPr/>
        </p:nvSpPr>
        <p:spPr>
          <a:xfrm>
            <a:off x="111575" y="369200"/>
            <a:ext cx="50067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How to Rank #1 with Perplexity Parasite AI SEO!</a:t>
            </a:r>
            <a:br>
              <a:rPr lang="en" sz="1200">
                <a:latin typeface="Calibri"/>
                <a:ea typeface="Calibri"/>
                <a:cs typeface="Calibri"/>
                <a:sym typeface="Calibri"/>
              </a:rPr>
            </a:br>
            <a:r>
              <a:rPr lang="en" sz="1200">
                <a:latin typeface="Calibri"/>
                <a:ea typeface="Calibri"/>
                <a:cs typeface="Calibri"/>
                <a:sym typeface="Calibri"/>
              </a:rPr>
              <a:t>(SEO = Search Engine Optimization)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From traditional Google SEO to AI-driven search, focusing on Perplexity as a new “answer engine.”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Instead of ranking blue links, success in AI search comes from being cited directly in AI-generated answers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Click-through traffic may drop, but citations build authority, brand visibility, and trust. </a:t>
            </a:r>
            <a:r>
              <a:rPr lang="en" sz="1200" b="1">
                <a:solidFill>
                  <a:srgbClr val="FF0000"/>
                </a:solidFill>
                <a:latin typeface="Calibri"/>
                <a:ea typeface="Calibri"/>
                <a:cs typeface="Calibri"/>
                <a:sym typeface="Calibri"/>
              </a:rPr>
              <a:t>The key metric is no longer rankings, but whether AI systems cite your content.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"Parasite SEO" for AI visibility: leveraging high-authority platforms like Medium, LinkedIn, Quora, and forums to get cited quickly, often within days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process involves researching conversational, question-based queries directly inside Perplexity, then creating clear, structured, factual content optimized for AI answers rather than keyword-heavy blog posts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Content should answer questions immediately, use short paragraphs, clear headers, and concrete examples.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Freshness is critical: AI prioritizes recent, updated content, so regular updates are essential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Testing prompts in Perplexity helps preview and refine content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Backlinks matter less than clarity, structure, credibility, and cited sources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Overall, the strategy emphasizes fast authority building through AI citations rather than slow, traditional SEO rankings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https://www.youtube.com/watch?v=fjwu45wqgx0</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0"/>
          <p:cNvSpPr txBox="1"/>
          <p:nvPr/>
        </p:nvSpPr>
        <p:spPr>
          <a:xfrm>
            <a:off x="55075" y="20375"/>
            <a:ext cx="444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Nitrogen for game playing</a:t>
            </a:r>
            <a:endParaRPr sz="2000" b="1" i="0" u="none" strike="noStrike" cap="none">
              <a:solidFill>
                <a:schemeClr val="dk1"/>
              </a:solidFill>
              <a:latin typeface="Calibri"/>
              <a:ea typeface="Calibri"/>
              <a:cs typeface="Calibri"/>
              <a:sym typeface="Calibri"/>
            </a:endParaRPr>
          </a:p>
        </p:txBody>
      </p:sp>
      <p:sp>
        <p:nvSpPr>
          <p:cNvPr id="316" name="Google Shape;316;p40"/>
          <p:cNvSpPr txBox="1"/>
          <p:nvPr/>
        </p:nvSpPr>
        <p:spPr>
          <a:xfrm>
            <a:off x="162150" y="509350"/>
            <a:ext cx="4387500" cy="3897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Nitrogen open AI model for game playing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Nitrogen can be dropped into entirely unseen video games and still play them competently, demonstrating true generalization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Nitrogen is built on three core components.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First, a universal simulator allows any commercial game to behave like a research environment, with the agent seeing only raw pixels and sending standard controller inputs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Second, a multi-game foundation agent acts as the “brain,” using vision-only inputs and generating smooth, human-like sequences of actions rather than single button presses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Third, an internet-scale video action dataset trains the model using tens of thousands of hours of YouTube and Twitch gameplay videos with controller overlays, turning passive video into labeled action data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Pretrained once on around 1,000 games, Nitrogen achieves 40–60% zero-shot success on new games without reinforcement learning or fine-tuning, performing especially well in 3D environments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represents a shift from handcrafted, game-specific training toward GPT-style pretraining for actions, with major implications for robotics, autonomous systems, and real-world embodied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https://www.youtube.com/watch?v=c9ov2HeuLQ8</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41"/>
          <p:cNvSpPr txBox="1"/>
          <p:nvPr/>
        </p:nvSpPr>
        <p:spPr>
          <a:xfrm>
            <a:off x="55075" y="20375"/>
            <a:ext cx="224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Misc AI Updates</a:t>
            </a:r>
            <a:endParaRPr sz="2000" b="1" i="0" u="none" strike="noStrike" cap="none">
              <a:solidFill>
                <a:schemeClr val="dk1"/>
              </a:solidFill>
              <a:latin typeface="Calibri"/>
              <a:ea typeface="Calibri"/>
              <a:cs typeface="Calibri"/>
              <a:sym typeface="Calibri"/>
            </a:endParaRPr>
          </a:p>
        </p:txBody>
      </p:sp>
      <p:sp>
        <p:nvSpPr>
          <p:cNvPr id="322" name="Google Shape;322;p41"/>
          <p:cNvSpPr txBox="1"/>
          <p:nvPr/>
        </p:nvSpPr>
        <p:spPr>
          <a:xfrm>
            <a:off x="111575" y="369200"/>
            <a:ext cx="43875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Tencent HY World 1.5 (WorldPlay)</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https://x.com/DylanTFWang/status/2000943329928945985</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3D generation (Hunyuan 3D 3.0, Microsoft Trellis 2)</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https://x.com/fal/status/2001090597092831325</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5"/>
              </a:rPr>
              <a:t>https://x.com/_akhaliq/status/2001041559366598799</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Multiple AI video upgrades (Runway Gen 4.5 with audio, Alibaba WAN 2.6, Luma Ray 3 Modify)</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6"/>
              </a:rPr>
              <a:t>https://x.com/runwayml/status/1999481621326729530</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7"/>
              </a:rPr>
              <a:t>https://x.com/Alibaba_Wan/status/2000930078037827972</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8"/>
              </a:rPr>
              <a:t>https://x.com/testingcatalog/status/2001680413333319860</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“Persona Live” VTuber-style system</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9"/>
              </a:rPr>
              <a:t>https://github.com/GVCLab/PersonaLive</a:t>
            </a:r>
            <a:r>
              <a:rPr lang="en" sz="1200">
                <a:latin typeface="Calibri"/>
                <a:ea typeface="Calibri"/>
                <a:cs typeface="Calibri"/>
                <a:sym typeface="Calibri"/>
              </a:rPr>
              <a:t>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10"/>
              </a:rPr>
              <a:t>https://x.com/wildmindai/status/2000483553587687922</a:t>
            </a:r>
            <a:r>
              <a:rPr lang="en" sz="1200">
                <a:latin typeface="Calibri"/>
                <a:ea typeface="Calibri"/>
                <a:cs typeface="Calibri"/>
                <a:sym typeface="Calibri"/>
              </a:rPr>
              <a:t> </a:t>
            </a:r>
            <a:br>
              <a:rPr lang="en" sz="1200">
                <a:latin typeface="Calibri"/>
                <a:ea typeface="Calibri"/>
                <a:cs typeface="Calibri"/>
                <a:sym typeface="Calibri"/>
              </a:rPr>
            </a:b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More links - </a:t>
            </a:r>
            <a:r>
              <a:rPr lang="en" sz="1200" u="sng">
                <a:solidFill>
                  <a:schemeClr val="hlink"/>
                </a:solidFill>
                <a:latin typeface="Calibri"/>
                <a:ea typeface="Calibri"/>
                <a:cs typeface="Calibri"/>
                <a:sym typeface="Calibri"/>
                <a:hlinkClick r:id="rId11"/>
              </a:rPr>
              <a:t>https://www.youtube.com/watch?v=IRWp2NKkg4Y</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26"/>
        <p:cNvGrpSpPr/>
        <p:nvPr/>
      </p:nvGrpSpPr>
      <p:grpSpPr>
        <a:xfrm>
          <a:off x="0" y="0"/>
          <a:ext cx="0" cy="0"/>
          <a:chOff x="0" y="0"/>
          <a:chExt cx="0" cy="0"/>
        </a:xfrm>
      </p:grpSpPr>
      <p:sp>
        <p:nvSpPr>
          <p:cNvPr id="327" name="Google Shape;327;p42"/>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28" name="Google Shape;328;p42"/>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29" name="Google Shape;329;p42"/>
          <p:cNvSpPr txBox="1"/>
          <p:nvPr/>
        </p:nvSpPr>
        <p:spPr>
          <a:xfrm>
            <a:off x="5144548" y="507700"/>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(as of December 18)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30" name="Google Shape;330;p42"/>
          <p:cNvSpPr txBox="1"/>
          <p:nvPr/>
        </p:nvSpPr>
        <p:spPr>
          <a:xfrm>
            <a:off x="5162100" y="4228625"/>
            <a:ext cx="394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209,838 people laid off (596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31" name="Google Shape;331;p42"/>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99474"/>
            <a:ext cx="5030177" cy="1911114"/>
          </a:xfrm>
          <a:prstGeom prst="rect">
            <a:avLst/>
          </a:prstGeom>
          <a:noFill/>
          <a:ln w="9525" cap="flat" cmpd="sng">
            <a:solidFill>
              <a:srgbClr val="FF0000"/>
            </a:solidFill>
            <a:prstDash val="solid"/>
            <a:round/>
            <a:headEnd type="none" w="sm" len="sm"/>
            <a:tailEnd type="none" w="sm" len="sm"/>
          </a:ln>
        </p:spPr>
      </p:pic>
      <p:pic>
        <p:nvPicPr>
          <p:cNvPr id="332" name="Google Shape;332;p4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9365"/>
            <a:ext cx="5030175" cy="25807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pic>
        <p:nvPicPr>
          <p:cNvPr id="337" name="Google Shape;337;p4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38" name="Google Shape;338;p43"/>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39" name="Google Shape;339;p43"/>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40" name="Google Shape;340;p43"/>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41" name="Google Shape;341;p43"/>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42" name="Google Shape;342;p43"/>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6"/>
        <p:cNvGrpSpPr/>
        <p:nvPr/>
      </p:nvGrpSpPr>
      <p:grpSpPr>
        <a:xfrm>
          <a:off x="0" y="0"/>
          <a:ext cx="0" cy="0"/>
          <a:chOff x="0" y="0"/>
          <a:chExt cx="0" cy="0"/>
        </a:xfrm>
      </p:grpSpPr>
      <p:sp>
        <p:nvSpPr>
          <p:cNvPr id="347" name="Google Shape;347;p44"/>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6589</Words>
  <Application>Microsoft Macintosh PowerPoint</Application>
  <PresentationFormat>On-screen Show (16:9)</PresentationFormat>
  <Paragraphs>557</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2025-12-23T22:10:39Z</dcterms:modified>
</cp:coreProperties>
</file>