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9144000" cy="5143500" type="screen16x9"/>
  <p:notesSz cx="6858000" cy="9144000"/>
  <p:embeddedFontLst>
    <p:embeddedFont>
      <p:font typeface="Roboto Mono" pitchFamily="49" charset="0"/>
      <p:regular r:id="rId34"/>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F112CE2-D0B5-4E12-B3F5-7B97419CF3DC}">
  <a:tblStyle styleId="{8F112CE2-D0B5-4E12-B3F5-7B97419CF3DC}"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711"/>
  </p:normalViewPr>
  <p:slideViewPr>
    <p:cSldViewPr>
      <p:cViewPr varScale="1">
        <p:scale>
          <a:sx n="107" d="100"/>
          <a:sy n="107" d="100"/>
        </p:scale>
        <p:origin x="1056" y="4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1.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633c15ed8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g3633c15ed82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b3626ea12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4" name="Google Shape;144;g3b3626ea124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b2ead8891e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3" name="Google Shape;153;g3b2ead8891e_0_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b36cfba078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3" name="Google Shape;163;g3b36cfba078_1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392013508ab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5" name="Google Shape;175;g392013508ab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ab6c7aaab3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4" name="Google Shape;184;g3ab6c7aaab3_0_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3b20bcec09b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0" name="Google Shape;190;g3b20bcec09b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3b3827c988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1" name="Google Shape;201;g3b3827c9886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3b367176662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8" name="Google Shape;208;g3b367176662_1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3b367176662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7" name="Google Shape;217;g3b367176662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3b36cfba078_1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4" name="Google Shape;224;g3b36cfba078_1_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b36cfba078_1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3" name="Google Shape;233;g3b36cfba078_1_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3b2ead8891e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1" name="Google Shape;241;g3b2ead8891e_0_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3b322b5571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0" name="Google Shape;250;g3b322b55714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3b2ead8891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7" name="Google Shape;257;g3b2ead8891e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3b2eeb2cec6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2" name="Google Shape;272;g3b2eeb2cec6_0_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3b2ead8891e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3b2ead8891e_0_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3b3626ea124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8" name="Google Shape;288;g3b3626ea124_0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3b3626ea124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6" name="Google Shape;296;g3b3626ea124_0_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3b2eeb2cec6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3" name="Google Shape;303;g3b2eeb2cec6_0_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g3b369b37d9f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1" name="Google Shape;311;g3b369b37d9f_1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g3b369b37d9f_1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8" name="Google Shape;318;g3b369b37d9f_1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3b369b37d9f_1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7" name="Google Shape;327;g3b369b37d9f_1_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3b2f723cd6d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4" name="Google Shape;334;g3b2f723cd6d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3b2f723cd6d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2" name="Google Shape;342;g3b2f723cd6d_0_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g3b2f8fdd1e2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9" name="Google Shape;349;g3b2f8fdd1e2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3b36f706c4e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8" name="Google Shape;358;g3b36f706c4e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5" name="Google Shape;365;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5" name="Google Shape;375;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p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5" name="Google Shape;385;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457172" y="1203299"/>
            <a:ext cx="8228700" cy="2982600"/>
          </a:xfrm>
          <a:prstGeom prst="rect">
            <a:avLst/>
          </a:prstGeom>
          <a:noFill/>
          <a:ln>
            <a:noFill/>
          </a:ln>
        </p:spPr>
        <p:txBody>
          <a:bodyPr spcFirstLastPara="1" wrap="square" lIns="0" tIns="0" rIns="0" bIns="0" anchor="t" anchorCtr="0">
            <a:normAutofit/>
          </a:bodyPr>
          <a:lstStyle>
            <a:lvl1pPr marL="457200" lvl="0" indent="-228600" algn="l">
              <a:lnSpc>
                <a:spcPct val="115000"/>
              </a:lnSpc>
              <a:spcBef>
                <a:spcPts val="0"/>
              </a:spcBef>
              <a:spcAft>
                <a:spcPts val="0"/>
              </a:spcAft>
              <a:buSzPts val="1800"/>
              <a:buNone/>
              <a:defRPr/>
            </a:lvl1pPr>
            <a:lvl2pPr marL="914400" lvl="1" indent="-228600" algn="l">
              <a:lnSpc>
                <a:spcPct val="115000"/>
              </a:lnSpc>
              <a:spcBef>
                <a:spcPts val="0"/>
              </a:spcBef>
              <a:spcAft>
                <a:spcPts val="0"/>
              </a:spcAft>
              <a:buSzPts val="1400"/>
              <a:buNone/>
              <a:defRPr/>
            </a:lvl2pPr>
            <a:lvl3pPr marL="1371600" lvl="2" indent="-228600" algn="l">
              <a:lnSpc>
                <a:spcPct val="115000"/>
              </a:lnSpc>
              <a:spcBef>
                <a:spcPts val="0"/>
              </a:spcBef>
              <a:spcAft>
                <a:spcPts val="0"/>
              </a:spcAft>
              <a:buSzPts val="1400"/>
              <a:buNone/>
              <a:defRPr/>
            </a:lvl3pPr>
            <a:lvl4pPr marL="1828800" lvl="3" indent="-228600" algn="l">
              <a:lnSpc>
                <a:spcPct val="115000"/>
              </a:lnSpc>
              <a:spcBef>
                <a:spcPts val="0"/>
              </a:spcBef>
              <a:spcAft>
                <a:spcPts val="0"/>
              </a:spcAft>
              <a:buSzPts val="1400"/>
              <a:buNone/>
              <a:defRPr/>
            </a:lvl4pPr>
            <a:lvl5pPr marL="2286000" lvl="4" indent="-228600" algn="l">
              <a:lnSpc>
                <a:spcPct val="115000"/>
              </a:lnSpc>
              <a:spcBef>
                <a:spcPts val="0"/>
              </a:spcBef>
              <a:spcAft>
                <a:spcPts val="0"/>
              </a:spcAft>
              <a:buSzPts val="1400"/>
              <a:buNone/>
              <a:defRPr/>
            </a:lvl5pPr>
            <a:lvl6pPr marL="2743200" lvl="5" indent="-228600" algn="l">
              <a:lnSpc>
                <a:spcPct val="115000"/>
              </a:lnSpc>
              <a:spcBef>
                <a:spcPts val="0"/>
              </a:spcBef>
              <a:spcAft>
                <a:spcPts val="0"/>
              </a:spcAft>
              <a:buSzPts val="1400"/>
              <a:buNone/>
              <a:defRPr/>
            </a:lvl6pPr>
            <a:lvl7pPr marL="3200400" lvl="6" indent="-228600" algn="l">
              <a:lnSpc>
                <a:spcPct val="115000"/>
              </a:lnSpc>
              <a:spcBef>
                <a:spcPts val="0"/>
              </a:spcBef>
              <a:spcAft>
                <a:spcPts val="0"/>
              </a:spcAft>
              <a:buSzPts val="1400"/>
              <a:buNone/>
              <a:defRPr/>
            </a:lvl7pPr>
            <a:lvl8pPr marL="3657600" lvl="7" indent="-228600" algn="l">
              <a:lnSpc>
                <a:spcPct val="115000"/>
              </a:lnSpc>
              <a:spcBef>
                <a:spcPts val="0"/>
              </a:spcBef>
              <a:spcAft>
                <a:spcPts val="0"/>
              </a:spcAft>
              <a:buSzPts val="1400"/>
              <a:buNone/>
              <a:defRPr/>
            </a:lvl8pPr>
            <a:lvl9pPr marL="4114800" lvl="8" indent="-228600" algn="l">
              <a:lnSpc>
                <a:spcPct val="115000"/>
              </a:lnSpc>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p:cSld name="SECTION_HEADER_1">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623888" y="1282303"/>
            <a:ext cx="7886700" cy="2139600"/>
          </a:xfrm>
          <a:prstGeom prst="rect">
            <a:avLst/>
          </a:prstGeom>
          <a:noFill/>
          <a:ln>
            <a:noFill/>
          </a:ln>
        </p:spPr>
        <p:txBody>
          <a:bodyPr spcFirstLastPara="1" wrap="square" lIns="68575" tIns="68575" rIns="68575" bIns="68575" anchor="b" anchorCtr="0">
            <a:noAutofit/>
          </a:bodyPr>
          <a:lstStyle>
            <a:lvl1pPr marR="0" lvl="0" algn="l">
              <a:lnSpc>
                <a:spcPct val="90000"/>
              </a:lnSpc>
              <a:spcBef>
                <a:spcPts val="0"/>
              </a:spcBef>
              <a:spcAft>
                <a:spcPts val="0"/>
              </a:spcAft>
              <a:buClr>
                <a:schemeClr val="dk1"/>
              </a:buClr>
              <a:buSzPts val="4500"/>
              <a:buFont typeface="Calibri"/>
              <a:buNone/>
              <a:defRPr sz="4500" b="0" i="0" u="none" strike="noStrike" cap="none">
                <a:solidFill>
                  <a:schemeClr val="dk1"/>
                </a:solidFill>
                <a:latin typeface="Calibri"/>
                <a:ea typeface="Calibri"/>
                <a:cs typeface="Calibri"/>
                <a:sym typeface="Calibri"/>
              </a:defRPr>
            </a:lvl1pPr>
            <a:lvl2pPr lvl="1" algn="l">
              <a:lnSpc>
                <a:spcPct val="100000"/>
              </a:lnSpc>
              <a:spcBef>
                <a:spcPts val="0"/>
              </a:spcBef>
              <a:spcAft>
                <a:spcPts val="0"/>
              </a:spcAft>
              <a:buSzPts val="1100"/>
              <a:buNone/>
              <a:defRPr sz="1400"/>
            </a:lvl2pPr>
            <a:lvl3pPr lvl="2" algn="l">
              <a:lnSpc>
                <a:spcPct val="100000"/>
              </a:lnSpc>
              <a:spcBef>
                <a:spcPts val="0"/>
              </a:spcBef>
              <a:spcAft>
                <a:spcPts val="0"/>
              </a:spcAft>
              <a:buSzPts val="1100"/>
              <a:buNone/>
              <a:defRPr sz="1400"/>
            </a:lvl3pPr>
            <a:lvl4pPr lvl="3" algn="l">
              <a:lnSpc>
                <a:spcPct val="100000"/>
              </a:lnSpc>
              <a:spcBef>
                <a:spcPts val="0"/>
              </a:spcBef>
              <a:spcAft>
                <a:spcPts val="0"/>
              </a:spcAft>
              <a:buSzPts val="1100"/>
              <a:buNone/>
              <a:defRPr sz="1400"/>
            </a:lvl4pPr>
            <a:lvl5pPr lvl="4" algn="l">
              <a:lnSpc>
                <a:spcPct val="100000"/>
              </a:lnSpc>
              <a:spcBef>
                <a:spcPts val="0"/>
              </a:spcBef>
              <a:spcAft>
                <a:spcPts val="0"/>
              </a:spcAft>
              <a:buSzPts val="1100"/>
              <a:buNone/>
              <a:defRPr sz="1400"/>
            </a:lvl5pPr>
            <a:lvl6pPr lvl="5" algn="l">
              <a:lnSpc>
                <a:spcPct val="100000"/>
              </a:lnSpc>
              <a:spcBef>
                <a:spcPts val="0"/>
              </a:spcBef>
              <a:spcAft>
                <a:spcPts val="0"/>
              </a:spcAft>
              <a:buSzPts val="1100"/>
              <a:buNone/>
              <a:defRPr sz="1400"/>
            </a:lvl6pPr>
            <a:lvl7pPr lvl="6" algn="l">
              <a:lnSpc>
                <a:spcPct val="100000"/>
              </a:lnSpc>
              <a:spcBef>
                <a:spcPts val="0"/>
              </a:spcBef>
              <a:spcAft>
                <a:spcPts val="0"/>
              </a:spcAft>
              <a:buSzPts val="1100"/>
              <a:buNone/>
              <a:defRPr sz="1400"/>
            </a:lvl7pPr>
            <a:lvl8pPr lvl="7" algn="l">
              <a:lnSpc>
                <a:spcPct val="100000"/>
              </a:lnSpc>
              <a:spcBef>
                <a:spcPts val="0"/>
              </a:spcBef>
              <a:spcAft>
                <a:spcPts val="0"/>
              </a:spcAft>
              <a:buSzPts val="1100"/>
              <a:buNone/>
              <a:defRPr sz="1400"/>
            </a:lvl8pPr>
            <a:lvl9pPr lvl="8" algn="l">
              <a:lnSpc>
                <a:spcPct val="100000"/>
              </a:lnSpc>
              <a:spcBef>
                <a:spcPts val="0"/>
              </a:spcBef>
              <a:spcAft>
                <a:spcPts val="0"/>
              </a:spcAft>
              <a:buSzPts val="1100"/>
              <a:buNone/>
              <a:defRPr sz="1400"/>
            </a:lvl9pPr>
          </a:lstStyle>
          <a:p>
            <a:endParaRPr/>
          </a:p>
        </p:txBody>
      </p:sp>
      <p:sp>
        <p:nvSpPr>
          <p:cNvPr id="55" name="Google Shape;55;p14"/>
          <p:cNvSpPr txBox="1">
            <a:spLocks noGrp="1"/>
          </p:cNvSpPr>
          <p:nvPr>
            <p:ph type="body" idx="1"/>
          </p:nvPr>
        </p:nvSpPr>
        <p:spPr>
          <a:xfrm>
            <a:off x="623888" y="3442097"/>
            <a:ext cx="7886700" cy="1125300"/>
          </a:xfrm>
          <a:prstGeom prst="rect">
            <a:avLst/>
          </a:prstGeom>
          <a:noFill/>
          <a:ln>
            <a:noFill/>
          </a:ln>
        </p:spPr>
        <p:txBody>
          <a:bodyPr spcFirstLastPara="1" wrap="square" lIns="68575" tIns="68575" rIns="68575" bIns="68575" anchor="t" anchorCtr="0">
            <a:noAutofit/>
          </a:bodyPr>
          <a:lstStyle>
            <a:lvl1pPr marL="457200" marR="0" lvl="0" indent="-228600" algn="l">
              <a:lnSpc>
                <a:spcPct val="90000"/>
              </a:lnSpc>
              <a:spcBef>
                <a:spcPts val="8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1pPr>
            <a:lvl2pPr marL="914400" marR="0" lvl="1" indent="-228600" algn="l">
              <a:lnSpc>
                <a:spcPct val="90000"/>
              </a:lnSpc>
              <a:spcBef>
                <a:spcPts val="400"/>
              </a:spcBef>
              <a:spcAft>
                <a:spcPts val="0"/>
              </a:spcAft>
              <a:buClr>
                <a:srgbClr val="888888"/>
              </a:buClr>
              <a:buSzPts val="1500"/>
              <a:buFont typeface="Arial"/>
              <a:buNone/>
              <a:defRPr sz="1500" b="0" i="0" u="none" strike="noStrike" cap="none">
                <a:solidFill>
                  <a:srgbClr val="888888"/>
                </a:solidFill>
                <a:latin typeface="Calibri"/>
                <a:ea typeface="Calibri"/>
                <a:cs typeface="Calibri"/>
                <a:sym typeface="Calibri"/>
              </a:defRPr>
            </a:lvl2pPr>
            <a:lvl3pPr marL="1371600" marR="0" lvl="2" indent="-228600" algn="l">
              <a:lnSpc>
                <a:spcPct val="90000"/>
              </a:lnSpc>
              <a:spcBef>
                <a:spcPts val="40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3pPr>
            <a:lvl4pPr marL="1828800" marR="0" lvl="3"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4pPr>
            <a:lvl5pPr marL="2286000" marR="0" lvl="4"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5pPr>
            <a:lvl6pPr marL="2743200" marR="0" lvl="5"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6pPr>
            <a:lvl7pPr marL="3200400" marR="0" lvl="6"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7pPr>
            <a:lvl8pPr marL="3657600" marR="0" lvl="7"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8pPr>
            <a:lvl9pPr marL="4114800" marR="0" lvl="8"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9pPr>
          </a:lstStyle>
          <a:p>
            <a:endParaRPr/>
          </a:p>
        </p:txBody>
      </p:sp>
      <p:sp>
        <p:nvSpPr>
          <p:cNvPr id="56" name="Google Shape;56;p14"/>
          <p:cNvSpPr txBox="1">
            <a:spLocks noGrp="1"/>
          </p:cNvSpPr>
          <p:nvPr>
            <p:ph type="dt" idx="10"/>
          </p:nvPr>
        </p:nvSpPr>
        <p:spPr>
          <a:xfrm>
            <a:off x="628650" y="4767263"/>
            <a:ext cx="2057400" cy="273900"/>
          </a:xfrm>
          <a:prstGeom prst="rect">
            <a:avLst/>
          </a:prstGeom>
          <a:noFill/>
          <a:ln>
            <a:noFill/>
          </a:ln>
        </p:spPr>
        <p:txBody>
          <a:bodyPr spcFirstLastPara="1" wrap="square" lIns="68575" tIns="68575" rIns="68575" bIns="685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7" name="Google Shape;57;p14"/>
          <p:cNvSpPr txBox="1">
            <a:spLocks noGrp="1"/>
          </p:cNvSpPr>
          <p:nvPr>
            <p:ph type="ftr" idx="11"/>
          </p:nvPr>
        </p:nvSpPr>
        <p:spPr>
          <a:xfrm>
            <a:off x="3028950" y="4767263"/>
            <a:ext cx="3086100" cy="273900"/>
          </a:xfrm>
          <a:prstGeom prst="rect">
            <a:avLst/>
          </a:prstGeom>
          <a:noFill/>
          <a:ln>
            <a:noFill/>
          </a:ln>
        </p:spPr>
        <p:txBody>
          <a:bodyPr spcFirstLastPara="1" wrap="square" lIns="68575" tIns="68575" rIns="68575" bIns="685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8" name="Google Shape;58;p1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3" Type="http://schemas.openxmlformats.org/officeDocument/2006/relationships/hyperlink" Target="https://huggingface.co/open-llm-leaderboard" TargetMode="External"/><Relationship Id="rId18" Type="http://schemas.openxmlformats.org/officeDocument/2006/relationships/hyperlink" Target="https://blog.google/products/gemini/gemini-3-flash" TargetMode="External"/><Relationship Id="rId26" Type="http://schemas.openxmlformats.org/officeDocument/2006/relationships/hyperlink" Target="https://openai.com/index/introducing-gpt-5-2" TargetMode="External"/><Relationship Id="rId39" Type="http://schemas.openxmlformats.org/officeDocument/2006/relationships/hyperlink" Target="https://api-docs.deepseek.com/news/news250929" TargetMode="External"/><Relationship Id="rId21" Type="http://schemas.openxmlformats.org/officeDocument/2006/relationships/hyperlink" Target="https://openai.com/index/gpt-5-1/" TargetMode="External"/><Relationship Id="rId34" Type="http://schemas.openxmlformats.org/officeDocument/2006/relationships/hyperlink" Target="https://huggingface.co/moonshotai/Kimi-K2-Thinking" TargetMode="External"/><Relationship Id="rId7" Type="http://schemas.openxmlformats.org/officeDocument/2006/relationships/hyperlink" Target="https://openlm.ai/chatbot-arena/" TargetMode="External"/><Relationship Id="rId2" Type="http://schemas.openxmlformats.org/officeDocument/2006/relationships/notesSlide" Target="../notesSlides/notesSlide2.xml"/><Relationship Id="rId16" Type="http://schemas.openxmlformats.org/officeDocument/2006/relationships/hyperlink" Target="https://artificialanalysis.ai/models/grok-4" TargetMode="External"/><Relationship Id="rId20" Type="http://schemas.openxmlformats.org/officeDocument/2006/relationships/hyperlink" Target="https://www.anthropic.com/news/claude-opus-4-5" TargetMode="External"/><Relationship Id="rId29" Type="http://schemas.openxmlformats.org/officeDocument/2006/relationships/hyperlink" Target="https://platform.openai.com/docs/models/gpt-5" TargetMode="External"/><Relationship Id="rId41" Type="http://schemas.openxmlformats.org/officeDocument/2006/relationships/hyperlink" Target="https://huggingface.co/Qwen/Qwen3-235B-A22B-Instruct-2507" TargetMode="External"/><Relationship Id="rId1" Type="http://schemas.openxmlformats.org/officeDocument/2006/relationships/slideLayout" Target="../slideLayouts/slideLayout1.xml"/><Relationship Id="rId6" Type="http://schemas.openxmlformats.org/officeDocument/2006/relationships/hyperlink" Target="https://www.designarena.ai" TargetMode="External"/><Relationship Id="rId11" Type="http://schemas.openxmlformats.org/officeDocument/2006/relationships/hyperlink" Target="https://www.stack-ai.com/llm-leaderboard" TargetMode="External"/><Relationship Id="rId24" Type="http://schemas.openxmlformats.org/officeDocument/2006/relationships/hyperlink" Target="https://www.anthropic.com/news/claude-opus-4-1" TargetMode="External"/><Relationship Id="rId32" Type="http://schemas.openxmlformats.org/officeDocument/2006/relationships/hyperlink" Target="https://x.ai/news/grok-4-1-fast" TargetMode="External"/><Relationship Id="rId37" Type="http://schemas.openxmlformats.org/officeDocument/2006/relationships/hyperlink" Target="https://www.anthropic.com/news/claude-haiku-4-5" TargetMode="External"/><Relationship Id="rId40" Type="http://schemas.openxmlformats.org/officeDocument/2006/relationships/hyperlink" Target="https://mistral.ai/news/mistral-3" TargetMode="External"/><Relationship Id="rId5" Type="http://schemas.openxmlformats.org/officeDocument/2006/relationships/hyperlink" Target="https://lmarena.ai/leaderboard/text/coding" TargetMode="External"/><Relationship Id="rId15" Type="http://schemas.openxmlformats.org/officeDocument/2006/relationships/hyperlink" Target="https://epoch.ai/data/ai-benchmarking-dashboard" TargetMode="External"/><Relationship Id="rId23" Type="http://schemas.openxmlformats.org/officeDocument/2006/relationships/hyperlink" Target="https://www.anthropic.com/news/claude-sonnet-4-5" TargetMode="External"/><Relationship Id="rId28" Type="http://schemas.openxmlformats.org/officeDocument/2006/relationships/hyperlink" Target="https://x.com/OpenAI/status/1905331956856050135" TargetMode="External"/><Relationship Id="rId36" Type="http://schemas.openxmlformats.org/officeDocument/2006/relationships/hyperlink" Target="https://qwen.ai/blog?id=241398b9cd6353de490b0f82806c7848c5d2777d&amp;from=research.latest-advancements-list" TargetMode="External"/><Relationship Id="rId10" Type="http://schemas.openxmlformats.org/officeDocument/2006/relationships/hyperlink" Target="https://llmworld.net/llm_leaderboards/" TargetMode="External"/><Relationship Id="rId19" Type="http://schemas.openxmlformats.org/officeDocument/2006/relationships/hyperlink" Target="https://x.ai/news/grok-4-1" TargetMode="External"/><Relationship Id="rId31" Type="http://schemas.openxmlformats.org/officeDocument/2006/relationships/hyperlink" Target="https://www.alibabacloud.com/help/en/model-studio/models" TargetMode="External"/><Relationship Id="rId4" Type="http://schemas.openxmlformats.org/officeDocument/2006/relationships/hyperlink" Target="https://lmarena.ai/leaderboard/text" TargetMode="External"/><Relationship Id="rId9" Type="http://schemas.openxmlformats.org/officeDocument/2006/relationships/hyperlink" Target="https://web.lmarena.ai/leaderboard" TargetMode="External"/><Relationship Id="rId14" Type="http://schemas.openxmlformats.org/officeDocument/2006/relationships/hyperlink" Target="https://www.vellum.ai/llm-leaderboard" TargetMode="External"/><Relationship Id="rId22" Type="http://schemas.openxmlformats.org/officeDocument/2006/relationships/hyperlink" Target="https://aistudio.google.com/app/prompts/new_chat?model=gemini-2.5-pro" TargetMode="External"/><Relationship Id="rId27" Type="http://schemas.openxmlformats.org/officeDocument/2006/relationships/hyperlink" Target="https://openai.com/index/introducing-gpt-4-5/" TargetMode="External"/><Relationship Id="rId30" Type="http://schemas.openxmlformats.org/officeDocument/2006/relationships/hyperlink" Target="https://openai.com/index/introducing-o3-and-o4-mini/" TargetMode="External"/><Relationship Id="rId35" Type="http://schemas.openxmlformats.org/officeDocument/2006/relationships/hyperlink" Target="https://www.anthropic.com/news/claude-4" TargetMode="External"/><Relationship Id="rId8" Type="http://schemas.openxmlformats.org/officeDocument/2006/relationships/hyperlink" Target="https://beta.lmarena.ai" TargetMode="External"/><Relationship Id="rId3" Type="http://schemas.openxmlformats.org/officeDocument/2006/relationships/hyperlink" Target="https://en.wikipedia.org/wiki/Elo_rating_system" TargetMode="External"/><Relationship Id="rId12" Type="http://schemas.openxmlformats.org/officeDocument/2006/relationships/hyperlink" Target="https://artificialanalysis.ai/leaderboards/models" TargetMode="External"/><Relationship Id="rId17" Type="http://schemas.openxmlformats.org/officeDocument/2006/relationships/hyperlink" Target="https://aistudio.google.com/app/prompts/new_chat?model=gemini-3-pro-preview" TargetMode="External"/><Relationship Id="rId25" Type="http://schemas.openxmlformats.org/officeDocument/2006/relationships/hyperlink" Target="https://ernie.baidu.com/blog/posts/ernie-5.0-preview-1203-release-on-lmarena/" TargetMode="External"/><Relationship Id="rId33" Type="http://schemas.openxmlformats.org/officeDocument/2006/relationships/hyperlink" Target="https://ernie.baidu.com/blog/posts/ernie-5.0-preview-1103-release-on-lmarena/" TargetMode="External"/><Relationship Id="rId38" Type="http://schemas.openxmlformats.org/officeDocument/2006/relationships/hyperlink" Target="https://huggingface.co/meituan-longcat/LongCat-Flash-Chat" TargetMode="External"/></Relationships>
</file>

<file path=ppt/slides/_rels/slide3.xml.rels><?xml version="1.0" encoding="UTF-8" standalone="yes"?>
<Relationships xmlns="http://schemas.openxmlformats.org/package/2006/relationships"><Relationship Id="rId8" Type="http://schemas.openxmlformats.org/officeDocument/2006/relationships/hyperlink" Target="https://www.minimax.io/news/minimax-m21" TargetMode="External"/><Relationship Id="rId13" Type="http://schemas.openxmlformats.org/officeDocument/2006/relationships/image" Target="../media/image2.png"/><Relationship Id="rId3" Type="http://schemas.openxmlformats.org/officeDocument/2006/relationships/hyperlink" Target="https://docs.z.ai/guides/llm/glm-4.7" TargetMode="External"/><Relationship Id="rId7" Type="http://schemas.openxmlformats.org/officeDocument/2006/relationships/image" Target="../media/image1.png"/><Relationship Id="rId12" Type="http://schemas.openxmlformats.org/officeDocument/2006/relationships/hyperlink" Target="https://openrouter.ai/minimax/minimax-m2.1"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hyperlink" Target="https://huggingface.co/collections/zai-org/glm-47" TargetMode="External"/><Relationship Id="rId11" Type="http://schemas.openxmlformats.org/officeDocument/2006/relationships/hyperlink" Target="https://huggingface.co/MiniMaxAI/MiniMax-M2" TargetMode="External"/><Relationship Id="rId5" Type="http://schemas.openxmlformats.org/officeDocument/2006/relationships/hyperlink" Target="https://openrouter.ai/z-ai/glm-4.7" TargetMode="External"/><Relationship Id="rId10" Type="http://schemas.openxmlformats.org/officeDocument/2006/relationships/hyperlink" Target="https://agent.minimax.io" TargetMode="External"/><Relationship Id="rId4" Type="http://schemas.openxmlformats.org/officeDocument/2006/relationships/hyperlink" Target="https://z.ai/blog/glm-4.7" TargetMode="External"/><Relationship Id="rId9" Type="http://schemas.openxmlformats.org/officeDocument/2006/relationships/hyperlink" Target="https://platform.minimax.io"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openai.com/index/introducing-gpt-5-2-codex/"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hyperlink" Target="https://www.youtube.com/watch?v=zioKpt-E5vk" TargetMode="Externa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8" Type="http://schemas.openxmlformats.org/officeDocument/2006/relationships/hyperlink" Target="https://www.youtube.com/watch?v=WOLiBYM1XFk" TargetMode="External"/><Relationship Id="rId3" Type="http://schemas.openxmlformats.org/officeDocument/2006/relationships/hyperlink" Target="https://www.alibabacloud.com/en/press-room/alibaba-unveils-wan2-6-series-enabling-everyone" TargetMode="External"/><Relationship Id="rId7"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hyperlink" Target="https://www.youtube.com/watch?v=-Tgc_9uYJLI" TargetMode="External"/><Relationship Id="rId5" Type="http://schemas.openxmlformats.org/officeDocument/2006/relationships/hyperlink" Target="https://blog.google/technology/developers/functiongemma" TargetMode="External"/><Relationship Id="rId4" Type="http://schemas.openxmlformats.org/officeDocument/2006/relationships/image" Target="../media/image5.jpeg"/><Relationship Id="rId9"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hyperlink" Target="https://www.youtube.com/watch?v=WOLiBYM1XFk"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hyperlink" Target="https://groq.com/newsroom/groq-and-nvidia-enter-non-exclusive-inference-technology-licensing-agreement-to-accelerate-ai-inference-at-global-scale" TargetMode="External"/><Relationship Id="rId5" Type="http://schemas.openxmlformats.org/officeDocument/2006/relationships/hyperlink" Target="https://www.tomshardware.com/tech-industry/artificial-intelligence/nvidia-buys-ai-chip-startup-groqs-assets-for-usd20-billion-in-the-companys-biggest-deal-ever-transaction-includes-acquihires-of-key-groq-employees-including-ceo" TargetMode="Externa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hyperlink" Target="https://www.youtube.com/@lev-selector/videos"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8" Type="http://schemas.openxmlformats.org/officeDocument/2006/relationships/hyperlink" Target="https://www.ibm.com/think/topics/continual-learning" TargetMode="External"/><Relationship Id="rId3" Type="http://schemas.openxmlformats.org/officeDocument/2006/relationships/hyperlink" Target="https://www.youtube.com/watch?v=mwpxEFpdlYo" TargetMode="External"/><Relationship Id="rId7" Type="http://schemas.openxmlformats.org/officeDocument/2006/relationships/hyperlink" Target="https://www.arxiv.org/pdf/2506.03320"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hyperlink" Target="https://www.xoriant.com/thought-leadership/article/agentic-ai-and-continuous-learning-creating-ever-evolving-systems" TargetMode="External"/><Relationship Id="rId5" Type="http://schemas.openxmlformats.org/officeDocument/2006/relationships/hyperlink" Target="https://www.letta.com/blog/continual-learning" TargetMode="External"/><Relationship Id="rId4" Type="http://schemas.openxmlformats.org/officeDocument/2006/relationships/hyperlink" Target="https://beam.ai/agentic-insights/what-is-continual-learning-(and-why-it-powers-self-learning-ai-agents)"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8" Type="http://schemas.openxmlformats.org/officeDocument/2006/relationships/hyperlink" Target="https://www.llmwatch.com/p/beyond-attention-comparing-potential" TargetMode="External"/><Relationship Id="rId3" Type="http://schemas.openxmlformats.org/officeDocument/2006/relationships/hyperlink" Target="https://research.google/blog/titans-miras-helping-ai-have-long-term-memory/" TargetMode="External"/><Relationship Id="rId7" Type="http://schemas.openxmlformats.org/officeDocument/2006/relationships/hyperlink" Target="https://www.llmwatch.com/p/google-releases-transformer-20"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hyperlink" Target="https://www.youtube.com/watch?v=x8jFFhCLDJY" TargetMode="External"/><Relationship Id="rId5" Type="http://schemas.openxmlformats.org/officeDocument/2006/relationships/hyperlink" Target="https://www.towardsdeeplearning.com/this-new-google-model-might-finally-fix-broken-ai-brains-74e6b3c985fc" TargetMode="External"/><Relationship Id="rId10" Type="http://schemas.openxmlformats.org/officeDocument/2006/relationships/image" Target="../media/image13.png"/><Relationship Id="rId4" Type="http://schemas.openxmlformats.org/officeDocument/2006/relationships/hyperlink" Target="https://medium.com/data-science-collective/google-introduces-transformer-2-0-with-a-neuroscience-inspired-architecture-cf7f0d8836a4" TargetMode="External"/><Relationship Id="rId9" Type="http://schemas.openxmlformats.org/officeDocument/2006/relationships/hyperlink" Target="https://www.youtube.com/watch?v=UMkCmOTX5Ow" TargetMode="External"/></Relationships>
</file>

<file path=ppt/slides/_rels/slide12.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hyperlink" Target="https://www.youtube.com/watch?v=rLu_3hpG0b8" TargetMode="External"/><Relationship Id="rId7" Type="http://schemas.openxmlformats.org/officeDocument/2006/relationships/hyperlink" Target="http://plan.md"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hyperlink" Target="http://spec.md" TargetMode="External"/><Relationship Id="rId5" Type="http://schemas.openxmlformats.org/officeDocument/2006/relationships/hyperlink" Target="http://readme.md" TargetMode="External"/><Relationship Id="rId4" Type="http://schemas.openxmlformats.org/officeDocument/2006/relationships/hyperlink" Target="http://context-map.md"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claude.md"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hyperlink" Target="https://docs.cline.bot/features/multiroot-workspace" TargetMode="External"/><Relationship Id="rId4" Type="http://schemas.openxmlformats.org/officeDocument/2006/relationships/hyperlink" Target="https://docs.cline.bot/features/cline-rules"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futurism.com/future-society/ai-productivity-research"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hyperlink" Target="https://www.youtube.com/watch?v=VSLEGpCemtE"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www.anthropic.com/research/bloom"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hyperlink" Target="https://www.youtube.com/watch?v=79a_q0PZMOU"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hyperlink" Target="https://www.youtube.com/watch?v=JZCvx6rEJzc" TargetMode="External"/><Relationship Id="rId4" Type="http://schemas.openxmlformats.org/officeDocument/2006/relationships/hyperlink" Target="https://finance.yahoo.com/news/ex-splunk-execs-startup-resolve-005842891.html"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www.youtube.com/watch?v=ARRbBmXK7AA"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hyperlink" Target="https://www.youtube.com/watch?v=azZtbrpl28s" TargetMode="Externa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hyperlink" Target="https://www.earth.com/news/meet-x1-the-worlds-first-multi-robot-team-with-a-humanoid-and-a-drone/"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hyperlink" Target="https://www.youtube.com/watch?v=Q7INj06TUv4" TargetMode="External"/><Relationship Id="rId7" Type="http://schemas.openxmlformats.org/officeDocument/2006/relationships/hyperlink" Target="https://www.nature.com/articles/d41586-025-03959-9"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hyperlink" Target="https://huggingface.co/deepseek-ai/DeepSeek-Prover-V2-671B" TargetMode="External"/><Relationship Id="rId5" Type="http://schemas.openxmlformats.org/officeDocument/2006/relationships/hyperlink" Target="https://www.therundown.ai/p/ai-cracks-30-year-math-problem" TargetMode="External"/><Relationship Id="rId4" Type="http://schemas.openxmlformats.org/officeDocument/2006/relationships/hyperlink" Target="https://lean-lang.org" TargetMode="External"/><Relationship Id="rId9"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hyperlink" Target="https://www.youtube.com/watch?v=axSGGYS4_Is" TargetMode="External"/><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hyperlink" Target="https://www.reuters.com/world/china/how-china-built-its-manhattan-project-rival-west-ai-chips-2025-12-17/"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s://www.youtube.com/watch?v=NHAzpG95ptI" TargetMode="External"/><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hyperlink" Target="https://www.youtube.com/watch?v=7GFKB0oKd9A" TargetMode="External"/><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hyperlink" Target="https://cloud.google.com/gemini-enterprise"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hyperlink" Target="https://www.youtube.com/watch?v=fjwu45wqgx0" TargetMode="External"/><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_rels/slide26.xml.rels><?xml version="1.0" encoding="UTF-8" standalone="yes"?>
<Relationships xmlns="http://schemas.openxmlformats.org/package/2006/relationships"><Relationship Id="rId3" Type="http://schemas.openxmlformats.org/officeDocument/2006/relationships/hyperlink" Target="https://www.youtube.com/watch?v=c9ov2HeuLQ8" TargetMode="External"/><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27.xml.rels><?xml version="1.0" encoding="UTF-8" standalone="yes"?>
<Relationships xmlns="http://schemas.openxmlformats.org/package/2006/relationships"><Relationship Id="rId8" Type="http://schemas.openxmlformats.org/officeDocument/2006/relationships/hyperlink" Target="https://x.com/testingcatalog/status/2001680413333319860" TargetMode="External"/><Relationship Id="rId13" Type="http://schemas.openxmlformats.org/officeDocument/2006/relationships/image" Target="../media/image30.png"/><Relationship Id="rId3" Type="http://schemas.openxmlformats.org/officeDocument/2006/relationships/hyperlink" Target="https://x.com/DylanTFWang/status/2000943329928945985" TargetMode="External"/><Relationship Id="rId7" Type="http://schemas.openxmlformats.org/officeDocument/2006/relationships/hyperlink" Target="https://x.com/Alibaba_Wan/status/2000930078037827972" TargetMode="External"/><Relationship Id="rId12" Type="http://schemas.openxmlformats.org/officeDocument/2006/relationships/hyperlink" Target="https://crates.io/crates/code2prompt" TargetMode="External"/><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hyperlink" Target="https://x.com/runwayml/status/1999481621326729530" TargetMode="External"/><Relationship Id="rId11" Type="http://schemas.openxmlformats.org/officeDocument/2006/relationships/hyperlink" Target="https://www.youtube.com/watch?v=IRWp2NKkg4Y" TargetMode="External"/><Relationship Id="rId5" Type="http://schemas.openxmlformats.org/officeDocument/2006/relationships/hyperlink" Target="https://x.com/_akhaliq/status/2001041559366598799" TargetMode="External"/><Relationship Id="rId10" Type="http://schemas.openxmlformats.org/officeDocument/2006/relationships/hyperlink" Target="https://x.com/wildmindai/status/2000483553587687922" TargetMode="External"/><Relationship Id="rId4" Type="http://schemas.openxmlformats.org/officeDocument/2006/relationships/hyperlink" Target="https://x.com/fal/status/2001090597092831325" TargetMode="External"/><Relationship Id="rId9" Type="http://schemas.openxmlformats.org/officeDocument/2006/relationships/hyperlink" Target="https://github.com/GVCLab/PersonaLive" TargetMode="External"/><Relationship Id="rId14" Type="http://schemas.openxmlformats.org/officeDocument/2006/relationships/hyperlink" Target="https://www.youtube.com/watch?v=-qAdwzAzf1s" TargetMode="External"/></Relationships>
</file>

<file path=ppt/slides/_rels/slide28.xml.rels><?xml version="1.0" encoding="UTF-8" standalone="yes"?>
<Relationships xmlns="http://schemas.openxmlformats.org/package/2006/relationships"><Relationship Id="rId3" Type="http://schemas.openxmlformats.org/officeDocument/2006/relationships/hyperlink" Target="https://www.youtube.com/watch?v=jqFGq1k8FRg" TargetMode="External"/><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29.xml.rels><?xml version="1.0" encoding="UTF-8" standalone="yes"?>
<Relationships xmlns="http://schemas.openxmlformats.org/package/2006/relationships"><Relationship Id="rId3" Type="http://schemas.openxmlformats.org/officeDocument/2006/relationships/hyperlink" Target="https://layoffs.fyi" TargetMode="External"/><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hyperlink" Target="https://trueup.io/layoffs" TargetMode="External"/></Relationships>
</file>

<file path=ppt/slides/_rels/slide30.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hyperlink" Target="https://eais.ai" TargetMode="External"/><Relationship Id="rId4" Type="http://schemas.openxmlformats.org/officeDocument/2006/relationships/image" Target="../media/image35.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5"/>
          <p:cNvSpPr txBox="1"/>
          <p:nvPr/>
        </p:nvSpPr>
        <p:spPr>
          <a:xfrm>
            <a:off x="78651" y="521001"/>
            <a:ext cx="4420200" cy="1988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Crowd-sourced "LM Arena" Leaderboard</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GLM-4.7 released</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MiniMax M2.1 released</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Everyone Hates The New ChatGPT-5.2</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OpenAI GPT-5.2-Codex  (Caribou)</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Wan 2.6 R2V</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Function Gemma</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Nvidia Bought Groq for $20B</a:t>
            </a:r>
            <a:endParaRPr sz="1600" b="1">
              <a:solidFill>
                <a:srgbClr val="3C78D8"/>
              </a:solidFill>
              <a:latin typeface="Calibri"/>
              <a:ea typeface="Calibri"/>
              <a:cs typeface="Calibri"/>
              <a:sym typeface="Calibri"/>
            </a:endParaRPr>
          </a:p>
        </p:txBody>
      </p:sp>
      <p:sp>
        <p:nvSpPr>
          <p:cNvPr id="64" name="Google Shape;64;p15"/>
          <p:cNvSpPr txBox="1"/>
          <p:nvPr/>
        </p:nvSpPr>
        <p:spPr>
          <a:xfrm>
            <a:off x="0" y="11"/>
            <a:ext cx="4420200" cy="480300"/>
          </a:xfrm>
          <a:prstGeom prst="rect">
            <a:avLst/>
          </a:prstGeom>
          <a:noFill/>
          <a:ln>
            <a:noFill/>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 sz="3000" b="1" i="0" u="none" strike="noStrike" cap="none">
                <a:solidFill>
                  <a:srgbClr val="3C78D8"/>
                </a:solidFill>
                <a:latin typeface="Calibri"/>
                <a:ea typeface="Calibri"/>
                <a:cs typeface="Calibri"/>
                <a:sym typeface="Calibri"/>
              </a:rPr>
              <a:t>AI Updates</a:t>
            </a:r>
            <a:r>
              <a:rPr lang="en" sz="2200" b="1" i="0" u="none" strike="noStrike" cap="none">
                <a:solidFill>
                  <a:srgbClr val="3C78D8"/>
                </a:solidFill>
                <a:latin typeface="Calibri"/>
                <a:ea typeface="Calibri"/>
                <a:cs typeface="Calibri"/>
                <a:sym typeface="Calibri"/>
              </a:rPr>
              <a:t> - Dec </a:t>
            </a:r>
            <a:r>
              <a:rPr lang="en" sz="2200" b="1">
                <a:solidFill>
                  <a:srgbClr val="3C78D8"/>
                </a:solidFill>
                <a:latin typeface="Calibri"/>
                <a:ea typeface="Calibri"/>
                <a:cs typeface="Calibri"/>
                <a:sym typeface="Calibri"/>
              </a:rPr>
              <a:t>26, </a:t>
            </a:r>
            <a:r>
              <a:rPr lang="en" sz="2200" b="1" i="0" u="none" strike="noStrike" cap="none">
                <a:solidFill>
                  <a:srgbClr val="3C78D8"/>
                </a:solidFill>
                <a:latin typeface="Calibri"/>
                <a:ea typeface="Calibri"/>
                <a:cs typeface="Calibri"/>
                <a:sym typeface="Calibri"/>
              </a:rPr>
              <a:t>2025</a:t>
            </a:r>
            <a:endParaRPr sz="2200" b="1" i="0" u="none" strike="noStrike" cap="none">
              <a:solidFill>
                <a:srgbClr val="3C78D8"/>
              </a:solidFill>
              <a:latin typeface="Calibri"/>
              <a:ea typeface="Calibri"/>
              <a:cs typeface="Calibri"/>
              <a:sym typeface="Calibri"/>
            </a:endParaRPr>
          </a:p>
        </p:txBody>
      </p:sp>
      <p:sp>
        <p:nvSpPr>
          <p:cNvPr id="65" name="Google Shape;65;p15"/>
          <p:cNvSpPr txBox="1"/>
          <p:nvPr/>
        </p:nvSpPr>
        <p:spPr>
          <a:xfrm>
            <a:off x="4599886" y="3821356"/>
            <a:ext cx="4502400" cy="1249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AI Visibility vs Standard Google SEO</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Nvidia Nitrogen for game playing</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Misc AI Updates</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David Sachs About Jobs</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i="0" u="none" strike="noStrike" cap="none">
                <a:solidFill>
                  <a:srgbClr val="3C78D8"/>
                </a:solidFill>
                <a:latin typeface="Calibri"/>
                <a:ea typeface="Calibri"/>
                <a:cs typeface="Calibri"/>
                <a:sym typeface="Calibri"/>
              </a:rPr>
              <a:t>Jobs, Layoffs, </a:t>
            </a:r>
            <a:r>
              <a:rPr lang="en" sz="1600" b="1">
                <a:solidFill>
                  <a:srgbClr val="3C78D8"/>
                </a:solidFill>
                <a:latin typeface="Calibri"/>
                <a:ea typeface="Calibri"/>
                <a:cs typeface="Calibri"/>
                <a:sym typeface="Calibri"/>
              </a:rPr>
              <a:t>demand for AI Engineers</a:t>
            </a:r>
            <a:endParaRPr sz="1600" b="1" i="0" u="none" strike="noStrike" cap="none">
              <a:solidFill>
                <a:srgbClr val="3C78D8"/>
              </a:solidFill>
              <a:latin typeface="Calibri"/>
              <a:ea typeface="Calibri"/>
              <a:cs typeface="Calibri"/>
              <a:sym typeface="Calibri"/>
            </a:endParaRPr>
          </a:p>
        </p:txBody>
      </p:sp>
      <p:sp>
        <p:nvSpPr>
          <p:cNvPr id="66" name="Google Shape;66;p15"/>
          <p:cNvSpPr txBox="1"/>
          <p:nvPr/>
        </p:nvSpPr>
        <p:spPr>
          <a:xfrm>
            <a:off x="78651" y="2583670"/>
            <a:ext cx="4420200" cy="24813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AI Model Quality Saturation</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Importance of Continual learning</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Catastrophic forgetting</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Network Training &amp; Fine-Tuning</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Google Titans Transformer-2</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Gemini CLI Conductor</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Conductor, Rules, PRD Files</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AI "Workslop" - low-quality output</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Anthropic Focus on High Quality</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Anthropic Bloom</a:t>
            </a:r>
            <a:endParaRPr sz="1600" b="1">
              <a:solidFill>
                <a:srgbClr val="3C78D8"/>
              </a:solidFill>
              <a:latin typeface="Calibri"/>
              <a:ea typeface="Calibri"/>
              <a:cs typeface="Calibri"/>
              <a:sym typeface="Calibri"/>
            </a:endParaRPr>
          </a:p>
        </p:txBody>
      </p:sp>
      <p:sp>
        <p:nvSpPr>
          <p:cNvPr id="67" name="Google Shape;67;p15"/>
          <p:cNvSpPr txBox="1"/>
          <p:nvPr/>
        </p:nvSpPr>
        <p:spPr>
          <a:xfrm>
            <a:off x="4599886" y="523201"/>
            <a:ext cx="4502400" cy="3220200"/>
          </a:xfrm>
          <a:prstGeom prst="rect">
            <a:avLst/>
          </a:prstGeom>
          <a:solidFill>
            <a:srgbClr val="C7E6AF"/>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Intel to make Apple Silicone Chips</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Resolve AI - Reliably Maintains Software Systems</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PDFs as an AI "goldmine" - Andrew Ng</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ChatGPT toward an app-platform strategy</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Automated AI Influencers to Generate $$</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X1: Humanoid + Drone</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Lean 4 - Math Proofs</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China is Building Its Own ASML Machines </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Moonshots - Predictions 2026</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Moonshots - Surviving</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Google T5Gemma 2  Multimodal Encoder-Decoder</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Google Gemini Enterprise</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Mistral OCR 3</a:t>
            </a:r>
            <a:endParaRPr sz="1600" b="1">
              <a:solidFill>
                <a:srgbClr val="3C78D8"/>
              </a:solidFill>
              <a:latin typeface="Calibri"/>
              <a:ea typeface="Calibri"/>
              <a:cs typeface="Calibri"/>
              <a:sym typeface="Calibri"/>
            </a:endParaRPr>
          </a:p>
        </p:txBody>
      </p:sp>
      <p:sp>
        <p:nvSpPr>
          <p:cNvPr id="68" name="Google Shape;68;p15"/>
          <p:cNvSpPr txBox="1"/>
          <p:nvPr/>
        </p:nvSpPr>
        <p:spPr>
          <a:xfrm>
            <a:off x="4599875" y="118900"/>
            <a:ext cx="4141800" cy="2646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600" b="1" i="1">
                <a:solidFill>
                  <a:srgbClr val="FF0000"/>
                </a:solidFill>
                <a:latin typeface="Roboto Mono"/>
                <a:ea typeface="Roboto Mono"/>
                <a:cs typeface="Roboto Mono"/>
                <a:sym typeface="Roboto Mono"/>
              </a:rPr>
              <a:t>2026 - Year of Continual Learning</a:t>
            </a:r>
            <a:endParaRPr sz="1600" b="1" i="1">
              <a:solidFill>
                <a:srgbClr val="FF0000"/>
              </a:solidFill>
              <a:latin typeface="Roboto Mono"/>
              <a:ea typeface="Roboto Mono"/>
              <a:cs typeface="Roboto Mono"/>
              <a:sym typeface="Roboto Mon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6736325" y="52350"/>
            <a:ext cx="2356200" cy="341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chemeClr val="dk1"/>
                </a:solidFill>
                <a:latin typeface="Calibri"/>
                <a:ea typeface="Calibri"/>
                <a:cs typeface="Calibri"/>
                <a:sym typeface="Calibri"/>
              </a:rPr>
              <a:t>Starting Elo rating = 1000</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900" b="0" i="0" u="sng" strike="noStrike" cap="none">
                <a:solidFill>
                  <a:schemeClr val="hlink"/>
                </a:solidFill>
                <a:latin typeface="Calibri"/>
                <a:ea typeface="Calibri"/>
                <a:cs typeface="Calibri"/>
                <a:sym typeface="Calibri"/>
                <a:hlinkClick r:id="rId3"/>
              </a:rPr>
              <a:t>https://en.wikipedia.org/wiki/Elo_rating_system</a:t>
            </a:r>
            <a:r>
              <a:rPr lang="en" sz="900" b="0" i="0" u="none" strike="noStrike" cap="none">
                <a:solidFill>
                  <a:schemeClr val="dk1"/>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74" name="Google Shape;74;p16"/>
          <p:cNvSpPr txBox="1"/>
          <p:nvPr/>
        </p:nvSpPr>
        <p:spPr>
          <a:xfrm>
            <a:off x="38150" y="2125"/>
            <a:ext cx="3924000" cy="2955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1800" b="1" i="0" u="none" strike="noStrike" cap="none">
                <a:solidFill>
                  <a:schemeClr val="dk1"/>
                </a:solidFill>
                <a:latin typeface="Calibri"/>
                <a:ea typeface="Calibri"/>
                <a:cs typeface="Calibri"/>
                <a:sym typeface="Calibri"/>
              </a:rPr>
              <a:t>Crowd-sourced "LM Arena" Leaderboard</a:t>
            </a:r>
            <a:endParaRPr sz="1800" b="1" i="0" u="none" strike="noStrike" cap="none">
              <a:solidFill>
                <a:srgbClr val="000000"/>
              </a:solidFill>
              <a:latin typeface="Calibri"/>
              <a:ea typeface="Calibri"/>
              <a:cs typeface="Calibri"/>
              <a:sym typeface="Calibri"/>
            </a:endParaRPr>
          </a:p>
        </p:txBody>
      </p:sp>
      <p:sp>
        <p:nvSpPr>
          <p:cNvPr id="75" name="Google Shape;75;p16"/>
          <p:cNvSpPr txBox="1"/>
          <p:nvPr/>
        </p:nvSpPr>
        <p:spPr>
          <a:xfrm>
            <a:off x="469100" y="318397"/>
            <a:ext cx="25998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English - </a:t>
            </a:r>
            <a:r>
              <a:rPr lang="en" sz="900" b="1" u="sng">
                <a:solidFill>
                  <a:schemeClr val="hlink"/>
                </a:solidFill>
                <a:latin typeface="Calibri"/>
                <a:ea typeface="Calibri"/>
                <a:cs typeface="Calibri"/>
                <a:sym typeface="Calibri"/>
                <a:hlinkClick r:id="rId4"/>
              </a:rPr>
              <a:t>https://lmarena.ai/leaderboard/text</a:t>
            </a:r>
            <a:r>
              <a:rPr lang="en" sz="900" b="1">
                <a:solidFill>
                  <a:srgbClr val="FF0000"/>
                </a:solidFill>
                <a:latin typeface="Calibri"/>
                <a:ea typeface="Calibri"/>
                <a:cs typeface="Calibri"/>
                <a:sym typeface="Calibri"/>
              </a:rPr>
              <a:t> </a:t>
            </a:r>
            <a:endParaRPr sz="900" b="1">
              <a:solidFill>
                <a:srgbClr val="FF0000"/>
              </a:solidFill>
              <a:latin typeface="Calibri"/>
              <a:ea typeface="Calibri"/>
              <a:cs typeface="Calibri"/>
              <a:sym typeface="Calibri"/>
            </a:endParaRPr>
          </a:p>
        </p:txBody>
      </p:sp>
      <p:sp>
        <p:nvSpPr>
          <p:cNvPr id="76" name="Google Shape;76;p16"/>
          <p:cNvSpPr txBox="1"/>
          <p:nvPr/>
        </p:nvSpPr>
        <p:spPr>
          <a:xfrm>
            <a:off x="3513152" y="322115"/>
            <a:ext cx="28395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Coding - </a:t>
            </a:r>
            <a:r>
              <a:rPr lang="en" sz="900" b="1" u="sng">
                <a:solidFill>
                  <a:schemeClr val="hlink"/>
                </a:solidFill>
                <a:latin typeface="Calibri"/>
                <a:ea typeface="Calibri"/>
                <a:cs typeface="Calibri"/>
                <a:sym typeface="Calibri"/>
                <a:hlinkClick r:id="rId5"/>
              </a:rPr>
              <a:t>https://lmarena.ai/leaderboard/text/coding</a:t>
            </a:r>
            <a:r>
              <a:rPr lang="en" sz="900" b="1">
                <a:solidFill>
                  <a:srgbClr val="FF0000"/>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77" name="Google Shape;77;p16"/>
          <p:cNvSpPr/>
          <p:nvPr/>
        </p:nvSpPr>
        <p:spPr>
          <a:xfrm>
            <a:off x="605693" y="781055"/>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 name="Google Shape;78;p16"/>
          <p:cNvSpPr txBox="1"/>
          <p:nvPr/>
        </p:nvSpPr>
        <p:spPr>
          <a:xfrm>
            <a:off x="6549674" y="2171102"/>
            <a:ext cx="2356200" cy="260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4"/>
              </a:rPr>
              <a:t>https://lmarena.ai/leaderboard/text</a:t>
            </a:r>
            <a:r>
              <a:rPr lang="en" sz="800">
                <a:latin typeface="Calibri"/>
                <a:ea typeface="Calibri"/>
                <a:cs typeface="Calibri"/>
                <a:sym typeface="Calibri"/>
              </a:rPr>
              <a:t> </a:t>
            </a:r>
            <a:endParaRPr sz="8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latin typeface="Calibri"/>
                <a:ea typeface="Calibri"/>
                <a:cs typeface="Calibri"/>
                <a:sym typeface="Calibri"/>
              </a:rPr>
              <a:t>Design Arena - </a:t>
            </a:r>
            <a:br>
              <a:rPr lang="en" sz="800">
                <a:latin typeface="Calibri"/>
                <a:ea typeface="Calibri"/>
                <a:cs typeface="Calibri"/>
                <a:sym typeface="Calibri"/>
              </a:rPr>
            </a:br>
            <a:r>
              <a:rPr lang="en" sz="800" u="sng">
                <a:solidFill>
                  <a:schemeClr val="hlink"/>
                </a:solidFill>
                <a:latin typeface="Calibri"/>
                <a:ea typeface="Calibri"/>
                <a:cs typeface="Calibri"/>
                <a:sym typeface="Calibri"/>
                <a:hlinkClick r:id="rId6"/>
              </a:rPr>
              <a:t>https://www.designarena.ai</a:t>
            </a:r>
            <a:r>
              <a:rPr lang="en" sz="800">
                <a:latin typeface="Calibri"/>
                <a:ea typeface="Calibri"/>
                <a:cs typeface="Calibri"/>
                <a:sym typeface="Calibri"/>
              </a:rPr>
              <a:t> </a:t>
            </a:r>
            <a:endParaRPr sz="8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7"/>
              </a:rPr>
              <a:t>https://openlm.ai/chatbot-arena/</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8"/>
              </a:rPr>
              <a:t>https://beta.lmarena.ai</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Web Leaderboard -  1T params</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9"/>
              </a:rPr>
              <a:t>https://web.lmarena.ai/leaderboard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@LlmStats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0"/>
              </a:rPr>
              <a:t>https://llmworld.net/llm_leaderboards/</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StackAI</a:t>
            </a:r>
            <a:r>
              <a:rPr lang="en" sz="800">
                <a:solidFill>
                  <a:schemeClr val="dk1"/>
                </a:solidFill>
                <a:latin typeface="Calibri"/>
                <a:ea typeface="Calibri"/>
                <a:cs typeface="Calibri"/>
                <a:sym typeface="Calibri"/>
              </a:rPr>
              <a:t> - </a:t>
            </a:r>
            <a:br>
              <a:rPr lang="en" sz="800">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1"/>
              </a:rPr>
              <a:t>https://www.stack-ai.com/llm-leaderboard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Artificial Analysis</a:t>
            </a:r>
            <a:r>
              <a:rPr lang="en" sz="800">
                <a:solidFill>
                  <a:schemeClr val="dk1"/>
                </a:solidFill>
                <a:latin typeface="Calibri"/>
                <a:ea typeface="Calibri"/>
                <a:cs typeface="Calibri"/>
                <a:sym typeface="Calibri"/>
              </a:rPr>
              <a:t> - </a:t>
            </a:r>
            <a:br>
              <a:rPr lang="en" sz="800">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2"/>
              </a:rPr>
              <a:t>https://artificialanalysis.ai/leaderboards/models</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Open LLM Leaderboard - by Hugging Face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3"/>
              </a:rPr>
              <a:t>https://huggingface.co/open-llm-leaderboard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Vellum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4"/>
              </a:rPr>
              <a:t>https://www.vellum.ai/llm-leaderboard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AI Benchmarking Hub - </a:t>
            </a:r>
            <a:br>
              <a:rPr lang="en" sz="800">
                <a:solidFill>
                  <a:schemeClr val="dk1"/>
                </a:solidFill>
                <a:latin typeface="Calibri"/>
                <a:ea typeface="Calibri"/>
                <a:cs typeface="Calibri"/>
                <a:sym typeface="Calibri"/>
              </a:rPr>
            </a:br>
            <a:r>
              <a:rPr lang="en" sz="800" u="sng">
                <a:solidFill>
                  <a:schemeClr val="hlink"/>
                </a:solidFill>
                <a:latin typeface="Calibri"/>
                <a:ea typeface="Calibri"/>
                <a:cs typeface="Calibri"/>
                <a:sym typeface="Calibri"/>
                <a:hlinkClick r:id="rId15"/>
              </a:rPr>
              <a:t>https://epoch.ai/data/ai-benchmarking-dashboard</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Grok 4 Benchmarks -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16"/>
              </a:rPr>
              <a:t>https://artificialanalysis.ai/models/grok-4</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p:txBody>
      </p:sp>
      <p:sp>
        <p:nvSpPr>
          <p:cNvPr id="79" name="Google Shape;79;p16"/>
          <p:cNvSpPr/>
          <p:nvPr/>
        </p:nvSpPr>
        <p:spPr>
          <a:xfrm>
            <a:off x="3751244" y="778709"/>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 name="Google Shape;80;p16"/>
          <p:cNvSpPr/>
          <p:nvPr/>
        </p:nvSpPr>
        <p:spPr>
          <a:xfrm>
            <a:off x="609666" y="1861250"/>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 name="Google Shape;81;p16"/>
          <p:cNvSpPr/>
          <p:nvPr/>
        </p:nvSpPr>
        <p:spPr>
          <a:xfrm>
            <a:off x="603081" y="1492818"/>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16"/>
          <p:cNvSpPr/>
          <p:nvPr/>
        </p:nvSpPr>
        <p:spPr>
          <a:xfrm>
            <a:off x="3748244" y="961370"/>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p16"/>
          <p:cNvSpPr txBox="1"/>
          <p:nvPr/>
        </p:nvSpPr>
        <p:spPr>
          <a:xfrm>
            <a:off x="3602289" y="3115163"/>
            <a:ext cx="2889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84" name="Google Shape;84;p16"/>
          <p:cNvSpPr txBox="1"/>
          <p:nvPr/>
        </p:nvSpPr>
        <p:spPr>
          <a:xfrm>
            <a:off x="460065" y="4747134"/>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85" name="Google Shape;85;p16"/>
          <p:cNvSpPr txBox="1"/>
          <p:nvPr/>
        </p:nvSpPr>
        <p:spPr>
          <a:xfrm>
            <a:off x="4566100" y="63625"/>
            <a:ext cx="1408200" cy="172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Clr>
                <a:schemeClr val="dk1"/>
              </a:buClr>
              <a:buSzPts val="1000"/>
              <a:buFont typeface="Calibri"/>
              <a:buChar char="●"/>
            </a:pPr>
            <a:r>
              <a:rPr lang="en" sz="1000">
                <a:latin typeface="Calibri"/>
                <a:ea typeface="Calibri"/>
                <a:cs typeface="Calibri"/>
                <a:sym typeface="Calibri"/>
              </a:rPr>
              <a:t>Data for December 23</a:t>
            </a:r>
            <a:endParaRPr sz="1000">
              <a:solidFill>
                <a:schemeClr val="dk1"/>
              </a:solidFill>
              <a:latin typeface="Calibri"/>
              <a:ea typeface="Calibri"/>
              <a:cs typeface="Calibri"/>
              <a:sym typeface="Calibri"/>
            </a:endParaRPr>
          </a:p>
        </p:txBody>
      </p:sp>
      <p:sp>
        <p:nvSpPr>
          <p:cNvPr id="86" name="Google Shape;86;p16"/>
          <p:cNvSpPr/>
          <p:nvPr/>
        </p:nvSpPr>
        <p:spPr>
          <a:xfrm>
            <a:off x="3750579" y="1308020"/>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 name="Google Shape;87;p16"/>
          <p:cNvSpPr txBox="1"/>
          <p:nvPr/>
        </p:nvSpPr>
        <p:spPr>
          <a:xfrm>
            <a:off x="3466409" y="4388339"/>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88" name="Google Shape;88;p16"/>
          <p:cNvSpPr/>
          <p:nvPr/>
        </p:nvSpPr>
        <p:spPr>
          <a:xfrm>
            <a:off x="3757278" y="4396733"/>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 name="Google Shape;89;p16"/>
          <p:cNvSpPr/>
          <p:nvPr/>
        </p:nvSpPr>
        <p:spPr>
          <a:xfrm>
            <a:off x="3748357" y="1146477"/>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 name="Google Shape;90;p16"/>
          <p:cNvSpPr txBox="1"/>
          <p:nvPr/>
        </p:nvSpPr>
        <p:spPr>
          <a:xfrm flipH="1">
            <a:off x="3679393" y="1667205"/>
            <a:ext cx="194400" cy="1416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latin typeface="Calibri"/>
                <a:ea typeface="Calibri"/>
                <a:cs typeface="Calibri"/>
                <a:sym typeface="Calibri"/>
              </a:rPr>
              <a:t>x.ai</a:t>
            </a:r>
            <a:endParaRPr sz="800" b="0" i="0" u="none" strike="noStrike" cap="none">
              <a:solidFill>
                <a:srgbClr val="1F2937"/>
              </a:solidFill>
              <a:latin typeface="Calibri"/>
              <a:ea typeface="Calibri"/>
              <a:cs typeface="Calibri"/>
              <a:sym typeface="Calibri"/>
            </a:endParaRPr>
          </a:p>
        </p:txBody>
      </p:sp>
      <p:sp>
        <p:nvSpPr>
          <p:cNvPr id="91" name="Google Shape;91;p16"/>
          <p:cNvSpPr txBox="1"/>
          <p:nvPr/>
        </p:nvSpPr>
        <p:spPr>
          <a:xfrm flipH="1">
            <a:off x="3691285" y="2756712"/>
            <a:ext cx="194400" cy="1416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latin typeface="Calibri"/>
                <a:ea typeface="Calibri"/>
                <a:cs typeface="Calibri"/>
                <a:sym typeface="Calibri"/>
              </a:rPr>
              <a:t>x.ai</a:t>
            </a:r>
            <a:endParaRPr sz="800" b="0" i="0" u="none" strike="noStrike" cap="none">
              <a:solidFill>
                <a:srgbClr val="1F2937"/>
              </a:solidFill>
              <a:latin typeface="Calibri"/>
              <a:ea typeface="Calibri"/>
              <a:cs typeface="Calibri"/>
              <a:sym typeface="Calibri"/>
            </a:endParaRPr>
          </a:p>
        </p:txBody>
      </p:sp>
      <p:sp>
        <p:nvSpPr>
          <p:cNvPr id="92" name="Google Shape;92;p16"/>
          <p:cNvSpPr/>
          <p:nvPr/>
        </p:nvSpPr>
        <p:spPr>
          <a:xfrm>
            <a:off x="3750579" y="1489913"/>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 name="Google Shape;93;p16"/>
          <p:cNvSpPr/>
          <p:nvPr/>
        </p:nvSpPr>
        <p:spPr>
          <a:xfrm>
            <a:off x="3750579" y="1857207"/>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 name="Google Shape;94;p16"/>
          <p:cNvSpPr/>
          <p:nvPr/>
        </p:nvSpPr>
        <p:spPr>
          <a:xfrm>
            <a:off x="613313" y="2035325"/>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 name="Google Shape;95;p16"/>
          <p:cNvSpPr txBox="1"/>
          <p:nvPr/>
        </p:nvSpPr>
        <p:spPr>
          <a:xfrm flipH="1">
            <a:off x="539953" y="1125923"/>
            <a:ext cx="194400" cy="1416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latin typeface="Calibri"/>
                <a:ea typeface="Calibri"/>
                <a:cs typeface="Calibri"/>
                <a:sym typeface="Calibri"/>
              </a:rPr>
              <a:t>x.ai</a:t>
            </a:r>
            <a:endParaRPr sz="800" b="0" i="0" u="none" strike="noStrike" cap="none">
              <a:solidFill>
                <a:srgbClr val="1F2937"/>
              </a:solidFill>
              <a:latin typeface="Calibri"/>
              <a:ea typeface="Calibri"/>
              <a:cs typeface="Calibri"/>
              <a:sym typeface="Calibri"/>
            </a:endParaRPr>
          </a:p>
        </p:txBody>
      </p:sp>
      <p:sp>
        <p:nvSpPr>
          <p:cNvPr id="96" name="Google Shape;96;p16"/>
          <p:cNvSpPr txBox="1"/>
          <p:nvPr/>
        </p:nvSpPr>
        <p:spPr>
          <a:xfrm flipH="1">
            <a:off x="547573" y="4560179"/>
            <a:ext cx="194400" cy="1416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latin typeface="Calibri"/>
                <a:ea typeface="Calibri"/>
                <a:cs typeface="Calibri"/>
                <a:sym typeface="Calibri"/>
              </a:rPr>
              <a:t>x.ai</a:t>
            </a:r>
            <a:endParaRPr sz="800" b="0" i="0" u="none" strike="noStrike" cap="none">
              <a:solidFill>
                <a:srgbClr val="1F2937"/>
              </a:solidFill>
              <a:latin typeface="Calibri"/>
              <a:ea typeface="Calibri"/>
              <a:cs typeface="Calibri"/>
              <a:sym typeface="Calibri"/>
            </a:endParaRPr>
          </a:p>
        </p:txBody>
      </p:sp>
      <p:sp>
        <p:nvSpPr>
          <p:cNvPr id="97" name="Google Shape;97;p16"/>
          <p:cNvSpPr txBox="1"/>
          <p:nvPr/>
        </p:nvSpPr>
        <p:spPr>
          <a:xfrm>
            <a:off x="311891" y="4922448"/>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98" name="Google Shape;98;p16"/>
          <p:cNvSpPr/>
          <p:nvPr/>
        </p:nvSpPr>
        <p:spPr>
          <a:xfrm>
            <a:off x="611157" y="4929695"/>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 name="Google Shape;99;p16"/>
          <p:cNvSpPr/>
          <p:nvPr/>
        </p:nvSpPr>
        <p:spPr>
          <a:xfrm>
            <a:off x="609673" y="2944838"/>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 name="Google Shape;100;p16"/>
          <p:cNvSpPr/>
          <p:nvPr/>
        </p:nvSpPr>
        <p:spPr>
          <a:xfrm>
            <a:off x="3754343" y="4754771"/>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 name="Google Shape;101;p16"/>
          <p:cNvSpPr txBox="1"/>
          <p:nvPr/>
        </p:nvSpPr>
        <p:spPr>
          <a:xfrm flipH="1">
            <a:off x="544177" y="1671695"/>
            <a:ext cx="194400" cy="1416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latin typeface="Calibri"/>
                <a:ea typeface="Calibri"/>
                <a:cs typeface="Calibri"/>
                <a:sym typeface="Calibri"/>
              </a:rPr>
              <a:t>x.ai</a:t>
            </a:r>
            <a:endParaRPr sz="800" b="0" i="0" u="none" strike="noStrike" cap="none">
              <a:solidFill>
                <a:srgbClr val="1F2937"/>
              </a:solidFill>
              <a:latin typeface="Calibri"/>
              <a:ea typeface="Calibri"/>
              <a:cs typeface="Calibri"/>
              <a:sym typeface="Calibri"/>
            </a:endParaRPr>
          </a:p>
        </p:txBody>
      </p:sp>
      <p:sp>
        <p:nvSpPr>
          <p:cNvPr id="102" name="Google Shape;102;p16"/>
          <p:cNvSpPr/>
          <p:nvPr/>
        </p:nvSpPr>
        <p:spPr>
          <a:xfrm>
            <a:off x="603081" y="1313761"/>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 name="Google Shape;103;p16"/>
          <p:cNvSpPr/>
          <p:nvPr/>
        </p:nvSpPr>
        <p:spPr>
          <a:xfrm>
            <a:off x="611444" y="2213119"/>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 name="Google Shape;104;p16"/>
          <p:cNvSpPr/>
          <p:nvPr/>
        </p:nvSpPr>
        <p:spPr>
          <a:xfrm>
            <a:off x="611444" y="2576273"/>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 name="Google Shape;105;p16"/>
          <p:cNvSpPr/>
          <p:nvPr/>
        </p:nvSpPr>
        <p:spPr>
          <a:xfrm>
            <a:off x="609673" y="3473748"/>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 name="Google Shape;106;p16"/>
          <p:cNvSpPr/>
          <p:nvPr/>
        </p:nvSpPr>
        <p:spPr>
          <a:xfrm>
            <a:off x="3750579" y="2217952"/>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 name="Google Shape;107;p16"/>
          <p:cNvSpPr/>
          <p:nvPr/>
        </p:nvSpPr>
        <p:spPr>
          <a:xfrm>
            <a:off x="3751782" y="2584520"/>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 name="Google Shape;108;p16"/>
          <p:cNvSpPr txBox="1"/>
          <p:nvPr/>
        </p:nvSpPr>
        <p:spPr>
          <a:xfrm>
            <a:off x="3466409" y="3292575"/>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09" name="Google Shape;109;p16"/>
          <p:cNvSpPr/>
          <p:nvPr/>
        </p:nvSpPr>
        <p:spPr>
          <a:xfrm>
            <a:off x="3757278" y="3300969"/>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 name="Google Shape;110;p16"/>
          <p:cNvSpPr txBox="1"/>
          <p:nvPr/>
        </p:nvSpPr>
        <p:spPr>
          <a:xfrm>
            <a:off x="3466409" y="4200822"/>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11" name="Google Shape;111;p16"/>
          <p:cNvSpPr/>
          <p:nvPr/>
        </p:nvSpPr>
        <p:spPr>
          <a:xfrm>
            <a:off x="3757278" y="4209216"/>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 name="Google Shape;112;p16"/>
          <p:cNvSpPr/>
          <p:nvPr/>
        </p:nvSpPr>
        <p:spPr>
          <a:xfrm>
            <a:off x="6718499" y="843215"/>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 name="Google Shape;113;p16"/>
          <p:cNvSpPr/>
          <p:nvPr/>
        </p:nvSpPr>
        <p:spPr>
          <a:xfrm>
            <a:off x="6718499" y="1048272"/>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 name="Google Shape;114;p16"/>
          <p:cNvSpPr/>
          <p:nvPr/>
        </p:nvSpPr>
        <p:spPr>
          <a:xfrm>
            <a:off x="6718499" y="1253329"/>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 name="Google Shape;115;p16"/>
          <p:cNvSpPr/>
          <p:nvPr/>
        </p:nvSpPr>
        <p:spPr>
          <a:xfrm>
            <a:off x="6718499" y="1458386"/>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 name="Google Shape;116;p16"/>
          <p:cNvSpPr txBox="1"/>
          <p:nvPr/>
        </p:nvSpPr>
        <p:spPr>
          <a:xfrm>
            <a:off x="6898625" y="801499"/>
            <a:ext cx="1003200" cy="1878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100" b="1">
                <a:solidFill>
                  <a:srgbClr val="000000"/>
                </a:solidFill>
                <a:latin typeface="Calibri"/>
                <a:ea typeface="Calibri"/>
                <a:cs typeface="Calibri"/>
                <a:sym typeface="Calibri"/>
              </a:rPr>
              <a:t>Google Gemini</a:t>
            </a:r>
            <a:endParaRPr sz="1100" b="1" i="0" u="none" strike="noStrike" cap="none">
              <a:solidFill>
                <a:srgbClr val="000000"/>
              </a:solidFill>
              <a:latin typeface="Calibri"/>
              <a:ea typeface="Calibri"/>
              <a:cs typeface="Calibri"/>
              <a:sym typeface="Calibri"/>
            </a:endParaRPr>
          </a:p>
        </p:txBody>
      </p:sp>
      <p:sp>
        <p:nvSpPr>
          <p:cNvPr id="117" name="Google Shape;117;p16"/>
          <p:cNvSpPr txBox="1"/>
          <p:nvPr/>
        </p:nvSpPr>
        <p:spPr>
          <a:xfrm>
            <a:off x="6895175" y="1006556"/>
            <a:ext cx="1003200" cy="1878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100" b="1">
                <a:solidFill>
                  <a:srgbClr val="000000"/>
                </a:solidFill>
                <a:latin typeface="Calibri"/>
                <a:ea typeface="Calibri"/>
                <a:cs typeface="Calibri"/>
                <a:sym typeface="Calibri"/>
              </a:rPr>
              <a:t>Claude</a:t>
            </a:r>
            <a:endParaRPr sz="1100" b="1" i="0" u="none" strike="noStrike" cap="none">
              <a:solidFill>
                <a:srgbClr val="000000"/>
              </a:solidFill>
              <a:latin typeface="Calibri"/>
              <a:ea typeface="Calibri"/>
              <a:cs typeface="Calibri"/>
              <a:sym typeface="Calibri"/>
            </a:endParaRPr>
          </a:p>
        </p:txBody>
      </p:sp>
      <p:sp>
        <p:nvSpPr>
          <p:cNvPr id="118" name="Google Shape;118;p16"/>
          <p:cNvSpPr txBox="1"/>
          <p:nvPr/>
        </p:nvSpPr>
        <p:spPr>
          <a:xfrm>
            <a:off x="6901750" y="1211613"/>
            <a:ext cx="1003200" cy="1878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100" b="1">
                <a:solidFill>
                  <a:srgbClr val="000000"/>
                </a:solidFill>
                <a:latin typeface="Calibri"/>
                <a:ea typeface="Calibri"/>
                <a:cs typeface="Calibri"/>
                <a:sym typeface="Calibri"/>
              </a:rPr>
              <a:t>OpenAI</a:t>
            </a:r>
            <a:endParaRPr sz="1100" b="1" i="0" u="none" strike="noStrike" cap="none">
              <a:solidFill>
                <a:srgbClr val="000000"/>
              </a:solidFill>
              <a:latin typeface="Calibri"/>
              <a:ea typeface="Calibri"/>
              <a:cs typeface="Calibri"/>
              <a:sym typeface="Calibri"/>
            </a:endParaRPr>
          </a:p>
        </p:txBody>
      </p:sp>
      <p:sp>
        <p:nvSpPr>
          <p:cNvPr id="119" name="Google Shape;119;p16"/>
          <p:cNvSpPr txBox="1"/>
          <p:nvPr/>
        </p:nvSpPr>
        <p:spPr>
          <a:xfrm>
            <a:off x="6903075" y="1416671"/>
            <a:ext cx="1003200" cy="1878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100" b="1">
                <a:solidFill>
                  <a:srgbClr val="000000"/>
                </a:solidFill>
                <a:latin typeface="Calibri"/>
                <a:ea typeface="Calibri"/>
                <a:cs typeface="Calibri"/>
                <a:sym typeface="Calibri"/>
              </a:rPr>
              <a:t>Open Source</a:t>
            </a:r>
            <a:endParaRPr sz="1100" b="1" i="0" u="none" strike="noStrike" cap="none">
              <a:solidFill>
                <a:srgbClr val="000000"/>
              </a:solidFill>
              <a:latin typeface="Calibri"/>
              <a:ea typeface="Calibri"/>
              <a:cs typeface="Calibri"/>
              <a:sym typeface="Calibri"/>
            </a:endParaRPr>
          </a:p>
        </p:txBody>
      </p:sp>
      <p:sp>
        <p:nvSpPr>
          <p:cNvPr id="120" name="Google Shape;120;p16"/>
          <p:cNvSpPr txBox="1"/>
          <p:nvPr/>
        </p:nvSpPr>
        <p:spPr>
          <a:xfrm>
            <a:off x="456671" y="4383837"/>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21" name="Google Shape;121;p16"/>
          <p:cNvSpPr txBox="1"/>
          <p:nvPr/>
        </p:nvSpPr>
        <p:spPr>
          <a:xfrm flipH="1">
            <a:off x="3556596" y="4564095"/>
            <a:ext cx="349800" cy="1416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a:solidFill>
                  <a:srgbClr val="1F2937"/>
                </a:solidFill>
                <a:latin typeface="Calibri"/>
                <a:ea typeface="Calibri"/>
                <a:cs typeface="Calibri"/>
                <a:sym typeface="Calibri"/>
              </a:rPr>
              <a:t>Mistral</a:t>
            </a:r>
            <a:endParaRPr sz="800" b="0" i="0" u="none" strike="noStrike" cap="none">
              <a:solidFill>
                <a:srgbClr val="1F2937"/>
              </a:solidFill>
              <a:latin typeface="Calibri"/>
              <a:ea typeface="Calibri"/>
              <a:cs typeface="Calibri"/>
              <a:sym typeface="Calibri"/>
            </a:endParaRPr>
          </a:p>
        </p:txBody>
      </p:sp>
      <p:sp>
        <p:nvSpPr>
          <p:cNvPr id="122" name="Google Shape;122;p16"/>
          <p:cNvSpPr/>
          <p:nvPr/>
        </p:nvSpPr>
        <p:spPr>
          <a:xfrm>
            <a:off x="605693" y="956315"/>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 name="Google Shape;123;p16"/>
          <p:cNvSpPr/>
          <p:nvPr/>
        </p:nvSpPr>
        <p:spPr>
          <a:xfrm>
            <a:off x="611444" y="2395999"/>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Google Shape;124;p16"/>
          <p:cNvSpPr/>
          <p:nvPr/>
        </p:nvSpPr>
        <p:spPr>
          <a:xfrm>
            <a:off x="603824" y="3300173"/>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 name="Google Shape;125;p16"/>
          <p:cNvSpPr/>
          <p:nvPr/>
        </p:nvSpPr>
        <p:spPr>
          <a:xfrm>
            <a:off x="609673" y="3671868"/>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 name="Google Shape;126;p16"/>
          <p:cNvSpPr/>
          <p:nvPr/>
        </p:nvSpPr>
        <p:spPr>
          <a:xfrm>
            <a:off x="609673" y="3854748"/>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 name="Google Shape;127;p16"/>
          <p:cNvSpPr/>
          <p:nvPr/>
        </p:nvSpPr>
        <p:spPr>
          <a:xfrm>
            <a:off x="609673" y="4037628"/>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 name="Google Shape;128;p16"/>
          <p:cNvSpPr/>
          <p:nvPr/>
        </p:nvSpPr>
        <p:spPr>
          <a:xfrm>
            <a:off x="3748357" y="2043097"/>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 name="Google Shape;129;p16"/>
          <p:cNvSpPr/>
          <p:nvPr/>
        </p:nvSpPr>
        <p:spPr>
          <a:xfrm>
            <a:off x="3750579" y="2400832"/>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 name="Google Shape;130;p16"/>
          <p:cNvSpPr/>
          <p:nvPr/>
        </p:nvSpPr>
        <p:spPr>
          <a:xfrm>
            <a:off x="3751782" y="3676720"/>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 name="Google Shape;131;p16"/>
          <p:cNvSpPr txBox="1"/>
          <p:nvPr/>
        </p:nvSpPr>
        <p:spPr>
          <a:xfrm>
            <a:off x="3602289" y="3845413"/>
            <a:ext cx="2889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32" name="Google Shape;132;p16"/>
          <p:cNvSpPr/>
          <p:nvPr/>
        </p:nvSpPr>
        <p:spPr>
          <a:xfrm>
            <a:off x="3750579" y="4026432"/>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aphicFrame>
        <p:nvGraphicFramePr>
          <p:cNvPr id="133" name="Google Shape;133;p16"/>
          <p:cNvGraphicFramePr/>
          <p:nvPr>
            <p:extLst>
              <p:ext uri="{D42A27DB-BD31-4B8C-83A1-F6EECF244321}">
                <p14:modId xmlns:p14="http://schemas.microsoft.com/office/powerpoint/2010/main" val="2850285525"/>
              </p:ext>
            </p:extLst>
          </p:nvPr>
        </p:nvGraphicFramePr>
        <p:xfrm>
          <a:off x="749904" y="564712"/>
          <a:ext cx="2318995" cy="4512525"/>
        </p:xfrm>
        <a:graphic>
          <a:graphicData uri="http://schemas.openxmlformats.org/drawingml/2006/table">
            <a:tbl>
              <a:tblPr>
                <a:noFill/>
                <a:tableStyleId>{8F112CE2-D0B5-4E12-B3F5-7B97419CF3DC}</a:tableStyleId>
              </a:tblPr>
              <a:tblGrid>
                <a:gridCol w="2008304">
                  <a:extLst>
                    <a:ext uri="{9D8B030D-6E8A-4147-A177-3AD203B41FA5}">
                      <a16:colId xmlns:a16="http://schemas.microsoft.com/office/drawing/2014/main" val="20000"/>
                    </a:ext>
                  </a:extLst>
                </a:gridCol>
                <a:gridCol w="310691">
                  <a:extLst>
                    <a:ext uri="{9D8B030D-6E8A-4147-A177-3AD203B41FA5}">
                      <a16:colId xmlns:a16="http://schemas.microsoft.com/office/drawing/2014/main" val="20001"/>
                    </a:ext>
                  </a:extLst>
                </a:gridCol>
              </a:tblGrid>
              <a:tr h="180321">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Model</a:t>
                      </a:r>
                      <a:endParaRPr sz="800">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Score</a:t>
                      </a:r>
                      <a:endParaRPr sz="800">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18032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7">
                            <a:extLst>
                              <a:ext uri="{A12FA001-AC4F-418D-AE19-62706E023703}">
                                <ahyp:hlinkClr xmlns:ahyp="http://schemas.microsoft.com/office/drawing/2018/hyperlinkcolor" val="tx"/>
                              </a:ext>
                            </a:extLst>
                          </a:hlinkClick>
                        </a:rPr>
                        <a:t>gemini-3-pro</a:t>
                      </a:r>
                      <a:endParaRPr sz="800" u="sng">
                        <a:solidFill>
                          <a:srgbClr val="1155CC"/>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1490</a:t>
                      </a:r>
                      <a:endParaRPr sz="800">
                        <a:solidFill>
                          <a:srgbClr val="636879"/>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18032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8">
                            <a:extLst>
                              <a:ext uri="{A12FA001-AC4F-418D-AE19-62706E023703}">
                                <ahyp:hlinkClr xmlns:ahyp="http://schemas.microsoft.com/office/drawing/2018/hyperlinkcolor" val="tx"/>
                              </a:ext>
                            </a:extLst>
                          </a:hlinkClick>
                        </a:rPr>
                        <a:t>gemini-3-flash</a:t>
                      </a:r>
                      <a:endParaRPr sz="800" u="sng">
                        <a:solidFill>
                          <a:srgbClr val="1155CC"/>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1478</a:t>
                      </a:r>
                      <a:endParaRPr sz="800">
                        <a:solidFill>
                          <a:srgbClr val="636879"/>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18032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grok-4.1-thinking</a:t>
                      </a:r>
                      <a:endParaRPr sz="800" u="sng">
                        <a:solidFill>
                          <a:srgbClr val="1155CC"/>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1477</a:t>
                      </a:r>
                      <a:endParaRPr sz="800">
                        <a:solidFill>
                          <a:srgbClr val="636879"/>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18032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claude-opus-4-5-20251101-thinking-32k</a:t>
                      </a:r>
                      <a:endParaRPr sz="800" u="sng">
                        <a:solidFill>
                          <a:srgbClr val="1155CC"/>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1469</a:t>
                      </a:r>
                      <a:endParaRPr sz="800">
                        <a:solidFill>
                          <a:srgbClr val="636879"/>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18032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claude-opus-4-5-20251101</a:t>
                      </a:r>
                      <a:endParaRPr sz="800" u="sng">
                        <a:solidFill>
                          <a:srgbClr val="1155CC"/>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1467</a:t>
                      </a:r>
                      <a:endParaRPr sz="800">
                        <a:solidFill>
                          <a:srgbClr val="636879"/>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18032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grok-4.1</a:t>
                      </a:r>
                      <a:endParaRPr sz="800" u="sng">
                        <a:solidFill>
                          <a:srgbClr val="1155CC"/>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1464</a:t>
                      </a:r>
                      <a:endParaRPr sz="800">
                        <a:solidFill>
                          <a:srgbClr val="636879"/>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18032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gpt-5.1-high</a:t>
                      </a:r>
                      <a:endParaRPr sz="800" u="sng">
                        <a:solidFill>
                          <a:srgbClr val="1155CC"/>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1455</a:t>
                      </a:r>
                      <a:endParaRPr sz="800">
                        <a:solidFill>
                          <a:srgbClr val="636879"/>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18032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gemini-2.5-pro</a:t>
                      </a:r>
                      <a:endParaRPr sz="800" u="sng">
                        <a:solidFill>
                          <a:srgbClr val="1155CC"/>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1451</a:t>
                      </a:r>
                      <a:endParaRPr sz="800">
                        <a:solidFill>
                          <a:srgbClr val="636879"/>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r h="18257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3">
                            <a:extLst>
                              <a:ext uri="{A12FA001-AC4F-418D-AE19-62706E023703}">
                                <ahyp:hlinkClr xmlns:ahyp="http://schemas.microsoft.com/office/drawing/2018/hyperlinkcolor" val="tx"/>
                              </a:ext>
                            </a:extLst>
                          </a:hlinkClick>
                        </a:rPr>
                        <a:t>claude-sonnet-4-5-20250929-thinking-32k</a:t>
                      </a:r>
                      <a:endParaRPr sz="800" u="sng">
                        <a:solidFill>
                          <a:srgbClr val="1155CC"/>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1450</a:t>
                      </a:r>
                      <a:endParaRPr sz="800">
                        <a:solidFill>
                          <a:srgbClr val="636879"/>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9"/>
                  </a:ext>
                </a:extLst>
              </a:tr>
              <a:tr h="18257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4">
                            <a:extLst>
                              <a:ext uri="{A12FA001-AC4F-418D-AE19-62706E023703}">
                                <ahyp:hlinkClr xmlns:ahyp="http://schemas.microsoft.com/office/drawing/2018/hyperlinkcolor" val="tx"/>
                              </a:ext>
                            </a:extLst>
                          </a:hlinkClick>
                        </a:rPr>
                        <a:t>claude-opus-4-1-20250805-thinking-16k</a:t>
                      </a:r>
                      <a:endParaRPr sz="800" u="sng">
                        <a:solidFill>
                          <a:srgbClr val="1155CC"/>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1448</a:t>
                      </a:r>
                      <a:endParaRPr sz="800">
                        <a:solidFill>
                          <a:srgbClr val="636879"/>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0"/>
                  </a:ext>
                </a:extLst>
              </a:tr>
              <a:tr h="18032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3">
                            <a:extLst>
                              <a:ext uri="{A12FA001-AC4F-418D-AE19-62706E023703}">
                                <ahyp:hlinkClr xmlns:ahyp="http://schemas.microsoft.com/office/drawing/2018/hyperlinkcolor" val="tx"/>
                              </a:ext>
                            </a:extLst>
                          </a:hlinkClick>
                        </a:rPr>
                        <a:t>claude-sonnet-4-5-20250929</a:t>
                      </a:r>
                      <a:endParaRPr sz="800" u="sng">
                        <a:solidFill>
                          <a:srgbClr val="1155CC"/>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1447</a:t>
                      </a:r>
                      <a:endParaRPr sz="800">
                        <a:solidFill>
                          <a:srgbClr val="636879"/>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1"/>
                  </a:ext>
                </a:extLst>
              </a:tr>
              <a:tr h="18032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5">
                            <a:extLst>
                              <a:ext uri="{A12FA001-AC4F-418D-AE19-62706E023703}">
                                <ahyp:hlinkClr xmlns:ahyp="http://schemas.microsoft.com/office/drawing/2018/hyperlinkcolor" val="tx"/>
                              </a:ext>
                            </a:extLst>
                          </a:hlinkClick>
                        </a:rPr>
                        <a:t>ernie-5.0-preview-1203</a:t>
                      </a:r>
                      <a:endParaRPr sz="800" u="sng">
                        <a:solidFill>
                          <a:srgbClr val="1155CC"/>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1446</a:t>
                      </a:r>
                      <a:endParaRPr sz="800">
                        <a:solidFill>
                          <a:srgbClr val="636879"/>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2"/>
                  </a:ext>
                </a:extLst>
              </a:tr>
              <a:tr h="18032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6">
                            <a:extLst>
                              <a:ext uri="{A12FA001-AC4F-418D-AE19-62706E023703}">
                                <ahyp:hlinkClr xmlns:ahyp="http://schemas.microsoft.com/office/drawing/2018/hyperlinkcolor" val="tx"/>
                              </a:ext>
                            </a:extLst>
                          </a:hlinkClick>
                        </a:rPr>
                        <a:t>gpt-5.2</a:t>
                      </a:r>
                      <a:endParaRPr sz="800" u="sng">
                        <a:solidFill>
                          <a:srgbClr val="1155CC"/>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1443</a:t>
                      </a:r>
                      <a:endParaRPr sz="800">
                        <a:solidFill>
                          <a:srgbClr val="636879"/>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3"/>
                  </a:ext>
                </a:extLst>
              </a:tr>
              <a:tr h="18032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7">
                            <a:extLst>
                              <a:ext uri="{A12FA001-AC4F-418D-AE19-62706E023703}">
                                <ahyp:hlinkClr xmlns:ahyp="http://schemas.microsoft.com/office/drawing/2018/hyperlinkcolor" val="tx"/>
                              </a:ext>
                            </a:extLst>
                          </a:hlinkClick>
                        </a:rPr>
                        <a:t>gpt-4.5-preview-2025-02-27</a:t>
                      </a:r>
                      <a:endParaRPr sz="800" u="sng">
                        <a:solidFill>
                          <a:srgbClr val="1155CC"/>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1443</a:t>
                      </a:r>
                      <a:endParaRPr sz="800">
                        <a:solidFill>
                          <a:srgbClr val="636879"/>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4"/>
                  </a:ext>
                </a:extLst>
              </a:tr>
              <a:tr h="18032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4">
                            <a:extLst>
                              <a:ext uri="{A12FA001-AC4F-418D-AE19-62706E023703}">
                                <ahyp:hlinkClr xmlns:ahyp="http://schemas.microsoft.com/office/drawing/2018/hyperlinkcolor" val="tx"/>
                              </a:ext>
                            </a:extLst>
                          </a:hlinkClick>
                        </a:rPr>
                        <a:t>claude-opus-4-1-20250805</a:t>
                      </a:r>
                      <a:endParaRPr sz="800" u="sng">
                        <a:solidFill>
                          <a:srgbClr val="1155CC"/>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1441</a:t>
                      </a:r>
                      <a:endParaRPr sz="800">
                        <a:solidFill>
                          <a:srgbClr val="636879"/>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5"/>
                  </a:ext>
                </a:extLst>
              </a:tr>
              <a:tr h="18032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8">
                            <a:extLst>
                              <a:ext uri="{A12FA001-AC4F-418D-AE19-62706E023703}">
                                <ahyp:hlinkClr xmlns:ahyp="http://schemas.microsoft.com/office/drawing/2018/hyperlinkcolor" val="tx"/>
                              </a:ext>
                            </a:extLst>
                          </a:hlinkClick>
                        </a:rPr>
                        <a:t>chatgpt-4o-latest-20250326</a:t>
                      </a:r>
                      <a:endParaRPr sz="800" u="sng">
                        <a:solidFill>
                          <a:srgbClr val="1155CC"/>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1440</a:t>
                      </a:r>
                      <a:endParaRPr sz="800">
                        <a:solidFill>
                          <a:srgbClr val="636879"/>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6"/>
                  </a:ext>
                </a:extLst>
              </a:tr>
              <a:tr h="18032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6">
                            <a:extLst>
                              <a:ext uri="{A12FA001-AC4F-418D-AE19-62706E023703}">
                                <ahyp:hlinkClr xmlns:ahyp="http://schemas.microsoft.com/office/drawing/2018/hyperlinkcolor" val="tx"/>
                              </a:ext>
                            </a:extLst>
                          </a:hlinkClick>
                        </a:rPr>
                        <a:t>gpt-5.2-high</a:t>
                      </a:r>
                      <a:endParaRPr sz="800" u="sng">
                        <a:solidFill>
                          <a:srgbClr val="1155CC"/>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1440</a:t>
                      </a:r>
                      <a:endParaRPr sz="800">
                        <a:solidFill>
                          <a:srgbClr val="636879"/>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7"/>
                  </a:ext>
                </a:extLst>
              </a:tr>
              <a:tr h="18032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gpt-5.1</a:t>
                      </a:r>
                      <a:endParaRPr sz="800" u="sng">
                        <a:solidFill>
                          <a:srgbClr val="1155CC"/>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1438</a:t>
                      </a:r>
                      <a:endParaRPr sz="800">
                        <a:solidFill>
                          <a:srgbClr val="636879"/>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8"/>
                  </a:ext>
                </a:extLst>
              </a:tr>
              <a:tr h="18032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9">
                            <a:extLst>
                              <a:ext uri="{A12FA001-AC4F-418D-AE19-62706E023703}">
                                <ahyp:hlinkClr xmlns:ahyp="http://schemas.microsoft.com/office/drawing/2018/hyperlinkcolor" val="tx"/>
                              </a:ext>
                            </a:extLst>
                          </a:hlinkClick>
                        </a:rPr>
                        <a:t>gpt-5-high</a:t>
                      </a:r>
                      <a:endParaRPr sz="800" u="sng">
                        <a:solidFill>
                          <a:srgbClr val="1155CC"/>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1436</a:t>
                      </a:r>
                      <a:endParaRPr sz="800">
                        <a:solidFill>
                          <a:srgbClr val="636879"/>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9"/>
                  </a:ext>
                </a:extLst>
              </a:tr>
              <a:tr h="18032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0">
                            <a:extLst>
                              <a:ext uri="{A12FA001-AC4F-418D-AE19-62706E023703}">
                                <ahyp:hlinkClr xmlns:ahyp="http://schemas.microsoft.com/office/drawing/2018/hyperlinkcolor" val="tx"/>
                              </a:ext>
                            </a:extLst>
                          </a:hlinkClick>
                        </a:rPr>
                        <a:t>o3-2025-04-16</a:t>
                      </a:r>
                      <a:endParaRPr sz="800" u="sng">
                        <a:solidFill>
                          <a:srgbClr val="1155CC"/>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1433</a:t>
                      </a:r>
                      <a:endParaRPr sz="800">
                        <a:solidFill>
                          <a:srgbClr val="636879"/>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0"/>
                  </a:ext>
                </a:extLst>
              </a:tr>
              <a:tr h="18032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1">
                            <a:extLst>
                              <a:ext uri="{A12FA001-AC4F-418D-AE19-62706E023703}">
                                <ahyp:hlinkClr xmlns:ahyp="http://schemas.microsoft.com/office/drawing/2018/hyperlinkcolor" val="tx"/>
                              </a:ext>
                            </a:extLst>
                          </a:hlinkClick>
                        </a:rPr>
                        <a:t>qwen3-max-preview</a:t>
                      </a:r>
                      <a:endParaRPr sz="800" u="sng">
                        <a:solidFill>
                          <a:srgbClr val="1155CC"/>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1433</a:t>
                      </a:r>
                      <a:endParaRPr sz="800">
                        <a:solidFill>
                          <a:srgbClr val="636879"/>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1"/>
                  </a:ext>
                </a:extLst>
              </a:tr>
              <a:tr h="18032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2">
                            <a:extLst>
                              <a:ext uri="{A12FA001-AC4F-418D-AE19-62706E023703}">
                                <ahyp:hlinkClr xmlns:ahyp="http://schemas.microsoft.com/office/drawing/2018/hyperlinkcolor" val="tx"/>
                              </a:ext>
                            </a:extLst>
                          </a:hlinkClick>
                        </a:rPr>
                        <a:t>grok-4-1-fast-reasoning</a:t>
                      </a:r>
                      <a:endParaRPr sz="800" u="sng">
                        <a:solidFill>
                          <a:srgbClr val="1155CC"/>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1430</a:t>
                      </a:r>
                      <a:endParaRPr sz="800">
                        <a:solidFill>
                          <a:srgbClr val="636879"/>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2"/>
                  </a:ext>
                </a:extLst>
              </a:tr>
              <a:tr h="18032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3">
                            <a:extLst>
                              <a:ext uri="{A12FA001-AC4F-418D-AE19-62706E023703}">
                                <ahyp:hlinkClr xmlns:ahyp="http://schemas.microsoft.com/office/drawing/2018/hyperlinkcolor" val="tx"/>
                              </a:ext>
                            </a:extLst>
                          </a:hlinkClick>
                        </a:rPr>
                        <a:t>ernie-5.0-preview-1103</a:t>
                      </a:r>
                      <a:endParaRPr sz="800" u="sng">
                        <a:solidFill>
                          <a:srgbClr val="1155CC"/>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1429</a:t>
                      </a:r>
                      <a:endParaRPr sz="800">
                        <a:solidFill>
                          <a:srgbClr val="636879"/>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3"/>
                  </a:ext>
                </a:extLst>
              </a:tr>
              <a:tr h="18032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4">
                            <a:extLst>
                              <a:ext uri="{A12FA001-AC4F-418D-AE19-62706E023703}">
                                <ahyp:hlinkClr xmlns:ahyp="http://schemas.microsoft.com/office/drawing/2018/hyperlinkcolor" val="tx"/>
                              </a:ext>
                            </a:extLst>
                          </a:hlinkClick>
                        </a:rPr>
                        <a:t>kimi-k2-thinking-turbo</a:t>
                      </a:r>
                      <a:endParaRPr sz="800" u="sng">
                        <a:solidFill>
                          <a:srgbClr val="1155CC"/>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dirty="0">
                          <a:solidFill>
                            <a:srgbClr val="636879"/>
                          </a:solidFill>
                          <a:latin typeface="Calibri"/>
                          <a:ea typeface="Calibri"/>
                          <a:cs typeface="Calibri"/>
                          <a:sym typeface="Calibri"/>
                        </a:rPr>
                        <a:t>1428</a:t>
                      </a:r>
                      <a:endParaRPr sz="800" dirty="0">
                        <a:solidFill>
                          <a:srgbClr val="636879"/>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4"/>
                  </a:ext>
                </a:extLst>
              </a:tr>
            </a:tbl>
          </a:graphicData>
        </a:graphic>
      </p:graphicFrame>
      <p:graphicFrame>
        <p:nvGraphicFramePr>
          <p:cNvPr id="134" name="Google Shape;134;p16"/>
          <p:cNvGraphicFramePr/>
          <p:nvPr>
            <p:extLst>
              <p:ext uri="{D42A27DB-BD31-4B8C-83A1-F6EECF244321}">
                <p14:modId xmlns:p14="http://schemas.microsoft.com/office/powerpoint/2010/main" val="4147701024"/>
              </p:ext>
            </p:extLst>
          </p:nvPr>
        </p:nvGraphicFramePr>
        <p:xfrm>
          <a:off x="3885811" y="562363"/>
          <a:ext cx="2424026" cy="4508025"/>
        </p:xfrm>
        <a:graphic>
          <a:graphicData uri="http://schemas.openxmlformats.org/drawingml/2006/table">
            <a:tbl>
              <a:tblPr>
                <a:noFill/>
                <a:tableStyleId>{8F112CE2-D0B5-4E12-B3F5-7B97419CF3DC}</a:tableStyleId>
              </a:tblPr>
              <a:tblGrid>
                <a:gridCol w="1979621">
                  <a:extLst>
                    <a:ext uri="{9D8B030D-6E8A-4147-A177-3AD203B41FA5}">
                      <a16:colId xmlns:a16="http://schemas.microsoft.com/office/drawing/2014/main" val="20000"/>
                    </a:ext>
                  </a:extLst>
                </a:gridCol>
                <a:gridCol w="444405">
                  <a:extLst>
                    <a:ext uri="{9D8B030D-6E8A-4147-A177-3AD203B41FA5}">
                      <a16:colId xmlns:a16="http://schemas.microsoft.com/office/drawing/2014/main" val="20001"/>
                    </a:ext>
                  </a:extLst>
                </a:gridCol>
              </a:tblGrid>
              <a:tr h="180321">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Model</a:t>
                      </a:r>
                      <a:endParaRPr sz="800">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Score</a:t>
                      </a:r>
                      <a:endParaRPr sz="800">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18032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claude-opus-4-5-20251101-thinking-32k</a:t>
                      </a:r>
                      <a:endParaRPr sz="800" u="sng">
                        <a:solidFill>
                          <a:srgbClr val="1155CC"/>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1540</a:t>
                      </a:r>
                      <a:endParaRPr sz="800">
                        <a:solidFill>
                          <a:srgbClr val="636879"/>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18032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3">
                            <a:extLst>
                              <a:ext uri="{A12FA001-AC4F-418D-AE19-62706E023703}">
                                <ahyp:hlinkClr xmlns:ahyp="http://schemas.microsoft.com/office/drawing/2018/hyperlinkcolor" val="tx"/>
                              </a:ext>
                            </a:extLst>
                          </a:hlinkClick>
                        </a:rPr>
                        <a:t>claude-sonnet-4-5-20250929-thinking-32k</a:t>
                      </a:r>
                      <a:endParaRPr sz="800" u="sng">
                        <a:solidFill>
                          <a:srgbClr val="1155CC"/>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1525</a:t>
                      </a:r>
                      <a:endParaRPr sz="800">
                        <a:solidFill>
                          <a:srgbClr val="636879"/>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18032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7">
                            <a:extLst>
                              <a:ext uri="{A12FA001-AC4F-418D-AE19-62706E023703}">
                                <ahyp:hlinkClr xmlns:ahyp="http://schemas.microsoft.com/office/drawing/2018/hyperlinkcolor" val="tx"/>
                              </a:ext>
                            </a:extLst>
                          </a:hlinkClick>
                        </a:rPr>
                        <a:t>gemini-3-pro</a:t>
                      </a:r>
                      <a:endParaRPr sz="800" u="sng">
                        <a:solidFill>
                          <a:srgbClr val="1155CC"/>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1520</a:t>
                      </a:r>
                      <a:endParaRPr sz="800">
                        <a:solidFill>
                          <a:srgbClr val="636879"/>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18032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claude-opus-4-5-20251101</a:t>
                      </a:r>
                      <a:endParaRPr sz="800" u="sng">
                        <a:solidFill>
                          <a:srgbClr val="1155CC"/>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1515</a:t>
                      </a:r>
                      <a:endParaRPr sz="800">
                        <a:solidFill>
                          <a:srgbClr val="636879"/>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18032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4">
                            <a:extLst>
                              <a:ext uri="{A12FA001-AC4F-418D-AE19-62706E023703}">
                                <ahyp:hlinkClr xmlns:ahyp="http://schemas.microsoft.com/office/drawing/2018/hyperlinkcolor" val="tx"/>
                              </a:ext>
                            </a:extLst>
                          </a:hlinkClick>
                        </a:rPr>
                        <a:t>claude-opus-4-1-20250805-thinking-16k</a:t>
                      </a:r>
                      <a:endParaRPr sz="800" u="sng">
                        <a:solidFill>
                          <a:srgbClr val="1155CC"/>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1513</a:t>
                      </a:r>
                      <a:endParaRPr sz="800">
                        <a:solidFill>
                          <a:srgbClr val="636879"/>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18032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grok-4.1-thinking</a:t>
                      </a:r>
                      <a:endParaRPr sz="800" u="sng">
                        <a:solidFill>
                          <a:srgbClr val="1155CC"/>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1508</a:t>
                      </a:r>
                      <a:endParaRPr sz="800">
                        <a:solidFill>
                          <a:srgbClr val="636879"/>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18032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3">
                            <a:extLst>
                              <a:ext uri="{A12FA001-AC4F-418D-AE19-62706E023703}">
                                <ahyp:hlinkClr xmlns:ahyp="http://schemas.microsoft.com/office/drawing/2018/hyperlinkcolor" val="tx"/>
                              </a:ext>
                            </a:extLst>
                          </a:hlinkClick>
                        </a:rPr>
                        <a:t>claude-sonnet-4-5-20250929</a:t>
                      </a:r>
                      <a:endParaRPr sz="800" u="sng">
                        <a:solidFill>
                          <a:srgbClr val="1155CC"/>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1506</a:t>
                      </a:r>
                      <a:endParaRPr sz="800">
                        <a:solidFill>
                          <a:srgbClr val="636879"/>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18032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8">
                            <a:extLst>
                              <a:ext uri="{A12FA001-AC4F-418D-AE19-62706E023703}">
                                <ahyp:hlinkClr xmlns:ahyp="http://schemas.microsoft.com/office/drawing/2018/hyperlinkcolor" val="tx"/>
                              </a:ext>
                            </a:extLst>
                          </a:hlinkClick>
                        </a:rPr>
                        <a:t>gemini-3-flash</a:t>
                      </a:r>
                      <a:endParaRPr sz="800" u="sng">
                        <a:solidFill>
                          <a:srgbClr val="1155CC"/>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1505</a:t>
                      </a:r>
                      <a:endParaRPr sz="800">
                        <a:solidFill>
                          <a:srgbClr val="636879"/>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r h="18032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4">
                            <a:extLst>
                              <a:ext uri="{A12FA001-AC4F-418D-AE19-62706E023703}">
                                <ahyp:hlinkClr xmlns:ahyp="http://schemas.microsoft.com/office/drawing/2018/hyperlinkcolor" val="tx"/>
                              </a:ext>
                            </a:extLst>
                          </a:hlinkClick>
                        </a:rPr>
                        <a:t>claude-opus-4-1-20250805</a:t>
                      </a:r>
                      <a:endParaRPr sz="800" u="sng">
                        <a:solidFill>
                          <a:srgbClr val="1155CC"/>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1500</a:t>
                      </a:r>
                      <a:endParaRPr sz="800">
                        <a:solidFill>
                          <a:srgbClr val="636879"/>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9"/>
                  </a:ext>
                </a:extLst>
              </a:tr>
              <a:tr h="18032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5">
                            <a:extLst>
                              <a:ext uri="{A12FA001-AC4F-418D-AE19-62706E023703}">
                                <ahyp:hlinkClr xmlns:ahyp="http://schemas.microsoft.com/office/drawing/2018/hyperlinkcolor" val="tx"/>
                              </a:ext>
                            </a:extLst>
                          </a:hlinkClick>
                        </a:rPr>
                        <a:t>claude-opus-4-20250514-thinking-16k</a:t>
                      </a:r>
                      <a:endParaRPr sz="800" u="sng">
                        <a:solidFill>
                          <a:srgbClr val="1155CC"/>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1495</a:t>
                      </a:r>
                      <a:endParaRPr sz="800">
                        <a:solidFill>
                          <a:srgbClr val="636879"/>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0"/>
                  </a:ext>
                </a:extLst>
              </a:tr>
              <a:tr h="18032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6">
                            <a:extLst>
                              <a:ext uri="{A12FA001-AC4F-418D-AE19-62706E023703}">
                                <ahyp:hlinkClr xmlns:ahyp="http://schemas.microsoft.com/office/drawing/2018/hyperlinkcolor" val="tx"/>
                              </a:ext>
                            </a:extLst>
                          </a:hlinkClick>
                        </a:rPr>
                        <a:t>gpt-5.2-high</a:t>
                      </a:r>
                      <a:endParaRPr sz="800" u="sng">
                        <a:solidFill>
                          <a:srgbClr val="1155CC"/>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1493</a:t>
                      </a:r>
                      <a:endParaRPr sz="800">
                        <a:solidFill>
                          <a:srgbClr val="636879"/>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1"/>
                  </a:ext>
                </a:extLst>
              </a:tr>
              <a:tr h="18032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grok-4.1</a:t>
                      </a:r>
                      <a:endParaRPr sz="800" u="sng">
                        <a:solidFill>
                          <a:srgbClr val="1155CC"/>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1492</a:t>
                      </a:r>
                      <a:endParaRPr sz="800">
                        <a:solidFill>
                          <a:srgbClr val="636879"/>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2"/>
                  </a:ext>
                </a:extLst>
              </a:tr>
              <a:tr h="18032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gpt-5.1-high</a:t>
                      </a:r>
                      <a:endParaRPr sz="800" u="sng">
                        <a:solidFill>
                          <a:srgbClr val="1155CC"/>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1488</a:t>
                      </a:r>
                      <a:endParaRPr sz="800">
                        <a:solidFill>
                          <a:srgbClr val="636879"/>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3"/>
                  </a:ext>
                </a:extLst>
              </a:tr>
              <a:tr h="18032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1">
                            <a:extLst>
                              <a:ext uri="{A12FA001-AC4F-418D-AE19-62706E023703}">
                                <ahyp:hlinkClr xmlns:ahyp="http://schemas.microsoft.com/office/drawing/2018/hyperlinkcolor" val="tx"/>
                              </a:ext>
                            </a:extLst>
                          </a:hlinkClick>
                        </a:rPr>
                        <a:t>qwen3-max-preview</a:t>
                      </a:r>
                      <a:endParaRPr sz="800" u="sng">
                        <a:solidFill>
                          <a:srgbClr val="1155CC"/>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1481</a:t>
                      </a:r>
                      <a:endParaRPr sz="800">
                        <a:solidFill>
                          <a:srgbClr val="636879"/>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4"/>
                  </a:ext>
                </a:extLst>
              </a:tr>
              <a:tr h="18032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4">
                            <a:extLst>
                              <a:ext uri="{A12FA001-AC4F-418D-AE19-62706E023703}">
                                <ahyp:hlinkClr xmlns:ahyp="http://schemas.microsoft.com/office/drawing/2018/hyperlinkcolor" val="tx"/>
                              </a:ext>
                            </a:extLst>
                          </a:hlinkClick>
                        </a:rPr>
                        <a:t>kimi-k2-thinking-turbo</a:t>
                      </a:r>
                      <a:endParaRPr sz="800" u="sng">
                        <a:solidFill>
                          <a:srgbClr val="1155CC"/>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1480</a:t>
                      </a:r>
                      <a:endParaRPr sz="800">
                        <a:solidFill>
                          <a:srgbClr val="636879"/>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5"/>
                  </a:ext>
                </a:extLst>
              </a:tr>
              <a:tr h="18032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6">
                            <a:extLst>
                              <a:ext uri="{A12FA001-AC4F-418D-AE19-62706E023703}">
                                <ahyp:hlinkClr xmlns:ahyp="http://schemas.microsoft.com/office/drawing/2018/hyperlinkcolor" val="tx"/>
                              </a:ext>
                            </a:extLst>
                          </a:hlinkClick>
                        </a:rPr>
                        <a:t>gpt-5.2</a:t>
                      </a:r>
                      <a:endParaRPr sz="800" u="sng">
                        <a:solidFill>
                          <a:srgbClr val="1155CC"/>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1480</a:t>
                      </a:r>
                      <a:endParaRPr sz="800">
                        <a:solidFill>
                          <a:srgbClr val="636879"/>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6"/>
                  </a:ext>
                </a:extLst>
              </a:tr>
              <a:tr h="18032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gpt-5.1</a:t>
                      </a:r>
                      <a:endParaRPr sz="800" u="sng">
                        <a:solidFill>
                          <a:srgbClr val="1155CC"/>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1479</a:t>
                      </a:r>
                      <a:endParaRPr sz="800">
                        <a:solidFill>
                          <a:srgbClr val="636879"/>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7"/>
                  </a:ext>
                </a:extLst>
              </a:tr>
              <a:tr h="18032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6">
                            <a:extLst>
                              <a:ext uri="{A12FA001-AC4F-418D-AE19-62706E023703}">
                                <ahyp:hlinkClr xmlns:ahyp="http://schemas.microsoft.com/office/drawing/2018/hyperlinkcolor" val="tx"/>
                              </a:ext>
                            </a:extLst>
                          </a:hlinkClick>
                        </a:rPr>
                        <a:t>qwen3-max-2025-09-23</a:t>
                      </a:r>
                      <a:endParaRPr sz="800" u="sng">
                        <a:solidFill>
                          <a:srgbClr val="1155CC"/>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1475</a:t>
                      </a:r>
                      <a:endParaRPr sz="800">
                        <a:solidFill>
                          <a:srgbClr val="636879"/>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8"/>
                  </a:ext>
                </a:extLst>
              </a:tr>
              <a:tr h="18032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7">
                            <a:extLst>
                              <a:ext uri="{A12FA001-AC4F-418D-AE19-62706E023703}">
                                <ahyp:hlinkClr xmlns:ahyp="http://schemas.microsoft.com/office/drawing/2018/hyperlinkcolor" val="tx"/>
                              </a:ext>
                            </a:extLst>
                          </a:hlinkClick>
                        </a:rPr>
                        <a:t>claude-haiku-4-5-20251001</a:t>
                      </a:r>
                      <a:endParaRPr sz="800" u="sng">
                        <a:solidFill>
                          <a:srgbClr val="1155CC"/>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1475</a:t>
                      </a:r>
                      <a:endParaRPr sz="800">
                        <a:solidFill>
                          <a:srgbClr val="636879"/>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9"/>
                  </a:ext>
                </a:extLst>
              </a:tr>
              <a:tr h="18032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8">
                            <a:extLst>
                              <a:ext uri="{A12FA001-AC4F-418D-AE19-62706E023703}">
                                <ahyp:hlinkClr xmlns:ahyp="http://schemas.microsoft.com/office/drawing/2018/hyperlinkcolor" val="tx"/>
                              </a:ext>
                            </a:extLst>
                          </a:hlinkClick>
                        </a:rPr>
                        <a:t>longcat-flash-chat</a:t>
                      </a:r>
                      <a:endParaRPr sz="800" u="sng">
                        <a:solidFill>
                          <a:srgbClr val="1155CC"/>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1474</a:t>
                      </a:r>
                      <a:endParaRPr sz="800">
                        <a:solidFill>
                          <a:srgbClr val="636879"/>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0"/>
                  </a:ext>
                </a:extLst>
              </a:tr>
              <a:tr h="18032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9">
                            <a:extLst>
                              <a:ext uri="{A12FA001-AC4F-418D-AE19-62706E023703}">
                                <ahyp:hlinkClr xmlns:ahyp="http://schemas.microsoft.com/office/drawing/2018/hyperlinkcolor" val="tx"/>
                              </a:ext>
                            </a:extLst>
                          </a:hlinkClick>
                        </a:rPr>
                        <a:t>deepseek-v3.2-exp-thinking</a:t>
                      </a:r>
                      <a:endParaRPr sz="800" u="sng">
                        <a:solidFill>
                          <a:srgbClr val="1155CC"/>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1472</a:t>
                      </a:r>
                      <a:endParaRPr sz="800">
                        <a:solidFill>
                          <a:srgbClr val="636879"/>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1"/>
                  </a:ext>
                </a:extLst>
              </a:tr>
              <a:tr h="18032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40">
                            <a:extLst>
                              <a:ext uri="{A12FA001-AC4F-418D-AE19-62706E023703}">
                                <ahyp:hlinkClr xmlns:ahyp="http://schemas.microsoft.com/office/drawing/2018/hyperlinkcolor" val="tx"/>
                              </a:ext>
                            </a:extLst>
                          </a:hlinkClick>
                        </a:rPr>
                        <a:t>mistral-large-3</a:t>
                      </a:r>
                      <a:endParaRPr sz="800" u="sng">
                        <a:solidFill>
                          <a:srgbClr val="1155CC"/>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1471</a:t>
                      </a:r>
                      <a:endParaRPr sz="800">
                        <a:solidFill>
                          <a:srgbClr val="636879"/>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2"/>
                  </a:ext>
                </a:extLst>
              </a:tr>
              <a:tr h="18032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gemini-2.5-pro</a:t>
                      </a:r>
                      <a:endParaRPr sz="800" u="sng">
                        <a:solidFill>
                          <a:srgbClr val="1155CC"/>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1470</a:t>
                      </a:r>
                      <a:endParaRPr sz="800">
                        <a:solidFill>
                          <a:srgbClr val="636879"/>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3"/>
                  </a:ext>
                </a:extLst>
              </a:tr>
              <a:tr h="180321">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41">
                            <a:extLst>
                              <a:ext uri="{A12FA001-AC4F-418D-AE19-62706E023703}">
                                <ahyp:hlinkClr xmlns:ahyp="http://schemas.microsoft.com/office/drawing/2018/hyperlinkcolor" val="tx"/>
                              </a:ext>
                            </a:extLst>
                          </a:hlinkClick>
                        </a:rPr>
                        <a:t>qwen3-235b-a22b-instruct-2507</a:t>
                      </a:r>
                      <a:endParaRPr sz="800" u="sng">
                        <a:solidFill>
                          <a:srgbClr val="1155CC"/>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1470</a:t>
                      </a:r>
                      <a:endParaRPr sz="800">
                        <a:solidFill>
                          <a:srgbClr val="636879"/>
                        </a:solidFill>
                        <a:latin typeface="Calibri"/>
                        <a:ea typeface="Calibri"/>
                        <a:cs typeface="Calibri"/>
                        <a:sym typeface="Calibri"/>
                      </a:endParaRPr>
                    </a:p>
                  </a:txBody>
                  <a:tcPr marL="30300" marR="30300" marT="20200" marB="2020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4"/>
                  </a:ext>
                </a:extLst>
              </a:tr>
            </a:tbl>
          </a:graphicData>
        </a:graphic>
      </p:graphicFrame>
      <p:sp>
        <p:nvSpPr>
          <p:cNvPr id="135" name="Google Shape;135;p16"/>
          <p:cNvSpPr txBox="1"/>
          <p:nvPr/>
        </p:nvSpPr>
        <p:spPr>
          <a:xfrm>
            <a:off x="456671" y="2753157"/>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36" name="Google Shape;136;p16"/>
          <p:cNvSpPr/>
          <p:nvPr/>
        </p:nvSpPr>
        <p:spPr>
          <a:xfrm>
            <a:off x="609673" y="3127718"/>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 name="Google Shape;137;p16"/>
          <p:cNvSpPr/>
          <p:nvPr/>
        </p:nvSpPr>
        <p:spPr>
          <a:xfrm>
            <a:off x="609673" y="4205268"/>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 name="Google Shape;138;p16"/>
          <p:cNvSpPr/>
          <p:nvPr/>
        </p:nvSpPr>
        <p:spPr>
          <a:xfrm>
            <a:off x="3751782" y="2940120"/>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 name="Google Shape;139;p16"/>
          <p:cNvSpPr/>
          <p:nvPr/>
        </p:nvSpPr>
        <p:spPr>
          <a:xfrm>
            <a:off x="3751782" y="3486220"/>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 name="Google Shape;140;p16"/>
          <p:cNvSpPr txBox="1"/>
          <p:nvPr/>
        </p:nvSpPr>
        <p:spPr>
          <a:xfrm>
            <a:off x="3466409" y="4921739"/>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41" name="Google Shape;141;p16"/>
          <p:cNvSpPr/>
          <p:nvPr/>
        </p:nvSpPr>
        <p:spPr>
          <a:xfrm>
            <a:off x="3757278" y="4930133"/>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7"/>
          <p:cNvSpPr txBox="1"/>
          <p:nvPr/>
        </p:nvSpPr>
        <p:spPr>
          <a:xfrm>
            <a:off x="55075" y="20375"/>
            <a:ext cx="2496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GLM-4.7 released</a:t>
            </a:r>
            <a:endParaRPr sz="2000" b="1" i="0" u="none" strike="noStrike" cap="none">
              <a:solidFill>
                <a:schemeClr val="dk1"/>
              </a:solidFill>
              <a:latin typeface="Calibri"/>
              <a:ea typeface="Calibri"/>
              <a:cs typeface="Calibri"/>
              <a:sym typeface="Calibri"/>
            </a:endParaRPr>
          </a:p>
        </p:txBody>
      </p:sp>
      <p:sp>
        <p:nvSpPr>
          <p:cNvPr id="147" name="Google Shape;147;p17"/>
          <p:cNvSpPr txBox="1"/>
          <p:nvPr/>
        </p:nvSpPr>
        <p:spPr>
          <a:xfrm>
            <a:off x="111575" y="420675"/>
            <a:ext cx="4737000" cy="260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GLM-4.7 released (China)</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open-source, large-scale coding- and agent-focused LLM</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Replacees GLM-4.6 - coding-first, agentic upgrade with better multi-language and terminal workflows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"Think-before-act", stable multi-step coding</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Stronger reasoning, tool use, and long-horizon task execution</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Sparse MoE 355B total parameters with 32B active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Context length - multi-hundred-thousand token (varies by provider - SiliconFlow/OpenRouter stats)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OpenRouter - "z-ai/glm-4.7"</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Pricing: $0.60 / $2.20 per 1M in/out tokens</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3"/>
              </a:rPr>
              <a:t>https://docs.z.ai/guides/llm/glm-4.7</a:t>
            </a:r>
            <a:r>
              <a:rPr lang="en" sz="900">
                <a:latin typeface="Calibri"/>
                <a:ea typeface="Calibri"/>
                <a:cs typeface="Calibri"/>
                <a:sym typeface="Calibri"/>
              </a:rPr>
              <a:t> </a:t>
            </a:r>
            <a:endParaRPr sz="9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4"/>
              </a:rPr>
              <a:t>https://z.ai/blog/glm-4.7</a:t>
            </a:r>
            <a:r>
              <a:rPr lang="en" sz="900">
                <a:latin typeface="Calibri"/>
                <a:ea typeface="Calibri"/>
                <a:cs typeface="Calibri"/>
                <a:sym typeface="Calibri"/>
              </a:rPr>
              <a:t> </a:t>
            </a:r>
            <a:endParaRPr sz="9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900">
                <a:latin typeface="Calibri"/>
                <a:ea typeface="Calibri"/>
                <a:cs typeface="Calibri"/>
                <a:sym typeface="Calibri"/>
              </a:rPr>
              <a:t> </a:t>
            </a:r>
            <a:r>
              <a:rPr lang="en" sz="900" u="sng">
                <a:solidFill>
                  <a:schemeClr val="hlink"/>
                </a:solidFill>
                <a:latin typeface="Calibri"/>
                <a:ea typeface="Calibri"/>
                <a:cs typeface="Calibri"/>
                <a:sym typeface="Calibri"/>
                <a:hlinkClick r:id="rId5"/>
              </a:rPr>
              <a:t>https://openrouter.ai/z-ai/glm-4.7</a:t>
            </a:r>
            <a:r>
              <a:rPr lang="en" sz="900">
                <a:latin typeface="Calibri"/>
                <a:ea typeface="Calibri"/>
                <a:cs typeface="Calibri"/>
                <a:sym typeface="Calibri"/>
              </a:rPr>
              <a:t> </a:t>
            </a:r>
            <a:endParaRPr sz="9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6"/>
              </a:rPr>
              <a:t>https://huggingface.co/collections/zai-org/glm-47</a:t>
            </a:r>
            <a:endParaRPr sz="900">
              <a:latin typeface="Calibri"/>
              <a:ea typeface="Calibri"/>
              <a:cs typeface="Calibri"/>
              <a:sym typeface="Calibri"/>
            </a:endParaRPr>
          </a:p>
        </p:txBody>
      </p:sp>
      <p:pic>
        <p:nvPicPr>
          <p:cNvPr id="148" name="Google Shape;148;p17"/>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4944450" y="420675"/>
            <a:ext cx="3455625" cy="1364900"/>
          </a:xfrm>
          <a:prstGeom prst="rect">
            <a:avLst/>
          </a:prstGeom>
          <a:noFill/>
          <a:ln w="9525" cap="flat" cmpd="sng">
            <a:solidFill>
              <a:srgbClr val="FF0000"/>
            </a:solidFill>
            <a:prstDash val="solid"/>
            <a:round/>
            <a:headEnd type="none" w="sm" len="sm"/>
            <a:tailEnd type="none" w="sm" len="sm"/>
          </a:ln>
        </p:spPr>
      </p:pic>
      <p:sp>
        <p:nvSpPr>
          <p:cNvPr id="149" name="Google Shape;149;p17"/>
          <p:cNvSpPr txBox="1"/>
          <p:nvPr/>
        </p:nvSpPr>
        <p:spPr>
          <a:xfrm>
            <a:off x="4944450" y="2488376"/>
            <a:ext cx="4122600" cy="2558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14300" algn="l" rtl="0">
              <a:lnSpc>
                <a:spcPct val="100000"/>
              </a:lnSpc>
              <a:spcBef>
                <a:spcPts val="0"/>
              </a:spcBef>
              <a:spcAft>
                <a:spcPts val="0"/>
              </a:spcAft>
              <a:buClr>
                <a:srgbClr val="FF0000"/>
              </a:buClr>
              <a:buSzPts val="900"/>
              <a:buFont typeface="Calibri"/>
              <a:buChar char="●"/>
            </a:pPr>
            <a:r>
              <a:rPr lang="en" sz="1200" b="1">
                <a:solidFill>
                  <a:srgbClr val="FF0000"/>
                </a:solidFill>
                <a:latin typeface="Calibri"/>
                <a:ea typeface="Calibri"/>
                <a:cs typeface="Calibri"/>
                <a:sym typeface="Calibri"/>
              </a:rPr>
              <a:t>MiniMax M2.1 released (China)</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Closed, MoE 230B params (10B active)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successor to M2 (which is Open Source - Apache)</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Coding- and agent-focused, for realistic “office-style” tasks</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Reliable multi-step software work and execution</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"Follow-instruction-then-act" behavior for stable, long-horizon coding sessions and complex refactors, multi-file projects, debugging, and product-style UI flows</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OpenRouter "minimax/minimax-m2.1" </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Pricing: $0.10 / $0.30 per 1M in/out tokens</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8"/>
              </a:rPr>
              <a:t>https://www.minimax.io/news/minimax-m21</a:t>
            </a:r>
            <a:r>
              <a:rPr lang="en" sz="900">
                <a:latin typeface="Calibri"/>
                <a:ea typeface="Calibri"/>
                <a:cs typeface="Calibri"/>
                <a:sym typeface="Calibri"/>
              </a:rPr>
              <a:t> </a:t>
            </a:r>
            <a:endParaRPr sz="9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9"/>
              </a:rPr>
              <a:t>https://platform.minimax.io</a:t>
            </a:r>
            <a:r>
              <a:rPr lang="en" sz="900">
                <a:latin typeface="Calibri"/>
                <a:ea typeface="Calibri"/>
                <a:cs typeface="Calibri"/>
                <a:sym typeface="Calibri"/>
              </a:rPr>
              <a:t> </a:t>
            </a:r>
            <a:endParaRPr sz="9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10"/>
              </a:rPr>
              <a:t>https://agent.minimax.io</a:t>
            </a:r>
            <a:r>
              <a:rPr lang="en" sz="900">
                <a:latin typeface="Calibri"/>
                <a:ea typeface="Calibri"/>
                <a:cs typeface="Calibri"/>
                <a:sym typeface="Calibri"/>
              </a:rPr>
              <a:t> </a:t>
            </a:r>
            <a:endParaRPr sz="9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11"/>
              </a:rPr>
              <a:t>https://huggingface.co/MiniMaxAI/MiniMax-M2</a:t>
            </a:r>
            <a:r>
              <a:rPr lang="en" sz="900">
                <a:latin typeface="Calibri"/>
                <a:ea typeface="Calibri"/>
                <a:cs typeface="Calibri"/>
                <a:sym typeface="Calibri"/>
              </a:rPr>
              <a:t> </a:t>
            </a:r>
            <a:endParaRPr sz="9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12"/>
              </a:rPr>
              <a:t>https://openrouter.ai/minimax/minimax-m2.1</a:t>
            </a:r>
            <a:r>
              <a:rPr lang="en" sz="900">
                <a:latin typeface="Calibri"/>
                <a:ea typeface="Calibri"/>
                <a:cs typeface="Calibri"/>
                <a:sym typeface="Calibri"/>
              </a:rPr>
              <a:t> </a:t>
            </a:r>
            <a:endParaRPr sz="900">
              <a:latin typeface="Calibri"/>
              <a:ea typeface="Calibri"/>
              <a:cs typeface="Calibri"/>
              <a:sym typeface="Calibri"/>
            </a:endParaRPr>
          </a:p>
        </p:txBody>
      </p:sp>
      <p:pic>
        <p:nvPicPr>
          <p:cNvPr id="150" name="Google Shape;150;p17"/>
          <p:cNvPicPr preferRelativeResize="0"/>
          <p:nvPr/>
        </p:nvPicPr>
        <p:blipFill>
          <a:blip r:embed="rId13">
            <a:alphaModFix/>
          </a:blip>
          <a:stretch>
            <a:fillRect/>
          </a:stretch>
        </p:blipFill>
        <p:spPr>
          <a:xfrm>
            <a:off x="1257650" y="3765200"/>
            <a:ext cx="3590925" cy="12763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8"/>
          <p:cNvSpPr txBox="1"/>
          <p:nvPr/>
        </p:nvSpPr>
        <p:spPr>
          <a:xfrm>
            <a:off x="4649100" y="647162"/>
            <a:ext cx="4413900" cy="2973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OpenAI GPT-5.2-Codex  (Caribou)</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https://openai.com/index/introducing-gpt-5-2-codex/</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1. More advanced agentic coding capabilities - to handle complex, multi-step reasoning and sustained attention over extended coding sessions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2. Better long-context understanding &amp; context compaction ( large codebases, multi-file projects) thanks to “native compaction,”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3. Reliable tool calling and factual accuracy (running tests, using compilers, or interacting with terminal environments)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4. Stronger cybersecurity capabilities, vulnerability discovery and defensive security workflows, safeguards to manage dual-use risks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5. Improved efficiency and developer experience -token-efficient reasoning and performance improvements. GPT-5.2-Codex can iterate on complex tasks without losing track, handle large refactors and migrations more reliably, and better interpret technical diagrams and screenshots shared during coding sessions</a:t>
            </a:r>
            <a:endParaRPr sz="1200">
              <a:latin typeface="Calibri"/>
              <a:ea typeface="Calibri"/>
              <a:cs typeface="Calibri"/>
              <a:sym typeface="Calibri"/>
            </a:endParaRPr>
          </a:p>
        </p:txBody>
      </p:sp>
      <p:sp>
        <p:nvSpPr>
          <p:cNvPr id="156" name="Google Shape;156;p18"/>
          <p:cNvSpPr txBox="1"/>
          <p:nvPr/>
        </p:nvSpPr>
        <p:spPr>
          <a:xfrm>
            <a:off x="4930651" y="38575"/>
            <a:ext cx="38508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OpenAI GPT-5.2-Codex  (Caribou)</a:t>
            </a:r>
            <a:endParaRPr sz="2000" b="1" i="0" u="none" strike="noStrike" cap="none">
              <a:solidFill>
                <a:schemeClr val="dk1"/>
              </a:solidFill>
              <a:latin typeface="Calibri"/>
              <a:ea typeface="Calibri"/>
              <a:cs typeface="Calibri"/>
              <a:sym typeface="Calibri"/>
            </a:endParaRPr>
          </a:p>
        </p:txBody>
      </p:sp>
      <p:pic>
        <p:nvPicPr>
          <p:cNvPr id="157" name="Google Shape;157;p18"/>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649100" y="3719437"/>
            <a:ext cx="4413901" cy="723425"/>
          </a:xfrm>
          <a:prstGeom prst="rect">
            <a:avLst/>
          </a:prstGeom>
          <a:noFill/>
          <a:ln w="9525" cap="flat" cmpd="sng">
            <a:solidFill>
              <a:srgbClr val="FF0000"/>
            </a:solidFill>
            <a:prstDash val="solid"/>
            <a:round/>
            <a:headEnd type="none" w="sm" len="sm"/>
            <a:tailEnd type="none" w="sm" len="sm"/>
          </a:ln>
        </p:spPr>
      </p:pic>
      <p:sp>
        <p:nvSpPr>
          <p:cNvPr id="158" name="Google Shape;158;p18"/>
          <p:cNvSpPr txBox="1"/>
          <p:nvPr/>
        </p:nvSpPr>
        <p:spPr>
          <a:xfrm>
            <a:off x="36000" y="659989"/>
            <a:ext cx="42096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Power users and developers claim GPT‑5.2 performs worse than expected, even worse than 5.1</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The model often ignores custom instructions, struggles with memory and context, and triggers safeguards too easily</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It is good on some benchmarks and bad on others</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A popular theory blames overfitting to benchmarks leading in high scores  - but no real-world understanding</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GPT‑5.2 may have been an “early checkpoint” version, not the full model originally planned. OpenAI has said a significantly improved version is expected in early 2026</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5"/>
              </a:rPr>
              <a:t>https://www.youtube.com/watch?v=zioKpt-E5vk</a:t>
            </a:r>
            <a:r>
              <a:rPr lang="en" sz="1200">
                <a:latin typeface="Calibri"/>
                <a:ea typeface="Calibri"/>
                <a:cs typeface="Calibri"/>
                <a:sym typeface="Calibri"/>
              </a:rPr>
              <a:t> </a:t>
            </a:r>
            <a:endParaRPr sz="1200">
              <a:latin typeface="Calibri"/>
              <a:ea typeface="Calibri"/>
              <a:cs typeface="Calibri"/>
              <a:sym typeface="Calibri"/>
            </a:endParaRPr>
          </a:p>
        </p:txBody>
      </p:sp>
      <p:pic>
        <p:nvPicPr>
          <p:cNvPr id="159" name="Google Shape;159;p18"/>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21050" y="2826751"/>
            <a:ext cx="3269654" cy="1628925"/>
          </a:xfrm>
          <a:prstGeom prst="rect">
            <a:avLst/>
          </a:prstGeom>
          <a:noFill/>
          <a:ln w="9525" cap="flat" cmpd="sng">
            <a:solidFill>
              <a:srgbClr val="FF0000"/>
            </a:solidFill>
            <a:prstDash val="solid"/>
            <a:round/>
            <a:headEnd type="none" w="sm" len="sm"/>
            <a:tailEnd type="none" w="sm" len="sm"/>
          </a:ln>
        </p:spPr>
      </p:pic>
      <p:sp>
        <p:nvSpPr>
          <p:cNvPr id="160" name="Google Shape;160;p18"/>
          <p:cNvSpPr txBox="1"/>
          <p:nvPr/>
        </p:nvSpPr>
        <p:spPr>
          <a:xfrm>
            <a:off x="35997" y="38575"/>
            <a:ext cx="4567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Everyone Hates The New ChatGPT-5.2</a:t>
            </a:r>
            <a:endParaRPr sz="2000" b="1" i="0" u="none" strike="noStrike" cap="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19"/>
          <p:cNvSpPr txBox="1"/>
          <p:nvPr/>
        </p:nvSpPr>
        <p:spPr>
          <a:xfrm>
            <a:off x="55075" y="20375"/>
            <a:ext cx="18048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Wan 2.6 R2V</a:t>
            </a:r>
            <a:endParaRPr sz="2000" b="1" i="0" u="none" strike="noStrike" cap="none">
              <a:solidFill>
                <a:schemeClr val="dk1"/>
              </a:solidFill>
              <a:latin typeface="Calibri"/>
              <a:ea typeface="Calibri"/>
              <a:cs typeface="Calibri"/>
              <a:sym typeface="Calibri"/>
            </a:endParaRPr>
          </a:p>
        </p:txBody>
      </p:sp>
      <p:sp>
        <p:nvSpPr>
          <p:cNvPr id="166" name="Google Shape;166;p19"/>
          <p:cNvSpPr txBox="1"/>
          <p:nvPr/>
        </p:nvSpPr>
        <p:spPr>
          <a:xfrm>
            <a:off x="55075" y="431075"/>
            <a:ext cx="4165800" cy="3435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Wan 2.6 R2V is Alibaba Cloud’s new reference‑to‑video model</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Use a short reference video (5 sec) and text prompts to generate new scenes where that same subject appears, controlled by text prompts</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Preserves key characteristics from the reference like appearance, style, and even voice, so the subject stays consistent across shots and different videos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Supports multi‑shot storytelling, so it can create sequences with multiple cuts and scene transitions while keeping the same character identity</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Outputs HD video (up to 1080p) with native audio, auto‑generated speech and background sound based on your script and prompt</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Good for generating many short talking‑head or character clips from a single reference video, for marketing, explainers, and virtual presenters where you need the same “digital twin” across multiple videos without new filming each time</a:t>
            </a:r>
            <a:endParaRPr sz="9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3"/>
              </a:rPr>
              <a:t>https://www.alibabacloud.com/en/press-room/alibaba-unveils-wan2-6-series-enabling-everyone</a:t>
            </a:r>
            <a:r>
              <a:rPr lang="en" sz="900">
                <a:latin typeface="Calibri"/>
                <a:ea typeface="Calibri"/>
                <a:cs typeface="Calibri"/>
                <a:sym typeface="Calibri"/>
              </a:rPr>
              <a:t> </a:t>
            </a:r>
            <a:endParaRPr sz="900">
              <a:latin typeface="Calibri"/>
              <a:ea typeface="Calibri"/>
              <a:cs typeface="Calibri"/>
              <a:sym typeface="Calibri"/>
            </a:endParaRPr>
          </a:p>
        </p:txBody>
      </p:sp>
      <p:pic>
        <p:nvPicPr>
          <p:cNvPr id="167" name="Google Shape;167;p19"/>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5076" y="3893475"/>
            <a:ext cx="2091200" cy="1171075"/>
          </a:xfrm>
          <a:prstGeom prst="rect">
            <a:avLst/>
          </a:prstGeom>
          <a:noFill/>
          <a:ln w="9525" cap="flat" cmpd="sng">
            <a:solidFill>
              <a:srgbClr val="FF0000"/>
            </a:solidFill>
            <a:prstDash val="solid"/>
            <a:round/>
            <a:headEnd type="none" w="sm" len="sm"/>
            <a:tailEnd type="none" w="sm" len="sm"/>
          </a:ln>
        </p:spPr>
      </p:pic>
      <p:sp>
        <p:nvSpPr>
          <p:cNvPr id="168" name="Google Shape;168;p19"/>
          <p:cNvSpPr txBox="1"/>
          <p:nvPr/>
        </p:nvSpPr>
        <p:spPr>
          <a:xfrm>
            <a:off x="4511626" y="104675"/>
            <a:ext cx="2196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Function Gemma</a:t>
            </a:r>
            <a:endParaRPr sz="2000" b="1" i="0" u="none" strike="noStrike" cap="none">
              <a:solidFill>
                <a:schemeClr val="dk1"/>
              </a:solidFill>
              <a:latin typeface="Calibri"/>
              <a:ea typeface="Calibri"/>
              <a:cs typeface="Calibri"/>
              <a:sym typeface="Calibri"/>
            </a:endParaRPr>
          </a:p>
        </p:txBody>
      </p:sp>
      <p:sp>
        <p:nvSpPr>
          <p:cNvPr id="169" name="Google Shape;169;p19"/>
          <p:cNvSpPr txBox="1"/>
          <p:nvPr/>
        </p:nvSpPr>
        <p:spPr>
          <a:xfrm>
            <a:off x="4511626" y="431075"/>
            <a:ext cx="4556700" cy="1957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Function Gemma</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FunctionGemma is a </a:t>
            </a:r>
            <a:r>
              <a:rPr lang="en" sz="1200" b="1">
                <a:solidFill>
                  <a:srgbClr val="FF0000"/>
                </a:solidFill>
                <a:latin typeface="Calibri"/>
                <a:ea typeface="Calibri"/>
                <a:cs typeface="Calibri"/>
                <a:sym typeface="Calibri"/>
              </a:rPr>
              <a:t>fine-tuned version</a:t>
            </a:r>
            <a:r>
              <a:rPr lang="en" sz="1200">
                <a:latin typeface="Calibri"/>
                <a:ea typeface="Calibri"/>
                <a:cs typeface="Calibri"/>
                <a:sym typeface="Calibri"/>
              </a:rPr>
              <a:t> of </a:t>
            </a:r>
            <a:br>
              <a:rPr lang="en" sz="1200">
                <a:latin typeface="Calibri"/>
                <a:ea typeface="Calibri"/>
                <a:cs typeface="Calibri"/>
                <a:sym typeface="Calibri"/>
              </a:rPr>
            </a:br>
            <a:r>
              <a:rPr lang="en" sz="1200">
                <a:latin typeface="Calibri"/>
                <a:ea typeface="Calibri"/>
                <a:cs typeface="Calibri"/>
                <a:sym typeface="Calibri"/>
              </a:rPr>
              <a:t>Google DeepMind’s </a:t>
            </a:r>
            <a:r>
              <a:rPr lang="en" sz="1200" b="1">
                <a:solidFill>
                  <a:srgbClr val="FF0000"/>
                </a:solidFill>
                <a:latin typeface="Calibri"/>
                <a:ea typeface="Calibri"/>
                <a:cs typeface="Calibri"/>
                <a:sym typeface="Calibri"/>
              </a:rPr>
              <a:t>Gemma-3 270M</a:t>
            </a:r>
            <a:r>
              <a:rPr lang="en" sz="1200">
                <a:latin typeface="Calibri"/>
                <a:ea typeface="Calibri"/>
                <a:cs typeface="Calibri"/>
                <a:sym typeface="Calibri"/>
              </a:rPr>
              <a:t> model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It is optimized for function calling and tool use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It enables developers to convert natural language into executable API actions for fast, private, and affordable applications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Despite its small size, the model runs efficiently on-device, ideal for mobile, embedded, and edge systems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Examples: voice-controlled mobile actions, natural language games</a:t>
            </a:r>
            <a:endParaRPr sz="9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5"/>
              </a:rPr>
              <a:t>https://blog.google/technology/developers/functiongemma</a:t>
            </a:r>
            <a:r>
              <a:rPr lang="en" sz="900">
                <a:latin typeface="Calibri"/>
                <a:ea typeface="Calibri"/>
                <a:cs typeface="Calibri"/>
                <a:sym typeface="Calibri"/>
              </a:rPr>
              <a:t> </a:t>
            </a:r>
            <a:endParaRPr sz="9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6"/>
              </a:rPr>
              <a:t>https://www.youtube.com/watch?v=-Tgc_9uYJLI</a:t>
            </a:r>
            <a:r>
              <a:rPr lang="en" sz="900">
                <a:latin typeface="Calibri"/>
                <a:ea typeface="Calibri"/>
                <a:cs typeface="Calibri"/>
                <a:sym typeface="Calibri"/>
              </a:rPr>
              <a:t> </a:t>
            </a:r>
            <a:endParaRPr sz="900">
              <a:latin typeface="Calibri"/>
              <a:ea typeface="Calibri"/>
              <a:cs typeface="Calibri"/>
              <a:sym typeface="Calibri"/>
            </a:endParaRPr>
          </a:p>
        </p:txBody>
      </p:sp>
      <p:pic>
        <p:nvPicPr>
          <p:cNvPr id="170" name="Google Shape;170;p19"/>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7558500" y="197287"/>
            <a:ext cx="1391301" cy="737875"/>
          </a:xfrm>
          <a:prstGeom prst="rect">
            <a:avLst/>
          </a:prstGeom>
          <a:noFill/>
          <a:ln w="9525" cap="flat" cmpd="sng">
            <a:solidFill>
              <a:srgbClr val="FF0000"/>
            </a:solidFill>
            <a:prstDash val="solid"/>
            <a:round/>
            <a:headEnd type="none" w="sm" len="sm"/>
            <a:tailEnd type="none" w="sm" len="sm"/>
          </a:ln>
        </p:spPr>
      </p:pic>
      <p:sp>
        <p:nvSpPr>
          <p:cNvPr id="171" name="Google Shape;171;p19"/>
          <p:cNvSpPr txBox="1"/>
          <p:nvPr/>
        </p:nvSpPr>
        <p:spPr>
          <a:xfrm>
            <a:off x="4524264" y="2649809"/>
            <a:ext cx="4556700" cy="2419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Nvidia Bought Groq for $20B</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Nvidia acquired Groq's AI chip technology and key leadership for approx. $20 Billion in a licensing deal announced on Christmas Eve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Groq CEO Jonathan Ross, who invented Google's TPU, developed specialized LPU (Language Processing Unit) chips optimized for fast, low-cost AI inference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Unlike Nvidia's general-purpose GPUs, Groq's chips excel at inference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deal is structured as a non-exclusive technology license with Groq remaining independent under new leadership, allowing Nvidia to avoid antitrust scrutiny</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This acquisition positions Nvidia defensively against Google's TPU and offensively to dominate the lucrative inference market</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8"/>
              </a:rPr>
              <a:t>https://www.youtube.com/watch?v=WOLiBYM1XFk</a:t>
            </a:r>
            <a:r>
              <a:rPr lang="en" sz="1200">
                <a:latin typeface="Calibri"/>
                <a:ea typeface="Calibri"/>
                <a:cs typeface="Calibri"/>
                <a:sym typeface="Calibri"/>
              </a:rPr>
              <a:t> </a:t>
            </a:r>
            <a:endParaRPr sz="1200">
              <a:latin typeface="Calibri"/>
              <a:ea typeface="Calibri"/>
              <a:cs typeface="Calibri"/>
              <a:sym typeface="Calibri"/>
            </a:endParaRPr>
          </a:p>
        </p:txBody>
      </p:sp>
      <p:pic>
        <p:nvPicPr>
          <p:cNvPr id="172" name="Google Shape;172;p19"/>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3015632" y="4157225"/>
            <a:ext cx="1508631" cy="90732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20"/>
          <p:cNvSpPr txBox="1"/>
          <p:nvPr/>
        </p:nvSpPr>
        <p:spPr>
          <a:xfrm>
            <a:off x="55075" y="20375"/>
            <a:ext cx="44691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Nvidia Bought Groq for $20B</a:t>
            </a:r>
            <a:endParaRPr sz="2000" b="1" i="0" u="none" strike="noStrike" cap="none">
              <a:solidFill>
                <a:schemeClr val="dk1"/>
              </a:solidFill>
              <a:latin typeface="Calibri"/>
              <a:ea typeface="Calibri"/>
              <a:cs typeface="Calibri"/>
              <a:sym typeface="Calibri"/>
            </a:endParaRPr>
          </a:p>
        </p:txBody>
      </p:sp>
      <p:sp>
        <p:nvSpPr>
          <p:cNvPr id="178" name="Google Shape;178;p20"/>
          <p:cNvSpPr txBox="1"/>
          <p:nvPr/>
        </p:nvSpPr>
        <p:spPr>
          <a:xfrm>
            <a:off x="61325" y="536600"/>
            <a:ext cx="4469100" cy="4082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Nvidia Bought Groq for $20B</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Nvidia acquired Groq's </a:t>
            </a:r>
            <a:r>
              <a:rPr lang="en" sz="1200" b="1">
                <a:solidFill>
                  <a:srgbClr val="FF0000"/>
                </a:solidFill>
                <a:latin typeface="Calibri"/>
                <a:ea typeface="Calibri"/>
                <a:cs typeface="Calibri"/>
                <a:sym typeface="Calibri"/>
              </a:rPr>
              <a:t>AI chip technology, Intellectual Property, and key leadership</a:t>
            </a:r>
            <a:r>
              <a:rPr lang="en" sz="1200">
                <a:latin typeface="Calibri"/>
                <a:ea typeface="Calibri"/>
                <a:cs typeface="Calibri"/>
                <a:sym typeface="Calibri"/>
              </a:rPr>
              <a:t> for approx. $20 Billion in a </a:t>
            </a:r>
            <a:r>
              <a:rPr lang="en" sz="1200" b="1">
                <a:solidFill>
                  <a:srgbClr val="FF0000"/>
                </a:solidFill>
                <a:latin typeface="Calibri"/>
                <a:ea typeface="Calibri"/>
                <a:cs typeface="Calibri"/>
                <a:sym typeface="Calibri"/>
              </a:rPr>
              <a:t>licensing deal </a:t>
            </a:r>
            <a:r>
              <a:rPr lang="en" sz="1200">
                <a:latin typeface="Calibri"/>
                <a:ea typeface="Calibri"/>
                <a:cs typeface="Calibri"/>
                <a:sym typeface="Calibri"/>
              </a:rPr>
              <a:t>announced on Christmas Eve</a:t>
            </a:r>
            <a:endParaRPr sz="1200">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Groq CEO Jonathan Ross, who invented Google's TPU, developed specialized LPU (Language Processing Unit) chips optimized for fast, low-cost AI inference</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Unlike Nvidia's general-purpose GPUs, Groq's chips excel at inference</a:t>
            </a:r>
            <a:endParaRPr sz="1200">
              <a:latin typeface="Calibri"/>
              <a:ea typeface="Calibri"/>
              <a:cs typeface="Calibri"/>
              <a:sym typeface="Calibri"/>
            </a:endParaRPr>
          </a:p>
          <a:p>
            <a:pPr marL="171450" marR="0" lvl="0" indent="-133350" algn="l" rtl="0">
              <a:lnSpc>
                <a:spcPct val="100000"/>
              </a:lnSpc>
              <a:spcBef>
                <a:spcPts val="0"/>
              </a:spcBef>
              <a:spcAft>
                <a:spcPts val="0"/>
              </a:spcAft>
              <a:buClr>
                <a:srgbClr val="6AA84F"/>
              </a:buClr>
              <a:buSzPts val="1200"/>
              <a:buFont typeface="Calibri"/>
              <a:buChar char="●"/>
            </a:pPr>
            <a:r>
              <a:rPr lang="en" sz="1200" b="1">
                <a:solidFill>
                  <a:srgbClr val="6AA84F"/>
                </a:solidFill>
                <a:latin typeface="Calibri"/>
                <a:ea typeface="Calibri"/>
                <a:cs typeface="Calibri"/>
                <a:sym typeface="Calibri"/>
              </a:rPr>
              <a:t>The deal is structured as a </a:t>
            </a:r>
            <a:r>
              <a:rPr lang="en" sz="1200" b="1">
                <a:solidFill>
                  <a:srgbClr val="FF0000"/>
                </a:solidFill>
                <a:latin typeface="Calibri"/>
                <a:ea typeface="Calibri"/>
                <a:cs typeface="Calibri"/>
                <a:sym typeface="Calibri"/>
              </a:rPr>
              <a:t>non-exclusive technology license</a:t>
            </a:r>
            <a:r>
              <a:rPr lang="en" sz="1200" b="1">
                <a:solidFill>
                  <a:srgbClr val="6AA84F"/>
                </a:solidFill>
                <a:latin typeface="Calibri"/>
                <a:ea typeface="Calibri"/>
                <a:cs typeface="Calibri"/>
                <a:sym typeface="Calibri"/>
              </a:rPr>
              <a:t> with Groq remaining independent under new leadership, allowing Nvidia to avoid antitrust scrutiny</a:t>
            </a:r>
            <a:endParaRPr sz="1200" b="1">
              <a:solidFill>
                <a:srgbClr val="6AA84F"/>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This acquisition positions Nvidia defensively against Google's TPU and offensively to dominate the lucrative inference market</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https://www.youtube.com/watch?v=WOLiBYM1XFk</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Nvidia has not acquired Groq as a company - this is a licensing and talent deal (often called an "acqui-hire")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Nvidia hired key talent from Groq, including founder Jonathan Ross and President Sunny Madra</a:t>
            </a:r>
            <a:endParaRPr sz="1200">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Jensen Huang clarified: "We plan to integrate Groq's low-latency processors into the NVIDIA AI factory architecture... While we are adding talented employees to our ranks and licensing Groq's IP, we are not acquiring Groq as a company"</a:t>
            </a:r>
            <a:endParaRPr sz="1200">
              <a:latin typeface="Calibri"/>
              <a:ea typeface="Calibri"/>
              <a:cs typeface="Calibri"/>
              <a:sym typeface="Calibri"/>
            </a:endParaRPr>
          </a:p>
        </p:txBody>
      </p:sp>
      <p:pic>
        <p:nvPicPr>
          <p:cNvPr id="179" name="Google Shape;179;p20"/>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631677" y="84600"/>
            <a:ext cx="1839649" cy="1106400"/>
          </a:xfrm>
          <a:prstGeom prst="rect">
            <a:avLst/>
          </a:prstGeom>
          <a:noFill/>
          <a:ln w="9525" cap="flat" cmpd="sng">
            <a:solidFill>
              <a:srgbClr val="FF0000"/>
            </a:solidFill>
            <a:prstDash val="solid"/>
            <a:round/>
            <a:headEnd type="none" w="sm" len="sm"/>
            <a:tailEnd type="none" w="sm" len="sm"/>
          </a:ln>
        </p:spPr>
      </p:pic>
      <p:sp>
        <p:nvSpPr>
          <p:cNvPr id="180" name="Google Shape;180;p20"/>
          <p:cNvSpPr txBox="1"/>
          <p:nvPr/>
        </p:nvSpPr>
        <p:spPr>
          <a:xfrm>
            <a:off x="4631675" y="1275500"/>
            <a:ext cx="4455600" cy="1449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Simon Edwards is Groq's new CEO. He was previously Groq's Chief Financial Officer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Nvidia plans to integrate Groq's processors into their existing "AI factory architecture" rather than manufacture standalone Groq chips</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5"/>
              </a:rPr>
              <a:t>https://www.tomshardware.com/tech-industry/artificial-intelligence/nvidia-buys-ai-chip-startup-groqs-assets-for-usd20-billion-in-the-companys-biggest-deal-ever-transaction-includes-acquihires-of-key-groq-employees-including-ceo</a:t>
            </a:r>
            <a:r>
              <a:rPr lang="en" sz="900">
                <a:latin typeface="Calibri"/>
                <a:ea typeface="Calibri"/>
                <a:cs typeface="Calibri"/>
                <a:sym typeface="Calibri"/>
              </a:rPr>
              <a:t> </a:t>
            </a:r>
            <a:endParaRPr sz="9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6"/>
              </a:rPr>
              <a:t>https://groq.com/newsroom/groq-and-nvidia-enter-non-exclusive-inference-technology-licensing-agreement-to-accelerate-ai-inference-at-global-scale</a:t>
            </a:r>
            <a:r>
              <a:rPr lang="en" sz="900">
                <a:latin typeface="Calibri"/>
                <a:ea typeface="Calibri"/>
                <a:cs typeface="Calibri"/>
                <a:sym typeface="Calibri"/>
              </a:rPr>
              <a:t> </a:t>
            </a:r>
            <a:endParaRPr sz="1200">
              <a:latin typeface="Calibri"/>
              <a:ea typeface="Calibri"/>
              <a:cs typeface="Calibri"/>
              <a:sym typeface="Calibri"/>
            </a:endParaRPr>
          </a:p>
        </p:txBody>
      </p:sp>
      <p:sp>
        <p:nvSpPr>
          <p:cNvPr id="181" name="Google Shape;181;p20"/>
          <p:cNvSpPr txBox="1"/>
          <p:nvPr/>
        </p:nvSpPr>
        <p:spPr>
          <a:xfrm>
            <a:off x="4631675" y="2924550"/>
            <a:ext cx="44556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Groq's Tensor Streaming Processors (TSP) are designed in-house and manufactured using multiple foundries (not TSMC);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chip is massive at 725mm² and uses primarily on-chip SRAM (230MB) instead of external memory like HBM</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Current Generation (LPU v1, 14nm): Manufactured by GlobalFoundries in upstate New York</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Next Generation (LPU v2, 4nm): Groq selected Samsung Foundry at Taylor, Texas facility</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While Groq doesn't use TSMC or Taiwan-based manufacturing, both GlobalFoundries and Samsung foundries do use ASML's lithography equipment for chip fabrication</a:t>
            </a:r>
            <a:endParaRPr sz="1200">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21"/>
          <p:cNvSpPr txBox="1"/>
          <p:nvPr/>
        </p:nvSpPr>
        <p:spPr>
          <a:xfrm>
            <a:off x="148651" y="619300"/>
            <a:ext cx="4917900" cy="418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We do these weekly videos every Friday</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Stats: 5.94K subscribers, 259 videos</a:t>
            </a: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Subscribe to this channel</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1800" b="1" u="sng">
                <a:solidFill>
                  <a:schemeClr val="accent5"/>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https://www.youtube.com/@lev-selector</a:t>
            </a:r>
            <a:r>
              <a:rPr lang="en" sz="1800" b="1">
                <a:solidFill>
                  <a:schemeClr val="dk1"/>
                </a:solidFill>
                <a:latin typeface="Calibri"/>
                <a:ea typeface="Calibri"/>
                <a:cs typeface="Calibri"/>
                <a:sym typeface="Calibri"/>
              </a:rPr>
              <a:t> </a:t>
            </a:r>
            <a:endParaRPr sz="1800" b="1">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Download slides from GitHub using links under the videos</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r>
              <a:rPr lang="en" sz="2200" b="1">
                <a:solidFill>
                  <a:srgbClr val="FF0000"/>
                </a:solidFill>
                <a:latin typeface="Calibri"/>
                <a:ea typeface="Calibri"/>
                <a:cs typeface="Calibri"/>
                <a:sym typeface="Calibri"/>
              </a:rPr>
              <a:t>Please pause the video - and answer the pinned question in comments under the video</a:t>
            </a:r>
            <a:endParaRPr sz="1800" b="1" i="0" u="none" strike="noStrike" cap="none">
              <a:solidFill>
                <a:srgbClr val="FF0000"/>
              </a:solidFill>
              <a:latin typeface="Calibri"/>
              <a:ea typeface="Calibri"/>
              <a:cs typeface="Calibri"/>
              <a:sym typeface="Calibri"/>
            </a:endParaRPr>
          </a:p>
        </p:txBody>
      </p:sp>
      <p:pic>
        <p:nvPicPr>
          <p:cNvPr id="187" name="Google Shape;187;p21"/>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227443" y="79125"/>
            <a:ext cx="3828725" cy="4985251"/>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22"/>
          <p:cNvSpPr txBox="1"/>
          <p:nvPr/>
        </p:nvSpPr>
        <p:spPr>
          <a:xfrm>
            <a:off x="55075" y="20375"/>
            <a:ext cx="4034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i="0" u="none" strike="noStrike" cap="none">
              <a:solidFill>
                <a:schemeClr val="dk1"/>
              </a:solidFill>
              <a:latin typeface="Calibri"/>
              <a:ea typeface="Calibri"/>
              <a:cs typeface="Calibri"/>
              <a:sym typeface="Calibri"/>
            </a:endParaRPr>
          </a:p>
        </p:txBody>
      </p:sp>
      <p:sp>
        <p:nvSpPr>
          <p:cNvPr id="193" name="Google Shape;193;p22"/>
          <p:cNvSpPr txBox="1"/>
          <p:nvPr/>
        </p:nvSpPr>
        <p:spPr>
          <a:xfrm>
            <a:off x="111575" y="369200"/>
            <a:ext cx="4413900" cy="1680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AI Model Quality Saturation</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AI Model improvements no longer matter much for most users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Once models reach "PhD-level" capability, speed and integration become more valuable than raw intelligence gains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Reasoning models are slow. Users prefer fast good enough models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Users want models to integrate with common apps (Gmail,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immediate battle is about embedding AI into existing workflows rather than making smarter models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https://www.youtube.com/watch?v=mwpxEFpdlYo</a:t>
            </a:r>
            <a:endParaRPr sz="1200">
              <a:latin typeface="Calibri"/>
              <a:ea typeface="Calibri"/>
              <a:cs typeface="Calibri"/>
              <a:sym typeface="Calibri"/>
            </a:endParaRPr>
          </a:p>
        </p:txBody>
      </p:sp>
      <p:sp>
        <p:nvSpPr>
          <p:cNvPr id="194" name="Google Shape;194;p22"/>
          <p:cNvSpPr txBox="1"/>
          <p:nvPr/>
        </p:nvSpPr>
        <p:spPr>
          <a:xfrm>
            <a:off x="111575" y="2107447"/>
            <a:ext cx="4413900" cy="2973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Importance of Continual learning</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solidFill>
                  <a:schemeClr val="dk1"/>
                </a:solidFill>
                <a:latin typeface="Calibri"/>
                <a:ea typeface="Calibri"/>
                <a:cs typeface="Calibri"/>
                <a:sym typeface="Calibri"/>
              </a:rPr>
              <a:t>Continual learning</a:t>
            </a:r>
            <a:r>
              <a:rPr lang="en" sz="1200">
                <a:latin typeface="Calibri"/>
                <a:ea typeface="Calibri"/>
                <a:cs typeface="Calibri"/>
                <a:sym typeface="Calibri"/>
              </a:rPr>
              <a:t> enables AI agents to update their knowledge incrementally from new experiences without forgetting previously learned information, addressing the critical problem of "catastrophic forgetting" where traditional models lose old knowledge when learning new tasks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This capability is essential for enterprise AI because r</a:t>
            </a:r>
            <a:r>
              <a:rPr lang="en" sz="1200" b="1">
                <a:solidFill>
                  <a:srgbClr val="3C78D8"/>
                </a:solidFill>
                <a:latin typeface="Calibri"/>
                <a:ea typeface="Calibri"/>
                <a:cs typeface="Calibri"/>
                <a:sym typeface="Calibri"/>
              </a:rPr>
              <a:t>eal-world environments constantly change</a:t>
            </a:r>
            <a:r>
              <a:rPr lang="en" sz="1200">
                <a:latin typeface="Calibri"/>
                <a:ea typeface="Calibri"/>
                <a:cs typeface="Calibri"/>
                <a:sym typeface="Calibri"/>
              </a:rPr>
              <a:t> - business processes evolve, customer behaviors shift, policies update, and new edge cases emerge - requiring agents that adapt continuously rather than remaining frozen at their initial training state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b="1">
                <a:solidFill>
                  <a:srgbClr val="3C78D8"/>
                </a:solidFill>
                <a:latin typeface="Calibri"/>
                <a:ea typeface="Calibri"/>
                <a:cs typeface="Calibri"/>
                <a:sym typeface="Calibri"/>
              </a:rPr>
              <a:t>Without continual learning, organizations face expensive retraining cycles, system downtime, and agents that quickly become outdated</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Continually learning agents reduce operational overhead while improving performance organically over time</a:t>
            </a:r>
            <a:endParaRPr sz="1200">
              <a:latin typeface="Calibri"/>
              <a:ea typeface="Calibri"/>
              <a:cs typeface="Calibri"/>
              <a:sym typeface="Calibri"/>
            </a:endParaRPr>
          </a:p>
        </p:txBody>
      </p:sp>
      <p:sp>
        <p:nvSpPr>
          <p:cNvPr id="195" name="Google Shape;195;p22"/>
          <p:cNvSpPr txBox="1"/>
          <p:nvPr/>
        </p:nvSpPr>
        <p:spPr>
          <a:xfrm>
            <a:off x="4656925" y="1909446"/>
            <a:ext cx="4413900" cy="3020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b="1">
                <a:solidFill>
                  <a:srgbClr val="FF0000"/>
                </a:solidFill>
                <a:latin typeface="Calibri"/>
                <a:ea typeface="Calibri"/>
                <a:cs typeface="Calibri"/>
                <a:sym typeface="Calibri"/>
              </a:rPr>
              <a:t>Continual learning</a:t>
            </a:r>
            <a:r>
              <a:rPr lang="en" sz="1200">
                <a:latin typeface="Calibri"/>
                <a:ea typeface="Calibri"/>
                <a:cs typeface="Calibri"/>
                <a:sym typeface="Calibri"/>
              </a:rPr>
              <a:t> approach combines incremental updates that preserve existing knowledge with the ability to absorb new rules, exceptions, and workflows, making agents behave more like real team members who improve with experience rather than static tools requiring quarterly resets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b="1">
                <a:solidFill>
                  <a:srgbClr val="3C78D8"/>
                </a:solidFill>
                <a:latin typeface="Calibri"/>
                <a:ea typeface="Calibri"/>
                <a:cs typeface="Calibri"/>
                <a:sym typeface="Calibri"/>
              </a:rPr>
              <a:t>As foundation models grow larger and retraining becomes prohibitively expensive</a:t>
            </a:r>
            <a:r>
              <a:rPr lang="en" sz="1200">
                <a:latin typeface="Calibri"/>
                <a:ea typeface="Calibri"/>
                <a:cs typeface="Calibri"/>
                <a:sym typeface="Calibri"/>
              </a:rPr>
              <a:t>, continual learning through memory-augmented architectures and token-space updates offers a sustainable path to adaptive, evolving systems that can transfer knowledge across model generations while maintaining durable improvements</a:t>
            </a:r>
            <a:endParaRPr sz="9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4"/>
              </a:rPr>
              <a:t>https://beam.ai/agentic-insights/what-is-continual-learning-(and-why-it-powers-self-learning-ai-agents)</a:t>
            </a:r>
            <a:r>
              <a:rPr lang="en" sz="900">
                <a:latin typeface="Calibri"/>
                <a:ea typeface="Calibri"/>
                <a:cs typeface="Calibri"/>
                <a:sym typeface="Calibri"/>
              </a:rPr>
              <a:t> </a:t>
            </a:r>
            <a:endParaRPr sz="9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5"/>
              </a:rPr>
              <a:t>https://www.letta.com/blog/continual-learning</a:t>
            </a:r>
            <a:r>
              <a:rPr lang="en" sz="900">
                <a:latin typeface="Calibri"/>
                <a:ea typeface="Calibri"/>
                <a:cs typeface="Calibri"/>
                <a:sym typeface="Calibri"/>
              </a:rPr>
              <a:t> </a:t>
            </a:r>
            <a:endParaRPr sz="9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6"/>
              </a:rPr>
              <a:t>https://www.xoriant.com/thought-leadership/article/agentic-ai-and-continuous-learning-creating-ever-evolving-systems</a:t>
            </a:r>
            <a:r>
              <a:rPr lang="en" sz="900">
                <a:latin typeface="Calibri"/>
                <a:ea typeface="Calibri"/>
                <a:cs typeface="Calibri"/>
                <a:sym typeface="Calibri"/>
              </a:rPr>
              <a:t> </a:t>
            </a:r>
            <a:endParaRPr sz="9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7"/>
              </a:rPr>
              <a:t>https://www.arxiv.org/pdf/2506.03320</a:t>
            </a:r>
            <a:r>
              <a:rPr lang="en" sz="900">
                <a:latin typeface="Calibri"/>
                <a:ea typeface="Calibri"/>
                <a:cs typeface="Calibri"/>
                <a:sym typeface="Calibri"/>
              </a:rPr>
              <a:t> </a:t>
            </a:r>
            <a:endParaRPr sz="9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8"/>
              </a:rPr>
              <a:t>https://www.ibm.com/think/topics/continual-learning</a:t>
            </a:r>
            <a:r>
              <a:rPr lang="en" sz="900">
                <a:latin typeface="Calibri"/>
                <a:ea typeface="Calibri"/>
                <a:cs typeface="Calibri"/>
                <a:sym typeface="Calibri"/>
              </a:rPr>
              <a:t> </a:t>
            </a:r>
            <a:endParaRPr sz="900">
              <a:latin typeface="Calibri"/>
              <a:ea typeface="Calibri"/>
              <a:cs typeface="Calibri"/>
              <a:sym typeface="Calibri"/>
            </a:endParaRPr>
          </a:p>
        </p:txBody>
      </p:sp>
      <p:sp>
        <p:nvSpPr>
          <p:cNvPr id="196" name="Google Shape;196;p22"/>
          <p:cNvSpPr txBox="1"/>
          <p:nvPr/>
        </p:nvSpPr>
        <p:spPr>
          <a:xfrm>
            <a:off x="4692113" y="963976"/>
            <a:ext cx="1643700" cy="6465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45700" tIns="45700" rIns="45700" bIns="45700" anchor="t" anchorCtr="0">
            <a:spAutoFit/>
          </a:bodyPr>
          <a:lstStyle/>
          <a:p>
            <a:pPr marL="0" marR="0" lvl="0" indent="0" algn="ctr" rtl="0">
              <a:lnSpc>
                <a:spcPct val="100000"/>
              </a:lnSpc>
              <a:spcBef>
                <a:spcPts val="0"/>
              </a:spcBef>
              <a:spcAft>
                <a:spcPts val="0"/>
              </a:spcAft>
              <a:buNone/>
            </a:pPr>
            <a:r>
              <a:rPr lang="en" sz="1200" b="1">
                <a:latin typeface="Calibri"/>
                <a:ea typeface="Calibri"/>
                <a:cs typeface="Calibri"/>
                <a:sym typeface="Calibri"/>
              </a:rPr>
              <a:t>Ph.D. Quality</a:t>
            </a:r>
            <a:endParaRPr sz="1200" b="1">
              <a:latin typeface="Calibri"/>
              <a:ea typeface="Calibri"/>
              <a:cs typeface="Calibri"/>
              <a:sym typeface="Calibri"/>
            </a:endParaRPr>
          </a:p>
          <a:p>
            <a:pPr marL="0" marR="0" lvl="0" indent="0" algn="ctr" rtl="0">
              <a:lnSpc>
                <a:spcPct val="100000"/>
              </a:lnSpc>
              <a:spcBef>
                <a:spcPts val="0"/>
              </a:spcBef>
              <a:spcAft>
                <a:spcPts val="0"/>
              </a:spcAft>
              <a:buNone/>
            </a:pPr>
            <a:r>
              <a:rPr lang="en" sz="1200" b="1">
                <a:latin typeface="Calibri"/>
                <a:ea typeface="Calibri"/>
                <a:cs typeface="Calibri"/>
                <a:sym typeface="Calibri"/>
              </a:rPr>
              <a:t>Slow Inference</a:t>
            </a:r>
            <a:endParaRPr sz="1200" b="1">
              <a:latin typeface="Calibri"/>
              <a:ea typeface="Calibri"/>
              <a:cs typeface="Calibri"/>
              <a:sym typeface="Calibri"/>
            </a:endParaRPr>
          </a:p>
          <a:p>
            <a:pPr marL="0" marR="0" lvl="0" indent="0" algn="ctr" rtl="0">
              <a:lnSpc>
                <a:spcPct val="100000"/>
              </a:lnSpc>
              <a:spcBef>
                <a:spcPts val="0"/>
              </a:spcBef>
              <a:spcAft>
                <a:spcPts val="0"/>
              </a:spcAft>
              <a:buNone/>
            </a:pPr>
            <a:r>
              <a:rPr lang="en" sz="1200" b="1">
                <a:latin typeface="Calibri"/>
                <a:ea typeface="Calibri"/>
                <a:cs typeface="Calibri"/>
                <a:sym typeface="Calibri"/>
              </a:rPr>
              <a:t>Expensive Re-Training</a:t>
            </a:r>
            <a:endParaRPr sz="1200" b="1">
              <a:latin typeface="Calibri"/>
              <a:ea typeface="Calibri"/>
              <a:cs typeface="Calibri"/>
              <a:sym typeface="Calibri"/>
            </a:endParaRPr>
          </a:p>
        </p:txBody>
      </p:sp>
      <p:sp>
        <p:nvSpPr>
          <p:cNvPr id="197" name="Google Shape;197;p22"/>
          <p:cNvSpPr txBox="1"/>
          <p:nvPr/>
        </p:nvSpPr>
        <p:spPr>
          <a:xfrm>
            <a:off x="7562426" y="541672"/>
            <a:ext cx="1508400" cy="8310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45700" tIns="45700" rIns="45700" bIns="45700" anchor="t" anchorCtr="0">
            <a:spAutoFit/>
          </a:bodyPr>
          <a:lstStyle/>
          <a:p>
            <a:pPr marL="0" marR="0" lvl="0" indent="0" algn="ctr" rtl="0">
              <a:lnSpc>
                <a:spcPct val="100000"/>
              </a:lnSpc>
              <a:spcBef>
                <a:spcPts val="0"/>
              </a:spcBef>
              <a:spcAft>
                <a:spcPts val="0"/>
              </a:spcAft>
              <a:buNone/>
            </a:pPr>
            <a:r>
              <a:rPr lang="en" sz="1200" b="1">
                <a:latin typeface="Calibri"/>
                <a:ea typeface="Calibri"/>
                <a:cs typeface="Calibri"/>
                <a:sym typeface="Calibri"/>
              </a:rPr>
              <a:t>Fast Inference</a:t>
            </a:r>
            <a:endParaRPr sz="1200" b="1">
              <a:latin typeface="Calibri"/>
              <a:ea typeface="Calibri"/>
              <a:cs typeface="Calibri"/>
              <a:sym typeface="Calibri"/>
            </a:endParaRPr>
          </a:p>
          <a:p>
            <a:pPr marL="0" marR="0" lvl="0" indent="0" algn="ctr" rtl="0">
              <a:lnSpc>
                <a:spcPct val="100000"/>
              </a:lnSpc>
              <a:spcBef>
                <a:spcPts val="0"/>
              </a:spcBef>
              <a:spcAft>
                <a:spcPts val="0"/>
              </a:spcAft>
              <a:buNone/>
            </a:pPr>
            <a:r>
              <a:rPr lang="en" sz="1200" b="1">
                <a:latin typeface="Calibri"/>
                <a:ea typeface="Calibri"/>
                <a:cs typeface="Calibri"/>
                <a:sym typeface="Calibri"/>
              </a:rPr>
              <a:t>Long Context</a:t>
            </a:r>
            <a:endParaRPr sz="1200" b="1">
              <a:latin typeface="Calibri"/>
              <a:ea typeface="Calibri"/>
              <a:cs typeface="Calibri"/>
              <a:sym typeface="Calibri"/>
            </a:endParaRPr>
          </a:p>
          <a:p>
            <a:pPr marL="0" marR="0" lvl="0" indent="0" algn="ctr" rtl="0">
              <a:lnSpc>
                <a:spcPct val="100000"/>
              </a:lnSpc>
              <a:spcBef>
                <a:spcPts val="0"/>
              </a:spcBef>
              <a:spcAft>
                <a:spcPts val="0"/>
              </a:spcAft>
              <a:buNone/>
            </a:pPr>
            <a:r>
              <a:rPr lang="en" sz="1200" b="1">
                <a:latin typeface="Calibri"/>
                <a:ea typeface="Calibri"/>
                <a:cs typeface="Calibri"/>
                <a:sym typeface="Calibri"/>
              </a:rPr>
              <a:t>Multi-Step</a:t>
            </a:r>
            <a:endParaRPr sz="1200" b="1">
              <a:latin typeface="Calibri"/>
              <a:ea typeface="Calibri"/>
              <a:cs typeface="Calibri"/>
              <a:sym typeface="Calibri"/>
            </a:endParaRPr>
          </a:p>
          <a:p>
            <a:pPr marL="0" marR="0" lvl="0" indent="0" algn="ctr" rtl="0">
              <a:lnSpc>
                <a:spcPct val="100000"/>
              </a:lnSpc>
              <a:spcBef>
                <a:spcPts val="0"/>
              </a:spcBef>
              <a:spcAft>
                <a:spcPts val="0"/>
              </a:spcAft>
              <a:buNone/>
            </a:pPr>
            <a:r>
              <a:rPr lang="en" sz="1200" b="1">
                <a:latin typeface="Calibri"/>
                <a:ea typeface="Calibri"/>
                <a:cs typeface="Calibri"/>
                <a:sym typeface="Calibri"/>
              </a:rPr>
              <a:t>Continual Learning</a:t>
            </a:r>
            <a:endParaRPr sz="1200" b="1">
              <a:latin typeface="Calibri"/>
              <a:ea typeface="Calibri"/>
              <a:cs typeface="Calibri"/>
              <a:sym typeface="Calibri"/>
            </a:endParaRPr>
          </a:p>
        </p:txBody>
      </p:sp>
      <p:sp>
        <p:nvSpPr>
          <p:cNvPr id="198" name="Google Shape;198;p22"/>
          <p:cNvSpPr/>
          <p:nvPr/>
        </p:nvSpPr>
        <p:spPr>
          <a:xfrm rot="10218696">
            <a:off x="6444800" y="987645"/>
            <a:ext cx="1062453" cy="282406"/>
          </a:xfrm>
          <a:prstGeom prst="lef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3"/>
          <p:cNvSpPr txBox="1"/>
          <p:nvPr/>
        </p:nvSpPr>
        <p:spPr>
          <a:xfrm>
            <a:off x="55075" y="20375"/>
            <a:ext cx="4034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Catastrophic forgetting</a:t>
            </a:r>
            <a:endParaRPr sz="2000" b="1" i="0" u="none" strike="noStrike" cap="none">
              <a:solidFill>
                <a:schemeClr val="dk1"/>
              </a:solidFill>
              <a:latin typeface="Calibri"/>
              <a:ea typeface="Calibri"/>
              <a:cs typeface="Calibri"/>
              <a:sym typeface="Calibri"/>
            </a:endParaRPr>
          </a:p>
        </p:txBody>
      </p:sp>
      <p:sp>
        <p:nvSpPr>
          <p:cNvPr id="204" name="Google Shape;204;p23"/>
          <p:cNvSpPr txBox="1"/>
          <p:nvPr/>
        </p:nvSpPr>
        <p:spPr>
          <a:xfrm>
            <a:off x="55075" y="418150"/>
            <a:ext cx="4962000" cy="4451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Catastrophic forgetting - the model loses performance on old tasks/knowledge after being trained on new data</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It is a tendency of a model to “overwrite” previously acquired capabilities when adapted to new instructions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In continual or sequential learning, catastrophic forgetting (also called catastrophic interference) is the abrupt degradation of performance on earlier tasks when the model is trained on new tasks using the same parameters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This happens because gradient updates for the new data push weights into regions that no longer support the old behaviors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Unlike ordinary gradual forgetting in humans, this effect in neural nets can be sudden and severe a model that previously performed well on task A can almost completely fail after being optimized for task B if no precautions are taken</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For long‑lived agents that need continual learning, the ability to integrate new information without harming old skills becomes a core requirement, making catastrophic forgetting a central research and engineering concern</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Mitigation strategies:</a:t>
            </a:r>
            <a:endParaRPr sz="1200">
              <a:latin typeface="Calibri"/>
              <a:ea typeface="Calibri"/>
              <a:cs typeface="Calibri"/>
              <a:sym typeface="Calibri"/>
            </a:endParaRPr>
          </a:p>
          <a:p>
            <a:pPr marL="45720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regularization or parameter‑isolation methods (e.g., constraining updates, using separate low‑rank adapters, or orthogonal subspaces for new tasks)</a:t>
            </a:r>
            <a:endParaRPr sz="1200">
              <a:latin typeface="Calibri"/>
              <a:ea typeface="Calibri"/>
              <a:cs typeface="Calibri"/>
              <a:sym typeface="Calibri"/>
            </a:endParaRPr>
          </a:p>
          <a:p>
            <a:pPr marL="45720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replay methods that mix a small buffer of old-task data with new data</a:t>
            </a:r>
            <a:endParaRPr sz="1200">
              <a:latin typeface="Calibri"/>
              <a:ea typeface="Calibri"/>
              <a:cs typeface="Calibri"/>
              <a:sym typeface="Calibri"/>
            </a:endParaRPr>
          </a:p>
          <a:p>
            <a:pPr marL="45720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selective or frozen-parameter fine‑tuning rather than updating the entire model</a:t>
            </a:r>
            <a:endParaRPr sz="1200">
              <a:latin typeface="Calibri"/>
              <a:ea typeface="Calibri"/>
              <a:cs typeface="Calibri"/>
              <a:sym typeface="Calibri"/>
            </a:endParaRPr>
          </a:p>
        </p:txBody>
      </p:sp>
      <p:pic>
        <p:nvPicPr>
          <p:cNvPr id="205" name="Google Shape;205;p23"/>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5105575" y="418150"/>
            <a:ext cx="3968225" cy="40286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24"/>
          <p:cNvSpPr txBox="1"/>
          <p:nvPr/>
        </p:nvSpPr>
        <p:spPr>
          <a:xfrm>
            <a:off x="55075" y="20375"/>
            <a:ext cx="4034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Network Training &amp; Fine-Tuning</a:t>
            </a:r>
            <a:endParaRPr sz="2000" b="1" i="0" u="none" strike="noStrike" cap="none">
              <a:solidFill>
                <a:schemeClr val="dk1"/>
              </a:solidFill>
              <a:latin typeface="Calibri"/>
              <a:ea typeface="Calibri"/>
              <a:cs typeface="Calibri"/>
              <a:sym typeface="Calibri"/>
            </a:endParaRPr>
          </a:p>
        </p:txBody>
      </p:sp>
      <p:sp>
        <p:nvSpPr>
          <p:cNvPr id="211" name="Google Shape;211;p24"/>
          <p:cNvSpPr txBox="1"/>
          <p:nvPr/>
        </p:nvSpPr>
        <p:spPr>
          <a:xfrm>
            <a:off x="55075" y="418150"/>
            <a:ext cx="4456500" cy="2973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Neural network training follows surprisingly low-dimensional paths through high-dimensional spaces, </a:t>
            </a:r>
            <a:r>
              <a:rPr lang="en" sz="1200" b="1">
                <a:solidFill>
                  <a:srgbClr val="FF0000"/>
                </a:solidFill>
                <a:latin typeface="Calibri"/>
                <a:ea typeface="Calibri"/>
                <a:cs typeface="Calibri"/>
                <a:sym typeface="Calibri"/>
              </a:rPr>
              <a:t>like water carving riverbeds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Despite vast differences in architecture, optimization methods, or initialization, networks converge along similar manifolds during training</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iterative process - predicting, computing loss, and optimizing across epochs - creates well-worn routes through parameter space. Networks starting from completely different points, even those initially trained on random labels, quickly merge their trajectories toward true labels along shared paths.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Stochastic gradient descent with nonlinear activations helps networks escape local minima that would trap traditional gradient descent, similar to water navigating obstacles while flowing downward</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This reveals how training naturally discovers efficient routes through overwhelmingly complex optimization landscapes.</a:t>
            </a:r>
            <a:endParaRPr sz="1200">
              <a:latin typeface="Calibri"/>
              <a:ea typeface="Calibri"/>
              <a:cs typeface="Calibri"/>
              <a:sym typeface="Calibri"/>
            </a:endParaRPr>
          </a:p>
        </p:txBody>
      </p:sp>
      <p:sp>
        <p:nvSpPr>
          <p:cNvPr id="212" name="Google Shape;212;p24"/>
          <p:cNvSpPr txBox="1"/>
          <p:nvPr/>
        </p:nvSpPr>
        <p:spPr>
          <a:xfrm>
            <a:off x="4630650" y="1724273"/>
            <a:ext cx="4392600" cy="3343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Modern fine-tuning techniques like </a:t>
            </a:r>
            <a:r>
              <a:rPr lang="en" sz="1200" b="1">
                <a:solidFill>
                  <a:srgbClr val="FF0000"/>
                </a:solidFill>
                <a:latin typeface="Calibri"/>
                <a:ea typeface="Calibri"/>
                <a:cs typeface="Calibri"/>
                <a:sym typeface="Calibri"/>
              </a:rPr>
              <a:t>LoRA (Low-Rank Adaptation) </a:t>
            </a:r>
            <a:r>
              <a:rPr lang="en" sz="1200">
                <a:latin typeface="Calibri"/>
                <a:ea typeface="Calibri"/>
                <a:cs typeface="Calibri"/>
                <a:sym typeface="Calibri"/>
              </a:rPr>
              <a:t>use a </a:t>
            </a:r>
            <a:r>
              <a:rPr lang="en" sz="1200" b="1">
                <a:solidFill>
                  <a:srgbClr val="FF0000"/>
                </a:solidFill>
                <a:latin typeface="Calibri"/>
                <a:ea typeface="Calibri"/>
                <a:cs typeface="Calibri"/>
                <a:sym typeface="Calibri"/>
              </a:rPr>
              <a:t>"two-worker" approach</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a:t>
            </a:r>
            <a:r>
              <a:rPr lang="en" sz="1200" b="1">
                <a:solidFill>
                  <a:srgbClr val="FF0000"/>
                </a:solidFill>
                <a:latin typeface="Calibri"/>
                <a:ea typeface="Calibri"/>
                <a:cs typeface="Calibri"/>
                <a:sym typeface="Calibri"/>
              </a:rPr>
              <a:t>"old worker" is the frozen pre-trained base model</a:t>
            </a:r>
            <a:r>
              <a:rPr lang="en" sz="1200">
                <a:latin typeface="Calibri"/>
                <a:ea typeface="Calibri"/>
                <a:cs typeface="Calibri"/>
                <a:sym typeface="Calibri"/>
              </a:rPr>
              <a:t>, preserving knowledge from expensive training on massive datasets.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a:t>
            </a:r>
            <a:r>
              <a:rPr lang="en" sz="1200" b="1">
                <a:solidFill>
                  <a:srgbClr val="FF0000"/>
                </a:solidFill>
                <a:latin typeface="Calibri"/>
                <a:ea typeface="Calibri"/>
                <a:cs typeface="Calibri"/>
                <a:sym typeface="Calibri"/>
              </a:rPr>
              <a:t>"baby worker" consists of small trainable adapter matrices </a:t>
            </a:r>
            <a:r>
              <a:rPr lang="en" sz="1200">
                <a:latin typeface="Calibri"/>
                <a:ea typeface="Calibri"/>
                <a:cs typeface="Calibri"/>
                <a:sym typeface="Calibri"/>
              </a:rPr>
              <a:t>learning from task-specific data.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These workers </a:t>
            </a:r>
            <a:r>
              <a:rPr lang="en" sz="1200" b="1">
                <a:solidFill>
                  <a:srgbClr val="3C78D8"/>
                </a:solidFill>
                <a:latin typeface="Calibri"/>
                <a:ea typeface="Calibri"/>
                <a:cs typeface="Calibri"/>
                <a:sym typeface="Calibri"/>
              </a:rPr>
              <a:t>operate in parallel at each transformer layer</a:t>
            </a:r>
            <a:r>
              <a:rPr lang="en" sz="1200">
                <a:latin typeface="Calibri"/>
                <a:ea typeface="Calibri"/>
                <a:cs typeface="Calibri"/>
                <a:sym typeface="Calibri"/>
              </a:rPr>
              <a:t> - the base model is typically quantized for memory efficiency while remaining frozen, and lightweight adapters capture specialized patterns.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At each layer, their outputs merge mathematically: the adapter's contribution adds to the frozen layer's output before proceeding</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This delivers specialized performance using a fraction of full fine-tuning resources without the base model forgetting original knowledge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approach extends to multi-task learning, where shared representations let patterns from one task improve performance on others, making adapters increasingly versatile.</a:t>
            </a:r>
            <a:endParaRPr sz="1200">
              <a:latin typeface="Calibri"/>
              <a:ea typeface="Calibri"/>
              <a:cs typeface="Calibri"/>
              <a:sym typeface="Calibri"/>
            </a:endParaRPr>
          </a:p>
        </p:txBody>
      </p:sp>
      <p:pic>
        <p:nvPicPr>
          <p:cNvPr id="213" name="Google Shape;213;p24"/>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4566425" y="20376"/>
            <a:ext cx="1618350" cy="1618350"/>
          </a:xfrm>
          <a:prstGeom prst="rect">
            <a:avLst/>
          </a:prstGeom>
          <a:noFill/>
          <a:ln w="9525" cap="flat" cmpd="sng">
            <a:solidFill>
              <a:srgbClr val="FF0000"/>
            </a:solidFill>
            <a:prstDash val="solid"/>
            <a:round/>
            <a:headEnd type="none" w="sm" len="sm"/>
            <a:tailEnd type="none" w="sm" len="sm"/>
          </a:ln>
        </p:spPr>
      </p:pic>
      <p:pic>
        <p:nvPicPr>
          <p:cNvPr id="214" name="Google Shape;214;p24"/>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2623753" y="3463425"/>
            <a:ext cx="1942672" cy="1604049"/>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25"/>
          <p:cNvSpPr txBox="1"/>
          <p:nvPr/>
        </p:nvSpPr>
        <p:spPr>
          <a:xfrm>
            <a:off x="55075" y="20375"/>
            <a:ext cx="44445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Google Titans Transformer-2</a:t>
            </a:r>
            <a:endParaRPr sz="2000" b="1">
              <a:solidFill>
                <a:schemeClr val="dk1"/>
              </a:solidFill>
              <a:latin typeface="Calibri"/>
              <a:ea typeface="Calibri"/>
              <a:cs typeface="Calibri"/>
              <a:sym typeface="Calibri"/>
            </a:endParaRPr>
          </a:p>
        </p:txBody>
      </p:sp>
      <p:sp>
        <p:nvSpPr>
          <p:cNvPr id="220" name="Google Shape;220;p25"/>
          <p:cNvSpPr txBox="1"/>
          <p:nvPr/>
        </p:nvSpPr>
        <p:spPr>
          <a:xfrm>
            <a:off x="55075" y="516725"/>
            <a:ext cx="4986600" cy="4389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Google Titans Transformer-2 architecture</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rgbClr val="3C78D8"/>
              </a:buClr>
              <a:buSzPts val="1100"/>
              <a:buFont typeface="Calibri"/>
              <a:buChar char="●"/>
            </a:pPr>
            <a:r>
              <a:rPr lang="en" sz="1100" b="1">
                <a:solidFill>
                  <a:srgbClr val="3C78D8"/>
                </a:solidFill>
                <a:latin typeface="Calibri"/>
                <a:ea typeface="Calibri"/>
                <a:cs typeface="Calibri"/>
                <a:sym typeface="Calibri"/>
              </a:rPr>
              <a:t>Titans = Transformers with Interleaved Attention and Neural Storage</a:t>
            </a:r>
            <a:endParaRPr sz="1100" b="1">
              <a:solidFill>
                <a:srgbClr val="3C78D8"/>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6AA84F"/>
                </a:solidFill>
                <a:latin typeface="Calibri"/>
                <a:ea typeface="Calibri"/>
                <a:cs typeface="Calibri"/>
                <a:sym typeface="Calibri"/>
              </a:rPr>
              <a:t>Titans is an implementation of a MIRAS </a:t>
            </a:r>
            <a:r>
              <a:rPr lang="en" sz="1100">
                <a:solidFill>
                  <a:schemeClr val="dk1"/>
                </a:solidFill>
                <a:latin typeface="Calibri"/>
                <a:ea typeface="Calibri"/>
                <a:cs typeface="Calibri"/>
                <a:sym typeface="Calibri"/>
              </a:rPr>
              <a:t>theoretical framework for sequence models. MIRAS includes Memory architecture, (attentional) bIas, Retention gate, and (memory learning) Algorithm</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NeuroIPS paper "Nested Learning" - neuroscience inspired hierarchical memory system similar to human cognition</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It uses 3 types of memory: </a:t>
            </a:r>
            <a:r>
              <a:rPr lang="en" sz="1100" b="1">
                <a:solidFill>
                  <a:srgbClr val="6AA84F"/>
                </a:solidFill>
                <a:latin typeface="Calibri"/>
                <a:ea typeface="Calibri"/>
                <a:cs typeface="Calibri"/>
                <a:sym typeface="Calibri"/>
              </a:rPr>
              <a:t>Core (Short-term) Memory, Long-term Neural Memory , and Persistent Memory (stable storage for task-specific knowledge)</a:t>
            </a:r>
            <a:endParaRPr sz="1100" b="1">
              <a:solidFill>
                <a:srgbClr val="6AA84F"/>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Titans can handle massive contexts much faster </a:t>
            </a:r>
            <a:r>
              <a:rPr lang="en" sz="1100" b="1">
                <a:solidFill>
                  <a:srgbClr val="FF0000"/>
                </a:solidFill>
                <a:latin typeface="Calibri"/>
                <a:ea typeface="Calibri"/>
                <a:cs typeface="Calibri"/>
                <a:sym typeface="Calibri"/>
              </a:rPr>
              <a:t>by updating core memory in real-time during operation</a:t>
            </a:r>
            <a:r>
              <a:rPr lang="en" sz="1100">
                <a:solidFill>
                  <a:schemeClr val="dk1"/>
                </a:solidFill>
                <a:latin typeface="Calibri"/>
                <a:ea typeface="Calibri"/>
                <a:cs typeface="Calibri"/>
                <a:sym typeface="Calibri"/>
              </a:rPr>
              <a:t>, </a:t>
            </a:r>
            <a:r>
              <a:rPr lang="en" sz="1100" b="1">
                <a:solidFill>
                  <a:srgbClr val="3C78D8"/>
                </a:solidFill>
                <a:latin typeface="Calibri"/>
                <a:ea typeface="Calibri"/>
                <a:cs typeface="Calibri"/>
                <a:sym typeface="Calibri"/>
              </a:rPr>
              <a:t>combining RNN speed with Transformer accuracy</a:t>
            </a:r>
            <a:endParaRPr sz="1100" b="1">
              <a:solidFill>
                <a:srgbClr val="3C78D8"/>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Titans uses a deep neural network as a long-term memory module that actively learns and updates parameters as data streams in</a:t>
            </a:r>
            <a:r>
              <a:rPr lang="en" sz="1100">
                <a:solidFill>
                  <a:schemeClr val="dk1"/>
                </a:solidFill>
                <a:latin typeface="Calibri"/>
                <a:ea typeface="Calibri"/>
                <a:cs typeface="Calibri"/>
                <a:sym typeface="Calibri"/>
              </a:rPr>
              <a:t>, rather than compressing information into fixed-size states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architecture employs a </a:t>
            </a:r>
            <a:r>
              <a:rPr lang="en" sz="1100" b="1">
                <a:solidFill>
                  <a:srgbClr val="FF0000"/>
                </a:solidFill>
                <a:latin typeface="Calibri"/>
                <a:ea typeface="Calibri"/>
                <a:cs typeface="Calibri"/>
                <a:sym typeface="Calibri"/>
              </a:rPr>
              <a:t>surprise metric</a:t>
            </a:r>
            <a:r>
              <a:rPr lang="en" sz="1100">
                <a:solidFill>
                  <a:schemeClr val="dk1"/>
                </a:solidFill>
                <a:latin typeface="Calibri"/>
                <a:ea typeface="Calibri"/>
                <a:cs typeface="Calibri"/>
                <a:sym typeface="Calibri"/>
              </a:rPr>
              <a:t> to detect unexpected information and </a:t>
            </a:r>
            <a:r>
              <a:rPr lang="en" sz="1100" b="1">
                <a:solidFill>
                  <a:srgbClr val="FF0000"/>
                </a:solidFill>
                <a:latin typeface="Calibri"/>
                <a:ea typeface="Calibri"/>
                <a:cs typeface="Calibri"/>
                <a:sym typeface="Calibri"/>
              </a:rPr>
              <a:t>selectively memorize only novel, context-breaking inputs</a:t>
            </a:r>
            <a:r>
              <a:rPr lang="en" sz="1100">
                <a:solidFill>
                  <a:schemeClr val="dk1"/>
                </a:solidFill>
                <a:latin typeface="Calibri"/>
                <a:ea typeface="Calibri"/>
                <a:cs typeface="Calibri"/>
                <a:sym typeface="Calibri"/>
              </a:rPr>
              <a:t>, similar to how humans remember surprising events over routine ones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Titans outperforms Transformer++, Mamba-2, and even GPT-4 on extreme long-context tasks, successfully scaling to over 2 Mln tokens while maintaining efficient linear inference speeds</a:t>
            </a:r>
            <a:endParaRPr sz="11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3"/>
              </a:rPr>
              <a:t>https://research.google/blog/titans-miras-helping-ai-have-long-term-memory/</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4"/>
              </a:rPr>
              <a:t>https://medium.com/data-science-collective/google-introduces-transformer-2-0-with-a-neuroscience-inspired-architecture-cf7f0d8836a4</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5"/>
              </a:rPr>
              <a:t>https://www.towardsdeeplearning.com/this-new-google-model-might-finally-fix-broken-ai-brains-74e6b3c985fc</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6"/>
              </a:rPr>
              <a:t>https://www.youtube.com/watch?v=x8jFFhCLDJY</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7"/>
              </a:rPr>
              <a:t>https://www.llmwatch.com/p/google-releases-transformer-20</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8"/>
              </a:rPr>
              <a:t>https://www.llmwatch.com/p/beyond-attention-comparing-potential</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9"/>
              </a:rPr>
              <a:t>https://www.youtube.com/watch?v=UMkCmOTX5Ow</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p:txBody>
      </p:sp>
      <p:pic>
        <p:nvPicPr>
          <p:cNvPr id="221" name="Google Shape;221;p25"/>
          <p:cNvPicPr preferRelativeResize="0"/>
          <p:nvPr/>
        </p:nvPicPr>
        <p:blipFill rotWithShape="1">
          <a:blip r:embed="rId10" cstate="email">
            <a:alphaModFix/>
            <a:extLst>
              <a:ext uri="{28A0092B-C50C-407E-A947-70E740481C1C}">
                <a14:useLocalDpi xmlns:a14="http://schemas.microsoft.com/office/drawing/2010/main"/>
              </a:ext>
            </a:extLst>
          </a:blip>
          <a:srcRect/>
          <a:stretch/>
        </p:blipFill>
        <p:spPr>
          <a:xfrm>
            <a:off x="5168775" y="516725"/>
            <a:ext cx="3892375" cy="3839076"/>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26"/>
          <p:cNvSpPr txBox="1"/>
          <p:nvPr/>
        </p:nvSpPr>
        <p:spPr>
          <a:xfrm>
            <a:off x="55075" y="20375"/>
            <a:ext cx="2523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Gemini CLI Conductor</a:t>
            </a:r>
            <a:endParaRPr sz="2000" b="1" i="0" u="none" strike="noStrike" cap="none">
              <a:solidFill>
                <a:schemeClr val="dk1"/>
              </a:solidFill>
              <a:latin typeface="Calibri"/>
              <a:ea typeface="Calibri"/>
              <a:cs typeface="Calibri"/>
              <a:sym typeface="Calibri"/>
            </a:endParaRPr>
          </a:p>
        </p:txBody>
      </p:sp>
      <p:sp>
        <p:nvSpPr>
          <p:cNvPr id="227" name="Google Shape;227;p26"/>
          <p:cNvSpPr txBox="1"/>
          <p:nvPr/>
        </p:nvSpPr>
        <p:spPr>
          <a:xfrm>
            <a:off x="55075" y="422601"/>
            <a:ext cx="4413900" cy="3158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Gemini CLI Conductor</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https://www.youtube.com/watch?v=rLu_3hpG0b8</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Gemini Conductor is a dev. extension for Gemini CLI</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Better than vibe coding</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context-driven development. Developers formalize their project specifications and plans in Markdown files that persist within the codebase, giving AI agents structured context rather than relying on ephemeral chat logs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This lets Conductor maintain persistent project understanding and follow consistent coding standards throughout the development process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Developers can define plans, specs, and project goals up front, then use Conductor to have the AI implement features reliably and with continuity</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video includes a tutorial showing how to install and use the toolkit, how it improves agent performance by anchoring context in the repository</a:t>
            </a:r>
            <a:endParaRPr sz="1200">
              <a:latin typeface="Calibri"/>
              <a:ea typeface="Calibri"/>
              <a:cs typeface="Calibri"/>
              <a:sym typeface="Calibri"/>
            </a:endParaRPr>
          </a:p>
        </p:txBody>
      </p:sp>
      <p:sp>
        <p:nvSpPr>
          <p:cNvPr id="228" name="Google Shape;228;p26"/>
          <p:cNvSpPr txBox="1"/>
          <p:nvPr/>
        </p:nvSpPr>
        <p:spPr>
          <a:xfrm>
            <a:off x="55075" y="3671126"/>
            <a:ext cx="4413900" cy="1403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Clr>
                <a:srgbClr val="3C78D8"/>
              </a:buClr>
              <a:buSzPts val="1000"/>
              <a:buFont typeface="Roboto Mono"/>
              <a:buChar char="●"/>
            </a:pPr>
            <a:r>
              <a:rPr lang="en" sz="1000" b="1">
                <a:solidFill>
                  <a:srgbClr val="3C78D8"/>
                </a:solidFill>
                <a:latin typeface="Roboto Mono"/>
                <a:ea typeface="Roboto Mono"/>
                <a:cs typeface="Roboto Mono"/>
                <a:sym typeface="Roboto Mono"/>
              </a:rPr>
              <a:t>conductor/product.md</a:t>
            </a:r>
            <a:endParaRPr sz="1000" b="1">
              <a:solidFill>
                <a:srgbClr val="3C78D8"/>
              </a:solidFill>
              <a:latin typeface="Roboto Mono"/>
              <a:ea typeface="Roboto Mono"/>
              <a:cs typeface="Roboto Mono"/>
              <a:sym typeface="Roboto Mono"/>
            </a:endParaRPr>
          </a:p>
          <a:p>
            <a:pPr marL="171450" marR="0" lvl="0" indent="-120650" algn="l" rtl="0">
              <a:lnSpc>
                <a:spcPct val="100000"/>
              </a:lnSpc>
              <a:spcBef>
                <a:spcPts val="0"/>
              </a:spcBef>
              <a:spcAft>
                <a:spcPts val="0"/>
              </a:spcAft>
              <a:buClr>
                <a:srgbClr val="3C78D8"/>
              </a:buClr>
              <a:buSzPts val="1000"/>
              <a:buFont typeface="Roboto Mono"/>
              <a:buChar char="●"/>
            </a:pPr>
            <a:r>
              <a:rPr lang="en" sz="1000" b="1">
                <a:solidFill>
                  <a:srgbClr val="3C78D8"/>
                </a:solidFill>
                <a:latin typeface="Roboto Mono"/>
                <a:ea typeface="Roboto Mono"/>
                <a:cs typeface="Roboto Mono"/>
                <a:sym typeface="Roboto Mono"/>
              </a:rPr>
              <a:t>conductor/tech-stack.md</a:t>
            </a:r>
            <a:endParaRPr sz="1000" b="1">
              <a:solidFill>
                <a:srgbClr val="3C78D8"/>
              </a:solidFill>
              <a:latin typeface="Roboto Mono"/>
              <a:ea typeface="Roboto Mono"/>
              <a:cs typeface="Roboto Mono"/>
              <a:sym typeface="Roboto Mono"/>
            </a:endParaRPr>
          </a:p>
          <a:p>
            <a:pPr marL="171450" marR="0" lvl="0" indent="-120650" algn="l" rtl="0">
              <a:lnSpc>
                <a:spcPct val="100000"/>
              </a:lnSpc>
              <a:spcBef>
                <a:spcPts val="0"/>
              </a:spcBef>
              <a:spcAft>
                <a:spcPts val="0"/>
              </a:spcAft>
              <a:buClr>
                <a:srgbClr val="3C78D8"/>
              </a:buClr>
              <a:buSzPts val="1000"/>
              <a:buFont typeface="Roboto Mono"/>
              <a:buChar char="●"/>
            </a:pPr>
            <a:r>
              <a:rPr lang="en" sz="1000" b="1">
                <a:solidFill>
                  <a:srgbClr val="3C78D8"/>
                </a:solidFill>
                <a:latin typeface="Roboto Mono"/>
                <a:ea typeface="Roboto Mono"/>
                <a:cs typeface="Roboto Mono"/>
                <a:sym typeface="Roboto Mono"/>
              </a:rPr>
              <a:t>conductor/workflow.md</a:t>
            </a:r>
            <a:endParaRPr sz="1000" b="1">
              <a:solidFill>
                <a:srgbClr val="3C78D8"/>
              </a:solidFill>
              <a:latin typeface="Roboto Mono"/>
              <a:ea typeface="Roboto Mono"/>
              <a:cs typeface="Roboto Mono"/>
              <a:sym typeface="Roboto Mono"/>
            </a:endParaRPr>
          </a:p>
          <a:p>
            <a:pPr marL="171450" marR="0" lvl="0" indent="-120650" algn="l" rtl="0">
              <a:lnSpc>
                <a:spcPct val="100000"/>
              </a:lnSpc>
              <a:spcBef>
                <a:spcPts val="0"/>
              </a:spcBef>
              <a:spcAft>
                <a:spcPts val="0"/>
              </a:spcAft>
              <a:buClr>
                <a:srgbClr val="3C78D8"/>
              </a:buClr>
              <a:buSzPts val="1000"/>
              <a:buFont typeface="Roboto Mono"/>
              <a:buChar char="●"/>
            </a:pPr>
            <a:r>
              <a:rPr lang="en" sz="1000" b="1">
                <a:solidFill>
                  <a:srgbClr val="3C78D8"/>
                </a:solidFill>
                <a:latin typeface="Roboto Mono"/>
                <a:ea typeface="Roboto Mono"/>
                <a:cs typeface="Roboto Mono"/>
                <a:sym typeface="Roboto Mono"/>
              </a:rPr>
              <a:t>conductor/architecture.md</a:t>
            </a:r>
            <a:endParaRPr sz="1000" b="1">
              <a:solidFill>
                <a:srgbClr val="3C78D8"/>
              </a:solidFill>
              <a:latin typeface="Roboto Mono"/>
              <a:ea typeface="Roboto Mono"/>
              <a:cs typeface="Roboto Mono"/>
              <a:sym typeface="Roboto Mono"/>
            </a:endParaRPr>
          </a:p>
          <a:p>
            <a:pPr marL="171450" marR="0" lvl="0" indent="-120650" algn="l" rtl="0">
              <a:lnSpc>
                <a:spcPct val="100000"/>
              </a:lnSpc>
              <a:spcBef>
                <a:spcPts val="0"/>
              </a:spcBef>
              <a:spcAft>
                <a:spcPts val="0"/>
              </a:spcAft>
              <a:buClr>
                <a:srgbClr val="3C78D8"/>
              </a:buClr>
              <a:buSzPts val="1000"/>
              <a:buFont typeface="Roboto Mono"/>
              <a:buChar char="●"/>
            </a:pPr>
            <a:r>
              <a:rPr lang="en" sz="1000" b="1">
                <a:solidFill>
                  <a:srgbClr val="3C78D8"/>
                </a:solidFill>
                <a:latin typeface="Roboto Mono"/>
                <a:ea typeface="Roboto Mono"/>
                <a:cs typeface="Roboto Mono"/>
                <a:sym typeface="Roboto Mono"/>
              </a:rPr>
              <a:t>conductor/</a:t>
            </a:r>
            <a:r>
              <a:rPr lang="en" sz="1000" b="1">
                <a:solidFill>
                  <a:srgbClr val="3C78D8"/>
                </a:solidFill>
                <a:uFill>
                  <a:noFill/>
                </a:uFill>
                <a:latin typeface="Roboto Mono"/>
                <a:ea typeface="Roboto Mono"/>
                <a:cs typeface="Roboto Mono"/>
                <a:sym typeface="Roboto Mono"/>
                <a:hlinkClick r:id="rId4">
                  <a:extLst>
                    <a:ext uri="{A12FA001-AC4F-418D-AE19-62706E023703}">
                      <ahyp:hlinkClr xmlns:ahyp="http://schemas.microsoft.com/office/drawing/2018/hyperlinkcolor" val="tx"/>
                    </a:ext>
                  </a:extLst>
                </a:hlinkClick>
              </a:rPr>
              <a:t>context-map.md</a:t>
            </a:r>
            <a:r>
              <a:rPr lang="en" sz="1000" b="1">
                <a:solidFill>
                  <a:srgbClr val="3C78D8"/>
                </a:solidFill>
                <a:latin typeface="Roboto Mono"/>
                <a:ea typeface="Roboto Mono"/>
                <a:cs typeface="Roboto Mono"/>
                <a:sym typeface="Roboto Mono"/>
              </a:rPr>
              <a:t>  # what to read for what</a:t>
            </a:r>
            <a:endParaRPr sz="1000" b="1">
              <a:solidFill>
                <a:srgbClr val="3C78D8"/>
              </a:solidFill>
              <a:latin typeface="Roboto Mono"/>
              <a:ea typeface="Roboto Mono"/>
              <a:cs typeface="Roboto Mono"/>
              <a:sym typeface="Roboto Mono"/>
            </a:endParaRPr>
          </a:p>
          <a:p>
            <a:pPr marL="171450" marR="0" lvl="0" indent="-120650" algn="l" rtl="0">
              <a:lnSpc>
                <a:spcPct val="100000"/>
              </a:lnSpc>
              <a:spcBef>
                <a:spcPts val="0"/>
              </a:spcBef>
              <a:spcAft>
                <a:spcPts val="0"/>
              </a:spcAft>
              <a:buClr>
                <a:srgbClr val="3C78D8"/>
              </a:buClr>
              <a:buSzPts val="1000"/>
              <a:buFont typeface="Roboto Mono"/>
              <a:buChar char="●"/>
            </a:pPr>
            <a:r>
              <a:rPr lang="en" sz="1000" b="1">
                <a:solidFill>
                  <a:srgbClr val="3C78D8"/>
                </a:solidFill>
                <a:latin typeface="Roboto Mono"/>
                <a:ea typeface="Roboto Mono"/>
                <a:cs typeface="Roboto Mono"/>
                <a:sym typeface="Roboto Mono"/>
              </a:rPr>
              <a:t>conductor/tracks.md + conductor/tracks/&lt;id&gt;/{spec.md,plan.md} </a:t>
            </a:r>
            <a:endParaRPr sz="1000" b="1">
              <a:solidFill>
                <a:srgbClr val="3C78D8"/>
              </a:solidFill>
              <a:latin typeface="Roboto Mono"/>
              <a:ea typeface="Roboto Mono"/>
              <a:cs typeface="Roboto Mono"/>
              <a:sym typeface="Roboto Mono"/>
            </a:endParaRPr>
          </a:p>
          <a:p>
            <a:pPr marL="171450" marR="0" lvl="0" indent="-120650" algn="l" rtl="0">
              <a:lnSpc>
                <a:spcPct val="100000"/>
              </a:lnSpc>
              <a:spcBef>
                <a:spcPts val="0"/>
              </a:spcBef>
              <a:spcAft>
                <a:spcPts val="0"/>
              </a:spcAft>
              <a:buClr>
                <a:srgbClr val="3C78D8"/>
              </a:buClr>
              <a:buSzPts val="1000"/>
              <a:buFont typeface="Roboto Mono"/>
              <a:buChar char="●"/>
            </a:pPr>
            <a:r>
              <a:rPr lang="en" sz="1000" b="1">
                <a:solidFill>
                  <a:srgbClr val="3C78D8"/>
                </a:solidFill>
                <a:uFill>
                  <a:noFill/>
                </a:uFill>
                <a:latin typeface="Roboto Mono"/>
                <a:ea typeface="Roboto Mono"/>
                <a:cs typeface="Roboto Mono"/>
                <a:sym typeface="Roboto Mono"/>
                <a:hlinkClick r:id="rId5">
                  <a:extLst>
                    <a:ext uri="{A12FA001-AC4F-418D-AE19-62706E023703}">
                      <ahyp:hlinkClr xmlns:ahyp="http://schemas.microsoft.com/office/drawing/2018/hyperlinkcolor" val="tx"/>
                    </a:ext>
                  </a:extLst>
                </a:hlinkClick>
              </a:rPr>
              <a:t>README.md</a:t>
            </a:r>
            <a:r>
              <a:rPr lang="en" sz="1000" b="1">
                <a:solidFill>
                  <a:srgbClr val="3C78D8"/>
                </a:solidFill>
                <a:latin typeface="Roboto Mono"/>
                <a:ea typeface="Roboto Mono"/>
                <a:cs typeface="Roboto Mono"/>
                <a:sym typeface="Roboto Mono"/>
              </a:rPr>
              <a:t> for GitHub</a:t>
            </a:r>
            <a:endParaRPr sz="1000" b="1">
              <a:solidFill>
                <a:srgbClr val="3C78D8"/>
              </a:solidFill>
              <a:latin typeface="Roboto Mono"/>
              <a:ea typeface="Roboto Mono"/>
              <a:cs typeface="Roboto Mono"/>
              <a:sym typeface="Roboto Mono"/>
            </a:endParaRPr>
          </a:p>
          <a:p>
            <a:pPr marL="171450" marR="0" lvl="0" indent="-120650" algn="l" rtl="0">
              <a:lnSpc>
                <a:spcPct val="100000"/>
              </a:lnSpc>
              <a:spcBef>
                <a:spcPts val="0"/>
              </a:spcBef>
              <a:spcAft>
                <a:spcPts val="0"/>
              </a:spcAft>
              <a:buClr>
                <a:srgbClr val="3C78D8"/>
              </a:buClr>
              <a:buSzPts val="1000"/>
              <a:buFont typeface="Roboto Mono"/>
              <a:buChar char="●"/>
            </a:pPr>
            <a:r>
              <a:rPr lang="en" sz="1000" b="1">
                <a:solidFill>
                  <a:srgbClr val="3C78D8"/>
                </a:solidFill>
                <a:uFill>
                  <a:noFill/>
                </a:uFill>
                <a:latin typeface="Roboto Mono"/>
                <a:ea typeface="Roboto Mono"/>
                <a:cs typeface="Roboto Mono"/>
                <a:sym typeface="Roboto Mono"/>
                <a:hlinkClick r:id="rId5">
                  <a:extLst>
                    <a:ext uri="{A12FA001-AC4F-418D-AE19-62706E023703}">
                      <ahyp:hlinkClr xmlns:ahyp="http://schemas.microsoft.com/office/drawing/2018/hyperlinkcolor" val="tx"/>
                    </a:ext>
                  </a:extLst>
                </a:hlinkClick>
              </a:rPr>
              <a:t>README.md</a:t>
            </a:r>
            <a:r>
              <a:rPr lang="en" sz="1000" b="1">
                <a:solidFill>
                  <a:srgbClr val="3C78D8"/>
                </a:solidFill>
                <a:latin typeface="Roboto Mono"/>
                <a:ea typeface="Roboto Mono"/>
                <a:cs typeface="Roboto Mono"/>
                <a:sym typeface="Roboto Mono"/>
              </a:rPr>
              <a:t> only for “real” modules</a:t>
            </a:r>
            <a:endParaRPr sz="1000" b="1">
              <a:solidFill>
                <a:srgbClr val="3C78D8"/>
              </a:solidFill>
              <a:latin typeface="Roboto Mono"/>
              <a:ea typeface="Roboto Mono"/>
              <a:cs typeface="Roboto Mono"/>
              <a:sym typeface="Roboto Mono"/>
            </a:endParaRPr>
          </a:p>
        </p:txBody>
      </p:sp>
      <p:sp>
        <p:nvSpPr>
          <p:cNvPr id="229" name="Google Shape;229;p26"/>
          <p:cNvSpPr txBox="1"/>
          <p:nvPr/>
        </p:nvSpPr>
        <p:spPr>
          <a:xfrm>
            <a:off x="4595364" y="1916423"/>
            <a:ext cx="4413900" cy="3158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Install and enable the Conductor in Gemini CLI</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Conductor exposes slash commands "/conductor:…"</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/conductor:setup # creates the "/conductor/" directory and generates canonical context files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/conductor:newTrack # start a new unit of work (feature, refactor, bug, experiment) - creates `conductor/tracks/&lt;track_id&gt;/`, </a:t>
            </a:r>
            <a:br>
              <a:rPr lang="en" sz="1200">
                <a:latin typeface="Calibri"/>
                <a:ea typeface="Calibri"/>
                <a:cs typeface="Calibri"/>
                <a:sym typeface="Calibri"/>
              </a:rPr>
            </a:br>
            <a:r>
              <a:rPr lang="en" sz="1200">
                <a:latin typeface="Calibri"/>
                <a:ea typeface="Calibri"/>
                <a:cs typeface="Calibri"/>
                <a:sym typeface="Calibri"/>
              </a:rPr>
              <a:t>generates  </a:t>
            </a:r>
            <a:r>
              <a:rPr lang="en" sz="1200" u="sng">
                <a:solidFill>
                  <a:schemeClr val="hlink"/>
                </a:solidFill>
                <a:latin typeface="Calibri"/>
                <a:ea typeface="Calibri"/>
                <a:cs typeface="Calibri"/>
                <a:sym typeface="Calibri"/>
                <a:hlinkClick r:id="rId6"/>
              </a:rPr>
              <a:t>spec.md</a:t>
            </a:r>
            <a:r>
              <a:rPr lang="en" sz="1200">
                <a:latin typeface="Calibri"/>
                <a:ea typeface="Calibri"/>
                <a:cs typeface="Calibri"/>
                <a:sym typeface="Calibri"/>
              </a:rPr>
              <a:t> and </a:t>
            </a:r>
            <a:r>
              <a:rPr lang="en" sz="1200" u="sng">
                <a:solidFill>
                  <a:schemeClr val="hlink"/>
                </a:solidFill>
                <a:latin typeface="Calibri"/>
                <a:ea typeface="Calibri"/>
                <a:cs typeface="Calibri"/>
                <a:sym typeface="Calibri"/>
                <a:hlinkClick r:id="rId7"/>
              </a:rPr>
              <a:t>plan.md</a:t>
            </a:r>
            <a:r>
              <a:rPr lang="en" sz="1200">
                <a:latin typeface="Calibri"/>
                <a:ea typeface="Calibri"/>
                <a:cs typeface="Calibri"/>
                <a:sym typeface="Calibri"/>
              </a:rPr>
              <a:t> files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/conductor:resume # continue work on an existing track, re-reads global conductor docs, the selected track’s `spec.md` and `</a:t>
            </a:r>
            <a:r>
              <a:rPr lang="en" sz="1200" u="sng">
                <a:solidFill>
                  <a:schemeClr val="hlink"/>
                </a:solidFill>
                <a:latin typeface="Calibri"/>
                <a:ea typeface="Calibri"/>
                <a:cs typeface="Calibri"/>
                <a:sym typeface="Calibri"/>
                <a:hlinkClick r:id="rId7"/>
              </a:rPr>
              <a:t>plan.md</a:t>
            </a:r>
            <a:r>
              <a:rPr lang="en" sz="1200">
                <a:latin typeface="Calibri"/>
                <a:ea typeface="Calibri"/>
                <a:cs typeface="Calibri"/>
                <a:sym typeface="Calibri"/>
              </a:rPr>
              <a:t>`, rehydrates context so the assistant behaves consistently across sessions - this is how Conductor avoids “AI amnesia”</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/conductor:status # shows existing tracks and where you are:</a:t>
            </a:r>
            <a:br>
              <a:rPr lang="en" sz="1200">
                <a:latin typeface="Calibri"/>
                <a:ea typeface="Calibri"/>
                <a:cs typeface="Calibri"/>
                <a:sym typeface="Calibri"/>
              </a:rPr>
            </a:br>
            <a:r>
              <a:rPr lang="en" sz="1200">
                <a:latin typeface="Calibri"/>
                <a:ea typeface="Calibri"/>
                <a:cs typeface="Calibri"/>
                <a:sym typeface="Calibri"/>
              </a:rPr>
              <a:t>active track(s), completed tracks, files involved</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/conductor:help - list available Conductor commands and usage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Conductor is a context-management system, not a coding engine; Conductor doesn't scan the repo automatically. But it reads its own Markdown files every time</a:t>
            </a:r>
            <a:endParaRPr sz="1200">
              <a:latin typeface="Calibri"/>
              <a:ea typeface="Calibri"/>
              <a:cs typeface="Calibri"/>
              <a:sym typeface="Calibri"/>
            </a:endParaRPr>
          </a:p>
        </p:txBody>
      </p:sp>
      <p:pic>
        <p:nvPicPr>
          <p:cNvPr id="230" name="Google Shape;230;p26"/>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5190063" y="177675"/>
            <a:ext cx="3108813" cy="1611624"/>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27"/>
          <p:cNvSpPr txBox="1"/>
          <p:nvPr/>
        </p:nvSpPr>
        <p:spPr>
          <a:xfrm>
            <a:off x="55075" y="20375"/>
            <a:ext cx="43599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Conductor, Rules, PRD Files</a:t>
            </a:r>
            <a:endParaRPr sz="2000" b="1" i="0" u="none" strike="noStrike" cap="none">
              <a:solidFill>
                <a:schemeClr val="dk1"/>
              </a:solidFill>
              <a:latin typeface="Calibri"/>
              <a:ea typeface="Calibri"/>
              <a:cs typeface="Calibri"/>
              <a:sym typeface="Calibri"/>
            </a:endParaRPr>
          </a:p>
        </p:txBody>
      </p:sp>
      <p:sp>
        <p:nvSpPr>
          <p:cNvPr id="236" name="Google Shape;236;p27"/>
          <p:cNvSpPr txBox="1"/>
          <p:nvPr/>
        </p:nvSpPr>
        <p:spPr>
          <a:xfrm>
            <a:off x="55075" y="422817"/>
            <a:ext cx="3728100" cy="4035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14300" algn="l" rtl="0">
              <a:lnSpc>
                <a:spcPct val="100000"/>
              </a:lnSpc>
              <a:spcBef>
                <a:spcPts val="0"/>
              </a:spcBef>
              <a:spcAft>
                <a:spcPts val="0"/>
              </a:spcAft>
              <a:buClr>
                <a:srgbClr val="3C78D8"/>
              </a:buClr>
              <a:buSzPts val="900"/>
              <a:buFont typeface="Roboto Mono"/>
              <a:buChar char="●"/>
            </a:pPr>
            <a:r>
              <a:rPr lang="en" sz="900" b="1">
                <a:solidFill>
                  <a:srgbClr val="3C78D8"/>
                </a:solidFill>
                <a:latin typeface="Roboto Mono"/>
                <a:ea typeface="Roboto Mono"/>
                <a:cs typeface="Roboto Mono"/>
                <a:sym typeface="Roboto Mono"/>
              </a:rPr>
              <a:t>Gemini CLI:</a:t>
            </a:r>
            <a:endParaRPr sz="900" b="1">
              <a:solidFill>
                <a:srgbClr val="3C78D8"/>
              </a:solidFill>
              <a:latin typeface="Roboto Mono"/>
              <a:ea typeface="Roboto Mono"/>
              <a:cs typeface="Roboto Mono"/>
              <a:sym typeface="Roboto Mono"/>
            </a:endParaRPr>
          </a:p>
          <a:p>
            <a:pPr marL="171450" marR="0" lvl="0" indent="-114300" algn="l" rtl="0">
              <a:lnSpc>
                <a:spcPct val="100000"/>
              </a:lnSpc>
              <a:spcBef>
                <a:spcPts val="0"/>
              </a:spcBef>
              <a:spcAft>
                <a:spcPts val="0"/>
              </a:spcAft>
              <a:buClr>
                <a:srgbClr val="3C78D8"/>
              </a:buClr>
              <a:buSzPts val="900"/>
              <a:buFont typeface="Roboto Mono"/>
              <a:buChar char="●"/>
            </a:pPr>
            <a:r>
              <a:rPr lang="en" sz="900" b="1">
                <a:solidFill>
                  <a:srgbClr val="3C78D8"/>
                </a:solidFill>
                <a:latin typeface="Roboto Mono"/>
                <a:ea typeface="Roboto Mono"/>
                <a:cs typeface="Roboto Mono"/>
                <a:sym typeface="Roboto Mono"/>
              </a:rPr>
              <a:t>  ./conductor/ </a:t>
            </a:r>
            <a:r>
              <a:rPr lang="en" sz="900" b="1">
                <a:solidFill>
                  <a:srgbClr val="6AA84F"/>
                </a:solidFill>
                <a:latin typeface="Roboto Mono"/>
                <a:ea typeface="Roboto Mono"/>
                <a:cs typeface="Roboto Mono"/>
                <a:sym typeface="Roboto Mono"/>
              </a:rPr>
              <a:t># in project root</a:t>
            </a:r>
            <a:endParaRPr sz="900" b="1">
              <a:solidFill>
                <a:srgbClr val="6AA84F"/>
              </a:solidFill>
              <a:latin typeface="Roboto Mono"/>
              <a:ea typeface="Roboto Mono"/>
              <a:cs typeface="Roboto Mono"/>
              <a:sym typeface="Roboto Mono"/>
            </a:endParaRPr>
          </a:p>
          <a:p>
            <a:pPr marL="171450" marR="0" lvl="0" indent="-114300" algn="l" rtl="0">
              <a:lnSpc>
                <a:spcPct val="100000"/>
              </a:lnSpc>
              <a:spcBef>
                <a:spcPts val="0"/>
              </a:spcBef>
              <a:spcAft>
                <a:spcPts val="0"/>
              </a:spcAft>
              <a:buClr>
                <a:srgbClr val="3C78D8"/>
              </a:buClr>
              <a:buSzPts val="900"/>
              <a:buFont typeface="Roboto Mono"/>
              <a:buChar char="●"/>
            </a:pPr>
            <a:endParaRPr sz="900" b="1">
              <a:solidFill>
                <a:srgbClr val="3C78D8"/>
              </a:solidFill>
              <a:latin typeface="Roboto Mono"/>
              <a:ea typeface="Roboto Mono"/>
              <a:cs typeface="Roboto Mono"/>
              <a:sym typeface="Roboto Mono"/>
            </a:endParaRPr>
          </a:p>
          <a:p>
            <a:pPr marL="171450" marR="0" lvl="0" indent="-114300" algn="l" rtl="0">
              <a:lnSpc>
                <a:spcPct val="100000"/>
              </a:lnSpc>
              <a:spcBef>
                <a:spcPts val="0"/>
              </a:spcBef>
              <a:spcAft>
                <a:spcPts val="0"/>
              </a:spcAft>
              <a:buClr>
                <a:srgbClr val="3C78D8"/>
              </a:buClr>
              <a:buSzPts val="900"/>
              <a:buFont typeface="Roboto Mono"/>
              <a:buChar char="●"/>
            </a:pPr>
            <a:r>
              <a:rPr lang="en" sz="900" b="1">
                <a:solidFill>
                  <a:srgbClr val="3C78D8"/>
                </a:solidFill>
                <a:latin typeface="Roboto Mono"/>
                <a:ea typeface="Roboto Mono"/>
                <a:cs typeface="Roboto Mono"/>
                <a:sym typeface="Roboto Mono"/>
              </a:rPr>
              <a:t>Cursor:</a:t>
            </a:r>
            <a:endParaRPr sz="900" b="1">
              <a:solidFill>
                <a:srgbClr val="3C78D8"/>
              </a:solidFill>
              <a:latin typeface="Roboto Mono"/>
              <a:ea typeface="Roboto Mono"/>
              <a:cs typeface="Roboto Mono"/>
              <a:sym typeface="Roboto Mono"/>
            </a:endParaRPr>
          </a:p>
          <a:p>
            <a:pPr marL="171450" marR="0" lvl="0" indent="-114300" algn="l" rtl="0">
              <a:lnSpc>
                <a:spcPct val="100000"/>
              </a:lnSpc>
              <a:spcBef>
                <a:spcPts val="0"/>
              </a:spcBef>
              <a:spcAft>
                <a:spcPts val="0"/>
              </a:spcAft>
              <a:buClr>
                <a:srgbClr val="3C78D8"/>
              </a:buClr>
              <a:buSzPts val="900"/>
              <a:buFont typeface="Roboto Mono"/>
              <a:buChar char="●"/>
            </a:pPr>
            <a:r>
              <a:rPr lang="en" sz="900" b="1">
                <a:solidFill>
                  <a:srgbClr val="3C78D8"/>
                </a:solidFill>
                <a:latin typeface="Roboto Mono"/>
                <a:ea typeface="Roboto Mono"/>
                <a:cs typeface="Roboto Mono"/>
                <a:sym typeface="Roboto Mono"/>
              </a:rPr>
              <a:t>  ~/.cursor/</a:t>
            </a:r>
            <a:endParaRPr sz="900" b="1">
              <a:solidFill>
                <a:srgbClr val="3C78D8"/>
              </a:solidFill>
              <a:latin typeface="Roboto Mono"/>
              <a:ea typeface="Roboto Mono"/>
              <a:cs typeface="Roboto Mono"/>
              <a:sym typeface="Roboto Mono"/>
            </a:endParaRPr>
          </a:p>
          <a:p>
            <a:pPr marL="171450" marR="0" lvl="0" indent="-114300" algn="l" rtl="0">
              <a:lnSpc>
                <a:spcPct val="100000"/>
              </a:lnSpc>
              <a:spcBef>
                <a:spcPts val="0"/>
              </a:spcBef>
              <a:spcAft>
                <a:spcPts val="0"/>
              </a:spcAft>
              <a:buClr>
                <a:srgbClr val="3C78D8"/>
              </a:buClr>
              <a:buSzPts val="900"/>
              <a:buFont typeface="Roboto Mono"/>
              <a:buChar char="●"/>
            </a:pPr>
            <a:endParaRPr sz="900" b="1">
              <a:solidFill>
                <a:srgbClr val="3C78D8"/>
              </a:solidFill>
              <a:latin typeface="Roboto Mono"/>
              <a:ea typeface="Roboto Mono"/>
              <a:cs typeface="Roboto Mono"/>
              <a:sym typeface="Roboto Mono"/>
            </a:endParaRPr>
          </a:p>
          <a:p>
            <a:pPr marL="171450" marR="0" lvl="0" indent="-114300" algn="l" rtl="0">
              <a:lnSpc>
                <a:spcPct val="100000"/>
              </a:lnSpc>
              <a:spcBef>
                <a:spcPts val="0"/>
              </a:spcBef>
              <a:spcAft>
                <a:spcPts val="0"/>
              </a:spcAft>
              <a:buClr>
                <a:srgbClr val="3C78D8"/>
              </a:buClr>
              <a:buSzPts val="900"/>
              <a:buFont typeface="Roboto Mono"/>
              <a:buChar char="●"/>
            </a:pPr>
            <a:r>
              <a:rPr lang="en" sz="900" b="1">
                <a:solidFill>
                  <a:srgbClr val="3C78D8"/>
                </a:solidFill>
                <a:latin typeface="Roboto Mono"/>
                <a:ea typeface="Roboto Mono"/>
                <a:cs typeface="Roboto Mono"/>
                <a:sym typeface="Roboto Mono"/>
              </a:rPr>
              <a:t>Claude Code:</a:t>
            </a:r>
            <a:endParaRPr sz="900" b="1">
              <a:solidFill>
                <a:srgbClr val="3C78D8"/>
              </a:solidFill>
              <a:latin typeface="Roboto Mono"/>
              <a:ea typeface="Roboto Mono"/>
              <a:cs typeface="Roboto Mono"/>
              <a:sym typeface="Roboto Mono"/>
            </a:endParaRPr>
          </a:p>
          <a:p>
            <a:pPr marL="171450" marR="0" lvl="0" indent="-114300" algn="l" rtl="0">
              <a:lnSpc>
                <a:spcPct val="100000"/>
              </a:lnSpc>
              <a:spcBef>
                <a:spcPts val="0"/>
              </a:spcBef>
              <a:spcAft>
                <a:spcPts val="0"/>
              </a:spcAft>
              <a:buClr>
                <a:srgbClr val="3C78D8"/>
              </a:buClr>
              <a:buSzPts val="900"/>
              <a:buFont typeface="Roboto Mono"/>
              <a:buChar char="●"/>
            </a:pPr>
            <a:r>
              <a:rPr lang="en" sz="900" b="1">
                <a:solidFill>
                  <a:srgbClr val="3C78D8"/>
                </a:solidFill>
                <a:latin typeface="Roboto Mono"/>
                <a:ea typeface="Roboto Mono"/>
                <a:cs typeface="Roboto Mono"/>
                <a:sym typeface="Roboto Mono"/>
              </a:rPr>
              <a:t>  ./CLAUDE.md </a:t>
            </a:r>
            <a:endParaRPr sz="900" b="1">
              <a:solidFill>
                <a:srgbClr val="3C78D8"/>
              </a:solidFill>
              <a:latin typeface="Roboto Mono"/>
              <a:ea typeface="Roboto Mono"/>
              <a:cs typeface="Roboto Mono"/>
              <a:sym typeface="Roboto Mono"/>
            </a:endParaRPr>
          </a:p>
          <a:p>
            <a:pPr marL="171450" marR="0" lvl="0" indent="-114300" algn="l" rtl="0">
              <a:lnSpc>
                <a:spcPct val="100000"/>
              </a:lnSpc>
              <a:spcBef>
                <a:spcPts val="0"/>
              </a:spcBef>
              <a:spcAft>
                <a:spcPts val="0"/>
              </a:spcAft>
              <a:buClr>
                <a:srgbClr val="3C78D8"/>
              </a:buClr>
              <a:buSzPts val="900"/>
              <a:buFont typeface="Roboto Mono"/>
              <a:buChar char="●"/>
            </a:pPr>
            <a:r>
              <a:rPr lang="en" sz="900" b="1">
                <a:solidFill>
                  <a:srgbClr val="3C78D8"/>
                </a:solidFill>
                <a:latin typeface="Roboto Mono"/>
                <a:ea typeface="Roboto Mono"/>
                <a:cs typeface="Roboto Mono"/>
                <a:sym typeface="Roboto Mono"/>
              </a:rPr>
              <a:t>  ./CLAUDE.local.md (gitignored)</a:t>
            </a:r>
            <a:endParaRPr sz="900" b="1">
              <a:solidFill>
                <a:srgbClr val="3C78D8"/>
              </a:solidFill>
              <a:latin typeface="Roboto Mono"/>
              <a:ea typeface="Roboto Mono"/>
              <a:cs typeface="Roboto Mono"/>
              <a:sym typeface="Roboto Mono"/>
            </a:endParaRPr>
          </a:p>
          <a:p>
            <a:pPr marL="171450" marR="0" lvl="0" indent="-114300" algn="l" rtl="0">
              <a:lnSpc>
                <a:spcPct val="100000"/>
              </a:lnSpc>
              <a:spcBef>
                <a:spcPts val="0"/>
              </a:spcBef>
              <a:spcAft>
                <a:spcPts val="0"/>
              </a:spcAft>
              <a:buClr>
                <a:srgbClr val="3C78D8"/>
              </a:buClr>
              <a:buSzPts val="900"/>
              <a:buFont typeface="Roboto Mono"/>
              <a:buChar char="●"/>
            </a:pPr>
            <a:r>
              <a:rPr lang="en" sz="900" b="1">
                <a:solidFill>
                  <a:srgbClr val="3C78D8"/>
                </a:solidFill>
                <a:latin typeface="Roboto Mono"/>
                <a:ea typeface="Roboto Mono"/>
                <a:cs typeface="Roboto Mono"/>
                <a:sym typeface="Roboto Mono"/>
              </a:rPr>
              <a:t>  ./.claude/</a:t>
            </a:r>
            <a:r>
              <a:rPr lang="en" sz="900" b="1">
                <a:solidFill>
                  <a:srgbClr val="3C78D8"/>
                </a:solidFill>
                <a:uFill>
                  <a:noFill/>
                </a:uFill>
                <a:latin typeface="Roboto Mono"/>
                <a:ea typeface="Roboto Mono"/>
                <a:cs typeface="Roboto Mono"/>
                <a:sym typeface="Roboto Mono"/>
                <a:hlinkClick r:id="rId3">
                  <a:extLst>
                    <a:ext uri="{A12FA001-AC4F-418D-AE19-62706E023703}">
                      <ahyp:hlinkClr xmlns:ahyp="http://schemas.microsoft.com/office/drawing/2018/hyperlinkcolor" val="tx"/>
                    </a:ext>
                  </a:extLst>
                </a:hlinkClick>
              </a:rPr>
              <a:t>CLAUDE.md</a:t>
            </a:r>
            <a:endParaRPr sz="900" b="1">
              <a:solidFill>
                <a:srgbClr val="3C78D8"/>
              </a:solidFill>
              <a:latin typeface="Roboto Mono"/>
              <a:ea typeface="Roboto Mono"/>
              <a:cs typeface="Roboto Mono"/>
              <a:sym typeface="Roboto Mono"/>
            </a:endParaRPr>
          </a:p>
          <a:p>
            <a:pPr marL="171450" marR="0" lvl="0" indent="-114300" algn="l" rtl="0">
              <a:lnSpc>
                <a:spcPct val="100000"/>
              </a:lnSpc>
              <a:spcBef>
                <a:spcPts val="0"/>
              </a:spcBef>
              <a:spcAft>
                <a:spcPts val="0"/>
              </a:spcAft>
              <a:buClr>
                <a:srgbClr val="3C78D8"/>
              </a:buClr>
              <a:buSzPts val="900"/>
              <a:buFont typeface="Roboto Mono"/>
              <a:buChar char="●"/>
            </a:pPr>
            <a:r>
              <a:rPr lang="en" sz="900" b="1">
                <a:solidFill>
                  <a:srgbClr val="3C78D8"/>
                </a:solidFill>
                <a:latin typeface="Roboto Mono"/>
                <a:ea typeface="Roboto Mono"/>
                <a:cs typeface="Roboto Mono"/>
                <a:sym typeface="Roboto Mono"/>
              </a:rPr>
              <a:t>  ./.claude/rules/*.md </a:t>
            </a:r>
            <a:r>
              <a:rPr lang="en" sz="900" b="1">
                <a:solidFill>
                  <a:srgbClr val="6AA84F"/>
                </a:solidFill>
                <a:latin typeface="Roboto Mono"/>
                <a:ea typeface="Roboto Mono"/>
                <a:cs typeface="Roboto Mono"/>
                <a:sym typeface="Roboto Mono"/>
              </a:rPr>
              <a:t># plan,testing,architecture</a:t>
            </a:r>
            <a:endParaRPr sz="900" b="1">
              <a:solidFill>
                <a:srgbClr val="6AA84F"/>
              </a:solidFill>
              <a:latin typeface="Roboto Mono"/>
              <a:ea typeface="Roboto Mono"/>
              <a:cs typeface="Roboto Mono"/>
              <a:sym typeface="Roboto Mono"/>
            </a:endParaRPr>
          </a:p>
          <a:p>
            <a:pPr marL="171450" marR="0" lvl="0" indent="-114300" algn="l" rtl="0">
              <a:lnSpc>
                <a:spcPct val="100000"/>
              </a:lnSpc>
              <a:spcBef>
                <a:spcPts val="0"/>
              </a:spcBef>
              <a:spcAft>
                <a:spcPts val="0"/>
              </a:spcAft>
              <a:buClr>
                <a:srgbClr val="3C78D8"/>
              </a:buClr>
              <a:buSzPts val="900"/>
              <a:buFont typeface="Roboto Mono"/>
              <a:buChar char="●"/>
            </a:pPr>
            <a:r>
              <a:rPr lang="en" sz="900" b="1">
                <a:solidFill>
                  <a:srgbClr val="3C78D8"/>
                </a:solidFill>
                <a:latin typeface="Roboto Mono"/>
                <a:ea typeface="Roboto Mono"/>
                <a:cs typeface="Roboto Mono"/>
                <a:sym typeface="Roboto Mono"/>
              </a:rPr>
              <a:t>  ~/.claude/</a:t>
            </a:r>
            <a:endParaRPr sz="900" b="1">
              <a:solidFill>
                <a:srgbClr val="3C78D8"/>
              </a:solidFill>
              <a:latin typeface="Roboto Mono"/>
              <a:ea typeface="Roboto Mono"/>
              <a:cs typeface="Roboto Mono"/>
              <a:sym typeface="Roboto Mono"/>
            </a:endParaRPr>
          </a:p>
          <a:p>
            <a:pPr marL="171450" marR="0" lvl="0" indent="-114300" algn="l" rtl="0">
              <a:lnSpc>
                <a:spcPct val="100000"/>
              </a:lnSpc>
              <a:spcBef>
                <a:spcPts val="0"/>
              </a:spcBef>
              <a:spcAft>
                <a:spcPts val="0"/>
              </a:spcAft>
              <a:buClr>
                <a:srgbClr val="3C78D8"/>
              </a:buClr>
              <a:buSzPts val="900"/>
              <a:buFont typeface="Roboto Mono"/>
              <a:buChar char="●"/>
            </a:pPr>
            <a:r>
              <a:rPr lang="en" sz="900" b="1">
                <a:solidFill>
                  <a:srgbClr val="3C78D8"/>
                </a:solidFill>
                <a:latin typeface="Roboto Mono"/>
                <a:ea typeface="Roboto Mono"/>
                <a:cs typeface="Roboto Mono"/>
                <a:sym typeface="Roboto Mono"/>
              </a:rPr>
              <a:t>  ~/.claude/settings.json</a:t>
            </a:r>
            <a:endParaRPr sz="900" b="1">
              <a:solidFill>
                <a:srgbClr val="3C78D8"/>
              </a:solidFill>
              <a:latin typeface="Roboto Mono"/>
              <a:ea typeface="Roboto Mono"/>
              <a:cs typeface="Roboto Mono"/>
              <a:sym typeface="Roboto Mono"/>
            </a:endParaRPr>
          </a:p>
          <a:p>
            <a:pPr marL="171450" marR="0" lvl="0" indent="-114300" algn="l" rtl="0">
              <a:lnSpc>
                <a:spcPct val="100000"/>
              </a:lnSpc>
              <a:spcBef>
                <a:spcPts val="0"/>
              </a:spcBef>
              <a:spcAft>
                <a:spcPts val="0"/>
              </a:spcAft>
              <a:buClr>
                <a:srgbClr val="3C78D8"/>
              </a:buClr>
              <a:buSzPts val="900"/>
              <a:buFont typeface="Roboto Mono"/>
              <a:buChar char="●"/>
            </a:pPr>
            <a:r>
              <a:rPr lang="en" sz="900" b="1">
                <a:solidFill>
                  <a:srgbClr val="3C78D8"/>
                </a:solidFill>
                <a:latin typeface="Roboto Mono"/>
                <a:ea typeface="Roboto Mono"/>
                <a:cs typeface="Roboto Mono"/>
                <a:sym typeface="Roboto Mono"/>
              </a:rPr>
              <a:t>  ~/.claude.json</a:t>
            </a:r>
            <a:endParaRPr sz="900" b="1">
              <a:solidFill>
                <a:srgbClr val="3C78D8"/>
              </a:solidFill>
              <a:latin typeface="Roboto Mono"/>
              <a:ea typeface="Roboto Mono"/>
              <a:cs typeface="Roboto Mono"/>
              <a:sym typeface="Roboto Mono"/>
            </a:endParaRPr>
          </a:p>
          <a:p>
            <a:pPr marL="171450" marR="0" lvl="0" indent="-114300" algn="l" rtl="0">
              <a:lnSpc>
                <a:spcPct val="100000"/>
              </a:lnSpc>
              <a:spcBef>
                <a:spcPts val="0"/>
              </a:spcBef>
              <a:spcAft>
                <a:spcPts val="0"/>
              </a:spcAft>
              <a:buClr>
                <a:srgbClr val="3C78D8"/>
              </a:buClr>
              <a:buSzPts val="900"/>
              <a:buFont typeface="Roboto Mono"/>
              <a:buChar char="●"/>
            </a:pPr>
            <a:endParaRPr sz="900" b="1">
              <a:solidFill>
                <a:srgbClr val="3C78D8"/>
              </a:solidFill>
              <a:latin typeface="Roboto Mono"/>
              <a:ea typeface="Roboto Mono"/>
              <a:cs typeface="Roboto Mono"/>
              <a:sym typeface="Roboto Mono"/>
            </a:endParaRPr>
          </a:p>
          <a:p>
            <a:pPr marL="171450" marR="0" lvl="0" indent="-114300" algn="l" rtl="0">
              <a:lnSpc>
                <a:spcPct val="100000"/>
              </a:lnSpc>
              <a:spcBef>
                <a:spcPts val="0"/>
              </a:spcBef>
              <a:spcAft>
                <a:spcPts val="0"/>
              </a:spcAft>
              <a:buClr>
                <a:srgbClr val="3C78D8"/>
              </a:buClr>
              <a:buSzPts val="900"/>
              <a:buFont typeface="Roboto Mono"/>
              <a:buChar char="●"/>
            </a:pPr>
            <a:r>
              <a:rPr lang="en" sz="900" b="1">
                <a:solidFill>
                  <a:srgbClr val="3C78D8"/>
                </a:solidFill>
                <a:latin typeface="Roboto Mono"/>
                <a:ea typeface="Roboto Mono"/>
                <a:cs typeface="Roboto Mono"/>
                <a:sym typeface="Roboto Mono"/>
              </a:rPr>
              <a:t>Cline:</a:t>
            </a:r>
            <a:endParaRPr sz="900" b="1">
              <a:solidFill>
                <a:srgbClr val="3C78D8"/>
              </a:solidFill>
              <a:latin typeface="Roboto Mono"/>
              <a:ea typeface="Roboto Mono"/>
              <a:cs typeface="Roboto Mono"/>
              <a:sym typeface="Roboto Mono"/>
            </a:endParaRPr>
          </a:p>
          <a:p>
            <a:pPr marL="171450" marR="0" lvl="0" indent="-114300" algn="l" rtl="0">
              <a:lnSpc>
                <a:spcPct val="100000"/>
              </a:lnSpc>
              <a:spcBef>
                <a:spcPts val="0"/>
              </a:spcBef>
              <a:spcAft>
                <a:spcPts val="0"/>
              </a:spcAft>
              <a:buClr>
                <a:srgbClr val="3C78D8"/>
              </a:buClr>
              <a:buSzPts val="900"/>
              <a:buFont typeface="Roboto Mono"/>
              <a:buChar char="●"/>
            </a:pPr>
            <a:r>
              <a:rPr lang="en" sz="900" b="1">
                <a:solidFill>
                  <a:srgbClr val="3C78D8"/>
                </a:solidFill>
                <a:latin typeface="Roboto Mono"/>
                <a:ea typeface="Roboto Mono"/>
                <a:cs typeface="Roboto Mono"/>
                <a:sym typeface="Roboto Mono"/>
              </a:rPr>
              <a:t>  .clinerules  </a:t>
            </a:r>
            <a:r>
              <a:rPr lang="en" sz="900" b="1">
                <a:solidFill>
                  <a:srgbClr val="6AA84F"/>
                </a:solidFill>
                <a:latin typeface="Roboto Mono"/>
                <a:ea typeface="Roboto Mono"/>
                <a:cs typeface="Roboto Mono"/>
                <a:sym typeface="Roboto Mono"/>
              </a:rPr>
              <a:t># in project root</a:t>
            </a:r>
            <a:endParaRPr sz="900" b="1">
              <a:solidFill>
                <a:srgbClr val="3C78D8"/>
              </a:solidFill>
              <a:latin typeface="Roboto Mono"/>
              <a:ea typeface="Roboto Mono"/>
              <a:cs typeface="Roboto Mono"/>
              <a:sym typeface="Roboto Mono"/>
            </a:endParaRPr>
          </a:p>
          <a:p>
            <a:pPr marL="171450" marR="0" lvl="0" indent="-114300" algn="l" rtl="0">
              <a:lnSpc>
                <a:spcPct val="100000"/>
              </a:lnSpc>
              <a:spcBef>
                <a:spcPts val="0"/>
              </a:spcBef>
              <a:spcAft>
                <a:spcPts val="0"/>
              </a:spcAft>
              <a:buClr>
                <a:srgbClr val="3C78D8"/>
              </a:buClr>
              <a:buSzPts val="900"/>
              <a:buFont typeface="Roboto Mono"/>
              <a:buChar char="●"/>
            </a:pPr>
            <a:r>
              <a:rPr lang="en" sz="900" b="1">
                <a:solidFill>
                  <a:srgbClr val="3C78D8"/>
                </a:solidFill>
                <a:latin typeface="Roboto Mono"/>
                <a:ea typeface="Roboto Mono"/>
                <a:cs typeface="Roboto Mono"/>
                <a:sym typeface="Roboto Mono"/>
              </a:rPr>
              <a:t>  ./clinerules/</a:t>
            </a:r>
            <a:endParaRPr sz="900" b="1">
              <a:solidFill>
                <a:srgbClr val="3C78D8"/>
              </a:solidFill>
              <a:latin typeface="Roboto Mono"/>
              <a:ea typeface="Roboto Mono"/>
              <a:cs typeface="Roboto Mono"/>
              <a:sym typeface="Roboto Mono"/>
            </a:endParaRPr>
          </a:p>
          <a:p>
            <a:pPr marL="171450" marR="0" lvl="0" indent="-114300" algn="l" rtl="0">
              <a:lnSpc>
                <a:spcPct val="100000"/>
              </a:lnSpc>
              <a:spcBef>
                <a:spcPts val="0"/>
              </a:spcBef>
              <a:spcAft>
                <a:spcPts val="0"/>
              </a:spcAft>
              <a:buClr>
                <a:srgbClr val="3C78D8"/>
              </a:buClr>
              <a:buSzPts val="900"/>
              <a:buFont typeface="Roboto Mono"/>
              <a:buChar char="●"/>
            </a:pPr>
            <a:endParaRPr sz="900" b="1">
              <a:solidFill>
                <a:srgbClr val="3C78D8"/>
              </a:solidFill>
              <a:latin typeface="Roboto Mono"/>
              <a:ea typeface="Roboto Mono"/>
              <a:cs typeface="Roboto Mono"/>
              <a:sym typeface="Roboto Mono"/>
            </a:endParaRPr>
          </a:p>
          <a:p>
            <a:pPr marL="171450" marR="0" lvl="0" indent="-114300" algn="l" rtl="0">
              <a:lnSpc>
                <a:spcPct val="100000"/>
              </a:lnSpc>
              <a:spcBef>
                <a:spcPts val="0"/>
              </a:spcBef>
              <a:spcAft>
                <a:spcPts val="0"/>
              </a:spcAft>
              <a:buClr>
                <a:srgbClr val="3C78D8"/>
              </a:buClr>
              <a:buSzPts val="900"/>
              <a:buFont typeface="Roboto Mono"/>
              <a:buChar char="●"/>
            </a:pPr>
            <a:r>
              <a:rPr lang="en" sz="900" b="1">
                <a:solidFill>
                  <a:srgbClr val="3C78D8"/>
                </a:solidFill>
                <a:latin typeface="Roboto Mono"/>
                <a:ea typeface="Roboto Mono"/>
                <a:cs typeface="Roboto Mono"/>
                <a:sym typeface="Roboto Mono"/>
              </a:rPr>
              <a:t>OpenAI Codex:</a:t>
            </a:r>
            <a:endParaRPr sz="900" b="1">
              <a:solidFill>
                <a:srgbClr val="3C78D8"/>
              </a:solidFill>
              <a:latin typeface="Roboto Mono"/>
              <a:ea typeface="Roboto Mono"/>
              <a:cs typeface="Roboto Mono"/>
              <a:sym typeface="Roboto Mono"/>
            </a:endParaRPr>
          </a:p>
          <a:p>
            <a:pPr marL="171450" marR="0" lvl="0" indent="-114300" algn="l" rtl="0">
              <a:lnSpc>
                <a:spcPct val="100000"/>
              </a:lnSpc>
              <a:spcBef>
                <a:spcPts val="0"/>
              </a:spcBef>
              <a:spcAft>
                <a:spcPts val="0"/>
              </a:spcAft>
              <a:buClr>
                <a:srgbClr val="3C78D8"/>
              </a:buClr>
              <a:buSzPts val="900"/>
              <a:buFont typeface="Roboto Mono"/>
              <a:buChar char="●"/>
            </a:pPr>
            <a:r>
              <a:rPr lang="en" sz="900" b="1">
                <a:solidFill>
                  <a:srgbClr val="3C78D8"/>
                </a:solidFill>
                <a:latin typeface="Roboto Mono"/>
                <a:ea typeface="Roboto Mono"/>
                <a:cs typeface="Roboto Mono"/>
                <a:sym typeface="Roboto Mono"/>
              </a:rPr>
              <a:t>  ~/.codex/config.toml</a:t>
            </a:r>
            <a:endParaRPr sz="900" b="1">
              <a:solidFill>
                <a:srgbClr val="3C78D8"/>
              </a:solidFill>
              <a:latin typeface="Roboto Mono"/>
              <a:ea typeface="Roboto Mono"/>
              <a:cs typeface="Roboto Mono"/>
              <a:sym typeface="Roboto Mono"/>
            </a:endParaRPr>
          </a:p>
          <a:p>
            <a:pPr marL="171450" marR="0" lvl="0" indent="-114300" algn="l" rtl="0">
              <a:lnSpc>
                <a:spcPct val="100000"/>
              </a:lnSpc>
              <a:spcBef>
                <a:spcPts val="0"/>
              </a:spcBef>
              <a:spcAft>
                <a:spcPts val="0"/>
              </a:spcAft>
              <a:buClr>
                <a:srgbClr val="3C78D8"/>
              </a:buClr>
              <a:buSzPts val="900"/>
              <a:buFont typeface="Roboto Mono"/>
              <a:buChar char="●"/>
            </a:pPr>
            <a:r>
              <a:rPr lang="en" sz="900" b="1">
                <a:solidFill>
                  <a:srgbClr val="3C78D8"/>
                </a:solidFill>
                <a:latin typeface="Roboto Mono"/>
                <a:ea typeface="Roboto Mono"/>
                <a:cs typeface="Roboto Mono"/>
                <a:sym typeface="Roboto Mono"/>
              </a:rPr>
              <a:t>  .codex/</a:t>
            </a:r>
            <a:endParaRPr sz="900" b="1">
              <a:solidFill>
                <a:srgbClr val="3C78D8"/>
              </a:solidFill>
              <a:latin typeface="Roboto Mono"/>
              <a:ea typeface="Roboto Mono"/>
              <a:cs typeface="Roboto Mono"/>
              <a:sym typeface="Roboto Mono"/>
            </a:endParaRPr>
          </a:p>
          <a:p>
            <a:pPr marL="171450" marR="0" lvl="0" indent="-114300" algn="l" rtl="0">
              <a:lnSpc>
                <a:spcPct val="100000"/>
              </a:lnSpc>
              <a:spcBef>
                <a:spcPts val="0"/>
              </a:spcBef>
              <a:spcAft>
                <a:spcPts val="0"/>
              </a:spcAft>
              <a:buClr>
                <a:srgbClr val="3C78D8"/>
              </a:buClr>
              <a:buSzPts val="900"/>
              <a:buFont typeface="Roboto Mono"/>
              <a:buChar char="●"/>
            </a:pPr>
            <a:r>
              <a:rPr lang="en" sz="900" b="1">
                <a:solidFill>
                  <a:srgbClr val="3C78D8"/>
                </a:solidFill>
                <a:latin typeface="Roboto Mono"/>
                <a:ea typeface="Roboto Mono"/>
                <a:cs typeface="Roboto Mono"/>
                <a:sym typeface="Roboto Mono"/>
              </a:rPr>
              <a:t>  .codex/config.toml</a:t>
            </a:r>
            <a:endParaRPr sz="900" b="1">
              <a:solidFill>
                <a:srgbClr val="3C78D8"/>
              </a:solidFill>
              <a:latin typeface="Roboto Mono"/>
              <a:ea typeface="Roboto Mono"/>
              <a:cs typeface="Roboto Mono"/>
              <a:sym typeface="Roboto Mono"/>
            </a:endParaRPr>
          </a:p>
          <a:p>
            <a:pPr marL="171450" marR="0" lvl="0" indent="-114300" algn="l" rtl="0">
              <a:lnSpc>
                <a:spcPct val="100000"/>
              </a:lnSpc>
              <a:spcBef>
                <a:spcPts val="0"/>
              </a:spcBef>
              <a:spcAft>
                <a:spcPts val="0"/>
              </a:spcAft>
              <a:buClr>
                <a:srgbClr val="3C78D8"/>
              </a:buClr>
              <a:buSzPts val="900"/>
              <a:buFont typeface="Roboto Mono"/>
              <a:buChar char="●"/>
            </a:pPr>
            <a:r>
              <a:rPr lang="en" sz="900" b="1">
                <a:solidFill>
                  <a:srgbClr val="3C78D8"/>
                </a:solidFill>
                <a:latin typeface="Roboto Mono"/>
                <a:ea typeface="Roboto Mono"/>
                <a:cs typeface="Roboto Mono"/>
                <a:sym typeface="Roboto Mono"/>
              </a:rPr>
              <a:t>  .codex/config.local.toml</a:t>
            </a:r>
            <a:endParaRPr sz="900" b="1">
              <a:solidFill>
                <a:srgbClr val="3C78D8"/>
              </a:solidFill>
              <a:latin typeface="Roboto Mono"/>
              <a:ea typeface="Roboto Mono"/>
              <a:cs typeface="Roboto Mono"/>
              <a:sym typeface="Roboto Mono"/>
            </a:endParaRPr>
          </a:p>
          <a:p>
            <a:pPr marL="171450" marR="0" lvl="0" indent="-114300" algn="l" rtl="0">
              <a:lnSpc>
                <a:spcPct val="100000"/>
              </a:lnSpc>
              <a:spcBef>
                <a:spcPts val="0"/>
              </a:spcBef>
              <a:spcAft>
                <a:spcPts val="0"/>
              </a:spcAft>
              <a:buClr>
                <a:srgbClr val="3C78D8"/>
              </a:buClr>
              <a:buSzPts val="900"/>
              <a:buFont typeface="Roboto Mono"/>
              <a:buChar char="●"/>
            </a:pPr>
            <a:r>
              <a:rPr lang="en" sz="900" b="1">
                <a:solidFill>
                  <a:srgbClr val="3C78D8"/>
                </a:solidFill>
                <a:latin typeface="Roboto Mono"/>
                <a:ea typeface="Roboto Mono"/>
                <a:cs typeface="Roboto Mono"/>
                <a:sym typeface="Roboto Mono"/>
              </a:rPr>
              <a:t>  .codex/auth.json , ...</a:t>
            </a:r>
            <a:endParaRPr sz="900" b="1">
              <a:solidFill>
                <a:srgbClr val="3C78D8"/>
              </a:solidFill>
              <a:latin typeface="Roboto Mono"/>
              <a:ea typeface="Roboto Mono"/>
              <a:cs typeface="Roboto Mono"/>
              <a:sym typeface="Roboto Mono"/>
            </a:endParaRPr>
          </a:p>
          <a:p>
            <a:pPr marL="171450" marR="0" lvl="0" indent="-114300" algn="l" rtl="0">
              <a:lnSpc>
                <a:spcPct val="100000"/>
              </a:lnSpc>
              <a:spcBef>
                <a:spcPts val="0"/>
              </a:spcBef>
              <a:spcAft>
                <a:spcPts val="0"/>
              </a:spcAft>
              <a:buClr>
                <a:srgbClr val="3C78D8"/>
              </a:buClr>
              <a:buSzPts val="900"/>
              <a:buFont typeface="Roboto Mono"/>
              <a:buChar char="●"/>
            </a:pPr>
            <a:endParaRPr sz="900" b="1">
              <a:solidFill>
                <a:srgbClr val="3C78D8"/>
              </a:solidFill>
              <a:latin typeface="Roboto Mono"/>
              <a:ea typeface="Roboto Mono"/>
              <a:cs typeface="Roboto Mono"/>
              <a:sym typeface="Roboto Mono"/>
            </a:endParaRPr>
          </a:p>
          <a:p>
            <a:pPr marL="171450" marR="0" lvl="0" indent="-114300" algn="l" rtl="0">
              <a:lnSpc>
                <a:spcPct val="100000"/>
              </a:lnSpc>
              <a:spcBef>
                <a:spcPts val="0"/>
              </a:spcBef>
              <a:spcAft>
                <a:spcPts val="0"/>
              </a:spcAft>
              <a:buClr>
                <a:srgbClr val="3C78D8"/>
              </a:buClr>
              <a:buSzPts val="900"/>
              <a:buFont typeface="Roboto Mono"/>
              <a:buChar char="●"/>
            </a:pPr>
            <a:r>
              <a:rPr lang="en" sz="900" b="1">
                <a:solidFill>
                  <a:srgbClr val="3C78D8"/>
                </a:solidFill>
                <a:latin typeface="Roboto Mono"/>
                <a:ea typeface="Roboto Mono"/>
                <a:cs typeface="Roboto Mono"/>
                <a:sym typeface="Roboto Mono"/>
              </a:rPr>
              <a:t>OpenCode:</a:t>
            </a:r>
            <a:endParaRPr sz="900" b="1">
              <a:solidFill>
                <a:srgbClr val="3C78D8"/>
              </a:solidFill>
              <a:latin typeface="Roboto Mono"/>
              <a:ea typeface="Roboto Mono"/>
              <a:cs typeface="Roboto Mono"/>
              <a:sym typeface="Roboto Mono"/>
            </a:endParaRPr>
          </a:p>
          <a:p>
            <a:pPr marL="171450" marR="0" lvl="0" indent="-114300" algn="l" rtl="0">
              <a:lnSpc>
                <a:spcPct val="100000"/>
              </a:lnSpc>
              <a:spcBef>
                <a:spcPts val="0"/>
              </a:spcBef>
              <a:spcAft>
                <a:spcPts val="0"/>
              </a:spcAft>
              <a:buClr>
                <a:srgbClr val="3C78D8"/>
              </a:buClr>
              <a:buSzPts val="900"/>
              <a:buFont typeface="Roboto Mono"/>
              <a:buChar char="●"/>
            </a:pPr>
            <a:r>
              <a:rPr lang="en" sz="900" b="1">
                <a:solidFill>
                  <a:srgbClr val="3C78D8"/>
                </a:solidFill>
                <a:latin typeface="Roboto Mono"/>
                <a:ea typeface="Roboto Mono"/>
                <a:cs typeface="Roboto Mono"/>
                <a:sym typeface="Roboto Mono"/>
              </a:rPr>
              <a:t>  ~/.config/opencode/ </a:t>
            </a:r>
            <a:r>
              <a:rPr lang="en" sz="900" b="1">
                <a:solidFill>
                  <a:srgbClr val="6AA84F"/>
                </a:solidFill>
                <a:latin typeface="Roboto Mono"/>
                <a:ea typeface="Roboto Mono"/>
                <a:cs typeface="Roboto Mono"/>
                <a:sym typeface="Roboto Mono"/>
              </a:rPr>
              <a:t># global</a:t>
            </a:r>
            <a:endParaRPr sz="900" b="1">
              <a:solidFill>
                <a:srgbClr val="3C78D8"/>
              </a:solidFill>
              <a:latin typeface="Roboto Mono"/>
              <a:ea typeface="Roboto Mono"/>
              <a:cs typeface="Roboto Mono"/>
              <a:sym typeface="Roboto Mono"/>
            </a:endParaRPr>
          </a:p>
          <a:p>
            <a:pPr marL="171450" marR="0" lvl="0" indent="-114300" algn="l" rtl="0">
              <a:lnSpc>
                <a:spcPct val="100000"/>
              </a:lnSpc>
              <a:spcBef>
                <a:spcPts val="0"/>
              </a:spcBef>
              <a:spcAft>
                <a:spcPts val="0"/>
              </a:spcAft>
              <a:buClr>
                <a:srgbClr val="3C78D8"/>
              </a:buClr>
              <a:buSzPts val="900"/>
              <a:buFont typeface="Roboto Mono"/>
              <a:buChar char="●"/>
            </a:pPr>
            <a:r>
              <a:rPr lang="en" sz="900" b="1">
                <a:solidFill>
                  <a:srgbClr val="3C78D8"/>
                </a:solidFill>
                <a:latin typeface="Roboto Mono"/>
                <a:ea typeface="Roboto Mono"/>
                <a:cs typeface="Roboto Mono"/>
                <a:sym typeface="Roboto Mono"/>
              </a:rPr>
              <a:t>  ~/.config/opencode/opencode.json</a:t>
            </a:r>
            <a:endParaRPr sz="900" b="1">
              <a:solidFill>
                <a:srgbClr val="3C78D8"/>
              </a:solidFill>
              <a:latin typeface="Roboto Mono"/>
              <a:ea typeface="Roboto Mono"/>
              <a:cs typeface="Roboto Mono"/>
              <a:sym typeface="Roboto Mono"/>
            </a:endParaRPr>
          </a:p>
        </p:txBody>
      </p:sp>
      <p:sp>
        <p:nvSpPr>
          <p:cNvPr id="237" name="Google Shape;237;p27"/>
          <p:cNvSpPr txBox="1"/>
          <p:nvPr/>
        </p:nvSpPr>
        <p:spPr>
          <a:xfrm>
            <a:off x="4005325" y="1059675"/>
            <a:ext cx="4777500" cy="2943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Clr>
                <a:srgbClr val="3C78D8"/>
              </a:buClr>
              <a:buSzPts val="1000"/>
              <a:buFont typeface="Roboto Mono"/>
              <a:buChar char="●"/>
            </a:pPr>
            <a:r>
              <a:rPr lang="en" sz="1000" b="1">
                <a:solidFill>
                  <a:srgbClr val="3C78D8"/>
                </a:solidFill>
                <a:latin typeface="Roboto Mono"/>
                <a:ea typeface="Roboto Mono"/>
                <a:cs typeface="Roboto Mono"/>
                <a:sym typeface="Roboto Mono"/>
              </a:rPr>
              <a:t>Cline in VSCode only loads rules from the folder where you start VS Code</a:t>
            </a:r>
            <a:endParaRPr sz="1000" b="1">
              <a:solidFill>
                <a:srgbClr val="3C78D8"/>
              </a:solidFill>
              <a:latin typeface="Roboto Mono"/>
              <a:ea typeface="Roboto Mono"/>
              <a:cs typeface="Roboto Mono"/>
              <a:sym typeface="Roboto Mono"/>
            </a:endParaRPr>
          </a:p>
          <a:p>
            <a:pPr marL="171450" marR="0" lvl="0" indent="-120650" algn="l" rtl="0">
              <a:lnSpc>
                <a:spcPct val="100000"/>
              </a:lnSpc>
              <a:spcBef>
                <a:spcPts val="0"/>
              </a:spcBef>
              <a:spcAft>
                <a:spcPts val="0"/>
              </a:spcAft>
              <a:buClr>
                <a:srgbClr val="3C78D8"/>
              </a:buClr>
              <a:buSzPts val="1000"/>
              <a:buFont typeface="Roboto Mono"/>
              <a:buChar char="●"/>
            </a:pPr>
            <a:r>
              <a:rPr lang="en" sz="1000" b="1">
                <a:solidFill>
                  <a:srgbClr val="3C78D8"/>
                </a:solidFill>
                <a:latin typeface="Roboto Mono"/>
                <a:ea typeface="Roboto Mono"/>
                <a:cs typeface="Roboto Mono"/>
                <a:sym typeface="Roboto Mono"/>
              </a:rPr>
              <a:t>If you start VSCode in a subfolder, it will NOT walk up and find the `.clinerules/` at a higher level</a:t>
            </a:r>
            <a:endParaRPr sz="1000" b="1">
              <a:solidFill>
                <a:srgbClr val="3C78D8"/>
              </a:solidFill>
              <a:latin typeface="Roboto Mono"/>
              <a:ea typeface="Roboto Mono"/>
              <a:cs typeface="Roboto Mono"/>
              <a:sym typeface="Roboto Mono"/>
            </a:endParaRPr>
          </a:p>
          <a:p>
            <a:pPr marL="171450" marR="0" lvl="0" indent="-120650" algn="l" rtl="0">
              <a:lnSpc>
                <a:spcPct val="100000"/>
              </a:lnSpc>
              <a:spcBef>
                <a:spcPts val="0"/>
              </a:spcBef>
              <a:spcAft>
                <a:spcPts val="0"/>
              </a:spcAft>
              <a:buClr>
                <a:srgbClr val="3C78D8"/>
              </a:buClr>
              <a:buSzPts val="1000"/>
              <a:buFont typeface="Roboto Mono"/>
              <a:buChar char="●"/>
            </a:pPr>
            <a:r>
              <a:rPr lang="en" sz="1000" b="1">
                <a:solidFill>
                  <a:srgbClr val="3C78D8"/>
                </a:solidFill>
                <a:latin typeface="Roboto Mono"/>
                <a:ea typeface="Roboto Mono"/>
                <a:cs typeface="Roboto Mono"/>
                <a:sym typeface="Roboto Mono"/>
              </a:rPr>
              <a:t>To force Cline to always read the rules, you can always open the real project root in VS Code </a:t>
            </a:r>
            <a:br>
              <a:rPr lang="en" sz="1000" b="1">
                <a:solidFill>
                  <a:srgbClr val="3C78D8"/>
                </a:solidFill>
                <a:latin typeface="Roboto Mono"/>
                <a:ea typeface="Roboto Mono"/>
                <a:cs typeface="Roboto Mono"/>
                <a:sym typeface="Roboto Mono"/>
              </a:rPr>
            </a:br>
            <a:r>
              <a:rPr lang="en" sz="1000" b="1">
                <a:solidFill>
                  <a:srgbClr val="3C78D8"/>
                </a:solidFill>
                <a:latin typeface="Roboto Mono"/>
                <a:ea typeface="Roboto Mono"/>
                <a:cs typeface="Roboto Mono"/>
                <a:sym typeface="Roboto Mono"/>
              </a:rPr>
              <a:t>(e.g. via "code ." from the repo root (or “Open Folder”) pointing at the root that contains `.clinerules/`)</a:t>
            </a:r>
            <a:endParaRPr sz="1000" b="1">
              <a:solidFill>
                <a:srgbClr val="3C78D8"/>
              </a:solidFill>
              <a:latin typeface="Roboto Mono"/>
              <a:ea typeface="Roboto Mono"/>
              <a:cs typeface="Roboto Mono"/>
              <a:sym typeface="Roboto Mono"/>
            </a:endParaRPr>
          </a:p>
          <a:p>
            <a:pPr marL="171450" marR="0" lvl="0" indent="-120650" algn="l" rtl="0">
              <a:lnSpc>
                <a:spcPct val="100000"/>
              </a:lnSpc>
              <a:spcBef>
                <a:spcPts val="0"/>
              </a:spcBef>
              <a:spcAft>
                <a:spcPts val="0"/>
              </a:spcAft>
              <a:buClr>
                <a:srgbClr val="3C78D8"/>
              </a:buClr>
              <a:buSzPts val="1000"/>
              <a:buFont typeface="Roboto Mono"/>
              <a:buChar char="●"/>
            </a:pPr>
            <a:r>
              <a:rPr lang="en" sz="1000" b="1">
                <a:solidFill>
                  <a:srgbClr val="3C78D8"/>
                </a:solidFill>
                <a:latin typeface="Roboto Mono"/>
                <a:ea typeface="Roboto Mono"/>
                <a:cs typeface="Roboto Mono"/>
                <a:sym typeface="Roboto Mono"/>
              </a:rPr>
              <a:t>You can also add separate ".clinerules/" folders in those subfolders that you open directly as their own workspace roots</a:t>
            </a:r>
            <a:endParaRPr sz="1000" b="1">
              <a:solidFill>
                <a:srgbClr val="3C78D8"/>
              </a:solidFill>
              <a:latin typeface="Roboto Mono"/>
              <a:ea typeface="Roboto Mono"/>
              <a:cs typeface="Roboto Mono"/>
              <a:sym typeface="Roboto Mono"/>
            </a:endParaRPr>
          </a:p>
          <a:p>
            <a:pPr marL="171450" marR="0" lvl="0" indent="-120650" algn="l" rtl="0">
              <a:lnSpc>
                <a:spcPct val="100000"/>
              </a:lnSpc>
              <a:spcBef>
                <a:spcPts val="0"/>
              </a:spcBef>
              <a:spcAft>
                <a:spcPts val="0"/>
              </a:spcAft>
              <a:buClr>
                <a:srgbClr val="3C78D8"/>
              </a:buClr>
              <a:buSzPts val="1000"/>
              <a:buFont typeface="Roboto Mono"/>
              <a:buChar char="●"/>
            </a:pPr>
            <a:r>
              <a:rPr lang="en" sz="1000" b="1">
                <a:solidFill>
                  <a:srgbClr val="3C78D8"/>
                </a:solidFill>
                <a:latin typeface="Roboto Mono"/>
                <a:ea typeface="Roboto Mono"/>
                <a:cs typeface="Roboto Mono"/>
                <a:sym typeface="Roboto Mono"/>
              </a:rPr>
              <a:t>You can also open VSCode by opening a workspace file ".code-workspace" - a JSON file that can define more than one root to open. Still you need to ensure that each folder has its own ".clinerules/"</a:t>
            </a:r>
            <a:endParaRPr sz="1000" b="1">
              <a:solidFill>
                <a:srgbClr val="3C78D8"/>
              </a:solidFill>
              <a:latin typeface="Roboto Mono"/>
              <a:ea typeface="Roboto Mono"/>
              <a:cs typeface="Roboto Mono"/>
              <a:sym typeface="Roboto Mono"/>
            </a:endParaRPr>
          </a:p>
          <a:p>
            <a:pPr marL="171450" marR="0" lvl="0" indent="-120650" algn="l" rtl="0">
              <a:lnSpc>
                <a:spcPct val="100000"/>
              </a:lnSpc>
              <a:spcBef>
                <a:spcPts val="0"/>
              </a:spcBef>
              <a:spcAft>
                <a:spcPts val="0"/>
              </a:spcAft>
              <a:buClr>
                <a:srgbClr val="3C78D8"/>
              </a:buClr>
              <a:buSzPts val="1000"/>
              <a:buFont typeface="Roboto Mono"/>
              <a:buChar char="●"/>
            </a:pPr>
            <a:r>
              <a:rPr lang="en" sz="1000" b="1">
                <a:solidFill>
                  <a:srgbClr val="3C78D8"/>
                </a:solidFill>
                <a:latin typeface="Roboto Mono"/>
                <a:ea typeface="Roboto Mono"/>
                <a:cs typeface="Roboto Mono"/>
                <a:sym typeface="Roboto Mono"/>
              </a:rPr>
              <a:t>You can also store rules in "~/Documents/Cline/Rules/" - and they will be used by Cline globally</a:t>
            </a:r>
            <a:endParaRPr sz="1000" b="1">
              <a:solidFill>
                <a:srgbClr val="3C78D8"/>
              </a:solidFill>
              <a:latin typeface="Roboto Mono"/>
              <a:ea typeface="Roboto Mono"/>
              <a:cs typeface="Roboto Mono"/>
              <a:sym typeface="Roboto Mono"/>
            </a:endParaRPr>
          </a:p>
          <a:p>
            <a:pPr marL="171450" marR="0" lvl="0" indent="-120650" algn="l" rtl="0">
              <a:lnSpc>
                <a:spcPct val="100000"/>
              </a:lnSpc>
              <a:spcBef>
                <a:spcPts val="0"/>
              </a:spcBef>
              <a:spcAft>
                <a:spcPts val="0"/>
              </a:spcAft>
              <a:buClr>
                <a:srgbClr val="3C78D8"/>
              </a:buClr>
              <a:buSzPts val="1000"/>
              <a:buFont typeface="Roboto Mono"/>
              <a:buChar char="●"/>
            </a:pPr>
            <a:r>
              <a:rPr lang="en" sz="1000" b="1" u="sng">
                <a:solidFill>
                  <a:schemeClr val="hlink"/>
                </a:solidFill>
                <a:latin typeface="Roboto Mono"/>
                <a:ea typeface="Roboto Mono"/>
                <a:cs typeface="Roboto Mono"/>
                <a:sym typeface="Roboto Mono"/>
                <a:hlinkClick r:id="rId4"/>
              </a:rPr>
              <a:t>https://docs.cline.bot/features/cline-rules</a:t>
            </a:r>
            <a:r>
              <a:rPr lang="en" sz="1000" b="1">
                <a:solidFill>
                  <a:srgbClr val="3C78D8"/>
                </a:solidFill>
                <a:latin typeface="Roboto Mono"/>
                <a:ea typeface="Roboto Mono"/>
                <a:cs typeface="Roboto Mono"/>
                <a:sym typeface="Roboto Mono"/>
              </a:rPr>
              <a:t> </a:t>
            </a:r>
            <a:endParaRPr sz="1000" b="1">
              <a:solidFill>
                <a:srgbClr val="3C78D8"/>
              </a:solidFill>
              <a:latin typeface="Roboto Mono"/>
              <a:ea typeface="Roboto Mono"/>
              <a:cs typeface="Roboto Mono"/>
              <a:sym typeface="Roboto Mono"/>
            </a:endParaRPr>
          </a:p>
          <a:p>
            <a:pPr marL="171450" marR="0" lvl="0" indent="-120650" algn="l" rtl="0">
              <a:lnSpc>
                <a:spcPct val="100000"/>
              </a:lnSpc>
              <a:spcBef>
                <a:spcPts val="0"/>
              </a:spcBef>
              <a:spcAft>
                <a:spcPts val="0"/>
              </a:spcAft>
              <a:buClr>
                <a:srgbClr val="3C78D8"/>
              </a:buClr>
              <a:buSzPts val="1000"/>
              <a:buFont typeface="Roboto Mono"/>
              <a:buChar char="●"/>
            </a:pPr>
            <a:r>
              <a:rPr lang="en" sz="1000" b="1" u="sng">
                <a:solidFill>
                  <a:schemeClr val="hlink"/>
                </a:solidFill>
                <a:latin typeface="Roboto Mono"/>
                <a:ea typeface="Roboto Mono"/>
                <a:cs typeface="Roboto Mono"/>
                <a:sym typeface="Roboto Mono"/>
                <a:hlinkClick r:id="rId5"/>
              </a:rPr>
              <a:t>https://docs.cline.bot/features/multiroot-workspace</a:t>
            </a:r>
            <a:r>
              <a:rPr lang="en" sz="1000" b="1">
                <a:solidFill>
                  <a:srgbClr val="3C78D8"/>
                </a:solidFill>
                <a:latin typeface="Roboto Mono"/>
                <a:ea typeface="Roboto Mono"/>
                <a:cs typeface="Roboto Mono"/>
                <a:sym typeface="Roboto Mono"/>
              </a:rPr>
              <a:t> </a:t>
            </a:r>
            <a:endParaRPr sz="1000" b="1">
              <a:solidFill>
                <a:srgbClr val="3C78D8"/>
              </a:solidFill>
              <a:latin typeface="Roboto Mono"/>
              <a:ea typeface="Roboto Mono"/>
              <a:cs typeface="Roboto Mono"/>
              <a:sym typeface="Roboto Mono"/>
            </a:endParaRPr>
          </a:p>
        </p:txBody>
      </p:sp>
      <p:sp>
        <p:nvSpPr>
          <p:cNvPr id="238" name="Google Shape;238;p27"/>
          <p:cNvSpPr txBox="1"/>
          <p:nvPr/>
        </p:nvSpPr>
        <p:spPr>
          <a:xfrm>
            <a:off x="4005325" y="648025"/>
            <a:ext cx="2523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Cline Rules Location</a:t>
            </a:r>
            <a:endParaRPr sz="2000" b="1" i="0" u="none" strike="noStrike" cap="non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28"/>
          <p:cNvSpPr txBox="1"/>
          <p:nvPr/>
        </p:nvSpPr>
        <p:spPr>
          <a:xfrm>
            <a:off x="152075" y="238419"/>
            <a:ext cx="3908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"Workslop" - low-quality output</a:t>
            </a:r>
            <a:endParaRPr sz="2000" b="1" i="0" u="none" strike="noStrike" cap="none">
              <a:solidFill>
                <a:schemeClr val="dk1"/>
              </a:solidFill>
              <a:latin typeface="Calibri"/>
              <a:ea typeface="Calibri"/>
              <a:cs typeface="Calibri"/>
              <a:sym typeface="Calibri"/>
            </a:endParaRPr>
          </a:p>
        </p:txBody>
      </p:sp>
      <p:sp>
        <p:nvSpPr>
          <p:cNvPr id="244" name="Google Shape;244;p28"/>
          <p:cNvSpPr txBox="1"/>
          <p:nvPr/>
        </p:nvSpPr>
        <p:spPr>
          <a:xfrm>
            <a:off x="152075" y="671794"/>
            <a:ext cx="4413900" cy="4082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AI "Workslop" (low-quality) Slows Down Prouctivity Growth</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 Stanford and BetterUp Labs study of 1,150 U.S. full‑time employees finds that workplace AI often generates </a:t>
            </a:r>
            <a:r>
              <a:rPr lang="en" sz="1200" b="1">
                <a:solidFill>
                  <a:srgbClr val="FF0000"/>
                </a:solidFill>
                <a:latin typeface="Calibri"/>
                <a:ea typeface="Calibri"/>
                <a:cs typeface="Calibri"/>
                <a:sym typeface="Calibri"/>
              </a:rPr>
              <a:t>"workslop": low‑effort, passable‑looking content that others must fix</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This "fixing" is undermining promised productivity gains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Many workers simply accept the first AI output and forward it, shifting the real cognitive and editing burden downstream to coworkers who must interpret, verify, or redo the work</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In the survey, 40 percent of employees reported receiving workslop in the past month, and about 15 percent of all content they receive at work is AI‑generated</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This content mostly comes from peers (40 percent), but 16 percent comes from higher‑ups, further complicating power dynamics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Recipients say workslop wastes time through additional research, follow‑ups, and rework, and it damages perceptions of senders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54% see those colleagues as less creative</a:t>
            </a:r>
            <a:br>
              <a:rPr lang="en" sz="1200">
                <a:latin typeface="Calibri"/>
                <a:ea typeface="Calibri"/>
                <a:cs typeface="Calibri"/>
                <a:sym typeface="Calibri"/>
              </a:rPr>
            </a:br>
            <a:r>
              <a:rPr lang="en" sz="1200">
                <a:latin typeface="Calibri"/>
                <a:ea typeface="Calibri"/>
                <a:cs typeface="Calibri"/>
                <a:sym typeface="Calibri"/>
              </a:rPr>
              <a:t>42% as less trustworthy</a:t>
            </a:r>
            <a:br>
              <a:rPr lang="en" sz="1200">
                <a:latin typeface="Calibri"/>
                <a:ea typeface="Calibri"/>
                <a:cs typeface="Calibri"/>
                <a:sym typeface="Calibri"/>
              </a:rPr>
            </a:br>
            <a:r>
              <a:rPr lang="en" sz="1200">
                <a:latin typeface="Calibri"/>
                <a:ea typeface="Calibri"/>
                <a:cs typeface="Calibri"/>
                <a:sym typeface="Calibri"/>
              </a:rPr>
              <a:t>37% as less intelligent</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Researchers argue that beyond limited, careful uses, </a:t>
            </a:r>
            <a:r>
              <a:rPr lang="en" sz="1200" b="1">
                <a:solidFill>
                  <a:srgbClr val="FF0000"/>
                </a:solidFill>
                <a:latin typeface="Calibri"/>
                <a:ea typeface="Calibri"/>
                <a:cs typeface="Calibri"/>
                <a:sym typeface="Calibri"/>
              </a:rPr>
              <a:t>AI’s hidden interpersonal and coordination costs may outweigh its productivity benefits</a:t>
            </a:r>
            <a:r>
              <a:rPr lang="en" sz="1200">
                <a:latin typeface="Calibri"/>
                <a:ea typeface="Calibri"/>
                <a:cs typeface="Calibri"/>
                <a:sym typeface="Calibri"/>
              </a:rPr>
              <a:t> in many current workplace deployments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https://futurism.com/future-society/ai-productivity-research</a:t>
            </a:r>
            <a:r>
              <a:rPr lang="en" sz="1200">
                <a:latin typeface="Calibri"/>
                <a:ea typeface="Calibri"/>
                <a:cs typeface="Calibri"/>
                <a:sym typeface="Calibri"/>
              </a:rPr>
              <a:t> </a:t>
            </a:r>
            <a:endParaRPr sz="1200">
              <a:latin typeface="Calibri"/>
              <a:ea typeface="Calibri"/>
              <a:cs typeface="Calibri"/>
              <a:sym typeface="Calibri"/>
            </a:endParaRPr>
          </a:p>
        </p:txBody>
      </p:sp>
      <p:sp>
        <p:nvSpPr>
          <p:cNvPr id="245" name="Google Shape;245;p28"/>
          <p:cNvSpPr txBox="1"/>
          <p:nvPr/>
        </p:nvSpPr>
        <p:spPr>
          <a:xfrm>
            <a:off x="4665975" y="671794"/>
            <a:ext cx="4413900" cy="3343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b="1">
                <a:solidFill>
                  <a:srgbClr val="FF0000"/>
                </a:solidFill>
                <a:latin typeface="Calibri"/>
                <a:ea typeface="Calibri"/>
                <a:cs typeface="Calibri"/>
                <a:sym typeface="Calibri"/>
              </a:rPr>
              <a:t>Mike Krieger, Anthropic's Chief Product Officer and Instagram co-founder - AI coding and enterprise adoption in 2026</a:t>
            </a:r>
            <a:br>
              <a:rPr lang="en" sz="1200">
                <a:latin typeface="Calibri"/>
                <a:ea typeface="Calibri"/>
                <a:cs typeface="Calibri"/>
                <a:sym typeface="Calibri"/>
              </a:rPr>
            </a:br>
            <a:r>
              <a:rPr lang="en" sz="1200" u="sng">
                <a:solidFill>
                  <a:schemeClr val="hlink"/>
                </a:solidFill>
                <a:latin typeface="Calibri"/>
                <a:ea typeface="Calibri"/>
                <a:cs typeface="Calibri"/>
                <a:sym typeface="Calibri"/>
                <a:hlinkClick r:id="rId4"/>
              </a:rPr>
              <a:t>https://www.youtube.com/watch?v=VSLEGpCemtE</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Claude</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Claude CLI (Claude Code) - terminal user app</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Claude Agent SDK - technology behind Claude Code</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Three (3) situations: sophisticated software engineering, nascent individual/non-technical usage, and enterprise adoption</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biggest enterprise blockers remain legacy system integration and regulatory constraints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AI will "reliably take work off your plate," with tools evolving from assistants to colleagues capable of handling delegated tasks asynchronously</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Focus on high-quality outputs rather than overly autonomous generation</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key shift: enabling AI to participate meaningfully in business processes through better data annotation, MCP integration, and human-in-the-loop workflows</a:t>
            </a:r>
            <a:endParaRPr sz="1200">
              <a:latin typeface="Calibri"/>
              <a:ea typeface="Calibri"/>
              <a:cs typeface="Calibri"/>
              <a:sym typeface="Calibri"/>
            </a:endParaRPr>
          </a:p>
        </p:txBody>
      </p:sp>
      <p:sp>
        <p:nvSpPr>
          <p:cNvPr id="246" name="Google Shape;246;p28"/>
          <p:cNvSpPr txBox="1"/>
          <p:nvPr/>
        </p:nvSpPr>
        <p:spPr>
          <a:xfrm>
            <a:off x="4665975" y="238419"/>
            <a:ext cx="3908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Anthropic Focus on High Quality</a:t>
            </a:r>
            <a:endParaRPr sz="2000" b="1" i="0" u="none" strike="noStrike" cap="none">
              <a:solidFill>
                <a:schemeClr val="dk1"/>
              </a:solidFill>
              <a:latin typeface="Calibri"/>
              <a:ea typeface="Calibri"/>
              <a:cs typeface="Calibri"/>
              <a:sym typeface="Calibri"/>
            </a:endParaRPr>
          </a:p>
        </p:txBody>
      </p:sp>
      <p:sp>
        <p:nvSpPr>
          <p:cNvPr id="247" name="Google Shape;247;p28"/>
          <p:cNvSpPr txBox="1"/>
          <p:nvPr/>
        </p:nvSpPr>
        <p:spPr>
          <a:xfrm>
            <a:off x="4665975" y="4121969"/>
            <a:ext cx="44139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b="1">
                <a:solidFill>
                  <a:srgbClr val="FF0000"/>
                </a:solidFill>
                <a:latin typeface="Calibri"/>
                <a:ea typeface="Calibri"/>
                <a:cs typeface="Calibri"/>
                <a:sym typeface="Calibri"/>
              </a:rPr>
              <a:t>Claude Code Updates</a:t>
            </a:r>
            <a:r>
              <a:rPr lang="en" sz="1200">
                <a:latin typeface="Calibri"/>
                <a:ea typeface="Calibri"/>
                <a:cs typeface="Calibri"/>
                <a:sym typeface="Calibri"/>
              </a:rPr>
              <a:t>: Sub Agents (Run multiple agents simultaneously), Claude Ultra / UltraThink; LSP Support (Language Server Protocol) ; Android &amp; Slack Integration; Status Line &amp; Hotkey Improvements</a:t>
            </a:r>
            <a:endParaRPr sz="1200">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29"/>
          <p:cNvSpPr txBox="1"/>
          <p:nvPr/>
        </p:nvSpPr>
        <p:spPr>
          <a:xfrm>
            <a:off x="55075" y="20375"/>
            <a:ext cx="2174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Anthropic Bloom</a:t>
            </a:r>
            <a:endParaRPr sz="2000" b="1" i="0" u="none" strike="noStrike" cap="none">
              <a:solidFill>
                <a:schemeClr val="dk1"/>
              </a:solidFill>
              <a:latin typeface="Calibri"/>
              <a:ea typeface="Calibri"/>
              <a:cs typeface="Calibri"/>
              <a:sym typeface="Calibri"/>
            </a:endParaRPr>
          </a:p>
        </p:txBody>
      </p:sp>
      <p:sp>
        <p:nvSpPr>
          <p:cNvPr id="253" name="Google Shape;253;p29"/>
          <p:cNvSpPr txBox="1"/>
          <p:nvPr/>
        </p:nvSpPr>
        <p:spPr>
          <a:xfrm>
            <a:off x="55075" y="438446"/>
            <a:ext cx="4413900" cy="4266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Anthropic Bloom</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Open source tool for automated behavioral evaluations</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It starts from a researcher-specified behavior and a seed configuration, then creates many scenarios to measure how often and how strongly that behavior appears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Bloom runs in four stages: </a:t>
            </a:r>
            <a:endParaRPr sz="1200">
              <a:latin typeface="Calibri"/>
              <a:ea typeface="Calibri"/>
              <a:cs typeface="Calibri"/>
              <a:sym typeface="Calibri"/>
            </a:endParaRPr>
          </a:p>
          <a:p>
            <a:pPr marL="457200" marR="0" lvl="0" indent="-19050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1. understanding the target behavior</a:t>
            </a:r>
            <a:endParaRPr sz="1200">
              <a:solidFill>
                <a:srgbClr val="3C78D8"/>
              </a:solidFill>
              <a:latin typeface="Calibri"/>
              <a:ea typeface="Calibri"/>
              <a:cs typeface="Calibri"/>
              <a:sym typeface="Calibri"/>
            </a:endParaRPr>
          </a:p>
          <a:p>
            <a:pPr marL="457200" marR="0" lvl="0" indent="-19050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2. ideating scenarios</a:t>
            </a:r>
            <a:endParaRPr sz="1200">
              <a:solidFill>
                <a:srgbClr val="3C78D8"/>
              </a:solidFill>
              <a:latin typeface="Calibri"/>
              <a:ea typeface="Calibri"/>
              <a:cs typeface="Calibri"/>
              <a:sym typeface="Calibri"/>
            </a:endParaRPr>
          </a:p>
          <a:p>
            <a:pPr marL="457200" marR="0" lvl="0" indent="-19050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3. rolling out interactions with simulated users and tools</a:t>
            </a:r>
            <a:endParaRPr sz="1200">
              <a:solidFill>
                <a:srgbClr val="3C78D8"/>
              </a:solidFill>
              <a:latin typeface="Calibri"/>
              <a:ea typeface="Calibri"/>
              <a:cs typeface="Calibri"/>
              <a:sym typeface="Calibri"/>
            </a:endParaRPr>
          </a:p>
          <a:p>
            <a:pPr marL="457200" marR="0" lvl="0" indent="-19050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4. judging transcripts with a model-based evaluator and meta-judge</a:t>
            </a:r>
            <a:endParaRPr sz="1200">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Unlike fixed test suites, it regenerates diverse scenarios each run while tracking the same underlying trait, with configurations controlling models, tools, conversation length, and scoring dimensions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Validation shows Bloom can distinguish intentionally quirky “model organisms” from production Claude models and that its judge correlates strongly with human labels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 case study on self-preferential bias reproduces prior model rankings and reveals that higher reasoning effort can reduce bias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Bloom is already used for tasks like probing jailbreak vulnerabilities and evaluation awareness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https://www.anthropic.com/research/bloom</a:t>
            </a:r>
            <a:r>
              <a:rPr lang="en" sz="1200">
                <a:latin typeface="Calibri"/>
                <a:ea typeface="Calibri"/>
                <a:cs typeface="Calibri"/>
                <a:sym typeface="Calibri"/>
              </a:rPr>
              <a:t> </a:t>
            </a:r>
            <a:endParaRPr sz="1200">
              <a:latin typeface="Calibri"/>
              <a:ea typeface="Calibri"/>
              <a:cs typeface="Calibri"/>
              <a:sym typeface="Calibri"/>
            </a:endParaRPr>
          </a:p>
        </p:txBody>
      </p:sp>
      <p:pic>
        <p:nvPicPr>
          <p:cNvPr id="254" name="Google Shape;254;p29"/>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902325" y="1176050"/>
            <a:ext cx="3646476" cy="2613851"/>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30"/>
          <p:cNvSpPr txBox="1"/>
          <p:nvPr/>
        </p:nvSpPr>
        <p:spPr>
          <a:xfrm>
            <a:off x="55075" y="20375"/>
            <a:ext cx="4034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i="0" u="none" strike="noStrike" cap="none">
              <a:solidFill>
                <a:schemeClr val="dk1"/>
              </a:solidFill>
              <a:latin typeface="Calibri"/>
              <a:ea typeface="Calibri"/>
              <a:cs typeface="Calibri"/>
              <a:sym typeface="Calibri"/>
            </a:endParaRPr>
          </a:p>
        </p:txBody>
      </p:sp>
      <p:sp>
        <p:nvSpPr>
          <p:cNvPr id="260" name="Google Shape;260;p30"/>
          <p:cNvSpPr txBox="1"/>
          <p:nvPr/>
        </p:nvSpPr>
        <p:spPr>
          <a:xfrm>
            <a:off x="111575" y="369200"/>
            <a:ext cx="4413900" cy="112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Intel to make Apple Silicone Chips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Apple used Intel 2005 - 2020</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Then they switched to TSMC (Taiwan) to manufacture M* chips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Now Apple is in talks with Intel to also manufacture M* chips (to break dep endency on TSMC</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https://www.youtube.com/watch?v=79a_q0PZMOU</a:t>
            </a:r>
            <a:r>
              <a:rPr lang="en" sz="1200">
                <a:latin typeface="Calibri"/>
                <a:ea typeface="Calibri"/>
                <a:cs typeface="Calibri"/>
                <a:sym typeface="Calibri"/>
              </a:rPr>
              <a:t> </a:t>
            </a:r>
            <a:endParaRPr sz="1200">
              <a:latin typeface="Calibri"/>
              <a:ea typeface="Calibri"/>
              <a:cs typeface="Calibri"/>
              <a:sym typeface="Calibri"/>
            </a:endParaRPr>
          </a:p>
        </p:txBody>
      </p:sp>
      <p:sp>
        <p:nvSpPr>
          <p:cNvPr id="261" name="Google Shape;261;p30"/>
          <p:cNvSpPr txBox="1"/>
          <p:nvPr/>
        </p:nvSpPr>
        <p:spPr>
          <a:xfrm>
            <a:off x="5435000" y="445600"/>
            <a:ext cx="987000" cy="4617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45700" tIns="45700" rIns="45700" bIns="45700" anchor="t" anchorCtr="0">
            <a:spAutoFit/>
          </a:bodyPr>
          <a:lstStyle/>
          <a:p>
            <a:pPr marL="0" marR="0" lvl="0" indent="0" algn="ctr" rtl="0">
              <a:lnSpc>
                <a:spcPct val="100000"/>
              </a:lnSpc>
              <a:spcBef>
                <a:spcPts val="0"/>
              </a:spcBef>
              <a:spcAft>
                <a:spcPts val="0"/>
              </a:spcAft>
              <a:buNone/>
            </a:pPr>
            <a:r>
              <a:rPr lang="en" sz="1200" b="1">
                <a:latin typeface="Calibri"/>
                <a:ea typeface="Calibri"/>
                <a:cs typeface="Calibri"/>
                <a:sym typeface="Calibri"/>
              </a:rPr>
              <a:t>Apple</a:t>
            </a:r>
            <a:br>
              <a:rPr lang="en" sz="1200" b="1">
                <a:latin typeface="Calibri"/>
                <a:ea typeface="Calibri"/>
                <a:cs typeface="Calibri"/>
                <a:sym typeface="Calibri"/>
              </a:rPr>
            </a:br>
            <a:r>
              <a:rPr lang="en" sz="1200" b="1">
                <a:latin typeface="Calibri"/>
                <a:ea typeface="Calibri"/>
                <a:cs typeface="Calibri"/>
                <a:sym typeface="Calibri"/>
              </a:rPr>
              <a:t>M-chips</a:t>
            </a:r>
            <a:endParaRPr sz="1200" b="1">
              <a:latin typeface="Calibri"/>
              <a:ea typeface="Calibri"/>
              <a:cs typeface="Calibri"/>
              <a:sym typeface="Calibri"/>
            </a:endParaRPr>
          </a:p>
        </p:txBody>
      </p:sp>
      <p:sp>
        <p:nvSpPr>
          <p:cNvPr id="262" name="Google Shape;262;p30"/>
          <p:cNvSpPr txBox="1"/>
          <p:nvPr/>
        </p:nvSpPr>
        <p:spPr>
          <a:xfrm>
            <a:off x="7165523" y="174700"/>
            <a:ext cx="987000" cy="4617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45700" tIns="45700" rIns="45700" bIns="45700" anchor="t" anchorCtr="0">
            <a:spAutoFit/>
          </a:bodyPr>
          <a:lstStyle/>
          <a:p>
            <a:pPr marL="0" marR="0" lvl="0" indent="0" algn="ctr" rtl="0">
              <a:lnSpc>
                <a:spcPct val="100000"/>
              </a:lnSpc>
              <a:spcBef>
                <a:spcPts val="0"/>
              </a:spcBef>
              <a:spcAft>
                <a:spcPts val="0"/>
              </a:spcAft>
              <a:buNone/>
            </a:pPr>
            <a:r>
              <a:rPr lang="en" sz="1200" b="1">
                <a:latin typeface="Calibri"/>
                <a:ea typeface="Calibri"/>
                <a:cs typeface="Calibri"/>
                <a:sym typeface="Calibri"/>
              </a:rPr>
              <a:t>TSMC</a:t>
            </a:r>
            <a:br>
              <a:rPr lang="en" sz="1200" b="1">
                <a:latin typeface="Calibri"/>
                <a:ea typeface="Calibri"/>
                <a:cs typeface="Calibri"/>
                <a:sym typeface="Calibri"/>
              </a:rPr>
            </a:br>
            <a:r>
              <a:rPr lang="en" sz="1200" b="1">
                <a:latin typeface="Calibri"/>
                <a:ea typeface="Calibri"/>
                <a:cs typeface="Calibri"/>
                <a:sym typeface="Calibri"/>
              </a:rPr>
              <a:t>Taiwan</a:t>
            </a:r>
            <a:endParaRPr sz="1200" b="1">
              <a:latin typeface="Calibri"/>
              <a:ea typeface="Calibri"/>
              <a:cs typeface="Calibri"/>
              <a:sym typeface="Calibri"/>
            </a:endParaRPr>
          </a:p>
        </p:txBody>
      </p:sp>
      <p:sp>
        <p:nvSpPr>
          <p:cNvPr id="263" name="Google Shape;263;p30"/>
          <p:cNvSpPr txBox="1"/>
          <p:nvPr/>
        </p:nvSpPr>
        <p:spPr>
          <a:xfrm>
            <a:off x="7165523" y="707125"/>
            <a:ext cx="987000" cy="4617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45700" tIns="45700" rIns="45700" bIns="45700" anchor="t" anchorCtr="0">
            <a:spAutoFit/>
          </a:bodyPr>
          <a:lstStyle/>
          <a:p>
            <a:pPr marL="0" marR="0" lvl="0" indent="0" algn="ctr" rtl="0">
              <a:lnSpc>
                <a:spcPct val="100000"/>
              </a:lnSpc>
              <a:spcBef>
                <a:spcPts val="0"/>
              </a:spcBef>
              <a:spcAft>
                <a:spcPts val="0"/>
              </a:spcAft>
              <a:buNone/>
            </a:pPr>
            <a:r>
              <a:rPr lang="en" sz="1200" b="1">
                <a:latin typeface="Calibri"/>
                <a:ea typeface="Calibri"/>
                <a:cs typeface="Calibri"/>
                <a:sym typeface="Calibri"/>
              </a:rPr>
              <a:t>Intel</a:t>
            </a:r>
            <a:br>
              <a:rPr lang="en" sz="1200" b="1">
                <a:latin typeface="Calibri"/>
                <a:ea typeface="Calibri"/>
                <a:cs typeface="Calibri"/>
                <a:sym typeface="Calibri"/>
              </a:rPr>
            </a:br>
            <a:r>
              <a:rPr lang="en" sz="1200" b="1">
                <a:latin typeface="Calibri"/>
                <a:ea typeface="Calibri"/>
                <a:cs typeface="Calibri"/>
                <a:sym typeface="Calibri"/>
              </a:rPr>
              <a:t>USA</a:t>
            </a:r>
            <a:endParaRPr sz="1200" b="1">
              <a:latin typeface="Calibri"/>
              <a:ea typeface="Calibri"/>
              <a:cs typeface="Calibri"/>
              <a:sym typeface="Calibri"/>
            </a:endParaRPr>
          </a:p>
        </p:txBody>
      </p:sp>
      <p:sp>
        <p:nvSpPr>
          <p:cNvPr id="264" name="Google Shape;264;p30"/>
          <p:cNvSpPr/>
          <p:nvPr/>
        </p:nvSpPr>
        <p:spPr>
          <a:xfrm rot="-1642973">
            <a:off x="6493507" y="256552"/>
            <a:ext cx="526379" cy="258159"/>
          </a:xfrm>
          <a:prstGeom prst="lef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5" name="Google Shape;265;p30"/>
          <p:cNvSpPr/>
          <p:nvPr/>
        </p:nvSpPr>
        <p:spPr>
          <a:xfrm rot="1720067">
            <a:off x="6524311" y="827481"/>
            <a:ext cx="526546" cy="258173"/>
          </a:xfrm>
          <a:prstGeom prst="lef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6" name="Google Shape;266;p30"/>
          <p:cNvSpPr txBox="1"/>
          <p:nvPr/>
        </p:nvSpPr>
        <p:spPr>
          <a:xfrm>
            <a:off x="111575" y="1557200"/>
            <a:ext cx="4413900" cy="526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Resolve AI - Reliably Maintains Software Systems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$1B valuation, handles alerts, resolves problems</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4"/>
              </a:rPr>
              <a:t>https://finance.yahoo.com/news/ex-splunk-execs-startup-resolve-005842891.html</a:t>
            </a:r>
            <a:r>
              <a:rPr lang="en" sz="900">
                <a:latin typeface="Calibri"/>
                <a:ea typeface="Calibri"/>
                <a:cs typeface="Calibri"/>
                <a:sym typeface="Calibri"/>
              </a:rPr>
              <a:t> </a:t>
            </a:r>
            <a:endParaRPr sz="900">
              <a:latin typeface="Calibri"/>
              <a:ea typeface="Calibri"/>
              <a:cs typeface="Calibri"/>
              <a:sym typeface="Calibri"/>
            </a:endParaRPr>
          </a:p>
        </p:txBody>
      </p:sp>
      <p:sp>
        <p:nvSpPr>
          <p:cNvPr id="267" name="Google Shape;267;p30"/>
          <p:cNvSpPr txBox="1"/>
          <p:nvPr/>
        </p:nvSpPr>
        <p:spPr>
          <a:xfrm>
            <a:off x="4525476" y="2815525"/>
            <a:ext cx="38589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ChatGPT evolves toward an app-platform</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ChatGPT has evolved from a standalone chatbot into a comprehensive app platform, positioning itself as a "conversational OS" where users access services through dialogue rather than traditional navigation</a:t>
            </a:r>
            <a:endParaRPr sz="1200">
              <a:latin typeface="Calibri"/>
              <a:ea typeface="Calibri"/>
              <a:cs typeface="Calibri"/>
              <a:sym typeface="Calibri"/>
            </a:endParaRPr>
          </a:p>
        </p:txBody>
      </p:sp>
      <p:sp>
        <p:nvSpPr>
          <p:cNvPr id="268" name="Google Shape;268;p30"/>
          <p:cNvSpPr txBox="1"/>
          <p:nvPr/>
        </p:nvSpPr>
        <p:spPr>
          <a:xfrm>
            <a:off x="94224" y="2148403"/>
            <a:ext cx="4413900" cy="260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b="1">
                <a:solidFill>
                  <a:srgbClr val="FF0000"/>
                </a:solidFill>
                <a:latin typeface="Calibri"/>
                <a:ea typeface="Calibri"/>
                <a:cs typeface="Calibri"/>
                <a:sym typeface="Calibri"/>
              </a:rPr>
              <a:t>PDFs as an AI "goldmine"</a:t>
            </a:r>
            <a:r>
              <a:rPr lang="en" sz="1200">
                <a:latin typeface="Calibri"/>
                <a:ea typeface="Calibri"/>
                <a:cs typeface="Calibri"/>
                <a:sym typeface="Calibri"/>
              </a:rPr>
              <a:t> - </a:t>
            </a:r>
            <a:r>
              <a:rPr lang="en" sz="1200" b="1">
                <a:solidFill>
                  <a:srgbClr val="3C78D8"/>
                </a:solidFill>
                <a:latin typeface="Calibri"/>
                <a:ea typeface="Calibri"/>
                <a:cs typeface="Calibri"/>
                <a:sym typeface="Calibri"/>
              </a:rPr>
              <a:t>Andrew Ng</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Biggest near‑term AI opportunity inside enterprises is unlocking the huge volume of “dark” unstructured data trapped in PDFs and other documents, then tying it to existing structured data to transform decision‑making and automation</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Enterprises sit on massive troves of PDF files (financial statements, healthcare forms, contracts, tables) that are currently hard to use at scale; Agentic document extraction systems can automatically extract and structure the information in these PDFs, creating many new use cases in finance, healthcare,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Advice: Focus on indispensable features first</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Advice: Own your data layer for flexibility</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Advice: Everyone should learn to code with AI help</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5"/>
              </a:rPr>
              <a:t>https://www.youtube.com/watch?v=JZCvx6rEJzc</a:t>
            </a:r>
            <a:r>
              <a:rPr lang="en" sz="1200">
                <a:latin typeface="Calibri"/>
                <a:ea typeface="Calibri"/>
                <a:cs typeface="Calibri"/>
                <a:sym typeface="Calibri"/>
              </a:rPr>
              <a:t> </a:t>
            </a:r>
            <a:endParaRPr sz="1200">
              <a:latin typeface="Calibri"/>
              <a:ea typeface="Calibri"/>
              <a:cs typeface="Calibri"/>
              <a:sym typeface="Calibri"/>
            </a:endParaRPr>
          </a:p>
        </p:txBody>
      </p:sp>
      <p:pic>
        <p:nvPicPr>
          <p:cNvPr id="269" name="Google Shape;269;p30"/>
          <p:cNvPicPr preferRelativeResize="0"/>
          <p:nvPr/>
        </p:nvPicPr>
        <p:blipFill rotWithShape="1">
          <a:blip r:embed="rId6" cstate="email">
            <a:alphaModFix/>
            <a:extLst>
              <a:ext uri="{28A0092B-C50C-407E-A947-70E740481C1C}">
                <a14:useLocalDpi xmlns:a14="http://schemas.microsoft.com/office/drawing/2010/main"/>
              </a:ext>
            </a:extLst>
          </a:blip>
          <a:srcRect/>
          <a:stretch/>
        </p:blipFill>
        <p:spPr>
          <a:xfrm>
            <a:off x="4756600" y="1534100"/>
            <a:ext cx="1790578" cy="5265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31"/>
          <p:cNvSpPr txBox="1"/>
          <p:nvPr/>
        </p:nvSpPr>
        <p:spPr>
          <a:xfrm>
            <a:off x="55075" y="20375"/>
            <a:ext cx="45348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Automated AI Influencers to Generate $$</a:t>
            </a:r>
            <a:endParaRPr sz="2000" b="1" i="0" u="none" strike="noStrike" cap="none">
              <a:solidFill>
                <a:schemeClr val="dk1"/>
              </a:solidFill>
              <a:latin typeface="Calibri"/>
              <a:ea typeface="Calibri"/>
              <a:cs typeface="Calibri"/>
              <a:sym typeface="Calibri"/>
            </a:endParaRPr>
          </a:p>
        </p:txBody>
      </p:sp>
      <p:sp>
        <p:nvSpPr>
          <p:cNvPr id="275" name="Google Shape;275;p31"/>
          <p:cNvSpPr txBox="1"/>
          <p:nvPr/>
        </p:nvSpPr>
        <p:spPr>
          <a:xfrm>
            <a:off x="112125" y="535775"/>
            <a:ext cx="4413900" cy="4082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Create Automated AI Influencers to Generate Income</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AI-generated influencers are already earning significant recurring income without real people appearing on camera</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Beginners can create digital models that work 24/7, never age, and monetize immediately</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AI influencers avoid burnout, production costs, and long delays before monetization, while audiences are increasingly comfortable knowing the influencer is artificial</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video explains a simple process: create a unique AI character, generate photos and videos through prompts, and position the creator as a “director” rather than on-screen talent</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Monetization is highlighted through a platform designed specifically for AI influencers, allowing anonymous creators to earn subscription revenue from day one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Important - provide real value in a clear niche. Distribute short-form content across major social platforms to drive subscribers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Revenue examples show how modest subscriber numbers can scale into substantial annual income, especially with higher pricing and multiple AI influencers across niches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Early adopters gain lasting advantages as tools improve, platforms grow, and niches become crowded.</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https://www.youtube.com/watch?v=ARRbBmXK7AA</a:t>
            </a:r>
            <a:r>
              <a:rPr lang="en" sz="1200">
                <a:latin typeface="Calibri"/>
                <a:ea typeface="Calibri"/>
                <a:cs typeface="Calibri"/>
                <a:sym typeface="Calibri"/>
              </a:rPr>
              <a:t> </a:t>
            </a:r>
            <a:endParaRPr sz="1200">
              <a:latin typeface="Calibri"/>
              <a:ea typeface="Calibri"/>
              <a:cs typeface="Calibri"/>
              <a:sym typeface="Calibri"/>
            </a:endParaRPr>
          </a:p>
        </p:txBody>
      </p:sp>
      <p:pic>
        <p:nvPicPr>
          <p:cNvPr id="276" name="Google Shape;276;p31"/>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679275" y="712700"/>
            <a:ext cx="2632574" cy="1589100"/>
          </a:xfrm>
          <a:prstGeom prst="rect">
            <a:avLst/>
          </a:prstGeom>
          <a:noFill/>
          <a:ln w="9525" cap="flat" cmpd="sng">
            <a:solidFill>
              <a:srgbClr val="FF0000"/>
            </a:solidFill>
            <a:prstDash val="solid"/>
            <a:round/>
            <a:headEnd type="none" w="sm" len="sm"/>
            <a:tailEnd type="none" w="sm" len="sm"/>
          </a:ln>
        </p:spPr>
      </p:pic>
      <p:sp>
        <p:nvSpPr>
          <p:cNvPr id="277" name="Google Shape;277;p31"/>
          <p:cNvSpPr txBox="1"/>
          <p:nvPr/>
        </p:nvSpPr>
        <p:spPr>
          <a:xfrm>
            <a:off x="4679275" y="2594725"/>
            <a:ext cx="4413900" cy="2419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Fully autonomous AI agents (workers) are now practical</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They can execute multi-step workflows on a schedule without human intervention</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Tools like Abacus AI Deep Agent allow anyone to create such agents using plain-English prompts at low cost</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Some tasks require human oversight while others can run fully independently</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These systems amplify human capability by automating routine work and freeing people to focus on strategy, creativity, and high-stakes decisions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Those who adopt and manage AI agents early will gain a major competitive advantage in the rapidly transforming future of work</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5"/>
              </a:rPr>
              <a:t>https://www.youtube.com/watch?v=azZtbrpl28s</a:t>
            </a:r>
            <a:r>
              <a:rPr lang="en" sz="1200">
                <a:latin typeface="Calibri"/>
                <a:ea typeface="Calibri"/>
                <a:cs typeface="Calibri"/>
                <a:sym typeface="Calibri"/>
              </a:rPr>
              <a:t> </a:t>
            </a:r>
            <a:endParaRPr sz="1200">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32"/>
          <p:cNvSpPr txBox="1"/>
          <p:nvPr/>
        </p:nvSpPr>
        <p:spPr>
          <a:xfrm>
            <a:off x="55075" y="20375"/>
            <a:ext cx="4034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X1: Humanoid + Drone</a:t>
            </a:r>
            <a:endParaRPr sz="2000" b="1" i="0" u="none" strike="noStrike" cap="none">
              <a:solidFill>
                <a:schemeClr val="dk1"/>
              </a:solidFill>
              <a:latin typeface="Calibri"/>
              <a:ea typeface="Calibri"/>
              <a:cs typeface="Calibri"/>
              <a:sym typeface="Calibri"/>
            </a:endParaRPr>
          </a:p>
        </p:txBody>
      </p:sp>
      <p:sp>
        <p:nvSpPr>
          <p:cNvPr id="283" name="Google Shape;283;p32"/>
          <p:cNvSpPr txBox="1"/>
          <p:nvPr/>
        </p:nvSpPr>
        <p:spPr>
          <a:xfrm>
            <a:off x="111575" y="369200"/>
            <a:ext cx="44139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X1: Humanoid + Drone</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world's first multi-robot team with a humanoid and a drone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https://www.earth.com/news/meet-x1-the-worlds-first-multi-robot-team-with-a-humanoid-and-a-drone/</a:t>
            </a:r>
            <a:r>
              <a:rPr lang="en" sz="1200">
                <a:latin typeface="Calibri"/>
                <a:ea typeface="Calibri"/>
                <a:cs typeface="Calibri"/>
                <a:sym typeface="Calibri"/>
              </a:rPr>
              <a:t> </a:t>
            </a:r>
            <a:endParaRPr sz="1200">
              <a:latin typeface="Calibri"/>
              <a:ea typeface="Calibri"/>
              <a:cs typeface="Calibri"/>
              <a:sym typeface="Calibri"/>
            </a:endParaRPr>
          </a:p>
        </p:txBody>
      </p:sp>
      <p:pic>
        <p:nvPicPr>
          <p:cNvPr id="284" name="Google Shape;284;p32"/>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850400" y="243800"/>
            <a:ext cx="3937376" cy="2803467"/>
          </a:xfrm>
          <a:prstGeom prst="rect">
            <a:avLst/>
          </a:prstGeom>
          <a:noFill/>
          <a:ln w="9525" cap="flat" cmpd="sng">
            <a:solidFill>
              <a:srgbClr val="FF0000"/>
            </a:solidFill>
            <a:prstDash val="solid"/>
            <a:round/>
            <a:headEnd type="none" w="sm" len="sm"/>
            <a:tailEnd type="none" w="sm" len="sm"/>
          </a:ln>
        </p:spPr>
      </p:pic>
      <p:pic>
        <p:nvPicPr>
          <p:cNvPr id="285" name="Google Shape;285;p32"/>
          <p:cNvPicPr preferRelativeResize="0"/>
          <p:nvPr/>
        </p:nvPicPr>
        <p:blipFill>
          <a:blip r:embed="rId5">
            <a:alphaModFix/>
          </a:blip>
          <a:stretch>
            <a:fillRect/>
          </a:stretch>
        </p:blipFill>
        <p:spPr>
          <a:xfrm>
            <a:off x="2190900" y="3132800"/>
            <a:ext cx="2466975" cy="18478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33"/>
          <p:cNvSpPr txBox="1"/>
          <p:nvPr/>
        </p:nvSpPr>
        <p:spPr>
          <a:xfrm>
            <a:off x="55075" y="20375"/>
            <a:ext cx="4034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Lean 4 - Math Proofs</a:t>
            </a:r>
            <a:endParaRPr sz="2000" b="1" i="0" u="none" strike="noStrike" cap="none">
              <a:solidFill>
                <a:schemeClr val="dk1"/>
              </a:solidFill>
              <a:latin typeface="Calibri"/>
              <a:ea typeface="Calibri"/>
              <a:cs typeface="Calibri"/>
              <a:sym typeface="Calibri"/>
            </a:endParaRPr>
          </a:p>
        </p:txBody>
      </p:sp>
      <p:sp>
        <p:nvSpPr>
          <p:cNvPr id="291" name="Google Shape;291;p33"/>
          <p:cNvSpPr txBox="1"/>
          <p:nvPr/>
        </p:nvSpPr>
        <p:spPr>
          <a:xfrm>
            <a:off x="111575" y="369200"/>
            <a:ext cx="5028600" cy="4420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AI can now generate machine-verified proofs in </a:t>
            </a:r>
            <a:r>
              <a:rPr lang="en" sz="1100" b="1">
                <a:solidFill>
                  <a:srgbClr val="FF0000"/>
                </a:solidFill>
                <a:latin typeface="Calibri"/>
                <a:ea typeface="Calibri"/>
                <a:cs typeface="Calibri"/>
                <a:sym typeface="Calibri"/>
              </a:rPr>
              <a:t>Lean 4</a:t>
            </a:r>
            <a:r>
              <a:rPr lang="en" sz="1100">
                <a:latin typeface="Calibri"/>
                <a:ea typeface="Calibri"/>
                <a:cs typeface="Calibri"/>
                <a:sym typeface="Calibri"/>
              </a:rPr>
              <a:t>, turning informal ideas into formally checked theorems in hours instead of months or years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Lean 4 is a modern programming language and interactive theorem  prover designed for writing machine-checkable mathematical proofs and formally verified code</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Mathematical statements and programs live in the same language, letting users express definitions, theorems, and proofs as executable code</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Lean 4 is open source, has its own package manager and ecosystem, and underpins the large Lean mathematical library (mathlib), which researchers and AI systems use to formalize advanced mathematics and verify software and hardware systems</a:t>
            </a:r>
            <a:endParaRPr sz="1100">
              <a:latin typeface="Calibri"/>
              <a:ea typeface="Calibri"/>
              <a:cs typeface="Calibri"/>
              <a:sym typeface="Calibri"/>
            </a:endParaRPr>
          </a:p>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Siraj Raval runs a 24-hour experiment with three AI models and three Erdős problems</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One known result is successfully formalized, a famous $1,000 graph-theory conjecture resists proof but gets a clean formal statement, and a nontrivial special case of an “impossible” additive number theory problem is fully proved in 285 lines of Lean code</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Throughout, the human acts as pilot while Lean is the strict judge: the AI repeatedly proposes proofs, receives compiler errors, and patches them until the file compiles with no “sorry” placeholders, meaning every step is fully justified</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The video closes by claiming the real shift is not that AI solves all open problems, but that it collapses the cost of attempting serious math, opening formal theorem proving to engineers and amateurs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u="sng">
                <a:solidFill>
                  <a:schemeClr val="hlink"/>
                </a:solidFill>
                <a:latin typeface="Calibri"/>
                <a:ea typeface="Calibri"/>
                <a:cs typeface="Calibri"/>
                <a:sym typeface="Calibri"/>
                <a:hlinkClick r:id="rId3"/>
              </a:rPr>
              <a:t>https://www.youtube.com/watch?v=Q7INj06TUv4</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u="sng">
                <a:solidFill>
                  <a:schemeClr val="hlink"/>
                </a:solidFill>
                <a:latin typeface="Calibri"/>
                <a:ea typeface="Calibri"/>
                <a:cs typeface="Calibri"/>
                <a:sym typeface="Calibri"/>
                <a:hlinkClick r:id="rId4"/>
              </a:rPr>
              <a:t>https://lean-lang.org</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u="sng">
                <a:solidFill>
                  <a:schemeClr val="hlink"/>
                </a:solidFill>
                <a:latin typeface="Calibri"/>
                <a:ea typeface="Calibri"/>
                <a:cs typeface="Calibri"/>
                <a:sym typeface="Calibri"/>
                <a:hlinkClick r:id="rId5"/>
              </a:rPr>
              <a:t>https://www.therundown.ai/p/ai-cracks-30-year-math-problem</a:t>
            </a:r>
            <a:r>
              <a:rPr lang="en" sz="1100">
                <a:latin typeface="Calibri"/>
                <a:ea typeface="Calibri"/>
                <a:cs typeface="Calibri"/>
                <a:sym typeface="Calibri"/>
              </a:rPr>
              <a:t> </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u="sng">
                <a:solidFill>
                  <a:schemeClr val="hlink"/>
                </a:solidFill>
                <a:latin typeface="Calibri"/>
                <a:ea typeface="Calibri"/>
                <a:cs typeface="Calibri"/>
                <a:sym typeface="Calibri"/>
                <a:hlinkClick r:id="rId6"/>
              </a:rPr>
              <a:t>https://huggingface.co/deepseek-ai/DeepSeek-Prover-V2-671B</a:t>
            </a:r>
            <a:r>
              <a:rPr lang="en" sz="1100">
                <a:latin typeface="Calibri"/>
                <a:ea typeface="Calibri"/>
                <a:cs typeface="Calibri"/>
                <a:sym typeface="Calibri"/>
              </a:rPr>
              <a:t> </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u="sng">
                <a:solidFill>
                  <a:schemeClr val="hlink"/>
                </a:solidFill>
                <a:latin typeface="Calibri"/>
                <a:ea typeface="Calibri"/>
                <a:cs typeface="Calibri"/>
                <a:sym typeface="Calibri"/>
                <a:hlinkClick r:id="rId7"/>
              </a:rPr>
              <a:t>https://www.nature.com/articles/d41586-025-03959-9</a:t>
            </a:r>
            <a:r>
              <a:rPr lang="en" sz="1100">
                <a:latin typeface="Calibri"/>
                <a:ea typeface="Calibri"/>
                <a:cs typeface="Calibri"/>
                <a:sym typeface="Calibri"/>
              </a:rPr>
              <a:t> </a:t>
            </a:r>
            <a:endParaRPr sz="1100">
              <a:latin typeface="Calibri"/>
              <a:ea typeface="Calibri"/>
              <a:cs typeface="Calibri"/>
              <a:sym typeface="Calibri"/>
            </a:endParaRPr>
          </a:p>
        </p:txBody>
      </p:sp>
      <p:pic>
        <p:nvPicPr>
          <p:cNvPr id="292" name="Google Shape;292;p33"/>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5642475" y="2714867"/>
            <a:ext cx="2457626" cy="1544250"/>
          </a:xfrm>
          <a:prstGeom prst="rect">
            <a:avLst/>
          </a:prstGeom>
          <a:noFill/>
          <a:ln w="9525" cap="flat" cmpd="sng">
            <a:solidFill>
              <a:srgbClr val="FF0000"/>
            </a:solidFill>
            <a:prstDash val="solid"/>
            <a:round/>
            <a:headEnd type="none" w="sm" len="sm"/>
            <a:tailEnd type="none" w="sm" len="sm"/>
          </a:ln>
        </p:spPr>
      </p:pic>
      <p:pic>
        <p:nvPicPr>
          <p:cNvPr id="293" name="Google Shape;293;p33"/>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5300513" y="878067"/>
            <a:ext cx="3141549" cy="160342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34"/>
          <p:cNvSpPr txBox="1"/>
          <p:nvPr/>
        </p:nvSpPr>
        <p:spPr>
          <a:xfrm>
            <a:off x="56825" y="0"/>
            <a:ext cx="51381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China is Building Its Own ASML Machines </a:t>
            </a:r>
            <a:endParaRPr sz="2000" b="1" i="0" u="none" strike="noStrike" cap="none">
              <a:solidFill>
                <a:schemeClr val="dk1"/>
              </a:solidFill>
              <a:latin typeface="Calibri"/>
              <a:ea typeface="Calibri"/>
              <a:cs typeface="Calibri"/>
              <a:sym typeface="Calibri"/>
            </a:endParaRPr>
          </a:p>
        </p:txBody>
      </p:sp>
      <p:sp>
        <p:nvSpPr>
          <p:cNvPr id="299" name="Google Shape;299;p34"/>
          <p:cNvSpPr txBox="1"/>
          <p:nvPr/>
        </p:nvSpPr>
        <p:spPr>
          <a:xfrm>
            <a:off x="111575" y="786241"/>
            <a:ext cx="5028600" cy="3574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Reuters reports that Chinese scientists have secretly built a huge prototype EUV lithography machine in a secure Shenzhen lab using ex-ASML engineers and salvaged ASML parts, years earlier than Western experts expected</a:t>
            </a:r>
            <a:br>
              <a:rPr lang="en" sz="1200">
                <a:latin typeface="Calibri"/>
                <a:ea typeface="Calibri"/>
                <a:cs typeface="Calibri"/>
                <a:sym typeface="Calibri"/>
              </a:rPr>
            </a:br>
            <a:r>
              <a:rPr lang="en" sz="1200">
                <a:latin typeface="Calibri"/>
                <a:ea typeface="Calibri"/>
                <a:cs typeface="Calibri"/>
                <a:sym typeface="Calibri"/>
              </a:rPr>
              <a:t>(ASML = Advanced Semiconductor Materials Lithography)</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Chinese machine can generate 13.5 nm EUV light </a:t>
            </a:r>
            <a:br>
              <a:rPr lang="en" sz="1200">
                <a:latin typeface="Calibri"/>
                <a:ea typeface="Calibri"/>
                <a:cs typeface="Calibri"/>
                <a:sym typeface="Calibri"/>
              </a:rPr>
            </a:br>
            <a:r>
              <a:rPr lang="en" sz="1200">
                <a:latin typeface="Calibri"/>
                <a:ea typeface="Calibri"/>
                <a:cs typeface="Calibri"/>
                <a:sym typeface="Calibri"/>
              </a:rPr>
              <a:t>but is not yet producing working chips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China is targeting chip production by 2028-2030, far ahead of prior forecasts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This project is treated as a “</a:t>
            </a:r>
            <a:r>
              <a:rPr lang="en" sz="1200" b="1">
                <a:solidFill>
                  <a:srgbClr val="FF0000"/>
                </a:solidFill>
                <a:latin typeface="Calibri"/>
                <a:ea typeface="Calibri"/>
                <a:cs typeface="Calibri"/>
                <a:sym typeface="Calibri"/>
              </a:rPr>
              <a:t>Chinese Manhattan Project,</a:t>
            </a:r>
            <a:r>
              <a:rPr lang="en" sz="1200">
                <a:latin typeface="Calibri"/>
                <a:ea typeface="Calibri"/>
                <a:cs typeface="Calibri"/>
                <a:sym typeface="Calibri"/>
              </a:rPr>
              <a:t>” run at the top levels of the CCP, aiming for full semiconductor and technological sovereignty so China can make cutting-edge AI chips without Western supply chains or export controls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If successful, </a:t>
            </a:r>
            <a:r>
              <a:rPr lang="en" sz="1200" b="1">
                <a:solidFill>
                  <a:srgbClr val="FF0000"/>
                </a:solidFill>
                <a:latin typeface="Calibri"/>
                <a:ea typeface="Calibri"/>
                <a:cs typeface="Calibri"/>
                <a:sym typeface="Calibri"/>
              </a:rPr>
              <a:t>it could erase the US compute advantage</a:t>
            </a:r>
            <a:r>
              <a:rPr lang="en" sz="1200">
                <a:latin typeface="Calibri"/>
                <a:ea typeface="Calibri"/>
                <a:cs typeface="Calibri"/>
                <a:sym typeface="Calibri"/>
              </a:rPr>
              <a:t> that underpins current AI and AGI strategy, compress timelines, intensify a US–China AI arms race, and weaken Western attempts to govern AI via hardware restrictions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EUV stands for “extreme ultraviolet” lithography, a chipmaking process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ASML is a Dutch semiconductor equipment company and the sole commercial producer of EUV lithography machines used in advanced chip manufacturing</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3"/>
              </a:rPr>
              <a:t>https://www.youtube.com/watch?v=axSGGYS4_Is</a:t>
            </a:r>
            <a:endParaRPr sz="9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4"/>
              </a:rPr>
              <a:t>https://www.reuters.com/world/china/how-china-built-its-manhattan-project-rival-west-ai-chips-2025-12-17/</a:t>
            </a:r>
            <a:r>
              <a:rPr lang="en" sz="900">
                <a:latin typeface="Calibri"/>
                <a:ea typeface="Calibri"/>
                <a:cs typeface="Calibri"/>
                <a:sym typeface="Calibri"/>
              </a:rPr>
              <a:t> </a:t>
            </a:r>
            <a:endParaRPr sz="900">
              <a:latin typeface="Calibri"/>
              <a:ea typeface="Calibri"/>
              <a:cs typeface="Calibri"/>
              <a:sym typeface="Calibri"/>
            </a:endParaRPr>
          </a:p>
        </p:txBody>
      </p:sp>
      <p:pic>
        <p:nvPicPr>
          <p:cNvPr id="300" name="Google Shape;300;p34"/>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5305225" y="895850"/>
            <a:ext cx="3699024" cy="2066591"/>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35"/>
          <p:cNvSpPr txBox="1"/>
          <p:nvPr/>
        </p:nvSpPr>
        <p:spPr>
          <a:xfrm>
            <a:off x="55075" y="20375"/>
            <a:ext cx="4034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Moonshots - Predictions 2026</a:t>
            </a:r>
            <a:endParaRPr sz="2000" b="1" i="0" u="none" strike="noStrike" cap="none">
              <a:solidFill>
                <a:schemeClr val="dk1"/>
              </a:solidFill>
              <a:latin typeface="Calibri"/>
              <a:ea typeface="Calibri"/>
              <a:cs typeface="Calibri"/>
              <a:sym typeface="Calibri"/>
            </a:endParaRPr>
          </a:p>
        </p:txBody>
      </p:sp>
      <p:sp>
        <p:nvSpPr>
          <p:cNvPr id="306" name="Google Shape;306;p35"/>
          <p:cNvSpPr txBox="1"/>
          <p:nvPr/>
        </p:nvSpPr>
        <p:spPr>
          <a:xfrm>
            <a:off x="111575" y="369200"/>
            <a:ext cx="4413900" cy="4451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Acceleration becomes obvious to everyone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AI becomes physical (robots, cars), AI everywhere (at work)</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t>
            </a:r>
            <a:r>
              <a:rPr lang="en" sz="1200">
                <a:solidFill>
                  <a:schemeClr val="dk1"/>
                </a:solidFill>
                <a:latin typeface="Calibri"/>
                <a:ea typeface="Calibri"/>
                <a:cs typeface="Calibri"/>
                <a:sym typeface="Calibri"/>
              </a:rPr>
              <a:t>When, not if", </a:t>
            </a:r>
            <a:r>
              <a:rPr lang="en" sz="1200">
                <a:latin typeface="Calibri"/>
                <a:ea typeface="Calibri"/>
                <a:cs typeface="Calibri"/>
                <a:sym typeface="Calibri"/>
              </a:rPr>
              <a:t>"singularity" as a process,   compounding</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Space "race" becomes visible again</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AI starts solving math challenges (</a:t>
            </a:r>
            <a:r>
              <a:rPr lang="en" sz="1200">
                <a:solidFill>
                  <a:schemeClr val="dk1"/>
                </a:solidFill>
                <a:latin typeface="Calibri"/>
                <a:ea typeface="Calibri"/>
                <a:cs typeface="Calibri"/>
                <a:sym typeface="Calibri"/>
              </a:rPr>
              <a:t>Millennium Prize problems)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Quantization + memory/compression - better faster models; more thinking iterations, bigger context, better post-training reasoning</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t>
            </a:r>
            <a:r>
              <a:rPr lang="en" sz="1200">
                <a:solidFill>
                  <a:schemeClr val="dk1"/>
                </a:solidFill>
                <a:latin typeface="Calibri"/>
                <a:ea typeface="Calibri"/>
                <a:cs typeface="Calibri"/>
                <a:sym typeface="Calibri"/>
              </a:rPr>
              <a:t>AI-native" replaces "Digital transformation"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solidFill>
                  <a:schemeClr val="dk1"/>
                </a:solidFill>
                <a:latin typeface="Calibri"/>
                <a:ea typeface="Calibri"/>
                <a:cs typeface="Calibri"/>
                <a:sym typeface="Calibri"/>
              </a:rPr>
              <a:t>From patching old system to building </a:t>
            </a:r>
            <a:r>
              <a:rPr lang="en" sz="1200">
                <a:latin typeface="Calibri"/>
                <a:ea typeface="Calibri"/>
                <a:cs typeface="Calibri"/>
                <a:sym typeface="Calibri"/>
              </a:rPr>
              <a:t>"AI-native clones on the edge"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Move humans "out of the bottleneck middle"; put them in "spot-checking / exception handling" roles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b="1">
                <a:solidFill>
                  <a:srgbClr val="FF0000"/>
                </a:solidFill>
                <a:latin typeface="Calibri"/>
                <a:ea typeface="Calibri"/>
                <a:cs typeface="Calibri"/>
                <a:sym typeface="Calibri"/>
              </a:rPr>
              <a:t>Expect 10x - 20x fewer employees for same output</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Consulting becomes more about "rebuilding institutions" and providing "cover/scapegoat + guidance" in high-volatility change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b="1">
                <a:solidFill>
                  <a:srgbClr val="FF0000"/>
                </a:solidFill>
                <a:latin typeface="Calibri"/>
                <a:ea typeface="Calibri"/>
                <a:cs typeface="Calibri"/>
                <a:sym typeface="Calibri"/>
              </a:rPr>
              <a:t>"Remote Turing Test" becomes normal on Zoom</a:t>
            </a:r>
            <a:r>
              <a:rPr lang="en" sz="1200">
                <a:latin typeface="Calibri"/>
                <a:ea typeface="Calibri"/>
                <a:cs typeface="Calibri"/>
                <a:sym typeface="Calibri"/>
              </a:rPr>
              <a:t> - you can’t tell whether a coworker is human or AI (1080p/4K-quality, real-time)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AI employees (accountants/lawyers/marketers) sold as “full stack” workers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Benchmarks saturate, knowledge work can be automated</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We can do more with less; multiple young billionaires - fast</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cycle from “breakthrough” to "$10B valuation" gets shorter</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Education: </a:t>
            </a:r>
            <a:r>
              <a:rPr lang="en" sz="1200">
                <a:solidFill>
                  <a:schemeClr val="dk1"/>
                </a:solidFill>
                <a:latin typeface="Calibri"/>
                <a:ea typeface="Calibri"/>
                <a:cs typeface="Calibri"/>
                <a:sym typeface="Calibri"/>
              </a:rPr>
              <a:t>training for fixed roles collapses. degrees/tests gets substituted by "</a:t>
            </a:r>
            <a:r>
              <a:rPr lang="en" sz="1200">
                <a:latin typeface="Calibri"/>
                <a:ea typeface="Calibri"/>
                <a:cs typeface="Calibri"/>
                <a:sym typeface="Calibri"/>
              </a:rPr>
              <a:t>portfolio of what you have built"; demonstrate initiative, speed, start stuff, don't wait for permission</a:t>
            </a:r>
            <a:endParaRPr sz="1200">
              <a:latin typeface="Calibri"/>
              <a:ea typeface="Calibri"/>
              <a:cs typeface="Calibri"/>
              <a:sym typeface="Calibri"/>
            </a:endParaRPr>
          </a:p>
        </p:txBody>
      </p:sp>
      <p:sp>
        <p:nvSpPr>
          <p:cNvPr id="307" name="Google Shape;307;p35"/>
          <p:cNvSpPr txBox="1"/>
          <p:nvPr/>
        </p:nvSpPr>
        <p:spPr>
          <a:xfrm>
            <a:off x="4649100" y="2047100"/>
            <a:ext cx="4413900" cy="2973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Autonomous cars, robots; Capability may arrive before mass availability due to supply chain + cost + liability constraints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Prices will go down, some countries/zones will move faster</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Human trials begin for partial epigenetic reprogramming (fixing genetics for eye disease,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Assume it’s coming; build plans now.</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world rewards people who build, ship, adapt, and learn fast - especially as credentials lose value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Expect "humans in the loop" to move to exception-handling; Design workflows so humans aren’t the throughput bottleneck</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Speed is leverage; speed compounds; windows of opportunity shrink</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We normalize miracles fast. Even dramatic breakthroughs will feel "normal" surprisingly quickly—so keep raising your ambition level</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https://www.youtube.com/watch?v=NHAzpG95ptI</a:t>
            </a:r>
            <a:r>
              <a:rPr lang="en" sz="1200">
                <a:latin typeface="Calibri"/>
                <a:ea typeface="Calibri"/>
                <a:cs typeface="Calibri"/>
                <a:sym typeface="Calibri"/>
              </a:rPr>
              <a:t> </a:t>
            </a:r>
            <a:endParaRPr sz="1200">
              <a:latin typeface="Calibri"/>
              <a:ea typeface="Calibri"/>
              <a:cs typeface="Calibri"/>
              <a:sym typeface="Calibri"/>
            </a:endParaRPr>
          </a:p>
        </p:txBody>
      </p:sp>
      <p:pic>
        <p:nvPicPr>
          <p:cNvPr id="308" name="Google Shape;308;p35"/>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677875" y="152400"/>
            <a:ext cx="3178809" cy="17423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36"/>
          <p:cNvSpPr txBox="1"/>
          <p:nvPr/>
        </p:nvSpPr>
        <p:spPr>
          <a:xfrm>
            <a:off x="55075" y="20375"/>
            <a:ext cx="44439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Moonshots - Surviving</a:t>
            </a:r>
            <a:endParaRPr sz="2000" b="1" i="0" u="none" strike="noStrike" cap="none">
              <a:solidFill>
                <a:schemeClr val="dk1"/>
              </a:solidFill>
              <a:latin typeface="Calibri"/>
              <a:ea typeface="Calibri"/>
              <a:cs typeface="Calibri"/>
              <a:sym typeface="Calibri"/>
            </a:endParaRPr>
          </a:p>
        </p:txBody>
      </p:sp>
      <p:sp>
        <p:nvSpPr>
          <p:cNvPr id="314" name="Google Shape;314;p36"/>
          <p:cNvSpPr txBox="1"/>
          <p:nvPr/>
        </p:nvSpPr>
        <p:spPr>
          <a:xfrm>
            <a:off x="111575" y="735690"/>
            <a:ext cx="50067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Enterprises must become AI-driven by 2026 or risk major disruption</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Especially in knowledge-heavy sectors like media, legal services, BPO (Business Process Outsourcing), and customer support</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Most firms should start with clean, focused data for 2–3 high-value use cases, run real pilots (often with external partners), and measure outcomes on concrete operational KPIs instead of broad AI “science projects”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Thousands of narrow, task-specific benchmarks, human-in-the-loop systems, and multi-agent architectures tailored to each company’s workflows, while predicting big gains from multimodal models, RL “gyms,” and AI-native startups that can redesign entire business functions from scratch</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https://www.youtube.com/watch?v=7GFKB0oKd9A</a:t>
            </a:r>
            <a:r>
              <a:rPr lang="en" sz="1200">
                <a:latin typeface="Calibri"/>
                <a:ea typeface="Calibri"/>
                <a:cs typeface="Calibri"/>
                <a:sym typeface="Calibri"/>
              </a:rPr>
              <a:t> </a:t>
            </a:r>
            <a:endParaRPr sz="1200">
              <a:latin typeface="Calibri"/>
              <a:ea typeface="Calibri"/>
              <a:cs typeface="Calibri"/>
              <a:sym typeface="Calibri"/>
            </a:endParaRPr>
          </a:p>
        </p:txBody>
      </p:sp>
      <p:pic>
        <p:nvPicPr>
          <p:cNvPr id="315" name="Google Shape;315;p36"/>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389375" y="864478"/>
            <a:ext cx="3275426" cy="1792626"/>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37"/>
          <p:cNvSpPr txBox="1"/>
          <p:nvPr/>
        </p:nvSpPr>
        <p:spPr>
          <a:xfrm>
            <a:off x="55075" y="20375"/>
            <a:ext cx="2420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Google T5Gemma 2</a:t>
            </a:r>
            <a:endParaRPr sz="2000" b="1" i="0" u="none" strike="noStrike" cap="none">
              <a:solidFill>
                <a:schemeClr val="dk1"/>
              </a:solidFill>
              <a:latin typeface="Calibri"/>
              <a:ea typeface="Calibri"/>
              <a:cs typeface="Calibri"/>
              <a:sym typeface="Calibri"/>
            </a:endParaRPr>
          </a:p>
        </p:txBody>
      </p:sp>
      <p:sp>
        <p:nvSpPr>
          <p:cNvPr id="321" name="Google Shape;321;p37"/>
          <p:cNvSpPr txBox="1"/>
          <p:nvPr/>
        </p:nvSpPr>
        <p:spPr>
          <a:xfrm>
            <a:off x="111575" y="499100"/>
            <a:ext cx="5221500" cy="4266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b="1">
                <a:solidFill>
                  <a:srgbClr val="FF0000"/>
                </a:solidFill>
                <a:latin typeface="Calibri"/>
                <a:ea typeface="Calibri"/>
                <a:cs typeface="Calibri"/>
                <a:sym typeface="Calibri"/>
              </a:rPr>
              <a:t>Google T5Gemma 2</a:t>
            </a:r>
            <a:r>
              <a:rPr lang="en" sz="1200">
                <a:latin typeface="Calibri"/>
                <a:ea typeface="Calibri"/>
                <a:cs typeface="Calibri"/>
                <a:sym typeface="Calibri"/>
              </a:rPr>
              <a:t> - a new family of open </a:t>
            </a:r>
            <a:r>
              <a:rPr lang="en" sz="1200" b="1">
                <a:solidFill>
                  <a:srgbClr val="FF0000"/>
                </a:solidFill>
                <a:latin typeface="Calibri"/>
                <a:ea typeface="Calibri"/>
                <a:cs typeface="Calibri"/>
                <a:sym typeface="Calibri"/>
              </a:rPr>
              <a:t>multimodal encoder–decoder</a:t>
            </a:r>
            <a:r>
              <a:rPr lang="en" sz="1200">
                <a:latin typeface="Calibri"/>
                <a:ea typeface="Calibri"/>
                <a:cs typeface="Calibri"/>
                <a:sym typeface="Calibri"/>
              </a:rPr>
              <a:t> models adapted from Gemma 3, designed to fully read and process inputs - text and images - before generating answers, prioritizing accurate understanding of long, complex documents over chatty responsiveness</a:t>
            </a:r>
            <a:endParaRPr sz="1200">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T5 = Text-to-Text Transfer Transformer</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models use an encoder to build a structured internal representation of inputs (including SigLIP-based image tokens) and a decoder that generates text from this representation, making them well-suited for internal search, document analysis, legal files, specs, and other high-stakes long-context workloads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T5 Gemma 2 inherits Gemma 3’s strengths - multimodality, up to 128K-token context, and support for 140+ languages - and comes in three matched encoder–decoder sizes (≈370M, 1.7B, and 7B parameters excluding vision), with shared embeddings, merged attention, and a frozen vision encoder for efficiency and stability</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T5Gemma 2 can be used for downstream fine-tuning where the cost of misunderstanding long inputs is higher than the cost of slightly slower responses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T5Gemma 2 shines at tasks that need deep understanding + generation</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(e.g., translation, summarization, complex reasoning). Also when dealing with multimodal input (text + images) and very long context processing</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Compared to Gemma 3 (decoder-only), T5Gemma 2 generally outperforms same-size Gemma 3 models on many benchmarks across reasoning, multilingual tasks, and multimodal tasks. But Gemma 3 might still be more efficient for pure autoregressive generation tasks or lightweight text generation</a:t>
            </a:r>
            <a:endParaRPr sz="1200">
              <a:latin typeface="Calibri"/>
              <a:ea typeface="Calibri"/>
              <a:cs typeface="Calibri"/>
              <a:sym typeface="Calibri"/>
            </a:endParaRPr>
          </a:p>
        </p:txBody>
      </p:sp>
      <p:pic>
        <p:nvPicPr>
          <p:cNvPr id="322" name="Google Shape;322;p37"/>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5535750" y="499100"/>
            <a:ext cx="3219575" cy="1157450"/>
          </a:xfrm>
          <a:prstGeom prst="rect">
            <a:avLst/>
          </a:prstGeom>
          <a:noFill/>
          <a:ln w="9525" cap="flat" cmpd="sng">
            <a:solidFill>
              <a:srgbClr val="FF0000"/>
            </a:solidFill>
            <a:prstDash val="solid"/>
            <a:round/>
            <a:headEnd type="none" w="sm" len="sm"/>
            <a:tailEnd type="none" w="sm" len="sm"/>
          </a:ln>
        </p:spPr>
      </p:pic>
      <p:sp>
        <p:nvSpPr>
          <p:cNvPr id="323" name="Google Shape;323;p37"/>
          <p:cNvSpPr txBox="1"/>
          <p:nvPr/>
        </p:nvSpPr>
        <p:spPr>
          <a:xfrm>
            <a:off x="5414250" y="2878100"/>
            <a:ext cx="36528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Google Gemini Enterprise</a:t>
            </a:r>
            <a:r>
              <a:rPr lang="en" sz="1200">
                <a:solidFill>
                  <a:schemeClr val="dk1"/>
                </a:solidFill>
                <a:latin typeface="Calibri"/>
                <a:ea typeface="Calibri"/>
                <a:cs typeface="Calibri"/>
                <a:sym typeface="Calibri"/>
              </a:rPr>
              <a:t> - Intranet search, AI assistant, and agentic platform</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Google Gemini Enterprise Unified Search</a:t>
            </a:r>
            <a:r>
              <a:rPr lang="en" sz="1200">
                <a:latin typeface="Calibri"/>
                <a:ea typeface="Calibri"/>
                <a:cs typeface="Calibri"/>
                <a:sym typeface="Calibri"/>
              </a:rPr>
              <a:t> - natural language searching across all Google Workspace apps simultaneously - Gmail, Drive, Docs, Sheets, Calendar, Meet, and Chat - through a single query</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4"/>
              </a:rPr>
              <a:t>https://cloud.google.com/gemini-enterprise</a:t>
            </a:r>
            <a:r>
              <a:rPr lang="en" sz="1200">
                <a:latin typeface="Calibri"/>
                <a:ea typeface="Calibri"/>
                <a:cs typeface="Calibri"/>
                <a:sym typeface="Calibri"/>
              </a:rPr>
              <a:t> </a:t>
            </a:r>
            <a:endParaRPr sz="1200">
              <a:latin typeface="Calibri"/>
              <a:ea typeface="Calibri"/>
              <a:cs typeface="Calibri"/>
              <a:sym typeface="Calibri"/>
            </a:endParaRPr>
          </a:p>
        </p:txBody>
      </p:sp>
      <p:sp>
        <p:nvSpPr>
          <p:cNvPr id="324" name="Google Shape;324;p37"/>
          <p:cNvSpPr txBox="1"/>
          <p:nvPr/>
        </p:nvSpPr>
        <p:spPr>
          <a:xfrm>
            <a:off x="5414125" y="2498337"/>
            <a:ext cx="36528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Google Gemini Enterprise</a:t>
            </a:r>
            <a:endParaRPr sz="2000" b="1" i="0" u="none" strike="noStrike" cap="non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38"/>
          <p:cNvSpPr txBox="1"/>
          <p:nvPr/>
        </p:nvSpPr>
        <p:spPr>
          <a:xfrm>
            <a:off x="55075" y="20375"/>
            <a:ext cx="44439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Mistral OCR 3</a:t>
            </a:r>
            <a:endParaRPr sz="2000" b="1" i="0" u="none" strike="noStrike" cap="none">
              <a:solidFill>
                <a:schemeClr val="dk1"/>
              </a:solidFill>
              <a:latin typeface="Calibri"/>
              <a:ea typeface="Calibri"/>
              <a:cs typeface="Calibri"/>
              <a:sym typeface="Calibri"/>
            </a:endParaRPr>
          </a:p>
        </p:txBody>
      </p:sp>
      <p:sp>
        <p:nvSpPr>
          <p:cNvPr id="330" name="Google Shape;330;p38"/>
          <p:cNvSpPr txBox="1"/>
          <p:nvPr/>
        </p:nvSpPr>
        <p:spPr>
          <a:xfrm>
            <a:off x="111575" y="520851"/>
            <a:ext cx="4387500" cy="3528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Mistral AI released Mistral OCR 3, an OCR and document AI system aimed at messy, real-world documents—PDFs, scans, forms, invoices, handwritten notes, and complex tables—so AI systems can reliably consume them at scale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On internal tests with real business documents, OCR 3 beats the previous version about 74% of the time, particularly on noisy forms and tables, which translates into fewer silent extraction errors in downstream workflows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model preserves layout and structure—keeping tables as tables and returning structured outputs instead of raw text—which is crucial for search, analytics, and agents that depend on clean schemas rather than flattened strings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OCR 3 is accessible both via a document AI playground (uploading files interactively) and a production API that handles PDFs, Word, PowerPoint, and images through the same pipeline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Pricing is aggressive: about $2 per 1,000 pages for standard API use and $1 per 1,000 pages for batch processing, a steep cut versus many incumbents and enough to make large-scale document processing economically feasible for more teams</a:t>
            </a:r>
            <a:endParaRPr sz="1200">
              <a:latin typeface="Calibri"/>
              <a:ea typeface="Calibri"/>
              <a:cs typeface="Calibri"/>
              <a:sym typeface="Calibri"/>
            </a:endParaRPr>
          </a:p>
        </p:txBody>
      </p:sp>
      <p:pic>
        <p:nvPicPr>
          <p:cNvPr id="331" name="Google Shape;331;p38"/>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4766025" y="1594850"/>
            <a:ext cx="3860026" cy="6289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39"/>
          <p:cNvSpPr txBox="1"/>
          <p:nvPr/>
        </p:nvSpPr>
        <p:spPr>
          <a:xfrm>
            <a:off x="55075" y="20375"/>
            <a:ext cx="44439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Visibility vs Standard Google SEO</a:t>
            </a:r>
            <a:endParaRPr sz="2000" b="1" i="0" u="none" strike="noStrike" cap="none">
              <a:solidFill>
                <a:schemeClr val="dk1"/>
              </a:solidFill>
              <a:latin typeface="Calibri"/>
              <a:ea typeface="Calibri"/>
              <a:cs typeface="Calibri"/>
              <a:sym typeface="Calibri"/>
            </a:endParaRPr>
          </a:p>
        </p:txBody>
      </p:sp>
      <p:sp>
        <p:nvSpPr>
          <p:cNvPr id="337" name="Google Shape;337;p39"/>
          <p:cNvSpPr txBox="1"/>
          <p:nvPr/>
        </p:nvSpPr>
        <p:spPr>
          <a:xfrm>
            <a:off x="111575" y="369200"/>
            <a:ext cx="5006700" cy="4266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How to Rank #1 with Perplexity Parasite AI SEO!</a:t>
            </a:r>
            <a:br>
              <a:rPr lang="en" sz="1200">
                <a:latin typeface="Calibri"/>
                <a:ea typeface="Calibri"/>
                <a:cs typeface="Calibri"/>
                <a:sym typeface="Calibri"/>
              </a:rPr>
            </a:br>
            <a:r>
              <a:rPr lang="en" sz="1200">
                <a:latin typeface="Calibri"/>
                <a:ea typeface="Calibri"/>
                <a:cs typeface="Calibri"/>
                <a:sym typeface="Calibri"/>
              </a:rPr>
              <a:t>(SEO = Search Engine Optimization)</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From traditional Google SEO to AI-driven search, focusing on Perplexity as a new “answer engine.”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Instead of ranking blue links, success in AI search comes from being cited directly in AI-generated answers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Click-through traffic may drop, but citations build authority, brand visibility, and trust. </a:t>
            </a:r>
            <a:r>
              <a:rPr lang="en" sz="1200" b="1">
                <a:solidFill>
                  <a:srgbClr val="FF0000"/>
                </a:solidFill>
                <a:latin typeface="Calibri"/>
                <a:ea typeface="Calibri"/>
                <a:cs typeface="Calibri"/>
                <a:sym typeface="Calibri"/>
              </a:rPr>
              <a:t>The key metric is no longer rankings, but whether AI systems cite your content.</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"Parasite SEO" for AI visibility: leveraging high-authority platforms like Medium, LinkedIn, Quora, and forums to get cited quickly, often within days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process involves researching conversational, question-based queries directly inside Perplexity, then creating clear, structured, factual content optimized for AI answers rather than keyword-heavy blog posts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Content should answer questions immediately, use short paragraphs, clear headers, and concrete examples.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Freshness is critical: AI prioritizes recent, updated content, so regular updates are essential</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Testing prompts in Perplexity helps preview and refine content</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Backlinks matter less than clarity, structure, credibility, and cited sources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Overall, the strategy emphasizes fast authority building through AI citations rather than slow, traditional SEO rankings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https://www.youtube.com/watch?v=fjwu45wqgx0</a:t>
            </a:r>
            <a:r>
              <a:rPr lang="en" sz="1200">
                <a:latin typeface="Calibri"/>
                <a:ea typeface="Calibri"/>
                <a:cs typeface="Calibri"/>
                <a:sym typeface="Calibri"/>
              </a:rPr>
              <a:t> </a:t>
            </a:r>
            <a:endParaRPr sz="1200">
              <a:latin typeface="Calibri"/>
              <a:ea typeface="Calibri"/>
              <a:cs typeface="Calibri"/>
              <a:sym typeface="Calibri"/>
            </a:endParaRPr>
          </a:p>
        </p:txBody>
      </p:sp>
      <p:pic>
        <p:nvPicPr>
          <p:cNvPr id="338" name="Google Shape;338;p39"/>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627250" y="1395050"/>
            <a:ext cx="2602401" cy="2030349"/>
          </a:xfrm>
          <a:prstGeom prst="rect">
            <a:avLst/>
          </a:prstGeom>
          <a:noFill/>
          <a:ln w="9525" cap="flat" cmpd="sng">
            <a:solidFill>
              <a:srgbClr val="FF0000"/>
            </a:solidFill>
            <a:prstDash val="solid"/>
            <a:round/>
            <a:headEnd type="none" w="sm" len="sm"/>
            <a:tailEnd type="none" w="sm" len="sm"/>
          </a:ln>
        </p:spPr>
      </p:pic>
      <p:pic>
        <p:nvPicPr>
          <p:cNvPr id="339" name="Google Shape;339;p39"/>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5271150" y="247651"/>
            <a:ext cx="3585924" cy="7032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40"/>
          <p:cNvSpPr txBox="1"/>
          <p:nvPr/>
        </p:nvSpPr>
        <p:spPr>
          <a:xfrm>
            <a:off x="55075" y="20375"/>
            <a:ext cx="44439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Nvidia Nitrogen for game playing</a:t>
            </a:r>
            <a:endParaRPr sz="2000" b="1" i="0" u="none" strike="noStrike" cap="none">
              <a:solidFill>
                <a:schemeClr val="dk1"/>
              </a:solidFill>
              <a:latin typeface="Calibri"/>
              <a:ea typeface="Calibri"/>
              <a:cs typeface="Calibri"/>
              <a:sym typeface="Calibri"/>
            </a:endParaRPr>
          </a:p>
        </p:txBody>
      </p:sp>
      <p:sp>
        <p:nvSpPr>
          <p:cNvPr id="345" name="Google Shape;345;p40"/>
          <p:cNvSpPr txBox="1"/>
          <p:nvPr/>
        </p:nvSpPr>
        <p:spPr>
          <a:xfrm>
            <a:off x="162150" y="509350"/>
            <a:ext cx="4387500" cy="3897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Nvidia Nitrogen open AI model for game playing</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Nitrogen can be dropped into entirely unseen video games and still play them competently, demonstrating true generalization</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Nitrogen is built on three core components.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First, a universal simulator allows any commercial game to behave like a research environment, with the agent seeing only raw pixels and sending standard controller inputs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Second, a multi-game foundation agent acts as the “brain,” using vision-only inputs and generating smooth, human-like sequences of actions rather than single button presses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Third, an internet-scale video action dataset trains the model using tens of thousands of hours of YouTube and Twitch gameplay videos with controller overlays, turning passive video into labeled action data</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Pretrained once on around 1,000 games, Nitrogen achieves 40–60% zero-shot success on new games without reinforcement learning or fine-tuning, performing especially well in 3D environments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This represents a shift from handcrafted, game-specific training toward GPT-style pretraining for actions, with major implications for robotics, autonomous systems, and real-world embodied AI</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https://www.youtube.com/watch?v=c9ov2HeuLQ8</a:t>
            </a:r>
            <a:r>
              <a:rPr lang="en" sz="1200">
                <a:latin typeface="Calibri"/>
                <a:ea typeface="Calibri"/>
                <a:cs typeface="Calibri"/>
                <a:sym typeface="Calibri"/>
              </a:rPr>
              <a:t> </a:t>
            </a:r>
            <a:endParaRPr sz="1200">
              <a:latin typeface="Calibri"/>
              <a:ea typeface="Calibri"/>
              <a:cs typeface="Calibri"/>
              <a:sym typeface="Calibri"/>
            </a:endParaRPr>
          </a:p>
        </p:txBody>
      </p:sp>
      <p:pic>
        <p:nvPicPr>
          <p:cNvPr id="346" name="Google Shape;346;p40"/>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919300" y="509350"/>
            <a:ext cx="3347050" cy="133882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41"/>
          <p:cNvSpPr txBox="1"/>
          <p:nvPr/>
        </p:nvSpPr>
        <p:spPr>
          <a:xfrm>
            <a:off x="55075" y="20375"/>
            <a:ext cx="2240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Misc AI Updates</a:t>
            </a:r>
            <a:endParaRPr sz="2000" b="1" i="0" u="none" strike="noStrike" cap="none">
              <a:solidFill>
                <a:schemeClr val="dk1"/>
              </a:solidFill>
              <a:latin typeface="Calibri"/>
              <a:ea typeface="Calibri"/>
              <a:cs typeface="Calibri"/>
              <a:sym typeface="Calibri"/>
            </a:endParaRPr>
          </a:p>
        </p:txBody>
      </p:sp>
      <p:sp>
        <p:nvSpPr>
          <p:cNvPr id="352" name="Google Shape;352;p41"/>
          <p:cNvSpPr txBox="1"/>
          <p:nvPr/>
        </p:nvSpPr>
        <p:spPr>
          <a:xfrm>
            <a:off x="111575" y="369200"/>
            <a:ext cx="4387500" cy="3343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b="1">
                <a:solidFill>
                  <a:srgbClr val="FF0000"/>
                </a:solidFill>
                <a:latin typeface="Calibri"/>
                <a:ea typeface="Calibri"/>
                <a:cs typeface="Calibri"/>
                <a:sym typeface="Calibri"/>
              </a:rPr>
              <a:t>Tencent HY World 1.5 (WorldPlay)</a:t>
            </a:r>
            <a:br>
              <a:rPr lang="en" sz="1200">
                <a:latin typeface="Calibri"/>
                <a:ea typeface="Calibri"/>
                <a:cs typeface="Calibri"/>
                <a:sym typeface="Calibri"/>
              </a:rPr>
            </a:br>
            <a:r>
              <a:rPr lang="en" sz="1200" u="sng">
                <a:solidFill>
                  <a:schemeClr val="hlink"/>
                </a:solidFill>
                <a:latin typeface="Calibri"/>
                <a:ea typeface="Calibri"/>
                <a:cs typeface="Calibri"/>
                <a:sym typeface="Calibri"/>
                <a:hlinkClick r:id="rId3"/>
              </a:rPr>
              <a:t>https://x.com/DylanTFWang/status/2000943329928945985</a:t>
            </a:r>
            <a:r>
              <a:rPr lang="en" sz="1200">
                <a:latin typeface="Calibri"/>
                <a:ea typeface="Calibri"/>
                <a:cs typeface="Calibri"/>
                <a:sym typeface="Calibri"/>
              </a:rPr>
              <a:t> </a:t>
            </a:r>
            <a:br>
              <a:rPr lang="en" sz="1200">
                <a:latin typeface="Calibri"/>
                <a:ea typeface="Calibri"/>
                <a:cs typeface="Calibri"/>
                <a:sym typeface="Calibri"/>
              </a:rPr>
            </a:b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b="1">
                <a:solidFill>
                  <a:srgbClr val="FF0000"/>
                </a:solidFill>
                <a:latin typeface="Calibri"/>
                <a:ea typeface="Calibri"/>
                <a:cs typeface="Calibri"/>
                <a:sym typeface="Calibri"/>
              </a:rPr>
              <a:t>3D generation (Hunyuan 3D 3.0, Microsoft Trellis 2)</a:t>
            </a:r>
            <a:br>
              <a:rPr lang="en" sz="1200">
                <a:latin typeface="Calibri"/>
                <a:ea typeface="Calibri"/>
                <a:cs typeface="Calibri"/>
                <a:sym typeface="Calibri"/>
              </a:rPr>
            </a:br>
            <a:r>
              <a:rPr lang="en" sz="1200" u="sng">
                <a:solidFill>
                  <a:schemeClr val="hlink"/>
                </a:solidFill>
                <a:latin typeface="Calibri"/>
                <a:ea typeface="Calibri"/>
                <a:cs typeface="Calibri"/>
                <a:sym typeface="Calibri"/>
                <a:hlinkClick r:id="rId4"/>
              </a:rPr>
              <a:t>https://x.com/fal/status/2001090597092831325</a:t>
            </a:r>
            <a:r>
              <a:rPr lang="en" sz="1200">
                <a:latin typeface="Calibri"/>
                <a:ea typeface="Calibri"/>
                <a:cs typeface="Calibri"/>
                <a:sym typeface="Calibri"/>
              </a:rPr>
              <a:t> </a:t>
            </a:r>
            <a:br>
              <a:rPr lang="en" sz="1200">
                <a:latin typeface="Calibri"/>
                <a:ea typeface="Calibri"/>
                <a:cs typeface="Calibri"/>
                <a:sym typeface="Calibri"/>
              </a:rPr>
            </a:br>
            <a:r>
              <a:rPr lang="en" sz="1200" u="sng">
                <a:solidFill>
                  <a:schemeClr val="hlink"/>
                </a:solidFill>
                <a:latin typeface="Calibri"/>
                <a:ea typeface="Calibri"/>
                <a:cs typeface="Calibri"/>
                <a:sym typeface="Calibri"/>
                <a:hlinkClick r:id="rId5"/>
              </a:rPr>
              <a:t>https://x.com/_akhaliq/status/2001041559366598799</a:t>
            </a:r>
            <a:r>
              <a:rPr lang="en" sz="1200">
                <a:latin typeface="Calibri"/>
                <a:ea typeface="Calibri"/>
                <a:cs typeface="Calibri"/>
                <a:sym typeface="Calibri"/>
              </a:rPr>
              <a:t> </a:t>
            </a:r>
            <a:br>
              <a:rPr lang="en" sz="1200">
                <a:latin typeface="Calibri"/>
                <a:ea typeface="Calibri"/>
                <a:cs typeface="Calibri"/>
                <a:sym typeface="Calibri"/>
              </a:rPr>
            </a:b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b="1">
                <a:solidFill>
                  <a:srgbClr val="FF0000"/>
                </a:solidFill>
                <a:latin typeface="Calibri"/>
                <a:ea typeface="Calibri"/>
                <a:cs typeface="Calibri"/>
                <a:sym typeface="Calibri"/>
              </a:rPr>
              <a:t>Multiple AI video upgrades (Runway Gen 4.5 with audio, Alibaba WAN 2.6, Luma Ray 3 Modify)</a:t>
            </a:r>
            <a:br>
              <a:rPr lang="en" sz="1200">
                <a:latin typeface="Calibri"/>
                <a:ea typeface="Calibri"/>
                <a:cs typeface="Calibri"/>
                <a:sym typeface="Calibri"/>
              </a:rPr>
            </a:br>
            <a:r>
              <a:rPr lang="en" sz="1200" u="sng">
                <a:solidFill>
                  <a:schemeClr val="hlink"/>
                </a:solidFill>
                <a:latin typeface="Calibri"/>
                <a:ea typeface="Calibri"/>
                <a:cs typeface="Calibri"/>
                <a:sym typeface="Calibri"/>
                <a:hlinkClick r:id="rId6"/>
              </a:rPr>
              <a:t>https://x.com/runwayml/status/1999481621326729530</a:t>
            </a:r>
            <a:r>
              <a:rPr lang="en" sz="1200">
                <a:latin typeface="Calibri"/>
                <a:ea typeface="Calibri"/>
                <a:cs typeface="Calibri"/>
                <a:sym typeface="Calibri"/>
              </a:rPr>
              <a:t> </a:t>
            </a:r>
            <a:br>
              <a:rPr lang="en" sz="1200">
                <a:latin typeface="Calibri"/>
                <a:ea typeface="Calibri"/>
                <a:cs typeface="Calibri"/>
                <a:sym typeface="Calibri"/>
              </a:rPr>
            </a:br>
            <a:r>
              <a:rPr lang="en" sz="1200" u="sng">
                <a:solidFill>
                  <a:schemeClr val="hlink"/>
                </a:solidFill>
                <a:latin typeface="Calibri"/>
                <a:ea typeface="Calibri"/>
                <a:cs typeface="Calibri"/>
                <a:sym typeface="Calibri"/>
                <a:hlinkClick r:id="rId7"/>
              </a:rPr>
              <a:t>https://x.com/Alibaba_Wan/status/2000930078037827972</a:t>
            </a:r>
            <a:r>
              <a:rPr lang="en" sz="1200">
                <a:latin typeface="Calibri"/>
                <a:ea typeface="Calibri"/>
                <a:cs typeface="Calibri"/>
                <a:sym typeface="Calibri"/>
              </a:rPr>
              <a:t> </a:t>
            </a:r>
            <a:br>
              <a:rPr lang="en" sz="1200">
                <a:latin typeface="Calibri"/>
                <a:ea typeface="Calibri"/>
                <a:cs typeface="Calibri"/>
                <a:sym typeface="Calibri"/>
              </a:rPr>
            </a:br>
            <a:r>
              <a:rPr lang="en" sz="1200" u="sng">
                <a:solidFill>
                  <a:schemeClr val="hlink"/>
                </a:solidFill>
                <a:latin typeface="Calibri"/>
                <a:ea typeface="Calibri"/>
                <a:cs typeface="Calibri"/>
                <a:sym typeface="Calibri"/>
                <a:hlinkClick r:id="rId8"/>
              </a:rPr>
              <a:t>https://x.com/testingcatalog/status/2001680413333319860</a:t>
            </a:r>
            <a:r>
              <a:rPr lang="en" sz="1200">
                <a:latin typeface="Calibri"/>
                <a:ea typeface="Calibri"/>
                <a:cs typeface="Calibri"/>
                <a:sym typeface="Calibri"/>
              </a:rPr>
              <a:t> </a:t>
            </a:r>
            <a:br>
              <a:rPr lang="en" sz="1200">
                <a:latin typeface="Calibri"/>
                <a:ea typeface="Calibri"/>
                <a:cs typeface="Calibri"/>
                <a:sym typeface="Calibri"/>
              </a:rPr>
            </a:b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b="1">
                <a:solidFill>
                  <a:srgbClr val="FF0000"/>
                </a:solidFill>
                <a:latin typeface="Calibri"/>
                <a:ea typeface="Calibri"/>
                <a:cs typeface="Calibri"/>
                <a:sym typeface="Calibri"/>
              </a:rPr>
              <a:t>“Persona Live” VTuber-style system</a:t>
            </a:r>
            <a:br>
              <a:rPr lang="en" sz="1200">
                <a:latin typeface="Calibri"/>
                <a:ea typeface="Calibri"/>
                <a:cs typeface="Calibri"/>
                <a:sym typeface="Calibri"/>
              </a:rPr>
            </a:br>
            <a:r>
              <a:rPr lang="en" sz="1200" u="sng">
                <a:solidFill>
                  <a:schemeClr val="hlink"/>
                </a:solidFill>
                <a:latin typeface="Calibri"/>
                <a:ea typeface="Calibri"/>
                <a:cs typeface="Calibri"/>
                <a:sym typeface="Calibri"/>
                <a:hlinkClick r:id="rId9"/>
              </a:rPr>
              <a:t>https://github.com/GVCLab/PersonaLive</a:t>
            </a:r>
            <a:r>
              <a:rPr lang="en" sz="1200">
                <a:latin typeface="Calibri"/>
                <a:ea typeface="Calibri"/>
                <a:cs typeface="Calibri"/>
                <a:sym typeface="Calibri"/>
              </a:rPr>
              <a:t> </a:t>
            </a:r>
            <a:br>
              <a:rPr lang="en" sz="1200">
                <a:latin typeface="Calibri"/>
                <a:ea typeface="Calibri"/>
                <a:cs typeface="Calibri"/>
                <a:sym typeface="Calibri"/>
              </a:rPr>
            </a:br>
            <a:r>
              <a:rPr lang="en" sz="1200" u="sng">
                <a:solidFill>
                  <a:schemeClr val="hlink"/>
                </a:solidFill>
                <a:latin typeface="Calibri"/>
                <a:ea typeface="Calibri"/>
                <a:cs typeface="Calibri"/>
                <a:sym typeface="Calibri"/>
                <a:hlinkClick r:id="rId10"/>
              </a:rPr>
              <a:t>https://x.com/wildmindai/status/2000483553587687922</a:t>
            </a:r>
            <a:r>
              <a:rPr lang="en" sz="1200">
                <a:latin typeface="Calibri"/>
                <a:ea typeface="Calibri"/>
                <a:cs typeface="Calibri"/>
                <a:sym typeface="Calibri"/>
              </a:rPr>
              <a:t> </a:t>
            </a:r>
            <a:br>
              <a:rPr lang="en" sz="1200">
                <a:latin typeface="Calibri"/>
                <a:ea typeface="Calibri"/>
                <a:cs typeface="Calibri"/>
                <a:sym typeface="Calibri"/>
              </a:rPr>
            </a:b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More links - </a:t>
            </a:r>
            <a:r>
              <a:rPr lang="en" sz="1200" u="sng">
                <a:solidFill>
                  <a:schemeClr val="hlink"/>
                </a:solidFill>
                <a:latin typeface="Calibri"/>
                <a:ea typeface="Calibri"/>
                <a:cs typeface="Calibri"/>
                <a:sym typeface="Calibri"/>
                <a:hlinkClick r:id="rId11"/>
              </a:rPr>
              <a:t>https://www.youtube.com/watch?v=IRWp2NKkg4Y</a:t>
            </a:r>
            <a:r>
              <a:rPr lang="en" sz="1200">
                <a:latin typeface="Calibri"/>
                <a:ea typeface="Calibri"/>
                <a:cs typeface="Calibri"/>
                <a:sym typeface="Calibri"/>
              </a:rPr>
              <a:t> </a:t>
            </a:r>
            <a:endParaRPr sz="1200">
              <a:latin typeface="Calibri"/>
              <a:ea typeface="Calibri"/>
              <a:cs typeface="Calibri"/>
              <a:sym typeface="Calibri"/>
            </a:endParaRPr>
          </a:p>
        </p:txBody>
      </p:sp>
      <p:sp>
        <p:nvSpPr>
          <p:cNvPr id="353" name="Google Shape;353;p41"/>
          <p:cNvSpPr txBox="1"/>
          <p:nvPr/>
        </p:nvSpPr>
        <p:spPr>
          <a:xfrm>
            <a:off x="111575" y="3819275"/>
            <a:ext cx="4387500" cy="1034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code2prompt</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Convert multiple code files into a single text file for LLM prompt</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open source - MIT license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12"/>
              </a:rPr>
              <a:t>https://crates.io/crates/code2prompt</a:t>
            </a:r>
            <a:endParaRPr sz="1200">
              <a:latin typeface="Calibri"/>
              <a:ea typeface="Calibri"/>
              <a:cs typeface="Calibri"/>
              <a:sym typeface="Calibri"/>
            </a:endParaRPr>
          </a:p>
          <a:p>
            <a:pPr marL="171450" marR="0" lvl="0" indent="-114300" algn="l" rtl="0">
              <a:lnSpc>
                <a:spcPct val="100000"/>
              </a:lnSpc>
              <a:spcBef>
                <a:spcPts val="0"/>
              </a:spcBef>
              <a:spcAft>
                <a:spcPts val="0"/>
              </a:spcAft>
              <a:buClr>
                <a:srgbClr val="3C78D8"/>
              </a:buClr>
              <a:buSzPts val="900"/>
              <a:buFont typeface="Roboto Mono"/>
              <a:buChar char="●"/>
            </a:pPr>
            <a:r>
              <a:rPr lang="en" sz="900" b="1">
                <a:solidFill>
                  <a:srgbClr val="3C78D8"/>
                </a:solidFill>
                <a:latin typeface="Roboto Mono"/>
                <a:ea typeface="Roboto Mono"/>
                <a:cs typeface="Roboto Mono"/>
                <a:sym typeface="Roboto Mono"/>
              </a:rPr>
              <a:t>brew install code2prompt</a:t>
            </a:r>
            <a:endParaRPr sz="900" b="1">
              <a:solidFill>
                <a:srgbClr val="3C78D8"/>
              </a:solidFill>
              <a:latin typeface="Roboto Mono"/>
              <a:ea typeface="Roboto Mono"/>
              <a:cs typeface="Roboto Mono"/>
              <a:sym typeface="Roboto Mono"/>
            </a:endParaRPr>
          </a:p>
          <a:p>
            <a:pPr marL="171450" marR="0" lvl="0" indent="-114300" algn="l" rtl="0">
              <a:lnSpc>
                <a:spcPct val="100000"/>
              </a:lnSpc>
              <a:spcBef>
                <a:spcPts val="0"/>
              </a:spcBef>
              <a:spcAft>
                <a:spcPts val="0"/>
              </a:spcAft>
              <a:buClr>
                <a:srgbClr val="3C78D8"/>
              </a:buClr>
              <a:buSzPts val="900"/>
              <a:buFont typeface="Roboto Mono"/>
              <a:buChar char="●"/>
            </a:pPr>
            <a:r>
              <a:rPr lang="en" sz="900" b="1">
                <a:solidFill>
                  <a:srgbClr val="3C78D8"/>
                </a:solidFill>
                <a:latin typeface="Roboto Mono"/>
                <a:ea typeface="Roboto Mono"/>
                <a:cs typeface="Roboto Mono"/>
                <a:sym typeface="Roboto Mono"/>
              </a:rPr>
              <a:t>code2prompt path/to/project -O prompt.txt</a:t>
            </a:r>
            <a:endParaRPr sz="900" b="1">
              <a:solidFill>
                <a:srgbClr val="3C78D8"/>
              </a:solidFill>
              <a:latin typeface="Roboto Mono"/>
              <a:ea typeface="Roboto Mono"/>
              <a:cs typeface="Roboto Mono"/>
              <a:sym typeface="Roboto Mono"/>
            </a:endParaRPr>
          </a:p>
        </p:txBody>
      </p:sp>
      <p:pic>
        <p:nvPicPr>
          <p:cNvPr id="354" name="Google Shape;354;p41"/>
          <p:cNvPicPr preferRelativeResize="0"/>
          <p:nvPr/>
        </p:nvPicPr>
        <p:blipFill>
          <a:blip r:embed="rId13" cstate="email">
            <a:alphaModFix/>
            <a:extLst>
              <a:ext uri="{28A0092B-C50C-407E-A947-70E740481C1C}">
                <a14:useLocalDpi xmlns:a14="http://schemas.microsoft.com/office/drawing/2010/main"/>
              </a:ext>
            </a:extLst>
          </a:blip>
          <a:stretch>
            <a:fillRect/>
          </a:stretch>
        </p:blipFill>
        <p:spPr>
          <a:xfrm>
            <a:off x="4799725" y="346775"/>
            <a:ext cx="4028500" cy="1411600"/>
          </a:xfrm>
          <a:prstGeom prst="rect">
            <a:avLst/>
          </a:prstGeom>
          <a:noFill/>
          <a:ln w="9525" cap="flat" cmpd="sng">
            <a:solidFill>
              <a:srgbClr val="FF0000"/>
            </a:solidFill>
            <a:prstDash val="solid"/>
            <a:round/>
            <a:headEnd type="none" w="sm" len="sm"/>
            <a:tailEnd type="none" w="sm" len="sm"/>
          </a:ln>
        </p:spPr>
      </p:pic>
      <p:sp>
        <p:nvSpPr>
          <p:cNvPr id="355" name="Google Shape;355;p41"/>
          <p:cNvSpPr txBox="1"/>
          <p:nvPr/>
        </p:nvSpPr>
        <p:spPr>
          <a:xfrm>
            <a:off x="4678650" y="3172775"/>
            <a:ext cx="4387500" cy="1680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Firecrawl - creates LLM-ready data from websites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It is an API service and web scraping platform.</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It generates formats like markdown, structured JSON, screenshots, and HTML</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Scrape, Crawl, Map, Search, Extract</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Demo - use Firecrawl new branding extraction feature with Google Gemini 3.0 to create fully functional, aesthetically pleasing web applications in under two minutes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14"/>
              </a:rPr>
              <a:t>https://www.youtube.com/watch?v=-qAdwzAzf1s</a:t>
            </a:r>
            <a:r>
              <a:rPr lang="en" sz="1200">
                <a:latin typeface="Calibri"/>
                <a:ea typeface="Calibri"/>
                <a:cs typeface="Calibri"/>
                <a:sym typeface="Calibri"/>
              </a:rPr>
              <a:t> </a:t>
            </a:r>
            <a:endParaRPr sz="1200">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42"/>
          <p:cNvSpPr txBox="1"/>
          <p:nvPr/>
        </p:nvSpPr>
        <p:spPr>
          <a:xfrm>
            <a:off x="55075" y="20375"/>
            <a:ext cx="44439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David Sachs About Jobs</a:t>
            </a:r>
            <a:endParaRPr sz="2000" b="1" i="0" u="none" strike="noStrike" cap="none">
              <a:solidFill>
                <a:schemeClr val="dk1"/>
              </a:solidFill>
              <a:latin typeface="Calibri"/>
              <a:ea typeface="Calibri"/>
              <a:cs typeface="Calibri"/>
              <a:sym typeface="Calibri"/>
            </a:endParaRPr>
          </a:p>
        </p:txBody>
      </p:sp>
      <p:sp>
        <p:nvSpPr>
          <p:cNvPr id="361" name="Google Shape;361;p42"/>
          <p:cNvSpPr txBox="1"/>
          <p:nvPr/>
        </p:nvSpPr>
        <p:spPr>
          <a:xfrm>
            <a:off x="162150" y="429325"/>
            <a:ext cx="4336800" cy="4266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AI Creates Jobs, Not Destroys Them</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David Sacks defends AI's impact on jobs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David Sacks highlights a Vanguard study showing that AI-exposed occupations are experiencing significantly higher job and wage growth compared to other fields.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Jobs with high AI exposure grew 1.7% versus 0.8% for other occupations, while real wages increased 3.8% compared to just 0.7% elsewhere. Sacks argues this demonstrates that AI makes workers more productive, increasing their value rather than replacing them.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He notes the US economy is receiving a 2% GDP tailwind from AI infrastructure spending, which itself creates construction, engineering, and operations jobs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Sacks reveals that AI doomsday narratives have been systematically funded through journalism fellowships at major outlets including NBC News, Bloomberg, Time, and The Verge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These fellowships were funded by the Future of Life Institute, a group that received $600 million from Vitalik Buterin's donated dogecoin holdings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This funding has influenced public discourse despite the actual data showing no job market disruption 33 months after ChatGPT's launch, according to Yale Budget Lab research</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https://www.youtube.com/watch?v=jqFGq1k8FRg</a:t>
            </a:r>
            <a:r>
              <a:rPr lang="en" sz="1200">
                <a:latin typeface="Calibri"/>
                <a:ea typeface="Calibri"/>
                <a:cs typeface="Calibri"/>
                <a:sym typeface="Calibri"/>
              </a:rPr>
              <a:t> </a:t>
            </a:r>
            <a:endParaRPr sz="1200">
              <a:latin typeface="Calibri"/>
              <a:ea typeface="Calibri"/>
              <a:cs typeface="Calibri"/>
              <a:sym typeface="Calibri"/>
            </a:endParaRPr>
          </a:p>
        </p:txBody>
      </p:sp>
      <p:pic>
        <p:nvPicPr>
          <p:cNvPr id="362" name="Google Shape;362;p42"/>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741225" y="429325"/>
            <a:ext cx="1682550" cy="1901176"/>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43"/>
          <p:cNvSpPr txBox="1"/>
          <p:nvPr/>
        </p:nvSpPr>
        <p:spPr>
          <a:xfrm>
            <a:off x="67350" y="52750"/>
            <a:ext cx="3179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i="0" u="none" strike="noStrike" cap="none">
                <a:solidFill>
                  <a:schemeClr val="dk1"/>
                </a:solidFill>
                <a:latin typeface="Calibri"/>
                <a:ea typeface="Calibri"/>
                <a:cs typeface="Calibri"/>
                <a:sym typeface="Calibri"/>
              </a:rPr>
              <a:t>Jobs</a:t>
            </a:r>
            <a:endParaRPr sz="2000" b="1" i="0" u="none" strike="noStrike" cap="none">
              <a:solidFill>
                <a:schemeClr val="dk1"/>
              </a:solidFill>
              <a:latin typeface="Calibri"/>
              <a:ea typeface="Calibri"/>
              <a:cs typeface="Calibri"/>
              <a:sym typeface="Calibri"/>
            </a:endParaRPr>
          </a:p>
        </p:txBody>
      </p:sp>
      <p:sp>
        <p:nvSpPr>
          <p:cNvPr id="368" name="Google Shape;368;p43"/>
          <p:cNvSpPr txBox="1"/>
          <p:nvPr/>
        </p:nvSpPr>
        <p:spPr>
          <a:xfrm>
            <a:off x="2102050" y="77475"/>
            <a:ext cx="18006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b="0" i="0" u="sng" strike="noStrike" cap="none">
                <a:solidFill>
                  <a:schemeClr val="hlink"/>
                </a:solidFill>
                <a:latin typeface="Calibri"/>
                <a:ea typeface="Calibri"/>
                <a:cs typeface="Calibri"/>
                <a:sym typeface="Calibri"/>
                <a:hlinkClick r:id="rId3"/>
              </a:rPr>
              <a:t>https://layoffs.fyi</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4"/>
              </a:rPr>
              <a:t>https://trueup.io/layoffs</a:t>
            </a:r>
            <a:r>
              <a:rPr lang="en" sz="1200">
                <a:latin typeface="Calibri"/>
                <a:ea typeface="Calibri"/>
                <a:cs typeface="Calibri"/>
                <a:sym typeface="Calibri"/>
              </a:rPr>
              <a:t> </a:t>
            </a:r>
            <a:r>
              <a:rPr lang="en" sz="1200" b="0" i="0" u="none" strike="noStrike" cap="none">
                <a:solidFill>
                  <a:srgbClr val="000000"/>
                </a:solidFill>
                <a:latin typeface="Calibri"/>
                <a:ea typeface="Calibri"/>
                <a:cs typeface="Calibri"/>
                <a:sym typeface="Calibri"/>
              </a:rPr>
              <a:t> </a:t>
            </a:r>
            <a:endParaRPr sz="1200" b="0" i="0" u="none" strike="noStrike" cap="none">
              <a:solidFill>
                <a:srgbClr val="000000"/>
              </a:solidFill>
              <a:latin typeface="Calibri"/>
              <a:ea typeface="Calibri"/>
              <a:cs typeface="Calibri"/>
              <a:sym typeface="Calibri"/>
            </a:endParaRPr>
          </a:p>
        </p:txBody>
      </p:sp>
      <p:sp>
        <p:nvSpPr>
          <p:cNvPr id="369" name="Google Shape;369;p43"/>
          <p:cNvSpPr txBox="1"/>
          <p:nvPr/>
        </p:nvSpPr>
        <p:spPr>
          <a:xfrm>
            <a:off x="5144548" y="507700"/>
            <a:ext cx="39819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200" b="1">
                <a:solidFill>
                  <a:srgbClr val="FF0000"/>
                </a:solidFill>
                <a:latin typeface="Calibri"/>
                <a:ea typeface="Calibri"/>
                <a:cs typeface="Calibri"/>
                <a:sym typeface="Calibri"/>
              </a:rPr>
              <a:t>  Tech Layoffs by year (US only):</a:t>
            </a:r>
            <a:endParaRPr sz="1200" b="1">
              <a:solidFill>
                <a:srgbClr val="FF0000"/>
              </a:solidFill>
              <a:latin typeface="Calibri"/>
              <a:ea typeface="Calibri"/>
              <a:cs typeface="Calibri"/>
              <a:sym typeface="Calibri"/>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123K in 2025 (as of December 26)</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153K in </a:t>
            </a:r>
            <a:r>
              <a:rPr lang="en" sz="1000" b="1">
                <a:solidFill>
                  <a:srgbClr val="000000"/>
                </a:solidFill>
                <a:latin typeface="Roboto Mono"/>
                <a:ea typeface="Roboto Mono"/>
                <a:cs typeface="Roboto Mono"/>
                <a:sym typeface="Roboto Mono"/>
              </a:rPr>
              <a:t>2024</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264K in 2023</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165K in 2022                  </a:t>
            </a:r>
            <a:r>
              <a:rPr lang="en" sz="1200" i="0" u="sng" strike="noStrike" cap="none">
                <a:solidFill>
                  <a:srgbClr val="0097A7"/>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https://layoffs.fyi</a:t>
            </a:r>
            <a:endParaRPr sz="1200" i="0" u="none" strike="noStrike" cap="none">
              <a:solidFill>
                <a:srgbClr val="000000"/>
              </a:solidFill>
              <a:latin typeface="Calibri"/>
              <a:ea typeface="Calibri"/>
              <a:cs typeface="Calibri"/>
              <a:sym typeface="Calibri"/>
            </a:endParaRPr>
          </a:p>
        </p:txBody>
      </p:sp>
      <p:sp>
        <p:nvSpPr>
          <p:cNvPr id="370" name="Google Shape;370;p43"/>
          <p:cNvSpPr txBox="1"/>
          <p:nvPr/>
        </p:nvSpPr>
        <p:spPr>
          <a:xfrm>
            <a:off x="5162100" y="4228625"/>
            <a:ext cx="39468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200" b="1">
                <a:solidFill>
                  <a:srgbClr val="FF0000"/>
                </a:solidFill>
                <a:latin typeface="Calibri"/>
                <a:ea typeface="Calibri"/>
                <a:cs typeface="Calibri"/>
                <a:sym typeface="Calibri"/>
              </a:rPr>
              <a:t>  The Tech Layoff Tracker</a:t>
            </a:r>
            <a:endParaRPr sz="1200" b="1">
              <a:solidFill>
                <a:srgbClr val="FF0000"/>
              </a:solidFill>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So far in 2025, 209,838 people laid off (583 per day)</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2024, 238,461 people </a:t>
            </a:r>
            <a:r>
              <a:rPr lang="en" sz="1200">
                <a:solidFill>
                  <a:schemeClr val="dk1"/>
                </a:solidFill>
                <a:latin typeface="Calibri"/>
                <a:ea typeface="Calibri"/>
                <a:cs typeface="Calibri"/>
                <a:sym typeface="Calibri"/>
              </a:rPr>
              <a:t>laid off</a:t>
            </a:r>
            <a:r>
              <a:rPr lang="en" sz="1200">
                <a:latin typeface="Calibri"/>
                <a:ea typeface="Calibri"/>
                <a:cs typeface="Calibri"/>
                <a:sym typeface="Calibri"/>
              </a:rPr>
              <a:t> (653 per day)</a:t>
            </a:r>
            <a:endParaRPr sz="1200">
              <a:latin typeface="Calibri"/>
              <a:ea typeface="Calibri"/>
              <a:cs typeface="Calibri"/>
              <a:sym typeface="Calibri"/>
            </a:endParaRPr>
          </a:p>
          <a:p>
            <a:pPr marL="228600" marR="460857" lvl="0" indent="-57150" algn="r" rtl="0">
              <a:spcBef>
                <a:spcPts val="0"/>
              </a:spcBef>
              <a:spcAft>
                <a:spcPts val="0"/>
              </a:spcAft>
              <a:buNone/>
            </a:pPr>
            <a:r>
              <a:rPr lang="en" sz="1200" u="sng">
                <a:solidFill>
                  <a:schemeClr val="hlink"/>
                </a:solidFill>
                <a:latin typeface="Calibri"/>
                <a:ea typeface="Calibri"/>
                <a:cs typeface="Calibri"/>
                <a:sym typeface="Calibri"/>
                <a:hlinkClick r:id="rId4"/>
              </a:rPr>
              <a:t>https://trueup.io/layoffs</a:t>
            </a:r>
            <a:endParaRPr sz="1200">
              <a:latin typeface="Calibri"/>
              <a:ea typeface="Calibri"/>
              <a:cs typeface="Calibri"/>
              <a:sym typeface="Calibri"/>
            </a:endParaRPr>
          </a:p>
        </p:txBody>
      </p:sp>
      <p:pic>
        <p:nvPicPr>
          <p:cNvPr id="371" name="Google Shape;371;p43"/>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67350" y="2519202"/>
            <a:ext cx="5030173" cy="2590399"/>
          </a:xfrm>
          <a:prstGeom prst="rect">
            <a:avLst/>
          </a:prstGeom>
          <a:noFill/>
          <a:ln w="9525" cap="flat" cmpd="sng">
            <a:solidFill>
              <a:srgbClr val="FF0000"/>
            </a:solidFill>
            <a:prstDash val="solid"/>
            <a:round/>
            <a:headEnd type="none" w="sm" len="sm"/>
            <a:tailEnd type="none" w="sm" len="sm"/>
          </a:ln>
        </p:spPr>
      </p:pic>
      <p:pic>
        <p:nvPicPr>
          <p:cNvPr id="372" name="Google Shape;372;p43"/>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67350" y="552941"/>
            <a:ext cx="5030175" cy="1892651"/>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pic>
        <p:nvPicPr>
          <p:cNvPr id="377" name="Google Shape;377;p44"/>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645525" y="1203525"/>
            <a:ext cx="1570556" cy="1570556"/>
          </a:xfrm>
          <a:prstGeom prst="rect">
            <a:avLst/>
          </a:prstGeom>
          <a:noFill/>
          <a:ln>
            <a:noFill/>
          </a:ln>
        </p:spPr>
      </p:pic>
      <p:sp>
        <p:nvSpPr>
          <p:cNvPr id="378" name="Google Shape;378;p44"/>
          <p:cNvSpPr txBox="1"/>
          <p:nvPr/>
        </p:nvSpPr>
        <p:spPr>
          <a:xfrm>
            <a:off x="-25625" y="-14775"/>
            <a:ext cx="3355800" cy="56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 sz="2500" b="1" i="0" u="none" strike="noStrike" cap="none">
                <a:solidFill>
                  <a:srgbClr val="000000"/>
                </a:solidFill>
                <a:latin typeface="Calibri"/>
                <a:ea typeface="Calibri"/>
                <a:cs typeface="Calibri"/>
                <a:sym typeface="Calibri"/>
              </a:rPr>
              <a:t>About the Speaker</a:t>
            </a:r>
            <a:endParaRPr sz="2500" b="1" i="0" u="none" strike="noStrike" cap="none">
              <a:solidFill>
                <a:srgbClr val="000000"/>
              </a:solidFill>
              <a:latin typeface="Calibri"/>
              <a:ea typeface="Calibri"/>
              <a:cs typeface="Calibri"/>
              <a:sym typeface="Calibri"/>
            </a:endParaRPr>
          </a:p>
        </p:txBody>
      </p:sp>
      <p:sp>
        <p:nvSpPr>
          <p:cNvPr id="379" name="Google Shape;379;p44"/>
          <p:cNvSpPr txBox="1"/>
          <p:nvPr/>
        </p:nvSpPr>
        <p:spPr>
          <a:xfrm>
            <a:off x="3330175" y="878750"/>
            <a:ext cx="5621700" cy="330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500" b="1" i="0" u="none" strike="noStrike" cap="none">
                <a:solidFill>
                  <a:srgbClr val="000000"/>
                </a:solidFill>
                <a:latin typeface="Calibri"/>
                <a:ea typeface="Calibri"/>
                <a:cs typeface="Calibri"/>
                <a:sym typeface="Calibri"/>
              </a:rPr>
              <a:t>Lev Selector, Ph.D.</a:t>
            </a:r>
            <a:endParaRPr sz="2500" b="1"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8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40+ years of software engineering, data science, and building teams (hiring, training, and managing)</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Ph.D. in mathematical modeling and computer simulations</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Interests: </a:t>
            </a:r>
            <a:endParaRPr sz="16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Generative AI, Using LLM with your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chemeClr val="dk1"/>
              </a:buClr>
              <a:buSzPts val="1600"/>
              <a:buFont typeface="Calibri"/>
              <a:buChar char="●"/>
            </a:pPr>
            <a:r>
              <a:rPr lang="en" sz="1600" b="0" i="0" u="none" strike="noStrike" cap="none">
                <a:solidFill>
                  <a:schemeClr val="dk1"/>
                </a:solidFill>
                <a:latin typeface="Calibri"/>
                <a:ea typeface="Calibri"/>
                <a:cs typeface="Calibri"/>
                <a:sym typeface="Calibri"/>
              </a:rPr>
              <a:t>Local AI for Local Private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rgbClr val="000000"/>
                </a:solidFill>
                <a:latin typeface="Calibri"/>
                <a:ea typeface="Calibri"/>
                <a:cs typeface="Calibri"/>
                <a:sym typeface="Calibri"/>
              </a:rPr>
              <a:t>Cloud architecture, fin-tech, application security</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Find/connect: Linkedin, GitHub, YouTube, Google</a:t>
            </a:r>
            <a:endParaRPr sz="1600" b="0" i="0" u="none" strike="noStrike" cap="none">
              <a:solidFill>
                <a:srgbClr val="000000"/>
              </a:solidFill>
              <a:latin typeface="Calibri"/>
              <a:ea typeface="Calibri"/>
              <a:cs typeface="Calibri"/>
              <a:sym typeface="Calibri"/>
            </a:endParaRPr>
          </a:p>
        </p:txBody>
      </p:sp>
      <p:pic>
        <p:nvPicPr>
          <p:cNvPr id="380" name="Google Shape;380;p44"/>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1001578" y="3664175"/>
            <a:ext cx="858450" cy="311906"/>
          </a:xfrm>
          <a:prstGeom prst="rect">
            <a:avLst/>
          </a:prstGeom>
          <a:noFill/>
          <a:ln>
            <a:noFill/>
          </a:ln>
        </p:spPr>
      </p:pic>
      <p:sp>
        <p:nvSpPr>
          <p:cNvPr id="381" name="Google Shape;381;p44"/>
          <p:cNvSpPr txBox="1"/>
          <p:nvPr/>
        </p:nvSpPr>
        <p:spPr>
          <a:xfrm>
            <a:off x="735103" y="4005903"/>
            <a:ext cx="13914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sng" strike="noStrike" cap="none">
                <a:solidFill>
                  <a:schemeClr val="hlink"/>
                </a:solidFill>
                <a:latin typeface="Calibri"/>
                <a:ea typeface="Calibri"/>
                <a:cs typeface="Calibri"/>
                <a:sym typeface="Calibri"/>
                <a:hlinkClick r:id="rId5"/>
              </a:rPr>
              <a:t>https://eais.ai</a:t>
            </a:r>
            <a:r>
              <a:rPr lang="en" sz="1600" b="0" i="0" u="none" strike="noStrike" cap="none">
                <a:solidFill>
                  <a:srgbClr val="000000"/>
                </a:solidFill>
                <a:latin typeface="Calibri"/>
                <a:ea typeface="Calibri"/>
                <a:cs typeface="Calibri"/>
                <a:sym typeface="Calibri"/>
              </a:rPr>
              <a:t> </a:t>
            </a:r>
            <a:endParaRPr sz="1600" b="0" i="0" u="none" strike="noStrike" cap="none">
              <a:solidFill>
                <a:srgbClr val="000000"/>
              </a:solidFill>
              <a:latin typeface="Calibri"/>
              <a:ea typeface="Calibri"/>
              <a:cs typeface="Calibri"/>
              <a:sym typeface="Calibri"/>
            </a:endParaRPr>
          </a:p>
        </p:txBody>
      </p:sp>
      <p:sp>
        <p:nvSpPr>
          <p:cNvPr id="382" name="Google Shape;382;p44"/>
          <p:cNvSpPr txBox="1"/>
          <p:nvPr/>
        </p:nvSpPr>
        <p:spPr>
          <a:xfrm>
            <a:off x="383803" y="4360974"/>
            <a:ext cx="20940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600" b="0" i="0" u="none" strike="noStrike" cap="none">
                <a:solidFill>
                  <a:srgbClr val="000000"/>
                </a:solidFill>
                <a:latin typeface="Calibri"/>
                <a:ea typeface="Calibri"/>
                <a:cs typeface="Calibri"/>
                <a:sym typeface="Calibri"/>
              </a:rPr>
              <a:t>Enterprise AI Systems</a:t>
            </a:r>
            <a:endParaRPr sz="1600" b="0" i="0" u="none" strike="noStrike" cap="none">
              <a:solidFill>
                <a:srgbClr val="000000"/>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45"/>
          <p:cNvSpPr txBox="1"/>
          <p:nvPr/>
        </p:nvSpPr>
        <p:spPr>
          <a:xfrm>
            <a:off x="2151375" y="1533150"/>
            <a:ext cx="4632600" cy="1262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7000"/>
              <a:buFont typeface="Arial"/>
              <a:buNone/>
            </a:pPr>
            <a:r>
              <a:rPr lang="en" sz="7000" b="1" i="0" u="none" strike="noStrike" cap="none">
                <a:solidFill>
                  <a:srgbClr val="3C78D8"/>
                </a:solidFill>
                <a:latin typeface="Calibri"/>
                <a:ea typeface="Calibri"/>
                <a:cs typeface="Calibri"/>
                <a:sym typeface="Calibri"/>
              </a:rPr>
              <a:t>Thank You!</a:t>
            </a:r>
            <a:endParaRPr sz="7000" b="1" i="0" u="none" strike="noStrike" cap="none">
              <a:solidFill>
                <a:srgbClr val="3C78D8"/>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7529</Words>
  <Application>Microsoft Macintosh PowerPoint</Application>
  <PresentationFormat>On-screen Show (16:9)</PresentationFormat>
  <Paragraphs>638</Paragraphs>
  <Slides>31</Slides>
  <Notes>31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Calibri</vt:lpstr>
      <vt:lpstr>Roboto Mono</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Lev Selector</cp:lastModifiedBy>
  <cp:revision>1</cp:revision>
  <dcterms:modified xsi:type="dcterms:W3CDTF">2025-12-26T16:17:18Z</dcterms:modified>
</cp:coreProperties>
</file>