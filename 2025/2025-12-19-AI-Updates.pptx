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1"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5143500" type="screen16x9"/>
  <p:notesSz cx="6858000" cy="9144000"/>
  <p:embeddedFontLst>
    <p:embeddedFont>
      <p:font typeface="Roboto Mono" pitchFamily="49" charset="0"/>
      <p:regular r:id="rId32"/>
      <p:bold r:id="rId33"/>
      <p:italic r:id="rId34"/>
      <p:boldItalic r:id="rId35"/>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0EB8DAD-0D6C-425B-A878-7202ED89955A}">
  <a:tblStyle styleId="{60EB8DAD-0D6C-425B-A878-7202ED89955A}" styleName="Table_0">
    <a:wholeTbl>
      <a:tcTxStyle>
        <a:font>
          <a:latin typeface="Arial"/>
          <a:ea typeface="Arial"/>
          <a:cs typeface="Arial"/>
        </a:font>
        <a:srgbClr val="000000"/>
      </a:tcTxStyle>
      <a:tcStyle>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711"/>
  </p:normalViewPr>
  <p:slideViewPr>
    <p:cSldViewPr>
      <p:cViewPr varScale="1">
        <p:scale>
          <a:sx n="125" d="100"/>
          <a:sy n="125" d="100"/>
        </p:scale>
        <p:origin x="53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ableStyles" Target="tableStyles.xml"/><Relationship Id="rId21" Type="http://schemas.openxmlformats.org/officeDocument/2006/relationships/slide" Target="slides/slide20.xml"/><Relationship Id="rId34" Type="http://schemas.openxmlformats.org/officeDocument/2006/relationships/font" Target="fonts/font3.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2.fntdata"/><Relationship Id="rId38"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1.fntdata"/><Relationship Id="rId37"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4.fntdata"/><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9"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marR="0" lvl="0"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1pPr>
            <a:lvl2pPr marL="914400" marR="0" lvl="1"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2pPr>
            <a:lvl3pPr marL="1371600" marR="0" lvl="2"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3pPr>
            <a:lvl4pPr marL="1828800" marR="0" lvl="3"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4pPr>
            <a:lvl5pPr marL="2286000" marR="0" lvl="4"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5pPr>
            <a:lvl6pPr marL="2743200" marR="0" lvl="5"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6pPr>
            <a:lvl7pPr marL="3200400" marR="0" lvl="6"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7pPr>
            <a:lvl8pPr marL="3657600" marR="0" lvl="7"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8pPr>
            <a:lvl9pPr marL="4114800" marR="0" lvl="8" indent="-298450" algn="l" rtl="0">
              <a:lnSpc>
                <a:spcPct val="100000"/>
              </a:lnSpc>
              <a:spcBef>
                <a:spcPts val="0"/>
              </a:spcBef>
              <a:spcAft>
                <a:spcPts val="0"/>
              </a:spcAft>
              <a:buClr>
                <a:srgbClr val="000000"/>
              </a:buClr>
              <a:buSzPts val="1100"/>
              <a:buFont typeface="Arial"/>
              <a:buChar char="■"/>
              <a:defRPr sz="1100" b="0" i="0" u="none" strike="noStrike" cap="none">
                <a:solidFill>
                  <a:srgbClr val="000000"/>
                </a:solidFill>
                <a:latin typeface="Arial"/>
                <a:ea typeface="Arial"/>
                <a:cs typeface="Arial"/>
                <a:sym typeface="Arial"/>
              </a:defRPr>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
        <p:cNvGrpSpPr/>
        <p:nvPr/>
      </p:nvGrpSpPr>
      <p:grpSpPr>
        <a:xfrm>
          <a:off x="0" y="0"/>
          <a:ext cx="0" cy="0"/>
          <a:chOff x="0" y="0"/>
          <a:chExt cx="0" cy="0"/>
        </a:xfrm>
      </p:grpSpPr>
      <p:sp>
        <p:nvSpPr>
          <p:cNvPr id="60" name="Google Shape;60;g3633c15ed82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61" name="Google Shape;61;g3633c15ed82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9"/>
        <p:cNvGrpSpPr/>
        <p:nvPr/>
      </p:nvGrpSpPr>
      <p:grpSpPr>
        <a:xfrm>
          <a:off x="0" y="0"/>
          <a:ext cx="0" cy="0"/>
          <a:chOff x="0" y="0"/>
          <a:chExt cx="0" cy="0"/>
        </a:xfrm>
      </p:grpSpPr>
      <p:sp>
        <p:nvSpPr>
          <p:cNvPr id="70" name="Google Shape;70;p22: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71" name="Google Shape;71;p2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g3b17a1cce52_0_2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44" name="Google Shape;144;g3b17a1cce52_0_2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9"/>
        <p:cNvGrpSpPr/>
        <p:nvPr/>
      </p:nvGrpSpPr>
      <p:grpSpPr>
        <a:xfrm>
          <a:off x="0" y="0"/>
          <a:ext cx="0" cy="0"/>
          <a:chOff x="0" y="0"/>
          <a:chExt cx="0" cy="0"/>
        </a:xfrm>
      </p:grpSpPr>
      <p:sp>
        <p:nvSpPr>
          <p:cNvPr id="150" name="Google Shape;150;g3b12ff3a6ed_0_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51" name="Google Shape;151;g3b12ff3a6ed_0_1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0"/>
        <p:cNvGrpSpPr/>
        <p:nvPr/>
      </p:nvGrpSpPr>
      <p:grpSpPr>
        <a:xfrm>
          <a:off x="0" y="0"/>
          <a:ext cx="0" cy="0"/>
          <a:chOff x="0" y="0"/>
          <a:chExt cx="0" cy="0"/>
        </a:xfrm>
      </p:grpSpPr>
      <p:sp>
        <p:nvSpPr>
          <p:cNvPr id="161" name="Google Shape;161;g3b1336d7148_0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62" name="Google Shape;162;g3b1336d7148_0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1"/>
        <p:cNvGrpSpPr/>
        <p:nvPr/>
      </p:nvGrpSpPr>
      <p:grpSpPr>
        <a:xfrm>
          <a:off x="0" y="0"/>
          <a:ext cx="0" cy="0"/>
          <a:chOff x="0" y="0"/>
          <a:chExt cx="0" cy="0"/>
        </a:xfrm>
      </p:grpSpPr>
      <p:sp>
        <p:nvSpPr>
          <p:cNvPr id="172" name="Google Shape;172;g3b169056792_0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73" name="Google Shape;173;g3b169056792_0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1"/>
        <p:cNvGrpSpPr/>
        <p:nvPr/>
      </p:nvGrpSpPr>
      <p:grpSpPr>
        <a:xfrm>
          <a:off x="0" y="0"/>
          <a:ext cx="0" cy="0"/>
          <a:chOff x="0" y="0"/>
          <a:chExt cx="0" cy="0"/>
        </a:xfrm>
      </p:grpSpPr>
      <p:sp>
        <p:nvSpPr>
          <p:cNvPr id="182" name="Google Shape;182;g3ab6c7aaab3_0_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3" name="Google Shape;183;g3ab6c7aaab3_0_8: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7"/>
        <p:cNvGrpSpPr/>
        <p:nvPr/>
      </p:nvGrpSpPr>
      <p:grpSpPr>
        <a:xfrm>
          <a:off x="0" y="0"/>
          <a:ext cx="0" cy="0"/>
          <a:chOff x="0" y="0"/>
          <a:chExt cx="0" cy="0"/>
        </a:xfrm>
      </p:grpSpPr>
      <p:sp>
        <p:nvSpPr>
          <p:cNvPr id="188" name="Google Shape;188;g3b041c47160_1_1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89" name="Google Shape;189;g3b041c47160_1_1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6"/>
        <p:cNvGrpSpPr/>
        <p:nvPr/>
      </p:nvGrpSpPr>
      <p:grpSpPr>
        <a:xfrm>
          <a:off x="0" y="0"/>
          <a:ext cx="0" cy="0"/>
          <a:chOff x="0" y="0"/>
          <a:chExt cx="0" cy="0"/>
        </a:xfrm>
      </p:grpSpPr>
      <p:sp>
        <p:nvSpPr>
          <p:cNvPr id="197" name="Google Shape;197;g3b041c47160_1_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198" name="Google Shape;198;g3b041c47160_1_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3b068ec752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06" name="Google Shape;206;g3b068ec7520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g3b0072a237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15" name="Google Shape;215;g3b0072a237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0"/>
        <p:cNvGrpSpPr/>
        <p:nvPr/>
      </p:nvGrpSpPr>
      <p:grpSpPr>
        <a:xfrm>
          <a:off x="0" y="0"/>
          <a:ext cx="0" cy="0"/>
          <a:chOff x="0" y="0"/>
          <a:chExt cx="0" cy="0"/>
        </a:xfrm>
      </p:grpSpPr>
      <p:sp>
        <p:nvSpPr>
          <p:cNvPr id="221" name="Google Shape;221;g3b056356f8b_1_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2" name="Google Shape;222;g3b056356f8b_1_6: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7"/>
        <p:cNvGrpSpPr/>
        <p:nvPr/>
      </p:nvGrpSpPr>
      <p:grpSpPr>
        <a:xfrm>
          <a:off x="0" y="0"/>
          <a:ext cx="0" cy="0"/>
          <a:chOff x="0" y="0"/>
          <a:chExt cx="0" cy="0"/>
        </a:xfrm>
      </p:grpSpPr>
      <p:sp>
        <p:nvSpPr>
          <p:cNvPr id="228" name="Google Shape;228;g3b016cbfcb1_1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29" name="Google Shape;229;g3b016cbfcb1_1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5"/>
        <p:cNvGrpSpPr/>
        <p:nvPr/>
      </p:nvGrpSpPr>
      <p:grpSpPr>
        <a:xfrm>
          <a:off x="0" y="0"/>
          <a:ext cx="0" cy="0"/>
          <a:chOff x="0" y="0"/>
          <a:chExt cx="0" cy="0"/>
        </a:xfrm>
      </p:grpSpPr>
      <p:sp>
        <p:nvSpPr>
          <p:cNvPr id="236" name="Google Shape;236;g3b04a2f832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37" name="Google Shape;237;g3b04a2f832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4"/>
        <p:cNvGrpSpPr/>
        <p:nvPr/>
      </p:nvGrpSpPr>
      <p:grpSpPr>
        <a:xfrm>
          <a:off x="0" y="0"/>
          <a:ext cx="0" cy="0"/>
          <a:chOff x="0" y="0"/>
          <a:chExt cx="0" cy="0"/>
        </a:xfrm>
      </p:grpSpPr>
      <p:sp>
        <p:nvSpPr>
          <p:cNvPr id="245" name="Google Shape;245;g3b056356f8b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46" name="Google Shape;246;g3b056356f8b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1"/>
        <p:cNvGrpSpPr/>
        <p:nvPr/>
      </p:nvGrpSpPr>
      <p:grpSpPr>
        <a:xfrm>
          <a:off x="0" y="0"/>
          <a:ext cx="0" cy="0"/>
          <a:chOff x="0" y="0"/>
          <a:chExt cx="0" cy="0"/>
        </a:xfrm>
      </p:grpSpPr>
      <p:sp>
        <p:nvSpPr>
          <p:cNvPr id="252" name="Google Shape;252;g3b059de6c60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53" name="Google Shape;253;g3b059de6c60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8"/>
        <p:cNvGrpSpPr/>
        <p:nvPr/>
      </p:nvGrpSpPr>
      <p:grpSpPr>
        <a:xfrm>
          <a:off x="0" y="0"/>
          <a:ext cx="0" cy="0"/>
          <a:chOff x="0" y="0"/>
          <a:chExt cx="0" cy="0"/>
        </a:xfrm>
      </p:grpSpPr>
      <p:sp>
        <p:nvSpPr>
          <p:cNvPr id="259" name="Google Shape;259;g3b1729be9e2_0_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0" name="Google Shape;260;g3b1729be9e2_0_1: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7"/>
        <p:cNvGrpSpPr/>
        <p:nvPr/>
      </p:nvGrpSpPr>
      <p:grpSpPr>
        <a:xfrm>
          <a:off x="0" y="0"/>
          <a:ext cx="0" cy="0"/>
          <a:chOff x="0" y="0"/>
          <a:chExt cx="0" cy="0"/>
        </a:xfrm>
      </p:grpSpPr>
      <p:sp>
        <p:nvSpPr>
          <p:cNvPr id="268" name="Google Shape;268;g391e0f74994_1_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69" name="Google Shape;269;g391e0f74994_1_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5"/>
        <p:cNvGrpSpPr/>
        <p:nvPr/>
      </p:nvGrpSpPr>
      <p:grpSpPr>
        <a:xfrm>
          <a:off x="0" y="0"/>
          <a:ext cx="0" cy="0"/>
          <a:chOff x="0" y="0"/>
          <a:chExt cx="0" cy="0"/>
        </a:xfrm>
      </p:grpSpPr>
      <p:sp>
        <p:nvSpPr>
          <p:cNvPr id="276" name="Google Shape;276;g3b1336d714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77" name="Google Shape;277;g3b1336d714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2"/>
        <p:cNvGrpSpPr/>
        <p:nvPr/>
      </p:nvGrpSpPr>
      <p:grpSpPr>
        <a:xfrm>
          <a:off x="0" y="0"/>
          <a:ext cx="0" cy="0"/>
          <a:chOff x="0" y="0"/>
          <a:chExt cx="0" cy="0"/>
        </a:xfrm>
      </p:grpSpPr>
      <p:sp>
        <p:nvSpPr>
          <p:cNvPr id="283" name="Google Shape;283;g3b1729be9e2_0_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84" name="Google Shape;284;g3b1729be9e2_0_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g3b12ff3a6ed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293" name="Google Shape;293;g3b12ff3a6ed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0"/>
        <p:cNvGrpSpPr/>
        <p:nvPr/>
      </p:nvGrpSpPr>
      <p:grpSpPr>
        <a:xfrm>
          <a:off x="0" y="0"/>
          <a:ext cx="0" cy="0"/>
          <a:chOff x="0" y="0"/>
          <a:chExt cx="0" cy="0"/>
        </a:xfrm>
      </p:grpSpPr>
      <p:sp>
        <p:nvSpPr>
          <p:cNvPr id="301" name="Google Shape;301;g3b068ec7520_0_1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2" name="Google Shape;302;g3b068ec7520_0_12: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7"/>
        <p:cNvGrpSpPr/>
        <p:nvPr/>
      </p:nvGrpSpPr>
      <p:grpSpPr>
        <a:xfrm>
          <a:off x="0" y="0"/>
          <a:ext cx="0" cy="0"/>
          <a:chOff x="0" y="0"/>
          <a:chExt cx="0" cy="0"/>
        </a:xfrm>
      </p:grpSpPr>
      <p:sp>
        <p:nvSpPr>
          <p:cNvPr id="308" name="Google Shape;308;g3b059de6c60_0_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09" name="Google Shape;309;g3b059de6c60_0_9: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5"/>
        <p:cNvGrpSpPr/>
        <p:nvPr/>
      </p:nvGrpSpPr>
      <p:grpSpPr>
        <a:xfrm>
          <a:off x="0" y="0"/>
          <a:ext cx="0" cy="0"/>
          <a:chOff x="0" y="0"/>
          <a:chExt cx="0" cy="0"/>
        </a:xfrm>
      </p:grpSpPr>
      <p:sp>
        <p:nvSpPr>
          <p:cNvPr id="316" name="Google Shape;316;g3b059de6c60_0_1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17" name="Google Shape;317;g3b059de6c60_0_17: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g3b1ce90df75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34" name="Google Shape;334;g3b1ce90df75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5"/>
        <p:cNvGrpSpPr/>
        <p:nvPr/>
      </p:nvGrpSpPr>
      <p:grpSpPr>
        <a:xfrm>
          <a:off x="0" y="0"/>
          <a:ext cx="0" cy="0"/>
          <a:chOff x="0" y="0"/>
          <a:chExt cx="0" cy="0"/>
        </a:xfrm>
      </p:grpSpPr>
      <p:sp>
        <p:nvSpPr>
          <p:cNvPr id="346" name="Google Shape;346;g3b1d34333d8_0_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47" name="Google Shape;347;g3b1d34333d8_0_0: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6"/>
        <p:cNvGrpSpPr/>
        <p:nvPr/>
      </p:nvGrpSpPr>
      <p:grpSpPr>
        <a:xfrm>
          <a:off x="0" y="0"/>
          <a:ext cx="0" cy="0"/>
          <a:chOff x="0" y="0"/>
          <a:chExt cx="0" cy="0"/>
        </a:xfrm>
      </p:grpSpPr>
      <p:sp>
        <p:nvSpPr>
          <p:cNvPr id="357" name="Google Shape;357;p2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58" name="Google Shape;358;p23: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68" name="Google Shape;368;p24: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6"/>
        <p:cNvGrpSpPr/>
        <p:nvPr/>
      </p:nvGrpSpPr>
      <p:grpSpPr>
        <a:xfrm>
          <a:off x="0" y="0"/>
          <a:ext cx="0" cy="0"/>
          <a:chOff x="0" y="0"/>
          <a:chExt cx="0" cy="0"/>
        </a:xfrm>
      </p:grpSpPr>
      <p:sp>
        <p:nvSpPr>
          <p:cNvPr id="377" name="Google Shape;377;p25:notes"/>
          <p:cNvSpPr>
            <a:spLocks noGrp="1" noRot="1" noChangeAspect="1"/>
          </p:cNvSpPr>
          <p:nvPr>
            <p:ph type="sldImg" idx="2"/>
          </p:nvPr>
        </p:nvSpPr>
        <p:spPr>
          <a:xfrm>
            <a:off x="3813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378" name="Google Shape;378;p25:notes"/>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p>
            <a:pPr marL="0" lvl="0" indent="0" algn="l" rtl="0">
              <a:lnSpc>
                <a:spcPct val="100000"/>
              </a:lnSpc>
              <a:spcBef>
                <a:spcPts val="0"/>
              </a:spcBef>
              <a:spcAft>
                <a:spcPts val="0"/>
              </a:spcAft>
              <a:buSzPts val="1100"/>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a:noFill/>
          <a:ln>
            <a:noFill/>
          </a:ln>
        </p:spPr>
        <p:txBody>
          <a:bodyPr spcFirstLastPara="1" wrap="square" lIns="91425" tIns="91425" rIns="91425" bIns="91425" anchor="ctr" anchorCtr="0">
            <a:normAutofit/>
          </a:bodyPr>
          <a:lstStyle>
            <a:lvl1pPr lvl="0" algn="ctr">
              <a:lnSpc>
                <a:spcPct val="100000"/>
              </a:lnSpc>
              <a:spcBef>
                <a:spcPts val="0"/>
              </a:spcBef>
              <a:spcAft>
                <a:spcPts val="0"/>
              </a:spcAft>
              <a:buSzPts val="3600"/>
              <a:buNone/>
              <a:defRPr sz="3600"/>
            </a:lvl1pPr>
            <a:lvl2pPr lvl="1" algn="ctr">
              <a:lnSpc>
                <a:spcPct val="100000"/>
              </a:lnSpc>
              <a:spcBef>
                <a:spcPts val="0"/>
              </a:spcBef>
              <a:spcAft>
                <a:spcPts val="0"/>
              </a:spcAft>
              <a:buSzPts val="3600"/>
              <a:buNone/>
              <a:defRPr sz="3600"/>
            </a:lvl2pPr>
            <a:lvl3pPr lvl="2" algn="ctr">
              <a:lnSpc>
                <a:spcPct val="100000"/>
              </a:lnSpc>
              <a:spcBef>
                <a:spcPts val="0"/>
              </a:spcBef>
              <a:spcAft>
                <a:spcPts val="0"/>
              </a:spcAft>
              <a:buSzPts val="3600"/>
              <a:buNone/>
              <a:defRPr sz="3600"/>
            </a:lvl3pPr>
            <a:lvl4pPr lvl="3" algn="ctr">
              <a:lnSpc>
                <a:spcPct val="100000"/>
              </a:lnSpc>
              <a:spcBef>
                <a:spcPts val="0"/>
              </a:spcBef>
              <a:spcAft>
                <a:spcPts val="0"/>
              </a:spcAft>
              <a:buSzPts val="3600"/>
              <a:buNone/>
              <a:defRPr sz="3600"/>
            </a:lvl4pPr>
            <a:lvl5pPr lvl="4" algn="ctr">
              <a:lnSpc>
                <a:spcPct val="100000"/>
              </a:lnSpc>
              <a:spcBef>
                <a:spcPts val="0"/>
              </a:spcBef>
              <a:spcAft>
                <a:spcPts val="0"/>
              </a:spcAft>
              <a:buSzPts val="3600"/>
              <a:buNone/>
              <a:defRPr sz="3600"/>
            </a:lvl5pPr>
            <a:lvl6pPr lvl="5" algn="ctr">
              <a:lnSpc>
                <a:spcPct val="100000"/>
              </a:lnSpc>
              <a:spcBef>
                <a:spcPts val="0"/>
              </a:spcBef>
              <a:spcAft>
                <a:spcPts val="0"/>
              </a:spcAft>
              <a:buSzPts val="3600"/>
              <a:buNone/>
              <a:defRPr sz="3600"/>
            </a:lvl6pPr>
            <a:lvl7pPr lvl="6" algn="ctr">
              <a:lnSpc>
                <a:spcPct val="100000"/>
              </a:lnSpc>
              <a:spcBef>
                <a:spcPts val="0"/>
              </a:spcBef>
              <a:spcAft>
                <a:spcPts val="0"/>
              </a:spcAft>
              <a:buSzPts val="3600"/>
              <a:buNone/>
              <a:defRPr sz="3600"/>
            </a:lvl7pPr>
            <a:lvl8pPr lvl="7" algn="ctr">
              <a:lnSpc>
                <a:spcPct val="100000"/>
              </a:lnSpc>
              <a:spcBef>
                <a:spcPts val="0"/>
              </a:spcBef>
              <a:spcAft>
                <a:spcPts val="0"/>
              </a:spcAft>
              <a:buSzPts val="3600"/>
              <a:buNone/>
              <a:defRPr sz="3600"/>
            </a:lvl8pPr>
            <a:lvl9pPr lvl="8" algn="ctr">
              <a:lnSpc>
                <a:spcPct val="100000"/>
              </a:lnSpc>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a:noFill/>
          <a:ln>
            <a:noFill/>
          </a:ln>
        </p:spPr>
        <p:txBody>
          <a:bodyPr spcFirstLastPara="1" wrap="square" lIns="91425" tIns="91425" rIns="91425" bIns="91425" anchor="t" anchorCtr="0">
            <a:normAutofit/>
          </a:bodyPr>
          <a:lstStyle>
            <a:lvl1pPr marL="457200" lvl="0" indent="-317500" algn="l">
              <a:lnSpc>
                <a:spcPct val="115000"/>
              </a:lnSpc>
              <a:spcBef>
                <a:spcPts val="0"/>
              </a:spcBef>
              <a:spcAft>
                <a:spcPts val="0"/>
              </a:spcAft>
              <a:buSzPts val="1400"/>
              <a:buChar char="●"/>
              <a:defRPr sz="14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a:noFill/>
          <a:ln>
            <a:noFill/>
          </a:ln>
        </p:spPr>
        <p:txBody>
          <a:bodyPr spcFirstLastPara="1" wrap="square" lIns="91425" tIns="91425" rIns="91425" bIns="91425" anchor="b" anchorCtr="0">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a:noFill/>
          <a:ln>
            <a:noFill/>
          </a:ln>
        </p:spPr>
        <p:txBody>
          <a:bodyPr spcFirstLastPara="1" wrap="square" lIns="91425" tIns="91425" rIns="91425" bIns="91425" anchor="t" anchorCtr="0">
            <a:normAutofit/>
          </a:bodyPr>
          <a:lstStyle>
            <a:lvl1pPr marL="457200" lvl="0" indent="-304800" algn="l">
              <a:lnSpc>
                <a:spcPct val="115000"/>
              </a:lnSpc>
              <a:spcBef>
                <a:spcPts val="0"/>
              </a:spcBef>
              <a:spcAft>
                <a:spcPts val="0"/>
              </a:spcAft>
              <a:buSzPts val="1200"/>
              <a:buChar char="●"/>
              <a:defRPr sz="1200"/>
            </a:lvl1pPr>
            <a:lvl2pPr marL="914400" lvl="1" indent="-304800" algn="l">
              <a:lnSpc>
                <a:spcPct val="115000"/>
              </a:lnSpc>
              <a:spcBef>
                <a:spcPts val="0"/>
              </a:spcBef>
              <a:spcAft>
                <a:spcPts val="0"/>
              </a:spcAft>
              <a:buSzPts val="1200"/>
              <a:buChar char="○"/>
              <a:defRPr sz="1200"/>
            </a:lvl2pPr>
            <a:lvl3pPr marL="1371600" lvl="2" indent="-304800" algn="l">
              <a:lnSpc>
                <a:spcPct val="115000"/>
              </a:lnSpc>
              <a:spcBef>
                <a:spcPts val="0"/>
              </a:spcBef>
              <a:spcAft>
                <a:spcPts val="0"/>
              </a:spcAft>
              <a:buSzPts val="1200"/>
              <a:buChar char="■"/>
              <a:defRPr sz="1200"/>
            </a:lvl3pPr>
            <a:lvl4pPr marL="1828800" lvl="3" indent="-304800" algn="l">
              <a:lnSpc>
                <a:spcPct val="115000"/>
              </a:lnSpc>
              <a:spcBef>
                <a:spcPts val="0"/>
              </a:spcBef>
              <a:spcAft>
                <a:spcPts val="0"/>
              </a:spcAft>
              <a:buSzPts val="1200"/>
              <a:buChar char="●"/>
              <a:defRPr sz="1200"/>
            </a:lvl4pPr>
            <a:lvl5pPr marL="2286000" lvl="4" indent="-304800" algn="l">
              <a:lnSpc>
                <a:spcPct val="115000"/>
              </a:lnSpc>
              <a:spcBef>
                <a:spcPts val="0"/>
              </a:spcBef>
              <a:spcAft>
                <a:spcPts val="0"/>
              </a:spcAft>
              <a:buSzPts val="1200"/>
              <a:buChar char="○"/>
              <a:defRPr sz="1200"/>
            </a:lvl5pPr>
            <a:lvl6pPr marL="2743200" lvl="5" indent="-304800" algn="l">
              <a:lnSpc>
                <a:spcPct val="115000"/>
              </a:lnSpc>
              <a:spcBef>
                <a:spcPts val="0"/>
              </a:spcBef>
              <a:spcAft>
                <a:spcPts val="0"/>
              </a:spcAft>
              <a:buSzPts val="1200"/>
              <a:buChar char="■"/>
              <a:defRPr sz="1200"/>
            </a:lvl6pPr>
            <a:lvl7pPr marL="3200400" lvl="6" indent="-304800" algn="l">
              <a:lnSpc>
                <a:spcPct val="115000"/>
              </a:lnSpc>
              <a:spcBef>
                <a:spcPts val="0"/>
              </a:spcBef>
              <a:spcAft>
                <a:spcPts val="0"/>
              </a:spcAft>
              <a:buSzPts val="1200"/>
              <a:buChar char="●"/>
              <a:defRPr sz="1200"/>
            </a:lvl7pPr>
            <a:lvl8pPr marL="3657600" lvl="7" indent="-304800" algn="l">
              <a:lnSpc>
                <a:spcPct val="115000"/>
              </a:lnSpc>
              <a:spcBef>
                <a:spcPts val="0"/>
              </a:spcBef>
              <a:spcAft>
                <a:spcPts val="0"/>
              </a:spcAft>
              <a:buSzPts val="1200"/>
              <a:buChar char="○"/>
              <a:defRPr sz="1200"/>
            </a:lvl8pPr>
            <a:lvl9pPr marL="4114800" lvl="8" indent="-304800" algn="l">
              <a:lnSpc>
                <a:spcPct val="115000"/>
              </a:lnSpc>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a:noFill/>
          <a:ln>
            <a:noFill/>
          </a:ln>
        </p:spPr>
        <p:txBody>
          <a:bodyPr spcFirstLastPara="1" wrap="square" lIns="91425" tIns="91425" rIns="91425" bIns="91425" anchor="ctr" anchorCtr="0">
            <a:normAutofit/>
          </a:bodyPr>
          <a:lstStyle>
            <a:lvl1pPr lvl="0" algn="l">
              <a:lnSpc>
                <a:spcPct val="100000"/>
              </a:lnSpc>
              <a:spcBef>
                <a:spcPts val="0"/>
              </a:spcBef>
              <a:spcAft>
                <a:spcPts val="0"/>
              </a:spcAft>
              <a:buSzPts val="4800"/>
              <a:buNone/>
              <a:defRPr sz="4800"/>
            </a:lvl1pPr>
            <a:lvl2pPr lvl="1" algn="l">
              <a:lnSpc>
                <a:spcPct val="100000"/>
              </a:lnSpc>
              <a:spcBef>
                <a:spcPts val="0"/>
              </a:spcBef>
              <a:spcAft>
                <a:spcPts val="0"/>
              </a:spcAft>
              <a:buSzPts val="4800"/>
              <a:buNone/>
              <a:defRPr sz="4800"/>
            </a:lvl2pPr>
            <a:lvl3pPr lvl="2" algn="l">
              <a:lnSpc>
                <a:spcPct val="100000"/>
              </a:lnSpc>
              <a:spcBef>
                <a:spcPts val="0"/>
              </a:spcBef>
              <a:spcAft>
                <a:spcPts val="0"/>
              </a:spcAft>
              <a:buSzPts val="4800"/>
              <a:buNone/>
              <a:defRPr sz="4800"/>
            </a:lvl3pPr>
            <a:lvl4pPr lvl="3" algn="l">
              <a:lnSpc>
                <a:spcPct val="100000"/>
              </a:lnSpc>
              <a:spcBef>
                <a:spcPts val="0"/>
              </a:spcBef>
              <a:spcAft>
                <a:spcPts val="0"/>
              </a:spcAft>
              <a:buSzPts val="4800"/>
              <a:buNone/>
              <a:defRPr sz="4800"/>
            </a:lvl4pPr>
            <a:lvl5pPr lvl="4" algn="l">
              <a:lnSpc>
                <a:spcPct val="100000"/>
              </a:lnSpc>
              <a:spcBef>
                <a:spcPts val="0"/>
              </a:spcBef>
              <a:spcAft>
                <a:spcPts val="0"/>
              </a:spcAft>
              <a:buSzPts val="4800"/>
              <a:buNone/>
              <a:defRPr sz="4800"/>
            </a:lvl5pPr>
            <a:lvl6pPr lvl="5" algn="l">
              <a:lnSpc>
                <a:spcPct val="100000"/>
              </a:lnSpc>
              <a:spcBef>
                <a:spcPts val="0"/>
              </a:spcBef>
              <a:spcAft>
                <a:spcPts val="0"/>
              </a:spcAft>
              <a:buSzPts val="4800"/>
              <a:buNone/>
              <a:defRPr sz="4800"/>
            </a:lvl6pPr>
            <a:lvl7pPr lvl="6" algn="l">
              <a:lnSpc>
                <a:spcPct val="100000"/>
              </a:lnSpc>
              <a:spcBef>
                <a:spcPts val="0"/>
              </a:spcBef>
              <a:spcAft>
                <a:spcPts val="0"/>
              </a:spcAft>
              <a:buSzPts val="4800"/>
              <a:buNone/>
              <a:defRPr sz="4800"/>
            </a:lvl7pPr>
            <a:lvl8pPr lvl="7" algn="l">
              <a:lnSpc>
                <a:spcPct val="100000"/>
              </a:lnSpc>
              <a:spcBef>
                <a:spcPts val="0"/>
              </a:spcBef>
              <a:spcAft>
                <a:spcPts val="0"/>
              </a:spcAft>
              <a:buSzPts val="4800"/>
              <a:buNone/>
              <a:defRPr sz="4800"/>
            </a:lvl8pPr>
            <a:lvl9pPr lvl="8" algn="l">
              <a:lnSpc>
                <a:spcPct val="100000"/>
              </a:lnSpc>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marR="0" lvl="0" indent="0" algn="l"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37" name="Google Shape;37;p9"/>
          <p:cNvSpPr txBox="1">
            <a:spLocks noGrp="1"/>
          </p:cNvSpPr>
          <p:nvPr>
            <p:ph type="title"/>
          </p:nvPr>
        </p:nvSpPr>
        <p:spPr>
          <a:xfrm>
            <a:off x="265500" y="1233175"/>
            <a:ext cx="4045200" cy="14823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a:noFill/>
          <a:ln>
            <a:noFill/>
          </a:ln>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a:noFill/>
          <a:ln>
            <a:noFill/>
          </a:ln>
        </p:spPr>
        <p:txBody>
          <a:bodyPr spcFirstLastPara="1" wrap="square" lIns="91425" tIns="91425" rIns="91425" bIns="91425" anchor="ctr" anchorCtr="0">
            <a:normAutofit/>
          </a:bodyPr>
          <a:lstStyle>
            <a:lvl1pPr marL="457200" lvl="0" indent="-342900" algn="l">
              <a:lnSpc>
                <a:spcPct val="115000"/>
              </a:lnSpc>
              <a:spcBef>
                <a:spcPts val="0"/>
              </a:spcBef>
              <a:spcAft>
                <a:spcPts val="0"/>
              </a:spcAft>
              <a:buSzPts val="1800"/>
              <a:buChar char="●"/>
              <a:defRPr/>
            </a:lvl1pPr>
            <a:lvl2pPr marL="914400" lvl="1" indent="-317500" algn="l">
              <a:lnSpc>
                <a:spcPct val="115000"/>
              </a:lnSpc>
              <a:spcBef>
                <a:spcPts val="0"/>
              </a:spcBef>
              <a:spcAft>
                <a:spcPts val="0"/>
              </a:spcAft>
              <a:buSzPts val="1400"/>
              <a:buChar char="○"/>
              <a:defRPr/>
            </a:lvl2pPr>
            <a:lvl3pPr marL="1371600" lvl="2" indent="-317500" algn="l">
              <a:lnSpc>
                <a:spcPct val="115000"/>
              </a:lnSpc>
              <a:spcBef>
                <a:spcPts val="0"/>
              </a:spcBef>
              <a:spcAft>
                <a:spcPts val="0"/>
              </a:spcAft>
              <a:buSzPts val="1400"/>
              <a:buChar char="■"/>
              <a:defRPr/>
            </a:lvl3pPr>
            <a:lvl4pPr marL="1828800" lvl="3" indent="-317500" algn="l">
              <a:lnSpc>
                <a:spcPct val="115000"/>
              </a:lnSpc>
              <a:spcBef>
                <a:spcPts val="0"/>
              </a:spcBef>
              <a:spcAft>
                <a:spcPts val="0"/>
              </a:spcAft>
              <a:buSzPts val="1400"/>
              <a:buChar char="●"/>
              <a:defRPr/>
            </a:lvl4pPr>
            <a:lvl5pPr marL="2286000" lvl="4" indent="-317500" algn="l">
              <a:lnSpc>
                <a:spcPct val="115000"/>
              </a:lnSpc>
              <a:spcBef>
                <a:spcPts val="0"/>
              </a:spcBef>
              <a:spcAft>
                <a:spcPts val="0"/>
              </a:spcAft>
              <a:buSzPts val="1400"/>
              <a:buChar char="○"/>
              <a:defRPr/>
            </a:lvl5pPr>
            <a:lvl6pPr marL="2743200" lvl="5" indent="-317500" algn="l">
              <a:lnSpc>
                <a:spcPct val="115000"/>
              </a:lnSpc>
              <a:spcBef>
                <a:spcPts val="0"/>
              </a:spcBef>
              <a:spcAft>
                <a:spcPts val="0"/>
              </a:spcAft>
              <a:buSzPts val="1400"/>
              <a:buChar char="■"/>
              <a:defRPr/>
            </a:lvl6pPr>
            <a:lvl7pPr marL="3200400" lvl="6" indent="-317500" algn="l">
              <a:lnSpc>
                <a:spcPct val="115000"/>
              </a:lnSpc>
              <a:spcBef>
                <a:spcPts val="0"/>
              </a:spcBef>
              <a:spcAft>
                <a:spcPts val="0"/>
              </a:spcAft>
              <a:buSzPts val="1400"/>
              <a:buChar char="●"/>
              <a:defRPr/>
            </a:lvl7pPr>
            <a:lvl8pPr marL="3657600" lvl="7" indent="-317500" algn="l">
              <a:lnSpc>
                <a:spcPct val="115000"/>
              </a:lnSpc>
              <a:spcBef>
                <a:spcPts val="0"/>
              </a:spcBef>
              <a:spcAft>
                <a:spcPts val="0"/>
              </a:spcAft>
              <a:buSzPts val="1400"/>
              <a:buChar char="○"/>
              <a:defRPr/>
            </a:lvl8pPr>
            <a:lvl9pPr marL="4114800" lvl="8" indent="-317500" algn="l">
              <a:lnSpc>
                <a:spcPct val="115000"/>
              </a:lnSpc>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a:noFill/>
          <a:ln>
            <a:noFill/>
          </a:ln>
        </p:spPr>
        <p:txBody>
          <a:bodyPr spcFirstLastPara="1" wrap="square" lIns="91425" tIns="91425" rIns="91425" bIns="91425" anchor="ctr" anchorCtr="0">
            <a:normAutofit/>
          </a:bodyPr>
          <a:lstStyle>
            <a:lvl1pPr marL="457200" lvl="0" indent="-228600" algn="l">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a:noFill/>
          <a:ln>
            <a:noFill/>
          </a:ln>
        </p:spPr>
        <p:txBody>
          <a:bodyPr spcFirstLastPara="1" wrap="square" lIns="91425" tIns="91425" rIns="91425" bIns="91425" anchor="b" anchorCtr="0">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a:noFill/>
          <a:ln>
            <a:noFill/>
          </a:ln>
        </p:spPr>
        <p:txBody>
          <a:bodyPr spcFirstLastPara="1" wrap="square" lIns="91425" tIns="91425" rIns="91425" bIns="91425" anchor="t" anchorCtr="0">
            <a:normAutofit/>
          </a:bodyPr>
          <a:lstStyle>
            <a:lvl1pPr marL="457200" lvl="0" indent="-342900" algn="ctr">
              <a:lnSpc>
                <a:spcPct val="115000"/>
              </a:lnSpc>
              <a:spcBef>
                <a:spcPts val="0"/>
              </a:spcBef>
              <a:spcAft>
                <a:spcPts val="0"/>
              </a:spcAft>
              <a:buSzPts val="1800"/>
              <a:buChar char="●"/>
              <a:defRPr/>
            </a:lvl1pPr>
            <a:lvl2pPr marL="914400" lvl="1" indent="-317500" algn="ctr">
              <a:lnSpc>
                <a:spcPct val="115000"/>
              </a:lnSpc>
              <a:spcBef>
                <a:spcPts val="0"/>
              </a:spcBef>
              <a:spcAft>
                <a:spcPts val="0"/>
              </a:spcAft>
              <a:buSzPts val="1400"/>
              <a:buChar char="○"/>
              <a:defRPr/>
            </a:lvl2pPr>
            <a:lvl3pPr marL="1371600" lvl="2" indent="-317500" algn="ctr">
              <a:lnSpc>
                <a:spcPct val="115000"/>
              </a:lnSpc>
              <a:spcBef>
                <a:spcPts val="0"/>
              </a:spcBef>
              <a:spcAft>
                <a:spcPts val="0"/>
              </a:spcAft>
              <a:buSzPts val="1400"/>
              <a:buChar char="■"/>
              <a:defRPr/>
            </a:lvl3pPr>
            <a:lvl4pPr marL="1828800" lvl="3" indent="-317500" algn="ctr">
              <a:lnSpc>
                <a:spcPct val="115000"/>
              </a:lnSpc>
              <a:spcBef>
                <a:spcPts val="0"/>
              </a:spcBef>
              <a:spcAft>
                <a:spcPts val="0"/>
              </a:spcAft>
              <a:buSzPts val="1400"/>
              <a:buChar char="●"/>
              <a:defRPr/>
            </a:lvl4pPr>
            <a:lvl5pPr marL="2286000" lvl="4" indent="-317500" algn="ctr">
              <a:lnSpc>
                <a:spcPct val="115000"/>
              </a:lnSpc>
              <a:spcBef>
                <a:spcPts val="0"/>
              </a:spcBef>
              <a:spcAft>
                <a:spcPts val="0"/>
              </a:spcAft>
              <a:buSzPts val="1400"/>
              <a:buChar char="○"/>
              <a:defRPr/>
            </a:lvl5pPr>
            <a:lvl6pPr marL="2743200" lvl="5" indent="-317500" algn="ctr">
              <a:lnSpc>
                <a:spcPct val="115000"/>
              </a:lnSpc>
              <a:spcBef>
                <a:spcPts val="0"/>
              </a:spcBef>
              <a:spcAft>
                <a:spcPts val="0"/>
              </a:spcAft>
              <a:buSzPts val="1400"/>
              <a:buChar char="■"/>
              <a:defRPr/>
            </a:lvl6pPr>
            <a:lvl7pPr marL="3200400" lvl="6" indent="-317500" algn="ctr">
              <a:lnSpc>
                <a:spcPct val="115000"/>
              </a:lnSpc>
              <a:spcBef>
                <a:spcPts val="0"/>
              </a:spcBef>
              <a:spcAft>
                <a:spcPts val="0"/>
              </a:spcAft>
              <a:buSzPts val="1400"/>
              <a:buChar char="●"/>
              <a:defRPr/>
            </a:lvl7pPr>
            <a:lvl8pPr marL="3657600" lvl="7" indent="-317500" algn="ctr">
              <a:lnSpc>
                <a:spcPct val="115000"/>
              </a:lnSpc>
              <a:spcBef>
                <a:spcPts val="0"/>
              </a:spcBef>
              <a:spcAft>
                <a:spcPts val="0"/>
              </a:spcAft>
              <a:buSzPts val="1400"/>
              <a:buChar char="○"/>
              <a:defRPr/>
            </a:lvl8pPr>
            <a:lvl9pPr marL="4114800" lvl="8" indent="-317500" algn="ctr">
              <a:lnSpc>
                <a:spcPct val="115000"/>
              </a:lnSpc>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Title, Content" type="obj">
  <p:cSld name="OBJECT">
    <p:spTree>
      <p:nvGrpSpPr>
        <p:cNvPr id="1" name="Shape 50"/>
        <p:cNvGrpSpPr/>
        <p:nvPr/>
      </p:nvGrpSpPr>
      <p:grpSpPr>
        <a:xfrm>
          <a:off x="0" y="0"/>
          <a:ext cx="0" cy="0"/>
          <a:chOff x="0" y="0"/>
          <a:chExt cx="0" cy="0"/>
        </a:xfrm>
      </p:grpSpPr>
      <p:sp>
        <p:nvSpPr>
          <p:cNvPr id="51" name="Google Shape;51;p13"/>
          <p:cNvSpPr txBox="1">
            <a:spLocks noGrp="1"/>
          </p:cNvSpPr>
          <p:nvPr>
            <p:ph type="title"/>
          </p:nvPr>
        </p:nvSpPr>
        <p:spPr>
          <a:xfrm>
            <a:off x="457172" y="205067"/>
            <a:ext cx="8228700" cy="858600"/>
          </a:xfrm>
          <a:prstGeom prst="rect">
            <a:avLst/>
          </a:prstGeom>
          <a:noFill/>
          <a:ln>
            <a:noFill/>
          </a:ln>
        </p:spPr>
        <p:txBody>
          <a:bodyPr spcFirstLastPara="1" wrap="square" lIns="0" tIns="0" rIns="0" bIns="0" anchor="ctr" anchorCtr="0">
            <a:normAutofit/>
          </a:bodyPr>
          <a:lstStyle>
            <a:lvl1pPr lvl="0" algn="l">
              <a:lnSpc>
                <a:spcPct val="100000"/>
              </a:lnSpc>
              <a:spcBef>
                <a:spcPts val="0"/>
              </a:spcBef>
              <a:spcAft>
                <a:spcPts val="0"/>
              </a:spcAft>
              <a:buSzPts val="2800"/>
              <a:buNone/>
              <a:defRPr/>
            </a:lvl1pPr>
            <a:lvl2pPr lvl="1" algn="l">
              <a:lnSpc>
                <a:spcPct val="100000"/>
              </a:lnSpc>
              <a:spcBef>
                <a:spcPts val="0"/>
              </a:spcBef>
              <a:spcAft>
                <a:spcPts val="0"/>
              </a:spcAft>
              <a:buSzPts val="2800"/>
              <a:buNone/>
              <a:defRPr/>
            </a:lvl2pPr>
            <a:lvl3pPr lvl="2" algn="l">
              <a:lnSpc>
                <a:spcPct val="100000"/>
              </a:lnSpc>
              <a:spcBef>
                <a:spcPts val="0"/>
              </a:spcBef>
              <a:spcAft>
                <a:spcPts val="0"/>
              </a:spcAft>
              <a:buSzPts val="2800"/>
              <a:buNone/>
              <a:defRPr/>
            </a:lvl3pPr>
            <a:lvl4pPr lvl="3" algn="l">
              <a:lnSpc>
                <a:spcPct val="100000"/>
              </a:lnSpc>
              <a:spcBef>
                <a:spcPts val="0"/>
              </a:spcBef>
              <a:spcAft>
                <a:spcPts val="0"/>
              </a:spcAft>
              <a:buSzPts val="2800"/>
              <a:buNone/>
              <a:defRPr/>
            </a:lvl4pPr>
            <a:lvl5pPr lvl="4" algn="l">
              <a:lnSpc>
                <a:spcPct val="100000"/>
              </a:lnSpc>
              <a:spcBef>
                <a:spcPts val="0"/>
              </a:spcBef>
              <a:spcAft>
                <a:spcPts val="0"/>
              </a:spcAft>
              <a:buSzPts val="2800"/>
              <a:buNone/>
              <a:defRPr/>
            </a:lvl5pPr>
            <a:lvl6pPr lvl="5" algn="l">
              <a:lnSpc>
                <a:spcPct val="100000"/>
              </a:lnSpc>
              <a:spcBef>
                <a:spcPts val="0"/>
              </a:spcBef>
              <a:spcAft>
                <a:spcPts val="0"/>
              </a:spcAft>
              <a:buSzPts val="2800"/>
              <a:buNone/>
              <a:defRPr/>
            </a:lvl6pPr>
            <a:lvl7pPr lvl="6" algn="l">
              <a:lnSpc>
                <a:spcPct val="100000"/>
              </a:lnSpc>
              <a:spcBef>
                <a:spcPts val="0"/>
              </a:spcBef>
              <a:spcAft>
                <a:spcPts val="0"/>
              </a:spcAft>
              <a:buSzPts val="2800"/>
              <a:buNone/>
              <a:defRPr/>
            </a:lvl7pPr>
            <a:lvl8pPr lvl="7" algn="l">
              <a:lnSpc>
                <a:spcPct val="100000"/>
              </a:lnSpc>
              <a:spcBef>
                <a:spcPts val="0"/>
              </a:spcBef>
              <a:spcAft>
                <a:spcPts val="0"/>
              </a:spcAft>
              <a:buSzPts val="2800"/>
              <a:buNone/>
              <a:defRPr/>
            </a:lvl8pPr>
            <a:lvl9pPr lvl="8" algn="l">
              <a:lnSpc>
                <a:spcPct val="100000"/>
              </a:lnSpc>
              <a:spcBef>
                <a:spcPts val="0"/>
              </a:spcBef>
              <a:spcAft>
                <a:spcPts val="0"/>
              </a:spcAft>
              <a:buSzPts val="2800"/>
              <a:buNone/>
              <a:defRPr/>
            </a:lvl9pPr>
          </a:lstStyle>
          <a:p>
            <a:endParaRPr/>
          </a:p>
        </p:txBody>
      </p:sp>
      <p:sp>
        <p:nvSpPr>
          <p:cNvPr id="52" name="Google Shape;52;p13"/>
          <p:cNvSpPr txBox="1">
            <a:spLocks noGrp="1"/>
          </p:cNvSpPr>
          <p:nvPr>
            <p:ph type="body" idx="1"/>
          </p:nvPr>
        </p:nvSpPr>
        <p:spPr>
          <a:xfrm>
            <a:off x="457172" y="1203299"/>
            <a:ext cx="8228700" cy="2982600"/>
          </a:xfrm>
          <a:prstGeom prst="rect">
            <a:avLst/>
          </a:prstGeom>
          <a:noFill/>
          <a:ln>
            <a:noFill/>
          </a:ln>
        </p:spPr>
        <p:txBody>
          <a:bodyPr spcFirstLastPara="1" wrap="square" lIns="0" tIns="0" rIns="0" bIns="0" anchor="t" anchorCtr="0">
            <a:normAutofit/>
          </a:bodyPr>
          <a:lstStyle>
            <a:lvl1pPr marL="457200" lvl="0" indent="-228600" algn="l">
              <a:lnSpc>
                <a:spcPct val="115000"/>
              </a:lnSpc>
              <a:spcBef>
                <a:spcPts val="0"/>
              </a:spcBef>
              <a:spcAft>
                <a:spcPts val="0"/>
              </a:spcAft>
              <a:buSzPts val="1800"/>
              <a:buNone/>
              <a:defRPr/>
            </a:lvl1pPr>
            <a:lvl2pPr marL="914400" lvl="1" indent="-228600" algn="l">
              <a:lnSpc>
                <a:spcPct val="115000"/>
              </a:lnSpc>
              <a:spcBef>
                <a:spcPts val="0"/>
              </a:spcBef>
              <a:spcAft>
                <a:spcPts val="0"/>
              </a:spcAft>
              <a:buSzPts val="1400"/>
              <a:buNone/>
              <a:defRPr/>
            </a:lvl2pPr>
            <a:lvl3pPr marL="1371600" lvl="2" indent="-228600" algn="l">
              <a:lnSpc>
                <a:spcPct val="115000"/>
              </a:lnSpc>
              <a:spcBef>
                <a:spcPts val="0"/>
              </a:spcBef>
              <a:spcAft>
                <a:spcPts val="0"/>
              </a:spcAft>
              <a:buSzPts val="1400"/>
              <a:buNone/>
              <a:defRPr/>
            </a:lvl3pPr>
            <a:lvl4pPr marL="1828800" lvl="3" indent="-228600" algn="l">
              <a:lnSpc>
                <a:spcPct val="115000"/>
              </a:lnSpc>
              <a:spcBef>
                <a:spcPts val="0"/>
              </a:spcBef>
              <a:spcAft>
                <a:spcPts val="0"/>
              </a:spcAft>
              <a:buSzPts val="1400"/>
              <a:buNone/>
              <a:defRPr/>
            </a:lvl4pPr>
            <a:lvl5pPr marL="2286000" lvl="4" indent="-228600" algn="l">
              <a:lnSpc>
                <a:spcPct val="115000"/>
              </a:lnSpc>
              <a:spcBef>
                <a:spcPts val="0"/>
              </a:spcBef>
              <a:spcAft>
                <a:spcPts val="0"/>
              </a:spcAft>
              <a:buSzPts val="1400"/>
              <a:buNone/>
              <a:defRPr/>
            </a:lvl5pPr>
            <a:lvl6pPr marL="2743200" lvl="5" indent="-228600" algn="l">
              <a:lnSpc>
                <a:spcPct val="115000"/>
              </a:lnSpc>
              <a:spcBef>
                <a:spcPts val="0"/>
              </a:spcBef>
              <a:spcAft>
                <a:spcPts val="0"/>
              </a:spcAft>
              <a:buSzPts val="1400"/>
              <a:buNone/>
              <a:defRPr/>
            </a:lvl6pPr>
            <a:lvl7pPr marL="3200400" lvl="6" indent="-228600" algn="l">
              <a:lnSpc>
                <a:spcPct val="115000"/>
              </a:lnSpc>
              <a:spcBef>
                <a:spcPts val="0"/>
              </a:spcBef>
              <a:spcAft>
                <a:spcPts val="0"/>
              </a:spcAft>
              <a:buSzPts val="1400"/>
              <a:buNone/>
              <a:defRPr/>
            </a:lvl7pPr>
            <a:lvl8pPr marL="3657600" lvl="7" indent="-228600" algn="l">
              <a:lnSpc>
                <a:spcPct val="115000"/>
              </a:lnSpc>
              <a:spcBef>
                <a:spcPts val="0"/>
              </a:spcBef>
              <a:spcAft>
                <a:spcPts val="0"/>
              </a:spcAft>
              <a:buSzPts val="1400"/>
              <a:buNone/>
              <a:defRPr/>
            </a:lvl8pPr>
            <a:lvl9pPr marL="4114800" lvl="8" indent="-228600" algn="l">
              <a:lnSpc>
                <a:spcPct val="115000"/>
              </a:lnSpc>
              <a:spcBef>
                <a:spcPts val="0"/>
              </a:spcBef>
              <a:spcAft>
                <a:spcPts val="0"/>
              </a:spcAft>
              <a:buSzPts val="1400"/>
              <a:buNone/>
              <a:defRPr/>
            </a:lvl9pPr>
          </a:lstStyle>
          <a:p>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Section Header">
  <p:cSld name="SECTION_HEADER_1">
    <p:spTree>
      <p:nvGrpSpPr>
        <p:cNvPr id="1" name="Shape 53"/>
        <p:cNvGrpSpPr/>
        <p:nvPr/>
      </p:nvGrpSpPr>
      <p:grpSpPr>
        <a:xfrm>
          <a:off x="0" y="0"/>
          <a:ext cx="0" cy="0"/>
          <a:chOff x="0" y="0"/>
          <a:chExt cx="0" cy="0"/>
        </a:xfrm>
      </p:grpSpPr>
      <p:sp>
        <p:nvSpPr>
          <p:cNvPr id="54" name="Google Shape;54;p14"/>
          <p:cNvSpPr txBox="1">
            <a:spLocks noGrp="1"/>
          </p:cNvSpPr>
          <p:nvPr>
            <p:ph type="title"/>
          </p:nvPr>
        </p:nvSpPr>
        <p:spPr>
          <a:xfrm>
            <a:off x="623888" y="1282303"/>
            <a:ext cx="7886700" cy="2139600"/>
          </a:xfrm>
          <a:prstGeom prst="rect">
            <a:avLst/>
          </a:prstGeom>
          <a:noFill/>
          <a:ln>
            <a:noFill/>
          </a:ln>
        </p:spPr>
        <p:txBody>
          <a:bodyPr spcFirstLastPara="1" wrap="square" lIns="68575" tIns="68575" rIns="68575" bIns="68575" anchor="b" anchorCtr="0">
            <a:noAutofit/>
          </a:bodyPr>
          <a:lstStyle>
            <a:lvl1pPr marR="0" lvl="0" algn="l">
              <a:lnSpc>
                <a:spcPct val="90000"/>
              </a:lnSpc>
              <a:spcBef>
                <a:spcPts val="0"/>
              </a:spcBef>
              <a:spcAft>
                <a:spcPts val="0"/>
              </a:spcAft>
              <a:buClr>
                <a:schemeClr val="dk1"/>
              </a:buClr>
              <a:buSzPts val="4500"/>
              <a:buFont typeface="Calibri"/>
              <a:buNone/>
              <a:defRPr sz="4500" b="0" i="0" u="none" strike="noStrike" cap="none">
                <a:solidFill>
                  <a:schemeClr val="dk1"/>
                </a:solidFill>
                <a:latin typeface="Calibri"/>
                <a:ea typeface="Calibri"/>
                <a:cs typeface="Calibri"/>
                <a:sym typeface="Calibri"/>
              </a:defRPr>
            </a:lvl1pPr>
            <a:lvl2pPr lvl="1" algn="l">
              <a:lnSpc>
                <a:spcPct val="100000"/>
              </a:lnSpc>
              <a:spcBef>
                <a:spcPts val="0"/>
              </a:spcBef>
              <a:spcAft>
                <a:spcPts val="0"/>
              </a:spcAft>
              <a:buSzPts val="1100"/>
              <a:buNone/>
              <a:defRPr sz="1400"/>
            </a:lvl2pPr>
            <a:lvl3pPr lvl="2" algn="l">
              <a:lnSpc>
                <a:spcPct val="100000"/>
              </a:lnSpc>
              <a:spcBef>
                <a:spcPts val="0"/>
              </a:spcBef>
              <a:spcAft>
                <a:spcPts val="0"/>
              </a:spcAft>
              <a:buSzPts val="1100"/>
              <a:buNone/>
              <a:defRPr sz="1400"/>
            </a:lvl3pPr>
            <a:lvl4pPr lvl="3" algn="l">
              <a:lnSpc>
                <a:spcPct val="100000"/>
              </a:lnSpc>
              <a:spcBef>
                <a:spcPts val="0"/>
              </a:spcBef>
              <a:spcAft>
                <a:spcPts val="0"/>
              </a:spcAft>
              <a:buSzPts val="1100"/>
              <a:buNone/>
              <a:defRPr sz="1400"/>
            </a:lvl4pPr>
            <a:lvl5pPr lvl="4" algn="l">
              <a:lnSpc>
                <a:spcPct val="100000"/>
              </a:lnSpc>
              <a:spcBef>
                <a:spcPts val="0"/>
              </a:spcBef>
              <a:spcAft>
                <a:spcPts val="0"/>
              </a:spcAft>
              <a:buSzPts val="1100"/>
              <a:buNone/>
              <a:defRPr sz="1400"/>
            </a:lvl5pPr>
            <a:lvl6pPr lvl="5" algn="l">
              <a:lnSpc>
                <a:spcPct val="100000"/>
              </a:lnSpc>
              <a:spcBef>
                <a:spcPts val="0"/>
              </a:spcBef>
              <a:spcAft>
                <a:spcPts val="0"/>
              </a:spcAft>
              <a:buSzPts val="1100"/>
              <a:buNone/>
              <a:defRPr sz="1400"/>
            </a:lvl6pPr>
            <a:lvl7pPr lvl="6" algn="l">
              <a:lnSpc>
                <a:spcPct val="100000"/>
              </a:lnSpc>
              <a:spcBef>
                <a:spcPts val="0"/>
              </a:spcBef>
              <a:spcAft>
                <a:spcPts val="0"/>
              </a:spcAft>
              <a:buSzPts val="1100"/>
              <a:buNone/>
              <a:defRPr sz="1400"/>
            </a:lvl7pPr>
            <a:lvl8pPr lvl="7" algn="l">
              <a:lnSpc>
                <a:spcPct val="100000"/>
              </a:lnSpc>
              <a:spcBef>
                <a:spcPts val="0"/>
              </a:spcBef>
              <a:spcAft>
                <a:spcPts val="0"/>
              </a:spcAft>
              <a:buSzPts val="1100"/>
              <a:buNone/>
              <a:defRPr sz="1400"/>
            </a:lvl8pPr>
            <a:lvl9pPr lvl="8" algn="l">
              <a:lnSpc>
                <a:spcPct val="100000"/>
              </a:lnSpc>
              <a:spcBef>
                <a:spcPts val="0"/>
              </a:spcBef>
              <a:spcAft>
                <a:spcPts val="0"/>
              </a:spcAft>
              <a:buSzPts val="1100"/>
              <a:buNone/>
              <a:defRPr sz="1400"/>
            </a:lvl9pPr>
          </a:lstStyle>
          <a:p>
            <a:endParaRPr/>
          </a:p>
        </p:txBody>
      </p:sp>
      <p:sp>
        <p:nvSpPr>
          <p:cNvPr id="55" name="Google Shape;55;p14"/>
          <p:cNvSpPr txBox="1">
            <a:spLocks noGrp="1"/>
          </p:cNvSpPr>
          <p:nvPr>
            <p:ph type="body" idx="1"/>
          </p:nvPr>
        </p:nvSpPr>
        <p:spPr>
          <a:xfrm>
            <a:off x="623888" y="3442097"/>
            <a:ext cx="7886700" cy="1125300"/>
          </a:xfrm>
          <a:prstGeom prst="rect">
            <a:avLst/>
          </a:prstGeom>
          <a:noFill/>
          <a:ln>
            <a:noFill/>
          </a:ln>
        </p:spPr>
        <p:txBody>
          <a:bodyPr spcFirstLastPara="1" wrap="square" lIns="68575" tIns="68575" rIns="68575" bIns="68575" anchor="t" anchorCtr="0">
            <a:noAutofit/>
          </a:bodyPr>
          <a:lstStyle>
            <a:lvl1pPr marL="457200" marR="0" lvl="0" indent="-228600" algn="l">
              <a:lnSpc>
                <a:spcPct val="90000"/>
              </a:lnSpc>
              <a:spcBef>
                <a:spcPts val="800"/>
              </a:spcBef>
              <a:spcAft>
                <a:spcPts val="0"/>
              </a:spcAft>
              <a:buClr>
                <a:srgbClr val="888888"/>
              </a:buClr>
              <a:buSzPts val="1800"/>
              <a:buFont typeface="Arial"/>
              <a:buNone/>
              <a:defRPr sz="1800" b="0" i="0" u="none" strike="noStrike" cap="none">
                <a:solidFill>
                  <a:srgbClr val="888888"/>
                </a:solidFill>
                <a:latin typeface="Calibri"/>
                <a:ea typeface="Calibri"/>
                <a:cs typeface="Calibri"/>
                <a:sym typeface="Calibri"/>
              </a:defRPr>
            </a:lvl1pPr>
            <a:lvl2pPr marL="914400" marR="0" lvl="1" indent="-228600" algn="l">
              <a:lnSpc>
                <a:spcPct val="90000"/>
              </a:lnSpc>
              <a:spcBef>
                <a:spcPts val="400"/>
              </a:spcBef>
              <a:spcAft>
                <a:spcPts val="0"/>
              </a:spcAft>
              <a:buClr>
                <a:srgbClr val="888888"/>
              </a:buClr>
              <a:buSzPts val="1500"/>
              <a:buFont typeface="Arial"/>
              <a:buNone/>
              <a:defRPr sz="1500" b="0" i="0" u="none" strike="noStrike" cap="none">
                <a:solidFill>
                  <a:srgbClr val="888888"/>
                </a:solidFill>
                <a:latin typeface="Calibri"/>
                <a:ea typeface="Calibri"/>
                <a:cs typeface="Calibri"/>
                <a:sym typeface="Calibri"/>
              </a:defRPr>
            </a:lvl2pPr>
            <a:lvl3pPr marL="1371600" marR="0" lvl="2" indent="-228600" algn="l">
              <a:lnSpc>
                <a:spcPct val="90000"/>
              </a:lnSpc>
              <a:spcBef>
                <a:spcPts val="400"/>
              </a:spcBef>
              <a:spcAft>
                <a:spcPts val="0"/>
              </a:spcAft>
              <a:buClr>
                <a:srgbClr val="888888"/>
              </a:buClr>
              <a:buSzPts val="1400"/>
              <a:buFont typeface="Arial"/>
              <a:buNone/>
              <a:defRPr sz="1400" b="0" i="0" u="none" strike="noStrike" cap="none">
                <a:solidFill>
                  <a:srgbClr val="888888"/>
                </a:solidFill>
                <a:latin typeface="Calibri"/>
                <a:ea typeface="Calibri"/>
                <a:cs typeface="Calibri"/>
                <a:sym typeface="Calibri"/>
              </a:defRPr>
            </a:lvl3pPr>
            <a:lvl4pPr marL="1828800" marR="0" lvl="3"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4pPr>
            <a:lvl5pPr marL="2286000" marR="0" lvl="4"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5pPr>
            <a:lvl6pPr marL="2743200" marR="0" lvl="5"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6pPr>
            <a:lvl7pPr marL="3200400" marR="0" lvl="6"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7pPr>
            <a:lvl8pPr marL="3657600" marR="0" lvl="7"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8pPr>
            <a:lvl9pPr marL="4114800" marR="0" lvl="8" indent="-228600" algn="l">
              <a:lnSpc>
                <a:spcPct val="90000"/>
              </a:lnSpc>
              <a:spcBef>
                <a:spcPts val="400"/>
              </a:spcBef>
              <a:spcAft>
                <a:spcPts val="0"/>
              </a:spcAft>
              <a:buClr>
                <a:srgbClr val="888888"/>
              </a:buClr>
              <a:buSzPts val="1200"/>
              <a:buFont typeface="Arial"/>
              <a:buNone/>
              <a:defRPr sz="1200" b="0" i="0" u="none" strike="noStrike" cap="none">
                <a:solidFill>
                  <a:srgbClr val="888888"/>
                </a:solidFill>
                <a:latin typeface="Calibri"/>
                <a:ea typeface="Calibri"/>
                <a:cs typeface="Calibri"/>
                <a:sym typeface="Calibri"/>
              </a:defRPr>
            </a:lvl9pPr>
          </a:lstStyle>
          <a:p>
            <a:endParaRPr/>
          </a:p>
        </p:txBody>
      </p:sp>
      <p:sp>
        <p:nvSpPr>
          <p:cNvPr id="56" name="Google Shape;56;p14"/>
          <p:cNvSpPr txBox="1">
            <a:spLocks noGrp="1"/>
          </p:cNvSpPr>
          <p:nvPr>
            <p:ph type="dt" idx="10"/>
          </p:nvPr>
        </p:nvSpPr>
        <p:spPr>
          <a:xfrm>
            <a:off x="628650" y="4767263"/>
            <a:ext cx="2057400" cy="273900"/>
          </a:xfrm>
          <a:prstGeom prst="rect">
            <a:avLst/>
          </a:prstGeom>
          <a:noFill/>
          <a:ln>
            <a:noFill/>
          </a:ln>
        </p:spPr>
        <p:txBody>
          <a:bodyPr spcFirstLastPara="1" wrap="square" lIns="68575" tIns="68575" rIns="68575" bIns="68575" anchor="ctr" anchorCtr="0">
            <a:noAutofit/>
          </a:bodyPr>
          <a:lstStyle>
            <a:lvl1pPr marR="0" lvl="0" algn="l"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7" name="Google Shape;57;p14"/>
          <p:cNvSpPr txBox="1">
            <a:spLocks noGrp="1"/>
          </p:cNvSpPr>
          <p:nvPr>
            <p:ph type="ftr" idx="11"/>
          </p:nvPr>
        </p:nvSpPr>
        <p:spPr>
          <a:xfrm>
            <a:off x="3028950" y="4767263"/>
            <a:ext cx="3086100" cy="273900"/>
          </a:xfrm>
          <a:prstGeom prst="rect">
            <a:avLst/>
          </a:prstGeom>
          <a:noFill/>
          <a:ln>
            <a:noFill/>
          </a:ln>
        </p:spPr>
        <p:txBody>
          <a:bodyPr spcFirstLastPara="1" wrap="square" lIns="68575" tIns="68575" rIns="68575" bIns="68575" anchor="ctr" anchorCtr="0">
            <a:noAutofit/>
          </a:bodyPr>
          <a:lstStyle>
            <a:lvl1pPr marR="0" lvl="0" algn="ctr" rtl="0">
              <a:lnSpc>
                <a:spcPct val="100000"/>
              </a:lnSpc>
              <a:spcBef>
                <a:spcPts val="0"/>
              </a:spcBef>
              <a:spcAft>
                <a:spcPts val="0"/>
              </a:spcAft>
              <a:buClr>
                <a:srgbClr val="000000"/>
              </a:buClr>
              <a:buSzPts val="1100"/>
              <a:buFont typeface="Arial"/>
              <a:buNone/>
              <a:defRPr sz="9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100"/>
              <a:buFont typeface="Arial"/>
              <a:buNone/>
              <a:defRPr sz="1400" b="0" i="0" u="none" strike="noStrike" cap="none">
                <a:solidFill>
                  <a:schemeClr val="dk1"/>
                </a:solidFill>
                <a:latin typeface="Calibri"/>
                <a:ea typeface="Calibri"/>
                <a:cs typeface="Calibri"/>
                <a:sym typeface="Calibri"/>
              </a:defRPr>
            </a:lvl9pPr>
          </a:lstStyle>
          <a:p>
            <a:endParaRPr/>
          </a:p>
        </p:txBody>
      </p:sp>
      <p:sp>
        <p:nvSpPr>
          <p:cNvPr id="58" name="Google Shape;58;p14"/>
          <p:cNvSpPr txBox="1">
            <a:spLocks noGrp="1"/>
          </p:cNvSpPr>
          <p:nvPr>
            <p:ph type="sldNum" idx="12"/>
          </p:nvPr>
        </p:nvSpPr>
        <p:spPr>
          <a:xfrm>
            <a:off x="6457950" y="4767263"/>
            <a:ext cx="2057400" cy="273900"/>
          </a:xfrm>
          <a:prstGeom prst="rect">
            <a:avLst/>
          </a:prstGeom>
          <a:noFill/>
          <a:ln>
            <a:noFill/>
          </a:ln>
        </p:spPr>
        <p:txBody>
          <a:bodyPr spcFirstLastPara="1" wrap="square" lIns="68575" tIns="34275" rIns="68575" bIns="34275" anchor="ctr" anchorCtr="0">
            <a:noAutofit/>
          </a:bodyPr>
          <a:lstStyle>
            <a:lvl1pPr marL="0" marR="0" lvl="0"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900"/>
              <a:buFont typeface="Arial"/>
              <a:buNone/>
              <a:defRPr sz="9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marR="0" lvl="0"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1pPr>
            <a:lvl2pPr marR="0" lvl="1"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2pPr>
            <a:lvl3pPr marR="0" lvl="2"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3pPr>
            <a:lvl4pPr marR="0" lvl="3"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4pPr>
            <a:lvl5pPr marR="0" lvl="4"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5pPr>
            <a:lvl6pPr marR="0" lvl="5"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6pPr>
            <a:lvl7pPr marR="0" lvl="6"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7pPr>
            <a:lvl8pPr marR="0" lvl="7"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8pPr>
            <a:lvl9pPr marR="0" lvl="8" algn="l" rtl="0">
              <a:lnSpc>
                <a:spcPct val="100000"/>
              </a:lnSpc>
              <a:spcBef>
                <a:spcPts val="0"/>
              </a:spcBef>
              <a:spcAft>
                <a:spcPts val="0"/>
              </a:spcAft>
              <a:buClr>
                <a:schemeClr val="dk1"/>
              </a:buClr>
              <a:buSzPts val="2800"/>
              <a:buFont typeface="Arial"/>
              <a:buNone/>
              <a:defRPr sz="2800" b="0" i="0" u="none" strike="noStrike" cap="none">
                <a:solidFill>
                  <a:schemeClr val="dk1"/>
                </a:solidFill>
                <a:latin typeface="Arial"/>
                <a:ea typeface="Arial"/>
                <a:cs typeface="Arial"/>
                <a:sym typeface="Aria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marR="0" lvl="0" indent="-342900" algn="l" rtl="0">
              <a:lnSpc>
                <a:spcPct val="115000"/>
              </a:lnSpc>
              <a:spcBef>
                <a:spcPts val="0"/>
              </a:spcBef>
              <a:spcAft>
                <a:spcPts val="0"/>
              </a:spcAft>
              <a:buClr>
                <a:schemeClr val="dk2"/>
              </a:buClr>
              <a:buSzPts val="1800"/>
              <a:buFont typeface="Arial"/>
              <a:buChar char="●"/>
              <a:defRPr sz="1800" b="0" i="0" u="none" strike="noStrike" cap="none">
                <a:solidFill>
                  <a:schemeClr val="dk2"/>
                </a:solidFill>
                <a:latin typeface="Arial"/>
                <a:ea typeface="Arial"/>
                <a:cs typeface="Arial"/>
                <a:sym typeface="Arial"/>
              </a:defRPr>
            </a:lvl1pPr>
            <a:lvl2pPr marL="914400" marR="0" lvl="1"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2pPr>
            <a:lvl3pPr marL="1371600" marR="0" lvl="2"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3pPr>
            <a:lvl4pPr marL="1828800" marR="0" lvl="3"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4pPr>
            <a:lvl5pPr marL="2286000" marR="0" lvl="4"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5pPr>
            <a:lvl6pPr marL="2743200" marR="0" lvl="5"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6pPr>
            <a:lvl7pPr marL="3200400" marR="0" lvl="6"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7pPr>
            <a:lvl8pPr marL="3657600" marR="0" lvl="7"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8pPr>
            <a:lvl9pPr marL="4114800" marR="0" lvl="8" indent="-317500" algn="l" rtl="0">
              <a:lnSpc>
                <a:spcPct val="115000"/>
              </a:lnSpc>
              <a:spcBef>
                <a:spcPts val="0"/>
              </a:spcBef>
              <a:spcAft>
                <a:spcPts val="0"/>
              </a:spcAft>
              <a:buClr>
                <a:schemeClr val="dk2"/>
              </a:buClr>
              <a:buSzPts val="1400"/>
              <a:buFont typeface="Arial"/>
              <a:buChar char="■"/>
              <a:defRPr sz="1400" b="0" i="0" u="none" strike="noStrike" cap="none">
                <a:solidFill>
                  <a:schemeClr val="dk2"/>
                </a:solidFill>
                <a:latin typeface="Arial"/>
                <a:ea typeface="Arial"/>
                <a:cs typeface="Arial"/>
                <a:sym typeface="Aria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marL="0" marR="0" lvl="0"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1pPr>
            <a:lvl2pPr marL="0" marR="0" lvl="1"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2pPr>
            <a:lvl3pPr marL="0" marR="0" lvl="2"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3pPr>
            <a:lvl4pPr marL="0" marR="0" lvl="3"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4pPr>
            <a:lvl5pPr marL="0" marR="0" lvl="4"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5pPr>
            <a:lvl6pPr marL="0" marR="0" lvl="5"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6pPr>
            <a:lvl7pPr marL="0" marR="0" lvl="6"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7pPr>
            <a:lvl8pPr marL="0" marR="0" lvl="7"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8pPr>
            <a:lvl9pPr marL="0" marR="0" lvl="8" indent="0" algn="r" rtl="0">
              <a:lnSpc>
                <a:spcPct val="100000"/>
              </a:lnSpc>
              <a:spcBef>
                <a:spcPts val="0"/>
              </a:spcBef>
              <a:spcAft>
                <a:spcPts val="0"/>
              </a:spcAft>
              <a:buClr>
                <a:srgbClr val="000000"/>
              </a:buClr>
              <a:buSzPts val="1000"/>
              <a:buFont typeface="Arial"/>
              <a:buNone/>
              <a:defRPr sz="1000" b="0" i="0" u="none" strike="noStrike" cap="none">
                <a:solidFill>
                  <a:schemeClr val="dk2"/>
                </a:solidFill>
                <a:latin typeface="Arial"/>
                <a:ea typeface="Arial"/>
                <a:cs typeface="Arial"/>
                <a:sym typeface="Aria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3" Type="http://schemas.openxmlformats.org/officeDocument/2006/relationships/hyperlink" Target="https://huggingface.co/open-llm-leaderboard" TargetMode="External"/><Relationship Id="rId18" Type="http://schemas.openxmlformats.org/officeDocument/2006/relationships/hyperlink" Target="https://www.anthropic.com/news/claude-sonnet-4-5" TargetMode="External"/><Relationship Id="rId26" Type="http://schemas.openxmlformats.org/officeDocument/2006/relationships/hyperlink" Target="https://www.alibabacloud.com/help/en/model-studio/models" TargetMode="External"/><Relationship Id="rId39" Type="http://schemas.openxmlformats.org/officeDocument/2006/relationships/hyperlink" Target="https://x.ai/news/grok-4-1-fast" TargetMode="External"/><Relationship Id="rId21" Type="http://schemas.openxmlformats.org/officeDocument/2006/relationships/hyperlink" Target="https://x.ai/news/grok-4-1" TargetMode="External"/><Relationship Id="rId34" Type="http://schemas.openxmlformats.org/officeDocument/2006/relationships/hyperlink" Target="https://aistudio.google.com/app/prompts/new_chat?model=gemini-2.5-pro" TargetMode="External"/><Relationship Id="rId7" Type="http://schemas.openxmlformats.org/officeDocument/2006/relationships/hyperlink" Target="https://openlm.ai/chatbot-arena/" TargetMode="External"/><Relationship Id="rId12" Type="http://schemas.openxmlformats.org/officeDocument/2006/relationships/hyperlink" Target="https://artificialanalysis.ai/leaderboards/models" TargetMode="External"/><Relationship Id="rId17" Type="http://schemas.openxmlformats.org/officeDocument/2006/relationships/hyperlink" Target="https://www.anthropic.com/news/claude-opus-4-5" TargetMode="External"/><Relationship Id="rId25" Type="http://schemas.openxmlformats.org/officeDocument/2006/relationships/hyperlink" Target="https://openai.com/index/gpt-5-1/" TargetMode="External"/><Relationship Id="rId33" Type="http://schemas.openxmlformats.org/officeDocument/2006/relationships/hyperlink" Target="https://huggingface.co/Qwen/Qwen3-235B-A22B-Instruct-2507" TargetMode="External"/><Relationship Id="rId38" Type="http://schemas.openxmlformats.org/officeDocument/2006/relationships/hyperlink" Target="https://openai.com/index/introducing-o3-and-o4-mini/" TargetMode="External"/><Relationship Id="rId2" Type="http://schemas.openxmlformats.org/officeDocument/2006/relationships/notesSlide" Target="../notesSlides/notesSlide2.xml"/><Relationship Id="rId16" Type="http://schemas.openxmlformats.org/officeDocument/2006/relationships/hyperlink" Target="https://artificialanalysis.ai/models/grok-4" TargetMode="External"/><Relationship Id="rId20" Type="http://schemas.openxmlformats.org/officeDocument/2006/relationships/hyperlink" Target="https://www.anthropic.com/news/claude-opus-4-1" TargetMode="External"/><Relationship Id="rId29" Type="http://schemas.openxmlformats.org/officeDocument/2006/relationships/hyperlink" Target="https://qwen.ai/blog?id=241398b9cd6353de490b0f82806c7848c5d2777d&amp;from=research.latest-advancements-list" TargetMode="External"/><Relationship Id="rId1" Type="http://schemas.openxmlformats.org/officeDocument/2006/relationships/slideLayout" Target="../slideLayouts/slideLayout1.xml"/><Relationship Id="rId6" Type="http://schemas.openxmlformats.org/officeDocument/2006/relationships/hyperlink" Target="https://www.designarena.ai" TargetMode="External"/><Relationship Id="rId11" Type="http://schemas.openxmlformats.org/officeDocument/2006/relationships/hyperlink" Target="https://www.stack-ai.com/llm-leaderboard" TargetMode="External"/><Relationship Id="rId24" Type="http://schemas.openxmlformats.org/officeDocument/2006/relationships/hyperlink" Target="https://openai.com/index/introducing-gpt-5-2" TargetMode="External"/><Relationship Id="rId32" Type="http://schemas.openxmlformats.org/officeDocument/2006/relationships/hyperlink" Target="https://api-docs.deepseek.com/news/news250929" TargetMode="External"/><Relationship Id="rId37" Type="http://schemas.openxmlformats.org/officeDocument/2006/relationships/hyperlink" Target="https://platform.openai.com/docs/models/gpt-5" TargetMode="External"/><Relationship Id="rId40" Type="http://schemas.openxmlformats.org/officeDocument/2006/relationships/hyperlink" Target="https://ernie.baidu.com/blog/posts/ernie-5.0-preview-1103-release-on-lmarena/" TargetMode="External"/><Relationship Id="rId5" Type="http://schemas.openxmlformats.org/officeDocument/2006/relationships/hyperlink" Target="https://lmarena.ai/leaderboard/text/coding" TargetMode="External"/><Relationship Id="rId15" Type="http://schemas.openxmlformats.org/officeDocument/2006/relationships/hyperlink" Target="https://epoch.ai/data/ai-benchmarking-dashboard" TargetMode="External"/><Relationship Id="rId23" Type="http://schemas.openxmlformats.org/officeDocument/2006/relationships/hyperlink" Target="https://www.anthropic.com/news/claude-4" TargetMode="External"/><Relationship Id="rId28" Type="http://schemas.openxmlformats.org/officeDocument/2006/relationships/hyperlink" Target="https://www.anthropic.com/news/claude-haiku-4-5" TargetMode="External"/><Relationship Id="rId36" Type="http://schemas.openxmlformats.org/officeDocument/2006/relationships/hyperlink" Target="https://x.com/OpenAI/status/1905331956856050135" TargetMode="External"/><Relationship Id="rId10" Type="http://schemas.openxmlformats.org/officeDocument/2006/relationships/hyperlink" Target="https://llmworld.net/llm_leaderboards/" TargetMode="External"/><Relationship Id="rId19" Type="http://schemas.openxmlformats.org/officeDocument/2006/relationships/hyperlink" Target="https://aistudio.google.com/app/prompts/new_chat?model=gemini-3-pro-preview" TargetMode="External"/><Relationship Id="rId31" Type="http://schemas.openxmlformats.org/officeDocument/2006/relationships/hyperlink" Target="https://mistral.ai/news/mistral-3" TargetMode="External"/><Relationship Id="rId4" Type="http://schemas.openxmlformats.org/officeDocument/2006/relationships/hyperlink" Target="https://lmarena.ai/leaderboard/text" TargetMode="External"/><Relationship Id="rId9" Type="http://schemas.openxmlformats.org/officeDocument/2006/relationships/hyperlink" Target="https://web.lmarena.ai/leaderboard" TargetMode="External"/><Relationship Id="rId14" Type="http://schemas.openxmlformats.org/officeDocument/2006/relationships/hyperlink" Target="https://www.vellum.ai/llm-leaderboard" TargetMode="External"/><Relationship Id="rId22" Type="http://schemas.openxmlformats.org/officeDocument/2006/relationships/hyperlink" Target="https://blog.google/products/gemini/gemini-3-flash" TargetMode="External"/><Relationship Id="rId27" Type="http://schemas.openxmlformats.org/officeDocument/2006/relationships/hyperlink" Target="https://huggingface.co/moonshotai/Kimi-K2-Thinking" TargetMode="External"/><Relationship Id="rId30" Type="http://schemas.openxmlformats.org/officeDocument/2006/relationships/hyperlink" Target="https://huggingface.co/meituan-longcat/LongCat-Flash-Chat" TargetMode="External"/><Relationship Id="rId35" Type="http://schemas.openxmlformats.org/officeDocument/2006/relationships/hyperlink" Target="https://openai.com/index/introducing-gpt-4-5/" TargetMode="External"/><Relationship Id="rId8" Type="http://schemas.openxmlformats.org/officeDocument/2006/relationships/hyperlink" Target="https://beta.lmarena.ai" TargetMode="External"/><Relationship Id="rId3" Type="http://schemas.openxmlformats.org/officeDocument/2006/relationships/hyperlink" Target="https://en.wikipedia.org/wiki/Elo_rating_system"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hyperlink" Target="https://www.youtube.com/watch?v=DiWX8Pagq1k" TargetMode="External"/><Relationship Id="rId7"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3.png"/><Relationship Id="rId5" Type="http://schemas.openxmlformats.org/officeDocument/2006/relationships/image" Target="../media/image2.png"/><Relationship Id="rId4" Type="http://schemas.openxmlformats.org/officeDocument/2006/relationships/hyperlink" Target="https://www.youtube.com/watch?v=vXMrezKs8Hw" TargetMode="External"/></Relationships>
</file>

<file path=ppt/slides/_rels/slide5.xml.rels><?xml version="1.0" encoding="UTF-8" standalone="yes"?>
<Relationships xmlns="http://schemas.openxmlformats.org/package/2006/relationships"><Relationship Id="rId3" Type="http://schemas.openxmlformats.org/officeDocument/2006/relationships/hyperlink" Target="https://www.youtube.com/watch?v=k9KLsVL4RUo" TargetMode="External"/><Relationship Id="rId7"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hyperlink" Target="https://www.youtube.com/watch?v=U8T-Zf-xYmw" TargetMode="External"/></Relationships>
</file>

<file path=ppt/slides/_rels/slide6.xml.rels><?xml version="1.0" encoding="UTF-8" standalone="yes"?>
<Relationships xmlns="http://schemas.openxmlformats.org/package/2006/relationships"><Relationship Id="rId3" Type="http://schemas.openxmlformats.org/officeDocument/2006/relationships/hyperlink" Target="https://www.youtube.com/watch?v=1choivCbZDg" TargetMode="External"/><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hyperlink" Target="https://www.claude.com/blog/claude-for-chrome" TargetMode="External"/><Relationship Id="rId4" Type="http://schemas.openxmlformats.org/officeDocument/2006/relationships/image" Target="../media/image8.png"/></Relationships>
</file>

<file path=ppt/slides/_rels/slide7.xml.rels><?xml version="1.0" encoding="UTF-8" standalone="yes"?>
<Relationships xmlns="http://schemas.openxmlformats.org/package/2006/relationships"><Relationship Id="rId3" Type="http://schemas.openxmlformats.org/officeDocument/2006/relationships/hyperlink" Target="https://www.youtube.com/@lev-selector/videos" TargetMode="External"/><Relationship Id="rId2" Type="http://schemas.openxmlformats.org/officeDocument/2006/relationships/notesSlide" Target="../notesSlides/notesSlide7.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hyperlink" Target="https://www.youtube.com/watch?v=tJQeHOALOJg" TargetMode="External"/><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11.png"/><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3" Type="http://schemas.openxmlformats.org/officeDocument/2006/relationships/hyperlink" Target="https://www.youtube.com/watch?v=IvJgrwp1VUk" TargetMode="External"/><Relationship Id="rId2" Type="http://schemas.openxmlformats.org/officeDocument/2006/relationships/notesSlide" Target="../notesSlides/notesSlide9.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hyperlink" Target="https://arxiv.org/abs/2512.08296" TargetMode="External"/><Relationship Id="rId4" Type="http://schemas.openxmlformats.org/officeDocument/2006/relationships/hyperlink" Target="https://arxiv.org/html/2512.08296v1" TargetMode="External"/></Relationships>
</file>

<file path=ppt/slides/_rels/slide10.xml.rels><?xml version="1.0" encoding="UTF-8" standalone="yes"?>
<Relationships xmlns="http://schemas.openxmlformats.org/package/2006/relationships"><Relationship Id="rId3" Type="http://schemas.openxmlformats.org/officeDocument/2006/relationships/hyperlink" Target="https://www.youtube.com/watch?v=HceiOIeT4Fo" TargetMode="External"/><Relationship Id="rId7" Type="http://schemas.openxmlformats.org/officeDocument/2006/relationships/image" Target="../media/image14.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hyperlink" Target="https://www.continue.dev" TargetMode="External"/><Relationship Id="rId5" Type="http://schemas.openxmlformats.org/officeDocument/2006/relationships/hyperlink" Target="https://github.com/continuedev/continue" TargetMode="External"/><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hyperlink" Target="https://x.com/NousResearch/status/1998536543565127968" TargetMode="External"/><Relationship Id="rId2" Type="http://schemas.openxmlformats.org/officeDocument/2006/relationships/notesSlide" Target="../notesSlides/notesSlide11.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12.xml.rels><?xml version="1.0" encoding="UTF-8" standalone="yes"?>
<Relationships xmlns="http://schemas.openxmlformats.org/package/2006/relationships"><Relationship Id="rId3" Type="http://schemas.openxmlformats.org/officeDocument/2006/relationships/hyperlink" Target="https://www.nist.gov/itl/ai-risk-management-framework" TargetMode="External"/><Relationship Id="rId2" Type="http://schemas.openxmlformats.org/officeDocument/2006/relationships/notesSlide" Target="../notesSlides/notesSlide12.xml"/><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hyperlink" Target="https://www.whitehouse.gov/presidential-actions/2025/12/eliminating-state-law-obstruction-of-national-artificial-intelligence-policy/"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hyperlink" Target="https://www.youtube.com/watch?v=FTjTcrX-aGw" TargetMode="External"/><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9.jpeg"/><Relationship Id="rId5" Type="http://schemas.openxmlformats.org/officeDocument/2006/relationships/image" Target="../media/image18.png"/><Relationship Id="rId4" Type="http://schemas.openxmlformats.org/officeDocument/2006/relationships/hyperlink" Target="https://www.youtube.com/watch?v=Kxnlh2rVYVE" TargetMode="External"/></Relationships>
</file>

<file path=ppt/slides/_rels/slide15.xml.rels><?xml version="1.0" encoding="UTF-8" standalone="yes"?>
<Relationships xmlns="http://schemas.openxmlformats.org/package/2006/relationships"><Relationship Id="rId3" Type="http://schemas.openxmlformats.org/officeDocument/2006/relationships/hyperlink" Target="https://www.youtube.com/watch?v=QONt74CTUyE" TargetMode="External"/><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20.png"/></Relationships>
</file>

<file path=ppt/slides/_rels/slide16.xml.rels><?xml version="1.0" encoding="UTF-8" standalone="yes"?>
<Relationships xmlns="http://schemas.openxmlformats.org/package/2006/relationships"><Relationship Id="rId3" Type="http://schemas.openxmlformats.org/officeDocument/2006/relationships/hyperlink" Target="https://www.youtube.com/watch?v=Xob-2a1OnvA" TargetMode="External"/><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hyperlink" Target="https://www.youtube.com/watch?v=1uWJC2r6Sss" TargetMode="External"/><Relationship Id="rId2" Type="http://schemas.openxmlformats.org/officeDocument/2006/relationships/notesSlide" Target="../notesSlides/notesSlide17.xml"/><Relationship Id="rId1" Type="http://schemas.openxmlformats.org/officeDocument/2006/relationships/slideLayout" Target="../slideLayouts/slideLayout1.xml"/><Relationship Id="rId5" Type="http://schemas.openxmlformats.org/officeDocument/2006/relationships/hyperlink" Target="https://www.youtube.com/watch?v=jd9nP7FXQcs" TargetMode="External"/><Relationship Id="rId4" Type="http://schemas.openxmlformats.org/officeDocument/2006/relationships/hyperlink" Target="https://claude.com/blog/claude-code-plugin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youtu.be/Zc2PwPuKK5c?si=BDY0z2S_hVstyHGW" TargetMode="External"/><Relationship Id="rId2" Type="http://schemas.openxmlformats.org/officeDocument/2006/relationships/notesSlide" Target="../notesSlides/notesSlide18.xml"/><Relationship Id="rId1" Type="http://schemas.openxmlformats.org/officeDocument/2006/relationships/slideLayout" Target="../slideLayouts/slideLayout1.xml"/><Relationship Id="rId6" Type="http://schemas.openxmlformats.org/officeDocument/2006/relationships/image" Target="../media/image21.png"/><Relationship Id="rId5" Type="http://schemas.openxmlformats.org/officeDocument/2006/relationships/hyperlink" Target="https://elevenlabs.io" TargetMode="External"/><Relationship Id="rId4" Type="http://schemas.openxmlformats.org/officeDocument/2006/relationships/hyperlink" Target="https://www.heygen.com" TargetMode="External"/></Relationships>
</file>

<file path=ppt/slides/_rels/slide19.xml.rels><?xml version="1.0" encoding="UTF-8" standalone="yes"?>
<Relationships xmlns="http://schemas.openxmlformats.org/package/2006/relationships"><Relationship Id="rId3" Type="http://schemas.openxmlformats.org/officeDocument/2006/relationships/hyperlink" Target="https://www.youtube.com/watch?v=AH0FD__0ctQ" TargetMode="External"/><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20.xml.rels><?xml version="1.0" encoding="UTF-8" standalone="yes"?>
<Relationships xmlns="http://schemas.openxmlformats.org/package/2006/relationships"><Relationship Id="rId3" Type="http://schemas.openxmlformats.org/officeDocument/2006/relationships/hyperlink" Target="https://www.youtube.com/watch?v=-obd_O-NCOI"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3" Type="http://schemas.openxmlformats.org/officeDocument/2006/relationships/hyperlink" Target="https://www.youtube.com/watch?v=z6U-jqHzBqY" TargetMode="External"/><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hyperlink" Target="https://www.youtube.com/watch?v=XWGnWcmns_M"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www.youtube.com/watch?v=Nqx0QjHQ9ww" TargetMode="External"/><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23.xml.rels><?xml version="1.0" encoding="UTF-8" standalone="yes"?>
<Relationships xmlns="http://schemas.openxmlformats.org/package/2006/relationships"><Relationship Id="rId3" Type="http://schemas.openxmlformats.org/officeDocument/2006/relationships/hyperlink" Target="https://www.youtube.com/watch?v=RVqNUUYd9UA" TargetMode="External"/><Relationship Id="rId2" Type="http://schemas.openxmlformats.org/officeDocument/2006/relationships/notesSlide" Target="../notesSlides/notesSlide23.xml"/><Relationship Id="rId1" Type="http://schemas.openxmlformats.org/officeDocument/2006/relationships/slideLayout" Target="../slideLayouts/slideLayout1.xml"/><Relationship Id="rId5" Type="http://schemas.openxmlformats.org/officeDocument/2006/relationships/hyperlink" Target="https://www.youtube.com/watch?v=zrr3KQrQ-WA" TargetMode="External"/><Relationship Id="rId4" Type="http://schemas.openxmlformats.org/officeDocument/2006/relationships/image" Target="../media/image27.jpeg"/></Relationships>
</file>

<file path=ppt/slides/_rels/slide24.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8.png"/><Relationship Id="rId7" Type="http://schemas.openxmlformats.org/officeDocument/2006/relationships/image" Target="../media/image32.jpeg"/><Relationship Id="rId2" Type="http://schemas.openxmlformats.org/officeDocument/2006/relationships/notesSlide" Target="../notesSlides/notesSlide24.xml"/><Relationship Id="rId1" Type="http://schemas.openxmlformats.org/officeDocument/2006/relationships/slideLayout" Target="../slideLayouts/slideLayout1.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jpeg"/></Relationships>
</file>

<file path=ppt/slides/_rels/slide25.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hyperlink" Target="https://venturebeat.com/infrastructure/why-googles-new-interactions-api-is-such-a-big-deal-for-ai-developers" TargetMode="External"/><Relationship Id="rId7" Type="http://schemas.openxmlformats.org/officeDocument/2006/relationships/image" Target="../media/image35.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34.png"/><Relationship Id="rId5" Type="http://schemas.openxmlformats.org/officeDocument/2006/relationships/hyperlink" Target="https://github.com/m0n0x41d/quint-code" TargetMode="External"/><Relationship Id="rId4" Type="http://schemas.openxmlformats.org/officeDocument/2006/relationships/hyperlink" Target="https://www.youtube.com/watch?v=Szmlj6_gbt8" TargetMode="External"/><Relationship Id="rId9" Type="http://schemas.openxmlformats.org/officeDocument/2006/relationships/image" Target="../media/image37.png"/></Relationships>
</file>

<file path=ppt/slides/_rels/slide26.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hyperlink" Target="https://www.youtube.com/watch?v=h-z71uspNHw" TargetMode="External"/><Relationship Id="rId4" Type="http://schemas.openxmlformats.org/officeDocument/2006/relationships/image" Target="../media/image39.png"/></Relationships>
</file>

<file path=ppt/slides/_rels/slide27.xml.rels><?xml version="1.0" encoding="UTF-8" standalone="yes"?>
<Relationships xmlns="http://schemas.openxmlformats.org/package/2006/relationships"><Relationship Id="rId3" Type="http://schemas.openxmlformats.org/officeDocument/2006/relationships/hyperlink" Target="https://layoffs.fyi" TargetMode="External"/><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41.png"/><Relationship Id="rId5" Type="http://schemas.openxmlformats.org/officeDocument/2006/relationships/image" Target="../media/image40.png"/><Relationship Id="rId4" Type="http://schemas.openxmlformats.org/officeDocument/2006/relationships/hyperlink" Target="https://trueup.io/layoffs" TargetMode="External"/></Relationships>
</file>

<file path=ppt/slides/_rels/slide28.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notesSlide" Target="../notesSlides/notesSlide28.xml"/><Relationship Id="rId1" Type="http://schemas.openxmlformats.org/officeDocument/2006/relationships/slideLayout" Target="../slideLayouts/slideLayout1.xml"/><Relationship Id="rId5" Type="http://schemas.openxmlformats.org/officeDocument/2006/relationships/hyperlink" Target="https://eais.ai" TargetMode="External"/><Relationship Id="rId4" Type="http://schemas.openxmlformats.org/officeDocument/2006/relationships/image" Target="../media/image43.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62"/>
        <p:cNvGrpSpPr/>
        <p:nvPr/>
      </p:nvGrpSpPr>
      <p:grpSpPr>
        <a:xfrm>
          <a:off x="0" y="0"/>
          <a:ext cx="0" cy="0"/>
          <a:chOff x="0" y="0"/>
          <a:chExt cx="0" cy="0"/>
        </a:xfrm>
      </p:grpSpPr>
      <p:sp>
        <p:nvSpPr>
          <p:cNvPr id="63" name="Google Shape;63;p15"/>
          <p:cNvSpPr txBox="1"/>
          <p:nvPr/>
        </p:nvSpPr>
        <p:spPr>
          <a:xfrm>
            <a:off x="78651" y="521001"/>
            <a:ext cx="4420200" cy="1988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Crowd-sourced "LM Arena" Leaderboard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Gemini 3 Flash</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Nvidia Nemotron 3</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Abacus AI vs Manus AI</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Google Gemma 4</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OpenAI GPT Image 1.5 model in ChatGPT</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Gemini Super Gems - Free workflow tool</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Claude Chrome browser extension</a:t>
            </a:r>
            <a:endParaRPr sz="1600" b="1">
              <a:solidFill>
                <a:srgbClr val="3C78D8"/>
              </a:solidFill>
              <a:latin typeface="Calibri"/>
              <a:ea typeface="Calibri"/>
              <a:cs typeface="Calibri"/>
              <a:sym typeface="Calibri"/>
            </a:endParaRPr>
          </a:p>
        </p:txBody>
      </p:sp>
      <p:sp>
        <p:nvSpPr>
          <p:cNvPr id="64" name="Google Shape;64;p15"/>
          <p:cNvSpPr txBox="1"/>
          <p:nvPr/>
        </p:nvSpPr>
        <p:spPr>
          <a:xfrm>
            <a:off x="0" y="11"/>
            <a:ext cx="4420200" cy="480300"/>
          </a:xfrm>
          <a:prstGeom prst="rect">
            <a:avLst/>
          </a:prstGeom>
          <a:noFill/>
          <a:ln>
            <a:noFill/>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rgbClr val="000000"/>
              </a:buClr>
              <a:buSzPts val="3600"/>
              <a:buFont typeface="Arial"/>
              <a:buNone/>
            </a:pPr>
            <a:r>
              <a:rPr lang="en" sz="3000" b="1" i="0" u="none" strike="noStrike" cap="none">
                <a:solidFill>
                  <a:srgbClr val="3C78D8"/>
                </a:solidFill>
                <a:latin typeface="Calibri"/>
                <a:ea typeface="Calibri"/>
                <a:cs typeface="Calibri"/>
                <a:sym typeface="Calibri"/>
              </a:rPr>
              <a:t>AI Updates</a:t>
            </a:r>
            <a:r>
              <a:rPr lang="en" sz="2200" b="1" i="0" u="none" strike="noStrike" cap="none">
                <a:solidFill>
                  <a:srgbClr val="3C78D8"/>
                </a:solidFill>
                <a:latin typeface="Calibri"/>
                <a:ea typeface="Calibri"/>
                <a:cs typeface="Calibri"/>
                <a:sym typeface="Calibri"/>
              </a:rPr>
              <a:t> - Dec </a:t>
            </a:r>
            <a:r>
              <a:rPr lang="en" sz="2200" b="1">
                <a:solidFill>
                  <a:srgbClr val="3C78D8"/>
                </a:solidFill>
                <a:latin typeface="Calibri"/>
                <a:ea typeface="Calibri"/>
                <a:cs typeface="Calibri"/>
                <a:sym typeface="Calibri"/>
              </a:rPr>
              <a:t>19, </a:t>
            </a:r>
            <a:r>
              <a:rPr lang="en" sz="2200" b="1" i="0" u="none" strike="noStrike" cap="none">
                <a:solidFill>
                  <a:srgbClr val="3C78D8"/>
                </a:solidFill>
                <a:latin typeface="Calibri"/>
                <a:ea typeface="Calibri"/>
                <a:cs typeface="Calibri"/>
                <a:sym typeface="Calibri"/>
              </a:rPr>
              <a:t>2025</a:t>
            </a:r>
            <a:endParaRPr sz="2200" b="1" i="0" u="none" strike="noStrike" cap="none">
              <a:solidFill>
                <a:srgbClr val="3C78D8"/>
              </a:solidFill>
              <a:latin typeface="Calibri"/>
              <a:ea typeface="Calibri"/>
              <a:cs typeface="Calibri"/>
              <a:sym typeface="Calibri"/>
            </a:endParaRPr>
          </a:p>
        </p:txBody>
      </p:sp>
      <p:sp>
        <p:nvSpPr>
          <p:cNvPr id="65" name="Google Shape;65;p15"/>
          <p:cNvSpPr txBox="1"/>
          <p:nvPr/>
        </p:nvSpPr>
        <p:spPr>
          <a:xfrm>
            <a:off x="4599886" y="4041190"/>
            <a:ext cx="4502400" cy="100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Get Rich with AI in 2026</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Integral AI = True AGI ?</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Misc. AI Updates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i="0" u="none" strike="noStrike" cap="none">
                <a:solidFill>
                  <a:srgbClr val="3C78D8"/>
                </a:solidFill>
                <a:latin typeface="Calibri"/>
                <a:ea typeface="Calibri"/>
                <a:cs typeface="Calibri"/>
                <a:sym typeface="Calibri"/>
              </a:rPr>
              <a:t>Jobs, Layoffs, </a:t>
            </a:r>
            <a:r>
              <a:rPr lang="en" sz="1600" b="1">
                <a:solidFill>
                  <a:srgbClr val="3C78D8"/>
                </a:solidFill>
                <a:latin typeface="Calibri"/>
                <a:ea typeface="Calibri"/>
                <a:cs typeface="Calibri"/>
                <a:sym typeface="Calibri"/>
              </a:rPr>
              <a:t>demand for AI Engineers</a:t>
            </a:r>
            <a:endParaRPr sz="1600" b="1" i="0" u="none" strike="noStrike" cap="none">
              <a:solidFill>
                <a:srgbClr val="3C78D8"/>
              </a:solidFill>
              <a:latin typeface="Calibri"/>
              <a:ea typeface="Calibri"/>
              <a:cs typeface="Calibri"/>
              <a:sym typeface="Calibri"/>
            </a:endParaRPr>
          </a:p>
        </p:txBody>
      </p:sp>
      <p:sp>
        <p:nvSpPr>
          <p:cNvPr id="66" name="Google Shape;66;p15"/>
          <p:cNvSpPr txBox="1"/>
          <p:nvPr/>
        </p:nvSpPr>
        <p:spPr>
          <a:xfrm>
            <a:off x="78651" y="2633252"/>
            <a:ext cx="4420200" cy="22350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ChatGPT 5.2 vs Claude Opus 4.5 vs Gemini 3</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Nvidia can export H200 AI chips to China</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Scaling Laws For Multi-agent Systems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NotebooksLM-Ultra</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Continue Dev “Mission Control” dashboard</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Nous Research Nomos-1 math open-source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Get AI compliance ready for 2026</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Web Research Multi-Agent Architectures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Demis Hassabis about AI in 2026</a:t>
            </a:r>
            <a:endParaRPr sz="1600" b="1">
              <a:solidFill>
                <a:srgbClr val="3C78D8"/>
              </a:solidFill>
              <a:latin typeface="Calibri"/>
              <a:ea typeface="Calibri"/>
              <a:cs typeface="Calibri"/>
              <a:sym typeface="Calibri"/>
            </a:endParaRPr>
          </a:p>
        </p:txBody>
      </p:sp>
      <p:sp>
        <p:nvSpPr>
          <p:cNvPr id="67" name="Google Shape;67;p15"/>
          <p:cNvSpPr txBox="1"/>
          <p:nvPr/>
        </p:nvSpPr>
        <p:spPr>
          <a:xfrm>
            <a:off x="4599886" y="1086116"/>
            <a:ext cx="4502400" cy="2235000"/>
          </a:xfrm>
          <a:prstGeom prst="rect">
            <a:avLst/>
          </a:prstGeom>
          <a:solidFill>
            <a:srgbClr val="C7E6AF"/>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Practical Claude Code Hints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AI advantage is compounding</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Prompting Claude Code / Claude Opus 4.5</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Claude Code's new plugins update</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Anthropic’s Claude Code background sub-agents</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Julia McCoy - "How I Clone Myself ..."</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Amazon’s Graviton 5</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Apple CLaRa Framework</a:t>
            </a:r>
            <a:endParaRPr sz="1600" b="1">
              <a:solidFill>
                <a:srgbClr val="3C78D8"/>
              </a:solidFill>
              <a:latin typeface="Calibri"/>
              <a:ea typeface="Calibri"/>
              <a:cs typeface="Calibri"/>
              <a:sym typeface="Calibri"/>
            </a:endParaRPr>
          </a:p>
          <a:p>
            <a:pPr marL="228600" marR="0" lvl="0" indent="-215900" algn="l" rtl="0">
              <a:lnSpc>
                <a:spcPct val="100000"/>
              </a:lnSpc>
              <a:spcBef>
                <a:spcPts val="0"/>
              </a:spcBef>
              <a:spcAft>
                <a:spcPts val="0"/>
              </a:spcAft>
              <a:buClr>
                <a:srgbClr val="3C78D8"/>
              </a:buClr>
              <a:buSzPts val="1600"/>
              <a:buFont typeface="Calibri"/>
              <a:buChar char="●"/>
            </a:pPr>
            <a:r>
              <a:rPr lang="en" sz="1600" b="1">
                <a:solidFill>
                  <a:srgbClr val="3C78D8"/>
                </a:solidFill>
                <a:latin typeface="Calibri"/>
                <a:ea typeface="Calibri"/>
                <a:cs typeface="Calibri"/>
                <a:sym typeface="Calibri"/>
              </a:rPr>
              <a:t>Moonshots</a:t>
            </a:r>
            <a:endParaRPr sz="1600" b="1">
              <a:solidFill>
                <a:srgbClr val="3C78D8"/>
              </a:solidFill>
              <a:latin typeface="Calibri"/>
              <a:ea typeface="Calibri"/>
              <a:cs typeface="Calibri"/>
              <a:sym typeface="Calibri"/>
            </a:endParaRPr>
          </a:p>
        </p:txBody>
      </p:sp>
      <p:sp>
        <p:nvSpPr>
          <p:cNvPr id="68" name="Google Shape;68;p15"/>
          <p:cNvSpPr txBox="1"/>
          <p:nvPr/>
        </p:nvSpPr>
        <p:spPr>
          <a:xfrm>
            <a:off x="4804634" y="72141"/>
            <a:ext cx="4284300" cy="880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b="1" i="1">
                <a:solidFill>
                  <a:srgbClr val="FF0000"/>
                </a:solidFill>
                <a:latin typeface="Roboto Mono"/>
                <a:ea typeface="Roboto Mono"/>
                <a:cs typeface="Roboto Mono"/>
                <a:sym typeface="Roboto Mono"/>
              </a:rPr>
              <a:t>"Life rewards action, not intelligence"</a:t>
            </a:r>
            <a:endParaRPr b="1" i="1">
              <a:solidFill>
                <a:srgbClr val="FF0000"/>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b="1" i="1">
                <a:solidFill>
                  <a:srgbClr val="FF0000"/>
                </a:solidFill>
                <a:latin typeface="Roboto Mono"/>
                <a:ea typeface="Roboto Mono"/>
                <a:cs typeface="Roboto Mono"/>
                <a:sym typeface="Roboto Mono"/>
              </a:rPr>
              <a:t> - James Clear</a:t>
            </a:r>
            <a:endParaRPr b="1" i="1">
              <a:solidFill>
                <a:srgbClr val="FF0000"/>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b="1" i="1">
                <a:solidFill>
                  <a:srgbClr val="FF0000"/>
                </a:solidFill>
                <a:latin typeface="Roboto Mono"/>
                <a:ea typeface="Roboto Mono"/>
                <a:cs typeface="Roboto Mono"/>
                <a:sym typeface="Roboto Mono"/>
              </a:rPr>
              <a:t>"Do one thing and another and another"</a:t>
            </a:r>
            <a:endParaRPr b="1" i="1">
              <a:solidFill>
                <a:srgbClr val="FF0000"/>
              </a:solidFill>
              <a:latin typeface="Roboto Mono"/>
              <a:ea typeface="Roboto Mono"/>
              <a:cs typeface="Roboto Mono"/>
              <a:sym typeface="Roboto Mono"/>
            </a:endParaRPr>
          </a:p>
          <a:p>
            <a:pPr marL="0" marR="0" lvl="0" indent="0" algn="l" rtl="0">
              <a:lnSpc>
                <a:spcPct val="100000"/>
              </a:lnSpc>
              <a:spcBef>
                <a:spcPts val="0"/>
              </a:spcBef>
              <a:spcAft>
                <a:spcPts val="0"/>
              </a:spcAft>
              <a:buNone/>
            </a:pPr>
            <a:r>
              <a:rPr lang="en" b="1" i="1">
                <a:solidFill>
                  <a:srgbClr val="FF0000"/>
                </a:solidFill>
                <a:latin typeface="Roboto Mono"/>
                <a:ea typeface="Roboto Mono"/>
                <a:cs typeface="Roboto Mono"/>
                <a:sym typeface="Roboto Mono"/>
              </a:rPr>
              <a:t> - George Leonard</a:t>
            </a:r>
            <a:endParaRPr b="1" i="1">
              <a:solidFill>
                <a:srgbClr val="FF0000"/>
              </a:solidFill>
              <a:latin typeface="Roboto Mono"/>
              <a:ea typeface="Roboto Mono"/>
              <a:cs typeface="Roboto Mono"/>
              <a:sym typeface="Roboto Mono"/>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72"/>
        <p:cNvGrpSpPr/>
        <p:nvPr/>
      </p:nvGrpSpPr>
      <p:grpSpPr>
        <a:xfrm>
          <a:off x="0" y="0"/>
          <a:ext cx="0" cy="0"/>
          <a:chOff x="0" y="0"/>
          <a:chExt cx="0" cy="0"/>
        </a:xfrm>
      </p:grpSpPr>
      <p:sp>
        <p:nvSpPr>
          <p:cNvPr id="73" name="Google Shape;73;p16"/>
          <p:cNvSpPr txBox="1"/>
          <p:nvPr/>
        </p:nvSpPr>
        <p:spPr>
          <a:xfrm>
            <a:off x="6736325" y="52350"/>
            <a:ext cx="23562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1200" b="0" i="0" u="none" strike="noStrike" cap="none">
                <a:solidFill>
                  <a:schemeClr val="dk1"/>
                </a:solidFill>
                <a:latin typeface="Calibri"/>
                <a:ea typeface="Calibri"/>
                <a:cs typeface="Calibri"/>
                <a:sym typeface="Calibri"/>
              </a:rPr>
              <a:t>Starting Elo rating = 1000</a:t>
            </a:r>
            <a:endParaRPr sz="1200" b="0" i="0" u="none" strike="noStrike" cap="none">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r>
              <a:rPr lang="en" sz="900" b="0" i="0" u="sng" strike="noStrike" cap="none">
                <a:solidFill>
                  <a:schemeClr val="hlink"/>
                </a:solidFill>
                <a:latin typeface="Calibri"/>
                <a:ea typeface="Calibri"/>
                <a:cs typeface="Calibri"/>
                <a:sym typeface="Calibri"/>
                <a:hlinkClick r:id="rId3"/>
              </a:rPr>
              <a:t>https://en.wikipedia.org/wiki/Elo_rating_system</a:t>
            </a:r>
            <a:r>
              <a:rPr lang="en" sz="900" b="0" i="0" u="none" strike="noStrike" cap="none">
                <a:solidFill>
                  <a:schemeClr val="dk1"/>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4" name="Google Shape;74;p16"/>
          <p:cNvSpPr txBox="1"/>
          <p:nvPr/>
        </p:nvSpPr>
        <p:spPr>
          <a:xfrm>
            <a:off x="38150" y="2125"/>
            <a:ext cx="3924000" cy="2955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2000"/>
              <a:buFont typeface="Arial"/>
              <a:buNone/>
            </a:pPr>
            <a:r>
              <a:rPr lang="en" sz="1800" b="1" i="0" u="none" strike="noStrike" cap="none">
                <a:solidFill>
                  <a:schemeClr val="dk1"/>
                </a:solidFill>
                <a:latin typeface="Calibri"/>
                <a:ea typeface="Calibri"/>
                <a:cs typeface="Calibri"/>
                <a:sym typeface="Calibri"/>
              </a:rPr>
              <a:t>Crowd-sourced "LM Arena" Leaderboard</a:t>
            </a:r>
            <a:endParaRPr sz="1800" b="1" i="0" u="none" strike="noStrike" cap="none">
              <a:solidFill>
                <a:srgbClr val="000000"/>
              </a:solidFill>
              <a:latin typeface="Calibri"/>
              <a:ea typeface="Calibri"/>
              <a:cs typeface="Calibri"/>
              <a:sym typeface="Calibri"/>
            </a:endParaRPr>
          </a:p>
        </p:txBody>
      </p:sp>
      <p:sp>
        <p:nvSpPr>
          <p:cNvPr id="75" name="Google Shape;75;p16"/>
          <p:cNvSpPr txBox="1"/>
          <p:nvPr/>
        </p:nvSpPr>
        <p:spPr>
          <a:xfrm>
            <a:off x="469100" y="318397"/>
            <a:ext cx="25998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English - </a:t>
            </a:r>
            <a:r>
              <a:rPr lang="en" sz="900" b="1" u="sng">
                <a:solidFill>
                  <a:schemeClr val="hlink"/>
                </a:solidFill>
                <a:latin typeface="Calibri"/>
                <a:ea typeface="Calibri"/>
                <a:cs typeface="Calibri"/>
                <a:sym typeface="Calibri"/>
                <a:hlinkClick r:id="rId4"/>
              </a:rPr>
              <a:t>https://lmarena.ai/leaderboard/text</a:t>
            </a:r>
            <a:r>
              <a:rPr lang="en" sz="900" b="1">
                <a:solidFill>
                  <a:srgbClr val="FF0000"/>
                </a:solidFill>
                <a:latin typeface="Calibri"/>
                <a:ea typeface="Calibri"/>
                <a:cs typeface="Calibri"/>
                <a:sym typeface="Calibri"/>
              </a:rPr>
              <a:t> </a:t>
            </a:r>
            <a:endParaRPr sz="900" b="1">
              <a:solidFill>
                <a:srgbClr val="FF0000"/>
              </a:solidFill>
              <a:latin typeface="Calibri"/>
              <a:ea typeface="Calibri"/>
              <a:cs typeface="Calibri"/>
              <a:sym typeface="Calibri"/>
            </a:endParaRPr>
          </a:p>
        </p:txBody>
      </p:sp>
      <p:sp>
        <p:nvSpPr>
          <p:cNvPr id="76" name="Google Shape;76;p16"/>
          <p:cNvSpPr txBox="1"/>
          <p:nvPr/>
        </p:nvSpPr>
        <p:spPr>
          <a:xfrm>
            <a:off x="3513152" y="322115"/>
            <a:ext cx="2839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200" b="1">
                <a:solidFill>
                  <a:srgbClr val="FF0000"/>
                </a:solidFill>
                <a:latin typeface="Calibri"/>
                <a:ea typeface="Calibri"/>
                <a:cs typeface="Calibri"/>
                <a:sym typeface="Calibri"/>
              </a:rPr>
              <a:t>Coding - </a:t>
            </a:r>
            <a:r>
              <a:rPr lang="en" sz="900" b="1" u="sng">
                <a:solidFill>
                  <a:schemeClr val="hlink"/>
                </a:solidFill>
                <a:latin typeface="Calibri"/>
                <a:ea typeface="Calibri"/>
                <a:cs typeface="Calibri"/>
                <a:sym typeface="Calibri"/>
                <a:hlinkClick r:id="rId5"/>
              </a:rPr>
              <a:t>https://lmarena.ai/leaderboard/text/coding</a:t>
            </a:r>
            <a:r>
              <a:rPr lang="en" sz="900" b="1">
                <a:solidFill>
                  <a:srgbClr val="FF0000"/>
                </a:solidFill>
                <a:latin typeface="Calibri"/>
                <a:ea typeface="Calibri"/>
                <a:cs typeface="Calibri"/>
                <a:sym typeface="Calibri"/>
              </a:rPr>
              <a:t>  </a:t>
            </a:r>
            <a:endParaRPr sz="900" b="0" i="0" u="none" strike="noStrike" cap="none">
              <a:solidFill>
                <a:schemeClr val="dk1"/>
              </a:solidFill>
              <a:latin typeface="Calibri"/>
              <a:ea typeface="Calibri"/>
              <a:cs typeface="Calibri"/>
              <a:sym typeface="Calibri"/>
            </a:endParaRPr>
          </a:p>
        </p:txBody>
      </p:sp>
      <p:sp>
        <p:nvSpPr>
          <p:cNvPr id="77" name="Google Shape;77;p16"/>
          <p:cNvSpPr/>
          <p:nvPr/>
        </p:nvSpPr>
        <p:spPr>
          <a:xfrm>
            <a:off x="605693" y="78105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78" name="Google Shape;78;p16"/>
          <p:cNvSpPr txBox="1"/>
          <p:nvPr/>
        </p:nvSpPr>
        <p:spPr>
          <a:xfrm>
            <a:off x="6549674" y="2171102"/>
            <a:ext cx="2356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4"/>
              </a:rPr>
              <a:t>https://lmarena.ai/leaderboard/text</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latin typeface="Calibri"/>
                <a:ea typeface="Calibri"/>
                <a:cs typeface="Calibri"/>
                <a:sym typeface="Calibri"/>
              </a:rPr>
              <a:t>Design Arena - </a:t>
            </a:r>
            <a:br>
              <a:rPr lang="en" sz="800">
                <a:latin typeface="Calibri"/>
                <a:ea typeface="Calibri"/>
                <a:cs typeface="Calibri"/>
                <a:sym typeface="Calibri"/>
              </a:rPr>
            </a:br>
            <a:r>
              <a:rPr lang="en" sz="800" u="sng">
                <a:solidFill>
                  <a:schemeClr val="hlink"/>
                </a:solidFill>
                <a:latin typeface="Calibri"/>
                <a:ea typeface="Calibri"/>
                <a:cs typeface="Calibri"/>
                <a:sym typeface="Calibri"/>
                <a:hlinkClick r:id="rId6"/>
              </a:rPr>
              <a:t>https://www.designarena.ai</a:t>
            </a:r>
            <a:r>
              <a:rPr lang="en" sz="800">
                <a:latin typeface="Calibri"/>
                <a:ea typeface="Calibri"/>
                <a:cs typeface="Calibri"/>
                <a:sym typeface="Calibri"/>
              </a:rPr>
              <a:t> </a:t>
            </a:r>
            <a:endParaRPr sz="800">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7"/>
              </a:rPr>
              <a:t>https://openlm.ai/chatbot-arena/</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8"/>
              </a:rPr>
              <a:t>https://beta.lmarena.ai</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Web Leaderboard -  1T params</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9"/>
              </a:rPr>
              <a:t>https://web.lmarena.ai/leaderboard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@LlmStats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0"/>
              </a:rPr>
              <a:t>https://llmworld.net/llm_leaderboards/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StackAI</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1"/>
              </a:rPr>
              <a:t>https://www.stack-ai.com/llm-leaderboard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Artificial Analysis</a:t>
            </a:r>
            <a:r>
              <a:rPr lang="en" sz="800">
                <a:solidFill>
                  <a:schemeClr val="dk1"/>
                </a:solidFill>
                <a:latin typeface="Calibri"/>
                <a:ea typeface="Calibri"/>
                <a:cs typeface="Calibri"/>
                <a:sym typeface="Calibri"/>
              </a:rPr>
              <a:t> - </a:t>
            </a:r>
            <a:br>
              <a:rPr lang="en" sz="800">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2"/>
              </a:rPr>
              <a:t>https://artificialanalysis.ai/leaderboards/models</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Open LLM Leaderboard - by Hugging Face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3"/>
              </a:rPr>
              <a:t>https://huggingface.co/open-llm-leaderboard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b="0" i="0" u="none" strike="noStrike" cap="none">
                <a:solidFill>
                  <a:schemeClr val="dk1"/>
                </a:solidFill>
                <a:latin typeface="Calibri"/>
                <a:ea typeface="Calibri"/>
                <a:cs typeface="Calibri"/>
                <a:sym typeface="Calibri"/>
              </a:rPr>
              <a:t>LLM Leaderboard - by Vellum - </a:t>
            </a:r>
            <a:br>
              <a:rPr lang="en" sz="800" b="0" i="0" u="none" strike="noStrike" cap="none">
                <a:solidFill>
                  <a:schemeClr val="dk1"/>
                </a:solidFill>
                <a:latin typeface="Calibri"/>
                <a:ea typeface="Calibri"/>
                <a:cs typeface="Calibri"/>
                <a:sym typeface="Calibri"/>
              </a:rPr>
            </a:br>
            <a:r>
              <a:rPr lang="en" sz="800" b="0" i="0" u="sng" strike="noStrike" cap="none">
                <a:solidFill>
                  <a:schemeClr val="hlink"/>
                </a:solidFill>
                <a:latin typeface="Calibri"/>
                <a:ea typeface="Calibri"/>
                <a:cs typeface="Calibri"/>
                <a:sym typeface="Calibri"/>
                <a:hlinkClick r:id="rId14"/>
              </a:rPr>
              <a:t>https://www.vellum.ai/llm-leaderboard</a:t>
            </a:r>
            <a:r>
              <a:rPr lang="en" sz="800" b="0" i="0" u="none" strike="noStrike" cap="none">
                <a:solidFill>
                  <a:schemeClr val="dk1"/>
                </a:solidFill>
                <a:latin typeface="Calibri"/>
                <a:ea typeface="Calibri"/>
                <a:cs typeface="Calibri"/>
                <a:sym typeface="Calibri"/>
              </a:rPr>
              <a:t> </a:t>
            </a:r>
            <a:endParaRPr sz="800" b="0" i="0" u="none" strike="noStrike" cap="none">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AI Benchmarking Hub - </a:t>
            </a:r>
            <a:br>
              <a:rPr lang="en" sz="800">
                <a:solidFill>
                  <a:schemeClr val="dk1"/>
                </a:solidFill>
                <a:latin typeface="Calibri"/>
                <a:ea typeface="Calibri"/>
                <a:cs typeface="Calibri"/>
                <a:sym typeface="Calibri"/>
              </a:rPr>
            </a:br>
            <a:r>
              <a:rPr lang="en" sz="800" u="sng">
                <a:solidFill>
                  <a:schemeClr val="hlink"/>
                </a:solidFill>
                <a:latin typeface="Calibri"/>
                <a:ea typeface="Calibri"/>
                <a:cs typeface="Calibri"/>
                <a:sym typeface="Calibri"/>
                <a:hlinkClick r:id="rId15"/>
              </a:rPr>
              <a:t>https://epoch.ai/data/ai-benchmarking-dashboard</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a:solidFill>
                  <a:schemeClr val="dk1"/>
                </a:solidFill>
                <a:latin typeface="Calibri"/>
                <a:ea typeface="Calibri"/>
                <a:cs typeface="Calibri"/>
                <a:sym typeface="Calibri"/>
              </a:rPr>
              <a:t>Grok 4 Benchmarks - </a:t>
            </a:r>
            <a:endParaRPr sz="800">
              <a:solidFill>
                <a:schemeClr val="dk1"/>
              </a:solidFill>
              <a:latin typeface="Calibri"/>
              <a:ea typeface="Calibri"/>
              <a:cs typeface="Calibri"/>
              <a:sym typeface="Calibri"/>
            </a:endParaRPr>
          </a:p>
          <a:p>
            <a:pPr marL="171450" marR="0" lvl="0" indent="-107950" algn="l" rtl="0">
              <a:lnSpc>
                <a:spcPct val="100000"/>
              </a:lnSpc>
              <a:spcBef>
                <a:spcPts val="0"/>
              </a:spcBef>
              <a:spcAft>
                <a:spcPts val="0"/>
              </a:spcAft>
              <a:buClr>
                <a:schemeClr val="dk1"/>
              </a:buClr>
              <a:buSzPts val="800"/>
              <a:buFont typeface="Calibri"/>
              <a:buChar char="●"/>
            </a:pPr>
            <a:r>
              <a:rPr lang="en" sz="800" u="sng">
                <a:solidFill>
                  <a:schemeClr val="hlink"/>
                </a:solidFill>
                <a:latin typeface="Calibri"/>
                <a:ea typeface="Calibri"/>
                <a:cs typeface="Calibri"/>
                <a:sym typeface="Calibri"/>
                <a:hlinkClick r:id="rId16"/>
              </a:rPr>
              <a:t>https://artificialanalysis.ai/models/grok-4</a:t>
            </a:r>
            <a:r>
              <a:rPr lang="en" sz="800">
                <a:solidFill>
                  <a:schemeClr val="dk1"/>
                </a:solidFill>
                <a:latin typeface="Calibri"/>
                <a:ea typeface="Calibri"/>
                <a:cs typeface="Calibri"/>
                <a:sym typeface="Calibri"/>
              </a:rPr>
              <a:t> </a:t>
            </a:r>
            <a:endParaRPr sz="800">
              <a:solidFill>
                <a:schemeClr val="dk1"/>
              </a:solidFill>
              <a:latin typeface="Calibri"/>
              <a:ea typeface="Calibri"/>
              <a:cs typeface="Calibri"/>
              <a:sym typeface="Calibri"/>
            </a:endParaRPr>
          </a:p>
        </p:txBody>
      </p:sp>
      <p:sp>
        <p:nvSpPr>
          <p:cNvPr id="79" name="Google Shape;79;p16"/>
          <p:cNvSpPr/>
          <p:nvPr/>
        </p:nvSpPr>
        <p:spPr>
          <a:xfrm>
            <a:off x="3751244" y="77870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0" name="Google Shape;80;p16"/>
          <p:cNvSpPr/>
          <p:nvPr/>
        </p:nvSpPr>
        <p:spPr>
          <a:xfrm>
            <a:off x="609666" y="204413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1" name="Google Shape;81;p16"/>
          <p:cNvSpPr/>
          <p:nvPr/>
        </p:nvSpPr>
        <p:spPr>
          <a:xfrm>
            <a:off x="603081" y="1492818"/>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2" name="Google Shape;82;p16"/>
          <p:cNvSpPr/>
          <p:nvPr/>
        </p:nvSpPr>
        <p:spPr>
          <a:xfrm>
            <a:off x="3748244" y="96137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3" name="Google Shape;83;p16"/>
          <p:cNvSpPr txBox="1"/>
          <p:nvPr/>
        </p:nvSpPr>
        <p:spPr>
          <a:xfrm>
            <a:off x="3602289" y="3299313"/>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4" name="Google Shape;84;p16"/>
          <p:cNvSpPr txBox="1"/>
          <p:nvPr/>
        </p:nvSpPr>
        <p:spPr>
          <a:xfrm>
            <a:off x="444825" y="473332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5" name="Google Shape;85;p16"/>
          <p:cNvSpPr txBox="1"/>
          <p:nvPr/>
        </p:nvSpPr>
        <p:spPr>
          <a:xfrm>
            <a:off x="4566100" y="63625"/>
            <a:ext cx="1408200" cy="17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0650" algn="l" rtl="0">
              <a:lnSpc>
                <a:spcPct val="100000"/>
              </a:lnSpc>
              <a:spcBef>
                <a:spcPts val="0"/>
              </a:spcBef>
              <a:spcAft>
                <a:spcPts val="0"/>
              </a:spcAft>
              <a:buClr>
                <a:schemeClr val="dk1"/>
              </a:buClr>
              <a:buSzPts val="1000"/>
              <a:buFont typeface="Calibri"/>
              <a:buChar char="●"/>
            </a:pPr>
            <a:r>
              <a:rPr lang="en" sz="1000">
                <a:latin typeface="Calibri"/>
                <a:ea typeface="Calibri"/>
                <a:cs typeface="Calibri"/>
                <a:sym typeface="Calibri"/>
              </a:rPr>
              <a:t>Data for December 16</a:t>
            </a:r>
            <a:endParaRPr sz="1000">
              <a:solidFill>
                <a:schemeClr val="dk1"/>
              </a:solidFill>
              <a:latin typeface="Calibri"/>
              <a:ea typeface="Calibri"/>
              <a:cs typeface="Calibri"/>
              <a:sym typeface="Calibri"/>
            </a:endParaRPr>
          </a:p>
        </p:txBody>
      </p:sp>
      <p:sp>
        <p:nvSpPr>
          <p:cNvPr id="86" name="Google Shape;86;p16"/>
          <p:cNvSpPr/>
          <p:nvPr/>
        </p:nvSpPr>
        <p:spPr>
          <a:xfrm>
            <a:off x="3750579" y="1308020"/>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7" name="Google Shape;87;p16"/>
          <p:cNvSpPr txBox="1"/>
          <p:nvPr/>
        </p:nvSpPr>
        <p:spPr>
          <a:xfrm>
            <a:off x="3451169" y="476171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88" name="Google Shape;88;p16"/>
          <p:cNvSpPr/>
          <p:nvPr/>
        </p:nvSpPr>
        <p:spPr>
          <a:xfrm>
            <a:off x="3742038" y="477011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89" name="Google Shape;89;p16"/>
          <p:cNvSpPr/>
          <p:nvPr/>
        </p:nvSpPr>
        <p:spPr>
          <a:xfrm>
            <a:off x="3748357" y="114647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0" name="Google Shape;90;p16"/>
          <p:cNvSpPr txBox="1"/>
          <p:nvPr/>
        </p:nvSpPr>
        <p:spPr>
          <a:xfrm flipH="1">
            <a:off x="3679393" y="1667205"/>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1" name="Google Shape;91;p16"/>
          <p:cNvSpPr txBox="1"/>
          <p:nvPr/>
        </p:nvSpPr>
        <p:spPr>
          <a:xfrm flipH="1">
            <a:off x="3691285" y="2934512"/>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2" name="Google Shape;92;p16"/>
          <p:cNvSpPr/>
          <p:nvPr/>
        </p:nvSpPr>
        <p:spPr>
          <a:xfrm>
            <a:off x="3750579" y="148991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3" name="Google Shape;93;p16"/>
          <p:cNvSpPr/>
          <p:nvPr/>
        </p:nvSpPr>
        <p:spPr>
          <a:xfrm>
            <a:off x="3750579" y="1857207"/>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4" name="Google Shape;94;p16"/>
          <p:cNvSpPr/>
          <p:nvPr/>
        </p:nvSpPr>
        <p:spPr>
          <a:xfrm>
            <a:off x="613313" y="186006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5" name="Google Shape;95;p16"/>
          <p:cNvSpPr txBox="1"/>
          <p:nvPr/>
        </p:nvSpPr>
        <p:spPr>
          <a:xfrm flipH="1">
            <a:off x="539953" y="950663"/>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6" name="Google Shape;96;p16"/>
          <p:cNvSpPr txBox="1"/>
          <p:nvPr/>
        </p:nvSpPr>
        <p:spPr>
          <a:xfrm flipH="1">
            <a:off x="547573" y="4546374"/>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97" name="Google Shape;97;p16"/>
          <p:cNvSpPr/>
          <p:nvPr/>
        </p:nvSpPr>
        <p:spPr>
          <a:xfrm>
            <a:off x="609673" y="3293277"/>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8" name="Google Shape;98;p16"/>
          <p:cNvSpPr/>
          <p:nvPr/>
        </p:nvSpPr>
        <p:spPr>
          <a:xfrm>
            <a:off x="609673" y="292959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99" name="Google Shape;99;p16"/>
          <p:cNvSpPr txBox="1"/>
          <p:nvPr/>
        </p:nvSpPr>
        <p:spPr>
          <a:xfrm flipH="1">
            <a:off x="544177" y="1671695"/>
            <a:ext cx="1944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latin typeface="Calibri"/>
                <a:ea typeface="Calibri"/>
                <a:cs typeface="Calibri"/>
                <a:sym typeface="Calibri"/>
              </a:rPr>
              <a:t>x.ai</a:t>
            </a:r>
            <a:endParaRPr sz="800" b="0" i="0" u="none" strike="noStrike" cap="none">
              <a:solidFill>
                <a:srgbClr val="1F2937"/>
              </a:solidFill>
              <a:latin typeface="Calibri"/>
              <a:ea typeface="Calibri"/>
              <a:cs typeface="Calibri"/>
              <a:sym typeface="Calibri"/>
            </a:endParaRPr>
          </a:p>
        </p:txBody>
      </p:sp>
      <p:sp>
        <p:nvSpPr>
          <p:cNvPr id="100" name="Google Shape;100;p16"/>
          <p:cNvSpPr/>
          <p:nvPr/>
        </p:nvSpPr>
        <p:spPr>
          <a:xfrm>
            <a:off x="603081" y="1313761"/>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1" name="Google Shape;101;p16"/>
          <p:cNvSpPr/>
          <p:nvPr/>
        </p:nvSpPr>
        <p:spPr>
          <a:xfrm>
            <a:off x="611444" y="239599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2" name="Google Shape;102;p16"/>
          <p:cNvSpPr/>
          <p:nvPr/>
        </p:nvSpPr>
        <p:spPr>
          <a:xfrm>
            <a:off x="611444" y="276677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3" name="Google Shape;103;p16"/>
          <p:cNvSpPr/>
          <p:nvPr/>
        </p:nvSpPr>
        <p:spPr>
          <a:xfrm>
            <a:off x="609673" y="347374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4" name="Google Shape;104;p16"/>
          <p:cNvSpPr/>
          <p:nvPr/>
        </p:nvSpPr>
        <p:spPr>
          <a:xfrm>
            <a:off x="3750579" y="259895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5" name="Google Shape;105;p16"/>
          <p:cNvSpPr/>
          <p:nvPr/>
        </p:nvSpPr>
        <p:spPr>
          <a:xfrm>
            <a:off x="3751782" y="276232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6" name="Google Shape;106;p16"/>
          <p:cNvSpPr txBox="1"/>
          <p:nvPr/>
        </p:nvSpPr>
        <p:spPr>
          <a:xfrm>
            <a:off x="3466409" y="3476725"/>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7" name="Google Shape;107;p16"/>
          <p:cNvSpPr/>
          <p:nvPr/>
        </p:nvSpPr>
        <p:spPr>
          <a:xfrm>
            <a:off x="3757278" y="3485119"/>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08" name="Google Shape;108;p16"/>
          <p:cNvSpPr txBox="1"/>
          <p:nvPr/>
        </p:nvSpPr>
        <p:spPr>
          <a:xfrm>
            <a:off x="3466409" y="4398942"/>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09" name="Google Shape;109;p16"/>
          <p:cNvSpPr/>
          <p:nvPr/>
        </p:nvSpPr>
        <p:spPr>
          <a:xfrm>
            <a:off x="3757278" y="440733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0" name="Google Shape;110;p16"/>
          <p:cNvSpPr/>
          <p:nvPr/>
        </p:nvSpPr>
        <p:spPr>
          <a:xfrm>
            <a:off x="6718499" y="84321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1" name="Google Shape;111;p16"/>
          <p:cNvSpPr/>
          <p:nvPr/>
        </p:nvSpPr>
        <p:spPr>
          <a:xfrm>
            <a:off x="6718499" y="104827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2" name="Google Shape;112;p16"/>
          <p:cNvSpPr/>
          <p:nvPr/>
        </p:nvSpPr>
        <p:spPr>
          <a:xfrm>
            <a:off x="6718499" y="1253329"/>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3" name="Google Shape;113;p16"/>
          <p:cNvSpPr/>
          <p:nvPr/>
        </p:nvSpPr>
        <p:spPr>
          <a:xfrm>
            <a:off x="6718499" y="1458386"/>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14" name="Google Shape;114;p16"/>
          <p:cNvSpPr txBox="1"/>
          <p:nvPr/>
        </p:nvSpPr>
        <p:spPr>
          <a:xfrm>
            <a:off x="6898625" y="801499"/>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Google Gemini</a:t>
            </a:r>
            <a:endParaRPr sz="1100" b="1" i="0" u="none" strike="noStrike" cap="none">
              <a:solidFill>
                <a:srgbClr val="000000"/>
              </a:solidFill>
              <a:latin typeface="Calibri"/>
              <a:ea typeface="Calibri"/>
              <a:cs typeface="Calibri"/>
              <a:sym typeface="Calibri"/>
            </a:endParaRPr>
          </a:p>
        </p:txBody>
      </p:sp>
      <p:sp>
        <p:nvSpPr>
          <p:cNvPr id="115" name="Google Shape;115;p16"/>
          <p:cNvSpPr txBox="1"/>
          <p:nvPr/>
        </p:nvSpPr>
        <p:spPr>
          <a:xfrm>
            <a:off x="6895175" y="1006556"/>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Claude</a:t>
            </a:r>
            <a:endParaRPr sz="1100" b="1" i="0" u="none" strike="noStrike" cap="none">
              <a:solidFill>
                <a:srgbClr val="000000"/>
              </a:solidFill>
              <a:latin typeface="Calibri"/>
              <a:ea typeface="Calibri"/>
              <a:cs typeface="Calibri"/>
              <a:sym typeface="Calibri"/>
            </a:endParaRPr>
          </a:p>
        </p:txBody>
      </p:sp>
      <p:sp>
        <p:nvSpPr>
          <p:cNvPr id="116" name="Google Shape;116;p16"/>
          <p:cNvSpPr txBox="1"/>
          <p:nvPr/>
        </p:nvSpPr>
        <p:spPr>
          <a:xfrm>
            <a:off x="6901750" y="1211613"/>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OpenAI</a:t>
            </a:r>
            <a:endParaRPr sz="1100" b="1" i="0" u="none" strike="noStrike" cap="none">
              <a:solidFill>
                <a:srgbClr val="000000"/>
              </a:solidFill>
              <a:latin typeface="Calibri"/>
              <a:ea typeface="Calibri"/>
              <a:cs typeface="Calibri"/>
              <a:sym typeface="Calibri"/>
            </a:endParaRPr>
          </a:p>
        </p:txBody>
      </p:sp>
      <p:sp>
        <p:nvSpPr>
          <p:cNvPr id="117" name="Google Shape;117;p16"/>
          <p:cNvSpPr txBox="1"/>
          <p:nvPr/>
        </p:nvSpPr>
        <p:spPr>
          <a:xfrm>
            <a:off x="6903075" y="1416671"/>
            <a:ext cx="1003200" cy="1878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1100" b="1">
                <a:solidFill>
                  <a:srgbClr val="000000"/>
                </a:solidFill>
                <a:latin typeface="Calibri"/>
                <a:ea typeface="Calibri"/>
                <a:cs typeface="Calibri"/>
                <a:sym typeface="Calibri"/>
              </a:rPr>
              <a:t>Open Source</a:t>
            </a:r>
            <a:endParaRPr sz="1100" b="1" i="0" u="none" strike="noStrike" cap="none">
              <a:solidFill>
                <a:srgbClr val="000000"/>
              </a:solidFill>
              <a:latin typeface="Calibri"/>
              <a:ea typeface="Calibri"/>
              <a:cs typeface="Calibri"/>
              <a:sym typeface="Calibri"/>
            </a:endParaRPr>
          </a:p>
        </p:txBody>
      </p:sp>
      <p:sp>
        <p:nvSpPr>
          <p:cNvPr id="118" name="Google Shape;118;p16"/>
          <p:cNvSpPr txBox="1"/>
          <p:nvPr/>
        </p:nvSpPr>
        <p:spPr>
          <a:xfrm>
            <a:off x="456671" y="4370032"/>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19" name="Google Shape;119;p16"/>
          <p:cNvSpPr txBox="1"/>
          <p:nvPr/>
        </p:nvSpPr>
        <p:spPr>
          <a:xfrm flipH="1">
            <a:off x="3556596" y="4579335"/>
            <a:ext cx="349800" cy="1416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a:solidFill>
                  <a:srgbClr val="1F2937"/>
                </a:solidFill>
                <a:latin typeface="Calibri"/>
                <a:ea typeface="Calibri"/>
                <a:cs typeface="Calibri"/>
                <a:sym typeface="Calibri"/>
              </a:rPr>
              <a:t>Mistral</a:t>
            </a:r>
            <a:endParaRPr sz="800" b="0" i="0" u="none" strike="noStrike" cap="none">
              <a:solidFill>
                <a:srgbClr val="1F2937"/>
              </a:solidFill>
              <a:latin typeface="Calibri"/>
              <a:ea typeface="Calibri"/>
              <a:cs typeface="Calibri"/>
              <a:sym typeface="Calibri"/>
            </a:endParaRPr>
          </a:p>
        </p:txBody>
      </p:sp>
      <p:sp>
        <p:nvSpPr>
          <p:cNvPr id="120" name="Google Shape;120;p16"/>
          <p:cNvSpPr txBox="1"/>
          <p:nvPr/>
        </p:nvSpPr>
        <p:spPr>
          <a:xfrm>
            <a:off x="311891" y="4906497"/>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21" name="Google Shape;121;p16"/>
          <p:cNvSpPr/>
          <p:nvPr/>
        </p:nvSpPr>
        <p:spPr>
          <a:xfrm>
            <a:off x="611157" y="4913744"/>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2" name="Google Shape;122;p16"/>
          <p:cNvSpPr/>
          <p:nvPr/>
        </p:nvSpPr>
        <p:spPr>
          <a:xfrm>
            <a:off x="605693" y="113919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3" name="Google Shape;123;p16"/>
          <p:cNvSpPr/>
          <p:nvPr/>
        </p:nvSpPr>
        <p:spPr>
          <a:xfrm>
            <a:off x="613313" y="2225825"/>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4" name="Google Shape;124;p16"/>
          <p:cNvSpPr/>
          <p:nvPr/>
        </p:nvSpPr>
        <p:spPr>
          <a:xfrm>
            <a:off x="611444" y="2578879"/>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5" name="Google Shape;125;p16"/>
          <p:cNvSpPr/>
          <p:nvPr/>
        </p:nvSpPr>
        <p:spPr>
          <a:xfrm>
            <a:off x="611444" y="3117293"/>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6" name="Google Shape;126;p16"/>
          <p:cNvSpPr/>
          <p:nvPr/>
        </p:nvSpPr>
        <p:spPr>
          <a:xfrm>
            <a:off x="609673" y="367186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7" name="Google Shape;127;p16"/>
          <p:cNvSpPr/>
          <p:nvPr/>
        </p:nvSpPr>
        <p:spPr>
          <a:xfrm>
            <a:off x="609673" y="385474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8" name="Google Shape;128;p16"/>
          <p:cNvSpPr/>
          <p:nvPr/>
        </p:nvSpPr>
        <p:spPr>
          <a:xfrm>
            <a:off x="609673" y="4037628"/>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29" name="Google Shape;129;p16"/>
          <p:cNvSpPr/>
          <p:nvPr/>
        </p:nvSpPr>
        <p:spPr>
          <a:xfrm>
            <a:off x="3748357" y="205325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0" name="Google Shape;130;p16"/>
          <p:cNvSpPr/>
          <p:nvPr/>
        </p:nvSpPr>
        <p:spPr>
          <a:xfrm>
            <a:off x="3748357" y="2419017"/>
            <a:ext cx="125400" cy="125400"/>
          </a:xfrm>
          <a:prstGeom prst="ellipse">
            <a:avLst/>
          </a:prstGeom>
          <a:solidFill>
            <a:srgbClr val="FF00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1" name="Google Shape;131;p16"/>
          <p:cNvSpPr/>
          <p:nvPr/>
        </p:nvSpPr>
        <p:spPr>
          <a:xfrm>
            <a:off x="3750579" y="222557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2" name="Google Shape;132;p16"/>
          <p:cNvSpPr/>
          <p:nvPr/>
        </p:nvSpPr>
        <p:spPr>
          <a:xfrm>
            <a:off x="3751782" y="311284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3" name="Google Shape;133;p16"/>
          <p:cNvSpPr/>
          <p:nvPr/>
        </p:nvSpPr>
        <p:spPr>
          <a:xfrm>
            <a:off x="3751782" y="367672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4" name="Google Shape;134;p16"/>
          <p:cNvSpPr txBox="1"/>
          <p:nvPr/>
        </p:nvSpPr>
        <p:spPr>
          <a:xfrm>
            <a:off x="3602289" y="4221333"/>
            <a:ext cx="2889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35" name="Google Shape;135;p16"/>
          <p:cNvSpPr/>
          <p:nvPr/>
        </p:nvSpPr>
        <p:spPr>
          <a:xfrm>
            <a:off x="3750579" y="4036662"/>
            <a:ext cx="125400" cy="125400"/>
          </a:xfrm>
          <a:prstGeom prst="ellipse">
            <a:avLst/>
          </a:prstGeom>
          <a:solidFill>
            <a:srgbClr val="3C78D8"/>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graphicFrame>
        <p:nvGraphicFramePr>
          <p:cNvPr id="136" name="Google Shape;136;p16"/>
          <p:cNvGraphicFramePr/>
          <p:nvPr/>
        </p:nvGraphicFramePr>
        <p:xfrm>
          <a:off x="3884501" y="576306"/>
          <a:ext cx="3000000" cy="3000000"/>
        </p:xfrm>
        <a:graphic>
          <a:graphicData uri="http://schemas.openxmlformats.org/drawingml/2006/table">
            <a:tbl>
              <a:tblPr>
                <a:noFill/>
                <a:tableStyleId>{60EB8DAD-0D6C-425B-A878-7202ED89955A}</a:tableStyleId>
              </a:tblPr>
              <a:tblGrid>
                <a:gridCol w="1847850">
                  <a:extLst>
                    <a:ext uri="{9D8B030D-6E8A-4147-A177-3AD203B41FA5}">
                      <a16:colId xmlns:a16="http://schemas.microsoft.com/office/drawing/2014/main" val="20000"/>
                    </a:ext>
                  </a:extLst>
                </a:gridCol>
                <a:gridCol w="361950">
                  <a:extLst>
                    <a:ext uri="{9D8B030D-6E8A-4147-A177-3AD203B41FA5}">
                      <a16:colId xmlns:a16="http://schemas.microsoft.com/office/drawing/2014/main" val="20001"/>
                    </a:ext>
                  </a:extLst>
                </a:gridCol>
              </a:tblGrid>
              <a:tr h="14337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0"/>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1541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1"/>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2"/>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1521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3"/>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4"/>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1514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5"/>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1508</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6"/>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7"/>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gemini-3-flash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8"/>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1500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09"/>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gemini-3-flash (thinking-minimal)</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0"/>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3">
                            <a:extLst>
                              <a:ext uri="{A12FA001-AC4F-418D-AE19-62706E023703}">
                                <ahyp:hlinkClr xmlns:ahyp="http://schemas.microsoft.com/office/drawing/2018/hyperlinkcolor" val="tx"/>
                              </a:ext>
                            </a:extLst>
                          </a:hlinkClick>
                        </a:rPr>
                        <a:t>claude-opus-4-20250514-thinking-16k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1"/>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gpt-5.2-high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2"/>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1493</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3"/>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4"/>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1481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5"/>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kimi-k2-thinking-turbo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1479</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6"/>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7"/>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gpt-5.2</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1477</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8"/>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8">
                            <a:extLst>
                              <a:ext uri="{A12FA001-AC4F-418D-AE19-62706E023703}">
                                <ahyp:hlinkClr xmlns:ahyp="http://schemas.microsoft.com/office/drawing/2018/hyperlinkcolor" val="tx"/>
                              </a:ext>
                            </a:extLst>
                          </a:hlinkClick>
                        </a:rPr>
                        <a:t>claude-haiku-4-5-20251001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1476</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19"/>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9">
                            <a:extLst>
                              <a:ext uri="{A12FA001-AC4F-418D-AE19-62706E023703}">
                                <ahyp:hlinkClr xmlns:ahyp="http://schemas.microsoft.com/office/drawing/2018/hyperlinkcolor" val="tx"/>
                              </a:ext>
                            </a:extLst>
                          </a:hlinkClick>
                        </a:rPr>
                        <a:t>qwen3-max-2025-09-23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1475</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0"/>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0">
                            <a:extLst>
                              <a:ext uri="{A12FA001-AC4F-418D-AE19-62706E023703}">
                                <ahyp:hlinkClr xmlns:ahyp="http://schemas.microsoft.com/office/drawing/2018/hyperlinkcolor" val="tx"/>
                              </a:ext>
                            </a:extLst>
                          </a:hlinkClick>
                        </a:rPr>
                        <a:t>longcat-flash-chat</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1"/>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1">
                            <a:extLst>
                              <a:ext uri="{A12FA001-AC4F-418D-AE19-62706E023703}">
                                <ahyp:hlinkClr xmlns:ahyp="http://schemas.microsoft.com/office/drawing/2018/hyperlinkcolor" val="tx"/>
                              </a:ext>
                            </a:extLst>
                          </a:hlinkClick>
                        </a:rPr>
                        <a:t>mistral-large-3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1474</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2"/>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2">
                            <a:extLst>
                              <a:ext uri="{A12FA001-AC4F-418D-AE19-62706E023703}">
                                <ahyp:hlinkClr xmlns:ahyp="http://schemas.microsoft.com/office/drawing/2018/hyperlinkcolor" val="tx"/>
                              </a:ext>
                            </a:extLst>
                          </a:hlinkClick>
                        </a:rPr>
                        <a:t>deepseek-v3.2-exp-thinking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1471</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3"/>
                  </a:ext>
                </a:extLst>
              </a:tr>
              <a:tr h="14337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3">
                            <a:extLst>
                              <a:ext uri="{A12FA001-AC4F-418D-AE19-62706E023703}">
                                <ahyp:hlinkClr xmlns:ahyp="http://schemas.microsoft.com/office/drawing/2018/hyperlinkcolor" val="tx"/>
                              </a:ext>
                            </a:extLst>
                          </a:hlinkClick>
                        </a:rPr>
                        <a:t>qwen3-235b-a22b-instruct-2507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1470</a:t>
                      </a:r>
                      <a:endParaRPr sz="800">
                        <a:solidFill>
                          <a:srgbClr val="636879"/>
                        </a:solidFill>
                        <a:latin typeface="Calibri"/>
                        <a:ea typeface="Calibri"/>
                        <a:cs typeface="Calibri"/>
                        <a:sym typeface="Calibri"/>
                      </a:endParaRPr>
                    </a:p>
                  </a:txBody>
                  <a:tcPr marL="28575" marR="28575" marT="19050" marB="19050" anchor="b">
                    <a:lnL w="9525" cap="flat" cmpd="sng">
                      <a:solidFill>
                        <a:srgbClr val="FF0000"/>
                      </a:solidFill>
                      <a:prstDash val="solid"/>
                      <a:round/>
                      <a:headEnd type="none" w="sm" len="sm"/>
                      <a:tailEnd type="none" w="sm" len="sm"/>
                    </a:lnL>
                    <a:lnR w="9525" cap="flat" cmpd="sng">
                      <a:solidFill>
                        <a:srgbClr val="FF0000"/>
                      </a:solidFill>
                      <a:prstDash val="solid"/>
                      <a:round/>
                      <a:headEnd type="none" w="sm" len="sm"/>
                      <a:tailEnd type="none" w="sm" len="sm"/>
                    </a:lnR>
                    <a:lnT w="9525" cap="flat" cmpd="sng">
                      <a:solidFill>
                        <a:srgbClr val="FF0000"/>
                      </a:solidFill>
                      <a:prstDash val="solid"/>
                      <a:round/>
                      <a:headEnd type="none" w="sm" len="sm"/>
                      <a:tailEnd type="none" w="sm" len="sm"/>
                    </a:lnT>
                    <a:lnB w="9525" cap="flat" cmpd="sng">
                      <a:solidFill>
                        <a:srgbClr val="FF0000"/>
                      </a:solidFill>
                      <a:prstDash val="solid"/>
                      <a:round/>
                      <a:headEnd type="none" w="sm" len="sm"/>
                      <a:tailEnd type="none" w="sm" len="sm"/>
                    </a:lnB>
                    <a:solidFill>
                      <a:srgbClr val="FFFFFF"/>
                    </a:solidFill>
                  </a:tcPr>
                </a:tc>
                <a:extLst>
                  <a:ext uri="{0D108BD9-81ED-4DB2-BD59-A6C34878D82A}">
                    <a16:rowId xmlns:a16="http://schemas.microsoft.com/office/drawing/2014/main" val="10024"/>
                  </a:ext>
                </a:extLst>
              </a:tr>
            </a:tbl>
          </a:graphicData>
        </a:graphic>
      </p:graphicFrame>
      <p:graphicFrame>
        <p:nvGraphicFramePr>
          <p:cNvPr id="137" name="Google Shape;137;p16"/>
          <p:cNvGraphicFramePr/>
          <p:nvPr/>
        </p:nvGraphicFramePr>
        <p:xfrm>
          <a:off x="748700" y="570497"/>
          <a:ext cx="3000000" cy="3000000"/>
        </p:xfrm>
        <a:graphic>
          <a:graphicData uri="http://schemas.openxmlformats.org/drawingml/2006/table">
            <a:tbl>
              <a:tblPr>
                <a:noFill/>
                <a:tableStyleId>{60EB8DAD-0D6C-425B-A878-7202ED89955A}</a:tableStyleId>
              </a:tblPr>
              <a:tblGrid>
                <a:gridCol w="1847850">
                  <a:extLst>
                    <a:ext uri="{9D8B030D-6E8A-4147-A177-3AD203B41FA5}">
                      <a16:colId xmlns:a16="http://schemas.microsoft.com/office/drawing/2014/main" val="20000"/>
                    </a:ext>
                  </a:extLst>
                </a:gridCol>
                <a:gridCol w="361950">
                  <a:extLst>
                    <a:ext uri="{9D8B030D-6E8A-4147-A177-3AD203B41FA5}">
                      <a16:colId xmlns:a16="http://schemas.microsoft.com/office/drawing/2014/main" val="20001"/>
                    </a:ext>
                  </a:extLst>
                </a:gridCol>
              </a:tblGrid>
              <a:tr h="144325">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Model</a:t>
                      </a:r>
                      <a:endParaRPr sz="800">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l" rtl="0">
                        <a:lnSpc>
                          <a:spcPct val="115000"/>
                        </a:lnSpc>
                        <a:spcBef>
                          <a:spcPts val="0"/>
                        </a:spcBef>
                        <a:spcAft>
                          <a:spcPts val="0"/>
                        </a:spcAft>
                        <a:buNone/>
                      </a:pPr>
                      <a:r>
                        <a:rPr lang="en" sz="800">
                          <a:latin typeface="Calibri"/>
                          <a:ea typeface="Calibri"/>
                          <a:cs typeface="Calibri"/>
                          <a:sym typeface="Calibri"/>
                        </a:rPr>
                        <a:t>Score</a:t>
                      </a:r>
                      <a:endParaRPr sz="800">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CCCCCC"/>
                      </a:solidFill>
                      <a:prstDash val="solid"/>
                      <a:round/>
                      <a:headEnd type="none" w="sm" len="sm"/>
                      <a:tailEnd type="none" w="sm" len="sm"/>
                    </a:lnT>
                    <a:lnB w="9525" cap="flat" cmpd="sng">
                      <a:solidFill>
                        <a:srgbClr val="DDDFE3"/>
                      </a:solidFill>
                      <a:prstDash val="solid"/>
                      <a:round/>
                      <a:headEnd type="none" w="sm" len="sm"/>
                      <a:tailEnd type="none" w="sm" len="sm"/>
                    </a:lnB>
                  </a:tcPr>
                </a:tc>
                <a:extLst>
                  <a:ext uri="{0D108BD9-81ED-4DB2-BD59-A6C34878D82A}">
                    <a16:rowId xmlns:a16="http://schemas.microsoft.com/office/drawing/2014/main" val="10000"/>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9">
                            <a:extLst>
                              <a:ext uri="{A12FA001-AC4F-418D-AE19-62706E023703}">
                                <ahyp:hlinkClr xmlns:ahyp="http://schemas.microsoft.com/office/drawing/2018/hyperlinkcolor" val="tx"/>
                              </a:ext>
                            </a:extLst>
                          </a:hlinkClick>
                        </a:rPr>
                        <a:t>gemini-3-pro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1491</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01"/>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grok-4.1-thinking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1477</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02"/>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gemini-3-flash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1477</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03"/>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claude-opus-4-5-20251101-thinking-32k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1468</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04"/>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7">
                            <a:extLst>
                              <a:ext uri="{A12FA001-AC4F-418D-AE19-62706E023703}">
                                <ahyp:hlinkClr xmlns:ahyp="http://schemas.microsoft.com/office/drawing/2018/hyperlinkcolor" val="tx"/>
                              </a:ext>
                            </a:extLst>
                          </a:hlinkClick>
                        </a:rPr>
                        <a:t>claude-opus-4-5-20251101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1465</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05"/>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1">
                            <a:extLst>
                              <a:ext uri="{A12FA001-AC4F-418D-AE19-62706E023703}">
                                <ahyp:hlinkClr xmlns:ahyp="http://schemas.microsoft.com/office/drawing/2018/hyperlinkcolor" val="tx"/>
                              </a:ext>
                            </a:extLst>
                          </a:hlinkClick>
                        </a:rPr>
                        <a:t>grok-4.1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1464</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06"/>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2">
                            <a:extLst>
                              <a:ext uri="{A12FA001-AC4F-418D-AE19-62706E023703}">
                                <ahyp:hlinkClr xmlns:ahyp="http://schemas.microsoft.com/office/drawing/2018/hyperlinkcolor" val="tx"/>
                              </a:ext>
                            </a:extLst>
                          </a:hlinkClick>
                        </a:rPr>
                        <a:t>gemini-3-flash (thinking-minimal)</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1461</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07"/>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gpt-5.1-high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1458</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08"/>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4">
                            <a:extLst>
                              <a:ext uri="{A12FA001-AC4F-418D-AE19-62706E023703}">
                                <ahyp:hlinkClr xmlns:ahyp="http://schemas.microsoft.com/office/drawing/2018/hyperlinkcolor" val="tx"/>
                              </a:ext>
                            </a:extLst>
                          </a:hlinkClick>
                        </a:rPr>
                        <a:t>gemini-2.5-pro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1450</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09"/>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claude-sonnet-4-5-20250929-thinking-32k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1449</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10"/>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claude-opus-4-1-20250805-thinking-16k</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1447</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11"/>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18">
                            <a:extLst>
                              <a:ext uri="{A12FA001-AC4F-418D-AE19-62706E023703}">
                                <ahyp:hlinkClr xmlns:ahyp="http://schemas.microsoft.com/office/drawing/2018/hyperlinkcolor" val="tx"/>
                              </a:ext>
                            </a:extLst>
                          </a:hlinkClick>
                        </a:rPr>
                        <a:t>claude-sonnet-4-5-20250929</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1446</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12"/>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5">
                            <a:extLst>
                              <a:ext uri="{A12FA001-AC4F-418D-AE19-62706E023703}">
                                <ahyp:hlinkClr xmlns:ahyp="http://schemas.microsoft.com/office/drawing/2018/hyperlinkcolor" val="tx"/>
                              </a:ext>
                            </a:extLst>
                          </a:hlinkClick>
                        </a:rPr>
                        <a:t>gpt-4.5-preview-2025-02-27</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1443</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13"/>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0">
                            <a:extLst>
                              <a:ext uri="{A12FA001-AC4F-418D-AE19-62706E023703}">
                                <ahyp:hlinkClr xmlns:ahyp="http://schemas.microsoft.com/office/drawing/2018/hyperlinkcolor" val="tx"/>
                              </a:ext>
                            </a:extLst>
                          </a:hlinkClick>
                        </a:rPr>
                        <a:t>claude-opus-4-1-20250805</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1441</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14"/>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gpt-5.2-high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1440</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15"/>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6">
                            <a:extLst>
                              <a:ext uri="{A12FA001-AC4F-418D-AE19-62706E023703}">
                                <ahyp:hlinkClr xmlns:ahyp="http://schemas.microsoft.com/office/drawing/2018/hyperlinkcolor" val="tx"/>
                              </a:ext>
                            </a:extLst>
                          </a:hlinkClick>
                        </a:rPr>
                        <a:t>chatgpt-4o-latest-20250326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1439</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16"/>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4">
                            <a:extLst>
                              <a:ext uri="{A12FA001-AC4F-418D-AE19-62706E023703}">
                                <ahyp:hlinkClr xmlns:ahyp="http://schemas.microsoft.com/office/drawing/2018/hyperlinkcolor" val="tx"/>
                              </a:ext>
                            </a:extLst>
                          </a:hlinkClick>
                        </a:rPr>
                        <a:t>gpt-5.2</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1439</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17"/>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5">
                            <a:extLst>
                              <a:ext uri="{A12FA001-AC4F-418D-AE19-62706E023703}">
                                <ahyp:hlinkClr xmlns:ahyp="http://schemas.microsoft.com/office/drawing/2018/hyperlinkcolor" val="tx"/>
                              </a:ext>
                            </a:extLst>
                          </a:hlinkClick>
                        </a:rPr>
                        <a:t>gpt-5.1</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1437</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18"/>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7">
                            <a:extLst>
                              <a:ext uri="{A12FA001-AC4F-418D-AE19-62706E023703}">
                                <ahyp:hlinkClr xmlns:ahyp="http://schemas.microsoft.com/office/drawing/2018/hyperlinkcolor" val="tx"/>
                              </a:ext>
                            </a:extLst>
                          </a:hlinkClick>
                        </a:rPr>
                        <a:t>gpt-5-high</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1436</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19"/>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8">
                            <a:extLst>
                              <a:ext uri="{A12FA001-AC4F-418D-AE19-62706E023703}">
                                <ahyp:hlinkClr xmlns:ahyp="http://schemas.microsoft.com/office/drawing/2018/hyperlinkcolor" val="tx"/>
                              </a:ext>
                            </a:extLst>
                          </a:hlinkClick>
                        </a:rPr>
                        <a:t>o3-2025-04-16</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1433</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20"/>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6">
                            <a:extLst>
                              <a:ext uri="{A12FA001-AC4F-418D-AE19-62706E023703}">
                                <ahyp:hlinkClr xmlns:ahyp="http://schemas.microsoft.com/office/drawing/2018/hyperlinkcolor" val="tx"/>
                              </a:ext>
                            </a:extLst>
                          </a:hlinkClick>
                        </a:rPr>
                        <a:t>qwen3-max-preview</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1433</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21"/>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39">
                            <a:extLst>
                              <a:ext uri="{A12FA001-AC4F-418D-AE19-62706E023703}">
                                <ahyp:hlinkClr xmlns:ahyp="http://schemas.microsoft.com/office/drawing/2018/hyperlinkcolor" val="tx"/>
                              </a:ext>
                            </a:extLst>
                          </a:hlinkClick>
                        </a:rPr>
                        <a:t>grok-4-1-fast-reasoning</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1433</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22"/>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40">
                            <a:extLst>
                              <a:ext uri="{A12FA001-AC4F-418D-AE19-62706E023703}">
                                <ahyp:hlinkClr xmlns:ahyp="http://schemas.microsoft.com/office/drawing/2018/hyperlinkcolor" val="tx"/>
                              </a:ext>
                            </a:extLst>
                          </a:hlinkClick>
                        </a:rPr>
                        <a:t>ernie-5.0-preview-1103</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1431</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23"/>
                  </a:ext>
                </a:extLst>
              </a:tr>
              <a:tr h="144325">
                <a:tc>
                  <a:txBody>
                    <a:bodyPr/>
                    <a:lstStyle/>
                    <a:p>
                      <a:pPr marL="0" lvl="0" indent="0" algn="l" rtl="0">
                        <a:lnSpc>
                          <a:spcPct val="115000"/>
                        </a:lnSpc>
                        <a:spcBef>
                          <a:spcPts val="0"/>
                        </a:spcBef>
                        <a:spcAft>
                          <a:spcPts val="0"/>
                        </a:spcAft>
                        <a:buNone/>
                      </a:pPr>
                      <a:r>
                        <a:rPr lang="en" sz="800" u="sng">
                          <a:solidFill>
                            <a:srgbClr val="1155CC"/>
                          </a:solidFill>
                          <a:latin typeface="Calibri"/>
                          <a:ea typeface="Calibri"/>
                          <a:cs typeface="Calibri"/>
                          <a:sym typeface="Calibri"/>
                          <a:hlinkClick r:id="rId27">
                            <a:extLst>
                              <a:ext uri="{A12FA001-AC4F-418D-AE19-62706E023703}">
                                <ahyp:hlinkClr xmlns:ahyp="http://schemas.microsoft.com/office/drawing/2018/hyperlinkcolor" val="tx"/>
                              </a:ext>
                            </a:extLst>
                          </a:hlinkClick>
                        </a:rPr>
                        <a:t>kimi-k2-thinking-turbo</a:t>
                      </a:r>
                      <a:endParaRPr sz="800" u="sng">
                        <a:solidFill>
                          <a:srgbClr val="1155CC"/>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tcPr>
                </a:tc>
                <a:tc>
                  <a:txBody>
                    <a:bodyPr/>
                    <a:lstStyle/>
                    <a:p>
                      <a:pPr marL="0" lvl="0" indent="0" algn="r" rtl="0">
                        <a:lnSpc>
                          <a:spcPct val="115000"/>
                        </a:lnSpc>
                        <a:spcBef>
                          <a:spcPts val="0"/>
                        </a:spcBef>
                        <a:spcAft>
                          <a:spcPts val="0"/>
                        </a:spcAft>
                        <a:buNone/>
                      </a:pPr>
                      <a:r>
                        <a:rPr lang="en" sz="800">
                          <a:solidFill>
                            <a:srgbClr val="636879"/>
                          </a:solidFill>
                          <a:latin typeface="Calibri"/>
                          <a:ea typeface="Calibri"/>
                          <a:cs typeface="Calibri"/>
                          <a:sym typeface="Calibri"/>
                        </a:rPr>
                        <a:t>1426</a:t>
                      </a:r>
                      <a:endParaRPr sz="800">
                        <a:solidFill>
                          <a:srgbClr val="636879"/>
                        </a:solidFill>
                        <a:latin typeface="Calibri"/>
                        <a:ea typeface="Calibri"/>
                        <a:cs typeface="Calibri"/>
                        <a:sym typeface="Calibri"/>
                      </a:endParaRPr>
                    </a:p>
                  </a:txBody>
                  <a:tcPr marL="28575" marR="28575" marT="19050" marB="19050" anchor="b">
                    <a:lnL w="9525" cap="flat" cmpd="sng">
                      <a:solidFill>
                        <a:srgbClr val="CCCCCC"/>
                      </a:solidFill>
                      <a:prstDash val="solid"/>
                      <a:round/>
                      <a:headEnd type="none" w="sm" len="sm"/>
                      <a:tailEnd type="none" w="sm" len="sm"/>
                    </a:lnL>
                    <a:lnR w="9525" cap="flat" cmpd="sng">
                      <a:solidFill>
                        <a:srgbClr val="CCCCCC"/>
                      </a:solidFill>
                      <a:prstDash val="solid"/>
                      <a:round/>
                      <a:headEnd type="none" w="sm" len="sm"/>
                      <a:tailEnd type="none" w="sm" len="sm"/>
                    </a:lnR>
                    <a:lnT w="9525" cap="flat" cmpd="sng">
                      <a:solidFill>
                        <a:srgbClr val="DDDFE3"/>
                      </a:solidFill>
                      <a:prstDash val="solid"/>
                      <a:round/>
                      <a:headEnd type="none" w="sm" len="sm"/>
                      <a:tailEnd type="none" w="sm" len="sm"/>
                    </a:lnT>
                    <a:lnB w="9525" cap="flat" cmpd="sng">
                      <a:solidFill>
                        <a:srgbClr val="DDDFE3"/>
                      </a:solidFill>
                      <a:prstDash val="solid"/>
                      <a:round/>
                      <a:headEnd type="none" w="sm" len="sm"/>
                      <a:tailEnd type="none" w="sm" len="sm"/>
                    </a:lnB>
                    <a:solidFill>
                      <a:srgbClr val="FDFDFE"/>
                    </a:solidFill>
                  </a:tcPr>
                </a:tc>
                <a:extLst>
                  <a:ext uri="{0D108BD9-81ED-4DB2-BD59-A6C34878D82A}">
                    <a16:rowId xmlns:a16="http://schemas.microsoft.com/office/drawing/2014/main" val="10024"/>
                  </a:ext>
                </a:extLst>
              </a:tr>
            </a:tbl>
          </a:graphicData>
        </a:graphic>
      </p:graphicFrame>
      <p:sp>
        <p:nvSpPr>
          <p:cNvPr id="138" name="Google Shape;138;p16"/>
          <p:cNvSpPr/>
          <p:nvPr/>
        </p:nvSpPr>
        <p:spPr>
          <a:xfrm>
            <a:off x="612150" y="4201561"/>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39" name="Google Shape;139;p16"/>
          <p:cNvSpPr/>
          <p:nvPr/>
        </p:nvSpPr>
        <p:spPr>
          <a:xfrm>
            <a:off x="3751782" y="3867220"/>
            <a:ext cx="125400" cy="125400"/>
          </a:xfrm>
          <a:prstGeom prst="ellipse">
            <a:avLst/>
          </a:prstGeom>
          <a:solidFill>
            <a:srgbClr val="FFFF00"/>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
        <p:nvSpPr>
          <p:cNvPr id="140" name="Google Shape;140;p16"/>
          <p:cNvSpPr txBox="1"/>
          <p:nvPr/>
        </p:nvSpPr>
        <p:spPr>
          <a:xfrm>
            <a:off x="3451169" y="4936979"/>
            <a:ext cx="287100" cy="141600"/>
          </a:xfrm>
          <a:prstGeom prst="rect">
            <a:avLst/>
          </a:prstGeom>
          <a:no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rgbClr val="000000"/>
              </a:buClr>
              <a:buSzPts val="1100"/>
              <a:buFont typeface="Arial"/>
              <a:buNone/>
            </a:pPr>
            <a:r>
              <a:rPr lang="en" sz="800" b="0" i="0" u="none" strike="noStrike" cap="none">
                <a:solidFill>
                  <a:srgbClr val="1F2937"/>
                </a:solidFill>
                <a:highlight>
                  <a:srgbClr val="FFFFFF"/>
                </a:highlight>
                <a:latin typeface="Calibri"/>
                <a:ea typeface="Calibri"/>
                <a:cs typeface="Calibri"/>
                <a:sym typeface="Calibri"/>
              </a:rPr>
              <a:t>China</a:t>
            </a:r>
            <a:endParaRPr sz="800" b="0" i="0" u="none" strike="noStrike" cap="none">
              <a:solidFill>
                <a:srgbClr val="1F2937"/>
              </a:solidFill>
              <a:highlight>
                <a:srgbClr val="FFFFFF"/>
              </a:highlight>
              <a:latin typeface="Calibri"/>
              <a:ea typeface="Calibri"/>
              <a:cs typeface="Calibri"/>
              <a:sym typeface="Calibri"/>
            </a:endParaRPr>
          </a:p>
        </p:txBody>
      </p:sp>
      <p:sp>
        <p:nvSpPr>
          <p:cNvPr id="141" name="Google Shape;141;p16"/>
          <p:cNvSpPr/>
          <p:nvPr/>
        </p:nvSpPr>
        <p:spPr>
          <a:xfrm>
            <a:off x="3742038" y="4945373"/>
            <a:ext cx="125400" cy="125400"/>
          </a:xfrm>
          <a:prstGeom prst="ellipse">
            <a:avLst/>
          </a:prstGeom>
          <a:solidFill>
            <a:srgbClr val="6AA84F"/>
          </a:solidFill>
          <a:ln w="9525" cap="flat" cmpd="sng">
            <a:solidFill>
              <a:srgbClr val="595959"/>
            </a:solidFill>
            <a:prstDash val="solid"/>
            <a:round/>
            <a:headEnd type="none" w="sm" len="sm"/>
            <a:tailEnd type="none" w="sm" len="sm"/>
          </a:ln>
        </p:spPr>
        <p:txBody>
          <a:bodyPr spcFirstLastPara="1" wrap="square" lIns="91425" tIns="91425" rIns="91425" bIns="91425" anchor="ctr" anchorCtr="0">
            <a:noAutofit/>
          </a:bodyPr>
          <a:lstStyle/>
          <a:p>
            <a:pPr marL="0" marR="0" lvl="0" indent="0" algn="ctr" rtl="0">
              <a:lnSpc>
                <a:spcPct val="100000"/>
              </a:lnSpc>
              <a:spcBef>
                <a:spcPts val="0"/>
              </a:spcBef>
              <a:spcAft>
                <a:spcPts val="0"/>
              </a:spcAft>
              <a:buClr>
                <a:srgbClr val="000000"/>
              </a:buClr>
              <a:buSzPts val="1400"/>
              <a:buFont typeface="Arial"/>
              <a:buNone/>
            </a:pPr>
            <a:endParaRPr sz="1400" b="0" i="0" u="none" strike="noStrike" cap="none">
              <a:solidFill>
                <a:srgbClr val="000000"/>
              </a:solidFill>
              <a:latin typeface="Arial"/>
              <a:ea typeface="Arial"/>
              <a:cs typeface="Arial"/>
              <a:sym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145"/>
        <p:cNvGrpSpPr/>
        <p:nvPr/>
      </p:nvGrpSpPr>
      <p:grpSpPr>
        <a:xfrm>
          <a:off x="0" y="0"/>
          <a:ext cx="0" cy="0"/>
          <a:chOff x="0" y="0"/>
          <a:chExt cx="0" cy="0"/>
        </a:xfrm>
      </p:grpSpPr>
      <p:sp>
        <p:nvSpPr>
          <p:cNvPr id="146" name="Google Shape;146;p17"/>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147" name="Google Shape;147;p17"/>
          <p:cNvSpPr txBox="1"/>
          <p:nvPr/>
        </p:nvSpPr>
        <p:spPr>
          <a:xfrm>
            <a:off x="111575" y="451475"/>
            <a:ext cx="58449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Gemini 3 Flash</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Performance, speed, and cost efficiency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beats Gemini 3 Pro at coding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Price: $0.50 / $3.00   per 1 Mln in/out tokens. This is 1/4 of Gemini 3 Pro, 1/3 of GPT 5.2, 1/6 of Claude Sonnet 4.5</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Very good on benchmarks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Gemini 3 Flash generates code faster using fewer tokens, producing results in 15-24 seccompared to Pro's 28-67 sec while using significantly less tokens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Google is deploying this model as the default across their product suite including Google Search AI mode and the Gemini app, making it freely available to all users globally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model is multimodal, understanding video, images, audio, and text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Its combination of frontier-level intelligence, exceptional speed, token efficiency, and aggressive pricing positions Google competitively in the AI race, especially for agentic coding applications and everyday tasks</a:t>
            </a:r>
            <a:endParaRPr sz="1200">
              <a:latin typeface="Calibri"/>
              <a:ea typeface="Calibri"/>
              <a:cs typeface="Calibri"/>
              <a:sym typeface="Calibri"/>
            </a:endParaRPr>
          </a:p>
        </p:txBody>
      </p:sp>
      <p:pic>
        <p:nvPicPr>
          <p:cNvPr id="148" name="Google Shape;148;p17"/>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6100825" y="912325"/>
            <a:ext cx="2915299" cy="112127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152"/>
        <p:cNvGrpSpPr/>
        <p:nvPr/>
      </p:nvGrpSpPr>
      <p:grpSpPr>
        <a:xfrm>
          <a:off x="0" y="0"/>
          <a:ext cx="0" cy="0"/>
          <a:chOff x="0" y="0"/>
          <a:chExt cx="0" cy="0"/>
        </a:xfrm>
      </p:grpSpPr>
      <p:sp>
        <p:nvSpPr>
          <p:cNvPr id="153" name="Google Shape;153;p18"/>
          <p:cNvSpPr txBox="1"/>
          <p:nvPr/>
        </p:nvSpPr>
        <p:spPr>
          <a:xfrm>
            <a:off x="55075" y="20375"/>
            <a:ext cx="1713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154" name="Google Shape;154;p18"/>
          <p:cNvSpPr txBox="1"/>
          <p:nvPr/>
        </p:nvSpPr>
        <p:spPr>
          <a:xfrm>
            <a:off x="118700" y="401408"/>
            <a:ext cx="43362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Nvidia Nemotron 3 Nano released Dec 15</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Super and Ultra are planned for the first half of 2026</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Nvidia Nemotron-3 is a family of open-weight LLMs aimed at efficient agentic AI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Three sizes: Nano (30B), Super (100B), and Ultra (500B)</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High throughput and strong reasoning/conversation performance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Using a hybrid Mamba-Transformer Sparse MoE design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~1M-token context (Nano)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Summarization, retrieval, and assistant workflows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Super &amp; Ultra adding techniques like LatentMoE, multi-token prediction, and NVFP4 training for efficiency on NVIDIA hardware</a:t>
            </a:r>
            <a:endParaRPr sz="1200">
              <a:latin typeface="Calibri"/>
              <a:ea typeface="Calibri"/>
              <a:cs typeface="Calibri"/>
              <a:sym typeface="Calibri"/>
            </a:endParaRPr>
          </a:p>
        </p:txBody>
      </p:sp>
      <p:sp>
        <p:nvSpPr>
          <p:cNvPr id="155" name="Google Shape;155;p18"/>
          <p:cNvSpPr txBox="1"/>
          <p:nvPr/>
        </p:nvSpPr>
        <p:spPr>
          <a:xfrm>
            <a:off x="118700" y="2506225"/>
            <a:ext cx="4336200" cy="2604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Abacus AI vs Manus AI </a:t>
            </a:r>
            <a:r>
              <a:rPr lang="en" sz="1200">
                <a:latin typeface="Calibri"/>
                <a:ea typeface="Calibri"/>
                <a:cs typeface="Calibri"/>
                <a:sym typeface="Calibri"/>
              </a:rPr>
              <a:t>Review: Viral Hype vs Reality (2025)</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Abacus AI’s DeepAgent is a practical, good-value automation- coding agent today, while Manus AI is largely viral hype with major reliability, access, and pricing frustrations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video contrasts Abacus’s low-cost “all-in-one” model access with Manus’s invite/beta constraints and frequent failures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Abacus DeepAgent offers access to many major models and is positioned as a straightforward subscription that became “unlimited” at a low monthly price, with users reportedly building real apps/sites quickly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Manus is described as highly hyped - but then disappointing in day-to-day use (crashes, frozen tasks, empty downloadable outputs, and strict session limits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https://www.youtube.com/watch?v=DiWX8Pagq1k</a:t>
            </a:r>
            <a:r>
              <a:rPr lang="en" sz="1200">
                <a:latin typeface="Calibri"/>
                <a:ea typeface="Calibri"/>
                <a:cs typeface="Calibri"/>
                <a:sym typeface="Calibri"/>
              </a:rPr>
              <a:t> </a:t>
            </a:r>
            <a:endParaRPr sz="1200">
              <a:latin typeface="Calibri"/>
              <a:ea typeface="Calibri"/>
              <a:cs typeface="Calibri"/>
              <a:sym typeface="Calibri"/>
            </a:endParaRPr>
          </a:p>
        </p:txBody>
      </p:sp>
      <p:sp>
        <p:nvSpPr>
          <p:cNvPr id="156" name="Google Shape;156;p18"/>
          <p:cNvSpPr txBox="1"/>
          <p:nvPr/>
        </p:nvSpPr>
        <p:spPr>
          <a:xfrm>
            <a:off x="4645232" y="1952396"/>
            <a:ext cx="3423900" cy="163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Manus released version 1.6 featuring Manus Max</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Improved task completion rates and 19.2% higher user satisfaction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Can handle complex workflows with minimal supervision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New capabilities include mobile app development and Design View offering interactive visual editing with point-and-click adjustments</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https://www.youtube.com/watch?v=vXMrezKs8Hw</a:t>
            </a:r>
            <a:r>
              <a:rPr lang="en" sz="900">
                <a:latin typeface="Calibri"/>
                <a:ea typeface="Calibri"/>
                <a:cs typeface="Calibri"/>
                <a:sym typeface="Calibri"/>
              </a:rPr>
              <a:t> </a:t>
            </a:r>
            <a:endParaRPr sz="900">
              <a:latin typeface="Calibri"/>
              <a:ea typeface="Calibri"/>
              <a:cs typeface="Calibri"/>
              <a:sym typeface="Calibri"/>
            </a:endParaRPr>
          </a:p>
        </p:txBody>
      </p:sp>
      <p:pic>
        <p:nvPicPr>
          <p:cNvPr id="157" name="Google Shape;157;p18"/>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4871350" y="152400"/>
            <a:ext cx="3796400" cy="1295050"/>
          </a:xfrm>
          <a:prstGeom prst="rect">
            <a:avLst/>
          </a:prstGeom>
          <a:noFill/>
          <a:ln w="9525" cap="flat" cmpd="sng">
            <a:solidFill>
              <a:srgbClr val="FF0000"/>
            </a:solidFill>
            <a:prstDash val="solid"/>
            <a:round/>
            <a:headEnd type="none" w="sm" len="sm"/>
            <a:tailEnd type="none" w="sm" len="sm"/>
          </a:ln>
        </p:spPr>
      </p:pic>
      <p:pic>
        <p:nvPicPr>
          <p:cNvPr id="158" name="Google Shape;158;p1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522936" y="4474441"/>
            <a:ext cx="2305125" cy="622475"/>
          </a:xfrm>
          <a:prstGeom prst="rect">
            <a:avLst/>
          </a:prstGeom>
          <a:noFill/>
          <a:ln w="9525" cap="flat" cmpd="sng">
            <a:solidFill>
              <a:srgbClr val="FF0000"/>
            </a:solidFill>
            <a:prstDash val="solid"/>
            <a:round/>
            <a:headEnd type="none" w="sm" len="sm"/>
            <a:tailEnd type="none" w="sm" len="sm"/>
          </a:ln>
        </p:spPr>
      </p:pic>
      <p:pic>
        <p:nvPicPr>
          <p:cNvPr id="159" name="Google Shape;159;p1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6973286" y="3692975"/>
            <a:ext cx="2117550" cy="91985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63"/>
        <p:cNvGrpSpPr/>
        <p:nvPr/>
      </p:nvGrpSpPr>
      <p:grpSpPr>
        <a:xfrm>
          <a:off x="0" y="0"/>
          <a:ext cx="0" cy="0"/>
          <a:chOff x="0" y="0"/>
          <a:chExt cx="0" cy="0"/>
        </a:xfrm>
      </p:grpSpPr>
      <p:sp>
        <p:nvSpPr>
          <p:cNvPr id="164" name="Google Shape;164;p19"/>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165" name="Google Shape;165;p19"/>
          <p:cNvSpPr txBox="1"/>
          <p:nvPr/>
        </p:nvSpPr>
        <p:spPr>
          <a:xfrm>
            <a:off x="118700" y="401408"/>
            <a:ext cx="43362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 Gemma 4</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Run model on-device (phone/laptop) for near-instant responses, stronger privacy because data stays local, and predictable costs because you deploy once instead of paying usage-based inference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Smaller Gemma variants can be compact (hundreds of MB at full precision, smaller when quantized), making them easier to ship inside apps and use offline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presenter describes a workflow where you can fine-tune a Gemma model, convert/quantize it (e.g., to low-bit formats), and then deploy it in lightweight experiences like a simple browser-based HTML UI, positioning this as a path to build “local copilots” for writing/coding or small business tools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https://www.youtube.com/watch?v=k9KLsVL4RUo</a:t>
            </a:r>
            <a:r>
              <a:rPr lang="en" sz="1200">
                <a:latin typeface="Calibri"/>
                <a:ea typeface="Calibri"/>
                <a:cs typeface="Calibri"/>
                <a:sym typeface="Calibri"/>
              </a:rPr>
              <a:t> </a:t>
            </a:r>
            <a:endParaRPr sz="1200">
              <a:latin typeface="Calibri"/>
              <a:ea typeface="Calibri"/>
              <a:cs typeface="Calibri"/>
              <a:sym typeface="Calibri"/>
            </a:endParaRPr>
          </a:p>
        </p:txBody>
      </p:sp>
      <p:sp>
        <p:nvSpPr>
          <p:cNvPr id="166" name="Google Shape;166;p19"/>
          <p:cNvSpPr txBox="1"/>
          <p:nvPr/>
        </p:nvSpPr>
        <p:spPr>
          <a:xfrm>
            <a:off x="118700" y="2862206"/>
            <a:ext cx="43362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OpenAI GPT Image 1.5</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https://www.youtube.com/watch?v=U8T-Zf-xYmw</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Higher-quality, more reliable images and edits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Better prompt instructions following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Faster (up to 4x) and more cost-efficient, with reduced API costs for image generation and editing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 dedicated “Images” tab in ChatGPT, offering preset filters and prompt suggestions</a:t>
            </a:r>
            <a:endParaRPr sz="1200">
              <a:latin typeface="Calibri"/>
              <a:ea typeface="Calibri"/>
              <a:cs typeface="Calibri"/>
              <a:sym typeface="Calibri"/>
            </a:endParaRPr>
          </a:p>
        </p:txBody>
      </p:sp>
      <p:pic>
        <p:nvPicPr>
          <p:cNvPr id="167" name="Google Shape;167;p19"/>
          <p:cNvPicPr preferRelativeResize="0"/>
          <p:nvPr/>
        </p:nvPicPr>
        <p:blipFill rotWithShape="1">
          <a:blip r:embed="rId5" cstate="email">
            <a:alphaModFix/>
            <a:extLst>
              <a:ext uri="{28A0092B-C50C-407E-A947-70E740481C1C}">
                <a14:useLocalDpi xmlns:a14="http://schemas.microsoft.com/office/drawing/2010/main"/>
              </a:ext>
            </a:extLst>
          </a:blip>
          <a:srcRect/>
          <a:stretch/>
        </p:blipFill>
        <p:spPr>
          <a:xfrm>
            <a:off x="4830525" y="898100"/>
            <a:ext cx="2626200" cy="870850"/>
          </a:xfrm>
          <a:prstGeom prst="rect">
            <a:avLst/>
          </a:prstGeom>
          <a:noFill/>
          <a:ln w="9525" cap="flat" cmpd="sng">
            <a:solidFill>
              <a:srgbClr val="FF0000"/>
            </a:solidFill>
            <a:prstDash val="solid"/>
            <a:round/>
            <a:headEnd type="none" w="sm" len="sm"/>
            <a:tailEnd type="none" w="sm" len="sm"/>
          </a:ln>
        </p:spPr>
      </p:pic>
      <p:pic>
        <p:nvPicPr>
          <p:cNvPr id="168" name="Google Shape;168;p1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43425" y="2839813"/>
            <a:ext cx="2580100" cy="1058487"/>
          </a:xfrm>
          <a:prstGeom prst="rect">
            <a:avLst/>
          </a:prstGeom>
          <a:noFill/>
          <a:ln w="9525" cap="flat" cmpd="sng">
            <a:solidFill>
              <a:srgbClr val="FF0000"/>
            </a:solidFill>
            <a:prstDash val="solid"/>
            <a:round/>
            <a:headEnd type="none" w="sm" len="sm"/>
            <a:tailEnd type="none" w="sm" len="sm"/>
          </a:ln>
        </p:spPr>
      </p:pic>
      <p:sp>
        <p:nvSpPr>
          <p:cNvPr id="169" name="Google Shape;169;p19"/>
          <p:cNvSpPr txBox="1"/>
          <p:nvPr/>
        </p:nvSpPr>
        <p:spPr>
          <a:xfrm>
            <a:off x="118700" y="4457200"/>
            <a:ext cx="4336200" cy="572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Nano Banana Pro (Gemini Pro Image) </a:t>
            </a:r>
            <a:r>
              <a:rPr lang="en" sz="1200">
                <a:latin typeface="Calibri"/>
                <a:ea typeface="Calibri"/>
                <a:cs typeface="Calibri"/>
                <a:sym typeface="Calibri"/>
              </a:rPr>
              <a:t> is </a:t>
            </a:r>
            <a:r>
              <a:rPr lang="en" sz="1200">
                <a:solidFill>
                  <a:schemeClr val="dk1"/>
                </a:solidFill>
                <a:latin typeface="Calibri"/>
                <a:ea typeface="Calibri"/>
                <a:cs typeface="Calibri"/>
                <a:sym typeface="Calibri"/>
              </a:rPr>
              <a:t>ahead of GPT Image 1.5 on Image Arena. It is available </a:t>
            </a:r>
            <a:r>
              <a:rPr lang="en" sz="1200">
                <a:latin typeface="Calibri"/>
                <a:ea typeface="Calibri"/>
                <a:cs typeface="Calibri"/>
                <a:sym typeface="Calibri"/>
              </a:rPr>
              <a:t>through Google AI Pro ($20/mo), Vertex AI, Google Workspace, and Gemini Enterprise</a:t>
            </a:r>
            <a:endParaRPr sz="1200">
              <a:latin typeface="Calibri"/>
              <a:ea typeface="Calibri"/>
              <a:cs typeface="Calibri"/>
              <a:sym typeface="Calibri"/>
            </a:endParaRPr>
          </a:p>
        </p:txBody>
      </p:sp>
      <p:pic>
        <p:nvPicPr>
          <p:cNvPr id="170" name="Google Shape;170;p1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631697" y="3978282"/>
            <a:ext cx="2580090" cy="10774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74"/>
        <p:cNvGrpSpPr/>
        <p:nvPr/>
      </p:nvGrpSpPr>
      <p:grpSpPr>
        <a:xfrm>
          <a:off x="0" y="0"/>
          <a:ext cx="0" cy="0"/>
          <a:chOff x="0" y="0"/>
          <a:chExt cx="0" cy="0"/>
        </a:xfrm>
      </p:grpSpPr>
      <p:sp>
        <p:nvSpPr>
          <p:cNvPr id="175" name="Google Shape;175;p20"/>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176" name="Google Shape;176;p20"/>
          <p:cNvSpPr txBox="1"/>
          <p:nvPr/>
        </p:nvSpPr>
        <p:spPr>
          <a:xfrm>
            <a:off x="55075" y="425525"/>
            <a:ext cx="5378100" cy="2004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Gemini Super Gems - Free workflow tool</a:t>
            </a:r>
            <a:endParaRPr sz="900" b="1">
              <a:solidFill>
                <a:srgbClr val="FF0000"/>
              </a:solidFill>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https://www.youtube.com/watch?v=1choivCbZDg</a:t>
            </a:r>
            <a:r>
              <a:rPr lang="en" sz="900">
                <a:latin typeface="Calibri"/>
                <a:ea typeface="Calibri"/>
                <a:cs typeface="Calibri"/>
                <a:sym typeface="Calibri"/>
              </a:rPr>
              <a:t> </a:t>
            </a:r>
            <a:endParaRPr sz="9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Create automated workflows and mini apps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Integrating Opal workflow builder directly into the Gemini web app</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visual editor converts prompts into editable step-by-step workflows. Advanced users can access the full Opal Builder for granular control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All existing Opal apps are being migrated to "My Gems from Labs" within the Gemini Gems Manager, where users can create, edit, and share custom AI assistants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feature seamlessly integrates with Google Workspace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also supports multimodal AI capabilities (images, audio, video)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feature competes with platforms like N8N</a:t>
            </a:r>
            <a:endParaRPr sz="1200">
              <a:latin typeface="Calibri"/>
              <a:ea typeface="Calibri"/>
              <a:cs typeface="Calibri"/>
              <a:sym typeface="Calibri"/>
            </a:endParaRPr>
          </a:p>
        </p:txBody>
      </p:sp>
      <p:sp>
        <p:nvSpPr>
          <p:cNvPr id="177" name="Google Shape;177;p20"/>
          <p:cNvSpPr txBox="1"/>
          <p:nvPr/>
        </p:nvSpPr>
        <p:spPr>
          <a:xfrm>
            <a:off x="55075" y="2508275"/>
            <a:ext cx="5378100" cy="26043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Claude Chrome browser extension</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Claude AI appears as a side panel - for Max subscribers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Powered by Claude Sonnet 4.5 and can read webpage content, click buttons, fill forms, type text, and navigate websites using natural language commands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When you give Claude instructions, it can observe your screen and interact with pages through Chrome's automation APIs, simulating mouse clicks and keystrokes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An orange hue appears in tab borders when Claude is actively working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Claude can manage multiple browser tabs simultaneously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Schedule tasks to run daily, weekly, monthly, or annual schedules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Shortcuts for frequently used prompts and /slash commands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Claude can handle complex multi-step tasks and continues working even when you switch tabs, with notifications when it needs permission or finishes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Built-in knowledge of popular platforms like Slack, Google Calendar, Gmail, Google Docs, and GitHub</a:t>
            </a:r>
            <a:endParaRPr sz="1200">
              <a:latin typeface="Calibri"/>
              <a:ea typeface="Calibri"/>
              <a:cs typeface="Calibri"/>
              <a:sym typeface="Calibri"/>
            </a:endParaRPr>
          </a:p>
        </p:txBody>
      </p:sp>
      <p:pic>
        <p:nvPicPr>
          <p:cNvPr id="178" name="Google Shape;178;p2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543525" y="58900"/>
            <a:ext cx="3554401" cy="2412143"/>
          </a:xfrm>
          <a:prstGeom prst="rect">
            <a:avLst/>
          </a:prstGeom>
          <a:noFill/>
          <a:ln w="9525" cap="flat" cmpd="sng">
            <a:solidFill>
              <a:srgbClr val="FF0000"/>
            </a:solidFill>
            <a:prstDash val="solid"/>
            <a:round/>
            <a:headEnd type="none" w="sm" len="sm"/>
            <a:tailEnd type="none" w="sm" len="sm"/>
          </a:ln>
        </p:spPr>
      </p:pic>
      <p:sp>
        <p:nvSpPr>
          <p:cNvPr id="179" name="Google Shape;179;p20"/>
          <p:cNvSpPr txBox="1"/>
          <p:nvPr/>
        </p:nvSpPr>
        <p:spPr>
          <a:xfrm>
            <a:off x="5543525" y="2522560"/>
            <a:ext cx="3554400" cy="2558100"/>
          </a:xfrm>
          <a:prstGeom prst="rect">
            <a:avLst/>
          </a:prstGeom>
          <a:solidFill>
            <a:srgbClr val="FCE5CD"/>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You can choose between two permission modes: "Ask before acting" (Claude requests approval for each action) or "Act without asking" (autonomous operation)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You can also set permissions for specific websites and change settings anytime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extension implements multiple protective measures including site-level permissions, action confirmations, and high-risk website blocking, which reduced attack success rates from 23.6% to 11.2% in testing. However, prompt injection risks and occasional errors mean you should carefully choose use cases and monitor Claude's actions </a:t>
            </a:r>
            <a:r>
              <a:rPr lang="en" sz="900">
                <a:latin typeface="Calibri"/>
                <a:ea typeface="Calibri"/>
                <a:cs typeface="Calibri"/>
                <a:sym typeface="Calibri"/>
              </a:rPr>
              <a:t>- </a:t>
            </a:r>
            <a:r>
              <a:rPr lang="en" sz="900" u="sng">
                <a:solidFill>
                  <a:schemeClr val="hlink"/>
                </a:solidFill>
                <a:latin typeface="Calibri"/>
                <a:ea typeface="Calibri"/>
                <a:cs typeface="Calibri"/>
                <a:sym typeface="Calibri"/>
                <a:hlinkClick r:id="rId5"/>
              </a:rPr>
              <a:t>https://www.claude.com/blog/claude-for-chrome</a:t>
            </a:r>
            <a:r>
              <a:rPr lang="en" sz="900">
                <a:latin typeface="Calibri"/>
                <a:ea typeface="Calibri"/>
                <a:cs typeface="Calibri"/>
                <a:sym typeface="Calibri"/>
              </a:rPr>
              <a:t> </a:t>
            </a:r>
            <a:endParaRPr sz="900">
              <a:latin typeface="Calibri"/>
              <a:ea typeface="Calibri"/>
              <a:cs typeface="Calibri"/>
              <a:sym typeface="Calibri"/>
            </a:endParaRPr>
          </a:p>
        </p:txBody>
      </p:sp>
      <p:sp>
        <p:nvSpPr>
          <p:cNvPr id="180" name="Google Shape;180;p20"/>
          <p:cNvSpPr/>
          <p:nvPr/>
        </p:nvSpPr>
        <p:spPr>
          <a:xfrm>
            <a:off x="5980800" y="1754400"/>
            <a:ext cx="292500" cy="212700"/>
          </a:xfrm>
          <a:prstGeom prst="leftArrow">
            <a:avLst>
              <a:gd name="adj1" fmla="val 50000"/>
              <a:gd name="adj2" fmla="val 50000"/>
            </a:avLst>
          </a:prstGeom>
          <a:solidFill>
            <a:srgbClr val="FF0000"/>
          </a:solidFill>
          <a:ln w="9525" cap="flat" cmpd="sng">
            <a:solidFill>
              <a:srgbClr val="FF0000"/>
            </a:solidFill>
            <a:prstDash val="solid"/>
            <a:round/>
            <a:headEnd type="none" w="sm" len="sm"/>
            <a:tailEnd type="none" w="sm" len="sm"/>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84"/>
        <p:cNvGrpSpPr/>
        <p:nvPr/>
      </p:nvGrpSpPr>
      <p:grpSpPr>
        <a:xfrm>
          <a:off x="0" y="0"/>
          <a:ext cx="0" cy="0"/>
          <a:chOff x="0" y="0"/>
          <a:chExt cx="0" cy="0"/>
        </a:xfrm>
      </p:grpSpPr>
      <p:sp>
        <p:nvSpPr>
          <p:cNvPr id="185" name="Google Shape;185;p21"/>
          <p:cNvSpPr txBox="1"/>
          <p:nvPr/>
        </p:nvSpPr>
        <p:spPr>
          <a:xfrm>
            <a:off x="148651" y="619300"/>
            <a:ext cx="4917900" cy="418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We do these weekly videos every Friday</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Stats: 5.84K subscribers, 257 videos</a:t>
            </a: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Subscribe to this channel</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r>
              <a:rPr lang="en" sz="1800" b="1" u="sng">
                <a:solidFill>
                  <a:schemeClr val="accent5"/>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https://www.youtube.com/@lev-selector</a:t>
            </a:r>
            <a:r>
              <a:rPr lang="en" sz="1800" b="1">
                <a:solidFill>
                  <a:schemeClr val="dk1"/>
                </a:solidFill>
                <a:latin typeface="Calibri"/>
                <a:ea typeface="Calibri"/>
                <a:cs typeface="Calibri"/>
                <a:sym typeface="Calibri"/>
              </a:rPr>
              <a:t> </a:t>
            </a:r>
            <a:endParaRPr sz="1800" b="1">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a:solidFill>
                  <a:schemeClr val="dk1"/>
                </a:solidFill>
                <a:latin typeface="Calibri"/>
                <a:ea typeface="Calibri"/>
                <a:cs typeface="Calibri"/>
                <a:sym typeface="Calibri"/>
              </a:rPr>
              <a:t>Download slides from GitHub using links under the videos</a:t>
            </a:r>
            <a:endParaRPr sz="2200">
              <a:solidFill>
                <a:schemeClr val="dk1"/>
              </a:solidFill>
              <a:latin typeface="Calibri"/>
              <a:ea typeface="Calibri"/>
              <a:cs typeface="Calibri"/>
              <a:sym typeface="Calibri"/>
            </a:endParaRPr>
          </a:p>
          <a:p>
            <a:pPr marL="0" lvl="0" indent="0" algn="l" rtl="0">
              <a:spcBef>
                <a:spcPts val="0"/>
              </a:spcBef>
              <a:spcAft>
                <a:spcPts val="0"/>
              </a:spcAft>
              <a:buClr>
                <a:schemeClr val="dk1"/>
              </a:buClr>
              <a:buSzPts val="2500"/>
              <a:buFont typeface="Arial"/>
              <a:buNone/>
            </a:pPr>
            <a:endParaRPr sz="2200">
              <a:solidFill>
                <a:schemeClr val="dk1"/>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2500"/>
              <a:buFont typeface="Arial"/>
              <a:buNone/>
            </a:pPr>
            <a:r>
              <a:rPr lang="en" sz="2200" b="1">
                <a:solidFill>
                  <a:srgbClr val="FF0000"/>
                </a:solidFill>
                <a:latin typeface="Calibri"/>
                <a:ea typeface="Calibri"/>
                <a:cs typeface="Calibri"/>
                <a:sym typeface="Calibri"/>
              </a:rPr>
              <a:t>Please pause the video - and answer the pinned question in comments under the video</a:t>
            </a:r>
            <a:endParaRPr sz="1800" b="1" i="0" u="none" strike="noStrike" cap="none">
              <a:solidFill>
                <a:srgbClr val="FF0000"/>
              </a:solidFill>
              <a:latin typeface="Calibri"/>
              <a:ea typeface="Calibri"/>
              <a:cs typeface="Calibri"/>
              <a:sym typeface="Calibri"/>
            </a:endParaRPr>
          </a:p>
        </p:txBody>
      </p:sp>
      <p:pic>
        <p:nvPicPr>
          <p:cNvPr id="186" name="Google Shape;186;p21"/>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227443" y="79125"/>
            <a:ext cx="3828725" cy="4985251"/>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90"/>
        <p:cNvGrpSpPr/>
        <p:nvPr/>
      </p:nvGrpSpPr>
      <p:grpSpPr>
        <a:xfrm>
          <a:off x="0" y="0"/>
          <a:ext cx="0" cy="0"/>
          <a:chOff x="0" y="0"/>
          <a:chExt cx="0" cy="0"/>
        </a:xfrm>
      </p:grpSpPr>
      <p:sp>
        <p:nvSpPr>
          <p:cNvPr id="191" name="Google Shape;191;p22"/>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192" name="Google Shape;192;p22"/>
          <p:cNvSpPr txBox="1"/>
          <p:nvPr/>
        </p:nvSpPr>
        <p:spPr>
          <a:xfrm>
            <a:off x="55075" y="453775"/>
            <a:ext cx="43362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ChatGPT 5.2 vs Claude Opus 4.5 vs Google Gemini 3</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https://www.youtube.com/watch?v=tJQeHOALOJg</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 GPT‑5.2:</a:t>
            </a:r>
            <a:endParaRPr sz="1200">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Complex reasoning-heavy work (multi-step decisions, tricky tradeoffs, “think this through” business logic) where correctness matters more than style.​</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Structured outputs and spec-following (strict formatting, checklists, SOP-style responses) where you want fewer deviations.​</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General “knowledge-work” tasks that blend analysis + writing (e.g., planning, evaluation, drafting that must stay aligned to constraints).​</a:t>
            </a:r>
            <a:endParaRPr sz="1200">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 </a:t>
            </a:r>
            <a:r>
              <a:rPr lang="en" sz="1200" b="1">
                <a:solidFill>
                  <a:srgbClr val="FF0000"/>
                </a:solidFill>
                <a:latin typeface="Calibri"/>
                <a:ea typeface="Calibri"/>
                <a:cs typeface="Calibri"/>
                <a:sym typeface="Calibri"/>
              </a:rPr>
              <a:t>Gemini 3 when the task is multimodal/creative </a:t>
            </a:r>
            <a:r>
              <a:rPr lang="en" sz="1200">
                <a:latin typeface="Calibri"/>
                <a:ea typeface="Calibri"/>
                <a:cs typeface="Calibri"/>
                <a:sym typeface="Calibri"/>
              </a:rPr>
              <a:t>(assets, image/video understanding, marketing content workflows)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 </a:t>
            </a:r>
            <a:r>
              <a:rPr lang="en" sz="1200" b="1">
                <a:solidFill>
                  <a:srgbClr val="FF0000"/>
                </a:solidFill>
                <a:latin typeface="Calibri"/>
                <a:ea typeface="Calibri"/>
                <a:cs typeface="Calibri"/>
                <a:sym typeface="Calibri"/>
              </a:rPr>
              <a:t>Claude Opus 4.5 when the task is developer-centric</a:t>
            </a:r>
            <a:r>
              <a:rPr lang="en" sz="1200">
                <a:latin typeface="Calibri"/>
                <a:ea typeface="Calibri"/>
                <a:cs typeface="Calibri"/>
                <a:sym typeface="Calibri"/>
              </a:rPr>
              <a:t> (coding, debugging, longer agentic execution)</a:t>
            </a:r>
            <a:endParaRPr sz="1200">
              <a:latin typeface="Calibri"/>
              <a:ea typeface="Calibri"/>
              <a:cs typeface="Calibri"/>
              <a:sym typeface="Calibri"/>
            </a:endParaRPr>
          </a:p>
        </p:txBody>
      </p:sp>
      <p:pic>
        <p:nvPicPr>
          <p:cNvPr id="193" name="Google Shape;193;p22"/>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572575" y="726663"/>
            <a:ext cx="4447926" cy="2428116"/>
          </a:xfrm>
          <a:prstGeom prst="rect">
            <a:avLst/>
          </a:prstGeom>
          <a:noFill/>
          <a:ln w="9525" cap="flat" cmpd="sng">
            <a:solidFill>
              <a:srgbClr val="FF0000"/>
            </a:solidFill>
            <a:prstDash val="solid"/>
            <a:round/>
            <a:headEnd type="none" w="sm" len="sm"/>
            <a:tailEnd type="none" w="sm" len="sm"/>
          </a:ln>
        </p:spPr>
      </p:pic>
      <p:sp>
        <p:nvSpPr>
          <p:cNvPr id="194" name="Google Shape;194;p22"/>
          <p:cNvSpPr txBox="1"/>
          <p:nvPr/>
        </p:nvSpPr>
        <p:spPr>
          <a:xfrm>
            <a:off x="55075" y="3660675"/>
            <a:ext cx="43362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Nvidia can export H200 AI chips to China</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Trump announced that the U.S. will allow Nvidia to export H200 AI chips to China under conditions.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Shipments would still require U.S. approval/licensing and would be limited to vetted end users. Also US will receive a 25% revenue cut</a:t>
            </a:r>
            <a:endParaRPr sz="1200">
              <a:latin typeface="Calibri"/>
              <a:ea typeface="Calibri"/>
              <a:cs typeface="Calibri"/>
              <a:sym typeface="Calibri"/>
            </a:endParaRPr>
          </a:p>
        </p:txBody>
      </p:sp>
      <p:pic>
        <p:nvPicPr>
          <p:cNvPr id="195" name="Google Shape;195;p22"/>
          <p:cNvPicPr preferRelativeResize="0"/>
          <p:nvPr/>
        </p:nvPicPr>
        <p:blipFill>
          <a:blip r:embed="rId5">
            <a:alphaModFix/>
          </a:blip>
          <a:stretch>
            <a:fillRect/>
          </a:stretch>
        </p:blipFill>
        <p:spPr>
          <a:xfrm>
            <a:off x="4543675" y="3307178"/>
            <a:ext cx="2857500" cy="16002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99"/>
        <p:cNvGrpSpPr/>
        <p:nvPr/>
      </p:nvGrpSpPr>
      <p:grpSpPr>
        <a:xfrm>
          <a:off x="0" y="0"/>
          <a:ext cx="0" cy="0"/>
          <a:chOff x="0" y="0"/>
          <a:chExt cx="0" cy="0"/>
        </a:xfrm>
      </p:grpSpPr>
      <p:sp>
        <p:nvSpPr>
          <p:cNvPr id="200" name="Google Shape;200;p23"/>
          <p:cNvSpPr txBox="1"/>
          <p:nvPr/>
        </p:nvSpPr>
        <p:spPr>
          <a:xfrm>
            <a:off x="55075" y="20375"/>
            <a:ext cx="4458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Scaling Laws For Multi-agent Systems</a:t>
            </a:r>
            <a:endParaRPr sz="2000" b="1" i="0" u="none" strike="noStrike" cap="none">
              <a:solidFill>
                <a:schemeClr val="dk1"/>
              </a:solidFill>
              <a:latin typeface="Calibri"/>
              <a:ea typeface="Calibri"/>
              <a:cs typeface="Calibri"/>
              <a:sym typeface="Calibri"/>
            </a:endParaRPr>
          </a:p>
        </p:txBody>
      </p:sp>
      <p:sp>
        <p:nvSpPr>
          <p:cNvPr id="201" name="Google Shape;201;p23"/>
          <p:cNvSpPr txBox="1"/>
          <p:nvPr/>
        </p:nvSpPr>
        <p:spPr>
          <a:xfrm>
            <a:off x="146325" y="427150"/>
            <a:ext cx="4367700" cy="4451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Scaling laws for multi-agent LLM systems</a:t>
            </a:r>
            <a:endParaRPr sz="1200" b="1">
              <a:solidFill>
                <a:srgbClr val="FF0000"/>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https://www.youtube.com/watch?v=IvJgrwp1VUk</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The video explains new scaling laws for multi-agent LLM systems from a Google Research, Google DeepMind, and MIT paper, “Towards a Science of Scaling Agent Systems.” </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The key claim is that “more agents” does not automatically yield better performance</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Performance depends on task structure, tool density, and coordination topology</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The authors benchmark five architectures (single, independent, centralized, decentralized, hybrid) across three model families (GPT‑5 variants, Gemini 2.x, Claude Sonnet 3.7–4.5) on four tasks: finance (parallelizable), web browsing, Minecraft-like planning, and a tool-heavy workbench.</a:t>
            </a:r>
            <a:r>
              <a:rPr lang="en" sz="1200" u="sng">
                <a:solidFill>
                  <a:schemeClr val="hlink"/>
                </a:solidFill>
                <a:latin typeface="Calibri"/>
                <a:ea typeface="Calibri"/>
                <a:cs typeface="Calibri"/>
                <a:sym typeface="Calibri"/>
                <a:hlinkClick r:id="rId4"/>
              </a:rPr>
              <a:t>arxiv+1</a:t>
            </a:r>
            <a:r>
              <a:rPr lang="en" sz="1200">
                <a:solidFill>
                  <a:schemeClr val="dk1"/>
                </a:solidFill>
                <a:latin typeface="Calibri"/>
                <a:ea typeface="Calibri"/>
                <a:cs typeface="Calibri"/>
                <a:sym typeface="Calibri"/>
              </a:rPr>
              <a:t>​</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Findings: multi-agent systems can give </a:t>
            </a:r>
            <a:r>
              <a:rPr lang="en" sz="1200" b="1">
                <a:solidFill>
                  <a:srgbClr val="3C78D8"/>
                </a:solidFill>
                <a:latin typeface="Calibri"/>
                <a:ea typeface="Calibri"/>
                <a:cs typeface="Calibri"/>
                <a:sym typeface="Calibri"/>
              </a:rPr>
              <a:t>up to ~80% gains on highly parallel finance-style tasks</a:t>
            </a:r>
            <a:r>
              <a:rPr lang="en" sz="1200">
                <a:solidFill>
                  <a:schemeClr val="dk1"/>
                </a:solidFill>
                <a:latin typeface="Calibri"/>
                <a:ea typeface="Calibri"/>
                <a:cs typeface="Calibri"/>
                <a:sym typeface="Calibri"/>
              </a:rPr>
              <a:t>, </a:t>
            </a:r>
            <a:r>
              <a:rPr lang="en" sz="1200" b="1">
                <a:solidFill>
                  <a:srgbClr val="6AA84F"/>
                </a:solidFill>
                <a:latin typeface="Calibri"/>
                <a:ea typeface="Calibri"/>
                <a:cs typeface="Calibri"/>
                <a:sym typeface="Calibri"/>
              </a:rPr>
              <a:t>modest gains on web navigation with decentralized debate</a:t>
            </a:r>
            <a:r>
              <a:rPr lang="en" sz="1200">
                <a:solidFill>
                  <a:schemeClr val="dk1"/>
                </a:solidFill>
                <a:latin typeface="Calibri"/>
                <a:ea typeface="Calibri"/>
                <a:cs typeface="Calibri"/>
                <a:sym typeface="Calibri"/>
              </a:rPr>
              <a:t>, but </a:t>
            </a:r>
            <a:r>
              <a:rPr lang="en" sz="1200" b="1">
                <a:solidFill>
                  <a:srgbClr val="FF0000"/>
                </a:solidFill>
                <a:latin typeface="Calibri"/>
                <a:ea typeface="Calibri"/>
                <a:cs typeface="Calibri"/>
                <a:sym typeface="Calibri"/>
              </a:rPr>
              <a:t>cause 39–70% degradation on sequential planning tasks compared to a single agent</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Tool-dense environments suffer from a “tool–coordination trade-off”: coordination chatter competes with tool specs and reasoning in the context window, increasing hallucinated tool use</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Independent voting ensembles amplify errors by 17.2×, centralized orchestration by 4.4×, with decentralized debate in between.</a:t>
            </a:r>
            <a:r>
              <a:rPr lang="en" sz="1200" u="sng">
                <a:solidFill>
                  <a:schemeClr val="hlink"/>
                </a:solidFill>
                <a:latin typeface="Calibri"/>
                <a:ea typeface="Calibri"/>
                <a:cs typeface="Calibri"/>
                <a:sym typeface="Calibri"/>
                <a:hlinkClick r:id="rId5"/>
              </a:rPr>
              <a:t>arxiv+1</a:t>
            </a:r>
            <a:r>
              <a:rPr lang="en" sz="1200">
                <a:solidFill>
                  <a:schemeClr val="dk1"/>
                </a:solidFill>
                <a:latin typeface="Calibri"/>
                <a:ea typeface="Calibri"/>
                <a:cs typeface="Calibri"/>
                <a:sym typeface="Calibri"/>
              </a:rPr>
              <a:t>​</a:t>
            </a:r>
            <a:endParaRPr sz="1200">
              <a:latin typeface="Calibri"/>
              <a:ea typeface="Calibri"/>
              <a:cs typeface="Calibri"/>
              <a:sym typeface="Calibri"/>
            </a:endParaRPr>
          </a:p>
        </p:txBody>
      </p:sp>
      <p:sp>
        <p:nvSpPr>
          <p:cNvPr id="202" name="Google Shape;202;p23"/>
          <p:cNvSpPr txBox="1"/>
          <p:nvPr/>
        </p:nvSpPr>
        <p:spPr>
          <a:xfrm>
            <a:off x="4645850" y="2643550"/>
            <a:ext cx="4367700" cy="2235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The paper introduces a mixed-effects scaling equation showing that base model capability and task decomposability matter far more than agent count</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Above roughly a mid-range single-agent baseline, extra agents often hurt due to coordination overhead and error cascades, especially with many tools or strongly sequential dependencies</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The video’s practical advice: prefer a strong single agent for complex or tool-heavy sequential workflows, use centralized or decentralized multi-agent setups only when tasks decompose cleanly in parallel, and treat topology and context design as primary optimization levers, not agent count</a:t>
            </a:r>
            <a:endParaRPr sz="1200" u="sng">
              <a:solidFill>
                <a:schemeClr val="hlink"/>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https://arxiv.org/abs/2512.08296</a:t>
            </a:r>
            <a:endParaRPr sz="1200">
              <a:latin typeface="Calibri"/>
              <a:ea typeface="Calibri"/>
              <a:cs typeface="Calibri"/>
              <a:sym typeface="Calibri"/>
            </a:endParaRPr>
          </a:p>
        </p:txBody>
      </p:sp>
      <p:pic>
        <p:nvPicPr>
          <p:cNvPr id="203" name="Google Shape;203;p23"/>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51980" y="207950"/>
            <a:ext cx="4367700" cy="238431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24"/>
          <p:cNvSpPr txBox="1"/>
          <p:nvPr/>
        </p:nvSpPr>
        <p:spPr>
          <a:xfrm>
            <a:off x="55075" y="20375"/>
            <a:ext cx="4458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NotebooksLM-Ultra</a:t>
            </a:r>
            <a:endParaRPr sz="2000" b="1" i="0" u="none" strike="noStrike" cap="none">
              <a:solidFill>
                <a:schemeClr val="dk1"/>
              </a:solidFill>
              <a:latin typeface="Calibri"/>
              <a:ea typeface="Calibri"/>
              <a:cs typeface="Calibri"/>
              <a:sym typeface="Calibri"/>
            </a:endParaRPr>
          </a:p>
        </p:txBody>
      </p:sp>
      <p:sp>
        <p:nvSpPr>
          <p:cNvPr id="209" name="Google Shape;209;p24"/>
          <p:cNvSpPr txBox="1"/>
          <p:nvPr/>
        </p:nvSpPr>
        <p:spPr>
          <a:xfrm>
            <a:off x="55075" y="427150"/>
            <a:ext cx="54408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Google’s NotebookLM new Ultra Tier with higher limits</a:t>
            </a:r>
            <a:endParaRPr sz="1200" b="1">
              <a:solidFill>
                <a:srgbClr val="FF0000"/>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https://www.youtube.com/watch?v=HceiOIeT4Fo</a:t>
            </a:r>
            <a:r>
              <a:rPr lang="en" sz="1200">
                <a:solidFill>
                  <a:schemeClr val="dk1"/>
                </a:solidFill>
                <a:latin typeface="Calibri"/>
                <a:ea typeface="Calibri"/>
                <a:cs typeface="Calibri"/>
                <a:sym typeface="Calibri"/>
              </a:rPr>
              <a:t> </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Per-notebook source limit increased to 600 </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Watermark removal on generated slide decks and infographics</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"Long" slide-deck option for more detailed presentations</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Ultra is the best for power users (researchers, content creators, analysts, students) who want faster, higher-volume generation across formats like audio/video overviews, decks, and visuals, rather than casual note-takers</a:t>
            </a:r>
            <a:endParaRPr sz="1200">
              <a:solidFill>
                <a:schemeClr val="dk1"/>
              </a:solidFill>
              <a:latin typeface="Calibri"/>
              <a:ea typeface="Calibri"/>
              <a:cs typeface="Calibri"/>
              <a:sym typeface="Calibri"/>
            </a:endParaRPr>
          </a:p>
          <a:p>
            <a:pPr marL="171450" lvl="0" indent="-133350" algn="l" rtl="0">
              <a:lnSpc>
                <a:spcPct val="100000"/>
              </a:lnSpc>
              <a:spcBef>
                <a:spcPts val="0"/>
              </a:spcBef>
              <a:spcAft>
                <a:spcPts val="0"/>
              </a:spcAft>
              <a:buSzPts val="1200"/>
              <a:buFont typeface="Calibri"/>
              <a:buChar char="●"/>
            </a:pPr>
            <a:r>
              <a:rPr lang="en" sz="1200">
                <a:solidFill>
                  <a:schemeClr val="dk1"/>
                </a:solidFill>
                <a:latin typeface="Calibri"/>
                <a:ea typeface="Calibri"/>
                <a:cs typeface="Calibri"/>
                <a:sym typeface="Calibri"/>
              </a:rPr>
              <a:t>Practical advice - load more relevant sources for better cross-source synthesis, customize overview prompts (angle/tone), and combine features (deck + video overview + infographic + deep research) to build an end-to-end content workflow</a:t>
            </a:r>
            <a:endParaRPr sz="1200">
              <a:solidFill>
                <a:schemeClr val="dk1"/>
              </a:solidFill>
              <a:latin typeface="Calibri"/>
              <a:ea typeface="Calibri"/>
              <a:cs typeface="Calibri"/>
              <a:sym typeface="Calibri"/>
            </a:endParaRPr>
          </a:p>
        </p:txBody>
      </p:sp>
      <p:pic>
        <p:nvPicPr>
          <p:cNvPr id="210" name="Google Shape;210;p2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636675" y="574400"/>
            <a:ext cx="2780875" cy="1942200"/>
          </a:xfrm>
          <a:prstGeom prst="rect">
            <a:avLst/>
          </a:prstGeom>
          <a:noFill/>
          <a:ln w="9525" cap="flat" cmpd="sng">
            <a:solidFill>
              <a:srgbClr val="FF0000"/>
            </a:solidFill>
            <a:prstDash val="solid"/>
            <a:round/>
            <a:headEnd type="none" w="sm" len="sm"/>
            <a:tailEnd type="none" w="sm" len="sm"/>
          </a:ln>
        </p:spPr>
      </p:pic>
      <p:sp>
        <p:nvSpPr>
          <p:cNvPr id="211" name="Google Shape;211;p24"/>
          <p:cNvSpPr txBox="1"/>
          <p:nvPr/>
        </p:nvSpPr>
        <p:spPr>
          <a:xfrm>
            <a:off x="55075" y="2783425"/>
            <a:ext cx="50493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lvl="0" indent="-127000" algn="l" rtl="0">
              <a:lnSpc>
                <a:spcPct val="100000"/>
              </a:lnSpc>
              <a:spcBef>
                <a:spcPts val="0"/>
              </a:spcBef>
              <a:spcAft>
                <a:spcPts val="0"/>
              </a:spcAft>
              <a:buClr>
                <a:srgbClr val="FF0000"/>
              </a:buClr>
              <a:buSzPts val="1100"/>
              <a:buChar char="●"/>
            </a:pPr>
            <a:r>
              <a:rPr lang="en" sz="1100" b="1">
                <a:solidFill>
                  <a:srgbClr val="FF0000"/>
                </a:solidFill>
              </a:rPr>
              <a:t>Continue Dev “Mission Control” dashboard</a:t>
            </a:r>
            <a:endParaRPr sz="1100" b="1">
              <a:solidFill>
                <a:srgbClr val="FF0000"/>
              </a:solidFill>
            </a:endParaRPr>
          </a:p>
          <a:p>
            <a:pPr marL="171450" lvl="0" indent="-127000" algn="l" rtl="0">
              <a:lnSpc>
                <a:spcPct val="100000"/>
              </a:lnSpc>
              <a:spcBef>
                <a:spcPts val="0"/>
              </a:spcBef>
              <a:spcAft>
                <a:spcPts val="0"/>
              </a:spcAft>
              <a:buClr>
                <a:schemeClr val="dk1"/>
              </a:buClr>
              <a:buSzPts val="1100"/>
              <a:buChar char="●"/>
            </a:pPr>
            <a:r>
              <a:rPr lang="en" sz="1100">
                <a:solidFill>
                  <a:schemeClr val="dk1"/>
                </a:solidFill>
              </a:rPr>
              <a:t>Open-source platform managing diffs, PRs, tests, and docs</a:t>
            </a:r>
            <a:endParaRPr sz="1100">
              <a:solidFill>
                <a:schemeClr val="dk1"/>
              </a:solidFill>
            </a:endParaRPr>
          </a:p>
          <a:p>
            <a:pPr marL="171450" lvl="0" indent="-127000" algn="l" rtl="0">
              <a:lnSpc>
                <a:spcPct val="100000"/>
              </a:lnSpc>
              <a:spcBef>
                <a:spcPts val="0"/>
              </a:spcBef>
              <a:spcAft>
                <a:spcPts val="0"/>
              </a:spcAft>
              <a:buClr>
                <a:schemeClr val="dk1"/>
              </a:buClr>
              <a:buSzPts val="1100"/>
              <a:buChar char="●"/>
            </a:pPr>
            <a:r>
              <a:rPr lang="en" sz="1100">
                <a:solidFill>
                  <a:schemeClr val="dk1"/>
                </a:solidFill>
              </a:rPr>
              <a:t>connect GitHub repo/PR, launch a task-like agent (e.g., explain the codebase, update agent docs, draft changelogs, refactor components, improve tests)</a:t>
            </a:r>
            <a:endParaRPr sz="1100">
              <a:solidFill>
                <a:schemeClr val="dk1"/>
              </a:solidFill>
            </a:endParaRPr>
          </a:p>
          <a:p>
            <a:pPr marL="171450" lvl="0" indent="-127000" algn="l" rtl="0">
              <a:spcBef>
                <a:spcPts val="0"/>
              </a:spcBef>
              <a:spcAft>
                <a:spcPts val="0"/>
              </a:spcAft>
              <a:buClr>
                <a:schemeClr val="dk1"/>
              </a:buClr>
              <a:buSzPts val="1100"/>
              <a:buChar char="●"/>
            </a:pPr>
            <a:r>
              <a:rPr lang="en" sz="1100">
                <a:solidFill>
                  <a:schemeClr val="dk1"/>
                </a:solidFill>
              </a:rPr>
              <a:t>Sentry-driven loop where new alerts appear in an inbox-style queue and an agent investigates the error with full code context, proposes a fix, and opens a draft pull request for review</a:t>
            </a:r>
            <a:endParaRPr sz="1100">
              <a:solidFill>
                <a:schemeClr val="dk1"/>
              </a:solidFill>
            </a:endParaRPr>
          </a:p>
          <a:p>
            <a:pPr marL="171450" lvl="0" indent="-127000" algn="l" rtl="0">
              <a:spcBef>
                <a:spcPts val="0"/>
              </a:spcBef>
              <a:spcAft>
                <a:spcPts val="0"/>
              </a:spcAft>
              <a:buClr>
                <a:schemeClr val="dk1"/>
              </a:buClr>
              <a:buSzPts val="1100"/>
              <a:buChar char="●"/>
            </a:pPr>
            <a:r>
              <a:rPr lang="en" sz="1100">
                <a:solidFill>
                  <a:schemeClr val="dk1"/>
                </a:solidFill>
              </a:rPr>
              <a:t>Can run continuous, background AI coding workflows that turn dev-tool signals into concrete engineering work</a:t>
            </a:r>
            <a:endParaRPr sz="1100">
              <a:solidFill>
                <a:schemeClr val="dk1"/>
              </a:solidFill>
            </a:endParaRPr>
          </a:p>
          <a:p>
            <a:pPr marL="171450" lvl="0" indent="-127000" algn="l" rtl="0">
              <a:spcBef>
                <a:spcPts val="0"/>
              </a:spcBef>
              <a:spcAft>
                <a:spcPts val="0"/>
              </a:spcAft>
              <a:buClr>
                <a:schemeClr val="dk1"/>
              </a:buClr>
              <a:buSzPts val="1100"/>
              <a:buChar char="●"/>
            </a:pPr>
            <a:r>
              <a:rPr lang="en" sz="1100">
                <a:solidFill>
                  <a:schemeClr val="dk1"/>
                </a:solidFill>
              </a:rPr>
              <a:t>Workflows can be event-triggered (webhooks like Sentry/GitHub) or scheduled</a:t>
            </a:r>
            <a:endParaRPr sz="1100">
              <a:solidFill>
                <a:schemeClr val="dk1"/>
              </a:solidFill>
            </a:endParaRPr>
          </a:p>
          <a:p>
            <a:pPr marL="171450" lvl="0" indent="-127000" algn="l" rtl="0">
              <a:spcBef>
                <a:spcPts val="0"/>
              </a:spcBef>
              <a:spcAft>
                <a:spcPts val="0"/>
              </a:spcAft>
              <a:buClr>
                <a:schemeClr val="dk1"/>
              </a:buClr>
              <a:buSzPts val="1100"/>
              <a:buChar char="●"/>
            </a:pPr>
            <a:r>
              <a:rPr lang="en" sz="1100" u="sng">
                <a:solidFill>
                  <a:schemeClr val="hlink"/>
                </a:solidFill>
                <a:hlinkClick r:id="rId5"/>
              </a:rPr>
              <a:t>https://github.com/continuedev/continue</a:t>
            </a:r>
            <a:endParaRPr sz="1100">
              <a:solidFill>
                <a:schemeClr val="dk1"/>
              </a:solidFill>
            </a:endParaRPr>
          </a:p>
          <a:p>
            <a:pPr marL="171450" lvl="0" indent="-127000" algn="l" rtl="0">
              <a:spcBef>
                <a:spcPts val="0"/>
              </a:spcBef>
              <a:spcAft>
                <a:spcPts val="0"/>
              </a:spcAft>
              <a:buClr>
                <a:schemeClr val="dk1"/>
              </a:buClr>
              <a:buSzPts val="1100"/>
              <a:buChar char="●"/>
            </a:pPr>
            <a:r>
              <a:rPr lang="en" sz="1100" u="sng">
                <a:solidFill>
                  <a:schemeClr val="hlink"/>
                </a:solidFill>
                <a:hlinkClick r:id="rId6"/>
              </a:rPr>
              <a:t>https://www.continue.dev</a:t>
            </a:r>
            <a:endParaRPr sz="1200">
              <a:solidFill>
                <a:schemeClr val="dk1"/>
              </a:solidFill>
              <a:latin typeface="Calibri"/>
              <a:ea typeface="Calibri"/>
              <a:cs typeface="Calibri"/>
              <a:sym typeface="Calibri"/>
            </a:endParaRPr>
          </a:p>
        </p:txBody>
      </p:sp>
      <p:pic>
        <p:nvPicPr>
          <p:cNvPr id="212" name="Google Shape;212;p24"/>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636675" y="3009500"/>
            <a:ext cx="2780875" cy="129709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16"/>
        <p:cNvGrpSpPr/>
        <p:nvPr/>
      </p:nvGrpSpPr>
      <p:grpSpPr>
        <a:xfrm>
          <a:off x="0" y="0"/>
          <a:ext cx="0" cy="0"/>
          <a:chOff x="0" y="0"/>
          <a:chExt cx="0" cy="0"/>
        </a:xfrm>
      </p:grpSpPr>
      <p:sp>
        <p:nvSpPr>
          <p:cNvPr id="217" name="Google Shape;217;p25"/>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218" name="Google Shape;218;p25"/>
          <p:cNvSpPr txBox="1"/>
          <p:nvPr/>
        </p:nvSpPr>
        <p:spPr>
          <a:xfrm>
            <a:off x="144525" y="541031"/>
            <a:ext cx="4374000" cy="31584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Nous Research Nomos-1 math open-source</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Nous Research just open-sourced Nomos 1, a new 30B parameter reasoning system that scored 87 out of 120 on the 2025 Putnam Contest — crushing rivals like Qwen 3 on one of the most prestigious collegiate math competitions.</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https://x.com/NousResearch/status/1998536543565127968</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system uses a two-phase approach: AI ‘workers’ solve and self-critique responses, with a tournament-style bracket then selecting the best submission.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Nomos’ score would have placed second among nearly 4,000 human competitors last year, with the model earning eight perfect problem scores.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Nous also released and open-sourced a reasoning harness — orchestration code that manages how the model solves problems.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Running Qwen3 through the same harness and setup scored just 24/120, with the result showing gains coming from model training rather than the harness.</a:t>
            </a:r>
            <a:endParaRPr sz="1200">
              <a:latin typeface="Calibri"/>
              <a:ea typeface="Calibri"/>
              <a:cs typeface="Calibri"/>
              <a:sym typeface="Calibri"/>
            </a:endParaRPr>
          </a:p>
        </p:txBody>
      </p:sp>
      <p:pic>
        <p:nvPicPr>
          <p:cNvPr id="219" name="Google Shape;219;p25"/>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5063516" y="566049"/>
            <a:ext cx="3849362" cy="31584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23"/>
        <p:cNvGrpSpPr/>
        <p:nvPr/>
      </p:nvGrpSpPr>
      <p:grpSpPr>
        <a:xfrm>
          <a:off x="0" y="0"/>
          <a:ext cx="0" cy="0"/>
          <a:chOff x="0" y="0"/>
          <a:chExt cx="0" cy="0"/>
        </a:xfrm>
      </p:grpSpPr>
      <p:sp>
        <p:nvSpPr>
          <p:cNvPr id="224" name="Google Shape;224;p26"/>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Get AI compliance ready for 2026</a:t>
            </a:r>
            <a:endParaRPr sz="2000" b="1" i="0" u="none" strike="noStrike" cap="none">
              <a:solidFill>
                <a:schemeClr val="dk1"/>
              </a:solidFill>
              <a:latin typeface="Calibri"/>
              <a:ea typeface="Calibri"/>
              <a:cs typeface="Calibri"/>
              <a:sym typeface="Calibri"/>
            </a:endParaRPr>
          </a:p>
        </p:txBody>
      </p:sp>
      <p:sp>
        <p:nvSpPr>
          <p:cNvPr id="225" name="Google Shape;225;p26"/>
          <p:cNvSpPr txBox="1"/>
          <p:nvPr/>
        </p:nvSpPr>
        <p:spPr>
          <a:xfrm>
            <a:off x="86749" y="417575"/>
            <a:ext cx="3481200" cy="3943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For 2026 AI compliance readiness: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3C78D8"/>
                </a:solidFill>
                <a:latin typeface="Calibri"/>
                <a:ea typeface="Calibri"/>
                <a:cs typeface="Calibri"/>
                <a:sym typeface="Calibri"/>
              </a:rPr>
              <a:t>Create an AI system inventory</a:t>
            </a:r>
            <a:r>
              <a:rPr lang="en" sz="1200">
                <a:latin typeface="Calibri"/>
                <a:ea typeface="Calibri"/>
                <a:cs typeface="Calibri"/>
                <a:sym typeface="Calibri"/>
              </a:rPr>
              <a:t> (models/tools, purpose, data, vendor, jurisdictions) and run a risk program aligned to the NIST AI RMF lifecycle (govern/map/measure/manage)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3C78D8"/>
                </a:solidFill>
                <a:latin typeface="Calibri"/>
                <a:ea typeface="Calibri"/>
                <a:cs typeface="Calibri"/>
                <a:sym typeface="Calibri"/>
              </a:rPr>
              <a:t>Prioritize high-impact uses</a:t>
            </a:r>
            <a:r>
              <a:rPr lang="en" sz="1200">
                <a:latin typeface="Calibri"/>
                <a:ea typeface="Calibri"/>
                <a:cs typeface="Calibri"/>
                <a:sym typeface="Calibri"/>
              </a:rPr>
              <a:t> (</a:t>
            </a:r>
            <a:r>
              <a:rPr lang="en" sz="1200" b="1">
                <a:solidFill>
                  <a:srgbClr val="FF0000"/>
                </a:solidFill>
                <a:latin typeface="Calibri"/>
                <a:ea typeface="Calibri"/>
                <a:cs typeface="Calibri"/>
                <a:sym typeface="Calibri"/>
              </a:rPr>
              <a:t>hiring, housing, credit, health</a:t>
            </a:r>
            <a:r>
              <a:rPr lang="en" sz="1200">
                <a:latin typeface="Calibri"/>
                <a:ea typeface="Calibri"/>
                <a:cs typeface="Calibri"/>
                <a:sym typeface="Calibri"/>
              </a:rPr>
              <a:t>) because US state rules like Colorado’s 2026 AI Act focus there, even as federal policy may move toward more unified oversight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If you operate in the EU, plan for phased EU AI Act duties and keep documentation active, not just drafted. </a:t>
            </a:r>
            <a:endParaRPr sz="1200">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Implement: approval/change control, data governance, testing (accuracy/bias/security), human oversight, user notices, logging/monitoring, and an incident/complaints process</a:t>
            </a:r>
            <a:endParaRPr sz="1200" b="1">
              <a:solidFill>
                <a:srgbClr val="3C78D8"/>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Start a 90-day sprint: inventory + classify, stand up governance + baseline evals, then productionize controls and do a mock audit</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https://www.nist.gov/itl/ai-risk-management-framework</a:t>
            </a:r>
            <a:r>
              <a:rPr lang="en" sz="900">
                <a:latin typeface="Calibri"/>
                <a:ea typeface="Calibri"/>
                <a:cs typeface="Calibri"/>
                <a:sym typeface="Calibri"/>
              </a:rPr>
              <a:t> </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https://www.whitehouse.gov/presidential-actions/2025/12/eliminating-state-law-obstruction-of-national-artificial-intelligence-policy/</a:t>
            </a:r>
            <a:r>
              <a:rPr lang="en" sz="900">
                <a:latin typeface="Calibri"/>
                <a:ea typeface="Calibri"/>
                <a:cs typeface="Calibri"/>
                <a:sym typeface="Calibri"/>
              </a:rPr>
              <a:t> </a:t>
            </a:r>
            <a:endParaRPr sz="900">
              <a:latin typeface="Calibri"/>
              <a:ea typeface="Calibri"/>
              <a:cs typeface="Calibri"/>
              <a:sym typeface="Calibri"/>
            </a:endParaRPr>
          </a:p>
        </p:txBody>
      </p:sp>
      <p:pic>
        <p:nvPicPr>
          <p:cNvPr id="226" name="Google Shape;226;p26"/>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3669068" y="417575"/>
            <a:ext cx="5423649" cy="2960776"/>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30"/>
        <p:cNvGrpSpPr/>
        <p:nvPr/>
      </p:nvGrpSpPr>
      <p:grpSpPr>
        <a:xfrm>
          <a:off x="0" y="0"/>
          <a:ext cx="0" cy="0"/>
          <a:chOff x="0" y="0"/>
          <a:chExt cx="0" cy="0"/>
        </a:xfrm>
      </p:grpSpPr>
      <p:sp>
        <p:nvSpPr>
          <p:cNvPr id="231" name="Google Shape;231;p27"/>
          <p:cNvSpPr txBox="1"/>
          <p:nvPr/>
        </p:nvSpPr>
        <p:spPr>
          <a:xfrm>
            <a:off x="55075" y="20375"/>
            <a:ext cx="45273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Web Research Multi-Agent Architectures</a:t>
            </a:r>
            <a:endParaRPr sz="2000" b="1" i="0" u="none" strike="noStrike" cap="none">
              <a:solidFill>
                <a:schemeClr val="dk1"/>
              </a:solidFill>
              <a:latin typeface="Calibri"/>
              <a:ea typeface="Calibri"/>
              <a:cs typeface="Calibri"/>
              <a:sym typeface="Calibri"/>
            </a:endParaRPr>
          </a:p>
        </p:txBody>
      </p:sp>
      <p:sp>
        <p:nvSpPr>
          <p:cNvPr id="232" name="Google Shape;232;p27"/>
          <p:cNvSpPr txBox="1"/>
          <p:nvPr/>
        </p:nvSpPr>
        <p:spPr>
          <a:xfrm>
            <a:off x="115650" y="575375"/>
            <a:ext cx="3409200" cy="4082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Modern LLM platforms like ChatGPT, Gemini, and Claude use multi-agent architectures for deep research.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An orchestrator agent receives the user query, creates a research plan, and delegates tasks to specialized sub-agents that run in parallel.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Web search agents explore different aspects of the topic, retrieving content and citations.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Once sub-agents return findings, a synthesizer agent consolidates the information into a coherent narrative, while a citations agent ensures each claim is properly sourced. </a:t>
            </a:r>
            <a:endParaRPr sz="1200">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OpenAI uses reinforcement learning-trained reasoning models with interactive clarification. </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Gemini leverages its multimodal capabilities and proposes research plans for user approval. </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Claude employs clearly defined multi-agent orchestration with parallel sub-agents. </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Perplexity uses iterative retrieval loops with hybrid model selection. </a:t>
            </a:r>
            <a:endParaRPr sz="1200">
              <a:solidFill>
                <a:srgbClr val="3C78D8"/>
              </a:solidFill>
              <a:latin typeface="Calibri"/>
              <a:ea typeface="Calibri"/>
              <a:cs typeface="Calibri"/>
              <a:sym typeface="Calibri"/>
            </a:endParaRPr>
          </a:p>
          <a:p>
            <a:pPr marL="457200" marR="0" lvl="0" indent="-133350" algn="l" rtl="0">
              <a:lnSpc>
                <a:spcPct val="100000"/>
              </a:lnSpc>
              <a:spcBef>
                <a:spcPts val="0"/>
              </a:spcBef>
              <a:spcAft>
                <a:spcPts val="0"/>
              </a:spcAft>
              <a:buClr>
                <a:srgbClr val="3C78D8"/>
              </a:buClr>
              <a:buSzPts val="1200"/>
              <a:buFont typeface="Calibri"/>
              <a:buChar char="●"/>
            </a:pPr>
            <a:r>
              <a:rPr lang="en" sz="1200">
                <a:solidFill>
                  <a:srgbClr val="3C78D8"/>
                </a:solidFill>
                <a:latin typeface="Calibri"/>
                <a:ea typeface="Calibri"/>
                <a:cs typeface="Calibri"/>
                <a:sym typeface="Calibri"/>
              </a:rPr>
              <a:t>Grok processes content in segments with credibility assessment. </a:t>
            </a:r>
            <a:endParaRPr sz="1100" b="1">
              <a:solidFill>
                <a:srgbClr val="FF0000"/>
              </a:solidFill>
              <a:latin typeface="Calibri"/>
              <a:ea typeface="Calibri"/>
              <a:cs typeface="Calibri"/>
              <a:sym typeface="Calibri"/>
            </a:endParaRPr>
          </a:p>
        </p:txBody>
      </p:sp>
      <p:pic>
        <p:nvPicPr>
          <p:cNvPr id="233" name="Google Shape;233;p27"/>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3683600" y="594521"/>
            <a:ext cx="5365775" cy="2929175"/>
          </a:xfrm>
          <a:prstGeom prst="rect">
            <a:avLst/>
          </a:prstGeom>
          <a:noFill/>
          <a:ln w="9525" cap="flat" cmpd="sng">
            <a:solidFill>
              <a:srgbClr val="FF0000"/>
            </a:solidFill>
            <a:prstDash val="solid"/>
            <a:round/>
            <a:headEnd type="none" w="sm" len="sm"/>
            <a:tailEnd type="none" w="sm" len="sm"/>
          </a:ln>
        </p:spPr>
      </p:pic>
      <p:sp>
        <p:nvSpPr>
          <p:cNvPr id="234" name="Google Shape;234;p27"/>
          <p:cNvSpPr txBox="1"/>
          <p:nvPr/>
        </p:nvSpPr>
        <p:spPr>
          <a:xfrm>
            <a:off x="3683600" y="3700300"/>
            <a:ext cx="53658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These systems </a:t>
            </a:r>
            <a:r>
              <a:rPr lang="en" sz="1200">
                <a:solidFill>
                  <a:srgbClr val="6AA84F"/>
                </a:solidFill>
                <a:latin typeface="Calibri"/>
                <a:ea typeface="Calibri"/>
                <a:cs typeface="Calibri"/>
                <a:sym typeface="Calibri"/>
              </a:rPr>
              <a:t>typically run fifteen to thirty minutes</a:t>
            </a:r>
            <a:r>
              <a:rPr lang="en" sz="1200">
                <a:latin typeface="Calibri"/>
                <a:ea typeface="Calibri"/>
                <a:cs typeface="Calibri"/>
                <a:sym typeface="Calibri"/>
              </a:rPr>
              <a:t>, performing dozens of searches and synthesizing hundreds of sources before delivering fully-cited reports.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architecture transforms vague queries into precise, machine-executable plans through planning, parallel execution with tool use, information retrieval with contextual awareness, and final synthesis into polished documents.</a:t>
            </a:r>
            <a:endParaRPr sz="1100" b="1">
              <a:solidFill>
                <a:srgbClr val="FF0000"/>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238"/>
        <p:cNvGrpSpPr/>
        <p:nvPr/>
      </p:nvGrpSpPr>
      <p:grpSpPr>
        <a:xfrm>
          <a:off x="0" y="0"/>
          <a:ext cx="0" cy="0"/>
          <a:chOff x="0" y="0"/>
          <a:chExt cx="0" cy="0"/>
        </a:xfrm>
      </p:grpSpPr>
      <p:sp>
        <p:nvSpPr>
          <p:cNvPr id="239" name="Google Shape;239;p28"/>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240" name="Google Shape;240;p28"/>
          <p:cNvSpPr txBox="1"/>
          <p:nvPr/>
        </p:nvSpPr>
        <p:spPr>
          <a:xfrm>
            <a:off x="108514" y="407808"/>
            <a:ext cx="4447200" cy="2419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Demis Hassabis about AI in 2026</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t>
            </a:r>
            <a:r>
              <a:rPr lang="en" sz="1200" b="1">
                <a:solidFill>
                  <a:srgbClr val="FF0000"/>
                </a:solidFill>
                <a:latin typeface="Calibri"/>
                <a:ea typeface="Calibri"/>
                <a:cs typeface="Calibri"/>
                <a:sym typeface="Calibri"/>
              </a:rPr>
              <a:t>full" multimodal AI </a:t>
            </a:r>
            <a:r>
              <a:rPr lang="en" sz="1200">
                <a:latin typeface="Calibri"/>
                <a:ea typeface="Calibri"/>
                <a:cs typeface="Calibri"/>
                <a:sym typeface="Calibri"/>
              </a:rPr>
              <a:t>systems where text, images, video, audio, 3D, and robotics converge into a single integrated stack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Gemini Robotics 1.5 </a:t>
            </a:r>
            <a:r>
              <a:rPr lang="en" sz="1200">
                <a:latin typeface="Calibri"/>
                <a:ea typeface="Calibri"/>
                <a:cs typeface="Calibri"/>
                <a:sym typeface="Calibri"/>
              </a:rPr>
              <a:t>-  plan multi-step tasks, adapt mid-task, and work across different robot forms without per-robot fine-tuning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Gemini Live </a:t>
            </a:r>
            <a:r>
              <a:rPr lang="en" sz="1200">
                <a:latin typeface="Calibri"/>
                <a:ea typeface="Calibri"/>
                <a:cs typeface="Calibri"/>
                <a:sym typeface="Calibri"/>
              </a:rPr>
              <a:t>- a practical, real-time assistant (example: guiding a car oil change) - lower latency and stronger reasoning will make such help far more powerful in 2026</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World models</a:t>
            </a:r>
            <a:r>
              <a:rPr lang="en" sz="1200">
                <a:latin typeface="Calibri"/>
                <a:ea typeface="Calibri"/>
                <a:cs typeface="Calibri"/>
                <a:sym typeface="Calibri"/>
              </a:rPr>
              <a:t> such as Genie 3 - interactive, coherent, explorable generated environments with memory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Growing suite of </a:t>
            </a:r>
            <a:r>
              <a:rPr lang="en" sz="1200" b="1">
                <a:solidFill>
                  <a:srgbClr val="FF0000"/>
                </a:solidFill>
                <a:latin typeface="Calibri"/>
                <a:ea typeface="Calibri"/>
                <a:cs typeface="Calibri"/>
                <a:sym typeface="Calibri"/>
              </a:rPr>
              <a:t>agentic systems</a:t>
            </a:r>
            <a:r>
              <a:rPr lang="en" sz="1200">
                <a:latin typeface="Calibri"/>
                <a:ea typeface="Calibri"/>
                <a:cs typeface="Calibri"/>
                <a:sym typeface="Calibri"/>
              </a:rPr>
              <a:t> (co-scientist, security/code agents, data science agents, “Alpha Evolve”)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https://www.youtube.com/watch?v=FTjTcrX-aGw</a:t>
            </a:r>
            <a:r>
              <a:rPr lang="en" sz="1200">
                <a:latin typeface="Calibri"/>
                <a:ea typeface="Calibri"/>
                <a:cs typeface="Calibri"/>
                <a:sym typeface="Calibri"/>
              </a:rPr>
              <a:t> </a:t>
            </a:r>
            <a:endParaRPr sz="1200">
              <a:latin typeface="Calibri"/>
              <a:ea typeface="Calibri"/>
              <a:cs typeface="Calibri"/>
              <a:sym typeface="Calibri"/>
            </a:endParaRPr>
          </a:p>
        </p:txBody>
      </p:sp>
      <p:sp>
        <p:nvSpPr>
          <p:cNvPr id="241" name="Google Shape;241;p28"/>
          <p:cNvSpPr txBox="1"/>
          <p:nvPr/>
        </p:nvSpPr>
        <p:spPr>
          <a:xfrm>
            <a:off x="108514" y="3006072"/>
            <a:ext cx="4447200" cy="2050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Practical Claude Code Hints</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4"/>
              </a:rPr>
              <a:t>https://www.youtube.com/watch?v=Kxnlh2rVYVE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 a hidden 1M-token context option for Sonnet 4.5</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Cut monthly spend by switching to API billing (not Max plan)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Leaning on cheaper models for grunt work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 many (150+) sub-agents concurrently in a single orchestrating thread - for example for porting large code base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Chrome DevTools MCP is more reliable than Playwright MCP in Claude Code (fewer “stuck” runs) and can surface useful performance/SEO data like Core Web Vitals, with the idea of embedding these checks into their own product workflow</a:t>
            </a:r>
            <a:endParaRPr sz="1200">
              <a:latin typeface="Calibri"/>
              <a:ea typeface="Calibri"/>
              <a:cs typeface="Calibri"/>
              <a:sym typeface="Calibri"/>
            </a:endParaRPr>
          </a:p>
        </p:txBody>
      </p:sp>
      <p:pic>
        <p:nvPicPr>
          <p:cNvPr id="242" name="Google Shape;242;p28"/>
          <p:cNvPicPr preferRelativeResize="0"/>
          <p:nvPr/>
        </p:nvPicPr>
        <p:blipFill>
          <a:blip r:embed="rId5">
            <a:alphaModFix/>
          </a:blip>
          <a:stretch>
            <a:fillRect/>
          </a:stretch>
        </p:blipFill>
        <p:spPr>
          <a:xfrm>
            <a:off x="4751439" y="407800"/>
            <a:ext cx="2619375" cy="1743075"/>
          </a:xfrm>
          <a:prstGeom prst="rect">
            <a:avLst/>
          </a:prstGeom>
          <a:noFill/>
          <a:ln w="9525" cap="flat" cmpd="sng">
            <a:solidFill>
              <a:srgbClr val="FF0000"/>
            </a:solidFill>
            <a:prstDash val="solid"/>
            <a:round/>
            <a:headEnd type="none" w="sm" len="sm"/>
            <a:tailEnd type="none" w="sm" len="sm"/>
          </a:ln>
        </p:spPr>
      </p:pic>
      <p:pic>
        <p:nvPicPr>
          <p:cNvPr id="243" name="Google Shape;243;p28"/>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751439" y="2717925"/>
            <a:ext cx="4283487" cy="233834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247"/>
        <p:cNvGrpSpPr/>
        <p:nvPr/>
      </p:nvGrpSpPr>
      <p:grpSpPr>
        <a:xfrm>
          <a:off x="0" y="0"/>
          <a:ext cx="0" cy="0"/>
          <a:chOff x="0" y="0"/>
          <a:chExt cx="0" cy="0"/>
        </a:xfrm>
      </p:grpSpPr>
      <p:sp>
        <p:nvSpPr>
          <p:cNvPr id="248" name="Google Shape;248;p29"/>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advantage is compounding</a:t>
            </a:r>
            <a:endParaRPr sz="2000" b="1" i="0" u="none" strike="noStrike" cap="none">
              <a:solidFill>
                <a:schemeClr val="dk1"/>
              </a:solidFill>
              <a:latin typeface="Calibri"/>
              <a:ea typeface="Calibri"/>
              <a:cs typeface="Calibri"/>
              <a:sym typeface="Calibri"/>
            </a:endParaRPr>
          </a:p>
        </p:txBody>
      </p:sp>
      <p:sp>
        <p:nvSpPr>
          <p:cNvPr id="249" name="Google Shape;249;p29"/>
          <p:cNvSpPr txBox="1"/>
          <p:nvPr/>
        </p:nvSpPr>
        <p:spPr>
          <a:xfrm>
            <a:off x="-161600" y="438450"/>
            <a:ext cx="3931800" cy="4266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Organizations that deeply integrate GenAI are pulling away from laggards </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Higher-intensity use of AI creates non-linear gains that get reinvested into even more capability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https://www.youtube.com/watch?v=QONt74CTUyE</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Recent enterprise research (OpenAI, Menlo, an AI ROI benchmarking survey, and a new EY AI Pulse Survey) showing that AI benefits are now broadly visible, but unevenly captured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 key driver is a </a:t>
            </a:r>
            <a:r>
              <a:rPr lang="en" sz="1200" b="1">
                <a:solidFill>
                  <a:srgbClr val="FF0000"/>
                </a:solidFill>
                <a:latin typeface="Calibri"/>
                <a:ea typeface="Calibri"/>
                <a:cs typeface="Calibri"/>
                <a:sym typeface="Calibri"/>
              </a:rPr>
              <a:t>widening “usage gap”</a:t>
            </a:r>
            <a:r>
              <a:rPr lang="en" sz="1200">
                <a:latin typeface="Calibri"/>
                <a:ea typeface="Calibri"/>
                <a:cs typeface="Calibri"/>
                <a:sym typeface="Calibri"/>
              </a:rPr>
              <a:t>: OpenAI’s “frontier” workers (95th percentile) use AI far more than median employees, especially on complex tasks like analysis and coding, and leading organizations shift work into reusable custom GPTs/projects that store context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More breadth and depth of use correlates with higher ROI:</a:t>
            </a:r>
            <a:r>
              <a:rPr lang="en" sz="1200">
                <a:latin typeface="Calibri"/>
                <a:ea typeface="Calibri"/>
                <a:cs typeface="Calibri"/>
                <a:sym typeface="Calibri"/>
              </a:rPr>
              <a:t> time savings are a common entry point, but the biggest ROI comes from moving up the value chain into </a:t>
            </a:r>
            <a:r>
              <a:rPr lang="en" sz="1200" b="1">
                <a:solidFill>
                  <a:srgbClr val="FF0000"/>
                </a:solidFill>
                <a:latin typeface="Calibri"/>
                <a:ea typeface="Calibri"/>
                <a:cs typeface="Calibri"/>
                <a:sym typeface="Calibri"/>
              </a:rPr>
              <a:t>better decisions, new capabilities, and revenue impact</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Finally, </a:t>
            </a:r>
            <a:r>
              <a:rPr lang="en" sz="1200" b="1">
                <a:solidFill>
                  <a:srgbClr val="FF0000"/>
                </a:solidFill>
                <a:latin typeface="Calibri"/>
                <a:ea typeface="Calibri"/>
                <a:cs typeface="Calibri"/>
                <a:sym typeface="Calibri"/>
              </a:rPr>
              <a:t>winners reinvest:</a:t>
            </a:r>
            <a:r>
              <a:rPr lang="en" sz="1200">
                <a:latin typeface="Calibri"/>
                <a:ea typeface="Calibri"/>
                <a:cs typeface="Calibri"/>
                <a:sym typeface="Calibri"/>
              </a:rPr>
              <a:t> big AI spenders report larger productivity gains and then plow benefits back </a:t>
            </a:r>
            <a:r>
              <a:rPr lang="en" sz="1200" b="1">
                <a:solidFill>
                  <a:srgbClr val="FF0000"/>
                </a:solidFill>
                <a:latin typeface="Calibri"/>
                <a:ea typeface="Calibri"/>
                <a:cs typeface="Calibri"/>
                <a:sym typeface="Calibri"/>
              </a:rPr>
              <a:t>into expanding and building new AI capabilities and R&amp;D, rather than layoffs</a:t>
            </a:r>
            <a:r>
              <a:rPr lang="en" sz="1200">
                <a:latin typeface="Calibri"/>
                <a:ea typeface="Calibri"/>
                <a:cs typeface="Calibri"/>
                <a:sym typeface="Calibri"/>
              </a:rPr>
              <a:t>, accelerating a flywheel toward agentic systems that require real data/tooling infrastructure</a:t>
            </a:r>
            <a:endParaRPr sz="1200">
              <a:latin typeface="Calibri"/>
              <a:ea typeface="Calibri"/>
              <a:cs typeface="Calibri"/>
              <a:sym typeface="Calibri"/>
            </a:endParaRPr>
          </a:p>
        </p:txBody>
      </p:sp>
      <p:pic>
        <p:nvPicPr>
          <p:cNvPr id="250" name="Google Shape;250;p29"/>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3861650" y="480025"/>
            <a:ext cx="5206925" cy="2842449"/>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54"/>
        <p:cNvGrpSpPr/>
        <p:nvPr/>
      </p:nvGrpSpPr>
      <p:grpSpPr>
        <a:xfrm>
          <a:off x="0" y="0"/>
          <a:ext cx="0" cy="0"/>
          <a:chOff x="0" y="0"/>
          <a:chExt cx="0" cy="0"/>
        </a:xfrm>
      </p:grpSpPr>
      <p:sp>
        <p:nvSpPr>
          <p:cNvPr id="255" name="Google Shape;255;p30"/>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256" name="Google Shape;256;p30"/>
          <p:cNvSpPr txBox="1"/>
          <p:nvPr/>
        </p:nvSpPr>
        <p:spPr>
          <a:xfrm>
            <a:off x="144525" y="410726"/>
            <a:ext cx="4377000" cy="37125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Prompting Claude Code / Claude Opus 4.5</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3"/>
              </a:rPr>
              <a:t>https://www.youtube.com/watch?v=Xob-2a1OnvA</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10 rules drawn from Anthropic guidance, replacing vague asks with structured briefs that produce consistently better work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Adopt a collaborative tone, being explicit about the task (strong action verbs, desired quantity, and target audience)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Set firm constraints (length, style, “do/don’t” rules) to reduce generic output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Use workflow of draft/plan/act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Have Claude outline first, refine the outline, and only then generate the final deliverable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 major theme is forcing structure - request tables, schemas, checklists, or specific formats - so results are easier to verify and reuse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Explain the “why” behind the request, and control verbosity by telling Claude which role to adopt (expert, brief, simplifier) and how detailed to be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Finally, provide scaffolds/templates, use “power phrases” and personas to raise output quality, and break complex work into smaller subtasks (“divide and conquer”)</a:t>
            </a:r>
            <a:endParaRPr sz="1200">
              <a:latin typeface="Calibri"/>
              <a:ea typeface="Calibri"/>
              <a:cs typeface="Calibri"/>
              <a:sym typeface="Calibri"/>
            </a:endParaRPr>
          </a:p>
        </p:txBody>
      </p:sp>
      <p:sp>
        <p:nvSpPr>
          <p:cNvPr id="257" name="Google Shape;257;p30"/>
          <p:cNvSpPr txBox="1"/>
          <p:nvPr/>
        </p:nvSpPr>
        <p:spPr>
          <a:xfrm>
            <a:off x="5073025" y="1243500"/>
            <a:ext cx="2887200" cy="1539300"/>
          </a:xfrm>
          <a:prstGeom prst="rect">
            <a:avLst/>
          </a:prstGeom>
          <a:solidFill>
            <a:schemeClr val="lt1"/>
          </a:solidFill>
          <a:ln w="9525" cap="flat" cmpd="sng">
            <a:solidFill>
              <a:srgbClr val="FF0000"/>
            </a:solidFill>
            <a:prstDash val="solid"/>
            <a:round/>
            <a:headEnd type="none" w="sm" len="sm"/>
            <a:tailEnd type="none" w="sm" len="sm"/>
          </a:ln>
        </p:spPr>
        <p:txBody>
          <a:bodyPr spcFirstLastPara="1" wrap="square" lIns="274300" tIns="274300" rIns="274300" bIns="274300" anchor="t" anchorCtr="0">
            <a:spAutoFit/>
          </a:bodyPr>
          <a:lstStyle/>
          <a:p>
            <a:pPr marL="0" marR="0" lvl="0" indent="0" algn="ctr" rtl="0">
              <a:lnSpc>
                <a:spcPct val="100000"/>
              </a:lnSpc>
              <a:spcBef>
                <a:spcPts val="0"/>
              </a:spcBef>
              <a:spcAft>
                <a:spcPts val="0"/>
              </a:spcAft>
              <a:buNone/>
            </a:pPr>
            <a:r>
              <a:rPr lang="en" sz="3200" b="1">
                <a:solidFill>
                  <a:srgbClr val="6AA84F"/>
                </a:solidFill>
                <a:latin typeface="Calibri"/>
                <a:ea typeface="Calibri"/>
                <a:cs typeface="Calibri"/>
                <a:sym typeface="Calibri"/>
              </a:rPr>
              <a:t>Prompting </a:t>
            </a:r>
            <a:endParaRPr sz="3200" b="1">
              <a:solidFill>
                <a:srgbClr val="6AA84F"/>
              </a:solidFill>
              <a:latin typeface="Calibri"/>
              <a:ea typeface="Calibri"/>
              <a:cs typeface="Calibri"/>
              <a:sym typeface="Calibri"/>
            </a:endParaRPr>
          </a:p>
          <a:p>
            <a:pPr marL="0" marR="0" lvl="0" indent="0" algn="ctr" rtl="0">
              <a:lnSpc>
                <a:spcPct val="100000"/>
              </a:lnSpc>
              <a:spcBef>
                <a:spcPts val="0"/>
              </a:spcBef>
              <a:spcAft>
                <a:spcPts val="0"/>
              </a:spcAft>
              <a:buNone/>
            </a:pPr>
            <a:r>
              <a:rPr lang="en" sz="3200" b="1">
                <a:solidFill>
                  <a:srgbClr val="6AA84F"/>
                </a:solidFill>
                <a:latin typeface="Calibri"/>
                <a:ea typeface="Calibri"/>
                <a:cs typeface="Calibri"/>
                <a:sym typeface="Calibri"/>
              </a:rPr>
              <a:t>Claude Code</a:t>
            </a:r>
            <a:endParaRPr sz="3200" b="1">
              <a:solidFill>
                <a:srgbClr val="6AA84F"/>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61"/>
        <p:cNvGrpSpPr/>
        <p:nvPr/>
      </p:nvGrpSpPr>
      <p:grpSpPr>
        <a:xfrm>
          <a:off x="0" y="0"/>
          <a:ext cx="0" cy="0"/>
          <a:chOff x="0" y="0"/>
          <a:chExt cx="0" cy="0"/>
        </a:xfrm>
      </p:grpSpPr>
      <p:sp>
        <p:nvSpPr>
          <p:cNvPr id="262" name="Google Shape;262;p31"/>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263" name="Google Shape;263;p31"/>
          <p:cNvSpPr txBox="1"/>
          <p:nvPr/>
        </p:nvSpPr>
        <p:spPr>
          <a:xfrm>
            <a:off x="55075" y="456451"/>
            <a:ext cx="4377000" cy="2973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Claude Code's new plugins update</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https://www.youtube.com/watch?v=1uWJC2r6Sss</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Agent SDK plugin that dramatically simplifies building AI-integrated applications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Example project: 3 min using the slash plugin command and Agent SDK dev plugin instead of 5-10 hours. The development speed is unprecedented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plugin system options like Figma integration, code review tools, browser testing with Playwright, and MCP servers that install instantly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Users can add plugin marketplaces</a:t>
            </a:r>
            <a:r>
              <a:rPr lang="en" sz="1200">
                <a:latin typeface="Calibri"/>
                <a:ea typeface="Calibri"/>
                <a:cs typeface="Calibri"/>
                <a:sym typeface="Calibri"/>
              </a:rPr>
              <a:t> and browse available plugins using slash commands, with plugins adding custom capabilities like slash commands, agents, and MCP servers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could enable quick monetization strategies through ads or user-provided API keys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https://claude.com/blog/claude-code-plugins</a:t>
            </a:r>
            <a:r>
              <a:rPr lang="en" sz="1200">
                <a:latin typeface="Calibri"/>
                <a:ea typeface="Calibri"/>
                <a:cs typeface="Calibri"/>
                <a:sym typeface="Calibri"/>
              </a:rPr>
              <a:t> </a:t>
            </a:r>
            <a:endParaRPr sz="1200">
              <a:latin typeface="Calibri"/>
              <a:ea typeface="Calibri"/>
              <a:cs typeface="Calibri"/>
              <a:sym typeface="Calibri"/>
            </a:endParaRPr>
          </a:p>
        </p:txBody>
      </p:sp>
      <p:sp>
        <p:nvSpPr>
          <p:cNvPr id="264" name="Google Shape;264;p31"/>
          <p:cNvSpPr txBox="1"/>
          <p:nvPr/>
        </p:nvSpPr>
        <p:spPr>
          <a:xfrm>
            <a:off x="55075" y="3540026"/>
            <a:ext cx="43770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Anthropic’s Claude Code background sub-agents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Multitasking. Automation of complex workflows, better context handling, and more efficient task delegation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https://www.youtube.com/watch?v=jd9nP7FXQcs</a:t>
            </a:r>
            <a:r>
              <a:rPr lang="en" sz="1200">
                <a:latin typeface="Calibri"/>
                <a:ea typeface="Calibri"/>
                <a:cs typeface="Calibri"/>
                <a:sym typeface="Calibri"/>
              </a:rPr>
              <a:t> </a:t>
            </a:r>
            <a:endParaRPr sz="1200">
              <a:latin typeface="Calibri"/>
              <a:ea typeface="Calibri"/>
              <a:cs typeface="Calibri"/>
              <a:sym typeface="Calibri"/>
            </a:endParaRPr>
          </a:p>
        </p:txBody>
      </p:sp>
      <p:sp>
        <p:nvSpPr>
          <p:cNvPr id="265" name="Google Shape;265;p31"/>
          <p:cNvSpPr txBox="1"/>
          <p:nvPr/>
        </p:nvSpPr>
        <p:spPr>
          <a:xfrm>
            <a:off x="5086625" y="726425"/>
            <a:ext cx="2887200" cy="1539300"/>
          </a:xfrm>
          <a:prstGeom prst="rect">
            <a:avLst/>
          </a:prstGeom>
          <a:solidFill>
            <a:schemeClr val="lt1"/>
          </a:solidFill>
          <a:ln w="9525" cap="flat" cmpd="sng">
            <a:solidFill>
              <a:srgbClr val="FF0000"/>
            </a:solidFill>
            <a:prstDash val="solid"/>
            <a:round/>
            <a:headEnd type="none" w="sm" len="sm"/>
            <a:tailEnd type="none" w="sm" len="sm"/>
          </a:ln>
        </p:spPr>
        <p:txBody>
          <a:bodyPr spcFirstLastPara="1" wrap="square" lIns="274300" tIns="274300" rIns="274300" bIns="274300" anchor="t" anchorCtr="0">
            <a:spAutoFit/>
          </a:bodyPr>
          <a:lstStyle/>
          <a:p>
            <a:pPr marL="0" marR="0" lvl="0" indent="0" algn="ctr" rtl="0">
              <a:lnSpc>
                <a:spcPct val="100000"/>
              </a:lnSpc>
              <a:spcBef>
                <a:spcPts val="0"/>
              </a:spcBef>
              <a:spcAft>
                <a:spcPts val="0"/>
              </a:spcAft>
              <a:buNone/>
            </a:pPr>
            <a:r>
              <a:rPr lang="en" sz="3200" b="1">
                <a:solidFill>
                  <a:srgbClr val="6AA84F"/>
                </a:solidFill>
                <a:latin typeface="Calibri"/>
                <a:ea typeface="Calibri"/>
                <a:cs typeface="Calibri"/>
                <a:sym typeface="Calibri"/>
              </a:rPr>
              <a:t>Claude Code</a:t>
            </a:r>
            <a:endParaRPr sz="3200" b="1">
              <a:solidFill>
                <a:srgbClr val="6AA84F"/>
              </a:solidFill>
              <a:latin typeface="Calibri"/>
              <a:ea typeface="Calibri"/>
              <a:cs typeface="Calibri"/>
              <a:sym typeface="Calibri"/>
            </a:endParaRPr>
          </a:p>
          <a:p>
            <a:pPr marL="0" marR="0" lvl="0" indent="0" algn="ctr" rtl="0">
              <a:lnSpc>
                <a:spcPct val="100000"/>
              </a:lnSpc>
              <a:spcBef>
                <a:spcPts val="0"/>
              </a:spcBef>
              <a:spcAft>
                <a:spcPts val="0"/>
              </a:spcAft>
              <a:buNone/>
            </a:pPr>
            <a:r>
              <a:rPr lang="en" sz="3200" b="1">
                <a:solidFill>
                  <a:srgbClr val="6AA84F"/>
                </a:solidFill>
                <a:latin typeface="Calibri"/>
                <a:ea typeface="Calibri"/>
                <a:cs typeface="Calibri"/>
                <a:sym typeface="Calibri"/>
              </a:rPr>
              <a:t>Plugins</a:t>
            </a:r>
            <a:endParaRPr sz="3200" b="1">
              <a:solidFill>
                <a:srgbClr val="6AA84F"/>
              </a:solidFill>
              <a:latin typeface="Calibri"/>
              <a:ea typeface="Calibri"/>
              <a:cs typeface="Calibri"/>
              <a:sym typeface="Calibri"/>
            </a:endParaRPr>
          </a:p>
        </p:txBody>
      </p:sp>
      <p:sp>
        <p:nvSpPr>
          <p:cNvPr id="266" name="Google Shape;266;p31"/>
          <p:cNvSpPr txBox="1"/>
          <p:nvPr/>
        </p:nvSpPr>
        <p:spPr>
          <a:xfrm>
            <a:off x="5086625" y="3148975"/>
            <a:ext cx="2887200" cy="1539300"/>
          </a:xfrm>
          <a:prstGeom prst="rect">
            <a:avLst/>
          </a:prstGeom>
          <a:solidFill>
            <a:schemeClr val="lt1"/>
          </a:solidFill>
          <a:ln w="9525" cap="flat" cmpd="sng">
            <a:solidFill>
              <a:srgbClr val="FF0000"/>
            </a:solidFill>
            <a:prstDash val="solid"/>
            <a:round/>
            <a:headEnd type="none" w="sm" len="sm"/>
            <a:tailEnd type="none" w="sm" len="sm"/>
          </a:ln>
        </p:spPr>
        <p:txBody>
          <a:bodyPr spcFirstLastPara="1" wrap="square" lIns="274300" tIns="274300" rIns="274300" bIns="274300" anchor="t" anchorCtr="0">
            <a:spAutoFit/>
          </a:bodyPr>
          <a:lstStyle/>
          <a:p>
            <a:pPr marL="0" marR="0" lvl="0" indent="0" algn="ctr" rtl="0">
              <a:lnSpc>
                <a:spcPct val="100000"/>
              </a:lnSpc>
              <a:spcBef>
                <a:spcPts val="0"/>
              </a:spcBef>
              <a:spcAft>
                <a:spcPts val="0"/>
              </a:spcAft>
              <a:buNone/>
            </a:pPr>
            <a:r>
              <a:rPr lang="en" sz="3200" b="1">
                <a:solidFill>
                  <a:srgbClr val="6AA84F"/>
                </a:solidFill>
                <a:latin typeface="Calibri"/>
                <a:ea typeface="Calibri"/>
                <a:cs typeface="Calibri"/>
                <a:sym typeface="Calibri"/>
              </a:rPr>
              <a:t>Claude Code</a:t>
            </a:r>
            <a:endParaRPr sz="3200" b="1">
              <a:solidFill>
                <a:srgbClr val="6AA84F"/>
              </a:solidFill>
              <a:latin typeface="Calibri"/>
              <a:ea typeface="Calibri"/>
              <a:cs typeface="Calibri"/>
              <a:sym typeface="Calibri"/>
            </a:endParaRPr>
          </a:p>
          <a:p>
            <a:pPr marL="0" marR="0" lvl="0" indent="0" algn="ctr" rtl="0">
              <a:lnSpc>
                <a:spcPct val="100000"/>
              </a:lnSpc>
              <a:spcBef>
                <a:spcPts val="0"/>
              </a:spcBef>
              <a:spcAft>
                <a:spcPts val="0"/>
              </a:spcAft>
              <a:buNone/>
            </a:pPr>
            <a:r>
              <a:rPr lang="en" sz="3200" b="1">
                <a:solidFill>
                  <a:srgbClr val="6AA84F"/>
                </a:solidFill>
                <a:latin typeface="Calibri"/>
                <a:ea typeface="Calibri"/>
                <a:cs typeface="Calibri"/>
                <a:sym typeface="Calibri"/>
              </a:rPr>
              <a:t>Sub-Agents</a:t>
            </a:r>
            <a:endParaRPr sz="3200" b="1">
              <a:solidFill>
                <a:srgbClr val="6AA84F"/>
              </a:solidFill>
              <a:latin typeface="Calibri"/>
              <a:ea typeface="Calibri"/>
              <a:cs typeface="Calibri"/>
              <a:sym typeface="Calibri"/>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70"/>
        <p:cNvGrpSpPr/>
        <p:nvPr/>
      </p:nvGrpSpPr>
      <p:grpSpPr>
        <a:xfrm>
          <a:off x="0" y="0"/>
          <a:ext cx="0" cy="0"/>
          <a:chOff x="0" y="0"/>
          <a:chExt cx="0" cy="0"/>
        </a:xfrm>
      </p:grpSpPr>
      <p:sp>
        <p:nvSpPr>
          <p:cNvPr id="271" name="Google Shape;271;p32"/>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272" name="Google Shape;272;p32"/>
          <p:cNvSpPr txBox="1"/>
          <p:nvPr/>
        </p:nvSpPr>
        <p:spPr>
          <a:xfrm>
            <a:off x="55075" y="361350"/>
            <a:ext cx="4465800" cy="340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Clr>
                <a:srgbClr val="FF0000"/>
              </a:buClr>
              <a:buSzPts val="1100"/>
              <a:buFont typeface="Calibri"/>
              <a:buChar char="●"/>
            </a:pPr>
            <a:r>
              <a:rPr lang="en" sz="1100" b="1">
                <a:solidFill>
                  <a:srgbClr val="FF0000"/>
                </a:solidFill>
                <a:latin typeface="Calibri"/>
                <a:ea typeface="Calibri"/>
                <a:cs typeface="Calibri"/>
                <a:sym typeface="Calibri"/>
              </a:rPr>
              <a:t>Julia McCoy - "How I Clone Myself With HeyGen &amp; ElevenLabs: Complete Tutorial (Best AI Avatar 2025)"</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3"/>
              </a:rPr>
              <a:t>https://youtu.be/Zc2PwPuKK5c?si=BDY0z2S_hVstyHGW</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4"/>
              </a:rPr>
              <a:t>https://www.heygen.com</a:t>
            </a:r>
            <a:r>
              <a:rPr lang="en" sz="1100">
                <a:latin typeface="Calibri"/>
                <a:ea typeface="Calibri"/>
                <a:cs typeface="Calibri"/>
                <a:sym typeface="Calibri"/>
              </a:rPr>
              <a:t> - HeyGen AI Video Generator</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u="sng">
                <a:solidFill>
                  <a:schemeClr val="hlink"/>
                </a:solidFill>
                <a:latin typeface="Calibri"/>
                <a:ea typeface="Calibri"/>
                <a:cs typeface="Calibri"/>
                <a:sym typeface="Calibri"/>
                <a:hlinkClick r:id="rId5"/>
              </a:rPr>
              <a:t>https://elevenlabs.io</a:t>
            </a:r>
            <a:r>
              <a:rPr lang="en" sz="1100">
                <a:latin typeface="Calibri"/>
                <a:ea typeface="Calibri"/>
                <a:cs typeface="Calibri"/>
                <a:sym typeface="Calibri"/>
              </a:rPr>
              <a:t>  - Audio</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HeyGen is the most realistic avatar software the author has tested, outperforming competitors in photorealism, natural movement, and viewer engagement. </a:t>
            </a:r>
            <a:br>
              <a:rPr lang="en" sz="1100">
                <a:latin typeface="Calibri"/>
                <a:ea typeface="Calibri"/>
                <a:cs typeface="Calibri"/>
                <a:sym typeface="Calibri"/>
              </a:rPr>
            </a:br>
            <a:r>
              <a:rPr lang="en" sz="1100">
                <a:latin typeface="Calibri"/>
                <a:ea typeface="Calibri"/>
                <a:cs typeface="Calibri"/>
                <a:sym typeface="Calibri"/>
              </a:rPr>
              <a:t>She recommends  the </a:t>
            </a:r>
            <a:r>
              <a:rPr lang="en" sz="1100" b="1">
                <a:solidFill>
                  <a:srgbClr val="FF0000"/>
                </a:solidFill>
                <a:latin typeface="Calibri"/>
                <a:ea typeface="Calibri"/>
                <a:cs typeface="Calibri"/>
                <a:sym typeface="Calibri"/>
              </a:rPr>
              <a:t>HeyGen Team plan</a:t>
            </a:r>
            <a:endParaRPr sz="1100" b="1">
              <a:solidFill>
                <a:srgbClr val="FF0000"/>
              </a:solidFill>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video walks through preparing and uploading the necessary photos and voice recordings, adjusting settings for appearance and lip-sync, and troubleshooting common issues to make the clone more realistic</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This AI clone can be used to produce videos without needing to film yourself each time, effectively “multiplying” yourself</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tutorial covers practical tips on achieving natural results and integrating the avatar into workflows so it can speak scripts in the cloned voice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Overall, it demonstrates how to set up and use these AI technologies to automate and scale personal video content using a digital version of yourself</a:t>
            </a:r>
            <a:endParaRPr sz="1100">
              <a:latin typeface="Calibri"/>
              <a:ea typeface="Calibri"/>
              <a:cs typeface="Calibri"/>
              <a:sym typeface="Calibri"/>
            </a:endParaRPr>
          </a:p>
        </p:txBody>
      </p:sp>
      <p:pic>
        <p:nvPicPr>
          <p:cNvPr id="273" name="Google Shape;273;p32"/>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4608259" y="170633"/>
            <a:ext cx="1881500" cy="933976"/>
          </a:xfrm>
          <a:prstGeom prst="rect">
            <a:avLst/>
          </a:prstGeom>
          <a:noFill/>
          <a:ln w="9525" cap="flat" cmpd="sng">
            <a:solidFill>
              <a:srgbClr val="FF0000"/>
            </a:solidFill>
            <a:prstDash val="solid"/>
            <a:round/>
            <a:headEnd type="none" w="sm" len="sm"/>
            <a:tailEnd type="none" w="sm" len="sm"/>
          </a:ln>
        </p:spPr>
      </p:pic>
      <p:sp>
        <p:nvSpPr>
          <p:cNvPr id="274" name="Google Shape;274;p32"/>
          <p:cNvSpPr txBox="1"/>
          <p:nvPr/>
        </p:nvSpPr>
        <p:spPr>
          <a:xfrm>
            <a:off x="4593684" y="1166739"/>
            <a:ext cx="4465800" cy="39126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Use high-quality training data, since poor inputs lead to unnatural avatars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Record five video clips for avatar training, each 3–5 minutes long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Film in at least 1080p resolution; 4K is preferable if available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Use consistent lighting and audio equipment across all training clips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Wear a different outfit in each training clip to avoid visual repetition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Keep hand movements minimal and below chest level in training videos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Speak naturally and look directly into the camera, as if talking to a friend</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Film when you are energized &amp; positive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Use a quiet recording environment with no echo or background noise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Provide 1–1.5 hours of clean audio for ElevenLabs voice training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Use the same microphone for all voice recordings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Verify identity and consent during both voice and avatar creation steps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Format scripts for AI voices by writing out numbers and removing filler</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Break scripts into short paragraphs to create natural pauses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Avoid emojis, jargon, and special characters in AI-read scripts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Use ChatGPT to rewrite scripts for AI voice clarity and pacing</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Render videos at 30 FPS and 1080p for optimal output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Do not publish raw avatar footage; enhance videos with B-roll, music, text, and transitions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Consider hiring a video editor to elevate AI footage into premium YouTube content</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Provide editors with timestamps, B-roll notes, and music preferences to speed delivery.</a:t>
            </a:r>
            <a:endParaRPr sz="1100">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8"/>
        <p:cNvGrpSpPr/>
        <p:nvPr/>
      </p:nvGrpSpPr>
      <p:grpSpPr>
        <a:xfrm>
          <a:off x="0" y="0"/>
          <a:ext cx="0" cy="0"/>
          <a:chOff x="0" y="0"/>
          <a:chExt cx="0" cy="0"/>
        </a:xfrm>
      </p:grpSpPr>
      <p:sp>
        <p:nvSpPr>
          <p:cNvPr id="279" name="Google Shape;279;p33"/>
          <p:cNvSpPr txBox="1"/>
          <p:nvPr/>
        </p:nvSpPr>
        <p:spPr>
          <a:xfrm>
            <a:off x="55075" y="20375"/>
            <a:ext cx="32679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Amazon’s Graviton 5</a:t>
            </a:r>
            <a:endParaRPr sz="2000" b="1" i="0" u="none" strike="noStrike" cap="none">
              <a:solidFill>
                <a:schemeClr val="dk1"/>
              </a:solidFill>
              <a:latin typeface="Calibri"/>
              <a:ea typeface="Calibri"/>
              <a:cs typeface="Calibri"/>
              <a:sym typeface="Calibri"/>
            </a:endParaRPr>
          </a:p>
        </p:txBody>
      </p:sp>
      <p:sp>
        <p:nvSpPr>
          <p:cNvPr id="280" name="Google Shape;280;p33"/>
          <p:cNvSpPr txBox="1"/>
          <p:nvPr/>
        </p:nvSpPr>
        <p:spPr>
          <a:xfrm>
            <a:off x="171750" y="944925"/>
            <a:ext cx="4549800" cy="2558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Amazon’s Graviton 5</a:t>
            </a:r>
            <a:br>
              <a:rPr lang="en" sz="1200" b="1">
                <a:solidFill>
                  <a:srgbClr val="3C78D8"/>
                </a:solidFill>
                <a:latin typeface="Calibri"/>
                <a:ea typeface="Calibri"/>
                <a:cs typeface="Calibri"/>
                <a:sym typeface="Calibri"/>
              </a:rPr>
            </a:br>
            <a:r>
              <a:rPr lang="en" sz="1200" b="1">
                <a:solidFill>
                  <a:srgbClr val="3C78D8"/>
                </a:solidFill>
                <a:latin typeface="Calibri"/>
                <a:ea typeface="Calibri"/>
                <a:cs typeface="Calibri"/>
                <a:sym typeface="Calibri"/>
              </a:rPr>
              <a:t>a 192-core, single-socket Arm server chip </a:t>
            </a:r>
            <a:br>
              <a:rPr lang="en" sz="900">
                <a:latin typeface="Calibri"/>
                <a:ea typeface="Calibri"/>
                <a:cs typeface="Calibri"/>
                <a:sym typeface="Calibri"/>
              </a:rPr>
            </a:br>
            <a:r>
              <a:rPr lang="en" sz="900" u="sng">
                <a:solidFill>
                  <a:schemeClr val="hlink"/>
                </a:solidFill>
                <a:latin typeface="Calibri"/>
                <a:ea typeface="Calibri"/>
                <a:cs typeface="Calibri"/>
                <a:sym typeface="Calibri"/>
                <a:hlinkClick r:id="rId3"/>
              </a:rPr>
              <a:t>https://www.youtube.com/watch?v=AH0FD__0ctQ</a:t>
            </a:r>
            <a:endParaRPr sz="9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Big core counts, much larger cache, faster I/O, and tighter AWS platform integration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25% performance improvement vs Graviton 4</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 large performance-per-watt advantage vs top Intel Xeons (roughly 40–45%), and a big cache jump (five times more L3, 192 MB shared)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PCIe 6.0, improved memory subsystem, and direct integration with Nitro 6 for 100 Gbps networking plus stronger isolation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Graviton currently runs over half of new AWS CPU capacity; 98% of top EC2 customers using Graviton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AWS also uses Trainium systems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Microsoft (Cobalt 200) and Google (Axion)</a:t>
            </a:r>
            <a:endParaRPr sz="1200">
              <a:latin typeface="Calibri"/>
              <a:ea typeface="Calibri"/>
              <a:cs typeface="Calibri"/>
              <a:sym typeface="Calibri"/>
            </a:endParaRPr>
          </a:p>
        </p:txBody>
      </p:sp>
      <p:pic>
        <p:nvPicPr>
          <p:cNvPr id="281" name="Google Shape;281;p33"/>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313475" y="1313975"/>
            <a:ext cx="2633775" cy="17573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5"/>
        <p:cNvGrpSpPr/>
        <p:nvPr/>
      </p:nvGrpSpPr>
      <p:grpSpPr>
        <a:xfrm>
          <a:off x="0" y="0"/>
          <a:ext cx="0" cy="0"/>
          <a:chOff x="0" y="0"/>
          <a:chExt cx="0" cy="0"/>
        </a:xfrm>
      </p:grpSpPr>
      <p:sp>
        <p:nvSpPr>
          <p:cNvPr id="286" name="Google Shape;286;p34"/>
          <p:cNvSpPr txBox="1"/>
          <p:nvPr/>
        </p:nvSpPr>
        <p:spPr>
          <a:xfrm>
            <a:off x="55075" y="38100"/>
            <a:ext cx="2840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Apple CLaRa Framework</a:t>
            </a:r>
            <a:endParaRPr sz="2000" b="1" i="0" u="none" strike="noStrike" cap="none">
              <a:solidFill>
                <a:schemeClr val="dk1"/>
              </a:solidFill>
              <a:latin typeface="Calibri"/>
              <a:ea typeface="Calibri"/>
              <a:cs typeface="Calibri"/>
              <a:sym typeface="Calibri"/>
            </a:endParaRPr>
          </a:p>
        </p:txBody>
      </p:sp>
      <p:sp>
        <p:nvSpPr>
          <p:cNvPr id="287" name="Google Shape;287;p34"/>
          <p:cNvSpPr txBox="1"/>
          <p:nvPr/>
        </p:nvSpPr>
        <p:spPr>
          <a:xfrm>
            <a:off x="144525" y="413150"/>
            <a:ext cx="5350500" cy="3297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Apple’s CLaRa AI framework</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Clr>
                <a:srgbClr val="3C78D8"/>
              </a:buClr>
              <a:buSzPts val="1200"/>
              <a:buFont typeface="Calibri"/>
              <a:buChar char="●"/>
            </a:pPr>
            <a:r>
              <a:rPr lang="en" sz="1200" b="1">
                <a:solidFill>
                  <a:srgbClr val="3C78D8"/>
                </a:solidFill>
                <a:latin typeface="Calibri"/>
                <a:ea typeface="Calibri"/>
                <a:cs typeface="Calibri"/>
                <a:sym typeface="Calibri"/>
              </a:rPr>
              <a:t>CLaRa = "Continuous Latent Reasoning"</a:t>
            </a:r>
            <a:endParaRPr sz="1200" b="1">
              <a:solidFill>
                <a:srgbClr val="3C78D8"/>
              </a:solidFill>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https://www.youtube.com/watch?v=-obd_O-NCOI</a:t>
            </a:r>
            <a:endParaRPr sz="9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Goal to improve RAG. CLaRa compresses documents into dense latent memory tokens and operates retrieval and generation in a "shared continuous space", allowing the model to reason over compressed representations rather than raw text</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unified approach solves the "broken gradient" problem in classic RAG by letting the generator effectively teach the retriever what information matters, improving overall relevance and performance while reducing context costs and latency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instruction-tuned "CLaRa-7B-Instruct" model supports question-answering directly from compressed representations, offering strong performance with significant compression factors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Because it combines retrieval and generation in one 7-billion-parameter model, it can run on smaller hardware and handle larger document sets more efficiently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CLaRa architecture could shift how RAG models are built and used, especially where combining memory, retrieval accuracy, and cost matters</a:t>
            </a:r>
            <a:endParaRPr sz="1200">
              <a:latin typeface="Calibri"/>
              <a:ea typeface="Calibri"/>
              <a:cs typeface="Calibri"/>
              <a:sym typeface="Calibri"/>
            </a:endParaRPr>
          </a:p>
        </p:txBody>
      </p:sp>
      <p:sp>
        <p:nvSpPr>
          <p:cNvPr id="288" name="Google Shape;288;p34"/>
          <p:cNvSpPr txBox="1"/>
          <p:nvPr/>
        </p:nvSpPr>
        <p:spPr>
          <a:xfrm>
            <a:off x="5676250" y="1309650"/>
            <a:ext cx="2936700" cy="1662300"/>
          </a:xfrm>
          <a:prstGeom prst="rect">
            <a:avLst/>
          </a:prstGeom>
          <a:solidFill>
            <a:schemeClr val="lt1"/>
          </a:solidFill>
          <a:ln w="9525" cap="flat" cmpd="sng">
            <a:solidFill>
              <a:srgbClr val="FF0000"/>
            </a:solidFill>
            <a:prstDash val="solid"/>
            <a:round/>
            <a:headEnd type="none" w="sm" len="sm"/>
            <a:tailEnd type="none" w="sm" len="sm"/>
          </a:ln>
        </p:spPr>
        <p:txBody>
          <a:bodyPr spcFirstLastPara="1" wrap="square" lIns="274300" tIns="274300" rIns="274300" bIns="274300" anchor="t" anchorCtr="0">
            <a:spAutoFit/>
          </a:bodyPr>
          <a:lstStyle/>
          <a:p>
            <a:pPr marL="0" marR="0" lvl="0" indent="0" algn="ctr" rtl="0">
              <a:lnSpc>
                <a:spcPct val="100000"/>
              </a:lnSpc>
              <a:spcBef>
                <a:spcPts val="0"/>
              </a:spcBef>
              <a:spcAft>
                <a:spcPts val="0"/>
              </a:spcAft>
              <a:buNone/>
            </a:pPr>
            <a:r>
              <a:rPr lang="en" sz="3200" b="1">
                <a:solidFill>
                  <a:srgbClr val="FF0000"/>
                </a:solidFill>
                <a:latin typeface="Calibri"/>
                <a:ea typeface="Calibri"/>
                <a:cs typeface="Calibri"/>
                <a:sym typeface="Calibri"/>
              </a:rPr>
              <a:t>Apple CLaRa</a:t>
            </a:r>
            <a:endParaRPr sz="3200" b="1">
              <a:solidFill>
                <a:srgbClr val="FF0000"/>
              </a:solidFill>
              <a:latin typeface="Calibri"/>
              <a:ea typeface="Calibri"/>
              <a:cs typeface="Calibri"/>
              <a:sym typeface="Calibri"/>
            </a:endParaRPr>
          </a:p>
          <a:p>
            <a:pPr marL="0" marR="0" lvl="0" indent="0" algn="ctr" rtl="0">
              <a:lnSpc>
                <a:spcPct val="100000"/>
              </a:lnSpc>
              <a:spcBef>
                <a:spcPts val="0"/>
              </a:spcBef>
              <a:spcAft>
                <a:spcPts val="0"/>
              </a:spcAft>
              <a:buNone/>
            </a:pPr>
            <a:r>
              <a:rPr lang="en" sz="2000" b="1">
                <a:solidFill>
                  <a:srgbClr val="FF0000"/>
                </a:solidFill>
                <a:latin typeface="Calibri"/>
                <a:ea typeface="Calibri"/>
                <a:cs typeface="Calibri"/>
                <a:sym typeface="Calibri"/>
              </a:rPr>
              <a:t>"Continuous Latent Reasoning"</a:t>
            </a:r>
            <a:endParaRPr sz="2000" b="1">
              <a:solidFill>
                <a:srgbClr val="FF0000"/>
              </a:solidFill>
              <a:latin typeface="Calibri"/>
              <a:ea typeface="Calibri"/>
              <a:cs typeface="Calibri"/>
              <a:sym typeface="Calibri"/>
            </a:endParaRPr>
          </a:p>
        </p:txBody>
      </p:sp>
      <p:sp>
        <p:nvSpPr>
          <p:cNvPr id="289" name="Google Shape;289;p34"/>
          <p:cNvSpPr txBox="1"/>
          <p:nvPr/>
        </p:nvSpPr>
        <p:spPr>
          <a:xfrm>
            <a:off x="144525" y="3773657"/>
            <a:ext cx="5350500" cy="13113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Claude Code can now directly control the browser through the /chrome command</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This allows Claude Code to test and validate code directly in Chrome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Claude Code can open Chrome, navigate to applications, click buttons, fill forms, monitor network requests in real-time, capture console errors as they happen, and take screenshots at any viewport size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system uses the Chrome DevTools Protocol - the same API that Chrome DevTools itself uses internally - to gain direct access to the browser</a:t>
            </a:r>
            <a:endParaRPr sz="1200">
              <a:latin typeface="Calibri"/>
              <a:ea typeface="Calibri"/>
              <a:cs typeface="Calibri"/>
              <a:sym typeface="Calibri"/>
            </a:endParaRPr>
          </a:p>
        </p:txBody>
      </p:sp>
      <p:pic>
        <p:nvPicPr>
          <p:cNvPr id="290" name="Google Shape;290;p34"/>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5676250" y="3773650"/>
            <a:ext cx="1634234" cy="13113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94"/>
        <p:cNvGrpSpPr/>
        <p:nvPr/>
      </p:nvGrpSpPr>
      <p:grpSpPr>
        <a:xfrm>
          <a:off x="0" y="0"/>
          <a:ext cx="0" cy="0"/>
          <a:chOff x="0" y="0"/>
          <a:chExt cx="0" cy="0"/>
        </a:xfrm>
      </p:grpSpPr>
      <p:sp>
        <p:nvSpPr>
          <p:cNvPr id="295" name="Google Shape;295;p35"/>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Moonshots</a:t>
            </a:r>
            <a:endParaRPr sz="2000" b="1" i="0" u="none" strike="noStrike" cap="none">
              <a:solidFill>
                <a:schemeClr val="dk1"/>
              </a:solidFill>
              <a:latin typeface="Calibri"/>
              <a:ea typeface="Calibri"/>
              <a:cs typeface="Calibri"/>
              <a:sym typeface="Calibri"/>
            </a:endParaRPr>
          </a:p>
        </p:txBody>
      </p:sp>
      <p:sp>
        <p:nvSpPr>
          <p:cNvPr id="296" name="Google Shape;296;p35"/>
          <p:cNvSpPr txBox="1"/>
          <p:nvPr/>
        </p:nvSpPr>
        <p:spPr>
          <a:xfrm>
            <a:off x="55075" y="457975"/>
            <a:ext cx="48882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Moonshots with Peter Diamandis:</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https://www.youtube.com/watch?v=z6U-jqHzBqY</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Knowledge-work automation is already economically compelling (faster and dramatically cheaper), but many companies are stuck due to legacy stacks, security/tooling bottlenecks, and organizational paralysis</a:t>
            </a:r>
            <a:endParaRPr sz="1200">
              <a:latin typeface="Calibri"/>
              <a:ea typeface="Calibri"/>
              <a:cs typeface="Calibri"/>
              <a:sym typeface="Calibri"/>
            </a:endParaRPr>
          </a:p>
        </p:txBody>
      </p:sp>
      <p:sp>
        <p:nvSpPr>
          <p:cNvPr id="297" name="Google Shape;297;p35"/>
          <p:cNvSpPr txBox="1"/>
          <p:nvPr/>
        </p:nvSpPr>
        <p:spPr>
          <a:xfrm>
            <a:off x="55075" y="1695975"/>
            <a:ext cx="4888200" cy="3343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AI Agents Make $1M By 2027, The Fake AGI Race, &amp; Building Safe Superintelligence | Mustafa Suleyman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https://www.youtube.com/watch?v=XWGnWcmns_M</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Agentic systems could reshape work, science, and governance, while emphasizing practical safety constraints and careful language about runaway scenarios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A single AI agent should be able to generate $1M in revenue/profit with minimal human supervision by around 2027</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Mustafa Suleyman describes AI as moving from chat and knowledge (IQ/EQ) toward “actions” (agents that can execute tasks across software and, eventually, parts of the physical world), which shifts both opportunity and risk</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On safety, he argues the biggest danger is ignoring dark possibilities (“pessimism aversion”), and highlights autonomy and recursive self-improvement as key thresholds to manage deliberately</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He downplays the idea of an imminent, spontaneous “intelligence explosion,” suggesting rapid self-replication would require explicit engineering choices and should be designed out via safety-by-design</a:t>
            </a:r>
            <a:endParaRPr sz="1200">
              <a:latin typeface="Calibri"/>
              <a:ea typeface="Calibri"/>
              <a:cs typeface="Calibri"/>
              <a:sym typeface="Calibri"/>
            </a:endParaRPr>
          </a:p>
        </p:txBody>
      </p:sp>
      <p:pic>
        <p:nvPicPr>
          <p:cNvPr id="298" name="Google Shape;298;p35"/>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5134100" y="2498725"/>
            <a:ext cx="2268174" cy="1258975"/>
          </a:xfrm>
          <a:prstGeom prst="rect">
            <a:avLst/>
          </a:prstGeom>
          <a:noFill/>
          <a:ln w="9525" cap="flat" cmpd="sng">
            <a:solidFill>
              <a:srgbClr val="FF0000"/>
            </a:solidFill>
            <a:prstDash val="solid"/>
            <a:round/>
            <a:headEnd type="none" w="sm" len="sm"/>
            <a:tailEnd type="none" w="sm" len="sm"/>
          </a:ln>
        </p:spPr>
      </p:pic>
      <p:pic>
        <p:nvPicPr>
          <p:cNvPr id="299" name="Google Shape;299;p35"/>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134100" y="297332"/>
            <a:ext cx="2268175" cy="1263283"/>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03"/>
        <p:cNvGrpSpPr/>
        <p:nvPr/>
      </p:nvGrpSpPr>
      <p:grpSpPr>
        <a:xfrm>
          <a:off x="0" y="0"/>
          <a:ext cx="0" cy="0"/>
          <a:chOff x="0" y="0"/>
          <a:chExt cx="0" cy="0"/>
        </a:xfrm>
      </p:grpSpPr>
      <p:sp>
        <p:nvSpPr>
          <p:cNvPr id="304" name="Google Shape;304;p36"/>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Get Rich with AI in 2026</a:t>
            </a:r>
            <a:endParaRPr sz="2000" b="1" i="0" u="none" strike="noStrike" cap="none">
              <a:solidFill>
                <a:schemeClr val="dk1"/>
              </a:solidFill>
              <a:latin typeface="Calibri"/>
              <a:ea typeface="Calibri"/>
              <a:cs typeface="Calibri"/>
              <a:sym typeface="Calibri"/>
            </a:endParaRPr>
          </a:p>
        </p:txBody>
      </p:sp>
      <p:sp>
        <p:nvSpPr>
          <p:cNvPr id="305" name="Google Shape;305;p36"/>
          <p:cNvSpPr txBox="1"/>
          <p:nvPr/>
        </p:nvSpPr>
        <p:spPr>
          <a:xfrm>
            <a:off x="53143" y="438127"/>
            <a:ext cx="3945300" cy="463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latin typeface="Calibri"/>
                <a:ea typeface="Calibri"/>
                <a:cs typeface="Calibri"/>
                <a:sym typeface="Calibri"/>
              </a:rPr>
              <a:t>Use AI to get rich in 2026</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https://www.youtube.com/watch?v=Nqx0QjHQ9ww</a:t>
            </a:r>
            <a:r>
              <a:rPr lang="en" sz="1200">
                <a:latin typeface="Calibri"/>
                <a:ea typeface="Calibri"/>
                <a:cs typeface="Calibri"/>
                <a:sym typeface="Calibri"/>
              </a:rPr>
              <a:t> </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Getting rich with AI isn’t about linear plans or being a top coder; it’s about building fast feedback loops that compound learning and execution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video frames a coming economic shift toward exponential growth and self-improving systems, citing how quickly AI products and AI startups can scale</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 then teaches four loops: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 The “balance loop”: stay on a tightrope between your asymmetric advantage (unique experience, domain knowledge, network, etc.) and a customer’s acute, frequent pain; constantly surface assumptions and validate them quickly with AI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 The “speed-to-revenue loop”: ship, learn, and iterate daily; Cursor is used as an example of extreme shipping speed and “dogfooding” (using its own product to build itself)</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(3) The “signal-to-innovation loop”: treat user behavior data as the core R&amp;D engine; YouTube’s continual experiments are contrasted with Quibi’s rigid, assumption-driven approach</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(4) The “sweat equity loop”: early-stage founders must stay deeply involved, sweating details as the product and market keep moving, turning persistence into long-term value</a:t>
            </a:r>
            <a:endParaRPr sz="1200">
              <a:latin typeface="Calibri"/>
              <a:ea typeface="Calibri"/>
              <a:cs typeface="Calibri"/>
              <a:sym typeface="Calibri"/>
            </a:endParaRPr>
          </a:p>
        </p:txBody>
      </p:sp>
      <p:pic>
        <p:nvPicPr>
          <p:cNvPr id="306" name="Google Shape;306;p36"/>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241132" y="1079275"/>
            <a:ext cx="4756224" cy="259642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10"/>
        <p:cNvGrpSpPr/>
        <p:nvPr/>
      </p:nvGrpSpPr>
      <p:grpSpPr>
        <a:xfrm>
          <a:off x="0" y="0"/>
          <a:ext cx="0" cy="0"/>
          <a:chOff x="0" y="0"/>
          <a:chExt cx="0" cy="0"/>
        </a:xfrm>
      </p:grpSpPr>
      <p:sp>
        <p:nvSpPr>
          <p:cNvPr id="311" name="Google Shape;311;p37"/>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312" name="Google Shape;312;p37"/>
          <p:cNvSpPr txBox="1"/>
          <p:nvPr/>
        </p:nvSpPr>
        <p:spPr>
          <a:xfrm>
            <a:off x="119525" y="346773"/>
            <a:ext cx="4347900" cy="4636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Integral AI = True AGI ? </a:t>
            </a:r>
            <a:br>
              <a:rPr lang="en" sz="1200">
                <a:latin typeface="Calibri"/>
                <a:ea typeface="Calibri"/>
                <a:cs typeface="Calibri"/>
                <a:sym typeface="Calibri"/>
              </a:rPr>
            </a:br>
            <a:r>
              <a:rPr lang="en" sz="1200" u="sng">
                <a:solidFill>
                  <a:schemeClr val="hlink"/>
                </a:solidFill>
                <a:latin typeface="Calibri"/>
                <a:ea typeface="Calibri"/>
                <a:cs typeface="Calibri"/>
                <a:sym typeface="Calibri"/>
                <a:hlinkClick r:id="rId3"/>
              </a:rPr>
              <a:t>https://www.youtube.com/watch?v=RVqNUUYd9UA</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 video covers e</a:t>
            </a:r>
            <a:r>
              <a:rPr lang="en" sz="1200" b="1">
                <a:solidFill>
                  <a:srgbClr val="FF0000"/>
                </a:solidFill>
                <a:latin typeface="Calibri"/>
                <a:ea typeface="Calibri"/>
                <a:cs typeface="Calibri"/>
                <a:sym typeface="Calibri"/>
              </a:rPr>
              <a:t>x-Google researcher Jad Tafari and his startup Integral AI</a:t>
            </a:r>
            <a:r>
              <a:rPr lang="en" sz="1200">
                <a:latin typeface="Calibri"/>
                <a:ea typeface="Calibri"/>
                <a:cs typeface="Calibri"/>
                <a:sym typeface="Calibri"/>
              </a:rPr>
              <a:t>, which claim to have built the “world’s first AGI-capable model.” Integral defines AGI with three criteria: autonomous skill learning in novel domains without human-provided datasets, safe and reliable mastery without catastrophic failures, and human-comparable energy efficiency for learning new skills. Their criticism of current LLMs is that they are black-box predictors reliant on brute-force optimization, lacking explicit world models and interpretable abstractions.[1]</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Integral proposes “universal simulators” that build hierarchical, multimodal world models and grow via lifelong learning without catastrophic forgetting. Demo clips show an embodied agent exploring 3D rooms to answer questions, a vision system that selectively reveals image patches like eye saccades, and a puzzle-solving “Shooan” experiment where the agent plans by estimating remaining steps to a goal. The creator notes that DeepMind published somewhat analogous imagination-augmented agents work in 2017 with peer-reviewed methods and open code, while Integral has released no benchmarks, code, or independent evaluations. He concludes the architecture ideas sound plausible, but the AGI-capable claim is unsubstantiated until rigorous external validation appears.[1]</a:t>
            </a:r>
            <a:endParaRPr sz="1200">
              <a:latin typeface="Calibri"/>
              <a:ea typeface="Calibri"/>
              <a:cs typeface="Calibri"/>
              <a:sym typeface="Calibri"/>
            </a:endParaRPr>
          </a:p>
        </p:txBody>
      </p:sp>
      <p:pic>
        <p:nvPicPr>
          <p:cNvPr id="313" name="Google Shape;313;p37"/>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4703400" y="346775"/>
            <a:ext cx="1652626" cy="1638850"/>
          </a:xfrm>
          <a:prstGeom prst="rect">
            <a:avLst/>
          </a:prstGeom>
          <a:noFill/>
          <a:ln w="9525" cap="flat" cmpd="sng">
            <a:solidFill>
              <a:srgbClr val="FF0000"/>
            </a:solidFill>
            <a:prstDash val="solid"/>
            <a:round/>
            <a:headEnd type="none" w="sm" len="sm"/>
            <a:tailEnd type="none" w="sm" len="sm"/>
          </a:ln>
        </p:spPr>
      </p:pic>
      <p:sp>
        <p:nvSpPr>
          <p:cNvPr id="314" name="Google Shape;314;p37"/>
          <p:cNvSpPr txBox="1"/>
          <p:nvPr/>
        </p:nvSpPr>
        <p:spPr>
          <a:xfrm>
            <a:off x="4605600" y="3486876"/>
            <a:ext cx="4377000" cy="1496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Tokyo-based Integral AI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Founded by ex-Google engineer Jad Tarifi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Claim - first true AGI system embodied in physical robots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Their system allegedly learns new tasks autonomously without curated datasets or human labeling, using an architecture inspired by the human neocortex, and has already demonstrated successful robotic trials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https://www.youtube.com/watch?v=zrr3KQrQ-WA</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18"/>
        <p:cNvGrpSpPr/>
        <p:nvPr/>
      </p:nvGrpSpPr>
      <p:grpSpPr>
        <a:xfrm>
          <a:off x="0" y="0"/>
          <a:ext cx="0" cy="0"/>
          <a:chOff x="0" y="0"/>
          <a:chExt cx="0" cy="0"/>
        </a:xfrm>
      </p:grpSpPr>
      <p:sp>
        <p:nvSpPr>
          <p:cNvPr id="319" name="Google Shape;319;p38"/>
          <p:cNvSpPr txBox="1"/>
          <p:nvPr/>
        </p:nvSpPr>
        <p:spPr>
          <a:xfrm>
            <a:off x="92950" y="0"/>
            <a:ext cx="14286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320" name="Google Shape;320;p38"/>
          <p:cNvSpPr txBox="1"/>
          <p:nvPr/>
        </p:nvSpPr>
        <p:spPr>
          <a:xfrm>
            <a:off x="3669192" y="2282219"/>
            <a:ext cx="23178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Time Magazine named AI architects as 2025 Person of the Year, featuring Zuckerberg, Jensen Huang, Sam Altman, and others</a:t>
            </a:r>
            <a:endParaRPr sz="1100" b="1">
              <a:solidFill>
                <a:srgbClr val="FF0000"/>
              </a:solidFill>
              <a:latin typeface="Calibri"/>
              <a:ea typeface="Calibri"/>
              <a:cs typeface="Calibri"/>
              <a:sym typeface="Calibri"/>
            </a:endParaRPr>
          </a:p>
        </p:txBody>
      </p:sp>
      <p:sp>
        <p:nvSpPr>
          <p:cNvPr id="321" name="Google Shape;321;p38"/>
          <p:cNvSpPr txBox="1"/>
          <p:nvPr/>
        </p:nvSpPr>
        <p:spPr>
          <a:xfrm>
            <a:off x="92961" y="4644095"/>
            <a:ext cx="28575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Runway released Gen-4.5, competing with Sora in text-to-video generation</a:t>
            </a:r>
            <a:endParaRPr sz="1100" b="1">
              <a:solidFill>
                <a:srgbClr val="FF0000"/>
              </a:solidFill>
              <a:latin typeface="Calibri"/>
              <a:ea typeface="Calibri"/>
              <a:cs typeface="Calibri"/>
              <a:sym typeface="Calibri"/>
            </a:endParaRPr>
          </a:p>
        </p:txBody>
      </p:sp>
      <p:sp>
        <p:nvSpPr>
          <p:cNvPr id="322" name="Google Shape;322;p38"/>
          <p:cNvSpPr txBox="1"/>
          <p:nvPr/>
        </p:nvSpPr>
        <p:spPr>
          <a:xfrm>
            <a:off x="3650875" y="3832175"/>
            <a:ext cx="2459400" cy="11268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DeepSeek allegedly smuggled banned Nvidia Blackwell chips into China by purchasing them through data centers in permitted countries, then disassembling and importing equipment in pieces for reassembly</a:t>
            </a:r>
            <a:endParaRPr sz="1100" b="1">
              <a:solidFill>
                <a:srgbClr val="FF0000"/>
              </a:solidFill>
              <a:latin typeface="Calibri"/>
              <a:ea typeface="Calibri"/>
              <a:cs typeface="Calibri"/>
              <a:sym typeface="Calibri"/>
            </a:endParaRPr>
          </a:p>
        </p:txBody>
      </p:sp>
      <p:sp>
        <p:nvSpPr>
          <p:cNvPr id="323" name="Google Shape;323;p38"/>
          <p:cNvSpPr txBox="1"/>
          <p:nvPr/>
        </p:nvSpPr>
        <p:spPr>
          <a:xfrm>
            <a:off x="92950" y="1896497"/>
            <a:ext cx="28575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ChatGPT becoming a primary entry point for how people interact with the internet. For example Adobe Photoshop, Express, and Acrobat in ChatGPT</a:t>
            </a:r>
            <a:endParaRPr sz="1100" b="1">
              <a:solidFill>
                <a:srgbClr val="FF0000"/>
              </a:solidFill>
              <a:latin typeface="Calibri"/>
              <a:ea typeface="Calibri"/>
              <a:cs typeface="Calibri"/>
              <a:sym typeface="Calibri"/>
            </a:endParaRPr>
          </a:p>
        </p:txBody>
      </p:sp>
      <p:sp>
        <p:nvSpPr>
          <p:cNvPr id="324" name="Google Shape;324;p38"/>
          <p:cNvSpPr txBox="1"/>
          <p:nvPr/>
        </p:nvSpPr>
        <p:spPr>
          <a:xfrm>
            <a:off x="6707375" y="1997825"/>
            <a:ext cx="22215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Meta reportedly pivots from open-source toward a closed commercial AI model code named </a:t>
            </a:r>
            <a:r>
              <a:rPr lang="en" sz="1200" b="1">
                <a:solidFill>
                  <a:srgbClr val="FF0000"/>
                </a:solidFill>
                <a:latin typeface="Calibri"/>
                <a:ea typeface="Calibri"/>
                <a:cs typeface="Calibri"/>
                <a:sym typeface="Calibri"/>
              </a:rPr>
              <a:t>Avocado</a:t>
            </a:r>
            <a:r>
              <a:rPr lang="en" sz="1200">
                <a:latin typeface="Calibri"/>
                <a:ea typeface="Calibri"/>
                <a:cs typeface="Calibri"/>
                <a:sym typeface="Calibri"/>
              </a:rPr>
              <a:t>, expected in Spring 2026</a:t>
            </a:r>
            <a:endParaRPr sz="1100" b="1">
              <a:solidFill>
                <a:srgbClr val="FF0000"/>
              </a:solidFill>
              <a:latin typeface="Calibri"/>
              <a:ea typeface="Calibri"/>
              <a:cs typeface="Calibri"/>
              <a:sym typeface="Calibri"/>
            </a:endParaRPr>
          </a:p>
        </p:txBody>
      </p:sp>
      <p:sp>
        <p:nvSpPr>
          <p:cNvPr id="325" name="Google Shape;325;p38"/>
          <p:cNvSpPr txBox="1"/>
          <p:nvPr/>
        </p:nvSpPr>
        <p:spPr>
          <a:xfrm>
            <a:off x="6707375" y="4755873"/>
            <a:ext cx="2221500" cy="2031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Databricks hits $134B valuation</a:t>
            </a:r>
            <a:endParaRPr sz="1200">
              <a:latin typeface="Calibri"/>
              <a:ea typeface="Calibri"/>
              <a:cs typeface="Calibri"/>
              <a:sym typeface="Calibri"/>
            </a:endParaRPr>
          </a:p>
        </p:txBody>
      </p:sp>
      <p:pic>
        <p:nvPicPr>
          <p:cNvPr id="326" name="Google Shape;326;p38"/>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6707375" y="3457631"/>
            <a:ext cx="2221500" cy="1244044"/>
          </a:xfrm>
          <a:prstGeom prst="rect">
            <a:avLst/>
          </a:prstGeom>
          <a:noFill/>
          <a:ln w="9525" cap="flat" cmpd="sng">
            <a:solidFill>
              <a:srgbClr val="FF0000"/>
            </a:solidFill>
            <a:prstDash val="solid"/>
            <a:round/>
            <a:headEnd type="none" w="sm" len="sm"/>
            <a:tailEnd type="none" w="sm" len="sm"/>
          </a:ln>
        </p:spPr>
      </p:pic>
      <p:pic>
        <p:nvPicPr>
          <p:cNvPr id="327" name="Google Shape;327;p38"/>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6930400" y="166173"/>
            <a:ext cx="1775437" cy="1690525"/>
          </a:xfrm>
          <a:prstGeom prst="rect">
            <a:avLst/>
          </a:prstGeom>
          <a:noFill/>
          <a:ln>
            <a:noFill/>
          </a:ln>
        </p:spPr>
      </p:pic>
      <p:pic>
        <p:nvPicPr>
          <p:cNvPr id="328" name="Google Shape;328;p38"/>
          <p:cNvPicPr preferRelativeResize="0"/>
          <p:nvPr/>
        </p:nvPicPr>
        <p:blipFill>
          <a:blip r:embed="rId5">
            <a:alphaModFix/>
          </a:blip>
          <a:stretch>
            <a:fillRect/>
          </a:stretch>
        </p:blipFill>
        <p:spPr>
          <a:xfrm>
            <a:off x="92961" y="2975918"/>
            <a:ext cx="2857500" cy="1600200"/>
          </a:xfrm>
          <a:prstGeom prst="rect">
            <a:avLst/>
          </a:prstGeom>
          <a:noFill/>
          <a:ln w="9525" cap="flat" cmpd="sng">
            <a:solidFill>
              <a:srgbClr val="FF0000"/>
            </a:solidFill>
            <a:prstDash val="solid"/>
            <a:round/>
            <a:headEnd type="none" w="sm" len="sm"/>
            <a:tailEnd type="none" w="sm" len="sm"/>
          </a:ln>
        </p:spPr>
      </p:pic>
      <p:pic>
        <p:nvPicPr>
          <p:cNvPr id="329" name="Google Shape;329;p38"/>
          <p:cNvPicPr preferRelativeResize="0"/>
          <p:nvPr/>
        </p:nvPicPr>
        <p:blipFill rotWithShape="1">
          <a:blip r:embed="rId6" cstate="email">
            <a:alphaModFix/>
            <a:extLst>
              <a:ext uri="{28A0092B-C50C-407E-A947-70E740481C1C}">
                <a14:useLocalDpi xmlns:a14="http://schemas.microsoft.com/office/drawing/2010/main"/>
              </a:ext>
            </a:extLst>
          </a:blip>
          <a:srcRect/>
          <a:stretch/>
        </p:blipFill>
        <p:spPr>
          <a:xfrm>
            <a:off x="4203738" y="3377425"/>
            <a:ext cx="1495275" cy="387900"/>
          </a:xfrm>
          <a:prstGeom prst="rect">
            <a:avLst/>
          </a:prstGeom>
          <a:noFill/>
          <a:ln>
            <a:noFill/>
          </a:ln>
        </p:spPr>
      </p:pic>
      <p:pic>
        <p:nvPicPr>
          <p:cNvPr id="330" name="Google Shape;330;p38"/>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4018430" y="56743"/>
            <a:ext cx="1619324" cy="2158617"/>
          </a:xfrm>
          <a:prstGeom prst="rect">
            <a:avLst/>
          </a:prstGeom>
          <a:noFill/>
          <a:ln>
            <a:noFill/>
          </a:ln>
        </p:spPr>
      </p:pic>
      <p:pic>
        <p:nvPicPr>
          <p:cNvPr id="331" name="Google Shape;331;p38"/>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301644" y="499175"/>
            <a:ext cx="2404018" cy="1346250"/>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35"/>
        <p:cNvGrpSpPr/>
        <p:nvPr/>
      </p:nvGrpSpPr>
      <p:grpSpPr>
        <a:xfrm>
          <a:off x="0" y="0"/>
          <a:ext cx="0" cy="0"/>
          <a:chOff x="0" y="0"/>
          <a:chExt cx="0" cy="0"/>
        </a:xfrm>
      </p:grpSpPr>
      <p:sp>
        <p:nvSpPr>
          <p:cNvPr id="336" name="Google Shape;336;p39"/>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337" name="Google Shape;337;p39"/>
          <p:cNvSpPr txBox="1"/>
          <p:nvPr/>
        </p:nvSpPr>
        <p:spPr>
          <a:xfrm>
            <a:off x="111575" y="393784"/>
            <a:ext cx="4921800" cy="1218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Google DeepMind Interactions API (/interactions).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(Similar to OpenAI </a:t>
            </a:r>
            <a:r>
              <a:rPr lang="en" sz="1200">
                <a:solidFill>
                  <a:schemeClr val="dk1"/>
                </a:solidFill>
                <a:latin typeface="Calibri"/>
                <a:ea typeface="Calibri"/>
                <a:cs typeface="Calibri"/>
                <a:sym typeface="Calibri"/>
              </a:rPr>
              <a:t>Responses API)</a:t>
            </a:r>
            <a:endParaRPr sz="1200">
              <a:solidFill>
                <a:schemeClr val="dk1"/>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Interactions API is a unified interface for interacting with Gemini models and agents that fundamentally shifts AI development from stateless request-response patterns to stateful, multi-turn workflows</a:t>
            </a:r>
            <a:endParaRPr sz="12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3"/>
              </a:rPr>
              <a:t>https://venturebeat.com/infrastructure/why-googles-new-interactions-api-is-such-a-big-deal-for-ai-developers</a:t>
            </a:r>
            <a:r>
              <a:rPr lang="en" sz="900">
                <a:latin typeface="Calibri"/>
                <a:ea typeface="Calibri"/>
                <a:cs typeface="Calibri"/>
                <a:sym typeface="Calibri"/>
              </a:rPr>
              <a:t> </a:t>
            </a:r>
            <a:endParaRPr sz="900">
              <a:latin typeface="Calibri"/>
              <a:ea typeface="Calibri"/>
              <a:cs typeface="Calibri"/>
              <a:sym typeface="Calibri"/>
            </a:endParaRPr>
          </a:p>
        </p:txBody>
      </p:sp>
      <p:sp>
        <p:nvSpPr>
          <p:cNvPr id="338" name="Google Shape;338;p39"/>
          <p:cNvSpPr txBox="1"/>
          <p:nvPr/>
        </p:nvSpPr>
        <p:spPr>
          <a:xfrm>
            <a:off x="6214198" y="1327494"/>
            <a:ext cx="16623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Lovable raises $330M at $6.6B valuation</a:t>
            </a:r>
            <a:endParaRPr sz="1200">
              <a:latin typeface="Calibri"/>
              <a:ea typeface="Calibri"/>
              <a:cs typeface="Calibri"/>
              <a:sym typeface="Calibri"/>
            </a:endParaRPr>
          </a:p>
        </p:txBody>
      </p:sp>
      <p:sp>
        <p:nvSpPr>
          <p:cNvPr id="339" name="Google Shape;339;p39"/>
          <p:cNvSpPr txBox="1"/>
          <p:nvPr/>
        </p:nvSpPr>
        <p:spPr>
          <a:xfrm>
            <a:off x="6032383" y="95823"/>
            <a:ext cx="2686500" cy="341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ChatGPT x Replit Launch</a:t>
            </a:r>
            <a:endParaRPr sz="900">
              <a:latin typeface="Calibri"/>
              <a:ea typeface="Calibri"/>
              <a:cs typeface="Calibri"/>
              <a:sym typeface="Calibri"/>
            </a:endParaRPr>
          </a:p>
          <a:p>
            <a:pPr marL="171450" marR="0" lvl="0" indent="-114300" algn="l" rtl="0">
              <a:lnSpc>
                <a:spcPct val="100000"/>
              </a:lnSpc>
              <a:spcBef>
                <a:spcPts val="0"/>
              </a:spcBef>
              <a:spcAft>
                <a:spcPts val="0"/>
              </a:spcAft>
              <a:buSzPts val="900"/>
              <a:buFont typeface="Calibri"/>
              <a:buChar char="●"/>
            </a:pPr>
            <a:r>
              <a:rPr lang="en" sz="900" u="sng">
                <a:solidFill>
                  <a:schemeClr val="hlink"/>
                </a:solidFill>
                <a:latin typeface="Calibri"/>
                <a:ea typeface="Calibri"/>
                <a:cs typeface="Calibri"/>
                <a:sym typeface="Calibri"/>
                <a:hlinkClick r:id="rId4"/>
              </a:rPr>
              <a:t>https://www.youtube.com/watch?v=Szmlj6_gbt8</a:t>
            </a:r>
            <a:endParaRPr sz="900">
              <a:latin typeface="Calibri"/>
              <a:ea typeface="Calibri"/>
              <a:cs typeface="Calibri"/>
              <a:sym typeface="Calibri"/>
            </a:endParaRPr>
          </a:p>
        </p:txBody>
      </p:sp>
      <p:sp>
        <p:nvSpPr>
          <p:cNvPr id="340" name="Google Shape;340;p39"/>
          <p:cNvSpPr txBox="1"/>
          <p:nvPr/>
        </p:nvSpPr>
        <p:spPr>
          <a:xfrm>
            <a:off x="111575" y="1674116"/>
            <a:ext cx="5729700" cy="34047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Quint Code - </a:t>
            </a:r>
            <a:r>
              <a:rPr lang="en" sz="1100" u="sng">
                <a:solidFill>
                  <a:schemeClr val="hlink"/>
                </a:solidFill>
                <a:latin typeface="Calibri"/>
                <a:ea typeface="Calibri"/>
                <a:cs typeface="Calibri"/>
                <a:sym typeface="Calibri"/>
                <a:hlinkClick r:id="rId5"/>
              </a:rPr>
              <a:t>https://github.com/m0n0x41d/quint-code</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Quint Code is a set of commands for AI coding assistants like Claude Code, Gemini, Cursor, and Codex that implements hypothesis-driven decision making with auditable evidence trails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Rather than relying on "vibe coding" where AI generates code without rigorous validation, Quint provides a framework that forces both engineers and AI to pause, validate assumptions, and document decisions systematically.​</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The toolkit is based on approximately 10% of the First Principles Framework (FPF), a formal "thinking OS" specification created by Anatoly Levenchuk</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Quint guides users through an ADI cycle—Abduction, Deduction, and Induction generating competing hypotheses, verifying them logically, testing empirically, and producing Decision Rationale Records that document what was chosen, why, supporting evidence, rejected alternatives, and when to revisit the decision.​</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Currently, Quint is a command-based toolkit with no UI or dependencies, adding minimal overhead to existing AI coding workflows. It consists of slash commands that act as structured prompts, making it harder to skip critical validation steps before code generation. The tool has been tested in complex engineering and strategy tasks with notably improved quality compared to unstructured AI interactions.​</a:t>
            </a:r>
            <a:endParaRPr sz="1100">
              <a:latin typeface="Calibri"/>
              <a:ea typeface="Calibri"/>
              <a:cs typeface="Calibri"/>
              <a:sym typeface="Calibri"/>
            </a:endParaRPr>
          </a:p>
          <a:p>
            <a:pPr marL="171450" marR="0" lvl="0" indent="-127000" algn="l" rtl="0">
              <a:lnSpc>
                <a:spcPct val="100000"/>
              </a:lnSpc>
              <a:spcBef>
                <a:spcPts val="0"/>
              </a:spcBef>
              <a:spcAft>
                <a:spcPts val="0"/>
              </a:spcAft>
              <a:buSzPts val="1100"/>
              <a:buFont typeface="Calibri"/>
              <a:buChar char="●"/>
            </a:pPr>
            <a:r>
              <a:rPr lang="en" sz="1100">
                <a:latin typeface="Calibri"/>
                <a:ea typeface="Calibri"/>
                <a:cs typeface="Calibri"/>
                <a:sym typeface="Calibri"/>
              </a:rPr>
              <a:t>Future version 4.0 will introduce a compact MCP server that manages the FPF kernel and invariants using local SQLite databases alongside markdown files, allowing persistent context about project constraints and past decisions to be automatically fed to AI assistants</a:t>
            </a:r>
            <a:endParaRPr sz="1100">
              <a:latin typeface="Calibri"/>
              <a:ea typeface="Calibri"/>
              <a:cs typeface="Calibri"/>
              <a:sym typeface="Calibri"/>
            </a:endParaRPr>
          </a:p>
        </p:txBody>
      </p:sp>
      <p:pic>
        <p:nvPicPr>
          <p:cNvPr id="341" name="Google Shape;341;p39"/>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5925600" y="3074356"/>
            <a:ext cx="3147974" cy="870125"/>
          </a:xfrm>
          <a:prstGeom prst="rect">
            <a:avLst/>
          </a:prstGeom>
          <a:noFill/>
          <a:ln>
            <a:noFill/>
          </a:ln>
        </p:spPr>
      </p:pic>
      <p:pic>
        <p:nvPicPr>
          <p:cNvPr id="342" name="Google Shape;342;p39"/>
          <p:cNvPicPr preferRelativeResize="0"/>
          <p:nvPr/>
        </p:nvPicPr>
        <p:blipFill>
          <a:blip r:embed="rId7" cstate="email">
            <a:alphaModFix/>
            <a:extLst>
              <a:ext uri="{28A0092B-C50C-407E-A947-70E740481C1C}">
                <a14:useLocalDpi xmlns:a14="http://schemas.microsoft.com/office/drawing/2010/main"/>
              </a:ext>
            </a:extLst>
          </a:blip>
          <a:stretch>
            <a:fillRect/>
          </a:stretch>
        </p:blipFill>
        <p:spPr>
          <a:xfrm>
            <a:off x="5677683" y="545549"/>
            <a:ext cx="3395889" cy="381293"/>
          </a:xfrm>
          <a:prstGeom prst="rect">
            <a:avLst/>
          </a:prstGeom>
          <a:noFill/>
          <a:ln w="9525" cap="flat" cmpd="sng">
            <a:solidFill>
              <a:srgbClr val="FF0000"/>
            </a:solidFill>
            <a:prstDash val="solid"/>
            <a:round/>
            <a:headEnd type="none" w="sm" len="sm"/>
            <a:tailEnd type="none" w="sm" len="sm"/>
          </a:ln>
        </p:spPr>
      </p:pic>
      <p:pic>
        <p:nvPicPr>
          <p:cNvPr id="343" name="Google Shape;343;p39"/>
          <p:cNvPicPr preferRelativeResize="0"/>
          <p:nvPr/>
        </p:nvPicPr>
        <p:blipFill>
          <a:blip r:embed="rId8" cstate="email">
            <a:alphaModFix/>
            <a:extLst>
              <a:ext uri="{28A0092B-C50C-407E-A947-70E740481C1C}">
                <a14:useLocalDpi xmlns:a14="http://schemas.microsoft.com/office/drawing/2010/main"/>
              </a:ext>
            </a:extLst>
          </a:blip>
          <a:stretch>
            <a:fillRect/>
          </a:stretch>
        </p:blipFill>
        <p:spPr>
          <a:xfrm>
            <a:off x="3638650" y="191802"/>
            <a:ext cx="1866700" cy="500475"/>
          </a:xfrm>
          <a:prstGeom prst="rect">
            <a:avLst/>
          </a:prstGeom>
          <a:noFill/>
          <a:ln>
            <a:noFill/>
          </a:ln>
        </p:spPr>
      </p:pic>
      <p:pic>
        <p:nvPicPr>
          <p:cNvPr id="344" name="Google Shape;344;p39"/>
          <p:cNvPicPr preferRelativeResize="0"/>
          <p:nvPr/>
        </p:nvPicPr>
        <p:blipFill>
          <a:blip r:embed="rId9" cstate="email">
            <a:alphaModFix/>
            <a:extLst>
              <a:ext uri="{28A0092B-C50C-407E-A947-70E740481C1C}">
                <a14:useLocalDpi xmlns:a14="http://schemas.microsoft.com/office/drawing/2010/main"/>
              </a:ext>
            </a:extLst>
          </a:blip>
          <a:stretch>
            <a:fillRect/>
          </a:stretch>
        </p:blipFill>
        <p:spPr>
          <a:xfrm>
            <a:off x="7946792" y="1099443"/>
            <a:ext cx="1126783" cy="844000"/>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48"/>
        <p:cNvGrpSpPr/>
        <p:nvPr/>
      </p:nvGrpSpPr>
      <p:grpSpPr>
        <a:xfrm>
          <a:off x="0" y="0"/>
          <a:ext cx="0" cy="0"/>
          <a:chOff x="0" y="0"/>
          <a:chExt cx="0" cy="0"/>
        </a:xfrm>
      </p:grpSpPr>
      <p:sp>
        <p:nvSpPr>
          <p:cNvPr id="349" name="Google Shape;349;p40"/>
          <p:cNvSpPr txBox="1"/>
          <p:nvPr/>
        </p:nvSpPr>
        <p:spPr>
          <a:xfrm>
            <a:off x="55075" y="20375"/>
            <a:ext cx="40347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a:solidFill>
                  <a:schemeClr val="dk1"/>
                </a:solidFill>
                <a:latin typeface="Calibri"/>
                <a:ea typeface="Calibri"/>
                <a:cs typeface="Calibri"/>
                <a:sym typeface="Calibri"/>
              </a:rPr>
              <a:t>AI Updates</a:t>
            </a:r>
            <a:endParaRPr sz="2000" b="1" i="0" u="none" strike="noStrike" cap="none">
              <a:solidFill>
                <a:schemeClr val="dk1"/>
              </a:solidFill>
              <a:latin typeface="Calibri"/>
              <a:ea typeface="Calibri"/>
              <a:cs typeface="Calibri"/>
              <a:sym typeface="Calibri"/>
            </a:endParaRPr>
          </a:p>
        </p:txBody>
      </p:sp>
      <p:sp>
        <p:nvSpPr>
          <p:cNvPr id="350" name="Google Shape;350;p40"/>
          <p:cNvSpPr txBox="1"/>
          <p:nvPr/>
        </p:nvSpPr>
        <p:spPr>
          <a:xfrm>
            <a:off x="111575" y="392100"/>
            <a:ext cx="44091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Zoom</a:t>
            </a:r>
            <a:r>
              <a:rPr lang="en" sz="1200">
                <a:latin typeface="Calibri"/>
                <a:ea typeface="Calibri"/>
                <a:cs typeface="Calibri"/>
                <a:sym typeface="Calibri"/>
              </a:rPr>
              <a:t> achieved strong benchmark performance using a </a:t>
            </a:r>
            <a:r>
              <a:rPr lang="en" sz="1200" b="1">
                <a:solidFill>
                  <a:srgbClr val="FF0000"/>
                </a:solidFill>
                <a:latin typeface="Calibri"/>
                <a:ea typeface="Calibri"/>
                <a:cs typeface="Calibri"/>
                <a:sym typeface="Calibri"/>
              </a:rPr>
              <a:t>"federated AI"</a:t>
            </a:r>
            <a:r>
              <a:rPr lang="en" sz="1200">
                <a:latin typeface="Calibri"/>
                <a:ea typeface="Calibri"/>
                <a:cs typeface="Calibri"/>
                <a:sym typeface="Calibri"/>
              </a:rPr>
              <a:t> system rather than a single proprietary model</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Its approach routes tasks to the most suitable mix of internal, open-source, and closed models, and this strategy performed well on difficult evaluation benchmarks</a:t>
            </a:r>
            <a:endParaRPr sz="1200">
              <a:latin typeface="Calibri"/>
              <a:ea typeface="Calibri"/>
              <a:cs typeface="Calibri"/>
              <a:sym typeface="Calibri"/>
            </a:endParaRPr>
          </a:p>
        </p:txBody>
      </p:sp>
      <p:sp>
        <p:nvSpPr>
          <p:cNvPr id="351" name="Google Shape;351;p40"/>
          <p:cNvSpPr txBox="1"/>
          <p:nvPr/>
        </p:nvSpPr>
        <p:spPr>
          <a:xfrm>
            <a:off x="111575" y="1614050"/>
            <a:ext cx="44091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1">
                <a:solidFill>
                  <a:srgbClr val="FF0000"/>
                </a:solidFill>
                <a:latin typeface="Calibri"/>
                <a:ea typeface="Calibri"/>
                <a:cs typeface="Calibri"/>
                <a:sym typeface="Calibri"/>
              </a:rPr>
              <a:t>Meta open-source model - SAM Audio</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Enables isolating and manipulating specific audio sources within recordings or videos. It is positioned as powerful, easy to use, and fully open source.</a:t>
            </a:r>
            <a:endParaRPr sz="1200">
              <a:latin typeface="Calibri"/>
              <a:ea typeface="Calibri"/>
              <a:cs typeface="Calibri"/>
              <a:sym typeface="Calibri"/>
            </a:endParaRPr>
          </a:p>
        </p:txBody>
      </p:sp>
      <p:pic>
        <p:nvPicPr>
          <p:cNvPr id="352" name="Google Shape;352;p40"/>
          <p:cNvPicPr preferRelativeResize="0"/>
          <p:nvPr/>
        </p:nvPicPr>
        <p:blipFill>
          <a:blip r:embed="rId3" cstate="email">
            <a:alphaModFix/>
            <a:extLst>
              <a:ext uri="{28A0092B-C50C-407E-A947-70E740481C1C}">
                <a14:useLocalDpi xmlns:a14="http://schemas.microsoft.com/office/drawing/2010/main"/>
              </a:ext>
            </a:extLst>
          </a:blip>
          <a:stretch>
            <a:fillRect/>
          </a:stretch>
        </p:blipFill>
        <p:spPr>
          <a:xfrm>
            <a:off x="4940007" y="392100"/>
            <a:ext cx="3095143" cy="942000"/>
          </a:xfrm>
          <a:prstGeom prst="rect">
            <a:avLst/>
          </a:prstGeom>
          <a:noFill/>
          <a:ln w="9525" cap="flat" cmpd="sng">
            <a:solidFill>
              <a:srgbClr val="FF0000"/>
            </a:solidFill>
            <a:prstDash val="solid"/>
            <a:round/>
            <a:headEnd type="none" w="sm" len="sm"/>
            <a:tailEnd type="none" w="sm" len="sm"/>
          </a:ln>
        </p:spPr>
      </p:pic>
      <p:pic>
        <p:nvPicPr>
          <p:cNvPr id="353" name="Google Shape;353;p40"/>
          <p:cNvPicPr preferRelativeResize="0"/>
          <p:nvPr/>
        </p:nvPicPr>
        <p:blipFill>
          <a:blip r:embed="rId4" cstate="email">
            <a:alphaModFix/>
            <a:extLst>
              <a:ext uri="{28A0092B-C50C-407E-A947-70E740481C1C}">
                <a14:useLocalDpi xmlns:a14="http://schemas.microsoft.com/office/drawing/2010/main"/>
              </a:ext>
            </a:extLst>
          </a:blip>
          <a:stretch>
            <a:fillRect/>
          </a:stretch>
        </p:blipFill>
        <p:spPr>
          <a:xfrm>
            <a:off x="4940000" y="1614050"/>
            <a:ext cx="2487970" cy="757200"/>
          </a:xfrm>
          <a:prstGeom prst="rect">
            <a:avLst/>
          </a:prstGeom>
          <a:noFill/>
          <a:ln w="9525" cap="flat" cmpd="sng">
            <a:solidFill>
              <a:srgbClr val="FF0000"/>
            </a:solidFill>
            <a:prstDash val="solid"/>
            <a:round/>
            <a:headEnd type="none" w="sm" len="sm"/>
            <a:tailEnd type="none" w="sm" len="sm"/>
          </a:ln>
        </p:spPr>
      </p:pic>
      <p:sp>
        <p:nvSpPr>
          <p:cNvPr id="354" name="Google Shape;354;p40"/>
          <p:cNvSpPr txBox="1"/>
          <p:nvPr/>
        </p:nvSpPr>
        <p:spPr>
          <a:xfrm>
            <a:off x="111575" y="2651200"/>
            <a:ext cx="4409100" cy="1680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Clr>
                <a:srgbClr val="FF0000"/>
              </a:buClr>
              <a:buSzPts val="1200"/>
              <a:buFont typeface="Calibri"/>
              <a:buChar char="●"/>
            </a:pPr>
            <a:r>
              <a:rPr lang="en" sz="1200" b="1">
                <a:solidFill>
                  <a:srgbClr val="FF0000"/>
                </a:solidFill>
                <a:latin typeface="Calibri"/>
                <a:ea typeface="Calibri"/>
                <a:cs typeface="Calibri"/>
                <a:sym typeface="Calibri"/>
              </a:rPr>
              <a:t>Five tech breakthroughs in next 18 months</a:t>
            </a:r>
            <a:endParaRPr sz="1200" b="1">
              <a:solidFill>
                <a:srgbClr val="FF0000"/>
              </a:solidFill>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(1) Diffusion LMs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(2) “sub-quadratic” attention - Google’s Titans and Manifest AI’s Power Attention</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(3) Latent-space thinking instead of thinking in words</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(4) Continual learning</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a:latin typeface="Calibri"/>
                <a:ea typeface="Calibri"/>
                <a:cs typeface="Calibri"/>
                <a:sym typeface="Calibri"/>
              </a:rPr>
              <a:t>(5) Possible replacement for transformers: the continuous thought machine (CTM)</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5"/>
              </a:rPr>
              <a:t>https://www.youtube.com/watch?v=h-z71uspNHw</a:t>
            </a:r>
            <a:r>
              <a:rPr lang="en" sz="1200">
                <a:latin typeface="Calibri"/>
                <a:ea typeface="Calibri"/>
                <a:cs typeface="Calibri"/>
                <a:sym typeface="Calibri"/>
              </a:rPr>
              <a:t> </a:t>
            </a:r>
            <a:endParaRPr sz="1200">
              <a:latin typeface="Calibri"/>
              <a:ea typeface="Calibri"/>
              <a:cs typeface="Calibri"/>
              <a:sym typeface="Calibri"/>
            </a:endParaRPr>
          </a:p>
        </p:txBody>
      </p:sp>
      <p:sp>
        <p:nvSpPr>
          <p:cNvPr id="355" name="Google Shape;355;p40"/>
          <p:cNvSpPr txBox="1"/>
          <p:nvPr/>
        </p:nvSpPr>
        <p:spPr>
          <a:xfrm>
            <a:off x="4940000" y="2651200"/>
            <a:ext cx="3641400" cy="2031900"/>
          </a:xfrm>
          <a:prstGeom prst="rect">
            <a:avLst/>
          </a:prstGeom>
          <a:solidFill>
            <a:schemeClr val="lt1"/>
          </a:solidFill>
          <a:ln w="9525" cap="flat" cmpd="sng">
            <a:solidFill>
              <a:srgbClr val="FF0000"/>
            </a:solidFill>
            <a:prstDash val="solid"/>
            <a:round/>
            <a:headEnd type="none" w="sm" len="sm"/>
            <a:tailEnd type="none" w="sm" len="sm"/>
          </a:ln>
        </p:spPr>
        <p:txBody>
          <a:bodyPr spcFirstLastPara="1" wrap="square" lIns="274300" tIns="274300" rIns="274300" bIns="274300" anchor="t" anchorCtr="0">
            <a:spAutoFit/>
          </a:bodyPr>
          <a:lstStyle/>
          <a:p>
            <a:pPr marL="0" marR="0" lvl="0" indent="0" algn="ctr" rtl="0">
              <a:lnSpc>
                <a:spcPct val="100000"/>
              </a:lnSpc>
              <a:spcBef>
                <a:spcPts val="0"/>
              </a:spcBef>
              <a:spcAft>
                <a:spcPts val="0"/>
              </a:spcAft>
              <a:buNone/>
            </a:pPr>
            <a:r>
              <a:rPr lang="en" sz="3200" b="1">
                <a:solidFill>
                  <a:srgbClr val="6AA84F"/>
                </a:solidFill>
                <a:latin typeface="Calibri"/>
                <a:ea typeface="Calibri"/>
                <a:cs typeface="Calibri"/>
                <a:sym typeface="Calibri"/>
              </a:rPr>
              <a:t>Five Breakthroughs </a:t>
            </a:r>
            <a:endParaRPr sz="3200" b="1">
              <a:solidFill>
                <a:srgbClr val="6AA84F"/>
              </a:solidFill>
              <a:latin typeface="Calibri"/>
              <a:ea typeface="Calibri"/>
              <a:cs typeface="Calibri"/>
              <a:sym typeface="Calibri"/>
            </a:endParaRPr>
          </a:p>
          <a:p>
            <a:pPr marL="0" marR="0" lvl="0" indent="0" algn="ctr" rtl="0">
              <a:lnSpc>
                <a:spcPct val="100000"/>
              </a:lnSpc>
              <a:spcBef>
                <a:spcPts val="0"/>
              </a:spcBef>
              <a:spcAft>
                <a:spcPts val="0"/>
              </a:spcAft>
              <a:buNone/>
            </a:pPr>
            <a:r>
              <a:rPr lang="en" sz="3200" b="1">
                <a:solidFill>
                  <a:srgbClr val="6AA84F"/>
                </a:solidFill>
                <a:latin typeface="Calibri"/>
                <a:ea typeface="Calibri"/>
                <a:cs typeface="Calibri"/>
                <a:sym typeface="Calibri"/>
              </a:rPr>
              <a:t>in next 18 months</a:t>
            </a:r>
            <a:endParaRPr sz="3200" b="1">
              <a:solidFill>
                <a:srgbClr val="6AA84F"/>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59"/>
        <p:cNvGrpSpPr/>
        <p:nvPr/>
      </p:nvGrpSpPr>
      <p:grpSpPr>
        <a:xfrm>
          <a:off x="0" y="0"/>
          <a:ext cx="0" cy="0"/>
          <a:chOff x="0" y="0"/>
          <a:chExt cx="0" cy="0"/>
        </a:xfrm>
      </p:grpSpPr>
      <p:sp>
        <p:nvSpPr>
          <p:cNvPr id="360" name="Google Shape;360;p41"/>
          <p:cNvSpPr txBox="1"/>
          <p:nvPr/>
        </p:nvSpPr>
        <p:spPr>
          <a:xfrm>
            <a:off x="67350" y="52750"/>
            <a:ext cx="3179400" cy="326400"/>
          </a:xfrm>
          <a:prstGeom prst="rect">
            <a:avLst/>
          </a:prstGeom>
          <a:noFill/>
          <a:ln>
            <a:noFill/>
          </a:ln>
        </p:spPr>
        <p:txBody>
          <a:bodyPr spcFirstLastPara="1" wrap="square" lIns="9125" tIns="9125" rIns="9125" bIns="91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000" b="1" i="0" u="none" strike="noStrike" cap="none">
                <a:solidFill>
                  <a:schemeClr val="dk1"/>
                </a:solidFill>
                <a:latin typeface="Calibri"/>
                <a:ea typeface="Calibri"/>
                <a:cs typeface="Calibri"/>
                <a:sym typeface="Calibri"/>
              </a:rPr>
              <a:t>Jobs</a:t>
            </a:r>
            <a:endParaRPr sz="2000" b="1" i="0" u="none" strike="noStrike" cap="none">
              <a:solidFill>
                <a:schemeClr val="dk1"/>
              </a:solidFill>
              <a:latin typeface="Calibri"/>
              <a:ea typeface="Calibri"/>
              <a:cs typeface="Calibri"/>
              <a:sym typeface="Calibri"/>
            </a:endParaRPr>
          </a:p>
        </p:txBody>
      </p:sp>
      <p:sp>
        <p:nvSpPr>
          <p:cNvPr id="361" name="Google Shape;361;p41"/>
          <p:cNvSpPr txBox="1"/>
          <p:nvPr/>
        </p:nvSpPr>
        <p:spPr>
          <a:xfrm>
            <a:off x="2102050" y="77475"/>
            <a:ext cx="1800600" cy="3879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171450" marR="0" lvl="0" indent="-133350" algn="l" rtl="0">
              <a:lnSpc>
                <a:spcPct val="100000"/>
              </a:lnSpc>
              <a:spcBef>
                <a:spcPts val="0"/>
              </a:spcBef>
              <a:spcAft>
                <a:spcPts val="0"/>
              </a:spcAft>
              <a:buSzPts val="1200"/>
              <a:buFont typeface="Calibri"/>
              <a:buChar char="●"/>
            </a:pPr>
            <a:r>
              <a:rPr lang="en" sz="1200" b="0" i="0" u="sng" strike="noStrike" cap="none">
                <a:solidFill>
                  <a:schemeClr val="hlink"/>
                </a:solidFill>
                <a:latin typeface="Calibri"/>
                <a:ea typeface="Calibri"/>
                <a:cs typeface="Calibri"/>
                <a:sym typeface="Calibri"/>
                <a:hlinkClick r:id="rId3"/>
              </a:rPr>
              <a:t>https://layoffs.fyi</a:t>
            </a:r>
            <a:endParaRPr sz="1200">
              <a:latin typeface="Calibri"/>
              <a:ea typeface="Calibri"/>
              <a:cs typeface="Calibri"/>
              <a:sym typeface="Calibri"/>
            </a:endParaRPr>
          </a:p>
          <a:p>
            <a:pPr marL="171450" marR="0" lvl="0" indent="-133350" algn="l" rtl="0">
              <a:lnSpc>
                <a:spcPct val="100000"/>
              </a:lnSpc>
              <a:spcBef>
                <a:spcPts val="0"/>
              </a:spcBef>
              <a:spcAft>
                <a:spcPts val="0"/>
              </a:spcAft>
              <a:buSzPts val="1200"/>
              <a:buFont typeface="Calibri"/>
              <a:buChar char="●"/>
            </a:pPr>
            <a:r>
              <a:rPr lang="en" sz="1200" u="sng">
                <a:solidFill>
                  <a:schemeClr val="hlink"/>
                </a:solidFill>
                <a:latin typeface="Calibri"/>
                <a:ea typeface="Calibri"/>
                <a:cs typeface="Calibri"/>
                <a:sym typeface="Calibri"/>
                <a:hlinkClick r:id="rId4"/>
              </a:rPr>
              <a:t>https://trueup.io/layoffs</a:t>
            </a:r>
            <a:r>
              <a:rPr lang="en" sz="1200">
                <a:latin typeface="Calibri"/>
                <a:ea typeface="Calibri"/>
                <a:cs typeface="Calibri"/>
                <a:sym typeface="Calibri"/>
              </a:rPr>
              <a:t> </a:t>
            </a:r>
            <a:r>
              <a:rPr lang="en" sz="1200" b="0" i="0" u="none" strike="noStrike" cap="none">
                <a:solidFill>
                  <a:srgbClr val="000000"/>
                </a:solidFill>
                <a:latin typeface="Calibri"/>
                <a:ea typeface="Calibri"/>
                <a:cs typeface="Calibri"/>
                <a:sym typeface="Calibri"/>
              </a:rPr>
              <a:t> </a:t>
            </a:r>
            <a:endParaRPr sz="1200" b="0" i="0" u="none" strike="noStrike" cap="none">
              <a:solidFill>
                <a:srgbClr val="000000"/>
              </a:solidFill>
              <a:latin typeface="Calibri"/>
              <a:ea typeface="Calibri"/>
              <a:cs typeface="Calibri"/>
              <a:sym typeface="Calibri"/>
            </a:endParaRPr>
          </a:p>
        </p:txBody>
      </p:sp>
      <p:sp>
        <p:nvSpPr>
          <p:cNvPr id="362" name="Google Shape;362;p41"/>
          <p:cNvSpPr txBox="1"/>
          <p:nvPr/>
        </p:nvSpPr>
        <p:spPr>
          <a:xfrm>
            <a:off x="5144548" y="507700"/>
            <a:ext cx="3981900" cy="9420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marR="0" lvl="0" indent="0" algn="l" rtl="0">
              <a:lnSpc>
                <a:spcPct val="100000"/>
              </a:lnSpc>
              <a:spcBef>
                <a:spcPts val="0"/>
              </a:spcBef>
              <a:spcAft>
                <a:spcPts val="0"/>
              </a:spcAft>
              <a:buNone/>
            </a:pPr>
            <a:r>
              <a:rPr lang="en" sz="1200" b="1">
                <a:solidFill>
                  <a:srgbClr val="FF0000"/>
                </a:solidFill>
                <a:latin typeface="Calibri"/>
                <a:ea typeface="Calibri"/>
                <a:cs typeface="Calibri"/>
                <a:sym typeface="Calibri"/>
              </a:rPr>
              <a:t>  Tech Layoffs by year (US only):</a:t>
            </a:r>
            <a:endParaRPr sz="1200" b="1">
              <a:solidFill>
                <a:srgbClr val="FF0000"/>
              </a:solidFill>
              <a:latin typeface="Calibri"/>
              <a:ea typeface="Calibri"/>
              <a:cs typeface="Calibri"/>
              <a:sym typeface="Calibri"/>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123K in 2025 (as of December 18)</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153K in </a:t>
            </a:r>
            <a:r>
              <a:rPr lang="en" sz="1000" b="1">
                <a:solidFill>
                  <a:srgbClr val="000000"/>
                </a:solidFill>
                <a:latin typeface="Roboto Mono"/>
                <a:ea typeface="Roboto Mono"/>
                <a:cs typeface="Roboto Mono"/>
                <a:sym typeface="Roboto Mono"/>
              </a:rPr>
              <a:t>2024</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264K in 2023</a:t>
            </a:r>
            <a:endParaRPr sz="1000" b="1">
              <a:latin typeface="Roboto Mono"/>
              <a:ea typeface="Roboto Mono"/>
              <a:cs typeface="Roboto Mono"/>
              <a:sym typeface="Roboto Mono"/>
            </a:endParaRPr>
          </a:p>
          <a:p>
            <a:pPr marL="228600" marR="0" lvl="1" indent="-133350" algn="l" rtl="0">
              <a:lnSpc>
                <a:spcPct val="100000"/>
              </a:lnSpc>
              <a:spcBef>
                <a:spcPts val="0"/>
              </a:spcBef>
              <a:spcAft>
                <a:spcPts val="0"/>
              </a:spcAft>
              <a:buSzPts val="1200"/>
              <a:buFont typeface="Calibri"/>
              <a:buChar char="○"/>
            </a:pPr>
            <a:r>
              <a:rPr lang="en" sz="1000" b="1">
                <a:latin typeface="Roboto Mono"/>
                <a:ea typeface="Roboto Mono"/>
                <a:cs typeface="Roboto Mono"/>
                <a:sym typeface="Roboto Mono"/>
              </a:rPr>
              <a:t>165K in 2022                  </a:t>
            </a:r>
            <a:r>
              <a:rPr lang="en" sz="1200" i="0" u="sng" strike="noStrike" cap="none">
                <a:solidFill>
                  <a:srgbClr val="0097A7"/>
                </a:solidFill>
                <a:latin typeface="Calibri"/>
                <a:ea typeface="Calibri"/>
                <a:cs typeface="Calibri"/>
                <a:sym typeface="Calibri"/>
                <a:hlinkClick r:id="rId3">
                  <a:extLst>
                    <a:ext uri="{A12FA001-AC4F-418D-AE19-62706E023703}">
                      <ahyp:hlinkClr xmlns:ahyp="http://schemas.microsoft.com/office/drawing/2018/hyperlinkcolor" val="tx"/>
                    </a:ext>
                  </a:extLst>
                </a:hlinkClick>
              </a:rPr>
              <a:t>https://layoffs.fyi</a:t>
            </a:r>
            <a:endParaRPr sz="1200" i="0" u="none" strike="noStrike" cap="none">
              <a:solidFill>
                <a:srgbClr val="000000"/>
              </a:solidFill>
              <a:latin typeface="Calibri"/>
              <a:ea typeface="Calibri"/>
              <a:cs typeface="Calibri"/>
              <a:sym typeface="Calibri"/>
            </a:endParaRPr>
          </a:p>
        </p:txBody>
      </p:sp>
      <p:sp>
        <p:nvSpPr>
          <p:cNvPr id="363" name="Google Shape;363;p41"/>
          <p:cNvSpPr txBox="1"/>
          <p:nvPr/>
        </p:nvSpPr>
        <p:spPr>
          <a:xfrm>
            <a:off x="5162100" y="4228625"/>
            <a:ext cx="3946800" cy="757200"/>
          </a:xfrm>
          <a:prstGeom prst="rect">
            <a:avLst/>
          </a:prstGeom>
          <a:solidFill>
            <a:srgbClr val="FFF2CC"/>
          </a:solidFill>
          <a:ln w="9525" cap="flat" cmpd="sng">
            <a:solidFill>
              <a:srgbClr val="FF0000"/>
            </a:solidFill>
            <a:prstDash val="solid"/>
            <a:round/>
            <a:headEnd type="none" w="sm" len="sm"/>
            <a:tailEnd type="none" w="sm" len="sm"/>
          </a:ln>
        </p:spPr>
        <p:txBody>
          <a:bodyPr spcFirstLastPara="1" wrap="square" lIns="9125" tIns="9125" rIns="9125" bIns="9125" anchor="t" anchorCtr="0">
            <a:spAutoFit/>
          </a:bodyPr>
          <a:lstStyle/>
          <a:p>
            <a:pPr marL="0" lvl="0" indent="0" algn="l" rtl="0">
              <a:spcBef>
                <a:spcPts val="0"/>
              </a:spcBef>
              <a:spcAft>
                <a:spcPts val="0"/>
              </a:spcAft>
              <a:buNone/>
            </a:pPr>
            <a:r>
              <a:rPr lang="en" sz="1200" b="1">
                <a:solidFill>
                  <a:srgbClr val="FF0000"/>
                </a:solidFill>
                <a:latin typeface="Calibri"/>
                <a:ea typeface="Calibri"/>
                <a:cs typeface="Calibri"/>
                <a:sym typeface="Calibri"/>
              </a:rPr>
              <a:t>  The Tech Layoff Tracker</a:t>
            </a:r>
            <a:endParaRPr sz="1200" b="1">
              <a:solidFill>
                <a:srgbClr val="FF0000"/>
              </a:solidFill>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So far in 2025, 209,838 people laid off (596 per day)</a:t>
            </a:r>
            <a:endParaRPr sz="1200">
              <a:latin typeface="Calibri"/>
              <a:ea typeface="Calibri"/>
              <a:cs typeface="Calibri"/>
              <a:sym typeface="Calibri"/>
            </a:endParaRPr>
          </a:p>
          <a:p>
            <a:pPr marL="228600" lvl="0" indent="-133350" algn="l" rtl="0">
              <a:spcBef>
                <a:spcPts val="0"/>
              </a:spcBef>
              <a:spcAft>
                <a:spcPts val="0"/>
              </a:spcAft>
              <a:buSzPts val="1200"/>
              <a:buFont typeface="Calibri"/>
              <a:buChar char="●"/>
            </a:pPr>
            <a:r>
              <a:rPr lang="en" sz="1200">
                <a:latin typeface="Calibri"/>
                <a:ea typeface="Calibri"/>
                <a:cs typeface="Calibri"/>
                <a:sym typeface="Calibri"/>
              </a:rPr>
              <a:t>In 2024, 238,461 people </a:t>
            </a:r>
            <a:r>
              <a:rPr lang="en" sz="1200">
                <a:solidFill>
                  <a:schemeClr val="dk1"/>
                </a:solidFill>
                <a:latin typeface="Calibri"/>
                <a:ea typeface="Calibri"/>
                <a:cs typeface="Calibri"/>
                <a:sym typeface="Calibri"/>
              </a:rPr>
              <a:t>laid off</a:t>
            </a:r>
            <a:r>
              <a:rPr lang="en" sz="1200">
                <a:latin typeface="Calibri"/>
                <a:ea typeface="Calibri"/>
                <a:cs typeface="Calibri"/>
                <a:sym typeface="Calibri"/>
              </a:rPr>
              <a:t> (653 per day)</a:t>
            </a:r>
            <a:endParaRPr sz="1200">
              <a:latin typeface="Calibri"/>
              <a:ea typeface="Calibri"/>
              <a:cs typeface="Calibri"/>
              <a:sym typeface="Calibri"/>
            </a:endParaRPr>
          </a:p>
          <a:p>
            <a:pPr marL="228600" marR="460857" lvl="0" indent="-57150" algn="r" rtl="0">
              <a:spcBef>
                <a:spcPts val="0"/>
              </a:spcBef>
              <a:spcAft>
                <a:spcPts val="0"/>
              </a:spcAft>
              <a:buNone/>
            </a:pPr>
            <a:r>
              <a:rPr lang="en" sz="1200" u="sng">
                <a:solidFill>
                  <a:schemeClr val="hlink"/>
                </a:solidFill>
                <a:latin typeface="Calibri"/>
                <a:ea typeface="Calibri"/>
                <a:cs typeface="Calibri"/>
                <a:sym typeface="Calibri"/>
                <a:hlinkClick r:id="rId4"/>
              </a:rPr>
              <a:t>https://trueup.io/layoffs</a:t>
            </a:r>
            <a:endParaRPr sz="1200">
              <a:latin typeface="Calibri"/>
              <a:ea typeface="Calibri"/>
              <a:cs typeface="Calibri"/>
              <a:sym typeface="Calibri"/>
            </a:endParaRPr>
          </a:p>
        </p:txBody>
      </p:sp>
      <p:pic>
        <p:nvPicPr>
          <p:cNvPr id="364" name="Google Shape;364;p41"/>
          <p:cNvPicPr preferRelativeResize="0"/>
          <p:nvPr/>
        </p:nvPicPr>
        <p:blipFill>
          <a:blip r:embed="rId5" cstate="email">
            <a:alphaModFix/>
            <a:extLst>
              <a:ext uri="{28A0092B-C50C-407E-A947-70E740481C1C}">
                <a14:useLocalDpi xmlns:a14="http://schemas.microsoft.com/office/drawing/2010/main"/>
              </a:ext>
            </a:extLst>
          </a:blip>
          <a:stretch>
            <a:fillRect/>
          </a:stretch>
        </p:blipFill>
        <p:spPr>
          <a:xfrm>
            <a:off x="67350" y="499474"/>
            <a:ext cx="5030177" cy="1911114"/>
          </a:xfrm>
          <a:prstGeom prst="rect">
            <a:avLst/>
          </a:prstGeom>
          <a:noFill/>
          <a:ln w="9525" cap="flat" cmpd="sng">
            <a:solidFill>
              <a:srgbClr val="FF0000"/>
            </a:solidFill>
            <a:prstDash val="solid"/>
            <a:round/>
            <a:headEnd type="none" w="sm" len="sm"/>
            <a:tailEnd type="none" w="sm" len="sm"/>
          </a:ln>
        </p:spPr>
      </p:pic>
      <p:pic>
        <p:nvPicPr>
          <p:cNvPr id="365" name="Google Shape;365;p41"/>
          <p:cNvPicPr preferRelativeResize="0"/>
          <p:nvPr/>
        </p:nvPicPr>
        <p:blipFill>
          <a:blip r:embed="rId6" cstate="email">
            <a:alphaModFix/>
            <a:extLst>
              <a:ext uri="{28A0092B-C50C-407E-A947-70E740481C1C}">
                <a14:useLocalDpi xmlns:a14="http://schemas.microsoft.com/office/drawing/2010/main"/>
              </a:ext>
            </a:extLst>
          </a:blip>
          <a:stretch>
            <a:fillRect/>
          </a:stretch>
        </p:blipFill>
        <p:spPr>
          <a:xfrm>
            <a:off x="67350" y="2519365"/>
            <a:ext cx="5030175" cy="2580735"/>
          </a:xfrm>
          <a:prstGeom prst="rect">
            <a:avLst/>
          </a:prstGeom>
          <a:noFill/>
          <a:ln w="9525" cap="flat" cmpd="sng">
            <a:solidFill>
              <a:srgbClr val="FF0000"/>
            </a:solidFill>
            <a:prstDash val="solid"/>
            <a:round/>
            <a:headEnd type="none" w="sm" len="sm"/>
            <a:tailEnd type="none" w="sm" len="sm"/>
          </a:ln>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pic>
        <p:nvPicPr>
          <p:cNvPr id="370" name="Google Shape;370;p42"/>
          <p:cNvPicPr preferRelativeResize="0"/>
          <p:nvPr/>
        </p:nvPicPr>
        <p:blipFill rotWithShape="1">
          <a:blip r:embed="rId3" cstate="email">
            <a:alphaModFix/>
            <a:extLst>
              <a:ext uri="{28A0092B-C50C-407E-A947-70E740481C1C}">
                <a14:useLocalDpi xmlns:a14="http://schemas.microsoft.com/office/drawing/2010/main"/>
              </a:ext>
            </a:extLst>
          </a:blip>
          <a:srcRect/>
          <a:stretch/>
        </p:blipFill>
        <p:spPr>
          <a:xfrm>
            <a:off x="645525" y="1203525"/>
            <a:ext cx="1570556" cy="1570556"/>
          </a:xfrm>
          <a:prstGeom prst="rect">
            <a:avLst/>
          </a:prstGeom>
          <a:noFill/>
          <a:ln>
            <a:noFill/>
          </a:ln>
        </p:spPr>
      </p:pic>
      <p:sp>
        <p:nvSpPr>
          <p:cNvPr id="371" name="Google Shape;371;p42"/>
          <p:cNvSpPr txBox="1"/>
          <p:nvPr/>
        </p:nvSpPr>
        <p:spPr>
          <a:xfrm>
            <a:off x="-25625" y="-14775"/>
            <a:ext cx="3355800" cy="5694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2500"/>
              <a:buFont typeface="Arial"/>
              <a:buNone/>
            </a:pPr>
            <a:r>
              <a:rPr lang="en" sz="2500" b="1" i="0" u="none" strike="noStrike" cap="none">
                <a:solidFill>
                  <a:srgbClr val="000000"/>
                </a:solidFill>
                <a:latin typeface="Calibri"/>
                <a:ea typeface="Calibri"/>
                <a:cs typeface="Calibri"/>
                <a:sym typeface="Calibri"/>
              </a:rPr>
              <a:t>About the Speaker</a:t>
            </a:r>
            <a:endParaRPr sz="2500" b="1" i="0" u="none" strike="noStrike" cap="none">
              <a:solidFill>
                <a:srgbClr val="000000"/>
              </a:solidFill>
              <a:latin typeface="Calibri"/>
              <a:ea typeface="Calibri"/>
              <a:cs typeface="Calibri"/>
              <a:sym typeface="Calibri"/>
            </a:endParaRPr>
          </a:p>
        </p:txBody>
      </p:sp>
      <p:sp>
        <p:nvSpPr>
          <p:cNvPr id="372" name="Google Shape;372;p42"/>
          <p:cNvSpPr txBox="1"/>
          <p:nvPr/>
        </p:nvSpPr>
        <p:spPr>
          <a:xfrm>
            <a:off x="3330175" y="878750"/>
            <a:ext cx="5621700" cy="33093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chemeClr val="dk1"/>
              </a:buClr>
              <a:buSzPts val="1100"/>
              <a:buFont typeface="Arial"/>
              <a:buNone/>
            </a:pPr>
            <a:r>
              <a:rPr lang="en" sz="2500" b="1" i="0" u="none" strike="noStrike" cap="none">
                <a:solidFill>
                  <a:srgbClr val="000000"/>
                </a:solidFill>
                <a:latin typeface="Calibri"/>
                <a:ea typeface="Calibri"/>
                <a:cs typeface="Calibri"/>
                <a:sym typeface="Calibri"/>
              </a:rPr>
              <a:t>Lev Selector, Ph.D.</a:t>
            </a:r>
            <a:endParaRPr sz="2500" b="1"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8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40+ years of software engineering, data science, and building teams (hiring, training, and managing)</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Ph.D. in mathematical modeling and computer simulations</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chemeClr val="dk1"/>
              </a:buClr>
              <a:buSzPts val="11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Interests: </a:t>
            </a:r>
            <a:endParaRPr sz="1600" b="0" i="0" u="none" strike="noStrike" cap="none">
              <a:solidFill>
                <a:srgbClr val="000000"/>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chemeClr val="dk1"/>
                </a:solidFill>
                <a:latin typeface="Calibri"/>
                <a:ea typeface="Calibri"/>
                <a:cs typeface="Calibri"/>
                <a:sym typeface="Calibri"/>
              </a:rPr>
              <a:t>Generative AI, Using LLM with your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chemeClr val="dk1"/>
              </a:buClr>
              <a:buSzPts val="1600"/>
              <a:buFont typeface="Calibri"/>
              <a:buChar char="●"/>
            </a:pPr>
            <a:r>
              <a:rPr lang="en" sz="1600" b="0" i="0" u="none" strike="noStrike" cap="none">
                <a:solidFill>
                  <a:schemeClr val="dk1"/>
                </a:solidFill>
                <a:latin typeface="Calibri"/>
                <a:ea typeface="Calibri"/>
                <a:cs typeface="Calibri"/>
                <a:sym typeface="Calibri"/>
              </a:rPr>
              <a:t>Local AI for Local Private Data</a:t>
            </a:r>
            <a:endParaRPr sz="1600" b="0" i="0" u="none" strike="noStrike" cap="none">
              <a:solidFill>
                <a:schemeClr val="dk1"/>
              </a:solidFill>
              <a:latin typeface="Calibri"/>
              <a:ea typeface="Calibri"/>
              <a:cs typeface="Calibri"/>
              <a:sym typeface="Calibri"/>
            </a:endParaRPr>
          </a:p>
          <a:p>
            <a:pPr marL="457200" marR="0" lvl="0" indent="-330200" algn="l" rtl="0">
              <a:lnSpc>
                <a:spcPct val="100000"/>
              </a:lnSpc>
              <a:spcBef>
                <a:spcPts val="0"/>
              </a:spcBef>
              <a:spcAft>
                <a:spcPts val="0"/>
              </a:spcAft>
              <a:buClr>
                <a:srgbClr val="000000"/>
              </a:buClr>
              <a:buSzPts val="1600"/>
              <a:buFont typeface="Calibri"/>
              <a:buChar char="●"/>
            </a:pPr>
            <a:r>
              <a:rPr lang="en" sz="1600" b="0" i="0" u="none" strike="noStrike" cap="none">
                <a:solidFill>
                  <a:srgbClr val="000000"/>
                </a:solidFill>
                <a:latin typeface="Calibri"/>
                <a:ea typeface="Calibri"/>
                <a:cs typeface="Calibri"/>
                <a:sym typeface="Calibri"/>
              </a:rPr>
              <a:t>Cloud architecture, fin-tech, application security</a:t>
            </a: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endParaRPr sz="1600" b="0" i="0" u="none" strike="noStrike" cap="none">
              <a:solidFill>
                <a:srgbClr val="000000"/>
              </a:solidFill>
              <a:latin typeface="Calibri"/>
              <a:ea typeface="Calibri"/>
              <a:cs typeface="Calibri"/>
              <a:sym typeface="Calibri"/>
            </a:endParaRPr>
          </a:p>
          <a:p>
            <a:pPr marL="0" marR="0" lvl="0" indent="0" algn="l" rtl="0">
              <a:lnSpc>
                <a:spcPct val="100000"/>
              </a:lnSpc>
              <a:spcBef>
                <a:spcPts val="0"/>
              </a:spcBef>
              <a:spcAft>
                <a:spcPts val="0"/>
              </a:spcAft>
              <a:buClr>
                <a:srgbClr val="000000"/>
              </a:buClr>
              <a:buSzPts val="1600"/>
              <a:buFont typeface="Arial"/>
              <a:buNone/>
            </a:pPr>
            <a:r>
              <a:rPr lang="en" sz="1600" b="0" i="0" u="none" strike="noStrike" cap="none">
                <a:solidFill>
                  <a:srgbClr val="000000"/>
                </a:solidFill>
                <a:latin typeface="Calibri"/>
                <a:ea typeface="Calibri"/>
                <a:cs typeface="Calibri"/>
                <a:sym typeface="Calibri"/>
              </a:rPr>
              <a:t>Find/connect: Linkedin, GitHub, YouTube, Google</a:t>
            </a:r>
            <a:endParaRPr sz="1600" b="0" i="0" u="none" strike="noStrike" cap="none">
              <a:solidFill>
                <a:srgbClr val="000000"/>
              </a:solidFill>
              <a:latin typeface="Calibri"/>
              <a:ea typeface="Calibri"/>
              <a:cs typeface="Calibri"/>
              <a:sym typeface="Calibri"/>
            </a:endParaRPr>
          </a:p>
        </p:txBody>
      </p:sp>
      <p:pic>
        <p:nvPicPr>
          <p:cNvPr id="373" name="Google Shape;373;p42"/>
          <p:cNvPicPr preferRelativeResize="0"/>
          <p:nvPr/>
        </p:nvPicPr>
        <p:blipFill rotWithShape="1">
          <a:blip r:embed="rId4" cstate="email">
            <a:alphaModFix/>
            <a:extLst>
              <a:ext uri="{28A0092B-C50C-407E-A947-70E740481C1C}">
                <a14:useLocalDpi xmlns:a14="http://schemas.microsoft.com/office/drawing/2010/main"/>
              </a:ext>
            </a:extLst>
          </a:blip>
          <a:srcRect/>
          <a:stretch/>
        </p:blipFill>
        <p:spPr>
          <a:xfrm>
            <a:off x="1001578" y="3664175"/>
            <a:ext cx="858450" cy="311906"/>
          </a:xfrm>
          <a:prstGeom prst="rect">
            <a:avLst/>
          </a:prstGeom>
          <a:noFill/>
          <a:ln>
            <a:noFill/>
          </a:ln>
        </p:spPr>
      </p:pic>
      <p:sp>
        <p:nvSpPr>
          <p:cNvPr id="374" name="Google Shape;374;p42"/>
          <p:cNvSpPr txBox="1"/>
          <p:nvPr/>
        </p:nvSpPr>
        <p:spPr>
          <a:xfrm>
            <a:off x="735103" y="4005903"/>
            <a:ext cx="1391400" cy="431100"/>
          </a:xfrm>
          <a:prstGeom prst="rect">
            <a:avLst/>
          </a:prstGeom>
          <a:noFill/>
          <a:ln>
            <a:noFill/>
          </a:ln>
        </p:spPr>
        <p:txBody>
          <a:bodyPr spcFirstLastPara="1" wrap="square" lIns="91425" tIns="91425" rIns="91425" bIns="91425" anchor="t" anchorCtr="0">
            <a:spAutoFit/>
          </a:bodyPr>
          <a:lstStyle/>
          <a:p>
            <a:pPr marL="0" marR="0" lvl="0" indent="0" algn="l" rtl="0">
              <a:lnSpc>
                <a:spcPct val="100000"/>
              </a:lnSpc>
              <a:spcBef>
                <a:spcPts val="0"/>
              </a:spcBef>
              <a:spcAft>
                <a:spcPts val="0"/>
              </a:spcAft>
              <a:buClr>
                <a:srgbClr val="000000"/>
              </a:buClr>
              <a:buSzPts val="1600"/>
              <a:buFont typeface="Arial"/>
              <a:buNone/>
            </a:pPr>
            <a:r>
              <a:rPr lang="en" sz="1600" b="0" i="0" u="sng" strike="noStrike" cap="none">
                <a:solidFill>
                  <a:schemeClr val="hlink"/>
                </a:solidFill>
                <a:latin typeface="Calibri"/>
                <a:ea typeface="Calibri"/>
                <a:cs typeface="Calibri"/>
                <a:sym typeface="Calibri"/>
                <a:hlinkClick r:id="rId5"/>
              </a:rPr>
              <a:t>https://eais.ai</a:t>
            </a:r>
            <a:r>
              <a:rPr lang="en" sz="1600" b="0" i="0" u="none" strike="noStrike" cap="none">
                <a:solidFill>
                  <a:srgbClr val="000000"/>
                </a:solidFill>
                <a:latin typeface="Calibri"/>
                <a:ea typeface="Calibri"/>
                <a:cs typeface="Calibri"/>
                <a:sym typeface="Calibri"/>
              </a:rPr>
              <a:t> </a:t>
            </a:r>
            <a:endParaRPr sz="1600" b="0" i="0" u="none" strike="noStrike" cap="none">
              <a:solidFill>
                <a:srgbClr val="000000"/>
              </a:solidFill>
              <a:latin typeface="Calibri"/>
              <a:ea typeface="Calibri"/>
              <a:cs typeface="Calibri"/>
              <a:sym typeface="Calibri"/>
            </a:endParaRPr>
          </a:p>
        </p:txBody>
      </p:sp>
      <p:sp>
        <p:nvSpPr>
          <p:cNvPr id="375" name="Google Shape;375;p42"/>
          <p:cNvSpPr txBox="1"/>
          <p:nvPr/>
        </p:nvSpPr>
        <p:spPr>
          <a:xfrm>
            <a:off x="383803" y="4360974"/>
            <a:ext cx="2094000" cy="431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chemeClr val="dk1"/>
              </a:buClr>
              <a:buSzPts val="1100"/>
              <a:buFont typeface="Arial"/>
              <a:buNone/>
            </a:pPr>
            <a:r>
              <a:rPr lang="en" sz="1600" b="0" i="0" u="none" strike="noStrike" cap="none">
                <a:solidFill>
                  <a:srgbClr val="000000"/>
                </a:solidFill>
                <a:latin typeface="Calibri"/>
                <a:ea typeface="Calibri"/>
                <a:cs typeface="Calibri"/>
                <a:sym typeface="Calibri"/>
              </a:rPr>
              <a:t>Enterprise AI Systems</a:t>
            </a:r>
            <a:endParaRPr sz="1600" b="0" i="0" u="none" strike="noStrike" cap="none">
              <a:solidFill>
                <a:srgbClr val="000000"/>
              </a:solidFill>
              <a:latin typeface="Calibri"/>
              <a:ea typeface="Calibri"/>
              <a:cs typeface="Calibri"/>
              <a:sym typeface="Calibri"/>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79"/>
        <p:cNvGrpSpPr/>
        <p:nvPr/>
      </p:nvGrpSpPr>
      <p:grpSpPr>
        <a:xfrm>
          <a:off x="0" y="0"/>
          <a:ext cx="0" cy="0"/>
          <a:chOff x="0" y="0"/>
          <a:chExt cx="0" cy="0"/>
        </a:xfrm>
      </p:grpSpPr>
      <p:sp>
        <p:nvSpPr>
          <p:cNvPr id="380" name="Google Shape;380;p43"/>
          <p:cNvSpPr txBox="1"/>
          <p:nvPr/>
        </p:nvSpPr>
        <p:spPr>
          <a:xfrm>
            <a:off x="2151375" y="1533150"/>
            <a:ext cx="4632600" cy="1262100"/>
          </a:xfrm>
          <a:prstGeom prst="rect">
            <a:avLst/>
          </a:prstGeom>
          <a:noFill/>
          <a:ln>
            <a:noFill/>
          </a:ln>
        </p:spPr>
        <p:txBody>
          <a:bodyPr spcFirstLastPara="1" wrap="square" lIns="91425" tIns="91425" rIns="91425" bIns="91425" anchor="t" anchorCtr="0">
            <a:spAutoFit/>
          </a:bodyPr>
          <a:lstStyle/>
          <a:p>
            <a:pPr marL="0" marR="0" lvl="0" indent="0" algn="ctr" rtl="0">
              <a:lnSpc>
                <a:spcPct val="100000"/>
              </a:lnSpc>
              <a:spcBef>
                <a:spcPts val="0"/>
              </a:spcBef>
              <a:spcAft>
                <a:spcPts val="0"/>
              </a:spcAft>
              <a:buClr>
                <a:srgbClr val="000000"/>
              </a:buClr>
              <a:buSzPts val="7000"/>
              <a:buFont typeface="Arial"/>
              <a:buNone/>
            </a:pPr>
            <a:r>
              <a:rPr lang="en" sz="7000" b="1" i="0" u="none" strike="noStrike" cap="none">
                <a:solidFill>
                  <a:srgbClr val="3C78D8"/>
                </a:solidFill>
                <a:latin typeface="Calibri"/>
                <a:ea typeface="Calibri"/>
                <a:cs typeface="Calibri"/>
                <a:sym typeface="Calibri"/>
              </a:rPr>
              <a:t>Thank You!</a:t>
            </a:r>
            <a:endParaRPr sz="7000" b="1" i="0" u="none" strike="noStrike" cap="none">
              <a:solidFill>
                <a:srgbClr val="3C78D8"/>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6125</Words>
  <Application>Microsoft Macintosh PowerPoint</Application>
  <PresentationFormat>On-screen Show (16:9)</PresentationFormat>
  <Paragraphs>514</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Roboto Mono</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Lev Selector</cp:lastModifiedBy>
  <cp:revision>1</cp:revision>
  <dcterms:modified xsi:type="dcterms:W3CDTF">2025-12-19T03:17:51Z</dcterms:modified>
</cp:coreProperties>
</file>