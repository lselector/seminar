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2dabfa5729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 name="Google Shape;55;g2dabfa5729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2da8644c23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 name="Google Shape;74;g2da8644c23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d2a41362bd_1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7" name="Google Shape;87;g2d2a41362bd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1f80c797b9f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1f80c797b9f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2d2a40d085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g2d2a40d085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2db2d87ec4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2db2d87ec4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d2a41362b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g2d2a41362b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da63b0115c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2da63b0115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2dac8b00e2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2dac8b00e21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2d2a41362b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2d2a41362bd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d9dfb3520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2d9dfb3520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a6580628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2da6580628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1f80c797b9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1f80c797b9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rtl="0">
              <a:spcBef>
                <a:spcPts val="0"/>
              </a:spcBef>
              <a:spcAft>
                <a:spcPts val="0"/>
              </a:spcAft>
              <a:buSzPts val="2800"/>
              <a:buNone/>
              <a:defRPr/>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rtl="0">
              <a:spcBef>
                <a:spcPts val="0"/>
              </a:spcBef>
              <a:spcAft>
                <a:spcPts val="0"/>
              </a:spcAft>
              <a:buSzPts val="1800"/>
              <a:buNone/>
              <a:defRPr/>
            </a:lvl1pPr>
            <a:lvl2pPr marL="914400" lvl="1" indent="-228600" algn="l" rtl="0">
              <a:spcBef>
                <a:spcPts val="0"/>
              </a:spcBef>
              <a:spcAft>
                <a:spcPts val="0"/>
              </a:spcAft>
              <a:buSzPts val="1400"/>
              <a:buNone/>
              <a:defRPr/>
            </a:lvl2pPr>
            <a:lvl3pPr marL="1371600" lvl="2" indent="-228600" algn="l" rtl="0">
              <a:spcBef>
                <a:spcPts val="0"/>
              </a:spcBef>
              <a:spcAft>
                <a:spcPts val="0"/>
              </a:spcAft>
              <a:buSzPts val="1400"/>
              <a:buNone/>
              <a:defRPr/>
            </a:lvl3pPr>
            <a:lvl4pPr marL="1828800" lvl="3" indent="-228600" algn="l" rtl="0">
              <a:spcBef>
                <a:spcPts val="0"/>
              </a:spcBef>
              <a:spcAft>
                <a:spcPts val="0"/>
              </a:spcAft>
              <a:buSzPts val="1400"/>
              <a:buNone/>
              <a:defRPr/>
            </a:lvl4pPr>
            <a:lvl5pPr marL="2286000" lvl="4" indent="-228600" algn="l" rtl="0">
              <a:spcBef>
                <a:spcPts val="0"/>
              </a:spcBef>
              <a:spcAft>
                <a:spcPts val="0"/>
              </a:spcAft>
              <a:buSzPts val="1400"/>
              <a:buNone/>
              <a:defRPr/>
            </a:lvl5pPr>
            <a:lvl6pPr marL="2743200" lvl="5" indent="-228600" algn="l" rtl="0">
              <a:spcBef>
                <a:spcPts val="0"/>
              </a:spcBef>
              <a:spcAft>
                <a:spcPts val="0"/>
              </a:spcAft>
              <a:buSzPts val="1400"/>
              <a:buNone/>
              <a:defRPr/>
            </a:lvl6pPr>
            <a:lvl7pPr marL="3200400" lvl="6" indent="-228600" algn="l" rtl="0">
              <a:spcBef>
                <a:spcPts val="0"/>
              </a:spcBef>
              <a:spcAft>
                <a:spcPts val="0"/>
              </a:spcAft>
              <a:buSzPts val="1400"/>
              <a:buNone/>
              <a:defRPr/>
            </a:lvl7pPr>
            <a:lvl8pPr marL="3657600" lvl="7" indent="-228600" algn="l" rtl="0">
              <a:spcBef>
                <a:spcPts val="0"/>
              </a:spcBef>
              <a:spcAft>
                <a:spcPts val="0"/>
              </a:spcAft>
              <a:buSzPts val="1400"/>
              <a:buNone/>
              <a:defRPr/>
            </a:lvl8pPr>
            <a:lvl9pPr marL="4114800" lvl="8" indent="-228600" algn="l" rtl="0">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riccardomusmeci/mlx-llm" TargetMode="External"/><Relationship Id="rId3" Type="http://schemas.openxmlformats.org/officeDocument/2006/relationships/hyperlink" Target="https://www.apple.com/newsroom/2024/05/apple-introduces-m4-chip/" TargetMode="External"/><Relationship Id="rId7" Type="http://schemas.openxmlformats.org/officeDocument/2006/relationships/hyperlink" Target="https://github.com/ml-explore/ml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4.png"/><Relationship Id="rId5" Type="http://schemas.openxmlformats.org/officeDocument/2006/relationships/image" Target="../media/image2.png"/><Relationship Id="rId10" Type="http://schemas.openxmlformats.org/officeDocument/2006/relationships/hyperlink" Target="https://huggingface.co/mlx-community" TargetMode="External"/><Relationship Id="rId4" Type="http://schemas.openxmlformats.org/officeDocument/2006/relationships/image" Target="../media/image1.png"/><Relationship Id="rId9" Type="http://schemas.openxmlformats.org/officeDocument/2006/relationships/hyperlink" Target="https://github.com/ml-explore/mlx-example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hyperlink" Target="https://copilot.microsoft.com" TargetMode="External"/><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search.openai.com" TargetMode="External"/><Relationship Id="rId5" Type="http://schemas.openxmlformats.org/officeDocument/2006/relationships/hyperlink" Target="https://learn.microsoft.com/en-us/copilot/faq" TargetMode="External"/><Relationship Id="rId4" Type="http://schemas.openxmlformats.org/officeDocument/2006/relationships/hyperlink" Target="https://www.bing.com/chat"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arxiv.org/pdf/2405.00332"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F9cO3-MLHO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openai.com/index/reimagining-secure-infrastructure-for-advanced-ai/" TargetMode="External"/><Relationship Id="rId5" Type="http://schemas.openxmlformats.org/officeDocument/2006/relationships/image" Target="../media/image9.png"/><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KcbTbTxPMLc"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lselector/ai"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gvByePmV3sA"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youtube.com/watch?v=I40JZGcfgtk" TargetMode="External"/><Relationship Id="rId5" Type="http://schemas.openxmlformats.org/officeDocument/2006/relationships/hyperlink" Target="https://www.youtube.com/watch?v=-d6oXmvEvZQ" TargetMode="External"/><Relationship Id="rId4" Type="http://schemas.openxmlformats.org/officeDocument/2006/relationships/hyperlink" Target="https://www.youtube.com/watch?v=H1CaGhYvCqU"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BMndJYa_Kb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www.cnbc.com/2024/05/04/warren-buffett-says-ai-scamming-will-be-the-next-big-growth-industry.html" TargetMode="External"/><Relationship Id="rId7" Type="http://schemas.openxmlformats.org/officeDocument/2006/relationships/hyperlink" Target="https://www.youtube.com/watch?v=Mz7Qp73lj9o"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nature.com/articles/s41586-024-07487-w" TargetMode="External"/><Relationship Id="rId5" Type="http://schemas.openxmlformats.org/officeDocument/2006/relationships/hyperlink" Target="https://blog.google/technology/ai/google-deepmind-isomorphic-alphafold-3-ai-model/" TargetMode="External"/><Relationship Id="rId4" Type="http://schemas.openxmlformats.org/officeDocument/2006/relationships/hyperlink" Target="https://github.com/VinciGit00/Scrapegraph-ai" TargetMode="External"/><Relationship Id="rId9" Type="http://schemas.openxmlformats.org/officeDocument/2006/relationships/hyperlink" Target="https://github.com/zzzhang-jx/docres"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github.com/deepseek-ai" TargetMode="External"/><Relationship Id="rId3" Type="http://schemas.openxmlformats.org/officeDocument/2006/relationships/hyperlink" Target="https://openai.com/index/introducing-the-model-spec/" TargetMode="External"/><Relationship Id="rId7" Type="http://schemas.openxmlformats.org/officeDocument/2006/relationships/hyperlink" Target="https://www.deepseek.co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techcrunch.com/2024/05/09/sources-mistral-ai-raising-at-a-6b-valuation-softbank-not-in-but-dst-is/" TargetMode="External"/><Relationship Id="rId4" Type="http://schemas.openxmlformats.org/officeDocument/2006/relationships/hyperlink" Target="https://www.deeplearning.ai/short-courses/building-agentic-rag-with-llamaindex/"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chat.lmsys.org/?leaderboard" TargetMode="External"/><Relationship Id="rId7"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hyperlink" Target="https://layoffs.fyi"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p:cNvGrpSpPr/>
        <p:nvPr/>
      </p:nvGrpSpPr>
      <p:grpSpPr>
        <a:xfrm>
          <a:off x="0" y="0"/>
          <a:ext cx="0" cy="0"/>
          <a:chOff x="0" y="0"/>
          <a:chExt cx="0" cy="0"/>
        </a:xfrm>
      </p:grpSpPr>
      <p:sp>
        <p:nvSpPr>
          <p:cNvPr id="57" name="Google Shape;57;p14"/>
          <p:cNvSpPr/>
          <p:nvPr/>
        </p:nvSpPr>
        <p:spPr>
          <a:xfrm>
            <a:off x="67025" y="1290075"/>
            <a:ext cx="8996700" cy="2345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8" name="Google Shape;58;p14"/>
          <p:cNvSpPr txBox="1"/>
          <p:nvPr/>
        </p:nvSpPr>
        <p:spPr>
          <a:xfrm>
            <a:off x="2938475" y="4656975"/>
            <a:ext cx="3355800" cy="3879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May 10</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
        <p:nvSpPr>
          <p:cNvPr id="59" name="Google Shape;59;p14"/>
          <p:cNvSpPr txBox="1"/>
          <p:nvPr/>
        </p:nvSpPr>
        <p:spPr>
          <a:xfrm>
            <a:off x="513425" y="1347375"/>
            <a:ext cx="8205900" cy="1865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6000" b="1">
                <a:solidFill>
                  <a:srgbClr val="3C78D8"/>
                </a:solidFill>
                <a:latin typeface="Calibri"/>
                <a:ea typeface="Calibri"/>
                <a:cs typeface="Calibri"/>
                <a:sym typeface="Calibri"/>
              </a:rPr>
              <a:t>Have you heard </a:t>
            </a:r>
            <a:endParaRPr sz="6000" b="1">
              <a:solidFill>
                <a:srgbClr val="3C78D8"/>
              </a:solidFill>
              <a:latin typeface="Calibri"/>
              <a:ea typeface="Calibri"/>
              <a:cs typeface="Calibri"/>
              <a:sym typeface="Calibri"/>
            </a:endParaRPr>
          </a:p>
          <a:p>
            <a:pPr marL="0" lvl="0" indent="0" algn="ctr" rtl="0">
              <a:spcBef>
                <a:spcPts val="0"/>
              </a:spcBef>
              <a:spcAft>
                <a:spcPts val="0"/>
              </a:spcAft>
              <a:buClr>
                <a:schemeClr val="dk1"/>
              </a:buClr>
              <a:buSzPts val="1100"/>
              <a:buFont typeface="Arial"/>
              <a:buNone/>
            </a:pPr>
            <a:r>
              <a:rPr lang="en" sz="6000" b="1">
                <a:solidFill>
                  <a:srgbClr val="3C78D8"/>
                </a:solidFill>
                <a:latin typeface="Calibri"/>
                <a:ea typeface="Calibri"/>
                <a:cs typeface="Calibri"/>
                <a:sym typeface="Calibri"/>
              </a:rPr>
              <a:t>these exciting AI news !?</a:t>
            </a:r>
            <a:endParaRPr sz="6000" b="1" i="0" u="none" strike="noStrike" cap="none">
              <a:solidFill>
                <a:srgbClr val="3C78D8"/>
              </a:solidFill>
              <a:latin typeface="Calibri"/>
              <a:ea typeface="Calibri"/>
              <a:cs typeface="Calibri"/>
              <a:sym typeface="Calibri"/>
            </a:endParaRPr>
          </a:p>
        </p:txBody>
      </p:sp>
      <p:sp>
        <p:nvSpPr>
          <p:cNvPr id="60" name="Google Shape;60;p14"/>
          <p:cNvSpPr txBox="1"/>
          <p:nvPr/>
        </p:nvSpPr>
        <p:spPr>
          <a:xfrm rot="665366">
            <a:off x="5484042" y="616958"/>
            <a:ext cx="3546826" cy="449384"/>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800" b="1">
                <a:solidFill>
                  <a:srgbClr val="FF00FF"/>
                </a:solidFill>
                <a:latin typeface="Calibri"/>
                <a:ea typeface="Calibri"/>
                <a:cs typeface="Calibri"/>
                <a:sym typeface="Calibri"/>
              </a:rPr>
              <a:t>AI on Apple M4 Chip</a:t>
            </a:r>
            <a:endParaRPr sz="2800" b="1" i="0" u="none" strike="noStrike" cap="none">
              <a:solidFill>
                <a:srgbClr val="FF00FF"/>
              </a:solidFill>
              <a:latin typeface="Calibri"/>
              <a:ea typeface="Calibri"/>
              <a:cs typeface="Calibri"/>
              <a:sym typeface="Calibri"/>
            </a:endParaRPr>
          </a:p>
        </p:txBody>
      </p:sp>
      <p:sp>
        <p:nvSpPr>
          <p:cNvPr id="61" name="Google Shape;61;p14"/>
          <p:cNvSpPr txBox="1"/>
          <p:nvPr/>
        </p:nvSpPr>
        <p:spPr>
          <a:xfrm rot="-937620">
            <a:off x="177512" y="466658"/>
            <a:ext cx="2387762" cy="757294"/>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2400"/>
              <a:buFont typeface="Arial"/>
              <a:buNone/>
            </a:pPr>
            <a:r>
              <a:rPr lang="en" sz="2400" b="1">
                <a:solidFill>
                  <a:srgbClr val="CC4125"/>
                </a:solidFill>
                <a:latin typeface="Calibri"/>
                <a:ea typeface="Calibri"/>
                <a:cs typeface="Calibri"/>
                <a:sym typeface="Calibri"/>
              </a:rPr>
              <a:t>Microsoft MAI-1</a:t>
            </a:r>
            <a:endParaRPr sz="2400" b="1">
              <a:solidFill>
                <a:srgbClr val="CC4125"/>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CC4125"/>
                </a:solidFill>
                <a:latin typeface="Calibri"/>
                <a:ea typeface="Calibri"/>
                <a:cs typeface="Calibri"/>
                <a:sym typeface="Calibri"/>
              </a:rPr>
              <a:t>500B</a:t>
            </a:r>
            <a:endParaRPr sz="2400" b="1">
              <a:solidFill>
                <a:srgbClr val="CC4125"/>
              </a:solidFill>
              <a:latin typeface="Calibri"/>
              <a:ea typeface="Calibri"/>
              <a:cs typeface="Calibri"/>
              <a:sym typeface="Calibri"/>
            </a:endParaRPr>
          </a:p>
        </p:txBody>
      </p:sp>
      <p:sp>
        <p:nvSpPr>
          <p:cNvPr id="62" name="Google Shape;62;p14"/>
          <p:cNvSpPr txBox="1"/>
          <p:nvPr/>
        </p:nvSpPr>
        <p:spPr>
          <a:xfrm rot="-359082">
            <a:off x="5560072" y="3481777"/>
            <a:ext cx="3331960" cy="449443"/>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800" b="1">
                <a:solidFill>
                  <a:srgbClr val="38761D"/>
                </a:solidFill>
                <a:latin typeface="Calibri"/>
                <a:ea typeface="Calibri"/>
                <a:cs typeface="Calibri"/>
                <a:sym typeface="Calibri"/>
              </a:rPr>
              <a:t>AI Web-Search Wars</a:t>
            </a:r>
            <a:endParaRPr sz="2800" b="1">
              <a:solidFill>
                <a:srgbClr val="38761D"/>
              </a:solidFill>
              <a:latin typeface="Calibri"/>
              <a:ea typeface="Calibri"/>
              <a:cs typeface="Calibri"/>
              <a:sym typeface="Calibri"/>
            </a:endParaRPr>
          </a:p>
        </p:txBody>
      </p:sp>
      <p:sp>
        <p:nvSpPr>
          <p:cNvPr id="63" name="Google Shape;63;p14"/>
          <p:cNvSpPr txBox="1"/>
          <p:nvPr/>
        </p:nvSpPr>
        <p:spPr>
          <a:xfrm rot="913586">
            <a:off x="263004" y="3729028"/>
            <a:ext cx="2732317" cy="757384"/>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400" b="1" i="1">
                <a:solidFill>
                  <a:srgbClr val="FF0000"/>
                </a:solidFill>
                <a:latin typeface="Calibri"/>
                <a:ea typeface="Calibri"/>
                <a:cs typeface="Calibri"/>
                <a:sym typeface="Calibri"/>
              </a:rPr>
              <a:t>Yoshua Bengio </a:t>
            </a:r>
            <a:endParaRPr sz="2400" b="1" i="1">
              <a:solidFill>
                <a:srgbClr val="FF0000"/>
              </a:solidFill>
              <a:latin typeface="Calibri"/>
              <a:ea typeface="Calibri"/>
              <a:cs typeface="Calibri"/>
              <a:sym typeface="Calibri"/>
            </a:endParaRPr>
          </a:p>
          <a:p>
            <a:pPr marL="0" lvl="0" indent="0" algn="ctr" rtl="0">
              <a:spcBef>
                <a:spcPts val="0"/>
              </a:spcBef>
              <a:spcAft>
                <a:spcPts val="0"/>
              </a:spcAft>
              <a:buClr>
                <a:schemeClr val="dk1"/>
              </a:buClr>
              <a:buSzPts val="1100"/>
              <a:buFont typeface="Arial"/>
              <a:buNone/>
            </a:pPr>
            <a:r>
              <a:rPr lang="en" sz="2400" b="1" i="1">
                <a:solidFill>
                  <a:srgbClr val="FF0000"/>
                </a:solidFill>
                <a:latin typeface="Calibri"/>
                <a:ea typeface="Calibri"/>
                <a:cs typeface="Calibri"/>
                <a:sym typeface="Calibri"/>
              </a:rPr>
              <a:t>Fears of AI Future</a:t>
            </a:r>
            <a:endParaRPr sz="2400" b="1" i="1">
              <a:solidFill>
                <a:srgbClr val="FF0000"/>
              </a:solidFill>
              <a:latin typeface="Calibri"/>
              <a:ea typeface="Calibri"/>
              <a:cs typeface="Calibri"/>
              <a:sym typeface="Calibri"/>
            </a:endParaRPr>
          </a:p>
        </p:txBody>
      </p:sp>
      <p:sp>
        <p:nvSpPr>
          <p:cNvPr id="64" name="Google Shape;64;p14"/>
          <p:cNvSpPr txBox="1"/>
          <p:nvPr/>
        </p:nvSpPr>
        <p:spPr>
          <a:xfrm rot="597090">
            <a:off x="6031975" y="4484010"/>
            <a:ext cx="2732411" cy="326213"/>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2000" b="1">
                <a:solidFill>
                  <a:srgbClr val="CC4125"/>
                </a:solidFill>
                <a:latin typeface="Calibri"/>
                <a:ea typeface="Calibri"/>
                <a:cs typeface="Calibri"/>
                <a:sym typeface="Calibri"/>
              </a:rPr>
              <a:t>OpenAI + Stack Overflow</a:t>
            </a:r>
            <a:endParaRPr sz="2000" b="1">
              <a:solidFill>
                <a:srgbClr val="CC4125"/>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5"/>
          <p:cNvSpPr txBox="1"/>
          <p:nvPr/>
        </p:nvSpPr>
        <p:spPr>
          <a:xfrm>
            <a:off x="128210" y="1432625"/>
            <a:ext cx="4420200" cy="2724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Apple M4 Chip - Available in iPad Pro on May 15</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Microsoft MAI-1</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AI-enabled Web Search</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Large LLMs are better at "generalizing"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Regulatory Capture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Yoshua Bengio - Fears About the Future of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My "ai" GitHub repo - LLM &amp; RAG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Most profitable business ideas with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Information Overload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Selling Information Stopped Working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will use Stack Overflow's OverflowAPI </a:t>
            </a:r>
            <a:endParaRPr sz="1500" b="1">
              <a:solidFill>
                <a:srgbClr val="3C78D8"/>
              </a:solidFill>
              <a:latin typeface="Calibri"/>
              <a:ea typeface="Calibri"/>
              <a:cs typeface="Calibri"/>
              <a:sym typeface="Calibri"/>
            </a:endParaRPr>
          </a:p>
        </p:txBody>
      </p:sp>
      <p:sp>
        <p:nvSpPr>
          <p:cNvPr id="70" name="Google Shape;70;p15"/>
          <p:cNvSpPr txBox="1"/>
          <p:nvPr/>
        </p:nvSpPr>
        <p:spPr>
          <a:xfrm>
            <a:off x="4641310" y="1438919"/>
            <a:ext cx="4420200" cy="2955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Warren Buffett warns about AI scamming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X.ai Grok + X.com - merge live news with social media commentary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ScrapeGraphAI - web scraping using 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DocRes - Document Image Restoration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DeepMind AlphaFold 3</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DeepSeek-V2, open-source, 236B, ~GPT-4</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Public Model Specification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Mistral AI valued at $6 Billion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DeepLearning.ai - Agentic RAG Course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Tech Layoffs were lower than in 2023</a:t>
            </a:r>
            <a:endParaRPr sz="1500" b="1">
              <a:solidFill>
                <a:srgbClr val="3C78D8"/>
              </a:solidFill>
              <a:latin typeface="Calibri"/>
              <a:ea typeface="Calibri"/>
              <a:cs typeface="Calibri"/>
              <a:sym typeface="Calibri"/>
            </a:endParaRPr>
          </a:p>
        </p:txBody>
      </p:sp>
      <p:sp>
        <p:nvSpPr>
          <p:cNvPr id="71" name="Google Shape;71;p15"/>
          <p:cNvSpPr txBox="1"/>
          <p:nvPr/>
        </p:nvSpPr>
        <p:spPr>
          <a:xfrm>
            <a:off x="3302400" y="0"/>
            <a:ext cx="25392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Calibri"/>
                <a:ea typeface="Calibri"/>
                <a:cs typeface="Calibri"/>
                <a:sym typeface="Calibri"/>
              </a:rPr>
              <a:t>AI Updates </a:t>
            </a:r>
            <a:endParaRPr sz="3600" b="1" i="0" u="none" strike="noStrike" cap="none">
              <a:solidFill>
                <a:srgbClr val="3C78D8"/>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400"/>
              <a:buFont typeface="Arial"/>
              <a:buNone/>
            </a:pPr>
            <a:r>
              <a:rPr lang="en" sz="2400" b="1">
                <a:solidFill>
                  <a:srgbClr val="3C78D8"/>
                </a:solidFill>
                <a:latin typeface="Calibri"/>
                <a:ea typeface="Calibri"/>
                <a:cs typeface="Calibri"/>
                <a:sym typeface="Calibri"/>
              </a:rPr>
              <a:t>May 10</a:t>
            </a:r>
            <a:r>
              <a:rPr lang="en" sz="2400" b="1" i="0" u="none" strike="noStrike" cap="none">
                <a:solidFill>
                  <a:srgbClr val="3C78D8"/>
                </a:solidFill>
                <a:latin typeface="Calibri"/>
                <a:ea typeface="Calibri"/>
                <a:cs typeface="Calibri"/>
                <a:sym typeface="Calibri"/>
              </a:rPr>
              <a:t>, 2024</a:t>
            </a:r>
            <a:endParaRPr sz="2400" b="1" i="0" u="none" strike="noStrike" cap="none">
              <a:solidFill>
                <a:srgbClr val="3C78D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6"/>
          <p:cNvSpPr txBox="1"/>
          <p:nvPr/>
        </p:nvSpPr>
        <p:spPr>
          <a:xfrm>
            <a:off x="78050" y="405837"/>
            <a:ext cx="4392000" cy="117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Apple introduces M4 chip:</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https://www.apple.com/newsroom/2024/05/apple-introduces-m4-chip/</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Apple Silicon Chips becoming more focused on AI. Apple has been steadily enhancing the Neural Engine in each generation of its chips. This dedicated part of the chip accelerates AI and machine learning workloads. </a:t>
            </a:r>
            <a:endParaRPr sz="1300">
              <a:solidFill>
                <a:schemeClr val="dk1"/>
              </a:solidFill>
              <a:latin typeface="Calibri"/>
              <a:ea typeface="Calibri"/>
              <a:cs typeface="Calibri"/>
              <a:sym typeface="Calibri"/>
            </a:endParaRPr>
          </a:p>
        </p:txBody>
      </p:sp>
      <p:sp>
        <p:nvSpPr>
          <p:cNvPr id="77" name="Google Shape;77;p16"/>
          <p:cNvSpPr txBox="1"/>
          <p:nvPr/>
        </p:nvSpPr>
        <p:spPr>
          <a:xfrm>
            <a:off x="-38050" y="-108050"/>
            <a:ext cx="5611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Apple M4 Chip - Available in iPad Pro on May 15th</a:t>
            </a:r>
            <a:endParaRPr sz="2000" b="1" i="0" u="none" strike="noStrike" cap="none">
              <a:solidFill>
                <a:srgbClr val="000000"/>
              </a:solidFill>
              <a:latin typeface="Calibri"/>
              <a:ea typeface="Calibri"/>
              <a:cs typeface="Calibri"/>
              <a:sym typeface="Calibri"/>
            </a:endParaRPr>
          </a:p>
        </p:txBody>
      </p:sp>
      <p:sp>
        <p:nvSpPr>
          <p:cNvPr id="78" name="Google Shape;78;p16"/>
          <p:cNvSpPr txBox="1"/>
          <p:nvPr/>
        </p:nvSpPr>
        <p:spPr>
          <a:xfrm>
            <a:off x="4638225" y="384550"/>
            <a:ext cx="4392000" cy="342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M4 series of chips are claimed to be ~ 30% more capable than M3 series - especially for AI operations. </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Apple M4 is the 4rth generation of Apple Silicone Chip.</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It is a SoC (System on a Chip): CPU, GPU, Memory, and Neural Engine - all on one chip.</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It is ARM based. ARM = (Advanced RISC Machine)</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RISC = (Reduced Instruction Set Computer)</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Arm Holdings Plc. is a British semiconductor and software design company based in Cambridge, England. They design the ARM instruction set architectures (the fundamental blueprints for processors), which they license to other companies. founded in 1990, approx 6,000 employees.</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first M4 SoC in iPad Pro is capable of 38 trillion operations per second, it uses 3 nm technology, has 4 performance cores, 6 efficiency cores, and 10 graphics processing cores, 8-16 GB memory</a:t>
            </a:r>
            <a:endParaRPr sz="1300">
              <a:solidFill>
                <a:schemeClr val="dk1"/>
              </a:solidFill>
              <a:latin typeface="Calibri"/>
              <a:ea typeface="Calibri"/>
              <a:cs typeface="Calibri"/>
              <a:sym typeface="Calibri"/>
            </a:endParaRPr>
          </a:p>
        </p:txBody>
      </p:sp>
      <p:pic>
        <p:nvPicPr>
          <p:cNvPr id="79" name="Google Shape;79;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81898" y="3881050"/>
            <a:ext cx="908126" cy="613165"/>
          </a:xfrm>
          <a:prstGeom prst="rect">
            <a:avLst/>
          </a:prstGeom>
          <a:noFill/>
          <a:ln>
            <a:noFill/>
          </a:ln>
        </p:spPr>
      </p:pic>
      <p:pic>
        <p:nvPicPr>
          <p:cNvPr id="80" name="Google Shape;80;p1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566225" y="3881049"/>
            <a:ext cx="908124" cy="624775"/>
          </a:xfrm>
          <a:prstGeom prst="rect">
            <a:avLst/>
          </a:prstGeom>
          <a:noFill/>
          <a:ln>
            <a:noFill/>
          </a:ln>
        </p:spPr>
      </p:pic>
      <p:sp>
        <p:nvSpPr>
          <p:cNvPr id="81" name="Google Shape;81;p16"/>
          <p:cNvSpPr txBox="1"/>
          <p:nvPr/>
        </p:nvSpPr>
        <p:spPr>
          <a:xfrm>
            <a:off x="8024525" y="4883223"/>
            <a:ext cx="10545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Arm Holdings</a:t>
            </a:r>
            <a:endParaRPr sz="1300">
              <a:solidFill>
                <a:schemeClr val="dk1"/>
              </a:solidFill>
              <a:latin typeface="Calibri"/>
              <a:ea typeface="Calibri"/>
              <a:cs typeface="Calibri"/>
              <a:sym typeface="Calibri"/>
            </a:endParaRPr>
          </a:p>
        </p:txBody>
      </p:sp>
      <p:pic>
        <p:nvPicPr>
          <p:cNvPr id="82" name="Google Shape;82;p1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637076" y="3850611"/>
            <a:ext cx="1393152" cy="1044849"/>
          </a:xfrm>
          <a:prstGeom prst="rect">
            <a:avLst/>
          </a:prstGeom>
          <a:noFill/>
          <a:ln>
            <a:noFill/>
          </a:ln>
        </p:spPr>
      </p:pic>
      <p:sp>
        <p:nvSpPr>
          <p:cNvPr id="83" name="Google Shape;83;p16"/>
          <p:cNvSpPr txBox="1"/>
          <p:nvPr/>
        </p:nvSpPr>
        <p:spPr>
          <a:xfrm>
            <a:off x="78050" y="1656562"/>
            <a:ext cx="43920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MLX</a:t>
            </a:r>
            <a:r>
              <a:rPr lang="en" sz="1300">
                <a:solidFill>
                  <a:schemeClr val="dk1"/>
                </a:solidFill>
                <a:latin typeface="Calibri"/>
                <a:ea typeface="Calibri"/>
                <a:cs typeface="Calibri"/>
                <a:sym typeface="Calibri"/>
              </a:rPr>
              <a:t> - an array framework for machine learning research on Apple silicon :</a:t>
            </a:r>
            <a:r>
              <a:rPr lang="en" sz="1300" b="1">
                <a:solidFill>
                  <a:srgbClr val="3C78D8"/>
                </a:solidFill>
                <a:latin typeface="Calibri"/>
                <a:ea typeface="Calibri"/>
                <a:cs typeface="Calibri"/>
                <a:sym typeface="Calibri"/>
              </a:rPr>
              <a:t>     pip install mlx           pip install mlx-lm</a:t>
            </a:r>
            <a:endParaRPr sz="13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MLX GitHub</a:t>
            </a:r>
            <a:r>
              <a:rPr lang="en" sz="1000">
                <a:solidFill>
                  <a:schemeClr val="dk1"/>
                </a:solidFill>
                <a:latin typeface="Calibri"/>
                <a:ea typeface="Calibri"/>
                <a:cs typeface="Calibri"/>
                <a:sym typeface="Calibri"/>
              </a:rPr>
              <a:t> - </a:t>
            </a:r>
            <a:r>
              <a:rPr lang="en" sz="1000" u="sng">
                <a:solidFill>
                  <a:schemeClr val="accent5"/>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https://github.com/ml-explore/mlx</a:t>
            </a:r>
            <a:r>
              <a:rPr lang="en" sz="1000">
                <a:solidFill>
                  <a:schemeClr val="dk1"/>
                </a:solidFill>
                <a:latin typeface="Calibri"/>
                <a:ea typeface="Calibri"/>
                <a:cs typeface="Calibri"/>
                <a:sym typeface="Calibri"/>
              </a:rPr>
              <a:t> </a:t>
            </a:r>
            <a:br>
              <a:rPr lang="en" sz="10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MLX-LM on GitHub</a:t>
            </a:r>
            <a:r>
              <a:rPr lang="en" sz="1000">
                <a:solidFill>
                  <a:schemeClr val="dk1"/>
                </a:solidFill>
                <a:latin typeface="Calibri"/>
                <a:ea typeface="Calibri"/>
                <a:cs typeface="Calibri"/>
                <a:sym typeface="Calibri"/>
              </a:rPr>
              <a:t> - </a:t>
            </a:r>
            <a:r>
              <a:rPr lang="en" sz="10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https://github.com/riccardomusmeci/mlx-llm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Examples</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9"/>
              </a:rPr>
              <a:t>https://github.com/ml-explore/mlx-examples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HugginFace community</a:t>
            </a:r>
            <a:r>
              <a:rPr lang="en" sz="10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10"/>
              </a:rPr>
              <a:t>https://huggingface.co/mlx-community</a:t>
            </a:r>
            <a:endParaRPr sz="1000">
              <a:solidFill>
                <a:schemeClr val="dk1"/>
              </a:solidFill>
              <a:latin typeface="Calibri"/>
              <a:ea typeface="Calibri"/>
              <a:cs typeface="Calibri"/>
              <a:sym typeface="Calibri"/>
            </a:endParaRPr>
          </a:p>
        </p:txBody>
      </p:sp>
      <p:pic>
        <p:nvPicPr>
          <p:cNvPr id="84" name="Google Shape;84;p1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55775" y="2953174"/>
            <a:ext cx="3228114" cy="21027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p:nvPr/>
        </p:nvSpPr>
        <p:spPr>
          <a:xfrm>
            <a:off x="89325" y="384550"/>
            <a:ext cx="43920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Microsoft AI model </a:t>
            </a:r>
            <a:r>
              <a:rPr lang="en" sz="1300" b="1">
                <a:solidFill>
                  <a:srgbClr val="FF0000"/>
                </a:solidFill>
                <a:latin typeface="Calibri"/>
                <a:ea typeface="Calibri"/>
                <a:cs typeface="Calibri"/>
                <a:sym typeface="Calibri"/>
              </a:rPr>
              <a:t>MAI-1</a:t>
            </a:r>
            <a:r>
              <a:rPr lang="en" sz="1300">
                <a:solidFill>
                  <a:schemeClr val="dk1"/>
                </a:solidFill>
                <a:latin typeface="Calibri"/>
                <a:ea typeface="Calibri"/>
                <a:cs typeface="Calibri"/>
                <a:sym typeface="Calibri"/>
              </a:rPr>
              <a:t> is in the works!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Estimated </a:t>
            </a:r>
            <a:r>
              <a:rPr lang="en" sz="1300" b="1">
                <a:solidFill>
                  <a:srgbClr val="FF0000"/>
                </a:solidFill>
                <a:latin typeface="Calibri"/>
                <a:ea typeface="Calibri"/>
                <a:cs typeface="Calibri"/>
                <a:sym typeface="Calibri"/>
              </a:rPr>
              <a:t>500 Bln parameters</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6AA84F"/>
                </a:solidFill>
                <a:latin typeface="Calibri"/>
                <a:ea typeface="Calibri"/>
                <a:cs typeface="Calibri"/>
                <a:sym typeface="Calibri"/>
              </a:rPr>
              <a:t>Expected to be on par with GPT-4 </a:t>
            </a: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6AA84F"/>
                </a:solidFill>
                <a:latin typeface="Calibri"/>
                <a:ea typeface="Calibri"/>
                <a:cs typeface="Calibri"/>
                <a:sym typeface="Calibri"/>
              </a:rPr>
              <a:t>Discussions about MSFT vs OpenAI</a:t>
            </a:r>
            <a:endParaRPr sz="1300" b="1">
              <a:solidFill>
                <a:srgbClr val="6AA84F"/>
              </a:solidFill>
              <a:latin typeface="Calibri"/>
              <a:ea typeface="Calibri"/>
              <a:cs typeface="Calibri"/>
              <a:sym typeface="Calibri"/>
            </a:endParaRPr>
          </a:p>
        </p:txBody>
      </p:sp>
      <p:sp>
        <p:nvSpPr>
          <p:cNvPr id="90" name="Google Shape;90;p17"/>
          <p:cNvSpPr txBox="1"/>
          <p:nvPr/>
        </p:nvSpPr>
        <p:spPr>
          <a:xfrm>
            <a:off x="-38050" y="-108050"/>
            <a:ext cx="5908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Microsoft MAI-1</a:t>
            </a:r>
            <a:endParaRPr sz="2000" b="1" i="0" u="none" strike="noStrike" cap="none">
              <a:solidFill>
                <a:srgbClr val="000000"/>
              </a:solidFill>
              <a:latin typeface="Calibri"/>
              <a:ea typeface="Calibri"/>
              <a:cs typeface="Calibri"/>
              <a:sym typeface="Calibri"/>
            </a:endParaRPr>
          </a:p>
        </p:txBody>
      </p:sp>
      <p:sp>
        <p:nvSpPr>
          <p:cNvPr id="91" name="Google Shape;91;p17"/>
          <p:cNvSpPr txBox="1"/>
          <p:nvPr/>
        </p:nvSpPr>
        <p:spPr>
          <a:xfrm>
            <a:off x="5113775" y="3602100"/>
            <a:ext cx="34701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Microsoft 11 employees in December of 1978</a:t>
            </a:r>
            <a:endParaRPr sz="1000">
              <a:solidFill>
                <a:schemeClr val="dk1"/>
              </a:solidFill>
              <a:latin typeface="Calibri"/>
              <a:ea typeface="Calibri"/>
              <a:cs typeface="Calibri"/>
              <a:sym typeface="Calibri"/>
            </a:endParaRPr>
          </a:p>
        </p:txBody>
      </p:sp>
      <p:pic>
        <p:nvPicPr>
          <p:cNvPr id="92" name="Google Shape;92;p17"/>
          <p:cNvPicPr preferRelativeResize="0"/>
          <p:nvPr/>
        </p:nvPicPr>
        <p:blipFill>
          <a:blip r:embed="rId3">
            <a:alphaModFix/>
          </a:blip>
          <a:stretch>
            <a:fillRect/>
          </a:stretch>
        </p:blipFill>
        <p:spPr>
          <a:xfrm>
            <a:off x="750225" y="1948625"/>
            <a:ext cx="2962275" cy="1543050"/>
          </a:xfrm>
          <a:prstGeom prst="rect">
            <a:avLst/>
          </a:prstGeom>
          <a:noFill/>
          <a:ln>
            <a:noFill/>
          </a:ln>
        </p:spPr>
      </p:pic>
      <p:pic>
        <p:nvPicPr>
          <p:cNvPr id="93" name="Google Shape;93;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7425" y="770950"/>
            <a:ext cx="4096251" cy="2730825"/>
          </a:xfrm>
          <a:prstGeom prst="rect">
            <a:avLst/>
          </a:prstGeom>
          <a:noFill/>
          <a:ln>
            <a:noFill/>
          </a:ln>
        </p:spPr>
      </p:pic>
      <p:sp>
        <p:nvSpPr>
          <p:cNvPr id="94" name="Google Shape;94;p17"/>
          <p:cNvSpPr txBox="1"/>
          <p:nvPr/>
        </p:nvSpPr>
        <p:spPr>
          <a:xfrm>
            <a:off x="750225" y="3549225"/>
            <a:ext cx="2962200" cy="218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Today Microsoft has ~ 221,000 employees</a:t>
            </a:r>
            <a:endParaRPr sz="10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8"/>
          <p:cNvSpPr txBox="1"/>
          <p:nvPr/>
        </p:nvSpPr>
        <p:spPr>
          <a:xfrm>
            <a:off x="4615013" y="3477125"/>
            <a:ext cx="4392000" cy="161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Perplexity.ai</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 conversational AI search engine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direct answers and summaries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citations to reliable sources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follow-up clarifying questions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Multiple Search Modes - Web, Academic, Wolfram Alpha, YouTube)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Writing Mode - to generate text or process code</a:t>
            </a:r>
            <a:endParaRPr sz="1300">
              <a:solidFill>
                <a:schemeClr val="dk1"/>
              </a:solidFill>
              <a:latin typeface="Calibri"/>
              <a:ea typeface="Calibri"/>
              <a:cs typeface="Calibri"/>
              <a:sym typeface="Calibri"/>
            </a:endParaRPr>
          </a:p>
        </p:txBody>
      </p:sp>
      <p:sp>
        <p:nvSpPr>
          <p:cNvPr id="100" name="Google Shape;100;p18"/>
          <p:cNvSpPr txBox="1"/>
          <p:nvPr/>
        </p:nvSpPr>
        <p:spPr>
          <a:xfrm>
            <a:off x="-38050" y="-108050"/>
            <a:ext cx="26973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AI-enabled Web Search</a:t>
            </a:r>
            <a:endParaRPr sz="2000" b="1" i="0" u="none" strike="noStrike" cap="none">
              <a:solidFill>
                <a:srgbClr val="000000"/>
              </a:solidFill>
              <a:latin typeface="Calibri"/>
              <a:ea typeface="Calibri"/>
              <a:cs typeface="Calibri"/>
              <a:sym typeface="Calibri"/>
            </a:endParaRPr>
          </a:p>
        </p:txBody>
      </p:sp>
      <p:sp>
        <p:nvSpPr>
          <p:cNvPr id="101" name="Google Shape;101;p18"/>
          <p:cNvSpPr txBox="1"/>
          <p:nvPr/>
        </p:nvSpPr>
        <p:spPr>
          <a:xfrm>
            <a:off x="86025" y="765550"/>
            <a:ext cx="43920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Google Gemini Advanced</a:t>
            </a:r>
            <a:r>
              <a:rPr lang="en" sz="1300">
                <a:solidFill>
                  <a:schemeClr val="dk1"/>
                </a:solidFill>
                <a:latin typeface="Calibri"/>
                <a:ea typeface="Calibri"/>
                <a:cs typeface="Calibri"/>
                <a:sym typeface="Calibri"/>
              </a:rPr>
              <a:t> - a conversational AI Chatbot which also has access to Google's search engine data</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Google SGE</a:t>
            </a:r>
            <a:r>
              <a:rPr lang="en" sz="1300">
                <a:solidFill>
                  <a:schemeClr val="dk1"/>
                </a:solidFill>
                <a:latin typeface="Calibri"/>
                <a:ea typeface="Calibri"/>
                <a:cs typeface="Calibri"/>
                <a:sym typeface="Calibri"/>
              </a:rPr>
              <a:t> (Search Generative Experience)</a:t>
            </a:r>
            <a:endParaRPr sz="1300">
              <a:solidFill>
                <a:schemeClr val="dk1"/>
              </a:solidFill>
              <a:latin typeface="Calibri"/>
              <a:ea typeface="Calibri"/>
              <a:cs typeface="Calibri"/>
              <a:sym typeface="Calibri"/>
            </a:endParaRPr>
          </a:p>
        </p:txBody>
      </p:sp>
      <p:sp>
        <p:nvSpPr>
          <p:cNvPr id="102" name="Google Shape;102;p18"/>
          <p:cNvSpPr txBox="1"/>
          <p:nvPr/>
        </p:nvSpPr>
        <p:spPr>
          <a:xfrm>
            <a:off x="86025" y="1474400"/>
            <a:ext cx="4392000" cy="208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Microsoft Copilot</a:t>
            </a:r>
            <a:r>
              <a:rPr lang="en" sz="1300">
                <a:solidFill>
                  <a:schemeClr val="dk1"/>
                </a:solidFill>
                <a:latin typeface="Calibri"/>
                <a:ea typeface="Calibri"/>
                <a:cs typeface="Calibri"/>
                <a:sym typeface="Calibri"/>
              </a:rPr>
              <a:t> is the new name for </a:t>
            </a:r>
            <a:r>
              <a:rPr lang="en" sz="1300" b="1">
                <a:solidFill>
                  <a:srgbClr val="FF0000"/>
                </a:solidFill>
                <a:latin typeface="Calibri"/>
                <a:ea typeface="Calibri"/>
                <a:cs typeface="Calibri"/>
                <a:sym typeface="Calibri"/>
              </a:rPr>
              <a:t>Bing Chat and Bing Chat Enterprise</a:t>
            </a:r>
            <a:r>
              <a:rPr lang="en" sz="1300">
                <a:solidFill>
                  <a:schemeClr val="dk1"/>
                </a:solidFill>
                <a:latin typeface="Calibri"/>
                <a:ea typeface="Calibri"/>
                <a:cs typeface="Calibri"/>
                <a:sym typeface="Calibri"/>
              </a:rPr>
              <a:t>. It's accessible from:</a:t>
            </a:r>
            <a:endParaRPr sz="13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https://copilot.microsoft.com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https://www.bing.com/chat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It uses an advanced version of GPT-4 codenamed Promethus. It combines LLM and web search.</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It’s available through the Copilot, Bing, Edge, Microsoft Start, and Microsoft 365 mobile apps. Eligible users who sign in to Copilot with Entra ID get commercial data protection.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3C78D8"/>
                </a:solidFill>
                <a:latin typeface="Calibri"/>
                <a:ea typeface="Calibri"/>
                <a:cs typeface="Calibri"/>
                <a:sym typeface="Calibri"/>
              </a:rPr>
              <a:t>Copilot vs Copilot for Microsoft 365</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228600" lvl="0" indent="-158750" algn="l" rtl="0">
              <a:spcBef>
                <a:spcPts val="0"/>
              </a:spcBef>
              <a:spcAft>
                <a:spcPts val="0"/>
              </a:spcAft>
              <a:buClr>
                <a:schemeClr val="dk1"/>
              </a:buClr>
              <a:buSzPts val="700"/>
              <a:buFont typeface="Calibri"/>
              <a:buChar char="●"/>
            </a:pPr>
            <a:r>
              <a:rPr lang="en" sz="1000" u="sng">
                <a:solidFill>
                  <a:schemeClr val="hlink"/>
                </a:solidFill>
                <a:latin typeface="Calibri"/>
                <a:ea typeface="Calibri"/>
                <a:cs typeface="Calibri"/>
                <a:sym typeface="Calibri"/>
                <a:hlinkClick r:id="rId5"/>
              </a:rPr>
              <a:t>https://learn.microsoft.com/en-us/copilot/faq</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03" name="Google Shape;103;p18"/>
          <p:cNvSpPr txBox="1"/>
          <p:nvPr/>
        </p:nvSpPr>
        <p:spPr>
          <a:xfrm>
            <a:off x="74463" y="3610607"/>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a:t>
            </a:r>
            <a:r>
              <a:rPr lang="en" sz="1300">
                <a:solidFill>
                  <a:schemeClr val="dk1"/>
                </a:solidFill>
                <a:latin typeface="Calibri"/>
                <a:ea typeface="Calibri"/>
                <a:cs typeface="Calibri"/>
                <a:sym typeface="Calibri"/>
              </a:rPr>
              <a:t> is planning to add search to its chatbots: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6"/>
              </a:rPr>
              <a:t>https://search.openai.com</a:t>
            </a:r>
            <a:r>
              <a:rPr lang="en" sz="1300">
                <a:solidFill>
                  <a:schemeClr val="dk1"/>
                </a:solidFill>
                <a:latin typeface="Calibri"/>
                <a:ea typeface="Calibri"/>
                <a:cs typeface="Calibri"/>
                <a:sym typeface="Calibri"/>
              </a:rPr>
              <a:t>  - not in operation yet</a:t>
            </a:r>
            <a:endParaRPr sz="1300">
              <a:solidFill>
                <a:schemeClr val="dk1"/>
              </a:solidFill>
              <a:latin typeface="Calibri"/>
              <a:ea typeface="Calibri"/>
              <a:cs typeface="Calibri"/>
              <a:sym typeface="Calibri"/>
            </a:endParaRPr>
          </a:p>
        </p:txBody>
      </p:sp>
      <p:sp>
        <p:nvSpPr>
          <p:cNvPr id="104" name="Google Shape;104;p18"/>
          <p:cNvSpPr txBox="1"/>
          <p:nvPr/>
        </p:nvSpPr>
        <p:spPr>
          <a:xfrm>
            <a:off x="74475" y="4117500"/>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Twitter (x.com)</a:t>
            </a:r>
            <a:r>
              <a:rPr lang="en" sz="1300">
                <a:solidFill>
                  <a:schemeClr val="dk1"/>
                </a:solidFill>
                <a:latin typeface="Calibri"/>
                <a:ea typeface="Calibri"/>
                <a:cs typeface="Calibri"/>
                <a:sym typeface="Calibri"/>
              </a:rPr>
              <a:t> - planning to offer AI-generated news and summaries</a:t>
            </a:r>
            <a:endParaRPr sz="1300">
              <a:solidFill>
                <a:schemeClr val="dk1"/>
              </a:solidFill>
              <a:latin typeface="Calibri"/>
              <a:ea typeface="Calibri"/>
              <a:cs typeface="Calibri"/>
              <a:sym typeface="Calibri"/>
            </a:endParaRPr>
          </a:p>
        </p:txBody>
      </p:sp>
      <p:pic>
        <p:nvPicPr>
          <p:cNvPr id="105" name="Google Shape;105;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30425" y="536950"/>
            <a:ext cx="4361174" cy="2841868"/>
          </a:xfrm>
          <a:prstGeom prst="rect">
            <a:avLst/>
          </a:prstGeom>
          <a:noFill/>
          <a:ln>
            <a:noFill/>
          </a:ln>
        </p:spPr>
      </p:pic>
      <p:sp>
        <p:nvSpPr>
          <p:cNvPr id="106" name="Google Shape;106;p18"/>
          <p:cNvSpPr/>
          <p:nvPr/>
        </p:nvSpPr>
        <p:spPr>
          <a:xfrm rot="-2572308">
            <a:off x="4667511" y="3029352"/>
            <a:ext cx="759745" cy="218441"/>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62100" y="496350"/>
            <a:ext cx="43920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 Careful Examination of Large Language Model</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Performance on Grade School Arithmetic"</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https://arxiv.org/pdf/2405.00332</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Large language models (LLMs) have achieved impressive success on many benchmarks for mathematical reasoning.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However, there is growing concern that some of this performance actually reflects dataset contamination, where data closely resembling benchmark questions leaks into the training data, instead of true reasoning ability.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To investigate this claim rigorously, we commission Grade School Math 1000 (GSM1k).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GSM1k is designed to mirror the style and complexity of the established GSM8k benchmark, the gold standard for measuring elementary mathematical reasoning.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We ensure that the two benchmarks are comparable across important metrics such as human solve rates, number of steps in solution, answer magnitude, and more. </a:t>
            </a:r>
            <a:endParaRPr sz="1300">
              <a:solidFill>
                <a:schemeClr val="dk1"/>
              </a:solidFill>
              <a:latin typeface="Calibri"/>
              <a:ea typeface="Calibri"/>
              <a:cs typeface="Calibri"/>
              <a:sym typeface="Calibri"/>
            </a:endParaRPr>
          </a:p>
        </p:txBody>
      </p:sp>
      <p:sp>
        <p:nvSpPr>
          <p:cNvPr id="112" name="Google Shape;112;p19"/>
          <p:cNvSpPr txBox="1"/>
          <p:nvPr/>
        </p:nvSpPr>
        <p:spPr>
          <a:xfrm>
            <a:off x="0" y="-68100"/>
            <a:ext cx="61899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Large LLMs are better at "generalizing" the knowledge</a:t>
            </a:r>
            <a:endParaRPr sz="2000" b="1" i="0" u="none" strike="noStrike" cap="none">
              <a:solidFill>
                <a:srgbClr val="000000"/>
              </a:solidFill>
              <a:latin typeface="Calibri"/>
              <a:ea typeface="Calibri"/>
              <a:cs typeface="Calibri"/>
              <a:sym typeface="Calibri"/>
            </a:endParaRPr>
          </a:p>
        </p:txBody>
      </p:sp>
      <p:sp>
        <p:nvSpPr>
          <p:cNvPr id="113" name="Google Shape;113;p19"/>
          <p:cNvSpPr txBox="1"/>
          <p:nvPr/>
        </p:nvSpPr>
        <p:spPr>
          <a:xfrm>
            <a:off x="4670475" y="496350"/>
            <a:ext cx="4392000" cy="261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When evaluating leading open- and closed-source LLMs on GSM1k, we observe </a:t>
            </a:r>
            <a:r>
              <a:rPr lang="en" sz="1300" b="1">
                <a:solidFill>
                  <a:srgbClr val="FF0000"/>
                </a:solidFill>
                <a:latin typeface="Calibri"/>
                <a:ea typeface="Calibri"/>
                <a:cs typeface="Calibri"/>
                <a:sym typeface="Calibri"/>
              </a:rPr>
              <a:t>accuracy drops of up to 13%</a:t>
            </a:r>
            <a:r>
              <a:rPr lang="en" sz="1300">
                <a:solidFill>
                  <a:schemeClr val="dk1"/>
                </a:solidFill>
                <a:latin typeface="Calibri"/>
                <a:ea typeface="Calibri"/>
                <a:cs typeface="Calibri"/>
                <a:sym typeface="Calibri"/>
              </a:rPr>
              <a:t>, with several families of models (e.g. Phi and Mistral) showing evidence of systematic overfitting across almost all model sizes.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At the same time, many models, especially those on the frontier, (e.g. Gemini/GPT/Claude) show minimal signs of overfitting.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Further analysis suggests a positive relationship (Spearman’s r 2 = 0.32) between a model’s probability of generating an example from GSM8k and its performance gap between GSM8k and GSM1k, suggesting that many models may have partially memorized GSM8k.</a:t>
            </a:r>
            <a:endParaRPr sz="13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0"/>
          <p:cNvSpPr txBox="1"/>
          <p:nvPr/>
        </p:nvSpPr>
        <p:spPr>
          <a:xfrm>
            <a:off x="31350" y="57975"/>
            <a:ext cx="242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Regulatory Capture</a:t>
            </a:r>
            <a:endParaRPr sz="2000" b="1" i="0" u="none" strike="noStrike" cap="none">
              <a:solidFill>
                <a:srgbClr val="000000"/>
              </a:solidFill>
              <a:latin typeface="Calibri"/>
              <a:ea typeface="Calibri"/>
              <a:cs typeface="Calibri"/>
              <a:sym typeface="Calibri"/>
            </a:endParaRPr>
          </a:p>
        </p:txBody>
      </p:sp>
      <p:sp>
        <p:nvSpPr>
          <p:cNvPr id="119" name="Google Shape;119;p20"/>
          <p:cNvSpPr txBox="1"/>
          <p:nvPr/>
        </p:nvSpPr>
        <p:spPr>
          <a:xfrm>
            <a:off x="31350" y="384375"/>
            <a:ext cx="6673200" cy="37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latin typeface="Calibri"/>
                <a:ea typeface="Calibri"/>
                <a:cs typeface="Calibri"/>
                <a:sym typeface="Calibri"/>
              </a:rPr>
              <a:t>All-In Summit: Bill Gurley presents 2,851 Miles at </a:t>
            </a:r>
            <a:r>
              <a:rPr lang="en" sz="1300">
                <a:solidFill>
                  <a:schemeClr val="dk1"/>
                </a:solidFill>
                <a:latin typeface="Calibri"/>
                <a:ea typeface="Calibri"/>
                <a:cs typeface="Calibri"/>
                <a:sym typeface="Calibri"/>
              </a:rPr>
              <a:t>the All-In Summit about regulatory capture</a:t>
            </a:r>
            <a:r>
              <a:rPr lang="en" sz="1300">
                <a:latin typeface="Calibri"/>
                <a:ea typeface="Calibri"/>
                <a:cs typeface="Calibri"/>
                <a:sym typeface="Calibri"/>
              </a:rPr>
              <a:t> </a:t>
            </a:r>
            <a:endParaRPr sz="1300">
              <a:latin typeface="Calibri"/>
              <a:ea typeface="Calibri"/>
              <a:cs typeface="Calibri"/>
              <a:sym typeface="Calibri"/>
            </a:endParaRPr>
          </a:p>
          <a:p>
            <a:pPr marL="0" marR="0" lvl="0" indent="0" algn="l" rtl="0">
              <a:lnSpc>
                <a:spcPct val="100000"/>
              </a:lnSpc>
              <a:spcBef>
                <a:spcPts val="0"/>
              </a:spcBef>
              <a:spcAft>
                <a:spcPts val="0"/>
              </a:spcAft>
              <a:buNone/>
            </a:pPr>
            <a:r>
              <a:rPr lang="en" sz="1000" u="sng">
                <a:solidFill>
                  <a:schemeClr val="hlink"/>
                </a:solidFill>
                <a:latin typeface="Calibri"/>
                <a:ea typeface="Calibri"/>
                <a:cs typeface="Calibri"/>
                <a:sym typeface="Calibri"/>
                <a:hlinkClick r:id="rId3"/>
              </a:rPr>
              <a:t>https://www.youtube.com/watch?v=F9cO3-MLHOM</a:t>
            </a:r>
            <a:r>
              <a:rPr lang="en" sz="1000">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20" name="Google Shape;120;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621975" y="100725"/>
            <a:ext cx="1417800" cy="1417800"/>
          </a:xfrm>
          <a:prstGeom prst="rect">
            <a:avLst/>
          </a:prstGeom>
          <a:noFill/>
          <a:ln>
            <a:noFill/>
          </a:ln>
        </p:spPr>
      </p:pic>
      <p:sp>
        <p:nvSpPr>
          <p:cNvPr id="121" name="Google Shape;121;p20"/>
          <p:cNvSpPr txBox="1"/>
          <p:nvPr/>
        </p:nvSpPr>
        <p:spPr>
          <a:xfrm>
            <a:off x="7621975" y="1593425"/>
            <a:ext cx="1417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None/>
            </a:pPr>
            <a:r>
              <a:rPr lang="en" sz="1200">
                <a:latin typeface="Calibri"/>
                <a:ea typeface="Calibri"/>
                <a:cs typeface="Calibri"/>
                <a:sym typeface="Calibri"/>
              </a:rPr>
              <a:t>Bill Gurley, Investor</a:t>
            </a:r>
            <a:endParaRPr sz="1000">
              <a:solidFill>
                <a:schemeClr val="dk1"/>
              </a:solidFill>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04550" y="1871400"/>
            <a:ext cx="2335224" cy="1310778"/>
          </a:xfrm>
          <a:prstGeom prst="rect">
            <a:avLst/>
          </a:prstGeom>
          <a:noFill/>
          <a:ln>
            <a:noFill/>
          </a:ln>
        </p:spPr>
      </p:pic>
      <p:sp>
        <p:nvSpPr>
          <p:cNvPr id="123" name="Google Shape;123;p20"/>
          <p:cNvSpPr txBox="1"/>
          <p:nvPr/>
        </p:nvSpPr>
        <p:spPr>
          <a:xfrm>
            <a:off x="31350" y="807240"/>
            <a:ext cx="6066900" cy="322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Regulatory capture: a regulatory agency that is supposed to oversee an industry ends up being influenced by the industry it is supposed to regulate. </a:t>
            </a:r>
            <a:endParaRPr sz="1300" b="1">
              <a:solidFill>
                <a:srgbClr val="FF0000"/>
              </a:solidFill>
              <a:latin typeface="Calibri"/>
              <a:ea typeface="Calibri"/>
              <a:cs typeface="Calibri"/>
              <a:sym typeface="Calibri"/>
            </a:endParaRPr>
          </a:p>
          <a:p>
            <a:pPr marL="228600" lvl="0" indent="-13970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Gurley argues</a:t>
            </a:r>
            <a:r>
              <a:rPr lang="en" sz="1300">
                <a:latin typeface="Calibri"/>
                <a:ea typeface="Calibri"/>
                <a:cs typeface="Calibri"/>
                <a:sym typeface="Calibri"/>
              </a:rPr>
              <a:t> that this is a major problem in the United States and that it has </a:t>
            </a:r>
            <a:r>
              <a:rPr lang="en" sz="1300" b="1">
                <a:solidFill>
                  <a:srgbClr val="3C78D8"/>
                </a:solidFill>
                <a:latin typeface="Calibri"/>
                <a:ea typeface="Calibri"/>
                <a:cs typeface="Calibri"/>
                <a:sym typeface="Calibri"/>
              </a:rPr>
              <a:t>led to higher prices and less innovation</a:t>
            </a:r>
            <a:r>
              <a:rPr lang="en" sz="1300">
                <a:latin typeface="Calibri"/>
                <a:ea typeface="Calibri"/>
                <a:cs typeface="Calibri"/>
                <a:sym typeface="Calibri"/>
              </a:rPr>
              <a:t> in many industries.</a:t>
            </a:r>
            <a:endParaRPr sz="1300">
              <a:latin typeface="Calibri"/>
              <a:ea typeface="Calibri"/>
              <a:cs typeface="Calibri"/>
              <a:sym typeface="Calibri"/>
            </a:endParaRPr>
          </a:p>
          <a:p>
            <a:pPr marL="228600" lvl="0" indent="-139700" algn="l" rtl="0">
              <a:spcBef>
                <a:spcPts val="0"/>
              </a:spcBef>
              <a:spcAft>
                <a:spcPts val="0"/>
              </a:spcAft>
              <a:buSzPts val="1300"/>
              <a:buFont typeface="Calibri"/>
              <a:buChar char="●"/>
            </a:pPr>
            <a:r>
              <a:rPr lang="en" sz="1300" b="1">
                <a:solidFill>
                  <a:srgbClr val="6AA84F"/>
                </a:solidFill>
                <a:latin typeface="Calibri"/>
                <a:ea typeface="Calibri"/>
                <a:cs typeface="Calibri"/>
                <a:sym typeface="Calibri"/>
              </a:rPr>
              <a:t>Example -  the telecommunications industry</a:t>
            </a:r>
            <a:r>
              <a:rPr lang="en" sz="1300">
                <a:latin typeface="Calibri"/>
                <a:ea typeface="Calibri"/>
                <a:cs typeface="Calibri"/>
                <a:sym typeface="Calibri"/>
              </a:rPr>
              <a:t>. In 1996, the </a:t>
            </a:r>
            <a:r>
              <a:rPr lang="en" sz="1300" b="1">
                <a:solidFill>
                  <a:srgbClr val="6AA84F"/>
                </a:solidFill>
                <a:latin typeface="Calibri"/>
                <a:ea typeface="Calibri"/>
                <a:cs typeface="Calibri"/>
                <a:sym typeface="Calibri"/>
              </a:rPr>
              <a:t>Telecommunications Act</a:t>
            </a:r>
            <a:r>
              <a:rPr lang="en" sz="1300">
                <a:latin typeface="Calibri"/>
                <a:ea typeface="Calibri"/>
                <a:cs typeface="Calibri"/>
                <a:sym typeface="Calibri"/>
              </a:rPr>
              <a:t> was passed with the goal of promoting competition and innovation. </a:t>
            </a:r>
            <a:br>
              <a:rPr lang="en" sz="1300">
                <a:latin typeface="Calibri"/>
                <a:ea typeface="Calibri"/>
                <a:cs typeface="Calibri"/>
                <a:sym typeface="Calibri"/>
              </a:rPr>
            </a:br>
            <a:r>
              <a:rPr lang="en" sz="1300">
                <a:latin typeface="Calibri"/>
                <a:ea typeface="Calibri"/>
                <a:cs typeface="Calibri"/>
                <a:sym typeface="Calibri"/>
              </a:rPr>
              <a:t>However, Gurley argues that </a:t>
            </a:r>
            <a:r>
              <a:rPr lang="en" sz="1300" b="1">
                <a:solidFill>
                  <a:srgbClr val="3C78D8"/>
                </a:solidFill>
                <a:latin typeface="Calibri"/>
                <a:ea typeface="Calibri"/>
                <a:cs typeface="Calibri"/>
                <a:sym typeface="Calibri"/>
              </a:rPr>
              <a:t>the Act has had the opposite effect</a:t>
            </a:r>
            <a:r>
              <a:rPr lang="en" sz="1300">
                <a:latin typeface="Calibri"/>
                <a:ea typeface="Calibri"/>
                <a:cs typeface="Calibri"/>
                <a:sym typeface="Calibri"/>
              </a:rPr>
              <a:t>. The number of major telecommunications companies has decreased from 4 to 2, and there has been little innovation in the industry.</a:t>
            </a:r>
            <a:endParaRPr sz="1300">
              <a:latin typeface="Calibri"/>
              <a:ea typeface="Calibri"/>
              <a:cs typeface="Calibri"/>
              <a:sym typeface="Calibri"/>
            </a:endParaRPr>
          </a:p>
          <a:p>
            <a:pPr marL="228600" lvl="0" indent="-139700" algn="l" rtl="0">
              <a:spcBef>
                <a:spcPts val="0"/>
              </a:spcBef>
              <a:spcAft>
                <a:spcPts val="0"/>
              </a:spcAft>
              <a:buSzPts val="1300"/>
              <a:buFont typeface="Calibri"/>
              <a:buChar char="●"/>
            </a:pPr>
            <a:r>
              <a:rPr lang="en" sz="1300" b="1">
                <a:solidFill>
                  <a:srgbClr val="6AA84F"/>
                </a:solidFill>
                <a:latin typeface="Calibri"/>
                <a:ea typeface="Calibri"/>
                <a:cs typeface="Calibri"/>
                <a:sym typeface="Calibri"/>
              </a:rPr>
              <a:t>Example - medical records industry</a:t>
            </a:r>
            <a:r>
              <a:rPr lang="en" sz="1300">
                <a:latin typeface="Calibri"/>
                <a:ea typeface="Calibri"/>
                <a:cs typeface="Calibri"/>
                <a:sym typeface="Calibri"/>
              </a:rPr>
              <a:t>. In 2009, the </a:t>
            </a:r>
            <a:r>
              <a:rPr lang="en" sz="1300" b="1">
                <a:solidFill>
                  <a:srgbClr val="6AA84F"/>
                </a:solidFill>
                <a:latin typeface="Calibri"/>
                <a:ea typeface="Calibri"/>
                <a:cs typeface="Calibri"/>
                <a:sym typeface="Calibri"/>
              </a:rPr>
              <a:t>American Recovery Act </a:t>
            </a:r>
            <a:r>
              <a:rPr lang="en" sz="1300">
                <a:latin typeface="Calibri"/>
                <a:ea typeface="Calibri"/>
                <a:cs typeface="Calibri"/>
                <a:sym typeface="Calibri"/>
              </a:rPr>
              <a:t>was passed. One provision of the Act was to give doctors money to buy electronic health records software. Gurley argues that this provision was a giveaway to the medical records industry and that it did not lead to any significant improvements in the quality of care.</a:t>
            </a:r>
            <a:endParaRPr sz="1300">
              <a:latin typeface="Calibri"/>
              <a:ea typeface="Calibri"/>
              <a:cs typeface="Calibri"/>
              <a:sym typeface="Calibri"/>
            </a:endParaRPr>
          </a:p>
          <a:p>
            <a:pPr marL="228600" lvl="0" indent="-139700" algn="l" rtl="0">
              <a:spcBef>
                <a:spcPts val="0"/>
              </a:spcBef>
              <a:spcAft>
                <a:spcPts val="0"/>
              </a:spcAft>
              <a:buSzPts val="1300"/>
              <a:buFont typeface="Calibri"/>
              <a:buChar char="●"/>
            </a:pPr>
            <a:r>
              <a:rPr lang="en" sz="1300">
                <a:latin typeface="Calibri"/>
                <a:ea typeface="Calibri"/>
                <a:cs typeface="Calibri"/>
                <a:sym typeface="Calibri"/>
              </a:rPr>
              <a:t>Gurley concludes his presentation by arguing that </a:t>
            </a:r>
            <a:r>
              <a:rPr lang="en" sz="1300" b="1">
                <a:solidFill>
                  <a:srgbClr val="FF0000"/>
                </a:solidFill>
                <a:latin typeface="Calibri"/>
                <a:ea typeface="Calibri"/>
                <a:cs typeface="Calibri"/>
                <a:sym typeface="Calibri"/>
              </a:rPr>
              <a:t>regulatory capture is a major problem in the United States</a:t>
            </a:r>
            <a:r>
              <a:rPr lang="en" sz="1300">
                <a:latin typeface="Calibri"/>
                <a:ea typeface="Calibri"/>
                <a:cs typeface="Calibri"/>
                <a:sym typeface="Calibri"/>
              </a:rPr>
              <a:t> and that it needs to be addressed. He suggests that one way to address the problem is to </a:t>
            </a:r>
            <a:r>
              <a:rPr lang="en" sz="1300" b="1">
                <a:solidFill>
                  <a:srgbClr val="FF0000"/>
                </a:solidFill>
                <a:latin typeface="Calibri"/>
                <a:ea typeface="Calibri"/>
                <a:cs typeface="Calibri"/>
                <a:sym typeface="Calibri"/>
              </a:rPr>
              <a:t>increase transparency in the lobbying process</a:t>
            </a:r>
            <a:r>
              <a:rPr lang="en" sz="1300">
                <a:latin typeface="Calibri"/>
                <a:ea typeface="Calibri"/>
                <a:cs typeface="Calibri"/>
                <a:sym typeface="Calibri"/>
              </a:rPr>
              <a:t>.</a:t>
            </a:r>
            <a:endParaRPr sz="1300">
              <a:latin typeface="Calibri"/>
              <a:ea typeface="Calibri"/>
              <a:cs typeface="Calibri"/>
              <a:sym typeface="Calibri"/>
            </a:endParaRPr>
          </a:p>
        </p:txBody>
      </p:sp>
      <p:sp>
        <p:nvSpPr>
          <p:cNvPr id="124" name="Google Shape;124;p20"/>
          <p:cNvSpPr txBox="1"/>
          <p:nvPr/>
        </p:nvSpPr>
        <p:spPr>
          <a:xfrm>
            <a:off x="31350" y="4073790"/>
            <a:ext cx="6673200" cy="972900"/>
          </a:xfrm>
          <a:prstGeom prst="rect">
            <a:avLst/>
          </a:prstGeom>
          <a:solidFill>
            <a:srgbClr val="CFE2F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Context: </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opens-source AI is not represented in the new US Government AI Board</a:t>
            </a:r>
            <a:endParaRPr sz="1300">
              <a:solidFill>
                <a:schemeClr val="dk1"/>
              </a:solidFill>
              <a:latin typeface="Calibri"/>
              <a:ea typeface="Calibri"/>
              <a:cs typeface="Calibri"/>
              <a:sym typeface="Calibri"/>
            </a:endParaRPr>
          </a:p>
          <a:p>
            <a:pPr marL="457200" lvl="0" indent="-3111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OpenAI blog about AI security - for close source, model weights protection, regulations to approve models, hardware-level enforcement</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https://openai.com/index/reimagining-secure-infrastructure-for-advanced-ai/</a:t>
            </a:r>
            <a:endParaRPr sz="10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1"/>
          <p:cNvSpPr txBox="1"/>
          <p:nvPr/>
        </p:nvSpPr>
        <p:spPr>
          <a:xfrm>
            <a:off x="78050" y="384550"/>
            <a:ext cx="43920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Why a Forefather of AI Fears the Future</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https://www.youtube.com/watch?v=KcbTbTxPMLc</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Brian Greene</a:t>
            </a:r>
            <a:r>
              <a:rPr lang="en" sz="1300">
                <a:solidFill>
                  <a:schemeClr val="dk1"/>
                </a:solidFill>
                <a:latin typeface="Calibri"/>
                <a:ea typeface="Calibri"/>
                <a:cs typeface="Calibri"/>
                <a:sym typeface="Calibri"/>
              </a:rPr>
              <a:t> interviews </a:t>
            </a:r>
            <a:r>
              <a:rPr lang="en" sz="1300" b="1">
                <a:solidFill>
                  <a:srgbClr val="FF0000"/>
                </a:solidFill>
                <a:latin typeface="Calibri"/>
                <a:ea typeface="Calibri"/>
                <a:cs typeface="Calibri"/>
                <a:sym typeface="Calibri"/>
              </a:rPr>
              <a:t>Yoshua Bengio</a:t>
            </a:r>
            <a:endParaRPr sz="1300" b="1">
              <a:solidFill>
                <a:srgbClr val="FF0000"/>
              </a:solidFill>
              <a:latin typeface="Calibri"/>
              <a:ea typeface="Calibri"/>
              <a:cs typeface="Calibri"/>
              <a:sym typeface="Calibri"/>
            </a:endParaRPr>
          </a:p>
        </p:txBody>
      </p:sp>
      <p:sp>
        <p:nvSpPr>
          <p:cNvPr id="130" name="Google Shape;130;p21"/>
          <p:cNvSpPr txBox="1"/>
          <p:nvPr/>
        </p:nvSpPr>
        <p:spPr>
          <a:xfrm>
            <a:off x="-12375" y="-31075"/>
            <a:ext cx="4357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Yoshua Bengio - Fears About the Future of AI</a:t>
            </a:r>
            <a:endParaRPr sz="1800" b="1" i="0" u="none" strike="noStrike" cap="none">
              <a:solidFill>
                <a:srgbClr val="000000"/>
              </a:solidFill>
              <a:latin typeface="Calibri"/>
              <a:ea typeface="Calibri"/>
              <a:cs typeface="Calibri"/>
              <a:sym typeface="Calibri"/>
            </a:endParaRPr>
          </a:p>
        </p:txBody>
      </p:sp>
      <p:sp>
        <p:nvSpPr>
          <p:cNvPr id="131" name="Google Shape;131;p21"/>
          <p:cNvSpPr txBox="1"/>
          <p:nvPr/>
        </p:nvSpPr>
        <p:spPr>
          <a:xfrm>
            <a:off x="4646225" y="256775"/>
            <a:ext cx="4392000" cy="482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Yoshua Bengio expresses excitement about progress in AI but also deep concerns about potential dangers if AI becomes uncontrollable or misused.</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likens the current situation to </a:t>
            </a:r>
            <a:r>
              <a:rPr lang="en" sz="1300" b="1">
                <a:solidFill>
                  <a:srgbClr val="FF0000"/>
                </a:solidFill>
                <a:latin typeface="Calibri"/>
                <a:ea typeface="Calibri"/>
                <a:cs typeface="Calibri"/>
                <a:sym typeface="Calibri"/>
              </a:rPr>
              <a:t>playing with fire</a:t>
            </a:r>
            <a:r>
              <a:rPr lang="en" sz="1300">
                <a:solidFill>
                  <a:schemeClr val="dk1"/>
                </a:solidFill>
                <a:latin typeface="Calibri"/>
                <a:ea typeface="Calibri"/>
                <a:cs typeface="Calibri"/>
                <a:sym typeface="Calibri"/>
              </a:rPr>
              <a:t>, as we lack understanding of how to build safe, controllable AI systems.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Bengio warns that simply "pulling the plug" may not work, as advanced AI could act preemptively to prevent being shut down.</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a:t>
            </a:r>
            <a:r>
              <a:rPr lang="en" sz="1300" b="1">
                <a:solidFill>
                  <a:srgbClr val="FF0000"/>
                </a:solidFill>
                <a:latin typeface="Calibri"/>
                <a:ea typeface="Calibri"/>
                <a:cs typeface="Calibri"/>
                <a:sym typeface="Calibri"/>
              </a:rPr>
              <a:t>advocates massive investment in AI safety research</a:t>
            </a:r>
            <a:r>
              <a:rPr lang="en" sz="1300">
                <a:solidFill>
                  <a:schemeClr val="dk1"/>
                </a:solidFill>
                <a:latin typeface="Calibri"/>
                <a:ea typeface="Calibri"/>
                <a:cs typeface="Calibri"/>
                <a:sym typeface="Calibri"/>
              </a:rPr>
              <a:t> to find ways to build a reliable "cage" for containing advanced AI before approaching artificial general intelligence (AGI).</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While acknowledging immense potential benefits, Bengio is more worried than excited about recent AI advances due to the existential risks if not properly controlled.</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a:t>
            </a:r>
            <a:r>
              <a:rPr lang="en" sz="1300" b="1">
                <a:solidFill>
                  <a:srgbClr val="FF0000"/>
                </a:solidFill>
                <a:latin typeface="Calibri"/>
                <a:ea typeface="Calibri"/>
                <a:cs typeface="Calibri"/>
                <a:sym typeface="Calibri"/>
              </a:rPr>
              <a:t>calls for international treaties and regulations</a:t>
            </a:r>
            <a:r>
              <a:rPr lang="en" sz="1300">
                <a:solidFill>
                  <a:schemeClr val="dk1"/>
                </a:solidFill>
                <a:latin typeface="Calibri"/>
                <a:ea typeface="Calibri"/>
                <a:cs typeface="Calibri"/>
                <a:sym typeface="Calibri"/>
              </a:rPr>
              <a:t> to ensure companies follow best practices for AI safety.</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Bengio emphasizes the </a:t>
            </a:r>
            <a:r>
              <a:rPr lang="en" sz="1300" b="1">
                <a:solidFill>
                  <a:srgbClr val="FF0000"/>
                </a:solidFill>
                <a:latin typeface="Calibri"/>
                <a:ea typeface="Calibri"/>
                <a:cs typeface="Calibri"/>
                <a:sym typeface="Calibri"/>
              </a:rPr>
              <a:t>need for collective, democratic decision-making</a:t>
            </a:r>
            <a:r>
              <a:rPr lang="en" sz="1300">
                <a:solidFill>
                  <a:schemeClr val="dk1"/>
                </a:solidFill>
                <a:latin typeface="Calibri"/>
                <a:ea typeface="Calibri"/>
                <a:cs typeface="Calibri"/>
                <a:sym typeface="Calibri"/>
              </a:rPr>
              <a:t> rather than leaving AI development solely to companies driven by economic forces.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He discusses theories suggesting consciousness may be a side effect of computational processes, but cautions against attributing rights to AI based on perceived consciousness.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Overall, Bengio underscores the urgency of proactively addressing AI risks through research, regulation, and collective action while still harnessing its potential benefits.</a:t>
            </a:r>
            <a:endParaRPr sz="1300">
              <a:solidFill>
                <a:schemeClr val="dk1"/>
              </a:solidFill>
              <a:latin typeface="Calibri"/>
              <a:ea typeface="Calibri"/>
              <a:cs typeface="Calibri"/>
              <a:sym typeface="Calibri"/>
            </a:endParaRPr>
          </a:p>
        </p:txBody>
      </p:sp>
      <p:pic>
        <p:nvPicPr>
          <p:cNvPr id="132" name="Google Shape;132;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8050" y="1107175"/>
            <a:ext cx="4392003" cy="238685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2"/>
          <p:cNvSpPr txBox="1"/>
          <p:nvPr/>
        </p:nvSpPr>
        <p:spPr>
          <a:xfrm>
            <a:off x="78050" y="384550"/>
            <a:ext cx="23937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https://github.com/lselector/ai</a:t>
            </a:r>
            <a:r>
              <a:rPr lang="en" sz="13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38" name="Google Shape;138;p22"/>
          <p:cNvSpPr txBox="1"/>
          <p:nvPr/>
        </p:nvSpPr>
        <p:spPr>
          <a:xfrm>
            <a:off x="35891" y="7380"/>
            <a:ext cx="6174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My "ai" GitHub repo - how to start with LLMs and RAG</a:t>
            </a:r>
            <a:endParaRPr sz="2000" b="1" i="0" u="none" strike="noStrike" cap="none">
              <a:solidFill>
                <a:srgbClr val="000000"/>
              </a:solidFill>
              <a:latin typeface="Calibri"/>
              <a:ea typeface="Calibri"/>
              <a:cs typeface="Calibri"/>
              <a:sym typeface="Calibri"/>
            </a:endParaRPr>
          </a:p>
        </p:txBody>
      </p:sp>
      <p:sp>
        <p:nvSpPr>
          <p:cNvPr id="139" name="Google Shape;139;p22"/>
          <p:cNvSpPr txBox="1"/>
          <p:nvPr/>
        </p:nvSpPr>
        <p:spPr>
          <a:xfrm>
            <a:off x="4638225" y="384550"/>
            <a:ext cx="4392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xxxxx</a:t>
            </a:r>
            <a:endParaRPr sz="1000">
              <a:solidFill>
                <a:schemeClr val="dk1"/>
              </a:solidFill>
              <a:latin typeface="Calibri"/>
              <a:ea typeface="Calibri"/>
              <a:cs typeface="Calibri"/>
              <a:sym typeface="Calibri"/>
            </a:endParaRPr>
          </a:p>
        </p:txBody>
      </p:sp>
      <p:pic>
        <p:nvPicPr>
          <p:cNvPr id="140" name="Google Shape;140;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2400" y="755350"/>
            <a:ext cx="3700877" cy="423574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936950" y="662175"/>
            <a:ext cx="55887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https://www.youtube.com/watch?v=gvByePmV3sA</a:t>
            </a:r>
            <a:r>
              <a:rPr lang="en" sz="1300">
                <a:solidFill>
                  <a:schemeClr val="dk1"/>
                </a:solidFill>
                <a:latin typeface="Calibri"/>
                <a:ea typeface="Calibri"/>
                <a:cs typeface="Calibri"/>
                <a:sym typeface="Calibri"/>
              </a:rPr>
              <a:t> - video in Russian</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Assistants - custom GPTs (bots) - average price $200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Bot for website (help visitors) - wide range of prices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Bot for Telegram, WhatsApp, Facebook, Instagram</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(automation, integration, content creation) $300+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Voice assistants (audio) $500+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Automation of processes, automation of training, work with tabular data</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Creation of bots in Telegram (example - bot-lawyer, bot-designer, bot-travel-planner, ...)</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Same GPTs on 1-page sites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AI to create content (text, images, 3d-avatars, ... ) - Heygen</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Content for TikTok</a:t>
            </a:r>
            <a:endParaRPr sz="13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Here is more (in English):</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https://www.youtube.com/watch?v=H1CaGhYvCqU</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https://www.youtube.com/watch?v=-d6oXmvEvZQ</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https://www.youtube.com/watch?v=-d6oXmvEvZQ</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https://www.youtube.com/watch?v=I40JZGcfgtk</a:t>
            </a:r>
            <a:r>
              <a:rPr lang="en" sz="1300">
                <a:solidFill>
                  <a:schemeClr val="dk1"/>
                </a:solidFill>
                <a:latin typeface="Calibri"/>
                <a:ea typeface="Calibri"/>
                <a:cs typeface="Calibri"/>
                <a:sym typeface="Calibri"/>
              </a:rPr>
              <a:t> - </a:t>
            </a:r>
            <a:endParaRPr sz="1300">
              <a:solidFill>
                <a:schemeClr val="dk1"/>
              </a:solidFill>
              <a:latin typeface="Calibri"/>
              <a:ea typeface="Calibri"/>
              <a:cs typeface="Calibri"/>
              <a:sym typeface="Calibri"/>
            </a:endParaRPr>
          </a:p>
        </p:txBody>
      </p:sp>
      <p:sp>
        <p:nvSpPr>
          <p:cNvPr id="146" name="Google Shape;146;p23"/>
          <p:cNvSpPr txBox="1"/>
          <p:nvPr/>
        </p:nvSpPr>
        <p:spPr>
          <a:xfrm>
            <a:off x="-38050" y="-108050"/>
            <a:ext cx="5102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Most profitable business ideas with AI</a:t>
            </a:r>
            <a:endParaRPr sz="2000" b="1" i="0" u="none" strike="noStrike" cap="none">
              <a:solidFill>
                <a:srgbClr val="000000"/>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4"/>
          <p:cNvSpPr txBox="1"/>
          <p:nvPr/>
        </p:nvSpPr>
        <p:spPr>
          <a:xfrm>
            <a:off x="78050" y="384550"/>
            <a:ext cx="4392000" cy="4220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So many updates in Gen AI field !</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So much information! So many choices!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is stressful.</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For a customer to feel safe about starting using AI, you need to position yourself as an </a:t>
            </a:r>
            <a:r>
              <a:rPr lang="en" sz="1300" b="1">
                <a:solidFill>
                  <a:srgbClr val="FF0000"/>
                </a:solidFill>
                <a:latin typeface="Calibri"/>
                <a:ea typeface="Calibri"/>
                <a:cs typeface="Calibri"/>
                <a:sym typeface="Calibri"/>
              </a:rPr>
              <a:t>"obvious expert"</a:t>
            </a:r>
            <a:r>
              <a:rPr lang="en" sz="1300">
                <a:solidFill>
                  <a:schemeClr val="dk1"/>
                </a:solidFill>
                <a:latin typeface="Calibri"/>
                <a:ea typeface="Calibri"/>
                <a:cs typeface="Calibri"/>
                <a:sym typeface="Calibri"/>
              </a:rPr>
              <a:t>. To establish authority.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You need to </a:t>
            </a:r>
            <a:r>
              <a:rPr lang="en" sz="1300" b="1">
                <a:solidFill>
                  <a:srgbClr val="FF0000"/>
                </a:solidFill>
                <a:latin typeface="Calibri"/>
                <a:ea typeface="Calibri"/>
                <a:cs typeface="Calibri"/>
                <a:sym typeface="Calibri"/>
              </a:rPr>
              <a:t>clarify and simplify the choices for them, remove the stress, the "overwhelm"</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It is not possible to educate someone in just one lesson. So you need to create some sort of </a:t>
            </a:r>
            <a:r>
              <a:rPr lang="en" sz="1300" b="1">
                <a:solidFill>
                  <a:srgbClr val="FF0000"/>
                </a:solidFill>
                <a:latin typeface="Calibri"/>
                <a:ea typeface="Calibri"/>
                <a:cs typeface="Calibri"/>
                <a:sym typeface="Calibri"/>
              </a:rPr>
              <a:t>sequence, a step-by-step coaching, a subscription, a continuous training program</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Each customer is different. You need to work with them on their specific problem, </a:t>
            </a:r>
            <a:r>
              <a:rPr lang="en" sz="1300" b="1">
                <a:solidFill>
                  <a:srgbClr val="FF0000"/>
                </a:solidFill>
                <a:latin typeface="Calibri"/>
                <a:ea typeface="Calibri"/>
                <a:cs typeface="Calibri"/>
                <a:sym typeface="Calibri"/>
              </a:rPr>
              <a:t>customize the solution</a:t>
            </a:r>
            <a:r>
              <a:rPr lang="en" sz="1300">
                <a:solidFill>
                  <a:schemeClr val="dk1"/>
                </a:solidFill>
                <a:latin typeface="Calibri"/>
                <a:ea typeface="Calibri"/>
                <a:cs typeface="Calibri"/>
                <a:sym typeface="Calibri"/>
              </a:rPr>
              <a:t>, and advise them on the fastest route to the right solution for them.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Help people to act on the information and make real progress</a:t>
            </a:r>
            <a:r>
              <a:rPr lang="en" sz="1300">
                <a:solidFill>
                  <a:schemeClr val="dk1"/>
                </a:solidFill>
                <a:latin typeface="Calibri"/>
                <a:ea typeface="Calibri"/>
                <a:cs typeface="Calibri"/>
                <a:sym typeface="Calibri"/>
              </a:rPr>
              <a:t>. This makes you far more valuable in today's content-saturated market.</a:t>
            </a:r>
            <a:endParaRPr sz="1300">
              <a:solidFill>
                <a:schemeClr val="dk1"/>
              </a:solidFill>
              <a:latin typeface="Calibri"/>
              <a:ea typeface="Calibri"/>
              <a:cs typeface="Calibri"/>
              <a:sym typeface="Calibri"/>
            </a:endParaRPr>
          </a:p>
        </p:txBody>
      </p:sp>
      <p:sp>
        <p:nvSpPr>
          <p:cNvPr id="152" name="Google Shape;152;p24"/>
          <p:cNvSpPr txBox="1"/>
          <p:nvPr/>
        </p:nvSpPr>
        <p:spPr>
          <a:xfrm>
            <a:off x="35891" y="-34109"/>
            <a:ext cx="2958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Information Overload</a:t>
            </a:r>
            <a:endParaRPr sz="2000" b="1" i="0" u="none" strike="noStrike" cap="none">
              <a:solidFill>
                <a:srgbClr val="000000"/>
              </a:solidFill>
              <a:latin typeface="Calibri"/>
              <a:ea typeface="Calibri"/>
              <a:cs typeface="Calibri"/>
              <a:sym typeface="Calibri"/>
            </a:endParaRPr>
          </a:p>
        </p:txBody>
      </p:sp>
      <p:sp>
        <p:nvSpPr>
          <p:cNvPr id="153" name="Google Shape;153;p24"/>
          <p:cNvSpPr txBox="1"/>
          <p:nvPr/>
        </p:nvSpPr>
        <p:spPr>
          <a:xfrm>
            <a:off x="4669775" y="384550"/>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Interest for information products (lessons) dropped down in last 4 years - </a:t>
            </a:r>
            <a:r>
              <a:rPr lang="en" sz="1300" u="sng">
                <a:solidFill>
                  <a:schemeClr val="hlink"/>
                </a:solidFill>
                <a:latin typeface="Calibri"/>
                <a:ea typeface="Calibri"/>
                <a:cs typeface="Calibri"/>
                <a:sym typeface="Calibri"/>
                <a:hlinkClick r:id="rId3"/>
              </a:rPr>
              <a:t>https://www.youtube.com/watch?v=BMndJYa_KbM</a:t>
            </a:r>
            <a:r>
              <a:rPr lang="en" sz="13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54" name="Google Shape;154;p24"/>
          <p:cNvSpPr txBox="1"/>
          <p:nvPr/>
        </p:nvSpPr>
        <p:spPr>
          <a:xfrm>
            <a:off x="4669780" y="0"/>
            <a:ext cx="439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Selling Information Stopped Working</a:t>
            </a:r>
            <a:endParaRPr sz="2000" b="1" i="0" u="none" strike="noStrike" cap="none">
              <a:solidFill>
                <a:srgbClr val="000000"/>
              </a:solidFill>
              <a:latin typeface="Calibri"/>
              <a:ea typeface="Calibri"/>
              <a:cs typeface="Calibri"/>
              <a:sym typeface="Calibri"/>
            </a:endParaRPr>
          </a:p>
        </p:txBody>
      </p:sp>
      <p:sp>
        <p:nvSpPr>
          <p:cNvPr id="155" name="Google Shape;155;p24"/>
          <p:cNvSpPr txBox="1"/>
          <p:nvPr/>
        </p:nvSpPr>
        <p:spPr>
          <a:xfrm>
            <a:off x="4669775" y="3683575"/>
            <a:ext cx="4392000" cy="101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Stop selling information.</a:t>
            </a:r>
            <a:endParaRPr sz="13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Sell implementation and human-to-human interaction</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consulting, working together</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human training, training groups, community/cohorts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 make it convenient and pleasant</a:t>
            </a:r>
            <a:endParaRPr sz="1000">
              <a:solidFill>
                <a:schemeClr val="dk1"/>
              </a:solidFill>
              <a:latin typeface="Calibri"/>
              <a:ea typeface="Calibri"/>
              <a:cs typeface="Calibri"/>
              <a:sym typeface="Calibri"/>
            </a:endParaRPr>
          </a:p>
        </p:txBody>
      </p:sp>
      <p:pic>
        <p:nvPicPr>
          <p:cNvPr id="156" name="Google Shape;156;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14125" y="1308275"/>
            <a:ext cx="3025801" cy="1870075"/>
          </a:xfrm>
          <a:prstGeom prst="rect">
            <a:avLst/>
          </a:prstGeom>
          <a:noFill/>
          <a:ln>
            <a:noFill/>
          </a:ln>
        </p:spPr>
      </p:pic>
      <p:sp>
        <p:nvSpPr>
          <p:cNvPr id="157" name="Google Shape;157;p24"/>
          <p:cNvSpPr/>
          <p:nvPr/>
        </p:nvSpPr>
        <p:spPr>
          <a:xfrm>
            <a:off x="5693575" y="2655551"/>
            <a:ext cx="363000" cy="159300"/>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8" name="Google Shape;158;p24"/>
          <p:cNvSpPr txBox="1"/>
          <p:nvPr/>
        </p:nvSpPr>
        <p:spPr>
          <a:xfrm>
            <a:off x="4752453" y="2651131"/>
            <a:ext cx="885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Dropped to Zero</a:t>
            </a:r>
            <a:endParaRPr sz="1000">
              <a:solidFill>
                <a:schemeClr val="dk1"/>
              </a:solidFill>
              <a:latin typeface="Calibri"/>
              <a:ea typeface="Calibri"/>
              <a:cs typeface="Calibri"/>
              <a:sym typeface="Calibri"/>
            </a:endParaRPr>
          </a:p>
        </p:txBody>
      </p:sp>
      <p:sp>
        <p:nvSpPr>
          <p:cNvPr id="159" name="Google Shape;159;p24"/>
          <p:cNvSpPr/>
          <p:nvPr/>
        </p:nvSpPr>
        <p:spPr>
          <a:xfrm>
            <a:off x="5693575" y="1860050"/>
            <a:ext cx="363000" cy="159300"/>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24"/>
          <p:cNvSpPr txBox="1"/>
          <p:nvPr/>
        </p:nvSpPr>
        <p:spPr>
          <a:xfrm>
            <a:off x="4752438" y="1772657"/>
            <a:ext cx="885000" cy="32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Maxed out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during COVID</a:t>
            </a:r>
            <a:endParaRPr sz="10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5"/>
          <p:cNvSpPr txBox="1"/>
          <p:nvPr/>
        </p:nvSpPr>
        <p:spPr>
          <a:xfrm>
            <a:off x="78050" y="450550"/>
            <a:ext cx="43920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will use Stack Overflow's OverflowAPI</a:t>
            </a:r>
            <a:r>
              <a:rPr lang="en" sz="1300">
                <a:solidFill>
                  <a:schemeClr val="dk1"/>
                </a:solidFill>
                <a:latin typeface="Calibri"/>
                <a:ea typeface="Calibri"/>
                <a:cs typeface="Calibri"/>
                <a:sym typeface="Calibri"/>
              </a:rPr>
              <a:t> to access the platform's vast repository of technical Q&amp;A data accumulated over 15 years.</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partnership aims to make ChatGPT better at providing coding answers by leveraging Stack Overflow's community-verified content.</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Each ChatGPT response using Stack Overflow data will link back to relevant posts, fostering deeper engagement with the developer community.</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The move marks a major change for the platform, which previously banned AI responses — though has since also partnered with Google’s Gemini.</a:t>
            </a:r>
            <a:endParaRPr sz="1300">
              <a:solidFill>
                <a:schemeClr val="dk1"/>
              </a:solidFill>
              <a:latin typeface="Calibri"/>
              <a:ea typeface="Calibri"/>
              <a:cs typeface="Calibri"/>
              <a:sym typeface="Calibri"/>
            </a:endParaRPr>
          </a:p>
        </p:txBody>
      </p:sp>
      <p:sp>
        <p:nvSpPr>
          <p:cNvPr id="166" name="Google Shape;166;p25"/>
          <p:cNvSpPr txBox="1"/>
          <p:nvPr/>
        </p:nvSpPr>
        <p:spPr>
          <a:xfrm>
            <a:off x="78050" y="0"/>
            <a:ext cx="14214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1</a:t>
            </a:r>
            <a:endParaRPr sz="2000" b="1" i="0" u="none" strike="noStrike" cap="none">
              <a:solidFill>
                <a:srgbClr val="000000"/>
              </a:solidFill>
              <a:latin typeface="Calibri"/>
              <a:ea typeface="Calibri"/>
              <a:cs typeface="Calibri"/>
              <a:sym typeface="Calibri"/>
            </a:endParaRPr>
          </a:p>
        </p:txBody>
      </p:sp>
      <p:sp>
        <p:nvSpPr>
          <p:cNvPr id="167" name="Google Shape;167;p25"/>
          <p:cNvSpPr txBox="1"/>
          <p:nvPr/>
        </p:nvSpPr>
        <p:spPr>
          <a:xfrm>
            <a:off x="78050" y="2919200"/>
            <a:ext cx="43920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Warren Buffett </a:t>
            </a:r>
            <a:r>
              <a:rPr lang="en" sz="1300">
                <a:solidFill>
                  <a:schemeClr val="dk1"/>
                </a:solidFill>
                <a:latin typeface="Calibri"/>
                <a:ea typeface="Calibri"/>
                <a:cs typeface="Calibri"/>
                <a:sym typeface="Calibri"/>
              </a:rPr>
              <a:t>warns about </a:t>
            </a:r>
            <a:r>
              <a:rPr lang="en" sz="1300" b="1">
                <a:solidFill>
                  <a:srgbClr val="FF0000"/>
                </a:solidFill>
                <a:latin typeface="Calibri"/>
                <a:ea typeface="Calibri"/>
                <a:cs typeface="Calibri"/>
                <a:sym typeface="Calibri"/>
              </a:rPr>
              <a:t>AI scamming</a:t>
            </a:r>
            <a:r>
              <a:rPr lang="en" sz="1300">
                <a:solidFill>
                  <a:schemeClr val="dk1"/>
                </a:solidFill>
                <a:latin typeface="Calibri"/>
                <a:ea typeface="Calibri"/>
                <a:cs typeface="Calibri"/>
                <a:sym typeface="Calibri"/>
              </a:rPr>
              <a:t>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(calls it the next big ‘growth industry’)</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3"/>
              </a:rPr>
              <a:t>https://www.cnbc.com/2024/05/04/warren-buffett-says-ai-scamming-will-be-the-next-big-growth-industry.html</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168" name="Google Shape;168;p25"/>
          <p:cNvSpPr txBox="1"/>
          <p:nvPr/>
        </p:nvSpPr>
        <p:spPr>
          <a:xfrm>
            <a:off x="78050" y="3787050"/>
            <a:ext cx="43920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Elon Musk plans to </a:t>
            </a:r>
            <a:r>
              <a:rPr lang="en" sz="1300" b="1">
                <a:solidFill>
                  <a:srgbClr val="FF0000"/>
                </a:solidFill>
                <a:latin typeface="Calibri"/>
                <a:ea typeface="Calibri"/>
                <a:cs typeface="Calibri"/>
                <a:sym typeface="Calibri"/>
              </a:rPr>
              <a:t>enhance X's AI, Grok, to merge live news with social media commentary</a:t>
            </a:r>
            <a:r>
              <a:rPr lang="en" sz="1300">
                <a:solidFill>
                  <a:schemeClr val="dk1"/>
                </a:solidFill>
                <a:latin typeface="Calibri"/>
                <a:ea typeface="Calibri"/>
                <a:cs typeface="Calibri"/>
                <a:sym typeface="Calibri"/>
              </a:rPr>
              <a:t> to provide updates and citations in real time. Grok will generate news summaries from user discussions on X, focusing on engagement and accuracy. </a:t>
            </a:r>
            <a:endParaRPr sz="1300">
              <a:solidFill>
                <a:schemeClr val="dk1"/>
              </a:solidFill>
              <a:latin typeface="Calibri"/>
              <a:ea typeface="Calibri"/>
              <a:cs typeface="Calibri"/>
              <a:sym typeface="Calibri"/>
            </a:endParaRPr>
          </a:p>
        </p:txBody>
      </p:sp>
      <p:sp>
        <p:nvSpPr>
          <p:cNvPr id="169" name="Google Shape;169;p25"/>
          <p:cNvSpPr txBox="1"/>
          <p:nvPr/>
        </p:nvSpPr>
        <p:spPr>
          <a:xfrm>
            <a:off x="4638225" y="475306"/>
            <a:ext cx="4392000" cy="77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ScrapeGraphAI</a:t>
            </a:r>
            <a:r>
              <a:rPr lang="en" sz="1300">
                <a:solidFill>
                  <a:schemeClr val="dk1"/>
                </a:solidFill>
                <a:latin typeface="Calibri"/>
                <a:ea typeface="Calibri"/>
                <a:cs typeface="Calibri"/>
                <a:sym typeface="Calibri"/>
              </a:rPr>
              <a:t> is a web scraping python library that uses LLM and direct graph logic to create scraping pipelines for websites, documents and XML files.  </a:t>
            </a:r>
            <a:r>
              <a:rPr lang="en" sz="1300" b="1">
                <a:solidFill>
                  <a:srgbClr val="3C78D8"/>
                </a:solidFill>
                <a:latin typeface="Calibri"/>
                <a:ea typeface="Calibri"/>
                <a:cs typeface="Calibri"/>
                <a:sym typeface="Calibri"/>
              </a:rPr>
              <a:t>pip install scrapegraphai</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https://github.com/VinciGit00/Scrapegraph-ai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70" name="Google Shape;170;p25"/>
          <p:cNvSpPr txBox="1"/>
          <p:nvPr/>
        </p:nvSpPr>
        <p:spPr>
          <a:xfrm>
            <a:off x="78050" y="4654900"/>
            <a:ext cx="43920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gpt2-chatbot is back online:</a:t>
            </a:r>
            <a:endParaRPr sz="1300">
              <a:solidFill>
                <a:schemeClr val="dk1"/>
              </a:solidFill>
              <a:latin typeface="Calibri"/>
              <a:ea typeface="Calibri"/>
              <a:cs typeface="Calibri"/>
              <a:sym typeface="Calibri"/>
            </a:endParaRPr>
          </a:p>
        </p:txBody>
      </p:sp>
      <p:sp>
        <p:nvSpPr>
          <p:cNvPr id="171" name="Google Shape;171;p25"/>
          <p:cNvSpPr txBox="1"/>
          <p:nvPr/>
        </p:nvSpPr>
        <p:spPr>
          <a:xfrm>
            <a:off x="4638225" y="1830825"/>
            <a:ext cx="43920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AlphaFold 3</a:t>
            </a:r>
            <a:r>
              <a:rPr lang="en" sz="1300">
                <a:solidFill>
                  <a:schemeClr val="dk1"/>
                </a:solidFill>
                <a:latin typeface="Calibri"/>
                <a:ea typeface="Calibri"/>
                <a:cs typeface="Calibri"/>
                <a:sym typeface="Calibri"/>
              </a:rPr>
              <a:t> (Google DeepMind and Isomorphic Labs) predicts the structure and interactions of all of life’s molecules</a:t>
            </a:r>
            <a:endParaRPr sz="13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https://blog.google/technology/ai/google-deepmind-isomorphic-alphafold-3-ai-model/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https://www.nature.com/articles/s41586-024-07487-w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https://www.youtube.com/watch?v=Mz7Qp73lj9o</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72" name="Google Shape;172;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078474" y="2921900"/>
            <a:ext cx="1951751" cy="1440050"/>
          </a:xfrm>
          <a:prstGeom prst="rect">
            <a:avLst/>
          </a:prstGeom>
          <a:noFill/>
          <a:ln>
            <a:noFill/>
          </a:ln>
        </p:spPr>
      </p:pic>
      <p:sp>
        <p:nvSpPr>
          <p:cNvPr id="173" name="Google Shape;173;p25"/>
          <p:cNvSpPr txBox="1"/>
          <p:nvPr/>
        </p:nvSpPr>
        <p:spPr>
          <a:xfrm>
            <a:off x="4638225" y="1324579"/>
            <a:ext cx="4392000" cy="41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DocRes</a:t>
            </a:r>
            <a:r>
              <a:rPr lang="en" sz="1300">
                <a:solidFill>
                  <a:schemeClr val="dk1"/>
                </a:solidFill>
                <a:latin typeface="Calibri"/>
                <a:ea typeface="Calibri"/>
                <a:cs typeface="Calibri"/>
                <a:sym typeface="Calibri"/>
              </a:rPr>
              <a:t> - Document Image Restoration</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u="sng">
                <a:solidFill>
                  <a:schemeClr val="hlink"/>
                </a:solidFill>
                <a:latin typeface="Calibri"/>
                <a:ea typeface="Calibri"/>
                <a:cs typeface="Calibri"/>
                <a:sym typeface="Calibri"/>
                <a:hlinkClick r:id="rId9"/>
              </a:rPr>
              <a:t>https://github.com/zzzhang-jx/docres</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6"/>
          <p:cNvSpPr txBox="1"/>
          <p:nvPr/>
        </p:nvSpPr>
        <p:spPr>
          <a:xfrm>
            <a:off x="78050" y="2882396"/>
            <a:ext cx="4392000" cy="97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OpenAI Public Model Specification</a:t>
            </a:r>
            <a:r>
              <a:rPr lang="en" sz="1300">
                <a:solidFill>
                  <a:schemeClr val="dk1"/>
                </a:solidFill>
                <a:latin typeface="Calibri"/>
                <a:ea typeface="Calibri"/>
                <a:cs typeface="Calibri"/>
                <a:sym typeface="Calibri"/>
              </a:rPr>
              <a:t>:</a:t>
            </a:r>
            <a:br>
              <a:rPr lang="en" sz="13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https://openai.com/index/introducing-the-model-spec/</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Public specification on model behavior - objectives, rules, and default behaviors. You can participate by filling out the form, and selecting the most important objectives and behaviors. </a:t>
            </a:r>
            <a:endParaRPr sz="1300">
              <a:solidFill>
                <a:schemeClr val="dk1"/>
              </a:solidFill>
              <a:latin typeface="Calibri"/>
              <a:ea typeface="Calibri"/>
              <a:cs typeface="Calibri"/>
              <a:sym typeface="Calibri"/>
            </a:endParaRPr>
          </a:p>
        </p:txBody>
      </p:sp>
      <p:sp>
        <p:nvSpPr>
          <p:cNvPr id="179" name="Google Shape;179;p26"/>
          <p:cNvSpPr txBox="1"/>
          <p:nvPr/>
        </p:nvSpPr>
        <p:spPr>
          <a:xfrm>
            <a:off x="-38050" y="-108050"/>
            <a:ext cx="5908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a:solidFill>
                  <a:schemeClr val="dk1"/>
                </a:solidFill>
                <a:latin typeface="Calibri"/>
                <a:ea typeface="Calibri"/>
                <a:cs typeface="Calibri"/>
                <a:sym typeface="Calibri"/>
              </a:rPr>
              <a:t>Misc 2</a:t>
            </a:r>
            <a:endParaRPr sz="2000" b="1" i="0" u="none" strike="noStrike" cap="none">
              <a:solidFill>
                <a:srgbClr val="000000"/>
              </a:solidFill>
              <a:latin typeface="Calibri"/>
              <a:ea typeface="Calibri"/>
              <a:cs typeface="Calibri"/>
              <a:sym typeface="Calibri"/>
            </a:endParaRPr>
          </a:p>
        </p:txBody>
      </p:sp>
      <p:sp>
        <p:nvSpPr>
          <p:cNvPr id="180" name="Google Shape;180;p26"/>
          <p:cNvSpPr txBox="1"/>
          <p:nvPr/>
        </p:nvSpPr>
        <p:spPr>
          <a:xfrm>
            <a:off x="78050" y="3926064"/>
            <a:ext cx="4392000" cy="37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DeepLearning.ai - Building Agentic RAG with LlamaIndex</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4"/>
              </a:rPr>
              <a:t>https://www.deeplearning.ai/short-courses/building-agentic-rag-with-llamaindex/</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81" name="Google Shape;181;p26"/>
          <p:cNvSpPr txBox="1"/>
          <p:nvPr/>
        </p:nvSpPr>
        <p:spPr>
          <a:xfrm>
            <a:off x="78050" y="4367264"/>
            <a:ext cx="4392000" cy="72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Paris-based Mistral AI is raising up to $600 Mln at $6 Bln valuation - x3 times its valuation in December.</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5"/>
              </a:rPr>
              <a:t>https://techcrunch.com/2024/05/09/sources-mistral-ai-raising-at-a-6b-valuation-softbank-not-in-but-dst-is/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82" name="Google Shape;182;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30825" y="443225"/>
            <a:ext cx="4369153" cy="3048127"/>
          </a:xfrm>
          <a:prstGeom prst="rect">
            <a:avLst/>
          </a:prstGeom>
          <a:noFill/>
          <a:ln w="9525" cap="flat" cmpd="sng">
            <a:solidFill>
              <a:srgbClr val="FF0000"/>
            </a:solidFill>
            <a:prstDash val="solid"/>
            <a:round/>
            <a:headEnd type="none" w="sm" len="sm"/>
            <a:tailEnd type="none" w="sm" len="sm"/>
          </a:ln>
        </p:spPr>
      </p:pic>
      <p:sp>
        <p:nvSpPr>
          <p:cNvPr id="183" name="Google Shape;183;p26"/>
          <p:cNvSpPr txBox="1"/>
          <p:nvPr/>
        </p:nvSpPr>
        <p:spPr>
          <a:xfrm>
            <a:off x="78050" y="443225"/>
            <a:ext cx="43920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DeepSeek-V2</a:t>
            </a:r>
            <a:r>
              <a:rPr lang="en" sz="1300">
                <a:solidFill>
                  <a:schemeClr val="dk1"/>
                </a:solidFill>
                <a:latin typeface="Calibri"/>
                <a:ea typeface="Calibri"/>
                <a:cs typeface="Calibri"/>
                <a:sym typeface="Calibri"/>
              </a:rPr>
              <a:t>, an open-source LLM</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DeepSeek (深度求索) is a Chinese company focused on artificial general intelligence (AGI), was founded in 2023</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6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MoE LM, 236B total params, activating 21B per token</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128K context length</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AlignBench: in top 3, better than GPT-4, close to GPT-4-Turbo</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MT-Bench: rivaling LLaMa3-70B, better than Mixtral 8x22B</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Specializes in Math, Code, Reasoning</a:t>
            </a:r>
            <a:endParaRPr sz="1300">
              <a:solidFill>
                <a:schemeClr val="dk1"/>
              </a:solidFill>
              <a:latin typeface="Calibri"/>
              <a:ea typeface="Calibri"/>
              <a:cs typeface="Calibri"/>
              <a:sym typeface="Calibri"/>
            </a:endParaRPr>
          </a:p>
          <a:p>
            <a:pPr marL="228600" lvl="0" indent="-13970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not available on lmsys arena leaderboard</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https://www.deepseek.com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2065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https://github.com/deepseek-ai</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7"/>
          <p:cNvSpPr txBox="1"/>
          <p:nvPr/>
        </p:nvSpPr>
        <p:spPr>
          <a:xfrm>
            <a:off x="5650240" y="55346"/>
            <a:ext cx="1550400" cy="526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#models: 95.    </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Total #votes: 1,007,236.</a:t>
            </a:r>
            <a:endParaRPr sz="1100">
              <a:solidFill>
                <a:srgbClr val="1F2937"/>
              </a:solidFill>
              <a:highlight>
                <a:srgbClr val="FFFFFF"/>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a:solidFill>
                  <a:srgbClr val="1F2937"/>
                </a:solidFill>
                <a:highlight>
                  <a:srgbClr val="FFFFFF"/>
                </a:highlight>
                <a:latin typeface="Calibri"/>
                <a:ea typeface="Calibri"/>
                <a:cs typeface="Calibri"/>
                <a:sym typeface="Calibri"/>
              </a:rPr>
              <a:t>Last updated: 2024-05-08</a:t>
            </a:r>
            <a:endParaRPr sz="1100" b="1">
              <a:solidFill>
                <a:srgbClr val="FF0000"/>
              </a:solidFill>
              <a:latin typeface="Calibri"/>
              <a:ea typeface="Calibri"/>
              <a:cs typeface="Calibri"/>
              <a:sym typeface="Calibri"/>
            </a:endParaRPr>
          </a:p>
        </p:txBody>
      </p:sp>
      <p:sp>
        <p:nvSpPr>
          <p:cNvPr id="189" name="Google Shape;189;p27"/>
          <p:cNvSpPr txBox="1"/>
          <p:nvPr/>
        </p:nvSpPr>
        <p:spPr>
          <a:xfrm>
            <a:off x="7261325" y="523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190" name="Google Shape;190;p27"/>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191" name="Google Shape;191;p27"/>
          <p:cNvSpPr txBox="1"/>
          <p:nvPr/>
        </p:nvSpPr>
        <p:spPr>
          <a:xfrm>
            <a:off x="0" y="157800"/>
            <a:ext cx="20769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3"/>
              </a:rPr>
              <a:t>https://chat.lmsys.org/?leaderboard</a:t>
            </a:r>
            <a:r>
              <a:rPr lang="en" sz="1000">
                <a:solidFill>
                  <a:schemeClr val="dk1"/>
                </a:solidFill>
                <a:latin typeface="Calibri"/>
                <a:ea typeface="Calibri"/>
                <a:cs typeface="Calibri"/>
                <a:sym typeface="Calibri"/>
              </a:rPr>
              <a:t> </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192" name="Google Shape;192;p27"/>
          <p:cNvSpPr txBox="1"/>
          <p:nvPr/>
        </p:nvSpPr>
        <p:spPr>
          <a:xfrm>
            <a:off x="4011197" y="187519"/>
            <a:ext cx="13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English-only queries</a:t>
            </a:r>
            <a:endParaRPr sz="1200">
              <a:solidFill>
                <a:schemeClr val="dk1"/>
              </a:solidFill>
              <a:latin typeface="Calibri"/>
              <a:ea typeface="Calibri"/>
              <a:cs typeface="Calibri"/>
              <a:sym typeface="Calibri"/>
            </a:endParaRPr>
          </a:p>
        </p:txBody>
      </p:sp>
      <p:pic>
        <p:nvPicPr>
          <p:cNvPr id="193" name="Google Shape;193;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92225" y="496500"/>
            <a:ext cx="4365301" cy="3313969"/>
          </a:xfrm>
          <a:prstGeom prst="rect">
            <a:avLst/>
          </a:prstGeom>
          <a:noFill/>
          <a:ln>
            <a:noFill/>
          </a:ln>
        </p:spPr>
      </p:pic>
      <p:pic>
        <p:nvPicPr>
          <p:cNvPr id="194" name="Google Shape;194;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00789" y="3808267"/>
            <a:ext cx="4331074" cy="1292531"/>
          </a:xfrm>
          <a:prstGeom prst="rect">
            <a:avLst/>
          </a:prstGeom>
          <a:noFill/>
          <a:ln>
            <a:noFill/>
          </a:ln>
        </p:spPr>
      </p:pic>
      <p:pic>
        <p:nvPicPr>
          <p:cNvPr id="195" name="Google Shape;195;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85988" y="627925"/>
            <a:ext cx="4381674" cy="3051113"/>
          </a:xfrm>
          <a:prstGeom prst="rect">
            <a:avLst/>
          </a:prstGeom>
          <a:noFill/>
          <a:ln>
            <a:noFill/>
          </a:ln>
        </p:spPr>
      </p:pic>
      <p:pic>
        <p:nvPicPr>
          <p:cNvPr id="196" name="Google Shape;196;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89524" y="3679050"/>
            <a:ext cx="4331074" cy="1082762"/>
          </a:xfrm>
          <a:prstGeom prst="rect">
            <a:avLst/>
          </a:prstGeom>
          <a:noFill/>
          <a:ln>
            <a:noFill/>
          </a:ln>
        </p:spPr>
      </p:pic>
      <p:sp>
        <p:nvSpPr>
          <p:cNvPr id="197" name="Google Shape;197;p27"/>
          <p:cNvSpPr/>
          <p:nvPr/>
        </p:nvSpPr>
        <p:spPr>
          <a:xfrm>
            <a:off x="743275" y="1653127"/>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8" name="Google Shape;198;p27"/>
          <p:cNvSpPr/>
          <p:nvPr/>
        </p:nvSpPr>
        <p:spPr>
          <a:xfrm>
            <a:off x="743275" y="3237003"/>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9" name="Google Shape;199;p27"/>
          <p:cNvSpPr/>
          <p:nvPr/>
        </p:nvSpPr>
        <p:spPr>
          <a:xfrm>
            <a:off x="5338225" y="4118202"/>
            <a:ext cx="125400" cy="1254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04" name="Google Shape;204;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87275" y="587538"/>
            <a:ext cx="8366998" cy="3611792"/>
          </a:xfrm>
          <a:prstGeom prst="rect">
            <a:avLst/>
          </a:prstGeom>
          <a:noFill/>
          <a:ln>
            <a:noFill/>
          </a:ln>
        </p:spPr>
      </p:pic>
      <p:sp>
        <p:nvSpPr>
          <p:cNvPr id="205" name="Google Shape;205;p28"/>
          <p:cNvSpPr txBox="1"/>
          <p:nvPr/>
        </p:nvSpPr>
        <p:spPr>
          <a:xfrm>
            <a:off x="72300" y="76200"/>
            <a:ext cx="399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Tech Layoffs </a:t>
            </a:r>
            <a:r>
              <a:rPr lang="en" sz="2000" b="1">
                <a:solidFill>
                  <a:schemeClr val="dk1"/>
                </a:solidFill>
                <a:latin typeface="Calibri"/>
                <a:ea typeface="Calibri"/>
                <a:cs typeface="Calibri"/>
                <a:sym typeface="Calibri"/>
              </a:rPr>
              <a:t>were</a:t>
            </a:r>
            <a:r>
              <a:rPr lang="en" sz="2000" b="1" i="0" u="none" strike="noStrike" cap="none">
                <a:solidFill>
                  <a:schemeClr val="dk1"/>
                </a:solidFill>
                <a:latin typeface="Calibri"/>
                <a:ea typeface="Calibri"/>
                <a:cs typeface="Calibri"/>
                <a:sym typeface="Calibri"/>
              </a:rPr>
              <a:t> lower than in 2023</a:t>
            </a:r>
            <a:endParaRPr sz="2000" b="1" i="0" u="none" strike="noStrike" cap="none">
              <a:solidFill>
                <a:srgbClr val="000000"/>
              </a:solidFill>
              <a:latin typeface="Calibri"/>
              <a:ea typeface="Calibri"/>
              <a:cs typeface="Calibri"/>
              <a:sym typeface="Calibri"/>
            </a:endParaRPr>
          </a:p>
        </p:txBody>
      </p:sp>
      <p:sp>
        <p:nvSpPr>
          <p:cNvPr id="206" name="Google Shape;206;p28"/>
          <p:cNvSpPr txBox="1"/>
          <p:nvPr/>
        </p:nvSpPr>
        <p:spPr>
          <a:xfrm>
            <a:off x="6291625" y="109963"/>
            <a:ext cx="20025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4"/>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207" name="Google Shape;207;p28"/>
          <p:cNvSpPr txBox="1"/>
          <p:nvPr/>
        </p:nvSpPr>
        <p:spPr>
          <a:xfrm>
            <a:off x="387275" y="4278575"/>
            <a:ext cx="8367000" cy="738900"/>
          </a:xfrm>
          <a:prstGeom prst="rect">
            <a:avLst/>
          </a:prstGeom>
          <a:solidFill>
            <a:srgbClr val="FFF2CC"/>
          </a:solid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Salaries for AI engineers rose 12% from the third to fourth quarter last year</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The average salary for a senior AI engineer nationally is more than $190,000, according to Comprehensive.io.</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AI has a talent shortage, meaning </a:t>
            </a:r>
            <a:r>
              <a:rPr lang="en" sz="1200" b="1" i="0" u="none" strike="noStrike" cap="none">
                <a:solidFill>
                  <a:srgbClr val="FF0000"/>
                </a:solidFill>
                <a:latin typeface="Calibri"/>
                <a:ea typeface="Calibri"/>
                <a:cs typeface="Calibri"/>
                <a:sym typeface="Calibri"/>
              </a:rPr>
              <a:t>$1 Mln salary job offers! </a:t>
            </a:r>
            <a:r>
              <a:rPr lang="en" sz="1200" b="0" i="0" u="none" strike="noStrike" cap="none">
                <a:solidFill>
                  <a:srgbClr val="000000"/>
                </a:solidFill>
                <a:latin typeface="Calibri"/>
                <a:ea typeface="Calibri"/>
                <a:cs typeface="Calibri"/>
                <a:sym typeface="Calibri"/>
              </a:rPr>
              <a:t>Even during tech layoffs</a:t>
            </a:r>
            <a:endParaRPr sz="1200" b="0" i="0" u="none" strike="noStrike" cap="none">
              <a:solidFill>
                <a:srgbClr val="000000"/>
              </a:solidFill>
              <a:latin typeface="Calibri"/>
              <a:ea typeface="Calibri"/>
              <a:cs typeface="Calibri"/>
              <a:sym typeface="Calibri"/>
            </a:endParaRPr>
          </a:p>
        </p:txBody>
      </p:sp>
      <p:sp>
        <p:nvSpPr>
          <p:cNvPr id="208" name="Google Shape;208;p28"/>
          <p:cNvSpPr/>
          <p:nvPr/>
        </p:nvSpPr>
        <p:spPr>
          <a:xfrm>
            <a:off x="4170625" y="1597677"/>
            <a:ext cx="10764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 name="Google Shape;209;p28"/>
          <p:cNvSpPr/>
          <p:nvPr/>
        </p:nvSpPr>
        <p:spPr>
          <a:xfrm>
            <a:off x="6773830" y="1597677"/>
            <a:ext cx="1076400" cy="1665300"/>
          </a:xfrm>
          <a:prstGeom prst="rect">
            <a:avLst/>
          </a:prstGeom>
          <a:noFill/>
          <a:ln w="28575" cap="flat" cmpd="sng">
            <a:solidFill>
              <a:srgbClr val="00FF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29"/>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215" name="Google Shape;215;p2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16" name="Google Shape;216;p2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17" name="Google Shape;217;p2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218" name="Google Shape;218;p29"/>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19" name="Google Shape;219;p29"/>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2669</Words>
  <Application>Microsoft Macintosh PowerPoint</Application>
  <PresentationFormat>On-screen Show (16:9)</PresentationFormat>
  <Paragraphs>223</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2024-05-10T16:01:39Z</dcterms:modified>
</cp:coreProperties>
</file>