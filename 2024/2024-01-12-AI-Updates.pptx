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9144000" cy="5143500" type="screen16x9"/>
  <p:notesSz cx="6858000" cy="9144000"/>
  <p:embeddedFontLst>
    <p:embeddedFont>
      <p:font typeface="Roboto Mono" pitchFamily="49" charset="0"/>
      <p:regular r:id="rId31"/>
      <p:bold r:id="rId32"/>
      <p:italic r:id="rId33"/>
      <p:boldItalic r:id="rId3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E395200-7371-4445-A9BE-FC5547D44B40}">
  <a:tblStyle styleId="{2E395200-7371-4445-A9BE-FC5547D44B40}"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94"/>
  </p:normalViewPr>
  <p:slideViewPr>
    <p:cSldViewPr>
      <p:cViewPr varScale="1">
        <p:scale>
          <a:sx n="161" d="100"/>
          <a:sy n="161" d="100"/>
        </p:scale>
        <p:origin x="784"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3.fntdata"/><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2.fntdata"/><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p: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g277c3e955ac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 name="Google Shape;71;g277c3e955ac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g2ae8d5fd33c_1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 name="Google Shape;80;g2ae8d5fd33c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g1ee689af5d7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 name="Google Shape;91;g1ee689af5d7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g2ad278899f5_0_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 name="Google Shape;105;g2ad278899f5_0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g2ad278899f5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 name="Google Shape;115;g2ad278899f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
        <p:cNvGrpSpPr/>
        <p:nvPr/>
      </p:nvGrpSpPr>
      <p:grpSpPr>
        <a:xfrm>
          <a:off x="0" y="0"/>
          <a:ext cx="0" cy="0"/>
          <a:chOff x="0" y="0"/>
          <a:chExt cx="0" cy="0"/>
        </a:xfrm>
      </p:grpSpPr>
      <p:sp>
        <p:nvSpPr>
          <p:cNvPr id="123" name="Google Shape;123;g1ef1c5a9d92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 name="Google Shape;124;g1ef1c5a9d92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g1ef1c5a9d92_0_1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 name="Google Shape;132;g1ef1c5a9d92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g2ad2c197c5e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3" name="Google Shape;143;g2ad2c197c5e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g2ae82704064_0_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9" name="Google Shape;159;g2ae82704064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p:cNvGrpSpPr/>
        <p:nvPr/>
      </p:nvGrpSpPr>
      <p:grpSpPr>
        <a:xfrm>
          <a:off x="0" y="0"/>
          <a:ext cx="0" cy="0"/>
          <a:chOff x="0" y="0"/>
          <a:chExt cx="0" cy="0"/>
        </a:xfrm>
      </p:grpSpPr>
      <p:sp>
        <p:nvSpPr>
          <p:cNvPr id="175" name="Google Shape;175;g2ae0440c73d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6" name="Google Shape;176;g2ae0440c73d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
        <p:cNvGrpSpPr/>
        <p:nvPr/>
      </p:nvGrpSpPr>
      <p:grpSpPr>
        <a:xfrm>
          <a:off x="0" y="0"/>
          <a:ext cx="0" cy="0"/>
          <a:chOff x="0" y="0"/>
          <a:chExt cx="0" cy="0"/>
        </a:xfrm>
      </p:grpSpPr>
      <p:sp>
        <p:nvSpPr>
          <p:cNvPr id="187" name="Google Shape;187;g2ae0440c73d_0_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 name="Google Shape;188;g2ae0440c73d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p:cNvGrpSpPr/>
        <p:nvPr/>
      </p:nvGrpSpPr>
      <p:grpSpPr>
        <a:xfrm>
          <a:off x="0" y="0"/>
          <a:ext cx="0" cy="0"/>
          <a:chOff x="0" y="0"/>
          <a:chExt cx="0" cy="0"/>
        </a:xfrm>
      </p:grpSpPr>
      <p:sp>
        <p:nvSpPr>
          <p:cNvPr id="198" name="Google Shape;198;g1ee892301e7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9" name="Google Shape;199;g1ee892301e7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g2a9ffc56a77_0_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8" name="Google Shape;208;g2a9ffc56a77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2a9ffc56a77_0_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2a9ffc56a77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Google Shape;254;g265aba99801_0_7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5" name="Google Shape;255;g265aba99801_0_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g265aba99801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2" name="Google Shape;262;g265aba9980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p:cNvGrpSpPr/>
        <p:nvPr/>
      </p:nvGrpSpPr>
      <p:grpSpPr>
        <a:xfrm>
          <a:off x="0" y="0"/>
          <a:ext cx="0" cy="0"/>
          <a:chOff x="0" y="0"/>
          <a:chExt cx="0" cy="0"/>
        </a:xfrm>
      </p:grpSpPr>
      <p:sp>
        <p:nvSpPr>
          <p:cNvPr id="268" name="Google Shape;268;g1ee3445068b_0_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9" name="Google Shape;269;g1ee3445068b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g2adadf45363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8" name="Google Shape;288;g2adadf45363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6"/>
        <p:cNvGrpSpPr/>
        <p:nvPr/>
      </p:nvGrpSpPr>
      <p:grpSpPr>
        <a:xfrm>
          <a:off x="0" y="0"/>
          <a:ext cx="0" cy="0"/>
          <a:chOff x="0" y="0"/>
          <a:chExt cx="0" cy="0"/>
        </a:xfrm>
      </p:grpSpPr>
      <p:sp>
        <p:nvSpPr>
          <p:cNvPr id="297" name="Google Shape;297;g1ee8a65aefa_0_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8" name="Google Shape;298;g1ee8a65aefa_0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g1ef1c5a9d92_0_26: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g1ef1c5a9d92_0_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5"/>
        <p:cNvGrpSpPr/>
        <p:nvPr/>
      </p:nvGrpSpPr>
      <p:grpSpPr>
        <a:xfrm>
          <a:off x="0" y="0"/>
          <a:ext cx="0" cy="0"/>
          <a:chOff x="0" y="0"/>
          <a:chExt cx="0" cy="0"/>
        </a:xfrm>
      </p:grpSpPr>
      <p:sp>
        <p:nvSpPr>
          <p:cNvPr id="316" name="Google Shape;316;g1ef1e78aae7_0_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7" name="Google Shape;317;g1ef1e78aae7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ae4487d2b3_0_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3" name="Google Shape;323;g2ae4487d2b3_0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1ef1e78aae7_2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1ef1e78aae7_2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7"/>
        <p:cNvGrpSpPr/>
        <p:nvPr/>
      </p:nvGrpSpPr>
      <p:grpSpPr>
        <a:xfrm>
          <a:off x="0" y="0"/>
          <a:ext cx="0" cy="0"/>
          <a:chOff x="0" y="0"/>
          <a:chExt cx="0" cy="0"/>
        </a:xfrm>
      </p:grpSpPr>
      <p:sp>
        <p:nvSpPr>
          <p:cNvPr id="338" name="Google Shape;338;g2ae8d5fd33c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9" name="Google Shape;339;g2ae8d5fd33c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4"/>
        <p:cNvGrpSpPr/>
        <p:nvPr/>
      </p:nvGrpSpPr>
      <p:grpSpPr>
        <a:xfrm>
          <a:off x="0" y="0"/>
          <a:ext cx="0" cy="0"/>
          <a:chOff x="0" y="0"/>
          <a:chExt cx="0" cy="0"/>
        </a:xfrm>
      </p:grpSpPr>
      <p:sp>
        <p:nvSpPr>
          <p:cNvPr id="345" name="Google Shape;345;g265aba99801_0_4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6" name="Google Shape;346;g265aba99801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3"/>
        <p:cNvGrpSpPr/>
        <p:nvPr/>
      </p:nvGrpSpPr>
      <p:grpSpPr>
        <a:xfrm>
          <a:off x="0" y="0"/>
          <a:ext cx="0" cy="0"/>
          <a:chOff x="0" y="0"/>
          <a:chExt cx="0" cy="0"/>
        </a:xfrm>
      </p:grpSpPr>
      <p:sp>
        <p:nvSpPr>
          <p:cNvPr id="354" name="Google Shape;354;g25d3c59165e_0_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5" name="Google Shape;355;g25d3c59165e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2aabfee0e51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2aabfee0e5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628650" y="273844"/>
            <a:ext cx="7886700" cy="994200"/>
          </a:xfrm>
          <a:prstGeom prst="rect">
            <a:avLst/>
          </a:prstGeom>
          <a:noFill/>
          <a:ln>
            <a:noFill/>
          </a:ln>
        </p:spPr>
        <p:txBody>
          <a:bodyPr spcFirstLastPara="1" wrap="square" lIns="68575" tIns="68575" rIns="68575" bIns="68575" anchor="ctr" anchorCtr="0">
            <a:norm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lvl="1" algn="l" rtl="0">
              <a:lnSpc>
                <a:spcPct val="100000"/>
              </a:lnSpc>
              <a:spcBef>
                <a:spcPts val="0"/>
              </a:spcBef>
              <a:spcAft>
                <a:spcPts val="0"/>
              </a:spcAft>
              <a:buSzPts val="1100"/>
              <a:buNone/>
              <a:defRPr sz="1400"/>
            </a:lvl2pPr>
            <a:lvl3pPr lvl="2" algn="l" rtl="0">
              <a:lnSpc>
                <a:spcPct val="100000"/>
              </a:lnSpc>
              <a:spcBef>
                <a:spcPts val="0"/>
              </a:spcBef>
              <a:spcAft>
                <a:spcPts val="0"/>
              </a:spcAft>
              <a:buSzPts val="1100"/>
              <a:buNone/>
              <a:defRPr sz="1400"/>
            </a:lvl3pPr>
            <a:lvl4pPr lvl="3" algn="l" rtl="0">
              <a:lnSpc>
                <a:spcPct val="100000"/>
              </a:lnSpc>
              <a:spcBef>
                <a:spcPts val="0"/>
              </a:spcBef>
              <a:spcAft>
                <a:spcPts val="0"/>
              </a:spcAft>
              <a:buSzPts val="1100"/>
              <a:buNone/>
              <a:defRPr sz="1400"/>
            </a:lvl4pPr>
            <a:lvl5pPr lvl="4" algn="l" rtl="0">
              <a:lnSpc>
                <a:spcPct val="100000"/>
              </a:lnSpc>
              <a:spcBef>
                <a:spcPts val="0"/>
              </a:spcBef>
              <a:spcAft>
                <a:spcPts val="0"/>
              </a:spcAft>
              <a:buSzPts val="1100"/>
              <a:buNone/>
              <a:defRPr sz="1400"/>
            </a:lvl5pPr>
            <a:lvl6pPr lvl="5" algn="l" rtl="0">
              <a:lnSpc>
                <a:spcPct val="100000"/>
              </a:lnSpc>
              <a:spcBef>
                <a:spcPts val="0"/>
              </a:spcBef>
              <a:spcAft>
                <a:spcPts val="0"/>
              </a:spcAft>
              <a:buSzPts val="1100"/>
              <a:buNone/>
              <a:defRPr sz="1400"/>
            </a:lvl6pPr>
            <a:lvl7pPr lvl="6" algn="l" rtl="0">
              <a:lnSpc>
                <a:spcPct val="100000"/>
              </a:lnSpc>
              <a:spcBef>
                <a:spcPts val="0"/>
              </a:spcBef>
              <a:spcAft>
                <a:spcPts val="0"/>
              </a:spcAft>
              <a:buSzPts val="1100"/>
              <a:buNone/>
              <a:defRPr sz="1400"/>
            </a:lvl7pPr>
            <a:lvl8pPr lvl="7" algn="l" rtl="0">
              <a:lnSpc>
                <a:spcPct val="100000"/>
              </a:lnSpc>
              <a:spcBef>
                <a:spcPts val="0"/>
              </a:spcBef>
              <a:spcAft>
                <a:spcPts val="0"/>
              </a:spcAft>
              <a:buSzPts val="1100"/>
              <a:buNone/>
              <a:defRPr sz="1400"/>
            </a:lvl8pPr>
            <a:lvl9pPr lvl="8" algn="l" rtl="0">
              <a:lnSpc>
                <a:spcPct val="100000"/>
              </a:lnSpc>
              <a:spcBef>
                <a:spcPts val="0"/>
              </a:spcBef>
              <a:spcAft>
                <a:spcPts val="0"/>
              </a:spcAft>
              <a:buSzPts val="1100"/>
              <a:buNone/>
              <a:defRPr sz="1400"/>
            </a:lvl9pPr>
          </a:lstStyle>
          <a:p>
            <a:endParaRPr/>
          </a:p>
        </p:txBody>
      </p:sp>
      <p:sp>
        <p:nvSpPr>
          <p:cNvPr id="52" name="Google Shape;52;p13"/>
          <p:cNvSpPr txBox="1">
            <a:spLocks noGrp="1"/>
          </p:cNvSpPr>
          <p:nvPr>
            <p:ph type="body" idx="1"/>
          </p:nvPr>
        </p:nvSpPr>
        <p:spPr>
          <a:xfrm>
            <a:off x="628650" y="1369219"/>
            <a:ext cx="7886700" cy="3263400"/>
          </a:xfrm>
          <a:prstGeom prst="rect">
            <a:avLst/>
          </a:prstGeom>
          <a:noFill/>
          <a:ln>
            <a:noFill/>
          </a:ln>
        </p:spPr>
        <p:txBody>
          <a:bodyPr spcFirstLastPara="1" wrap="square" lIns="68575" tIns="68575" rIns="68575" bIns="68575" anchor="t" anchorCtr="0">
            <a:normAutofit/>
          </a:bodyPr>
          <a:lstStyle>
            <a:lvl1pPr marL="457200" marR="0" lvl="0" indent="-361950" algn="l" rtl="0">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53" name="Google Shape;53;p13"/>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SzPts val="1100"/>
              <a:buNone/>
              <a:defRPr sz="900">
                <a:solidFill>
                  <a:srgbClr val="888888"/>
                </a:solidFill>
                <a:latin typeface="Calibri"/>
                <a:ea typeface="Calibri"/>
                <a:cs typeface="Calibri"/>
                <a:sym typeface="Calibri"/>
              </a:defRPr>
            </a:lvl1pPr>
            <a:lvl2pPr marR="0" lvl="1"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9pPr>
          </a:lstStyle>
          <a:p>
            <a:endParaRPr/>
          </a:p>
        </p:txBody>
      </p:sp>
      <p:sp>
        <p:nvSpPr>
          <p:cNvPr id="54" name="Google Shape;54;p13"/>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SzPts val="1100"/>
              <a:buNone/>
              <a:defRPr sz="900">
                <a:solidFill>
                  <a:srgbClr val="888888"/>
                </a:solidFill>
                <a:latin typeface="Calibri"/>
                <a:ea typeface="Calibri"/>
                <a:cs typeface="Calibri"/>
                <a:sym typeface="Calibri"/>
              </a:defRPr>
            </a:lvl1pPr>
            <a:lvl2pPr marR="0" lvl="1"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9pPr>
          </a:lstStyle>
          <a:p>
            <a:endParaRPr/>
          </a:p>
        </p:txBody>
      </p:sp>
      <p:sp>
        <p:nvSpPr>
          <p:cNvPr id="55" name="Google Shape;55;p1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6"/>
        <p:cNvGrpSpPr/>
        <p:nvPr/>
      </p:nvGrpSpPr>
      <p:grpSpPr>
        <a:xfrm>
          <a:off x="0" y="0"/>
          <a:ext cx="0" cy="0"/>
          <a:chOff x="0" y="0"/>
          <a:chExt cx="0" cy="0"/>
        </a:xfrm>
      </p:grpSpPr>
      <p:sp>
        <p:nvSpPr>
          <p:cNvPr id="57" name="Google Shape;57;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rmAutofit/>
          </a:bodyPr>
          <a:lstStyle>
            <a:lvl1pPr marR="0" lvl="0" algn="l" rtl="0">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rtl="0">
              <a:lnSpc>
                <a:spcPct val="100000"/>
              </a:lnSpc>
              <a:spcBef>
                <a:spcPts val="0"/>
              </a:spcBef>
              <a:spcAft>
                <a:spcPts val="0"/>
              </a:spcAft>
              <a:buSzPts val="1100"/>
              <a:buNone/>
              <a:defRPr sz="1400"/>
            </a:lvl2pPr>
            <a:lvl3pPr lvl="2" algn="l" rtl="0">
              <a:lnSpc>
                <a:spcPct val="100000"/>
              </a:lnSpc>
              <a:spcBef>
                <a:spcPts val="0"/>
              </a:spcBef>
              <a:spcAft>
                <a:spcPts val="0"/>
              </a:spcAft>
              <a:buSzPts val="1100"/>
              <a:buNone/>
              <a:defRPr sz="1400"/>
            </a:lvl3pPr>
            <a:lvl4pPr lvl="3" algn="l" rtl="0">
              <a:lnSpc>
                <a:spcPct val="100000"/>
              </a:lnSpc>
              <a:spcBef>
                <a:spcPts val="0"/>
              </a:spcBef>
              <a:spcAft>
                <a:spcPts val="0"/>
              </a:spcAft>
              <a:buSzPts val="1100"/>
              <a:buNone/>
              <a:defRPr sz="1400"/>
            </a:lvl4pPr>
            <a:lvl5pPr lvl="4" algn="l" rtl="0">
              <a:lnSpc>
                <a:spcPct val="100000"/>
              </a:lnSpc>
              <a:spcBef>
                <a:spcPts val="0"/>
              </a:spcBef>
              <a:spcAft>
                <a:spcPts val="0"/>
              </a:spcAft>
              <a:buSzPts val="1100"/>
              <a:buNone/>
              <a:defRPr sz="1400"/>
            </a:lvl5pPr>
            <a:lvl6pPr lvl="5" algn="l" rtl="0">
              <a:lnSpc>
                <a:spcPct val="100000"/>
              </a:lnSpc>
              <a:spcBef>
                <a:spcPts val="0"/>
              </a:spcBef>
              <a:spcAft>
                <a:spcPts val="0"/>
              </a:spcAft>
              <a:buSzPts val="1100"/>
              <a:buNone/>
              <a:defRPr sz="1400"/>
            </a:lvl6pPr>
            <a:lvl7pPr lvl="6" algn="l" rtl="0">
              <a:lnSpc>
                <a:spcPct val="100000"/>
              </a:lnSpc>
              <a:spcBef>
                <a:spcPts val="0"/>
              </a:spcBef>
              <a:spcAft>
                <a:spcPts val="0"/>
              </a:spcAft>
              <a:buSzPts val="1100"/>
              <a:buNone/>
              <a:defRPr sz="1400"/>
            </a:lvl7pPr>
            <a:lvl8pPr lvl="7" algn="l" rtl="0">
              <a:lnSpc>
                <a:spcPct val="100000"/>
              </a:lnSpc>
              <a:spcBef>
                <a:spcPts val="0"/>
              </a:spcBef>
              <a:spcAft>
                <a:spcPts val="0"/>
              </a:spcAft>
              <a:buSzPts val="1100"/>
              <a:buNone/>
              <a:defRPr sz="1400"/>
            </a:lvl8pPr>
            <a:lvl9pPr lvl="8" algn="l" rtl="0">
              <a:lnSpc>
                <a:spcPct val="100000"/>
              </a:lnSpc>
              <a:spcBef>
                <a:spcPts val="0"/>
              </a:spcBef>
              <a:spcAft>
                <a:spcPts val="0"/>
              </a:spcAft>
              <a:buSzPts val="1100"/>
              <a:buNone/>
              <a:defRPr sz="1400"/>
            </a:lvl9pPr>
          </a:lstStyle>
          <a:p>
            <a:endParaRPr/>
          </a:p>
        </p:txBody>
      </p:sp>
      <p:sp>
        <p:nvSpPr>
          <p:cNvPr id="58" name="Google Shape;58;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rmAutofit/>
          </a:bodyPr>
          <a:lstStyle>
            <a:lvl1pPr marL="457200" marR="0" lvl="0" indent="-228600" algn="l" rtl="0">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9" name="Google Shape;59;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SzPts val="1100"/>
              <a:buNone/>
              <a:defRPr sz="900">
                <a:solidFill>
                  <a:srgbClr val="888888"/>
                </a:solidFill>
                <a:latin typeface="Calibri"/>
                <a:ea typeface="Calibri"/>
                <a:cs typeface="Calibri"/>
                <a:sym typeface="Calibri"/>
              </a:defRPr>
            </a:lvl1pPr>
            <a:lvl2pPr marR="0" lvl="1"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9pPr>
          </a:lstStyle>
          <a:p>
            <a:endParaRPr/>
          </a:p>
        </p:txBody>
      </p:sp>
      <p:sp>
        <p:nvSpPr>
          <p:cNvPr id="60" name="Google Shape;60;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SzPts val="1100"/>
              <a:buNone/>
              <a:defRPr sz="900">
                <a:solidFill>
                  <a:srgbClr val="888888"/>
                </a:solidFill>
                <a:latin typeface="Calibri"/>
                <a:ea typeface="Calibri"/>
                <a:cs typeface="Calibri"/>
                <a:sym typeface="Calibri"/>
              </a:defRPr>
            </a:lvl1pPr>
            <a:lvl2pPr marR="0" lvl="1"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9pPr>
          </a:lstStyle>
          <a:p>
            <a:endParaRPr/>
          </a:p>
        </p:txBody>
      </p:sp>
      <p:sp>
        <p:nvSpPr>
          <p:cNvPr id="61" name="Google Shape;61;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8" Type="http://schemas.openxmlformats.org/officeDocument/2006/relationships/hyperlink" Target="https://srush.github.io/annotated-s4/" TargetMode="External"/><Relationship Id="rId3" Type="http://schemas.openxmlformats.org/officeDocument/2006/relationships/hyperlink" Target="https://arxiv.org/abs/2312.00752" TargetMode="External"/><Relationship Id="rId7" Type="http://schemas.openxmlformats.org/officeDocument/2006/relationships/hyperlink" Target="https://arxiv.org/abs/2401.04722"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hyperlink" Target="https://arxiv.org/abs/2312.06635" TargetMode="External"/><Relationship Id="rId5" Type="http://schemas.openxmlformats.org/officeDocument/2006/relationships/hyperlink" Target="https://arxiv.org/abs/2401.04081" TargetMode="External"/><Relationship Id="rId10" Type="http://schemas.openxmlformats.org/officeDocument/2006/relationships/image" Target="../media/image3.png"/><Relationship Id="rId4" Type="http://schemas.openxmlformats.org/officeDocument/2006/relationships/hyperlink" Target="https://blog.oxen.ai/mamba-linear-time-sequence-modeling-with-selective-state-spaces-arxiv-dives/" TargetMode="External"/><Relationship Id="rId9" Type="http://schemas.openxmlformats.org/officeDocument/2006/relationships/hyperlink" Target="https://www.youtube.com/watch?v=GqwhkbrWDOI" TargetMode="External"/></Relationships>
</file>

<file path=ppt/slides/_rels/slide4.xml.rels><?xml version="1.0" encoding="UTF-8" standalone="yes"?>
<Relationships xmlns="http://schemas.openxmlformats.org/package/2006/relationships"><Relationship Id="rId8" Type="http://schemas.openxmlformats.org/officeDocument/2006/relationships/hyperlink" Target="https://github.com/lavawolfiee" TargetMode="External"/><Relationship Id="rId13" Type="http://schemas.openxmlformats.org/officeDocument/2006/relationships/hyperlink" Target="https://github.com/dvmazur" TargetMode="External"/><Relationship Id="rId3" Type="http://schemas.openxmlformats.org/officeDocument/2006/relationships/hyperlink" Target="https://arxiv.org/abs/2312.17238" TargetMode="External"/><Relationship Id="rId7" Type="http://schemas.openxmlformats.org/officeDocument/2006/relationships/hyperlink" Target="https://colab.research.google.com/github/dvmazur/mixtral-offloading/blob/master/notebooks/demo.ipynb" TargetMode="External"/><Relationship Id="rId12"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hyperlink" Target="https://github.com/dvmazur/mixtral-offloading/blob/master/notebooks/demo.ipynb" TargetMode="External"/><Relationship Id="rId11" Type="http://schemas.openxmlformats.org/officeDocument/2006/relationships/image" Target="../media/image6.jpeg"/><Relationship Id="rId5" Type="http://schemas.openxmlformats.org/officeDocument/2006/relationships/hyperlink" Target="https://twitter.com/rohanpaul_ai/status/1741103866047869222" TargetMode="External"/><Relationship Id="rId10" Type="http://schemas.openxmlformats.org/officeDocument/2006/relationships/image" Target="../media/image5.jpeg"/><Relationship Id="rId4" Type="http://schemas.openxmlformats.org/officeDocument/2006/relationships/hyperlink" Target="https://github.com/dvmazur/mixtral-offloading" TargetMode="External"/><Relationship Id="rId9" Type="http://schemas.openxmlformats.org/officeDocument/2006/relationships/image" Target="../media/image4.png"/><Relationship Id="rId1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hyperlink" Target="https://deepinfra.com" TargetMode="External"/><Relationship Id="rId7"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hyperlink" Target="https://venturebeat.com/data-infrastructure/deepinfra-emerges-from-stealth-with-8m-to-make-running-ai-inferences-more-affordable/" TargetMode="External"/><Relationship Id="rId4" Type="http://schemas.openxmlformats.org/officeDocument/2006/relationships/hyperlink" Target="https://twitter.com/DeepInfra" TargetMode="External"/></Relationships>
</file>

<file path=ppt/slides/_rels/slide6.xml.rels><?xml version="1.0" encoding="UTF-8" standalone="yes"?>
<Relationships xmlns="http://schemas.openxmlformats.org/package/2006/relationships"><Relationship Id="rId8" Type="http://schemas.openxmlformats.org/officeDocument/2006/relationships/hyperlink" Target="https://turbopuffer.com" TargetMode="External"/><Relationship Id="rId3" Type="http://schemas.openxmlformats.org/officeDocument/2006/relationships/hyperlink" Target="https://www.latent.space/about" TargetMode="External"/><Relationship Id="rId7" Type="http://schemas.openxmlformats.org/officeDocument/2006/relationships/hyperlink" Target="https://www.latent.space/p/dec-2023" TargetMode="External"/><Relationship Id="rId12" Type="http://schemas.openxmlformats.org/officeDocument/2006/relationships/hyperlink" Target="https://withmartian.com"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2.png"/><Relationship Id="rId11" Type="http://schemas.openxmlformats.org/officeDocument/2006/relationships/hyperlink" Target="https://docs.smith.langchain.com" TargetMode="External"/><Relationship Id="rId5" Type="http://schemas.openxmlformats.org/officeDocument/2006/relationships/image" Target="../media/image11.png"/><Relationship Id="rId10" Type="http://schemas.openxmlformats.org/officeDocument/2006/relationships/hyperlink" Target="https://www.openlayer.com" TargetMode="External"/><Relationship Id="rId4" Type="http://schemas.openxmlformats.org/officeDocument/2006/relationships/hyperlink" Target="https://www.youtube.com/@LatentSpaceTV" TargetMode="External"/><Relationship Id="rId9" Type="http://schemas.openxmlformats.org/officeDocument/2006/relationships/hyperlink" Target="https://humanloop.com" TargetMode="External"/></Relationships>
</file>

<file path=ppt/slides/_rels/slide7.xml.rels><?xml version="1.0" encoding="UTF-8" standalone="yes"?>
<Relationships xmlns="http://schemas.openxmlformats.org/package/2006/relationships"><Relationship Id="rId8" Type="http://schemas.openxmlformats.org/officeDocument/2006/relationships/hyperlink" Target="https://gptsdex.com" TargetMode="External"/><Relationship Id="rId3" Type="http://schemas.openxmlformats.org/officeDocument/2006/relationships/hyperlink" Target="https://gptstore.ai" TargetMode="External"/><Relationship Id="rId7" Type="http://schemas.openxmlformats.org/officeDocument/2006/relationships/hyperlink" Target="https://chat.openai.com/g/g-YFQNFNgSM-ai-tool-explorer"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hyperlink" Target="https://www.youtube.com/watch?v=NOpmy7Kqgok" TargetMode="External"/><Relationship Id="rId5" Type="http://schemas.openxmlformats.org/officeDocument/2006/relationships/hyperlink" Target="https://www.youtube.com/watch?v=ZbVjyQyVaWw" TargetMode="External"/><Relationship Id="rId10" Type="http://schemas.openxmlformats.org/officeDocument/2006/relationships/image" Target="../media/image14.png"/><Relationship Id="rId4" Type="http://schemas.openxmlformats.org/officeDocument/2006/relationships/hyperlink" Target="https://chat.openai.com/gpts" TargetMode="External"/><Relationship Id="rId9" Type="http://schemas.openxmlformats.org/officeDocument/2006/relationships/image" Target="../media/image13.png"/></Relationships>
</file>

<file path=ppt/slides/_rels/slide8.xml.rels><?xml version="1.0" encoding="UTF-8" standalone="yes"?>
<Relationships xmlns="http://schemas.openxmlformats.org/package/2006/relationships"><Relationship Id="rId8" Type="http://schemas.openxmlformats.org/officeDocument/2006/relationships/hyperlink" Target="https://www.youtube.com/watch?v=8XTHLhwX0UQ" TargetMode="External"/><Relationship Id="rId13" Type="http://schemas.openxmlformats.org/officeDocument/2006/relationships/image" Target="../media/image16.png"/><Relationship Id="rId3" Type="http://schemas.openxmlformats.org/officeDocument/2006/relationships/hyperlink" Target="https://www.youtube.com/watch?v=m1kK8EDqqB0" TargetMode="External"/><Relationship Id="rId7" Type="http://schemas.openxmlformats.org/officeDocument/2006/relationships/hyperlink" Target="https://arxiv.org/pdf/2401.04088.pdf" TargetMode="External"/><Relationship Id="rId12" Type="http://schemas.openxmlformats.org/officeDocument/2006/relationships/image" Target="../media/image15.jpe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hyperlink" Target="https://www2.deloitte.com/us/en/pages/consulting/articles/ai-dossier.html" TargetMode="External"/><Relationship Id="rId11" Type="http://schemas.openxmlformats.org/officeDocument/2006/relationships/hyperlink" Target="https://huggingface.co/mistralai/Mixtral-8x7B-Instruct-v0.1" TargetMode="External"/><Relationship Id="rId5" Type="http://schemas.openxmlformats.org/officeDocument/2006/relationships/hyperlink" Target="https://www2.deloitte.com/us/en/misc/search.html?qr=AI" TargetMode="External"/><Relationship Id="rId10" Type="http://schemas.openxmlformats.org/officeDocument/2006/relationships/hyperlink" Target="https://mistral.ai/news/mixtral-of-experts/" TargetMode="External"/><Relationship Id="rId4" Type="http://schemas.openxmlformats.org/officeDocument/2006/relationships/hyperlink" Target="https://www2.deloitte.com" TargetMode="External"/><Relationship Id="rId9" Type="http://schemas.openxmlformats.org/officeDocument/2006/relationships/hyperlink" Target="https://github.com/mistralai/mistral-src" TargetMode="External"/><Relationship Id="rId14" Type="http://schemas.openxmlformats.org/officeDocument/2006/relationships/image" Target="../media/image17.jpeg"/></Relationships>
</file>

<file path=ppt/slides/_rels/slide9.xml.rels><?xml version="1.0" encoding="UTF-8" standalone="yes"?>
<Relationships xmlns="http://schemas.openxmlformats.org/package/2006/relationships"><Relationship Id="rId8" Type="http://schemas.openxmlformats.org/officeDocument/2006/relationships/hyperlink" Target="https://arxiv.org/abs/2310.11324" TargetMode="External"/><Relationship Id="rId13" Type="http://schemas.openxmlformats.org/officeDocument/2006/relationships/image" Target="../media/image21.jpeg"/><Relationship Id="rId3" Type="http://schemas.openxmlformats.org/officeDocument/2006/relationships/hyperlink" Target="https://microsoft.github.io/autogen/blog/2023/12/01/AutoGenStudio/" TargetMode="External"/><Relationship Id="rId7" Type="http://schemas.openxmlformats.org/officeDocument/2006/relationships/hyperlink" Target="https://twitter.com/melaniesclar/status/1745557109419458695" TargetMode="External"/><Relationship Id="rId12"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hyperlink" Target="https://twitter.com/kchonyc/status/1745151497258872989" TargetMode="External"/><Relationship Id="rId11" Type="http://schemas.openxmlformats.org/officeDocument/2006/relationships/image" Target="../media/image19.png"/><Relationship Id="rId5" Type="http://schemas.openxmlformats.org/officeDocument/2006/relationships/hyperlink" Target="https://github.com/neukg/TechGPT-2.0" TargetMode="External"/><Relationship Id="rId15" Type="http://schemas.openxmlformats.org/officeDocument/2006/relationships/image" Target="../media/image23.png"/><Relationship Id="rId10" Type="http://schemas.openxmlformats.org/officeDocument/2006/relationships/image" Target="../media/image18.png"/><Relationship Id="rId4" Type="http://schemas.openxmlformats.org/officeDocument/2006/relationships/hyperlink" Target="https://arxiv.org/abs/2401.04507v1" TargetMode="External"/><Relationship Id="rId9" Type="http://schemas.openxmlformats.org/officeDocument/2006/relationships/hyperlink" Target="https://www.governor.pa.gov/newsroom/shapiro-administration-and-openai-launch-first-in-the-nation-generative-ai-pilot-for-commonwealth-employees/" TargetMode="External"/><Relationship Id="rId14" Type="http://schemas.openxmlformats.org/officeDocument/2006/relationships/image" Target="../media/image22.jpeg"/></Relationships>
</file>

<file path=ppt/slides/_rels/slide10.xml.rels><?xml version="1.0" encoding="UTF-8" standalone="yes"?>
<Relationships xmlns="http://schemas.openxmlformats.org/package/2006/relationships"><Relationship Id="rId8" Type="http://schemas.openxmlformats.org/officeDocument/2006/relationships/hyperlink" Target="https://www.guidde.com" TargetMode="External"/><Relationship Id="rId13" Type="http://schemas.openxmlformats.org/officeDocument/2006/relationships/image" Target="../media/image28.png"/><Relationship Id="rId3" Type="http://schemas.openxmlformats.org/officeDocument/2006/relationships/hyperlink" Target="https://www.youtube.com/@jensentung" TargetMode="External"/><Relationship Id="rId7" Type="http://schemas.openxmlformats.org/officeDocument/2006/relationships/hyperlink" Target="https://arstechnica.com/information-technology/2024/01/openai-says-its-impossible-to-create-useful-ai-models-without-copyrighted-material/" TargetMode="External"/><Relationship Id="rId12" Type="http://schemas.openxmlformats.org/officeDocument/2006/relationships/image" Target="../media/image27.jpe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hyperlink" Target="https://arxiv.org/pdf/2101.03961.pdf" TargetMode="External"/><Relationship Id="rId11" Type="http://schemas.openxmlformats.org/officeDocument/2006/relationships/image" Target="../media/image26.png"/><Relationship Id="rId5" Type="http://schemas.openxmlformats.org/officeDocument/2006/relationships/hyperlink" Target="https://huggingface.co/google/switch-c-2048" TargetMode="External"/><Relationship Id="rId15" Type="http://schemas.openxmlformats.org/officeDocument/2006/relationships/image" Target="../media/image29.png"/><Relationship Id="rId10" Type="http://schemas.openxmlformats.org/officeDocument/2006/relationships/image" Target="../media/image25.png"/><Relationship Id="rId4" Type="http://schemas.openxmlformats.org/officeDocument/2006/relationships/hyperlink" Target="https://github.com/gersteinlab/medagents" TargetMode="External"/><Relationship Id="rId9" Type="http://schemas.openxmlformats.org/officeDocument/2006/relationships/image" Target="../media/image24.png"/><Relationship Id="rId14" Type="http://schemas.openxmlformats.org/officeDocument/2006/relationships/hyperlink" Target="https://www.1x.tech" TargetMode="External"/></Relationships>
</file>

<file path=ppt/slides/_rels/slide11.xml.rels><?xml version="1.0" encoding="UTF-8" standalone="yes"?>
<Relationships xmlns="http://schemas.openxmlformats.org/package/2006/relationships"><Relationship Id="rId8" Type="http://schemas.openxmlformats.org/officeDocument/2006/relationships/hyperlink" Target="https://github.com/h2oai/h2ogpt" TargetMode="External"/><Relationship Id="rId3" Type="http://schemas.openxmlformats.org/officeDocument/2006/relationships/hyperlink" Target="https://pdfexpert.com/blog/introducing-ai-chat" TargetMode="External"/><Relationship Id="rId7" Type="http://schemas.openxmlformats.org/officeDocument/2006/relationships/image" Target="../media/image31.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hyperlink" Target="https://github.com/BruceMacD/chatd" TargetMode="External"/><Relationship Id="rId5" Type="http://schemas.openxmlformats.org/officeDocument/2006/relationships/hyperlink" Target="https://www.chatd.ai" TargetMode="External"/><Relationship Id="rId10" Type="http://schemas.openxmlformats.org/officeDocument/2006/relationships/image" Target="../media/image32.png"/><Relationship Id="rId4" Type="http://schemas.openxmlformats.org/officeDocument/2006/relationships/image" Target="../media/image30.png"/><Relationship Id="rId9" Type="http://schemas.openxmlformats.org/officeDocument/2006/relationships/hyperlink" Target="https://gpt.h2o.ai" TargetMode="External"/></Relationships>
</file>

<file path=ppt/slides/_rels/slide12.xml.rels><?xml version="1.0" encoding="UTF-8" standalone="yes"?>
<Relationships xmlns="http://schemas.openxmlformats.org/package/2006/relationships"><Relationship Id="rId8" Type="http://schemas.openxmlformats.org/officeDocument/2006/relationships/hyperlink" Target="https://www.rabbit.tech/rabbit-os" TargetMode="External"/><Relationship Id="rId13" Type="http://schemas.openxmlformats.org/officeDocument/2006/relationships/image" Target="../media/image35.png"/><Relationship Id="rId3" Type="http://schemas.openxmlformats.org/officeDocument/2006/relationships/hyperlink" Target="https://voicebot.ai/2024/01/08/generative-ai-hardware-startup-rabbit-reaches-30m-in-funding-round/" TargetMode="External"/><Relationship Id="rId7" Type="http://schemas.openxmlformats.org/officeDocument/2006/relationships/hyperlink" Target="https://www.rabbit.tech/updates/introducing-r1" TargetMode="External"/><Relationship Id="rId12" Type="http://schemas.openxmlformats.org/officeDocument/2006/relationships/image" Target="../media/image34.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hyperlink" Target="https://www.rabbit.tech" TargetMode="External"/><Relationship Id="rId11" Type="http://schemas.openxmlformats.org/officeDocument/2006/relationships/hyperlink" Target="https://www.linkedin.com/in/jesselyu/" TargetMode="External"/><Relationship Id="rId5" Type="http://schemas.openxmlformats.org/officeDocument/2006/relationships/hyperlink" Target="https://www.youtube.com/watch?v=DlnJlG1SOZo" TargetMode="External"/><Relationship Id="rId10" Type="http://schemas.openxmlformats.org/officeDocument/2006/relationships/image" Target="../media/image33.jpeg"/><Relationship Id="rId4" Type="http://schemas.openxmlformats.org/officeDocument/2006/relationships/hyperlink" Target="https://www.youtube.com/watch?v=22wlLy7hKP4" TargetMode="External"/><Relationship Id="rId9" Type="http://schemas.openxmlformats.org/officeDocument/2006/relationships/hyperlink" Target="https://twitter.com/rabbit_hmi" TargetMode="External"/><Relationship Id="rId14" Type="http://schemas.openxmlformats.org/officeDocument/2006/relationships/hyperlink" Target="https://www.linkedin.com/in/peiyuan-liao/" TargetMode="External"/></Relationships>
</file>

<file path=ppt/slides/_rels/slide13.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hyperlink" Target="https://www.ces.tech" TargetMode="External"/><Relationship Id="rId7" Type="http://schemas.openxmlformats.org/officeDocument/2006/relationships/image" Target="../media/image37.jpe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36.jpeg"/><Relationship Id="rId5" Type="http://schemas.openxmlformats.org/officeDocument/2006/relationships/hyperlink" Target="https://www.youtube.com/watch?v=qu6i2lgc-uY" TargetMode="External"/><Relationship Id="rId4" Type="http://schemas.openxmlformats.org/officeDocument/2006/relationships/hyperlink" Target="https://www.youtube.com/watch?v=44mh6JiHQ8I" TargetMode="External"/></Relationships>
</file>

<file path=ppt/slides/_rels/slide14.xml.rels><?xml version="1.0" encoding="UTF-8" standalone="yes"?>
<Relationships xmlns="http://schemas.openxmlformats.org/package/2006/relationships"><Relationship Id="rId8" Type="http://schemas.openxmlformats.org/officeDocument/2006/relationships/hyperlink" Target="https://github.com/lselector/ai/blob/master/llm_leaderboard.py" TargetMode="External"/><Relationship Id="rId3" Type="http://schemas.openxmlformats.org/officeDocument/2006/relationships/image" Target="../media/image39.png"/><Relationship Id="rId7" Type="http://schemas.openxmlformats.org/officeDocument/2006/relationships/hyperlink" Target="https://huggingface.co/spaces/felixz/meta_open_llm_leaderboard"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hyperlink" Target="https://huggingface.co/spaces/felixz/open_llm_leaderboard" TargetMode="External"/><Relationship Id="rId5" Type="http://schemas.openxmlformats.org/officeDocument/2006/relationships/hyperlink" Target="https://huggingface.co/datasets/open-llm-leaderboard/results" TargetMode="External"/><Relationship Id="rId4" Type="http://schemas.openxmlformats.org/officeDocument/2006/relationships/hyperlink" Target="https://huggingface.co/spaces/HuggingFaceH4/open_llm_leaderboard"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huggingface.co/spaces/lmsys/chatbot-arena-leaderboard"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hyperlink" Target="https://www.reddit.com/r/LocalLLaMA/comments/18m2t0z/deducing_mistral_medium_size_from_pricing_is_it_a/" TargetMode="External"/><Relationship Id="rId5" Type="http://schemas.openxmlformats.org/officeDocument/2006/relationships/image" Target="../media/image41.png"/><Relationship Id="rId4" Type="http://schemas.openxmlformats.org/officeDocument/2006/relationships/image" Target="../media/image40.png"/></Relationships>
</file>

<file path=ppt/slides/_rels/slide16.xml.rels><?xml version="1.0" encoding="UTF-8" standalone="yes"?>
<Relationships xmlns="http://schemas.openxmlformats.org/package/2006/relationships"><Relationship Id="rId3" Type="http://schemas.openxmlformats.org/officeDocument/2006/relationships/hyperlink" Target="https://huggingface.co/spaces/mlabonne/Yet_Another_LLM_Leaderboard"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42.png"/></Relationships>
</file>

<file path=ppt/slides/_rels/slide17.xml.rels><?xml version="1.0" encoding="UTF-8" standalone="yes"?>
<Relationships xmlns="http://schemas.openxmlformats.org/package/2006/relationships"><Relationship Id="rId3" Type="http://schemas.openxmlformats.org/officeDocument/2006/relationships/hyperlink" Target="https://twitter.com/NousResearch/status/1744865872563618128" TargetMode="External"/><Relationship Id="rId7" Type="http://schemas.openxmlformats.org/officeDocument/2006/relationships/image" Target="../media/image43.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hyperlink" Target="https://github.com/NousResearch" TargetMode="External"/><Relationship Id="rId5" Type="http://schemas.openxmlformats.org/officeDocument/2006/relationships/hyperlink" Target="https://nousresearch.com" TargetMode="External"/><Relationship Id="rId4" Type="http://schemas.openxmlformats.org/officeDocument/2006/relationships/hyperlink" Target="https://huggingface.co/NousResearch" TargetMode="Externa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8" Type="http://schemas.openxmlformats.org/officeDocument/2006/relationships/hyperlink" Target="https://techcrunch.com/2024/01/10/google-cuts-hundreds-of-jobs-in-its-voice-assistance-hardware-teams-as-fitbit-founders-leave/" TargetMode="External"/><Relationship Id="rId3" Type="http://schemas.openxmlformats.org/officeDocument/2006/relationships/hyperlink" Target="https://www.youtube.com/watch?v=5w-9wpAR1NQ" TargetMode="External"/><Relationship Id="rId7" Type="http://schemas.openxmlformats.org/officeDocument/2006/relationships/image" Target="../media/image45.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hyperlink" Target="https://www.youtube.com/watch?v=0Q4UOdIQJZQ" TargetMode="External"/><Relationship Id="rId5" Type="http://schemas.openxmlformats.org/officeDocument/2006/relationships/image" Target="../media/image44.png"/><Relationship Id="rId4" Type="http://schemas.openxmlformats.org/officeDocument/2006/relationships/hyperlink" Target="https://www.warntracker.com" TargetMode="External"/></Relationships>
</file>

<file path=ppt/slides/_rels/slide20.xml.rels><?xml version="1.0" encoding="UTF-8" standalone="yes"?>
<Relationships xmlns="http://schemas.openxmlformats.org/package/2006/relationships"><Relationship Id="rId8" Type="http://schemas.openxmlformats.org/officeDocument/2006/relationships/hyperlink" Target="https://twitter.com/rachel_l_woods/status/1684203209475121155" TargetMode="External"/><Relationship Id="rId3" Type="http://schemas.openxmlformats.org/officeDocument/2006/relationships/hyperlink" Target="https://www.semafor.com/article/10/04/2023/ai-is-spurring-the-rise-of-the-novice-coder" TargetMode="External"/><Relationship Id="rId7" Type="http://schemas.openxmlformats.org/officeDocument/2006/relationships/hyperlink" Target="https://news.theaiexchange.com/p/premium-defining-ai-operations-new-cohorts-announced" TargetMode="External"/><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hyperlink" Target="https://www.latent.space/p/ai-engineer" TargetMode="External"/><Relationship Id="rId5" Type="http://schemas.openxmlformats.org/officeDocument/2006/relationships/hyperlink" Target="https://twitter.com/karpathy/status/1674873002314563584" TargetMode="External"/><Relationship Id="rId4" Type="http://schemas.openxmlformats.org/officeDocument/2006/relationships/hyperlink" Target="https://www.youtube.com/watch?v=biIpkIvl5mE" TargetMode="External"/></Relationships>
</file>

<file path=ppt/slides/_rels/slide2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1.xml"/><Relationship Id="rId1" Type="http://schemas.openxmlformats.org/officeDocument/2006/relationships/slideLayout" Target="../slideLayouts/slideLayout11.xml"/><Relationship Id="rId6" Type="http://schemas.openxmlformats.org/officeDocument/2006/relationships/image" Target="../media/image48.png"/><Relationship Id="rId5" Type="http://schemas.openxmlformats.org/officeDocument/2006/relationships/image" Target="../media/image47.png"/><Relationship Id="rId4" Type="http://schemas.openxmlformats.org/officeDocument/2006/relationships/hyperlink" Target="https://en.wikipedia.org/wiki/Joanne_Cohn"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info.arxiv.org/help/submit/index.html" TargetMode="External"/><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hyperlink" Target="https://info.arxiv.org/help/policies/code_of_conduct.html" TargetMode="External"/><Relationship Id="rId5" Type="http://schemas.openxmlformats.org/officeDocument/2006/relationships/hyperlink" Target="https://info.arxiv.org/help/submit_pdf.html" TargetMode="External"/><Relationship Id="rId4" Type="http://schemas.openxmlformats.org/officeDocument/2006/relationships/hyperlink" Target="https://info.arxiv.org/help/endorsement.html" TargetMode="External"/></Relationships>
</file>

<file path=ppt/slides/_rels/slide23.xml.rels><?xml version="1.0" encoding="UTF-8" standalone="yes"?>
<Relationships xmlns="http://schemas.openxmlformats.org/package/2006/relationships"><Relationship Id="rId8" Type="http://schemas.openxmlformats.org/officeDocument/2006/relationships/hyperlink" Target="https://huggingface.co/Trelis/Tiny" TargetMode="External"/><Relationship Id="rId13" Type="http://schemas.openxmlformats.org/officeDocument/2006/relationships/hyperlink" Target="https://huggingface.co/berkeley-nest/Starling-LM-7B-alpha" TargetMode="External"/><Relationship Id="rId18" Type="http://schemas.openxmlformats.org/officeDocument/2006/relationships/hyperlink" Target="https://llmfarm.site" TargetMode="External"/><Relationship Id="rId3" Type="http://schemas.openxmlformats.org/officeDocument/2006/relationships/hyperlink" Target="https://www.geeky-gadgets.com/the-best-tiny-small-and-compact-llms-currently-available/" TargetMode="External"/><Relationship Id="rId7" Type="http://schemas.openxmlformats.org/officeDocument/2006/relationships/hyperlink" Target="https://huggingface.co/TinyLlama/TinyLlama-1.1B-Chat-v1.0" TargetMode="External"/><Relationship Id="rId12" Type="http://schemas.openxmlformats.org/officeDocument/2006/relationships/hyperlink" Target="https://github.com/llSourcell/Doctor-Dignity" TargetMode="External"/><Relationship Id="rId17" Type="http://schemas.openxmlformats.org/officeDocument/2006/relationships/hyperlink" Target="https://testflight.apple.com" TargetMode="External"/><Relationship Id="rId2" Type="http://schemas.openxmlformats.org/officeDocument/2006/relationships/notesSlide" Target="../notesSlides/notesSlide23.xml"/><Relationship Id="rId16" Type="http://schemas.openxmlformats.org/officeDocument/2006/relationships/hyperlink" Target="https://www.youtube.com/watch?v=5QEDNZlDf-c" TargetMode="External"/><Relationship Id="rId1" Type="http://schemas.openxmlformats.org/officeDocument/2006/relationships/slideLayout" Target="../slideLayouts/slideLayout1.xml"/><Relationship Id="rId6" Type="http://schemas.openxmlformats.org/officeDocument/2006/relationships/hyperlink" Target="https://huggingface.co/deepseek-ai/deepseek-coder-1.3b-instruct" TargetMode="External"/><Relationship Id="rId11" Type="http://schemas.openxmlformats.org/officeDocument/2006/relationships/hyperlink" Target="https://www.youtube.com/watch?v=c8YM15v9w8M" TargetMode="External"/><Relationship Id="rId5" Type="http://schemas.openxmlformats.org/officeDocument/2006/relationships/hyperlink" Target="https://huggingface.co/microsoft/phi-2" TargetMode="External"/><Relationship Id="rId15" Type="http://schemas.openxmlformats.org/officeDocument/2006/relationships/hyperlink" Target="https://huggingface.co/openchat/openchat_3.5" TargetMode="External"/><Relationship Id="rId10" Type="http://schemas.openxmlformats.org/officeDocument/2006/relationships/hyperlink" Target="https://huggingface.co/mlabonne/phixtral-2x2_8" TargetMode="External"/><Relationship Id="rId4" Type="http://schemas.openxmlformats.org/officeDocument/2006/relationships/hyperlink" Target="https://www.youtube.com/watch?v=yxWUHDfix_c" TargetMode="External"/><Relationship Id="rId9" Type="http://schemas.openxmlformats.org/officeDocument/2006/relationships/hyperlink" Target="https://huggingface.co/stabilityai/stablelm-zephyr-3b" TargetMode="External"/><Relationship Id="rId14" Type="http://schemas.openxmlformats.org/officeDocument/2006/relationships/hyperlink" Target="https://huggingface.co/teknium/OpenHermes-2.5-Mistral-7B"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hazyresearch.stanford.edu/blog/2024-01-11-m2-bert-retrieval" TargetMode="External"/><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49.png"/></Relationships>
</file>

<file path=ppt/slides/_rels/slide25.xml.rels><?xml version="1.0" encoding="UTF-8" standalone="yes"?>
<Relationships xmlns="http://schemas.openxmlformats.org/package/2006/relationships"><Relationship Id="rId3" Type="http://schemas.openxmlformats.org/officeDocument/2006/relationships/hyperlink" Target="https://github.com/genezc/minima" TargetMode="External"/><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50.png"/></Relationships>
</file>

<file path=ppt/slides/_rels/slide26.xml.rels><?xml version="1.0" encoding="UTF-8" standalone="yes"?>
<Relationships xmlns="http://schemas.openxmlformats.org/package/2006/relationships"><Relationship Id="rId3" Type="http://schemas.openxmlformats.org/officeDocument/2006/relationships/hyperlink" Target="https://www.cloudflare.com" TargetMode="External"/><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52.png"/><Relationship Id="rId5" Type="http://schemas.openxmlformats.org/officeDocument/2006/relationships/image" Target="../media/image51.png"/><Relationship Id="rId4" Type="http://schemas.openxmlformats.org/officeDocument/2006/relationships/hyperlink" Target="https://en.wikipedia.org/wiki/Cloudflare" TargetMode="Externa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p:nvPr/>
        </p:nvSpPr>
        <p:spPr>
          <a:xfrm>
            <a:off x="2392025" y="-425"/>
            <a:ext cx="4260300" cy="942000"/>
          </a:xfrm>
          <a:prstGeom prst="rect">
            <a:avLst/>
          </a:prstGeom>
          <a:noFill/>
          <a:ln>
            <a:noFill/>
          </a:ln>
        </p:spPr>
        <p:txBody>
          <a:bodyPr spcFirstLastPara="1" wrap="square" lIns="9125" tIns="9125" rIns="9125" bIns="9125" anchor="t" anchorCtr="0">
            <a:spAutoFit/>
          </a:bodyPr>
          <a:lstStyle/>
          <a:p>
            <a:pPr marL="0" lvl="0" indent="0" algn="ctr" rtl="0">
              <a:spcBef>
                <a:spcPts val="0"/>
              </a:spcBef>
              <a:spcAft>
                <a:spcPts val="0"/>
              </a:spcAft>
              <a:buNone/>
            </a:pPr>
            <a:r>
              <a:rPr lang="en" sz="3600" b="1">
                <a:solidFill>
                  <a:srgbClr val="3C78D8"/>
                </a:solidFill>
              </a:rPr>
              <a:t>AI Updates </a:t>
            </a:r>
            <a:endParaRPr sz="3600" b="1">
              <a:solidFill>
                <a:srgbClr val="3C78D8"/>
              </a:solidFill>
            </a:endParaRPr>
          </a:p>
          <a:p>
            <a:pPr marL="0" lvl="0" indent="0" algn="ctr" rtl="0">
              <a:spcBef>
                <a:spcPts val="0"/>
              </a:spcBef>
              <a:spcAft>
                <a:spcPts val="0"/>
              </a:spcAft>
              <a:buNone/>
            </a:pPr>
            <a:r>
              <a:rPr lang="en" sz="2400" b="1">
                <a:solidFill>
                  <a:srgbClr val="3C78D8"/>
                </a:solidFill>
              </a:rPr>
              <a:t>January 12, 2024</a:t>
            </a:r>
            <a:endParaRPr sz="2400" b="1">
              <a:solidFill>
                <a:srgbClr val="3C78D8"/>
              </a:solidFill>
            </a:endParaRPr>
          </a:p>
        </p:txBody>
      </p:sp>
      <p:sp>
        <p:nvSpPr>
          <p:cNvPr id="67" name="Google Shape;67;p15"/>
          <p:cNvSpPr txBox="1"/>
          <p:nvPr/>
        </p:nvSpPr>
        <p:spPr>
          <a:xfrm>
            <a:off x="291275" y="1048653"/>
            <a:ext cx="4342500" cy="38790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lvl="0" indent="-215900" algn="l" rtl="0">
              <a:spcBef>
                <a:spcPts val="0"/>
              </a:spcBef>
              <a:spcAft>
                <a:spcPts val="0"/>
              </a:spcAft>
              <a:buClr>
                <a:srgbClr val="3C78D8"/>
              </a:buClr>
              <a:buSzPts val="1600"/>
              <a:buChar char="●"/>
            </a:pPr>
            <a:r>
              <a:rPr lang="en" sz="1600" b="1">
                <a:solidFill>
                  <a:srgbClr val="3C78D8"/>
                </a:solidFill>
              </a:rPr>
              <a:t>Mamba Outperforms Transformers</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Mixtral-8x7B on a laptop</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deepinfra.com - Mixtral at 54 c/Mtokens </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Latent.Space - Four Wars of the AI Stack</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GPTStore.AI - 12K GPTs</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Mixtral paper</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AI at Deloitte</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OpenAI response to New York Times</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AutoGen Studio</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TechGPT-2.0</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Pennsylvania State to use OpenAI</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Jensen Tung - making money with AI</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Google open-sourced 1.6T MoE model</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"guidde" - generate video docs</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1x.tech raises 100M</a:t>
            </a:r>
            <a:endParaRPr sz="1600" b="1">
              <a:solidFill>
                <a:srgbClr val="3C78D8"/>
              </a:solidFill>
            </a:endParaRPr>
          </a:p>
        </p:txBody>
      </p:sp>
      <p:sp>
        <p:nvSpPr>
          <p:cNvPr id="68" name="Google Shape;68;p15"/>
          <p:cNvSpPr txBox="1"/>
          <p:nvPr/>
        </p:nvSpPr>
        <p:spPr>
          <a:xfrm>
            <a:off x="4763550" y="1048653"/>
            <a:ext cx="4342500" cy="38790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lvl="0" indent="-215900" algn="l" rtl="0">
              <a:spcBef>
                <a:spcPts val="0"/>
              </a:spcBef>
              <a:spcAft>
                <a:spcPts val="0"/>
              </a:spcAft>
              <a:buClr>
                <a:srgbClr val="3C78D8"/>
              </a:buClr>
              <a:buSzPts val="1600"/>
              <a:buChar char="●"/>
            </a:pPr>
            <a:r>
              <a:rPr lang="en" sz="1600" b="1">
                <a:solidFill>
                  <a:srgbClr val="3C78D8"/>
                </a:solidFill>
              </a:rPr>
              <a:t>Local PDF question answering</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Rabbit R1 Large Action Model</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AI at  CES Consumer Electronics Show </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AI Leaderboard</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Arena Leaderboard</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YALL - Yet Another LLM Leaderboard</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Nous Research</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The AI World</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Are Mass Layoffs Coming?</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New Jobs from AI</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ArXiv.org - submit papers</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Tiny LLMs </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Monarch Mixer (M2) Retrieval Models</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Distilling Language Models</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CloudFlare for your website</a:t>
            </a:r>
            <a:endParaRPr sz="1600" b="1">
              <a:solidFill>
                <a:srgbClr val="3C78D8"/>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pic>
        <p:nvPicPr>
          <p:cNvPr id="73" name="Google Shape;73;p16"/>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605238" y="1203525"/>
            <a:ext cx="2094075" cy="2094075"/>
          </a:xfrm>
          <a:prstGeom prst="rect">
            <a:avLst/>
          </a:prstGeom>
          <a:noFill/>
          <a:ln>
            <a:noFill/>
          </a:ln>
        </p:spPr>
      </p:pic>
      <p:sp>
        <p:nvSpPr>
          <p:cNvPr id="74" name="Google Shape;74;p16"/>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latin typeface="Calibri"/>
                <a:ea typeface="Calibri"/>
                <a:cs typeface="Calibri"/>
                <a:sym typeface="Calibri"/>
              </a:rPr>
              <a:t>About the Speaker</a:t>
            </a:r>
            <a:endParaRPr sz="2500" b="1">
              <a:latin typeface="Calibri"/>
              <a:ea typeface="Calibri"/>
              <a:cs typeface="Calibri"/>
              <a:sym typeface="Calibri"/>
            </a:endParaRPr>
          </a:p>
        </p:txBody>
      </p:sp>
      <p:sp>
        <p:nvSpPr>
          <p:cNvPr id="75" name="Google Shape;75;p16"/>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n" sz="2500" b="1">
                <a:latin typeface="Calibri"/>
                <a:ea typeface="Calibri"/>
                <a:cs typeface="Calibri"/>
                <a:sym typeface="Calibri"/>
              </a:rPr>
              <a:t>Lev Selector, Ph.D.</a:t>
            </a:r>
            <a:endParaRPr sz="2500" b="1">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800">
              <a:latin typeface="Calibri"/>
              <a:ea typeface="Calibri"/>
              <a:cs typeface="Calibri"/>
              <a:sym typeface="Calibri"/>
            </a:endParaRPr>
          </a:p>
          <a:p>
            <a:pPr marL="457200" lvl="0" indent="-330200" algn="l" rtl="0">
              <a:spcBef>
                <a:spcPts val="0"/>
              </a:spcBef>
              <a:spcAft>
                <a:spcPts val="0"/>
              </a:spcAft>
              <a:buSzPts val="1600"/>
              <a:buFont typeface="Calibri"/>
              <a:buChar char="●"/>
            </a:pPr>
            <a:r>
              <a:rPr lang="en" sz="1600">
                <a:solidFill>
                  <a:schemeClr val="dk1"/>
                </a:solidFill>
                <a:latin typeface="Calibri"/>
                <a:ea typeface="Calibri"/>
                <a:cs typeface="Calibri"/>
                <a:sym typeface="Calibri"/>
              </a:rPr>
              <a:t>40+ years of software engineering, data science, and building teams (hiring, training, and managing)</a:t>
            </a:r>
            <a:endParaRPr sz="1600">
              <a:solidFill>
                <a:schemeClr val="dk1"/>
              </a:solidFill>
              <a:latin typeface="Calibri"/>
              <a:ea typeface="Calibri"/>
              <a:cs typeface="Calibri"/>
              <a:sym typeface="Calibri"/>
            </a:endParaRPr>
          </a:p>
          <a:p>
            <a:pPr marL="457200" lvl="0" indent="-330200" algn="l" rtl="0">
              <a:spcBef>
                <a:spcPts val="0"/>
              </a:spcBef>
              <a:spcAft>
                <a:spcPts val="0"/>
              </a:spcAft>
              <a:buSzPts val="1600"/>
              <a:buFont typeface="Calibri"/>
              <a:buChar char="●"/>
            </a:pPr>
            <a:r>
              <a:rPr lang="en" sz="1600">
                <a:solidFill>
                  <a:schemeClr val="dk1"/>
                </a:solidFill>
                <a:latin typeface="Calibri"/>
                <a:ea typeface="Calibri"/>
                <a:cs typeface="Calibri"/>
                <a:sym typeface="Calibri"/>
              </a:rPr>
              <a:t>Ph.D. in mathematical modeling and computer simulations</a:t>
            </a:r>
            <a:endParaRPr sz="16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600">
              <a:latin typeface="Calibri"/>
              <a:ea typeface="Calibri"/>
              <a:cs typeface="Calibri"/>
              <a:sym typeface="Calibri"/>
            </a:endParaRPr>
          </a:p>
          <a:p>
            <a:pPr marL="0" lvl="0" indent="0" algn="l" rtl="0">
              <a:spcBef>
                <a:spcPts val="0"/>
              </a:spcBef>
              <a:spcAft>
                <a:spcPts val="0"/>
              </a:spcAft>
              <a:buNone/>
            </a:pPr>
            <a:r>
              <a:rPr lang="en" sz="1600">
                <a:latin typeface="Calibri"/>
                <a:ea typeface="Calibri"/>
                <a:cs typeface="Calibri"/>
                <a:sym typeface="Calibri"/>
              </a:rPr>
              <a:t>Interests: </a:t>
            </a:r>
            <a:endParaRPr sz="1600">
              <a:latin typeface="Calibri"/>
              <a:ea typeface="Calibri"/>
              <a:cs typeface="Calibri"/>
              <a:sym typeface="Calibri"/>
            </a:endParaRPr>
          </a:p>
          <a:p>
            <a:pPr marL="457200" lvl="0" indent="-330200" algn="l" rtl="0">
              <a:spcBef>
                <a:spcPts val="0"/>
              </a:spcBef>
              <a:spcAft>
                <a:spcPts val="0"/>
              </a:spcAft>
              <a:buSzPts val="1600"/>
              <a:buFont typeface="Calibri"/>
              <a:buChar char="●"/>
            </a:pPr>
            <a:r>
              <a:rPr lang="en" sz="1600">
                <a:solidFill>
                  <a:schemeClr val="dk1"/>
                </a:solidFill>
                <a:latin typeface="Calibri"/>
                <a:ea typeface="Calibri"/>
                <a:cs typeface="Calibri"/>
                <a:sym typeface="Calibri"/>
              </a:rPr>
              <a:t>Generative AI, Using LLM with your data</a:t>
            </a:r>
            <a:endParaRPr sz="1600">
              <a:solidFill>
                <a:schemeClr val="dk1"/>
              </a:solidFill>
              <a:latin typeface="Calibri"/>
              <a:ea typeface="Calibri"/>
              <a:cs typeface="Calibri"/>
              <a:sym typeface="Calibri"/>
            </a:endParaRPr>
          </a:p>
          <a:p>
            <a:pPr marL="457200" lvl="0" indent="-330200" algn="l" rtl="0">
              <a:spcBef>
                <a:spcPts val="0"/>
              </a:spcBef>
              <a:spcAft>
                <a:spcPts val="0"/>
              </a:spcAft>
              <a:buClr>
                <a:schemeClr val="dk1"/>
              </a:buClr>
              <a:buSzPts val="1600"/>
              <a:buFont typeface="Calibri"/>
              <a:buChar char="●"/>
            </a:pPr>
            <a:r>
              <a:rPr lang="en" sz="1600">
                <a:solidFill>
                  <a:schemeClr val="dk1"/>
                </a:solidFill>
                <a:latin typeface="Calibri"/>
                <a:ea typeface="Calibri"/>
                <a:cs typeface="Calibri"/>
                <a:sym typeface="Calibri"/>
              </a:rPr>
              <a:t>Local AI for Local Private Data</a:t>
            </a:r>
            <a:endParaRPr sz="1600">
              <a:solidFill>
                <a:schemeClr val="dk1"/>
              </a:solidFill>
              <a:latin typeface="Calibri"/>
              <a:ea typeface="Calibri"/>
              <a:cs typeface="Calibri"/>
              <a:sym typeface="Calibri"/>
            </a:endParaRPr>
          </a:p>
          <a:p>
            <a:pPr marL="457200" lvl="0" indent="-330200" algn="l" rtl="0">
              <a:spcBef>
                <a:spcPts val="0"/>
              </a:spcBef>
              <a:spcAft>
                <a:spcPts val="0"/>
              </a:spcAft>
              <a:buSzPts val="1600"/>
              <a:buFont typeface="Calibri"/>
              <a:buChar char="●"/>
            </a:pPr>
            <a:r>
              <a:rPr lang="en" sz="1600">
                <a:latin typeface="Calibri"/>
                <a:ea typeface="Calibri"/>
                <a:cs typeface="Calibri"/>
                <a:sym typeface="Calibri"/>
              </a:rPr>
              <a:t>Cloud architecture, fin-tech, application security</a:t>
            </a:r>
            <a:endParaRPr sz="1600">
              <a:latin typeface="Calibri"/>
              <a:ea typeface="Calibri"/>
              <a:cs typeface="Calibri"/>
              <a:sym typeface="Calibri"/>
            </a:endParaRPr>
          </a:p>
          <a:p>
            <a:pPr marL="0" lvl="0" indent="0" algn="l" rtl="0">
              <a:spcBef>
                <a:spcPts val="0"/>
              </a:spcBef>
              <a:spcAft>
                <a:spcPts val="0"/>
              </a:spcAft>
              <a:buNone/>
            </a:pPr>
            <a:endParaRPr sz="1600">
              <a:latin typeface="Calibri"/>
              <a:ea typeface="Calibri"/>
              <a:cs typeface="Calibri"/>
              <a:sym typeface="Calibri"/>
            </a:endParaRPr>
          </a:p>
          <a:p>
            <a:pPr marL="0" lvl="0" indent="0" algn="l" rtl="0">
              <a:spcBef>
                <a:spcPts val="0"/>
              </a:spcBef>
              <a:spcAft>
                <a:spcPts val="0"/>
              </a:spcAft>
              <a:buNone/>
            </a:pPr>
            <a:r>
              <a:rPr lang="en" sz="1600">
                <a:latin typeface="Calibri"/>
                <a:ea typeface="Calibri"/>
                <a:cs typeface="Calibri"/>
                <a:sym typeface="Calibri"/>
              </a:rPr>
              <a:t>Find/connect: Linkedin, GitHub, YouTube, Google</a:t>
            </a:r>
            <a:endParaRPr sz="1600">
              <a:latin typeface="Calibri"/>
              <a:ea typeface="Calibri"/>
              <a:cs typeface="Calibri"/>
              <a:sym typeface="Calibri"/>
            </a:endParaRPr>
          </a:p>
        </p:txBody>
      </p:sp>
      <p:pic>
        <p:nvPicPr>
          <p:cNvPr id="76" name="Google Shape;76;p16"/>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1010941" y="3664175"/>
            <a:ext cx="1144600" cy="415875"/>
          </a:xfrm>
          <a:prstGeom prst="rect">
            <a:avLst/>
          </a:prstGeom>
          <a:noFill/>
          <a:ln>
            <a:noFill/>
          </a:ln>
        </p:spPr>
      </p:pic>
      <p:sp>
        <p:nvSpPr>
          <p:cNvPr id="77" name="Google Shape;77;p16"/>
          <p:cNvSpPr txBox="1"/>
          <p:nvPr/>
        </p:nvSpPr>
        <p:spPr>
          <a:xfrm>
            <a:off x="912377" y="4005903"/>
            <a:ext cx="13914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u="sng">
                <a:solidFill>
                  <a:schemeClr val="hlink"/>
                </a:solidFill>
                <a:latin typeface="Calibri"/>
                <a:ea typeface="Calibri"/>
                <a:cs typeface="Calibri"/>
                <a:sym typeface="Calibri"/>
                <a:hlinkClick r:id="rId5"/>
              </a:rPr>
              <a:t>https://eais.ai</a:t>
            </a:r>
            <a:r>
              <a:rPr lang="en" sz="1600">
                <a:latin typeface="Calibri"/>
                <a:ea typeface="Calibri"/>
                <a:cs typeface="Calibri"/>
                <a:sym typeface="Calibri"/>
              </a:rPr>
              <a:t> </a:t>
            </a:r>
            <a:endParaRPr sz="1600">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1"/>
        <p:cNvGrpSpPr/>
        <p:nvPr/>
      </p:nvGrpSpPr>
      <p:grpSpPr>
        <a:xfrm>
          <a:off x="0" y="0"/>
          <a:ext cx="0" cy="0"/>
          <a:chOff x="0" y="0"/>
          <a:chExt cx="0" cy="0"/>
        </a:xfrm>
      </p:grpSpPr>
      <p:sp>
        <p:nvSpPr>
          <p:cNvPr id="82" name="Google Shape;82;p17"/>
          <p:cNvSpPr txBox="1"/>
          <p:nvPr/>
        </p:nvSpPr>
        <p:spPr>
          <a:xfrm>
            <a:off x="72300" y="0"/>
            <a:ext cx="22080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Mamba</a:t>
            </a:r>
            <a:endParaRPr sz="2000" b="1">
              <a:latin typeface="Calibri"/>
              <a:ea typeface="Calibri"/>
              <a:cs typeface="Calibri"/>
              <a:sym typeface="Calibri"/>
            </a:endParaRPr>
          </a:p>
        </p:txBody>
      </p:sp>
      <p:sp>
        <p:nvSpPr>
          <p:cNvPr id="83" name="Google Shape;83;p17"/>
          <p:cNvSpPr txBox="1"/>
          <p:nvPr/>
        </p:nvSpPr>
        <p:spPr>
          <a:xfrm>
            <a:off x="4748350" y="228600"/>
            <a:ext cx="4303500" cy="164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n" sz="1300">
                <a:latin typeface="Calibri"/>
                <a:ea typeface="Calibri"/>
                <a:cs typeface="Calibri"/>
                <a:sym typeface="Calibri"/>
              </a:rPr>
              <a:t>Mamba: Linear-Time Sequence Modeling with Selective State Spaces - by Albert Gu (CMU), Tri Dao (Stanford/Princeton)</a:t>
            </a:r>
            <a:endParaRPr sz="1300">
              <a:latin typeface="Calibri"/>
              <a:ea typeface="Calibri"/>
              <a:cs typeface="Calibri"/>
              <a:sym typeface="Calibri"/>
            </a:endParaRPr>
          </a:p>
          <a:p>
            <a:pPr marL="457200" lvl="0" indent="-2921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3"/>
              </a:rPr>
              <a:t>https://arxiv.org/abs/2312.00752</a:t>
            </a:r>
            <a:r>
              <a:rPr lang="en" sz="1000">
                <a:latin typeface="Calibri"/>
                <a:ea typeface="Calibri"/>
                <a:cs typeface="Calibri"/>
                <a:sym typeface="Calibri"/>
              </a:rPr>
              <a:t> </a:t>
            </a:r>
            <a:endParaRPr sz="1000">
              <a:latin typeface="Calibri"/>
              <a:ea typeface="Calibri"/>
              <a:cs typeface="Calibri"/>
              <a:sym typeface="Calibri"/>
            </a:endParaRPr>
          </a:p>
          <a:p>
            <a:pPr marL="457200" lvl="0" indent="-2921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4"/>
              </a:rPr>
              <a:t>https://blog.oxen.ai/mamba-linear-time-sequence-modeling-with-selective-state-spaces-arxiv-dives/</a:t>
            </a:r>
            <a:r>
              <a:rPr lang="en" sz="1000">
                <a:latin typeface="Calibri"/>
                <a:ea typeface="Calibri"/>
                <a:cs typeface="Calibri"/>
                <a:sym typeface="Calibri"/>
              </a:rPr>
              <a:t> </a:t>
            </a:r>
            <a:endParaRPr sz="10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Mamba inference is 5x faster than Transformers.</a:t>
            </a: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It scales linearly instead of O(N</a:t>
            </a:r>
            <a:r>
              <a:rPr lang="en" sz="1300" baseline="30000">
                <a:latin typeface="Calibri"/>
                <a:ea typeface="Calibri"/>
                <a:cs typeface="Calibri"/>
                <a:sym typeface="Calibri"/>
              </a:rPr>
              <a:t>2</a:t>
            </a:r>
            <a:r>
              <a:rPr lang="en" sz="1300">
                <a:latin typeface="Calibri"/>
                <a:ea typeface="Calibri"/>
                <a:cs typeface="Calibri"/>
                <a:sym typeface="Calibri"/>
              </a:rPr>
              <a:t>) with the length of the sequence - thus it can scale to million-length sequences.</a:t>
            </a:r>
            <a:endParaRPr sz="1300">
              <a:latin typeface="Calibri"/>
              <a:ea typeface="Calibri"/>
              <a:cs typeface="Calibri"/>
              <a:sym typeface="Calibri"/>
            </a:endParaRPr>
          </a:p>
        </p:txBody>
      </p:sp>
      <p:sp>
        <p:nvSpPr>
          <p:cNvPr id="84" name="Google Shape;84;p17"/>
          <p:cNvSpPr txBox="1"/>
          <p:nvPr/>
        </p:nvSpPr>
        <p:spPr>
          <a:xfrm>
            <a:off x="4748350" y="2628910"/>
            <a:ext cx="4303500" cy="138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latin typeface="Calibri"/>
                <a:ea typeface="Calibri"/>
                <a:cs typeface="Calibri"/>
                <a:sym typeface="Calibri"/>
              </a:rPr>
              <a:t>MoE-Mamba: Efficient Selective State Space Models with Mixture of Experts </a:t>
            </a:r>
            <a:r>
              <a:rPr lang="en" sz="900">
                <a:latin typeface="Calibri"/>
                <a:ea typeface="Calibri"/>
                <a:cs typeface="Calibri"/>
                <a:sym typeface="Calibri"/>
              </a:rPr>
              <a:t>- </a:t>
            </a:r>
            <a:r>
              <a:rPr lang="en" sz="900" u="sng">
                <a:solidFill>
                  <a:schemeClr val="hlink"/>
                </a:solidFill>
                <a:latin typeface="Calibri"/>
                <a:ea typeface="Calibri"/>
                <a:cs typeface="Calibri"/>
                <a:sym typeface="Calibri"/>
                <a:hlinkClick r:id="rId5"/>
              </a:rPr>
              <a:t>https://arxiv.org/abs/2401.04081</a:t>
            </a:r>
            <a:r>
              <a:rPr lang="en" sz="900">
                <a:latin typeface="Calibri"/>
                <a:ea typeface="Calibri"/>
                <a:cs typeface="Calibri"/>
                <a:sym typeface="Calibri"/>
              </a:rPr>
              <a:t> </a:t>
            </a:r>
            <a:endParaRPr sz="9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MoE-Mamba, outperforms both Mamba and Transformer-MoE. It reaches performance of Mamba</a:t>
            </a:r>
            <a:r>
              <a:rPr lang="en" sz="1300" b="1">
                <a:solidFill>
                  <a:srgbClr val="FF0000"/>
                </a:solidFill>
                <a:latin typeface="Calibri"/>
                <a:ea typeface="Calibri"/>
                <a:cs typeface="Calibri"/>
                <a:sym typeface="Calibri"/>
              </a:rPr>
              <a:t> in 2.2x less training steps</a:t>
            </a:r>
            <a:r>
              <a:rPr lang="en" sz="1300">
                <a:latin typeface="Calibri"/>
                <a:ea typeface="Calibri"/>
                <a:cs typeface="Calibri"/>
                <a:sym typeface="Calibri"/>
              </a:rPr>
              <a:t> while preserving the inference performance gains of Mamba against the Transformer.</a:t>
            </a:r>
            <a:endParaRPr sz="1300">
              <a:latin typeface="Calibri"/>
              <a:ea typeface="Calibri"/>
              <a:cs typeface="Calibri"/>
              <a:sym typeface="Calibri"/>
            </a:endParaRPr>
          </a:p>
        </p:txBody>
      </p:sp>
      <p:sp>
        <p:nvSpPr>
          <p:cNvPr id="85" name="Google Shape;85;p17"/>
          <p:cNvSpPr txBox="1"/>
          <p:nvPr/>
        </p:nvSpPr>
        <p:spPr>
          <a:xfrm>
            <a:off x="4748350" y="1961325"/>
            <a:ext cx="4303500" cy="58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latin typeface="Calibri"/>
                <a:ea typeface="Calibri"/>
                <a:cs typeface="Calibri"/>
                <a:sym typeface="Calibri"/>
              </a:rPr>
              <a:t>Gated Linear Attention Transformers with Hardware-Efficient Training - 5 authors, MIT-IBM - </a:t>
            </a:r>
            <a:r>
              <a:rPr lang="en" sz="1000" u="sng">
                <a:solidFill>
                  <a:schemeClr val="hlink"/>
                </a:solidFill>
                <a:latin typeface="Calibri"/>
                <a:ea typeface="Calibri"/>
                <a:cs typeface="Calibri"/>
                <a:sym typeface="Calibri"/>
                <a:hlinkClick r:id="rId6"/>
              </a:rPr>
              <a:t>https://arxiv.org/abs/2312.06635</a:t>
            </a:r>
            <a:r>
              <a:rPr lang="en" sz="1000">
                <a:latin typeface="Calibri"/>
                <a:ea typeface="Calibri"/>
                <a:cs typeface="Calibri"/>
                <a:sym typeface="Calibri"/>
              </a:rPr>
              <a:t> </a:t>
            </a:r>
            <a:endParaRPr sz="1000">
              <a:latin typeface="Calibri"/>
              <a:ea typeface="Calibri"/>
              <a:cs typeface="Calibri"/>
              <a:sym typeface="Calibri"/>
            </a:endParaRPr>
          </a:p>
        </p:txBody>
      </p:sp>
      <p:sp>
        <p:nvSpPr>
          <p:cNvPr id="86" name="Google Shape;86;p17"/>
          <p:cNvSpPr txBox="1"/>
          <p:nvPr/>
        </p:nvSpPr>
        <p:spPr>
          <a:xfrm>
            <a:off x="4748350" y="4068125"/>
            <a:ext cx="4303500" cy="985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latin typeface="Calibri"/>
                <a:ea typeface="Calibri"/>
                <a:cs typeface="Calibri"/>
                <a:sym typeface="Calibri"/>
              </a:rPr>
              <a:t>U-Mamba: Enhancing Long-range Dependency for Biomedical Image Segmentation - </a:t>
            </a:r>
            <a:r>
              <a:rPr lang="en" sz="1000" u="sng">
                <a:solidFill>
                  <a:schemeClr val="hlink"/>
                </a:solidFill>
                <a:latin typeface="Calibri"/>
                <a:ea typeface="Calibri"/>
                <a:cs typeface="Calibri"/>
                <a:sym typeface="Calibri"/>
                <a:hlinkClick r:id="rId7"/>
              </a:rPr>
              <a:t>https://arxiv.org/abs/2401.04722</a:t>
            </a:r>
            <a:endParaRPr sz="10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U-Mamba outperforms state-of-the-art CNN-based and Transformer-based segmentation networks </a:t>
            </a:r>
            <a:endParaRPr sz="1300">
              <a:latin typeface="Calibri"/>
              <a:ea typeface="Calibri"/>
              <a:cs typeface="Calibri"/>
              <a:sym typeface="Calibri"/>
            </a:endParaRPr>
          </a:p>
        </p:txBody>
      </p:sp>
      <p:sp>
        <p:nvSpPr>
          <p:cNvPr id="87" name="Google Shape;87;p17"/>
          <p:cNvSpPr txBox="1"/>
          <p:nvPr/>
        </p:nvSpPr>
        <p:spPr>
          <a:xfrm>
            <a:off x="120925" y="955025"/>
            <a:ext cx="4454100" cy="4094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latin typeface="Calibri"/>
                <a:ea typeface="Calibri"/>
                <a:cs typeface="Calibri"/>
                <a:sym typeface="Calibri"/>
              </a:rPr>
              <a:t>SSMs (State Space Sequence Models) challenge the dominance of Transformers. </a:t>
            </a: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S4 = Structured State Space for Sequence Modeling:</a:t>
            </a:r>
            <a:endParaRPr sz="1300">
              <a:latin typeface="Calibri"/>
              <a:ea typeface="Calibri"/>
              <a:cs typeface="Calibri"/>
              <a:sym typeface="Calibri"/>
            </a:endParaRPr>
          </a:p>
          <a:p>
            <a:pPr marL="457200" lvl="0" indent="-2921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8"/>
              </a:rPr>
              <a:t>https://srush.github.io/annotated-s4/</a:t>
            </a:r>
            <a:r>
              <a:rPr lang="en" sz="1000">
                <a:latin typeface="Calibri"/>
                <a:ea typeface="Calibri"/>
                <a:cs typeface="Calibri"/>
                <a:sym typeface="Calibri"/>
              </a:rPr>
              <a:t> </a:t>
            </a:r>
            <a:endParaRPr sz="1000">
              <a:latin typeface="Calibri"/>
              <a:ea typeface="Calibri"/>
              <a:cs typeface="Calibri"/>
              <a:sym typeface="Calibri"/>
            </a:endParaRPr>
          </a:p>
          <a:p>
            <a:pPr marL="457200" lvl="0" indent="-2921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9"/>
              </a:rPr>
              <a:t>https://www.youtube.com/watch?v=GqwhkbrWDOI</a:t>
            </a:r>
            <a:r>
              <a:rPr lang="en" sz="1000">
                <a:latin typeface="Calibri"/>
                <a:ea typeface="Calibri"/>
                <a:cs typeface="Calibri"/>
                <a:sym typeface="Calibri"/>
              </a:rPr>
              <a:t> </a:t>
            </a: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SSM = any recurrent process with a latent space.</a:t>
            </a: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SSM is just a version of a RRN (Recurrent Neural Net).</a:t>
            </a: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GRUs and LSTMs - gated networks (gates used to </a:t>
            </a:r>
            <a:r>
              <a:rPr lang="en" sz="1300" b="1">
                <a:solidFill>
                  <a:srgbClr val="FF0000"/>
                </a:solidFill>
                <a:latin typeface="Calibri"/>
                <a:ea typeface="Calibri"/>
                <a:cs typeface="Calibri"/>
                <a:sym typeface="Calibri"/>
              </a:rPr>
              <a:t>select</a:t>
            </a:r>
            <a:r>
              <a:rPr lang="en" sz="1300">
                <a:latin typeface="Calibri"/>
                <a:ea typeface="Calibri"/>
                <a:cs typeface="Calibri"/>
                <a:sym typeface="Calibri"/>
              </a:rPr>
              <a:t> what to remember as you go along the sequence)</a:t>
            </a:r>
            <a:endParaRPr sz="1300">
              <a:latin typeface="Calibri"/>
              <a:ea typeface="Calibri"/>
              <a:cs typeface="Calibri"/>
              <a:sym typeface="Calibri"/>
            </a:endParaRPr>
          </a:p>
          <a:p>
            <a:pPr marL="0" lvl="0" indent="0" algn="l" rtl="0">
              <a:spcBef>
                <a:spcPts val="0"/>
              </a:spcBef>
              <a:spcAft>
                <a:spcPts val="0"/>
              </a:spcAft>
              <a:buNone/>
            </a:pP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Sequence modeling is the art of compressing context into a smaller state (for example, by </a:t>
            </a:r>
            <a:r>
              <a:rPr lang="en" sz="1300" b="1">
                <a:solidFill>
                  <a:srgbClr val="FF0000"/>
                </a:solidFill>
                <a:latin typeface="Calibri"/>
                <a:ea typeface="Calibri"/>
                <a:cs typeface="Calibri"/>
                <a:sym typeface="Calibri"/>
              </a:rPr>
              <a:t>selecting</a:t>
            </a:r>
            <a:r>
              <a:rPr lang="en" sz="1300">
                <a:latin typeface="Calibri"/>
                <a:ea typeface="Calibri"/>
                <a:cs typeface="Calibri"/>
                <a:sym typeface="Calibri"/>
              </a:rPr>
              <a:t>), and then using it to predict the output sequence.</a:t>
            </a:r>
            <a:endParaRPr sz="1300">
              <a:latin typeface="Calibri"/>
              <a:ea typeface="Calibri"/>
              <a:cs typeface="Calibri"/>
              <a:sym typeface="Calibri"/>
            </a:endParaRPr>
          </a:p>
          <a:p>
            <a:pPr marL="0" lvl="0" indent="0" algn="l" rtl="0">
              <a:spcBef>
                <a:spcPts val="0"/>
              </a:spcBef>
              <a:spcAft>
                <a:spcPts val="0"/>
              </a:spcAft>
              <a:buNone/>
            </a:pPr>
            <a:endParaRPr sz="1300">
              <a:latin typeface="Calibri"/>
              <a:ea typeface="Calibri"/>
              <a:cs typeface="Calibri"/>
              <a:sym typeface="Calibri"/>
            </a:endParaRPr>
          </a:p>
          <a:p>
            <a:pPr marL="0" lvl="0" indent="0" algn="l" rtl="0">
              <a:spcBef>
                <a:spcPts val="0"/>
              </a:spcBef>
              <a:spcAft>
                <a:spcPts val="0"/>
              </a:spcAft>
              <a:buNone/>
            </a:pPr>
            <a:r>
              <a:rPr lang="en" sz="1300" b="1">
                <a:solidFill>
                  <a:srgbClr val="FF0000"/>
                </a:solidFill>
                <a:latin typeface="Calibri"/>
                <a:ea typeface="Calibri"/>
                <a:cs typeface="Calibri"/>
                <a:sym typeface="Calibri"/>
              </a:rPr>
              <a:t>Attention does not compress the context at all.</a:t>
            </a:r>
            <a:endParaRPr sz="1300" b="1">
              <a:solidFill>
                <a:srgbClr val="FF0000"/>
              </a:solidFill>
              <a:latin typeface="Calibri"/>
              <a:ea typeface="Calibri"/>
              <a:cs typeface="Calibri"/>
              <a:sym typeface="Calibri"/>
            </a:endParaRPr>
          </a:p>
          <a:p>
            <a:pPr marL="0" lvl="0" indent="0" algn="l" rtl="0">
              <a:spcBef>
                <a:spcPts val="0"/>
              </a:spcBef>
              <a:spcAft>
                <a:spcPts val="0"/>
              </a:spcAft>
              <a:buNone/>
            </a:pPr>
            <a:endParaRPr sz="1300" b="1">
              <a:solidFill>
                <a:srgbClr val="FF0000"/>
              </a:solidFill>
              <a:latin typeface="Calibri"/>
              <a:ea typeface="Calibri"/>
              <a:cs typeface="Calibri"/>
              <a:sym typeface="Calibri"/>
            </a:endParaRPr>
          </a:p>
          <a:p>
            <a:pPr marL="0" lvl="0" indent="0" algn="l" rtl="0">
              <a:spcBef>
                <a:spcPts val="0"/>
              </a:spcBef>
              <a:spcAft>
                <a:spcPts val="0"/>
              </a:spcAft>
              <a:buNone/>
            </a:pPr>
            <a:r>
              <a:rPr lang="en" sz="1300" b="1">
                <a:solidFill>
                  <a:srgbClr val="FF0000"/>
                </a:solidFill>
                <a:latin typeface="Calibri"/>
                <a:ea typeface="Calibri"/>
                <a:cs typeface="Calibri"/>
                <a:sym typeface="Calibri"/>
              </a:rPr>
              <a:t>Mamba</a:t>
            </a:r>
            <a:r>
              <a:rPr lang="en" sz="1300">
                <a:latin typeface="Calibri"/>
                <a:ea typeface="Calibri"/>
                <a:cs typeface="Calibri"/>
                <a:sym typeface="Calibri"/>
              </a:rPr>
              <a:t>: provides a selection mechanism to filter out irrelevant information, and a hardware aware algorithm that computes the model recurrently but does not materialize in the expanded state, optimizing for GPU memory layouts.</a:t>
            </a:r>
            <a:endParaRPr sz="1300">
              <a:latin typeface="Calibri"/>
              <a:ea typeface="Calibri"/>
              <a:cs typeface="Calibri"/>
              <a:sym typeface="Calibri"/>
            </a:endParaRPr>
          </a:p>
        </p:txBody>
      </p:sp>
      <p:pic>
        <p:nvPicPr>
          <p:cNvPr id="88" name="Google Shape;88;p17"/>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1535076" y="43725"/>
            <a:ext cx="664500" cy="86600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18"/>
          <p:cNvSpPr txBox="1"/>
          <p:nvPr/>
        </p:nvSpPr>
        <p:spPr>
          <a:xfrm>
            <a:off x="76200" y="76200"/>
            <a:ext cx="50649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Efficient inference of Mixtral-8x7B on a laptop</a:t>
            </a:r>
            <a:endParaRPr sz="2000" b="1">
              <a:latin typeface="Calibri"/>
              <a:ea typeface="Calibri"/>
              <a:cs typeface="Calibri"/>
              <a:sym typeface="Calibri"/>
            </a:endParaRPr>
          </a:p>
        </p:txBody>
      </p:sp>
      <p:sp>
        <p:nvSpPr>
          <p:cNvPr id="94" name="Google Shape;94;p18"/>
          <p:cNvSpPr txBox="1"/>
          <p:nvPr/>
        </p:nvSpPr>
        <p:spPr>
          <a:xfrm>
            <a:off x="72300" y="597400"/>
            <a:ext cx="4845300" cy="4263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dk1"/>
                </a:solidFill>
                <a:latin typeface="Calibri"/>
                <a:ea typeface="Calibri"/>
                <a:cs typeface="Calibri"/>
                <a:sym typeface="Calibri"/>
              </a:rPr>
              <a:t>run Mixtral on Nvidia 3060 with 12GB !</a:t>
            </a:r>
            <a:endParaRPr sz="1300">
              <a:solidFill>
                <a:schemeClr val="dk1"/>
              </a:solidFill>
              <a:latin typeface="Calibri"/>
              <a:ea typeface="Calibri"/>
              <a:cs typeface="Calibri"/>
              <a:sym typeface="Calibri"/>
            </a:endParaRPr>
          </a:p>
          <a:p>
            <a:pPr marL="228600" lvl="0" indent="-177800" algn="l" rtl="0">
              <a:spcBef>
                <a:spcPts val="0"/>
              </a:spcBef>
              <a:spcAft>
                <a:spcPts val="0"/>
              </a:spcAft>
              <a:buClr>
                <a:schemeClr val="dk1"/>
              </a:buClr>
              <a:buSzPts val="1000"/>
              <a:buFont typeface="Calibri"/>
              <a:buChar char="●"/>
            </a:pPr>
            <a:r>
              <a:rPr lang="en" sz="1000"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https://arxiv.org/abs/2312.17238</a:t>
            </a:r>
            <a:r>
              <a:rPr lang="en" sz="1000">
                <a:solidFill>
                  <a:schemeClr val="dk1"/>
                </a:solidFill>
                <a:latin typeface="Calibri"/>
                <a:ea typeface="Calibri"/>
                <a:cs typeface="Calibri"/>
                <a:sym typeface="Calibri"/>
              </a:rPr>
              <a:t> - paper</a:t>
            </a:r>
            <a:endParaRPr sz="1000">
              <a:solidFill>
                <a:schemeClr val="dk1"/>
              </a:solidFill>
              <a:latin typeface="Calibri"/>
              <a:ea typeface="Calibri"/>
              <a:cs typeface="Calibri"/>
              <a:sym typeface="Calibri"/>
            </a:endParaRPr>
          </a:p>
          <a:p>
            <a:pPr marL="228600" lvl="0" indent="-177800" algn="l" rtl="0">
              <a:spcBef>
                <a:spcPts val="0"/>
              </a:spcBef>
              <a:spcAft>
                <a:spcPts val="0"/>
              </a:spcAft>
              <a:buClr>
                <a:schemeClr val="dk1"/>
              </a:buClr>
              <a:buSzPts val="1000"/>
              <a:buFont typeface="Calibri"/>
              <a:buChar char="●"/>
            </a:pPr>
            <a:r>
              <a:rPr lang="en" sz="1000" u="sng">
                <a:solidFill>
                  <a:schemeClr val="accent5"/>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https://github.com/dvmazur/mixtral-offloading</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228600" lvl="0" indent="-177800" algn="l" rtl="0">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5"/>
              </a:rPr>
              <a:t>https://twitter.com/rohanpaul_ai/status/1741103866047869222</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 - Stream model during Inference!</a:t>
            </a:r>
            <a:endParaRPr sz="1300" b="1">
              <a:solidFill>
                <a:srgbClr val="FF0000"/>
              </a:solidFill>
              <a:latin typeface="Calibri"/>
              <a:ea typeface="Calibri"/>
              <a:cs typeface="Calibri"/>
              <a:sym typeface="Calibri"/>
            </a:endParaRPr>
          </a:p>
          <a:p>
            <a:pPr marL="0" lvl="0" indent="0" algn="l" rtl="0">
              <a:spcBef>
                <a:spcPts val="0"/>
              </a:spcBef>
              <a:spcAft>
                <a:spcPts val="0"/>
              </a:spcAft>
              <a:buNone/>
            </a:pPr>
            <a:r>
              <a:rPr lang="en" sz="1300" b="1">
                <a:solidFill>
                  <a:srgbClr val="FF0000"/>
                </a:solidFill>
                <a:latin typeface="Calibri"/>
                <a:ea typeface="Calibri"/>
                <a:cs typeface="Calibri"/>
                <a:sym typeface="Calibri"/>
              </a:rPr>
              <a:t> - Just-In-Time Loading of model layers!</a:t>
            </a:r>
            <a:endParaRPr sz="13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rgbClr val="0F0F0F"/>
                </a:solidFill>
                <a:latin typeface="Calibri"/>
                <a:ea typeface="Calibri"/>
                <a:cs typeface="Calibri"/>
                <a:sym typeface="Calibri"/>
              </a:rPr>
              <a:t>Since most deep learning models use layers in a fixed order, offloading can pre-dispatch the next layer parameters in the background, ahead of time.</a:t>
            </a:r>
            <a:endParaRPr sz="13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b="1">
                <a:solidFill>
                  <a:srgbClr val="0F0F0F"/>
                </a:solidFill>
                <a:latin typeface="Calibri"/>
                <a:ea typeface="Calibri"/>
                <a:cs typeface="Calibri"/>
                <a:sym typeface="Calibri"/>
              </a:rPr>
              <a:t>Mixed quantization with HQQ</a:t>
            </a:r>
            <a:r>
              <a:rPr lang="en" sz="1300">
                <a:solidFill>
                  <a:srgbClr val="0F0F0F"/>
                </a:solidFill>
                <a:latin typeface="Calibri"/>
                <a:ea typeface="Calibri"/>
                <a:cs typeface="Calibri"/>
                <a:sym typeface="Calibri"/>
              </a:rPr>
              <a:t> - separate quantization schemes for attention layers and experts to fit the model into the combined GPU and CPU memory.</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b="1">
                <a:solidFill>
                  <a:srgbClr val="0F0F0F"/>
                </a:solidFill>
                <a:latin typeface="Calibri"/>
                <a:ea typeface="Calibri"/>
                <a:cs typeface="Calibri"/>
                <a:sym typeface="Calibri"/>
              </a:rPr>
              <a:t>MoE offloading strategy</a:t>
            </a:r>
            <a:r>
              <a:rPr lang="en" sz="1300">
                <a:solidFill>
                  <a:srgbClr val="0F0F0F"/>
                </a:solidFill>
                <a:latin typeface="Calibri"/>
                <a:ea typeface="Calibri"/>
                <a:cs typeface="Calibri"/>
                <a:sym typeface="Calibri"/>
              </a:rPr>
              <a:t> - each expert per layer is offloaded separately and only brought pack to GPU when needed. LRU cache (Least Recently Used) is used to reduce GPU-RAM communication when computing activations for adjacent tokens.</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Demo notebook:</a:t>
            </a:r>
            <a:endParaRPr sz="1300">
              <a:solidFill>
                <a:srgbClr val="0F0F0F"/>
              </a:solidFill>
              <a:latin typeface="Calibri"/>
              <a:ea typeface="Calibri"/>
              <a:cs typeface="Calibri"/>
              <a:sym typeface="Calibri"/>
            </a:endParaRPr>
          </a:p>
          <a:p>
            <a:pPr marL="342900" lvl="0" indent="-17145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6"/>
              </a:rPr>
              <a:t>https://github.com/dvmazur/mixtral-offloading/blob/master/notebooks/demo.ipynb</a:t>
            </a:r>
            <a:r>
              <a:rPr lang="en" sz="900">
                <a:solidFill>
                  <a:srgbClr val="0F0F0F"/>
                </a:solidFill>
                <a:latin typeface="Calibri"/>
                <a:ea typeface="Calibri"/>
                <a:cs typeface="Calibri"/>
                <a:sym typeface="Calibri"/>
              </a:rPr>
              <a:t> </a:t>
            </a:r>
            <a:endParaRPr sz="900">
              <a:solidFill>
                <a:srgbClr val="0F0F0F"/>
              </a:solidFill>
              <a:latin typeface="Calibri"/>
              <a:ea typeface="Calibri"/>
              <a:cs typeface="Calibri"/>
              <a:sym typeface="Calibri"/>
            </a:endParaRPr>
          </a:p>
          <a:p>
            <a:pPr marL="342900" lvl="0" indent="-17145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7"/>
              </a:rPr>
              <a:t>https://colab.research.google.com/github/dvmazur/mixtral-offloading/blob/master/notebooks/demo.ipynb</a:t>
            </a:r>
            <a:r>
              <a:rPr lang="en" sz="900">
                <a:solidFill>
                  <a:srgbClr val="0F0F0F"/>
                </a:solidFill>
                <a:latin typeface="Calibri"/>
                <a:ea typeface="Calibri"/>
                <a:cs typeface="Calibri"/>
                <a:sym typeface="Calibri"/>
              </a:rPr>
              <a:t> </a:t>
            </a:r>
            <a:endParaRPr sz="900">
              <a:solidFill>
                <a:srgbClr val="0F0F0F"/>
              </a:solidFill>
              <a:latin typeface="Calibri"/>
              <a:ea typeface="Calibri"/>
              <a:cs typeface="Calibri"/>
              <a:sym typeface="Calibri"/>
            </a:endParaRPr>
          </a:p>
        </p:txBody>
      </p:sp>
      <p:sp>
        <p:nvSpPr>
          <p:cNvPr id="95" name="Google Shape;95;p18"/>
          <p:cNvSpPr txBox="1"/>
          <p:nvPr/>
        </p:nvSpPr>
        <p:spPr>
          <a:xfrm>
            <a:off x="7014600" y="3472375"/>
            <a:ext cx="1809300" cy="9390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300">
                <a:solidFill>
                  <a:schemeClr val="dk1"/>
                </a:solidFill>
                <a:latin typeface="Calibri"/>
                <a:ea typeface="Calibri"/>
                <a:cs typeface="Calibri"/>
                <a:sym typeface="Calibri"/>
              </a:rPr>
              <a:t>Artyom Eliseev</a:t>
            </a:r>
            <a:endParaRPr sz="1300">
              <a:solidFill>
                <a:schemeClr val="dk1"/>
              </a:solidFill>
              <a:latin typeface="Calibri"/>
              <a:ea typeface="Calibri"/>
              <a:cs typeface="Calibri"/>
              <a:sym typeface="Calibri"/>
            </a:endParaRPr>
          </a:p>
          <a:p>
            <a:pPr marL="0" lvl="0" indent="0" algn="ctr" rtl="0">
              <a:spcBef>
                <a:spcPts val="0"/>
              </a:spcBef>
              <a:spcAft>
                <a:spcPts val="0"/>
              </a:spcAft>
              <a:buNone/>
            </a:pPr>
            <a:r>
              <a:rPr lang="en" sz="1300">
                <a:solidFill>
                  <a:schemeClr val="dk1"/>
                </a:solidFill>
                <a:latin typeface="Calibri"/>
                <a:ea typeface="Calibri"/>
                <a:cs typeface="Calibri"/>
                <a:sym typeface="Calibri"/>
              </a:rPr>
              <a:t>Yandex School </a:t>
            </a:r>
            <a:br>
              <a:rPr lang="en" sz="1300">
                <a:solidFill>
                  <a:schemeClr val="dk1"/>
                </a:solidFill>
                <a:latin typeface="Calibri"/>
                <a:ea typeface="Calibri"/>
                <a:cs typeface="Calibri"/>
                <a:sym typeface="Calibri"/>
              </a:rPr>
            </a:br>
            <a:r>
              <a:rPr lang="en" sz="1300">
                <a:solidFill>
                  <a:schemeClr val="dk1"/>
                </a:solidFill>
                <a:latin typeface="Calibri"/>
                <a:ea typeface="Calibri"/>
                <a:cs typeface="Calibri"/>
                <a:sym typeface="Calibri"/>
              </a:rPr>
              <a:t>of Data Analysis</a:t>
            </a:r>
            <a:endParaRPr sz="1300">
              <a:solidFill>
                <a:schemeClr val="dk1"/>
              </a:solidFill>
              <a:latin typeface="Calibri"/>
              <a:ea typeface="Calibri"/>
              <a:cs typeface="Calibri"/>
              <a:sym typeface="Calibri"/>
            </a:endParaRPr>
          </a:p>
          <a:p>
            <a:pPr marL="0" lvl="0" indent="0" algn="ctr" rtl="0">
              <a:spcBef>
                <a:spcPts val="0"/>
              </a:spcBef>
              <a:spcAft>
                <a:spcPts val="0"/>
              </a:spcAft>
              <a:buNone/>
            </a:pPr>
            <a:r>
              <a:rPr lang="en" sz="1000" u="sng">
                <a:solidFill>
                  <a:schemeClr val="hlink"/>
                </a:solidFill>
                <a:latin typeface="Calibri"/>
                <a:ea typeface="Calibri"/>
                <a:cs typeface="Calibri"/>
                <a:sym typeface="Calibri"/>
                <a:hlinkClick r:id="rId8"/>
              </a:rPr>
              <a:t>https://github.com/lavawolfiee</a:t>
            </a:r>
            <a:endParaRPr sz="1000">
              <a:latin typeface="Calibri"/>
              <a:ea typeface="Calibri"/>
              <a:cs typeface="Calibri"/>
              <a:sym typeface="Calibri"/>
            </a:endParaRPr>
          </a:p>
        </p:txBody>
      </p:sp>
      <p:pic>
        <p:nvPicPr>
          <p:cNvPr id="96" name="Google Shape;96;p18"/>
          <p:cNvPicPr preferRelativeResize="0"/>
          <p:nvPr/>
        </p:nvPicPr>
        <p:blipFill rotWithShape="1">
          <a:blip r:embed="rId9" cstate="email">
            <a:alphaModFix/>
            <a:extLst>
              <a:ext uri="{28A0092B-C50C-407E-A947-70E740481C1C}">
                <a14:useLocalDpi xmlns:a14="http://schemas.microsoft.com/office/drawing/2010/main"/>
              </a:ext>
            </a:extLst>
          </a:blip>
          <a:srcRect/>
          <a:stretch/>
        </p:blipFill>
        <p:spPr>
          <a:xfrm>
            <a:off x="5289475" y="60900"/>
            <a:ext cx="1809250" cy="573450"/>
          </a:xfrm>
          <a:prstGeom prst="rect">
            <a:avLst/>
          </a:prstGeom>
          <a:noFill/>
          <a:ln>
            <a:noFill/>
          </a:ln>
        </p:spPr>
      </p:pic>
      <p:pic>
        <p:nvPicPr>
          <p:cNvPr id="97" name="Google Shape;97;p18"/>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5348776" y="1755700"/>
            <a:ext cx="1273636" cy="1632100"/>
          </a:xfrm>
          <a:prstGeom prst="rect">
            <a:avLst/>
          </a:prstGeom>
          <a:noFill/>
          <a:ln>
            <a:noFill/>
          </a:ln>
        </p:spPr>
      </p:pic>
      <p:pic>
        <p:nvPicPr>
          <p:cNvPr id="98" name="Google Shape;98;p18"/>
          <p:cNvPicPr preferRelativeResize="0"/>
          <p:nvPr/>
        </p:nvPicPr>
        <p:blipFill>
          <a:blip r:embed="rId11" cstate="email">
            <a:alphaModFix/>
            <a:extLst>
              <a:ext uri="{28A0092B-C50C-407E-A947-70E740481C1C}">
                <a14:useLocalDpi xmlns:a14="http://schemas.microsoft.com/office/drawing/2010/main"/>
              </a:ext>
            </a:extLst>
          </a:blip>
          <a:stretch>
            <a:fillRect/>
          </a:stretch>
        </p:blipFill>
        <p:spPr>
          <a:xfrm>
            <a:off x="7317800" y="1755700"/>
            <a:ext cx="1191000" cy="1632100"/>
          </a:xfrm>
          <a:prstGeom prst="rect">
            <a:avLst/>
          </a:prstGeom>
          <a:noFill/>
          <a:ln>
            <a:noFill/>
          </a:ln>
        </p:spPr>
      </p:pic>
      <p:sp>
        <p:nvSpPr>
          <p:cNvPr id="99" name="Google Shape;99;p18"/>
          <p:cNvSpPr txBox="1"/>
          <p:nvPr/>
        </p:nvSpPr>
        <p:spPr>
          <a:xfrm>
            <a:off x="5348775" y="902525"/>
            <a:ext cx="3357300" cy="5850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300">
                <a:solidFill>
                  <a:schemeClr val="dk1"/>
                </a:solidFill>
                <a:latin typeface="Calibri"/>
                <a:ea typeface="Calibri"/>
                <a:cs typeface="Calibri"/>
                <a:sym typeface="Calibri"/>
              </a:rPr>
              <a:t>Moscow Institute of Physics and Technology</a:t>
            </a:r>
            <a:endParaRPr sz="1300">
              <a:solidFill>
                <a:schemeClr val="dk1"/>
              </a:solidFill>
              <a:latin typeface="Calibri"/>
              <a:ea typeface="Calibri"/>
              <a:cs typeface="Calibri"/>
              <a:sym typeface="Calibri"/>
            </a:endParaRPr>
          </a:p>
          <a:p>
            <a:pPr marL="0" lvl="0" indent="0" algn="ctr" rtl="0">
              <a:spcBef>
                <a:spcPts val="0"/>
              </a:spcBef>
              <a:spcAft>
                <a:spcPts val="0"/>
              </a:spcAft>
              <a:buNone/>
            </a:pPr>
            <a:r>
              <a:rPr lang="en" sz="1300">
                <a:solidFill>
                  <a:schemeClr val="dk1"/>
                </a:solidFill>
                <a:latin typeface="Calibri"/>
                <a:ea typeface="Calibri"/>
                <a:cs typeface="Calibri"/>
                <a:sym typeface="Calibri"/>
              </a:rPr>
              <a:t> Yandex</a:t>
            </a:r>
            <a:endParaRPr sz="1300">
              <a:latin typeface="Calibri"/>
              <a:ea typeface="Calibri"/>
              <a:cs typeface="Calibri"/>
              <a:sym typeface="Calibri"/>
            </a:endParaRPr>
          </a:p>
        </p:txBody>
      </p:sp>
      <p:pic>
        <p:nvPicPr>
          <p:cNvPr id="100" name="Google Shape;100;p18"/>
          <p:cNvPicPr preferRelativeResize="0"/>
          <p:nvPr/>
        </p:nvPicPr>
        <p:blipFill rotWithShape="1">
          <a:blip r:embed="rId12" cstate="email">
            <a:alphaModFix/>
            <a:extLst>
              <a:ext uri="{28A0092B-C50C-407E-A947-70E740481C1C}">
                <a14:useLocalDpi xmlns:a14="http://schemas.microsoft.com/office/drawing/2010/main"/>
              </a:ext>
            </a:extLst>
          </a:blip>
          <a:srcRect/>
          <a:stretch/>
        </p:blipFill>
        <p:spPr>
          <a:xfrm>
            <a:off x="7723050" y="80388"/>
            <a:ext cx="1329925" cy="534475"/>
          </a:xfrm>
          <a:prstGeom prst="rect">
            <a:avLst/>
          </a:prstGeom>
          <a:noFill/>
          <a:ln>
            <a:noFill/>
          </a:ln>
        </p:spPr>
      </p:pic>
      <p:sp>
        <p:nvSpPr>
          <p:cNvPr id="101" name="Google Shape;101;p18"/>
          <p:cNvSpPr txBox="1"/>
          <p:nvPr/>
        </p:nvSpPr>
        <p:spPr>
          <a:xfrm>
            <a:off x="5146050" y="3472375"/>
            <a:ext cx="1679100" cy="9390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300">
                <a:solidFill>
                  <a:schemeClr val="dk1"/>
                </a:solidFill>
                <a:latin typeface="Calibri"/>
                <a:ea typeface="Calibri"/>
                <a:cs typeface="Calibri"/>
                <a:sym typeface="Calibri"/>
              </a:rPr>
              <a:t>Denis Mazur </a:t>
            </a:r>
            <a:endParaRPr sz="1300">
              <a:solidFill>
                <a:schemeClr val="dk1"/>
              </a:solidFill>
              <a:latin typeface="Calibri"/>
              <a:ea typeface="Calibri"/>
              <a:cs typeface="Calibri"/>
              <a:sym typeface="Calibri"/>
            </a:endParaRPr>
          </a:p>
          <a:p>
            <a:pPr marL="0" lvl="0" indent="0" algn="ctr" rtl="0">
              <a:spcBef>
                <a:spcPts val="0"/>
              </a:spcBef>
              <a:spcAft>
                <a:spcPts val="0"/>
              </a:spcAft>
              <a:buNone/>
            </a:pPr>
            <a:r>
              <a:rPr lang="en" sz="1300">
                <a:solidFill>
                  <a:schemeClr val="dk1"/>
                </a:solidFill>
                <a:latin typeface="Calibri"/>
                <a:ea typeface="Calibri"/>
                <a:cs typeface="Calibri"/>
                <a:sym typeface="Calibri"/>
              </a:rPr>
              <a:t>Yandex </a:t>
            </a:r>
            <a:br>
              <a:rPr lang="en" sz="1300">
                <a:solidFill>
                  <a:schemeClr val="dk1"/>
                </a:solidFill>
                <a:latin typeface="Calibri"/>
                <a:ea typeface="Calibri"/>
                <a:cs typeface="Calibri"/>
                <a:sym typeface="Calibri"/>
              </a:rPr>
            </a:br>
            <a:r>
              <a:rPr lang="en" sz="1300">
                <a:solidFill>
                  <a:schemeClr val="dk1"/>
                </a:solidFill>
                <a:latin typeface="Calibri"/>
                <a:ea typeface="Calibri"/>
                <a:cs typeface="Calibri"/>
                <a:sym typeface="Calibri"/>
              </a:rPr>
              <a:t>Researchcore</a:t>
            </a:r>
            <a:endParaRPr sz="1300">
              <a:solidFill>
                <a:schemeClr val="dk1"/>
              </a:solidFill>
              <a:latin typeface="Calibri"/>
              <a:ea typeface="Calibri"/>
              <a:cs typeface="Calibri"/>
              <a:sym typeface="Calibri"/>
            </a:endParaRPr>
          </a:p>
          <a:p>
            <a:pPr marL="0" lvl="0" indent="0" algn="ctr" rtl="0">
              <a:spcBef>
                <a:spcPts val="0"/>
              </a:spcBef>
              <a:spcAft>
                <a:spcPts val="0"/>
              </a:spcAft>
              <a:buNone/>
            </a:pPr>
            <a:r>
              <a:rPr lang="en" sz="1000" u="sng">
                <a:solidFill>
                  <a:schemeClr val="accent5"/>
                </a:solidFill>
                <a:latin typeface="Calibri"/>
                <a:ea typeface="Calibri"/>
                <a:cs typeface="Calibri"/>
                <a:sym typeface="Calibri"/>
                <a:hlinkClick r:id="rId13">
                  <a:extLst>
                    <a:ext uri="{A12FA001-AC4F-418D-AE19-62706E023703}">
                      <ahyp:hlinkClr xmlns:ahyp="http://schemas.microsoft.com/office/drawing/2018/hyperlinkcolor" val="tx"/>
                    </a:ext>
                  </a:extLst>
                </a:hlinkClick>
              </a:rPr>
              <a:t>https://github.com/dvmazur</a:t>
            </a:r>
            <a:r>
              <a:rPr lang="en" sz="1000">
                <a:solidFill>
                  <a:schemeClr val="dk1"/>
                </a:solidFill>
                <a:latin typeface="Calibri"/>
                <a:ea typeface="Calibri"/>
                <a:cs typeface="Calibri"/>
                <a:sym typeface="Calibri"/>
              </a:rPr>
              <a:t> </a:t>
            </a:r>
            <a:endParaRPr sz="1000">
              <a:latin typeface="Calibri"/>
              <a:ea typeface="Calibri"/>
              <a:cs typeface="Calibri"/>
              <a:sym typeface="Calibri"/>
            </a:endParaRPr>
          </a:p>
        </p:txBody>
      </p:sp>
      <p:pic>
        <p:nvPicPr>
          <p:cNvPr id="102" name="Google Shape;102;p18"/>
          <p:cNvPicPr preferRelativeResize="0"/>
          <p:nvPr/>
        </p:nvPicPr>
        <p:blipFill>
          <a:blip r:embed="rId14" cstate="email">
            <a:alphaModFix/>
            <a:extLst>
              <a:ext uri="{28A0092B-C50C-407E-A947-70E740481C1C}">
                <a14:useLocalDpi xmlns:a14="http://schemas.microsoft.com/office/drawing/2010/main"/>
              </a:ext>
            </a:extLst>
          </a:blip>
          <a:stretch>
            <a:fillRect/>
          </a:stretch>
        </p:blipFill>
        <p:spPr>
          <a:xfrm>
            <a:off x="4107675" y="442398"/>
            <a:ext cx="1038376" cy="127990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7" name="Google Shape;107;p19"/>
          <p:cNvSpPr txBox="1"/>
          <p:nvPr/>
        </p:nvSpPr>
        <p:spPr>
          <a:xfrm>
            <a:off x="76200" y="76200"/>
            <a:ext cx="16791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deepinfra.com</a:t>
            </a:r>
            <a:endParaRPr sz="2000" b="1">
              <a:latin typeface="Calibri"/>
              <a:ea typeface="Calibri"/>
              <a:cs typeface="Calibri"/>
              <a:sym typeface="Calibri"/>
            </a:endParaRPr>
          </a:p>
        </p:txBody>
      </p:sp>
      <p:sp>
        <p:nvSpPr>
          <p:cNvPr id="108" name="Google Shape;108;p19"/>
          <p:cNvSpPr txBox="1"/>
          <p:nvPr/>
        </p:nvSpPr>
        <p:spPr>
          <a:xfrm>
            <a:off x="208225" y="757925"/>
            <a:ext cx="4505400" cy="1200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DeepInfra</a:t>
            </a:r>
            <a:r>
              <a:rPr lang="en" sz="1300">
                <a:latin typeface="Calibri"/>
                <a:ea typeface="Calibri"/>
                <a:cs typeface="Calibri"/>
                <a:sym typeface="Calibri"/>
              </a:rPr>
              <a:t> is a startup offering open-source models </a:t>
            </a: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at very low rates via simple API - pay only for usage</a:t>
            </a:r>
            <a:endParaRPr sz="1300">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https://deepinfra.com</a:t>
            </a:r>
            <a:endParaRPr sz="1000">
              <a:solidFill>
                <a:schemeClr val="dk1"/>
              </a:solidFill>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4"/>
              </a:rPr>
              <a:t>https://twitter.com/DeepInfra</a:t>
            </a:r>
            <a:endParaRPr sz="1000">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5"/>
              </a:rPr>
              <a:t>https://venturebeat.com/data-infrastructure/deepinfra-emerges-from-stealth-with-8m-to-make-running-ai-inferences-more-affordable/</a:t>
            </a:r>
            <a:r>
              <a:rPr lang="en" sz="1000">
                <a:latin typeface="Calibri"/>
                <a:ea typeface="Calibri"/>
                <a:cs typeface="Calibri"/>
                <a:sym typeface="Calibri"/>
              </a:rPr>
              <a:t> </a:t>
            </a:r>
            <a:endParaRPr sz="1000">
              <a:latin typeface="Calibri"/>
              <a:ea typeface="Calibri"/>
              <a:cs typeface="Calibri"/>
              <a:sym typeface="Calibri"/>
            </a:endParaRPr>
          </a:p>
        </p:txBody>
      </p:sp>
      <p:pic>
        <p:nvPicPr>
          <p:cNvPr id="109" name="Google Shape;109;p19"/>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152400" y="2201075"/>
            <a:ext cx="4518300" cy="2790025"/>
          </a:xfrm>
          <a:prstGeom prst="rect">
            <a:avLst/>
          </a:prstGeom>
          <a:noFill/>
          <a:ln>
            <a:noFill/>
          </a:ln>
        </p:spPr>
      </p:pic>
      <p:pic>
        <p:nvPicPr>
          <p:cNvPr id="110" name="Google Shape;110;p19"/>
          <p:cNvPicPr preferRelativeResize="0"/>
          <p:nvPr/>
        </p:nvPicPr>
        <p:blipFill>
          <a:blip r:embed="rId7">
            <a:alphaModFix/>
          </a:blip>
          <a:stretch>
            <a:fillRect/>
          </a:stretch>
        </p:blipFill>
        <p:spPr>
          <a:xfrm>
            <a:off x="1921100" y="111825"/>
            <a:ext cx="1838325" cy="457200"/>
          </a:xfrm>
          <a:prstGeom prst="rect">
            <a:avLst/>
          </a:prstGeom>
          <a:noFill/>
          <a:ln>
            <a:noFill/>
          </a:ln>
        </p:spPr>
      </p:pic>
      <p:sp>
        <p:nvSpPr>
          <p:cNvPr id="111" name="Google Shape;111;p19"/>
          <p:cNvSpPr txBox="1"/>
          <p:nvPr/>
        </p:nvSpPr>
        <p:spPr>
          <a:xfrm>
            <a:off x="4808175" y="303925"/>
            <a:ext cx="4221300" cy="2077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latin typeface="Calibri"/>
                <a:ea typeface="Calibri"/>
                <a:cs typeface="Calibri"/>
                <a:sym typeface="Calibri"/>
              </a:rPr>
              <a:t>Mixtral rates -  (in/out) in $ per Million tokens:</a:t>
            </a:r>
            <a:endParaRPr sz="13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100">
                <a:solidFill>
                  <a:srgbClr val="3C78D8"/>
                </a:solidFill>
                <a:latin typeface="Roboto Mono"/>
                <a:ea typeface="Roboto Mono"/>
                <a:cs typeface="Roboto Mono"/>
                <a:sym typeface="Roboto Mono"/>
              </a:rPr>
              <a:t>($0.6  / $1.8 ) from Mistral</a:t>
            </a:r>
            <a:endParaRPr sz="1100">
              <a:solidFill>
                <a:srgbClr val="3C78D8"/>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 sz="1100">
                <a:solidFill>
                  <a:srgbClr val="3C78D8"/>
                </a:solidFill>
                <a:latin typeface="Roboto Mono"/>
                <a:ea typeface="Roboto Mono"/>
                <a:cs typeface="Roboto Mono"/>
                <a:sym typeface="Roboto Mono"/>
              </a:rPr>
              <a:t>($0.4  / $1.6 ) from Fireworks.AI</a:t>
            </a:r>
            <a:endParaRPr sz="1100">
              <a:solidFill>
                <a:srgbClr val="3C78D8"/>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 sz="1100">
                <a:solidFill>
                  <a:srgbClr val="3C78D8"/>
                </a:solidFill>
                <a:latin typeface="Roboto Mono"/>
                <a:ea typeface="Roboto Mono"/>
                <a:cs typeface="Roboto Mono"/>
                <a:sym typeface="Roboto Mono"/>
              </a:rPr>
              <a:t>($0.6  / $0.6 ) from Together AI</a:t>
            </a:r>
            <a:endParaRPr sz="1100">
              <a:solidFill>
                <a:srgbClr val="3C78D8"/>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 sz="1100">
                <a:solidFill>
                  <a:srgbClr val="3C78D8"/>
                </a:solidFill>
                <a:latin typeface="Roboto Mono"/>
                <a:ea typeface="Roboto Mono"/>
                <a:cs typeface="Roboto Mono"/>
                <a:sym typeface="Roboto Mono"/>
              </a:rPr>
              <a:t>($0.14 / $0.56) from Perplexity </a:t>
            </a:r>
            <a:endParaRPr sz="1100">
              <a:solidFill>
                <a:srgbClr val="3C78D8"/>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 sz="1100">
                <a:solidFill>
                  <a:srgbClr val="3C78D8"/>
                </a:solidFill>
                <a:latin typeface="Roboto Mono"/>
                <a:ea typeface="Roboto Mono"/>
                <a:cs typeface="Roboto Mono"/>
                <a:sym typeface="Roboto Mono"/>
              </a:rPr>
              <a:t>($0.5  / $0.5 ) from Anyscale </a:t>
            </a:r>
            <a:endParaRPr sz="1100">
              <a:solidFill>
                <a:srgbClr val="3C78D8"/>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 sz="1100">
                <a:solidFill>
                  <a:srgbClr val="3C78D8"/>
                </a:solidFill>
                <a:latin typeface="Roboto Mono"/>
                <a:ea typeface="Roboto Mono"/>
                <a:cs typeface="Roboto Mono"/>
                <a:sym typeface="Roboto Mono"/>
              </a:rPr>
              <a:t>($0.2  / $0.5 ) from OctoAI (formerly OctoML)</a:t>
            </a:r>
            <a:endParaRPr sz="1100">
              <a:solidFill>
                <a:srgbClr val="3C78D8"/>
              </a:solidFill>
              <a:latin typeface="Roboto Mono"/>
              <a:ea typeface="Roboto Mono"/>
              <a:cs typeface="Roboto Mono"/>
              <a:sym typeface="Roboto Mono"/>
            </a:endParaRPr>
          </a:p>
          <a:p>
            <a:pPr marL="0" lvl="0" indent="0" algn="l" rtl="0">
              <a:spcBef>
                <a:spcPts val="0"/>
              </a:spcBef>
              <a:spcAft>
                <a:spcPts val="0"/>
              </a:spcAft>
              <a:buNone/>
            </a:pPr>
            <a:r>
              <a:rPr lang="en" sz="1100">
                <a:solidFill>
                  <a:srgbClr val="3C78D8"/>
                </a:solidFill>
                <a:latin typeface="Roboto Mono"/>
                <a:ea typeface="Roboto Mono"/>
                <a:cs typeface="Roboto Mono"/>
                <a:sym typeface="Roboto Mono"/>
              </a:rPr>
              <a:t>($0.3  / $0.3 ) from Abacus AI</a:t>
            </a:r>
            <a:endParaRPr sz="1100">
              <a:solidFill>
                <a:srgbClr val="3C78D8"/>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 sz="1100">
                <a:solidFill>
                  <a:srgbClr val="3C78D8"/>
                </a:solidFill>
                <a:latin typeface="Roboto Mono"/>
                <a:ea typeface="Roboto Mono"/>
                <a:cs typeface="Roboto Mono"/>
                <a:sym typeface="Roboto Mono"/>
              </a:rPr>
              <a:t>                down from original ($2/$2)!</a:t>
            </a:r>
            <a:endParaRPr sz="1100">
              <a:solidFill>
                <a:srgbClr val="3C78D8"/>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 sz="1100" b="1">
                <a:solidFill>
                  <a:srgbClr val="FF0000"/>
                </a:solidFill>
                <a:latin typeface="Roboto Mono"/>
                <a:ea typeface="Roboto Mono"/>
                <a:cs typeface="Roboto Mono"/>
                <a:sym typeface="Roboto Mono"/>
              </a:rPr>
              <a:t>($0.27 / $0.27) from Deepinfra</a:t>
            </a:r>
            <a:endParaRPr sz="1100" b="1">
              <a:solidFill>
                <a:srgbClr val="FF0000"/>
              </a:solidFill>
              <a:latin typeface="Roboto Mono"/>
              <a:ea typeface="Roboto Mono"/>
              <a:cs typeface="Roboto Mono"/>
              <a:sym typeface="Roboto Mono"/>
            </a:endParaRPr>
          </a:p>
          <a:p>
            <a:pPr marL="0" lvl="0" indent="0" algn="l" rtl="0">
              <a:spcBef>
                <a:spcPts val="0"/>
              </a:spcBef>
              <a:spcAft>
                <a:spcPts val="0"/>
              </a:spcAft>
              <a:buNone/>
            </a:pPr>
            <a:r>
              <a:rPr lang="en" sz="1100">
                <a:solidFill>
                  <a:srgbClr val="3C78D8"/>
                </a:solidFill>
                <a:latin typeface="Roboto Mono"/>
                <a:ea typeface="Roboto Mono"/>
                <a:cs typeface="Roboto Mono"/>
                <a:sym typeface="Roboto Mono"/>
              </a:rPr>
              <a:t>“free”          on OpenRouter, but rate limited</a:t>
            </a:r>
            <a:endParaRPr sz="1100">
              <a:solidFill>
                <a:srgbClr val="3C78D8"/>
              </a:solidFill>
              <a:latin typeface="Roboto Mono"/>
              <a:ea typeface="Roboto Mono"/>
              <a:cs typeface="Roboto Mono"/>
              <a:sym typeface="Roboto Mono"/>
            </a:endParaRPr>
          </a:p>
        </p:txBody>
      </p:sp>
      <p:graphicFrame>
        <p:nvGraphicFramePr>
          <p:cNvPr id="112" name="Google Shape;112;p19"/>
          <p:cNvGraphicFramePr/>
          <p:nvPr/>
        </p:nvGraphicFramePr>
        <p:xfrm>
          <a:off x="4966463" y="2553800"/>
          <a:ext cx="3000000" cy="3000000"/>
        </p:xfrm>
        <a:graphic>
          <a:graphicData uri="http://schemas.openxmlformats.org/drawingml/2006/table">
            <a:tbl>
              <a:tblPr>
                <a:noFill/>
                <a:tableStyleId>{2E395200-7371-4445-A9BE-FC5547D44B40}</a:tableStyleId>
              </a:tblPr>
              <a:tblGrid>
                <a:gridCol w="912575">
                  <a:extLst>
                    <a:ext uri="{9D8B030D-6E8A-4147-A177-3AD203B41FA5}">
                      <a16:colId xmlns:a16="http://schemas.microsoft.com/office/drawing/2014/main" val="20000"/>
                    </a:ext>
                  </a:extLst>
                </a:gridCol>
                <a:gridCol w="921300">
                  <a:extLst>
                    <a:ext uri="{9D8B030D-6E8A-4147-A177-3AD203B41FA5}">
                      <a16:colId xmlns:a16="http://schemas.microsoft.com/office/drawing/2014/main" val="20001"/>
                    </a:ext>
                  </a:extLst>
                </a:gridCol>
                <a:gridCol w="707825">
                  <a:extLst>
                    <a:ext uri="{9D8B030D-6E8A-4147-A177-3AD203B41FA5}">
                      <a16:colId xmlns:a16="http://schemas.microsoft.com/office/drawing/2014/main" val="20002"/>
                    </a:ext>
                  </a:extLst>
                </a:gridCol>
                <a:gridCol w="691050">
                  <a:extLst>
                    <a:ext uri="{9D8B030D-6E8A-4147-A177-3AD203B41FA5}">
                      <a16:colId xmlns:a16="http://schemas.microsoft.com/office/drawing/2014/main" val="20003"/>
                    </a:ext>
                  </a:extLst>
                </a:gridCol>
                <a:gridCol w="676375">
                  <a:extLst>
                    <a:ext uri="{9D8B030D-6E8A-4147-A177-3AD203B41FA5}">
                      <a16:colId xmlns:a16="http://schemas.microsoft.com/office/drawing/2014/main" val="20004"/>
                    </a:ext>
                  </a:extLst>
                </a:gridCol>
              </a:tblGrid>
              <a:tr h="103750">
                <a:tc>
                  <a:txBody>
                    <a:bodyPr/>
                    <a:lstStyle/>
                    <a:p>
                      <a:pPr marL="0" lvl="0" indent="0" algn="ctr" rtl="0">
                        <a:spcBef>
                          <a:spcPts val="0"/>
                        </a:spcBef>
                        <a:spcAft>
                          <a:spcPts val="0"/>
                        </a:spcAft>
                        <a:buNone/>
                      </a:pP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a:latin typeface="Calibri"/>
                          <a:ea typeface="Calibri"/>
                          <a:cs typeface="Calibri"/>
                          <a:sym typeface="Calibri"/>
                        </a:rPr>
                        <a:t>Model</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a:latin typeface="Calibri"/>
                          <a:ea typeface="Calibri"/>
                          <a:cs typeface="Calibri"/>
                          <a:sym typeface="Calibri"/>
                        </a:rPr>
                        <a:t>in $/Mt</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a:latin typeface="Calibri"/>
                          <a:ea typeface="Calibri"/>
                          <a:cs typeface="Calibri"/>
                          <a:sym typeface="Calibri"/>
                        </a:rPr>
                        <a:t>out $/Mt</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a:latin typeface="Calibri"/>
                          <a:ea typeface="Calibri"/>
                          <a:cs typeface="Calibri"/>
                          <a:sym typeface="Calibri"/>
                        </a:rPr>
                        <a:t>total</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extLst>
                  <a:ext uri="{0D108BD9-81ED-4DB2-BD59-A6C34878D82A}">
                    <a16:rowId xmlns:a16="http://schemas.microsoft.com/office/drawing/2014/main" val="10000"/>
                  </a:ext>
                </a:extLst>
              </a:tr>
              <a:tr h="194175">
                <a:tc>
                  <a:txBody>
                    <a:bodyPr/>
                    <a:lstStyle/>
                    <a:p>
                      <a:pPr marL="0" lvl="0" indent="0" algn="ctr" rtl="0">
                        <a:spcBef>
                          <a:spcPts val="0"/>
                        </a:spcBef>
                        <a:spcAft>
                          <a:spcPts val="0"/>
                        </a:spcAft>
                        <a:buNone/>
                      </a:pPr>
                      <a:r>
                        <a:rPr lang="en" sz="1000">
                          <a:latin typeface="Calibri"/>
                          <a:ea typeface="Calibri"/>
                          <a:cs typeface="Calibri"/>
                          <a:sym typeface="Calibri"/>
                        </a:rPr>
                        <a:t>Google</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a:solidFill>
                            <a:srgbClr val="000000"/>
                          </a:solidFill>
                          <a:latin typeface="Calibri"/>
                          <a:ea typeface="Calibri"/>
                          <a:cs typeface="Calibri"/>
                          <a:sym typeface="Calibri"/>
                        </a:rPr>
                        <a:t>Gemini Pro</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a:latin typeface="Calibri"/>
                          <a:ea typeface="Calibri"/>
                          <a:cs typeface="Calibri"/>
                          <a:sym typeface="Calibri"/>
                        </a:rPr>
                        <a:t>1</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a:latin typeface="Calibri"/>
                          <a:ea typeface="Calibri"/>
                          <a:cs typeface="Calibri"/>
                          <a:sym typeface="Calibri"/>
                        </a:rPr>
                        <a:t>2</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a:latin typeface="Calibri"/>
                          <a:ea typeface="Calibri"/>
                          <a:cs typeface="Calibri"/>
                          <a:sym typeface="Calibri"/>
                        </a:rPr>
                        <a:t>3</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extLst>
                  <a:ext uri="{0D108BD9-81ED-4DB2-BD59-A6C34878D82A}">
                    <a16:rowId xmlns:a16="http://schemas.microsoft.com/office/drawing/2014/main" val="10001"/>
                  </a:ext>
                </a:extLst>
              </a:tr>
              <a:tr h="194175">
                <a:tc>
                  <a:txBody>
                    <a:bodyPr/>
                    <a:lstStyle/>
                    <a:p>
                      <a:pPr marL="0" lvl="0" indent="0" algn="ctr" rtl="0">
                        <a:spcBef>
                          <a:spcPts val="0"/>
                        </a:spcBef>
                        <a:spcAft>
                          <a:spcPts val="0"/>
                        </a:spcAft>
                        <a:buNone/>
                      </a:pPr>
                      <a:r>
                        <a:rPr lang="en" sz="1000">
                          <a:latin typeface="Calibri"/>
                          <a:ea typeface="Calibri"/>
                          <a:cs typeface="Calibri"/>
                          <a:sym typeface="Calibri"/>
                        </a:rPr>
                        <a:t>Antropic</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a:latin typeface="Calibri"/>
                          <a:ea typeface="Calibri"/>
                          <a:cs typeface="Calibri"/>
                          <a:sym typeface="Calibri"/>
                        </a:rPr>
                        <a:t>Claude-2</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a:latin typeface="Calibri"/>
                          <a:ea typeface="Calibri"/>
                          <a:cs typeface="Calibri"/>
                          <a:sym typeface="Calibri"/>
                        </a:rPr>
                        <a:t>8</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a:latin typeface="Calibri"/>
                          <a:ea typeface="Calibri"/>
                          <a:cs typeface="Calibri"/>
                          <a:sym typeface="Calibri"/>
                        </a:rPr>
                        <a:t>24</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a:latin typeface="Calibri"/>
                          <a:ea typeface="Calibri"/>
                          <a:cs typeface="Calibri"/>
                          <a:sym typeface="Calibri"/>
                        </a:rPr>
                        <a:t>32</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extLst>
                  <a:ext uri="{0D108BD9-81ED-4DB2-BD59-A6C34878D82A}">
                    <a16:rowId xmlns:a16="http://schemas.microsoft.com/office/drawing/2014/main" val="10002"/>
                  </a:ext>
                </a:extLst>
              </a:tr>
              <a:tr h="194175">
                <a:tc>
                  <a:txBody>
                    <a:bodyPr/>
                    <a:lstStyle/>
                    <a:p>
                      <a:pPr marL="0" lvl="0" indent="0" algn="ctr" rtl="0">
                        <a:spcBef>
                          <a:spcPts val="0"/>
                        </a:spcBef>
                        <a:spcAft>
                          <a:spcPts val="0"/>
                        </a:spcAft>
                        <a:buNone/>
                      </a:pPr>
                      <a:r>
                        <a:rPr lang="en" sz="1000">
                          <a:latin typeface="Calibri"/>
                          <a:ea typeface="Calibri"/>
                          <a:cs typeface="Calibri"/>
                          <a:sym typeface="Calibri"/>
                        </a:rPr>
                        <a:t>AnyScale</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a:latin typeface="Calibri"/>
                          <a:ea typeface="Calibri"/>
                          <a:cs typeface="Calibri"/>
                          <a:sym typeface="Calibri"/>
                        </a:rPr>
                        <a:t>Mistral-7b</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a:latin typeface="Calibri"/>
                          <a:ea typeface="Calibri"/>
                          <a:cs typeface="Calibri"/>
                          <a:sym typeface="Calibri"/>
                        </a:rPr>
                        <a:t>0.15</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a:latin typeface="Calibri"/>
                          <a:ea typeface="Calibri"/>
                          <a:cs typeface="Calibri"/>
                          <a:sym typeface="Calibri"/>
                        </a:rPr>
                        <a:t>0.15</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a:latin typeface="Calibri"/>
                          <a:ea typeface="Calibri"/>
                          <a:cs typeface="Calibri"/>
                          <a:sym typeface="Calibri"/>
                        </a:rPr>
                        <a:t>0.3</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extLst>
                  <a:ext uri="{0D108BD9-81ED-4DB2-BD59-A6C34878D82A}">
                    <a16:rowId xmlns:a16="http://schemas.microsoft.com/office/drawing/2014/main" val="10003"/>
                  </a:ext>
                </a:extLst>
              </a:tr>
              <a:tr h="194175">
                <a:tc>
                  <a:txBody>
                    <a:bodyPr/>
                    <a:lstStyle/>
                    <a:p>
                      <a:pPr marL="0" lvl="0" indent="0" algn="ctr" rtl="0">
                        <a:spcBef>
                          <a:spcPts val="0"/>
                        </a:spcBef>
                        <a:spcAft>
                          <a:spcPts val="0"/>
                        </a:spcAft>
                        <a:buNone/>
                      </a:pPr>
                      <a:r>
                        <a:rPr lang="en" sz="1000" b="1">
                          <a:solidFill>
                            <a:srgbClr val="FF0000"/>
                          </a:solidFill>
                          <a:latin typeface="Calibri"/>
                          <a:ea typeface="Calibri"/>
                          <a:cs typeface="Calibri"/>
                          <a:sym typeface="Calibri"/>
                        </a:rPr>
                        <a:t>AnyScale</a:t>
                      </a:r>
                      <a:endParaRPr sz="1000" b="1">
                        <a:solidFill>
                          <a:srgbClr val="FF0000"/>
                        </a:solidFill>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b="1">
                          <a:solidFill>
                            <a:srgbClr val="FF0000"/>
                          </a:solidFill>
                          <a:latin typeface="Calibri"/>
                          <a:ea typeface="Calibri"/>
                          <a:cs typeface="Calibri"/>
                          <a:sym typeface="Calibri"/>
                        </a:rPr>
                        <a:t>Mixtral-8x7b</a:t>
                      </a:r>
                      <a:endParaRPr sz="1000" b="1">
                        <a:solidFill>
                          <a:srgbClr val="FF0000"/>
                        </a:solidFill>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b="1">
                          <a:solidFill>
                            <a:srgbClr val="FF0000"/>
                          </a:solidFill>
                          <a:latin typeface="Calibri"/>
                          <a:ea typeface="Calibri"/>
                          <a:cs typeface="Calibri"/>
                          <a:sym typeface="Calibri"/>
                        </a:rPr>
                        <a:t>0.5</a:t>
                      </a:r>
                      <a:endParaRPr sz="1000" b="1">
                        <a:solidFill>
                          <a:srgbClr val="FF0000"/>
                        </a:solidFill>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b="1">
                          <a:solidFill>
                            <a:srgbClr val="FF0000"/>
                          </a:solidFill>
                          <a:latin typeface="Calibri"/>
                          <a:ea typeface="Calibri"/>
                          <a:cs typeface="Calibri"/>
                          <a:sym typeface="Calibri"/>
                        </a:rPr>
                        <a:t>0.5</a:t>
                      </a:r>
                      <a:endParaRPr sz="1000" b="1">
                        <a:solidFill>
                          <a:srgbClr val="FF0000"/>
                        </a:solidFill>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b="1">
                          <a:solidFill>
                            <a:srgbClr val="FF0000"/>
                          </a:solidFill>
                          <a:latin typeface="Calibri"/>
                          <a:ea typeface="Calibri"/>
                          <a:cs typeface="Calibri"/>
                          <a:sym typeface="Calibri"/>
                        </a:rPr>
                        <a:t>1</a:t>
                      </a:r>
                      <a:endParaRPr sz="1000" b="1">
                        <a:solidFill>
                          <a:srgbClr val="FF0000"/>
                        </a:solidFill>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extLst>
                  <a:ext uri="{0D108BD9-81ED-4DB2-BD59-A6C34878D82A}">
                    <a16:rowId xmlns:a16="http://schemas.microsoft.com/office/drawing/2014/main" val="10004"/>
                  </a:ext>
                </a:extLst>
              </a:tr>
              <a:tr h="194175">
                <a:tc>
                  <a:txBody>
                    <a:bodyPr/>
                    <a:lstStyle/>
                    <a:p>
                      <a:pPr marL="0" lvl="0" indent="0" algn="ctr" rtl="0">
                        <a:spcBef>
                          <a:spcPts val="0"/>
                        </a:spcBef>
                        <a:spcAft>
                          <a:spcPts val="0"/>
                        </a:spcAft>
                        <a:buNone/>
                      </a:pPr>
                      <a:r>
                        <a:rPr lang="en" sz="1000">
                          <a:latin typeface="Calibri"/>
                          <a:ea typeface="Calibri"/>
                          <a:cs typeface="Calibri"/>
                          <a:sym typeface="Calibri"/>
                        </a:rPr>
                        <a:t>AnyScale</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a:latin typeface="Calibri"/>
                          <a:ea typeface="Calibri"/>
                          <a:cs typeface="Calibri"/>
                          <a:sym typeface="Calibri"/>
                        </a:rPr>
                        <a:t>Llama-2-70b</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a:latin typeface="Calibri"/>
                          <a:ea typeface="Calibri"/>
                          <a:cs typeface="Calibri"/>
                          <a:sym typeface="Calibri"/>
                        </a:rPr>
                        <a:t>1</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a:latin typeface="Calibri"/>
                          <a:ea typeface="Calibri"/>
                          <a:cs typeface="Calibri"/>
                          <a:sym typeface="Calibri"/>
                        </a:rPr>
                        <a:t>1</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a:latin typeface="Calibri"/>
                          <a:ea typeface="Calibri"/>
                          <a:cs typeface="Calibri"/>
                          <a:sym typeface="Calibri"/>
                        </a:rPr>
                        <a:t>2</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extLst>
                  <a:ext uri="{0D108BD9-81ED-4DB2-BD59-A6C34878D82A}">
                    <a16:rowId xmlns:a16="http://schemas.microsoft.com/office/drawing/2014/main" val="10005"/>
                  </a:ext>
                </a:extLst>
              </a:tr>
              <a:tr h="194175">
                <a:tc>
                  <a:txBody>
                    <a:bodyPr/>
                    <a:lstStyle/>
                    <a:p>
                      <a:pPr marL="0" lvl="0" indent="0" algn="ctr" rtl="0">
                        <a:spcBef>
                          <a:spcPts val="0"/>
                        </a:spcBef>
                        <a:spcAft>
                          <a:spcPts val="0"/>
                        </a:spcAft>
                        <a:buNone/>
                      </a:pPr>
                      <a:r>
                        <a:rPr lang="en" sz="1000">
                          <a:latin typeface="Calibri"/>
                          <a:ea typeface="Calibri"/>
                          <a:cs typeface="Calibri"/>
                          <a:sym typeface="Calibri"/>
                        </a:rPr>
                        <a:t>Mistral</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a:latin typeface="Calibri"/>
                          <a:ea typeface="Calibri"/>
                          <a:cs typeface="Calibri"/>
                          <a:sym typeface="Calibri"/>
                        </a:rPr>
                        <a:t>tiny 7b</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a:latin typeface="Calibri"/>
                          <a:ea typeface="Calibri"/>
                          <a:cs typeface="Calibri"/>
                          <a:sym typeface="Calibri"/>
                        </a:rPr>
                        <a:t>0.14</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a:latin typeface="Calibri"/>
                          <a:ea typeface="Calibri"/>
                          <a:cs typeface="Calibri"/>
                          <a:sym typeface="Calibri"/>
                        </a:rPr>
                        <a:t>0.42</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a:latin typeface="Calibri"/>
                          <a:ea typeface="Calibri"/>
                          <a:cs typeface="Calibri"/>
                          <a:sym typeface="Calibri"/>
                        </a:rPr>
                        <a:t>0.56</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extLst>
                  <a:ext uri="{0D108BD9-81ED-4DB2-BD59-A6C34878D82A}">
                    <a16:rowId xmlns:a16="http://schemas.microsoft.com/office/drawing/2014/main" val="10006"/>
                  </a:ext>
                </a:extLst>
              </a:tr>
              <a:tr h="194175">
                <a:tc>
                  <a:txBody>
                    <a:bodyPr/>
                    <a:lstStyle/>
                    <a:p>
                      <a:pPr marL="0" lvl="0" indent="0" algn="ctr" rtl="0">
                        <a:spcBef>
                          <a:spcPts val="0"/>
                        </a:spcBef>
                        <a:spcAft>
                          <a:spcPts val="0"/>
                        </a:spcAft>
                        <a:buClr>
                          <a:srgbClr val="000000"/>
                        </a:buClr>
                        <a:buSzPts val="1100"/>
                        <a:buFont typeface="Arial"/>
                        <a:buNone/>
                      </a:pPr>
                      <a:r>
                        <a:rPr lang="en" sz="1000">
                          <a:solidFill>
                            <a:srgbClr val="000000"/>
                          </a:solidFill>
                          <a:latin typeface="Calibri"/>
                          <a:ea typeface="Calibri"/>
                          <a:cs typeface="Calibri"/>
                          <a:sym typeface="Calibri"/>
                        </a:rPr>
                        <a:t>Mistral</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a:latin typeface="Calibri"/>
                          <a:ea typeface="Calibri"/>
                          <a:cs typeface="Calibri"/>
                          <a:sym typeface="Calibri"/>
                        </a:rPr>
                        <a:t>small </a:t>
                      </a:r>
                      <a:r>
                        <a:rPr lang="en" sz="1000">
                          <a:solidFill>
                            <a:srgbClr val="1C1E21"/>
                          </a:solidFill>
                          <a:latin typeface="Calibri"/>
                          <a:ea typeface="Calibri"/>
                          <a:cs typeface="Calibri"/>
                          <a:sym typeface="Calibri"/>
                        </a:rPr>
                        <a:t>8X7b</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a:latin typeface="Calibri"/>
                          <a:ea typeface="Calibri"/>
                          <a:cs typeface="Calibri"/>
                          <a:sym typeface="Calibri"/>
                        </a:rPr>
                        <a:t>0.6</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a:latin typeface="Calibri"/>
                          <a:ea typeface="Calibri"/>
                          <a:cs typeface="Calibri"/>
                          <a:sym typeface="Calibri"/>
                        </a:rPr>
                        <a:t>1.8</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a:latin typeface="Calibri"/>
                          <a:ea typeface="Calibri"/>
                          <a:cs typeface="Calibri"/>
                          <a:sym typeface="Calibri"/>
                        </a:rPr>
                        <a:t>2.4</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extLst>
                  <a:ext uri="{0D108BD9-81ED-4DB2-BD59-A6C34878D82A}">
                    <a16:rowId xmlns:a16="http://schemas.microsoft.com/office/drawing/2014/main" val="10007"/>
                  </a:ext>
                </a:extLst>
              </a:tr>
              <a:tr h="194175">
                <a:tc>
                  <a:txBody>
                    <a:bodyPr/>
                    <a:lstStyle/>
                    <a:p>
                      <a:pPr marL="0" lvl="0" indent="0" algn="ctr" rtl="0">
                        <a:spcBef>
                          <a:spcPts val="0"/>
                        </a:spcBef>
                        <a:spcAft>
                          <a:spcPts val="0"/>
                        </a:spcAft>
                        <a:buClr>
                          <a:srgbClr val="000000"/>
                        </a:buClr>
                        <a:buSzPts val="1100"/>
                        <a:buFont typeface="Arial"/>
                        <a:buNone/>
                      </a:pPr>
                      <a:r>
                        <a:rPr lang="en" sz="1000">
                          <a:solidFill>
                            <a:srgbClr val="000000"/>
                          </a:solidFill>
                          <a:latin typeface="Calibri"/>
                          <a:ea typeface="Calibri"/>
                          <a:cs typeface="Calibri"/>
                          <a:sym typeface="Calibri"/>
                        </a:rPr>
                        <a:t>Mistral</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a:latin typeface="Calibri"/>
                          <a:ea typeface="Calibri"/>
                          <a:cs typeface="Calibri"/>
                          <a:sym typeface="Calibri"/>
                        </a:rPr>
                        <a:t>medium</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a:latin typeface="Calibri"/>
                          <a:ea typeface="Calibri"/>
                          <a:cs typeface="Calibri"/>
                          <a:sym typeface="Calibri"/>
                        </a:rPr>
                        <a:t>2.5</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a:latin typeface="Calibri"/>
                          <a:ea typeface="Calibri"/>
                          <a:cs typeface="Calibri"/>
                          <a:sym typeface="Calibri"/>
                        </a:rPr>
                        <a:t>7.5</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a:latin typeface="Calibri"/>
                          <a:ea typeface="Calibri"/>
                          <a:cs typeface="Calibri"/>
                          <a:sym typeface="Calibri"/>
                        </a:rPr>
                        <a:t>10</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extLst>
                  <a:ext uri="{0D108BD9-81ED-4DB2-BD59-A6C34878D82A}">
                    <a16:rowId xmlns:a16="http://schemas.microsoft.com/office/drawing/2014/main" val="10008"/>
                  </a:ext>
                </a:extLst>
              </a:tr>
              <a:tr h="194175">
                <a:tc>
                  <a:txBody>
                    <a:bodyPr/>
                    <a:lstStyle/>
                    <a:p>
                      <a:pPr marL="0" lvl="0" indent="0" algn="ctr" rtl="0">
                        <a:spcBef>
                          <a:spcPts val="0"/>
                        </a:spcBef>
                        <a:spcAft>
                          <a:spcPts val="0"/>
                        </a:spcAft>
                        <a:buNone/>
                      </a:pPr>
                      <a:r>
                        <a:rPr lang="en" sz="1000">
                          <a:latin typeface="Calibri"/>
                          <a:ea typeface="Calibri"/>
                          <a:cs typeface="Calibri"/>
                          <a:sym typeface="Calibri"/>
                        </a:rPr>
                        <a:t>Together AI</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a:latin typeface="Calibri"/>
                          <a:ea typeface="Calibri"/>
                          <a:cs typeface="Calibri"/>
                          <a:sym typeface="Calibri"/>
                        </a:rPr>
                        <a:t>Llama-2-70b</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a:latin typeface="Calibri"/>
                          <a:ea typeface="Calibri"/>
                          <a:cs typeface="Calibri"/>
                          <a:sym typeface="Calibri"/>
                        </a:rPr>
                        <a:t>0.9</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a:latin typeface="Calibri"/>
                          <a:ea typeface="Calibri"/>
                          <a:cs typeface="Calibri"/>
                          <a:sym typeface="Calibri"/>
                        </a:rPr>
                        <a:t>0.9</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a:latin typeface="Calibri"/>
                          <a:ea typeface="Calibri"/>
                          <a:cs typeface="Calibri"/>
                          <a:sym typeface="Calibri"/>
                        </a:rPr>
                        <a:t>1.8</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extLst>
                  <a:ext uri="{0D108BD9-81ED-4DB2-BD59-A6C34878D82A}">
                    <a16:rowId xmlns:a16="http://schemas.microsoft.com/office/drawing/2014/main" val="10009"/>
                  </a:ext>
                </a:extLst>
              </a:tr>
              <a:tr h="194175">
                <a:tc>
                  <a:txBody>
                    <a:bodyPr/>
                    <a:lstStyle/>
                    <a:p>
                      <a:pPr marL="0" lvl="0" indent="0" algn="ctr" rtl="0">
                        <a:spcBef>
                          <a:spcPts val="0"/>
                        </a:spcBef>
                        <a:spcAft>
                          <a:spcPts val="0"/>
                        </a:spcAft>
                        <a:buClr>
                          <a:srgbClr val="000000"/>
                        </a:buClr>
                        <a:buSzPts val="1100"/>
                        <a:buFont typeface="Arial"/>
                        <a:buNone/>
                      </a:pPr>
                      <a:r>
                        <a:rPr lang="en" sz="1000">
                          <a:solidFill>
                            <a:srgbClr val="000000"/>
                          </a:solidFill>
                          <a:latin typeface="Calibri"/>
                          <a:ea typeface="Calibri"/>
                          <a:cs typeface="Calibri"/>
                          <a:sym typeface="Calibri"/>
                        </a:rPr>
                        <a:t>Together AI</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Clr>
                          <a:srgbClr val="000000"/>
                        </a:buClr>
                        <a:buSzPts val="1100"/>
                        <a:buFont typeface="Arial"/>
                        <a:buNone/>
                      </a:pPr>
                      <a:r>
                        <a:rPr lang="en" sz="1000">
                          <a:solidFill>
                            <a:srgbClr val="1C1E21"/>
                          </a:solidFill>
                          <a:latin typeface="Calibri"/>
                          <a:ea typeface="Calibri"/>
                          <a:cs typeface="Calibri"/>
                          <a:sym typeface="Calibri"/>
                        </a:rPr>
                        <a:t>8X7b</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a:latin typeface="Calibri"/>
                          <a:ea typeface="Calibri"/>
                          <a:cs typeface="Calibri"/>
                          <a:sym typeface="Calibri"/>
                        </a:rPr>
                        <a:t>0.6</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a:latin typeface="Calibri"/>
                          <a:ea typeface="Calibri"/>
                          <a:cs typeface="Calibri"/>
                          <a:sym typeface="Calibri"/>
                        </a:rPr>
                        <a:t>0.6</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a:latin typeface="Calibri"/>
                          <a:ea typeface="Calibri"/>
                          <a:cs typeface="Calibri"/>
                          <a:sym typeface="Calibri"/>
                        </a:rPr>
                        <a:t>1.2</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extLst>
                  <a:ext uri="{0D108BD9-81ED-4DB2-BD59-A6C34878D82A}">
                    <a16:rowId xmlns:a16="http://schemas.microsoft.com/office/drawing/2014/main" val="10010"/>
                  </a:ext>
                </a:extLst>
              </a:tr>
              <a:tr h="194175">
                <a:tc>
                  <a:txBody>
                    <a:bodyPr/>
                    <a:lstStyle/>
                    <a:p>
                      <a:pPr marL="0" lvl="0" indent="0" algn="ctr" rtl="0">
                        <a:spcBef>
                          <a:spcPts val="0"/>
                        </a:spcBef>
                        <a:spcAft>
                          <a:spcPts val="0"/>
                        </a:spcAft>
                        <a:buNone/>
                      </a:pPr>
                      <a:r>
                        <a:rPr lang="en" sz="1000">
                          <a:latin typeface="Calibri"/>
                          <a:ea typeface="Calibri"/>
                          <a:cs typeface="Calibri"/>
                          <a:sym typeface="Calibri"/>
                        </a:rPr>
                        <a:t>OpenAI</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a:latin typeface="Calibri"/>
                          <a:ea typeface="Calibri"/>
                          <a:cs typeface="Calibri"/>
                          <a:sym typeface="Calibri"/>
                        </a:rPr>
                        <a:t>gpt-4-turbo</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a:latin typeface="Calibri"/>
                          <a:ea typeface="Calibri"/>
                          <a:cs typeface="Calibri"/>
                          <a:sym typeface="Calibri"/>
                        </a:rPr>
                        <a:t>10</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a:latin typeface="Calibri"/>
                          <a:ea typeface="Calibri"/>
                          <a:cs typeface="Calibri"/>
                          <a:sym typeface="Calibri"/>
                        </a:rPr>
                        <a:t>30</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a:latin typeface="Calibri"/>
                          <a:ea typeface="Calibri"/>
                          <a:cs typeface="Calibri"/>
                          <a:sym typeface="Calibri"/>
                        </a:rPr>
                        <a:t>40</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extLst>
                  <a:ext uri="{0D108BD9-81ED-4DB2-BD59-A6C34878D82A}">
                    <a16:rowId xmlns:a16="http://schemas.microsoft.com/office/drawing/2014/main" val="10011"/>
                  </a:ext>
                </a:extLst>
              </a:tr>
              <a:tr h="194175">
                <a:tc>
                  <a:txBody>
                    <a:bodyPr/>
                    <a:lstStyle/>
                    <a:p>
                      <a:pPr marL="0" lvl="0" indent="0" algn="ctr" rtl="0">
                        <a:spcBef>
                          <a:spcPts val="0"/>
                        </a:spcBef>
                        <a:spcAft>
                          <a:spcPts val="0"/>
                        </a:spcAft>
                        <a:buClr>
                          <a:srgbClr val="000000"/>
                        </a:buClr>
                        <a:buSzPts val="1100"/>
                        <a:buFont typeface="Arial"/>
                        <a:buNone/>
                      </a:pPr>
                      <a:r>
                        <a:rPr lang="en" sz="1000">
                          <a:solidFill>
                            <a:srgbClr val="000000"/>
                          </a:solidFill>
                          <a:latin typeface="Calibri"/>
                          <a:ea typeface="Calibri"/>
                          <a:cs typeface="Calibri"/>
                          <a:sym typeface="Calibri"/>
                        </a:rPr>
                        <a:t>OpenAI</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Clr>
                          <a:srgbClr val="000000"/>
                        </a:buClr>
                        <a:buSzPts val="1100"/>
                        <a:buFont typeface="Arial"/>
                        <a:buNone/>
                      </a:pPr>
                      <a:r>
                        <a:rPr lang="en" sz="1000">
                          <a:solidFill>
                            <a:srgbClr val="000000"/>
                          </a:solidFill>
                          <a:latin typeface="Calibri"/>
                          <a:ea typeface="Calibri"/>
                          <a:cs typeface="Calibri"/>
                          <a:sym typeface="Calibri"/>
                        </a:rPr>
                        <a:t>gpt-3.5-turbo</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a:latin typeface="Calibri"/>
                          <a:ea typeface="Calibri"/>
                          <a:cs typeface="Calibri"/>
                          <a:sym typeface="Calibri"/>
                        </a:rPr>
                        <a:t>1</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a:latin typeface="Calibri"/>
                          <a:ea typeface="Calibri"/>
                          <a:cs typeface="Calibri"/>
                          <a:sym typeface="Calibri"/>
                        </a:rPr>
                        <a:t>2</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tc>
                  <a:txBody>
                    <a:bodyPr/>
                    <a:lstStyle/>
                    <a:p>
                      <a:pPr marL="0" lvl="0" indent="0" algn="ctr" rtl="0">
                        <a:spcBef>
                          <a:spcPts val="0"/>
                        </a:spcBef>
                        <a:spcAft>
                          <a:spcPts val="0"/>
                        </a:spcAft>
                        <a:buNone/>
                      </a:pPr>
                      <a:r>
                        <a:rPr lang="en" sz="1000">
                          <a:latin typeface="Calibri"/>
                          <a:ea typeface="Calibri"/>
                          <a:cs typeface="Calibri"/>
                          <a:sym typeface="Calibri"/>
                        </a:rPr>
                        <a:t>3</a:t>
                      </a:r>
                      <a:endParaRPr sz="1000">
                        <a:latin typeface="Calibri"/>
                        <a:ea typeface="Calibri"/>
                        <a:cs typeface="Calibri"/>
                        <a:sym typeface="Calibri"/>
                      </a:endParaRPr>
                    </a:p>
                  </a:txBody>
                  <a:tcPr marL="9125" marR="9125" marT="9125" marB="9125">
                    <a:lnL w="9525" cap="flat" cmpd="sng">
                      <a:solidFill>
                        <a:srgbClr val="3C78D8"/>
                      </a:solidFill>
                      <a:prstDash val="solid"/>
                      <a:round/>
                      <a:headEnd type="none" w="sm" len="sm"/>
                      <a:tailEnd type="none" w="sm" len="sm"/>
                    </a:lnL>
                    <a:lnR w="9525" cap="flat" cmpd="sng">
                      <a:solidFill>
                        <a:srgbClr val="3C78D8"/>
                      </a:solidFill>
                      <a:prstDash val="solid"/>
                      <a:round/>
                      <a:headEnd type="none" w="sm" len="sm"/>
                      <a:tailEnd type="none" w="sm" len="sm"/>
                    </a:lnR>
                    <a:lnT w="9525" cap="flat" cmpd="sng">
                      <a:solidFill>
                        <a:srgbClr val="3C78D8"/>
                      </a:solidFill>
                      <a:prstDash val="solid"/>
                      <a:round/>
                      <a:headEnd type="none" w="sm" len="sm"/>
                      <a:tailEnd type="none" w="sm" len="sm"/>
                    </a:lnT>
                    <a:lnB w="9525" cap="flat" cmpd="sng">
                      <a:solidFill>
                        <a:srgbClr val="3C78D8"/>
                      </a:solidFill>
                      <a:prstDash val="solid"/>
                      <a:round/>
                      <a:headEnd type="none" w="sm" len="sm"/>
                      <a:tailEnd type="none" w="sm" len="sm"/>
                    </a:lnB>
                    <a:solidFill>
                      <a:srgbClr val="FFF2CC"/>
                    </a:solidFill>
                  </a:tcPr>
                </a:tc>
                <a:extLst>
                  <a:ext uri="{0D108BD9-81ED-4DB2-BD59-A6C34878D82A}">
                    <a16:rowId xmlns:a16="http://schemas.microsoft.com/office/drawing/2014/main" val="10012"/>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7" name="Google Shape;117;p20"/>
          <p:cNvSpPr txBox="1"/>
          <p:nvPr/>
        </p:nvSpPr>
        <p:spPr>
          <a:xfrm>
            <a:off x="76200" y="76200"/>
            <a:ext cx="16791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Latent.Space</a:t>
            </a:r>
            <a:endParaRPr sz="2000" b="1">
              <a:latin typeface="Calibri"/>
              <a:ea typeface="Calibri"/>
              <a:cs typeface="Calibri"/>
              <a:sym typeface="Calibri"/>
            </a:endParaRPr>
          </a:p>
        </p:txBody>
      </p:sp>
      <p:sp>
        <p:nvSpPr>
          <p:cNvPr id="118" name="Google Shape;118;p20"/>
          <p:cNvSpPr txBox="1"/>
          <p:nvPr/>
        </p:nvSpPr>
        <p:spPr>
          <a:xfrm>
            <a:off x="5765500" y="2867225"/>
            <a:ext cx="3242700" cy="2093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latin typeface="Calibri"/>
                <a:ea typeface="Calibri"/>
                <a:cs typeface="Calibri"/>
                <a:sym typeface="Calibri"/>
              </a:rPr>
              <a:t>Latent.Space is:</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a technical newsletter</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a podcast - top 10 in US Tech! </a:t>
            </a:r>
            <a:br>
              <a:rPr lang="en" sz="1300">
                <a:latin typeface="Calibri"/>
                <a:ea typeface="Calibri"/>
                <a:cs typeface="Calibri"/>
                <a:sym typeface="Calibri"/>
              </a:rPr>
            </a:br>
            <a:r>
              <a:rPr lang="en" sz="1300">
                <a:latin typeface="Calibri"/>
                <a:ea typeface="Calibri"/>
                <a:cs typeface="Calibri"/>
                <a:sym typeface="Calibri"/>
              </a:rPr>
              <a:t>audio and video</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a community (online and in person) </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by and for the rising class of AI Engineers, </a:t>
            </a:r>
            <a:endParaRPr sz="1300">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latin typeface="Calibri"/>
                <a:ea typeface="Calibri"/>
                <a:cs typeface="Calibri"/>
                <a:sym typeface="Calibri"/>
              </a:rPr>
              <a:t>focusing on the business and technology of this new AI summer.</a:t>
            </a:r>
            <a:br>
              <a:rPr lang="en" sz="1300">
                <a:latin typeface="Calibri"/>
                <a:ea typeface="Calibri"/>
                <a:cs typeface="Calibri"/>
                <a:sym typeface="Calibri"/>
              </a:rPr>
            </a:br>
            <a:r>
              <a:rPr lang="en" sz="1000" u="sng">
                <a:solidFill>
                  <a:schemeClr val="hlink"/>
                </a:solidFill>
                <a:latin typeface="Calibri"/>
                <a:ea typeface="Calibri"/>
                <a:cs typeface="Calibri"/>
                <a:sym typeface="Calibri"/>
                <a:hlinkClick r:id="rId3"/>
              </a:rPr>
              <a:t>https://www.latent.space/about</a:t>
            </a:r>
            <a:br>
              <a:rPr lang="en" sz="1000">
                <a:solidFill>
                  <a:schemeClr val="dk1"/>
                </a:solidFill>
                <a:latin typeface="Calibri"/>
                <a:ea typeface="Calibri"/>
                <a:cs typeface="Calibri"/>
                <a:sym typeface="Calibri"/>
              </a:rPr>
            </a:br>
            <a:r>
              <a:rPr lang="en" sz="1000" u="sng">
                <a:solidFill>
                  <a:schemeClr val="hlink"/>
                </a:solidFill>
                <a:latin typeface="Calibri"/>
                <a:ea typeface="Calibri"/>
                <a:cs typeface="Calibri"/>
                <a:sym typeface="Calibri"/>
                <a:hlinkClick r:id="rId4"/>
              </a:rPr>
              <a:t>https://www.youtube.com/@LatentSpaceTV</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pic>
        <p:nvPicPr>
          <p:cNvPr id="119" name="Google Shape;119;p20"/>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953000" y="123150"/>
            <a:ext cx="4055197" cy="384900"/>
          </a:xfrm>
          <a:prstGeom prst="rect">
            <a:avLst/>
          </a:prstGeom>
          <a:noFill/>
          <a:ln>
            <a:noFill/>
          </a:ln>
        </p:spPr>
      </p:pic>
      <p:pic>
        <p:nvPicPr>
          <p:cNvPr id="120" name="Google Shape;120;p20"/>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7414470" y="563100"/>
            <a:ext cx="1593731" cy="2198650"/>
          </a:xfrm>
          <a:prstGeom prst="rect">
            <a:avLst/>
          </a:prstGeom>
          <a:noFill/>
          <a:ln>
            <a:noFill/>
          </a:ln>
        </p:spPr>
      </p:pic>
      <p:sp>
        <p:nvSpPr>
          <p:cNvPr id="121" name="Google Shape;121;p20"/>
          <p:cNvSpPr txBox="1"/>
          <p:nvPr/>
        </p:nvSpPr>
        <p:spPr>
          <a:xfrm>
            <a:off x="76200" y="678450"/>
            <a:ext cx="5570400" cy="3786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7"/>
              </a:rPr>
              <a:t>https://www.latent.space/p/dec-2023</a:t>
            </a:r>
            <a:r>
              <a:rPr lang="en" sz="1300">
                <a:latin typeface="Calibri"/>
                <a:ea typeface="Calibri"/>
                <a:cs typeface="Calibri"/>
                <a:sym typeface="Calibri"/>
              </a:rPr>
              <a:t> </a:t>
            </a:r>
            <a:endParaRPr sz="1300">
              <a:latin typeface="Calibri"/>
              <a:ea typeface="Calibri"/>
              <a:cs typeface="Calibri"/>
              <a:sym typeface="Calibri"/>
            </a:endParaRPr>
          </a:p>
          <a:p>
            <a:pPr marL="0" lvl="0" indent="0" algn="l" rtl="0">
              <a:spcBef>
                <a:spcPts val="0"/>
              </a:spcBef>
              <a:spcAft>
                <a:spcPts val="0"/>
              </a:spcAft>
              <a:buNone/>
            </a:pPr>
            <a:endParaRPr sz="1300">
              <a:latin typeface="Calibri"/>
              <a:ea typeface="Calibri"/>
              <a:cs typeface="Calibri"/>
              <a:sym typeface="Calibri"/>
            </a:endParaRPr>
          </a:p>
          <a:p>
            <a:pPr marL="0" lvl="0" indent="0" algn="l" rtl="0">
              <a:spcBef>
                <a:spcPts val="0"/>
              </a:spcBef>
              <a:spcAft>
                <a:spcPts val="0"/>
              </a:spcAft>
              <a:buNone/>
            </a:pPr>
            <a:r>
              <a:rPr lang="en" sz="1300" b="1">
                <a:solidFill>
                  <a:srgbClr val="FF0000"/>
                </a:solidFill>
                <a:latin typeface="Calibri"/>
                <a:ea typeface="Calibri"/>
                <a:cs typeface="Calibri"/>
                <a:sym typeface="Calibri"/>
              </a:rPr>
              <a:t>The Four Wars of the AI Stack</a:t>
            </a:r>
            <a:endParaRPr sz="1300" b="1">
              <a:solidFill>
                <a:srgbClr val="FF0000"/>
              </a:solidFill>
              <a:latin typeface="Calibri"/>
              <a:ea typeface="Calibri"/>
              <a:cs typeface="Calibri"/>
              <a:sym typeface="Calibri"/>
            </a:endParaRPr>
          </a:p>
          <a:p>
            <a:pPr marL="0" lvl="0" indent="0" algn="l" rtl="0">
              <a:spcBef>
                <a:spcPts val="0"/>
              </a:spcBef>
              <a:spcAft>
                <a:spcPts val="0"/>
              </a:spcAft>
              <a:buNone/>
            </a:pPr>
            <a:endParaRPr sz="1300">
              <a:latin typeface="Calibri"/>
              <a:ea typeface="Calibri"/>
              <a:cs typeface="Calibri"/>
              <a:sym typeface="Calibri"/>
            </a:endParaRPr>
          </a:p>
          <a:p>
            <a:pPr marL="457200" lvl="0" indent="-311150" algn="l" rtl="0">
              <a:spcBef>
                <a:spcPts val="0"/>
              </a:spcBef>
              <a:spcAft>
                <a:spcPts val="0"/>
              </a:spcAft>
              <a:buSzPts val="1300"/>
              <a:buFont typeface="Calibri"/>
              <a:buChar char="●"/>
            </a:pPr>
            <a:r>
              <a:rPr lang="en" sz="1300">
                <a:latin typeface="Calibri"/>
                <a:ea typeface="Calibri"/>
                <a:cs typeface="Calibri"/>
                <a:sym typeface="Calibri"/>
              </a:rPr>
              <a:t>The Data Wars (rights, deals, law suits, synthetic data)</a:t>
            </a:r>
            <a:br>
              <a:rPr lang="en" sz="1300">
                <a:latin typeface="Calibri"/>
                <a:ea typeface="Calibri"/>
                <a:cs typeface="Calibri"/>
                <a:sym typeface="Calibri"/>
              </a:rPr>
            </a:br>
            <a:endParaRPr sz="1300">
              <a:latin typeface="Calibri"/>
              <a:ea typeface="Calibri"/>
              <a:cs typeface="Calibri"/>
              <a:sym typeface="Calibri"/>
            </a:endParaRPr>
          </a:p>
          <a:p>
            <a:pPr marL="457200" lvl="0" indent="-311150" algn="l" rtl="0">
              <a:spcBef>
                <a:spcPts val="0"/>
              </a:spcBef>
              <a:spcAft>
                <a:spcPts val="0"/>
              </a:spcAft>
              <a:buSzPts val="1300"/>
              <a:buFont typeface="Calibri"/>
              <a:buChar char="●"/>
            </a:pPr>
            <a:r>
              <a:rPr lang="en" sz="1300">
                <a:latin typeface="Calibri"/>
                <a:ea typeface="Calibri"/>
                <a:cs typeface="Calibri"/>
                <a:sym typeface="Calibri"/>
              </a:rPr>
              <a:t>The War of the GPU power &amp; pricing</a:t>
            </a:r>
            <a:br>
              <a:rPr lang="en" sz="1300">
                <a:latin typeface="Calibri"/>
                <a:ea typeface="Calibri"/>
                <a:cs typeface="Calibri"/>
                <a:sym typeface="Calibri"/>
              </a:rPr>
            </a:br>
            <a:endParaRPr sz="1300">
              <a:latin typeface="Calibri"/>
              <a:ea typeface="Calibri"/>
              <a:cs typeface="Calibri"/>
              <a:sym typeface="Calibri"/>
            </a:endParaRPr>
          </a:p>
          <a:p>
            <a:pPr marL="457200" lvl="0" indent="-311150" algn="l" rtl="0">
              <a:spcBef>
                <a:spcPts val="0"/>
              </a:spcBef>
              <a:spcAft>
                <a:spcPts val="0"/>
              </a:spcAft>
              <a:buSzPts val="1300"/>
              <a:buFont typeface="Calibri"/>
              <a:buChar char="●"/>
            </a:pPr>
            <a:r>
              <a:rPr lang="en" sz="1300">
                <a:latin typeface="Calibri"/>
                <a:ea typeface="Calibri"/>
                <a:cs typeface="Calibri"/>
                <a:sym typeface="Calibri"/>
              </a:rPr>
              <a:t>The Multimodality War - Midjourney, Assembly AI, Replicate, </a:t>
            </a:r>
            <a:br>
              <a:rPr lang="en" sz="1300">
                <a:latin typeface="Calibri"/>
                <a:ea typeface="Calibri"/>
                <a:cs typeface="Calibri"/>
                <a:sym typeface="Calibri"/>
              </a:rPr>
            </a:br>
            <a:r>
              <a:rPr lang="en" sz="1300">
                <a:latin typeface="Calibri"/>
                <a:ea typeface="Calibri"/>
                <a:cs typeface="Calibri"/>
                <a:sym typeface="Calibri"/>
              </a:rPr>
              <a:t>Suno AI, Stability.AI, OpenAI, Google</a:t>
            </a:r>
            <a:br>
              <a:rPr lang="en" sz="1300">
                <a:latin typeface="Calibri"/>
                <a:ea typeface="Calibri"/>
                <a:cs typeface="Calibri"/>
                <a:sym typeface="Calibri"/>
              </a:rPr>
            </a:br>
            <a:endParaRPr sz="1300">
              <a:latin typeface="Calibri"/>
              <a:ea typeface="Calibri"/>
              <a:cs typeface="Calibri"/>
              <a:sym typeface="Calibri"/>
            </a:endParaRPr>
          </a:p>
          <a:p>
            <a:pPr marL="457200" lvl="0" indent="-311150" algn="l" rtl="0">
              <a:spcBef>
                <a:spcPts val="0"/>
              </a:spcBef>
              <a:spcAft>
                <a:spcPts val="0"/>
              </a:spcAft>
              <a:buSzPts val="1300"/>
              <a:buFont typeface="Calibri"/>
              <a:buChar char="●"/>
            </a:pPr>
            <a:r>
              <a:rPr lang="en" sz="1300">
                <a:latin typeface="Calibri"/>
                <a:ea typeface="Calibri"/>
                <a:cs typeface="Calibri"/>
                <a:sym typeface="Calibri"/>
              </a:rPr>
              <a:t>The RAG/Ops War</a:t>
            </a:r>
            <a:br>
              <a:rPr lang="en" sz="1300">
                <a:latin typeface="Calibri"/>
                <a:ea typeface="Calibri"/>
                <a:cs typeface="Calibri"/>
                <a:sym typeface="Calibri"/>
              </a:rPr>
            </a:br>
            <a:r>
              <a:rPr lang="en" sz="1300">
                <a:latin typeface="Calibri"/>
                <a:ea typeface="Calibri"/>
                <a:cs typeface="Calibri"/>
                <a:sym typeface="Calibri"/>
              </a:rPr>
              <a:t> - Vector DB, </a:t>
            </a:r>
            <a:r>
              <a:rPr lang="en" sz="1300" u="sng">
                <a:solidFill>
                  <a:schemeClr val="accent5"/>
                </a:solidFill>
                <a:latin typeface="Calibri"/>
                <a:ea typeface="Calibri"/>
                <a:cs typeface="Calibri"/>
                <a:sym typeface="Calibri"/>
                <a:hlinkClick r:id="rId8">
                  <a:extLst>
                    <a:ext uri="{A12FA001-AC4F-418D-AE19-62706E023703}">
                      <ahyp:hlinkClr xmlns:ahyp="http://schemas.microsoft.com/office/drawing/2018/hyperlinkcolor" val="tx"/>
                    </a:ext>
                  </a:extLst>
                </a:hlinkClick>
              </a:rPr>
              <a:t>https://turbopuffer.com</a:t>
            </a:r>
            <a:r>
              <a:rPr lang="en" sz="1300">
                <a:solidFill>
                  <a:schemeClr val="dk1"/>
                </a:solidFill>
                <a:latin typeface="Calibri"/>
                <a:ea typeface="Calibri"/>
                <a:cs typeface="Calibri"/>
                <a:sym typeface="Calibri"/>
              </a:rPr>
              <a:t> - serverless vector DB</a:t>
            </a:r>
            <a:br>
              <a:rPr lang="en" sz="1300">
                <a:latin typeface="Calibri"/>
                <a:ea typeface="Calibri"/>
                <a:cs typeface="Calibri"/>
                <a:sym typeface="Calibri"/>
              </a:rPr>
            </a:br>
            <a:r>
              <a:rPr lang="en" sz="1300">
                <a:latin typeface="Calibri"/>
                <a:ea typeface="Calibri"/>
                <a:cs typeface="Calibri"/>
                <a:sym typeface="Calibri"/>
              </a:rPr>
              <a:t> - LangChain vs LlamaIndex</a:t>
            </a:r>
            <a:br>
              <a:rPr lang="en" sz="1300">
                <a:latin typeface="Calibri"/>
                <a:ea typeface="Calibri"/>
                <a:cs typeface="Calibri"/>
                <a:sym typeface="Calibri"/>
              </a:rPr>
            </a:br>
            <a:r>
              <a:rPr lang="en" sz="1300">
                <a:latin typeface="Calibri"/>
                <a:ea typeface="Calibri"/>
                <a:cs typeface="Calibri"/>
                <a:sym typeface="Calibri"/>
              </a:rPr>
              <a:t> - </a:t>
            </a:r>
            <a:r>
              <a:rPr lang="en" sz="1300">
                <a:solidFill>
                  <a:schemeClr val="dk1"/>
                </a:solidFill>
                <a:latin typeface="Calibri"/>
                <a:ea typeface="Calibri"/>
                <a:cs typeface="Calibri"/>
                <a:sym typeface="Calibri"/>
              </a:rPr>
              <a:t>LLMOps -</a:t>
            </a:r>
            <a:r>
              <a:rPr lang="en" sz="1300">
                <a:latin typeface="Calibri"/>
                <a:ea typeface="Calibri"/>
                <a:cs typeface="Calibri"/>
                <a:sym typeface="Calibri"/>
              </a:rPr>
              <a:t> </a:t>
            </a:r>
            <a:r>
              <a:rPr lang="en" sz="1300" u="sng">
                <a:solidFill>
                  <a:schemeClr val="hlink"/>
                </a:solidFill>
                <a:latin typeface="Calibri"/>
                <a:ea typeface="Calibri"/>
                <a:cs typeface="Calibri"/>
                <a:sym typeface="Calibri"/>
                <a:hlinkClick r:id="rId9"/>
              </a:rPr>
              <a:t>https://humanloop.com</a:t>
            </a:r>
            <a:r>
              <a:rPr lang="en" sz="1300">
                <a:latin typeface="Calibri"/>
                <a:ea typeface="Calibri"/>
                <a:cs typeface="Calibri"/>
                <a:sym typeface="Calibri"/>
              </a:rPr>
              <a:t>, </a:t>
            </a:r>
            <a:r>
              <a:rPr lang="en" sz="1300" u="sng">
                <a:solidFill>
                  <a:schemeClr val="hlink"/>
                </a:solidFill>
                <a:latin typeface="Calibri"/>
                <a:ea typeface="Calibri"/>
                <a:cs typeface="Calibri"/>
                <a:sym typeface="Calibri"/>
                <a:hlinkClick r:id="rId10"/>
              </a:rPr>
              <a:t>https://www.openlayer.com</a:t>
            </a:r>
            <a:r>
              <a:rPr lang="en" sz="1300">
                <a:latin typeface="Calibri"/>
                <a:ea typeface="Calibri"/>
                <a:cs typeface="Calibri"/>
                <a:sym typeface="Calibri"/>
              </a:rPr>
              <a:t> </a:t>
            </a:r>
            <a:br>
              <a:rPr lang="en" sz="1300">
                <a:latin typeface="Calibri"/>
                <a:ea typeface="Calibri"/>
                <a:cs typeface="Calibri"/>
                <a:sym typeface="Calibri"/>
              </a:rPr>
            </a:br>
            <a:r>
              <a:rPr lang="en" sz="1300">
                <a:latin typeface="Calibri"/>
                <a:ea typeface="Calibri"/>
                <a:cs typeface="Calibri"/>
                <a:sym typeface="Calibri"/>
              </a:rPr>
              <a:t>   LangSmith - </a:t>
            </a:r>
            <a:r>
              <a:rPr lang="en" sz="1300" u="sng">
                <a:solidFill>
                  <a:schemeClr val="hlink"/>
                </a:solidFill>
                <a:latin typeface="Calibri"/>
                <a:ea typeface="Calibri"/>
                <a:cs typeface="Calibri"/>
                <a:sym typeface="Calibri"/>
                <a:hlinkClick r:id="rId11"/>
              </a:rPr>
              <a:t>https://docs.smith.langchain.com</a:t>
            </a:r>
            <a:r>
              <a:rPr lang="en" sz="1300">
                <a:latin typeface="Calibri"/>
                <a:ea typeface="Calibri"/>
                <a:cs typeface="Calibri"/>
                <a:sym typeface="Calibri"/>
              </a:rPr>
              <a:t> </a:t>
            </a:r>
            <a:br>
              <a:rPr lang="en" sz="1300">
                <a:latin typeface="Calibri"/>
                <a:ea typeface="Calibri"/>
                <a:cs typeface="Calibri"/>
                <a:sym typeface="Calibri"/>
              </a:rPr>
            </a:br>
            <a:r>
              <a:rPr lang="en" sz="1300">
                <a:latin typeface="Calibri"/>
                <a:ea typeface="Calibri"/>
                <a:cs typeface="Calibri"/>
                <a:sym typeface="Calibri"/>
              </a:rPr>
              <a:t>   Martian - </a:t>
            </a:r>
            <a:r>
              <a:rPr lang="en" sz="1300" u="sng">
                <a:solidFill>
                  <a:schemeClr val="hlink"/>
                </a:solidFill>
                <a:latin typeface="Calibri"/>
                <a:ea typeface="Calibri"/>
                <a:cs typeface="Calibri"/>
                <a:sym typeface="Calibri"/>
                <a:hlinkClick r:id="rId12"/>
              </a:rPr>
              <a:t>https://withmartian.com</a:t>
            </a:r>
            <a:r>
              <a:rPr lang="en" sz="1300">
                <a:latin typeface="Calibri"/>
                <a:ea typeface="Calibri"/>
                <a:cs typeface="Calibri"/>
                <a:sym typeface="Calibri"/>
              </a:rPr>
              <a:t>  - dynamic LLM router </a:t>
            </a:r>
            <a:br>
              <a:rPr lang="en" sz="1300">
                <a:latin typeface="Calibri"/>
                <a:ea typeface="Calibri"/>
                <a:cs typeface="Calibri"/>
                <a:sym typeface="Calibri"/>
              </a:rPr>
            </a:br>
            <a:r>
              <a:rPr lang="en" sz="1300">
                <a:latin typeface="Calibri"/>
                <a:ea typeface="Calibri"/>
                <a:cs typeface="Calibri"/>
                <a:sym typeface="Calibri"/>
              </a:rPr>
              <a:t>                    for higher performance</a:t>
            </a:r>
            <a:endParaRPr sz="1300">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25"/>
        <p:cNvGrpSpPr/>
        <p:nvPr/>
      </p:nvGrpSpPr>
      <p:grpSpPr>
        <a:xfrm>
          <a:off x="0" y="0"/>
          <a:ext cx="0" cy="0"/>
          <a:chOff x="0" y="0"/>
          <a:chExt cx="0" cy="0"/>
        </a:xfrm>
      </p:grpSpPr>
      <p:sp>
        <p:nvSpPr>
          <p:cNvPr id="126" name="Google Shape;126;p21"/>
          <p:cNvSpPr txBox="1"/>
          <p:nvPr/>
        </p:nvSpPr>
        <p:spPr>
          <a:xfrm>
            <a:off x="72300" y="0"/>
            <a:ext cx="16617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GPTStore.AI</a:t>
            </a:r>
            <a:endParaRPr sz="2000" b="1">
              <a:latin typeface="Calibri"/>
              <a:ea typeface="Calibri"/>
              <a:cs typeface="Calibri"/>
              <a:sym typeface="Calibri"/>
            </a:endParaRPr>
          </a:p>
        </p:txBody>
      </p:sp>
      <p:sp>
        <p:nvSpPr>
          <p:cNvPr id="127" name="Google Shape;127;p21"/>
          <p:cNvSpPr txBox="1"/>
          <p:nvPr/>
        </p:nvSpPr>
        <p:spPr>
          <a:xfrm>
            <a:off x="147175" y="607825"/>
            <a:ext cx="4321500" cy="2385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3"/>
              </a:rPr>
              <a:t>https://gptstore.ai</a:t>
            </a:r>
            <a:r>
              <a:rPr lang="en" sz="1300">
                <a:solidFill>
                  <a:srgbClr val="0F0F0F"/>
                </a:solidFill>
                <a:latin typeface="Calibri"/>
                <a:ea typeface="Calibri"/>
                <a:cs typeface="Calibri"/>
                <a:sym typeface="Calibri"/>
              </a:rPr>
              <a:t> </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4"/>
              </a:rPr>
              <a:t>https://chat.openai.com/gpts</a:t>
            </a:r>
            <a:r>
              <a:rPr lang="en" sz="1300">
                <a:solidFill>
                  <a:srgbClr val="0F0F0F"/>
                </a:solidFill>
                <a:latin typeface="Calibri"/>
                <a:ea typeface="Calibri"/>
                <a:cs typeface="Calibri"/>
                <a:sym typeface="Calibri"/>
              </a:rPr>
              <a:t> </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5"/>
              </a:rPr>
              <a:t>https://www.youtube.com/watch?v=ZbVjyQyVaWw</a:t>
            </a:r>
            <a:r>
              <a:rPr lang="en" sz="1300">
                <a:solidFill>
                  <a:srgbClr val="0F0F0F"/>
                </a:solidFill>
                <a:latin typeface="Calibri"/>
                <a:ea typeface="Calibri"/>
                <a:cs typeface="Calibri"/>
                <a:sym typeface="Calibri"/>
              </a:rPr>
              <a:t> </a:t>
            </a:r>
            <a:br>
              <a:rPr lang="en" sz="1300">
                <a:solidFill>
                  <a:srgbClr val="0F0F0F"/>
                </a:solidFill>
                <a:latin typeface="Calibri"/>
                <a:ea typeface="Calibri"/>
                <a:cs typeface="Calibri"/>
                <a:sym typeface="Calibri"/>
              </a:rPr>
            </a:br>
            <a:r>
              <a:rPr lang="en" sz="1300" u="sng">
                <a:solidFill>
                  <a:schemeClr val="hlink"/>
                </a:solidFill>
                <a:latin typeface="Calibri"/>
                <a:ea typeface="Calibri"/>
                <a:cs typeface="Calibri"/>
                <a:sym typeface="Calibri"/>
                <a:hlinkClick r:id="rId6"/>
              </a:rPr>
              <a:t>https://www.youtube.com/watch?v=NOpmy7Kqgok</a:t>
            </a:r>
            <a:r>
              <a:rPr lang="en" sz="1300">
                <a:solidFill>
                  <a:srgbClr val="0F0F0F"/>
                </a:solidFill>
                <a:latin typeface="Calibri"/>
                <a:ea typeface="Calibri"/>
                <a:cs typeface="Calibri"/>
                <a:sym typeface="Calibri"/>
              </a:rPr>
              <a:t> </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"Save for All", create builder profile,</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 start earning (in Q1, based on user engagement)</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AI Tool Explorer</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7"/>
              </a:rPr>
              <a:t>https://chat.openai.com/g/g-YFQNFNgSM-ai-tool-explorer</a:t>
            </a:r>
            <a:r>
              <a:rPr lang="en" sz="1300">
                <a:solidFill>
                  <a:srgbClr val="0F0F0F"/>
                </a:solidFill>
                <a:latin typeface="Calibri"/>
                <a:ea typeface="Calibri"/>
                <a:cs typeface="Calibri"/>
                <a:sym typeface="Calibri"/>
              </a:rPr>
              <a:t> </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8"/>
              </a:rPr>
              <a:t>https://gptsdex.com</a:t>
            </a:r>
            <a:r>
              <a:rPr lang="en" sz="1300">
                <a:solidFill>
                  <a:srgbClr val="0F0F0F"/>
                </a:solidFill>
                <a:latin typeface="Calibri"/>
                <a:ea typeface="Calibri"/>
                <a:cs typeface="Calibri"/>
                <a:sym typeface="Calibri"/>
              </a:rPr>
              <a:t> </a:t>
            </a:r>
            <a:endParaRPr sz="1300">
              <a:solidFill>
                <a:srgbClr val="0F0F0F"/>
              </a:solidFill>
              <a:latin typeface="Calibri"/>
              <a:ea typeface="Calibri"/>
              <a:cs typeface="Calibri"/>
              <a:sym typeface="Calibri"/>
            </a:endParaRPr>
          </a:p>
        </p:txBody>
      </p:sp>
      <p:pic>
        <p:nvPicPr>
          <p:cNvPr id="128" name="Google Shape;128;p21"/>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4621075" y="152400"/>
            <a:ext cx="4366321" cy="4838701"/>
          </a:xfrm>
          <a:prstGeom prst="rect">
            <a:avLst/>
          </a:prstGeom>
          <a:noFill/>
          <a:ln w="9525" cap="flat" cmpd="sng">
            <a:solidFill>
              <a:srgbClr val="FF0000"/>
            </a:solidFill>
            <a:prstDash val="solid"/>
            <a:round/>
            <a:headEnd type="none" w="sm" len="sm"/>
            <a:tailEnd type="none" w="sm" len="sm"/>
          </a:ln>
        </p:spPr>
      </p:pic>
      <p:pic>
        <p:nvPicPr>
          <p:cNvPr id="129" name="Google Shape;129;p21"/>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585175" y="3164725"/>
            <a:ext cx="3445499" cy="167100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4" name="Google Shape;134;p22"/>
          <p:cNvSpPr txBox="1"/>
          <p:nvPr/>
        </p:nvSpPr>
        <p:spPr>
          <a:xfrm>
            <a:off x="72300" y="0"/>
            <a:ext cx="41313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Misc - 1</a:t>
            </a:r>
            <a:endParaRPr sz="2000" b="1">
              <a:latin typeface="Calibri"/>
              <a:ea typeface="Calibri"/>
              <a:cs typeface="Calibri"/>
              <a:sym typeface="Calibri"/>
            </a:endParaRPr>
          </a:p>
        </p:txBody>
      </p:sp>
      <p:sp>
        <p:nvSpPr>
          <p:cNvPr id="135" name="Google Shape;135;p22"/>
          <p:cNvSpPr txBox="1"/>
          <p:nvPr/>
        </p:nvSpPr>
        <p:spPr>
          <a:xfrm>
            <a:off x="165875" y="2170725"/>
            <a:ext cx="3981000" cy="1985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OpenAI strikes back against New York Times</a:t>
            </a:r>
            <a:endParaRPr sz="1300" b="1">
              <a:solidFill>
                <a:srgbClr val="FF0000"/>
              </a:solidFill>
              <a:latin typeface="Calibri"/>
              <a:ea typeface="Calibri"/>
              <a:cs typeface="Calibri"/>
              <a:sym typeface="Calibri"/>
            </a:endParaRPr>
          </a:p>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3"/>
              </a:rPr>
              <a:t>https://www.youtube.com/watch?v=m1kK8EDqqB0</a:t>
            </a:r>
            <a:r>
              <a:rPr lang="en" sz="1300">
                <a:solidFill>
                  <a:srgbClr val="0F0F0F"/>
                </a:solidFill>
                <a:latin typeface="Calibri"/>
                <a:ea typeface="Calibri"/>
                <a:cs typeface="Calibri"/>
                <a:sym typeface="Calibri"/>
              </a:rPr>
              <a:t> </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Seems that NYT basically faked evidence by manipulating prompts and chat history </a:t>
            </a:r>
            <a:br>
              <a:rPr lang="en" sz="1300">
                <a:solidFill>
                  <a:srgbClr val="0F0F0F"/>
                </a:solidFill>
                <a:latin typeface="Calibri"/>
                <a:ea typeface="Calibri"/>
                <a:cs typeface="Calibri"/>
                <a:sym typeface="Calibri"/>
              </a:rPr>
            </a:br>
            <a:r>
              <a:rPr lang="en" sz="1300">
                <a:solidFill>
                  <a:srgbClr val="0F0F0F"/>
                </a:solidFill>
                <a:latin typeface="Calibri"/>
                <a:ea typeface="Calibri"/>
                <a:cs typeface="Calibri"/>
                <a:sym typeface="Calibri"/>
              </a:rPr>
              <a:t>to trick ChatGPT to provide the answers</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So NYT is lying to push their own agenda - and even demands the destruction of OpenAI's LLMs</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LLMs are not storing the original texts - they store statistical data, which is NOT copywritable</a:t>
            </a:r>
            <a:endParaRPr sz="1300">
              <a:solidFill>
                <a:srgbClr val="0F0F0F"/>
              </a:solidFill>
              <a:latin typeface="Calibri"/>
              <a:ea typeface="Calibri"/>
              <a:cs typeface="Calibri"/>
              <a:sym typeface="Calibri"/>
            </a:endParaRPr>
          </a:p>
        </p:txBody>
      </p:sp>
      <p:sp>
        <p:nvSpPr>
          <p:cNvPr id="136" name="Google Shape;136;p22"/>
          <p:cNvSpPr txBox="1"/>
          <p:nvPr/>
        </p:nvSpPr>
        <p:spPr>
          <a:xfrm>
            <a:off x="4864800" y="448225"/>
            <a:ext cx="4219200" cy="2647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Deloitte is the largest professional services network</a:t>
            </a:r>
            <a:endParaRPr sz="1300" b="1">
              <a:solidFill>
                <a:srgbClr val="FF0000"/>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~$65 Bln Revenue</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~457K employees</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b="1">
                <a:solidFill>
                  <a:srgbClr val="FF0000"/>
                </a:solidFill>
                <a:latin typeface="Calibri"/>
                <a:ea typeface="Calibri"/>
                <a:cs typeface="Calibri"/>
                <a:sym typeface="Calibri"/>
              </a:rPr>
              <a:t>Deloitte AI Institute</a:t>
            </a:r>
            <a:endParaRPr sz="1300" b="1">
              <a:solidFill>
                <a:srgbClr val="FF0000"/>
              </a:solidFill>
              <a:latin typeface="Calibri"/>
              <a:ea typeface="Calibri"/>
              <a:cs typeface="Calibri"/>
              <a:sym typeface="Calibri"/>
            </a:endParaRPr>
          </a:p>
          <a:p>
            <a:pPr marL="0" lvl="0" indent="0" algn="l" rtl="0">
              <a:spcBef>
                <a:spcPts val="0"/>
              </a:spcBef>
              <a:spcAft>
                <a:spcPts val="0"/>
              </a:spcAft>
              <a:buNone/>
            </a:pPr>
            <a:r>
              <a:rPr lang="en" sz="1300" b="1">
                <a:solidFill>
                  <a:srgbClr val="FF0000"/>
                </a:solidFill>
                <a:latin typeface="Calibri"/>
                <a:ea typeface="Calibri"/>
                <a:cs typeface="Calibri"/>
                <a:sym typeface="Calibri"/>
              </a:rPr>
              <a:t>CortexAI Platform</a:t>
            </a:r>
            <a:r>
              <a:rPr lang="en" sz="1300">
                <a:solidFill>
                  <a:schemeClr val="dk1"/>
                </a:solidFill>
                <a:latin typeface="Calibri"/>
                <a:ea typeface="Calibri"/>
                <a:cs typeface="Calibri"/>
                <a:sym typeface="Calibri"/>
              </a:rPr>
              <a:t> for AI, analytics, and data solutions.</a:t>
            </a:r>
            <a:br>
              <a:rPr lang="en" sz="1300">
                <a:solidFill>
                  <a:schemeClr val="dk1"/>
                </a:solidFill>
                <a:latin typeface="Calibri"/>
                <a:ea typeface="Calibri"/>
                <a:cs typeface="Calibri"/>
                <a:sym typeface="Calibri"/>
              </a:rPr>
            </a:br>
            <a:r>
              <a:rPr lang="en" sz="1300" b="1">
                <a:solidFill>
                  <a:srgbClr val="FF0000"/>
                </a:solidFill>
                <a:latin typeface="Calibri"/>
                <a:ea typeface="Calibri"/>
                <a:cs typeface="Calibri"/>
                <a:sym typeface="Calibri"/>
              </a:rPr>
              <a:t>Quartz Frontline AI</a:t>
            </a:r>
            <a:r>
              <a:rPr lang="en" sz="1300">
                <a:solidFill>
                  <a:schemeClr val="dk1"/>
                </a:solidFill>
                <a:latin typeface="Calibri"/>
                <a:ea typeface="Calibri"/>
                <a:cs typeface="Calibri"/>
                <a:sym typeface="Calibri"/>
              </a:rPr>
              <a:t> (conversational AI)</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4"/>
              </a:rPr>
              <a:t>https://www2.deloitte.com</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5"/>
              </a:rPr>
              <a:t>https://www2.deloitte.com/us/en/misc/search.html?qr=AI</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000" u="sng">
                <a:solidFill>
                  <a:schemeClr val="accent5"/>
                </a:solidFill>
                <a:latin typeface="Calibri"/>
                <a:ea typeface="Calibri"/>
                <a:cs typeface="Calibri"/>
                <a:sym typeface="Calibri"/>
                <a:hlinkClick r:id="rId6">
                  <a:extLst>
                    <a:ext uri="{A12FA001-AC4F-418D-AE19-62706E023703}">
                      <ahyp:hlinkClr xmlns:ahyp="http://schemas.microsoft.com/office/drawing/2018/hyperlinkcolor" val="tx"/>
                    </a:ext>
                  </a:extLst>
                </a:hlinkClick>
              </a:rPr>
              <a:t>https://www2.deloitte.com/us/en/pages/consulting/articles/ai-dossier.html</a:t>
            </a:r>
            <a:endParaRPr sz="1000">
              <a:solidFill>
                <a:schemeClr val="dk1"/>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Hiring AI talent ("Dialog Engineer", "Prompt Engineer", ...)</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Internal AI research and development</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Partnerships and collaborations (Google, OpenAI, ...)</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Publications and events</a:t>
            </a:r>
            <a:endParaRPr sz="1300">
              <a:solidFill>
                <a:schemeClr val="dk1"/>
              </a:solidFill>
              <a:latin typeface="Calibri"/>
              <a:ea typeface="Calibri"/>
              <a:cs typeface="Calibri"/>
              <a:sym typeface="Calibri"/>
            </a:endParaRPr>
          </a:p>
        </p:txBody>
      </p:sp>
      <p:sp>
        <p:nvSpPr>
          <p:cNvPr id="137" name="Google Shape;137;p22"/>
          <p:cNvSpPr txBox="1"/>
          <p:nvPr/>
        </p:nvSpPr>
        <p:spPr>
          <a:xfrm>
            <a:off x="165875" y="326400"/>
            <a:ext cx="2965800" cy="1416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Mixtral paper "Mixtral of Experts" </a:t>
            </a:r>
            <a:br>
              <a:rPr lang="en" sz="1300" b="1">
                <a:solidFill>
                  <a:srgbClr val="FF0000"/>
                </a:solidFill>
                <a:latin typeface="Calibri"/>
                <a:ea typeface="Calibri"/>
                <a:cs typeface="Calibri"/>
                <a:sym typeface="Calibri"/>
              </a:rPr>
            </a:br>
            <a:r>
              <a:rPr lang="en" sz="1300">
                <a:solidFill>
                  <a:schemeClr val="dk1"/>
                </a:solidFill>
                <a:latin typeface="Calibri"/>
                <a:ea typeface="Calibri"/>
                <a:cs typeface="Calibri"/>
                <a:sym typeface="Calibri"/>
              </a:rPr>
              <a:t>26 authors</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900">
                <a:solidFill>
                  <a:srgbClr val="0F0F0F"/>
                </a:solidFill>
                <a:latin typeface="Calibri"/>
                <a:ea typeface="Calibri"/>
                <a:cs typeface="Calibri"/>
                <a:sym typeface="Calibri"/>
              </a:rPr>
              <a:t>Paper: </a:t>
            </a:r>
            <a:r>
              <a:rPr lang="en" sz="900" u="sng">
                <a:solidFill>
                  <a:schemeClr val="hlink"/>
                </a:solidFill>
                <a:latin typeface="Calibri"/>
                <a:ea typeface="Calibri"/>
                <a:cs typeface="Calibri"/>
                <a:sym typeface="Calibri"/>
                <a:hlinkClick r:id="rId7"/>
              </a:rPr>
              <a:t>https://arxiv.org/pdf/2401.04088.pdf</a:t>
            </a:r>
            <a:r>
              <a:rPr lang="en" sz="900">
                <a:solidFill>
                  <a:srgbClr val="0F0F0F"/>
                </a:solidFill>
                <a:latin typeface="Calibri"/>
                <a:ea typeface="Calibri"/>
                <a:cs typeface="Calibri"/>
                <a:sym typeface="Calibri"/>
              </a:rPr>
              <a:t> </a:t>
            </a:r>
            <a:endParaRPr sz="900">
              <a:solidFill>
                <a:srgbClr val="0F0F0F"/>
              </a:solidFill>
              <a:latin typeface="Calibri"/>
              <a:ea typeface="Calibri"/>
              <a:cs typeface="Calibri"/>
              <a:sym typeface="Calibri"/>
            </a:endParaRPr>
          </a:p>
          <a:p>
            <a:pPr marL="0" lvl="0" indent="0" algn="l" rtl="0">
              <a:spcBef>
                <a:spcPts val="0"/>
              </a:spcBef>
              <a:spcAft>
                <a:spcPts val="0"/>
              </a:spcAft>
              <a:buNone/>
            </a:pPr>
            <a:r>
              <a:rPr lang="en" sz="900">
                <a:solidFill>
                  <a:srgbClr val="0F0F0F"/>
                </a:solidFill>
                <a:latin typeface="Calibri"/>
                <a:ea typeface="Calibri"/>
                <a:cs typeface="Calibri"/>
                <a:sym typeface="Calibri"/>
              </a:rPr>
              <a:t>Video: </a:t>
            </a:r>
            <a:r>
              <a:rPr lang="en" sz="900" u="sng">
                <a:solidFill>
                  <a:schemeClr val="hlink"/>
                </a:solidFill>
                <a:latin typeface="Calibri"/>
                <a:ea typeface="Calibri"/>
                <a:cs typeface="Calibri"/>
                <a:sym typeface="Calibri"/>
                <a:hlinkClick r:id="rId8"/>
              </a:rPr>
              <a:t>https://www.youtube.com/watch?v=8XTHLhwX0UQ</a:t>
            </a:r>
            <a:r>
              <a:rPr lang="en" sz="900">
                <a:solidFill>
                  <a:srgbClr val="0F0F0F"/>
                </a:solidFill>
                <a:latin typeface="Calibri"/>
                <a:ea typeface="Calibri"/>
                <a:cs typeface="Calibri"/>
                <a:sym typeface="Calibri"/>
              </a:rPr>
              <a:t> </a:t>
            </a:r>
            <a:endParaRPr sz="9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900">
                <a:solidFill>
                  <a:srgbClr val="0F0F0F"/>
                </a:solidFill>
                <a:latin typeface="Calibri"/>
                <a:ea typeface="Calibri"/>
                <a:cs typeface="Calibri"/>
                <a:sym typeface="Calibri"/>
              </a:rPr>
              <a:t>Code: </a:t>
            </a:r>
            <a:r>
              <a:rPr lang="en" sz="900" u="sng">
                <a:solidFill>
                  <a:schemeClr val="hlink"/>
                </a:solidFill>
                <a:latin typeface="Calibri"/>
                <a:ea typeface="Calibri"/>
                <a:cs typeface="Calibri"/>
                <a:sym typeface="Calibri"/>
                <a:hlinkClick r:id="rId9"/>
              </a:rPr>
              <a:t>https://github.com/mistralai/mistral-src</a:t>
            </a:r>
            <a:r>
              <a:rPr lang="en" sz="900">
                <a:solidFill>
                  <a:srgbClr val="0F0F0F"/>
                </a:solidFill>
                <a:latin typeface="Calibri"/>
                <a:ea typeface="Calibri"/>
                <a:cs typeface="Calibri"/>
                <a:sym typeface="Calibri"/>
              </a:rPr>
              <a:t> </a:t>
            </a:r>
            <a:endParaRPr sz="900">
              <a:solidFill>
                <a:srgbClr val="0F0F0F"/>
              </a:solidFill>
              <a:latin typeface="Calibri"/>
              <a:ea typeface="Calibri"/>
              <a:cs typeface="Calibri"/>
              <a:sym typeface="Calibri"/>
            </a:endParaRPr>
          </a:p>
          <a:p>
            <a:pPr marL="0" lvl="0" indent="0" algn="l" rtl="0">
              <a:spcBef>
                <a:spcPts val="0"/>
              </a:spcBef>
              <a:spcAft>
                <a:spcPts val="0"/>
              </a:spcAft>
              <a:buNone/>
            </a:pPr>
            <a:r>
              <a:rPr lang="en" sz="900">
                <a:solidFill>
                  <a:srgbClr val="0F0F0F"/>
                </a:solidFill>
                <a:latin typeface="Calibri"/>
                <a:ea typeface="Calibri"/>
                <a:cs typeface="Calibri"/>
                <a:sym typeface="Calibri"/>
              </a:rPr>
              <a:t>Webpage: </a:t>
            </a:r>
            <a:r>
              <a:rPr lang="en" sz="900" u="sng">
                <a:solidFill>
                  <a:schemeClr val="hlink"/>
                </a:solidFill>
                <a:latin typeface="Calibri"/>
                <a:ea typeface="Calibri"/>
                <a:cs typeface="Calibri"/>
                <a:sym typeface="Calibri"/>
                <a:hlinkClick r:id="rId10"/>
              </a:rPr>
              <a:t>https://mistral.ai/news/mixtral-of-experts/</a:t>
            </a:r>
            <a:r>
              <a:rPr lang="en" sz="900">
                <a:solidFill>
                  <a:srgbClr val="0F0F0F"/>
                </a:solidFill>
                <a:latin typeface="Calibri"/>
                <a:ea typeface="Calibri"/>
                <a:cs typeface="Calibri"/>
                <a:sym typeface="Calibri"/>
              </a:rPr>
              <a:t> </a:t>
            </a:r>
            <a:endParaRPr sz="900">
              <a:solidFill>
                <a:srgbClr val="0F0F0F"/>
              </a:solidFill>
              <a:latin typeface="Calibri"/>
              <a:ea typeface="Calibri"/>
              <a:cs typeface="Calibri"/>
              <a:sym typeface="Calibri"/>
            </a:endParaRPr>
          </a:p>
          <a:p>
            <a:pPr marL="0" lvl="0" indent="0" algn="l" rtl="0">
              <a:spcBef>
                <a:spcPts val="0"/>
              </a:spcBef>
              <a:spcAft>
                <a:spcPts val="0"/>
              </a:spcAft>
              <a:buNone/>
            </a:pPr>
            <a:r>
              <a:rPr lang="en" sz="900">
                <a:solidFill>
                  <a:srgbClr val="0F0F0F"/>
                </a:solidFill>
                <a:latin typeface="Calibri"/>
                <a:ea typeface="Calibri"/>
                <a:cs typeface="Calibri"/>
                <a:sym typeface="Calibri"/>
              </a:rPr>
              <a:t>Huggingface: </a:t>
            </a:r>
            <a:r>
              <a:rPr lang="en" sz="900" u="sng">
                <a:solidFill>
                  <a:schemeClr val="hlink"/>
                </a:solidFill>
                <a:latin typeface="Calibri"/>
                <a:ea typeface="Calibri"/>
                <a:cs typeface="Calibri"/>
                <a:sym typeface="Calibri"/>
                <a:hlinkClick r:id="rId11"/>
              </a:rPr>
              <a:t>https://huggingface.co/mistralai/Mixtral-8x7B-Instruct-v0.1</a:t>
            </a:r>
            <a:r>
              <a:rPr lang="en" sz="900">
                <a:solidFill>
                  <a:srgbClr val="0F0F0F"/>
                </a:solidFill>
                <a:latin typeface="Calibri"/>
                <a:ea typeface="Calibri"/>
                <a:cs typeface="Calibri"/>
                <a:sym typeface="Calibri"/>
              </a:rPr>
              <a:t> </a:t>
            </a:r>
            <a:endParaRPr sz="900">
              <a:solidFill>
                <a:srgbClr val="0F0F0F"/>
              </a:solidFill>
              <a:latin typeface="Calibri"/>
              <a:ea typeface="Calibri"/>
              <a:cs typeface="Calibri"/>
              <a:sym typeface="Calibri"/>
            </a:endParaRPr>
          </a:p>
        </p:txBody>
      </p:sp>
      <p:pic>
        <p:nvPicPr>
          <p:cNvPr id="138" name="Google Shape;138;p22"/>
          <p:cNvPicPr preferRelativeResize="0"/>
          <p:nvPr/>
        </p:nvPicPr>
        <p:blipFill>
          <a:blip r:embed="rId12" cstate="email">
            <a:alphaModFix/>
            <a:extLst>
              <a:ext uri="{28A0092B-C50C-407E-A947-70E740481C1C}">
                <a14:useLocalDpi xmlns:a14="http://schemas.microsoft.com/office/drawing/2010/main"/>
              </a:ext>
            </a:extLst>
          </a:blip>
          <a:stretch>
            <a:fillRect/>
          </a:stretch>
        </p:blipFill>
        <p:spPr>
          <a:xfrm>
            <a:off x="6553950" y="3226025"/>
            <a:ext cx="2530050" cy="1381550"/>
          </a:xfrm>
          <a:prstGeom prst="rect">
            <a:avLst/>
          </a:prstGeom>
          <a:noFill/>
          <a:ln w="9525" cap="flat" cmpd="sng">
            <a:solidFill>
              <a:srgbClr val="FF0000"/>
            </a:solidFill>
            <a:prstDash val="solid"/>
            <a:round/>
            <a:headEnd type="none" w="sm" len="sm"/>
            <a:tailEnd type="none" w="sm" len="sm"/>
          </a:ln>
        </p:spPr>
      </p:pic>
      <p:pic>
        <p:nvPicPr>
          <p:cNvPr id="139" name="Google Shape;139;p22"/>
          <p:cNvPicPr preferRelativeResize="0"/>
          <p:nvPr/>
        </p:nvPicPr>
        <p:blipFill>
          <a:blip r:embed="rId13" cstate="email">
            <a:alphaModFix/>
            <a:extLst>
              <a:ext uri="{28A0092B-C50C-407E-A947-70E740481C1C}">
                <a14:useLocalDpi xmlns:a14="http://schemas.microsoft.com/office/drawing/2010/main"/>
              </a:ext>
            </a:extLst>
          </a:blip>
          <a:stretch>
            <a:fillRect/>
          </a:stretch>
        </p:blipFill>
        <p:spPr>
          <a:xfrm>
            <a:off x="3209771" y="142999"/>
            <a:ext cx="1576926" cy="1782825"/>
          </a:xfrm>
          <a:prstGeom prst="rect">
            <a:avLst/>
          </a:prstGeom>
          <a:noFill/>
          <a:ln w="9525" cap="flat" cmpd="sng">
            <a:solidFill>
              <a:srgbClr val="FF0000"/>
            </a:solidFill>
            <a:prstDash val="solid"/>
            <a:round/>
            <a:headEnd type="none" w="sm" len="sm"/>
            <a:tailEnd type="none" w="sm" len="sm"/>
          </a:ln>
        </p:spPr>
      </p:pic>
      <p:pic>
        <p:nvPicPr>
          <p:cNvPr id="140" name="Google Shape;140;p22"/>
          <p:cNvPicPr preferRelativeResize="0"/>
          <p:nvPr/>
        </p:nvPicPr>
        <p:blipFill>
          <a:blip r:embed="rId14" cstate="email">
            <a:alphaModFix/>
            <a:extLst>
              <a:ext uri="{28A0092B-C50C-407E-A947-70E740481C1C}">
                <a14:useLocalDpi xmlns:a14="http://schemas.microsoft.com/office/drawing/2010/main"/>
              </a:ext>
            </a:extLst>
          </a:blip>
          <a:stretch>
            <a:fillRect/>
          </a:stretch>
        </p:blipFill>
        <p:spPr>
          <a:xfrm>
            <a:off x="4203600" y="3226025"/>
            <a:ext cx="2196511" cy="13815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23"/>
          <p:cNvSpPr txBox="1"/>
          <p:nvPr/>
        </p:nvSpPr>
        <p:spPr>
          <a:xfrm>
            <a:off x="72300" y="0"/>
            <a:ext cx="41313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Misc - 2</a:t>
            </a:r>
            <a:endParaRPr sz="2000" b="1">
              <a:latin typeface="Calibri"/>
              <a:ea typeface="Calibri"/>
              <a:cs typeface="Calibri"/>
              <a:sym typeface="Calibri"/>
            </a:endParaRPr>
          </a:p>
        </p:txBody>
      </p:sp>
      <p:sp>
        <p:nvSpPr>
          <p:cNvPr id="146" name="Google Shape;146;p23"/>
          <p:cNvSpPr txBox="1"/>
          <p:nvPr/>
        </p:nvSpPr>
        <p:spPr>
          <a:xfrm>
            <a:off x="165975" y="448225"/>
            <a:ext cx="1935900" cy="661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AutoGen Studio</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900" u="sng">
                <a:solidFill>
                  <a:schemeClr val="hlink"/>
                </a:solidFill>
                <a:latin typeface="Calibri"/>
                <a:ea typeface="Calibri"/>
                <a:cs typeface="Calibri"/>
                <a:sym typeface="Calibri"/>
                <a:hlinkClick r:id="rId3"/>
              </a:rPr>
              <a:t>https://microsoft.github.io/autogen/blog/2023/12/01/AutoGenStudio/</a:t>
            </a:r>
            <a:endParaRPr sz="1200">
              <a:solidFill>
                <a:srgbClr val="0F0F0F"/>
              </a:solidFill>
              <a:latin typeface="Calibri"/>
              <a:ea typeface="Calibri"/>
              <a:cs typeface="Calibri"/>
              <a:sym typeface="Calibri"/>
            </a:endParaRPr>
          </a:p>
        </p:txBody>
      </p:sp>
      <p:sp>
        <p:nvSpPr>
          <p:cNvPr id="147" name="Google Shape;147;p23"/>
          <p:cNvSpPr txBox="1"/>
          <p:nvPr/>
        </p:nvSpPr>
        <p:spPr>
          <a:xfrm>
            <a:off x="6826100" y="59500"/>
            <a:ext cx="2230500" cy="892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TechGPT-2.0: A LLM for knowledge graph construction</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4"/>
              </a:rPr>
              <a:t>https://arxiv.org/abs/2401.04507v1</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5"/>
              </a:rPr>
              <a:t>https://github.com/neukg/TechGPT-2.0</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p:txBody>
      </p:sp>
      <p:sp>
        <p:nvSpPr>
          <p:cNvPr id="148" name="Google Shape;148;p23"/>
          <p:cNvSpPr txBox="1"/>
          <p:nvPr/>
        </p:nvSpPr>
        <p:spPr>
          <a:xfrm>
            <a:off x="2468650" y="59500"/>
            <a:ext cx="2443800" cy="1293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Not a single commercial LLM can sort the list of ~100 references according to the last name of the first author</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6"/>
              </a:rPr>
              <a:t>https://twitter.com/kchonyc/status/1745151497258872989</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p:txBody>
      </p:sp>
      <p:sp>
        <p:nvSpPr>
          <p:cNvPr id="149" name="Google Shape;149;p23"/>
          <p:cNvSpPr txBox="1"/>
          <p:nvPr/>
        </p:nvSpPr>
        <p:spPr>
          <a:xfrm>
            <a:off x="5472800" y="1775925"/>
            <a:ext cx="3583800" cy="149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Importance of proper prompting: Depending on the format used in few-shot prompting, you may get accuracies:</a:t>
            </a:r>
            <a:endParaRPr sz="1300">
              <a:solidFill>
                <a:srgbClr val="0F0F0F"/>
              </a:solidFill>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solidFill>
                  <a:srgbClr val="FF0000"/>
                </a:solidFill>
                <a:latin typeface="Calibri"/>
                <a:ea typeface="Calibri"/>
                <a:cs typeface="Calibri"/>
                <a:sym typeface="Calibri"/>
              </a:rPr>
              <a:t>4%-88%</a:t>
            </a:r>
            <a:r>
              <a:rPr lang="en" sz="1300">
                <a:solidFill>
                  <a:srgbClr val="0F0F0F"/>
                </a:solidFill>
                <a:latin typeface="Calibri"/>
                <a:ea typeface="Calibri"/>
                <a:cs typeface="Calibri"/>
                <a:sym typeface="Calibri"/>
              </a:rPr>
              <a:t> with LLaMA-2-70B 5-shot</a:t>
            </a:r>
            <a:endParaRPr sz="1300">
              <a:solidFill>
                <a:srgbClr val="0F0F0F"/>
              </a:solidFill>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a:solidFill>
                  <a:srgbClr val="FF0000"/>
                </a:solidFill>
                <a:latin typeface="Calibri"/>
                <a:ea typeface="Calibri"/>
                <a:cs typeface="Calibri"/>
                <a:sym typeface="Calibri"/>
              </a:rPr>
              <a:t>47%-85%</a:t>
            </a:r>
            <a:r>
              <a:rPr lang="en" sz="1300">
                <a:solidFill>
                  <a:srgbClr val="0F0F0F"/>
                </a:solidFill>
                <a:latin typeface="Calibri"/>
                <a:ea typeface="Calibri"/>
                <a:cs typeface="Calibri"/>
                <a:sym typeface="Calibri"/>
              </a:rPr>
              <a:t> w/GPT3.5</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7"/>
              </a:rPr>
              <a:t>https://twitter.com/melaniesclar/status/1745557109419458695</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8"/>
              </a:rPr>
              <a:t>https://arxiv.org/abs/2310.11324</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p:txBody>
      </p:sp>
      <p:sp>
        <p:nvSpPr>
          <p:cNvPr id="150" name="Google Shape;150;p23"/>
          <p:cNvSpPr txBox="1"/>
          <p:nvPr/>
        </p:nvSpPr>
        <p:spPr>
          <a:xfrm>
            <a:off x="165975" y="2666325"/>
            <a:ext cx="4321500" cy="1293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Pennsylvania State started a collaboration with OpenAI. State employees will use </a:t>
            </a:r>
            <a:r>
              <a:rPr lang="en" sz="1300" b="1">
                <a:solidFill>
                  <a:srgbClr val="FF0000"/>
                </a:solidFill>
                <a:latin typeface="Calibri"/>
                <a:ea typeface="Calibri"/>
                <a:cs typeface="Calibri"/>
                <a:sym typeface="Calibri"/>
              </a:rPr>
              <a:t>ChatGPT Enterprise</a:t>
            </a:r>
            <a:r>
              <a:rPr lang="en" sz="1300">
                <a:solidFill>
                  <a:srgbClr val="0F0F0F"/>
                </a:solidFill>
                <a:latin typeface="Calibri"/>
                <a:ea typeface="Calibri"/>
                <a:cs typeface="Calibri"/>
                <a:sym typeface="Calibri"/>
              </a:rPr>
              <a:t> to assist in various tasks such as creating and editing copy, updating policy language, drafting job descriptions, and generating code. </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9"/>
              </a:rPr>
              <a:t>https://www.governor.pa.gov/newsroom/shapiro-administration-and-openai-launch-first-in-the-nation-generative-ai-pilot-for-commonwealth-employees/</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p:txBody>
      </p:sp>
      <p:pic>
        <p:nvPicPr>
          <p:cNvPr id="151" name="Google Shape;151;p23"/>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165976" y="1195788"/>
            <a:ext cx="1935777" cy="1384751"/>
          </a:xfrm>
          <a:prstGeom prst="rect">
            <a:avLst/>
          </a:prstGeom>
          <a:noFill/>
          <a:ln w="9525" cap="flat" cmpd="sng">
            <a:solidFill>
              <a:srgbClr val="FF0000"/>
            </a:solidFill>
            <a:prstDash val="solid"/>
            <a:round/>
            <a:headEnd type="none" w="sm" len="sm"/>
            <a:tailEnd type="none" w="sm" len="sm"/>
          </a:ln>
        </p:spPr>
      </p:pic>
      <p:pic>
        <p:nvPicPr>
          <p:cNvPr id="152" name="Google Shape;152;p23"/>
          <p:cNvPicPr preferRelativeResize="0"/>
          <p:nvPr/>
        </p:nvPicPr>
        <p:blipFill>
          <a:blip r:embed="rId11" cstate="email">
            <a:alphaModFix/>
            <a:extLst>
              <a:ext uri="{28A0092B-C50C-407E-A947-70E740481C1C}">
                <a14:useLocalDpi xmlns:a14="http://schemas.microsoft.com/office/drawing/2010/main"/>
              </a:ext>
            </a:extLst>
          </a:blip>
          <a:stretch>
            <a:fillRect/>
          </a:stretch>
        </p:blipFill>
        <p:spPr>
          <a:xfrm>
            <a:off x="6826100" y="987025"/>
            <a:ext cx="2230500" cy="596850"/>
          </a:xfrm>
          <a:prstGeom prst="rect">
            <a:avLst/>
          </a:prstGeom>
          <a:noFill/>
          <a:ln w="9525" cap="flat" cmpd="sng">
            <a:solidFill>
              <a:srgbClr val="FF0000"/>
            </a:solidFill>
            <a:prstDash val="solid"/>
            <a:round/>
            <a:headEnd type="none" w="sm" len="sm"/>
            <a:tailEnd type="none" w="sm" len="sm"/>
          </a:ln>
        </p:spPr>
      </p:pic>
      <p:pic>
        <p:nvPicPr>
          <p:cNvPr id="153" name="Google Shape;153;p23"/>
          <p:cNvPicPr preferRelativeResize="0"/>
          <p:nvPr/>
        </p:nvPicPr>
        <p:blipFill>
          <a:blip r:embed="rId12" cstate="email">
            <a:alphaModFix/>
            <a:extLst>
              <a:ext uri="{28A0092B-C50C-407E-A947-70E740481C1C}">
                <a14:useLocalDpi xmlns:a14="http://schemas.microsoft.com/office/drawing/2010/main"/>
              </a:ext>
            </a:extLst>
          </a:blip>
          <a:stretch>
            <a:fillRect/>
          </a:stretch>
        </p:blipFill>
        <p:spPr>
          <a:xfrm>
            <a:off x="4961262" y="59500"/>
            <a:ext cx="1318188" cy="1293000"/>
          </a:xfrm>
          <a:prstGeom prst="rect">
            <a:avLst/>
          </a:prstGeom>
          <a:noFill/>
          <a:ln w="9525" cap="flat" cmpd="sng">
            <a:solidFill>
              <a:srgbClr val="FF0000"/>
            </a:solidFill>
            <a:prstDash val="solid"/>
            <a:round/>
            <a:headEnd type="none" w="sm" len="sm"/>
            <a:tailEnd type="none" w="sm" len="sm"/>
          </a:ln>
        </p:spPr>
      </p:pic>
      <p:pic>
        <p:nvPicPr>
          <p:cNvPr id="154" name="Google Shape;154;p23"/>
          <p:cNvPicPr preferRelativeResize="0"/>
          <p:nvPr/>
        </p:nvPicPr>
        <p:blipFill>
          <a:blip r:embed="rId13" cstate="email">
            <a:alphaModFix/>
            <a:extLst>
              <a:ext uri="{28A0092B-C50C-407E-A947-70E740481C1C}">
                <a14:useLocalDpi xmlns:a14="http://schemas.microsoft.com/office/drawing/2010/main"/>
              </a:ext>
            </a:extLst>
          </a:blip>
          <a:stretch>
            <a:fillRect/>
          </a:stretch>
        </p:blipFill>
        <p:spPr>
          <a:xfrm>
            <a:off x="699377" y="4045100"/>
            <a:ext cx="1472875" cy="980125"/>
          </a:xfrm>
          <a:prstGeom prst="rect">
            <a:avLst/>
          </a:prstGeom>
          <a:noFill/>
          <a:ln>
            <a:noFill/>
          </a:ln>
        </p:spPr>
      </p:pic>
      <p:pic>
        <p:nvPicPr>
          <p:cNvPr id="155" name="Google Shape;155;p23"/>
          <p:cNvPicPr preferRelativeResize="0"/>
          <p:nvPr/>
        </p:nvPicPr>
        <p:blipFill rotWithShape="1">
          <a:blip r:embed="rId14" cstate="email">
            <a:alphaModFix/>
            <a:extLst>
              <a:ext uri="{28A0092B-C50C-407E-A947-70E740481C1C}">
                <a14:useLocalDpi xmlns:a14="http://schemas.microsoft.com/office/drawing/2010/main"/>
              </a:ext>
            </a:extLst>
          </a:blip>
          <a:srcRect/>
          <a:stretch/>
        </p:blipFill>
        <p:spPr>
          <a:xfrm>
            <a:off x="2308200" y="4045100"/>
            <a:ext cx="1505188" cy="980125"/>
          </a:xfrm>
          <a:prstGeom prst="rect">
            <a:avLst/>
          </a:prstGeom>
          <a:noFill/>
          <a:ln>
            <a:noFill/>
          </a:ln>
        </p:spPr>
      </p:pic>
      <p:pic>
        <p:nvPicPr>
          <p:cNvPr id="156" name="Google Shape;156;p23"/>
          <p:cNvPicPr preferRelativeResize="0"/>
          <p:nvPr/>
        </p:nvPicPr>
        <p:blipFill>
          <a:blip r:embed="rId15" cstate="email">
            <a:alphaModFix/>
            <a:extLst>
              <a:ext uri="{28A0092B-C50C-407E-A947-70E740481C1C}">
                <a14:useLocalDpi xmlns:a14="http://schemas.microsoft.com/office/drawing/2010/main"/>
              </a:ext>
            </a:extLst>
          </a:blip>
          <a:stretch>
            <a:fillRect/>
          </a:stretch>
        </p:blipFill>
        <p:spPr>
          <a:xfrm>
            <a:off x="6445321" y="3329882"/>
            <a:ext cx="1638751" cy="1771626"/>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60"/>
        <p:cNvGrpSpPr/>
        <p:nvPr/>
      </p:nvGrpSpPr>
      <p:grpSpPr>
        <a:xfrm>
          <a:off x="0" y="0"/>
          <a:ext cx="0" cy="0"/>
          <a:chOff x="0" y="0"/>
          <a:chExt cx="0" cy="0"/>
        </a:xfrm>
      </p:grpSpPr>
      <p:sp>
        <p:nvSpPr>
          <p:cNvPr id="161" name="Google Shape;161;p24"/>
          <p:cNvSpPr txBox="1"/>
          <p:nvPr/>
        </p:nvSpPr>
        <p:spPr>
          <a:xfrm>
            <a:off x="72300" y="0"/>
            <a:ext cx="41313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Misc - 3</a:t>
            </a:r>
            <a:endParaRPr sz="2000" b="1">
              <a:latin typeface="Calibri"/>
              <a:ea typeface="Calibri"/>
              <a:cs typeface="Calibri"/>
              <a:sym typeface="Calibri"/>
            </a:endParaRPr>
          </a:p>
        </p:txBody>
      </p:sp>
      <p:sp>
        <p:nvSpPr>
          <p:cNvPr id="162" name="Google Shape;162;p24"/>
          <p:cNvSpPr txBox="1"/>
          <p:nvPr/>
        </p:nvSpPr>
        <p:spPr>
          <a:xfrm>
            <a:off x="72300" y="437725"/>
            <a:ext cx="2121900" cy="723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Jensen Tung</a:t>
            </a:r>
            <a:r>
              <a:rPr lang="en" sz="1300">
                <a:solidFill>
                  <a:srgbClr val="0F0F0F"/>
                </a:solidFill>
                <a:latin typeface="Calibri"/>
                <a:ea typeface="Calibri"/>
                <a:cs typeface="Calibri"/>
                <a:sym typeface="Calibri"/>
              </a:rPr>
              <a:t> - multiple ideas on making money with AI</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900" u="sng">
                <a:solidFill>
                  <a:schemeClr val="hlink"/>
                </a:solidFill>
                <a:latin typeface="Calibri"/>
                <a:ea typeface="Calibri"/>
                <a:cs typeface="Calibri"/>
                <a:sym typeface="Calibri"/>
                <a:hlinkClick r:id="rId3"/>
              </a:rPr>
              <a:t>https://www.youtube.com/@jensentung</a:t>
            </a:r>
            <a:r>
              <a:rPr lang="en" sz="900">
                <a:solidFill>
                  <a:srgbClr val="0F0F0F"/>
                </a:solidFill>
                <a:latin typeface="Calibri"/>
                <a:ea typeface="Calibri"/>
                <a:cs typeface="Calibri"/>
                <a:sym typeface="Calibri"/>
              </a:rPr>
              <a:t> </a:t>
            </a:r>
            <a:endParaRPr sz="900">
              <a:solidFill>
                <a:srgbClr val="0F0F0F"/>
              </a:solidFill>
              <a:latin typeface="Calibri"/>
              <a:ea typeface="Calibri"/>
              <a:cs typeface="Calibri"/>
              <a:sym typeface="Calibri"/>
            </a:endParaRPr>
          </a:p>
        </p:txBody>
      </p:sp>
      <p:sp>
        <p:nvSpPr>
          <p:cNvPr id="163" name="Google Shape;163;p24"/>
          <p:cNvSpPr txBox="1"/>
          <p:nvPr/>
        </p:nvSpPr>
        <p:spPr>
          <a:xfrm>
            <a:off x="2382250" y="429925"/>
            <a:ext cx="2512800" cy="939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AI agents working together to analyze, discuss, and reach consensus on </a:t>
            </a:r>
            <a:r>
              <a:rPr lang="en" sz="1300" b="1">
                <a:solidFill>
                  <a:srgbClr val="FF0000"/>
                </a:solidFill>
                <a:latin typeface="Calibri"/>
                <a:ea typeface="Calibri"/>
                <a:cs typeface="Calibri"/>
                <a:sym typeface="Calibri"/>
              </a:rPr>
              <a:t>medical topics</a:t>
            </a:r>
            <a:r>
              <a:rPr lang="en" sz="1300">
                <a:solidFill>
                  <a:srgbClr val="0F0F0F"/>
                </a:solidFill>
                <a:latin typeface="Calibri"/>
                <a:ea typeface="Calibri"/>
                <a:cs typeface="Calibri"/>
                <a:sym typeface="Calibri"/>
              </a:rPr>
              <a:t>. </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4"/>
              </a:rPr>
              <a:t>https://github.com/gersteinlab/medagents</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p:txBody>
      </p:sp>
      <p:sp>
        <p:nvSpPr>
          <p:cNvPr id="164" name="Google Shape;164;p24"/>
          <p:cNvSpPr txBox="1"/>
          <p:nvPr/>
        </p:nvSpPr>
        <p:spPr>
          <a:xfrm>
            <a:off x="72300" y="2749875"/>
            <a:ext cx="4321500" cy="892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Google open sources 1.6T MoE model: Switch Transformers C - 2048 experts (1.6T parameters for 3.1 TB) - 2022</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5"/>
              </a:rPr>
              <a:t>https://huggingface.co/google/switch-c-2048</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6"/>
              </a:rPr>
              <a:t>https://arxiv.org/pdf/2101.03961.pdf</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p:txBody>
      </p:sp>
      <p:sp>
        <p:nvSpPr>
          <p:cNvPr id="165" name="Google Shape;165;p24"/>
          <p:cNvSpPr txBox="1"/>
          <p:nvPr/>
        </p:nvSpPr>
        <p:spPr>
          <a:xfrm>
            <a:off x="5081150" y="453025"/>
            <a:ext cx="3981900" cy="892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OpenAI says it’s “impossible” to create useful AI models without copyrighted material</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7"/>
              </a:rPr>
              <a:t>https://arstechnica.com/information-technology/2024/01/openai-says-its-impossible-to-create-useful-ai-models-without-copyrighted-material/</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p:txBody>
      </p:sp>
      <p:sp>
        <p:nvSpPr>
          <p:cNvPr id="166" name="Google Shape;166;p24"/>
          <p:cNvSpPr txBox="1"/>
          <p:nvPr/>
        </p:nvSpPr>
        <p:spPr>
          <a:xfrm>
            <a:off x="4494100" y="2749875"/>
            <a:ext cx="2121900" cy="785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guidde</a:t>
            </a:r>
            <a:r>
              <a:rPr lang="en" sz="1300">
                <a:solidFill>
                  <a:srgbClr val="0F0F0F"/>
                </a:solidFill>
                <a:latin typeface="Calibri"/>
                <a:ea typeface="Calibri"/>
                <a:cs typeface="Calibri"/>
                <a:sym typeface="Calibri"/>
              </a:rPr>
              <a:t> - generative AI to create video docs 11x faster </a:t>
            </a:r>
            <a:r>
              <a:rPr lang="en" sz="1300" u="sng">
                <a:solidFill>
                  <a:schemeClr val="hlink"/>
                </a:solidFill>
                <a:latin typeface="Calibri"/>
                <a:ea typeface="Calibri"/>
                <a:cs typeface="Calibri"/>
                <a:sym typeface="Calibri"/>
                <a:hlinkClick r:id="rId8"/>
              </a:rPr>
              <a:t>https://www.guidde.com</a:t>
            </a:r>
            <a:endParaRPr sz="1300">
              <a:solidFill>
                <a:srgbClr val="0F0F0F"/>
              </a:solidFill>
              <a:latin typeface="Calibri"/>
              <a:ea typeface="Calibri"/>
              <a:cs typeface="Calibri"/>
              <a:sym typeface="Calibri"/>
            </a:endParaRPr>
          </a:p>
        </p:txBody>
      </p:sp>
      <p:pic>
        <p:nvPicPr>
          <p:cNvPr id="167" name="Google Shape;167;p24"/>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72300" y="1272350"/>
            <a:ext cx="2121900" cy="1235244"/>
          </a:xfrm>
          <a:prstGeom prst="rect">
            <a:avLst/>
          </a:prstGeom>
          <a:noFill/>
          <a:ln w="9525" cap="flat" cmpd="sng">
            <a:solidFill>
              <a:srgbClr val="FF0000"/>
            </a:solidFill>
            <a:prstDash val="solid"/>
            <a:round/>
            <a:headEnd type="none" w="sm" len="sm"/>
            <a:tailEnd type="none" w="sm" len="sm"/>
          </a:ln>
        </p:spPr>
      </p:pic>
      <p:pic>
        <p:nvPicPr>
          <p:cNvPr id="168" name="Google Shape;168;p24"/>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2506725" y="1421197"/>
            <a:ext cx="2121902" cy="1192525"/>
          </a:xfrm>
          <a:prstGeom prst="rect">
            <a:avLst/>
          </a:prstGeom>
          <a:noFill/>
          <a:ln w="9525" cap="flat" cmpd="sng">
            <a:solidFill>
              <a:srgbClr val="FF0000"/>
            </a:solidFill>
            <a:prstDash val="solid"/>
            <a:round/>
            <a:headEnd type="none" w="sm" len="sm"/>
            <a:tailEnd type="none" w="sm" len="sm"/>
          </a:ln>
        </p:spPr>
      </p:pic>
      <p:pic>
        <p:nvPicPr>
          <p:cNvPr id="169" name="Google Shape;169;p24"/>
          <p:cNvPicPr preferRelativeResize="0"/>
          <p:nvPr/>
        </p:nvPicPr>
        <p:blipFill>
          <a:blip r:embed="rId11" cstate="email">
            <a:alphaModFix/>
            <a:extLst>
              <a:ext uri="{28A0092B-C50C-407E-A947-70E740481C1C}">
                <a14:useLocalDpi xmlns:a14="http://schemas.microsoft.com/office/drawing/2010/main"/>
              </a:ext>
            </a:extLst>
          </a:blip>
          <a:stretch>
            <a:fillRect/>
          </a:stretch>
        </p:blipFill>
        <p:spPr>
          <a:xfrm>
            <a:off x="4625962" y="3671126"/>
            <a:ext cx="1858176" cy="1310350"/>
          </a:xfrm>
          <a:prstGeom prst="rect">
            <a:avLst/>
          </a:prstGeom>
          <a:noFill/>
          <a:ln w="9525" cap="flat" cmpd="sng">
            <a:solidFill>
              <a:srgbClr val="FF0000"/>
            </a:solidFill>
            <a:prstDash val="solid"/>
            <a:round/>
            <a:headEnd type="none" w="sm" len="sm"/>
            <a:tailEnd type="none" w="sm" len="sm"/>
          </a:ln>
        </p:spPr>
      </p:pic>
      <p:pic>
        <p:nvPicPr>
          <p:cNvPr id="170" name="Google Shape;170;p24"/>
          <p:cNvPicPr preferRelativeResize="0"/>
          <p:nvPr/>
        </p:nvPicPr>
        <p:blipFill>
          <a:blip r:embed="rId12" cstate="email">
            <a:alphaModFix/>
            <a:extLst>
              <a:ext uri="{28A0092B-C50C-407E-A947-70E740481C1C}">
                <a14:useLocalDpi xmlns:a14="http://schemas.microsoft.com/office/drawing/2010/main"/>
              </a:ext>
            </a:extLst>
          </a:blip>
          <a:stretch>
            <a:fillRect/>
          </a:stretch>
        </p:blipFill>
        <p:spPr>
          <a:xfrm>
            <a:off x="6085437" y="1421416"/>
            <a:ext cx="1973324" cy="1110000"/>
          </a:xfrm>
          <a:prstGeom prst="rect">
            <a:avLst/>
          </a:prstGeom>
          <a:noFill/>
          <a:ln w="9525" cap="flat" cmpd="sng">
            <a:solidFill>
              <a:srgbClr val="FF0000"/>
            </a:solidFill>
            <a:prstDash val="solid"/>
            <a:round/>
            <a:headEnd type="none" w="sm" len="sm"/>
            <a:tailEnd type="none" w="sm" len="sm"/>
          </a:ln>
        </p:spPr>
      </p:pic>
      <p:pic>
        <p:nvPicPr>
          <p:cNvPr id="171" name="Google Shape;171;p24"/>
          <p:cNvPicPr preferRelativeResize="0"/>
          <p:nvPr/>
        </p:nvPicPr>
        <p:blipFill>
          <a:blip r:embed="rId13" cstate="email">
            <a:alphaModFix/>
            <a:extLst>
              <a:ext uri="{28A0092B-C50C-407E-A947-70E740481C1C}">
                <a14:useLocalDpi xmlns:a14="http://schemas.microsoft.com/office/drawing/2010/main"/>
              </a:ext>
            </a:extLst>
          </a:blip>
          <a:stretch>
            <a:fillRect/>
          </a:stretch>
        </p:blipFill>
        <p:spPr>
          <a:xfrm>
            <a:off x="704438" y="3708525"/>
            <a:ext cx="2867015" cy="892800"/>
          </a:xfrm>
          <a:prstGeom prst="rect">
            <a:avLst/>
          </a:prstGeom>
          <a:noFill/>
          <a:ln w="9525" cap="flat" cmpd="sng">
            <a:solidFill>
              <a:srgbClr val="FF0000"/>
            </a:solidFill>
            <a:prstDash val="solid"/>
            <a:round/>
            <a:headEnd type="none" w="sm" len="sm"/>
            <a:tailEnd type="none" w="sm" len="sm"/>
          </a:ln>
        </p:spPr>
      </p:pic>
      <p:sp>
        <p:nvSpPr>
          <p:cNvPr id="172" name="Google Shape;172;p24"/>
          <p:cNvSpPr txBox="1"/>
          <p:nvPr/>
        </p:nvSpPr>
        <p:spPr>
          <a:xfrm>
            <a:off x="7212625" y="4298571"/>
            <a:ext cx="1858200" cy="785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1x raises $100M in ser.B</a:t>
            </a:r>
            <a:endParaRPr sz="1300" b="1">
              <a:solidFill>
                <a:srgbClr val="FF0000"/>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humanoid robots</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14"/>
              </a:rPr>
              <a:t>https://www.1x.tech</a:t>
            </a:r>
            <a:r>
              <a:rPr lang="en" sz="1300">
                <a:solidFill>
                  <a:srgbClr val="0F0F0F"/>
                </a:solidFill>
                <a:latin typeface="Calibri"/>
                <a:ea typeface="Calibri"/>
                <a:cs typeface="Calibri"/>
                <a:sym typeface="Calibri"/>
              </a:rPr>
              <a:t> </a:t>
            </a:r>
            <a:endParaRPr sz="1300">
              <a:solidFill>
                <a:srgbClr val="0F0F0F"/>
              </a:solidFill>
              <a:latin typeface="Calibri"/>
              <a:ea typeface="Calibri"/>
              <a:cs typeface="Calibri"/>
              <a:sym typeface="Calibri"/>
            </a:endParaRPr>
          </a:p>
        </p:txBody>
      </p:sp>
      <p:pic>
        <p:nvPicPr>
          <p:cNvPr id="173" name="Google Shape;173;p24"/>
          <p:cNvPicPr preferRelativeResize="0"/>
          <p:nvPr/>
        </p:nvPicPr>
        <p:blipFill>
          <a:blip r:embed="rId15" cstate="email">
            <a:alphaModFix/>
            <a:extLst>
              <a:ext uri="{28A0092B-C50C-407E-A947-70E740481C1C}">
                <a14:useLocalDpi xmlns:a14="http://schemas.microsoft.com/office/drawing/2010/main"/>
              </a:ext>
            </a:extLst>
          </a:blip>
          <a:stretch>
            <a:fillRect/>
          </a:stretch>
        </p:blipFill>
        <p:spPr>
          <a:xfrm flipH="1">
            <a:off x="7620784" y="2635277"/>
            <a:ext cx="1033244" cy="159009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77"/>
        <p:cNvGrpSpPr/>
        <p:nvPr/>
      </p:nvGrpSpPr>
      <p:grpSpPr>
        <a:xfrm>
          <a:off x="0" y="0"/>
          <a:ext cx="0" cy="0"/>
          <a:chOff x="0" y="0"/>
          <a:chExt cx="0" cy="0"/>
        </a:xfrm>
      </p:grpSpPr>
      <p:sp>
        <p:nvSpPr>
          <p:cNvPr id="178" name="Google Shape;178;p25"/>
          <p:cNvSpPr txBox="1"/>
          <p:nvPr/>
        </p:nvSpPr>
        <p:spPr>
          <a:xfrm>
            <a:off x="72300" y="0"/>
            <a:ext cx="41313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Local PDF question answering</a:t>
            </a:r>
            <a:endParaRPr sz="2000" b="1">
              <a:latin typeface="Calibri"/>
              <a:ea typeface="Calibri"/>
              <a:cs typeface="Calibri"/>
              <a:sym typeface="Calibri"/>
            </a:endParaRPr>
          </a:p>
        </p:txBody>
      </p:sp>
      <p:sp>
        <p:nvSpPr>
          <p:cNvPr id="179" name="Google Shape;179;p25"/>
          <p:cNvSpPr txBox="1"/>
          <p:nvPr/>
        </p:nvSpPr>
        <p:spPr>
          <a:xfrm>
            <a:off x="72300" y="407475"/>
            <a:ext cx="2696400" cy="193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PDF Expert </a:t>
            </a:r>
            <a:r>
              <a:rPr lang="en" sz="1300">
                <a:solidFill>
                  <a:srgbClr val="0F0F0F"/>
                </a:solidFill>
                <a:latin typeface="Calibri"/>
                <a:ea typeface="Calibri"/>
                <a:cs typeface="Calibri"/>
                <a:sym typeface="Calibri"/>
              </a:rPr>
              <a:t>- local PDF viewer/editor now has AI Chat:</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Generate Summary</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List Main Points</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Generate Keywords</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Generate Hashtags</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Ask Anything about the doc</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3"/>
              </a:rPr>
              <a:t>https://pdfexpert.com/blog/introducing-ai-chat</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p:txBody>
      </p:sp>
      <p:pic>
        <p:nvPicPr>
          <p:cNvPr id="180" name="Google Shape;180;p25"/>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2832450" y="732275"/>
            <a:ext cx="2030976" cy="1262575"/>
          </a:xfrm>
          <a:prstGeom prst="rect">
            <a:avLst/>
          </a:prstGeom>
          <a:noFill/>
          <a:ln w="9525" cap="flat" cmpd="sng">
            <a:solidFill>
              <a:srgbClr val="FF0000"/>
            </a:solidFill>
            <a:prstDash val="solid"/>
            <a:round/>
            <a:headEnd type="none" w="sm" len="sm"/>
            <a:tailEnd type="none" w="sm" len="sm"/>
          </a:ln>
        </p:spPr>
      </p:pic>
      <p:sp>
        <p:nvSpPr>
          <p:cNvPr id="181" name="Google Shape;181;p25"/>
          <p:cNvSpPr txBox="1"/>
          <p:nvPr/>
        </p:nvSpPr>
        <p:spPr>
          <a:xfrm>
            <a:off x="72300" y="2400715"/>
            <a:ext cx="3878400" cy="138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chatd </a:t>
            </a:r>
            <a:r>
              <a:rPr lang="en" sz="1300">
                <a:solidFill>
                  <a:srgbClr val="0F0F0F"/>
                </a:solidFill>
                <a:latin typeface="Calibri"/>
                <a:ea typeface="Calibri"/>
                <a:cs typeface="Calibri"/>
                <a:sym typeface="Calibri"/>
              </a:rPr>
              <a:t>- your own private local AI that can read files on your computer. Chat with your documents!</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5"/>
              </a:rPr>
              <a:t>https://www.chatd.ai</a:t>
            </a:r>
            <a:r>
              <a:rPr lang="en" sz="1300">
                <a:solidFill>
                  <a:srgbClr val="0F0F0F"/>
                </a:solidFill>
                <a:latin typeface="Calibri"/>
                <a:ea typeface="Calibri"/>
                <a:cs typeface="Calibri"/>
                <a:sym typeface="Calibri"/>
              </a:rPr>
              <a:t> </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6"/>
              </a:rPr>
              <a:t>https://github.com/BruceMacD/chatd</a:t>
            </a:r>
            <a:r>
              <a:rPr lang="en" sz="1300">
                <a:solidFill>
                  <a:srgbClr val="0F0F0F"/>
                </a:solidFill>
                <a:latin typeface="Calibri"/>
                <a:ea typeface="Calibri"/>
                <a:cs typeface="Calibri"/>
                <a:sym typeface="Calibri"/>
              </a:rPr>
              <a:t> </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powered by Ollama, uses Mistral-7B model</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Available on Mac, Windows, Linux</a:t>
            </a:r>
            <a:endParaRPr sz="1300">
              <a:solidFill>
                <a:srgbClr val="0F0F0F"/>
              </a:solidFill>
              <a:latin typeface="Calibri"/>
              <a:ea typeface="Calibri"/>
              <a:cs typeface="Calibri"/>
              <a:sym typeface="Calibri"/>
            </a:endParaRPr>
          </a:p>
        </p:txBody>
      </p:sp>
      <p:pic>
        <p:nvPicPr>
          <p:cNvPr id="182" name="Google Shape;182;p25"/>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052875" y="2770376"/>
            <a:ext cx="2577424" cy="844200"/>
          </a:xfrm>
          <a:prstGeom prst="rect">
            <a:avLst/>
          </a:prstGeom>
          <a:noFill/>
          <a:ln w="9525" cap="flat" cmpd="sng">
            <a:solidFill>
              <a:srgbClr val="FF0000"/>
            </a:solidFill>
            <a:prstDash val="solid"/>
            <a:round/>
            <a:headEnd type="none" w="sm" len="sm"/>
            <a:tailEnd type="none" w="sm" len="sm"/>
          </a:ln>
        </p:spPr>
      </p:pic>
      <p:sp>
        <p:nvSpPr>
          <p:cNvPr id="183" name="Google Shape;183;p25"/>
          <p:cNvSpPr txBox="1"/>
          <p:nvPr/>
        </p:nvSpPr>
        <p:spPr>
          <a:xfrm>
            <a:off x="72300" y="3848822"/>
            <a:ext cx="3878400" cy="1185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h2oGPT </a:t>
            </a:r>
            <a:r>
              <a:rPr lang="en" sz="1300">
                <a:solidFill>
                  <a:srgbClr val="0F0F0F"/>
                </a:solidFill>
                <a:latin typeface="Calibri"/>
                <a:ea typeface="Calibri"/>
                <a:cs typeface="Calibri"/>
                <a:sym typeface="Calibri"/>
              </a:rPr>
              <a:t>- private local GPT (Mac, Windows, Linux)</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Can use local LLM and local database, or online APIs</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Can work on local PDFs and other docs</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 </a:t>
            </a:r>
            <a:r>
              <a:rPr lang="en" sz="1300" u="sng">
                <a:solidFill>
                  <a:schemeClr val="hlink"/>
                </a:solidFill>
                <a:latin typeface="Calibri"/>
                <a:ea typeface="Calibri"/>
                <a:cs typeface="Calibri"/>
                <a:sym typeface="Calibri"/>
                <a:hlinkClick r:id="rId8"/>
              </a:rPr>
              <a:t>https://github.com/h2oai/h2ogpt</a:t>
            </a:r>
            <a:r>
              <a:rPr lang="en" sz="1300">
                <a:solidFill>
                  <a:srgbClr val="0F0F0F"/>
                </a:solidFill>
                <a:latin typeface="Calibri"/>
                <a:ea typeface="Calibri"/>
                <a:cs typeface="Calibri"/>
                <a:sym typeface="Calibri"/>
              </a:rPr>
              <a:t> </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 </a:t>
            </a:r>
            <a:r>
              <a:rPr lang="en" sz="1300" u="sng">
                <a:solidFill>
                  <a:schemeClr val="hlink"/>
                </a:solidFill>
                <a:latin typeface="Calibri"/>
                <a:ea typeface="Calibri"/>
                <a:cs typeface="Calibri"/>
                <a:sym typeface="Calibri"/>
                <a:hlinkClick r:id="rId9"/>
              </a:rPr>
              <a:t>https://gpt.h2o.ai</a:t>
            </a:r>
            <a:r>
              <a:rPr lang="en" sz="1300">
                <a:solidFill>
                  <a:srgbClr val="0F0F0F"/>
                </a:solidFill>
                <a:latin typeface="Calibri"/>
                <a:ea typeface="Calibri"/>
                <a:cs typeface="Calibri"/>
                <a:sym typeface="Calibri"/>
              </a:rPr>
              <a:t> - online GUI </a:t>
            </a:r>
            <a:endParaRPr sz="1300">
              <a:solidFill>
                <a:srgbClr val="0F0F0F"/>
              </a:solidFill>
              <a:latin typeface="Calibri"/>
              <a:ea typeface="Calibri"/>
              <a:cs typeface="Calibri"/>
              <a:sym typeface="Calibri"/>
            </a:endParaRPr>
          </a:p>
        </p:txBody>
      </p:sp>
      <p:pic>
        <p:nvPicPr>
          <p:cNvPr id="184" name="Google Shape;184;p25"/>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4103100" y="4024876"/>
            <a:ext cx="2308625" cy="906525"/>
          </a:xfrm>
          <a:prstGeom prst="rect">
            <a:avLst/>
          </a:prstGeom>
          <a:noFill/>
          <a:ln w="9525" cap="flat" cmpd="sng">
            <a:solidFill>
              <a:srgbClr val="FF0000"/>
            </a:solidFill>
            <a:prstDash val="solid"/>
            <a:round/>
            <a:headEnd type="none" w="sm" len="sm"/>
            <a:tailEnd type="none" w="sm" len="sm"/>
          </a:ln>
        </p:spPr>
      </p:pic>
      <p:sp>
        <p:nvSpPr>
          <p:cNvPr id="185" name="Google Shape;185;p25"/>
          <p:cNvSpPr txBox="1"/>
          <p:nvPr/>
        </p:nvSpPr>
        <p:spPr>
          <a:xfrm>
            <a:off x="7231400" y="784725"/>
            <a:ext cx="1439100" cy="985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Other options:</a:t>
            </a:r>
            <a:endParaRPr sz="1300">
              <a:solidFill>
                <a:srgbClr val="0F0F0F"/>
              </a:solidFill>
              <a:latin typeface="Calibri"/>
              <a:ea typeface="Calibri"/>
              <a:cs typeface="Calibri"/>
              <a:sym typeface="Calibri"/>
            </a:endParaRPr>
          </a:p>
          <a:p>
            <a:pPr marL="228600" lvl="0" indent="-13970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PrivateGPT</a:t>
            </a:r>
            <a:endParaRPr sz="1300">
              <a:solidFill>
                <a:srgbClr val="0F0F0F"/>
              </a:solidFill>
              <a:latin typeface="Calibri"/>
              <a:ea typeface="Calibri"/>
              <a:cs typeface="Calibri"/>
              <a:sym typeface="Calibri"/>
            </a:endParaRPr>
          </a:p>
          <a:p>
            <a:pPr marL="228600" lvl="0" indent="-13970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LocalGPT</a:t>
            </a:r>
            <a:endParaRPr sz="1300">
              <a:solidFill>
                <a:srgbClr val="0F0F0F"/>
              </a:solidFill>
              <a:latin typeface="Calibri"/>
              <a:ea typeface="Calibri"/>
              <a:cs typeface="Calibri"/>
              <a:sym typeface="Calibri"/>
            </a:endParaRPr>
          </a:p>
          <a:p>
            <a:pPr marL="228600" lvl="0" indent="-13970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GPT4All</a:t>
            </a:r>
            <a:endParaRPr sz="1300">
              <a:solidFill>
                <a:srgbClr val="0F0F0F"/>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89"/>
        <p:cNvGrpSpPr/>
        <p:nvPr/>
      </p:nvGrpSpPr>
      <p:grpSpPr>
        <a:xfrm>
          <a:off x="0" y="0"/>
          <a:ext cx="0" cy="0"/>
          <a:chOff x="0" y="0"/>
          <a:chExt cx="0" cy="0"/>
        </a:xfrm>
      </p:grpSpPr>
      <p:sp>
        <p:nvSpPr>
          <p:cNvPr id="190" name="Google Shape;190;p26"/>
          <p:cNvSpPr txBox="1"/>
          <p:nvPr/>
        </p:nvSpPr>
        <p:spPr>
          <a:xfrm>
            <a:off x="72300" y="0"/>
            <a:ext cx="41313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Rabbit R1     AI Pocket Companion</a:t>
            </a:r>
            <a:endParaRPr sz="2000" b="1">
              <a:latin typeface="Calibri"/>
              <a:ea typeface="Calibri"/>
              <a:cs typeface="Calibri"/>
              <a:sym typeface="Calibri"/>
            </a:endParaRPr>
          </a:p>
        </p:txBody>
      </p:sp>
      <p:sp>
        <p:nvSpPr>
          <p:cNvPr id="191" name="Google Shape;191;p26"/>
          <p:cNvSpPr txBox="1"/>
          <p:nvPr/>
        </p:nvSpPr>
        <p:spPr>
          <a:xfrm>
            <a:off x="72300" y="380125"/>
            <a:ext cx="4522200" cy="4417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Rabbit R1</a:t>
            </a:r>
            <a:r>
              <a:rPr lang="en" sz="1300">
                <a:solidFill>
                  <a:srgbClr val="0F0F0F"/>
                </a:solidFill>
                <a:latin typeface="Calibri"/>
                <a:ea typeface="Calibri"/>
                <a:cs typeface="Calibri"/>
                <a:sym typeface="Calibri"/>
              </a:rPr>
              <a:t> - NEW Personal AI AGENT - </a:t>
            </a:r>
            <a:r>
              <a:rPr lang="en" sz="1300" b="1">
                <a:solidFill>
                  <a:srgbClr val="FF0000"/>
                </a:solidFill>
                <a:latin typeface="Calibri"/>
                <a:ea typeface="Calibri"/>
                <a:cs typeface="Calibri"/>
                <a:sym typeface="Calibri"/>
              </a:rPr>
              <a:t>$199</a:t>
            </a:r>
            <a:endParaRPr sz="1300" b="1">
              <a:solidFill>
                <a:srgbClr val="FF0000"/>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Received 20K+ orders in first 48 hrs!</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b="1">
                <a:solidFill>
                  <a:srgbClr val="6AA84F"/>
                </a:solidFill>
                <a:latin typeface="Calibri"/>
                <a:ea typeface="Calibri"/>
                <a:cs typeface="Calibri"/>
                <a:sym typeface="Calibri"/>
              </a:rPr>
              <a:t>Rabbit Inc.</a:t>
            </a:r>
            <a:r>
              <a:rPr lang="en" sz="1300">
                <a:solidFill>
                  <a:srgbClr val="0F0F0F"/>
                </a:solidFill>
                <a:latin typeface="Calibri"/>
                <a:ea typeface="Calibri"/>
                <a:cs typeface="Calibri"/>
                <a:sym typeface="Calibri"/>
              </a:rPr>
              <a:t> - a startup founded in 2020, from Y Combinator program, Los Angeles, </a:t>
            </a:r>
            <a:r>
              <a:rPr lang="en" sz="1300" b="1">
                <a:solidFill>
                  <a:srgbClr val="FF0000"/>
                </a:solidFill>
                <a:latin typeface="Calibri"/>
                <a:ea typeface="Calibri"/>
                <a:cs typeface="Calibri"/>
                <a:sym typeface="Calibri"/>
              </a:rPr>
              <a:t>$30 Mln in funding</a:t>
            </a:r>
            <a:r>
              <a:rPr lang="en" sz="1300">
                <a:solidFill>
                  <a:srgbClr val="0F0F0F"/>
                </a:solidFill>
                <a:latin typeface="Calibri"/>
                <a:ea typeface="Calibri"/>
                <a:cs typeface="Calibri"/>
                <a:sym typeface="Calibri"/>
              </a:rPr>
              <a:t> </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000"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https://voicebot.ai/2024/01/08/generative-ai-hardware-startup-rabbit-reaches-30m-in-funding-round/</a:t>
            </a:r>
            <a:endParaRPr sz="13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r1 device</a:t>
            </a:r>
            <a:r>
              <a:rPr lang="en" sz="1300">
                <a:solidFill>
                  <a:srgbClr val="0F0F0F"/>
                </a:solidFill>
                <a:latin typeface="Calibri"/>
                <a:ea typeface="Calibri"/>
                <a:cs typeface="Calibri"/>
                <a:sym typeface="Calibri"/>
              </a:rPr>
              <a:t> - collaboration with Swedish firm Teenage Engineering - can interpret natural language requests and navigate various apps accordingly</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b="1">
                <a:solidFill>
                  <a:srgbClr val="FF0000"/>
                </a:solidFill>
                <a:latin typeface="Calibri"/>
                <a:ea typeface="Calibri"/>
                <a:cs typeface="Calibri"/>
                <a:sym typeface="Calibri"/>
              </a:rPr>
              <a:t>LAM = Large Action Model</a:t>
            </a:r>
            <a:r>
              <a:rPr lang="en" sz="1300">
                <a:solidFill>
                  <a:srgbClr val="0F0F0F"/>
                </a:solidFill>
                <a:latin typeface="Calibri"/>
                <a:ea typeface="Calibri"/>
                <a:cs typeface="Calibri"/>
                <a:sym typeface="Calibri"/>
              </a:rPr>
              <a:t> - Learning human actions on different computer applications. AI learns how to work with apps itself without need for an API.</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b="1">
                <a:solidFill>
                  <a:srgbClr val="FF0000"/>
                </a:solidFill>
                <a:latin typeface="Calibri"/>
                <a:ea typeface="Calibri"/>
                <a:cs typeface="Calibri"/>
                <a:sym typeface="Calibri"/>
              </a:rPr>
              <a:t>r1 can learn directly from human interaction with apps</a:t>
            </a:r>
            <a:r>
              <a:rPr lang="en" sz="1300">
                <a:solidFill>
                  <a:srgbClr val="0F0F0F"/>
                </a:solidFill>
                <a:latin typeface="Calibri"/>
                <a:ea typeface="Calibri"/>
                <a:cs typeface="Calibri"/>
                <a:sym typeface="Calibri"/>
              </a:rPr>
              <a:t>, bypassing the need for standard APIs. The R1's cool feature is its training mode, where you can teach it new tasks. It learns quickly - in just 30 seconds, it's ready to go.</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000">
                <a:solidFill>
                  <a:srgbClr val="0F0F0F"/>
                </a:solidFill>
                <a:latin typeface="Calibri"/>
                <a:ea typeface="Calibri"/>
                <a:cs typeface="Calibri"/>
                <a:sym typeface="Calibri"/>
              </a:rPr>
              <a:t>video - </a:t>
            </a:r>
            <a:r>
              <a:rPr lang="en" sz="1000" u="sng">
                <a:solidFill>
                  <a:schemeClr val="hlink"/>
                </a:solidFill>
                <a:latin typeface="Calibri"/>
                <a:ea typeface="Calibri"/>
                <a:cs typeface="Calibri"/>
                <a:sym typeface="Calibri"/>
                <a:hlinkClick r:id="rId4"/>
              </a:rPr>
              <a:t>https://www.youtube.com/watch?v=22wlLy7hKP4</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0" lvl="0" indent="0" algn="l" rtl="0">
              <a:spcBef>
                <a:spcPts val="0"/>
              </a:spcBef>
              <a:spcAft>
                <a:spcPts val="0"/>
              </a:spcAft>
              <a:buNone/>
            </a:pPr>
            <a:r>
              <a:rPr lang="en" sz="1000">
                <a:solidFill>
                  <a:srgbClr val="0F0F0F"/>
                </a:solidFill>
                <a:latin typeface="Calibri"/>
                <a:ea typeface="Calibri"/>
                <a:cs typeface="Calibri"/>
                <a:sym typeface="Calibri"/>
              </a:rPr>
              <a:t>video - </a:t>
            </a:r>
            <a:r>
              <a:rPr lang="en" sz="1000" u="sng">
                <a:solidFill>
                  <a:schemeClr val="hlink"/>
                </a:solidFill>
                <a:latin typeface="Calibri"/>
                <a:ea typeface="Calibri"/>
                <a:cs typeface="Calibri"/>
                <a:sym typeface="Calibri"/>
                <a:hlinkClick r:id="rId5"/>
              </a:rPr>
              <a:t>https://www.youtube.com/watch?v=DlnJlG1SOZo</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0" lvl="0" indent="0" algn="l" rtl="0">
              <a:spcBef>
                <a:spcPts val="0"/>
              </a:spcBef>
              <a:spcAft>
                <a:spcPts val="0"/>
              </a:spcAft>
              <a:buNone/>
            </a:pPr>
            <a:r>
              <a:rPr lang="en" sz="1000">
                <a:solidFill>
                  <a:srgbClr val="0F0F0F"/>
                </a:solidFill>
                <a:latin typeface="Calibri"/>
                <a:ea typeface="Calibri"/>
                <a:cs typeface="Calibri"/>
                <a:sym typeface="Calibri"/>
              </a:rPr>
              <a:t>web - </a:t>
            </a:r>
            <a:r>
              <a:rPr lang="en" sz="1000" u="sng">
                <a:solidFill>
                  <a:schemeClr val="hlink"/>
                </a:solidFill>
                <a:latin typeface="Calibri"/>
                <a:ea typeface="Calibri"/>
                <a:cs typeface="Calibri"/>
                <a:sym typeface="Calibri"/>
                <a:hlinkClick r:id="rId6"/>
              </a:rPr>
              <a:t>https://www.rabbit.tech</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0" lvl="0" indent="0" algn="l" rtl="0">
              <a:spcBef>
                <a:spcPts val="0"/>
              </a:spcBef>
              <a:spcAft>
                <a:spcPts val="0"/>
              </a:spcAft>
              <a:buNone/>
            </a:pPr>
            <a:r>
              <a:rPr lang="en" sz="1000">
                <a:solidFill>
                  <a:srgbClr val="0F0F0F"/>
                </a:solidFill>
                <a:latin typeface="Calibri"/>
                <a:ea typeface="Calibri"/>
                <a:cs typeface="Calibri"/>
                <a:sym typeface="Calibri"/>
              </a:rPr>
              <a:t>.. </a:t>
            </a:r>
            <a:r>
              <a:rPr lang="en" sz="1000" u="sng">
                <a:solidFill>
                  <a:schemeClr val="hlink"/>
                </a:solidFill>
                <a:latin typeface="Calibri"/>
                <a:ea typeface="Calibri"/>
                <a:cs typeface="Calibri"/>
                <a:sym typeface="Calibri"/>
                <a:hlinkClick r:id="rId7"/>
              </a:rPr>
              <a:t>https://www.rabbit.tech/updates/introducing-r1</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0" lvl="0" indent="0" algn="l" rtl="0">
              <a:spcBef>
                <a:spcPts val="0"/>
              </a:spcBef>
              <a:spcAft>
                <a:spcPts val="0"/>
              </a:spcAft>
              <a:buNone/>
            </a:pPr>
            <a:r>
              <a:rPr lang="en" sz="1000">
                <a:solidFill>
                  <a:srgbClr val="0F0F0F"/>
                </a:solidFill>
                <a:latin typeface="Calibri"/>
                <a:ea typeface="Calibri"/>
                <a:cs typeface="Calibri"/>
                <a:sym typeface="Calibri"/>
              </a:rPr>
              <a:t>.. </a:t>
            </a:r>
            <a:r>
              <a:rPr lang="en" sz="1000" u="sng">
                <a:solidFill>
                  <a:schemeClr val="hlink"/>
                </a:solidFill>
                <a:latin typeface="Calibri"/>
                <a:ea typeface="Calibri"/>
                <a:cs typeface="Calibri"/>
                <a:sym typeface="Calibri"/>
                <a:hlinkClick r:id="rId8"/>
              </a:rPr>
              <a:t>https://www.rabbit.tech/rabbit-os</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0" lvl="0" indent="0" algn="l" rtl="0">
              <a:spcBef>
                <a:spcPts val="0"/>
              </a:spcBef>
              <a:spcAft>
                <a:spcPts val="0"/>
              </a:spcAft>
              <a:buNone/>
            </a:pPr>
            <a:r>
              <a:rPr lang="en" sz="1000">
                <a:solidFill>
                  <a:srgbClr val="0F0F0F"/>
                </a:solidFill>
                <a:latin typeface="Calibri"/>
                <a:ea typeface="Calibri"/>
                <a:cs typeface="Calibri"/>
                <a:sym typeface="Calibri"/>
              </a:rPr>
              <a:t>.. </a:t>
            </a:r>
            <a:r>
              <a:rPr lang="en" sz="1000" u="sng">
                <a:solidFill>
                  <a:schemeClr val="hlink"/>
                </a:solidFill>
                <a:latin typeface="Calibri"/>
                <a:ea typeface="Calibri"/>
                <a:cs typeface="Calibri"/>
                <a:sym typeface="Calibri"/>
                <a:hlinkClick r:id="rId9"/>
              </a:rPr>
              <a:t>https://twitter.com/rabbit_hmi</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p:txBody>
      </p:sp>
      <p:pic>
        <p:nvPicPr>
          <p:cNvPr id="192" name="Google Shape;192;p26"/>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5302100" y="76200"/>
            <a:ext cx="3095099" cy="1896975"/>
          </a:xfrm>
          <a:prstGeom prst="rect">
            <a:avLst/>
          </a:prstGeom>
          <a:noFill/>
          <a:ln>
            <a:noFill/>
          </a:ln>
        </p:spPr>
      </p:pic>
      <p:sp>
        <p:nvSpPr>
          <p:cNvPr id="193" name="Google Shape;193;p26"/>
          <p:cNvSpPr txBox="1"/>
          <p:nvPr/>
        </p:nvSpPr>
        <p:spPr>
          <a:xfrm>
            <a:off x="4680325" y="3929550"/>
            <a:ext cx="2002200" cy="723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ctr" rtl="0">
              <a:spcBef>
                <a:spcPts val="0"/>
              </a:spcBef>
              <a:spcAft>
                <a:spcPts val="0"/>
              </a:spcAft>
              <a:buNone/>
            </a:pPr>
            <a:r>
              <a:rPr lang="en" sz="1300">
                <a:solidFill>
                  <a:srgbClr val="0F0F0F"/>
                </a:solidFill>
                <a:latin typeface="Calibri"/>
                <a:ea typeface="Calibri"/>
                <a:cs typeface="Calibri"/>
                <a:sym typeface="Calibri"/>
              </a:rPr>
              <a:t>Jesse Lyu</a:t>
            </a:r>
            <a:endParaRPr sz="1300">
              <a:solidFill>
                <a:srgbClr val="0F0F0F"/>
              </a:solidFill>
              <a:latin typeface="Calibri"/>
              <a:ea typeface="Calibri"/>
              <a:cs typeface="Calibri"/>
              <a:sym typeface="Calibri"/>
            </a:endParaRPr>
          </a:p>
          <a:p>
            <a:pPr marL="0" lvl="0" indent="0" algn="ctr" rtl="0">
              <a:spcBef>
                <a:spcPts val="0"/>
              </a:spcBef>
              <a:spcAft>
                <a:spcPts val="0"/>
              </a:spcAft>
              <a:buNone/>
            </a:pPr>
            <a:r>
              <a:rPr lang="en" sz="1300">
                <a:solidFill>
                  <a:srgbClr val="0F0F0F"/>
                </a:solidFill>
                <a:latin typeface="Calibri"/>
                <a:ea typeface="Calibri"/>
                <a:cs typeface="Calibri"/>
                <a:sym typeface="Calibri"/>
              </a:rPr>
              <a:t>CEO &amp; Founder </a:t>
            </a:r>
            <a:endParaRPr sz="1300">
              <a:solidFill>
                <a:srgbClr val="0F0F0F"/>
              </a:solidFill>
              <a:latin typeface="Calibri"/>
              <a:ea typeface="Calibri"/>
              <a:cs typeface="Calibri"/>
              <a:sym typeface="Calibri"/>
            </a:endParaRPr>
          </a:p>
          <a:p>
            <a:pPr marL="0" lvl="0" indent="0" algn="ctr" rtl="0">
              <a:spcBef>
                <a:spcPts val="0"/>
              </a:spcBef>
              <a:spcAft>
                <a:spcPts val="0"/>
              </a:spcAft>
              <a:buNone/>
            </a:pPr>
            <a:r>
              <a:rPr lang="en" sz="900" u="sng">
                <a:solidFill>
                  <a:schemeClr val="hlink"/>
                </a:solidFill>
                <a:latin typeface="Calibri"/>
                <a:ea typeface="Calibri"/>
                <a:cs typeface="Calibri"/>
                <a:sym typeface="Calibri"/>
                <a:hlinkClick r:id="rId11"/>
              </a:rPr>
              <a:t>https://www.linkedin.com/in/jesselyu/</a:t>
            </a:r>
            <a:endParaRPr sz="900">
              <a:solidFill>
                <a:srgbClr val="0F0F0F"/>
              </a:solidFill>
              <a:latin typeface="Calibri"/>
              <a:ea typeface="Calibri"/>
              <a:cs typeface="Calibri"/>
              <a:sym typeface="Calibri"/>
            </a:endParaRPr>
          </a:p>
        </p:txBody>
      </p:sp>
      <p:pic>
        <p:nvPicPr>
          <p:cNvPr id="194" name="Google Shape;194;p26"/>
          <p:cNvPicPr preferRelativeResize="0"/>
          <p:nvPr/>
        </p:nvPicPr>
        <p:blipFill>
          <a:blip r:embed="rId12" cstate="email">
            <a:alphaModFix/>
            <a:extLst>
              <a:ext uri="{28A0092B-C50C-407E-A947-70E740481C1C}">
                <a14:useLocalDpi xmlns:a14="http://schemas.microsoft.com/office/drawing/2010/main"/>
              </a:ext>
            </a:extLst>
          </a:blip>
          <a:stretch>
            <a:fillRect/>
          </a:stretch>
        </p:blipFill>
        <p:spPr>
          <a:xfrm>
            <a:off x="5141687" y="2289803"/>
            <a:ext cx="1079475" cy="1466072"/>
          </a:xfrm>
          <a:prstGeom prst="rect">
            <a:avLst/>
          </a:prstGeom>
          <a:noFill/>
          <a:ln>
            <a:noFill/>
          </a:ln>
        </p:spPr>
      </p:pic>
      <p:pic>
        <p:nvPicPr>
          <p:cNvPr id="195" name="Google Shape;195;p26"/>
          <p:cNvPicPr preferRelativeResize="0"/>
          <p:nvPr/>
        </p:nvPicPr>
        <p:blipFill>
          <a:blip r:embed="rId13">
            <a:alphaModFix/>
          </a:blip>
          <a:stretch>
            <a:fillRect/>
          </a:stretch>
        </p:blipFill>
        <p:spPr>
          <a:xfrm>
            <a:off x="7094826" y="2151475"/>
            <a:ext cx="1604400" cy="1604400"/>
          </a:xfrm>
          <a:prstGeom prst="rect">
            <a:avLst/>
          </a:prstGeom>
          <a:noFill/>
          <a:ln>
            <a:noFill/>
          </a:ln>
        </p:spPr>
      </p:pic>
      <p:sp>
        <p:nvSpPr>
          <p:cNvPr id="196" name="Google Shape;196;p26"/>
          <p:cNvSpPr txBox="1"/>
          <p:nvPr/>
        </p:nvSpPr>
        <p:spPr>
          <a:xfrm>
            <a:off x="6768425" y="3929550"/>
            <a:ext cx="2257200" cy="1123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ctr" rtl="0">
              <a:spcBef>
                <a:spcPts val="0"/>
              </a:spcBef>
              <a:spcAft>
                <a:spcPts val="0"/>
              </a:spcAft>
              <a:buNone/>
            </a:pPr>
            <a:r>
              <a:rPr lang="en" sz="1300">
                <a:solidFill>
                  <a:srgbClr val="0F0F0F"/>
                </a:solidFill>
                <a:latin typeface="Calibri"/>
                <a:ea typeface="Calibri"/>
                <a:cs typeface="Calibri"/>
                <a:sym typeface="Calibri"/>
              </a:rPr>
              <a:t>Peiyuan Liao</a:t>
            </a:r>
            <a:endParaRPr sz="1300">
              <a:solidFill>
                <a:srgbClr val="0F0F0F"/>
              </a:solidFill>
              <a:latin typeface="Calibri"/>
              <a:ea typeface="Calibri"/>
              <a:cs typeface="Calibri"/>
              <a:sym typeface="Calibri"/>
            </a:endParaRPr>
          </a:p>
          <a:p>
            <a:pPr marL="0" lvl="0" indent="0" algn="ctr" rtl="0">
              <a:spcBef>
                <a:spcPts val="0"/>
              </a:spcBef>
              <a:spcAft>
                <a:spcPts val="0"/>
              </a:spcAft>
              <a:buNone/>
            </a:pPr>
            <a:r>
              <a:rPr lang="en" sz="1300">
                <a:solidFill>
                  <a:srgbClr val="0F0F0F"/>
                </a:solidFill>
                <a:latin typeface="Calibri"/>
                <a:ea typeface="Calibri"/>
                <a:cs typeface="Calibri"/>
                <a:sym typeface="Calibri"/>
              </a:rPr>
              <a:t>CTO &amp; Co-Founder</a:t>
            </a:r>
            <a:endParaRPr sz="1300">
              <a:solidFill>
                <a:srgbClr val="0F0F0F"/>
              </a:solidFill>
              <a:latin typeface="Calibri"/>
              <a:ea typeface="Calibri"/>
              <a:cs typeface="Calibri"/>
              <a:sym typeface="Calibri"/>
            </a:endParaRPr>
          </a:p>
          <a:p>
            <a:pPr marL="0" lvl="0" indent="0" algn="ctr" rtl="0">
              <a:spcBef>
                <a:spcPts val="0"/>
              </a:spcBef>
              <a:spcAft>
                <a:spcPts val="0"/>
              </a:spcAft>
              <a:buNone/>
            </a:pPr>
            <a:r>
              <a:rPr lang="en" sz="1300">
                <a:solidFill>
                  <a:srgbClr val="0F0F0F"/>
                </a:solidFill>
                <a:latin typeface="Calibri"/>
                <a:ea typeface="Calibri"/>
                <a:cs typeface="Calibri"/>
                <a:sym typeface="Calibri"/>
              </a:rPr>
              <a:t>Kaggle Grandmaster</a:t>
            </a:r>
            <a:endParaRPr sz="1300">
              <a:solidFill>
                <a:srgbClr val="0F0F0F"/>
              </a:solidFill>
              <a:latin typeface="Calibri"/>
              <a:ea typeface="Calibri"/>
              <a:cs typeface="Calibri"/>
              <a:sym typeface="Calibri"/>
            </a:endParaRPr>
          </a:p>
          <a:p>
            <a:pPr marL="0" lvl="0" indent="0" algn="ctr" rtl="0">
              <a:spcBef>
                <a:spcPts val="0"/>
              </a:spcBef>
              <a:spcAft>
                <a:spcPts val="0"/>
              </a:spcAft>
              <a:buNone/>
            </a:pPr>
            <a:r>
              <a:rPr lang="en" sz="1300">
                <a:solidFill>
                  <a:srgbClr val="0F0F0F"/>
                </a:solidFill>
                <a:latin typeface="Calibri"/>
                <a:ea typeface="Calibri"/>
                <a:cs typeface="Calibri"/>
                <a:sym typeface="Calibri"/>
              </a:rPr>
              <a:t>researcher at Carnegie Mellon</a:t>
            </a:r>
            <a:endParaRPr sz="1300">
              <a:solidFill>
                <a:srgbClr val="0F0F0F"/>
              </a:solidFill>
              <a:latin typeface="Calibri"/>
              <a:ea typeface="Calibri"/>
              <a:cs typeface="Calibri"/>
              <a:sym typeface="Calibri"/>
            </a:endParaRPr>
          </a:p>
          <a:p>
            <a:pPr marL="0" lvl="0" indent="0" algn="ctr" rtl="0">
              <a:spcBef>
                <a:spcPts val="0"/>
              </a:spcBef>
              <a:spcAft>
                <a:spcPts val="0"/>
              </a:spcAft>
              <a:buNone/>
            </a:pPr>
            <a:r>
              <a:rPr lang="en" sz="900" u="sng">
                <a:solidFill>
                  <a:schemeClr val="hlink"/>
                </a:solidFill>
                <a:latin typeface="Calibri"/>
                <a:ea typeface="Calibri"/>
                <a:cs typeface="Calibri"/>
                <a:sym typeface="Calibri"/>
                <a:hlinkClick r:id="rId14"/>
              </a:rPr>
              <a:t>https://www.linkedin.com/in/peiyuan-liao/</a:t>
            </a:r>
            <a:r>
              <a:rPr lang="en" sz="900">
                <a:solidFill>
                  <a:srgbClr val="0F0F0F"/>
                </a:solidFill>
                <a:latin typeface="Calibri"/>
                <a:ea typeface="Calibri"/>
                <a:cs typeface="Calibri"/>
                <a:sym typeface="Calibri"/>
              </a:rPr>
              <a:t> </a:t>
            </a:r>
            <a:endParaRPr sz="900">
              <a:solidFill>
                <a:srgbClr val="0F0F0F"/>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00"/>
        <p:cNvGrpSpPr/>
        <p:nvPr/>
      </p:nvGrpSpPr>
      <p:grpSpPr>
        <a:xfrm>
          <a:off x="0" y="0"/>
          <a:ext cx="0" cy="0"/>
          <a:chOff x="0" y="0"/>
          <a:chExt cx="0" cy="0"/>
        </a:xfrm>
      </p:grpSpPr>
      <p:sp>
        <p:nvSpPr>
          <p:cNvPr id="201" name="Google Shape;201;p27"/>
          <p:cNvSpPr txBox="1"/>
          <p:nvPr/>
        </p:nvSpPr>
        <p:spPr>
          <a:xfrm>
            <a:off x="72300" y="76200"/>
            <a:ext cx="46026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AI dominates Consumer Electronics Show</a:t>
            </a:r>
            <a:endParaRPr sz="2000" b="1">
              <a:latin typeface="Calibri"/>
              <a:ea typeface="Calibri"/>
              <a:cs typeface="Calibri"/>
              <a:sym typeface="Calibri"/>
            </a:endParaRPr>
          </a:p>
        </p:txBody>
      </p:sp>
      <p:sp>
        <p:nvSpPr>
          <p:cNvPr id="202" name="Google Shape;202;p27"/>
          <p:cNvSpPr txBox="1"/>
          <p:nvPr/>
        </p:nvSpPr>
        <p:spPr>
          <a:xfrm>
            <a:off x="72300" y="506850"/>
            <a:ext cx="4321500" cy="278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AI dominates CES 2024</a:t>
            </a:r>
            <a:endParaRPr sz="1300" b="1">
              <a:solidFill>
                <a:srgbClr val="FF0000"/>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(Consumer Electronics Show) in Las Vegas, Jan 9-12.</a:t>
            </a:r>
            <a:br>
              <a:rPr lang="en" sz="1300">
                <a:solidFill>
                  <a:schemeClr val="dk1"/>
                </a:solidFill>
                <a:latin typeface="Calibri"/>
                <a:ea typeface="Calibri"/>
                <a:cs typeface="Calibri"/>
                <a:sym typeface="Calibri"/>
              </a:rPr>
            </a:br>
            <a:r>
              <a:rPr lang="en" sz="1300" u="sng">
                <a:solidFill>
                  <a:schemeClr val="hlink"/>
                </a:solidFill>
                <a:latin typeface="Calibri"/>
                <a:ea typeface="Calibri"/>
                <a:cs typeface="Calibri"/>
                <a:sym typeface="Calibri"/>
                <a:hlinkClick r:id="rId3"/>
              </a:rPr>
              <a:t>https://www.ces.tech</a:t>
            </a:r>
            <a:r>
              <a:rPr lang="en" sz="1300">
                <a:solidFill>
                  <a:schemeClr val="dk1"/>
                </a:solidFill>
                <a:latin typeface="Calibri"/>
                <a:ea typeface="Calibri"/>
                <a:cs typeface="Calibri"/>
                <a:sym typeface="Calibri"/>
              </a:rPr>
              <a:t> </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more than </a:t>
            </a:r>
            <a:r>
              <a:rPr lang="en" sz="1300" b="1">
                <a:solidFill>
                  <a:srgbClr val="FF0000"/>
                </a:solidFill>
                <a:latin typeface="Calibri"/>
                <a:ea typeface="Calibri"/>
                <a:cs typeface="Calibri"/>
                <a:sym typeface="Calibri"/>
              </a:rPr>
              <a:t>130,000 attendees</a:t>
            </a:r>
            <a:endParaRPr sz="1300" b="1">
              <a:solidFill>
                <a:srgbClr val="FF0000"/>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over 4,000 exhibitors from more than 150 countries</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over 1,200 startups</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12 official venues, 2+ Mln square feet of exhibit space </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Robots, Gadgets, Home, Automotive, ...</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4"/>
              </a:rPr>
              <a:t>https://www.youtube.com/watch?v=44mh6JiHQ8I</a:t>
            </a:r>
            <a:r>
              <a:rPr lang="en" sz="1300">
                <a:solidFill>
                  <a:schemeClr val="dk1"/>
                </a:solidFill>
                <a:latin typeface="Calibri"/>
                <a:ea typeface="Calibri"/>
                <a:cs typeface="Calibri"/>
                <a:sym typeface="Calibri"/>
              </a:rPr>
              <a:t> </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5"/>
              </a:rPr>
              <a:t>https://www.youtube.com/watch?v=qu6i2lgc-uY</a:t>
            </a:r>
            <a:r>
              <a:rPr lang="en" sz="1300">
                <a:solidFill>
                  <a:schemeClr val="dk1"/>
                </a:solidFill>
                <a:latin typeface="Calibri"/>
                <a:ea typeface="Calibri"/>
                <a:cs typeface="Calibri"/>
                <a:sym typeface="Calibri"/>
              </a:rPr>
              <a:t> - video review by </a:t>
            </a:r>
            <a:r>
              <a:rPr lang="en" sz="1300" b="1">
                <a:solidFill>
                  <a:srgbClr val="FF0000"/>
                </a:solidFill>
                <a:latin typeface="Calibri"/>
                <a:ea typeface="Calibri"/>
                <a:cs typeface="Calibri"/>
                <a:sym typeface="Calibri"/>
              </a:rPr>
              <a:t>Patrick Shyu, a.k.a. TechLead</a:t>
            </a:r>
            <a:r>
              <a:rPr lang="en" sz="1300">
                <a:solidFill>
                  <a:schemeClr val="dk1"/>
                </a:solidFill>
                <a:latin typeface="Calibri"/>
                <a:ea typeface="Calibri"/>
                <a:cs typeface="Calibri"/>
                <a:sym typeface="Calibri"/>
              </a:rPr>
              <a:t>. Lots of talk, not so much implementation yet. Partnerships (for example, auto + electronics, ...), drone delivery, kitchen AI, wearables, ...</a:t>
            </a:r>
            <a:endParaRPr sz="1300">
              <a:solidFill>
                <a:schemeClr val="dk1"/>
              </a:solidFill>
              <a:latin typeface="Calibri"/>
              <a:ea typeface="Calibri"/>
              <a:cs typeface="Calibri"/>
              <a:sym typeface="Calibri"/>
            </a:endParaRPr>
          </a:p>
        </p:txBody>
      </p:sp>
      <p:pic>
        <p:nvPicPr>
          <p:cNvPr id="203" name="Google Shape;203;p27"/>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597675" y="2734615"/>
            <a:ext cx="4451976" cy="2329850"/>
          </a:xfrm>
          <a:prstGeom prst="rect">
            <a:avLst/>
          </a:prstGeom>
          <a:noFill/>
          <a:ln>
            <a:noFill/>
          </a:ln>
        </p:spPr>
      </p:pic>
      <p:pic>
        <p:nvPicPr>
          <p:cNvPr id="204" name="Google Shape;204;p27"/>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546200" y="76200"/>
            <a:ext cx="4451961" cy="2329850"/>
          </a:xfrm>
          <a:prstGeom prst="rect">
            <a:avLst/>
          </a:prstGeom>
          <a:noFill/>
          <a:ln>
            <a:noFill/>
          </a:ln>
        </p:spPr>
      </p:pic>
      <p:pic>
        <p:nvPicPr>
          <p:cNvPr id="205" name="Google Shape;205;p27"/>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72300" y="3397199"/>
            <a:ext cx="3012585" cy="166727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pic>
        <p:nvPicPr>
          <p:cNvPr id="210" name="Google Shape;210;p28"/>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339388" y="1480950"/>
            <a:ext cx="8465224" cy="3426601"/>
          </a:xfrm>
          <a:prstGeom prst="rect">
            <a:avLst/>
          </a:prstGeom>
          <a:noFill/>
          <a:ln w="9525" cap="flat" cmpd="sng">
            <a:solidFill>
              <a:srgbClr val="FF0000"/>
            </a:solidFill>
            <a:prstDash val="solid"/>
            <a:round/>
            <a:headEnd type="none" w="sm" len="sm"/>
            <a:tailEnd type="none" w="sm" len="sm"/>
          </a:ln>
        </p:spPr>
      </p:pic>
      <p:sp>
        <p:nvSpPr>
          <p:cNvPr id="211" name="Google Shape;211;p28"/>
          <p:cNvSpPr txBox="1"/>
          <p:nvPr/>
        </p:nvSpPr>
        <p:spPr>
          <a:xfrm>
            <a:off x="1" y="0"/>
            <a:ext cx="3699000" cy="492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Hugging Face LLM Leaderboard</a:t>
            </a:r>
            <a:endParaRPr sz="2000" b="1">
              <a:latin typeface="Calibri"/>
              <a:ea typeface="Calibri"/>
              <a:cs typeface="Calibri"/>
              <a:sym typeface="Calibri"/>
            </a:endParaRPr>
          </a:p>
        </p:txBody>
      </p:sp>
      <p:sp>
        <p:nvSpPr>
          <p:cNvPr id="212" name="Google Shape;212;p28"/>
          <p:cNvSpPr txBox="1"/>
          <p:nvPr/>
        </p:nvSpPr>
        <p:spPr>
          <a:xfrm>
            <a:off x="5001427" y="56525"/>
            <a:ext cx="4089600" cy="95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4"/>
              </a:rPr>
              <a:t>https://huggingface.co/spaces/HuggingFaceH4/open_llm_leaderboard</a:t>
            </a:r>
            <a:endParaRPr sz="1000">
              <a:solidFill>
                <a:schemeClr val="dk1"/>
              </a:solidFill>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5"/>
              </a:rPr>
              <a:t>https://huggingface.co/datasets/open-llm-leaderboard/results</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228600" lvl="0" indent="-177800" algn="l" rtl="0">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6"/>
              </a:rPr>
              <a:t>https://huggingface.co/spaces/felixz/open_llm_leaderboard</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7"/>
              </a:rPr>
              <a:t>https://huggingface.co/spaces/felixz/meta_open_llm_leaderboard</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8"/>
              </a:rPr>
              <a:t>https://github.com/lselector/ai/blob/master/llm_leaderboard.py</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sp>
        <p:nvSpPr>
          <p:cNvPr id="213" name="Google Shape;213;p28"/>
          <p:cNvSpPr txBox="1"/>
          <p:nvPr/>
        </p:nvSpPr>
        <p:spPr>
          <a:xfrm>
            <a:off x="141350" y="1081625"/>
            <a:ext cx="1726800" cy="218400"/>
          </a:xfrm>
          <a:prstGeom prst="rect">
            <a:avLst/>
          </a:prstGeom>
          <a:noFill/>
          <a:ln>
            <a:noFill/>
          </a:ln>
        </p:spPr>
        <p:txBody>
          <a:bodyPr spcFirstLastPara="1" wrap="square" lIns="9125" tIns="9125" rIns="9125" bIns="9125" anchor="t" anchorCtr="0">
            <a:spAutoFit/>
          </a:bodyPr>
          <a:lstStyle/>
          <a:p>
            <a:pPr marL="0" lvl="0" indent="0" algn="ctr"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January 12, 2024</a:t>
            </a:r>
            <a:endParaRPr sz="1300">
              <a:solidFill>
                <a:schemeClr val="dk1"/>
              </a:solidFill>
              <a:latin typeface="Calibri"/>
              <a:ea typeface="Calibri"/>
              <a:cs typeface="Calibri"/>
              <a:sym typeface="Calibri"/>
            </a:endParaRPr>
          </a:p>
        </p:txBody>
      </p:sp>
      <p:sp>
        <p:nvSpPr>
          <p:cNvPr id="214" name="Google Shape;214;p28"/>
          <p:cNvSpPr txBox="1"/>
          <p:nvPr/>
        </p:nvSpPr>
        <p:spPr>
          <a:xfrm>
            <a:off x="3938127" y="1852299"/>
            <a:ext cx="525600" cy="21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a:solidFill>
                  <a:schemeClr val="dk1"/>
                </a:solidFill>
                <a:latin typeface="Calibri"/>
                <a:ea typeface="Calibri"/>
                <a:cs typeface="Calibri"/>
                <a:sym typeface="Calibri"/>
              </a:rPr>
              <a:t>01.ai</a:t>
            </a:r>
            <a:endParaRPr sz="1300">
              <a:solidFill>
                <a:schemeClr val="dk1"/>
              </a:solidFill>
              <a:latin typeface="Calibri"/>
              <a:ea typeface="Calibri"/>
              <a:cs typeface="Calibri"/>
              <a:sym typeface="Calibri"/>
            </a:endParaRPr>
          </a:p>
        </p:txBody>
      </p:sp>
      <p:sp>
        <p:nvSpPr>
          <p:cNvPr id="215" name="Google Shape;215;p28"/>
          <p:cNvSpPr txBox="1"/>
          <p:nvPr/>
        </p:nvSpPr>
        <p:spPr>
          <a:xfrm>
            <a:off x="3938127" y="2109536"/>
            <a:ext cx="525600" cy="21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a:solidFill>
                  <a:schemeClr val="dk1"/>
                </a:solidFill>
                <a:latin typeface="Calibri"/>
                <a:ea typeface="Calibri"/>
                <a:cs typeface="Calibri"/>
                <a:sym typeface="Calibri"/>
              </a:rPr>
              <a:t>Mixtral</a:t>
            </a:r>
            <a:endParaRPr sz="1300">
              <a:solidFill>
                <a:schemeClr val="dk1"/>
              </a:solidFill>
              <a:latin typeface="Calibri"/>
              <a:ea typeface="Calibri"/>
              <a:cs typeface="Calibri"/>
              <a:sym typeface="Calibri"/>
            </a:endParaRPr>
          </a:p>
        </p:txBody>
      </p:sp>
      <p:sp>
        <p:nvSpPr>
          <p:cNvPr id="216" name="Google Shape;216;p28"/>
          <p:cNvSpPr txBox="1"/>
          <p:nvPr/>
        </p:nvSpPr>
        <p:spPr>
          <a:xfrm>
            <a:off x="3938127" y="3652954"/>
            <a:ext cx="525600" cy="21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a:solidFill>
                  <a:schemeClr val="dk1"/>
                </a:solidFill>
                <a:latin typeface="Calibri"/>
                <a:ea typeface="Calibri"/>
                <a:cs typeface="Calibri"/>
                <a:sym typeface="Calibri"/>
              </a:rPr>
              <a:t>Llama</a:t>
            </a:r>
            <a:endParaRPr sz="1300">
              <a:solidFill>
                <a:schemeClr val="dk1"/>
              </a:solidFill>
              <a:latin typeface="Calibri"/>
              <a:ea typeface="Calibri"/>
              <a:cs typeface="Calibri"/>
              <a:sym typeface="Calibri"/>
            </a:endParaRPr>
          </a:p>
        </p:txBody>
      </p:sp>
      <p:sp>
        <p:nvSpPr>
          <p:cNvPr id="217" name="Google Shape;217;p28"/>
          <p:cNvSpPr txBox="1"/>
          <p:nvPr/>
        </p:nvSpPr>
        <p:spPr>
          <a:xfrm>
            <a:off x="3938127" y="2366772"/>
            <a:ext cx="525600" cy="21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a:solidFill>
                  <a:schemeClr val="dk1"/>
                </a:solidFill>
                <a:latin typeface="Calibri"/>
                <a:ea typeface="Calibri"/>
                <a:cs typeface="Calibri"/>
                <a:sym typeface="Calibri"/>
              </a:rPr>
              <a:t>Mixtral</a:t>
            </a:r>
            <a:endParaRPr sz="1300">
              <a:solidFill>
                <a:schemeClr val="dk1"/>
              </a:solidFill>
              <a:latin typeface="Calibri"/>
              <a:ea typeface="Calibri"/>
              <a:cs typeface="Calibri"/>
              <a:sym typeface="Calibri"/>
            </a:endParaRPr>
          </a:p>
        </p:txBody>
      </p:sp>
      <p:sp>
        <p:nvSpPr>
          <p:cNvPr id="218" name="Google Shape;218;p28"/>
          <p:cNvSpPr txBox="1"/>
          <p:nvPr/>
        </p:nvSpPr>
        <p:spPr>
          <a:xfrm>
            <a:off x="3938127" y="2624008"/>
            <a:ext cx="525600" cy="21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a:solidFill>
                  <a:schemeClr val="dk1"/>
                </a:solidFill>
                <a:latin typeface="Calibri"/>
                <a:ea typeface="Calibri"/>
                <a:cs typeface="Calibri"/>
                <a:sym typeface="Calibri"/>
              </a:rPr>
              <a:t>01.ai</a:t>
            </a:r>
            <a:endParaRPr sz="1300">
              <a:solidFill>
                <a:schemeClr val="dk1"/>
              </a:solidFill>
              <a:latin typeface="Calibri"/>
              <a:ea typeface="Calibri"/>
              <a:cs typeface="Calibri"/>
              <a:sym typeface="Calibri"/>
            </a:endParaRPr>
          </a:p>
        </p:txBody>
      </p:sp>
      <p:sp>
        <p:nvSpPr>
          <p:cNvPr id="219" name="Google Shape;219;p28"/>
          <p:cNvSpPr txBox="1"/>
          <p:nvPr/>
        </p:nvSpPr>
        <p:spPr>
          <a:xfrm>
            <a:off x="3938127" y="2881245"/>
            <a:ext cx="525600" cy="21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a:solidFill>
                  <a:schemeClr val="dk1"/>
                </a:solidFill>
                <a:latin typeface="Calibri"/>
                <a:ea typeface="Calibri"/>
                <a:cs typeface="Calibri"/>
                <a:sym typeface="Calibri"/>
              </a:rPr>
              <a:t>01.ai</a:t>
            </a:r>
            <a:endParaRPr sz="1300">
              <a:solidFill>
                <a:schemeClr val="dk1"/>
              </a:solidFill>
              <a:latin typeface="Calibri"/>
              <a:ea typeface="Calibri"/>
              <a:cs typeface="Calibri"/>
              <a:sym typeface="Calibri"/>
            </a:endParaRPr>
          </a:p>
        </p:txBody>
      </p:sp>
      <p:sp>
        <p:nvSpPr>
          <p:cNvPr id="220" name="Google Shape;220;p28"/>
          <p:cNvSpPr txBox="1"/>
          <p:nvPr/>
        </p:nvSpPr>
        <p:spPr>
          <a:xfrm>
            <a:off x="3938127" y="3138481"/>
            <a:ext cx="525600" cy="21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a:solidFill>
                  <a:schemeClr val="dk1"/>
                </a:solidFill>
                <a:latin typeface="Calibri"/>
                <a:ea typeface="Calibri"/>
                <a:cs typeface="Calibri"/>
                <a:sym typeface="Calibri"/>
              </a:rPr>
              <a:t>Alibaba</a:t>
            </a:r>
            <a:endParaRPr sz="1300">
              <a:solidFill>
                <a:schemeClr val="dk1"/>
              </a:solidFill>
              <a:latin typeface="Calibri"/>
              <a:ea typeface="Calibri"/>
              <a:cs typeface="Calibri"/>
              <a:sym typeface="Calibri"/>
            </a:endParaRPr>
          </a:p>
        </p:txBody>
      </p:sp>
      <p:sp>
        <p:nvSpPr>
          <p:cNvPr id="221" name="Google Shape;221;p28"/>
          <p:cNvSpPr txBox="1"/>
          <p:nvPr/>
        </p:nvSpPr>
        <p:spPr>
          <a:xfrm>
            <a:off x="3938127" y="3395718"/>
            <a:ext cx="525600" cy="21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a:solidFill>
                  <a:schemeClr val="dk1"/>
                </a:solidFill>
                <a:latin typeface="Calibri"/>
                <a:ea typeface="Calibri"/>
                <a:cs typeface="Calibri"/>
                <a:sym typeface="Calibri"/>
              </a:rPr>
              <a:t>01.ai</a:t>
            </a:r>
            <a:endParaRPr sz="1300">
              <a:solidFill>
                <a:schemeClr val="dk1"/>
              </a:solidFill>
              <a:latin typeface="Calibri"/>
              <a:ea typeface="Calibri"/>
              <a:cs typeface="Calibri"/>
              <a:sym typeface="Calibri"/>
            </a:endParaRPr>
          </a:p>
        </p:txBody>
      </p:sp>
      <p:sp>
        <p:nvSpPr>
          <p:cNvPr id="222" name="Google Shape;222;p28"/>
          <p:cNvSpPr txBox="1"/>
          <p:nvPr/>
        </p:nvSpPr>
        <p:spPr>
          <a:xfrm>
            <a:off x="3938127" y="3910190"/>
            <a:ext cx="525600" cy="21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a:solidFill>
                  <a:schemeClr val="dk1"/>
                </a:solidFill>
                <a:latin typeface="Calibri"/>
                <a:ea typeface="Calibri"/>
                <a:cs typeface="Calibri"/>
                <a:sym typeface="Calibri"/>
              </a:rPr>
              <a:t>Llama</a:t>
            </a:r>
            <a:endParaRPr sz="1300">
              <a:solidFill>
                <a:schemeClr val="dk1"/>
              </a:solidFill>
              <a:latin typeface="Calibri"/>
              <a:ea typeface="Calibri"/>
              <a:cs typeface="Calibri"/>
              <a:sym typeface="Calibri"/>
            </a:endParaRPr>
          </a:p>
        </p:txBody>
      </p:sp>
      <p:sp>
        <p:nvSpPr>
          <p:cNvPr id="223" name="Google Shape;223;p28"/>
          <p:cNvSpPr txBox="1"/>
          <p:nvPr/>
        </p:nvSpPr>
        <p:spPr>
          <a:xfrm>
            <a:off x="3938127" y="4167427"/>
            <a:ext cx="525600" cy="21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a:solidFill>
                  <a:schemeClr val="dk1"/>
                </a:solidFill>
                <a:latin typeface="Calibri"/>
                <a:ea typeface="Calibri"/>
                <a:cs typeface="Calibri"/>
                <a:sym typeface="Calibri"/>
              </a:rPr>
              <a:t>Llama</a:t>
            </a:r>
            <a:endParaRPr sz="1300">
              <a:solidFill>
                <a:schemeClr val="dk1"/>
              </a:solidFill>
              <a:latin typeface="Calibri"/>
              <a:ea typeface="Calibri"/>
              <a:cs typeface="Calibri"/>
              <a:sym typeface="Calibri"/>
            </a:endParaRPr>
          </a:p>
        </p:txBody>
      </p:sp>
      <p:sp>
        <p:nvSpPr>
          <p:cNvPr id="224" name="Google Shape;224;p28"/>
          <p:cNvSpPr txBox="1"/>
          <p:nvPr/>
        </p:nvSpPr>
        <p:spPr>
          <a:xfrm>
            <a:off x="3938127" y="4424663"/>
            <a:ext cx="525600" cy="21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a:solidFill>
                  <a:schemeClr val="dk1"/>
                </a:solidFill>
                <a:latin typeface="Calibri"/>
                <a:ea typeface="Calibri"/>
                <a:cs typeface="Calibri"/>
                <a:sym typeface="Calibri"/>
              </a:rPr>
              <a:t>Llama</a:t>
            </a:r>
            <a:endParaRPr sz="1300">
              <a:solidFill>
                <a:schemeClr val="dk1"/>
              </a:solidFill>
              <a:latin typeface="Calibri"/>
              <a:ea typeface="Calibri"/>
              <a:cs typeface="Calibri"/>
              <a:sym typeface="Calibri"/>
            </a:endParaRPr>
          </a:p>
        </p:txBody>
      </p:sp>
      <p:sp>
        <p:nvSpPr>
          <p:cNvPr id="225" name="Google Shape;225;p28"/>
          <p:cNvSpPr txBox="1"/>
          <p:nvPr/>
        </p:nvSpPr>
        <p:spPr>
          <a:xfrm>
            <a:off x="3938127" y="4681899"/>
            <a:ext cx="525600" cy="21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a:solidFill>
                  <a:schemeClr val="dk1"/>
                </a:solidFill>
                <a:latin typeface="Calibri"/>
                <a:ea typeface="Calibri"/>
                <a:cs typeface="Calibri"/>
                <a:sym typeface="Calibri"/>
              </a:rPr>
              <a:t>Llama</a:t>
            </a:r>
            <a:endParaRPr sz="13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0" name="Google Shape;230;p29"/>
          <p:cNvSpPr txBox="1"/>
          <p:nvPr/>
        </p:nvSpPr>
        <p:spPr>
          <a:xfrm>
            <a:off x="-38048" y="-108050"/>
            <a:ext cx="4151700" cy="492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Crowd-sourced "Arena" leaderboard</a:t>
            </a:r>
            <a:endParaRPr sz="2000" b="1">
              <a:latin typeface="Calibri"/>
              <a:ea typeface="Calibri"/>
              <a:cs typeface="Calibri"/>
              <a:sym typeface="Calibri"/>
            </a:endParaRPr>
          </a:p>
        </p:txBody>
      </p:sp>
      <p:sp>
        <p:nvSpPr>
          <p:cNvPr id="231" name="Google Shape;231;p29"/>
          <p:cNvSpPr txBox="1"/>
          <p:nvPr/>
        </p:nvSpPr>
        <p:spPr>
          <a:xfrm>
            <a:off x="4259285" y="0"/>
            <a:ext cx="40158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n" sz="1000"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https://huggingface.co/spaces/lmsys/chatbot-arena-leaderboard</a:t>
            </a:r>
            <a:r>
              <a:rPr lang="en" sz="1000">
                <a:solidFill>
                  <a:schemeClr val="dk1"/>
                </a:solidFill>
                <a:latin typeface="Calibri"/>
                <a:ea typeface="Calibri"/>
                <a:cs typeface="Calibri"/>
                <a:sym typeface="Calibri"/>
              </a:rPr>
              <a:t> </a:t>
            </a:r>
            <a:endParaRPr sz="1300">
              <a:solidFill>
                <a:schemeClr val="dk1"/>
              </a:solidFill>
              <a:latin typeface="Calibri"/>
              <a:ea typeface="Calibri"/>
              <a:cs typeface="Calibri"/>
              <a:sym typeface="Calibri"/>
            </a:endParaRPr>
          </a:p>
        </p:txBody>
      </p:sp>
      <p:sp>
        <p:nvSpPr>
          <p:cNvPr id="232" name="Google Shape;232;p29"/>
          <p:cNvSpPr txBox="1"/>
          <p:nvPr/>
        </p:nvSpPr>
        <p:spPr>
          <a:xfrm>
            <a:off x="5439325" y="377925"/>
            <a:ext cx="1178100" cy="6957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800" b="1">
                <a:solidFill>
                  <a:srgbClr val="FF0000"/>
                </a:solidFill>
                <a:latin typeface="Calibri"/>
                <a:ea typeface="Calibri"/>
                <a:cs typeface="Calibri"/>
                <a:sym typeface="Calibri"/>
              </a:rPr>
              <a:t>Jan 9, 2024 </a:t>
            </a:r>
            <a:endParaRPr sz="1800" b="1">
              <a:solidFill>
                <a:srgbClr val="FF0000"/>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54 Models</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214K+ votes</a:t>
            </a:r>
            <a:endParaRPr sz="1300">
              <a:solidFill>
                <a:schemeClr val="dk1"/>
              </a:solidFill>
              <a:latin typeface="Calibri"/>
              <a:ea typeface="Calibri"/>
              <a:cs typeface="Calibri"/>
              <a:sym typeface="Calibri"/>
            </a:endParaRPr>
          </a:p>
        </p:txBody>
      </p:sp>
      <p:sp>
        <p:nvSpPr>
          <p:cNvPr id="233" name="Google Shape;233;p29"/>
          <p:cNvSpPr txBox="1"/>
          <p:nvPr/>
        </p:nvSpPr>
        <p:spPr>
          <a:xfrm>
            <a:off x="7090578" y="377925"/>
            <a:ext cx="19650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Starting Elo rating = 1000</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for each model</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95% CI = Confidence Interval</a:t>
            </a:r>
            <a:endParaRPr sz="1200">
              <a:solidFill>
                <a:schemeClr val="dk1"/>
              </a:solidFill>
              <a:latin typeface="Calibri"/>
              <a:ea typeface="Calibri"/>
              <a:cs typeface="Calibri"/>
              <a:sym typeface="Calibri"/>
            </a:endParaRPr>
          </a:p>
        </p:txBody>
      </p:sp>
      <p:grpSp>
        <p:nvGrpSpPr>
          <p:cNvPr id="234" name="Google Shape;234;p29"/>
          <p:cNvGrpSpPr/>
          <p:nvPr/>
        </p:nvGrpSpPr>
        <p:grpSpPr>
          <a:xfrm>
            <a:off x="37975" y="377925"/>
            <a:ext cx="5228826" cy="4717800"/>
            <a:chOff x="37975" y="377925"/>
            <a:chExt cx="5228826" cy="4717800"/>
          </a:xfrm>
        </p:grpSpPr>
        <p:pic>
          <p:nvPicPr>
            <p:cNvPr id="235" name="Google Shape;235;p29"/>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37975" y="377925"/>
              <a:ext cx="5228826" cy="2872701"/>
            </a:xfrm>
            <a:prstGeom prst="rect">
              <a:avLst/>
            </a:prstGeom>
            <a:noFill/>
            <a:ln w="9525" cap="flat" cmpd="sng">
              <a:solidFill>
                <a:srgbClr val="FF0000"/>
              </a:solidFill>
              <a:prstDash val="solid"/>
              <a:round/>
              <a:headEnd type="none" w="sm" len="sm"/>
              <a:tailEnd type="none" w="sm" len="sm"/>
            </a:ln>
          </p:spPr>
        </p:pic>
        <p:pic>
          <p:nvPicPr>
            <p:cNvPr id="236" name="Google Shape;236;p29"/>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37975" y="3250625"/>
              <a:ext cx="5228826" cy="1845100"/>
            </a:xfrm>
            <a:prstGeom prst="rect">
              <a:avLst/>
            </a:prstGeom>
            <a:noFill/>
            <a:ln w="9525" cap="flat" cmpd="sng">
              <a:solidFill>
                <a:srgbClr val="FF0000"/>
              </a:solidFill>
              <a:prstDash val="solid"/>
              <a:round/>
              <a:headEnd type="none" w="sm" len="sm"/>
              <a:tailEnd type="none" w="sm" len="sm"/>
            </a:ln>
          </p:spPr>
        </p:pic>
      </p:grpSp>
      <p:sp>
        <p:nvSpPr>
          <p:cNvPr id="237" name="Google Shape;237;p29"/>
          <p:cNvSpPr/>
          <p:nvPr/>
        </p:nvSpPr>
        <p:spPr>
          <a:xfrm>
            <a:off x="5318783" y="3979428"/>
            <a:ext cx="137400" cy="137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38" name="Google Shape;238;p29"/>
          <p:cNvSpPr/>
          <p:nvPr/>
        </p:nvSpPr>
        <p:spPr>
          <a:xfrm>
            <a:off x="5318783" y="1679403"/>
            <a:ext cx="137400" cy="137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39" name="Google Shape;239;p29"/>
          <p:cNvSpPr/>
          <p:nvPr/>
        </p:nvSpPr>
        <p:spPr>
          <a:xfrm>
            <a:off x="5318783" y="2545856"/>
            <a:ext cx="137400" cy="137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40" name="Google Shape;240;p29"/>
          <p:cNvSpPr/>
          <p:nvPr/>
        </p:nvSpPr>
        <p:spPr>
          <a:xfrm>
            <a:off x="5318783" y="2895406"/>
            <a:ext cx="137400" cy="137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41" name="Google Shape;241;p29"/>
          <p:cNvSpPr/>
          <p:nvPr/>
        </p:nvSpPr>
        <p:spPr>
          <a:xfrm>
            <a:off x="5318783" y="3262643"/>
            <a:ext cx="137400" cy="137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42" name="Google Shape;242;p29"/>
          <p:cNvSpPr/>
          <p:nvPr/>
        </p:nvSpPr>
        <p:spPr>
          <a:xfrm>
            <a:off x="5318783" y="3621031"/>
            <a:ext cx="137400" cy="137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43" name="Google Shape;243;p29"/>
          <p:cNvSpPr/>
          <p:nvPr/>
        </p:nvSpPr>
        <p:spPr>
          <a:xfrm>
            <a:off x="5318783" y="3800231"/>
            <a:ext cx="137400" cy="137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44" name="Google Shape;244;p29"/>
          <p:cNvSpPr/>
          <p:nvPr/>
        </p:nvSpPr>
        <p:spPr>
          <a:xfrm>
            <a:off x="5318783" y="4158631"/>
            <a:ext cx="137400" cy="137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45" name="Google Shape;245;p29"/>
          <p:cNvSpPr/>
          <p:nvPr/>
        </p:nvSpPr>
        <p:spPr>
          <a:xfrm>
            <a:off x="5318783" y="4337831"/>
            <a:ext cx="137400" cy="137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46" name="Google Shape;246;p29"/>
          <p:cNvSpPr/>
          <p:nvPr/>
        </p:nvSpPr>
        <p:spPr>
          <a:xfrm>
            <a:off x="5318783" y="4875431"/>
            <a:ext cx="137400" cy="137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47" name="Google Shape;247;p29"/>
          <p:cNvSpPr/>
          <p:nvPr/>
        </p:nvSpPr>
        <p:spPr>
          <a:xfrm>
            <a:off x="5318783" y="1161528"/>
            <a:ext cx="137400" cy="137400"/>
          </a:xfrm>
          <a:prstGeom prst="ellipse">
            <a:avLst/>
          </a:prstGeom>
          <a:solidFill>
            <a:srgbClr val="F1C23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48" name="Google Shape;248;p29"/>
          <p:cNvSpPr txBox="1"/>
          <p:nvPr/>
        </p:nvSpPr>
        <p:spPr>
          <a:xfrm>
            <a:off x="5560757" y="3946575"/>
            <a:ext cx="3327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ctr"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7B</a:t>
            </a:r>
            <a:endParaRPr sz="1200">
              <a:solidFill>
                <a:schemeClr val="dk1"/>
              </a:solidFill>
              <a:latin typeface="Calibri"/>
              <a:ea typeface="Calibri"/>
              <a:cs typeface="Calibri"/>
              <a:sym typeface="Calibri"/>
            </a:endParaRPr>
          </a:p>
        </p:txBody>
      </p:sp>
      <p:sp>
        <p:nvSpPr>
          <p:cNvPr id="249" name="Google Shape;249;p29"/>
          <p:cNvSpPr txBox="1"/>
          <p:nvPr/>
        </p:nvSpPr>
        <p:spPr>
          <a:xfrm>
            <a:off x="5560757" y="4291437"/>
            <a:ext cx="3327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ctr"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7B</a:t>
            </a:r>
            <a:endParaRPr sz="1200">
              <a:solidFill>
                <a:schemeClr val="dk1"/>
              </a:solidFill>
              <a:latin typeface="Calibri"/>
              <a:ea typeface="Calibri"/>
              <a:cs typeface="Calibri"/>
              <a:sym typeface="Calibri"/>
            </a:endParaRPr>
          </a:p>
        </p:txBody>
      </p:sp>
      <p:sp>
        <p:nvSpPr>
          <p:cNvPr id="250" name="Google Shape;250;p29"/>
          <p:cNvSpPr txBox="1"/>
          <p:nvPr/>
        </p:nvSpPr>
        <p:spPr>
          <a:xfrm>
            <a:off x="5560757" y="4824837"/>
            <a:ext cx="3327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ctr"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7B</a:t>
            </a:r>
            <a:endParaRPr sz="1200">
              <a:solidFill>
                <a:schemeClr val="dk1"/>
              </a:solidFill>
              <a:latin typeface="Calibri"/>
              <a:ea typeface="Calibri"/>
              <a:cs typeface="Calibri"/>
              <a:sym typeface="Calibri"/>
            </a:endParaRPr>
          </a:p>
        </p:txBody>
      </p:sp>
      <p:sp>
        <p:nvSpPr>
          <p:cNvPr id="251" name="Google Shape;251;p29"/>
          <p:cNvSpPr txBox="1"/>
          <p:nvPr/>
        </p:nvSpPr>
        <p:spPr>
          <a:xfrm>
            <a:off x="5560757" y="1660575"/>
            <a:ext cx="3327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ctr"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47B</a:t>
            </a:r>
            <a:endParaRPr sz="1200">
              <a:solidFill>
                <a:schemeClr val="dk1"/>
              </a:solidFill>
              <a:latin typeface="Calibri"/>
              <a:ea typeface="Calibri"/>
              <a:cs typeface="Calibri"/>
              <a:sym typeface="Calibri"/>
            </a:endParaRPr>
          </a:p>
        </p:txBody>
      </p:sp>
      <p:sp>
        <p:nvSpPr>
          <p:cNvPr id="252" name="Google Shape;252;p29"/>
          <p:cNvSpPr txBox="1"/>
          <p:nvPr/>
        </p:nvSpPr>
        <p:spPr>
          <a:xfrm>
            <a:off x="7103425" y="1260375"/>
            <a:ext cx="19650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What is the architecture </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of Mistral Medium?</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It is probably MoE ?</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8x30b ?  32x7b ?</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800" u="sng">
                <a:solidFill>
                  <a:schemeClr val="hlink"/>
                </a:solidFill>
                <a:latin typeface="Calibri"/>
                <a:ea typeface="Calibri"/>
                <a:cs typeface="Calibri"/>
                <a:sym typeface="Calibri"/>
                <a:hlinkClick r:id="rId6"/>
              </a:rPr>
              <a:t>https://www.reddit.com/r/LocalLLaMA/comments/18m2t0z/deducing_mistral_medium_size_from_pricing_is_it_a/</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56"/>
        <p:cNvGrpSpPr/>
        <p:nvPr/>
      </p:nvGrpSpPr>
      <p:grpSpPr>
        <a:xfrm>
          <a:off x="0" y="0"/>
          <a:ext cx="0" cy="0"/>
          <a:chOff x="0" y="0"/>
          <a:chExt cx="0" cy="0"/>
        </a:xfrm>
      </p:grpSpPr>
      <p:sp>
        <p:nvSpPr>
          <p:cNvPr id="257" name="Google Shape;257;p30"/>
          <p:cNvSpPr txBox="1"/>
          <p:nvPr/>
        </p:nvSpPr>
        <p:spPr>
          <a:xfrm>
            <a:off x="72300" y="0"/>
            <a:ext cx="41313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YALL - Yet Another LLM Leaderboard</a:t>
            </a:r>
            <a:endParaRPr sz="2000" b="1">
              <a:latin typeface="Calibri"/>
              <a:ea typeface="Calibri"/>
              <a:cs typeface="Calibri"/>
              <a:sym typeface="Calibri"/>
            </a:endParaRPr>
          </a:p>
        </p:txBody>
      </p:sp>
      <p:sp>
        <p:nvSpPr>
          <p:cNvPr id="258" name="Google Shape;258;p30"/>
          <p:cNvSpPr txBox="1"/>
          <p:nvPr/>
        </p:nvSpPr>
        <p:spPr>
          <a:xfrm>
            <a:off x="107550" y="326400"/>
            <a:ext cx="4060800" cy="738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3"/>
              </a:rPr>
              <a:t>https://huggingface.co/spaces/mlabonne/Yet_Another_LLM_Leaderboard</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Leaderboard made with LLM AutoEval </a:t>
            </a:r>
            <a:br>
              <a:rPr lang="en" sz="1300">
                <a:solidFill>
                  <a:srgbClr val="0F0F0F"/>
                </a:solidFill>
                <a:latin typeface="Calibri"/>
                <a:ea typeface="Calibri"/>
                <a:cs typeface="Calibri"/>
                <a:sym typeface="Calibri"/>
              </a:rPr>
            </a:br>
            <a:r>
              <a:rPr lang="en" sz="1300">
                <a:solidFill>
                  <a:srgbClr val="0F0F0F"/>
                </a:solidFill>
                <a:latin typeface="Calibri"/>
                <a:ea typeface="Calibri"/>
                <a:cs typeface="Calibri"/>
                <a:sym typeface="Calibri"/>
              </a:rPr>
              <a:t>using Nous benchmark suite.</a:t>
            </a:r>
            <a:endParaRPr sz="1300">
              <a:solidFill>
                <a:srgbClr val="0F0F0F"/>
              </a:solidFill>
              <a:latin typeface="Calibri"/>
              <a:ea typeface="Calibri"/>
              <a:cs typeface="Calibri"/>
              <a:sym typeface="Calibri"/>
            </a:endParaRPr>
          </a:p>
        </p:txBody>
      </p:sp>
      <p:pic>
        <p:nvPicPr>
          <p:cNvPr id="259" name="Google Shape;259;p30"/>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324750" y="83525"/>
            <a:ext cx="4756449" cy="4997052"/>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63"/>
        <p:cNvGrpSpPr/>
        <p:nvPr/>
      </p:nvGrpSpPr>
      <p:grpSpPr>
        <a:xfrm>
          <a:off x="0" y="0"/>
          <a:ext cx="0" cy="0"/>
          <a:chOff x="0" y="0"/>
          <a:chExt cx="0" cy="0"/>
        </a:xfrm>
      </p:grpSpPr>
      <p:sp>
        <p:nvSpPr>
          <p:cNvPr id="264" name="Google Shape;264;p31"/>
          <p:cNvSpPr txBox="1"/>
          <p:nvPr/>
        </p:nvSpPr>
        <p:spPr>
          <a:xfrm>
            <a:off x="72300" y="0"/>
            <a:ext cx="22080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Nous Research</a:t>
            </a:r>
            <a:endParaRPr sz="2000" b="1">
              <a:latin typeface="Calibri"/>
              <a:ea typeface="Calibri"/>
              <a:cs typeface="Calibri"/>
              <a:sym typeface="Calibri"/>
            </a:endParaRPr>
          </a:p>
        </p:txBody>
      </p:sp>
      <p:sp>
        <p:nvSpPr>
          <p:cNvPr id="265" name="Google Shape;265;p31"/>
          <p:cNvSpPr txBox="1"/>
          <p:nvPr/>
        </p:nvSpPr>
        <p:spPr>
          <a:xfrm>
            <a:off x="147175" y="607825"/>
            <a:ext cx="3889500" cy="3201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latin typeface="Calibri"/>
                <a:ea typeface="Calibri"/>
                <a:cs typeface="Calibri"/>
                <a:sym typeface="Calibri"/>
              </a:rPr>
              <a:t>Nous Research received $5.2 Mln financing </a:t>
            </a:r>
            <a:endParaRPr sz="1300">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3"/>
              </a:rPr>
              <a:t>https://twitter.com/NousResearch/status/1744865872563618128</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Nous Research focuses mainly on two key areas of machine learning: data synthesis and fine-tuned large language models (LLMs). </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4"/>
              </a:rPr>
              <a:t>https://huggingface.co/NousResearch</a:t>
            </a:r>
            <a:endParaRPr sz="1000">
              <a:solidFill>
                <a:srgbClr val="0F0F0F"/>
              </a:solidFill>
              <a:latin typeface="Calibri"/>
              <a:ea typeface="Calibri"/>
              <a:cs typeface="Calibri"/>
              <a:sym typeface="Calibri"/>
            </a:endParaRPr>
          </a:p>
          <a:p>
            <a:pPr marL="0" lvl="0" indent="0" algn="l" rtl="0">
              <a:spcBef>
                <a:spcPts val="0"/>
              </a:spcBef>
              <a:spcAft>
                <a:spcPts val="0"/>
              </a:spcAft>
              <a:buNone/>
            </a:pPr>
            <a:r>
              <a:rPr lang="en" sz="1300" b="1">
                <a:solidFill>
                  <a:srgbClr val="FF0000"/>
                </a:solidFill>
                <a:latin typeface="Calibri"/>
                <a:ea typeface="Calibri"/>
                <a:cs typeface="Calibri"/>
                <a:sym typeface="Calibri"/>
              </a:rPr>
              <a:t>Hermes</a:t>
            </a:r>
            <a:r>
              <a:rPr lang="en" sz="1300">
                <a:solidFill>
                  <a:srgbClr val="0F0F0F"/>
                </a:solidFill>
                <a:latin typeface="Calibri"/>
                <a:ea typeface="Calibri"/>
                <a:cs typeface="Calibri"/>
                <a:sym typeface="Calibri"/>
              </a:rPr>
              <a:t> - uncensored LLM</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b="1">
                <a:solidFill>
                  <a:srgbClr val="FF0000"/>
                </a:solidFill>
                <a:latin typeface="Calibri"/>
                <a:ea typeface="Calibri"/>
                <a:cs typeface="Calibri"/>
                <a:sym typeface="Calibri"/>
              </a:rPr>
              <a:t>YaRN</a:t>
            </a:r>
            <a:r>
              <a:rPr lang="en" sz="1300">
                <a:solidFill>
                  <a:srgbClr val="0F0F0F"/>
                </a:solidFill>
                <a:latin typeface="Calibri"/>
                <a:ea typeface="Calibri"/>
                <a:cs typeface="Calibri"/>
                <a:sym typeface="Calibri"/>
              </a:rPr>
              <a:t> - LLaMa-2 based LLM with 128K context window</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b="1">
                <a:solidFill>
                  <a:srgbClr val="FF0000"/>
                </a:solidFill>
                <a:latin typeface="Calibri"/>
                <a:ea typeface="Calibri"/>
                <a:cs typeface="Calibri"/>
                <a:sym typeface="Calibri"/>
              </a:rPr>
              <a:t>Capybara</a:t>
            </a:r>
            <a:r>
              <a:rPr lang="en" sz="1300">
                <a:solidFill>
                  <a:srgbClr val="0F0F0F"/>
                </a:solidFill>
                <a:latin typeface="Calibri"/>
                <a:ea typeface="Calibri"/>
                <a:cs typeface="Calibri"/>
                <a:sym typeface="Calibri"/>
              </a:rPr>
              <a:t> model</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b="1">
                <a:solidFill>
                  <a:srgbClr val="FF0000"/>
                </a:solidFill>
                <a:latin typeface="Calibri"/>
                <a:ea typeface="Calibri"/>
                <a:cs typeface="Calibri"/>
                <a:sym typeface="Calibri"/>
              </a:rPr>
              <a:t>Puffin</a:t>
            </a:r>
            <a:r>
              <a:rPr lang="en" sz="1300">
                <a:solidFill>
                  <a:srgbClr val="0F0F0F"/>
                </a:solidFill>
                <a:latin typeface="Calibri"/>
                <a:ea typeface="Calibri"/>
                <a:cs typeface="Calibri"/>
                <a:sym typeface="Calibri"/>
              </a:rPr>
              <a:t> Model</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b="1">
                <a:solidFill>
                  <a:srgbClr val="FF0000"/>
                </a:solidFill>
                <a:latin typeface="Calibri"/>
                <a:ea typeface="Calibri"/>
                <a:cs typeface="Calibri"/>
                <a:sym typeface="Calibri"/>
              </a:rPr>
              <a:t>Obsidian</a:t>
            </a:r>
            <a:r>
              <a:rPr lang="en" sz="1300">
                <a:solidFill>
                  <a:srgbClr val="0F0F0F"/>
                </a:solidFill>
                <a:latin typeface="Calibri"/>
                <a:ea typeface="Calibri"/>
                <a:cs typeface="Calibri"/>
                <a:sym typeface="Calibri"/>
              </a:rPr>
              <a:t> - worlds smallest multi-modal LLM (3B)</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000">
                <a:solidFill>
                  <a:srgbClr val="0F0F0F"/>
                </a:solidFill>
                <a:latin typeface="Calibri"/>
                <a:ea typeface="Calibri"/>
                <a:cs typeface="Calibri"/>
                <a:sym typeface="Calibri"/>
              </a:rPr>
              <a:t>.. </a:t>
            </a:r>
            <a:r>
              <a:rPr lang="en" sz="1000" u="sng">
                <a:solidFill>
                  <a:schemeClr val="hlink"/>
                </a:solidFill>
                <a:latin typeface="Calibri"/>
                <a:ea typeface="Calibri"/>
                <a:cs typeface="Calibri"/>
                <a:sym typeface="Calibri"/>
                <a:hlinkClick r:id="rId5"/>
              </a:rPr>
              <a:t>https://nousresearch.com</a:t>
            </a:r>
            <a:endParaRPr sz="1000">
              <a:solidFill>
                <a:srgbClr val="0F0F0F"/>
              </a:solidFill>
              <a:latin typeface="Calibri"/>
              <a:ea typeface="Calibri"/>
              <a:cs typeface="Calibri"/>
              <a:sym typeface="Calibri"/>
            </a:endParaRPr>
          </a:p>
          <a:p>
            <a:pPr marL="0" lvl="0" indent="0" algn="l" rtl="0">
              <a:spcBef>
                <a:spcPts val="0"/>
              </a:spcBef>
              <a:spcAft>
                <a:spcPts val="0"/>
              </a:spcAft>
              <a:buNone/>
            </a:pPr>
            <a:r>
              <a:rPr lang="en" sz="1000">
                <a:solidFill>
                  <a:srgbClr val="0F0F0F"/>
                </a:solidFill>
                <a:latin typeface="Calibri"/>
                <a:ea typeface="Calibri"/>
                <a:cs typeface="Calibri"/>
                <a:sym typeface="Calibri"/>
              </a:rPr>
              <a:t>.. </a:t>
            </a:r>
            <a:r>
              <a:rPr lang="en" sz="1000" u="sng">
                <a:solidFill>
                  <a:schemeClr val="hlink"/>
                </a:solidFill>
                <a:latin typeface="Calibri"/>
                <a:ea typeface="Calibri"/>
                <a:cs typeface="Calibri"/>
                <a:sym typeface="Calibri"/>
                <a:hlinkClick r:id="rId6"/>
              </a:rPr>
              <a:t>https://github.com/NousResearch</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p:txBody>
      </p:sp>
      <p:pic>
        <p:nvPicPr>
          <p:cNvPr id="266" name="Google Shape;266;p31"/>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198925" y="607824"/>
            <a:ext cx="3095400" cy="1621000"/>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70"/>
        <p:cNvGrpSpPr/>
        <p:nvPr/>
      </p:nvGrpSpPr>
      <p:grpSpPr>
        <a:xfrm>
          <a:off x="0" y="0"/>
          <a:ext cx="0" cy="0"/>
          <a:chOff x="0" y="0"/>
          <a:chExt cx="0" cy="0"/>
        </a:xfrm>
      </p:grpSpPr>
      <p:sp>
        <p:nvSpPr>
          <p:cNvPr id="271" name="Google Shape;271;p32"/>
          <p:cNvSpPr txBox="1"/>
          <p:nvPr/>
        </p:nvSpPr>
        <p:spPr>
          <a:xfrm>
            <a:off x="0" y="0"/>
            <a:ext cx="27597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The AI World</a:t>
            </a:r>
            <a:endParaRPr sz="2000" b="1">
              <a:solidFill>
                <a:schemeClr val="dk1"/>
              </a:solidFill>
              <a:latin typeface="Calibri"/>
              <a:ea typeface="Calibri"/>
              <a:cs typeface="Calibri"/>
              <a:sym typeface="Calibri"/>
            </a:endParaRPr>
          </a:p>
        </p:txBody>
      </p:sp>
      <p:sp>
        <p:nvSpPr>
          <p:cNvPr id="272" name="Google Shape;272;p32"/>
          <p:cNvSpPr txBox="1"/>
          <p:nvPr/>
        </p:nvSpPr>
        <p:spPr>
          <a:xfrm>
            <a:off x="55075" y="399200"/>
            <a:ext cx="2396400" cy="14961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Nov 30, 2022 - ChatGPT release</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has pushed many companies to completely change their agenda and to re-organize around AI</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2023 - year of discoveries, POCs</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2024 - year of deployments</a:t>
            </a:r>
            <a:endParaRPr sz="1200">
              <a:solidFill>
                <a:schemeClr val="dk1"/>
              </a:solidFill>
              <a:latin typeface="Calibri"/>
              <a:ea typeface="Calibri"/>
              <a:cs typeface="Calibri"/>
              <a:sym typeface="Calibri"/>
            </a:endParaRPr>
          </a:p>
        </p:txBody>
      </p:sp>
      <p:sp>
        <p:nvSpPr>
          <p:cNvPr id="273" name="Google Shape;273;p32"/>
          <p:cNvSpPr txBox="1"/>
          <p:nvPr/>
        </p:nvSpPr>
        <p:spPr>
          <a:xfrm>
            <a:off x="1502000" y="1980400"/>
            <a:ext cx="13914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AI Research:</a:t>
            </a:r>
            <a:endParaRPr sz="1200" b="1">
              <a:solidFill>
                <a:srgbClr val="FF0000"/>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Berkeley, Carnegie</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Mellon, MIT, ...</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OpenAI</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Microsoft</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Meta </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Mistral.ai</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Stability.ai</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Anthropic</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Google DeepMind</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01.ai</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X.ai</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Inflection.ai</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IBM</a:t>
            </a:r>
            <a:endParaRPr sz="1200">
              <a:solidFill>
                <a:schemeClr val="dk1"/>
              </a:solidFill>
              <a:latin typeface="Calibri"/>
              <a:ea typeface="Calibri"/>
              <a:cs typeface="Calibri"/>
              <a:sym typeface="Calibri"/>
            </a:endParaRPr>
          </a:p>
        </p:txBody>
      </p:sp>
      <p:sp>
        <p:nvSpPr>
          <p:cNvPr id="274" name="Google Shape;274;p32"/>
          <p:cNvSpPr txBox="1"/>
          <p:nvPr/>
        </p:nvSpPr>
        <p:spPr>
          <a:xfrm>
            <a:off x="2979225" y="55800"/>
            <a:ext cx="12753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Cloud Platforms:</a:t>
            </a:r>
            <a:endParaRPr sz="1200" b="1">
              <a:solidFill>
                <a:srgbClr val="FF0000"/>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Microsoft, Azure</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Hugging Face</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Amazon Bedrock</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AWS EC2</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Google Vertex AI</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Google CoLab</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IBM Watson</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Nvidia</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cloud.vast.ai</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paperspace.com</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LambdaLabs</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brev.dev</a:t>
            </a:r>
            <a:endParaRPr sz="1200">
              <a:solidFill>
                <a:schemeClr val="dk1"/>
              </a:solidFill>
              <a:latin typeface="Calibri"/>
              <a:ea typeface="Calibri"/>
              <a:cs typeface="Calibri"/>
              <a:sym typeface="Calibri"/>
            </a:endParaRPr>
          </a:p>
        </p:txBody>
      </p:sp>
      <p:sp>
        <p:nvSpPr>
          <p:cNvPr id="275" name="Google Shape;275;p32"/>
          <p:cNvSpPr txBox="1"/>
          <p:nvPr/>
        </p:nvSpPr>
        <p:spPr>
          <a:xfrm>
            <a:off x="4885450" y="55800"/>
            <a:ext cx="18321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Tools:</a:t>
            </a:r>
            <a:endParaRPr sz="1200" b="1">
              <a:solidFill>
                <a:srgbClr val="FF0000"/>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RAG tools: Vector DBs,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   Graph DBs, PostgreSQL </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AutoGen</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TaskWeaver</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CrewAI</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MemGPT</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vLLM + AutoAWQ</a:t>
            </a:r>
            <a:endParaRPr sz="1200">
              <a:solidFill>
                <a:schemeClr val="dk1"/>
              </a:solidFill>
              <a:latin typeface="Calibri"/>
              <a:ea typeface="Calibri"/>
              <a:cs typeface="Calibri"/>
              <a:sym typeface="Calibri"/>
            </a:endParaRPr>
          </a:p>
        </p:txBody>
      </p:sp>
      <p:sp>
        <p:nvSpPr>
          <p:cNvPr id="276" name="Google Shape;276;p32"/>
          <p:cNvSpPr txBox="1"/>
          <p:nvPr/>
        </p:nvSpPr>
        <p:spPr>
          <a:xfrm>
            <a:off x="55075" y="3376800"/>
            <a:ext cx="10665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AI Chips:</a:t>
            </a:r>
            <a:endParaRPr sz="1200" b="1">
              <a:solidFill>
                <a:srgbClr val="FF0000"/>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Nvidia</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Google TPUs</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Microsoft</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OpenAI</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Meta</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Apple</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Rain NPU</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Cerebras </a:t>
            </a:r>
            <a:endParaRPr sz="1200">
              <a:solidFill>
                <a:schemeClr val="dk1"/>
              </a:solidFill>
              <a:latin typeface="Calibri"/>
              <a:ea typeface="Calibri"/>
              <a:cs typeface="Calibri"/>
              <a:sym typeface="Calibri"/>
            </a:endParaRPr>
          </a:p>
        </p:txBody>
      </p:sp>
      <p:sp>
        <p:nvSpPr>
          <p:cNvPr id="277" name="Google Shape;277;p32"/>
          <p:cNvSpPr txBox="1"/>
          <p:nvPr/>
        </p:nvSpPr>
        <p:spPr>
          <a:xfrm>
            <a:off x="4676350" y="3192289"/>
            <a:ext cx="23163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Software:</a:t>
            </a:r>
            <a:endParaRPr sz="1200" b="1">
              <a:solidFill>
                <a:srgbClr val="FF0000"/>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Python, PyTorch, JAX</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Rust Candle</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Nvidia CUDA, cuDNN, TensorRT</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SDK, DeepStream SDK, ...</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HuggingFace python modules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   (datasets, transformers)</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   models, datasets, ...</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LangChain, LlamaIndex</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Apple MLX</a:t>
            </a:r>
            <a:endParaRPr sz="1200">
              <a:solidFill>
                <a:schemeClr val="dk1"/>
              </a:solidFill>
              <a:latin typeface="Calibri"/>
              <a:ea typeface="Calibri"/>
              <a:cs typeface="Calibri"/>
              <a:sym typeface="Calibri"/>
            </a:endParaRPr>
          </a:p>
        </p:txBody>
      </p:sp>
      <p:sp>
        <p:nvSpPr>
          <p:cNvPr id="278" name="Google Shape;278;p32"/>
          <p:cNvSpPr txBox="1"/>
          <p:nvPr/>
        </p:nvSpPr>
        <p:spPr>
          <a:xfrm>
            <a:off x="7065325" y="2551700"/>
            <a:ext cx="20346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Model Training, Fine-tuning:</a:t>
            </a:r>
            <a:endParaRPr sz="1200" b="1">
              <a:solidFill>
                <a:srgbClr val="FF0000"/>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HuggingFace</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Axolotl</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LoRA, QLoRA, S-LoRA </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wandb.ai (weights &amp; biases)</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fast.ai</a:t>
            </a:r>
            <a:endParaRPr sz="1200">
              <a:solidFill>
                <a:schemeClr val="dk1"/>
              </a:solidFill>
              <a:latin typeface="Calibri"/>
              <a:ea typeface="Calibri"/>
              <a:cs typeface="Calibri"/>
              <a:sym typeface="Calibri"/>
            </a:endParaRPr>
          </a:p>
        </p:txBody>
      </p:sp>
      <p:sp>
        <p:nvSpPr>
          <p:cNvPr id="279" name="Google Shape;279;p32"/>
          <p:cNvSpPr txBox="1"/>
          <p:nvPr/>
        </p:nvSpPr>
        <p:spPr>
          <a:xfrm>
            <a:off x="6802940" y="55800"/>
            <a:ext cx="22890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Model Safety:</a:t>
            </a:r>
            <a:endParaRPr sz="1200" b="1">
              <a:solidFill>
                <a:srgbClr val="FF0000"/>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Meta Purple Llama </a:t>
            </a:r>
            <a:endParaRPr sz="1200">
              <a:solidFill>
                <a:schemeClr val="dk1"/>
              </a:solidFill>
              <a:latin typeface="Calibri"/>
              <a:ea typeface="Calibri"/>
              <a:cs typeface="Calibri"/>
              <a:sym typeface="Calibri"/>
            </a:endParaRPr>
          </a:p>
          <a:p>
            <a:pPr marL="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280" name="Google Shape;280;p32"/>
          <p:cNvSpPr txBox="1"/>
          <p:nvPr/>
        </p:nvSpPr>
        <p:spPr>
          <a:xfrm>
            <a:off x="6802940" y="732300"/>
            <a:ext cx="22890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Front-End Dev:</a:t>
            </a:r>
            <a:endParaRPr sz="1200" b="1">
              <a:solidFill>
                <a:srgbClr val="FF0000"/>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LangChain Studio</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Windows AI Studio</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AutiGen Studio</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Streamlit, Flask, Gradio</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voiceflow.com</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Text Generation WebUI</a:t>
            </a:r>
            <a:endParaRPr sz="1200">
              <a:solidFill>
                <a:schemeClr val="dk1"/>
              </a:solidFill>
              <a:latin typeface="Calibri"/>
              <a:ea typeface="Calibri"/>
              <a:cs typeface="Calibri"/>
              <a:sym typeface="Calibri"/>
            </a:endParaRPr>
          </a:p>
        </p:txBody>
      </p:sp>
      <p:sp>
        <p:nvSpPr>
          <p:cNvPr id="281" name="Google Shape;281;p32"/>
          <p:cNvSpPr txBox="1"/>
          <p:nvPr/>
        </p:nvSpPr>
        <p:spPr>
          <a:xfrm>
            <a:off x="2979225" y="3561600"/>
            <a:ext cx="16113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Cloud App Dev:</a:t>
            </a:r>
            <a:endParaRPr sz="1200" b="1">
              <a:solidFill>
                <a:srgbClr val="FF0000"/>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 Hugging Face</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platform.openai.com</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Cohere.com</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RunPod.io</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replit.com</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 voiceflow.com</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chatbase.co</a:t>
            </a:r>
            <a:endParaRPr sz="1200">
              <a:solidFill>
                <a:schemeClr val="dk1"/>
              </a:solidFill>
              <a:latin typeface="Calibri"/>
              <a:ea typeface="Calibri"/>
              <a:cs typeface="Calibri"/>
              <a:sym typeface="Calibri"/>
            </a:endParaRPr>
          </a:p>
        </p:txBody>
      </p:sp>
      <p:sp>
        <p:nvSpPr>
          <p:cNvPr id="282" name="Google Shape;282;p32"/>
          <p:cNvSpPr txBox="1"/>
          <p:nvPr/>
        </p:nvSpPr>
        <p:spPr>
          <a:xfrm>
            <a:off x="7816646" y="3746400"/>
            <a:ext cx="12753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Local Apps:</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Ollama</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LMStudio</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GPT4All</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MLC LLM</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PrivateGPT</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h2oGPT</a:t>
            </a:r>
            <a:endParaRPr sz="1200">
              <a:solidFill>
                <a:schemeClr val="dk1"/>
              </a:solidFill>
              <a:latin typeface="Calibri"/>
              <a:ea typeface="Calibri"/>
              <a:cs typeface="Calibri"/>
              <a:sym typeface="Calibri"/>
            </a:endParaRPr>
          </a:p>
        </p:txBody>
      </p:sp>
      <p:sp>
        <p:nvSpPr>
          <p:cNvPr id="283" name="Google Shape;283;p32"/>
          <p:cNvSpPr txBox="1"/>
          <p:nvPr/>
        </p:nvSpPr>
        <p:spPr>
          <a:xfrm>
            <a:off x="2979225" y="2547450"/>
            <a:ext cx="13611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Datasets:</a:t>
            </a:r>
            <a:endParaRPr sz="1200" b="1">
              <a:solidFill>
                <a:srgbClr val="FF0000"/>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HuggingFace</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Orca2, Open Orca</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Dolphin</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scale.com</a:t>
            </a:r>
            <a:endParaRPr sz="1200">
              <a:solidFill>
                <a:schemeClr val="dk1"/>
              </a:solidFill>
              <a:latin typeface="Calibri"/>
              <a:ea typeface="Calibri"/>
              <a:cs typeface="Calibri"/>
              <a:sym typeface="Calibri"/>
            </a:endParaRPr>
          </a:p>
        </p:txBody>
      </p:sp>
      <p:sp>
        <p:nvSpPr>
          <p:cNvPr id="284" name="Google Shape;284;p32"/>
          <p:cNvSpPr txBox="1"/>
          <p:nvPr/>
        </p:nvSpPr>
        <p:spPr>
          <a:xfrm>
            <a:off x="55075" y="1980400"/>
            <a:ext cx="13611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Chats:</a:t>
            </a:r>
            <a:endParaRPr sz="1200" b="1">
              <a:solidFill>
                <a:srgbClr val="FF0000"/>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ChatGPT</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Bard</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Claude</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labs.perplexity.ai</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llama2.ai</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pi.ai</a:t>
            </a:r>
            <a:endParaRPr sz="1200">
              <a:solidFill>
                <a:schemeClr val="dk1"/>
              </a:solidFill>
              <a:latin typeface="Calibri"/>
              <a:ea typeface="Calibri"/>
              <a:cs typeface="Calibri"/>
              <a:sym typeface="Calibri"/>
            </a:endParaRPr>
          </a:p>
        </p:txBody>
      </p:sp>
      <p:sp>
        <p:nvSpPr>
          <p:cNvPr id="285" name="Google Shape;285;p32"/>
          <p:cNvSpPr txBox="1"/>
          <p:nvPr/>
        </p:nvSpPr>
        <p:spPr>
          <a:xfrm>
            <a:off x="4885450" y="2054950"/>
            <a:ext cx="1832100" cy="9420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AI Coding Tools:</a:t>
            </a:r>
            <a:endParaRPr sz="1200" b="1">
              <a:solidFill>
                <a:srgbClr val="FF0000"/>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GPT Pilot in VS Code</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GitHub Copilot</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Google’s Duet AI</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JetBrains AI IDEs</a:t>
            </a:r>
            <a:endParaRPr sz="120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290" name="Google Shape;290;p33"/>
          <p:cNvSpPr txBox="1"/>
          <p:nvPr/>
        </p:nvSpPr>
        <p:spPr>
          <a:xfrm>
            <a:off x="72300" y="76200"/>
            <a:ext cx="3676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Are Mass Layoffs Coming Soon?</a:t>
            </a:r>
            <a:endParaRPr sz="2000" b="1">
              <a:solidFill>
                <a:schemeClr val="dk1"/>
              </a:solidFill>
              <a:latin typeface="Calibri"/>
              <a:ea typeface="Calibri"/>
              <a:cs typeface="Calibri"/>
              <a:sym typeface="Calibri"/>
            </a:endParaRPr>
          </a:p>
        </p:txBody>
      </p:sp>
      <p:sp>
        <p:nvSpPr>
          <p:cNvPr id="291" name="Google Shape;291;p33"/>
          <p:cNvSpPr txBox="1"/>
          <p:nvPr/>
        </p:nvSpPr>
        <p:spPr>
          <a:xfrm>
            <a:off x="72300" y="445500"/>
            <a:ext cx="4321500" cy="138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Are Mass Layoffs Coming Soon?</a:t>
            </a:r>
            <a:endParaRPr sz="1300" b="1">
              <a:solidFill>
                <a:srgbClr val="FF0000"/>
              </a:solidFill>
              <a:latin typeface="Calibri"/>
              <a:ea typeface="Calibri"/>
              <a:cs typeface="Calibri"/>
              <a:sym typeface="Calibri"/>
            </a:endParaRPr>
          </a:p>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3"/>
              </a:rPr>
              <a:t>https://www.youtube.com/watch?v=5w-9wpAR1NQ</a:t>
            </a:r>
            <a:r>
              <a:rPr lang="en" sz="1300">
                <a:solidFill>
                  <a:srgbClr val="0F0F0F"/>
                </a:solidFill>
                <a:latin typeface="Calibri"/>
                <a:ea typeface="Calibri"/>
                <a:cs typeface="Calibri"/>
                <a:sym typeface="Calibri"/>
              </a:rPr>
              <a:t> </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Mass Layoffs are likely because of:</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 recession</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 cutting cost via optimization (using AI) </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4"/>
              </a:rPr>
              <a:t>https://www.warntracker.com</a:t>
            </a:r>
            <a:r>
              <a:rPr lang="en" sz="1300">
                <a:solidFill>
                  <a:srgbClr val="0F0F0F"/>
                </a:solidFill>
                <a:latin typeface="Calibri"/>
                <a:ea typeface="Calibri"/>
                <a:cs typeface="Calibri"/>
                <a:sym typeface="Calibri"/>
              </a:rPr>
              <a:t> </a:t>
            </a:r>
            <a:endParaRPr sz="1300">
              <a:solidFill>
                <a:srgbClr val="0F0F0F"/>
              </a:solidFill>
              <a:latin typeface="Calibri"/>
              <a:ea typeface="Calibri"/>
              <a:cs typeface="Calibri"/>
              <a:sym typeface="Calibri"/>
            </a:endParaRPr>
          </a:p>
        </p:txBody>
      </p:sp>
      <p:pic>
        <p:nvPicPr>
          <p:cNvPr id="292" name="Google Shape;292;p33"/>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4610550" y="140700"/>
            <a:ext cx="3288436" cy="1785600"/>
          </a:xfrm>
          <a:prstGeom prst="rect">
            <a:avLst/>
          </a:prstGeom>
          <a:noFill/>
          <a:ln>
            <a:noFill/>
          </a:ln>
        </p:spPr>
      </p:pic>
      <p:sp>
        <p:nvSpPr>
          <p:cNvPr id="293" name="Google Shape;293;p33"/>
          <p:cNvSpPr txBox="1"/>
          <p:nvPr/>
        </p:nvSpPr>
        <p:spPr>
          <a:xfrm>
            <a:off x="72300" y="1915125"/>
            <a:ext cx="4321500" cy="278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"I Lost My Job Thanks to This AI Tool"</a:t>
            </a:r>
            <a:endParaRPr sz="1300" b="1">
              <a:solidFill>
                <a:srgbClr val="FF0000"/>
              </a:solidFill>
              <a:latin typeface="Calibri"/>
              <a:ea typeface="Calibri"/>
              <a:cs typeface="Calibri"/>
              <a:sym typeface="Calibri"/>
            </a:endParaRPr>
          </a:p>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6"/>
              </a:rPr>
              <a:t>https://www.youtube.com/watch?v=0Q4UOdIQJZQ</a:t>
            </a:r>
            <a:r>
              <a:rPr lang="en" sz="1300">
                <a:solidFill>
                  <a:srgbClr val="0F0F0F"/>
                </a:solidFill>
                <a:latin typeface="Calibri"/>
                <a:ea typeface="Calibri"/>
                <a:cs typeface="Calibri"/>
                <a:sym typeface="Calibri"/>
              </a:rPr>
              <a:t> </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Examples of (massive) firings already happening:</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translation , data entry, call center representatives, bank tellers, fraud detection specialists, meteorologists, manufacturing - assembly joba, defect detection, travel agents / assistants</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Amazon, Walmart - lots of human-free solutions (for example, picking, packing, shipping orders)</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At risk: truck drivers, librarians, entry-level programmers, legal assistants, writers, editors, proof-reading</a:t>
            </a:r>
            <a:endParaRPr sz="1300">
              <a:solidFill>
                <a:srgbClr val="0F0F0F"/>
              </a:solidFill>
              <a:latin typeface="Calibri"/>
              <a:ea typeface="Calibri"/>
              <a:cs typeface="Calibri"/>
              <a:sym typeface="Calibri"/>
            </a:endParaRPr>
          </a:p>
        </p:txBody>
      </p:sp>
      <p:pic>
        <p:nvPicPr>
          <p:cNvPr id="294" name="Google Shape;294;p33"/>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610550" y="2020080"/>
            <a:ext cx="3288427" cy="1801674"/>
          </a:xfrm>
          <a:prstGeom prst="rect">
            <a:avLst/>
          </a:prstGeom>
          <a:noFill/>
          <a:ln>
            <a:noFill/>
          </a:ln>
        </p:spPr>
      </p:pic>
      <p:sp>
        <p:nvSpPr>
          <p:cNvPr id="295" name="Google Shape;295;p33"/>
          <p:cNvSpPr txBox="1"/>
          <p:nvPr/>
        </p:nvSpPr>
        <p:spPr>
          <a:xfrm>
            <a:off x="4610550" y="4203275"/>
            <a:ext cx="4437900" cy="861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Google cuts over 1,000 jobs in its voice assistance, hardware teams as Fitbit founders leave</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900" u="sng">
                <a:solidFill>
                  <a:schemeClr val="hlink"/>
                </a:solidFill>
                <a:latin typeface="Calibri"/>
                <a:ea typeface="Calibri"/>
                <a:cs typeface="Calibri"/>
                <a:sym typeface="Calibri"/>
                <a:hlinkClick r:id="rId8"/>
              </a:rPr>
              <a:t>https://techcrunch.com/2024/01/10/google-cuts-hundreds-of-jobs-in-its-voice-assistance-hardware-teams-as-fitbit-founders-leave/</a:t>
            </a:r>
            <a:r>
              <a:rPr lang="en" sz="900">
                <a:solidFill>
                  <a:srgbClr val="0F0F0F"/>
                </a:solidFill>
                <a:latin typeface="Calibri"/>
                <a:ea typeface="Calibri"/>
                <a:cs typeface="Calibri"/>
                <a:sym typeface="Calibri"/>
              </a:rPr>
              <a:t> </a:t>
            </a:r>
            <a:endParaRPr sz="900">
              <a:solidFill>
                <a:srgbClr val="0F0F0F"/>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34"/>
          <p:cNvSpPr txBox="1"/>
          <p:nvPr/>
        </p:nvSpPr>
        <p:spPr>
          <a:xfrm>
            <a:off x="72300" y="76200"/>
            <a:ext cx="3676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New Jobs </a:t>
            </a:r>
            <a:endParaRPr sz="2000" b="1">
              <a:solidFill>
                <a:schemeClr val="dk1"/>
              </a:solidFill>
              <a:latin typeface="Calibri"/>
              <a:ea typeface="Calibri"/>
              <a:cs typeface="Calibri"/>
              <a:sym typeface="Calibri"/>
            </a:endParaRPr>
          </a:p>
        </p:txBody>
      </p:sp>
      <p:sp>
        <p:nvSpPr>
          <p:cNvPr id="301" name="Google Shape;301;p34"/>
          <p:cNvSpPr txBox="1"/>
          <p:nvPr/>
        </p:nvSpPr>
        <p:spPr>
          <a:xfrm>
            <a:off x="109850" y="445500"/>
            <a:ext cx="4357800" cy="4617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The rise of the novice coder: Can AI turn every employee into a developer?</a:t>
            </a:r>
            <a:endParaRPr sz="1300" b="1">
              <a:solidFill>
                <a:srgbClr val="FF0000"/>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 - by Reed Albergotti - technology editor at Semafor</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3"/>
              </a:rPr>
              <a:t>https://www.semafor.com/article/10/04/2023/ai-is-spurring-the-rise-of-the-novice-coder</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AI Operations and AI Engineer </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4"/>
              </a:rPr>
              <a:t>https://www.youtube.com/watch?v=biIpkIvl5mE</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AI Architect</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AI Engineer (not an ML Engineer)</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AI Operations</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5"/>
              </a:rPr>
              <a:t>https://twitter.com/karpathy/status/1674873002314563584</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6"/>
              </a:rPr>
              <a:t>https://www.latent.space/p/ai-engineer</a:t>
            </a:r>
            <a:endParaRPr sz="1000">
              <a:solidFill>
                <a:srgbClr val="0F0F0F"/>
              </a:solidFill>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7"/>
              </a:rPr>
              <a:t>https://news.theaiexchange.com/p/premium-defining-ai-operations-new-cohorts-announced</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228600" lvl="0" indent="-177800" algn="l" rtl="0">
              <a:spcBef>
                <a:spcPts val="0"/>
              </a:spcBef>
              <a:spcAft>
                <a:spcPts val="0"/>
              </a:spcAft>
              <a:buClr>
                <a:srgbClr val="0F0F0F"/>
              </a:buClr>
              <a:buSzPts val="1000"/>
              <a:buFont typeface="Calibri"/>
              <a:buChar char="●"/>
            </a:pPr>
            <a:r>
              <a:rPr lang="en" sz="1300">
                <a:solidFill>
                  <a:srgbClr val="0F0F0F"/>
                </a:solidFill>
                <a:latin typeface="Calibri"/>
                <a:ea typeface="Calibri"/>
                <a:cs typeface="Calibri"/>
                <a:sym typeface="Calibri"/>
              </a:rPr>
              <a:t>How do you build an AI-powered business ? </a:t>
            </a:r>
            <a:r>
              <a:rPr lang="en" sz="1000" u="sng">
                <a:solidFill>
                  <a:schemeClr val="hlink"/>
                </a:solidFill>
                <a:latin typeface="Calibri"/>
                <a:ea typeface="Calibri"/>
                <a:cs typeface="Calibri"/>
                <a:sym typeface="Calibri"/>
                <a:hlinkClick r:id="rId8"/>
              </a:rPr>
              <a:t>https://twitter.com/rachel_l_woods/status/1684203209475121155</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In some companies the managers explicitly warn their people that they may be pushed out of the company (lose their jobs) if they will not learn and start using AI to become more productive </a:t>
            </a:r>
            <a:endParaRPr sz="1300">
              <a:solidFill>
                <a:srgbClr val="0F0F0F"/>
              </a:solidFill>
              <a:latin typeface="Calibri"/>
              <a:ea typeface="Calibri"/>
              <a:cs typeface="Calibri"/>
              <a:sym typeface="Calibri"/>
            </a:endParaRPr>
          </a:p>
        </p:txBody>
      </p:sp>
      <p:sp>
        <p:nvSpPr>
          <p:cNvPr id="302" name="Google Shape;302;p34"/>
          <p:cNvSpPr txBox="1"/>
          <p:nvPr/>
        </p:nvSpPr>
        <p:spPr>
          <a:xfrm>
            <a:off x="4987175" y="445500"/>
            <a:ext cx="3391500" cy="1985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How to integrate AI tools into real workflows?</a:t>
            </a:r>
            <a:endParaRPr sz="1300" b="1">
              <a:solidFill>
                <a:srgbClr val="FF0000"/>
              </a:solidFill>
              <a:latin typeface="Calibri"/>
              <a:ea typeface="Calibri"/>
              <a:cs typeface="Calibri"/>
              <a:sym typeface="Calibri"/>
            </a:endParaRPr>
          </a:p>
          <a:p>
            <a:pPr marL="0" lvl="0" indent="0" algn="l" rtl="0">
              <a:spcBef>
                <a:spcPts val="0"/>
              </a:spcBef>
              <a:spcAft>
                <a:spcPts val="0"/>
              </a:spcAft>
              <a:buNone/>
            </a:pP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 What should people learn</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 Who should businesses hire</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 Where should businesses start</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 Why do certain things</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 Why not do other things</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 What ethical guardrails should exist</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300">
                <a:solidFill>
                  <a:schemeClr val="dk1"/>
                </a:solidFill>
                <a:latin typeface="Calibri"/>
                <a:ea typeface="Calibri"/>
                <a:cs typeface="Calibri"/>
                <a:sym typeface="Calibri"/>
              </a:rPr>
              <a:t>- etc.</a:t>
            </a:r>
            <a:endParaRPr sz="1300">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sp>
        <p:nvSpPr>
          <p:cNvPr id="307" name="Google Shape;307;p35"/>
          <p:cNvSpPr txBox="1"/>
          <p:nvPr/>
        </p:nvSpPr>
        <p:spPr>
          <a:xfrm>
            <a:off x="0" y="0"/>
            <a:ext cx="2381100" cy="392400"/>
          </a:xfrm>
          <a:prstGeom prst="rect">
            <a:avLst/>
          </a:prstGeom>
          <a:noFill/>
          <a:ln>
            <a:noFill/>
          </a:ln>
        </p:spPr>
        <p:txBody>
          <a:bodyPr spcFirstLastPara="1" wrap="square" lIns="68575" tIns="34275" rIns="68575" bIns="34275" anchor="t" anchorCtr="0">
            <a:spAutoFit/>
          </a:bodyPr>
          <a:lstStyle/>
          <a:p>
            <a:pPr marL="0" marR="0" lvl="0" indent="0" algn="l" rtl="0">
              <a:spcBef>
                <a:spcPts val="0"/>
              </a:spcBef>
              <a:spcAft>
                <a:spcPts val="0"/>
              </a:spcAft>
              <a:buNone/>
            </a:pPr>
            <a:r>
              <a:rPr lang="en" sz="2100" b="1">
                <a:solidFill>
                  <a:schemeClr val="dk1"/>
                </a:solidFill>
                <a:latin typeface="Calibri"/>
                <a:ea typeface="Calibri"/>
                <a:cs typeface="Calibri"/>
                <a:sym typeface="Calibri"/>
              </a:rPr>
              <a:t>ArXiv.org</a:t>
            </a:r>
            <a:endParaRPr sz="1100"/>
          </a:p>
        </p:txBody>
      </p:sp>
      <p:sp>
        <p:nvSpPr>
          <p:cNvPr id="308" name="Google Shape;308;p35"/>
          <p:cNvSpPr txBox="1"/>
          <p:nvPr/>
        </p:nvSpPr>
        <p:spPr>
          <a:xfrm>
            <a:off x="0" y="447775"/>
            <a:ext cx="4326600" cy="869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68575" tIns="34275" rIns="68575" bIns="34275" anchor="t" anchorCtr="0">
            <a:spAutoFit/>
          </a:bodyPr>
          <a:lstStyle/>
          <a:p>
            <a:pPr marL="0" marR="0" lvl="0" indent="0" algn="l" rtl="0">
              <a:spcBef>
                <a:spcPts val="0"/>
              </a:spcBef>
              <a:spcAft>
                <a:spcPts val="0"/>
              </a:spcAft>
              <a:buNone/>
            </a:pPr>
            <a:r>
              <a:rPr lang="en" sz="1300" b="1">
                <a:solidFill>
                  <a:srgbClr val="FF0000"/>
                </a:solidFill>
                <a:latin typeface="Calibri"/>
                <a:ea typeface="Calibri"/>
                <a:cs typeface="Calibri"/>
                <a:sym typeface="Calibri"/>
              </a:rPr>
              <a:t>arXiv</a:t>
            </a:r>
            <a:r>
              <a:rPr lang="en" sz="1300">
                <a:solidFill>
                  <a:schemeClr val="dk1"/>
                </a:solidFill>
                <a:latin typeface="Calibri"/>
                <a:ea typeface="Calibri"/>
                <a:cs typeface="Calibri"/>
                <a:sym typeface="Calibri"/>
              </a:rPr>
              <a:t> is a </a:t>
            </a:r>
            <a:r>
              <a:rPr lang="en" sz="1300" b="1">
                <a:solidFill>
                  <a:srgbClr val="6AA84F"/>
                </a:solidFill>
                <a:latin typeface="Calibri"/>
                <a:ea typeface="Calibri"/>
                <a:cs typeface="Calibri"/>
                <a:sym typeface="Calibri"/>
              </a:rPr>
              <a:t>free distribution service</a:t>
            </a:r>
            <a:r>
              <a:rPr lang="en" sz="1300">
                <a:solidFill>
                  <a:schemeClr val="dk1"/>
                </a:solidFill>
                <a:latin typeface="Calibri"/>
                <a:ea typeface="Calibri"/>
                <a:cs typeface="Calibri"/>
                <a:sym typeface="Calibri"/>
              </a:rPr>
              <a:t> and an open-access archive </a:t>
            </a:r>
            <a:endParaRPr sz="1300">
              <a:latin typeface="Calibri"/>
              <a:ea typeface="Calibri"/>
              <a:cs typeface="Calibri"/>
              <a:sym typeface="Calibri"/>
            </a:endParaRPr>
          </a:p>
          <a:p>
            <a:pPr marL="0" marR="0" lvl="0" indent="0" algn="l" rtl="0">
              <a:spcBef>
                <a:spcPts val="0"/>
              </a:spcBef>
              <a:spcAft>
                <a:spcPts val="0"/>
              </a:spcAft>
              <a:buNone/>
            </a:pPr>
            <a:r>
              <a:rPr lang="en" sz="1300">
                <a:solidFill>
                  <a:schemeClr val="dk1"/>
                </a:solidFill>
                <a:latin typeface="Calibri"/>
                <a:ea typeface="Calibri"/>
                <a:cs typeface="Calibri"/>
                <a:sym typeface="Calibri"/>
              </a:rPr>
              <a:t>for ~ </a:t>
            </a:r>
            <a:r>
              <a:rPr lang="en" sz="1300" b="1">
                <a:solidFill>
                  <a:srgbClr val="FF0000"/>
                </a:solidFill>
                <a:latin typeface="Calibri"/>
                <a:ea typeface="Calibri"/>
                <a:cs typeface="Calibri"/>
                <a:sym typeface="Calibri"/>
              </a:rPr>
              <a:t>2.4 Mln scholarly articles</a:t>
            </a:r>
            <a:r>
              <a:rPr lang="en" sz="1300">
                <a:solidFill>
                  <a:schemeClr val="dk1"/>
                </a:solidFill>
                <a:latin typeface="Calibri"/>
                <a:ea typeface="Calibri"/>
                <a:cs typeface="Calibri"/>
                <a:sym typeface="Calibri"/>
              </a:rPr>
              <a:t> (physics, math, CS, biology, finance, statistics, electrical engineering and systems science, and economics).  </a:t>
            </a:r>
            <a:r>
              <a:rPr lang="en" sz="1300" b="1">
                <a:solidFill>
                  <a:srgbClr val="3C78D8"/>
                </a:solidFill>
                <a:latin typeface="Calibri"/>
                <a:ea typeface="Calibri"/>
                <a:cs typeface="Calibri"/>
                <a:sym typeface="Calibri"/>
              </a:rPr>
              <a:t>Materials are NOT peer-reviewed by arXiv.</a:t>
            </a:r>
            <a:endParaRPr sz="1300" b="1">
              <a:solidFill>
                <a:srgbClr val="3C78D8"/>
              </a:solidFill>
              <a:latin typeface="Calibri"/>
              <a:ea typeface="Calibri"/>
              <a:cs typeface="Calibri"/>
              <a:sym typeface="Calibri"/>
            </a:endParaRPr>
          </a:p>
        </p:txBody>
      </p:sp>
      <p:pic>
        <p:nvPicPr>
          <p:cNvPr id="309" name="Google Shape;309;p35"/>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7249467" y="123825"/>
            <a:ext cx="1516582" cy="1624000"/>
          </a:xfrm>
          <a:prstGeom prst="rect">
            <a:avLst/>
          </a:prstGeom>
          <a:noFill/>
          <a:ln>
            <a:noFill/>
          </a:ln>
        </p:spPr>
      </p:pic>
      <p:sp>
        <p:nvSpPr>
          <p:cNvPr id="310" name="Google Shape;310;p35"/>
          <p:cNvSpPr txBox="1"/>
          <p:nvPr/>
        </p:nvSpPr>
        <p:spPr>
          <a:xfrm>
            <a:off x="6944900" y="1770675"/>
            <a:ext cx="2178000" cy="792600"/>
          </a:xfrm>
          <a:prstGeom prst="rect">
            <a:avLst/>
          </a:prstGeom>
          <a:noFill/>
          <a:ln>
            <a:noFill/>
          </a:ln>
        </p:spPr>
        <p:txBody>
          <a:bodyPr spcFirstLastPara="1" wrap="square" lIns="68575" tIns="34275" rIns="68575" bIns="34275" anchor="t" anchorCtr="0">
            <a:spAutoFit/>
          </a:bodyPr>
          <a:lstStyle/>
          <a:p>
            <a:pPr marL="0" marR="0" lvl="0" indent="0" algn="ctr" rtl="0">
              <a:spcBef>
                <a:spcPts val="0"/>
              </a:spcBef>
              <a:spcAft>
                <a:spcPts val="0"/>
              </a:spcAft>
              <a:buNone/>
            </a:pPr>
            <a:r>
              <a:rPr lang="en" sz="2100" b="1">
                <a:solidFill>
                  <a:srgbClr val="00B050"/>
                </a:solidFill>
                <a:latin typeface="Calibri"/>
                <a:ea typeface="Calibri"/>
                <a:cs typeface="Calibri"/>
                <a:sym typeface="Calibri"/>
              </a:rPr>
              <a:t>Paul Ginsparg</a:t>
            </a:r>
            <a:endParaRPr sz="1100">
              <a:latin typeface="Calibri"/>
              <a:ea typeface="Calibri"/>
              <a:cs typeface="Calibri"/>
              <a:sym typeface="Calibri"/>
            </a:endParaRPr>
          </a:p>
          <a:p>
            <a:pPr marL="0" marR="0" lvl="0" indent="0" algn="ctr" rtl="0">
              <a:spcBef>
                <a:spcPts val="0"/>
              </a:spcBef>
              <a:spcAft>
                <a:spcPts val="0"/>
              </a:spcAft>
              <a:buNone/>
            </a:pPr>
            <a:r>
              <a:rPr lang="en" sz="1300">
                <a:solidFill>
                  <a:schemeClr val="dk1"/>
                </a:solidFill>
                <a:latin typeface="Calibri"/>
                <a:ea typeface="Calibri"/>
                <a:cs typeface="Calibri"/>
                <a:sym typeface="Calibri"/>
              </a:rPr>
              <a:t>Cornell Physics Professor</a:t>
            </a:r>
            <a:endParaRPr sz="1300">
              <a:latin typeface="Calibri"/>
              <a:ea typeface="Calibri"/>
              <a:cs typeface="Calibri"/>
              <a:sym typeface="Calibri"/>
            </a:endParaRPr>
          </a:p>
          <a:p>
            <a:pPr marL="0" marR="0" lvl="0" indent="0" algn="ctr" rtl="0">
              <a:spcBef>
                <a:spcPts val="0"/>
              </a:spcBef>
              <a:spcAft>
                <a:spcPts val="0"/>
              </a:spcAft>
              <a:buNone/>
            </a:pPr>
            <a:r>
              <a:rPr lang="en" sz="1300">
                <a:solidFill>
                  <a:schemeClr val="dk1"/>
                </a:solidFill>
                <a:latin typeface="Calibri"/>
                <a:ea typeface="Calibri"/>
                <a:cs typeface="Calibri"/>
                <a:sym typeface="Calibri"/>
              </a:rPr>
              <a:t>Started arXiv in 1991</a:t>
            </a:r>
            <a:endParaRPr sz="1300">
              <a:latin typeface="Calibri"/>
              <a:ea typeface="Calibri"/>
              <a:cs typeface="Calibri"/>
              <a:sym typeface="Calibri"/>
            </a:endParaRPr>
          </a:p>
        </p:txBody>
      </p:sp>
      <p:sp>
        <p:nvSpPr>
          <p:cNvPr id="311" name="Google Shape;311;p35"/>
          <p:cNvSpPr txBox="1"/>
          <p:nvPr/>
        </p:nvSpPr>
        <p:spPr>
          <a:xfrm>
            <a:off x="4051000" y="2590200"/>
            <a:ext cx="4995600" cy="2470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68575" tIns="34275" rIns="68575" bIns="34275" anchor="t" anchorCtr="0">
            <a:spAutoFit/>
          </a:bodyPr>
          <a:lstStyle/>
          <a:p>
            <a:pPr marL="0" marR="0" lvl="0" indent="0" algn="l" rtl="0">
              <a:spcBef>
                <a:spcPts val="0"/>
              </a:spcBef>
              <a:spcAft>
                <a:spcPts val="0"/>
              </a:spcAft>
              <a:buNone/>
            </a:pPr>
            <a:r>
              <a:rPr lang="en" sz="1300">
                <a:solidFill>
                  <a:schemeClr val="dk1"/>
                </a:solidFill>
                <a:latin typeface="Calibri"/>
                <a:ea typeface="Calibri"/>
                <a:cs typeface="Calibri"/>
                <a:sym typeface="Calibri"/>
              </a:rPr>
              <a:t>In 1989, </a:t>
            </a:r>
            <a:r>
              <a:rPr lang="en" sz="1300" b="1">
                <a:solidFill>
                  <a:srgbClr val="3C78D8"/>
                </a:solidFill>
                <a:latin typeface="Calibri"/>
                <a:ea typeface="Calibri"/>
                <a:cs typeface="Calibri"/>
                <a:sym typeface="Calibri"/>
              </a:rPr>
              <a:t>Joanne Cohn</a:t>
            </a:r>
            <a:r>
              <a:rPr lang="en" sz="1300">
                <a:solidFill>
                  <a:schemeClr val="dk1"/>
                </a:solidFill>
                <a:latin typeface="Calibri"/>
                <a:ea typeface="Calibri"/>
                <a:cs typeface="Calibri"/>
                <a:sym typeface="Calibri"/>
              </a:rPr>
              <a:t>, a physicist then at the Institute for Advanced Study, began distributing TeX files of string theory papers via email. </a:t>
            </a:r>
            <a:endParaRPr sz="1300">
              <a:solidFill>
                <a:schemeClr val="dk1"/>
              </a:solidFill>
              <a:latin typeface="Calibri"/>
              <a:ea typeface="Calibri"/>
              <a:cs typeface="Calibri"/>
              <a:sym typeface="Calibri"/>
            </a:endParaRPr>
          </a:p>
          <a:p>
            <a:pPr marL="0" marR="0" lvl="0" indent="0" algn="l" rtl="0">
              <a:spcBef>
                <a:spcPts val="0"/>
              </a:spcBef>
              <a:spcAft>
                <a:spcPts val="0"/>
              </a:spcAft>
              <a:buNone/>
            </a:pPr>
            <a:r>
              <a:rPr lang="en" sz="1300" u="sng">
                <a:solidFill>
                  <a:schemeClr val="hlink"/>
                </a:solidFill>
                <a:latin typeface="Calibri"/>
                <a:ea typeface="Calibri"/>
                <a:cs typeface="Calibri"/>
                <a:sym typeface="Calibri"/>
                <a:hlinkClick r:id="rId4"/>
              </a:rPr>
              <a:t>https://en.wikipedia.org/wiki/Joanne_Cohn</a:t>
            </a:r>
            <a:r>
              <a:rPr lang="en" sz="1300">
                <a:solidFill>
                  <a:schemeClr val="dk1"/>
                </a:solidFill>
                <a:latin typeface="Calibri"/>
                <a:ea typeface="Calibri"/>
                <a:cs typeface="Calibri"/>
                <a:sym typeface="Calibri"/>
              </a:rPr>
              <a:t> </a:t>
            </a:r>
            <a:endParaRPr sz="1300">
              <a:solidFill>
                <a:schemeClr val="dk1"/>
              </a:solidFill>
              <a:latin typeface="Calibri"/>
              <a:ea typeface="Calibri"/>
              <a:cs typeface="Calibri"/>
              <a:sym typeface="Calibri"/>
            </a:endParaRPr>
          </a:p>
          <a:p>
            <a:pPr marL="0" marR="0" lvl="0" indent="0" algn="l" rtl="0">
              <a:spcBef>
                <a:spcPts val="0"/>
              </a:spcBef>
              <a:spcAft>
                <a:spcPts val="0"/>
              </a:spcAft>
              <a:buNone/>
            </a:pPr>
            <a:r>
              <a:rPr lang="en" sz="1300">
                <a:solidFill>
                  <a:schemeClr val="dk1"/>
                </a:solidFill>
                <a:latin typeface="Calibri"/>
                <a:ea typeface="Calibri"/>
                <a:cs typeface="Calibri"/>
                <a:sym typeface="Calibri"/>
              </a:rPr>
              <a:t>By August of 1991, the email list had grown to 180 physicists—an unwieldy number for Cohn to individually respond to requests for papers. </a:t>
            </a:r>
            <a:endParaRPr sz="1300">
              <a:latin typeface="Calibri"/>
              <a:ea typeface="Calibri"/>
              <a:cs typeface="Calibri"/>
              <a:sym typeface="Calibri"/>
            </a:endParaRPr>
          </a:p>
          <a:p>
            <a:pPr marL="0" marR="0" lvl="0" indent="0" algn="l" rtl="0">
              <a:spcBef>
                <a:spcPts val="0"/>
              </a:spcBef>
              <a:spcAft>
                <a:spcPts val="0"/>
              </a:spcAft>
              <a:buNone/>
            </a:pPr>
            <a:r>
              <a:rPr lang="en" sz="1300">
                <a:solidFill>
                  <a:schemeClr val="dk1"/>
                </a:solidFill>
                <a:latin typeface="Calibri"/>
                <a:ea typeface="Calibri"/>
                <a:cs typeface="Calibri"/>
                <a:sym typeface="Calibri"/>
              </a:rPr>
              <a:t>As Cohn recounts, a young physicist then at Los Alamos National Laboratory offered to automate the list, and arXiv was born. </a:t>
            </a:r>
            <a:endParaRPr sz="1300">
              <a:latin typeface="Calibri"/>
              <a:ea typeface="Calibri"/>
              <a:cs typeface="Calibri"/>
              <a:sym typeface="Calibri"/>
            </a:endParaRPr>
          </a:p>
          <a:p>
            <a:pPr marL="0" marR="0" lvl="0" indent="0" algn="l" rtl="0">
              <a:spcBef>
                <a:spcPts val="0"/>
              </a:spcBef>
              <a:spcAft>
                <a:spcPts val="0"/>
              </a:spcAft>
              <a:buNone/>
            </a:pPr>
            <a:r>
              <a:rPr lang="en" sz="1300">
                <a:solidFill>
                  <a:schemeClr val="dk1"/>
                </a:solidFill>
                <a:latin typeface="Calibri"/>
                <a:ea typeface="Calibri"/>
                <a:cs typeface="Calibri"/>
                <a:sym typeface="Calibri"/>
              </a:rPr>
              <a:t>“Day one, something happened, day two, something happened. Day three, Ed Witten posted a paper,” said Cornell University physicist </a:t>
            </a:r>
            <a:r>
              <a:rPr lang="en" sz="1300" b="1">
                <a:solidFill>
                  <a:srgbClr val="00B050"/>
                </a:solidFill>
                <a:latin typeface="Calibri"/>
                <a:ea typeface="Calibri"/>
                <a:cs typeface="Calibri"/>
                <a:sym typeface="Calibri"/>
              </a:rPr>
              <a:t>Paul Ginsparg</a:t>
            </a:r>
            <a:r>
              <a:rPr lang="en" sz="1300">
                <a:solidFill>
                  <a:schemeClr val="dk1"/>
                </a:solidFill>
                <a:latin typeface="Calibri"/>
                <a:ea typeface="Calibri"/>
                <a:cs typeface="Calibri"/>
                <a:sym typeface="Calibri"/>
              </a:rPr>
              <a:t>, </a:t>
            </a:r>
            <a:r>
              <a:rPr lang="en" sz="1300" b="1">
                <a:solidFill>
                  <a:srgbClr val="3C78D8"/>
                </a:solidFill>
                <a:latin typeface="Calibri"/>
                <a:ea typeface="Calibri"/>
                <a:cs typeface="Calibri"/>
                <a:sym typeface="Calibri"/>
              </a:rPr>
              <a:t>founder of arXiv.org</a:t>
            </a:r>
            <a:r>
              <a:rPr lang="en" sz="1300">
                <a:solidFill>
                  <a:schemeClr val="dk1"/>
                </a:solidFill>
                <a:latin typeface="Calibri"/>
                <a:ea typeface="Calibri"/>
                <a:cs typeface="Calibri"/>
                <a:sym typeface="Calibri"/>
              </a:rPr>
              <a:t>. “That was when the entire community joined.”</a:t>
            </a:r>
            <a:endParaRPr sz="1300">
              <a:latin typeface="Calibri"/>
              <a:ea typeface="Calibri"/>
              <a:cs typeface="Calibri"/>
              <a:sym typeface="Calibri"/>
            </a:endParaRPr>
          </a:p>
        </p:txBody>
      </p:sp>
      <p:pic>
        <p:nvPicPr>
          <p:cNvPr id="312" name="Google Shape;312;p35"/>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939125" y="123825"/>
            <a:ext cx="1875450" cy="1875450"/>
          </a:xfrm>
          <a:prstGeom prst="rect">
            <a:avLst/>
          </a:prstGeom>
          <a:noFill/>
          <a:ln>
            <a:noFill/>
          </a:ln>
        </p:spPr>
      </p:pic>
      <p:pic>
        <p:nvPicPr>
          <p:cNvPr id="313" name="Google Shape;313;p35"/>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204600" y="1381550"/>
            <a:ext cx="3715115" cy="3679149"/>
          </a:xfrm>
          <a:prstGeom prst="rect">
            <a:avLst/>
          </a:prstGeom>
          <a:noFill/>
          <a:ln>
            <a:noFill/>
          </a:ln>
        </p:spPr>
      </p:pic>
      <p:sp>
        <p:nvSpPr>
          <p:cNvPr id="314" name="Google Shape;314;p35"/>
          <p:cNvSpPr txBox="1"/>
          <p:nvPr/>
        </p:nvSpPr>
        <p:spPr>
          <a:xfrm>
            <a:off x="3376275" y="53850"/>
            <a:ext cx="1634700" cy="284700"/>
          </a:xfrm>
          <a:prstGeom prst="rect">
            <a:avLst/>
          </a:prstGeom>
          <a:noFill/>
          <a:ln>
            <a:noFill/>
          </a:ln>
        </p:spPr>
        <p:txBody>
          <a:bodyPr spcFirstLastPara="1" wrap="square" lIns="68575" tIns="34275" rIns="68575" bIns="34275" anchor="t" anchorCtr="0">
            <a:spAutoFit/>
          </a:bodyPr>
          <a:lstStyle/>
          <a:p>
            <a:pPr marL="0" marR="0" lvl="0" indent="0" algn="l" rtl="0">
              <a:spcBef>
                <a:spcPts val="0"/>
              </a:spcBef>
              <a:spcAft>
                <a:spcPts val="0"/>
              </a:spcAft>
              <a:buNone/>
            </a:pPr>
            <a:r>
              <a:rPr lang="en" sz="1400" b="1">
                <a:solidFill>
                  <a:schemeClr val="dk1"/>
                </a:solidFill>
                <a:latin typeface="Calibri"/>
                <a:ea typeface="Calibri"/>
                <a:cs typeface="Calibri"/>
                <a:sym typeface="Calibri"/>
              </a:rPr>
              <a:t>Cornell University</a:t>
            </a:r>
            <a:endParaRPr sz="1100" b="1"/>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18"/>
        <p:cNvGrpSpPr/>
        <p:nvPr/>
      </p:nvGrpSpPr>
      <p:grpSpPr>
        <a:xfrm>
          <a:off x="0" y="0"/>
          <a:ext cx="0" cy="0"/>
          <a:chOff x="0" y="0"/>
          <a:chExt cx="0" cy="0"/>
        </a:xfrm>
      </p:grpSpPr>
      <p:sp>
        <p:nvSpPr>
          <p:cNvPr id="319" name="Google Shape;319;p36"/>
          <p:cNvSpPr txBox="1"/>
          <p:nvPr/>
        </p:nvSpPr>
        <p:spPr>
          <a:xfrm>
            <a:off x="101700" y="646875"/>
            <a:ext cx="6189600" cy="4356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n" sz="1300">
                <a:solidFill>
                  <a:srgbClr val="0F0F0F"/>
                </a:solidFill>
                <a:latin typeface="Calibri"/>
                <a:ea typeface="Calibri"/>
                <a:cs typeface="Calibri"/>
                <a:sym typeface="Calibri"/>
              </a:rPr>
              <a:t>Submission Guidelines: </a:t>
            </a:r>
            <a:r>
              <a:rPr lang="en" sz="1000" u="sng">
                <a:solidFill>
                  <a:schemeClr val="hlink"/>
                </a:solidFill>
                <a:latin typeface="Calibri"/>
                <a:ea typeface="Calibri"/>
                <a:cs typeface="Calibri"/>
                <a:sym typeface="Calibri"/>
                <a:hlinkClick r:id="rId3"/>
              </a:rPr>
              <a:t>https://info.arxiv.org/help/submit/index.html</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rgbClr val="0F0F0F"/>
                </a:solidFill>
                <a:latin typeface="Calibri"/>
                <a:ea typeface="Calibri"/>
                <a:cs typeface="Calibri"/>
                <a:sym typeface="Calibri"/>
              </a:rPr>
              <a:t>If first time - register (create account) on arXiv.org (email, username, password, ...)</a:t>
            </a:r>
            <a:endParaRPr sz="13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rgbClr val="0F0F0F"/>
                </a:solidFill>
                <a:latin typeface="Calibri"/>
                <a:ea typeface="Calibri"/>
                <a:cs typeface="Calibri"/>
                <a:sym typeface="Calibri"/>
              </a:rPr>
              <a:t>You may need an endorsement:</a:t>
            </a:r>
            <a:endParaRPr sz="13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000">
                <a:solidFill>
                  <a:srgbClr val="0F0F0F"/>
                </a:solidFill>
                <a:latin typeface="Calibri"/>
                <a:ea typeface="Calibri"/>
                <a:cs typeface="Calibri"/>
                <a:sym typeface="Calibri"/>
              </a:rPr>
              <a:t>   </a:t>
            </a:r>
            <a:r>
              <a:rPr lang="en" sz="1000" u="sng">
                <a:solidFill>
                  <a:schemeClr val="hlink"/>
                </a:solidFill>
                <a:latin typeface="Calibri"/>
                <a:ea typeface="Calibri"/>
                <a:cs typeface="Calibri"/>
                <a:sym typeface="Calibri"/>
                <a:hlinkClick r:id="rId4"/>
              </a:rPr>
              <a:t>https://info.arxiv.org/help/endorsement.html</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rgbClr val="0F0F0F"/>
                </a:solidFill>
                <a:latin typeface="Calibri"/>
                <a:ea typeface="Calibri"/>
                <a:cs typeface="Calibri"/>
                <a:sym typeface="Calibri"/>
              </a:rPr>
              <a:t>Follow arXiv's guidelines for formatting your paper (TeX/LaTeX or PDF)</a:t>
            </a:r>
            <a:endParaRPr sz="13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rgbClr val="0F0F0F"/>
                </a:solidFill>
                <a:latin typeface="Calibri"/>
                <a:ea typeface="Calibri"/>
                <a:cs typeface="Calibri"/>
                <a:sym typeface="Calibri"/>
              </a:rPr>
              <a:t>For example, use Google Docs to create your article, then download it as PDF:</a:t>
            </a:r>
            <a:endParaRPr sz="13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000">
                <a:solidFill>
                  <a:srgbClr val="0F0F0F"/>
                </a:solidFill>
                <a:latin typeface="Calibri"/>
                <a:ea typeface="Calibri"/>
                <a:cs typeface="Calibri"/>
                <a:sym typeface="Calibri"/>
              </a:rPr>
              <a:t>   </a:t>
            </a:r>
            <a:r>
              <a:rPr lang="en" sz="1000" u="sng">
                <a:solidFill>
                  <a:schemeClr val="hlink"/>
                </a:solidFill>
                <a:latin typeface="Calibri"/>
                <a:ea typeface="Calibri"/>
                <a:cs typeface="Calibri"/>
                <a:sym typeface="Calibri"/>
                <a:hlinkClick r:id="rId5"/>
              </a:rPr>
              <a:t>https://info.arxiv.org/help/submit_pdf.html</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Log in to your arXiv account, select Submit; </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fill out the necessary metadata (title, authors, abstract, and subject classification), </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then upload your PDF file and any supplemental material, select the appropriate subject area for your paper - and click Submit;</a:t>
            </a:r>
            <a:endParaRPr sz="13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rgbClr val="0F0F0F"/>
                </a:solidFill>
                <a:latin typeface="Calibri"/>
                <a:ea typeface="Calibri"/>
                <a:cs typeface="Calibri"/>
                <a:sym typeface="Calibri"/>
              </a:rPr>
              <a:t>then select Arxiv.org, download the zip file with submission files, then upload the zip file to arXiv</a:t>
            </a:r>
            <a:endParaRPr sz="13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0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rgbClr val="0F0F0F"/>
                </a:solidFill>
                <a:latin typeface="Calibri"/>
                <a:ea typeface="Calibri"/>
                <a:cs typeface="Calibri"/>
                <a:sym typeface="Calibri"/>
              </a:rPr>
              <a:t>All members must comply with arXiv's Code of Conduct.</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000">
                <a:solidFill>
                  <a:srgbClr val="0F0F0F"/>
                </a:solidFill>
                <a:latin typeface="Calibri"/>
                <a:ea typeface="Calibri"/>
                <a:cs typeface="Calibri"/>
                <a:sym typeface="Calibri"/>
              </a:rPr>
              <a:t>   </a:t>
            </a:r>
            <a:r>
              <a:rPr lang="en" sz="1000" u="sng">
                <a:solidFill>
                  <a:schemeClr val="hlink"/>
                </a:solidFill>
                <a:latin typeface="Calibri"/>
                <a:ea typeface="Calibri"/>
                <a:cs typeface="Calibri"/>
                <a:sym typeface="Calibri"/>
                <a:hlinkClick r:id="rId6"/>
              </a:rPr>
              <a:t>https://info.arxiv.org/help/policies/code_of_conduct.html</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0" lvl="0" indent="0" algn="l" rtl="0">
              <a:spcBef>
                <a:spcPts val="0"/>
              </a:spcBef>
              <a:spcAft>
                <a:spcPts val="0"/>
              </a:spcAft>
              <a:buNone/>
            </a:pPr>
            <a:endParaRPr sz="10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Common Subjects for LLM articles:</a:t>
            </a:r>
            <a:endParaRPr sz="1300">
              <a:solidFill>
                <a:srgbClr val="0F0F0F"/>
              </a:solidFill>
              <a:latin typeface="Calibri"/>
              <a:ea typeface="Calibri"/>
              <a:cs typeface="Calibri"/>
              <a:sym typeface="Calibri"/>
            </a:endParaRPr>
          </a:p>
          <a:p>
            <a:pPr marL="457200" lvl="0" indent="-3111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Machine Learning (cs.LG); </a:t>
            </a:r>
            <a:endParaRPr sz="1300">
              <a:solidFill>
                <a:srgbClr val="0F0F0F"/>
              </a:solidFill>
              <a:latin typeface="Calibri"/>
              <a:ea typeface="Calibri"/>
              <a:cs typeface="Calibri"/>
              <a:sym typeface="Calibri"/>
            </a:endParaRPr>
          </a:p>
          <a:p>
            <a:pPr marL="457200" lvl="0" indent="-3111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Artificial Intelligence (cs.AI); </a:t>
            </a:r>
            <a:endParaRPr sz="1300">
              <a:solidFill>
                <a:srgbClr val="0F0F0F"/>
              </a:solidFill>
              <a:latin typeface="Calibri"/>
              <a:ea typeface="Calibri"/>
              <a:cs typeface="Calibri"/>
              <a:sym typeface="Calibri"/>
            </a:endParaRPr>
          </a:p>
          <a:p>
            <a:pPr marL="457200" lvl="0" indent="-3111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Computation and Language (cs.CL)</a:t>
            </a:r>
            <a:endParaRPr sz="1300">
              <a:solidFill>
                <a:srgbClr val="0F0F0F"/>
              </a:solidFill>
              <a:latin typeface="Calibri"/>
              <a:ea typeface="Calibri"/>
              <a:cs typeface="Calibri"/>
              <a:sym typeface="Calibri"/>
            </a:endParaRPr>
          </a:p>
        </p:txBody>
      </p:sp>
      <p:sp>
        <p:nvSpPr>
          <p:cNvPr id="320" name="Google Shape;320;p36"/>
          <p:cNvSpPr txBox="1"/>
          <p:nvPr/>
        </p:nvSpPr>
        <p:spPr>
          <a:xfrm>
            <a:off x="0" y="0"/>
            <a:ext cx="4524900" cy="392400"/>
          </a:xfrm>
          <a:prstGeom prst="rect">
            <a:avLst/>
          </a:prstGeom>
          <a:noFill/>
          <a:ln>
            <a:noFill/>
          </a:ln>
        </p:spPr>
        <p:txBody>
          <a:bodyPr spcFirstLastPara="1" wrap="square" lIns="68575" tIns="34275" rIns="68575" bIns="34275" anchor="t" anchorCtr="0">
            <a:spAutoFit/>
          </a:bodyPr>
          <a:lstStyle/>
          <a:p>
            <a:pPr marL="0" marR="0" lvl="0" indent="0" algn="l" rtl="0">
              <a:spcBef>
                <a:spcPts val="0"/>
              </a:spcBef>
              <a:spcAft>
                <a:spcPts val="0"/>
              </a:spcAft>
              <a:buNone/>
            </a:pPr>
            <a:r>
              <a:rPr lang="en" sz="2100" b="1">
                <a:solidFill>
                  <a:schemeClr val="dk1"/>
                </a:solidFill>
                <a:latin typeface="Calibri"/>
                <a:ea typeface="Calibri"/>
                <a:cs typeface="Calibri"/>
                <a:sym typeface="Calibri"/>
              </a:rPr>
              <a:t>ArXiv.org - submit papers</a:t>
            </a:r>
            <a:endParaRPr sz="110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25" name="Google Shape;325;p37"/>
          <p:cNvSpPr txBox="1"/>
          <p:nvPr/>
        </p:nvSpPr>
        <p:spPr>
          <a:xfrm>
            <a:off x="72300" y="0"/>
            <a:ext cx="24576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Tiny LLMs - 1B, 3B, 7B</a:t>
            </a:r>
            <a:endParaRPr sz="2000" b="1">
              <a:latin typeface="Calibri"/>
              <a:ea typeface="Calibri"/>
              <a:cs typeface="Calibri"/>
              <a:sym typeface="Calibri"/>
            </a:endParaRPr>
          </a:p>
        </p:txBody>
      </p:sp>
      <p:sp>
        <p:nvSpPr>
          <p:cNvPr id="326" name="Google Shape;326;p37"/>
          <p:cNvSpPr txBox="1"/>
          <p:nvPr/>
        </p:nvSpPr>
        <p:spPr>
          <a:xfrm>
            <a:off x="72300" y="631200"/>
            <a:ext cx="4914000" cy="3955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n" sz="1300">
                <a:solidFill>
                  <a:srgbClr val="0F0F0F"/>
                </a:solidFill>
                <a:latin typeface="Calibri"/>
                <a:ea typeface="Calibri"/>
                <a:cs typeface="Calibri"/>
                <a:sym typeface="Calibri"/>
              </a:rPr>
              <a:t>Small models are great because they can be easily trained/fine-tuned as needed for specific narrow tasks - and can run "on Edge" devices</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The Best Tiny LLMs (less than 3B parameters)</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800">
                <a:solidFill>
                  <a:srgbClr val="0F0F0F"/>
                </a:solidFill>
                <a:latin typeface="Calibri"/>
                <a:ea typeface="Calibri"/>
                <a:cs typeface="Calibri"/>
                <a:sym typeface="Calibri"/>
              </a:rPr>
              <a:t>.. </a:t>
            </a:r>
            <a:r>
              <a:rPr lang="en" sz="800" u="sng">
                <a:solidFill>
                  <a:schemeClr val="hlink"/>
                </a:solidFill>
                <a:latin typeface="Calibri"/>
                <a:ea typeface="Calibri"/>
                <a:cs typeface="Calibri"/>
                <a:sym typeface="Calibri"/>
                <a:hlinkClick r:id="rId3"/>
              </a:rPr>
              <a:t>https://www.geeky-gadgets.com/the-best-tiny-small-and-compact-llms-currently-available/</a:t>
            </a:r>
            <a:endParaRPr sz="800">
              <a:solidFill>
                <a:srgbClr val="0F0F0F"/>
              </a:solidFill>
              <a:latin typeface="Calibri"/>
              <a:ea typeface="Calibri"/>
              <a:cs typeface="Calibri"/>
              <a:sym typeface="Calibri"/>
            </a:endParaRPr>
          </a:p>
          <a:p>
            <a:pPr marL="0" lvl="0" indent="0" algn="l" rtl="0">
              <a:spcBef>
                <a:spcPts val="0"/>
              </a:spcBef>
              <a:spcAft>
                <a:spcPts val="0"/>
              </a:spcAft>
              <a:buNone/>
            </a:pPr>
            <a:r>
              <a:rPr lang="en" sz="800">
                <a:solidFill>
                  <a:srgbClr val="0F0F0F"/>
                </a:solidFill>
                <a:latin typeface="Calibri"/>
                <a:ea typeface="Calibri"/>
                <a:cs typeface="Calibri"/>
                <a:sym typeface="Calibri"/>
              </a:rPr>
              <a:t>.. </a:t>
            </a:r>
            <a:r>
              <a:rPr lang="en" sz="800" u="sng">
                <a:solidFill>
                  <a:schemeClr val="hlink"/>
                </a:solidFill>
                <a:latin typeface="Calibri"/>
                <a:ea typeface="Calibri"/>
                <a:cs typeface="Calibri"/>
                <a:sym typeface="Calibri"/>
                <a:hlinkClick r:id="rId4"/>
              </a:rPr>
              <a:t>https://www.youtube.com/watch?v=yxWUHDfix_c</a:t>
            </a:r>
            <a:endParaRPr sz="8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rgbClr val="0F0F0F"/>
                </a:solidFill>
                <a:latin typeface="Calibri"/>
                <a:ea typeface="Calibri"/>
                <a:cs typeface="Calibri"/>
                <a:sym typeface="Calibri"/>
              </a:rPr>
              <a:t>Here are some tiny models to consider:</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b="1">
                <a:solidFill>
                  <a:srgbClr val="FF0000"/>
                </a:solidFill>
                <a:latin typeface="Calibri"/>
                <a:ea typeface="Calibri"/>
                <a:cs typeface="Calibri"/>
                <a:sym typeface="Calibri"/>
              </a:rPr>
              <a:t>Phi 2</a:t>
            </a:r>
            <a:r>
              <a:rPr lang="en" sz="1300">
                <a:solidFill>
                  <a:srgbClr val="0F0F0F"/>
                </a:solidFill>
                <a:latin typeface="Calibri"/>
                <a:ea typeface="Calibri"/>
                <a:cs typeface="Calibri"/>
                <a:sym typeface="Calibri"/>
              </a:rPr>
              <a:t> - 2.7B params - Microsoft </a:t>
            </a:r>
            <a:br>
              <a:rPr lang="en" sz="1300">
                <a:solidFill>
                  <a:srgbClr val="0F0F0F"/>
                </a:solidFill>
                <a:latin typeface="Calibri"/>
                <a:ea typeface="Calibri"/>
                <a:cs typeface="Calibri"/>
                <a:sym typeface="Calibri"/>
              </a:rPr>
            </a:br>
            <a:r>
              <a:rPr lang="en" sz="1000" u="sng">
                <a:solidFill>
                  <a:schemeClr val="hlink"/>
                </a:solidFill>
                <a:latin typeface="Calibri"/>
                <a:ea typeface="Calibri"/>
                <a:cs typeface="Calibri"/>
                <a:sym typeface="Calibri"/>
                <a:hlinkClick r:id="rId5"/>
              </a:rPr>
              <a:t>https://huggingface.co/microsoft/phi-2</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b="1">
                <a:solidFill>
                  <a:srgbClr val="FF0000"/>
                </a:solidFill>
                <a:latin typeface="Calibri"/>
                <a:ea typeface="Calibri"/>
                <a:cs typeface="Calibri"/>
                <a:sym typeface="Calibri"/>
              </a:rPr>
              <a:t>DeepSeek Coder</a:t>
            </a:r>
            <a:r>
              <a:rPr lang="en" sz="1300">
                <a:solidFill>
                  <a:srgbClr val="0F0F0F"/>
                </a:solidFill>
                <a:latin typeface="Calibri"/>
                <a:ea typeface="Calibri"/>
                <a:cs typeface="Calibri"/>
                <a:sym typeface="Calibri"/>
              </a:rPr>
              <a:t> 1.3B params, trained on 2T tokens, </a:t>
            </a:r>
            <a:br>
              <a:rPr lang="en" sz="1300">
                <a:solidFill>
                  <a:srgbClr val="0F0F0F"/>
                </a:solidFill>
                <a:latin typeface="Calibri"/>
                <a:ea typeface="Calibri"/>
                <a:cs typeface="Calibri"/>
                <a:sym typeface="Calibri"/>
              </a:rPr>
            </a:br>
            <a:r>
              <a:rPr lang="en" sz="1300">
                <a:solidFill>
                  <a:srgbClr val="0F0F0F"/>
                </a:solidFill>
                <a:latin typeface="Calibri"/>
                <a:ea typeface="Calibri"/>
                <a:cs typeface="Calibri"/>
                <a:sym typeface="Calibri"/>
              </a:rPr>
              <a:t>multiple programming languages</a:t>
            </a:r>
            <a:br>
              <a:rPr lang="en" sz="1300">
                <a:solidFill>
                  <a:srgbClr val="0F0F0F"/>
                </a:solidFill>
                <a:latin typeface="Calibri"/>
                <a:ea typeface="Calibri"/>
                <a:cs typeface="Calibri"/>
                <a:sym typeface="Calibri"/>
              </a:rPr>
            </a:br>
            <a:r>
              <a:rPr lang="en" sz="1000" u="sng">
                <a:solidFill>
                  <a:schemeClr val="hlink"/>
                </a:solidFill>
                <a:latin typeface="Calibri"/>
                <a:ea typeface="Calibri"/>
                <a:cs typeface="Calibri"/>
                <a:sym typeface="Calibri"/>
                <a:hlinkClick r:id="rId6"/>
              </a:rPr>
              <a:t>https://huggingface.co/deepseek-ai/deepseek-coder-1.3b-instruct</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b="1">
                <a:solidFill>
                  <a:srgbClr val="FF0000"/>
                </a:solidFill>
                <a:latin typeface="Calibri"/>
                <a:ea typeface="Calibri"/>
                <a:cs typeface="Calibri"/>
                <a:sym typeface="Calibri"/>
              </a:rPr>
              <a:t>TinyLlama</a:t>
            </a:r>
            <a:r>
              <a:rPr lang="en" sz="1300">
                <a:solidFill>
                  <a:srgbClr val="0F0F0F"/>
                </a:solidFill>
                <a:latin typeface="Calibri"/>
                <a:ea typeface="Calibri"/>
                <a:cs typeface="Calibri"/>
                <a:sym typeface="Calibri"/>
              </a:rPr>
              <a:t>  1.1B params, pre-trained on 3T tokens</a:t>
            </a:r>
            <a:br>
              <a:rPr lang="en" sz="1300">
                <a:solidFill>
                  <a:srgbClr val="0F0F0F"/>
                </a:solidFill>
                <a:latin typeface="Calibri"/>
                <a:ea typeface="Calibri"/>
                <a:cs typeface="Calibri"/>
                <a:sym typeface="Calibri"/>
              </a:rPr>
            </a:br>
            <a:r>
              <a:rPr lang="en" sz="1000" u="sng">
                <a:solidFill>
                  <a:schemeClr val="hlink"/>
                </a:solidFill>
                <a:latin typeface="Calibri"/>
                <a:ea typeface="Calibri"/>
                <a:cs typeface="Calibri"/>
                <a:sym typeface="Calibri"/>
                <a:hlinkClick r:id="rId7"/>
              </a:rPr>
              <a:t>https://huggingface.co/TinyLlama/TinyLlama-1.1B-Chat-v1.0</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b="1">
                <a:solidFill>
                  <a:srgbClr val="FF0000"/>
                </a:solidFill>
                <a:latin typeface="Calibri"/>
                <a:ea typeface="Calibri"/>
                <a:cs typeface="Calibri"/>
                <a:sym typeface="Calibri"/>
              </a:rPr>
              <a:t>Trelis Tiny</a:t>
            </a:r>
            <a:r>
              <a:rPr lang="en" sz="1300">
                <a:solidFill>
                  <a:srgbClr val="0F0F0F"/>
                </a:solidFill>
                <a:latin typeface="Calibri"/>
                <a:ea typeface="Calibri"/>
                <a:cs typeface="Calibri"/>
                <a:sym typeface="Calibri"/>
              </a:rPr>
              <a:t> - 1.3B params, function calling, fast</a:t>
            </a:r>
            <a:br>
              <a:rPr lang="en" sz="1300">
                <a:solidFill>
                  <a:srgbClr val="0F0F0F"/>
                </a:solidFill>
                <a:latin typeface="Calibri"/>
                <a:ea typeface="Calibri"/>
                <a:cs typeface="Calibri"/>
                <a:sym typeface="Calibri"/>
              </a:rPr>
            </a:br>
            <a:r>
              <a:rPr lang="en" sz="1000" u="sng">
                <a:solidFill>
                  <a:schemeClr val="hlink"/>
                </a:solidFill>
                <a:latin typeface="Calibri"/>
                <a:ea typeface="Calibri"/>
                <a:cs typeface="Calibri"/>
                <a:sym typeface="Calibri"/>
                <a:hlinkClick r:id="rId8"/>
              </a:rPr>
              <a:t>https://huggingface.co/Trelis/Tiny</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b="1">
                <a:solidFill>
                  <a:srgbClr val="FF0000"/>
                </a:solidFill>
                <a:latin typeface="Calibri"/>
                <a:ea typeface="Calibri"/>
                <a:cs typeface="Calibri"/>
                <a:sym typeface="Calibri"/>
              </a:rPr>
              <a:t>StableLM Zephyr 3B</a:t>
            </a:r>
            <a:r>
              <a:rPr lang="en" sz="1300">
                <a:solidFill>
                  <a:srgbClr val="0F0F0F"/>
                </a:solidFill>
                <a:latin typeface="Calibri"/>
                <a:ea typeface="Calibri"/>
                <a:cs typeface="Calibri"/>
                <a:sym typeface="Calibri"/>
              </a:rPr>
              <a:t> - 3B params</a:t>
            </a:r>
            <a:br>
              <a:rPr lang="en" sz="1300">
                <a:solidFill>
                  <a:srgbClr val="0F0F0F"/>
                </a:solidFill>
                <a:latin typeface="Calibri"/>
                <a:ea typeface="Calibri"/>
                <a:cs typeface="Calibri"/>
                <a:sym typeface="Calibri"/>
              </a:rPr>
            </a:br>
            <a:r>
              <a:rPr lang="en" sz="1000" u="sng">
                <a:solidFill>
                  <a:schemeClr val="hlink"/>
                </a:solidFill>
                <a:latin typeface="Calibri"/>
                <a:ea typeface="Calibri"/>
                <a:cs typeface="Calibri"/>
                <a:sym typeface="Calibri"/>
                <a:hlinkClick r:id="rId9"/>
              </a:rPr>
              <a:t>https://huggingface.co/stabilityai/stablelm-zephyr-3b</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b="1">
                <a:solidFill>
                  <a:srgbClr val="FF0000"/>
                </a:solidFill>
                <a:latin typeface="Calibri"/>
                <a:ea typeface="Calibri"/>
                <a:cs typeface="Calibri"/>
                <a:sym typeface="Calibri"/>
              </a:rPr>
              <a:t>Phixtral</a:t>
            </a:r>
            <a:r>
              <a:rPr lang="en" sz="1300">
                <a:solidFill>
                  <a:srgbClr val="0F0F0F"/>
                </a:solidFill>
                <a:latin typeface="Calibri"/>
                <a:ea typeface="Calibri"/>
                <a:cs typeface="Calibri"/>
                <a:sym typeface="Calibri"/>
              </a:rPr>
              <a:t> - Mixture of Experts based on Phi-2</a:t>
            </a:r>
            <a:br>
              <a:rPr lang="en" sz="1300">
                <a:solidFill>
                  <a:srgbClr val="0F0F0F"/>
                </a:solidFill>
                <a:latin typeface="Calibri"/>
                <a:ea typeface="Calibri"/>
                <a:cs typeface="Calibri"/>
                <a:sym typeface="Calibri"/>
              </a:rPr>
            </a:br>
            <a:r>
              <a:rPr lang="en" sz="1000" u="sng">
                <a:solidFill>
                  <a:schemeClr val="hlink"/>
                </a:solidFill>
                <a:latin typeface="Calibri"/>
                <a:ea typeface="Calibri"/>
                <a:cs typeface="Calibri"/>
                <a:sym typeface="Calibri"/>
                <a:hlinkClick r:id="rId10"/>
              </a:rPr>
              <a:t>https://huggingface.co/mlabonne/phixtral-2x2_8</a:t>
            </a:r>
            <a:r>
              <a:rPr lang="en" sz="1000">
                <a:solidFill>
                  <a:srgbClr val="0F0F0F"/>
                </a:solidFill>
                <a:latin typeface="Calibri"/>
                <a:ea typeface="Calibri"/>
                <a:cs typeface="Calibri"/>
                <a:sym typeface="Calibri"/>
              </a:rPr>
              <a:t> </a:t>
            </a:r>
            <a:endParaRPr sz="1300">
              <a:solidFill>
                <a:srgbClr val="0F0F0F"/>
              </a:solidFill>
              <a:latin typeface="Calibri"/>
              <a:ea typeface="Calibri"/>
              <a:cs typeface="Calibri"/>
              <a:sym typeface="Calibri"/>
            </a:endParaRPr>
          </a:p>
        </p:txBody>
      </p:sp>
      <p:sp>
        <p:nvSpPr>
          <p:cNvPr id="327" name="Google Shape;327;p37"/>
          <p:cNvSpPr txBox="1"/>
          <p:nvPr/>
        </p:nvSpPr>
        <p:spPr>
          <a:xfrm>
            <a:off x="5113225" y="3139400"/>
            <a:ext cx="3163200" cy="149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Offline AI on iOS &amp; Android (training and fine-tuning) - by Siraj Raval</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11"/>
              </a:rPr>
              <a:t>https://www.youtube.com/watch?v=c8YM15v9w8M</a:t>
            </a:r>
            <a:endParaRPr sz="10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Doctor Dignity - a LLM that can pass the US Medical Licensing Exam, based on LLaMa-7B</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12"/>
              </a:rPr>
              <a:t>https://github.com/llSourcell/Doctor-Dignity</a:t>
            </a:r>
            <a:endParaRPr sz="1000">
              <a:solidFill>
                <a:srgbClr val="0F0F0F"/>
              </a:solidFill>
              <a:latin typeface="Calibri"/>
              <a:ea typeface="Calibri"/>
              <a:cs typeface="Calibri"/>
              <a:sym typeface="Calibri"/>
            </a:endParaRPr>
          </a:p>
        </p:txBody>
      </p:sp>
      <p:sp>
        <p:nvSpPr>
          <p:cNvPr id="328" name="Google Shape;328;p37"/>
          <p:cNvSpPr txBox="1"/>
          <p:nvPr/>
        </p:nvSpPr>
        <p:spPr>
          <a:xfrm>
            <a:off x="5113225" y="1857212"/>
            <a:ext cx="3163200" cy="1215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Mistral 7B</a:t>
            </a:r>
            <a:r>
              <a:rPr lang="en" sz="1300">
                <a:solidFill>
                  <a:srgbClr val="0F0F0F"/>
                </a:solidFill>
                <a:latin typeface="Calibri"/>
                <a:ea typeface="Calibri"/>
                <a:cs typeface="Calibri"/>
                <a:sym typeface="Calibri"/>
              </a:rPr>
              <a:t> - tuned versions</a:t>
            </a:r>
            <a:endParaRPr sz="1300">
              <a:solidFill>
                <a:srgbClr val="0F0F0F"/>
              </a:solidFill>
              <a:latin typeface="Calibri"/>
              <a:ea typeface="Calibri"/>
              <a:cs typeface="Calibri"/>
              <a:sym typeface="Calibri"/>
            </a:endParaRPr>
          </a:p>
          <a:p>
            <a:pPr marL="228600" lvl="0" indent="-171450" algn="l" rtl="0">
              <a:spcBef>
                <a:spcPts val="0"/>
              </a:spcBef>
              <a:spcAft>
                <a:spcPts val="0"/>
              </a:spcAft>
              <a:buClr>
                <a:srgbClr val="0F0F0F"/>
              </a:buClr>
              <a:buSzPts val="900"/>
              <a:buFont typeface="Calibri"/>
              <a:buChar char="●"/>
            </a:pPr>
            <a:r>
              <a:rPr lang="en" sz="900">
                <a:solidFill>
                  <a:srgbClr val="0F0F0F"/>
                </a:solidFill>
                <a:latin typeface="Calibri"/>
                <a:ea typeface="Calibri"/>
                <a:cs typeface="Calibri"/>
                <a:sym typeface="Calibri"/>
              </a:rPr>
              <a:t>Starling-LM-7B-alpha</a:t>
            </a:r>
            <a:endParaRPr sz="900">
              <a:solidFill>
                <a:srgbClr val="0F0F0F"/>
              </a:solidFill>
              <a:latin typeface="Calibri"/>
              <a:ea typeface="Calibri"/>
              <a:cs typeface="Calibri"/>
              <a:sym typeface="Calibri"/>
            </a:endParaRPr>
          </a:p>
          <a:p>
            <a:pPr marL="228600" lvl="0" indent="-114300" algn="l" rtl="0">
              <a:spcBef>
                <a:spcPts val="0"/>
              </a:spcBef>
              <a:spcAft>
                <a:spcPts val="0"/>
              </a:spcAft>
              <a:buNone/>
            </a:pPr>
            <a:r>
              <a:rPr lang="en" sz="900" u="sng">
                <a:solidFill>
                  <a:schemeClr val="hlink"/>
                </a:solidFill>
                <a:latin typeface="Calibri"/>
                <a:ea typeface="Calibri"/>
                <a:cs typeface="Calibri"/>
                <a:sym typeface="Calibri"/>
                <a:hlinkClick r:id="rId13"/>
              </a:rPr>
              <a:t>https://huggingface.co/berkeley-nest/Starling-LM-7B-alpha</a:t>
            </a:r>
            <a:r>
              <a:rPr lang="en" sz="900">
                <a:solidFill>
                  <a:srgbClr val="0F0F0F"/>
                </a:solidFill>
                <a:latin typeface="Calibri"/>
                <a:ea typeface="Calibri"/>
                <a:cs typeface="Calibri"/>
                <a:sym typeface="Calibri"/>
              </a:rPr>
              <a:t> </a:t>
            </a:r>
            <a:endParaRPr sz="900">
              <a:solidFill>
                <a:srgbClr val="0F0F0F"/>
              </a:solidFill>
              <a:latin typeface="Calibri"/>
              <a:ea typeface="Calibri"/>
              <a:cs typeface="Calibri"/>
              <a:sym typeface="Calibri"/>
            </a:endParaRPr>
          </a:p>
          <a:p>
            <a:pPr marL="228600" lvl="0" indent="-171450" algn="l" rtl="0">
              <a:spcBef>
                <a:spcPts val="0"/>
              </a:spcBef>
              <a:spcAft>
                <a:spcPts val="0"/>
              </a:spcAft>
              <a:buClr>
                <a:srgbClr val="0F0F0F"/>
              </a:buClr>
              <a:buSzPts val="900"/>
              <a:buFont typeface="Calibri"/>
              <a:buChar char="●"/>
            </a:pPr>
            <a:r>
              <a:rPr lang="en" sz="900">
                <a:solidFill>
                  <a:srgbClr val="0F0F0F"/>
                </a:solidFill>
                <a:latin typeface="Calibri"/>
                <a:ea typeface="Calibri"/>
                <a:cs typeface="Calibri"/>
                <a:sym typeface="Calibri"/>
              </a:rPr>
              <a:t>OpenHermes-2.5-Mistral-7B </a:t>
            </a:r>
            <a:endParaRPr sz="900">
              <a:solidFill>
                <a:srgbClr val="0F0F0F"/>
              </a:solidFill>
              <a:latin typeface="Calibri"/>
              <a:ea typeface="Calibri"/>
              <a:cs typeface="Calibri"/>
              <a:sym typeface="Calibri"/>
            </a:endParaRPr>
          </a:p>
          <a:p>
            <a:pPr marL="228600" lvl="0" indent="-114300" algn="l" rtl="0">
              <a:spcBef>
                <a:spcPts val="0"/>
              </a:spcBef>
              <a:spcAft>
                <a:spcPts val="0"/>
              </a:spcAft>
              <a:buNone/>
            </a:pPr>
            <a:r>
              <a:rPr lang="en" sz="900" u="sng">
                <a:solidFill>
                  <a:schemeClr val="hlink"/>
                </a:solidFill>
                <a:latin typeface="Calibri"/>
                <a:ea typeface="Calibri"/>
                <a:cs typeface="Calibri"/>
                <a:sym typeface="Calibri"/>
                <a:hlinkClick r:id="rId14"/>
              </a:rPr>
              <a:t>https://huggingface.co/teknium/OpenHermes-2.5-Mistral-7B</a:t>
            </a:r>
            <a:r>
              <a:rPr lang="en" sz="900">
                <a:solidFill>
                  <a:srgbClr val="0F0F0F"/>
                </a:solidFill>
                <a:latin typeface="Calibri"/>
                <a:ea typeface="Calibri"/>
                <a:cs typeface="Calibri"/>
                <a:sym typeface="Calibri"/>
              </a:rPr>
              <a:t> </a:t>
            </a:r>
            <a:endParaRPr sz="900">
              <a:solidFill>
                <a:srgbClr val="0F0F0F"/>
              </a:solidFill>
              <a:latin typeface="Calibri"/>
              <a:ea typeface="Calibri"/>
              <a:cs typeface="Calibri"/>
              <a:sym typeface="Calibri"/>
            </a:endParaRPr>
          </a:p>
          <a:p>
            <a:pPr marL="228600" lvl="0" indent="-171450" algn="l" rtl="0">
              <a:spcBef>
                <a:spcPts val="0"/>
              </a:spcBef>
              <a:spcAft>
                <a:spcPts val="0"/>
              </a:spcAft>
              <a:buClr>
                <a:srgbClr val="0F0F0F"/>
              </a:buClr>
              <a:buSzPts val="900"/>
              <a:buFont typeface="Calibri"/>
              <a:buChar char="●"/>
            </a:pPr>
            <a:r>
              <a:rPr lang="en" sz="900">
                <a:solidFill>
                  <a:srgbClr val="0F0F0F"/>
                </a:solidFill>
                <a:latin typeface="Calibri"/>
                <a:ea typeface="Calibri"/>
                <a:cs typeface="Calibri"/>
                <a:sym typeface="Calibri"/>
              </a:rPr>
              <a:t>openchat_3.5</a:t>
            </a:r>
            <a:br>
              <a:rPr lang="en" sz="900">
                <a:solidFill>
                  <a:srgbClr val="0F0F0F"/>
                </a:solidFill>
                <a:latin typeface="Calibri"/>
                <a:ea typeface="Calibri"/>
                <a:cs typeface="Calibri"/>
                <a:sym typeface="Calibri"/>
              </a:rPr>
            </a:br>
            <a:r>
              <a:rPr lang="en" sz="900" u="sng">
                <a:solidFill>
                  <a:schemeClr val="hlink"/>
                </a:solidFill>
                <a:latin typeface="Calibri"/>
                <a:ea typeface="Calibri"/>
                <a:cs typeface="Calibri"/>
                <a:sym typeface="Calibri"/>
                <a:hlinkClick r:id="rId15"/>
              </a:rPr>
              <a:t>https://huggingface.co/openchat/openchat_3.5</a:t>
            </a:r>
            <a:r>
              <a:rPr lang="en" sz="900">
                <a:solidFill>
                  <a:srgbClr val="0F0F0F"/>
                </a:solidFill>
                <a:latin typeface="Calibri"/>
                <a:ea typeface="Calibri"/>
                <a:cs typeface="Calibri"/>
                <a:sym typeface="Calibri"/>
              </a:rPr>
              <a:t> </a:t>
            </a:r>
            <a:endParaRPr sz="900">
              <a:solidFill>
                <a:srgbClr val="0F0F0F"/>
              </a:solidFill>
              <a:latin typeface="Calibri"/>
              <a:ea typeface="Calibri"/>
              <a:cs typeface="Calibri"/>
              <a:sym typeface="Calibri"/>
            </a:endParaRPr>
          </a:p>
        </p:txBody>
      </p:sp>
      <p:sp>
        <p:nvSpPr>
          <p:cNvPr id="329" name="Google Shape;329;p37"/>
          <p:cNvSpPr txBox="1"/>
          <p:nvPr/>
        </p:nvSpPr>
        <p:spPr>
          <a:xfrm>
            <a:off x="5113225" y="540409"/>
            <a:ext cx="3163200" cy="124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Mistral 7B</a:t>
            </a:r>
            <a:r>
              <a:rPr lang="en" sz="1300">
                <a:solidFill>
                  <a:srgbClr val="0F0F0F"/>
                </a:solidFill>
                <a:latin typeface="Calibri"/>
                <a:ea typeface="Calibri"/>
                <a:cs typeface="Calibri"/>
                <a:sym typeface="Calibri"/>
              </a:rPr>
              <a:t> locally on iPhone or iPad</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16"/>
              </a:rPr>
              <a:t>https://www.youtube.com/watch?v=5QEDNZlDf-c</a:t>
            </a:r>
            <a:r>
              <a:rPr lang="en" sz="1000">
                <a:solidFill>
                  <a:srgbClr val="0F0F0F"/>
                </a:solidFill>
                <a:latin typeface="Calibri"/>
                <a:ea typeface="Calibri"/>
                <a:cs typeface="Calibri"/>
                <a:sym typeface="Calibri"/>
              </a:rPr>
              <a:t> </a:t>
            </a:r>
            <a:br>
              <a:rPr lang="en" sz="1000">
                <a:solidFill>
                  <a:srgbClr val="0F0F0F"/>
                </a:solidFill>
                <a:latin typeface="Calibri"/>
                <a:ea typeface="Calibri"/>
                <a:cs typeface="Calibri"/>
                <a:sym typeface="Calibri"/>
              </a:rPr>
            </a:br>
            <a:r>
              <a:rPr lang="en" sz="1300">
                <a:solidFill>
                  <a:srgbClr val="0F0F0F"/>
                </a:solidFill>
                <a:latin typeface="Calibri"/>
                <a:ea typeface="Calibri"/>
                <a:cs typeface="Calibri"/>
                <a:sym typeface="Calibri"/>
              </a:rPr>
              <a:t>using </a:t>
            </a:r>
            <a:r>
              <a:rPr lang="en" sz="1300" b="1">
                <a:solidFill>
                  <a:srgbClr val="FF0000"/>
                </a:solidFill>
                <a:latin typeface="Calibri"/>
                <a:ea typeface="Calibri"/>
                <a:cs typeface="Calibri"/>
                <a:sym typeface="Calibri"/>
              </a:rPr>
              <a:t>TestFlight</a:t>
            </a:r>
            <a:r>
              <a:rPr lang="en" sz="1300">
                <a:solidFill>
                  <a:srgbClr val="0F0F0F"/>
                </a:solidFill>
                <a:latin typeface="Calibri"/>
                <a:ea typeface="Calibri"/>
                <a:cs typeface="Calibri"/>
                <a:sym typeface="Calibri"/>
              </a:rPr>
              <a:t> to install </a:t>
            </a:r>
            <a:r>
              <a:rPr lang="en" sz="1300" b="1">
                <a:solidFill>
                  <a:srgbClr val="FF0000"/>
                </a:solidFill>
                <a:latin typeface="Calibri"/>
                <a:ea typeface="Calibri"/>
                <a:cs typeface="Calibri"/>
                <a:sym typeface="Calibri"/>
              </a:rPr>
              <a:t>LLMFarm</a:t>
            </a:r>
            <a:r>
              <a:rPr lang="en" sz="1300">
                <a:solidFill>
                  <a:srgbClr val="0F0F0F"/>
                </a:solidFill>
                <a:latin typeface="Calibri"/>
                <a:ea typeface="Calibri"/>
                <a:cs typeface="Calibri"/>
                <a:sym typeface="Calibri"/>
              </a:rPr>
              <a:t>, an open-source client supporting Apple Silicon</a:t>
            </a:r>
            <a:endParaRPr sz="1300">
              <a:solidFill>
                <a:srgbClr val="0F0F0F"/>
              </a:solidFill>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17"/>
              </a:rPr>
              <a:t>https://testflight.apple.com</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18"/>
              </a:rPr>
              <a:t>https://llmfarm.site</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38"/>
          <p:cNvSpPr txBox="1"/>
          <p:nvPr/>
        </p:nvSpPr>
        <p:spPr>
          <a:xfrm>
            <a:off x="72300" y="0"/>
            <a:ext cx="41313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xxxx</a:t>
            </a:r>
            <a:endParaRPr sz="2000" b="1">
              <a:latin typeface="Calibri"/>
              <a:ea typeface="Calibri"/>
              <a:cs typeface="Calibri"/>
              <a:sym typeface="Calibri"/>
            </a:endParaRPr>
          </a:p>
        </p:txBody>
      </p:sp>
      <p:sp>
        <p:nvSpPr>
          <p:cNvPr id="335" name="Google Shape;335;p38"/>
          <p:cNvSpPr txBox="1"/>
          <p:nvPr/>
        </p:nvSpPr>
        <p:spPr>
          <a:xfrm>
            <a:off x="147175" y="607825"/>
            <a:ext cx="5132100" cy="2401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a:t>Long-Context Retrieval Models with Monarch Mixer (M2)</a:t>
            </a:r>
            <a:endParaRPr/>
          </a:p>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3"/>
              </a:rPr>
              <a:t>https://hazyresearch.stanford.edu/blog/2024-01-11-m2-bert-retrieval</a:t>
            </a:r>
            <a:r>
              <a:rPr lang="en" sz="1300">
                <a:solidFill>
                  <a:srgbClr val="0F0F0F"/>
                </a:solidFill>
                <a:latin typeface="Calibri"/>
                <a:ea typeface="Calibri"/>
                <a:cs typeface="Calibri"/>
                <a:sym typeface="Calibri"/>
              </a:rPr>
              <a:t> </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Monarch Mixer (M2) is a recent model family developing attention-free and MLP-free BERT models, which are enabling long-context BERT models. </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January 11, 2024 - new models: </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 long-context versions of </a:t>
            </a:r>
            <a:r>
              <a:rPr lang="en" sz="1300" b="1">
                <a:solidFill>
                  <a:srgbClr val="FF0000"/>
                </a:solidFill>
                <a:latin typeface="Calibri"/>
                <a:ea typeface="Calibri"/>
                <a:cs typeface="Calibri"/>
                <a:sym typeface="Calibri"/>
              </a:rPr>
              <a:t>M2-BERT</a:t>
            </a:r>
            <a:r>
              <a:rPr lang="en" sz="1300">
                <a:solidFill>
                  <a:srgbClr val="0F0F0F"/>
                </a:solidFill>
                <a:latin typeface="Calibri"/>
                <a:ea typeface="Calibri"/>
                <a:cs typeface="Calibri"/>
                <a:sym typeface="Calibri"/>
              </a:rPr>
              <a:t> up to 32K context length, .. embedding versions fine-tuned for long-context retrieval</a:t>
            </a:r>
            <a:endParaRPr sz="13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rgbClr val="0F0F0F"/>
                </a:solidFill>
                <a:latin typeface="Calibri"/>
                <a:ea typeface="Calibri"/>
                <a:cs typeface="Calibri"/>
                <a:sym typeface="Calibri"/>
              </a:rPr>
              <a:t>also:</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a long-context retrieval benchmark called </a:t>
            </a:r>
            <a:r>
              <a:rPr lang="en" sz="1300" b="1">
                <a:solidFill>
                  <a:srgbClr val="FF0000"/>
                </a:solidFill>
                <a:latin typeface="Calibri"/>
                <a:ea typeface="Calibri"/>
                <a:cs typeface="Calibri"/>
                <a:sym typeface="Calibri"/>
              </a:rPr>
              <a:t>LoCo</a:t>
            </a:r>
            <a:endParaRPr sz="1300" b="1">
              <a:solidFill>
                <a:srgbClr val="FF0000"/>
              </a:solidFill>
              <a:latin typeface="Calibri"/>
              <a:ea typeface="Calibri"/>
              <a:cs typeface="Calibri"/>
              <a:sym typeface="Calibri"/>
            </a:endParaRPr>
          </a:p>
        </p:txBody>
      </p:sp>
      <p:pic>
        <p:nvPicPr>
          <p:cNvPr id="336" name="Google Shape;336;p38"/>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134975" y="152400"/>
            <a:ext cx="2856625" cy="285662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40"/>
        <p:cNvGrpSpPr/>
        <p:nvPr/>
      </p:nvGrpSpPr>
      <p:grpSpPr>
        <a:xfrm>
          <a:off x="0" y="0"/>
          <a:ext cx="0" cy="0"/>
          <a:chOff x="0" y="0"/>
          <a:chExt cx="0" cy="0"/>
        </a:xfrm>
      </p:grpSpPr>
      <p:sp>
        <p:nvSpPr>
          <p:cNvPr id="341" name="Google Shape;341;p39"/>
          <p:cNvSpPr txBox="1"/>
          <p:nvPr/>
        </p:nvSpPr>
        <p:spPr>
          <a:xfrm>
            <a:off x="72300" y="0"/>
            <a:ext cx="41313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Distilling Language Models</a:t>
            </a:r>
            <a:endParaRPr sz="2000" b="1">
              <a:latin typeface="Calibri"/>
              <a:ea typeface="Calibri"/>
              <a:cs typeface="Calibri"/>
              <a:sym typeface="Calibri"/>
            </a:endParaRPr>
          </a:p>
        </p:txBody>
      </p:sp>
      <p:sp>
        <p:nvSpPr>
          <p:cNvPr id="342" name="Google Shape;342;p39"/>
          <p:cNvSpPr txBox="1"/>
          <p:nvPr/>
        </p:nvSpPr>
        <p:spPr>
          <a:xfrm>
            <a:off x="147175" y="607825"/>
            <a:ext cx="4321500" cy="338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3"/>
              </a:rPr>
              <a:t>https://github.com/genezc/minima</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Language model (LM) distillation - distil the knowledge resided in a large </a:t>
            </a:r>
            <a:r>
              <a:rPr lang="en" sz="1300" b="1">
                <a:solidFill>
                  <a:srgbClr val="FF0000"/>
                </a:solidFill>
                <a:latin typeface="Calibri"/>
                <a:ea typeface="Calibri"/>
                <a:cs typeface="Calibri"/>
                <a:sym typeface="Calibri"/>
              </a:rPr>
              <a:t>teacher LM</a:t>
            </a:r>
            <a:r>
              <a:rPr lang="en" sz="1300">
                <a:solidFill>
                  <a:srgbClr val="0F0F0F"/>
                </a:solidFill>
                <a:latin typeface="Calibri"/>
                <a:ea typeface="Calibri"/>
                <a:cs typeface="Calibri"/>
                <a:sym typeface="Calibri"/>
              </a:rPr>
              <a:t> to a </a:t>
            </a:r>
            <a:r>
              <a:rPr lang="en" sz="1300" b="1">
                <a:solidFill>
                  <a:srgbClr val="FF0000"/>
                </a:solidFill>
                <a:latin typeface="Calibri"/>
                <a:ea typeface="Calibri"/>
                <a:cs typeface="Calibri"/>
                <a:sym typeface="Calibri"/>
              </a:rPr>
              <a:t>small student LM</a:t>
            </a:r>
            <a:r>
              <a:rPr lang="en" sz="1300">
                <a:solidFill>
                  <a:srgbClr val="0F0F0F"/>
                </a:solidFill>
                <a:latin typeface="Calibri"/>
                <a:ea typeface="Calibri"/>
                <a:cs typeface="Calibri"/>
                <a:sym typeface="Calibri"/>
              </a:rPr>
              <a:t>. </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Difficult to do when there is a large capacity gap between the teacher and the student. </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b="1">
                <a:solidFill>
                  <a:srgbClr val="FF0000"/>
                </a:solidFill>
                <a:latin typeface="Calibri"/>
                <a:ea typeface="Calibri"/>
                <a:cs typeface="Calibri"/>
                <a:sym typeface="Calibri"/>
              </a:rPr>
              <a:t>Curse of capacity gap</a:t>
            </a:r>
            <a:r>
              <a:rPr lang="en" sz="1300">
                <a:solidFill>
                  <a:srgbClr val="0F0F0F"/>
                </a:solidFill>
                <a:latin typeface="Calibri"/>
                <a:ea typeface="Calibri"/>
                <a:cs typeface="Calibri"/>
                <a:sym typeface="Calibri"/>
              </a:rPr>
              <a:t>: a larger teacher LM cannot always lead to a better student LM if there is a big gap between them.</a:t>
            </a:r>
            <a:endParaRPr sz="13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Good news - the optimal capacity gap is (almost) consistent across different student scales and architectures.</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Distil a 3B student LM (termed MiniMA) from a 7B teacher LM (adapted LLaMA2-7B) - great results. MiniMA can even compete with 7B models.</a:t>
            </a:r>
            <a:endParaRPr sz="1300">
              <a:solidFill>
                <a:srgbClr val="0F0F0F"/>
              </a:solidFill>
              <a:latin typeface="Calibri"/>
              <a:ea typeface="Calibri"/>
              <a:cs typeface="Calibri"/>
              <a:sym typeface="Calibri"/>
            </a:endParaRPr>
          </a:p>
        </p:txBody>
      </p:sp>
      <p:pic>
        <p:nvPicPr>
          <p:cNvPr id="343" name="Google Shape;343;p3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493950" y="152400"/>
            <a:ext cx="2497649" cy="2497649"/>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47"/>
        <p:cNvGrpSpPr/>
        <p:nvPr/>
      </p:nvGrpSpPr>
      <p:grpSpPr>
        <a:xfrm>
          <a:off x="0" y="0"/>
          <a:ext cx="0" cy="0"/>
          <a:chOff x="0" y="0"/>
          <a:chExt cx="0" cy="0"/>
        </a:xfrm>
      </p:grpSpPr>
      <p:sp>
        <p:nvSpPr>
          <p:cNvPr id="348" name="Google Shape;348;p40"/>
          <p:cNvSpPr txBox="1"/>
          <p:nvPr/>
        </p:nvSpPr>
        <p:spPr>
          <a:xfrm>
            <a:off x="72300" y="0"/>
            <a:ext cx="54228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Use Cloudflare to make a simple static website</a:t>
            </a:r>
            <a:endParaRPr sz="2000" b="1">
              <a:latin typeface="Calibri"/>
              <a:ea typeface="Calibri"/>
              <a:cs typeface="Calibri"/>
              <a:sym typeface="Calibri"/>
            </a:endParaRPr>
          </a:p>
        </p:txBody>
      </p:sp>
      <p:sp>
        <p:nvSpPr>
          <p:cNvPr id="349" name="Google Shape;349;p40"/>
          <p:cNvSpPr txBox="1"/>
          <p:nvPr/>
        </p:nvSpPr>
        <p:spPr>
          <a:xfrm>
            <a:off x="72300" y="326400"/>
            <a:ext cx="4321500" cy="340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https://www.cloudflare.com</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u="sng">
                <a:solidFill>
                  <a:schemeClr val="hlink"/>
                </a:solidFill>
                <a:latin typeface="Calibri"/>
                <a:ea typeface="Calibri"/>
                <a:cs typeface="Calibri"/>
                <a:sym typeface="Calibri"/>
                <a:hlinkClick r:id="rId4"/>
              </a:rPr>
              <a:t>https://en.wikipedia.org/wiki/Cloudflare</a:t>
            </a:r>
            <a:endParaRPr>
              <a:latin typeface="Calibri"/>
              <a:ea typeface="Calibri"/>
              <a:cs typeface="Calibri"/>
              <a:sym typeface="Calibri"/>
            </a:endParaRPr>
          </a:p>
          <a:p>
            <a:pPr marL="0" lvl="0" indent="0" algn="l" rtl="0">
              <a:spcBef>
                <a:spcPts val="0"/>
              </a:spcBef>
              <a:spcAft>
                <a:spcPts val="0"/>
              </a:spcAft>
              <a:buNone/>
            </a:pPr>
            <a:r>
              <a:rPr lang="en">
                <a:latin typeface="Calibri"/>
                <a:ea typeface="Calibri"/>
                <a:cs typeface="Calibri"/>
                <a:sym typeface="Calibri"/>
              </a:rPr>
              <a:t>Cloudflare is an American company (</a:t>
            </a:r>
            <a:r>
              <a:rPr lang="en">
                <a:solidFill>
                  <a:schemeClr val="dk1"/>
                </a:solidFill>
                <a:latin typeface="Calibri"/>
                <a:ea typeface="Calibri"/>
                <a:cs typeface="Calibri"/>
                <a:sym typeface="Calibri"/>
              </a:rPr>
              <a:t>in San Francisco, CA) </a:t>
            </a:r>
            <a:r>
              <a:rPr lang="en">
                <a:latin typeface="Calibri"/>
                <a:ea typeface="Calibri"/>
                <a:cs typeface="Calibri"/>
                <a:sym typeface="Calibri"/>
              </a:rPr>
              <a:t> that provides </a:t>
            </a:r>
            <a:r>
              <a:rPr lang="en" b="1">
                <a:solidFill>
                  <a:srgbClr val="FF0000"/>
                </a:solidFill>
                <a:latin typeface="Calibri"/>
                <a:ea typeface="Calibri"/>
                <a:cs typeface="Calibri"/>
                <a:sym typeface="Calibri"/>
              </a:rPr>
              <a:t>CDN (Content Delivery Network)</a:t>
            </a:r>
            <a:r>
              <a:rPr lang="en">
                <a:latin typeface="Calibri"/>
                <a:ea typeface="Calibri"/>
                <a:cs typeface="Calibri"/>
                <a:sym typeface="Calibri"/>
              </a:rPr>
              <a:t> services, cloud </a:t>
            </a:r>
            <a:r>
              <a:rPr lang="en" b="1">
                <a:solidFill>
                  <a:srgbClr val="FF0000"/>
                </a:solidFill>
                <a:latin typeface="Calibri"/>
                <a:ea typeface="Calibri"/>
                <a:cs typeface="Calibri"/>
                <a:sym typeface="Calibri"/>
              </a:rPr>
              <a:t>cybersecurity, DDoS mitigation</a:t>
            </a:r>
            <a:r>
              <a:rPr lang="en">
                <a:latin typeface="Calibri"/>
                <a:ea typeface="Calibri"/>
                <a:cs typeface="Calibri"/>
                <a:sym typeface="Calibri"/>
              </a:rPr>
              <a:t>, ICANN-accredited </a:t>
            </a:r>
            <a:r>
              <a:rPr lang="en" b="1">
                <a:solidFill>
                  <a:srgbClr val="FF0000"/>
                </a:solidFill>
                <a:latin typeface="Calibri"/>
                <a:ea typeface="Calibri"/>
                <a:cs typeface="Calibri"/>
                <a:sym typeface="Calibri"/>
              </a:rPr>
              <a:t>domain registration services</a:t>
            </a:r>
            <a:r>
              <a:rPr lang="en">
                <a:latin typeface="Calibri"/>
                <a:ea typeface="Calibri"/>
                <a:cs typeface="Calibri"/>
                <a:sym typeface="Calibri"/>
              </a:rPr>
              <a:t>.</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
                <a:latin typeface="Calibri"/>
                <a:ea typeface="Calibri"/>
                <a:cs typeface="Calibri"/>
                <a:sym typeface="Calibri"/>
              </a:rPr>
              <a:t>Think of it as a </a:t>
            </a:r>
            <a:r>
              <a:rPr lang="en" b="1">
                <a:solidFill>
                  <a:srgbClr val="FF0000"/>
                </a:solidFill>
                <a:latin typeface="Calibri"/>
                <a:ea typeface="Calibri"/>
                <a:cs typeface="Calibri"/>
                <a:sym typeface="Calibri"/>
              </a:rPr>
              <a:t>giant intelligent network</a:t>
            </a:r>
            <a:r>
              <a:rPr lang="en">
                <a:latin typeface="Calibri"/>
                <a:ea typeface="Calibri"/>
                <a:cs typeface="Calibri"/>
                <a:sym typeface="Calibri"/>
              </a:rPr>
              <a:t> spread across hundreds of cities around the world.</a:t>
            </a:r>
            <a:endParaRPr>
              <a:latin typeface="Calibri"/>
              <a:ea typeface="Calibri"/>
              <a:cs typeface="Calibri"/>
              <a:sym typeface="Calibri"/>
            </a:endParaRPr>
          </a:p>
          <a:p>
            <a:pPr marL="0" lvl="0" indent="0" algn="l" rtl="0">
              <a:spcBef>
                <a:spcPts val="0"/>
              </a:spcBef>
              <a:spcAft>
                <a:spcPts val="0"/>
              </a:spcAft>
              <a:buNone/>
            </a:pPr>
            <a:endParaRPr>
              <a:latin typeface="Calibri"/>
              <a:ea typeface="Calibri"/>
              <a:cs typeface="Calibri"/>
              <a:sym typeface="Calibri"/>
            </a:endParaRPr>
          </a:p>
          <a:p>
            <a:pPr marL="0" lvl="0" indent="0" algn="l" rtl="0">
              <a:spcBef>
                <a:spcPts val="0"/>
              </a:spcBef>
              <a:spcAft>
                <a:spcPts val="0"/>
              </a:spcAft>
              <a:buNone/>
            </a:pPr>
            <a:r>
              <a:rPr lang="en">
                <a:latin typeface="Calibri"/>
                <a:ea typeface="Calibri"/>
                <a:cs typeface="Calibri"/>
                <a:sym typeface="Calibri"/>
              </a:rPr>
              <a:t>Cloudflare acts as a security guard, filtering malicious traffic and protecting websites from DDoS attacks, data breaches, and other online threats. It encrypts connections (HTTPS), offers two-factor authentication, and provide many other services.</a:t>
            </a:r>
            <a:endParaRPr>
              <a:latin typeface="Calibri"/>
              <a:ea typeface="Calibri"/>
              <a:cs typeface="Calibri"/>
              <a:sym typeface="Calibri"/>
            </a:endParaRPr>
          </a:p>
        </p:txBody>
      </p:sp>
      <p:pic>
        <p:nvPicPr>
          <p:cNvPr id="350" name="Google Shape;350;p40"/>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494200" y="87850"/>
            <a:ext cx="2563525" cy="861125"/>
          </a:xfrm>
          <a:prstGeom prst="rect">
            <a:avLst/>
          </a:prstGeom>
          <a:noFill/>
          <a:ln>
            <a:noFill/>
          </a:ln>
        </p:spPr>
      </p:pic>
      <p:sp>
        <p:nvSpPr>
          <p:cNvPr id="351" name="Google Shape;351;p40"/>
          <p:cNvSpPr txBox="1"/>
          <p:nvPr/>
        </p:nvSpPr>
        <p:spPr>
          <a:xfrm>
            <a:off x="4659675" y="1498500"/>
            <a:ext cx="4321500" cy="278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latin typeface="Calibri"/>
                <a:ea typeface="Calibri"/>
                <a:cs typeface="Calibri"/>
                <a:sym typeface="Calibri"/>
              </a:rPr>
              <a:t>Suppose you want to create a simple static website.</a:t>
            </a: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You can use CloudFlare to:</a:t>
            </a:r>
            <a:endParaRPr sz="1300">
              <a:latin typeface="Calibri"/>
              <a:ea typeface="Calibri"/>
              <a:cs typeface="Calibri"/>
              <a:sym typeface="Calibri"/>
            </a:endParaRPr>
          </a:p>
          <a:p>
            <a:pPr marL="0" lvl="0" indent="0" algn="l" rtl="0">
              <a:spcBef>
                <a:spcPts val="0"/>
              </a:spcBef>
              <a:spcAft>
                <a:spcPts val="0"/>
              </a:spcAft>
              <a:buNone/>
            </a:pPr>
            <a:endParaRPr sz="1300">
              <a:latin typeface="Calibri"/>
              <a:ea typeface="Calibri"/>
              <a:cs typeface="Calibri"/>
              <a:sym typeface="Calibri"/>
            </a:endParaRPr>
          </a:p>
          <a:p>
            <a:pPr marL="457200" lvl="0" indent="-311150" algn="l" rtl="0">
              <a:spcBef>
                <a:spcPts val="0"/>
              </a:spcBef>
              <a:spcAft>
                <a:spcPts val="0"/>
              </a:spcAft>
              <a:buSzPts val="1300"/>
              <a:buFont typeface="Calibri"/>
              <a:buChar char="●"/>
            </a:pPr>
            <a:r>
              <a:rPr lang="en" sz="1300">
                <a:latin typeface="Calibri"/>
                <a:ea typeface="Calibri"/>
                <a:cs typeface="Calibri"/>
                <a:sym typeface="Calibri"/>
              </a:rPr>
              <a:t>Brainstorm the domain name - and register it</a:t>
            </a:r>
            <a:endParaRPr sz="1300">
              <a:latin typeface="Calibri"/>
              <a:ea typeface="Calibri"/>
              <a:cs typeface="Calibri"/>
              <a:sym typeface="Calibri"/>
            </a:endParaRPr>
          </a:p>
          <a:p>
            <a:pPr marL="457200" lvl="0" indent="-311150" algn="l" rtl="0">
              <a:spcBef>
                <a:spcPts val="0"/>
              </a:spcBef>
              <a:spcAft>
                <a:spcPts val="0"/>
              </a:spcAft>
              <a:buSzPts val="1300"/>
              <a:buFont typeface="Calibri"/>
              <a:buChar char="●"/>
            </a:pPr>
            <a:r>
              <a:rPr lang="en" sz="1300">
                <a:latin typeface="Calibri"/>
                <a:ea typeface="Calibri"/>
                <a:cs typeface="Calibri"/>
                <a:sym typeface="Calibri"/>
              </a:rPr>
              <a:t>Set up DNS and redirects</a:t>
            </a:r>
            <a:endParaRPr sz="1300">
              <a:latin typeface="Calibri"/>
              <a:ea typeface="Calibri"/>
              <a:cs typeface="Calibri"/>
              <a:sym typeface="Calibri"/>
            </a:endParaRPr>
          </a:p>
          <a:p>
            <a:pPr marL="457200" lvl="0" indent="-311150" algn="l" rtl="0">
              <a:spcBef>
                <a:spcPts val="0"/>
              </a:spcBef>
              <a:spcAft>
                <a:spcPts val="0"/>
              </a:spcAft>
              <a:buSzPts val="1300"/>
              <a:buFont typeface="Calibri"/>
              <a:buChar char="●"/>
            </a:pPr>
            <a:r>
              <a:rPr lang="en" sz="1300">
                <a:latin typeface="Calibri"/>
                <a:ea typeface="Calibri"/>
                <a:cs typeface="Calibri"/>
                <a:sym typeface="Calibri"/>
              </a:rPr>
              <a:t>Integrate with Google workspace (for gmail)</a:t>
            </a:r>
            <a:endParaRPr sz="1300">
              <a:latin typeface="Calibri"/>
              <a:ea typeface="Calibri"/>
              <a:cs typeface="Calibri"/>
              <a:sym typeface="Calibri"/>
            </a:endParaRPr>
          </a:p>
          <a:p>
            <a:pPr marL="457200" lvl="0" indent="-311150" algn="l" rtl="0">
              <a:spcBef>
                <a:spcPts val="0"/>
              </a:spcBef>
              <a:spcAft>
                <a:spcPts val="0"/>
              </a:spcAft>
              <a:buSzPts val="1300"/>
              <a:buFont typeface="Calibri"/>
              <a:buChar char="●"/>
            </a:pPr>
            <a:r>
              <a:rPr lang="en" sz="1300">
                <a:latin typeface="Calibri"/>
                <a:ea typeface="Calibri"/>
                <a:cs typeface="Calibri"/>
                <a:sym typeface="Calibri"/>
              </a:rPr>
              <a:t>Host a simple static website (up to 25 MB)</a:t>
            </a:r>
            <a:endParaRPr sz="1300">
              <a:latin typeface="Calibri"/>
              <a:ea typeface="Calibri"/>
              <a:cs typeface="Calibri"/>
              <a:sym typeface="Calibri"/>
            </a:endParaRPr>
          </a:p>
          <a:p>
            <a:pPr marL="0" lvl="0" indent="0" algn="l" rtl="0">
              <a:spcBef>
                <a:spcPts val="0"/>
              </a:spcBef>
              <a:spcAft>
                <a:spcPts val="0"/>
              </a:spcAft>
              <a:buNone/>
            </a:pP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You can upload files to "pages" either from your computer, or from GitHub. Easy.</a:t>
            </a:r>
            <a:endParaRPr sz="1300">
              <a:latin typeface="Calibri"/>
              <a:ea typeface="Calibri"/>
              <a:cs typeface="Calibri"/>
              <a:sym typeface="Calibri"/>
            </a:endParaRPr>
          </a:p>
          <a:p>
            <a:pPr marL="0" lvl="0" indent="0" algn="l" rtl="0">
              <a:spcBef>
                <a:spcPts val="0"/>
              </a:spcBef>
              <a:spcAft>
                <a:spcPts val="0"/>
              </a:spcAft>
              <a:buNone/>
            </a:pP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So CloudFlare is perfect for a short "business card"-like website to keep your BIO, resume, and other related files</a:t>
            </a:r>
            <a:endParaRPr sz="1300">
              <a:solidFill>
                <a:srgbClr val="0F0F0F"/>
              </a:solidFill>
              <a:latin typeface="Calibri"/>
              <a:ea typeface="Calibri"/>
              <a:cs typeface="Calibri"/>
              <a:sym typeface="Calibri"/>
            </a:endParaRPr>
          </a:p>
        </p:txBody>
      </p:sp>
      <p:pic>
        <p:nvPicPr>
          <p:cNvPr id="352" name="Google Shape;352;p40"/>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97733" y="3816956"/>
            <a:ext cx="3260273" cy="122737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56"/>
        <p:cNvGrpSpPr/>
        <p:nvPr/>
      </p:nvGrpSpPr>
      <p:grpSpPr>
        <a:xfrm>
          <a:off x="0" y="0"/>
          <a:ext cx="0" cy="0"/>
          <a:chOff x="0" y="0"/>
          <a:chExt cx="0" cy="0"/>
        </a:xfrm>
      </p:grpSpPr>
      <p:sp>
        <p:nvSpPr>
          <p:cNvPr id="357" name="Google Shape;357;p41"/>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7000" b="1">
                <a:solidFill>
                  <a:srgbClr val="3C78D8"/>
                </a:solidFill>
                <a:latin typeface="Calibri"/>
                <a:ea typeface="Calibri"/>
                <a:cs typeface="Calibri"/>
                <a:sym typeface="Calibri"/>
              </a:rPr>
              <a:t>Thank You!</a:t>
            </a:r>
            <a:endParaRPr sz="7000" b="1">
              <a:solidFill>
                <a:srgbClr val="3C78D8"/>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42"/>
          <p:cNvSpPr txBox="1"/>
          <p:nvPr/>
        </p:nvSpPr>
        <p:spPr>
          <a:xfrm>
            <a:off x="72300" y="0"/>
            <a:ext cx="41313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xxxx</a:t>
            </a:r>
            <a:endParaRPr sz="2000" b="1">
              <a:latin typeface="Calibri"/>
              <a:ea typeface="Calibri"/>
              <a:cs typeface="Calibri"/>
              <a:sym typeface="Calibri"/>
            </a:endParaRPr>
          </a:p>
        </p:txBody>
      </p:sp>
      <p:sp>
        <p:nvSpPr>
          <p:cNvPr id="363" name="Google Shape;363;p42"/>
          <p:cNvSpPr txBox="1"/>
          <p:nvPr/>
        </p:nvSpPr>
        <p:spPr>
          <a:xfrm>
            <a:off x="147175" y="607825"/>
            <a:ext cx="4321500" cy="384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xxxx</a:t>
            </a:r>
            <a:endParaRPr sz="1300">
              <a:solidFill>
                <a:srgbClr val="0F0F0F"/>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4747</Words>
  <Application>Microsoft Macintosh PowerPoint</Application>
  <PresentationFormat>On-screen Show (16:9)</PresentationFormat>
  <Paragraphs>616</Paragraphs>
  <Slides>28</Slides>
  <Notes>28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Arial</vt:lpstr>
      <vt:lpstr>Calibri</vt:lpstr>
      <vt:lpstr>Roboto Mono</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1</cp:revision>
  <dcterms:modified xsi:type="dcterms:W3CDTF">2024-01-12T19:23:51Z</dcterms:modified>
</cp:coreProperties>
</file>