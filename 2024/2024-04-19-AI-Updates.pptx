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9144000" cy="5143500" type="screen16x9"/>
  <p:notesSz cx="6858000" cy="9144000"/>
  <p:embeddedFontLst>
    <p:embeddedFont>
      <p:font typeface="Roboto Mono" pitchFamily="49" charset="0"/>
      <p:regular r:id="rId22"/>
      <p:bold r:id="rId23"/>
      <p:italic r:id="rId24"/>
      <p:boldItalic r:id="rId2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F5CC60F-1605-48FC-B505-207717700C0A}">
  <a:tblStyle styleId="{4F5CC60F-1605-48FC-B505-207717700C0A}"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D2E89EDF-12D4-4CF6-AA76-F3B78ECD36D2}"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94"/>
  </p:normalViewPr>
  <p:slideViewPr>
    <p:cSldViewPr>
      <p:cViewPr varScale="1">
        <p:scale>
          <a:sx n="161" d="100"/>
          <a:sy n="161" d="100"/>
        </p:scale>
        <p:origin x="784"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
        <p:cNvGrpSpPr/>
        <p:nvPr/>
      </p:nvGrpSpPr>
      <p:grpSpPr>
        <a:xfrm>
          <a:off x="0" y="0"/>
          <a:ext cx="0" cy="0"/>
          <a:chOff x="0" y="0"/>
          <a:chExt cx="0" cy="0"/>
        </a:xfrm>
      </p:grpSpPr>
      <p:sp>
        <p:nvSpPr>
          <p:cNvPr id="54" name="Google Shape;54;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5" name="Google Shape;55;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g2cd95e3988b_0_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2" name="Google Shape;62;g2cd95e3988b_0_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g2cdcbdffb72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6" name="Google Shape;76;g2cdcbdffb72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g2cbe4fa55d1_0_6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3" name="Google Shape;83;g2cbe4fa55d1_0_6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2cd9958342c_1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4" name="Google Shape;94;g2cd9958342c_1_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2cbe4fa55d1_1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1" name="Google Shape;101;g2cbe4fa55d1_1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1f7ae246229_1_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8" name="Google Shape;108;g1f7ae246229_1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g2cdbf9837f0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8" name="Google Shape;118;g2cdbf9837f0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2cbe4fa55d1_0_5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5" name="Google Shape;125;g2cbe4fa55d1_0_5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g2cd9958342c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5" name="Google Shape;135;g2cd9958342c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g2cc7fb2b9da_0_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7" name="Google Shape;147;g2cc7fb2b9da_0_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1f7b868f3bd_0_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4" name="Google Shape;154;g1f7b868f3bd_0_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1f7b868f3bd_0_1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2" name="Google Shape;162;g1f7b868f3bd_0_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2cbe4fa55d1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0" name="Google Shape;170;g2cbe4fa55d1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0" name="Google Shape;180;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p2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7" name="Google Shape;197;p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g2cbe4fa55d1_0_6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7" name="Google Shape;207;g2cbe4fa55d1_0_6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8" name="Google Shape;218;p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2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8" name="Google Shape;228;p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9"/>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Content" type="obj">
  <p:cSld name="OBJECT">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457172" y="205067"/>
            <a:ext cx="8228700" cy="858600"/>
          </a:xfrm>
          <a:prstGeom prst="rect">
            <a:avLst/>
          </a:prstGeom>
          <a:noFill/>
          <a:ln>
            <a:noFill/>
          </a:ln>
        </p:spPr>
        <p:txBody>
          <a:bodyPr spcFirstLastPara="1" wrap="square" lIns="0" tIns="0" rIns="0" bIns="0" anchor="ctr" anchorCtr="0">
            <a:normAutofit/>
          </a:bodyPr>
          <a:lstStyle>
            <a:lvl1pPr lvl="0" algn="l" rtl="0">
              <a:spcBef>
                <a:spcPts val="0"/>
              </a:spcBef>
              <a:spcAft>
                <a:spcPts val="0"/>
              </a:spcAft>
              <a:buSzPts val="2800"/>
              <a:buNone/>
              <a:defRPr/>
            </a:lvl1pPr>
            <a:lvl2pPr lvl="1" algn="l" rtl="0">
              <a:spcBef>
                <a:spcPts val="0"/>
              </a:spcBef>
              <a:spcAft>
                <a:spcPts val="0"/>
              </a:spcAft>
              <a:buSzPts val="2800"/>
              <a:buNone/>
              <a:defRPr/>
            </a:lvl2pPr>
            <a:lvl3pPr lvl="2" algn="l" rtl="0">
              <a:spcBef>
                <a:spcPts val="0"/>
              </a:spcBef>
              <a:spcAft>
                <a:spcPts val="0"/>
              </a:spcAft>
              <a:buSzPts val="2800"/>
              <a:buNone/>
              <a:defRPr/>
            </a:lvl3pPr>
            <a:lvl4pPr lvl="3" algn="l" rtl="0">
              <a:spcBef>
                <a:spcPts val="0"/>
              </a:spcBef>
              <a:spcAft>
                <a:spcPts val="0"/>
              </a:spcAft>
              <a:buSzPts val="2800"/>
              <a:buNone/>
              <a:defRPr/>
            </a:lvl4pPr>
            <a:lvl5pPr lvl="4" algn="l" rtl="0">
              <a:spcBef>
                <a:spcPts val="0"/>
              </a:spcBef>
              <a:spcAft>
                <a:spcPts val="0"/>
              </a:spcAft>
              <a:buSzPts val="2800"/>
              <a:buNone/>
              <a:defRPr/>
            </a:lvl5pPr>
            <a:lvl6pPr lvl="5" algn="l" rtl="0">
              <a:spcBef>
                <a:spcPts val="0"/>
              </a:spcBef>
              <a:spcAft>
                <a:spcPts val="0"/>
              </a:spcAft>
              <a:buSzPts val="2800"/>
              <a:buNone/>
              <a:defRPr/>
            </a:lvl6pPr>
            <a:lvl7pPr lvl="6" algn="l" rtl="0">
              <a:spcBef>
                <a:spcPts val="0"/>
              </a:spcBef>
              <a:spcAft>
                <a:spcPts val="0"/>
              </a:spcAft>
              <a:buSzPts val="2800"/>
              <a:buNone/>
              <a:defRPr/>
            </a:lvl7pPr>
            <a:lvl8pPr lvl="7" algn="l" rtl="0">
              <a:spcBef>
                <a:spcPts val="0"/>
              </a:spcBef>
              <a:spcAft>
                <a:spcPts val="0"/>
              </a:spcAft>
              <a:buSzPts val="2800"/>
              <a:buNone/>
              <a:defRPr/>
            </a:lvl8pPr>
            <a:lvl9pPr lvl="8" algn="l" rtl="0">
              <a:spcBef>
                <a:spcPts val="0"/>
              </a:spcBef>
              <a:spcAft>
                <a:spcPts val="0"/>
              </a:spcAft>
              <a:buSzPts val="2800"/>
              <a:buNone/>
              <a:defRPr/>
            </a:lvl9pPr>
          </a:lstStyle>
          <a:p>
            <a:endParaRPr/>
          </a:p>
        </p:txBody>
      </p:sp>
      <p:sp>
        <p:nvSpPr>
          <p:cNvPr id="52" name="Google Shape;52;p13"/>
          <p:cNvSpPr txBox="1">
            <a:spLocks noGrp="1"/>
          </p:cNvSpPr>
          <p:nvPr>
            <p:ph type="body" idx="1"/>
          </p:nvPr>
        </p:nvSpPr>
        <p:spPr>
          <a:xfrm>
            <a:off x="457172" y="1203299"/>
            <a:ext cx="8228700" cy="2982600"/>
          </a:xfrm>
          <a:prstGeom prst="rect">
            <a:avLst/>
          </a:prstGeom>
          <a:noFill/>
          <a:ln>
            <a:noFill/>
          </a:ln>
        </p:spPr>
        <p:txBody>
          <a:bodyPr spcFirstLastPara="1" wrap="square" lIns="0" tIns="0" rIns="0" bIns="0" anchor="t" anchorCtr="0">
            <a:normAutofit/>
          </a:bodyPr>
          <a:lstStyle>
            <a:lvl1pPr marL="457200" lvl="0" indent="-228600" algn="l" rtl="0">
              <a:spcBef>
                <a:spcPts val="0"/>
              </a:spcBef>
              <a:spcAft>
                <a:spcPts val="0"/>
              </a:spcAft>
              <a:buSzPts val="1800"/>
              <a:buNone/>
              <a:defRPr/>
            </a:lvl1pPr>
            <a:lvl2pPr marL="914400" lvl="1" indent="-228600" algn="l" rtl="0">
              <a:spcBef>
                <a:spcPts val="0"/>
              </a:spcBef>
              <a:spcAft>
                <a:spcPts val="0"/>
              </a:spcAft>
              <a:buSzPts val="1400"/>
              <a:buNone/>
              <a:defRPr/>
            </a:lvl2pPr>
            <a:lvl3pPr marL="1371600" lvl="2" indent="-228600" algn="l" rtl="0">
              <a:spcBef>
                <a:spcPts val="0"/>
              </a:spcBef>
              <a:spcAft>
                <a:spcPts val="0"/>
              </a:spcAft>
              <a:buSzPts val="1400"/>
              <a:buNone/>
              <a:defRPr/>
            </a:lvl3pPr>
            <a:lvl4pPr marL="1828800" lvl="3" indent="-228600" algn="l" rtl="0">
              <a:spcBef>
                <a:spcPts val="0"/>
              </a:spcBef>
              <a:spcAft>
                <a:spcPts val="0"/>
              </a:spcAft>
              <a:buSzPts val="1400"/>
              <a:buNone/>
              <a:defRPr/>
            </a:lvl4pPr>
            <a:lvl5pPr marL="2286000" lvl="4" indent="-228600" algn="l" rtl="0">
              <a:spcBef>
                <a:spcPts val="0"/>
              </a:spcBef>
              <a:spcAft>
                <a:spcPts val="0"/>
              </a:spcAft>
              <a:buSzPts val="1400"/>
              <a:buNone/>
              <a:defRPr/>
            </a:lvl5pPr>
            <a:lvl6pPr marL="2743200" lvl="5" indent="-228600" algn="l" rtl="0">
              <a:spcBef>
                <a:spcPts val="0"/>
              </a:spcBef>
              <a:spcAft>
                <a:spcPts val="0"/>
              </a:spcAft>
              <a:buSzPts val="1400"/>
              <a:buNone/>
              <a:defRPr/>
            </a:lvl6pPr>
            <a:lvl7pPr marL="3200400" lvl="6" indent="-228600" algn="l" rtl="0">
              <a:spcBef>
                <a:spcPts val="0"/>
              </a:spcBef>
              <a:spcAft>
                <a:spcPts val="0"/>
              </a:spcAft>
              <a:buSzPts val="1400"/>
              <a:buNone/>
              <a:defRPr/>
            </a:lvl7pPr>
            <a:lvl8pPr marL="3657600" lvl="7" indent="-228600" algn="l" rtl="0">
              <a:spcBef>
                <a:spcPts val="0"/>
              </a:spcBef>
              <a:spcAft>
                <a:spcPts val="0"/>
              </a:spcAft>
              <a:buSzPts val="1400"/>
              <a:buNone/>
              <a:defRPr/>
            </a:lvl8pPr>
            <a:lvl9pPr marL="4114800" lvl="8" indent="-228600" algn="l" rtl="0">
              <a:spcBef>
                <a:spcPts val="0"/>
              </a:spcBef>
              <a:spcAft>
                <a:spcPts val="0"/>
              </a:spcAft>
              <a:buSzPts val="1400"/>
              <a:buNone/>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hyperlink" Target="https://llama.meta.com/llama-downloads/" TargetMode="External"/><Relationship Id="rId3" Type="http://schemas.openxmlformats.org/officeDocument/2006/relationships/image" Target="../media/image1.png"/><Relationship Id="rId7" Type="http://schemas.openxmlformats.org/officeDocument/2006/relationships/hyperlink" Target="https://github.com/meta-llama/llama3" TargetMode="External"/><Relationship Id="rId12"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hyperlink" Target="https://meta.ai" TargetMode="External"/><Relationship Id="rId11" Type="http://schemas.openxmlformats.org/officeDocument/2006/relationships/hyperlink" Target="https://ollama.com/library/llama3" TargetMode="External"/><Relationship Id="rId5" Type="http://schemas.openxmlformats.org/officeDocument/2006/relationships/hyperlink" Target="https://ai.meta.com/blog/meta-llama-3/" TargetMode="External"/><Relationship Id="rId10" Type="http://schemas.openxmlformats.org/officeDocument/2006/relationships/hyperlink" Target="https://huggingface.co/meta-llama" TargetMode="External"/><Relationship Id="rId4" Type="http://schemas.openxmlformats.org/officeDocument/2006/relationships/image" Target="../media/image2.png"/><Relationship Id="rId9" Type="http://schemas.openxmlformats.org/officeDocument/2006/relationships/hyperlink" Target="https://llama.meta.com/trust-and-safety/" TargetMode="External"/></Relationships>
</file>

<file path=ppt/slides/_rels/slide3.xml.rels><?xml version="1.0" encoding="UTF-8" standalone="yes"?>
<Relationships xmlns="http://schemas.openxmlformats.org/package/2006/relationships"><Relationship Id="rId3" Type="http://schemas.openxmlformats.org/officeDocument/2006/relationships/hyperlink" Target="https://twitter.com/garridoq_/status/1780992965214609683" TargetMode="External"/><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8" Type="http://schemas.openxmlformats.org/officeDocument/2006/relationships/image" Target="../media/image8.jpeg"/><Relationship Id="rId3" Type="http://schemas.openxmlformats.org/officeDocument/2006/relationships/hyperlink" Target="https://x.ai/blog/grok-1.5v" TargetMode="External"/><Relationship Id="rId7" Type="http://schemas.openxmlformats.org/officeDocument/2006/relationships/image" Target="../media/image7.jpe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hyperlink" Target="https://www.youtube.com/watch?v=s7kfifYX43w" TargetMode="External"/></Relationships>
</file>

<file path=ppt/slides/_rels/slide5.xml.rels><?xml version="1.0" encoding="UTF-8" standalone="yes"?>
<Relationships xmlns="http://schemas.openxmlformats.org/package/2006/relationships"><Relationship Id="rId3" Type="http://schemas.openxmlformats.org/officeDocument/2006/relationships/hyperlink" Target="https://twitter.com/burny_tech/status/1781080287193006469" TargetMode="External"/><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hyperlink" Target="https://www.youtube.com/watch?v=efebwb2DW3w" TargetMode="External"/><Relationship Id="rId7"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hyperlink" Target="https://studio.d-id.com/agents/create" TargetMode="External"/><Relationship Id="rId4" Type="http://schemas.openxmlformats.org/officeDocument/2006/relationships/hyperlink" Target="https://www.d-id.com" TargetMode="External"/></Relationships>
</file>

<file path=ppt/slides/_rels/slide8.xml.rels><?xml version="1.0" encoding="UTF-8" standalone="yes"?>
<Relationships xmlns="http://schemas.openxmlformats.org/package/2006/relationships"><Relationship Id="rId3" Type="http://schemas.openxmlformats.org/officeDocument/2006/relationships/hyperlink" Target="https://gptforwork.com/tools/openai-api-and-other-llm-apis-response-time-tracker" TargetMode="External"/><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hyperlink" Target="https://artificialanalysis.ai/models/claude-21#latency" TargetMode="External"/></Relationships>
</file>

<file path=ppt/slides/_rels/slide9.xml.rels><?xml version="1.0" encoding="UTF-8" standalone="yes"?>
<Relationships xmlns="http://schemas.openxmlformats.org/package/2006/relationships"><Relationship Id="rId8" Type="http://schemas.openxmlformats.org/officeDocument/2006/relationships/hyperlink" Target="https://learn.deeplearning.ai/courses/quantization-fundamentals/lesson/1/introduction" TargetMode="External"/><Relationship Id="rId3" Type="http://schemas.openxmlformats.org/officeDocument/2006/relationships/hyperlink" Target="https://twitter.com/karpathy/status/1779272336186978707" TargetMode="External"/><Relationship Id="rId7" Type="http://schemas.openxmlformats.org/officeDocument/2006/relationships/hyperlink" Target="https://huggingface.co/BAAI/bge-reranker-base" TargetMode="External"/><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hyperlink" Target="https://huggingface.co/models?sort=downloads&amp;search=rerank" TargetMode="External"/><Relationship Id="rId5" Type="http://schemas.openxmlformats.org/officeDocument/2006/relationships/hyperlink" Target="https://huggingface.co/models?other=text-reranking" TargetMode="External"/><Relationship Id="rId4" Type="http://schemas.openxmlformats.org/officeDocument/2006/relationships/hyperlink" Target="https://twitter.com/sama/status/1778578689984270543" TargetMode="External"/></Relationships>
</file>

<file path=ppt/slides/_rels/slide10.xml.rels><?xml version="1.0" encoding="UTF-8" standalone="yes"?>
<Relationships xmlns="http://schemas.openxmlformats.org/package/2006/relationships"><Relationship Id="rId8" Type="http://schemas.openxmlformats.org/officeDocument/2006/relationships/hyperlink" Target="https://www.youtube.com/watch?v=C8yjtaZfNCw" TargetMode="External"/><Relationship Id="rId3" Type="http://schemas.openxmlformats.org/officeDocument/2006/relationships/hyperlink" Target="https://media.defense.gov/2024/Apr/15/2003439257/-1/-1/0/CSI-DEPLOYING-AI-SYSTEMS-SECURELY.PDF" TargetMode="External"/><Relationship Id="rId7" Type="http://schemas.openxmlformats.org/officeDocument/2006/relationships/hyperlink" Target="https://www.edwards.af.mil/News/Article-View/Article/3744695/usaf-test-pilot-school-and-darpa-announce-breakthrough-in-aerospace-machine-lea/" TargetMode="External"/><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hyperlink" Target="https://github.com/HumanAIGC" TargetMode="External"/><Relationship Id="rId4" Type="http://schemas.openxmlformats.org/officeDocument/2006/relationships/hyperlink" Target="https://www.microsoft.com/en-us/research/project/vasa-1/" TargetMode="External"/><Relationship Id="rId9"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hyperlink" Target="https://www.shrm.org/topics-tools/news/inclusion-equity-diversity/federal-government-commits-to-ai-fairness" TargetMode="External"/><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hyperlink" Target="https://www.kdnuggets.com/the-rise-of-chief-ai-officer" TargetMode="External"/><Relationship Id="rId4" Type="http://schemas.openxmlformats.org/officeDocument/2006/relationships/hyperlink" Target="https://www.ft.com/content/4c5d823e-004b-4f00-9536-9fea93330453" TargetMode="External"/></Relationships>
</file>

<file path=ppt/slides/_rels/slide12.xml.rels><?xml version="1.0" encoding="UTF-8" standalone="yes"?>
<Relationships xmlns="http://schemas.openxmlformats.org/package/2006/relationships"><Relationship Id="rId3" Type="http://schemas.openxmlformats.org/officeDocument/2006/relationships/hyperlink" Target="https://huggingface.co/spaces/hf-audio/open_asr_leaderboard" TargetMode="External"/><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hyperlink" Target="https://developer.nvidia.com/blog/nvidia-speech-and-translation-ai-models-set-records-for-speed-and-accuracy/" TargetMode="External"/></Relationships>
</file>

<file path=ppt/slides/_rels/slide13.xml.rels><?xml version="1.0" encoding="UTF-8" standalone="yes"?>
<Relationships xmlns="http://schemas.openxmlformats.org/package/2006/relationships"><Relationship Id="rId3" Type="http://schemas.openxmlformats.org/officeDocument/2006/relationships/hyperlink" Target="https://www.iso.org/standard/81230.html" TargetMode="External"/><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hyperlink" Target="https://www.wordstream.com/blog/ai-in-marketing" TargetMode="External"/><Relationship Id="rId5" Type="http://schemas.openxmlformats.org/officeDocument/2006/relationships/hyperlink" Target="https://arxiv.org/abs/2404.07143" TargetMode="External"/><Relationship Id="rId4" Type="http://schemas.openxmlformats.org/officeDocument/2006/relationships/hyperlink" Target="https://venturebeat.com/ai/googles-new-technique-gives-llms-infinite-context/"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hyperlink" Target="https://twitter.com/elonmusk/status/1780370067987009711" TargetMode="External"/></Relationships>
</file>

<file path=ppt/slides/_rels/slide15.xml.rels><?xml version="1.0" encoding="UTF-8" standalone="yes"?>
<Relationships xmlns="http://schemas.openxmlformats.org/package/2006/relationships"><Relationship Id="rId3" Type="http://schemas.openxmlformats.org/officeDocument/2006/relationships/hyperlink" Target="https://chat.lmsys.org/?leaderboard" TargetMode="External"/><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20.png"/><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3" Type="http://schemas.openxmlformats.org/officeDocument/2006/relationships/hyperlink" Target="https://layoffs.fyi" TargetMode="External"/><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hyperlink" Target="https://qz.com/tech-layoffs-high-ai-struggling-find-talent-1851368861" TargetMode="External"/></Relationships>
</file>

<file path=ppt/slides/_rels/slide17.xml.rels><?xml version="1.0" encoding="UTF-8" standalone="yes"?>
<Relationships xmlns="http://schemas.openxmlformats.org/package/2006/relationships"><Relationship Id="rId3" Type="http://schemas.openxmlformats.org/officeDocument/2006/relationships/hyperlink" Target="https://blog.bytebytego.com/p/the-top-3-resume-mistakes-costing" TargetMode="External"/><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22.png"/><Relationship Id="rId4" Type="http://schemas.openxmlformats.org/officeDocument/2006/relationships/hyperlink" Target="https://www.axios.com/2024/04/16/ai-jobs-us-cities-hotspots-2024" TargetMode="External"/></Relationships>
</file>

<file path=ppt/slides/_rels/slide18.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hyperlink" Target="https://eais.ai" TargetMode="External"/><Relationship Id="rId4" Type="http://schemas.openxmlformats.org/officeDocument/2006/relationships/image" Target="../media/image24.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6"/>
        <p:cNvGrpSpPr/>
        <p:nvPr/>
      </p:nvGrpSpPr>
      <p:grpSpPr>
        <a:xfrm>
          <a:off x="0" y="0"/>
          <a:ext cx="0" cy="0"/>
          <a:chOff x="0" y="0"/>
          <a:chExt cx="0" cy="0"/>
        </a:xfrm>
      </p:grpSpPr>
      <p:sp>
        <p:nvSpPr>
          <p:cNvPr id="57" name="Google Shape;57;p14"/>
          <p:cNvSpPr txBox="1"/>
          <p:nvPr/>
        </p:nvSpPr>
        <p:spPr>
          <a:xfrm>
            <a:off x="86325" y="1204025"/>
            <a:ext cx="4420200" cy="3417000"/>
          </a:xfrm>
          <a:prstGeom prst="rect">
            <a:avLst/>
          </a:prstGeom>
          <a:no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Llama-3   8B &amp; 70B from Meta</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Grok 1.5 Vision</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Most Frequent AI Use Cases </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Atlas Robot </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Create talking avatar in a minute</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LLM Response Time comparison</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Andrej Karpathy - llm.c with CUDA</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135 re-ranking models on Huggingface</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GPT-4-Turbo has reclaimed the No. 1 spot </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Gemini 1.5 Pro - audio, JSON mode</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NSA Guide for AI System Security </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Mistral AI valuation of $5 Billion</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Microsoft VASA-1 </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U.S. Air Force AI controlled Jets</a:t>
            </a:r>
            <a:endParaRPr sz="1500" b="1">
              <a:solidFill>
                <a:srgbClr val="3C78D8"/>
              </a:solidFill>
              <a:latin typeface="Calibri"/>
              <a:ea typeface="Calibri"/>
              <a:cs typeface="Calibri"/>
              <a:sym typeface="Calibri"/>
            </a:endParaRPr>
          </a:p>
        </p:txBody>
      </p:sp>
      <p:sp>
        <p:nvSpPr>
          <p:cNvPr id="58" name="Google Shape;58;p14"/>
          <p:cNvSpPr txBox="1"/>
          <p:nvPr/>
        </p:nvSpPr>
        <p:spPr>
          <a:xfrm>
            <a:off x="4635500" y="1204025"/>
            <a:ext cx="4420200" cy="2724300"/>
          </a:xfrm>
          <a:prstGeom prst="rect">
            <a:avLst/>
          </a:prstGeom>
          <a:no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AI Models Improve Faster</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The Rise Of The Chief AI Officer (CAIO)</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NVIDIA speech and translation AI </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ISO 42001 - IT AI Management system </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Google’s new Infini-attention </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AI in Marketing</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Modern Fast Storage</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Conventional media companies are losing visitors</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Crowd-sourced "Arena" Leaderboard</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Tech Layoffs are lower than in 2023</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Position Yourself as an AI Expert</a:t>
            </a:r>
            <a:endParaRPr sz="1500" b="1">
              <a:solidFill>
                <a:srgbClr val="3C78D8"/>
              </a:solidFill>
              <a:latin typeface="Calibri"/>
              <a:ea typeface="Calibri"/>
              <a:cs typeface="Calibri"/>
              <a:sym typeface="Calibri"/>
            </a:endParaRPr>
          </a:p>
        </p:txBody>
      </p:sp>
      <p:sp>
        <p:nvSpPr>
          <p:cNvPr id="59" name="Google Shape;59;p14"/>
          <p:cNvSpPr txBox="1"/>
          <p:nvPr/>
        </p:nvSpPr>
        <p:spPr>
          <a:xfrm>
            <a:off x="2975700" y="115925"/>
            <a:ext cx="3192600" cy="942000"/>
          </a:xfrm>
          <a:prstGeom prst="rect">
            <a:avLst/>
          </a:prstGeom>
          <a:noFill/>
          <a:ln>
            <a:noFill/>
          </a:ln>
        </p:spPr>
        <p:txBody>
          <a:bodyPr spcFirstLastPara="1" wrap="square" lIns="9125" tIns="9125" rIns="9125" bIns="9125"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n" sz="3600" b="1" i="0" u="none" strike="noStrike" cap="none">
                <a:solidFill>
                  <a:srgbClr val="3C78D8"/>
                </a:solidFill>
                <a:latin typeface="Calibri"/>
                <a:ea typeface="Calibri"/>
                <a:cs typeface="Calibri"/>
                <a:sym typeface="Calibri"/>
              </a:rPr>
              <a:t>AI Updates </a:t>
            </a:r>
            <a:endParaRPr sz="3600" b="1" i="0" u="none" strike="noStrike" cap="none">
              <a:solidFill>
                <a:srgbClr val="3C78D8"/>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2400"/>
              <a:buFont typeface="Arial"/>
              <a:buNone/>
            </a:pPr>
            <a:r>
              <a:rPr lang="en" sz="2400" b="1">
                <a:solidFill>
                  <a:srgbClr val="3C78D8"/>
                </a:solidFill>
                <a:latin typeface="Calibri"/>
                <a:ea typeface="Calibri"/>
                <a:cs typeface="Calibri"/>
                <a:sym typeface="Calibri"/>
              </a:rPr>
              <a:t>April 19</a:t>
            </a:r>
            <a:r>
              <a:rPr lang="en" sz="2400" b="1" i="0" u="none" strike="noStrike" cap="none">
                <a:solidFill>
                  <a:srgbClr val="3C78D8"/>
                </a:solidFill>
                <a:latin typeface="Calibri"/>
                <a:ea typeface="Calibri"/>
                <a:cs typeface="Calibri"/>
                <a:sym typeface="Calibri"/>
              </a:rPr>
              <a:t>, 2024</a:t>
            </a:r>
            <a:endParaRPr sz="2400" b="1" i="0" u="none" strike="noStrike" cap="none">
              <a:solidFill>
                <a:srgbClr val="3C78D8"/>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3"/>
        <p:cNvGrpSpPr/>
        <p:nvPr/>
      </p:nvGrpSpPr>
      <p:grpSpPr>
        <a:xfrm>
          <a:off x="0" y="0"/>
          <a:ext cx="0" cy="0"/>
          <a:chOff x="0" y="0"/>
          <a:chExt cx="0" cy="0"/>
        </a:xfrm>
      </p:grpSpPr>
      <p:sp>
        <p:nvSpPr>
          <p:cNvPr id="64" name="Google Shape;64;p15"/>
          <p:cNvSpPr txBox="1"/>
          <p:nvPr/>
        </p:nvSpPr>
        <p:spPr>
          <a:xfrm>
            <a:off x="76200" y="423325"/>
            <a:ext cx="3683400" cy="1656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27425" tIns="27425" rIns="27425" bIns="27425" anchor="t" anchorCtr="0">
            <a:spAutoFit/>
          </a:bodyPr>
          <a:lstStyle/>
          <a:p>
            <a:pPr marL="0" lvl="0" indent="0" algn="l" rtl="0">
              <a:spcBef>
                <a:spcPts val="0"/>
              </a:spcBef>
              <a:spcAft>
                <a:spcPts val="0"/>
              </a:spcAft>
              <a:buNone/>
            </a:pPr>
            <a:r>
              <a:rPr lang="en" sz="1300">
                <a:solidFill>
                  <a:schemeClr val="dk1"/>
                </a:solidFill>
                <a:latin typeface="Calibri"/>
                <a:ea typeface="Calibri"/>
                <a:cs typeface="Calibri"/>
                <a:sym typeface="Calibri"/>
              </a:rPr>
              <a:t>Released 8B and 70B with 8K context length</a:t>
            </a:r>
            <a:endParaRPr sz="1300">
              <a:solidFill>
                <a:schemeClr val="dk1"/>
              </a:solidFill>
              <a:latin typeface="Calibri"/>
              <a:ea typeface="Calibri"/>
              <a:cs typeface="Calibri"/>
              <a:sym typeface="Calibri"/>
            </a:endParaRPr>
          </a:p>
          <a:p>
            <a:pPr marL="0" lvl="0" indent="0" algn="l" rtl="0">
              <a:spcBef>
                <a:spcPts val="0"/>
              </a:spcBef>
              <a:spcAft>
                <a:spcPts val="0"/>
              </a:spcAft>
              <a:buNone/>
            </a:pPr>
            <a:r>
              <a:rPr lang="en" sz="1300">
                <a:solidFill>
                  <a:schemeClr val="dk1"/>
                </a:solidFill>
                <a:latin typeface="Calibri"/>
                <a:ea typeface="Calibri"/>
                <a:cs typeface="Calibri"/>
                <a:sym typeface="Calibri"/>
              </a:rPr>
              <a:t>Trained with 15 trillion tokens </a:t>
            </a:r>
            <a:br>
              <a:rPr lang="en" sz="1300">
                <a:solidFill>
                  <a:schemeClr val="dk1"/>
                </a:solidFill>
                <a:latin typeface="Calibri"/>
                <a:ea typeface="Calibri"/>
                <a:cs typeface="Calibri"/>
                <a:sym typeface="Calibri"/>
              </a:rPr>
            </a:br>
            <a:r>
              <a:rPr lang="en" sz="1300">
                <a:solidFill>
                  <a:schemeClr val="dk1"/>
                </a:solidFill>
                <a:latin typeface="Calibri"/>
                <a:ea typeface="Calibri"/>
                <a:cs typeface="Calibri"/>
                <a:sym typeface="Calibri"/>
              </a:rPr>
              <a:t>on a custom-built 24K GPU cluster.</a:t>
            </a:r>
            <a:endParaRPr sz="1300">
              <a:solidFill>
                <a:schemeClr val="dk1"/>
              </a:solidFill>
              <a:latin typeface="Calibri"/>
              <a:ea typeface="Calibri"/>
              <a:cs typeface="Calibri"/>
              <a:sym typeface="Calibri"/>
            </a:endParaRPr>
          </a:p>
          <a:p>
            <a:pPr marL="0" lvl="0" indent="0" algn="l" rtl="0">
              <a:spcBef>
                <a:spcPts val="0"/>
              </a:spcBef>
              <a:spcAft>
                <a:spcPts val="0"/>
              </a:spcAft>
              <a:buNone/>
            </a:pPr>
            <a:endParaRPr sz="1300">
              <a:solidFill>
                <a:schemeClr val="dk1"/>
              </a:solidFill>
              <a:latin typeface="Calibri"/>
              <a:ea typeface="Calibri"/>
              <a:cs typeface="Calibri"/>
              <a:sym typeface="Calibri"/>
            </a:endParaRPr>
          </a:p>
          <a:p>
            <a:pPr marL="0" lvl="0" indent="0" algn="l" rtl="0">
              <a:spcBef>
                <a:spcPts val="0"/>
              </a:spcBef>
              <a:spcAft>
                <a:spcPts val="0"/>
              </a:spcAft>
              <a:buNone/>
            </a:pPr>
            <a:r>
              <a:rPr lang="en" sz="1300">
                <a:solidFill>
                  <a:schemeClr val="dk1"/>
                </a:solidFill>
                <a:latin typeface="Calibri"/>
                <a:ea typeface="Calibri"/>
                <a:cs typeface="Calibri"/>
                <a:sym typeface="Calibri"/>
              </a:rPr>
              <a:t>Next releases coming soon:</a:t>
            </a:r>
            <a:endParaRPr sz="1300">
              <a:solidFill>
                <a:schemeClr val="dk1"/>
              </a:solidFill>
              <a:latin typeface="Calibri"/>
              <a:ea typeface="Calibri"/>
              <a:cs typeface="Calibri"/>
              <a:sym typeface="Calibri"/>
            </a:endParaRPr>
          </a:p>
          <a:p>
            <a:pPr marL="228600" lvl="0" indent="-1968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400B (free on WhatsApp and other FB products)</a:t>
            </a:r>
            <a:endParaRPr sz="1300">
              <a:solidFill>
                <a:schemeClr val="dk1"/>
              </a:solidFill>
              <a:latin typeface="Calibri"/>
              <a:ea typeface="Calibri"/>
              <a:cs typeface="Calibri"/>
              <a:sym typeface="Calibri"/>
            </a:endParaRPr>
          </a:p>
          <a:p>
            <a:pPr marL="228600" lvl="0" indent="-1968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longer context </a:t>
            </a:r>
            <a:endParaRPr sz="1300">
              <a:solidFill>
                <a:schemeClr val="dk1"/>
              </a:solidFill>
              <a:latin typeface="Calibri"/>
              <a:ea typeface="Calibri"/>
              <a:cs typeface="Calibri"/>
              <a:sym typeface="Calibri"/>
            </a:endParaRPr>
          </a:p>
          <a:p>
            <a:pPr marL="228600" lvl="0" indent="-1968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multimodality</a:t>
            </a:r>
            <a:endParaRPr sz="1000">
              <a:solidFill>
                <a:schemeClr val="dk1"/>
              </a:solidFill>
              <a:latin typeface="Calibri"/>
              <a:ea typeface="Calibri"/>
              <a:cs typeface="Calibri"/>
              <a:sym typeface="Calibri"/>
            </a:endParaRPr>
          </a:p>
        </p:txBody>
      </p:sp>
      <p:sp>
        <p:nvSpPr>
          <p:cNvPr id="65" name="Google Shape;65;p15"/>
          <p:cNvSpPr txBox="1"/>
          <p:nvPr/>
        </p:nvSpPr>
        <p:spPr>
          <a:xfrm>
            <a:off x="76200" y="76200"/>
            <a:ext cx="2796900" cy="2955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1800" b="1">
                <a:solidFill>
                  <a:srgbClr val="0F1419"/>
                </a:solidFill>
                <a:highlight>
                  <a:srgbClr val="FFFFFF"/>
                </a:highlight>
                <a:latin typeface="Calibri"/>
                <a:ea typeface="Calibri"/>
                <a:cs typeface="Calibri"/>
                <a:sym typeface="Calibri"/>
              </a:rPr>
              <a:t>Llama-3   from   Meta</a:t>
            </a:r>
            <a:endParaRPr sz="1800" b="1">
              <a:latin typeface="Calibri"/>
              <a:ea typeface="Calibri"/>
              <a:cs typeface="Calibri"/>
              <a:sym typeface="Calibri"/>
            </a:endParaRPr>
          </a:p>
        </p:txBody>
      </p:sp>
      <p:pic>
        <p:nvPicPr>
          <p:cNvPr id="66" name="Google Shape;66;p15"/>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66804" y="2284446"/>
            <a:ext cx="4629873" cy="2784874"/>
          </a:xfrm>
          <a:prstGeom prst="rect">
            <a:avLst/>
          </a:prstGeom>
          <a:noFill/>
          <a:ln w="9525" cap="flat" cmpd="sng">
            <a:solidFill>
              <a:srgbClr val="FF0000"/>
            </a:solidFill>
            <a:prstDash val="solid"/>
            <a:round/>
            <a:headEnd type="none" w="sm" len="sm"/>
            <a:tailEnd type="none" w="sm" len="sm"/>
          </a:ln>
        </p:spPr>
      </p:pic>
      <p:sp>
        <p:nvSpPr>
          <p:cNvPr id="67" name="Google Shape;67;p15"/>
          <p:cNvSpPr txBox="1"/>
          <p:nvPr/>
        </p:nvSpPr>
        <p:spPr>
          <a:xfrm>
            <a:off x="4773100" y="3328021"/>
            <a:ext cx="4301100" cy="1748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27425" tIns="27425" rIns="27425" bIns="27425" anchor="t" anchorCtr="0">
            <a:spAutoFit/>
          </a:bodyPr>
          <a:lstStyle/>
          <a:p>
            <a:pPr marL="0" lvl="0" indent="0" algn="l" rtl="0">
              <a:spcBef>
                <a:spcPts val="0"/>
              </a:spcBef>
              <a:spcAft>
                <a:spcPts val="0"/>
              </a:spcAft>
              <a:buNone/>
            </a:pPr>
            <a:r>
              <a:rPr lang="en" sz="1000">
                <a:solidFill>
                  <a:srgbClr val="3C78D8"/>
                </a:solidFill>
                <a:latin typeface="Roboto Mono"/>
                <a:ea typeface="Roboto Mono"/>
                <a:cs typeface="Roboto Mono"/>
                <a:sym typeface="Roboto Mono"/>
              </a:rPr>
              <a:t>import transformers</a:t>
            </a:r>
            <a:endParaRPr sz="1000">
              <a:solidFill>
                <a:srgbClr val="3C78D8"/>
              </a:solidFill>
              <a:latin typeface="Roboto Mono"/>
              <a:ea typeface="Roboto Mono"/>
              <a:cs typeface="Roboto Mono"/>
              <a:sym typeface="Roboto Mono"/>
            </a:endParaRPr>
          </a:p>
          <a:p>
            <a:pPr marL="0" lvl="0" indent="0" algn="l" rtl="0">
              <a:spcBef>
                <a:spcPts val="0"/>
              </a:spcBef>
              <a:spcAft>
                <a:spcPts val="0"/>
              </a:spcAft>
              <a:buNone/>
            </a:pPr>
            <a:r>
              <a:rPr lang="en" sz="1000">
                <a:solidFill>
                  <a:srgbClr val="3C78D8"/>
                </a:solidFill>
                <a:latin typeface="Roboto Mono"/>
                <a:ea typeface="Roboto Mono"/>
                <a:cs typeface="Roboto Mono"/>
                <a:sym typeface="Roboto Mono"/>
              </a:rPr>
              <a:t>import torch</a:t>
            </a:r>
            <a:endParaRPr sz="1000">
              <a:solidFill>
                <a:srgbClr val="3C78D8"/>
              </a:solidFill>
              <a:latin typeface="Roboto Mono"/>
              <a:ea typeface="Roboto Mono"/>
              <a:cs typeface="Roboto Mono"/>
              <a:sym typeface="Roboto Mono"/>
            </a:endParaRPr>
          </a:p>
          <a:p>
            <a:pPr marL="0" lvl="0" indent="0" algn="l" rtl="0">
              <a:spcBef>
                <a:spcPts val="0"/>
              </a:spcBef>
              <a:spcAft>
                <a:spcPts val="0"/>
              </a:spcAft>
              <a:buNone/>
            </a:pPr>
            <a:endParaRPr sz="1000">
              <a:solidFill>
                <a:srgbClr val="3C78D8"/>
              </a:solidFill>
              <a:latin typeface="Roboto Mono"/>
              <a:ea typeface="Roboto Mono"/>
              <a:cs typeface="Roboto Mono"/>
              <a:sym typeface="Roboto Mono"/>
            </a:endParaRPr>
          </a:p>
          <a:p>
            <a:pPr marL="0" lvl="0" indent="0" algn="l" rtl="0">
              <a:spcBef>
                <a:spcPts val="0"/>
              </a:spcBef>
              <a:spcAft>
                <a:spcPts val="0"/>
              </a:spcAft>
              <a:buNone/>
            </a:pPr>
            <a:r>
              <a:rPr lang="en" sz="1000">
                <a:solidFill>
                  <a:srgbClr val="3C78D8"/>
                </a:solidFill>
                <a:latin typeface="Roboto Mono"/>
                <a:ea typeface="Roboto Mono"/>
                <a:cs typeface="Roboto Mono"/>
                <a:sym typeface="Roboto Mono"/>
              </a:rPr>
              <a:t>model_id = "</a:t>
            </a:r>
            <a:r>
              <a:rPr lang="en" sz="1000">
                <a:solidFill>
                  <a:srgbClr val="CC0000"/>
                </a:solidFill>
                <a:latin typeface="Roboto Mono"/>
                <a:ea typeface="Roboto Mono"/>
                <a:cs typeface="Roboto Mono"/>
                <a:sym typeface="Roboto Mono"/>
              </a:rPr>
              <a:t>meta-llama/Meta-Llama-3-8B-Instruct"</a:t>
            </a:r>
            <a:endParaRPr sz="1000">
              <a:solidFill>
                <a:srgbClr val="CC0000"/>
              </a:solidFill>
              <a:latin typeface="Roboto Mono"/>
              <a:ea typeface="Roboto Mono"/>
              <a:cs typeface="Roboto Mono"/>
              <a:sym typeface="Roboto Mono"/>
            </a:endParaRPr>
          </a:p>
          <a:p>
            <a:pPr marL="0" lvl="0" indent="0" algn="l" rtl="0">
              <a:spcBef>
                <a:spcPts val="0"/>
              </a:spcBef>
              <a:spcAft>
                <a:spcPts val="0"/>
              </a:spcAft>
              <a:buNone/>
            </a:pPr>
            <a:endParaRPr sz="1000">
              <a:solidFill>
                <a:srgbClr val="3C78D8"/>
              </a:solidFill>
              <a:latin typeface="Roboto Mono"/>
              <a:ea typeface="Roboto Mono"/>
              <a:cs typeface="Roboto Mono"/>
              <a:sym typeface="Roboto Mono"/>
            </a:endParaRPr>
          </a:p>
          <a:p>
            <a:pPr marL="0" lvl="0" indent="0" algn="l" rtl="0">
              <a:spcBef>
                <a:spcPts val="0"/>
              </a:spcBef>
              <a:spcAft>
                <a:spcPts val="0"/>
              </a:spcAft>
              <a:buNone/>
            </a:pPr>
            <a:r>
              <a:rPr lang="en" sz="1000">
                <a:solidFill>
                  <a:srgbClr val="3C78D8"/>
                </a:solidFill>
                <a:latin typeface="Roboto Mono"/>
                <a:ea typeface="Roboto Mono"/>
                <a:cs typeface="Roboto Mono"/>
                <a:sym typeface="Roboto Mono"/>
              </a:rPr>
              <a:t>pipeline = transformers.pipeline(</a:t>
            </a:r>
            <a:endParaRPr sz="1000">
              <a:solidFill>
                <a:srgbClr val="3C78D8"/>
              </a:solidFill>
              <a:latin typeface="Roboto Mono"/>
              <a:ea typeface="Roboto Mono"/>
              <a:cs typeface="Roboto Mono"/>
              <a:sym typeface="Roboto Mono"/>
            </a:endParaRPr>
          </a:p>
          <a:p>
            <a:pPr marL="0" lvl="0" indent="0" algn="l" rtl="0">
              <a:spcBef>
                <a:spcPts val="0"/>
              </a:spcBef>
              <a:spcAft>
                <a:spcPts val="0"/>
              </a:spcAft>
              <a:buNone/>
            </a:pPr>
            <a:r>
              <a:rPr lang="en" sz="1000">
                <a:solidFill>
                  <a:srgbClr val="3C78D8"/>
                </a:solidFill>
                <a:latin typeface="Roboto Mono"/>
                <a:ea typeface="Roboto Mono"/>
                <a:cs typeface="Roboto Mono"/>
                <a:sym typeface="Roboto Mono"/>
              </a:rPr>
              <a:t>  "</a:t>
            </a:r>
            <a:r>
              <a:rPr lang="en" sz="1000">
                <a:solidFill>
                  <a:srgbClr val="CC0000"/>
                </a:solidFill>
                <a:latin typeface="Roboto Mono"/>
                <a:ea typeface="Roboto Mono"/>
                <a:cs typeface="Roboto Mono"/>
                <a:sym typeface="Roboto Mono"/>
              </a:rPr>
              <a:t>text-generation</a:t>
            </a:r>
            <a:r>
              <a:rPr lang="en" sz="1000">
                <a:solidFill>
                  <a:srgbClr val="3C78D8"/>
                </a:solidFill>
                <a:latin typeface="Roboto Mono"/>
                <a:ea typeface="Roboto Mono"/>
                <a:cs typeface="Roboto Mono"/>
                <a:sym typeface="Roboto Mono"/>
              </a:rPr>
              <a:t>",</a:t>
            </a:r>
            <a:endParaRPr sz="1000">
              <a:solidFill>
                <a:srgbClr val="3C78D8"/>
              </a:solidFill>
              <a:latin typeface="Roboto Mono"/>
              <a:ea typeface="Roboto Mono"/>
              <a:cs typeface="Roboto Mono"/>
              <a:sym typeface="Roboto Mono"/>
            </a:endParaRPr>
          </a:p>
          <a:p>
            <a:pPr marL="0" lvl="0" indent="0" algn="l" rtl="0">
              <a:spcBef>
                <a:spcPts val="0"/>
              </a:spcBef>
              <a:spcAft>
                <a:spcPts val="0"/>
              </a:spcAft>
              <a:buNone/>
            </a:pPr>
            <a:r>
              <a:rPr lang="en" sz="1000">
                <a:solidFill>
                  <a:srgbClr val="3C78D8"/>
                </a:solidFill>
                <a:latin typeface="Roboto Mono"/>
                <a:ea typeface="Roboto Mono"/>
                <a:cs typeface="Roboto Mono"/>
                <a:sym typeface="Roboto Mono"/>
              </a:rPr>
              <a:t>  model="</a:t>
            </a:r>
            <a:r>
              <a:rPr lang="en" sz="1000">
                <a:solidFill>
                  <a:srgbClr val="CC0000"/>
                </a:solidFill>
                <a:latin typeface="Roboto Mono"/>
                <a:ea typeface="Roboto Mono"/>
                <a:cs typeface="Roboto Mono"/>
                <a:sym typeface="Roboto Mono"/>
              </a:rPr>
              <a:t>meta-llama/Meta-Llama-3-8B-Instruct</a:t>
            </a:r>
            <a:r>
              <a:rPr lang="en" sz="1000">
                <a:solidFill>
                  <a:srgbClr val="3C78D8"/>
                </a:solidFill>
                <a:latin typeface="Roboto Mono"/>
                <a:ea typeface="Roboto Mono"/>
                <a:cs typeface="Roboto Mono"/>
                <a:sym typeface="Roboto Mono"/>
              </a:rPr>
              <a:t>",</a:t>
            </a:r>
            <a:endParaRPr sz="1000">
              <a:solidFill>
                <a:srgbClr val="3C78D8"/>
              </a:solidFill>
              <a:latin typeface="Roboto Mono"/>
              <a:ea typeface="Roboto Mono"/>
              <a:cs typeface="Roboto Mono"/>
              <a:sym typeface="Roboto Mono"/>
            </a:endParaRPr>
          </a:p>
          <a:p>
            <a:pPr marL="0" lvl="0" indent="0" algn="l" rtl="0">
              <a:spcBef>
                <a:spcPts val="0"/>
              </a:spcBef>
              <a:spcAft>
                <a:spcPts val="0"/>
              </a:spcAft>
              <a:buNone/>
            </a:pPr>
            <a:r>
              <a:rPr lang="en" sz="1000">
                <a:solidFill>
                  <a:srgbClr val="3C78D8"/>
                </a:solidFill>
                <a:latin typeface="Roboto Mono"/>
                <a:ea typeface="Roboto Mono"/>
                <a:cs typeface="Roboto Mono"/>
                <a:sym typeface="Roboto Mono"/>
              </a:rPr>
              <a:t>  model_kwargs={"</a:t>
            </a:r>
            <a:r>
              <a:rPr lang="en" sz="1000">
                <a:solidFill>
                  <a:srgbClr val="CC0000"/>
                </a:solidFill>
                <a:latin typeface="Roboto Mono"/>
                <a:ea typeface="Roboto Mono"/>
                <a:cs typeface="Roboto Mono"/>
                <a:sym typeface="Roboto Mono"/>
              </a:rPr>
              <a:t>torch_dtype</a:t>
            </a:r>
            <a:r>
              <a:rPr lang="en" sz="1000">
                <a:solidFill>
                  <a:srgbClr val="3C78D8"/>
                </a:solidFill>
                <a:latin typeface="Roboto Mono"/>
                <a:ea typeface="Roboto Mono"/>
                <a:cs typeface="Roboto Mono"/>
                <a:sym typeface="Roboto Mono"/>
              </a:rPr>
              <a:t>": torch.bfloat16},</a:t>
            </a:r>
            <a:endParaRPr sz="1000">
              <a:solidFill>
                <a:srgbClr val="3C78D8"/>
              </a:solidFill>
              <a:latin typeface="Roboto Mono"/>
              <a:ea typeface="Roboto Mono"/>
              <a:cs typeface="Roboto Mono"/>
              <a:sym typeface="Roboto Mono"/>
            </a:endParaRPr>
          </a:p>
          <a:p>
            <a:pPr marL="0" lvl="0" indent="0" algn="l" rtl="0">
              <a:spcBef>
                <a:spcPts val="0"/>
              </a:spcBef>
              <a:spcAft>
                <a:spcPts val="0"/>
              </a:spcAft>
              <a:buNone/>
            </a:pPr>
            <a:r>
              <a:rPr lang="en" sz="1000">
                <a:solidFill>
                  <a:srgbClr val="3C78D8"/>
                </a:solidFill>
                <a:latin typeface="Roboto Mono"/>
                <a:ea typeface="Roboto Mono"/>
                <a:cs typeface="Roboto Mono"/>
                <a:sym typeface="Roboto Mono"/>
              </a:rPr>
              <a:t>  device="</a:t>
            </a:r>
            <a:r>
              <a:rPr lang="en" sz="1000">
                <a:solidFill>
                  <a:srgbClr val="CC0000"/>
                </a:solidFill>
                <a:latin typeface="Roboto Mono"/>
                <a:ea typeface="Roboto Mono"/>
                <a:cs typeface="Roboto Mono"/>
                <a:sym typeface="Roboto Mono"/>
              </a:rPr>
              <a:t>cuda</a:t>
            </a:r>
            <a:r>
              <a:rPr lang="en" sz="1000">
                <a:solidFill>
                  <a:srgbClr val="3C78D8"/>
                </a:solidFill>
                <a:latin typeface="Roboto Mono"/>
                <a:ea typeface="Roboto Mono"/>
                <a:cs typeface="Roboto Mono"/>
                <a:sym typeface="Roboto Mono"/>
              </a:rPr>
              <a:t>",</a:t>
            </a:r>
            <a:endParaRPr sz="1000">
              <a:solidFill>
                <a:srgbClr val="3C78D8"/>
              </a:solidFill>
              <a:latin typeface="Roboto Mono"/>
              <a:ea typeface="Roboto Mono"/>
              <a:cs typeface="Roboto Mono"/>
              <a:sym typeface="Roboto Mono"/>
            </a:endParaRPr>
          </a:p>
          <a:p>
            <a:pPr marL="0" lvl="0" indent="0" algn="l" rtl="0">
              <a:spcBef>
                <a:spcPts val="0"/>
              </a:spcBef>
              <a:spcAft>
                <a:spcPts val="0"/>
              </a:spcAft>
              <a:buNone/>
            </a:pPr>
            <a:r>
              <a:rPr lang="en" sz="1000">
                <a:solidFill>
                  <a:srgbClr val="3C78D8"/>
                </a:solidFill>
                <a:latin typeface="Roboto Mono"/>
                <a:ea typeface="Roboto Mono"/>
                <a:cs typeface="Roboto Mono"/>
                <a:sym typeface="Roboto Mono"/>
              </a:rPr>
              <a:t>)</a:t>
            </a:r>
            <a:endParaRPr sz="1000">
              <a:solidFill>
                <a:srgbClr val="3C78D8"/>
              </a:solidFill>
              <a:latin typeface="Roboto Mono"/>
              <a:ea typeface="Roboto Mono"/>
              <a:cs typeface="Roboto Mono"/>
              <a:sym typeface="Roboto Mono"/>
            </a:endParaRPr>
          </a:p>
        </p:txBody>
      </p:sp>
      <p:sp>
        <p:nvSpPr>
          <p:cNvPr id="68" name="Google Shape;68;p15"/>
          <p:cNvSpPr txBox="1"/>
          <p:nvPr/>
        </p:nvSpPr>
        <p:spPr>
          <a:xfrm>
            <a:off x="5943325" y="781362"/>
            <a:ext cx="3124500" cy="455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27425" tIns="27425" rIns="27425" bIns="27425" anchor="t" anchorCtr="0">
            <a:spAutoFit/>
          </a:bodyPr>
          <a:lstStyle/>
          <a:p>
            <a:pPr marL="0" lvl="0" indent="0" algn="l" rtl="0">
              <a:spcBef>
                <a:spcPts val="0"/>
              </a:spcBef>
              <a:spcAft>
                <a:spcPts val="0"/>
              </a:spcAft>
              <a:buNone/>
            </a:pPr>
            <a:r>
              <a:rPr lang="en" sz="1300">
                <a:solidFill>
                  <a:schemeClr val="dk1"/>
                </a:solidFill>
                <a:latin typeface="Calibri"/>
                <a:ea typeface="Calibri"/>
                <a:cs typeface="Calibri"/>
                <a:sym typeface="Calibri"/>
              </a:rPr>
              <a:t>Llama 8B is better than Mistral 7B</a:t>
            </a:r>
            <a:endParaRPr sz="1300">
              <a:solidFill>
                <a:schemeClr val="dk1"/>
              </a:solidFill>
              <a:latin typeface="Calibri"/>
              <a:ea typeface="Calibri"/>
              <a:cs typeface="Calibri"/>
              <a:sym typeface="Calibri"/>
            </a:endParaRPr>
          </a:p>
          <a:p>
            <a:pPr marL="0" lvl="0" indent="0" algn="l" rtl="0">
              <a:spcBef>
                <a:spcPts val="0"/>
              </a:spcBef>
              <a:spcAft>
                <a:spcPts val="0"/>
              </a:spcAft>
              <a:buNone/>
            </a:pPr>
            <a:r>
              <a:rPr lang="en" sz="1300">
                <a:solidFill>
                  <a:schemeClr val="dk1"/>
                </a:solidFill>
                <a:latin typeface="Calibri"/>
                <a:ea typeface="Calibri"/>
                <a:cs typeface="Calibri"/>
                <a:sym typeface="Calibri"/>
              </a:rPr>
              <a:t>Llama 70B is on par with Gemini Pro 1.5</a:t>
            </a:r>
            <a:endParaRPr sz="1300">
              <a:solidFill>
                <a:schemeClr val="dk1"/>
              </a:solidFill>
              <a:latin typeface="Calibri"/>
              <a:ea typeface="Calibri"/>
              <a:cs typeface="Calibri"/>
              <a:sym typeface="Calibri"/>
            </a:endParaRPr>
          </a:p>
        </p:txBody>
      </p:sp>
      <p:sp>
        <p:nvSpPr>
          <p:cNvPr id="69" name="Google Shape;69;p15"/>
          <p:cNvSpPr txBox="1"/>
          <p:nvPr/>
        </p:nvSpPr>
        <p:spPr>
          <a:xfrm>
            <a:off x="5943325" y="76200"/>
            <a:ext cx="3124500" cy="655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27425" tIns="27425" rIns="27425" bIns="27425" anchor="t" anchorCtr="0">
            <a:spAutoFit/>
          </a:bodyPr>
          <a:lstStyle/>
          <a:p>
            <a:pPr marL="0" lvl="0" indent="0" algn="l" rtl="0">
              <a:spcBef>
                <a:spcPts val="0"/>
              </a:spcBef>
              <a:spcAft>
                <a:spcPts val="0"/>
              </a:spcAft>
              <a:buNone/>
            </a:pPr>
            <a:r>
              <a:rPr lang="en" sz="1300">
                <a:solidFill>
                  <a:schemeClr val="dk1"/>
                </a:solidFill>
                <a:latin typeface="Calibri"/>
                <a:ea typeface="Calibri"/>
                <a:cs typeface="Calibri"/>
                <a:sym typeface="Calibri"/>
              </a:rPr>
              <a:t>"Our model and weights are licensed for both researchers and commercial entities, upholding the principles of openness. "</a:t>
            </a:r>
            <a:endParaRPr sz="1300">
              <a:solidFill>
                <a:schemeClr val="dk1"/>
              </a:solidFill>
              <a:latin typeface="Calibri"/>
              <a:ea typeface="Calibri"/>
              <a:cs typeface="Calibri"/>
              <a:sym typeface="Calibri"/>
            </a:endParaRPr>
          </a:p>
        </p:txBody>
      </p:sp>
      <p:pic>
        <p:nvPicPr>
          <p:cNvPr id="70" name="Google Shape;70;p15"/>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3855773" y="44650"/>
            <a:ext cx="1927050" cy="1083974"/>
          </a:xfrm>
          <a:prstGeom prst="rect">
            <a:avLst/>
          </a:prstGeom>
          <a:noFill/>
          <a:ln>
            <a:noFill/>
          </a:ln>
        </p:spPr>
      </p:pic>
      <p:sp>
        <p:nvSpPr>
          <p:cNvPr id="71" name="Google Shape;71;p15"/>
          <p:cNvSpPr txBox="1"/>
          <p:nvPr/>
        </p:nvSpPr>
        <p:spPr>
          <a:xfrm>
            <a:off x="5943325" y="1292709"/>
            <a:ext cx="3124500" cy="1132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27425" tIns="27425" rIns="27425" bIns="27425" anchor="t" anchorCtr="0">
            <a:spAutoFit/>
          </a:bodyPr>
          <a:lstStyle/>
          <a:p>
            <a:pPr marL="457200" lvl="0" indent="-292100" algn="l" rtl="0">
              <a:spcBef>
                <a:spcPts val="0"/>
              </a:spcBef>
              <a:spcAft>
                <a:spcPts val="0"/>
              </a:spcAft>
              <a:buSzPts val="1000"/>
              <a:buFont typeface="Calibri"/>
              <a:buChar char="●"/>
            </a:pPr>
            <a:r>
              <a:rPr lang="en" sz="1000" u="sng">
                <a:solidFill>
                  <a:schemeClr val="hlink"/>
                </a:solidFill>
                <a:latin typeface="Calibri"/>
                <a:ea typeface="Calibri"/>
                <a:cs typeface="Calibri"/>
                <a:sym typeface="Calibri"/>
                <a:hlinkClick r:id="rId5"/>
              </a:rPr>
              <a:t>https://ai.meta.com/blog/meta-llama-3/</a:t>
            </a:r>
            <a:r>
              <a:rPr lang="en" sz="1000">
                <a:latin typeface="Calibri"/>
                <a:ea typeface="Calibri"/>
                <a:cs typeface="Calibri"/>
                <a:sym typeface="Calibri"/>
              </a:rPr>
              <a:t> </a:t>
            </a:r>
            <a:endParaRPr sz="1000">
              <a:latin typeface="Calibri"/>
              <a:ea typeface="Calibri"/>
              <a:cs typeface="Calibri"/>
              <a:sym typeface="Calibri"/>
            </a:endParaRPr>
          </a:p>
          <a:p>
            <a:pPr marL="457200" lvl="0" indent="-292100" algn="l" rtl="0">
              <a:spcBef>
                <a:spcPts val="0"/>
              </a:spcBef>
              <a:spcAft>
                <a:spcPts val="0"/>
              </a:spcAft>
              <a:buSzPts val="1000"/>
              <a:buFont typeface="Calibri"/>
              <a:buChar char="●"/>
            </a:pPr>
            <a:r>
              <a:rPr lang="en" sz="1000" u="sng">
                <a:solidFill>
                  <a:schemeClr val="hlink"/>
                </a:solidFill>
                <a:latin typeface="Calibri"/>
                <a:ea typeface="Calibri"/>
                <a:cs typeface="Calibri"/>
                <a:sym typeface="Calibri"/>
                <a:hlinkClick r:id="rId6"/>
              </a:rPr>
              <a:t>https://meta.ai</a:t>
            </a:r>
            <a:endParaRPr sz="1000">
              <a:solidFill>
                <a:schemeClr val="dk1"/>
              </a:solidFill>
              <a:latin typeface="Calibri"/>
              <a:ea typeface="Calibri"/>
              <a:cs typeface="Calibri"/>
              <a:sym typeface="Calibri"/>
            </a:endParaRPr>
          </a:p>
          <a:p>
            <a:pPr marL="457200" lvl="0" indent="-292100" algn="l" rtl="0">
              <a:spcBef>
                <a:spcPts val="0"/>
              </a:spcBef>
              <a:spcAft>
                <a:spcPts val="0"/>
              </a:spcAft>
              <a:buSzPts val="1000"/>
              <a:buFont typeface="Calibri"/>
              <a:buChar char="●"/>
            </a:pPr>
            <a:r>
              <a:rPr lang="en" sz="1000" u="sng">
                <a:solidFill>
                  <a:schemeClr val="hlink"/>
                </a:solidFill>
                <a:latin typeface="Calibri"/>
                <a:ea typeface="Calibri"/>
                <a:cs typeface="Calibri"/>
                <a:sym typeface="Calibri"/>
                <a:hlinkClick r:id="rId7"/>
              </a:rPr>
              <a:t>https://github.com/meta-llama/llama3</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a:p>
            <a:pPr marL="457200" lvl="0" indent="-292100" algn="l" rtl="0">
              <a:spcBef>
                <a:spcPts val="0"/>
              </a:spcBef>
              <a:spcAft>
                <a:spcPts val="0"/>
              </a:spcAft>
              <a:buSzPts val="1000"/>
              <a:buFont typeface="Calibri"/>
              <a:buChar char="●"/>
            </a:pPr>
            <a:r>
              <a:rPr lang="en" sz="1000" u="sng">
                <a:solidFill>
                  <a:schemeClr val="hlink"/>
                </a:solidFill>
                <a:latin typeface="Calibri"/>
                <a:ea typeface="Calibri"/>
                <a:cs typeface="Calibri"/>
                <a:sym typeface="Calibri"/>
                <a:hlinkClick r:id="rId8"/>
              </a:rPr>
              <a:t>https://llama.meta.com/llama-downloads/</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a:p>
            <a:pPr marL="457200" lvl="0" indent="-292100" algn="l" rtl="0">
              <a:spcBef>
                <a:spcPts val="0"/>
              </a:spcBef>
              <a:spcAft>
                <a:spcPts val="0"/>
              </a:spcAft>
              <a:buSzPts val="1000"/>
              <a:buFont typeface="Calibri"/>
              <a:buChar char="●"/>
            </a:pPr>
            <a:r>
              <a:rPr lang="en" sz="1000" u="sng">
                <a:solidFill>
                  <a:schemeClr val="hlink"/>
                </a:solidFill>
                <a:latin typeface="Calibri"/>
                <a:ea typeface="Calibri"/>
                <a:cs typeface="Calibri"/>
                <a:sym typeface="Calibri"/>
                <a:hlinkClick r:id="rId9"/>
              </a:rPr>
              <a:t>https://llama.meta.com/trust-and-safety/</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a:p>
            <a:pPr marL="457200" lvl="0" indent="-292100" algn="l" rtl="0">
              <a:spcBef>
                <a:spcPts val="0"/>
              </a:spcBef>
              <a:spcAft>
                <a:spcPts val="0"/>
              </a:spcAft>
              <a:buSzPts val="1000"/>
              <a:buFont typeface="Calibri"/>
              <a:buChar char="●"/>
            </a:pPr>
            <a:r>
              <a:rPr lang="en" sz="1000" u="sng">
                <a:solidFill>
                  <a:schemeClr val="hlink"/>
                </a:solidFill>
                <a:latin typeface="Calibri"/>
                <a:ea typeface="Calibri"/>
                <a:cs typeface="Calibri"/>
                <a:sym typeface="Calibri"/>
                <a:hlinkClick r:id="rId10"/>
              </a:rPr>
              <a:t>https://huggingface.co/meta-llama</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a:p>
            <a:pPr marL="457200" lvl="0" indent="-292100" algn="l" rtl="0">
              <a:spcBef>
                <a:spcPts val="0"/>
              </a:spcBef>
              <a:spcAft>
                <a:spcPts val="0"/>
              </a:spcAft>
              <a:buClr>
                <a:schemeClr val="dk1"/>
              </a:buClr>
              <a:buSzPts val="1000"/>
              <a:buFont typeface="Calibri"/>
              <a:buChar char="●"/>
            </a:pPr>
            <a:r>
              <a:rPr lang="en" sz="1000" u="sng">
                <a:solidFill>
                  <a:schemeClr val="hlink"/>
                </a:solidFill>
                <a:latin typeface="Calibri"/>
                <a:ea typeface="Calibri"/>
                <a:cs typeface="Calibri"/>
                <a:sym typeface="Calibri"/>
                <a:hlinkClick r:id="rId11"/>
              </a:rPr>
              <a:t>https://ollama.com/library/llama3</a:t>
            </a:r>
            <a:r>
              <a:rPr lang="en" sz="1000">
                <a:solidFill>
                  <a:schemeClr val="dk1"/>
                </a:solidFill>
                <a:latin typeface="Calibri"/>
                <a:ea typeface="Calibri"/>
                <a:cs typeface="Calibri"/>
                <a:sym typeface="Calibri"/>
              </a:rPr>
              <a:t> - </a:t>
            </a:r>
            <a:endParaRPr sz="1000">
              <a:solidFill>
                <a:schemeClr val="dk1"/>
              </a:solidFill>
              <a:latin typeface="Calibri"/>
              <a:ea typeface="Calibri"/>
              <a:cs typeface="Calibri"/>
              <a:sym typeface="Calibri"/>
            </a:endParaRPr>
          </a:p>
        </p:txBody>
      </p:sp>
      <p:sp>
        <p:nvSpPr>
          <p:cNvPr id="72" name="Google Shape;72;p15"/>
          <p:cNvSpPr txBox="1"/>
          <p:nvPr/>
        </p:nvSpPr>
        <p:spPr>
          <a:xfrm>
            <a:off x="3855775" y="1203875"/>
            <a:ext cx="1991400" cy="1025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27425" tIns="27425" rIns="27425" bIns="27425" anchor="t" anchorCtr="0">
            <a:spAutoFit/>
          </a:bodyPr>
          <a:lstStyle/>
          <a:p>
            <a:pPr marL="0" lvl="0" indent="0" algn="l" rtl="0">
              <a:spcBef>
                <a:spcPts val="0"/>
              </a:spcBef>
              <a:spcAft>
                <a:spcPts val="0"/>
              </a:spcAft>
              <a:buNone/>
            </a:pPr>
            <a:r>
              <a:rPr lang="en" sz="1300">
                <a:solidFill>
                  <a:schemeClr val="dk1"/>
                </a:solidFill>
                <a:latin typeface="Calibri"/>
                <a:ea typeface="Calibri"/>
                <a:cs typeface="Calibri"/>
                <a:sym typeface="Calibri"/>
              </a:rPr>
              <a:t>Llama Days:</a:t>
            </a:r>
            <a:endParaRPr sz="1300">
              <a:solidFill>
                <a:schemeClr val="dk1"/>
              </a:solidFill>
              <a:latin typeface="Calibri"/>
              <a:ea typeface="Calibri"/>
              <a:cs typeface="Calibri"/>
              <a:sym typeface="Calibri"/>
            </a:endParaRPr>
          </a:p>
          <a:p>
            <a:pPr marL="0" lvl="0" indent="0" algn="l" rtl="0">
              <a:spcBef>
                <a:spcPts val="0"/>
              </a:spcBef>
              <a:spcAft>
                <a:spcPts val="0"/>
              </a:spcAft>
              <a:buNone/>
            </a:pPr>
            <a:r>
              <a:rPr lang="en" sz="1300">
                <a:solidFill>
                  <a:schemeClr val="dk1"/>
                </a:solidFill>
                <a:latin typeface="Calibri"/>
                <a:ea typeface="Calibri"/>
                <a:cs typeface="Calibri"/>
                <a:sym typeface="Calibri"/>
              </a:rPr>
              <a:t>July 18, 2023 - Llama 2</a:t>
            </a:r>
            <a:endParaRPr sz="1300">
              <a:solidFill>
                <a:schemeClr val="dk1"/>
              </a:solidFill>
              <a:latin typeface="Calibri"/>
              <a:ea typeface="Calibri"/>
              <a:cs typeface="Calibri"/>
              <a:sym typeface="Calibri"/>
            </a:endParaRPr>
          </a:p>
          <a:p>
            <a:pPr marL="0" lvl="0" indent="0" algn="l" rtl="0">
              <a:spcBef>
                <a:spcPts val="0"/>
              </a:spcBef>
              <a:spcAft>
                <a:spcPts val="0"/>
              </a:spcAft>
              <a:buNone/>
            </a:pPr>
            <a:r>
              <a:rPr lang="en" sz="1300">
                <a:solidFill>
                  <a:schemeClr val="dk1"/>
                </a:solidFill>
                <a:latin typeface="Calibri"/>
                <a:ea typeface="Calibri"/>
                <a:cs typeface="Calibri"/>
                <a:sym typeface="Calibri"/>
              </a:rPr>
              <a:t>April 18, 2024 - Llama 3</a:t>
            </a:r>
            <a:endParaRPr sz="13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rgbClr val="3C78D8"/>
                </a:solidFill>
                <a:latin typeface="Calibri"/>
                <a:ea typeface="Calibri"/>
                <a:cs typeface="Calibri"/>
                <a:sym typeface="Calibri"/>
              </a:rPr>
              <a:t>(also Andrew Ng was born on April 18, 1976 in London, UK)</a:t>
            </a:r>
            <a:endParaRPr sz="1200">
              <a:solidFill>
                <a:srgbClr val="3C78D8"/>
              </a:solidFill>
              <a:latin typeface="Calibri"/>
              <a:ea typeface="Calibri"/>
              <a:cs typeface="Calibri"/>
              <a:sym typeface="Calibri"/>
            </a:endParaRPr>
          </a:p>
        </p:txBody>
      </p:sp>
      <p:pic>
        <p:nvPicPr>
          <p:cNvPr id="73" name="Google Shape;73;p15"/>
          <p:cNvPicPr preferRelativeResize="0"/>
          <p:nvPr/>
        </p:nvPicPr>
        <p:blipFill>
          <a:blip r:embed="rId12" cstate="email">
            <a:alphaModFix/>
            <a:extLst>
              <a:ext uri="{28A0092B-C50C-407E-A947-70E740481C1C}">
                <a14:useLocalDpi xmlns:a14="http://schemas.microsoft.com/office/drawing/2010/main"/>
              </a:ext>
            </a:extLst>
          </a:blip>
          <a:stretch>
            <a:fillRect/>
          </a:stretch>
        </p:blipFill>
        <p:spPr>
          <a:xfrm>
            <a:off x="5142700" y="2284450"/>
            <a:ext cx="704475" cy="93930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16"/>
          <p:cNvSpPr txBox="1"/>
          <p:nvPr/>
        </p:nvSpPr>
        <p:spPr>
          <a:xfrm>
            <a:off x="76200" y="423325"/>
            <a:ext cx="3350400" cy="209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27425" tIns="27425" rIns="27425" bIns="27425" anchor="t" anchorCtr="0">
            <a:spAutoFit/>
          </a:bodyPr>
          <a:lstStyle/>
          <a:p>
            <a:pPr marL="0" lvl="0" indent="0" algn="l" rtl="0">
              <a:spcBef>
                <a:spcPts val="0"/>
              </a:spcBef>
              <a:spcAft>
                <a:spcPts val="0"/>
              </a:spcAft>
              <a:buNone/>
            </a:pPr>
            <a:r>
              <a:rPr lang="en" sz="1000" u="sng">
                <a:solidFill>
                  <a:schemeClr val="hlink"/>
                </a:solidFill>
                <a:latin typeface="Calibri"/>
                <a:ea typeface="Calibri"/>
                <a:cs typeface="Calibri"/>
                <a:sym typeface="Calibri"/>
                <a:hlinkClick r:id="rId3"/>
              </a:rPr>
              <a:t>https://twitter.com/garridoq_/status/1780992965214609683</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p:txBody>
      </p:sp>
      <p:sp>
        <p:nvSpPr>
          <p:cNvPr id="79" name="Google Shape;79;p16"/>
          <p:cNvSpPr txBox="1"/>
          <p:nvPr/>
        </p:nvSpPr>
        <p:spPr>
          <a:xfrm>
            <a:off x="76200" y="76200"/>
            <a:ext cx="2796900" cy="2955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1800" b="1">
                <a:solidFill>
                  <a:srgbClr val="0F1419"/>
                </a:solidFill>
                <a:highlight>
                  <a:srgbClr val="FFFFFF"/>
                </a:highlight>
                <a:latin typeface="Calibri"/>
                <a:ea typeface="Calibri"/>
                <a:cs typeface="Calibri"/>
                <a:sym typeface="Calibri"/>
              </a:rPr>
              <a:t>Llama-3   from   Meta</a:t>
            </a:r>
            <a:endParaRPr sz="1800" b="1">
              <a:latin typeface="Calibri"/>
              <a:ea typeface="Calibri"/>
              <a:cs typeface="Calibri"/>
              <a:sym typeface="Calibri"/>
            </a:endParaRPr>
          </a:p>
        </p:txBody>
      </p:sp>
      <p:pic>
        <p:nvPicPr>
          <p:cNvPr id="80" name="Google Shape;80;p16"/>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746898" y="777075"/>
            <a:ext cx="7650223" cy="427325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17"/>
          <p:cNvSpPr txBox="1"/>
          <p:nvPr/>
        </p:nvSpPr>
        <p:spPr>
          <a:xfrm>
            <a:off x="44925" y="385500"/>
            <a:ext cx="4408800" cy="1256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27425" tIns="27425" rIns="27425" bIns="27425" anchor="t" anchorCtr="0">
            <a:spAutoFit/>
          </a:bodyPr>
          <a:lstStyle/>
          <a:p>
            <a:pPr marL="0" lvl="0" indent="0" algn="l" rtl="0">
              <a:spcBef>
                <a:spcPts val="0"/>
              </a:spcBef>
              <a:spcAft>
                <a:spcPts val="0"/>
              </a:spcAft>
              <a:buNone/>
            </a:pPr>
            <a:r>
              <a:rPr lang="en" sz="1300" u="sng">
                <a:solidFill>
                  <a:schemeClr val="hlink"/>
                </a:solidFill>
                <a:latin typeface="Calibri"/>
                <a:ea typeface="Calibri"/>
                <a:cs typeface="Calibri"/>
                <a:sym typeface="Calibri"/>
                <a:hlinkClick r:id="rId3"/>
              </a:rPr>
              <a:t>https://x.ai/blog/grok-1.5v</a:t>
            </a:r>
            <a:r>
              <a:rPr lang="en" sz="1300">
                <a:solidFill>
                  <a:schemeClr val="dk1"/>
                </a:solidFill>
                <a:latin typeface="Calibri"/>
                <a:ea typeface="Calibri"/>
                <a:cs typeface="Calibri"/>
                <a:sym typeface="Calibri"/>
              </a:rPr>
              <a:t> - announcement</a:t>
            </a:r>
            <a:endParaRPr sz="1300">
              <a:solidFill>
                <a:schemeClr val="dk1"/>
              </a:solidFill>
              <a:latin typeface="Calibri"/>
              <a:ea typeface="Calibri"/>
              <a:cs typeface="Calibri"/>
              <a:sym typeface="Calibri"/>
            </a:endParaRPr>
          </a:p>
          <a:p>
            <a:pPr marL="0" lvl="0" indent="0" algn="l" rtl="0">
              <a:spcBef>
                <a:spcPts val="0"/>
              </a:spcBef>
              <a:spcAft>
                <a:spcPts val="0"/>
              </a:spcAft>
              <a:buNone/>
            </a:pPr>
            <a:r>
              <a:rPr lang="en" sz="1300" u="sng">
                <a:solidFill>
                  <a:schemeClr val="hlink"/>
                </a:solidFill>
                <a:latin typeface="Calibri"/>
                <a:ea typeface="Calibri"/>
                <a:cs typeface="Calibri"/>
                <a:sym typeface="Calibri"/>
                <a:hlinkClick r:id="rId4"/>
              </a:rPr>
              <a:t>https://www.youtube.com/watch?v=s7kfifYX43w</a:t>
            </a:r>
            <a:r>
              <a:rPr lang="en" sz="1300">
                <a:solidFill>
                  <a:schemeClr val="dk1"/>
                </a:solidFill>
                <a:latin typeface="Calibri"/>
                <a:ea typeface="Calibri"/>
                <a:cs typeface="Calibri"/>
                <a:sym typeface="Calibri"/>
              </a:rPr>
              <a:t> - video</a:t>
            </a:r>
            <a:endParaRPr sz="1300">
              <a:solidFill>
                <a:schemeClr val="dk1"/>
              </a:solidFill>
              <a:latin typeface="Calibri"/>
              <a:ea typeface="Calibri"/>
              <a:cs typeface="Calibri"/>
              <a:sym typeface="Calibri"/>
            </a:endParaRPr>
          </a:p>
          <a:p>
            <a:pPr marL="0" lvl="0" indent="0" algn="l" rtl="0">
              <a:spcBef>
                <a:spcPts val="0"/>
              </a:spcBef>
              <a:spcAft>
                <a:spcPts val="0"/>
              </a:spcAft>
              <a:buNone/>
            </a:pPr>
            <a:endParaRPr sz="1300">
              <a:solidFill>
                <a:schemeClr val="dk1"/>
              </a:solidFill>
              <a:latin typeface="Calibri"/>
              <a:ea typeface="Calibri"/>
              <a:cs typeface="Calibri"/>
              <a:sym typeface="Calibri"/>
            </a:endParaRPr>
          </a:p>
          <a:p>
            <a:pPr marL="0" lvl="0" indent="0" algn="l" rtl="0">
              <a:spcBef>
                <a:spcPts val="0"/>
              </a:spcBef>
              <a:spcAft>
                <a:spcPts val="0"/>
              </a:spcAft>
              <a:buNone/>
            </a:pPr>
            <a:r>
              <a:rPr lang="en" sz="1300">
                <a:solidFill>
                  <a:schemeClr val="dk1"/>
                </a:solidFill>
                <a:latin typeface="Calibri"/>
                <a:ea typeface="Calibri"/>
                <a:cs typeface="Calibri"/>
                <a:sym typeface="Calibri"/>
              </a:rPr>
              <a:t>Grok-1.5V - can now process visual information, including documents, diagrams, charts, screenshots, and photographs. </a:t>
            </a:r>
            <a:endParaRPr sz="1300">
              <a:solidFill>
                <a:schemeClr val="dk1"/>
              </a:solidFill>
              <a:latin typeface="Calibri"/>
              <a:ea typeface="Calibri"/>
              <a:cs typeface="Calibri"/>
              <a:sym typeface="Calibri"/>
            </a:endParaRPr>
          </a:p>
          <a:p>
            <a:pPr marL="0" lvl="0" indent="0" algn="l" rtl="0">
              <a:spcBef>
                <a:spcPts val="0"/>
              </a:spcBef>
              <a:spcAft>
                <a:spcPts val="0"/>
              </a:spcAft>
              <a:buNone/>
            </a:pPr>
            <a:r>
              <a:rPr lang="en" sz="1300">
                <a:solidFill>
                  <a:schemeClr val="dk1"/>
                </a:solidFill>
                <a:latin typeface="Calibri"/>
                <a:ea typeface="Calibri"/>
                <a:cs typeface="Calibri"/>
                <a:sym typeface="Calibri"/>
              </a:rPr>
              <a:t>Grok-1.5V is very good at understanding our physical world.</a:t>
            </a:r>
            <a:endParaRPr sz="1300">
              <a:solidFill>
                <a:schemeClr val="dk1"/>
              </a:solidFill>
              <a:latin typeface="Calibri"/>
              <a:ea typeface="Calibri"/>
              <a:cs typeface="Calibri"/>
              <a:sym typeface="Calibri"/>
            </a:endParaRPr>
          </a:p>
        </p:txBody>
      </p:sp>
      <p:sp>
        <p:nvSpPr>
          <p:cNvPr id="86" name="Google Shape;86;p17"/>
          <p:cNvSpPr txBox="1"/>
          <p:nvPr/>
        </p:nvSpPr>
        <p:spPr>
          <a:xfrm>
            <a:off x="76200" y="76200"/>
            <a:ext cx="1686000" cy="2955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1800" b="1">
                <a:solidFill>
                  <a:srgbClr val="0F1419"/>
                </a:solidFill>
                <a:highlight>
                  <a:srgbClr val="FFFFFF"/>
                </a:highlight>
                <a:latin typeface="Calibri"/>
                <a:ea typeface="Calibri"/>
                <a:cs typeface="Calibri"/>
                <a:sym typeface="Calibri"/>
              </a:rPr>
              <a:t>Grok 1.5 Vision</a:t>
            </a:r>
            <a:endParaRPr sz="1800" b="1">
              <a:latin typeface="Calibri"/>
              <a:ea typeface="Calibri"/>
              <a:cs typeface="Calibri"/>
              <a:sym typeface="Calibri"/>
            </a:endParaRPr>
          </a:p>
        </p:txBody>
      </p:sp>
      <p:pic>
        <p:nvPicPr>
          <p:cNvPr id="87" name="Google Shape;87;p17"/>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4836700" y="36825"/>
            <a:ext cx="4247027" cy="2357124"/>
          </a:xfrm>
          <a:prstGeom prst="rect">
            <a:avLst/>
          </a:prstGeom>
          <a:noFill/>
          <a:ln>
            <a:noFill/>
          </a:ln>
        </p:spPr>
      </p:pic>
      <p:pic>
        <p:nvPicPr>
          <p:cNvPr id="88" name="Google Shape;88;p17"/>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4836700" y="2476225"/>
            <a:ext cx="4247025" cy="2573514"/>
          </a:xfrm>
          <a:prstGeom prst="rect">
            <a:avLst/>
          </a:prstGeom>
          <a:noFill/>
          <a:ln>
            <a:noFill/>
          </a:ln>
        </p:spPr>
      </p:pic>
      <p:graphicFrame>
        <p:nvGraphicFramePr>
          <p:cNvPr id="89" name="Google Shape;89;p17"/>
          <p:cNvGraphicFramePr/>
          <p:nvPr/>
        </p:nvGraphicFramePr>
        <p:xfrm>
          <a:off x="76200" y="1763250"/>
          <a:ext cx="3000000" cy="3000000"/>
        </p:xfrm>
        <a:graphic>
          <a:graphicData uri="http://schemas.openxmlformats.org/drawingml/2006/table">
            <a:tbl>
              <a:tblPr>
                <a:noFill/>
                <a:tableStyleId>{4F5CC60F-1605-48FC-B505-207717700C0A}</a:tableStyleId>
              </a:tblPr>
              <a:tblGrid>
                <a:gridCol w="966300">
                  <a:extLst>
                    <a:ext uri="{9D8B030D-6E8A-4147-A177-3AD203B41FA5}">
                      <a16:colId xmlns:a16="http://schemas.microsoft.com/office/drawing/2014/main" val="20000"/>
                    </a:ext>
                  </a:extLst>
                </a:gridCol>
                <a:gridCol w="887425">
                  <a:extLst>
                    <a:ext uri="{9D8B030D-6E8A-4147-A177-3AD203B41FA5}">
                      <a16:colId xmlns:a16="http://schemas.microsoft.com/office/drawing/2014/main" val="20001"/>
                    </a:ext>
                  </a:extLst>
                </a:gridCol>
                <a:gridCol w="650675">
                  <a:extLst>
                    <a:ext uri="{9D8B030D-6E8A-4147-A177-3AD203B41FA5}">
                      <a16:colId xmlns:a16="http://schemas.microsoft.com/office/drawing/2014/main" val="20002"/>
                    </a:ext>
                  </a:extLst>
                </a:gridCol>
                <a:gridCol w="641950">
                  <a:extLst>
                    <a:ext uri="{9D8B030D-6E8A-4147-A177-3AD203B41FA5}">
                      <a16:colId xmlns:a16="http://schemas.microsoft.com/office/drawing/2014/main" val="20003"/>
                    </a:ext>
                  </a:extLst>
                </a:gridCol>
                <a:gridCol w="641925">
                  <a:extLst>
                    <a:ext uri="{9D8B030D-6E8A-4147-A177-3AD203B41FA5}">
                      <a16:colId xmlns:a16="http://schemas.microsoft.com/office/drawing/2014/main" val="20004"/>
                    </a:ext>
                  </a:extLst>
                </a:gridCol>
                <a:gridCol w="589325">
                  <a:extLst>
                    <a:ext uri="{9D8B030D-6E8A-4147-A177-3AD203B41FA5}">
                      <a16:colId xmlns:a16="http://schemas.microsoft.com/office/drawing/2014/main" val="20005"/>
                    </a:ext>
                  </a:extLst>
                </a:gridCol>
              </a:tblGrid>
              <a:tr h="342900">
                <a:tc>
                  <a:txBody>
                    <a:bodyPr/>
                    <a:lstStyle/>
                    <a:p>
                      <a:pPr marL="0" lvl="0" indent="0" algn="l" rtl="0">
                        <a:lnSpc>
                          <a:spcPct val="115000"/>
                        </a:lnSpc>
                        <a:spcBef>
                          <a:spcPts val="0"/>
                        </a:spcBef>
                        <a:spcAft>
                          <a:spcPts val="0"/>
                        </a:spcAft>
                        <a:buNone/>
                      </a:pPr>
                      <a:r>
                        <a:rPr lang="en" sz="1000"/>
                        <a:t>Benchmark</a:t>
                      </a:r>
                      <a:endParaRPr sz="1000"/>
                    </a:p>
                  </a:txBody>
                  <a:tcPr marL="9125" marR="9125" marT="9125" marB="9125"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Grok-1.5V</a:t>
                      </a:r>
                      <a:endParaRPr sz="1000"/>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GPT-4V</a:t>
                      </a:r>
                      <a:endParaRPr sz="1000"/>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Claude 3 Sonnet</a:t>
                      </a:r>
                      <a:endParaRPr sz="1000"/>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Claude 3 Opus</a:t>
                      </a:r>
                      <a:endParaRPr sz="1000"/>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Gemini Pro 1.5</a:t>
                      </a:r>
                      <a:endParaRPr sz="1000"/>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0"/>
                  </a:ext>
                </a:extLst>
              </a:tr>
              <a:tr h="200025">
                <a:tc>
                  <a:txBody>
                    <a:bodyPr/>
                    <a:lstStyle/>
                    <a:p>
                      <a:pPr marL="0" lvl="0" indent="0" algn="l" rtl="0">
                        <a:lnSpc>
                          <a:spcPct val="115000"/>
                        </a:lnSpc>
                        <a:spcBef>
                          <a:spcPts val="0"/>
                        </a:spcBef>
                        <a:spcAft>
                          <a:spcPts val="0"/>
                        </a:spcAft>
                        <a:buNone/>
                      </a:pPr>
                      <a:r>
                        <a:rPr lang="en" sz="1000"/>
                        <a:t>Multi-discipline</a:t>
                      </a:r>
                      <a:endParaRPr sz="1000"/>
                    </a:p>
                  </a:txBody>
                  <a:tcPr marL="9125" marR="9125" marT="9125" marB="9125"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53.60%</a:t>
                      </a:r>
                      <a:endParaRPr sz="1000"/>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56.80%</a:t>
                      </a:r>
                      <a:endParaRPr sz="1000"/>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53.10%</a:t>
                      </a:r>
                      <a:endParaRPr sz="1000"/>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59.40%</a:t>
                      </a:r>
                      <a:endParaRPr sz="1000"/>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58.50%</a:t>
                      </a:r>
                      <a:endParaRPr sz="1000"/>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1"/>
                  </a:ext>
                </a:extLst>
              </a:tr>
              <a:tr h="200025">
                <a:tc>
                  <a:txBody>
                    <a:bodyPr/>
                    <a:lstStyle/>
                    <a:p>
                      <a:pPr marL="0" lvl="0" indent="0" algn="l" rtl="0">
                        <a:lnSpc>
                          <a:spcPct val="115000"/>
                        </a:lnSpc>
                        <a:spcBef>
                          <a:spcPts val="0"/>
                        </a:spcBef>
                        <a:spcAft>
                          <a:spcPts val="0"/>
                        </a:spcAft>
                        <a:buNone/>
                      </a:pPr>
                      <a:r>
                        <a:rPr lang="en" sz="1000"/>
                        <a:t>Mathvista</a:t>
                      </a:r>
                      <a:endParaRPr sz="1000"/>
                    </a:p>
                  </a:txBody>
                  <a:tcPr marL="9125" marR="9125" marT="9125" marB="9125"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52.80%</a:t>
                      </a:r>
                      <a:endParaRPr sz="1000"/>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49.90%</a:t>
                      </a:r>
                      <a:endParaRPr sz="1000"/>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47.90%</a:t>
                      </a:r>
                      <a:endParaRPr sz="1000"/>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50.50%</a:t>
                      </a:r>
                      <a:endParaRPr sz="1000"/>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52.10%</a:t>
                      </a:r>
                      <a:endParaRPr sz="1000"/>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2"/>
                  </a:ext>
                </a:extLst>
              </a:tr>
              <a:tr h="200025">
                <a:tc>
                  <a:txBody>
                    <a:bodyPr/>
                    <a:lstStyle/>
                    <a:p>
                      <a:pPr marL="0" lvl="0" indent="0" algn="l" rtl="0">
                        <a:lnSpc>
                          <a:spcPct val="115000"/>
                        </a:lnSpc>
                        <a:spcBef>
                          <a:spcPts val="0"/>
                        </a:spcBef>
                        <a:spcAft>
                          <a:spcPts val="0"/>
                        </a:spcAft>
                        <a:buNone/>
                      </a:pPr>
                      <a:r>
                        <a:rPr lang="en" sz="1000"/>
                        <a:t>AI2D</a:t>
                      </a:r>
                      <a:endParaRPr sz="1000"/>
                    </a:p>
                  </a:txBody>
                  <a:tcPr marL="9125" marR="9125" marT="9125" marB="9125"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88.30%</a:t>
                      </a:r>
                      <a:endParaRPr sz="1000"/>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78.20%</a:t>
                      </a:r>
                      <a:endParaRPr sz="1000"/>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88.70%</a:t>
                      </a:r>
                      <a:endParaRPr sz="1000"/>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88.10%</a:t>
                      </a:r>
                      <a:endParaRPr sz="1000"/>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80.30%</a:t>
                      </a:r>
                      <a:endParaRPr sz="1000"/>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3"/>
                  </a:ext>
                </a:extLst>
              </a:tr>
              <a:tr h="200025">
                <a:tc>
                  <a:txBody>
                    <a:bodyPr/>
                    <a:lstStyle/>
                    <a:p>
                      <a:pPr marL="0" lvl="0" indent="0" algn="l" rtl="0">
                        <a:lnSpc>
                          <a:spcPct val="115000"/>
                        </a:lnSpc>
                        <a:spcBef>
                          <a:spcPts val="0"/>
                        </a:spcBef>
                        <a:spcAft>
                          <a:spcPts val="0"/>
                        </a:spcAft>
                        <a:buNone/>
                      </a:pPr>
                      <a:r>
                        <a:rPr lang="en" sz="1000"/>
                        <a:t>TextVQA</a:t>
                      </a:r>
                      <a:endParaRPr sz="1000"/>
                    </a:p>
                  </a:txBody>
                  <a:tcPr marL="9125" marR="9125" marT="9125" marB="9125"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78.10%</a:t>
                      </a:r>
                      <a:endParaRPr sz="1000"/>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78.00%</a:t>
                      </a:r>
                      <a:endParaRPr sz="1000"/>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a:t>
                      </a:r>
                      <a:endParaRPr sz="1000"/>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a:t>
                      </a:r>
                      <a:endParaRPr sz="1000"/>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73.50%</a:t>
                      </a:r>
                      <a:endParaRPr sz="1000"/>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4"/>
                  </a:ext>
                </a:extLst>
              </a:tr>
              <a:tr h="200025">
                <a:tc>
                  <a:txBody>
                    <a:bodyPr/>
                    <a:lstStyle/>
                    <a:p>
                      <a:pPr marL="0" lvl="0" indent="0" algn="l" rtl="0">
                        <a:lnSpc>
                          <a:spcPct val="115000"/>
                        </a:lnSpc>
                        <a:spcBef>
                          <a:spcPts val="0"/>
                        </a:spcBef>
                        <a:spcAft>
                          <a:spcPts val="0"/>
                        </a:spcAft>
                        <a:buNone/>
                      </a:pPr>
                      <a:r>
                        <a:rPr lang="en" sz="1000"/>
                        <a:t>ChartQA</a:t>
                      </a:r>
                      <a:endParaRPr sz="1000"/>
                    </a:p>
                  </a:txBody>
                  <a:tcPr marL="9125" marR="9125" marT="9125" marB="9125"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76.10%</a:t>
                      </a:r>
                      <a:endParaRPr sz="1000"/>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78.50%</a:t>
                      </a:r>
                      <a:endParaRPr sz="1000"/>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81.10%</a:t>
                      </a:r>
                      <a:endParaRPr sz="1000"/>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80.80%</a:t>
                      </a:r>
                      <a:endParaRPr sz="1000"/>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81.30%</a:t>
                      </a:r>
                      <a:endParaRPr sz="1000"/>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5"/>
                  </a:ext>
                </a:extLst>
              </a:tr>
              <a:tr h="200025">
                <a:tc>
                  <a:txBody>
                    <a:bodyPr/>
                    <a:lstStyle/>
                    <a:p>
                      <a:pPr marL="0" lvl="0" indent="0" algn="l" rtl="0">
                        <a:lnSpc>
                          <a:spcPct val="115000"/>
                        </a:lnSpc>
                        <a:spcBef>
                          <a:spcPts val="0"/>
                        </a:spcBef>
                        <a:spcAft>
                          <a:spcPts val="0"/>
                        </a:spcAft>
                        <a:buNone/>
                      </a:pPr>
                      <a:r>
                        <a:rPr lang="en" sz="1000"/>
                        <a:t>DocVQA</a:t>
                      </a:r>
                      <a:endParaRPr sz="1000"/>
                    </a:p>
                  </a:txBody>
                  <a:tcPr marL="9125" marR="9125" marT="9125" marB="9125"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85.60%</a:t>
                      </a:r>
                      <a:endParaRPr sz="1000"/>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88.40%</a:t>
                      </a:r>
                      <a:endParaRPr sz="1000"/>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89.50%</a:t>
                      </a:r>
                      <a:endParaRPr sz="1000"/>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89.30%</a:t>
                      </a:r>
                      <a:endParaRPr sz="1000"/>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86.50%</a:t>
                      </a:r>
                      <a:endParaRPr sz="1000"/>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6"/>
                  </a:ext>
                </a:extLst>
              </a:tr>
              <a:tr h="200025">
                <a:tc>
                  <a:txBody>
                    <a:bodyPr/>
                    <a:lstStyle/>
                    <a:p>
                      <a:pPr marL="0" lvl="0" indent="0" algn="l" rtl="0">
                        <a:lnSpc>
                          <a:spcPct val="115000"/>
                        </a:lnSpc>
                        <a:spcBef>
                          <a:spcPts val="0"/>
                        </a:spcBef>
                        <a:spcAft>
                          <a:spcPts val="0"/>
                        </a:spcAft>
                        <a:buNone/>
                      </a:pPr>
                      <a:r>
                        <a:rPr lang="en" sz="1000"/>
                        <a:t>RealWorldQA</a:t>
                      </a:r>
                      <a:endParaRPr sz="1000"/>
                    </a:p>
                  </a:txBody>
                  <a:tcPr marL="9125" marR="9125" marT="9125" marB="9125"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68.70%</a:t>
                      </a:r>
                      <a:endParaRPr sz="1000"/>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61.40%</a:t>
                      </a:r>
                      <a:endParaRPr sz="1000"/>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51.90%</a:t>
                      </a:r>
                      <a:endParaRPr sz="1000"/>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49.80%</a:t>
                      </a:r>
                      <a:endParaRPr sz="1000"/>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67.50%</a:t>
                      </a:r>
                      <a:endParaRPr sz="1000"/>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7"/>
                  </a:ext>
                </a:extLst>
              </a:tr>
            </a:tbl>
          </a:graphicData>
        </a:graphic>
      </p:graphicFrame>
      <p:pic>
        <p:nvPicPr>
          <p:cNvPr id="90" name="Google Shape;90;p17"/>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76191" y="3585025"/>
            <a:ext cx="1098549" cy="1464725"/>
          </a:xfrm>
          <a:prstGeom prst="rect">
            <a:avLst/>
          </a:prstGeom>
          <a:noFill/>
          <a:ln>
            <a:noFill/>
          </a:ln>
        </p:spPr>
      </p:pic>
      <p:pic>
        <p:nvPicPr>
          <p:cNvPr id="91" name="Google Shape;91;p17"/>
          <p:cNvPicPr preferRelativeResize="0"/>
          <p:nvPr/>
        </p:nvPicPr>
        <p:blipFill rotWithShape="1">
          <a:blip r:embed="rId8" cstate="email">
            <a:alphaModFix/>
            <a:extLst>
              <a:ext uri="{28A0092B-C50C-407E-A947-70E740481C1C}">
                <a14:useLocalDpi xmlns:a14="http://schemas.microsoft.com/office/drawing/2010/main"/>
              </a:ext>
            </a:extLst>
          </a:blip>
          <a:srcRect/>
          <a:stretch/>
        </p:blipFill>
        <p:spPr>
          <a:xfrm>
            <a:off x="1382924" y="3585025"/>
            <a:ext cx="1063075" cy="14647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8"/>
          <p:cNvSpPr txBox="1"/>
          <p:nvPr/>
        </p:nvSpPr>
        <p:spPr>
          <a:xfrm>
            <a:off x="76200" y="76200"/>
            <a:ext cx="3458700" cy="2955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1800" b="1">
                <a:solidFill>
                  <a:srgbClr val="0F1419"/>
                </a:solidFill>
                <a:highlight>
                  <a:srgbClr val="FFFFFF"/>
                </a:highlight>
                <a:latin typeface="Calibri"/>
                <a:ea typeface="Calibri"/>
                <a:cs typeface="Calibri"/>
                <a:sym typeface="Calibri"/>
              </a:rPr>
              <a:t>AI Models Improve Faster</a:t>
            </a:r>
            <a:endParaRPr sz="1800" b="1">
              <a:latin typeface="Calibri"/>
              <a:ea typeface="Calibri"/>
              <a:cs typeface="Calibri"/>
              <a:sym typeface="Calibri"/>
            </a:endParaRPr>
          </a:p>
        </p:txBody>
      </p:sp>
      <p:sp>
        <p:nvSpPr>
          <p:cNvPr id="97" name="Google Shape;97;p18"/>
          <p:cNvSpPr txBox="1"/>
          <p:nvPr/>
        </p:nvSpPr>
        <p:spPr>
          <a:xfrm>
            <a:off x="76200" y="609725"/>
            <a:ext cx="3610200" cy="809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27425" tIns="27425" rIns="27425" bIns="27425" anchor="t" anchorCtr="0">
            <a:spAutoFit/>
          </a:bodyPr>
          <a:lstStyle/>
          <a:p>
            <a:pPr marL="0" lvl="0" indent="0" algn="l" rtl="0">
              <a:spcBef>
                <a:spcPts val="0"/>
              </a:spcBef>
              <a:spcAft>
                <a:spcPts val="0"/>
              </a:spcAft>
              <a:buNone/>
            </a:pPr>
            <a:r>
              <a:rPr lang="en" sz="1300">
                <a:solidFill>
                  <a:schemeClr val="dk1"/>
                </a:solidFill>
                <a:latin typeface="Calibri"/>
                <a:ea typeface="Calibri"/>
                <a:cs typeface="Calibri"/>
                <a:sym typeface="Calibri"/>
              </a:rPr>
              <a:t>AI goes into new territories.</a:t>
            </a:r>
            <a:endParaRPr sz="1300">
              <a:solidFill>
                <a:schemeClr val="dk1"/>
              </a:solidFill>
              <a:latin typeface="Calibri"/>
              <a:ea typeface="Calibri"/>
              <a:cs typeface="Calibri"/>
              <a:sym typeface="Calibri"/>
            </a:endParaRPr>
          </a:p>
          <a:p>
            <a:pPr marL="0" lvl="0" indent="0" algn="l" rtl="0">
              <a:spcBef>
                <a:spcPts val="0"/>
              </a:spcBef>
              <a:spcAft>
                <a:spcPts val="0"/>
              </a:spcAft>
              <a:buNone/>
            </a:pPr>
            <a:r>
              <a:rPr lang="en" sz="1300">
                <a:solidFill>
                  <a:schemeClr val="dk1"/>
                </a:solidFill>
                <a:latin typeface="Calibri"/>
                <a:ea typeface="Calibri"/>
                <a:cs typeface="Calibri"/>
                <a:sym typeface="Calibri"/>
              </a:rPr>
              <a:t>The speed of improvements grows</a:t>
            </a:r>
            <a:endParaRPr sz="1300">
              <a:solidFill>
                <a:schemeClr val="dk1"/>
              </a:solidFill>
              <a:latin typeface="Calibri"/>
              <a:ea typeface="Calibri"/>
              <a:cs typeface="Calibri"/>
              <a:sym typeface="Calibri"/>
            </a:endParaRPr>
          </a:p>
          <a:p>
            <a:pPr marL="0" lvl="0" indent="0" algn="l" rtl="0">
              <a:spcBef>
                <a:spcPts val="0"/>
              </a:spcBef>
              <a:spcAft>
                <a:spcPts val="0"/>
              </a:spcAft>
              <a:buNone/>
            </a:pPr>
            <a:endParaRPr sz="1300">
              <a:solidFill>
                <a:schemeClr val="dk1"/>
              </a:solidFill>
              <a:latin typeface="Calibri"/>
              <a:ea typeface="Calibri"/>
              <a:cs typeface="Calibri"/>
              <a:sym typeface="Calibri"/>
            </a:endParaRPr>
          </a:p>
          <a:p>
            <a:pPr marL="0" lvl="0" indent="0" algn="l" rtl="0">
              <a:spcBef>
                <a:spcPts val="0"/>
              </a:spcBef>
              <a:spcAft>
                <a:spcPts val="0"/>
              </a:spcAft>
              <a:buNone/>
            </a:pPr>
            <a:r>
              <a:rPr lang="en" sz="1000" u="sng">
                <a:solidFill>
                  <a:schemeClr val="hlink"/>
                </a:solidFill>
                <a:latin typeface="Calibri"/>
                <a:ea typeface="Calibri"/>
                <a:cs typeface="Calibri"/>
                <a:sym typeface="Calibri"/>
                <a:hlinkClick r:id="rId3"/>
              </a:rPr>
              <a:t>https://twitter.com/burny_tech/status/1781080287193006469</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p:txBody>
      </p:sp>
      <p:pic>
        <p:nvPicPr>
          <p:cNvPr id="98" name="Google Shape;98;p18"/>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002300" y="33175"/>
            <a:ext cx="5092326" cy="505750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19"/>
          <p:cNvSpPr txBox="1"/>
          <p:nvPr/>
        </p:nvSpPr>
        <p:spPr>
          <a:xfrm>
            <a:off x="0" y="-11375"/>
            <a:ext cx="34017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a:solidFill>
                  <a:schemeClr val="dk1"/>
                </a:solidFill>
                <a:latin typeface="Calibri"/>
                <a:ea typeface="Calibri"/>
                <a:cs typeface="Calibri"/>
                <a:sym typeface="Calibri"/>
              </a:rPr>
              <a:t>Most Frequent AI Use Cases</a:t>
            </a:r>
            <a:endParaRPr sz="2000" b="1" i="0" u="none" strike="noStrike" cap="none">
              <a:solidFill>
                <a:srgbClr val="000000"/>
              </a:solidFill>
              <a:latin typeface="Calibri"/>
              <a:ea typeface="Calibri"/>
              <a:cs typeface="Calibri"/>
              <a:sym typeface="Calibri"/>
            </a:endParaRPr>
          </a:p>
        </p:txBody>
      </p:sp>
      <p:graphicFrame>
        <p:nvGraphicFramePr>
          <p:cNvPr id="104" name="Google Shape;104;p19"/>
          <p:cNvGraphicFramePr/>
          <p:nvPr/>
        </p:nvGraphicFramePr>
        <p:xfrm>
          <a:off x="78380" y="1204841"/>
          <a:ext cx="3000000" cy="3000000"/>
        </p:xfrm>
        <a:graphic>
          <a:graphicData uri="http://schemas.openxmlformats.org/drawingml/2006/table">
            <a:tbl>
              <a:tblPr>
                <a:noFill/>
                <a:tableStyleId>{D2E89EDF-12D4-4CF6-AA76-F3B78ECD36D2}</a:tableStyleId>
              </a:tblPr>
              <a:tblGrid>
                <a:gridCol w="2998850">
                  <a:extLst>
                    <a:ext uri="{9D8B030D-6E8A-4147-A177-3AD203B41FA5}">
                      <a16:colId xmlns:a16="http://schemas.microsoft.com/office/drawing/2014/main" val="20000"/>
                    </a:ext>
                  </a:extLst>
                </a:gridCol>
                <a:gridCol w="2998850">
                  <a:extLst>
                    <a:ext uri="{9D8B030D-6E8A-4147-A177-3AD203B41FA5}">
                      <a16:colId xmlns:a16="http://schemas.microsoft.com/office/drawing/2014/main" val="20001"/>
                    </a:ext>
                  </a:extLst>
                </a:gridCol>
                <a:gridCol w="2998850">
                  <a:extLst>
                    <a:ext uri="{9D8B030D-6E8A-4147-A177-3AD203B41FA5}">
                      <a16:colId xmlns:a16="http://schemas.microsoft.com/office/drawing/2014/main" val="20002"/>
                    </a:ext>
                  </a:extLst>
                </a:gridCol>
              </a:tblGrid>
              <a:tr h="100000">
                <a:tc>
                  <a:txBody>
                    <a:bodyPr/>
                    <a:lstStyle/>
                    <a:p>
                      <a:pPr marL="0" lvl="0" indent="0" algn="ctr" rtl="0">
                        <a:spcBef>
                          <a:spcPts val="0"/>
                        </a:spcBef>
                        <a:spcAft>
                          <a:spcPts val="0"/>
                        </a:spcAft>
                        <a:buNone/>
                      </a:pPr>
                      <a:r>
                        <a:rPr lang="en" sz="1200" b="1"/>
                        <a:t>Application</a:t>
                      </a:r>
                      <a:endParaRPr sz="1200" b="1"/>
                    </a:p>
                  </a:txBody>
                  <a:tcPr marL="9125" marR="9125" marT="9125" marB="9125" anchor="ctr">
                    <a:solidFill>
                      <a:srgbClr val="F9CB9C"/>
                    </a:solidFill>
                  </a:tcPr>
                </a:tc>
                <a:tc>
                  <a:txBody>
                    <a:bodyPr/>
                    <a:lstStyle/>
                    <a:p>
                      <a:pPr marL="0" lvl="0" indent="0" algn="ctr" rtl="0">
                        <a:spcBef>
                          <a:spcPts val="0"/>
                        </a:spcBef>
                        <a:spcAft>
                          <a:spcPts val="0"/>
                        </a:spcAft>
                        <a:buNone/>
                      </a:pPr>
                      <a:r>
                        <a:rPr lang="en" sz="1200" b="1"/>
                        <a:t>Technology</a:t>
                      </a:r>
                      <a:endParaRPr sz="1200" b="1"/>
                    </a:p>
                  </a:txBody>
                  <a:tcPr marL="9125" marR="9125" marT="9125" marB="9125" anchor="ctr">
                    <a:solidFill>
                      <a:srgbClr val="F9CB9C"/>
                    </a:solidFill>
                  </a:tcPr>
                </a:tc>
                <a:tc>
                  <a:txBody>
                    <a:bodyPr/>
                    <a:lstStyle/>
                    <a:p>
                      <a:pPr marL="0" lvl="0" indent="0" algn="ctr" rtl="0">
                        <a:spcBef>
                          <a:spcPts val="0"/>
                        </a:spcBef>
                        <a:spcAft>
                          <a:spcPts val="0"/>
                        </a:spcAft>
                        <a:buNone/>
                      </a:pPr>
                      <a:r>
                        <a:rPr lang="en" sz="1200" b="1"/>
                        <a:t>Examples</a:t>
                      </a:r>
                      <a:endParaRPr sz="1200" b="1"/>
                    </a:p>
                  </a:txBody>
                  <a:tcPr marL="9125" marR="9125" marT="9125" marB="9125" anchor="ctr">
                    <a:solidFill>
                      <a:srgbClr val="F9CB9C"/>
                    </a:solidFill>
                  </a:tcPr>
                </a:tc>
                <a:extLst>
                  <a:ext uri="{0D108BD9-81ED-4DB2-BD59-A6C34878D82A}">
                    <a16:rowId xmlns:a16="http://schemas.microsoft.com/office/drawing/2014/main" val="10000"/>
                  </a:ext>
                </a:extLst>
              </a:tr>
              <a:tr h="194575">
                <a:tc>
                  <a:txBody>
                    <a:bodyPr/>
                    <a:lstStyle/>
                    <a:p>
                      <a:pPr marL="0" lvl="0" indent="0" algn="ctr" rtl="0">
                        <a:spcBef>
                          <a:spcPts val="0"/>
                        </a:spcBef>
                        <a:spcAft>
                          <a:spcPts val="0"/>
                        </a:spcAft>
                        <a:buNone/>
                      </a:pPr>
                      <a:r>
                        <a:rPr lang="en" sz="1200">
                          <a:solidFill>
                            <a:schemeClr val="dk1"/>
                          </a:solidFill>
                        </a:rPr>
                        <a:t>AI Chatbots</a:t>
                      </a:r>
                      <a:endParaRPr sz="1200"/>
                    </a:p>
                  </a:txBody>
                  <a:tcPr marL="9125" marR="9125" marT="9125" marB="9125" anchor="ctr"/>
                </a:tc>
                <a:tc>
                  <a:txBody>
                    <a:bodyPr/>
                    <a:lstStyle/>
                    <a:p>
                      <a:pPr marL="0" lvl="0" indent="0" algn="ctr" rtl="0">
                        <a:spcBef>
                          <a:spcPts val="0"/>
                        </a:spcBef>
                        <a:spcAft>
                          <a:spcPts val="0"/>
                        </a:spcAft>
                        <a:buNone/>
                      </a:pPr>
                      <a:r>
                        <a:rPr lang="en" sz="1200" b="1">
                          <a:solidFill>
                            <a:srgbClr val="FF0000"/>
                          </a:solidFill>
                        </a:rPr>
                        <a:t>RAG, LLM</a:t>
                      </a:r>
                      <a:endParaRPr sz="1200" b="1">
                        <a:solidFill>
                          <a:srgbClr val="FF0000"/>
                        </a:solidFill>
                      </a:endParaRPr>
                    </a:p>
                  </a:txBody>
                  <a:tcPr marL="9125" marR="9125" marT="9125" marB="9125" anchor="ctr"/>
                </a:tc>
                <a:tc>
                  <a:txBody>
                    <a:bodyPr/>
                    <a:lstStyle/>
                    <a:p>
                      <a:pPr marL="0" lvl="0" indent="0" algn="ctr" rtl="0">
                        <a:spcBef>
                          <a:spcPts val="0"/>
                        </a:spcBef>
                        <a:spcAft>
                          <a:spcPts val="0"/>
                        </a:spcAft>
                        <a:buNone/>
                      </a:pPr>
                      <a:r>
                        <a:rPr lang="en" sz="1200"/>
                        <a:t>Customer service, sales</a:t>
                      </a:r>
                      <a:endParaRPr sz="1200"/>
                    </a:p>
                  </a:txBody>
                  <a:tcPr marL="9125" marR="9125" marT="9125" marB="9125" anchor="ctr"/>
                </a:tc>
                <a:extLst>
                  <a:ext uri="{0D108BD9-81ED-4DB2-BD59-A6C34878D82A}">
                    <a16:rowId xmlns:a16="http://schemas.microsoft.com/office/drawing/2014/main" val="10001"/>
                  </a:ext>
                </a:extLst>
              </a:tr>
              <a:tr h="194575">
                <a:tc>
                  <a:txBody>
                    <a:bodyPr/>
                    <a:lstStyle/>
                    <a:p>
                      <a:pPr marL="0" lvl="0" indent="0" algn="ctr" rtl="0">
                        <a:spcBef>
                          <a:spcPts val="0"/>
                        </a:spcBef>
                        <a:spcAft>
                          <a:spcPts val="0"/>
                        </a:spcAft>
                        <a:buNone/>
                      </a:pPr>
                      <a:r>
                        <a:rPr lang="en" sz="1200">
                          <a:solidFill>
                            <a:schemeClr val="dk1"/>
                          </a:solidFill>
                        </a:rPr>
                        <a:t>Co-pilots / assistants (agents)</a:t>
                      </a:r>
                      <a:endParaRPr sz="1200">
                        <a:solidFill>
                          <a:schemeClr val="dk1"/>
                        </a:solidFill>
                      </a:endParaRPr>
                    </a:p>
                  </a:txBody>
                  <a:tcPr marL="9125" marR="9125" marT="9125" marB="9125" anchor="ctr"/>
                </a:tc>
                <a:tc>
                  <a:txBody>
                    <a:bodyPr/>
                    <a:lstStyle/>
                    <a:p>
                      <a:pPr marL="0" lvl="0" indent="0" algn="ctr" rtl="0">
                        <a:spcBef>
                          <a:spcPts val="0"/>
                        </a:spcBef>
                        <a:spcAft>
                          <a:spcPts val="0"/>
                        </a:spcAft>
                        <a:buClr>
                          <a:schemeClr val="dk1"/>
                        </a:buClr>
                        <a:buSzPts val="1100"/>
                        <a:buFont typeface="Arial"/>
                        <a:buNone/>
                      </a:pPr>
                      <a:r>
                        <a:rPr lang="en" sz="1200" b="1">
                          <a:solidFill>
                            <a:srgbClr val="FF0000"/>
                          </a:solidFill>
                        </a:rPr>
                        <a:t>RAG, LLM</a:t>
                      </a:r>
                      <a:endParaRPr sz="1200" b="1">
                        <a:solidFill>
                          <a:srgbClr val="FF0000"/>
                        </a:solidFill>
                      </a:endParaRPr>
                    </a:p>
                  </a:txBody>
                  <a:tcPr marL="9125" marR="9125" marT="9125" marB="9125" anchor="ctr"/>
                </a:tc>
                <a:tc>
                  <a:txBody>
                    <a:bodyPr/>
                    <a:lstStyle/>
                    <a:p>
                      <a:pPr marL="0" lvl="0" indent="0" algn="ctr" rtl="0">
                        <a:spcBef>
                          <a:spcPts val="0"/>
                        </a:spcBef>
                        <a:spcAft>
                          <a:spcPts val="0"/>
                        </a:spcAft>
                        <a:buNone/>
                      </a:pPr>
                      <a:r>
                        <a:rPr lang="en" sz="1200"/>
                        <a:t>work assistants, coding, ...</a:t>
                      </a:r>
                      <a:endParaRPr sz="1200"/>
                    </a:p>
                  </a:txBody>
                  <a:tcPr marL="9125" marR="9125" marT="9125" marB="9125" anchor="ctr"/>
                </a:tc>
                <a:extLst>
                  <a:ext uri="{0D108BD9-81ED-4DB2-BD59-A6C34878D82A}">
                    <a16:rowId xmlns:a16="http://schemas.microsoft.com/office/drawing/2014/main" val="10002"/>
                  </a:ext>
                </a:extLst>
              </a:tr>
              <a:tr h="194575">
                <a:tc>
                  <a:txBody>
                    <a:bodyPr/>
                    <a:lstStyle/>
                    <a:p>
                      <a:pPr marL="0" lvl="0" indent="0" algn="ctr" rtl="0">
                        <a:spcBef>
                          <a:spcPts val="0"/>
                        </a:spcBef>
                        <a:spcAft>
                          <a:spcPts val="0"/>
                        </a:spcAft>
                        <a:buNone/>
                      </a:pPr>
                      <a:r>
                        <a:rPr lang="en" sz="1200"/>
                        <a:t>Sentiment Analysis</a:t>
                      </a:r>
                      <a:endParaRPr sz="1200"/>
                    </a:p>
                  </a:txBody>
                  <a:tcPr marL="9125" marR="9125" marT="9125" marB="9125" anchor="ctr"/>
                </a:tc>
                <a:tc>
                  <a:txBody>
                    <a:bodyPr/>
                    <a:lstStyle/>
                    <a:p>
                      <a:pPr marL="0" lvl="0" indent="0" algn="ctr" rtl="0">
                        <a:spcBef>
                          <a:spcPts val="0"/>
                        </a:spcBef>
                        <a:spcAft>
                          <a:spcPts val="0"/>
                        </a:spcAft>
                        <a:buNone/>
                      </a:pPr>
                      <a:r>
                        <a:rPr lang="en" sz="1200"/>
                        <a:t>NLP, </a:t>
                      </a:r>
                      <a:r>
                        <a:rPr lang="en" sz="1200" b="1">
                          <a:solidFill>
                            <a:srgbClr val="FF0000"/>
                          </a:solidFill>
                        </a:rPr>
                        <a:t>LLM</a:t>
                      </a:r>
                      <a:endParaRPr sz="1200" b="1">
                        <a:solidFill>
                          <a:srgbClr val="FF0000"/>
                        </a:solidFill>
                      </a:endParaRPr>
                    </a:p>
                  </a:txBody>
                  <a:tcPr marL="9125" marR="9125" marT="9125" marB="9125" anchor="ctr"/>
                </a:tc>
                <a:tc>
                  <a:txBody>
                    <a:bodyPr/>
                    <a:lstStyle/>
                    <a:p>
                      <a:pPr marL="0" lvl="0" indent="0" algn="ctr" rtl="0">
                        <a:spcBef>
                          <a:spcPts val="0"/>
                        </a:spcBef>
                        <a:spcAft>
                          <a:spcPts val="0"/>
                        </a:spcAft>
                        <a:buNone/>
                      </a:pPr>
                      <a:r>
                        <a:rPr lang="en" sz="1200"/>
                        <a:t>Customer Service (satisfaction), </a:t>
                      </a:r>
                      <a:br>
                        <a:rPr lang="en" sz="1200"/>
                      </a:br>
                      <a:r>
                        <a:rPr lang="en" sz="1200"/>
                        <a:t>Sales (social media, surveys)</a:t>
                      </a:r>
                      <a:endParaRPr sz="1200"/>
                    </a:p>
                  </a:txBody>
                  <a:tcPr marL="9125" marR="9125" marT="9125" marB="9125" anchor="ctr"/>
                </a:tc>
                <a:extLst>
                  <a:ext uri="{0D108BD9-81ED-4DB2-BD59-A6C34878D82A}">
                    <a16:rowId xmlns:a16="http://schemas.microsoft.com/office/drawing/2014/main" val="10003"/>
                  </a:ext>
                </a:extLst>
              </a:tr>
              <a:tr h="194575">
                <a:tc>
                  <a:txBody>
                    <a:bodyPr/>
                    <a:lstStyle/>
                    <a:p>
                      <a:pPr marL="0" lvl="0" indent="0" algn="ctr" rtl="0">
                        <a:spcBef>
                          <a:spcPts val="0"/>
                        </a:spcBef>
                        <a:spcAft>
                          <a:spcPts val="0"/>
                        </a:spcAft>
                        <a:buNone/>
                      </a:pPr>
                      <a:r>
                        <a:rPr lang="en" sz="1200"/>
                        <a:t>Personalized Recommendations,</a:t>
                      </a:r>
                      <a:br>
                        <a:rPr lang="en" sz="1200"/>
                      </a:br>
                      <a:r>
                        <a:rPr lang="en" sz="1200"/>
                        <a:t>Personalized targeted ads</a:t>
                      </a:r>
                      <a:endParaRPr sz="1200"/>
                    </a:p>
                  </a:txBody>
                  <a:tcPr marL="9125" marR="9125" marT="9125" marB="9125" anchor="ctr"/>
                </a:tc>
                <a:tc>
                  <a:txBody>
                    <a:bodyPr/>
                    <a:lstStyle/>
                    <a:p>
                      <a:pPr marL="0" lvl="0" indent="0" algn="ctr" rtl="0">
                        <a:spcBef>
                          <a:spcPts val="0"/>
                        </a:spcBef>
                        <a:spcAft>
                          <a:spcPts val="0"/>
                        </a:spcAft>
                        <a:buNone/>
                      </a:pPr>
                      <a:r>
                        <a:rPr lang="en" sz="1200"/>
                        <a:t>Collaborative &amp; content filtering, </a:t>
                      </a:r>
                      <a:br>
                        <a:rPr lang="en" sz="1200"/>
                      </a:br>
                      <a:r>
                        <a:rPr lang="en" sz="1200" b="1">
                          <a:solidFill>
                            <a:srgbClr val="FF0000"/>
                          </a:solidFill>
                        </a:rPr>
                        <a:t>LLM</a:t>
                      </a:r>
                      <a:endParaRPr sz="1200" b="1">
                        <a:solidFill>
                          <a:srgbClr val="FF0000"/>
                        </a:solidFill>
                      </a:endParaRPr>
                    </a:p>
                  </a:txBody>
                  <a:tcPr marL="9125" marR="9125" marT="9125" marB="9125" anchor="ctr"/>
                </a:tc>
                <a:tc>
                  <a:txBody>
                    <a:bodyPr/>
                    <a:lstStyle/>
                    <a:p>
                      <a:pPr marL="0" lvl="0" indent="0" algn="ctr" rtl="0">
                        <a:spcBef>
                          <a:spcPts val="0"/>
                        </a:spcBef>
                        <a:spcAft>
                          <a:spcPts val="0"/>
                        </a:spcAft>
                        <a:buNone/>
                      </a:pPr>
                      <a:r>
                        <a:rPr lang="en" sz="1200"/>
                        <a:t>Sales</a:t>
                      </a:r>
                      <a:endParaRPr sz="1200"/>
                    </a:p>
                  </a:txBody>
                  <a:tcPr marL="9125" marR="9125" marT="9125" marB="9125" anchor="ctr"/>
                </a:tc>
                <a:extLst>
                  <a:ext uri="{0D108BD9-81ED-4DB2-BD59-A6C34878D82A}">
                    <a16:rowId xmlns:a16="http://schemas.microsoft.com/office/drawing/2014/main" val="10004"/>
                  </a:ext>
                </a:extLst>
              </a:tr>
              <a:tr h="106075">
                <a:tc>
                  <a:txBody>
                    <a:bodyPr/>
                    <a:lstStyle/>
                    <a:p>
                      <a:pPr marL="0" lvl="0" indent="0" algn="ctr" rtl="0">
                        <a:spcBef>
                          <a:spcPts val="0"/>
                        </a:spcBef>
                        <a:spcAft>
                          <a:spcPts val="0"/>
                        </a:spcAft>
                        <a:buNone/>
                      </a:pPr>
                      <a:r>
                        <a:rPr lang="en" sz="1200"/>
                        <a:t>Predictive Lead Scoring</a:t>
                      </a:r>
                      <a:endParaRPr sz="1200"/>
                    </a:p>
                  </a:txBody>
                  <a:tcPr marL="9125" marR="9125" marT="9125" marB="9125" anchor="ctr"/>
                </a:tc>
                <a:tc>
                  <a:txBody>
                    <a:bodyPr/>
                    <a:lstStyle/>
                    <a:p>
                      <a:pPr marL="0" lvl="0" indent="0" algn="ctr" rtl="0">
                        <a:spcBef>
                          <a:spcPts val="0"/>
                        </a:spcBef>
                        <a:spcAft>
                          <a:spcPts val="0"/>
                        </a:spcAft>
                        <a:buNone/>
                      </a:pPr>
                      <a:r>
                        <a:rPr lang="en" sz="1200"/>
                        <a:t>ML: RF or XGB</a:t>
                      </a:r>
                      <a:endParaRPr sz="1200"/>
                    </a:p>
                  </a:txBody>
                  <a:tcPr marL="9125" marR="9125" marT="9125" marB="9125" anchor="ctr"/>
                </a:tc>
                <a:tc>
                  <a:txBody>
                    <a:bodyPr/>
                    <a:lstStyle/>
                    <a:p>
                      <a:pPr marL="0" lvl="0" indent="0" algn="ctr" rtl="0">
                        <a:spcBef>
                          <a:spcPts val="0"/>
                        </a:spcBef>
                        <a:spcAft>
                          <a:spcPts val="0"/>
                        </a:spcAft>
                        <a:buClr>
                          <a:schemeClr val="dk1"/>
                        </a:buClr>
                        <a:buSzPts val="1100"/>
                        <a:buFont typeface="Arial"/>
                        <a:buNone/>
                      </a:pPr>
                      <a:r>
                        <a:rPr lang="en" sz="1200">
                          <a:solidFill>
                            <a:schemeClr val="dk1"/>
                          </a:solidFill>
                        </a:rPr>
                        <a:t>Sales</a:t>
                      </a:r>
                      <a:endParaRPr sz="1200"/>
                    </a:p>
                  </a:txBody>
                  <a:tcPr marL="9125" marR="9125" marT="9125" marB="9125" anchor="ctr"/>
                </a:tc>
                <a:extLst>
                  <a:ext uri="{0D108BD9-81ED-4DB2-BD59-A6C34878D82A}">
                    <a16:rowId xmlns:a16="http://schemas.microsoft.com/office/drawing/2014/main" val="10005"/>
                  </a:ext>
                </a:extLst>
              </a:tr>
              <a:tr h="286375">
                <a:tc>
                  <a:txBody>
                    <a:bodyPr/>
                    <a:lstStyle/>
                    <a:p>
                      <a:pPr marL="0" lvl="0" indent="0" algn="ctr" rtl="0">
                        <a:spcBef>
                          <a:spcPts val="0"/>
                        </a:spcBef>
                        <a:spcAft>
                          <a:spcPts val="0"/>
                        </a:spcAft>
                        <a:buNone/>
                      </a:pPr>
                      <a:r>
                        <a:rPr lang="en" sz="1200"/>
                        <a:t>Forecasting, trend analysis</a:t>
                      </a:r>
                      <a:endParaRPr sz="1200"/>
                    </a:p>
                  </a:txBody>
                  <a:tcPr marL="9125" marR="9125" marT="9125" marB="9125" anchor="ctr"/>
                </a:tc>
                <a:tc>
                  <a:txBody>
                    <a:bodyPr/>
                    <a:lstStyle/>
                    <a:p>
                      <a:pPr marL="0" lvl="0" indent="0" algn="ctr" rtl="0">
                        <a:spcBef>
                          <a:spcPts val="0"/>
                        </a:spcBef>
                        <a:spcAft>
                          <a:spcPts val="0"/>
                        </a:spcAft>
                        <a:buNone/>
                      </a:pPr>
                      <a:r>
                        <a:rPr lang="en" sz="1200"/>
                        <a:t>ML: regression, RF, XGB, DL</a:t>
                      </a:r>
                      <a:endParaRPr sz="1200"/>
                    </a:p>
                  </a:txBody>
                  <a:tcPr marL="9125" marR="9125" marT="9125" marB="9125" anchor="ctr"/>
                </a:tc>
                <a:tc>
                  <a:txBody>
                    <a:bodyPr/>
                    <a:lstStyle/>
                    <a:p>
                      <a:pPr marL="0" lvl="0" indent="0" algn="ctr" rtl="0">
                        <a:spcBef>
                          <a:spcPts val="0"/>
                        </a:spcBef>
                        <a:spcAft>
                          <a:spcPts val="0"/>
                        </a:spcAft>
                        <a:buNone/>
                      </a:pPr>
                      <a:r>
                        <a:rPr lang="en" sz="1200"/>
                        <a:t>sales, demand vs inventory, ...</a:t>
                      </a:r>
                      <a:endParaRPr sz="1200"/>
                    </a:p>
                  </a:txBody>
                  <a:tcPr marL="9125" marR="9125" marT="9125" marB="9125" anchor="ctr"/>
                </a:tc>
                <a:extLst>
                  <a:ext uri="{0D108BD9-81ED-4DB2-BD59-A6C34878D82A}">
                    <a16:rowId xmlns:a16="http://schemas.microsoft.com/office/drawing/2014/main" val="10006"/>
                  </a:ext>
                </a:extLst>
              </a:tr>
              <a:tr h="194575">
                <a:tc>
                  <a:txBody>
                    <a:bodyPr/>
                    <a:lstStyle/>
                    <a:p>
                      <a:pPr marL="0" lvl="0" indent="0" algn="ctr" rtl="0">
                        <a:spcBef>
                          <a:spcPts val="0"/>
                        </a:spcBef>
                        <a:spcAft>
                          <a:spcPts val="0"/>
                        </a:spcAft>
                        <a:buNone/>
                      </a:pPr>
                      <a:r>
                        <a:rPr lang="en" sz="1200"/>
                        <a:t>Writing (posts, articles, newsletters, email responses, business plans, reports)</a:t>
                      </a:r>
                      <a:endParaRPr sz="1200"/>
                    </a:p>
                  </a:txBody>
                  <a:tcPr marL="9125" marR="9125" marT="9125" marB="9125" anchor="ctr"/>
                </a:tc>
                <a:tc>
                  <a:txBody>
                    <a:bodyPr/>
                    <a:lstStyle/>
                    <a:p>
                      <a:pPr marL="0" lvl="0" indent="0" algn="ctr" rtl="0">
                        <a:spcBef>
                          <a:spcPts val="0"/>
                        </a:spcBef>
                        <a:spcAft>
                          <a:spcPts val="0"/>
                        </a:spcAft>
                        <a:buNone/>
                      </a:pPr>
                      <a:r>
                        <a:rPr lang="en" sz="1200" b="1">
                          <a:solidFill>
                            <a:srgbClr val="FF0000"/>
                          </a:solidFill>
                        </a:rPr>
                        <a:t>LLM, RAG</a:t>
                      </a:r>
                      <a:endParaRPr sz="1200" b="1">
                        <a:solidFill>
                          <a:srgbClr val="FF0000"/>
                        </a:solidFill>
                      </a:endParaRPr>
                    </a:p>
                  </a:txBody>
                  <a:tcPr marL="9125" marR="9125" marT="9125" marB="9125" anchor="ctr"/>
                </a:tc>
                <a:tc>
                  <a:txBody>
                    <a:bodyPr/>
                    <a:lstStyle/>
                    <a:p>
                      <a:pPr marL="0" lvl="0" indent="0" algn="ctr" rtl="0">
                        <a:spcBef>
                          <a:spcPts val="0"/>
                        </a:spcBef>
                        <a:spcAft>
                          <a:spcPts val="0"/>
                        </a:spcAft>
                        <a:buClr>
                          <a:schemeClr val="dk1"/>
                        </a:buClr>
                        <a:buSzPts val="1100"/>
                        <a:buFont typeface="Arial"/>
                        <a:buNone/>
                      </a:pPr>
                      <a:r>
                        <a:rPr lang="en" sz="1200">
                          <a:solidFill>
                            <a:schemeClr val="dk1"/>
                          </a:solidFill>
                        </a:rPr>
                        <a:t>Any organization</a:t>
                      </a:r>
                      <a:endParaRPr sz="1200"/>
                    </a:p>
                  </a:txBody>
                  <a:tcPr marL="9125" marR="9125" marT="9125" marB="9125" anchor="ctr"/>
                </a:tc>
                <a:extLst>
                  <a:ext uri="{0D108BD9-81ED-4DB2-BD59-A6C34878D82A}">
                    <a16:rowId xmlns:a16="http://schemas.microsoft.com/office/drawing/2014/main" val="10007"/>
                  </a:ext>
                </a:extLst>
              </a:tr>
              <a:tr h="194575">
                <a:tc>
                  <a:txBody>
                    <a:bodyPr/>
                    <a:lstStyle/>
                    <a:p>
                      <a:pPr marL="0" lvl="0" indent="0" algn="ctr" rtl="0">
                        <a:spcBef>
                          <a:spcPts val="0"/>
                        </a:spcBef>
                        <a:spcAft>
                          <a:spcPts val="0"/>
                        </a:spcAft>
                        <a:buNone/>
                      </a:pPr>
                      <a:r>
                        <a:rPr lang="en" sz="1200"/>
                        <a:t>Multi-lingual ability</a:t>
                      </a:r>
                      <a:endParaRPr sz="1200"/>
                    </a:p>
                  </a:txBody>
                  <a:tcPr marL="9125" marR="9125" marT="9125" marB="9125" anchor="ctr"/>
                </a:tc>
                <a:tc>
                  <a:txBody>
                    <a:bodyPr/>
                    <a:lstStyle/>
                    <a:p>
                      <a:pPr marL="0" lvl="0" indent="0" algn="ctr" rtl="0">
                        <a:spcBef>
                          <a:spcPts val="0"/>
                        </a:spcBef>
                        <a:spcAft>
                          <a:spcPts val="0"/>
                        </a:spcAft>
                        <a:buNone/>
                      </a:pPr>
                      <a:r>
                        <a:rPr lang="en" sz="1200" b="1">
                          <a:solidFill>
                            <a:srgbClr val="FF0000"/>
                          </a:solidFill>
                        </a:rPr>
                        <a:t>LLM</a:t>
                      </a:r>
                      <a:endParaRPr sz="1200" b="1">
                        <a:solidFill>
                          <a:srgbClr val="FF0000"/>
                        </a:solidFill>
                      </a:endParaRPr>
                    </a:p>
                  </a:txBody>
                  <a:tcPr marL="9125" marR="9125" marT="9125" marB="9125" anchor="ctr"/>
                </a:tc>
                <a:tc>
                  <a:txBody>
                    <a:bodyPr/>
                    <a:lstStyle/>
                    <a:p>
                      <a:pPr marL="0" lvl="0" indent="0" algn="ctr" rtl="0">
                        <a:spcBef>
                          <a:spcPts val="0"/>
                        </a:spcBef>
                        <a:spcAft>
                          <a:spcPts val="0"/>
                        </a:spcAft>
                        <a:buClr>
                          <a:schemeClr val="dk1"/>
                        </a:buClr>
                        <a:buSzPts val="1100"/>
                        <a:buFont typeface="Arial"/>
                        <a:buNone/>
                      </a:pPr>
                      <a:r>
                        <a:rPr lang="en" sz="1200">
                          <a:solidFill>
                            <a:schemeClr val="dk1"/>
                          </a:solidFill>
                        </a:rPr>
                        <a:t>Any organization or service</a:t>
                      </a:r>
                      <a:endParaRPr sz="1200">
                        <a:solidFill>
                          <a:schemeClr val="dk1"/>
                        </a:solidFill>
                      </a:endParaRPr>
                    </a:p>
                  </a:txBody>
                  <a:tcPr marL="9125" marR="9125" marT="9125" marB="9125" anchor="ctr"/>
                </a:tc>
                <a:extLst>
                  <a:ext uri="{0D108BD9-81ED-4DB2-BD59-A6C34878D82A}">
                    <a16:rowId xmlns:a16="http://schemas.microsoft.com/office/drawing/2014/main" val="10008"/>
                  </a:ext>
                </a:extLst>
              </a:tr>
              <a:tr h="194575">
                <a:tc>
                  <a:txBody>
                    <a:bodyPr/>
                    <a:lstStyle/>
                    <a:p>
                      <a:pPr marL="0" lvl="0" indent="0" algn="ctr" rtl="0">
                        <a:spcBef>
                          <a:spcPts val="0"/>
                        </a:spcBef>
                        <a:spcAft>
                          <a:spcPts val="0"/>
                        </a:spcAft>
                        <a:buNone/>
                      </a:pPr>
                      <a:r>
                        <a:rPr lang="en" sz="1200"/>
                        <a:t>HR - screening candidates, training</a:t>
                      </a:r>
                      <a:endParaRPr sz="1200"/>
                    </a:p>
                  </a:txBody>
                  <a:tcPr marL="9125" marR="9125" marT="9125" marB="9125" anchor="ctr"/>
                </a:tc>
                <a:tc>
                  <a:txBody>
                    <a:bodyPr/>
                    <a:lstStyle/>
                    <a:p>
                      <a:pPr marL="0" lvl="0" indent="0" algn="ctr" rtl="0">
                        <a:spcBef>
                          <a:spcPts val="0"/>
                        </a:spcBef>
                        <a:spcAft>
                          <a:spcPts val="0"/>
                        </a:spcAft>
                        <a:buNone/>
                      </a:pPr>
                      <a:r>
                        <a:rPr lang="en" sz="1200" b="1">
                          <a:solidFill>
                            <a:srgbClr val="FF0000"/>
                          </a:solidFill>
                        </a:rPr>
                        <a:t>RAG, LLM</a:t>
                      </a:r>
                      <a:endParaRPr sz="1200" b="1">
                        <a:solidFill>
                          <a:srgbClr val="FF0000"/>
                        </a:solidFill>
                      </a:endParaRPr>
                    </a:p>
                  </a:txBody>
                  <a:tcPr marL="9125" marR="9125" marT="9125" marB="9125" anchor="ctr"/>
                </a:tc>
                <a:tc>
                  <a:txBody>
                    <a:bodyPr/>
                    <a:lstStyle/>
                    <a:p>
                      <a:pPr marL="0" lvl="0" indent="0" algn="ctr" rtl="0">
                        <a:spcBef>
                          <a:spcPts val="0"/>
                        </a:spcBef>
                        <a:spcAft>
                          <a:spcPts val="0"/>
                        </a:spcAft>
                        <a:buNone/>
                      </a:pPr>
                      <a:r>
                        <a:rPr lang="en" sz="1200"/>
                        <a:t>Any organization</a:t>
                      </a:r>
                      <a:endParaRPr sz="1200"/>
                    </a:p>
                  </a:txBody>
                  <a:tcPr marL="9125" marR="9125" marT="9125" marB="9125" anchor="ctr"/>
                </a:tc>
                <a:extLst>
                  <a:ext uri="{0D108BD9-81ED-4DB2-BD59-A6C34878D82A}">
                    <a16:rowId xmlns:a16="http://schemas.microsoft.com/office/drawing/2014/main" val="10009"/>
                  </a:ext>
                </a:extLst>
              </a:tr>
              <a:tr h="286375">
                <a:tc>
                  <a:txBody>
                    <a:bodyPr/>
                    <a:lstStyle/>
                    <a:p>
                      <a:pPr marL="0" lvl="0" indent="0" algn="ctr" rtl="0">
                        <a:spcBef>
                          <a:spcPts val="0"/>
                        </a:spcBef>
                        <a:spcAft>
                          <a:spcPts val="0"/>
                        </a:spcAft>
                        <a:buNone/>
                      </a:pPr>
                      <a:r>
                        <a:rPr lang="en" sz="1200"/>
                        <a:t>Document management: </a:t>
                      </a:r>
                      <a:r>
                        <a:rPr lang="en" sz="1200">
                          <a:solidFill>
                            <a:schemeClr val="dk1"/>
                          </a:solidFill>
                        </a:rPr>
                        <a:t>classifying / tagging / extracting data (from invoices, contracts, reports), formatting, storing</a:t>
                      </a:r>
                      <a:r>
                        <a:rPr lang="en" sz="1200"/>
                        <a:t> </a:t>
                      </a:r>
                      <a:endParaRPr sz="1200"/>
                    </a:p>
                  </a:txBody>
                  <a:tcPr marL="9125" marR="9125" marT="9125" marB="9125" anchor="ctr"/>
                </a:tc>
                <a:tc>
                  <a:txBody>
                    <a:bodyPr/>
                    <a:lstStyle/>
                    <a:p>
                      <a:pPr marL="0" lvl="0" indent="0" algn="ctr" rtl="0">
                        <a:spcBef>
                          <a:spcPts val="0"/>
                        </a:spcBef>
                        <a:spcAft>
                          <a:spcPts val="0"/>
                        </a:spcAft>
                        <a:buNone/>
                      </a:pPr>
                      <a:r>
                        <a:rPr lang="en" sz="1200">
                          <a:solidFill>
                            <a:schemeClr val="dk1"/>
                          </a:solidFill>
                        </a:rPr>
                        <a:t>data engineering/storage,</a:t>
                      </a:r>
                      <a:r>
                        <a:rPr lang="en" sz="1200"/>
                        <a:t> </a:t>
                      </a:r>
                      <a:br>
                        <a:rPr lang="en" sz="1200"/>
                      </a:br>
                      <a:r>
                        <a:rPr lang="en" sz="1200" b="1">
                          <a:solidFill>
                            <a:srgbClr val="FF0000"/>
                          </a:solidFill>
                        </a:rPr>
                        <a:t>LLM, RAG</a:t>
                      </a:r>
                      <a:endParaRPr sz="1200" b="1">
                        <a:solidFill>
                          <a:srgbClr val="FF0000"/>
                        </a:solidFill>
                      </a:endParaRPr>
                    </a:p>
                  </a:txBody>
                  <a:tcPr marL="9125" marR="9125" marT="9125" marB="9125" anchor="ctr"/>
                </a:tc>
                <a:tc>
                  <a:txBody>
                    <a:bodyPr/>
                    <a:lstStyle/>
                    <a:p>
                      <a:pPr marL="0" lvl="0" indent="0" algn="ctr" rtl="0">
                        <a:spcBef>
                          <a:spcPts val="0"/>
                        </a:spcBef>
                        <a:spcAft>
                          <a:spcPts val="0"/>
                        </a:spcAft>
                        <a:buClr>
                          <a:schemeClr val="dk1"/>
                        </a:buClr>
                        <a:buSzPts val="1100"/>
                        <a:buFont typeface="Arial"/>
                        <a:buNone/>
                      </a:pPr>
                      <a:r>
                        <a:rPr lang="en" sz="1200">
                          <a:solidFill>
                            <a:schemeClr val="dk1"/>
                          </a:solidFill>
                        </a:rPr>
                        <a:t>Any organization</a:t>
                      </a:r>
                      <a:endParaRPr sz="1200"/>
                    </a:p>
                  </a:txBody>
                  <a:tcPr marL="9125" marR="9125" marT="9125" marB="9125" anchor="ctr"/>
                </a:tc>
                <a:extLst>
                  <a:ext uri="{0D108BD9-81ED-4DB2-BD59-A6C34878D82A}">
                    <a16:rowId xmlns:a16="http://schemas.microsoft.com/office/drawing/2014/main" val="10010"/>
                  </a:ext>
                </a:extLst>
              </a:tr>
              <a:tr h="194575">
                <a:tc>
                  <a:txBody>
                    <a:bodyPr/>
                    <a:lstStyle/>
                    <a:p>
                      <a:pPr marL="0" lvl="0" indent="0" algn="ctr" rtl="0">
                        <a:spcBef>
                          <a:spcPts val="0"/>
                        </a:spcBef>
                        <a:spcAft>
                          <a:spcPts val="0"/>
                        </a:spcAft>
                        <a:buNone/>
                      </a:pPr>
                      <a:r>
                        <a:rPr lang="en" sz="1200"/>
                        <a:t>Fraud detection,</a:t>
                      </a:r>
                      <a:br>
                        <a:rPr lang="en" sz="1200"/>
                      </a:br>
                      <a:r>
                        <a:rPr lang="en" sz="1200"/>
                        <a:t>Anomaly Detection</a:t>
                      </a:r>
                      <a:endParaRPr sz="1200"/>
                    </a:p>
                  </a:txBody>
                  <a:tcPr marL="9125" marR="9125" marT="9125" marB="9125" anchor="ctr"/>
                </a:tc>
                <a:tc>
                  <a:txBody>
                    <a:bodyPr/>
                    <a:lstStyle/>
                    <a:p>
                      <a:pPr marL="0" lvl="0" indent="0" algn="ctr" rtl="0">
                        <a:spcBef>
                          <a:spcPts val="0"/>
                        </a:spcBef>
                        <a:spcAft>
                          <a:spcPts val="0"/>
                        </a:spcAft>
                        <a:buNone/>
                      </a:pPr>
                      <a:r>
                        <a:rPr lang="en" sz="1200"/>
                        <a:t>ML: Isolation Forest</a:t>
                      </a:r>
                      <a:endParaRPr sz="1200"/>
                    </a:p>
                  </a:txBody>
                  <a:tcPr marL="9125" marR="9125" marT="9125" marB="9125" anchor="ctr"/>
                </a:tc>
                <a:tc>
                  <a:txBody>
                    <a:bodyPr/>
                    <a:lstStyle/>
                    <a:p>
                      <a:pPr marL="0" lvl="0" indent="0" algn="ctr" rtl="0">
                        <a:spcBef>
                          <a:spcPts val="0"/>
                        </a:spcBef>
                        <a:spcAft>
                          <a:spcPts val="0"/>
                        </a:spcAft>
                        <a:buNone/>
                      </a:pPr>
                      <a:r>
                        <a:rPr lang="en" sz="1200"/>
                        <a:t>Finance Transactions, </a:t>
                      </a:r>
                      <a:br>
                        <a:rPr lang="en" sz="1200"/>
                      </a:br>
                      <a:r>
                        <a:rPr lang="en" sz="1200"/>
                        <a:t>Manufacturing </a:t>
                      </a:r>
                      <a:endParaRPr sz="1200"/>
                    </a:p>
                  </a:txBody>
                  <a:tcPr marL="9125" marR="9125" marT="9125" marB="9125" anchor="ctr"/>
                </a:tc>
                <a:extLst>
                  <a:ext uri="{0D108BD9-81ED-4DB2-BD59-A6C34878D82A}">
                    <a16:rowId xmlns:a16="http://schemas.microsoft.com/office/drawing/2014/main" val="10011"/>
                  </a:ext>
                </a:extLst>
              </a:tr>
              <a:tr h="194575">
                <a:tc>
                  <a:txBody>
                    <a:bodyPr/>
                    <a:lstStyle/>
                    <a:p>
                      <a:pPr marL="0" lvl="0" indent="0" algn="ctr" rtl="0">
                        <a:spcBef>
                          <a:spcPts val="0"/>
                        </a:spcBef>
                        <a:spcAft>
                          <a:spcPts val="0"/>
                        </a:spcAft>
                        <a:buNone/>
                      </a:pPr>
                      <a:r>
                        <a:rPr lang="en" sz="1200"/>
                        <a:t>Risk Assessment</a:t>
                      </a:r>
                      <a:endParaRPr sz="1200"/>
                    </a:p>
                  </a:txBody>
                  <a:tcPr marL="9125" marR="9125" marT="9125" marB="9125" anchor="ctr"/>
                </a:tc>
                <a:tc>
                  <a:txBody>
                    <a:bodyPr/>
                    <a:lstStyle/>
                    <a:p>
                      <a:pPr marL="0" lvl="0" indent="0" algn="ctr" rtl="0">
                        <a:spcBef>
                          <a:spcPts val="0"/>
                        </a:spcBef>
                        <a:spcAft>
                          <a:spcPts val="0"/>
                        </a:spcAft>
                        <a:buNone/>
                      </a:pPr>
                      <a:r>
                        <a:rPr lang="en" sz="1200"/>
                        <a:t>ML, DL, </a:t>
                      </a:r>
                      <a:r>
                        <a:rPr lang="en" sz="1200" b="1">
                          <a:solidFill>
                            <a:srgbClr val="FF0000"/>
                          </a:solidFill>
                        </a:rPr>
                        <a:t>LLM</a:t>
                      </a:r>
                      <a:endParaRPr sz="1200" b="1">
                        <a:solidFill>
                          <a:srgbClr val="FF0000"/>
                        </a:solidFill>
                      </a:endParaRPr>
                    </a:p>
                  </a:txBody>
                  <a:tcPr marL="9125" marR="9125" marT="9125" marB="9125" anchor="ctr"/>
                </a:tc>
                <a:tc>
                  <a:txBody>
                    <a:bodyPr/>
                    <a:lstStyle/>
                    <a:p>
                      <a:pPr marL="0" lvl="0" indent="0" algn="ctr" rtl="0">
                        <a:spcBef>
                          <a:spcPts val="0"/>
                        </a:spcBef>
                        <a:spcAft>
                          <a:spcPts val="0"/>
                        </a:spcAft>
                        <a:buClr>
                          <a:schemeClr val="dk1"/>
                        </a:buClr>
                        <a:buSzPts val="1100"/>
                        <a:buFont typeface="Arial"/>
                        <a:buNone/>
                      </a:pPr>
                      <a:r>
                        <a:rPr lang="en" sz="1200">
                          <a:solidFill>
                            <a:schemeClr val="dk1"/>
                          </a:solidFill>
                        </a:rPr>
                        <a:t>Finance</a:t>
                      </a:r>
                      <a:endParaRPr sz="1200"/>
                    </a:p>
                  </a:txBody>
                  <a:tcPr marL="9125" marR="9125" marT="9125" marB="9125" anchor="ctr"/>
                </a:tc>
                <a:extLst>
                  <a:ext uri="{0D108BD9-81ED-4DB2-BD59-A6C34878D82A}">
                    <a16:rowId xmlns:a16="http://schemas.microsoft.com/office/drawing/2014/main" val="10012"/>
                  </a:ext>
                </a:extLst>
              </a:tr>
            </a:tbl>
          </a:graphicData>
        </a:graphic>
      </p:graphicFrame>
      <p:sp>
        <p:nvSpPr>
          <p:cNvPr id="105" name="Google Shape;105;p19"/>
          <p:cNvSpPr txBox="1"/>
          <p:nvPr/>
        </p:nvSpPr>
        <p:spPr>
          <a:xfrm>
            <a:off x="6355475" y="42700"/>
            <a:ext cx="2741700" cy="1071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27425" tIns="27425" rIns="27425" bIns="27425" anchor="t" anchorCtr="0">
            <a:spAutoFit/>
          </a:bodyPr>
          <a:lstStyle/>
          <a:p>
            <a:pPr marL="0" lvl="0" indent="0" algn="l" rtl="0">
              <a:spcBef>
                <a:spcPts val="0"/>
              </a:spcBef>
              <a:spcAft>
                <a:spcPts val="0"/>
              </a:spcAft>
              <a:buNone/>
            </a:pPr>
            <a:r>
              <a:rPr lang="en" sz="1100">
                <a:latin typeface="Calibri"/>
                <a:ea typeface="Calibri"/>
                <a:cs typeface="Calibri"/>
                <a:sym typeface="Calibri"/>
              </a:rPr>
              <a:t>RAG = Retrieval Augmented Generation</a:t>
            </a:r>
            <a:endParaRPr sz="1100">
              <a:latin typeface="Calibri"/>
              <a:ea typeface="Calibri"/>
              <a:cs typeface="Calibri"/>
              <a:sym typeface="Calibri"/>
            </a:endParaRPr>
          </a:p>
          <a:p>
            <a:pPr marL="0" lvl="0" indent="0" algn="l" rtl="0">
              <a:spcBef>
                <a:spcPts val="0"/>
              </a:spcBef>
              <a:spcAft>
                <a:spcPts val="0"/>
              </a:spcAft>
              <a:buNone/>
            </a:pPr>
            <a:r>
              <a:rPr lang="en" sz="1100">
                <a:latin typeface="Calibri"/>
                <a:ea typeface="Calibri"/>
                <a:cs typeface="Calibri"/>
                <a:sym typeface="Calibri"/>
              </a:rPr>
              <a:t>LLM = Large Language Model</a:t>
            </a:r>
            <a:endParaRPr sz="1100">
              <a:latin typeface="Calibri"/>
              <a:ea typeface="Calibri"/>
              <a:cs typeface="Calibri"/>
              <a:sym typeface="Calibri"/>
            </a:endParaRPr>
          </a:p>
          <a:p>
            <a:pPr marL="0" lvl="0" indent="0" algn="l" rtl="0">
              <a:spcBef>
                <a:spcPts val="0"/>
              </a:spcBef>
              <a:spcAft>
                <a:spcPts val="0"/>
              </a:spcAft>
              <a:buNone/>
            </a:pPr>
            <a:r>
              <a:rPr lang="en" sz="1100">
                <a:latin typeface="Calibri"/>
                <a:ea typeface="Calibri"/>
                <a:cs typeface="Calibri"/>
                <a:sym typeface="Calibri"/>
              </a:rPr>
              <a:t>NLP = Natural Language Processing</a:t>
            </a:r>
            <a:endParaRPr sz="1100">
              <a:latin typeface="Calibri"/>
              <a:ea typeface="Calibri"/>
              <a:cs typeface="Calibri"/>
              <a:sym typeface="Calibri"/>
            </a:endParaRPr>
          </a:p>
          <a:p>
            <a:pPr marL="0" lvl="0" indent="0" algn="l" rtl="0">
              <a:spcBef>
                <a:spcPts val="0"/>
              </a:spcBef>
              <a:spcAft>
                <a:spcPts val="0"/>
              </a:spcAft>
              <a:buNone/>
            </a:pPr>
            <a:r>
              <a:rPr lang="en" sz="1100">
                <a:latin typeface="Calibri"/>
                <a:ea typeface="Calibri"/>
                <a:cs typeface="Calibri"/>
                <a:sym typeface="Calibri"/>
              </a:rPr>
              <a:t>ML = Machine Learning</a:t>
            </a:r>
            <a:endParaRPr sz="1100">
              <a:latin typeface="Calibri"/>
              <a:ea typeface="Calibri"/>
              <a:cs typeface="Calibri"/>
              <a:sym typeface="Calibri"/>
            </a:endParaRPr>
          </a:p>
          <a:p>
            <a:pPr marL="0" lvl="0" indent="0" algn="l" rtl="0">
              <a:spcBef>
                <a:spcPts val="0"/>
              </a:spcBef>
              <a:spcAft>
                <a:spcPts val="0"/>
              </a:spcAft>
              <a:buNone/>
            </a:pPr>
            <a:r>
              <a:rPr lang="en" sz="1100">
                <a:latin typeface="Calibri"/>
                <a:ea typeface="Calibri"/>
                <a:cs typeface="Calibri"/>
                <a:sym typeface="Calibri"/>
              </a:rPr>
              <a:t>RF = Random Forest, XGB = XGBoost</a:t>
            </a:r>
            <a:endParaRPr sz="1100">
              <a:latin typeface="Calibri"/>
              <a:ea typeface="Calibri"/>
              <a:cs typeface="Calibri"/>
              <a:sym typeface="Calibri"/>
            </a:endParaRPr>
          </a:p>
          <a:p>
            <a:pPr marL="0" lvl="0" indent="0" algn="l" rtl="0">
              <a:spcBef>
                <a:spcPts val="0"/>
              </a:spcBef>
              <a:spcAft>
                <a:spcPts val="0"/>
              </a:spcAft>
              <a:buNone/>
            </a:pPr>
            <a:r>
              <a:rPr lang="en" sz="1100">
                <a:latin typeface="Calibri"/>
                <a:ea typeface="Calibri"/>
                <a:cs typeface="Calibri"/>
                <a:sym typeface="Calibri"/>
              </a:rPr>
              <a:t>DL = Deep Learning</a:t>
            </a:r>
            <a:endParaRPr sz="1100">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20"/>
          <p:cNvSpPr txBox="1"/>
          <p:nvPr/>
        </p:nvSpPr>
        <p:spPr>
          <a:xfrm>
            <a:off x="98725" y="531000"/>
            <a:ext cx="4364400" cy="409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27425" tIns="27425" rIns="27425" bIns="27425" anchor="t" anchorCtr="0">
            <a:spAutoFit/>
          </a:bodyPr>
          <a:lstStyle/>
          <a:p>
            <a:pPr marL="0" lvl="0" indent="0" algn="l" rtl="0">
              <a:spcBef>
                <a:spcPts val="0"/>
              </a:spcBef>
              <a:spcAft>
                <a:spcPts val="0"/>
              </a:spcAft>
              <a:buNone/>
            </a:pPr>
            <a:r>
              <a:rPr lang="en" sz="1300">
                <a:solidFill>
                  <a:schemeClr val="dk1"/>
                </a:solidFill>
                <a:latin typeface="Calibri"/>
                <a:ea typeface="Calibri"/>
                <a:cs typeface="Calibri"/>
                <a:sym typeface="Calibri"/>
              </a:rPr>
              <a:t>Boston Dynamics' New Atlas Robot</a:t>
            </a:r>
            <a:endParaRPr sz="1300">
              <a:solidFill>
                <a:schemeClr val="dk1"/>
              </a:solidFill>
              <a:latin typeface="Calibri"/>
              <a:ea typeface="Calibri"/>
              <a:cs typeface="Calibri"/>
              <a:sym typeface="Calibri"/>
            </a:endParaRPr>
          </a:p>
          <a:p>
            <a:pPr marL="0" lvl="0" indent="0" algn="l" rtl="0">
              <a:spcBef>
                <a:spcPts val="0"/>
              </a:spcBef>
              <a:spcAft>
                <a:spcPts val="0"/>
              </a:spcAft>
              <a:buNone/>
            </a:pPr>
            <a:r>
              <a:rPr lang="en" sz="1000" u="sng">
                <a:solidFill>
                  <a:schemeClr val="hlink"/>
                </a:solidFill>
                <a:latin typeface="Calibri"/>
                <a:ea typeface="Calibri"/>
                <a:cs typeface="Calibri"/>
                <a:sym typeface="Calibri"/>
                <a:hlinkClick r:id="rId3"/>
              </a:rPr>
              <a:t>https://www.youtube.com/watch?v=efebwb2DW3w</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p:txBody>
      </p:sp>
      <p:sp>
        <p:nvSpPr>
          <p:cNvPr id="111" name="Google Shape;111;p20"/>
          <p:cNvSpPr txBox="1"/>
          <p:nvPr/>
        </p:nvSpPr>
        <p:spPr>
          <a:xfrm>
            <a:off x="76200" y="76200"/>
            <a:ext cx="2338500" cy="2955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1800" b="1">
                <a:solidFill>
                  <a:srgbClr val="0F1419"/>
                </a:solidFill>
                <a:highlight>
                  <a:srgbClr val="FFFFFF"/>
                </a:highlight>
                <a:latin typeface="Calibri"/>
                <a:ea typeface="Calibri"/>
                <a:cs typeface="Calibri"/>
                <a:sym typeface="Calibri"/>
              </a:rPr>
              <a:t>Atlas Robot</a:t>
            </a:r>
            <a:endParaRPr sz="1800" b="1">
              <a:latin typeface="Calibri"/>
              <a:ea typeface="Calibri"/>
              <a:cs typeface="Calibri"/>
              <a:sym typeface="Calibri"/>
            </a:endParaRPr>
          </a:p>
        </p:txBody>
      </p:sp>
      <p:sp>
        <p:nvSpPr>
          <p:cNvPr id="112" name="Google Shape;112;p20"/>
          <p:cNvSpPr txBox="1"/>
          <p:nvPr/>
        </p:nvSpPr>
        <p:spPr>
          <a:xfrm>
            <a:off x="4518525" y="537900"/>
            <a:ext cx="4549800" cy="655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27425" tIns="27425" rIns="27425" bIns="27425" anchor="t" anchorCtr="0">
            <a:spAutoFit/>
          </a:bodyPr>
          <a:lstStyle/>
          <a:p>
            <a:pPr marL="0" lvl="0" indent="0" algn="l" rtl="0">
              <a:spcBef>
                <a:spcPts val="0"/>
              </a:spcBef>
              <a:spcAft>
                <a:spcPts val="0"/>
              </a:spcAft>
              <a:buNone/>
            </a:pPr>
            <a:r>
              <a:rPr lang="en" sz="1300" u="sng">
                <a:solidFill>
                  <a:schemeClr val="hlink"/>
                </a:solidFill>
                <a:latin typeface="Calibri"/>
                <a:ea typeface="Calibri"/>
                <a:cs typeface="Calibri"/>
                <a:sym typeface="Calibri"/>
                <a:hlinkClick r:id="rId4"/>
              </a:rPr>
              <a:t>https://www.d-id.com</a:t>
            </a:r>
            <a:r>
              <a:rPr lang="en" sz="1300">
                <a:solidFill>
                  <a:schemeClr val="dk1"/>
                </a:solidFill>
                <a:latin typeface="Calibri"/>
                <a:ea typeface="Calibri"/>
                <a:cs typeface="Calibri"/>
                <a:sym typeface="Calibri"/>
              </a:rPr>
              <a:t> - Natural User Interface</a:t>
            </a:r>
            <a:endParaRPr sz="1300">
              <a:solidFill>
                <a:schemeClr val="dk1"/>
              </a:solidFill>
              <a:latin typeface="Calibri"/>
              <a:ea typeface="Calibri"/>
              <a:cs typeface="Calibri"/>
              <a:sym typeface="Calibri"/>
            </a:endParaRPr>
          </a:p>
          <a:p>
            <a:pPr marL="0" lvl="0" indent="0" algn="l" rtl="0">
              <a:spcBef>
                <a:spcPts val="0"/>
              </a:spcBef>
              <a:spcAft>
                <a:spcPts val="0"/>
              </a:spcAft>
              <a:buNone/>
            </a:pPr>
            <a:r>
              <a:rPr lang="en" sz="1300">
                <a:solidFill>
                  <a:schemeClr val="dk1"/>
                </a:solidFill>
                <a:latin typeface="Calibri"/>
                <a:ea typeface="Calibri"/>
                <a:cs typeface="Calibri"/>
                <a:sym typeface="Calibri"/>
              </a:rPr>
              <a:t>Create talking avatar, etc.</a:t>
            </a:r>
            <a:endParaRPr sz="1300">
              <a:solidFill>
                <a:schemeClr val="dk1"/>
              </a:solidFill>
              <a:latin typeface="Calibri"/>
              <a:ea typeface="Calibri"/>
              <a:cs typeface="Calibri"/>
              <a:sym typeface="Calibri"/>
            </a:endParaRPr>
          </a:p>
          <a:p>
            <a:pPr marL="0" lvl="0" indent="0" algn="l" rtl="0">
              <a:spcBef>
                <a:spcPts val="0"/>
              </a:spcBef>
              <a:spcAft>
                <a:spcPts val="0"/>
              </a:spcAft>
              <a:buNone/>
            </a:pPr>
            <a:r>
              <a:rPr lang="en" sz="1300" u="sng">
                <a:solidFill>
                  <a:schemeClr val="hlink"/>
                </a:solidFill>
                <a:latin typeface="Calibri"/>
                <a:ea typeface="Calibri"/>
                <a:cs typeface="Calibri"/>
                <a:sym typeface="Calibri"/>
                <a:hlinkClick r:id="rId5"/>
              </a:rPr>
              <a:t>https://studio.d-id.com/agents/create</a:t>
            </a:r>
            <a:r>
              <a:rPr lang="en" sz="1300">
                <a:solidFill>
                  <a:schemeClr val="dk1"/>
                </a:solidFill>
                <a:latin typeface="Calibri"/>
                <a:ea typeface="Calibri"/>
                <a:cs typeface="Calibri"/>
                <a:sym typeface="Calibri"/>
              </a:rPr>
              <a:t> </a:t>
            </a:r>
            <a:endParaRPr sz="1300">
              <a:solidFill>
                <a:schemeClr val="dk1"/>
              </a:solidFill>
              <a:latin typeface="Calibri"/>
              <a:ea typeface="Calibri"/>
              <a:cs typeface="Calibri"/>
              <a:sym typeface="Calibri"/>
            </a:endParaRPr>
          </a:p>
        </p:txBody>
      </p:sp>
      <p:pic>
        <p:nvPicPr>
          <p:cNvPr id="113" name="Google Shape;113;p20"/>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267725" y="1428825"/>
            <a:ext cx="2338624" cy="3508803"/>
          </a:xfrm>
          <a:prstGeom prst="rect">
            <a:avLst/>
          </a:prstGeom>
          <a:noFill/>
          <a:ln>
            <a:noFill/>
          </a:ln>
        </p:spPr>
      </p:pic>
      <p:pic>
        <p:nvPicPr>
          <p:cNvPr id="114" name="Google Shape;114;p20"/>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5581787" y="1558700"/>
            <a:ext cx="2423275" cy="3249050"/>
          </a:xfrm>
          <a:prstGeom prst="rect">
            <a:avLst/>
          </a:prstGeom>
          <a:noFill/>
          <a:ln>
            <a:noFill/>
          </a:ln>
        </p:spPr>
      </p:pic>
      <p:sp>
        <p:nvSpPr>
          <p:cNvPr id="115" name="Google Shape;115;p20"/>
          <p:cNvSpPr txBox="1"/>
          <p:nvPr/>
        </p:nvSpPr>
        <p:spPr>
          <a:xfrm>
            <a:off x="4518525" y="76200"/>
            <a:ext cx="3486600" cy="2955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1800" b="1">
                <a:solidFill>
                  <a:srgbClr val="0F1419"/>
                </a:solidFill>
                <a:highlight>
                  <a:srgbClr val="FFFFFF"/>
                </a:highlight>
                <a:latin typeface="Calibri"/>
                <a:ea typeface="Calibri"/>
                <a:cs typeface="Calibri"/>
                <a:sym typeface="Calibri"/>
              </a:rPr>
              <a:t>Create talking avatar in a minute</a:t>
            </a:r>
            <a:endParaRPr sz="1800" b="1">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21"/>
          <p:cNvSpPr txBox="1"/>
          <p:nvPr/>
        </p:nvSpPr>
        <p:spPr>
          <a:xfrm>
            <a:off x="44925" y="537900"/>
            <a:ext cx="4549800" cy="763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27425" tIns="27425" rIns="27425" bIns="27425" anchor="t" anchorCtr="0">
            <a:spAutoFit/>
          </a:bodyPr>
          <a:lstStyle/>
          <a:p>
            <a:pPr marL="0" lvl="0" indent="0" algn="l" rtl="0">
              <a:spcBef>
                <a:spcPts val="0"/>
              </a:spcBef>
              <a:spcAft>
                <a:spcPts val="0"/>
              </a:spcAft>
              <a:buNone/>
            </a:pPr>
            <a:r>
              <a:rPr lang="en" sz="1300">
                <a:solidFill>
                  <a:schemeClr val="dk1"/>
                </a:solidFill>
                <a:latin typeface="Calibri"/>
                <a:ea typeface="Calibri"/>
                <a:cs typeface="Calibri"/>
                <a:sym typeface="Calibri"/>
              </a:rPr>
              <a:t>gpt-3.5-turbo response time is ~2-4 sec</a:t>
            </a:r>
            <a:endParaRPr sz="1300">
              <a:solidFill>
                <a:schemeClr val="dk1"/>
              </a:solidFill>
              <a:latin typeface="Calibri"/>
              <a:ea typeface="Calibri"/>
              <a:cs typeface="Calibri"/>
              <a:sym typeface="Calibri"/>
            </a:endParaRPr>
          </a:p>
          <a:p>
            <a:pPr marL="0" lvl="0" indent="0" algn="l" rtl="0">
              <a:spcBef>
                <a:spcPts val="0"/>
              </a:spcBef>
              <a:spcAft>
                <a:spcPts val="0"/>
              </a:spcAft>
              <a:buNone/>
            </a:pPr>
            <a:r>
              <a:rPr lang="en" sz="1300">
                <a:solidFill>
                  <a:schemeClr val="dk1"/>
                </a:solidFill>
                <a:latin typeface="Calibri"/>
                <a:ea typeface="Calibri"/>
                <a:cs typeface="Calibri"/>
                <a:sym typeface="Calibri"/>
              </a:rPr>
              <a:t>gpt-4 can be much slower (10-40 sec and more)</a:t>
            </a:r>
            <a:endParaRPr sz="1300">
              <a:solidFill>
                <a:schemeClr val="dk1"/>
              </a:solidFill>
              <a:latin typeface="Calibri"/>
              <a:ea typeface="Calibri"/>
              <a:cs typeface="Calibri"/>
              <a:sym typeface="Calibri"/>
            </a:endParaRPr>
          </a:p>
          <a:p>
            <a:pPr marL="0" lvl="0" indent="0" algn="l" rtl="0">
              <a:spcBef>
                <a:spcPts val="0"/>
              </a:spcBef>
              <a:spcAft>
                <a:spcPts val="0"/>
              </a:spcAft>
              <a:buNone/>
            </a:pPr>
            <a:r>
              <a:rPr lang="en" sz="1000" u="sng">
                <a:solidFill>
                  <a:schemeClr val="hlink"/>
                </a:solidFill>
                <a:latin typeface="Calibri"/>
                <a:ea typeface="Calibri"/>
                <a:cs typeface="Calibri"/>
                <a:sym typeface="Calibri"/>
                <a:hlinkClick r:id="rId3"/>
              </a:rPr>
              <a:t>https://gptforwork.com/tools/openai-api-and-other-llm-apis-response-time-tracker</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a:p>
            <a:pPr marL="0" lvl="0" indent="0" algn="l" rtl="0">
              <a:spcBef>
                <a:spcPts val="0"/>
              </a:spcBef>
              <a:spcAft>
                <a:spcPts val="0"/>
              </a:spcAft>
              <a:buNone/>
            </a:pPr>
            <a:r>
              <a:rPr lang="en" sz="1000" u="sng">
                <a:solidFill>
                  <a:schemeClr val="hlink"/>
                </a:solidFill>
                <a:latin typeface="Calibri"/>
                <a:ea typeface="Calibri"/>
                <a:cs typeface="Calibri"/>
                <a:sym typeface="Calibri"/>
                <a:hlinkClick r:id="rId4"/>
              </a:rPr>
              <a:t>https://artificialanalysis.ai/models/claude-21#latency</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p:txBody>
      </p:sp>
      <p:sp>
        <p:nvSpPr>
          <p:cNvPr id="121" name="Google Shape;121;p21"/>
          <p:cNvSpPr txBox="1"/>
          <p:nvPr/>
        </p:nvSpPr>
        <p:spPr>
          <a:xfrm>
            <a:off x="76200" y="76200"/>
            <a:ext cx="3926100" cy="2955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1800" b="1">
                <a:solidFill>
                  <a:srgbClr val="0F1419"/>
                </a:solidFill>
                <a:highlight>
                  <a:srgbClr val="FFFFFF"/>
                </a:highlight>
                <a:latin typeface="Calibri"/>
                <a:ea typeface="Calibri"/>
                <a:cs typeface="Calibri"/>
                <a:sym typeface="Calibri"/>
              </a:rPr>
              <a:t>LLM Response Time</a:t>
            </a:r>
            <a:endParaRPr sz="1800" b="1">
              <a:latin typeface="Calibri"/>
              <a:ea typeface="Calibri"/>
              <a:cs typeface="Calibri"/>
              <a:sym typeface="Calibri"/>
            </a:endParaRPr>
          </a:p>
        </p:txBody>
      </p:sp>
      <p:pic>
        <p:nvPicPr>
          <p:cNvPr id="122" name="Google Shape;122;p21"/>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54649" y="1498500"/>
            <a:ext cx="5932150" cy="220137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22"/>
          <p:cNvSpPr txBox="1"/>
          <p:nvPr/>
        </p:nvSpPr>
        <p:spPr>
          <a:xfrm>
            <a:off x="44925" y="537900"/>
            <a:ext cx="4549800" cy="809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27425" tIns="27425" rIns="27425" bIns="27425" anchor="t" anchorCtr="0">
            <a:spAutoFit/>
          </a:bodyPr>
          <a:lstStyle/>
          <a:p>
            <a:pPr marL="0" lvl="0" indent="0" algn="l" rtl="0">
              <a:spcBef>
                <a:spcPts val="0"/>
              </a:spcBef>
              <a:spcAft>
                <a:spcPts val="0"/>
              </a:spcAft>
              <a:buNone/>
            </a:pPr>
            <a:r>
              <a:rPr lang="en" sz="1300">
                <a:solidFill>
                  <a:schemeClr val="dk1"/>
                </a:solidFill>
                <a:latin typeface="Calibri"/>
                <a:ea typeface="Calibri"/>
                <a:cs typeface="Calibri"/>
                <a:sym typeface="Calibri"/>
              </a:rPr>
              <a:t>Andrej Karpathy - llm.c is now as fast as PyTorch</a:t>
            </a:r>
            <a:endParaRPr sz="1300">
              <a:solidFill>
                <a:schemeClr val="dk1"/>
              </a:solidFill>
              <a:latin typeface="Calibri"/>
              <a:ea typeface="Calibri"/>
              <a:cs typeface="Calibri"/>
              <a:sym typeface="Calibri"/>
            </a:endParaRPr>
          </a:p>
          <a:p>
            <a:pPr marL="0" lvl="0" indent="0" algn="l" rtl="0">
              <a:spcBef>
                <a:spcPts val="0"/>
              </a:spcBef>
              <a:spcAft>
                <a:spcPts val="0"/>
              </a:spcAft>
              <a:buNone/>
            </a:pPr>
            <a:r>
              <a:rPr lang="en" sz="1300">
                <a:solidFill>
                  <a:srgbClr val="6AA84F"/>
                </a:solidFill>
                <a:latin typeface="Calibri"/>
                <a:ea typeface="Calibri"/>
                <a:cs typeface="Calibri"/>
                <a:sym typeface="Calibri"/>
              </a:rPr>
              <a:t>"llm.c is now down to 26.2ms/iteration, exactly matching PyTorch (tf32 forward pass). "</a:t>
            </a:r>
            <a:endParaRPr sz="1300">
              <a:solidFill>
                <a:srgbClr val="6AA84F"/>
              </a:solidFill>
              <a:latin typeface="Calibri"/>
              <a:ea typeface="Calibri"/>
              <a:cs typeface="Calibri"/>
              <a:sym typeface="Calibri"/>
            </a:endParaRPr>
          </a:p>
          <a:p>
            <a:pPr marL="0" lvl="0" indent="0" algn="l" rtl="0">
              <a:spcBef>
                <a:spcPts val="0"/>
              </a:spcBef>
              <a:spcAft>
                <a:spcPts val="0"/>
              </a:spcAft>
              <a:buNone/>
            </a:pPr>
            <a:r>
              <a:rPr lang="en" sz="1000" u="sng">
                <a:solidFill>
                  <a:schemeClr val="hlink"/>
                </a:solidFill>
                <a:latin typeface="Calibri"/>
                <a:ea typeface="Calibri"/>
                <a:cs typeface="Calibri"/>
                <a:sym typeface="Calibri"/>
                <a:hlinkClick r:id="rId3"/>
              </a:rPr>
              <a:t>https://twitter.com/karpathy/status/1779272336186978707</a:t>
            </a:r>
            <a:r>
              <a:rPr lang="en" sz="1000">
                <a:solidFill>
                  <a:schemeClr val="dk1"/>
                </a:solidFill>
                <a:latin typeface="Calibri"/>
                <a:ea typeface="Calibri"/>
                <a:cs typeface="Calibri"/>
                <a:sym typeface="Calibri"/>
              </a:rPr>
              <a:t> </a:t>
            </a:r>
            <a:endParaRPr sz="1000">
              <a:latin typeface="Calibri"/>
              <a:ea typeface="Calibri"/>
              <a:cs typeface="Calibri"/>
              <a:sym typeface="Calibri"/>
            </a:endParaRPr>
          </a:p>
        </p:txBody>
      </p:sp>
      <p:sp>
        <p:nvSpPr>
          <p:cNvPr id="128" name="Google Shape;128;p22"/>
          <p:cNvSpPr txBox="1"/>
          <p:nvPr/>
        </p:nvSpPr>
        <p:spPr>
          <a:xfrm>
            <a:off x="76200" y="76200"/>
            <a:ext cx="3926100" cy="2955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1800" b="1">
                <a:solidFill>
                  <a:srgbClr val="0F1419"/>
                </a:solidFill>
                <a:highlight>
                  <a:srgbClr val="FFFFFF"/>
                </a:highlight>
                <a:latin typeface="Calibri"/>
                <a:ea typeface="Calibri"/>
                <a:cs typeface="Calibri"/>
                <a:sym typeface="Calibri"/>
              </a:rPr>
              <a:t>Misc 1</a:t>
            </a:r>
            <a:endParaRPr sz="1800" b="1">
              <a:latin typeface="Calibri"/>
              <a:ea typeface="Calibri"/>
              <a:cs typeface="Calibri"/>
              <a:sym typeface="Calibri"/>
            </a:endParaRPr>
          </a:p>
        </p:txBody>
      </p:sp>
      <p:sp>
        <p:nvSpPr>
          <p:cNvPr id="129" name="Google Shape;129;p22"/>
          <p:cNvSpPr txBox="1"/>
          <p:nvPr/>
        </p:nvSpPr>
        <p:spPr>
          <a:xfrm>
            <a:off x="4662425" y="533400"/>
            <a:ext cx="4408800" cy="1810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27425" tIns="27425" rIns="27425" bIns="27425" anchor="t" anchorCtr="0">
            <a:spAutoFit/>
          </a:bodyPr>
          <a:lstStyle/>
          <a:p>
            <a:pPr marL="0" lvl="0" indent="0" algn="l" rtl="0">
              <a:spcBef>
                <a:spcPts val="0"/>
              </a:spcBef>
              <a:spcAft>
                <a:spcPts val="0"/>
              </a:spcAft>
              <a:buNone/>
            </a:pPr>
            <a:r>
              <a:rPr lang="en" sz="1300">
                <a:solidFill>
                  <a:schemeClr val="dk1"/>
                </a:solidFill>
                <a:latin typeface="Calibri"/>
                <a:ea typeface="Calibri"/>
                <a:cs typeface="Calibri"/>
                <a:sym typeface="Calibri"/>
              </a:rPr>
              <a:t>Sam Altman:</a:t>
            </a:r>
            <a:br>
              <a:rPr lang="en" sz="1300">
                <a:solidFill>
                  <a:schemeClr val="dk1"/>
                </a:solidFill>
                <a:latin typeface="Calibri"/>
                <a:ea typeface="Calibri"/>
                <a:cs typeface="Calibri"/>
                <a:sym typeface="Calibri"/>
              </a:rPr>
            </a:br>
            <a:r>
              <a:rPr lang="en" sz="1300">
                <a:solidFill>
                  <a:schemeClr val="dk1"/>
                </a:solidFill>
                <a:latin typeface="Calibri"/>
                <a:ea typeface="Calibri"/>
                <a:cs typeface="Calibri"/>
                <a:sym typeface="Calibri"/>
              </a:rPr>
              <a:t>GPT-4 now significantly smarter and more pleasant to use</a:t>
            </a:r>
            <a:endParaRPr sz="1300">
              <a:solidFill>
                <a:schemeClr val="dk1"/>
              </a:solidFill>
              <a:latin typeface="Calibri"/>
              <a:ea typeface="Calibri"/>
              <a:cs typeface="Calibri"/>
              <a:sym typeface="Calibri"/>
            </a:endParaRPr>
          </a:p>
          <a:p>
            <a:pPr marL="0" lvl="0" indent="0" algn="l" rtl="0">
              <a:spcBef>
                <a:spcPts val="0"/>
              </a:spcBef>
              <a:spcAft>
                <a:spcPts val="0"/>
              </a:spcAft>
              <a:buNone/>
            </a:pPr>
            <a:r>
              <a:rPr lang="en" sz="1000" u="sng">
                <a:solidFill>
                  <a:schemeClr val="hlink"/>
                </a:solidFill>
                <a:latin typeface="Calibri"/>
                <a:ea typeface="Calibri"/>
                <a:cs typeface="Calibri"/>
                <a:sym typeface="Calibri"/>
                <a:hlinkClick r:id="rId4"/>
              </a:rPr>
              <a:t>https://twitter.com/sama/status/1778578689984270543</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a:p>
            <a:pPr marL="0" lvl="0" indent="0" algn="l" rtl="0">
              <a:spcBef>
                <a:spcPts val="0"/>
              </a:spcBef>
              <a:spcAft>
                <a:spcPts val="0"/>
              </a:spcAft>
              <a:buNone/>
            </a:pPr>
            <a:endParaRPr sz="1300">
              <a:solidFill>
                <a:schemeClr val="dk1"/>
              </a:solidFill>
              <a:latin typeface="Calibri"/>
              <a:ea typeface="Calibri"/>
              <a:cs typeface="Calibri"/>
              <a:sym typeface="Calibri"/>
            </a:endParaRPr>
          </a:p>
          <a:p>
            <a:pPr marL="0" lvl="0" indent="0" algn="l" rtl="0">
              <a:spcBef>
                <a:spcPts val="0"/>
              </a:spcBef>
              <a:spcAft>
                <a:spcPts val="0"/>
              </a:spcAft>
              <a:buNone/>
            </a:pPr>
            <a:r>
              <a:rPr lang="en" sz="1300">
                <a:solidFill>
                  <a:schemeClr val="dk1"/>
                </a:solidFill>
                <a:latin typeface="Calibri"/>
                <a:ea typeface="Calibri"/>
                <a:cs typeface="Calibri"/>
                <a:sym typeface="Calibri"/>
              </a:rPr>
              <a:t>GPT-4-Turbo has reclaimed the No. 1 spot on the Arena leaderboard, outperforming others across diverse domains like Coding, Longer Query, and Multilingual capabilities. It performs even stronger in English-only prompts and conversations containing code snippets.</a:t>
            </a:r>
            <a:endParaRPr sz="1300">
              <a:solidFill>
                <a:schemeClr val="dk1"/>
              </a:solidFill>
              <a:latin typeface="Calibri"/>
              <a:ea typeface="Calibri"/>
              <a:cs typeface="Calibri"/>
              <a:sym typeface="Calibri"/>
            </a:endParaRPr>
          </a:p>
        </p:txBody>
      </p:sp>
      <p:sp>
        <p:nvSpPr>
          <p:cNvPr id="130" name="Google Shape;130;p22"/>
          <p:cNvSpPr txBox="1"/>
          <p:nvPr/>
        </p:nvSpPr>
        <p:spPr>
          <a:xfrm>
            <a:off x="44925" y="1410700"/>
            <a:ext cx="4549800" cy="3349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27425" tIns="27425" rIns="27425" bIns="27425" anchor="t" anchorCtr="0">
            <a:spAutoFit/>
          </a:bodyPr>
          <a:lstStyle/>
          <a:p>
            <a:pPr marL="0" lvl="0" indent="0" algn="l" rtl="0">
              <a:spcBef>
                <a:spcPts val="0"/>
              </a:spcBef>
              <a:spcAft>
                <a:spcPts val="0"/>
              </a:spcAft>
              <a:buNone/>
            </a:pPr>
            <a:r>
              <a:rPr lang="en" sz="1300" b="1">
                <a:solidFill>
                  <a:srgbClr val="FF0000"/>
                </a:solidFill>
                <a:latin typeface="Calibri"/>
                <a:ea typeface="Calibri"/>
                <a:cs typeface="Calibri"/>
                <a:sym typeface="Calibri"/>
              </a:rPr>
              <a:t>135 different text re-ranking models on huggingface</a:t>
            </a:r>
            <a:r>
              <a:rPr lang="en" sz="1300">
                <a:solidFill>
                  <a:schemeClr val="dk1"/>
                </a:solidFill>
                <a:latin typeface="Calibri"/>
                <a:ea typeface="Calibri"/>
                <a:cs typeface="Calibri"/>
                <a:sym typeface="Calibri"/>
              </a:rPr>
              <a:t>:</a:t>
            </a:r>
            <a:br>
              <a:rPr lang="en" sz="1300">
                <a:solidFill>
                  <a:schemeClr val="dk1"/>
                </a:solidFill>
                <a:latin typeface="Calibri"/>
                <a:ea typeface="Calibri"/>
                <a:cs typeface="Calibri"/>
                <a:sym typeface="Calibri"/>
              </a:rPr>
            </a:br>
            <a:r>
              <a:rPr lang="en" sz="1000" u="sng">
                <a:solidFill>
                  <a:schemeClr val="hlink"/>
                </a:solidFill>
                <a:latin typeface="Calibri"/>
                <a:ea typeface="Calibri"/>
                <a:cs typeface="Calibri"/>
                <a:sym typeface="Calibri"/>
                <a:hlinkClick r:id="rId5"/>
              </a:rPr>
              <a:t>https://huggingface.co/models?other=text-reranking</a:t>
            </a:r>
            <a:endParaRPr sz="1000">
              <a:solidFill>
                <a:schemeClr val="dk1"/>
              </a:solidFill>
              <a:latin typeface="Calibri"/>
              <a:ea typeface="Calibri"/>
              <a:cs typeface="Calibri"/>
              <a:sym typeface="Calibri"/>
            </a:endParaRPr>
          </a:p>
          <a:p>
            <a:pPr marL="0" lvl="0" indent="0" algn="l" rtl="0">
              <a:spcBef>
                <a:spcPts val="0"/>
              </a:spcBef>
              <a:spcAft>
                <a:spcPts val="0"/>
              </a:spcAft>
              <a:buNone/>
            </a:pPr>
            <a:r>
              <a:rPr lang="en" sz="1000" u="sng">
                <a:solidFill>
                  <a:schemeClr val="hlink"/>
                </a:solidFill>
                <a:latin typeface="Calibri"/>
                <a:ea typeface="Calibri"/>
                <a:cs typeface="Calibri"/>
                <a:sym typeface="Calibri"/>
                <a:hlinkClick r:id="rId6"/>
              </a:rPr>
              <a:t>https://huggingface.co/models?sort=downloads&amp;search=rerank</a:t>
            </a:r>
            <a:endParaRPr/>
          </a:p>
          <a:p>
            <a:pPr marL="0" lvl="0" indent="0" algn="l" rtl="0">
              <a:spcBef>
                <a:spcPts val="0"/>
              </a:spcBef>
              <a:spcAft>
                <a:spcPts val="0"/>
              </a:spcAft>
              <a:buNone/>
            </a:pPr>
            <a:r>
              <a:rPr lang="en" sz="1000" u="sng">
                <a:solidFill>
                  <a:schemeClr val="hlink"/>
                </a:solidFill>
                <a:latin typeface="Calibri"/>
                <a:ea typeface="Calibri"/>
                <a:cs typeface="Calibri"/>
                <a:sym typeface="Calibri"/>
                <a:hlinkClick r:id="rId7"/>
              </a:rPr>
              <a:t>https://huggingface.co/BAAI/bge-reranker-base</a:t>
            </a:r>
            <a:endParaRPr sz="1000">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endParaRPr sz="900">
              <a:solidFill>
                <a:srgbClr val="6AA84F"/>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900">
                <a:solidFill>
                  <a:srgbClr val="6AA84F"/>
                </a:solidFill>
                <a:latin typeface="Roboto Mono"/>
                <a:ea typeface="Roboto Mono"/>
                <a:cs typeface="Roboto Mono"/>
                <a:sym typeface="Roboto Mono"/>
              </a:rPr>
              <a:t># bge is short for BAAI general embedding.</a:t>
            </a:r>
            <a:endParaRPr sz="900">
              <a:solidFill>
                <a:srgbClr val="6AA84F"/>
              </a:solidFill>
              <a:latin typeface="Roboto Mono"/>
              <a:ea typeface="Roboto Mono"/>
              <a:cs typeface="Roboto Mono"/>
              <a:sym typeface="Roboto Mono"/>
            </a:endParaRPr>
          </a:p>
          <a:p>
            <a:pPr marL="0" marR="0" lvl="0" indent="0" algn="l" rtl="0">
              <a:lnSpc>
                <a:spcPct val="100000"/>
              </a:lnSpc>
              <a:spcBef>
                <a:spcPts val="0"/>
              </a:spcBef>
              <a:spcAft>
                <a:spcPts val="0"/>
              </a:spcAft>
              <a:buNone/>
            </a:pPr>
            <a:endParaRPr sz="900">
              <a:solidFill>
                <a:srgbClr val="6AA84F"/>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a:solidFill>
                  <a:srgbClr val="6AA84F"/>
                </a:solidFill>
                <a:latin typeface="Roboto Mono"/>
                <a:ea typeface="Roboto Mono"/>
                <a:cs typeface="Roboto Mono"/>
                <a:sym typeface="Roboto Mono"/>
              </a:rPr>
              <a:t># pip install -U FlagEmbedding</a:t>
            </a:r>
            <a:endParaRPr sz="900">
              <a:solidFill>
                <a:srgbClr val="6AA84F"/>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endParaRPr sz="900">
              <a:solidFill>
                <a:srgbClr val="3C78D8"/>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a:solidFill>
                  <a:srgbClr val="3C78D8"/>
                </a:solidFill>
                <a:latin typeface="Roboto Mono"/>
                <a:ea typeface="Roboto Mono"/>
                <a:cs typeface="Roboto Mono"/>
                <a:sym typeface="Roboto Mono"/>
              </a:rPr>
              <a:t>from FlagEmbedding import FlagReranker</a:t>
            </a:r>
            <a:endParaRPr sz="900">
              <a:solidFill>
                <a:srgbClr val="3C78D8"/>
              </a:solidFill>
              <a:latin typeface="Roboto Mono"/>
              <a:ea typeface="Roboto Mono"/>
              <a:cs typeface="Roboto Mono"/>
              <a:sym typeface="Roboto Mono"/>
            </a:endParaRPr>
          </a:p>
          <a:p>
            <a:pPr marL="0" lvl="0" indent="0" algn="l" rtl="0">
              <a:spcBef>
                <a:spcPts val="0"/>
              </a:spcBef>
              <a:spcAft>
                <a:spcPts val="0"/>
              </a:spcAft>
              <a:buNone/>
            </a:pPr>
            <a:r>
              <a:rPr lang="en" sz="900">
                <a:solidFill>
                  <a:srgbClr val="3C78D8"/>
                </a:solidFill>
                <a:latin typeface="Roboto Mono"/>
                <a:ea typeface="Roboto Mono"/>
                <a:cs typeface="Roboto Mono"/>
                <a:sym typeface="Roboto Mono"/>
              </a:rPr>
              <a:t>reranker = FlagReranker('</a:t>
            </a:r>
            <a:r>
              <a:rPr lang="en" sz="900">
                <a:solidFill>
                  <a:srgbClr val="CC0000"/>
                </a:solidFill>
                <a:latin typeface="Roboto Mono"/>
                <a:ea typeface="Roboto Mono"/>
                <a:cs typeface="Roboto Mono"/>
                <a:sym typeface="Roboto Mono"/>
              </a:rPr>
              <a:t>BAAI/bge-reranker-large</a:t>
            </a:r>
            <a:r>
              <a:rPr lang="en" sz="900">
                <a:solidFill>
                  <a:srgbClr val="3C78D8"/>
                </a:solidFill>
                <a:latin typeface="Roboto Mono"/>
                <a:ea typeface="Roboto Mono"/>
                <a:cs typeface="Roboto Mono"/>
                <a:sym typeface="Roboto Mono"/>
              </a:rPr>
              <a:t>', use_fp16=True) </a:t>
            </a:r>
            <a:endParaRPr sz="900">
              <a:solidFill>
                <a:srgbClr val="3C78D8"/>
              </a:solidFill>
              <a:latin typeface="Roboto Mono"/>
              <a:ea typeface="Roboto Mono"/>
              <a:cs typeface="Roboto Mono"/>
              <a:sym typeface="Roboto Mono"/>
            </a:endParaRPr>
          </a:p>
          <a:p>
            <a:pPr marL="0" lvl="0" indent="0" algn="l" rtl="0">
              <a:spcBef>
                <a:spcPts val="0"/>
              </a:spcBef>
              <a:spcAft>
                <a:spcPts val="0"/>
              </a:spcAft>
              <a:buNone/>
            </a:pPr>
            <a:endParaRPr sz="900">
              <a:solidFill>
                <a:srgbClr val="3C78D8"/>
              </a:solidFill>
              <a:latin typeface="Roboto Mono"/>
              <a:ea typeface="Roboto Mono"/>
              <a:cs typeface="Roboto Mono"/>
              <a:sym typeface="Roboto Mono"/>
            </a:endParaRPr>
          </a:p>
          <a:p>
            <a:pPr marL="0" lvl="0" indent="0" algn="l" rtl="0">
              <a:spcBef>
                <a:spcPts val="0"/>
              </a:spcBef>
              <a:spcAft>
                <a:spcPts val="0"/>
              </a:spcAft>
              <a:buNone/>
            </a:pPr>
            <a:r>
              <a:rPr lang="en" sz="900">
                <a:solidFill>
                  <a:srgbClr val="3C78D8"/>
                </a:solidFill>
                <a:latin typeface="Roboto Mono"/>
                <a:ea typeface="Roboto Mono"/>
                <a:cs typeface="Roboto Mono"/>
                <a:sym typeface="Roboto Mono"/>
              </a:rPr>
              <a:t>score = reranker.compute_score(['query', 'passage']) </a:t>
            </a:r>
            <a:endParaRPr sz="900">
              <a:solidFill>
                <a:srgbClr val="3C78D8"/>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a:solidFill>
                  <a:srgbClr val="6AA84F"/>
                </a:solidFill>
                <a:latin typeface="Roboto Mono"/>
                <a:ea typeface="Roboto Mono"/>
                <a:cs typeface="Roboto Mono"/>
                <a:sym typeface="Roboto Mono"/>
              </a:rPr>
              <a:t># higher score = more relevant</a:t>
            </a:r>
            <a:endParaRPr sz="900">
              <a:solidFill>
                <a:srgbClr val="6AA84F"/>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a:solidFill>
                  <a:srgbClr val="3C78D8"/>
                </a:solidFill>
                <a:latin typeface="Roboto Mono"/>
                <a:ea typeface="Roboto Mono"/>
                <a:cs typeface="Roboto Mono"/>
                <a:sym typeface="Roboto Mono"/>
              </a:rPr>
              <a:t>print(score)</a:t>
            </a:r>
            <a:endParaRPr sz="900">
              <a:solidFill>
                <a:srgbClr val="3C78D8"/>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endParaRPr sz="900">
              <a:solidFill>
                <a:srgbClr val="3C78D8"/>
              </a:solidFill>
              <a:latin typeface="Roboto Mono"/>
              <a:ea typeface="Roboto Mono"/>
              <a:cs typeface="Roboto Mono"/>
              <a:sym typeface="Roboto Mono"/>
            </a:endParaRPr>
          </a:p>
          <a:p>
            <a:pPr marL="0" lvl="0" indent="0" algn="l" rtl="0">
              <a:spcBef>
                <a:spcPts val="0"/>
              </a:spcBef>
              <a:spcAft>
                <a:spcPts val="0"/>
              </a:spcAft>
              <a:buNone/>
            </a:pPr>
            <a:r>
              <a:rPr lang="en" sz="900">
                <a:solidFill>
                  <a:srgbClr val="6AA84F"/>
                </a:solidFill>
                <a:latin typeface="Roboto Mono"/>
                <a:ea typeface="Roboto Mono"/>
                <a:cs typeface="Roboto Mono"/>
                <a:sym typeface="Roboto Mono"/>
              </a:rPr>
              <a:t># example</a:t>
            </a:r>
            <a:endParaRPr sz="900">
              <a:solidFill>
                <a:srgbClr val="6AA84F"/>
              </a:solidFill>
              <a:latin typeface="Roboto Mono"/>
              <a:ea typeface="Roboto Mono"/>
              <a:cs typeface="Roboto Mono"/>
              <a:sym typeface="Roboto Mono"/>
            </a:endParaRPr>
          </a:p>
          <a:p>
            <a:pPr marL="0" lvl="0" indent="0" algn="l" rtl="0">
              <a:spcBef>
                <a:spcPts val="0"/>
              </a:spcBef>
              <a:spcAft>
                <a:spcPts val="0"/>
              </a:spcAft>
              <a:buNone/>
            </a:pPr>
            <a:r>
              <a:rPr lang="en" sz="900">
                <a:solidFill>
                  <a:srgbClr val="3C78D8"/>
                </a:solidFill>
                <a:latin typeface="Roboto Mono"/>
                <a:ea typeface="Roboto Mono"/>
                <a:cs typeface="Roboto Mono"/>
                <a:sym typeface="Roboto Mono"/>
              </a:rPr>
              <a:t>scores = reranker.compute_score([</a:t>
            </a:r>
            <a:endParaRPr sz="900">
              <a:solidFill>
                <a:srgbClr val="3C78D8"/>
              </a:solidFill>
              <a:latin typeface="Roboto Mono"/>
              <a:ea typeface="Roboto Mono"/>
              <a:cs typeface="Roboto Mono"/>
              <a:sym typeface="Roboto Mono"/>
            </a:endParaRPr>
          </a:p>
          <a:p>
            <a:pPr marL="0" lvl="0" indent="0" algn="l" rtl="0">
              <a:spcBef>
                <a:spcPts val="0"/>
              </a:spcBef>
              <a:spcAft>
                <a:spcPts val="0"/>
              </a:spcAft>
              <a:buNone/>
            </a:pPr>
            <a:r>
              <a:rPr lang="en" sz="900">
                <a:solidFill>
                  <a:srgbClr val="3C78D8"/>
                </a:solidFill>
                <a:latin typeface="Roboto Mono"/>
                <a:ea typeface="Roboto Mono"/>
                <a:cs typeface="Roboto Mono"/>
                <a:sym typeface="Roboto Mono"/>
              </a:rPr>
              <a:t>    ['</a:t>
            </a:r>
            <a:r>
              <a:rPr lang="en" sz="900">
                <a:solidFill>
                  <a:srgbClr val="CC0000"/>
                </a:solidFill>
                <a:latin typeface="Roboto Mono"/>
                <a:ea typeface="Roboto Mono"/>
                <a:cs typeface="Roboto Mono"/>
                <a:sym typeface="Roboto Mono"/>
              </a:rPr>
              <a:t>what is panda?</a:t>
            </a:r>
            <a:r>
              <a:rPr lang="en" sz="900">
                <a:solidFill>
                  <a:srgbClr val="3C78D8"/>
                </a:solidFill>
                <a:latin typeface="Roboto Mono"/>
                <a:ea typeface="Roboto Mono"/>
                <a:cs typeface="Roboto Mono"/>
                <a:sym typeface="Roboto Mono"/>
              </a:rPr>
              <a:t>', '</a:t>
            </a:r>
            <a:r>
              <a:rPr lang="en" sz="900">
                <a:solidFill>
                  <a:srgbClr val="CC0000"/>
                </a:solidFill>
                <a:latin typeface="Roboto Mono"/>
                <a:ea typeface="Roboto Mono"/>
                <a:cs typeface="Roboto Mono"/>
                <a:sym typeface="Roboto Mono"/>
              </a:rPr>
              <a:t>hi</a:t>
            </a:r>
            <a:r>
              <a:rPr lang="en" sz="900">
                <a:solidFill>
                  <a:srgbClr val="3C78D8"/>
                </a:solidFill>
                <a:latin typeface="Roboto Mono"/>
                <a:ea typeface="Roboto Mono"/>
                <a:cs typeface="Roboto Mono"/>
                <a:sym typeface="Roboto Mono"/>
              </a:rPr>
              <a:t>'], </a:t>
            </a:r>
            <a:endParaRPr sz="900">
              <a:solidFill>
                <a:srgbClr val="3C78D8"/>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a:solidFill>
                  <a:srgbClr val="3C78D8"/>
                </a:solidFill>
                <a:latin typeface="Roboto Mono"/>
                <a:ea typeface="Roboto Mono"/>
                <a:cs typeface="Roboto Mono"/>
                <a:sym typeface="Roboto Mono"/>
              </a:rPr>
              <a:t>    ['</a:t>
            </a:r>
            <a:r>
              <a:rPr lang="en" sz="900">
                <a:solidFill>
                  <a:srgbClr val="CC0000"/>
                </a:solidFill>
                <a:latin typeface="Roboto Mono"/>
                <a:ea typeface="Roboto Mono"/>
                <a:cs typeface="Roboto Mono"/>
                <a:sym typeface="Roboto Mono"/>
              </a:rPr>
              <a:t>what is panda?</a:t>
            </a:r>
            <a:r>
              <a:rPr lang="en" sz="900">
                <a:solidFill>
                  <a:srgbClr val="3C78D8"/>
                </a:solidFill>
                <a:latin typeface="Roboto Mono"/>
                <a:ea typeface="Roboto Mono"/>
                <a:cs typeface="Roboto Mono"/>
                <a:sym typeface="Roboto Mono"/>
              </a:rPr>
              <a:t>', '</a:t>
            </a:r>
            <a:r>
              <a:rPr lang="en" sz="900">
                <a:solidFill>
                  <a:srgbClr val="CC0000"/>
                </a:solidFill>
                <a:latin typeface="Roboto Mono"/>
                <a:ea typeface="Roboto Mono"/>
                <a:cs typeface="Roboto Mono"/>
                <a:sym typeface="Roboto Mono"/>
              </a:rPr>
              <a:t>The giant panda (Ailuropoda melanoleuca), sometimes called a panda bear or simply panda, is a bear species endemic to China.</a:t>
            </a:r>
            <a:r>
              <a:rPr lang="en" sz="900">
                <a:solidFill>
                  <a:srgbClr val="3C78D8"/>
                </a:solidFill>
                <a:latin typeface="Roboto Mono"/>
                <a:ea typeface="Roboto Mono"/>
                <a:cs typeface="Roboto Mono"/>
                <a:sym typeface="Roboto Mono"/>
              </a:rPr>
              <a:t>']])</a:t>
            </a:r>
            <a:endParaRPr sz="900">
              <a:solidFill>
                <a:srgbClr val="3C78D8"/>
              </a:solidFill>
              <a:latin typeface="Roboto Mono"/>
              <a:ea typeface="Roboto Mono"/>
              <a:cs typeface="Roboto Mono"/>
              <a:sym typeface="Roboto Mono"/>
            </a:endParaRPr>
          </a:p>
          <a:p>
            <a:pPr marL="0" lvl="0" indent="0" algn="l" rtl="0">
              <a:spcBef>
                <a:spcPts val="0"/>
              </a:spcBef>
              <a:spcAft>
                <a:spcPts val="0"/>
              </a:spcAft>
              <a:buNone/>
            </a:pPr>
            <a:r>
              <a:rPr lang="en" sz="900">
                <a:solidFill>
                  <a:srgbClr val="3C78D8"/>
                </a:solidFill>
                <a:latin typeface="Roboto Mono"/>
                <a:ea typeface="Roboto Mono"/>
                <a:cs typeface="Roboto Mono"/>
                <a:sym typeface="Roboto Mono"/>
              </a:rPr>
              <a:t>print(scores)</a:t>
            </a:r>
            <a:endParaRPr sz="900">
              <a:solidFill>
                <a:srgbClr val="3C78D8"/>
              </a:solidFill>
              <a:latin typeface="Roboto Mono"/>
              <a:ea typeface="Roboto Mono"/>
              <a:cs typeface="Roboto Mono"/>
              <a:sym typeface="Roboto Mono"/>
            </a:endParaRPr>
          </a:p>
        </p:txBody>
      </p:sp>
      <p:sp>
        <p:nvSpPr>
          <p:cNvPr id="131" name="Google Shape;131;p22"/>
          <p:cNvSpPr txBox="1"/>
          <p:nvPr/>
        </p:nvSpPr>
        <p:spPr>
          <a:xfrm>
            <a:off x="4662425" y="2420725"/>
            <a:ext cx="4408800" cy="455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27425" tIns="27425" rIns="27425" bIns="27425" anchor="t" anchorCtr="0">
            <a:spAutoFit/>
          </a:bodyPr>
          <a:lstStyle/>
          <a:p>
            <a:pPr marL="0" lvl="0" indent="0" algn="l" rtl="0">
              <a:spcBef>
                <a:spcPts val="0"/>
              </a:spcBef>
              <a:spcAft>
                <a:spcPts val="0"/>
              </a:spcAft>
              <a:buNone/>
            </a:pPr>
            <a:r>
              <a:rPr lang="en" sz="1300" b="1">
                <a:solidFill>
                  <a:srgbClr val="FF0000"/>
                </a:solidFill>
                <a:latin typeface="Calibri"/>
                <a:ea typeface="Calibri"/>
                <a:cs typeface="Calibri"/>
                <a:sym typeface="Calibri"/>
              </a:rPr>
              <a:t>Gemini 1.5 Pro</a:t>
            </a:r>
            <a:r>
              <a:rPr lang="en" sz="1300">
                <a:solidFill>
                  <a:schemeClr val="dk1"/>
                </a:solidFill>
                <a:latin typeface="Calibri"/>
                <a:ea typeface="Calibri"/>
                <a:cs typeface="Calibri"/>
                <a:sym typeface="Calibri"/>
              </a:rPr>
              <a:t> now understands audio, uses unlimited files, acts on your commands, has JSON mode!</a:t>
            </a:r>
            <a:endParaRPr sz="1000">
              <a:latin typeface="Calibri"/>
              <a:ea typeface="Calibri"/>
              <a:cs typeface="Calibri"/>
              <a:sym typeface="Calibri"/>
            </a:endParaRPr>
          </a:p>
        </p:txBody>
      </p:sp>
      <p:sp>
        <p:nvSpPr>
          <p:cNvPr id="132" name="Google Shape;132;p22"/>
          <p:cNvSpPr txBox="1"/>
          <p:nvPr/>
        </p:nvSpPr>
        <p:spPr>
          <a:xfrm>
            <a:off x="4662068" y="2953554"/>
            <a:ext cx="4408800" cy="393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27425" tIns="27425" rIns="27425" bIns="27425" anchor="t" anchorCtr="0">
            <a:spAutoFit/>
          </a:bodyPr>
          <a:lstStyle/>
          <a:p>
            <a:pPr marL="0" lvl="0" indent="0" algn="l" rtl="0">
              <a:spcBef>
                <a:spcPts val="0"/>
              </a:spcBef>
              <a:spcAft>
                <a:spcPts val="0"/>
              </a:spcAft>
              <a:buNone/>
            </a:pPr>
            <a:r>
              <a:rPr lang="en" sz="1300">
                <a:solidFill>
                  <a:schemeClr val="dk1"/>
                </a:solidFill>
                <a:latin typeface="Calibri"/>
                <a:ea typeface="Calibri"/>
                <a:cs typeface="Calibri"/>
                <a:sym typeface="Calibri"/>
              </a:rPr>
              <a:t>DeepLearning.ai - new lesson: </a:t>
            </a:r>
            <a:r>
              <a:rPr lang="en" sz="1300" b="1">
                <a:solidFill>
                  <a:srgbClr val="FF0000"/>
                </a:solidFill>
                <a:latin typeface="Calibri"/>
                <a:ea typeface="Calibri"/>
                <a:cs typeface="Calibri"/>
                <a:sym typeface="Calibri"/>
              </a:rPr>
              <a:t>Quantization Fundamentals</a:t>
            </a:r>
            <a:endParaRPr sz="1300" b="1">
              <a:solidFill>
                <a:srgbClr val="FF0000"/>
              </a:solidFill>
              <a:latin typeface="Calibri"/>
              <a:ea typeface="Calibri"/>
              <a:cs typeface="Calibri"/>
              <a:sym typeface="Calibri"/>
            </a:endParaRPr>
          </a:p>
          <a:p>
            <a:pPr marL="0" lvl="0" indent="0" algn="l" rtl="0">
              <a:spcBef>
                <a:spcPts val="0"/>
              </a:spcBef>
              <a:spcAft>
                <a:spcPts val="0"/>
              </a:spcAft>
              <a:buNone/>
            </a:pPr>
            <a:r>
              <a:rPr lang="en" sz="900" u="sng">
                <a:solidFill>
                  <a:schemeClr val="hlink"/>
                </a:solidFill>
                <a:latin typeface="Calibri"/>
                <a:ea typeface="Calibri"/>
                <a:cs typeface="Calibri"/>
                <a:sym typeface="Calibri"/>
                <a:hlinkClick r:id="rId8"/>
              </a:rPr>
              <a:t>https://learn.deeplearning.ai/courses/quantization-fundamentals/lesson/1/introduction</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23"/>
          <p:cNvSpPr txBox="1"/>
          <p:nvPr/>
        </p:nvSpPr>
        <p:spPr>
          <a:xfrm>
            <a:off x="76200" y="76200"/>
            <a:ext cx="3926100" cy="2955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1800" b="1">
                <a:solidFill>
                  <a:srgbClr val="0F1419"/>
                </a:solidFill>
                <a:highlight>
                  <a:srgbClr val="FFFFFF"/>
                </a:highlight>
                <a:latin typeface="Calibri"/>
                <a:ea typeface="Calibri"/>
                <a:cs typeface="Calibri"/>
                <a:sym typeface="Calibri"/>
              </a:rPr>
              <a:t>Misc 2</a:t>
            </a:r>
            <a:endParaRPr sz="1800" b="1">
              <a:latin typeface="Calibri"/>
              <a:ea typeface="Calibri"/>
              <a:cs typeface="Calibri"/>
              <a:sym typeface="Calibri"/>
            </a:endParaRPr>
          </a:p>
        </p:txBody>
      </p:sp>
      <p:sp>
        <p:nvSpPr>
          <p:cNvPr id="138" name="Google Shape;138;p23"/>
          <p:cNvSpPr txBox="1"/>
          <p:nvPr/>
        </p:nvSpPr>
        <p:spPr>
          <a:xfrm>
            <a:off x="76193" y="542904"/>
            <a:ext cx="4408800" cy="963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27425" tIns="27425" rIns="27425" bIns="27425" anchor="t" anchorCtr="0">
            <a:spAutoFit/>
          </a:bodyPr>
          <a:lstStyle/>
          <a:p>
            <a:pPr marL="0" lvl="0" indent="0" algn="l" rtl="0">
              <a:spcBef>
                <a:spcPts val="0"/>
              </a:spcBef>
              <a:spcAft>
                <a:spcPts val="0"/>
              </a:spcAft>
              <a:buNone/>
            </a:pPr>
            <a:r>
              <a:rPr lang="en" sz="1300" b="1">
                <a:solidFill>
                  <a:srgbClr val="FF0000"/>
                </a:solidFill>
                <a:latin typeface="Calibri"/>
                <a:ea typeface="Calibri"/>
                <a:cs typeface="Calibri"/>
                <a:sym typeface="Calibri"/>
              </a:rPr>
              <a:t>NSA Publishes Guidance for Strengthening AI System Security</a:t>
            </a:r>
            <a:endParaRPr sz="1300" b="1">
              <a:solidFill>
                <a:srgbClr val="FF0000"/>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Deploying AI Systems Securely</a:t>
            </a:r>
            <a:endParaRPr sz="1300">
              <a:solidFill>
                <a:schemeClr val="dk1"/>
              </a:solidFill>
              <a:latin typeface="Calibri"/>
              <a:ea typeface="Calibri"/>
              <a:cs typeface="Calibri"/>
              <a:sym typeface="Calibri"/>
            </a:endParaRPr>
          </a:p>
          <a:p>
            <a:pPr marL="0" lvl="0" indent="0" algn="l" rtl="0">
              <a:spcBef>
                <a:spcPts val="0"/>
              </a:spcBef>
              <a:spcAft>
                <a:spcPts val="0"/>
              </a:spcAft>
              <a:buNone/>
            </a:pPr>
            <a:r>
              <a:rPr lang="en" sz="1300">
                <a:solidFill>
                  <a:schemeClr val="dk1"/>
                </a:solidFill>
                <a:latin typeface="Calibri"/>
                <a:ea typeface="Calibri"/>
                <a:cs typeface="Calibri"/>
                <a:sym typeface="Calibri"/>
              </a:rPr>
              <a:t>Best Practices for Deploying Secure and Resilient AI Systems</a:t>
            </a:r>
            <a:endParaRPr sz="1300">
              <a:solidFill>
                <a:schemeClr val="dk1"/>
              </a:solidFill>
              <a:latin typeface="Calibri"/>
              <a:ea typeface="Calibri"/>
              <a:cs typeface="Calibri"/>
              <a:sym typeface="Calibri"/>
            </a:endParaRPr>
          </a:p>
          <a:p>
            <a:pPr marL="0" lvl="0" indent="0" algn="l" rtl="0">
              <a:spcBef>
                <a:spcPts val="0"/>
              </a:spcBef>
              <a:spcAft>
                <a:spcPts val="0"/>
              </a:spcAft>
              <a:buNone/>
            </a:pPr>
            <a:r>
              <a:rPr lang="en" sz="1000" u="sng">
                <a:solidFill>
                  <a:schemeClr val="hlink"/>
                </a:solidFill>
                <a:latin typeface="Calibri"/>
                <a:ea typeface="Calibri"/>
                <a:cs typeface="Calibri"/>
                <a:sym typeface="Calibri"/>
                <a:hlinkClick r:id="rId3"/>
              </a:rPr>
              <a:t>https://media.defense.gov/2024/Apr/15/2003439257/-1/-1/0/CSI-DEPLOYING-AI-SYSTEMS-SECURELY.PDF</a:t>
            </a:r>
            <a:r>
              <a:rPr lang="en" sz="1000">
                <a:solidFill>
                  <a:schemeClr val="dk1"/>
                </a:solidFill>
                <a:latin typeface="Calibri"/>
                <a:ea typeface="Calibri"/>
                <a:cs typeface="Calibri"/>
                <a:sym typeface="Calibri"/>
              </a:rPr>
              <a:t> </a:t>
            </a:r>
            <a:endParaRPr sz="700">
              <a:latin typeface="Calibri"/>
              <a:ea typeface="Calibri"/>
              <a:cs typeface="Calibri"/>
              <a:sym typeface="Calibri"/>
            </a:endParaRPr>
          </a:p>
        </p:txBody>
      </p:sp>
      <p:sp>
        <p:nvSpPr>
          <p:cNvPr id="139" name="Google Shape;139;p23"/>
          <p:cNvSpPr txBox="1"/>
          <p:nvPr/>
        </p:nvSpPr>
        <p:spPr>
          <a:xfrm>
            <a:off x="76193" y="1583629"/>
            <a:ext cx="4408800" cy="455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27425" tIns="27425" rIns="27425" bIns="27425" anchor="t" anchorCtr="0">
            <a:spAutoFit/>
          </a:bodyPr>
          <a:lstStyle/>
          <a:p>
            <a:pPr marL="0" lvl="0" indent="0" algn="l" rtl="0">
              <a:spcBef>
                <a:spcPts val="0"/>
              </a:spcBef>
              <a:spcAft>
                <a:spcPts val="0"/>
              </a:spcAft>
              <a:buClr>
                <a:schemeClr val="dk1"/>
              </a:buClr>
              <a:buSzPts val="1100"/>
              <a:buFont typeface="Arial"/>
              <a:buNone/>
            </a:pPr>
            <a:r>
              <a:rPr lang="en" sz="1300" b="1">
                <a:solidFill>
                  <a:srgbClr val="FF0000"/>
                </a:solidFill>
                <a:latin typeface="Calibri"/>
                <a:ea typeface="Calibri"/>
                <a:cs typeface="Calibri"/>
                <a:sym typeface="Calibri"/>
              </a:rPr>
              <a:t>Mistral AI</a:t>
            </a:r>
            <a:r>
              <a:rPr lang="en" sz="1300">
                <a:solidFill>
                  <a:schemeClr val="dk1"/>
                </a:solidFill>
                <a:latin typeface="Calibri"/>
                <a:ea typeface="Calibri"/>
                <a:cs typeface="Calibri"/>
                <a:sym typeface="Calibri"/>
              </a:rPr>
              <a:t> has been speaking to investors about raising several hundred million dollars at a valuation of </a:t>
            </a:r>
            <a:r>
              <a:rPr lang="en" sz="1300" b="1">
                <a:solidFill>
                  <a:srgbClr val="FF0000"/>
                </a:solidFill>
                <a:latin typeface="Calibri"/>
                <a:ea typeface="Calibri"/>
                <a:cs typeface="Calibri"/>
                <a:sym typeface="Calibri"/>
              </a:rPr>
              <a:t>$5 Billion</a:t>
            </a:r>
            <a:endParaRPr sz="700" b="1">
              <a:solidFill>
                <a:srgbClr val="FF0000"/>
              </a:solidFill>
              <a:latin typeface="Calibri"/>
              <a:ea typeface="Calibri"/>
              <a:cs typeface="Calibri"/>
              <a:sym typeface="Calibri"/>
            </a:endParaRPr>
          </a:p>
        </p:txBody>
      </p:sp>
      <p:sp>
        <p:nvSpPr>
          <p:cNvPr id="140" name="Google Shape;140;p23"/>
          <p:cNvSpPr txBox="1"/>
          <p:nvPr/>
        </p:nvSpPr>
        <p:spPr>
          <a:xfrm>
            <a:off x="4653218" y="542904"/>
            <a:ext cx="4408800" cy="455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27425" tIns="27425" rIns="27425" bIns="27425" anchor="t" anchorCtr="0">
            <a:spAutoFit/>
          </a:bodyPr>
          <a:lstStyle/>
          <a:p>
            <a:pPr marL="0" lvl="0" indent="0" algn="l" rtl="0">
              <a:spcBef>
                <a:spcPts val="0"/>
              </a:spcBef>
              <a:spcAft>
                <a:spcPts val="0"/>
              </a:spcAft>
              <a:buClr>
                <a:schemeClr val="dk1"/>
              </a:buClr>
              <a:buSzPts val="1100"/>
              <a:buFont typeface="Arial"/>
              <a:buNone/>
            </a:pPr>
            <a:r>
              <a:rPr lang="en" sz="1300" b="1">
                <a:solidFill>
                  <a:srgbClr val="FF0000"/>
                </a:solidFill>
                <a:latin typeface="Calibri"/>
                <a:ea typeface="Calibri"/>
                <a:cs typeface="Calibri"/>
                <a:sym typeface="Calibri"/>
              </a:rPr>
              <a:t>Training costs </a:t>
            </a:r>
            <a:r>
              <a:rPr lang="en" sz="1300">
                <a:solidFill>
                  <a:schemeClr val="dk1"/>
                </a:solidFill>
                <a:latin typeface="Calibri"/>
                <a:ea typeface="Calibri"/>
                <a:cs typeface="Calibri"/>
                <a:sym typeface="Calibri"/>
              </a:rPr>
              <a:t>for frontier AI models like OpenAI’s GPT-4 and Google’s Gemini Ultra have reached up to $191 Mln</a:t>
            </a:r>
            <a:endParaRPr sz="700" b="1">
              <a:solidFill>
                <a:srgbClr val="FF0000"/>
              </a:solidFill>
              <a:latin typeface="Calibri"/>
              <a:ea typeface="Calibri"/>
              <a:cs typeface="Calibri"/>
              <a:sym typeface="Calibri"/>
            </a:endParaRPr>
          </a:p>
        </p:txBody>
      </p:sp>
      <p:sp>
        <p:nvSpPr>
          <p:cNvPr id="141" name="Google Shape;141;p23"/>
          <p:cNvSpPr txBox="1"/>
          <p:nvPr/>
        </p:nvSpPr>
        <p:spPr>
          <a:xfrm>
            <a:off x="76180" y="2116454"/>
            <a:ext cx="4408800" cy="609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27425" tIns="27425" rIns="27425" bIns="27425" anchor="t" anchorCtr="0">
            <a:spAutoFit/>
          </a:bodyPr>
          <a:lstStyle/>
          <a:p>
            <a:pPr marL="0" lvl="0" indent="0" algn="l" rtl="0">
              <a:spcBef>
                <a:spcPts val="0"/>
              </a:spcBef>
              <a:spcAft>
                <a:spcPts val="0"/>
              </a:spcAft>
              <a:buClr>
                <a:schemeClr val="dk1"/>
              </a:buClr>
              <a:buSzPts val="1100"/>
              <a:buFont typeface="Arial"/>
              <a:buNone/>
            </a:pPr>
            <a:r>
              <a:rPr lang="en" sz="1300" b="1">
                <a:solidFill>
                  <a:srgbClr val="FF0000"/>
                </a:solidFill>
                <a:latin typeface="Calibri"/>
                <a:ea typeface="Calibri"/>
                <a:cs typeface="Calibri"/>
                <a:sym typeface="Calibri"/>
              </a:rPr>
              <a:t>Microsoft VASA-1</a:t>
            </a:r>
            <a:r>
              <a:rPr lang="en" sz="1300">
                <a:solidFill>
                  <a:schemeClr val="dk1"/>
                </a:solidFill>
                <a:latin typeface="Calibri"/>
                <a:ea typeface="Calibri"/>
                <a:cs typeface="Calibri"/>
                <a:sym typeface="Calibri"/>
              </a:rPr>
              <a:t>: </a:t>
            </a:r>
            <a:r>
              <a:rPr lang="en" sz="1200">
                <a:solidFill>
                  <a:schemeClr val="dk1"/>
                </a:solidFill>
                <a:latin typeface="Calibri"/>
                <a:ea typeface="Calibri"/>
                <a:cs typeface="Calibri"/>
                <a:sym typeface="Calibri"/>
              </a:rPr>
              <a:t>Lifelike Audio-Driven real time talking faces - </a:t>
            </a:r>
            <a:endParaRPr sz="1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000" u="sng">
                <a:solidFill>
                  <a:schemeClr val="accent5"/>
                </a:solidFill>
                <a:latin typeface="Calibri"/>
                <a:ea typeface="Calibri"/>
                <a:cs typeface="Calibri"/>
                <a:sym typeface="Calibri"/>
                <a:hlinkClick r:id="rId4">
                  <a:extLst>
                    <a:ext uri="{A12FA001-AC4F-418D-AE19-62706E023703}">
                      <ahyp:hlinkClr xmlns:ahyp="http://schemas.microsoft.com/office/drawing/2018/hyperlinkcolor" val="tx"/>
                    </a:ext>
                  </a:extLst>
                </a:hlinkClick>
              </a:rPr>
              <a:t>https://www.microsoft.com/en-us/research/project/vasa-1/</a:t>
            </a:r>
            <a:endParaRPr sz="10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This is similar to EMO, but real time: </a:t>
            </a:r>
            <a:r>
              <a:rPr lang="en" sz="1000">
                <a:solidFill>
                  <a:schemeClr val="dk1"/>
                </a:solidFill>
                <a:latin typeface="Calibri"/>
                <a:ea typeface="Calibri"/>
                <a:cs typeface="Calibri"/>
                <a:sym typeface="Calibri"/>
              </a:rPr>
              <a:t> </a:t>
            </a:r>
            <a:r>
              <a:rPr lang="en" sz="1000" u="sng">
                <a:solidFill>
                  <a:schemeClr val="hlink"/>
                </a:solidFill>
                <a:latin typeface="Calibri"/>
                <a:ea typeface="Calibri"/>
                <a:cs typeface="Calibri"/>
                <a:sym typeface="Calibri"/>
                <a:hlinkClick r:id="rId5"/>
              </a:rPr>
              <a:t>https://github.com/HumanAIGC</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p:txBody>
      </p:sp>
      <p:pic>
        <p:nvPicPr>
          <p:cNvPr id="142" name="Google Shape;142;p23"/>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490911" y="3022976"/>
            <a:ext cx="3443425" cy="1763749"/>
          </a:xfrm>
          <a:prstGeom prst="rect">
            <a:avLst/>
          </a:prstGeom>
          <a:noFill/>
          <a:ln>
            <a:noFill/>
          </a:ln>
        </p:spPr>
      </p:pic>
      <p:sp>
        <p:nvSpPr>
          <p:cNvPr id="143" name="Google Shape;143;p23"/>
          <p:cNvSpPr txBox="1"/>
          <p:nvPr/>
        </p:nvSpPr>
        <p:spPr>
          <a:xfrm>
            <a:off x="4653218" y="2066904"/>
            <a:ext cx="4408800" cy="1117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27425" tIns="27425" rIns="27425" bIns="27425" anchor="t" anchorCtr="0">
            <a:spAutoFit/>
          </a:bodyPr>
          <a:lstStyle/>
          <a:p>
            <a:pPr marL="0" lvl="0" indent="0" algn="l" rtl="0">
              <a:spcBef>
                <a:spcPts val="0"/>
              </a:spcBef>
              <a:spcAft>
                <a:spcPts val="0"/>
              </a:spcAft>
              <a:buClr>
                <a:schemeClr val="dk1"/>
              </a:buClr>
              <a:buSzPts val="1100"/>
              <a:buFont typeface="Arial"/>
              <a:buNone/>
            </a:pPr>
            <a:r>
              <a:rPr lang="en" sz="1300" b="1">
                <a:solidFill>
                  <a:srgbClr val="FF0000"/>
                </a:solidFill>
                <a:latin typeface="Calibri"/>
                <a:ea typeface="Calibri"/>
                <a:cs typeface="Calibri"/>
                <a:sym typeface="Calibri"/>
              </a:rPr>
              <a:t>U.S. Air Force</a:t>
            </a:r>
            <a:r>
              <a:rPr lang="en" sz="1300">
                <a:solidFill>
                  <a:schemeClr val="dk1"/>
                </a:solidFill>
                <a:latin typeface="Calibri"/>
                <a:ea typeface="Calibri"/>
                <a:cs typeface="Calibri"/>
                <a:sym typeface="Calibri"/>
              </a:rPr>
              <a:t>: an AI controlled jet has successfully outflown a human pilot in a simulated dogfight. This test was managed by </a:t>
            </a:r>
            <a:r>
              <a:rPr lang="en" sz="1300" b="1">
                <a:solidFill>
                  <a:srgbClr val="FF0000"/>
                </a:solidFill>
                <a:latin typeface="Calibri"/>
                <a:ea typeface="Calibri"/>
                <a:cs typeface="Calibri"/>
                <a:sym typeface="Calibri"/>
              </a:rPr>
              <a:t>DARPA</a:t>
            </a:r>
            <a:r>
              <a:rPr lang="en" sz="1300">
                <a:solidFill>
                  <a:schemeClr val="dk1"/>
                </a:solidFill>
                <a:latin typeface="Calibri"/>
                <a:ea typeface="Calibri"/>
                <a:cs typeface="Calibri"/>
                <a:sym typeface="Calibri"/>
              </a:rPr>
              <a:t> (Defense Advanced Research Projects Agency)</a:t>
            </a:r>
            <a:endParaRPr sz="1300">
              <a:solidFill>
                <a:schemeClr val="dk1"/>
              </a:solidFill>
              <a:latin typeface="Calibri"/>
              <a:ea typeface="Calibri"/>
              <a:cs typeface="Calibri"/>
              <a:sym typeface="Calibri"/>
            </a:endParaRPr>
          </a:p>
          <a:p>
            <a:pPr marL="457200" lvl="0" indent="-292100" algn="l" rtl="0">
              <a:spcBef>
                <a:spcPts val="0"/>
              </a:spcBef>
              <a:spcAft>
                <a:spcPts val="0"/>
              </a:spcAft>
              <a:buSzPts val="1000"/>
              <a:buFont typeface="Calibri"/>
              <a:buChar char="●"/>
            </a:pPr>
            <a:r>
              <a:rPr lang="en" sz="1000" u="sng">
                <a:solidFill>
                  <a:schemeClr val="hlink"/>
                </a:solidFill>
                <a:latin typeface="Calibri"/>
                <a:ea typeface="Calibri"/>
                <a:cs typeface="Calibri"/>
                <a:sym typeface="Calibri"/>
                <a:hlinkClick r:id="rId7"/>
              </a:rPr>
              <a:t>https://www.edwards.af.mil/News/Article-View/Article/3744695/usaf-test-pilot-school-and-darpa-announce-breakthrough-in-aerospace-machine-lea/</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a:p>
            <a:pPr marL="457200" lvl="0" indent="-292100" algn="l" rtl="0">
              <a:spcBef>
                <a:spcPts val="0"/>
              </a:spcBef>
              <a:spcAft>
                <a:spcPts val="0"/>
              </a:spcAft>
              <a:buSzPts val="1000"/>
              <a:buFont typeface="Calibri"/>
              <a:buChar char="●"/>
            </a:pPr>
            <a:r>
              <a:rPr lang="en" sz="1000" u="sng">
                <a:solidFill>
                  <a:schemeClr val="hlink"/>
                </a:solidFill>
                <a:latin typeface="Calibri"/>
                <a:ea typeface="Calibri"/>
                <a:cs typeface="Calibri"/>
                <a:sym typeface="Calibri"/>
                <a:hlinkClick r:id="rId8"/>
              </a:rPr>
              <a:t>https://www.youtube.com/watch?v=C8yjtaZfNCw</a:t>
            </a:r>
            <a:r>
              <a:rPr lang="en" sz="1000">
                <a:solidFill>
                  <a:schemeClr val="dk1"/>
                </a:solidFill>
                <a:latin typeface="Calibri"/>
                <a:ea typeface="Calibri"/>
                <a:cs typeface="Calibri"/>
                <a:sym typeface="Calibri"/>
              </a:rPr>
              <a:t> - video</a:t>
            </a:r>
            <a:endParaRPr sz="1000">
              <a:solidFill>
                <a:schemeClr val="dk1"/>
              </a:solidFill>
              <a:latin typeface="Calibri"/>
              <a:ea typeface="Calibri"/>
              <a:cs typeface="Calibri"/>
              <a:sym typeface="Calibri"/>
            </a:endParaRPr>
          </a:p>
        </p:txBody>
      </p:sp>
      <p:pic>
        <p:nvPicPr>
          <p:cNvPr id="144" name="Google Shape;144;p23"/>
          <p:cNvPicPr preferRelativeResize="0"/>
          <p:nvPr/>
        </p:nvPicPr>
        <p:blipFill>
          <a:blip r:embed="rId9" cstate="email">
            <a:alphaModFix/>
            <a:extLst>
              <a:ext uri="{28A0092B-C50C-407E-A947-70E740481C1C}">
                <a14:useLocalDpi xmlns:a14="http://schemas.microsoft.com/office/drawing/2010/main"/>
              </a:ext>
            </a:extLst>
          </a:blip>
          <a:stretch>
            <a:fillRect/>
          </a:stretch>
        </p:blipFill>
        <p:spPr>
          <a:xfrm>
            <a:off x="4653225" y="3231050"/>
            <a:ext cx="4408801" cy="1857808"/>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24"/>
          <p:cNvSpPr txBox="1"/>
          <p:nvPr/>
        </p:nvSpPr>
        <p:spPr>
          <a:xfrm>
            <a:off x="76200" y="457400"/>
            <a:ext cx="4619100" cy="4580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27425" tIns="27425" rIns="27425" bIns="27425" anchor="t" anchorCtr="0">
            <a:spAutoFit/>
          </a:bodyPr>
          <a:lstStyle/>
          <a:p>
            <a:pPr marL="0" lvl="0" indent="0" algn="l"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US government now requires all the agencies of vederal government to name Chief AI Officers.</a:t>
            </a: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000" u="sng">
                <a:solidFill>
                  <a:schemeClr val="accent5"/>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https://www.shrm.org/topics-tools/news/inclusion-equity-diversity/federal-government-commits-to-ai-fairness</a:t>
            </a:r>
            <a:r>
              <a:rPr lang="en" sz="1000">
                <a:solidFill>
                  <a:schemeClr val="dk1"/>
                </a:solidFill>
                <a:latin typeface="Calibri"/>
                <a:ea typeface="Calibri"/>
                <a:cs typeface="Calibri"/>
                <a:sym typeface="Calibri"/>
              </a:rPr>
              <a:t> </a:t>
            </a: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Finding a specialized AI executive is rapidly becoming as critical </a:t>
            </a:r>
            <a:endParaRPr sz="1300">
              <a:solidFill>
                <a:schemeClr val="dk1"/>
              </a:solidFill>
              <a:latin typeface="Calibri"/>
              <a:ea typeface="Calibri"/>
              <a:cs typeface="Calibri"/>
              <a:sym typeface="Calibri"/>
            </a:endParaRPr>
          </a:p>
          <a:p>
            <a:pPr marL="0" lvl="0" indent="0" algn="l" rtl="0">
              <a:spcBef>
                <a:spcPts val="0"/>
              </a:spcBef>
              <a:spcAft>
                <a:spcPts val="0"/>
              </a:spcAft>
              <a:buNone/>
            </a:pPr>
            <a:r>
              <a:rPr lang="en" sz="1300">
                <a:solidFill>
                  <a:schemeClr val="dk1"/>
                </a:solidFill>
                <a:latin typeface="Calibri"/>
                <a:ea typeface="Calibri"/>
                <a:cs typeface="Calibri"/>
                <a:sym typeface="Calibri"/>
              </a:rPr>
              <a:t>as the roles of CFO or CMO. </a:t>
            </a:r>
            <a:r>
              <a:rPr lang="en" sz="1300" b="1">
                <a:solidFill>
                  <a:srgbClr val="FF0000"/>
                </a:solidFill>
                <a:latin typeface="Calibri"/>
                <a:ea typeface="Calibri"/>
                <a:cs typeface="Calibri"/>
                <a:sym typeface="Calibri"/>
              </a:rPr>
              <a:t>The CAIO will likely be the most transformative C-suite recruit yet</a:t>
            </a:r>
            <a:r>
              <a:rPr lang="en" sz="1300">
                <a:solidFill>
                  <a:schemeClr val="dk1"/>
                </a:solidFill>
                <a:latin typeface="Calibri"/>
                <a:ea typeface="Calibri"/>
                <a:cs typeface="Calibri"/>
                <a:sym typeface="Calibri"/>
              </a:rPr>
              <a:t>. CAIO must operate as C-suite peers, not subordinate managers. </a:t>
            </a: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What are the qualities of a rare individual to blend new technical</a:t>
            </a: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vision with strategic foresight?</a:t>
            </a:r>
            <a:endParaRPr sz="1300">
              <a:solidFill>
                <a:schemeClr val="dk1"/>
              </a:solidFill>
              <a:latin typeface="Calibri"/>
              <a:ea typeface="Calibri"/>
              <a:cs typeface="Calibri"/>
              <a:sym typeface="Calibri"/>
            </a:endParaRPr>
          </a:p>
          <a:p>
            <a:pPr marL="457200" lvl="0" indent="-304800" algn="l" rtl="0">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Craft an AI Vision and Strategy</a:t>
            </a:r>
            <a:endParaRPr sz="1200">
              <a:solidFill>
                <a:srgbClr val="3C78D8"/>
              </a:solidFill>
              <a:latin typeface="Calibri"/>
              <a:ea typeface="Calibri"/>
              <a:cs typeface="Calibri"/>
              <a:sym typeface="Calibri"/>
            </a:endParaRPr>
          </a:p>
          <a:p>
            <a:pPr marL="457200" lvl="0" indent="-304800" algn="l" rtl="0">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Scouting Use Cases and Feasibility</a:t>
            </a:r>
            <a:endParaRPr sz="1200">
              <a:solidFill>
                <a:srgbClr val="3C78D8"/>
              </a:solidFill>
              <a:latin typeface="Calibri"/>
              <a:ea typeface="Calibri"/>
              <a:cs typeface="Calibri"/>
              <a:sym typeface="Calibri"/>
            </a:endParaRPr>
          </a:p>
          <a:p>
            <a:pPr marL="457200" lvl="0" indent="-304800" algn="l" rtl="0">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Separate hype from reality</a:t>
            </a:r>
            <a:endParaRPr sz="1200">
              <a:solidFill>
                <a:srgbClr val="3C78D8"/>
              </a:solidFill>
              <a:latin typeface="Calibri"/>
              <a:ea typeface="Calibri"/>
              <a:cs typeface="Calibri"/>
              <a:sym typeface="Calibri"/>
            </a:endParaRPr>
          </a:p>
          <a:p>
            <a:pPr marL="457200" lvl="0" indent="-304800" algn="l" rtl="0">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Communicate the intricacies and possibilities of AI</a:t>
            </a:r>
            <a:endParaRPr sz="1200">
              <a:solidFill>
                <a:srgbClr val="3C78D8"/>
              </a:solidFill>
              <a:latin typeface="Calibri"/>
              <a:ea typeface="Calibri"/>
              <a:cs typeface="Calibri"/>
              <a:sym typeface="Calibri"/>
            </a:endParaRPr>
          </a:p>
          <a:p>
            <a:pPr marL="457200" lvl="0" indent="-304800" algn="l" rtl="0">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Get key stakeholders on board</a:t>
            </a:r>
            <a:endParaRPr sz="1200">
              <a:solidFill>
                <a:srgbClr val="3C78D8"/>
              </a:solidFill>
              <a:latin typeface="Calibri"/>
              <a:ea typeface="Calibri"/>
              <a:cs typeface="Calibri"/>
              <a:sym typeface="Calibri"/>
            </a:endParaRPr>
          </a:p>
          <a:p>
            <a:pPr marL="457200" lvl="0" indent="-304800" algn="l" rtl="0">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Recruit right people (talent gap)</a:t>
            </a:r>
            <a:endParaRPr sz="1200">
              <a:solidFill>
                <a:srgbClr val="3C78D8"/>
              </a:solidFill>
              <a:latin typeface="Calibri"/>
              <a:ea typeface="Calibri"/>
              <a:cs typeface="Calibri"/>
              <a:sym typeface="Calibri"/>
            </a:endParaRPr>
          </a:p>
          <a:p>
            <a:pPr marL="457200" lvl="0" indent="-304800" algn="l" rtl="0">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Evangelizing and Education</a:t>
            </a:r>
            <a:endParaRPr sz="1200">
              <a:solidFill>
                <a:srgbClr val="3C78D8"/>
              </a:solidFill>
              <a:latin typeface="Calibri"/>
              <a:ea typeface="Calibri"/>
              <a:cs typeface="Calibri"/>
              <a:sym typeface="Calibri"/>
            </a:endParaRPr>
          </a:p>
          <a:p>
            <a:pPr marL="457200" lvl="0" indent="-304800" algn="l" rtl="0">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Governance and Risk Management</a:t>
            </a:r>
            <a:endParaRPr sz="1200">
              <a:solidFill>
                <a:srgbClr val="3C78D8"/>
              </a:solidFill>
              <a:latin typeface="Calibri"/>
              <a:ea typeface="Calibri"/>
              <a:cs typeface="Calibri"/>
              <a:sym typeface="Calibri"/>
            </a:endParaRPr>
          </a:p>
          <a:p>
            <a:pPr marL="457200" lvl="0" indent="-304800" algn="l" rtl="0">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Proactively apply AI for the benefit of enterprise</a:t>
            </a:r>
            <a:endParaRPr sz="1200">
              <a:solidFill>
                <a:srgbClr val="3C78D8"/>
              </a:solidFill>
              <a:latin typeface="Calibri"/>
              <a:ea typeface="Calibri"/>
              <a:cs typeface="Calibri"/>
              <a:sym typeface="Calibri"/>
            </a:endParaRPr>
          </a:p>
          <a:p>
            <a:pPr marL="457200" lvl="0" indent="-304800" algn="l" rtl="0">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Cross-disciplinary strategic thinking</a:t>
            </a:r>
            <a:endParaRPr sz="1200">
              <a:solidFill>
                <a:srgbClr val="3C78D8"/>
              </a:solidFill>
              <a:latin typeface="Calibri"/>
              <a:ea typeface="Calibri"/>
              <a:cs typeface="Calibri"/>
              <a:sym typeface="Calibri"/>
            </a:endParaRPr>
          </a:p>
          <a:p>
            <a:pPr marL="457200" lvl="0" indent="-304800" algn="l" rtl="0">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Avoid the leadership traps</a:t>
            </a:r>
            <a:endParaRPr sz="1200">
              <a:solidFill>
                <a:srgbClr val="3C78D8"/>
              </a:solidFill>
              <a:latin typeface="Calibri"/>
              <a:ea typeface="Calibri"/>
              <a:cs typeface="Calibri"/>
              <a:sym typeface="Calibri"/>
            </a:endParaRPr>
          </a:p>
          <a:p>
            <a:pPr marL="457200" lvl="0" indent="-304800" algn="l" rtl="0">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Avoid budget/fires battles</a:t>
            </a:r>
            <a:endParaRPr sz="1200">
              <a:solidFill>
                <a:srgbClr val="3C78D8"/>
              </a:solidFill>
              <a:latin typeface="Calibri"/>
              <a:ea typeface="Calibri"/>
              <a:cs typeface="Calibri"/>
              <a:sym typeface="Calibri"/>
            </a:endParaRPr>
          </a:p>
        </p:txBody>
      </p:sp>
      <p:sp>
        <p:nvSpPr>
          <p:cNvPr id="150" name="Google Shape;150;p24"/>
          <p:cNvSpPr txBox="1"/>
          <p:nvPr/>
        </p:nvSpPr>
        <p:spPr>
          <a:xfrm>
            <a:off x="76200" y="76200"/>
            <a:ext cx="3926100" cy="2955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1800" b="1">
                <a:solidFill>
                  <a:srgbClr val="0F1419"/>
                </a:solidFill>
                <a:highlight>
                  <a:srgbClr val="FFFFFF"/>
                </a:highlight>
                <a:latin typeface="Calibri"/>
                <a:ea typeface="Calibri"/>
                <a:cs typeface="Calibri"/>
                <a:sym typeface="Calibri"/>
              </a:rPr>
              <a:t>The Rise Of The Chief AI Officer (CAIO)</a:t>
            </a:r>
            <a:endParaRPr sz="1800" b="1">
              <a:latin typeface="Calibri"/>
              <a:ea typeface="Calibri"/>
              <a:cs typeface="Calibri"/>
              <a:sym typeface="Calibri"/>
            </a:endParaRPr>
          </a:p>
        </p:txBody>
      </p:sp>
      <p:sp>
        <p:nvSpPr>
          <p:cNvPr id="151" name="Google Shape;151;p24"/>
          <p:cNvSpPr txBox="1"/>
          <p:nvPr/>
        </p:nvSpPr>
        <p:spPr>
          <a:xfrm>
            <a:off x="4798100" y="457400"/>
            <a:ext cx="4256700" cy="3903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27425" tIns="27425" rIns="27425" bIns="27425" anchor="t" anchorCtr="0">
            <a:spAutoFit/>
          </a:bodyPr>
          <a:lstStyle/>
          <a:p>
            <a:pPr marL="0" lvl="0" indent="0" algn="l" rtl="0">
              <a:spcBef>
                <a:spcPts val="0"/>
              </a:spcBef>
              <a:spcAft>
                <a:spcPts val="0"/>
              </a:spcAft>
              <a:buNone/>
            </a:pPr>
            <a:r>
              <a:rPr lang="en" sz="1300">
                <a:solidFill>
                  <a:schemeClr val="dk1"/>
                </a:solidFill>
                <a:latin typeface="Calibri"/>
                <a:ea typeface="Calibri"/>
                <a:cs typeface="Calibri"/>
                <a:sym typeface="Calibri"/>
              </a:rPr>
              <a:t>AI landscape is </a:t>
            </a:r>
            <a:r>
              <a:rPr lang="en" sz="1300" b="1">
                <a:solidFill>
                  <a:srgbClr val="FF0000"/>
                </a:solidFill>
                <a:latin typeface="Calibri"/>
                <a:ea typeface="Calibri"/>
                <a:cs typeface="Calibri"/>
                <a:sym typeface="Calibri"/>
              </a:rPr>
              <a:t>evolving at an unprecedented pace.</a:t>
            </a:r>
            <a:r>
              <a:rPr lang="en" sz="1300">
                <a:solidFill>
                  <a:schemeClr val="dk1"/>
                </a:solidFill>
                <a:latin typeface="Calibri"/>
                <a:ea typeface="Calibri"/>
                <a:cs typeface="Calibri"/>
                <a:sym typeface="Calibri"/>
              </a:rPr>
              <a:t> </a:t>
            </a:r>
            <a:endParaRPr sz="1300">
              <a:solidFill>
                <a:schemeClr val="dk1"/>
              </a:solidFill>
              <a:latin typeface="Calibri"/>
              <a:ea typeface="Calibri"/>
              <a:cs typeface="Calibri"/>
              <a:sym typeface="Calibri"/>
            </a:endParaRPr>
          </a:p>
          <a:p>
            <a:pPr marL="0" lvl="0" indent="0" algn="l" rtl="0">
              <a:spcBef>
                <a:spcPts val="0"/>
              </a:spcBef>
              <a:spcAft>
                <a:spcPts val="0"/>
              </a:spcAft>
              <a:buNone/>
            </a:pPr>
            <a:endParaRPr sz="1300">
              <a:solidFill>
                <a:schemeClr val="dk1"/>
              </a:solidFill>
              <a:latin typeface="Calibri"/>
              <a:ea typeface="Calibri"/>
              <a:cs typeface="Calibri"/>
              <a:sym typeface="Calibri"/>
            </a:endParaRPr>
          </a:p>
          <a:p>
            <a:pPr marL="0" lvl="0" indent="0" algn="l" rtl="0">
              <a:spcBef>
                <a:spcPts val="0"/>
              </a:spcBef>
              <a:spcAft>
                <a:spcPts val="0"/>
              </a:spcAft>
              <a:buNone/>
            </a:pPr>
            <a:r>
              <a:rPr lang="en" sz="1300">
                <a:solidFill>
                  <a:schemeClr val="dk1"/>
                </a:solidFill>
                <a:latin typeface="Calibri"/>
                <a:ea typeface="Calibri"/>
                <a:cs typeface="Calibri"/>
                <a:sym typeface="Calibri"/>
              </a:rPr>
              <a:t>The </a:t>
            </a:r>
            <a:r>
              <a:rPr lang="en" sz="1300" b="1">
                <a:solidFill>
                  <a:srgbClr val="FF0000"/>
                </a:solidFill>
                <a:latin typeface="Calibri"/>
                <a:ea typeface="Calibri"/>
                <a:cs typeface="Calibri"/>
                <a:sym typeface="Calibri"/>
              </a:rPr>
              <a:t>complexity and pace of AI</a:t>
            </a:r>
            <a:r>
              <a:rPr lang="en" sz="1300">
                <a:solidFill>
                  <a:schemeClr val="dk1"/>
                </a:solidFill>
                <a:latin typeface="Calibri"/>
                <a:ea typeface="Calibri"/>
                <a:cs typeface="Calibri"/>
                <a:sym typeface="Calibri"/>
              </a:rPr>
              <a:t> system development make</a:t>
            </a:r>
            <a:endParaRPr sz="1300">
              <a:solidFill>
                <a:schemeClr val="dk1"/>
              </a:solidFill>
              <a:latin typeface="Calibri"/>
              <a:ea typeface="Calibri"/>
              <a:cs typeface="Calibri"/>
              <a:sym typeface="Calibri"/>
            </a:endParaRPr>
          </a:p>
          <a:p>
            <a:pPr marL="0" lvl="0" indent="0" algn="l" rtl="0">
              <a:spcBef>
                <a:spcPts val="0"/>
              </a:spcBef>
              <a:spcAft>
                <a:spcPts val="0"/>
              </a:spcAft>
              <a:buNone/>
            </a:pPr>
            <a:r>
              <a:rPr lang="en" sz="1300">
                <a:solidFill>
                  <a:schemeClr val="dk1"/>
                </a:solidFill>
                <a:latin typeface="Calibri"/>
                <a:ea typeface="Calibri"/>
                <a:cs typeface="Calibri"/>
                <a:sym typeface="Calibri"/>
              </a:rPr>
              <a:t>it </a:t>
            </a:r>
            <a:r>
              <a:rPr lang="en" sz="1300" b="1">
                <a:solidFill>
                  <a:srgbClr val="6AA84F"/>
                </a:solidFill>
                <a:latin typeface="Calibri"/>
                <a:ea typeface="Calibri"/>
                <a:cs typeface="Calibri"/>
                <a:sym typeface="Calibri"/>
              </a:rPr>
              <a:t>nearly impossible for existing executives to master </a:t>
            </a:r>
            <a:r>
              <a:rPr lang="en" sz="1300">
                <a:solidFill>
                  <a:schemeClr val="dk1"/>
                </a:solidFill>
                <a:latin typeface="Calibri"/>
                <a:ea typeface="Calibri"/>
                <a:cs typeface="Calibri"/>
                <a:sym typeface="Calibri"/>
              </a:rPr>
              <a:t>while still focusing on their core responsibilities.</a:t>
            </a:r>
            <a:endParaRPr sz="1300">
              <a:solidFill>
                <a:schemeClr val="dk1"/>
              </a:solidFill>
              <a:latin typeface="Calibri"/>
              <a:ea typeface="Calibri"/>
              <a:cs typeface="Calibri"/>
              <a:sym typeface="Calibri"/>
            </a:endParaRPr>
          </a:p>
          <a:p>
            <a:pPr marL="0" lvl="0" indent="0" algn="l" rtl="0">
              <a:spcBef>
                <a:spcPts val="0"/>
              </a:spcBef>
              <a:spcAft>
                <a:spcPts val="0"/>
              </a:spcAft>
              <a:buNone/>
            </a:pPr>
            <a:endParaRPr sz="1300">
              <a:solidFill>
                <a:schemeClr val="dk1"/>
              </a:solidFill>
              <a:latin typeface="Calibri"/>
              <a:ea typeface="Calibri"/>
              <a:cs typeface="Calibri"/>
              <a:sym typeface="Calibri"/>
            </a:endParaRPr>
          </a:p>
          <a:p>
            <a:pPr marL="0" lvl="0" indent="0" algn="l" rtl="0">
              <a:spcBef>
                <a:spcPts val="0"/>
              </a:spcBef>
              <a:spcAft>
                <a:spcPts val="0"/>
              </a:spcAft>
              <a:buNone/>
            </a:pPr>
            <a:r>
              <a:rPr lang="en" sz="1300" b="1">
                <a:solidFill>
                  <a:srgbClr val="FF0000"/>
                </a:solidFill>
                <a:latin typeface="Calibri"/>
                <a:ea typeface="Calibri"/>
                <a:cs typeface="Calibri"/>
                <a:sym typeface="Calibri"/>
              </a:rPr>
              <a:t>A CAIO offers a strategic advantage</a:t>
            </a:r>
            <a:r>
              <a:rPr lang="en" sz="1300">
                <a:solidFill>
                  <a:schemeClr val="dk1"/>
                </a:solidFill>
                <a:latin typeface="Calibri"/>
                <a:ea typeface="Calibri"/>
                <a:cs typeface="Calibri"/>
                <a:sym typeface="Calibri"/>
              </a:rPr>
              <a:t>, guiding an organization through the complexities of AI integration.</a:t>
            </a:r>
            <a:endParaRPr sz="1300">
              <a:solidFill>
                <a:schemeClr val="dk1"/>
              </a:solidFill>
              <a:latin typeface="Calibri"/>
              <a:ea typeface="Calibri"/>
              <a:cs typeface="Calibri"/>
              <a:sym typeface="Calibri"/>
            </a:endParaRPr>
          </a:p>
          <a:p>
            <a:pPr marL="0" lvl="0" indent="0" algn="l" rtl="0">
              <a:spcBef>
                <a:spcPts val="0"/>
              </a:spcBef>
              <a:spcAft>
                <a:spcPts val="0"/>
              </a:spcAft>
              <a:buNone/>
            </a:pPr>
            <a:endParaRPr sz="1300">
              <a:solidFill>
                <a:schemeClr val="dk1"/>
              </a:solidFill>
              <a:latin typeface="Calibri"/>
              <a:ea typeface="Calibri"/>
              <a:cs typeface="Calibri"/>
              <a:sym typeface="Calibri"/>
            </a:endParaRPr>
          </a:p>
          <a:p>
            <a:pPr marL="0" lvl="0" indent="0" algn="l" rtl="0">
              <a:spcBef>
                <a:spcPts val="0"/>
              </a:spcBef>
              <a:spcAft>
                <a:spcPts val="0"/>
              </a:spcAft>
              <a:buNone/>
            </a:pPr>
            <a:r>
              <a:rPr lang="en" sz="1300">
                <a:solidFill>
                  <a:schemeClr val="dk1"/>
                </a:solidFill>
                <a:latin typeface="Calibri"/>
                <a:ea typeface="Calibri"/>
                <a:cs typeface="Calibri"/>
                <a:sym typeface="Calibri"/>
              </a:rPr>
              <a:t>Where to look for the Right CAIO Candidates?</a:t>
            </a:r>
            <a:endParaRPr sz="1300">
              <a:solidFill>
                <a:schemeClr val="dk1"/>
              </a:solidFill>
              <a:latin typeface="Calibri"/>
              <a:ea typeface="Calibri"/>
              <a:cs typeface="Calibri"/>
              <a:sym typeface="Calibri"/>
            </a:endParaRPr>
          </a:p>
          <a:p>
            <a:pPr marL="457200" lvl="0" indent="-304800" algn="l" rtl="0">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Seasoned AI/ML</a:t>
            </a:r>
            <a:endParaRPr sz="1200">
              <a:solidFill>
                <a:srgbClr val="3C78D8"/>
              </a:solidFill>
              <a:latin typeface="Calibri"/>
              <a:ea typeface="Calibri"/>
              <a:cs typeface="Calibri"/>
              <a:sym typeface="Calibri"/>
            </a:endParaRPr>
          </a:p>
          <a:p>
            <a:pPr marL="457200" lvl="0" indent="-304800" algn="l" rtl="0">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Cross-Disciplinary</a:t>
            </a:r>
            <a:endParaRPr sz="1200">
              <a:solidFill>
                <a:srgbClr val="3C78D8"/>
              </a:solidFill>
              <a:latin typeface="Calibri"/>
              <a:ea typeface="Calibri"/>
              <a:cs typeface="Calibri"/>
              <a:sym typeface="Calibri"/>
            </a:endParaRPr>
          </a:p>
          <a:p>
            <a:pPr marL="457200" lvl="0" indent="-304800" algn="l" rtl="0">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Strategic Innovators</a:t>
            </a:r>
            <a:endParaRPr sz="1200">
              <a:solidFill>
                <a:srgbClr val="3C78D8"/>
              </a:solidFill>
              <a:latin typeface="Calibri"/>
              <a:ea typeface="Calibri"/>
              <a:cs typeface="Calibri"/>
              <a:sym typeface="Calibri"/>
            </a:endParaRPr>
          </a:p>
          <a:p>
            <a:pPr marL="457200" lvl="0" indent="-304800" algn="l" rtl="0">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Transformation Trailblazers</a:t>
            </a:r>
            <a:endParaRPr sz="1200">
              <a:solidFill>
                <a:srgbClr val="3C78D8"/>
              </a:solidFill>
              <a:latin typeface="Calibri"/>
              <a:ea typeface="Calibri"/>
              <a:cs typeface="Calibri"/>
              <a:sym typeface="Calibri"/>
            </a:endParaRPr>
          </a:p>
          <a:p>
            <a:pPr marL="0" lvl="0" indent="0" algn="l" rtl="0">
              <a:spcBef>
                <a:spcPts val="0"/>
              </a:spcBef>
              <a:spcAft>
                <a:spcPts val="0"/>
              </a:spcAft>
              <a:buNone/>
            </a:pPr>
            <a:endParaRPr sz="1300">
              <a:solidFill>
                <a:schemeClr val="dk1"/>
              </a:solidFill>
              <a:latin typeface="Calibri"/>
              <a:ea typeface="Calibri"/>
              <a:cs typeface="Calibri"/>
              <a:sym typeface="Calibri"/>
            </a:endParaRPr>
          </a:p>
          <a:p>
            <a:pPr marL="0" lvl="0" indent="0" algn="l" rtl="0">
              <a:spcBef>
                <a:spcPts val="0"/>
              </a:spcBef>
              <a:spcAft>
                <a:spcPts val="0"/>
              </a:spcAft>
              <a:buNone/>
            </a:pPr>
            <a:r>
              <a:rPr lang="en" sz="1300">
                <a:solidFill>
                  <a:schemeClr val="dk1"/>
                </a:solidFill>
                <a:latin typeface="Calibri"/>
                <a:ea typeface="Calibri"/>
                <a:cs typeface="Calibri"/>
                <a:sym typeface="Calibri"/>
              </a:rPr>
              <a:t>The benchmarks for an exceptional CAIO will sharpen over time.</a:t>
            </a:r>
            <a:endParaRPr sz="1300">
              <a:solidFill>
                <a:schemeClr val="dk1"/>
              </a:solidFill>
              <a:latin typeface="Calibri"/>
              <a:ea typeface="Calibri"/>
              <a:cs typeface="Calibri"/>
              <a:sym typeface="Calibri"/>
            </a:endParaRPr>
          </a:p>
          <a:p>
            <a:pPr marL="0" lvl="0" indent="0" algn="l" rtl="0">
              <a:spcBef>
                <a:spcPts val="0"/>
              </a:spcBef>
              <a:spcAft>
                <a:spcPts val="0"/>
              </a:spcAft>
              <a:buNone/>
            </a:pP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000" u="sng">
                <a:solidFill>
                  <a:schemeClr val="hlink"/>
                </a:solidFill>
                <a:latin typeface="Calibri"/>
                <a:ea typeface="Calibri"/>
                <a:cs typeface="Calibri"/>
                <a:sym typeface="Calibri"/>
                <a:hlinkClick r:id="rId4"/>
              </a:rPr>
              <a:t>https://www.ft.com/content/4c5d823e-004b-4f00-9536-9fea93330453</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a:p>
            <a:pPr marL="0" lvl="0" indent="0" algn="l" rtl="0">
              <a:spcBef>
                <a:spcPts val="0"/>
              </a:spcBef>
              <a:spcAft>
                <a:spcPts val="0"/>
              </a:spcAft>
              <a:buNone/>
            </a:pPr>
            <a:r>
              <a:rPr lang="en" sz="1000" u="sng">
                <a:solidFill>
                  <a:schemeClr val="hlink"/>
                </a:solidFill>
                <a:latin typeface="Calibri"/>
                <a:ea typeface="Calibri"/>
                <a:cs typeface="Calibri"/>
                <a:sym typeface="Calibri"/>
                <a:hlinkClick r:id="rId5"/>
              </a:rPr>
              <a:t>https://www.kdnuggets.com/the-rise-of-chief-ai-officer</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25"/>
          <p:cNvSpPr txBox="1"/>
          <p:nvPr/>
        </p:nvSpPr>
        <p:spPr>
          <a:xfrm>
            <a:off x="76200" y="616800"/>
            <a:ext cx="4408800" cy="1856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27425" tIns="27425" rIns="27425" bIns="27425" anchor="t" anchorCtr="0">
            <a:spAutoFit/>
          </a:bodyPr>
          <a:lstStyle/>
          <a:p>
            <a:pPr marL="0" lvl="0" indent="0" algn="l" rtl="0">
              <a:spcBef>
                <a:spcPts val="0"/>
              </a:spcBef>
              <a:spcAft>
                <a:spcPts val="0"/>
              </a:spcAft>
              <a:buNone/>
            </a:pPr>
            <a:r>
              <a:rPr lang="en" sz="1300">
                <a:solidFill>
                  <a:schemeClr val="dk1"/>
                </a:solidFill>
                <a:latin typeface="Calibri"/>
                <a:ea typeface="Calibri"/>
                <a:cs typeface="Calibri"/>
                <a:sym typeface="Calibri"/>
              </a:rPr>
              <a:t>The NVIDIA Parakeet automatic speech recognition (ASR) family of models and the NVIDIA Canary multilingual, multitask ASR and translation model currently top the Hugging Face Open ASR Leaderboard due to their speed, accuracy, and robustness against diverse and noisy audio environments.</a:t>
            </a:r>
            <a:endParaRPr sz="1300">
              <a:solidFill>
                <a:schemeClr val="dk1"/>
              </a:solidFill>
              <a:latin typeface="Calibri"/>
              <a:ea typeface="Calibri"/>
              <a:cs typeface="Calibri"/>
              <a:sym typeface="Calibri"/>
            </a:endParaRPr>
          </a:p>
          <a:p>
            <a:pPr marL="0" lvl="0" indent="0" algn="l" rtl="0">
              <a:spcBef>
                <a:spcPts val="0"/>
              </a:spcBef>
              <a:spcAft>
                <a:spcPts val="0"/>
              </a:spcAft>
              <a:buNone/>
            </a:pPr>
            <a:r>
              <a:rPr lang="en" sz="1300" u="sng">
                <a:solidFill>
                  <a:schemeClr val="accent5"/>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https://huggingface.co/spaces/hf-audio/open_asr_leaderboard</a:t>
            </a:r>
            <a:endParaRPr sz="1300">
              <a:solidFill>
                <a:schemeClr val="dk1"/>
              </a:solidFill>
              <a:latin typeface="Calibri"/>
              <a:ea typeface="Calibri"/>
              <a:cs typeface="Calibri"/>
              <a:sym typeface="Calibri"/>
            </a:endParaRPr>
          </a:p>
          <a:p>
            <a:pPr marL="0" lvl="0" indent="0" algn="l" rtl="0">
              <a:spcBef>
                <a:spcPts val="0"/>
              </a:spcBef>
              <a:spcAft>
                <a:spcPts val="0"/>
              </a:spcAft>
              <a:buNone/>
            </a:pPr>
            <a:endParaRPr sz="1300">
              <a:solidFill>
                <a:schemeClr val="dk1"/>
              </a:solidFill>
              <a:latin typeface="Calibri"/>
              <a:ea typeface="Calibri"/>
              <a:cs typeface="Calibri"/>
              <a:sym typeface="Calibri"/>
            </a:endParaRPr>
          </a:p>
          <a:p>
            <a:pPr marL="0" lvl="0" indent="0" algn="l" rtl="0">
              <a:spcBef>
                <a:spcPts val="0"/>
              </a:spcBef>
              <a:spcAft>
                <a:spcPts val="0"/>
              </a:spcAft>
              <a:buNone/>
            </a:pPr>
            <a:r>
              <a:rPr lang="en" sz="1300" u="sng">
                <a:solidFill>
                  <a:schemeClr val="hlink"/>
                </a:solidFill>
                <a:latin typeface="Calibri"/>
                <a:ea typeface="Calibri"/>
                <a:cs typeface="Calibri"/>
                <a:sym typeface="Calibri"/>
                <a:hlinkClick r:id="rId4"/>
              </a:rPr>
              <a:t>https://developer.nvidia.com/blog/nvidia-speech-and-translation-ai-models-set-records-for-speed-and-accuracy/</a:t>
            </a:r>
            <a:r>
              <a:rPr lang="en" sz="1300">
                <a:solidFill>
                  <a:schemeClr val="dk1"/>
                </a:solidFill>
                <a:latin typeface="Calibri"/>
                <a:ea typeface="Calibri"/>
                <a:cs typeface="Calibri"/>
                <a:sym typeface="Calibri"/>
              </a:rPr>
              <a:t> </a:t>
            </a:r>
            <a:endParaRPr sz="1300">
              <a:solidFill>
                <a:schemeClr val="dk1"/>
              </a:solidFill>
              <a:latin typeface="Calibri"/>
              <a:ea typeface="Calibri"/>
              <a:cs typeface="Calibri"/>
              <a:sym typeface="Calibri"/>
            </a:endParaRPr>
          </a:p>
        </p:txBody>
      </p:sp>
      <p:sp>
        <p:nvSpPr>
          <p:cNvPr id="157" name="Google Shape;157;p25"/>
          <p:cNvSpPr txBox="1"/>
          <p:nvPr/>
        </p:nvSpPr>
        <p:spPr>
          <a:xfrm>
            <a:off x="76200" y="76200"/>
            <a:ext cx="4408800" cy="2955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1800" b="1">
                <a:solidFill>
                  <a:srgbClr val="0F1419"/>
                </a:solidFill>
                <a:highlight>
                  <a:srgbClr val="FFFFFF"/>
                </a:highlight>
                <a:latin typeface="Calibri"/>
                <a:ea typeface="Calibri"/>
                <a:cs typeface="Calibri"/>
                <a:sym typeface="Calibri"/>
              </a:rPr>
              <a:t>NVIDIA speech and translation AI</a:t>
            </a:r>
            <a:endParaRPr sz="1800" b="1">
              <a:latin typeface="Calibri"/>
              <a:ea typeface="Calibri"/>
              <a:cs typeface="Calibri"/>
              <a:sym typeface="Calibri"/>
            </a:endParaRPr>
          </a:p>
        </p:txBody>
      </p:sp>
      <p:pic>
        <p:nvPicPr>
          <p:cNvPr id="158" name="Google Shape;158;p25"/>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4663225" y="966075"/>
            <a:ext cx="4354202" cy="3954185"/>
          </a:xfrm>
          <a:prstGeom prst="rect">
            <a:avLst/>
          </a:prstGeom>
          <a:noFill/>
          <a:ln>
            <a:noFill/>
          </a:ln>
        </p:spPr>
      </p:pic>
      <p:pic>
        <p:nvPicPr>
          <p:cNvPr id="159" name="Google Shape;159;p25"/>
          <p:cNvPicPr preferRelativeResize="0"/>
          <p:nvPr/>
        </p:nvPicPr>
        <p:blipFill>
          <a:blip r:embed="rId6">
            <a:alphaModFix/>
          </a:blip>
          <a:stretch>
            <a:fillRect/>
          </a:stretch>
        </p:blipFill>
        <p:spPr>
          <a:xfrm>
            <a:off x="675638" y="3129300"/>
            <a:ext cx="3209925" cy="14192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26"/>
          <p:cNvSpPr txBox="1"/>
          <p:nvPr/>
        </p:nvSpPr>
        <p:spPr>
          <a:xfrm>
            <a:off x="76200" y="616800"/>
            <a:ext cx="4408800" cy="1656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27425" tIns="27425" rIns="27425" bIns="27425" anchor="t" anchorCtr="0">
            <a:spAutoFit/>
          </a:bodyPr>
          <a:lstStyle/>
          <a:p>
            <a:pPr marL="0" lvl="0" indent="0" algn="l" rtl="0">
              <a:spcBef>
                <a:spcPts val="0"/>
              </a:spcBef>
              <a:spcAft>
                <a:spcPts val="0"/>
              </a:spcAft>
              <a:buNone/>
            </a:pPr>
            <a:r>
              <a:rPr lang="en" sz="1300" b="1">
                <a:solidFill>
                  <a:srgbClr val="FF0000"/>
                </a:solidFill>
                <a:latin typeface="Calibri"/>
                <a:ea typeface="Calibri"/>
                <a:cs typeface="Calibri"/>
                <a:sym typeface="Calibri"/>
              </a:rPr>
              <a:t>ISO/IEC 42001</a:t>
            </a:r>
            <a:r>
              <a:rPr lang="en" sz="1300">
                <a:latin typeface="Calibri"/>
                <a:ea typeface="Calibri"/>
                <a:cs typeface="Calibri"/>
                <a:sym typeface="Calibri"/>
              </a:rPr>
              <a:t> - </a:t>
            </a:r>
            <a:r>
              <a:rPr lang="en" sz="1300">
                <a:solidFill>
                  <a:srgbClr val="3C78D8"/>
                </a:solidFill>
                <a:latin typeface="Calibri"/>
                <a:ea typeface="Calibri"/>
                <a:cs typeface="Calibri"/>
                <a:sym typeface="Calibri"/>
              </a:rPr>
              <a:t>an international standard that specifies requirements for establishing, implementing, maintaining, and continually improving an Artificial Intelligence Management System (AIMS) within organizations.</a:t>
            </a:r>
            <a:r>
              <a:rPr lang="en" sz="1300">
                <a:latin typeface="Calibri"/>
                <a:ea typeface="Calibri"/>
                <a:cs typeface="Calibri"/>
                <a:sym typeface="Calibri"/>
              </a:rPr>
              <a:t> </a:t>
            </a:r>
            <a:endParaRPr sz="1300">
              <a:latin typeface="Calibri"/>
              <a:ea typeface="Calibri"/>
              <a:cs typeface="Calibri"/>
              <a:sym typeface="Calibri"/>
            </a:endParaRPr>
          </a:p>
          <a:p>
            <a:pPr marL="0" lvl="0" indent="0" algn="l" rtl="0">
              <a:spcBef>
                <a:spcPts val="0"/>
              </a:spcBef>
              <a:spcAft>
                <a:spcPts val="0"/>
              </a:spcAft>
              <a:buNone/>
            </a:pPr>
            <a:endParaRPr sz="1300">
              <a:latin typeface="Calibri"/>
              <a:ea typeface="Calibri"/>
              <a:cs typeface="Calibri"/>
              <a:sym typeface="Calibri"/>
            </a:endParaRPr>
          </a:p>
          <a:p>
            <a:pPr marL="0" lvl="0" indent="0" algn="l" rtl="0">
              <a:spcBef>
                <a:spcPts val="0"/>
              </a:spcBef>
              <a:spcAft>
                <a:spcPts val="0"/>
              </a:spcAft>
              <a:buNone/>
            </a:pPr>
            <a:r>
              <a:rPr lang="en" sz="1300">
                <a:latin typeface="Calibri"/>
                <a:ea typeface="Calibri"/>
                <a:cs typeface="Calibri"/>
                <a:sym typeface="Calibri"/>
              </a:rPr>
              <a:t>It is designed for entities providing or utilizing AI-based products or services, ensuring responsible development and use of AI systems. - </a:t>
            </a:r>
            <a:r>
              <a:rPr lang="en" sz="1000" u="sng">
                <a:solidFill>
                  <a:schemeClr val="hlink"/>
                </a:solidFill>
                <a:latin typeface="Calibri"/>
                <a:ea typeface="Calibri"/>
                <a:cs typeface="Calibri"/>
                <a:sym typeface="Calibri"/>
                <a:hlinkClick r:id="rId3"/>
              </a:rPr>
              <a:t>https://www.iso.org/standard/81230.html</a:t>
            </a:r>
            <a:endParaRPr sz="1000">
              <a:solidFill>
                <a:schemeClr val="dk1"/>
              </a:solidFill>
              <a:latin typeface="Calibri"/>
              <a:ea typeface="Calibri"/>
              <a:cs typeface="Calibri"/>
              <a:sym typeface="Calibri"/>
            </a:endParaRPr>
          </a:p>
        </p:txBody>
      </p:sp>
      <p:sp>
        <p:nvSpPr>
          <p:cNvPr id="165" name="Google Shape;165;p26"/>
          <p:cNvSpPr txBox="1"/>
          <p:nvPr/>
        </p:nvSpPr>
        <p:spPr>
          <a:xfrm>
            <a:off x="76200" y="76200"/>
            <a:ext cx="3772500" cy="2955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1800" b="1">
                <a:solidFill>
                  <a:srgbClr val="0F1419"/>
                </a:solidFill>
                <a:highlight>
                  <a:srgbClr val="FFFFFF"/>
                </a:highlight>
                <a:latin typeface="Calibri"/>
                <a:ea typeface="Calibri"/>
                <a:cs typeface="Calibri"/>
                <a:sym typeface="Calibri"/>
              </a:rPr>
              <a:t>Misc 3</a:t>
            </a:r>
            <a:endParaRPr sz="1800" b="1">
              <a:solidFill>
                <a:srgbClr val="0F1419"/>
              </a:solidFill>
              <a:highlight>
                <a:srgbClr val="FFFFFF"/>
              </a:highlight>
              <a:latin typeface="Calibri"/>
              <a:ea typeface="Calibri"/>
              <a:cs typeface="Calibri"/>
              <a:sym typeface="Calibri"/>
            </a:endParaRPr>
          </a:p>
        </p:txBody>
      </p:sp>
      <p:sp>
        <p:nvSpPr>
          <p:cNvPr id="166" name="Google Shape;166;p26"/>
          <p:cNvSpPr txBox="1"/>
          <p:nvPr/>
        </p:nvSpPr>
        <p:spPr>
          <a:xfrm>
            <a:off x="4648200" y="616800"/>
            <a:ext cx="4408800" cy="2010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27425" tIns="27425" rIns="27425" bIns="27425" anchor="t" anchorCtr="0">
            <a:spAutoFit/>
          </a:bodyPr>
          <a:lstStyle/>
          <a:p>
            <a:pPr marL="0" lvl="0" indent="0" algn="l" rtl="0">
              <a:spcBef>
                <a:spcPts val="0"/>
              </a:spcBef>
              <a:spcAft>
                <a:spcPts val="0"/>
              </a:spcAft>
              <a:buNone/>
            </a:pPr>
            <a:r>
              <a:rPr lang="en" sz="1300" b="1">
                <a:solidFill>
                  <a:srgbClr val="FF0000"/>
                </a:solidFill>
                <a:latin typeface="Calibri"/>
                <a:ea typeface="Calibri"/>
                <a:cs typeface="Calibri"/>
                <a:sym typeface="Calibri"/>
              </a:rPr>
              <a:t>Google’s new Infini-attention</a:t>
            </a:r>
            <a:r>
              <a:rPr lang="en" sz="1300">
                <a:latin typeface="Calibri"/>
                <a:ea typeface="Calibri"/>
                <a:cs typeface="Calibri"/>
                <a:sym typeface="Calibri"/>
              </a:rPr>
              <a:t> - LLMs with infinite context</a:t>
            </a:r>
            <a:endParaRPr sz="1300">
              <a:latin typeface="Calibri"/>
              <a:ea typeface="Calibri"/>
              <a:cs typeface="Calibri"/>
              <a:sym typeface="Calibri"/>
            </a:endParaRPr>
          </a:p>
          <a:p>
            <a:pPr marL="0" lvl="0" indent="0" algn="l" rtl="0">
              <a:spcBef>
                <a:spcPts val="0"/>
              </a:spcBef>
              <a:spcAft>
                <a:spcPts val="0"/>
              </a:spcAft>
              <a:buNone/>
            </a:pPr>
            <a:r>
              <a:rPr lang="en" sz="1000" u="sng">
                <a:solidFill>
                  <a:schemeClr val="hlink"/>
                </a:solidFill>
                <a:latin typeface="Calibri"/>
                <a:ea typeface="Calibri"/>
                <a:cs typeface="Calibri"/>
                <a:sym typeface="Calibri"/>
                <a:hlinkClick r:id="rId4"/>
              </a:rPr>
              <a:t>https://venturebeat.com/ai/googles-new-technique-gives-llms-infinite-context/</a:t>
            </a:r>
            <a:r>
              <a:rPr lang="en" sz="1000">
                <a:latin typeface="Calibri"/>
                <a:ea typeface="Calibri"/>
                <a:cs typeface="Calibri"/>
                <a:sym typeface="Calibri"/>
              </a:rPr>
              <a:t> </a:t>
            </a:r>
            <a:endParaRPr sz="1000">
              <a:latin typeface="Calibri"/>
              <a:ea typeface="Calibri"/>
              <a:cs typeface="Calibri"/>
              <a:sym typeface="Calibri"/>
            </a:endParaRPr>
          </a:p>
          <a:p>
            <a:pPr marL="0" lvl="0" indent="0" algn="l" rtl="0">
              <a:spcBef>
                <a:spcPts val="0"/>
              </a:spcBef>
              <a:spcAft>
                <a:spcPts val="0"/>
              </a:spcAft>
              <a:buNone/>
            </a:pPr>
            <a:endParaRPr sz="1300">
              <a:latin typeface="Calibri"/>
              <a:ea typeface="Calibri"/>
              <a:cs typeface="Calibri"/>
              <a:sym typeface="Calibri"/>
            </a:endParaRPr>
          </a:p>
          <a:p>
            <a:pPr marL="0" lvl="0" indent="0" algn="l" rtl="0">
              <a:spcBef>
                <a:spcPts val="0"/>
              </a:spcBef>
              <a:spcAft>
                <a:spcPts val="0"/>
              </a:spcAft>
              <a:buNone/>
            </a:pPr>
            <a:r>
              <a:rPr lang="en" sz="1300">
                <a:solidFill>
                  <a:schemeClr val="dk1"/>
                </a:solidFill>
                <a:latin typeface="Calibri"/>
                <a:ea typeface="Calibri"/>
                <a:cs typeface="Calibri"/>
                <a:sym typeface="Calibri"/>
              </a:rPr>
              <a:t>Paper: </a:t>
            </a:r>
            <a:r>
              <a:rPr lang="en" sz="1300">
                <a:solidFill>
                  <a:srgbClr val="3C78D8"/>
                </a:solidFill>
                <a:latin typeface="Calibri"/>
                <a:ea typeface="Calibri"/>
                <a:cs typeface="Calibri"/>
                <a:sym typeface="Calibri"/>
              </a:rPr>
              <a:t>"Leave No Context Behind: Efficient Infinite Context Transformers with Infini-attention"</a:t>
            </a:r>
            <a:r>
              <a:rPr lang="en" sz="1300">
                <a:solidFill>
                  <a:schemeClr val="dk1"/>
                </a:solidFill>
                <a:latin typeface="Calibri"/>
                <a:ea typeface="Calibri"/>
                <a:cs typeface="Calibri"/>
                <a:sym typeface="Calibri"/>
              </a:rPr>
              <a:t> - </a:t>
            </a:r>
            <a:r>
              <a:rPr lang="en" sz="1000">
                <a:latin typeface="Calibri"/>
                <a:ea typeface="Calibri"/>
                <a:cs typeface="Calibri"/>
                <a:sym typeface="Calibri"/>
              </a:rPr>
              <a:t> </a:t>
            </a:r>
            <a:r>
              <a:rPr lang="en" sz="1000" u="sng">
                <a:solidFill>
                  <a:schemeClr val="hlink"/>
                </a:solidFill>
                <a:latin typeface="Calibri"/>
                <a:ea typeface="Calibri"/>
                <a:cs typeface="Calibri"/>
                <a:sym typeface="Calibri"/>
                <a:hlinkClick r:id="rId5"/>
              </a:rPr>
              <a:t>https://arxiv.org/abs/2404.07143</a:t>
            </a:r>
            <a:r>
              <a:rPr lang="en" sz="1000">
                <a:latin typeface="Calibri"/>
                <a:ea typeface="Calibri"/>
                <a:cs typeface="Calibri"/>
                <a:sym typeface="Calibri"/>
              </a:rPr>
              <a:t> </a:t>
            </a:r>
            <a:endParaRPr sz="1000">
              <a:latin typeface="Calibri"/>
              <a:ea typeface="Calibri"/>
              <a:cs typeface="Calibri"/>
              <a:sym typeface="Calibri"/>
            </a:endParaRPr>
          </a:p>
          <a:p>
            <a:pPr marL="0" lvl="0" indent="0" algn="l" rtl="0">
              <a:spcBef>
                <a:spcPts val="0"/>
              </a:spcBef>
              <a:spcAft>
                <a:spcPts val="0"/>
              </a:spcAft>
              <a:buNone/>
            </a:pPr>
            <a:endParaRPr sz="1300">
              <a:latin typeface="Calibri"/>
              <a:ea typeface="Calibri"/>
              <a:cs typeface="Calibri"/>
              <a:sym typeface="Calibri"/>
            </a:endParaRPr>
          </a:p>
          <a:p>
            <a:pPr marL="0" lvl="0" indent="0" algn="l" rtl="0">
              <a:spcBef>
                <a:spcPts val="0"/>
              </a:spcBef>
              <a:spcAft>
                <a:spcPts val="0"/>
              </a:spcAft>
              <a:buNone/>
            </a:pPr>
            <a:r>
              <a:rPr lang="en" sz="1300">
                <a:latin typeface="Calibri"/>
                <a:ea typeface="Calibri"/>
                <a:cs typeface="Calibri"/>
                <a:sym typeface="Calibri"/>
              </a:rPr>
              <a:t>Infini-attention retains and compresses the attention memory from all previous segments. This means in the same 500K document, each 100K window maintains access to the full document's context.</a:t>
            </a:r>
            <a:endParaRPr sz="1300">
              <a:latin typeface="Calibri"/>
              <a:ea typeface="Calibri"/>
              <a:cs typeface="Calibri"/>
              <a:sym typeface="Calibri"/>
            </a:endParaRPr>
          </a:p>
        </p:txBody>
      </p:sp>
      <p:sp>
        <p:nvSpPr>
          <p:cNvPr id="167" name="Google Shape;167;p26"/>
          <p:cNvSpPr txBox="1"/>
          <p:nvPr/>
        </p:nvSpPr>
        <p:spPr>
          <a:xfrm>
            <a:off x="76200" y="2391725"/>
            <a:ext cx="4408800" cy="609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27425" tIns="27425" rIns="27425" bIns="27425" anchor="t" anchorCtr="0">
            <a:spAutoFit/>
          </a:bodyPr>
          <a:lstStyle/>
          <a:p>
            <a:pPr marL="0" lvl="0" indent="0" algn="l" rtl="0">
              <a:spcBef>
                <a:spcPts val="0"/>
              </a:spcBef>
              <a:spcAft>
                <a:spcPts val="0"/>
              </a:spcAft>
              <a:buClr>
                <a:schemeClr val="dk1"/>
              </a:buClr>
              <a:buSzPts val="1100"/>
              <a:buFont typeface="Arial"/>
              <a:buNone/>
            </a:pPr>
            <a:r>
              <a:rPr lang="en" sz="1300">
                <a:latin typeface="Calibri"/>
                <a:ea typeface="Calibri"/>
                <a:cs typeface="Calibri"/>
                <a:sym typeface="Calibri"/>
              </a:rPr>
              <a:t>"14 Ways to Use AI in Marketing that Actually Work (Recommended by Pros!)" - by Rob Glover</a:t>
            </a:r>
            <a:endParaRPr sz="1300">
              <a:latin typeface="Calibri"/>
              <a:ea typeface="Calibri"/>
              <a:cs typeface="Calibri"/>
              <a:sym typeface="Calibri"/>
            </a:endParaRPr>
          </a:p>
          <a:p>
            <a:pPr marL="0" lvl="0" indent="0" algn="l" rtl="0">
              <a:spcBef>
                <a:spcPts val="0"/>
              </a:spcBef>
              <a:spcAft>
                <a:spcPts val="0"/>
              </a:spcAft>
              <a:buNone/>
            </a:pPr>
            <a:r>
              <a:rPr lang="en" sz="1000" u="sng">
                <a:solidFill>
                  <a:schemeClr val="hlink"/>
                </a:solidFill>
                <a:latin typeface="Calibri"/>
                <a:ea typeface="Calibri"/>
                <a:cs typeface="Calibri"/>
                <a:sym typeface="Calibri"/>
                <a:hlinkClick r:id="rId6"/>
              </a:rPr>
              <a:t>https://www.wordstream.com/blog/ai-in-marketing</a:t>
            </a:r>
            <a:r>
              <a:rPr lang="en" sz="1000">
                <a:latin typeface="Calibri"/>
                <a:ea typeface="Calibri"/>
                <a:cs typeface="Calibri"/>
                <a:sym typeface="Calibri"/>
              </a:rPr>
              <a:t> </a:t>
            </a:r>
            <a:endParaRPr sz="1000">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27"/>
          <p:cNvSpPr txBox="1"/>
          <p:nvPr/>
        </p:nvSpPr>
        <p:spPr>
          <a:xfrm>
            <a:off x="76200" y="616800"/>
            <a:ext cx="4408800" cy="2056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27425" tIns="27425" rIns="27425" bIns="27425" anchor="t" anchorCtr="0">
            <a:spAutoFit/>
          </a:bodyPr>
          <a:lstStyle/>
          <a:p>
            <a:pPr marL="0" lvl="0" indent="0" algn="l" rtl="0">
              <a:spcBef>
                <a:spcPts val="0"/>
              </a:spcBef>
              <a:spcAft>
                <a:spcPts val="0"/>
              </a:spcAft>
              <a:buNone/>
            </a:pPr>
            <a:r>
              <a:rPr lang="en" sz="1300">
                <a:solidFill>
                  <a:schemeClr val="dk1"/>
                </a:solidFill>
                <a:latin typeface="Calibri"/>
                <a:ea typeface="Calibri"/>
                <a:cs typeface="Calibri"/>
                <a:sym typeface="Calibri"/>
              </a:rPr>
              <a:t>Solidigm D5-P5336 series of SSDs</a:t>
            </a:r>
            <a:endParaRPr sz="1300">
              <a:solidFill>
                <a:schemeClr val="dk1"/>
              </a:solidFill>
              <a:latin typeface="Calibri"/>
              <a:ea typeface="Calibri"/>
              <a:cs typeface="Calibri"/>
              <a:sym typeface="Calibri"/>
            </a:endParaRPr>
          </a:p>
          <a:p>
            <a:pPr marL="0" lvl="0" indent="0" algn="l" rtl="0">
              <a:spcBef>
                <a:spcPts val="0"/>
              </a:spcBef>
              <a:spcAft>
                <a:spcPts val="0"/>
              </a:spcAft>
              <a:buNone/>
            </a:pPr>
            <a:r>
              <a:rPr lang="en" sz="1300">
                <a:solidFill>
                  <a:schemeClr val="dk1"/>
                </a:solidFill>
                <a:latin typeface="Calibri"/>
                <a:ea typeface="Calibri"/>
                <a:cs typeface="Calibri"/>
                <a:sym typeface="Calibri"/>
              </a:rPr>
              <a:t>the first quad-level cell (QLC) solid-state storage drive</a:t>
            </a:r>
            <a:endParaRPr sz="1300">
              <a:solidFill>
                <a:schemeClr val="dk1"/>
              </a:solidFill>
              <a:latin typeface="Calibri"/>
              <a:ea typeface="Calibri"/>
              <a:cs typeface="Calibri"/>
              <a:sym typeface="Calibri"/>
            </a:endParaRPr>
          </a:p>
          <a:p>
            <a:pPr marL="0" lvl="0" indent="0" algn="l" rtl="0">
              <a:spcBef>
                <a:spcPts val="0"/>
              </a:spcBef>
              <a:spcAft>
                <a:spcPts val="0"/>
              </a:spcAft>
              <a:buNone/>
            </a:pPr>
            <a:r>
              <a:rPr lang="en" sz="1300">
                <a:solidFill>
                  <a:schemeClr val="dk1"/>
                </a:solidFill>
                <a:latin typeface="Calibri"/>
                <a:ea typeface="Calibri"/>
                <a:cs typeface="Calibri"/>
                <a:sym typeface="Calibri"/>
              </a:rPr>
              <a:t>Just started accept orders in 2024.</a:t>
            </a:r>
            <a:endParaRPr sz="1300">
              <a:solidFill>
                <a:schemeClr val="dk1"/>
              </a:solidFill>
              <a:latin typeface="Calibri"/>
              <a:ea typeface="Calibri"/>
              <a:cs typeface="Calibri"/>
              <a:sym typeface="Calibri"/>
            </a:endParaRPr>
          </a:p>
          <a:p>
            <a:pPr marL="0" lvl="0" indent="0" algn="l" rtl="0">
              <a:spcBef>
                <a:spcPts val="0"/>
              </a:spcBef>
              <a:spcAft>
                <a:spcPts val="0"/>
              </a:spcAft>
              <a:buNone/>
            </a:pPr>
            <a:endParaRPr sz="1300">
              <a:solidFill>
                <a:schemeClr val="dk1"/>
              </a:solidFill>
              <a:latin typeface="Calibri"/>
              <a:ea typeface="Calibri"/>
              <a:cs typeface="Calibri"/>
              <a:sym typeface="Calibri"/>
            </a:endParaRPr>
          </a:p>
          <a:p>
            <a:pPr marL="0" lvl="0" indent="0" algn="l" rtl="0">
              <a:spcBef>
                <a:spcPts val="0"/>
              </a:spcBef>
              <a:spcAft>
                <a:spcPts val="0"/>
              </a:spcAft>
              <a:buNone/>
            </a:pPr>
            <a:r>
              <a:rPr lang="en" sz="1300">
                <a:solidFill>
                  <a:schemeClr val="dk1"/>
                </a:solidFill>
                <a:latin typeface="Calibri"/>
                <a:ea typeface="Calibri"/>
                <a:cs typeface="Calibri"/>
                <a:sym typeface="Calibri"/>
              </a:rPr>
              <a:t>Sizes:     7.7 TB,    15.4 TB,    30.7 TB,    61.4 TB</a:t>
            </a:r>
            <a:endParaRPr sz="1300">
              <a:solidFill>
                <a:schemeClr val="dk1"/>
              </a:solidFill>
              <a:latin typeface="Calibri"/>
              <a:ea typeface="Calibri"/>
              <a:cs typeface="Calibri"/>
              <a:sym typeface="Calibri"/>
            </a:endParaRPr>
          </a:p>
          <a:p>
            <a:pPr marL="0" lvl="0" indent="0" algn="l" rtl="0">
              <a:spcBef>
                <a:spcPts val="0"/>
              </a:spcBef>
              <a:spcAft>
                <a:spcPts val="0"/>
              </a:spcAft>
              <a:buNone/>
            </a:pPr>
            <a:endParaRPr sz="1300">
              <a:solidFill>
                <a:schemeClr val="dk1"/>
              </a:solidFill>
              <a:latin typeface="Calibri"/>
              <a:ea typeface="Calibri"/>
              <a:cs typeface="Calibri"/>
              <a:sym typeface="Calibri"/>
            </a:endParaRPr>
          </a:p>
          <a:p>
            <a:pPr marL="0" lvl="0" indent="0" algn="l" rtl="0">
              <a:spcBef>
                <a:spcPts val="0"/>
              </a:spcBef>
              <a:spcAft>
                <a:spcPts val="0"/>
              </a:spcAft>
              <a:buNone/>
            </a:pPr>
            <a:r>
              <a:rPr lang="en" sz="1300">
                <a:solidFill>
                  <a:schemeClr val="dk1"/>
                </a:solidFill>
                <a:latin typeface="Calibri"/>
                <a:ea typeface="Calibri"/>
                <a:cs typeface="Calibri"/>
                <a:sym typeface="Calibri"/>
              </a:rPr>
              <a:t>Speed:   up to 7,000 MB/s read and 3,300 MB/s write</a:t>
            </a:r>
            <a:endParaRPr sz="1300">
              <a:solidFill>
                <a:schemeClr val="dk1"/>
              </a:solidFill>
              <a:latin typeface="Calibri"/>
              <a:ea typeface="Calibri"/>
              <a:cs typeface="Calibri"/>
              <a:sym typeface="Calibri"/>
            </a:endParaRPr>
          </a:p>
          <a:p>
            <a:pPr marL="0" lvl="0" indent="0" algn="l" rtl="0">
              <a:spcBef>
                <a:spcPts val="0"/>
              </a:spcBef>
              <a:spcAft>
                <a:spcPts val="0"/>
              </a:spcAft>
              <a:buNone/>
            </a:pPr>
            <a:endParaRPr sz="1300">
              <a:solidFill>
                <a:schemeClr val="dk1"/>
              </a:solidFill>
              <a:latin typeface="Calibri"/>
              <a:ea typeface="Calibri"/>
              <a:cs typeface="Calibri"/>
              <a:sym typeface="Calibri"/>
            </a:endParaRPr>
          </a:p>
          <a:p>
            <a:pPr marL="0" lvl="0" indent="0" algn="l" rtl="0">
              <a:spcBef>
                <a:spcPts val="0"/>
              </a:spcBef>
              <a:spcAft>
                <a:spcPts val="0"/>
              </a:spcAft>
              <a:buNone/>
            </a:pPr>
            <a:r>
              <a:rPr lang="en" sz="1300">
                <a:solidFill>
                  <a:schemeClr val="dk1"/>
                </a:solidFill>
                <a:latin typeface="Calibri"/>
                <a:ea typeface="Calibri"/>
                <a:cs typeface="Calibri"/>
                <a:sym typeface="Calibri"/>
              </a:rPr>
              <a:t>Prices ~ $110 - $160 per TB</a:t>
            </a:r>
            <a:endParaRPr sz="1300">
              <a:solidFill>
                <a:schemeClr val="dk1"/>
              </a:solidFill>
              <a:latin typeface="Calibri"/>
              <a:ea typeface="Calibri"/>
              <a:cs typeface="Calibri"/>
              <a:sym typeface="Calibri"/>
            </a:endParaRPr>
          </a:p>
          <a:p>
            <a:pPr marL="0" lvl="0" indent="0" algn="l" rtl="0">
              <a:spcBef>
                <a:spcPts val="0"/>
              </a:spcBef>
              <a:spcAft>
                <a:spcPts val="0"/>
              </a:spcAft>
              <a:buNone/>
            </a:pPr>
            <a:r>
              <a:rPr lang="en" sz="1300">
                <a:solidFill>
                  <a:schemeClr val="dk1"/>
                </a:solidFill>
                <a:latin typeface="Calibri"/>
                <a:ea typeface="Calibri"/>
                <a:cs typeface="Calibri"/>
                <a:sym typeface="Calibri"/>
              </a:rPr>
              <a:t>So 30TB at $3.3K, 60TB at ~7K</a:t>
            </a:r>
            <a:endParaRPr sz="1300">
              <a:solidFill>
                <a:schemeClr val="dk1"/>
              </a:solidFill>
              <a:latin typeface="Calibri"/>
              <a:ea typeface="Calibri"/>
              <a:cs typeface="Calibri"/>
              <a:sym typeface="Calibri"/>
            </a:endParaRPr>
          </a:p>
        </p:txBody>
      </p:sp>
      <p:sp>
        <p:nvSpPr>
          <p:cNvPr id="173" name="Google Shape;173;p27"/>
          <p:cNvSpPr txBox="1"/>
          <p:nvPr/>
        </p:nvSpPr>
        <p:spPr>
          <a:xfrm>
            <a:off x="76200" y="76200"/>
            <a:ext cx="2510100" cy="2955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1800" b="1">
                <a:solidFill>
                  <a:srgbClr val="0F1419"/>
                </a:solidFill>
                <a:highlight>
                  <a:srgbClr val="FFFFFF"/>
                </a:highlight>
                <a:latin typeface="Calibri"/>
                <a:ea typeface="Calibri"/>
                <a:cs typeface="Calibri"/>
                <a:sym typeface="Calibri"/>
              </a:rPr>
              <a:t>Modern Fast Storage</a:t>
            </a:r>
            <a:endParaRPr sz="1800" b="1">
              <a:latin typeface="Calibri"/>
              <a:ea typeface="Calibri"/>
              <a:cs typeface="Calibri"/>
              <a:sym typeface="Calibri"/>
            </a:endParaRPr>
          </a:p>
        </p:txBody>
      </p:sp>
      <p:pic>
        <p:nvPicPr>
          <p:cNvPr id="174" name="Google Shape;174;p27"/>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877400" y="2995225"/>
            <a:ext cx="2565375" cy="1776025"/>
          </a:xfrm>
          <a:prstGeom prst="rect">
            <a:avLst/>
          </a:prstGeom>
          <a:noFill/>
          <a:ln>
            <a:noFill/>
          </a:ln>
        </p:spPr>
      </p:pic>
      <p:sp>
        <p:nvSpPr>
          <p:cNvPr id="175" name="Google Shape;175;p27"/>
          <p:cNvSpPr txBox="1"/>
          <p:nvPr/>
        </p:nvSpPr>
        <p:spPr>
          <a:xfrm>
            <a:off x="4661625" y="616800"/>
            <a:ext cx="4408800" cy="809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27425" tIns="27425" rIns="27425" bIns="27425" anchor="t" anchorCtr="0">
            <a:spAutoFit/>
          </a:bodyPr>
          <a:lstStyle/>
          <a:p>
            <a:pPr marL="0" lvl="0" indent="0" algn="l" rtl="0">
              <a:spcBef>
                <a:spcPts val="0"/>
              </a:spcBef>
              <a:spcAft>
                <a:spcPts val="0"/>
              </a:spcAft>
              <a:buNone/>
            </a:pPr>
            <a:r>
              <a:rPr lang="en" sz="1300">
                <a:solidFill>
                  <a:schemeClr val="dk1"/>
                </a:solidFill>
                <a:latin typeface="Calibri"/>
                <a:ea typeface="Calibri"/>
                <a:cs typeface="Calibri"/>
                <a:sym typeface="Calibri"/>
              </a:rPr>
              <a:t>SElon Musk: "Legacy media simply can’t compete with hundreds of millions of humans providing real-time, AI-assisted, interactive information"</a:t>
            </a:r>
            <a:endParaRPr sz="1300">
              <a:solidFill>
                <a:schemeClr val="dk1"/>
              </a:solidFill>
              <a:latin typeface="Calibri"/>
              <a:ea typeface="Calibri"/>
              <a:cs typeface="Calibri"/>
              <a:sym typeface="Calibri"/>
            </a:endParaRPr>
          </a:p>
          <a:p>
            <a:pPr marL="0" lvl="0" indent="0" algn="l" rtl="0">
              <a:spcBef>
                <a:spcPts val="0"/>
              </a:spcBef>
              <a:spcAft>
                <a:spcPts val="0"/>
              </a:spcAft>
              <a:buNone/>
            </a:pPr>
            <a:r>
              <a:rPr lang="en" sz="1000" u="sng">
                <a:solidFill>
                  <a:schemeClr val="hlink"/>
                </a:solidFill>
                <a:latin typeface="Calibri"/>
                <a:ea typeface="Calibri"/>
                <a:cs typeface="Calibri"/>
                <a:sym typeface="Calibri"/>
                <a:hlinkClick r:id="rId4"/>
              </a:rPr>
              <a:t>https://twitter.com/elonmusk/status/1780370067987009711</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p:txBody>
      </p:sp>
      <p:sp>
        <p:nvSpPr>
          <p:cNvPr id="176" name="Google Shape;176;p27"/>
          <p:cNvSpPr txBox="1"/>
          <p:nvPr/>
        </p:nvSpPr>
        <p:spPr>
          <a:xfrm>
            <a:off x="4661625" y="76200"/>
            <a:ext cx="2510100" cy="2955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1800" b="1">
                <a:solidFill>
                  <a:srgbClr val="0F1419"/>
                </a:solidFill>
                <a:highlight>
                  <a:srgbClr val="FFFFFF"/>
                </a:highlight>
                <a:latin typeface="Calibri"/>
                <a:ea typeface="Calibri"/>
                <a:cs typeface="Calibri"/>
                <a:sym typeface="Calibri"/>
              </a:rPr>
              <a:t>Media is losing visitors</a:t>
            </a:r>
            <a:endParaRPr sz="1800" b="1">
              <a:latin typeface="Calibri"/>
              <a:ea typeface="Calibri"/>
              <a:cs typeface="Calibri"/>
              <a:sym typeface="Calibri"/>
            </a:endParaRPr>
          </a:p>
        </p:txBody>
      </p:sp>
      <p:pic>
        <p:nvPicPr>
          <p:cNvPr id="177" name="Google Shape;177;p27"/>
          <p:cNvPicPr preferRelativeResize="0"/>
          <p:nvPr/>
        </p:nvPicPr>
        <p:blipFill rotWithShape="1">
          <a:blip r:embed="rId5" cstate="email">
            <a:alphaModFix/>
            <a:extLst>
              <a:ext uri="{28A0092B-C50C-407E-A947-70E740481C1C}">
                <a14:useLocalDpi xmlns:a14="http://schemas.microsoft.com/office/drawing/2010/main"/>
              </a:ext>
            </a:extLst>
          </a:blip>
          <a:srcRect/>
          <a:stretch/>
        </p:blipFill>
        <p:spPr>
          <a:xfrm>
            <a:off x="5728125" y="1554150"/>
            <a:ext cx="2510101" cy="2353425"/>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28"/>
          <p:cNvSpPr txBox="1"/>
          <p:nvPr/>
        </p:nvSpPr>
        <p:spPr>
          <a:xfrm>
            <a:off x="5870100" y="52350"/>
            <a:ext cx="1342200" cy="6186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1300" b="1" i="0" u="none" strike="noStrike" cap="none">
                <a:solidFill>
                  <a:srgbClr val="FF0000"/>
                </a:solidFill>
                <a:latin typeface="Calibri"/>
                <a:ea typeface="Calibri"/>
                <a:cs typeface="Calibri"/>
                <a:sym typeface="Calibri"/>
              </a:rPr>
              <a:t>models: </a:t>
            </a:r>
            <a:r>
              <a:rPr lang="en" sz="1300" b="1">
                <a:solidFill>
                  <a:srgbClr val="FF0000"/>
                </a:solidFill>
                <a:latin typeface="Calibri"/>
                <a:ea typeface="Calibri"/>
                <a:cs typeface="Calibri"/>
                <a:sym typeface="Calibri"/>
              </a:rPr>
              <a:t>82</a:t>
            </a:r>
            <a:endParaRPr sz="1300" b="1" i="0" u="none" strike="noStrike" cap="none">
              <a:solidFill>
                <a:srgbClr val="FF0000"/>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 sz="1300" b="1" i="0" u="none" strike="noStrike" cap="none">
                <a:solidFill>
                  <a:srgbClr val="FF0000"/>
                </a:solidFill>
                <a:latin typeface="Calibri"/>
                <a:ea typeface="Calibri"/>
                <a:cs typeface="Calibri"/>
                <a:sym typeface="Calibri"/>
              </a:rPr>
              <a:t>votes: </a:t>
            </a:r>
            <a:r>
              <a:rPr lang="en" sz="1300" b="1">
                <a:solidFill>
                  <a:srgbClr val="FF0000"/>
                </a:solidFill>
                <a:latin typeface="Calibri"/>
                <a:ea typeface="Calibri"/>
                <a:cs typeface="Calibri"/>
                <a:sym typeface="Calibri"/>
              </a:rPr>
              <a:t>652,743</a:t>
            </a:r>
            <a:endParaRPr sz="1300" b="1" i="0" u="none" strike="noStrike" cap="none">
              <a:solidFill>
                <a:srgbClr val="FF0000"/>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 sz="1300" b="1">
                <a:solidFill>
                  <a:srgbClr val="FF0000"/>
                </a:solidFill>
                <a:latin typeface="Calibri"/>
                <a:ea typeface="Calibri"/>
                <a:cs typeface="Calibri"/>
                <a:sym typeface="Calibri"/>
              </a:rPr>
              <a:t>April 11</a:t>
            </a:r>
            <a:r>
              <a:rPr lang="en" sz="1300" b="1" i="0" u="none" strike="noStrike" cap="none">
                <a:solidFill>
                  <a:srgbClr val="FF0000"/>
                </a:solidFill>
                <a:latin typeface="Calibri"/>
                <a:ea typeface="Calibri"/>
                <a:cs typeface="Calibri"/>
                <a:sym typeface="Calibri"/>
              </a:rPr>
              <a:t>, 2024</a:t>
            </a:r>
            <a:endParaRPr sz="1300" b="1">
              <a:solidFill>
                <a:srgbClr val="FF0000"/>
              </a:solidFill>
              <a:latin typeface="Calibri"/>
              <a:ea typeface="Calibri"/>
              <a:cs typeface="Calibri"/>
              <a:sym typeface="Calibri"/>
            </a:endParaRPr>
          </a:p>
        </p:txBody>
      </p:sp>
      <p:sp>
        <p:nvSpPr>
          <p:cNvPr id="183" name="Google Shape;183;p28"/>
          <p:cNvSpPr txBox="1"/>
          <p:nvPr/>
        </p:nvSpPr>
        <p:spPr>
          <a:xfrm>
            <a:off x="7261325" y="52350"/>
            <a:ext cx="1831500" cy="387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1200" b="0" i="0" u="none" strike="noStrike" cap="none">
                <a:solidFill>
                  <a:schemeClr val="dk1"/>
                </a:solidFill>
                <a:latin typeface="Calibri"/>
                <a:ea typeface="Calibri"/>
                <a:cs typeface="Calibri"/>
                <a:sym typeface="Calibri"/>
              </a:rPr>
              <a:t>Starting Elo rating = 1000</a:t>
            </a:r>
            <a:endParaRPr sz="1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 sz="1200" b="0" i="0" u="none" strike="noStrike" cap="none">
                <a:solidFill>
                  <a:schemeClr val="dk1"/>
                </a:solidFill>
                <a:latin typeface="Calibri"/>
                <a:ea typeface="Calibri"/>
                <a:cs typeface="Calibri"/>
                <a:sym typeface="Calibri"/>
              </a:rPr>
              <a:t>95% CI = Confidence Interval</a:t>
            </a:r>
            <a:endParaRPr sz="1200" b="0" i="0" u="none" strike="noStrike" cap="none">
              <a:solidFill>
                <a:schemeClr val="dk1"/>
              </a:solidFill>
              <a:latin typeface="Calibri"/>
              <a:ea typeface="Calibri"/>
              <a:cs typeface="Calibri"/>
              <a:sym typeface="Calibri"/>
            </a:endParaRPr>
          </a:p>
        </p:txBody>
      </p:sp>
      <p:sp>
        <p:nvSpPr>
          <p:cNvPr id="184" name="Google Shape;184;p28"/>
          <p:cNvSpPr txBox="1"/>
          <p:nvPr/>
        </p:nvSpPr>
        <p:spPr>
          <a:xfrm>
            <a:off x="-38048" y="-108050"/>
            <a:ext cx="41517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i="0" u="none" strike="noStrike" cap="none">
                <a:solidFill>
                  <a:schemeClr val="dk1"/>
                </a:solidFill>
                <a:latin typeface="Calibri"/>
                <a:ea typeface="Calibri"/>
                <a:cs typeface="Calibri"/>
                <a:sym typeface="Calibri"/>
              </a:rPr>
              <a:t>Crowd-sourced "Arena" Leaderboard</a:t>
            </a:r>
            <a:endParaRPr sz="2000" b="1" i="0" u="none" strike="noStrike" cap="none">
              <a:solidFill>
                <a:srgbClr val="000000"/>
              </a:solidFill>
              <a:latin typeface="Calibri"/>
              <a:ea typeface="Calibri"/>
              <a:cs typeface="Calibri"/>
              <a:sym typeface="Calibri"/>
            </a:endParaRPr>
          </a:p>
        </p:txBody>
      </p:sp>
      <p:sp>
        <p:nvSpPr>
          <p:cNvPr id="185" name="Google Shape;185;p28"/>
          <p:cNvSpPr txBox="1"/>
          <p:nvPr/>
        </p:nvSpPr>
        <p:spPr>
          <a:xfrm>
            <a:off x="60000" y="284925"/>
            <a:ext cx="2076900" cy="338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1000" u="sng">
                <a:solidFill>
                  <a:schemeClr val="hlink"/>
                </a:solidFill>
                <a:latin typeface="Calibri"/>
                <a:ea typeface="Calibri"/>
                <a:cs typeface="Calibri"/>
                <a:sym typeface="Calibri"/>
                <a:hlinkClick r:id="rId3"/>
              </a:rPr>
              <a:t>https://chat.lmsys.org/?leaderboard</a:t>
            </a:r>
            <a:r>
              <a:rPr lang="en" sz="1000">
                <a:solidFill>
                  <a:schemeClr val="dk1"/>
                </a:solidFill>
                <a:latin typeface="Calibri"/>
                <a:ea typeface="Calibri"/>
                <a:cs typeface="Calibri"/>
                <a:sym typeface="Calibri"/>
              </a:rPr>
              <a:t> </a:t>
            </a:r>
            <a:r>
              <a:rPr lang="en" sz="1000" b="0" i="0" u="none" strike="noStrike" cap="none">
                <a:solidFill>
                  <a:schemeClr val="dk1"/>
                </a:solidFill>
                <a:latin typeface="Calibri"/>
                <a:ea typeface="Calibri"/>
                <a:cs typeface="Calibri"/>
                <a:sym typeface="Calibri"/>
              </a:rPr>
              <a:t> </a:t>
            </a:r>
            <a:endParaRPr sz="1000" b="0" i="0" u="none" strike="noStrike" cap="none">
              <a:solidFill>
                <a:schemeClr val="dk1"/>
              </a:solidFill>
              <a:latin typeface="Calibri"/>
              <a:ea typeface="Calibri"/>
              <a:cs typeface="Calibri"/>
              <a:sym typeface="Calibri"/>
            </a:endParaRPr>
          </a:p>
        </p:txBody>
      </p:sp>
      <p:pic>
        <p:nvPicPr>
          <p:cNvPr id="186" name="Google Shape;186;p28"/>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25350" y="1356750"/>
            <a:ext cx="4506799" cy="3179400"/>
          </a:xfrm>
          <a:prstGeom prst="rect">
            <a:avLst/>
          </a:prstGeom>
          <a:noFill/>
          <a:ln w="9525" cap="flat" cmpd="sng">
            <a:solidFill>
              <a:srgbClr val="FF0000"/>
            </a:solidFill>
            <a:prstDash val="solid"/>
            <a:round/>
            <a:headEnd type="none" w="sm" len="sm"/>
            <a:tailEnd type="none" w="sm" len="sm"/>
          </a:ln>
        </p:spPr>
      </p:pic>
      <p:pic>
        <p:nvPicPr>
          <p:cNvPr id="187" name="Google Shape;187;p28"/>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4621400" y="1526825"/>
            <a:ext cx="4506799" cy="2623280"/>
          </a:xfrm>
          <a:prstGeom prst="rect">
            <a:avLst/>
          </a:prstGeom>
          <a:noFill/>
          <a:ln w="9525" cap="flat" cmpd="sng">
            <a:solidFill>
              <a:srgbClr val="FF0000"/>
            </a:solidFill>
            <a:prstDash val="solid"/>
            <a:round/>
            <a:headEnd type="none" w="sm" len="sm"/>
            <a:tailEnd type="none" w="sm" len="sm"/>
          </a:ln>
        </p:spPr>
      </p:pic>
      <p:sp>
        <p:nvSpPr>
          <p:cNvPr id="188" name="Google Shape;188;p28"/>
          <p:cNvSpPr txBox="1"/>
          <p:nvPr/>
        </p:nvSpPr>
        <p:spPr>
          <a:xfrm>
            <a:off x="225025" y="3628900"/>
            <a:ext cx="276300" cy="141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 sz="800" b="0" i="0" u="none" strike="noStrike" cap="none">
                <a:solidFill>
                  <a:schemeClr val="dk1"/>
                </a:solidFill>
                <a:latin typeface="Calibri"/>
                <a:ea typeface="Calibri"/>
                <a:cs typeface="Calibri"/>
                <a:sym typeface="Calibri"/>
              </a:rPr>
              <a:t>o.</a:t>
            </a:r>
            <a:r>
              <a:rPr lang="en" sz="800">
                <a:solidFill>
                  <a:schemeClr val="dk1"/>
                </a:solidFill>
                <a:latin typeface="Calibri"/>
                <a:ea typeface="Calibri"/>
                <a:cs typeface="Calibri"/>
                <a:sym typeface="Calibri"/>
              </a:rPr>
              <a:t>s.</a:t>
            </a:r>
            <a:endParaRPr sz="800" b="0" i="0" u="none" strike="noStrike" cap="none">
              <a:solidFill>
                <a:schemeClr val="dk1"/>
              </a:solidFill>
              <a:latin typeface="Calibri"/>
              <a:ea typeface="Calibri"/>
              <a:cs typeface="Calibri"/>
              <a:sym typeface="Calibri"/>
            </a:endParaRPr>
          </a:p>
        </p:txBody>
      </p:sp>
      <p:sp>
        <p:nvSpPr>
          <p:cNvPr id="189" name="Google Shape;189;p28"/>
          <p:cNvSpPr txBox="1"/>
          <p:nvPr/>
        </p:nvSpPr>
        <p:spPr>
          <a:xfrm>
            <a:off x="225025" y="4378180"/>
            <a:ext cx="276300" cy="141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 sz="800" b="0" i="0" u="none" strike="noStrike" cap="none">
                <a:solidFill>
                  <a:schemeClr val="dk1"/>
                </a:solidFill>
                <a:latin typeface="Calibri"/>
                <a:ea typeface="Calibri"/>
                <a:cs typeface="Calibri"/>
                <a:sym typeface="Calibri"/>
              </a:rPr>
              <a:t>o.</a:t>
            </a:r>
            <a:r>
              <a:rPr lang="en" sz="800">
                <a:solidFill>
                  <a:schemeClr val="dk1"/>
                </a:solidFill>
                <a:latin typeface="Calibri"/>
                <a:ea typeface="Calibri"/>
                <a:cs typeface="Calibri"/>
                <a:sym typeface="Calibri"/>
              </a:rPr>
              <a:t>s.</a:t>
            </a:r>
            <a:endParaRPr sz="800" b="0" i="0" u="none" strike="noStrike" cap="none">
              <a:solidFill>
                <a:schemeClr val="dk1"/>
              </a:solidFill>
              <a:latin typeface="Calibri"/>
              <a:ea typeface="Calibri"/>
              <a:cs typeface="Calibri"/>
              <a:sym typeface="Calibri"/>
            </a:endParaRPr>
          </a:p>
        </p:txBody>
      </p:sp>
      <p:sp>
        <p:nvSpPr>
          <p:cNvPr id="190" name="Google Shape;190;p28"/>
          <p:cNvSpPr txBox="1"/>
          <p:nvPr/>
        </p:nvSpPr>
        <p:spPr>
          <a:xfrm>
            <a:off x="4838025" y="3794135"/>
            <a:ext cx="276300" cy="141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 sz="800" b="0" i="0" u="none" strike="noStrike" cap="none">
                <a:solidFill>
                  <a:schemeClr val="dk1"/>
                </a:solidFill>
                <a:latin typeface="Calibri"/>
                <a:ea typeface="Calibri"/>
                <a:cs typeface="Calibri"/>
                <a:sym typeface="Calibri"/>
              </a:rPr>
              <a:t>o.</a:t>
            </a:r>
            <a:r>
              <a:rPr lang="en" sz="800">
                <a:solidFill>
                  <a:schemeClr val="dk1"/>
                </a:solidFill>
                <a:latin typeface="Calibri"/>
                <a:ea typeface="Calibri"/>
                <a:cs typeface="Calibri"/>
                <a:sym typeface="Calibri"/>
              </a:rPr>
              <a:t>s.</a:t>
            </a:r>
            <a:endParaRPr sz="800" b="0" i="0" u="none" strike="noStrike" cap="none">
              <a:solidFill>
                <a:schemeClr val="dk1"/>
              </a:solidFill>
              <a:latin typeface="Calibri"/>
              <a:ea typeface="Calibri"/>
              <a:cs typeface="Calibri"/>
              <a:sym typeface="Calibri"/>
            </a:endParaRPr>
          </a:p>
        </p:txBody>
      </p:sp>
      <p:sp>
        <p:nvSpPr>
          <p:cNvPr id="191" name="Google Shape;191;p28"/>
          <p:cNvSpPr txBox="1"/>
          <p:nvPr/>
        </p:nvSpPr>
        <p:spPr>
          <a:xfrm>
            <a:off x="4838025" y="3431217"/>
            <a:ext cx="276300" cy="141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 sz="800" b="0" i="0" u="none" strike="noStrike" cap="none">
                <a:solidFill>
                  <a:schemeClr val="dk1"/>
                </a:solidFill>
                <a:latin typeface="Calibri"/>
                <a:ea typeface="Calibri"/>
                <a:cs typeface="Calibri"/>
                <a:sym typeface="Calibri"/>
              </a:rPr>
              <a:t>o.</a:t>
            </a:r>
            <a:r>
              <a:rPr lang="en" sz="800">
                <a:solidFill>
                  <a:schemeClr val="dk1"/>
                </a:solidFill>
                <a:latin typeface="Calibri"/>
                <a:ea typeface="Calibri"/>
                <a:cs typeface="Calibri"/>
                <a:sym typeface="Calibri"/>
              </a:rPr>
              <a:t>s.</a:t>
            </a:r>
            <a:endParaRPr sz="800" b="0" i="0" u="none" strike="noStrike" cap="none">
              <a:solidFill>
                <a:schemeClr val="dk1"/>
              </a:solidFill>
              <a:latin typeface="Calibri"/>
              <a:ea typeface="Calibri"/>
              <a:cs typeface="Calibri"/>
              <a:sym typeface="Calibri"/>
            </a:endParaRPr>
          </a:p>
        </p:txBody>
      </p:sp>
      <p:sp>
        <p:nvSpPr>
          <p:cNvPr id="192" name="Google Shape;192;p28"/>
          <p:cNvSpPr txBox="1"/>
          <p:nvPr/>
        </p:nvSpPr>
        <p:spPr>
          <a:xfrm>
            <a:off x="4838025" y="2484206"/>
            <a:ext cx="276300" cy="141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 sz="800" b="0" i="0" u="none" strike="noStrike" cap="none">
                <a:solidFill>
                  <a:schemeClr val="dk1"/>
                </a:solidFill>
                <a:latin typeface="Calibri"/>
                <a:ea typeface="Calibri"/>
                <a:cs typeface="Calibri"/>
                <a:sym typeface="Calibri"/>
              </a:rPr>
              <a:t>o.</a:t>
            </a:r>
            <a:r>
              <a:rPr lang="en" sz="800">
                <a:solidFill>
                  <a:schemeClr val="dk1"/>
                </a:solidFill>
                <a:latin typeface="Calibri"/>
                <a:ea typeface="Calibri"/>
                <a:cs typeface="Calibri"/>
                <a:sym typeface="Calibri"/>
              </a:rPr>
              <a:t>s.</a:t>
            </a:r>
            <a:endParaRPr sz="800" b="0" i="0" u="none" strike="noStrike" cap="none">
              <a:solidFill>
                <a:schemeClr val="dk1"/>
              </a:solidFill>
              <a:latin typeface="Calibri"/>
              <a:ea typeface="Calibri"/>
              <a:cs typeface="Calibri"/>
              <a:sym typeface="Calibri"/>
            </a:endParaRPr>
          </a:p>
        </p:txBody>
      </p:sp>
      <p:sp>
        <p:nvSpPr>
          <p:cNvPr id="193" name="Google Shape;193;p28"/>
          <p:cNvSpPr txBox="1"/>
          <p:nvPr/>
        </p:nvSpPr>
        <p:spPr>
          <a:xfrm>
            <a:off x="4838025" y="2680194"/>
            <a:ext cx="276300" cy="141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 sz="800" b="0" i="0" u="none" strike="noStrike" cap="none">
                <a:solidFill>
                  <a:schemeClr val="dk1"/>
                </a:solidFill>
                <a:latin typeface="Calibri"/>
                <a:ea typeface="Calibri"/>
                <a:cs typeface="Calibri"/>
                <a:sym typeface="Calibri"/>
              </a:rPr>
              <a:t>o.</a:t>
            </a:r>
            <a:r>
              <a:rPr lang="en" sz="800">
                <a:solidFill>
                  <a:schemeClr val="dk1"/>
                </a:solidFill>
                <a:latin typeface="Calibri"/>
                <a:ea typeface="Calibri"/>
                <a:cs typeface="Calibri"/>
                <a:sym typeface="Calibri"/>
              </a:rPr>
              <a:t>s.</a:t>
            </a:r>
            <a:endParaRPr sz="800" b="0" i="0" u="none" strike="noStrike" cap="none">
              <a:solidFill>
                <a:schemeClr val="dk1"/>
              </a:solidFill>
              <a:latin typeface="Calibri"/>
              <a:ea typeface="Calibri"/>
              <a:cs typeface="Calibri"/>
              <a:sym typeface="Calibri"/>
            </a:endParaRPr>
          </a:p>
        </p:txBody>
      </p:sp>
      <p:sp>
        <p:nvSpPr>
          <p:cNvPr id="194" name="Google Shape;194;p28"/>
          <p:cNvSpPr txBox="1"/>
          <p:nvPr/>
        </p:nvSpPr>
        <p:spPr>
          <a:xfrm>
            <a:off x="4838025" y="3240245"/>
            <a:ext cx="276300" cy="141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 sz="800" b="0" i="0" u="none" strike="noStrike" cap="none">
                <a:solidFill>
                  <a:schemeClr val="dk1"/>
                </a:solidFill>
                <a:latin typeface="Calibri"/>
                <a:ea typeface="Calibri"/>
                <a:cs typeface="Calibri"/>
                <a:sym typeface="Calibri"/>
              </a:rPr>
              <a:t>o.</a:t>
            </a:r>
            <a:r>
              <a:rPr lang="en" sz="800">
                <a:solidFill>
                  <a:schemeClr val="dk1"/>
                </a:solidFill>
                <a:latin typeface="Calibri"/>
                <a:ea typeface="Calibri"/>
                <a:cs typeface="Calibri"/>
                <a:sym typeface="Calibri"/>
              </a:rPr>
              <a:t>s.</a:t>
            </a:r>
            <a:endParaRPr sz="800" b="0" i="0" u="none" strike="noStrike" cap="non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29"/>
          <p:cNvSpPr txBox="1"/>
          <p:nvPr/>
        </p:nvSpPr>
        <p:spPr>
          <a:xfrm>
            <a:off x="72300" y="76200"/>
            <a:ext cx="39996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i="0" u="none" strike="noStrike" cap="none">
                <a:solidFill>
                  <a:schemeClr val="dk1"/>
                </a:solidFill>
                <a:latin typeface="Calibri"/>
                <a:ea typeface="Calibri"/>
                <a:cs typeface="Calibri"/>
                <a:sym typeface="Calibri"/>
              </a:rPr>
              <a:t>Tech Layoffs are lower than in 2023</a:t>
            </a:r>
            <a:endParaRPr sz="2000" b="1" i="0" u="none" strike="noStrike" cap="none">
              <a:solidFill>
                <a:srgbClr val="000000"/>
              </a:solidFill>
              <a:latin typeface="Calibri"/>
              <a:ea typeface="Calibri"/>
              <a:cs typeface="Calibri"/>
              <a:sym typeface="Calibri"/>
            </a:endParaRPr>
          </a:p>
        </p:txBody>
      </p:sp>
      <p:sp>
        <p:nvSpPr>
          <p:cNvPr id="200" name="Google Shape;200;p29"/>
          <p:cNvSpPr txBox="1"/>
          <p:nvPr/>
        </p:nvSpPr>
        <p:spPr>
          <a:xfrm>
            <a:off x="6291625" y="109963"/>
            <a:ext cx="20025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0F0F0F"/>
                </a:solidFill>
                <a:latin typeface="Calibri"/>
                <a:ea typeface="Calibri"/>
                <a:cs typeface="Calibri"/>
                <a:sym typeface="Calibri"/>
              </a:rPr>
              <a:t>Layoffs - </a:t>
            </a:r>
            <a:r>
              <a:rPr lang="en" sz="1300" b="0" i="0" u="sng" strike="noStrike" cap="none">
                <a:solidFill>
                  <a:schemeClr val="hlink"/>
                </a:solidFill>
                <a:latin typeface="Calibri"/>
                <a:ea typeface="Calibri"/>
                <a:cs typeface="Calibri"/>
                <a:sym typeface="Calibri"/>
                <a:hlinkClick r:id="rId3"/>
              </a:rPr>
              <a:t>https://layoffs.fyi</a:t>
            </a:r>
            <a:r>
              <a:rPr lang="en" sz="1300" b="0" i="0" u="none" strike="noStrike" cap="none">
                <a:solidFill>
                  <a:srgbClr val="0F0F0F"/>
                </a:solidFill>
                <a:latin typeface="Calibri"/>
                <a:ea typeface="Calibri"/>
                <a:cs typeface="Calibri"/>
                <a:sym typeface="Calibri"/>
              </a:rPr>
              <a:t> </a:t>
            </a:r>
            <a:endParaRPr sz="1300" b="0" i="0" u="none" strike="noStrike" cap="none">
              <a:solidFill>
                <a:srgbClr val="0F0F0F"/>
              </a:solidFill>
              <a:latin typeface="Calibri"/>
              <a:ea typeface="Calibri"/>
              <a:cs typeface="Calibri"/>
              <a:sym typeface="Calibri"/>
            </a:endParaRPr>
          </a:p>
        </p:txBody>
      </p:sp>
      <p:sp>
        <p:nvSpPr>
          <p:cNvPr id="201" name="Google Shape;201;p29"/>
          <p:cNvSpPr txBox="1"/>
          <p:nvPr/>
        </p:nvSpPr>
        <p:spPr>
          <a:xfrm>
            <a:off x="387275" y="4202375"/>
            <a:ext cx="8367000" cy="923400"/>
          </a:xfrm>
          <a:prstGeom prst="rect">
            <a:avLst/>
          </a:prstGeom>
          <a:solidFill>
            <a:srgbClr val="FFF2CC"/>
          </a:solidFill>
          <a:ln>
            <a:noFill/>
          </a:ln>
        </p:spPr>
        <p:txBody>
          <a:bodyPr spcFirstLastPara="1" wrap="square" lIns="91425" tIns="91425" rIns="91425" bIns="91425" anchor="t" anchorCtr="0">
            <a:spAutoFit/>
          </a:bodyPr>
          <a:lstStyle/>
          <a:p>
            <a:pPr marL="457200" marR="0" lvl="0" indent="-304800" algn="l" rtl="0">
              <a:lnSpc>
                <a:spcPct val="100000"/>
              </a:lnSpc>
              <a:spcBef>
                <a:spcPts val="0"/>
              </a:spcBef>
              <a:spcAft>
                <a:spcPts val="0"/>
              </a:spcAft>
              <a:buClr>
                <a:srgbClr val="000000"/>
              </a:buClr>
              <a:buSzPts val="1200"/>
              <a:buFont typeface="Calibri"/>
              <a:buChar char="●"/>
            </a:pPr>
            <a:r>
              <a:rPr lang="en" sz="1200" b="0" i="0" u="none" strike="noStrike" cap="none">
                <a:solidFill>
                  <a:srgbClr val="000000"/>
                </a:solidFill>
                <a:latin typeface="Calibri"/>
                <a:ea typeface="Calibri"/>
                <a:cs typeface="Calibri"/>
                <a:sym typeface="Calibri"/>
              </a:rPr>
              <a:t>Salaries for AI engineers rose 12% from the third to fourth quarter last year</a:t>
            </a:r>
            <a:endParaRPr sz="1200" b="0" i="0" u="none" strike="noStrike" cap="none">
              <a:solidFill>
                <a:srgbClr val="000000"/>
              </a:solidFill>
              <a:latin typeface="Calibri"/>
              <a:ea typeface="Calibri"/>
              <a:cs typeface="Calibri"/>
              <a:sym typeface="Calibri"/>
            </a:endParaRPr>
          </a:p>
          <a:p>
            <a:pPr marL="457200" marR="0" lvl="0" indent="-304800" algn="l" rtl="0">
              <a:lnSpc>
                <a:spcPct val="100000"/>
              </a:lnSpc>
              <a:spcBef>
                <a:spcPts val="0"/>
              </a:spcBef>
              <a:spcAft>
                <a:spcPts val="0"/>
              </a:spcAft>
              <a:buClr>
                <a:srgbClr val="000000"/>
              </a:buClr>
              <a:buSzPts val="1200"/>
              <a:buFont typeface="Calibri"/>
              <a:buChar char="●"/>
            </a:pPr>
            <a:r>
              <a:rPr lang="en" sz="1200" b="0" i="0" u="none" strike="noStrike" cap="none">
                <a:solidFill>
                  <a:srgbClr val="000000"/>
                </a:solidFill>
                <a:latin typeface="Calibri"/>
                <a:ea typeface="Calibri"/>
                <a:cs typeface="Calibri"/>
                <a:sym typeface="Calibri"/>
              </a:rPr>
              <a:t>The average salary for a senior AI engineer nationally is more than $190,000, according to Comprehensive.io.</a:t>
            </a:r>
            <a:endParaRPr sz="1200" b="0" i="0" u="none" strike="noStrike" cap="none">
              <a:solidFill>
                <a:srgbClr val="000000"/>
              </a:solidFill>
              <a:latin typeface="Calibri"/>
              <a:ea typeface="Calibri"/>
              <a:cs typeface="Calibri"/>
              <a:sym typeface="Calibri"/>
            </a:endParaRPr>
          </a:p>
          <a:p>
            <a:pPr marL="457200" marR="0" lvl="0" indent="-304800" algn="l" rtl="0">
              <a:lnSpc>
                <a:spcPct val="100000"/>
              </a:lnSpc>
              <a:spcBef>
                <a:spcPts val="0"/>
              </a:spcBef>
              <a:spcAft>
                <a:spcPts val="0"/>
              </a:spcAft>
              <a:buClr>
                <a:srgbClr val="000000"/>
              </a:buClr>
              <a:buSzPts val="1200"/>
              <a:buFont typeface="Calibri"/>
              <a:buChar char="●"/>
            </a:pPr>
            <a:r>
              <a:rPr lang="en" sz="1200" b="0" i="0" u="none" strike="noStrike" cap="none">
                <a:solidFill>
                  <a:srgbClr val="000000"/>
                </a:solidFill>
                <a:latin typeface="Calibri"/>
                <a:ea typeface="Calibri"/>
                <a:cs typeface="Calibri"/>
                <a:sym typeface="Calibri"/>
              </a:rPr>
              <a:t>AI has a talent shortage, meaning </a:t>
            </a:r>
            <a:r>
              <a:rPr lang="en" sz="1200" b="1" i="0" u="none" strike="noStrike" cap="none">
                <a:solidFill>
                  <a:srgbClr val="FF0000"/>
                </a:solidFill>
                <a:latin typeface="Calibri"/>
                <a:ea typeface="Calibri"/>
                <a:cs typeface="Calibri"/>
                <a:sym typeface="Calibri"/>
              </a:rPr>
              <a:t>$1 Mln salary job offers! </a:t>
            </a:r>
            <a:r>
              <a:rPr lang="en" sz="1200" b="0" i="0" u="none" strike="noStrike" cap="none">
                <a:solidFill>
                  <a:srgbClr val="000000"/>
                </a:solidFill>
                <a:latin typeface="Calibri"/>
                <a:ea typeface="Calibri"/>
                <a:cs typeface="Calibri"/>
                <a:sym typeface="Calibri"/>
              </a:rPr>
              <a:t>Even during tech layoffs</a:t>
            </a:r>
            <a:br>
              <a:rPr lang="en" sz="1200" b="0" i="0" u="none" strike="noStrike" cap="none">
                <a:solidFill>
                  <a:srgbClr val="000000"/>
                </a:solidFill>
                <a:latin typeface="Calibri"/>
                <a:ea typeface="Calibri"/>
                <a:cs typeface="Calibri"/>
                <a:sym typeface="Calibri"/>
              </a:rPr>
            </a:br>
            <a:r>
              <a:rPr lang="en" sz="1200" b="0" i="0" u="sng" strike="noStrike" cap="none">
                <a:solidFill>
                  <a:schemeClr val="hlink"/>
                </a:solidFill>
                <a:latin typeface="Calibri"/>
                <a:ea typeface="Calibri"/>
                <a:cs typeface="Calibri"/>
                <a:sym typeface="Calibri"/>
                <a:hlinkClick r:id="rId4"/>
              </a:rPr>
              <a:t>https://qz.com/tech-layoffs-high-ai-struggling-find-talent-1851368861</a:t>
            </a:r>
            <a:r>
              <a:rPr lang="en" sz="1200" b="0" i="0" u="none" strike="noStrike" cap="none">
                <a:solidFill>
                  <a:srgbClr val="000000"/>
                </a:solidFill>
                <a:latin typeface="Calibri"/>
                <a:ea typeface="Calibri"/>
                <a:cs typeface="Calibri"/>
                <a:sym typeface="Calibri"/>
              </a:rPr>
              <a:t> </a:t>
            </a:r>
            <a:endParaRPr sz="1200" b="0" i="0" u="none" strike="noStrike" cap="none">
              <a:solidFill>
                <a:srgbClr val="000000"/>
              </a:solidFill>
              <a:latin typeface="Calibri"/>
              <a:ea typeface="Calibri"/>
              <a:cs typeface="Calibri"/>
              <a:sym typeface="Calibri"/>
            </a:endParaRPr>
          </a:p>
        </p:txBody>
      </p:sp>
      <p:pic>
        <p:nvPicPr>
          <p:cNvPr id="202" name="Google Shape;202;p29"/>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536838" y="656951"/>
            <a:ext cx="8067873" cy="3482675"/>
          </a:xfrm>
          <a:prstGeom prst="rect">
            <a:avLst/>
          </a:prstGeom>
          <a:noFill/>
          <a:ln>
            <a:noFill/>
          </a:ln>
        </p:spPr>
      </p:pic>
      <p:sp>
        <p:nvSpPr>
          <p:cNvPr id="203" name="Google Shape;203;p29"/>
          <p:cNvSpPr/>
          <p:nvPr/>
        </p:nvSpPr>
        <p:spPr>
          <a:xfrm>
            <a:off x="4287625" y="1553375"/>
            <a:ext cx="861300" cy="1665300"/>
          </a:xfrm>
          <a:prstGeom prst="rect">
            <a:avLst/>
          </a:prstGeom>
          <a:no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4" name="Google Shape;204;p29"/>
          <p:cNvSpPr/>
          <p:nvPr/>
        </p:nvSpPr>
        <p:spPr>
          <a:xfrm>
            <a:off x="6877475" y="1553393"/>
            <a:ext cx="861300" cy="1665300"/>
          </a:xfrm>
          <a:prstGeom prst="rect">
            <a:avLst/>
          </a:prstGeom>
          <a:no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30"/>
          <p:cNvSpPr txBox="1"/>
          <p:nvPr/>
        </p:nvSpPr>
        <p:spPr>
          <a:xfrm>
            <a:off x="4662425" y="959700"/>
            <a:ext cx="4408800" cy="255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27425" tIns="27425" rIns="27425" bIns="27425" anchor="t" anchorCtr="0">
            <a:spAutoFit/>
          </a:bodyPr>
          <a:lstStyle/>
          <a:p>
            <a:pPr marL="0" lvl="0" indent="0" algn="l" rtl="0">
              <a:spcBef>
                <a:spcPts val="0"/>
              </a:spcBef>
              <a:spcAft>
                <a:spcPts val="0"/>
              </a:spcAft>
              <a:buNone/>
            </a:pPr>
            <a:r>
              <a:rPr lang="en" sz="1300">
                <a:solidFill>
                  <a:schemeClr val="dk1"/>
                </a:solidFill>
                <a:latin typeface="Calibri"/>
                <a:ea typeface="Calibri"/>
                <a:cs typeface="Calibri"/>
                <a:sym typeface="Calibri"/>
              </a:rPr>
              <a:t>xxx</a:t>
            </a:r>
            <a:endParaRPr sz="1300">
              <a:latin typeface="Calibri"/>
              <a:ea typeface="Calibri"/>
              <a:cs typeface="Calibri"/>
              <a:sym typeface="Calibri"/>
            </a:endParaRPr>
          </a:p>
        </p:txBody>
      </p:sp>
      <p:sp>
        <p:nvSpPr>
          <p:cNvPr id="210" name="Google Shape;210;p30"/>
          <p:cNvSpPr txBox="1"/>
          <p:nvPr/>
        </p:nvSpPr>
        <p:spPr>
          <a:xfrm>
            <a:off x="76200" y="0"/>
            <a:ext cx="3926100" cy="2955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1800" b="1">
                <a:solidFill>
                  <a:srgbClr val="0F1419"/>
                </a:solidFill>
                <a:highlight>
                  <a:srgbClr val="FFFFFF"/>
                </a:highlight>
                <a:latin typeface="Calibri"/>
                <a:ea typeface="Calibri"/>
                <a:cs typeface="Calibri"/>
                <a:sym typeface="Calibri"/>
              </a:rPr>
              <a:t>Position Yourself as an AI Expert</a:t>
            </a:r>
            <a:endParaRPr sz="1800" b="1">
              <a:latin typeface="Calibri"/>
              <a:ea typeface="Calibri"/>
              <a:cs typeface="Calibri"/>
              <a:sym typeface="Calibri"/>
            </a:endParaRPr>
          </a:p>
        </p:txBody>
      </p:sp>
      <p:sp>
        <p:nvSpPr>
          <p:cNvPr id="211" name="Google Shape;211;p30"/>
          <p:cNvSpPr txBox="1"/>
          <p:nvPr/>
        </p:nvSpPr>
        <p:spPr>
          <a:xfrm>
            <a:off x="4662425" y="309300"/>
            <a:ext cx="4408800" cy="1656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27425" tIns="27425" rIns="27425" bIns="27425" anchor="t" anchorCtr="0">
            <a:spAutoFit/>
          </a:bodyPr>
          <a:lstStyle/>
          <a:p>
            <a:pPr marL="0" lvl="0" indent="0" algn="l" rtl="0">
              <a:spcBef>
                <a:spcPts val="0"/>
              </a:spcBef>
              <a:spcAft>
                <a:spcPts val="0"/>
              </a:spcAft>
              <a:buNone/>
            </a:pPr>
            <a:r>
              <a:rPr lang="en" sz="1300">
                <a:solidFill>
                  <a:schemeClr val="dk1"/>
                </a:solidFill>
                <a:latin typeface="Calibri"/>
                <a:ea typeface="Calibri"/>
                <a:cs typeface="Calibri"/>
                <a:sym typeface="Calibri"/>
              </a:rPr>
              <a:t>Top AI skills to include in the resume:</a:t>
            </a:r>
            <a:endParaRPr sz="1300">
              <a:solidFill>
                <a:schemeClr val="dk1"/>
              </a:solidFill>
              <a:latin typeface="Calibri"/>
              <a:ea typeface="Calibri"/>
              <a:cs typeface="Calibri"/>
              <a:sym typeface="Calibri"/>
            </a:endParaRPr>
          </a:p>
          <a:p>
            <a:pPr marL="457200" lvl="0" indent="-3111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Prompt engineering</a:t>
            </a:r>
            <a:endParaRPr sz="1300">
              <a:solidFill>
                <a:schemeClr val="dk1"/>
              </a:solidFill>
              <a:latin typeface="Calibri"/>
              <a:ea typeface="Calibri"/>
              <a:cs typeface="Calibri"/>
              <a:sym typeface="Calibri"/>
            </a:endParaRPr>
          </a:p>
          <a:p>
            <a:pPr marL="457200" lvl="0" indent="-3111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Programming languages for AI</a:t>
            </a:r>
            <a:endParaRPr sz="1300">
              <a:solidFill>
                <a:schemeClr val="dk1"/>
              </a:solidFill>
              <a:latin typeface="Calibri"/>
              <a:ea typeface="Calibri"/>
              <a:cs typeface="Calibri"/>
              <a:sym typeface="Calibri"/>
            </a:endParaRPr>
          </a:p>
          <a:p>
            <a:pPr marL="457200" lvl="0" indent="-3111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Machine learning</a:t>
            </a:r>
            <a:endParaRPr sz="1300">
              <a:solidFill>
                <a:schemeClr val="dk1"/>
              </a:solidFill>
              <a:latin typeface="Calibri"/>
              <a:ea typeface="Calibri"/>
              <a:cs typeface="Calibri"/>
              <a:sym typeface="Calibri"/>
            </a:endParaRPr>
          </a:p>
          <a:p>
            <a:pPr marL="457200" lvl="0" indent="-3111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Neural networks and deep learning</a:t>
            </a:r>
            <a:endParaRPr sz="1300">
              <a:solidFill>
                <a:schemeClr val="dk1"/>
              </a:solidFill>
              <a:latin typeface="Calibri"/>
              <a:ea typeface="Calibri"/>
              <a:cs typeface="Calibri"/>
              <a:sym typeface="Calibri"/>
            </a:endParaRPr>
          </a:p>
          <a:p>
            <a:pPr marL="457200" lvl="0" indent="-3111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Natural language processing (NLP)</a:t>
            </a:r>
            <a:endParaRPr sz="1300">
              <a:solidFill>
                <a:schemeClr val="dk1"/>
              </a:solidFill>
              <a:latin typeface="Calibri"/>
              <a:ea typeface="Calibri"/>
              <a:cs typeface="Calibri"/>
              <a:sym typeface="Calibri"/>
            </a:endParaRPr>
          </a:p>
          <a:p>
            <a:pPr marL="457200" lvl="0" indent="-3111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Cognitive computing skills (mimic human thinking) - recognize images, patterns, sentiment, risk, ...</a:t>
            </a:r>
            <a:endParaRPr sz="1300">
              <a:solidFill>
                <a:schemeClr val="dk1"/>
              </a:solidFill>
              <a:latin typeface="Calibri"/>
              <a:ea typeface="Calibri"/>
              <a:cs typeface="Calibri"/>
              <a:sym typeface="Calibri"/>
            </a:endParaRPr>
          </a:p>
        </p:txBody>
      </p:sp>
      <p:sp>
        <p:nvSpPr>
          <p:cNvPr id="212" name="Google Shape;212;p30"/>
          <p:cNvSpPr txBox="1"/>
          <p:nvPr/>
        </p:nvSpPr>
        <p:spPr>
          <a:xfrm>
            <a:off x="60089" y="309300"/>
            <a:ext cx="4408800" cy="609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27425" tIns="27425" rIns="27425" bIns="27425" anchor="t" anchorCtr="0">
            <a:spAutoFit/>
          </a:bodyPr>
          <a:lstStyle/>
          <a:p>
            <a:pPr marL="0" lvl="0" indent="0" algn="l" rtl="0">
              <a:spcBef>
                <a:spcPts val="0"/>
              </a:spcBef>
              <a:spcAft>
                <a:spcPts val="0"/>
              </a:spcAft>
              <a:buNone/>
            </a:pPr>
            <a:r>
              <a:rPr lang="en" sz="1300">
                <a:solidFill>
                  <a:schemeClr val="dk1"/>
                </a:solidFill>
                <a:latin typeface="Calibri"/>
                <a:ea typeface="Calibri"/>
                <a:cs typeface="Calibri"/>
                <a:sym typeface="Calibri"/>
              </a:rPr>
              <a:t>The Top 3 Resume Mistakes Costing You the Job</a:t>
            </a:r>
            <a:endParaRPr sz="1300">
              <a:solidFill>
                <a:schemeClr val="dk1"/>
              </a:solidFill>
              <a:latin typeface="Calibri"/>
              <a:ea typeface="Calibri"/>
              <a:cs typeface="Calibri"/>
              <a:sym typeface="Calibri"/>
            </a:endParaRPr>
          </a:p>
          <a:p>
            <a:pPr marL="0" lvl="0" indent="0" algn="l" rtl="0">
              <a:spcBef>
                <a:spcPts val="0"/>
              </a:spcBef>
              <a:spcAft>
                <a:spcPts val="0"/>
              </a:spcAft>
              <a:buNone/>
            </a:pPr>
            <a:r>
              <a:rPr lang="en" sz="1300" b="1">
                <a:solidFill>
                  <a:srgbClr val="FF0000"/>
                </a:solidFill>
                <a:latin typeface="Calibri"/>
                <a:ea typeface="Calibri"/>
                <a:cs typeface="Calibri"/>
                <a:sym typeface="Calibri"/>
              </a:rPr>
              <a:t>No clear objective</a:t>
            </a:r>
            <a:r>
              <a:rPr lang="en" sz="1300">
                <a:solidFill>
                  <a:schemeClr val="dk1"/>
                </a:solidFill>
                <a:latin typeface="Calibri"/>
                <a:ea typeface="Calibri"/>
                <a:cs typeface="Calibri"/>
                <a:sym typeface="Calibri"/>
              </a:rPr>
              <a:t>, </a:t>
            </a:r>
            <a:r>
              <a:rPr lang="en" sz="1300" b="1">
                <a:solidFill>
                  <a:srgbClr val="3C78D8"/>
                </a:solidFill>
                <a:latin typeface="Calibri"/>
                <a:ea typeface="Calibri"/>
                <a:cs typeface="Calibri"/>
                <a:sym typeface="Calibri"/>
              </a:rPr>
              <a:t>No results, only activities</a:t>
            </a:r>
            <a:r>
              <a:rPr lang="en" sz="1300">
                <a:solidFill>
                  <a:schemeClr val="dk1"/>
                </a:solidFill>
                <a:latin typeface="Calibri"/>
                <a:ea typeface="Calibri"/>
                <a:cs typeface="Calibri"/>
                <a:sym typeface="Calibri"/>
              </a:rPr>
              <a:t>, </a:t>
            </a:r>
            <a:r>
              <a:rPr lang="en" sz="1300" b="1">
                <a:solidFill>
                  <a:srgbClr val="6AA84F"/>
                </a:solidFill>
                <a:latin typeface="Calibri"/>
                <a:ea typeface="Calibri"/>
                <a:cs typeface="Calibri"/>
                <a:sym typeface="Calibri"/>
              </a:rPr>
              <a:t>Too many words</a:t>
            </a:r>
            <a:endParaRPr sz="1300" b="1">
              <a:solidFill>
                <a:srgbClr val="6AA84F"/>
              </a:solidFill>
              <a:latin typeface="Calibri"/>
              <a:ea typeface="Calibri"/>
              <a:cs typeface="Calibri"/>
              <a:sym typeface="Calibri"/>
            </a:endParaRPr>
          </a:p>
          <a:p>
            <a:pPr marL="0" lvl="0" indent="0" algn="l" rtl="0">
              <a:spcBef>
                <a:spcPts val="0"/>
              </a:spcBef>
              <a:spcAft>
                <a:spcPts val="0"/>
              </a:spcAft>
              <a:buNone/>
            </a:pPr>
            <a:r>
              <a:rPr lang="en" sz="1000" u="sng">
                <a:solidFill>
                  <a:schemeClr val="hlink"/>
                </a:solidFill>
                <a:latin typeface="Calibri"/>
                <a:ea typeface="Calibri"/>
                <a:cs typeface="Calibri"/>
                <a:sym typeface="Calibri"/>
                <a:hlinkClick r:id="rId3"/>
              </a:rPr>
              <a:t>https://blog.bytebytego.com/p/the-top-3-resume-mistakes-costing</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p:txBody>
      </p:sp>
      <p:sp>
        <p:nvSpPr>
          <p:cNvPr id="213" name="Google Shape;213;p30"/>
          <p:cNvSpPr txBox="1"/>
          <p:nvPr/>
        </p:nvSpPr>
        <p:spPr>
          <a:xfrm>
            <a:off x="4662425" y="2053897"/>
            <a:ext cx="4408800" cy="1056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27425" tIns="27425" rIns="27425" bIns="27425" anchor="t" anchorCtr="0">
            <a:spAutoFit/>
          </a:bodyPr>
          <a:lstStyle/>
          <a:p>
            <a:pPr marL="0" lvl="0" indent="0" algn="l" rtl="0">
              <a:spcBef>
                <a:spcPts val="0"/>
              </a:spcBef>
              <a:spcAft>
                <a:spcPts val="0"/>
              </a:spcAft>
              <a:buNone/>
            </a:pPr>
            <a:r>
              <a:rPr lang="en" sz="1300">
                <a:solidFill>
                  <a:schemeClr val="dk1"/>
                </a:solidFill>
                <a:latin typeface="Calibri"/>
                <a:ea typeface="Calibri"/>
                <a:cs typeface="Calibri"/>
                <a:sym typeface="Calibri"/>
              </a:rPr>
              <a:t>How do you show AI skills on a resume?</a:t>
            </a:r>
            <a:endParaRPr sz="1300">
              <a:solidFill>
                <a:schemeClr val="dk1"/>
              </a:solidFill>
              <a:latin typeface="Calibri"/>
              <a:ea typeface="Calibri"/>
              <a:cs typeface="Calibri"/>
              <a:sym typeface="Calibri"/>
            </a:endParaRPr>
          </a:p>
          <a:p>
            <a:pPr marL="0" lvl="0" indent="0" algn="l" rtl="0">
              <a:spcBef>
                <a:spcPts val="0"/>
              </a:spcBef>
              <a:spcAft>
                <a:spcPts val="0"/>
              </a:spcAft>
              <a:buNone/>
            </a:pPr>
            <a:endParaRPr sz="1300">
              <a:solidFill>
                <a:schemeClr val="dk1"/>
              </a:solidFill>
              <a:latin typeface="Calibri"/>
              <a:ea typeface="Calibri"/>
              <a:cs typeface="Calibri"/>
              <a:sym typeface="Calibri"/>
            </a:endParaRPr>
          </a:p>
          <a:p>
            <a:pPr marL="0" lvl="0" indent="0" algn="l" rtl="0">
              <a:spcBef>
                <a:spcPts val="0"/>
              </a:spcBef>
              <a:spcAft>
                <a:spcPts val="0"/>
              </a:spcAft>
              <a:buNone/>
            </a:pPr>
            <a:r>
              <a:rPr lang="en" sz="1300">
                <a:solidFill>
                  <a:schemeClr val="dk1"/>
                </a:solidFill>
                <a:latin typeface="Calibri"/>
                <a:ea typeface="Calibri"/>
                <a:cs typeface="Calibri"/>
                <a:sym typeface="Calibri"/>
              </a:rPr>
              <a:t>Mention the specific AI tools you used (e.g., Python, TensorFlow, PyTorch, Scikit-Learn). Summarize the outcomes achieved (improvements, accuracy rates, ... )</a:t>
            </a:r>
            <a:endParaRPr sz="1300">
              <a:solidFill>
                <a:schemeClr val="dk1"/>
              </a:solidFill>
              <a:latin typeface="Calibri"/>
              <a:ea typeface="Calibri"/>
              <a:cs typeface="Calibri"/>
              <a:sym typeface="Calibri"/>
            </a:endParaRPr>
          </a:p>
        </p:txBody>
      </p:sp>
      <p:sp>
        <p:nvSpPr>
          <p:cNvPr id="214" name="Google Shape;214;p30"/>
          <p:cNvSpPr txBox="1"/>
          <p:nvPr/>
        </p:nvSpPr>
        <p:spPr>
          <a:xfrm>
            <a:off x="60089" y="993996"/>
            <a:ext cx="4408800" cy="809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27425" tIns="27425" rIns="27425" bIns="27425" anchor="t" anchorCtr="0">
            <a:spAutoFit/>
          </a:bodyPr>
          <a:lstStyle/>
          <a:p>
            <a:pPr marL="0" lvl="0" indent="0" algn="l" rtl="0">
              <a:spcBef>
                <a:spcPts val="0"/>
              </a:spcBef>
              <a:spcAft>
                <a:spcPts val="0"/>
              </a:spcAft>
              <a:buNone/>
            </a:pPr>
            <a:r>
              <a:rPr lang="en" sz="1300">
                <a:solidFill>
                  <a:schemeClr val="dk1"/>
                </a:solidFill>
                <a:latin typeface="Calibri"/>
                <a:ea typeface="Calibri"/>
                <a:cs typeface="Calibri"/>
                <a:sym typeface="Calibri"/>
              </a:rPr>
              <a:t>America's AI job hotspots - San Jose, Seattle and San Francisco.</a:t>
            </a:r>
            <a:endParaRPr sz="1300">
              <a:solidFill>
                <a:schemeClr val="dk1"/>
              </a:solidFill>
              <a:latin typeface="Calibri"/>
              <a:ea typeface="Calibri"/>
              <a:cs typeface="Calibri"/>
              <a:sym typeface="Calibri"/>
            </a:endParaRPr>
          </a:p>
          <a:p>
            <a:pPr marL="0" lvl="0" indent="0" algn="l" rtl="0">
              <a:spcBef>
                <a:spcPts val="0"/>
              </a:spcBef>
              <a:spcAft>
                <a:spcPts val="0"/>
              </a:spcAft>
              <a:buNone/>
            </a:pPr>
            <a:r>
              <a:rPr lang="en" sz="1300">
                <a:solidFill>
                  <a:schemeClr val="dk1"/>
                </a:solidFill>
                <a:latin typeface="Calibri"/>
                <a:ea typeface="Calibri"/>
                <a:cs typeface="Calibri"/>
                <a:sym typeface="Calibri"/>
              </a:rPr>
              <a:t>lso Austin, Washington, D.C. and Northwest Arkansas, as well as Raleigh and Atlanta.</a:t>
            </a:r>
            <a:endParaRPr sz="1300">
              <a:solidFill>
                <a:schemeClr val="dk1"/>
              </a:solidFill>
              <a:latin typeface="Calibri"/>
              <a:ea typeface="Calibri"/>
              <a:cs typeface="Calibri"/>
              <a:sym typeface="Calibri"/>
            </a:endParaRPr>
          </a:p>
          <a:p>
            <a:pPr marL="0" lvl="0" indent="0" algn="l" rtl="0">
              <a:spcBef>
                <a:spcPts val="0"/>
              </a:spcBef>
              <a:spcAft>
                <a:spcPts val="0"/>
              </a:spcAft>
              <a:buNone/>
            </a:pPr>
            <a:r>
              <a:rPr lang="en" sz="1000" u="sng">
                <a:solidFill>
                  <a:schemeClr val="hlink"/>
                </a:solidFill>
                <a:latin typeface="Calibri"/>
                <a:ea typeface="Calibri"/>
                <a:cs typeface="Calibri"/>
                <a:sym typeface="Calibri"/>
                <a:hlinkClick r:id="rId4"/>
              </a:rPr>
              <a:t>https://www.axios.com/2024/04/16/ai-jobs-us-cities-hotspots-2024</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p:txBody>
      </p:sp>
      <p:pic>
        <p:nvPicPr>
          <p:cNvPr id="215" name="Google Shape;215;p30"/>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327825" y="2041301"/>
            <a:ext cx="3772176" cy="2964876"/>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pic>
        <p:nvPicPr>
          <p:cNvPr id="220" name="Google Shape;220;p31"/>
          <p:cNvPicPr preferRelativeResize="0"/>
          <p:nvPr/>
        </p:nvPicPr>
        <p:blipFill rotWithShape="1">
          <a:blip r:embed="rId3">
            <a:alphaModFix/>
          </a:blip>
          <a:srcRect/>
          <a:stretch/>
        </p:blipFill>
        <p:spPr>
          <a:xfrm>
            <a:off x="605238" y="1203525"/>
            <a:ext cx="2094075" cy="2094075"/>
          </a:xfrm>
          <a:prstGeom prst="rect">
            <a:avLst/>
          </a:prstGeom>
          <a:noFill/>
          <a:ln>
            <a:noFill/>
          </a:ln>
        </p:spPr>
      </p:pic>
      <p:sp>
        <p:nvSpPr>
          <p:cNvPr id="221" name="Google Shape;221;p31"/>
          <p:cNvSpPr txBox="1"/>
          <p:nvPr/>
        </p:nvSpPr>
        <p:spPr>
          <a:xfrm>
            <a:off x="-25625" y="-14775"/>
            <a:ext cx="3355800" cy="569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 sz="2500" b="1" i="0" u="none" strike="noStrike" cap="none">
                <a:solidFill>
                  <a:srgbClr val="000000"/>
                </a:solidFill>
                <a:latin typeface="Calibri"/>
                <a:ea typeface="Calibri"/>
                <a:cs typeface="Calibri"/>
                <a:sym typeface="Calibri"/>
              </a:rPr>
              <a:t>About the Speaker</a:t>
            </a:r>
            <a:endParaRPr sz="2500" b="1" i="0" u="none" strike="noStrike" cap="none">
              <a:solidFill>
                <a:srgbClr val="000000"/>
              </a:solidFill>
              <a:latin typeface="Calibri"/>
              <a:ea typeface="Calibri"/>
              <a:cs typeface="Calibri"/>
              <a:sym typeface="Calibri"/>
            </a:endParaRPr>
          </a:p>
        </p:txBody>
      </p:sp>
      <p:sp>
        <p:nvSpPr>
          <p:cNvPr id="222" name="Google Shape;222;p31"/>
          <p:cNvSpPr txBox="1"/>
          <p:nvPr/>
        </p:nvSpPr>
        <p:spPr>
          <a:xfrm>
            <a:off x="3330175" y="878750"/>
            <a:ext cx="5621700" cy="3309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500" b="1" i="0" u="none" strike="noStrike" cap="none">
                <a:solidFill>
                  <a:srgbClr val="000000"/>
                </a:solidFill>
                <a:latin typeface="Calibri"/>
                <a:ea typeface="Calibri"/>
                <a:cs typeface="Calibri"/>
                <a:sym typeface="Calibri"/>
              </a:rPr>
              <a:t>Lev Selector, Ph.D.</a:t>
            </a:r>
            <a:endParaRPr sz="2500" b="1"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endParaRPr sz="1800" b="0" i="0" u="none" strike="noStrike" cap="none">
              <a:solidFill>
                <a:srgbClr val="000000"/>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chemeClr val="dk1"/>
                </a:solidFill>
                <a:latin typeface="Calibri"/>
                <a:ea typeface="Calibri"/>
                <a:cs typeface="Calibri"/>
                <a:sym typeface="Calibri"/>
              </a:rPr>
              <a:t>40+ years of software engineering, data science, and building teams (hiring, training, and managing)</a:t>
            </a:r>
            <a:endParaRPr sz="1600" b="0" i="0" u="none" strike="noStrike" cap="none">
              <a:solidFill>
                <a:schemeClr val="dk1"/>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chemeClr val="dk1"/>
                </a:solidFill>
                <a:latin typeface="Calibri"/>
                <a:ea typeface="Calibri"/>
                <a:cs typeface="Calibri"/>
                <a:sym typeface="Calibri"/>
              </a:rPr>
              <a:t>Ph.D. in mathematical modeling and computer simulations</a:t>
            </a: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Calibri"/>
                <a:ea typeface="Calibri"/>
                <a:cs typeface="Calibri"/>
                <a:sym typeface="Calibri"/>
              </a:rPr>
              <a:t>Interests: </a:t>
            </a:r>
            <a:endParaRPr sz="1600" b="0" i="0" u="none" strike="noStrike" cap="none">
              <a:solidFill>
                <a:srgbClr val="000000"/>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chemeClr val="dk1"/>
                </a:solidFill>
                <a:latin typeface="Calibri"/>
                <a:ea typeface="Calibri"/>
                <a:cs typeface="Calibri"/>
                <a:sym typeface="Calibri"/>
              </a:rPr>
              <a:t>Generative AI, Using LLM with your data</a:t>
            </a:r>
            <a:endParaRPr sz="1600" b="0" i="0" u="none" strike="noStrike" cap="none">
              <a:solidFill>
                <a:schemeClr val="dk1"/>
              </a:solidFill>
              <a:latin typeface="Calibri"/>
              <a:ea typeface="Calibri"/>
              <a:cs typeface="Calibri"/>
              <a:sym typeface="Calibri"/>
            </a:endParaRPr>
          </a:p>
          <a:p>
            <a:pPr marL="457200" marR="0" lvl="0" indent="-330200" algn="l" rtl="0">
              <a:lnSpc>
                <a:spcPct val="100000"/>
              </a:lnSpc>
              <a:spcBef>
                <a:spcPts val="0"/>
              </a:spcBef>
              <a:spcAft>
                <a:spcPts val="0"/>
              </a:spcAft>
              <a:buClr>
                <a:schemeClr val="dk1"/>
              </a:buClr>
              <a:buSzPts val="1600"/>
              <a:buFont typeface="Calibri"/>
              <a:buChar char="●"/>
            </a:pPr>
            <a:r>
              <a:rPr lang="en" sz="1600" b="0" i="0" u="none" strike="noStrike" cap="none">
                <a:solidFill>
                  <a:schemeClr val="dk1"/>
                </a:solidFill>
                <a:latin typeface="Calibri"/>
                <a:ea typeface="Calibri"/>
                <a:cs typeface="Calibri"/>
                <a:sym typeface="Calibri"/>
              </a:rPr>
              <a:t>Local AI for Local Private Data</a:t>
            </a:r>
            <a:endParaRPr sz="1600" b="0" i="0" u="none" strike="noStrike" cap="none">
              <a:solidFill>
                <a:schemeClr val="dk1"/>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rgbClr val="000000"/>
                </a:solidFill>
                <a:latin typeface="Calibri"/>
                <a:ea typeface="Calibri"/>
                <a:cs typeface="Calibri"/>
                <a:sym typeface="Calibri"/>
              </a:rPr>
              <a:t>Cloud architecture, fin-tech, application security</a:t>
            </a: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Calibri"/>
                <a:ea typeface="Calibri"/>
                <a:cs typeface="Calibri"/>
                <a:sym typeface="Calibri"/>
              </a:rPr>
              <a:t>Find/connect: Linkedin, GitHub, YouTube, Google</a:t>
            </a:r>
            <a:endParaRPr sz="1600" b="0" i="0" u="none" strike="noStrike" cap="none">
              <a:solidFill>
                <a:srgbClr val="000000"/>
              </a:solidFill>
              <a:latin typeface="Calibri"/>
              <a:ea typeface="Calibri"/>
              <a:cs typeface="Calibri"/>
              <a:sym typeface="Calibri"/>
            </a:endParaRPr>
          </a:p>
        </p:txBody>
      </p:sp>
      <p:pic>
        <p:nvPicPr>
          <p:cNvPr id="223" name="Google Shape;223;p31"/>
          <p:cNvPicPr preferRelativeResize="0"/>
          <p:nvPr/>
        </p:nvPicPr>
        <p:blipFill rotWithShape="1">
          <a:blip r:embed="rId4" cstate="email">
            <a:alphaModFix/>
            <a:extLst>
              <a:ext uri="{28A0092B-C50C-407E-A947-70E740481C1C}">
                <a14:useLocalDpi xmlns:a14="http://schemas.microsoft.com/office/drawing/2010/main"/>
              </a:ext>
            </a:extLst>
          </a:blip>
          <a:srcRect/>
          <a:stretch/>
        </p:blipFill>
        <p:spPr>
          <a:xfrm>
            <a:off x="1010941" y="3664175"/>
            <a:ext cx="1144600" cy="415875"/>
          </a:xfrm>
          <a:prstGeom prst="rect">
            <a:avLst/>
          </a:prstGeom>
          <a:noFill/>
          <a:ln>
            <a:noFill/>
          </a:ln>
        </p:spPr>
      </p:pic>
      <p:sp>
        <p:nvSpPr>
          <p:cNvPr id="224" name="Google Shape;224;p31"/>
          <p:cNvSpPr txBox="1"/>
          <p:nvPr/>
        </p:nvSpPr>
        <p:spPr>
          <a:xfrm>
            <a:off x="912377" y="4005903"/>
            <a:ext cx="1391400" cy="431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600" b="0" i="0" u="sng" strike="noStrike" cap="none">
                <a:solidFill>
                  <a:schemeClr val="hlink"/>
                </a:solidFill>
                <a:latin typeface="Calibri"/>
                <a:ea typeface="Calibri"/>
                <a:cs typeface="Calibri"/>
                <a:sym typeface="Calibri"/>
                <a:hlinkClick r:id="rId5"/>
              </a:rPr>
              <a:t>https://eais.ai</a:t>
            </a:r>
            <a:r>
              <a:rPr lang="en" sz="1600" b="0" i="0" u="none" strike="noStrike" cap="none">
                <a:solidFill>
                  <a:srgbClr val="000000"/>
                </a:solidFill>
                <a:latin typeface="Calibri"/>
                <a:ea typeface="Calibri"/>
                <a:cs typeface="Calibri"/>
                <a:sym typeface="Calibri"/>
              </a:rPr>
              <a:t> </a:t>
            </a:r>
            <a:endParaRPr sz="1600" b="0" i="0" u="none" strike="noStrike" cap="none">
              <a:solidFill>
                <a:srgbClr val="000000"/>
              </a:solidFill>
              <a:latin typeface="Calibri"/>
              <a:ea typeface="Calibri"/>
              <a:cs typeface="Calibri"/>
              <a:sym typeface="Calibri"/>
            </a:endParaRPr>
          </a:p>
        </p:txBody>
      </p:sp>
      <p:sp>
        <p:nvSpPr>
          <p:cNvPr id="225" name="Google Shape;225;p31"/>
          <p:cNvSpPr txBox="1"/>
          <p:nvPr/>
        </p:nvSpPr>
        <p:spPr>
          <a:xfrm>
            <a:off x="536203" y="4360974"/>
            <a:ext cx="2094075" cy="430857"/>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 sz="1600" b="0" i="0" u="none" strike="noStrike" cap="none">
                <a:solidFill>
                  <a:srgbClr val="000000"/>
                </a:solidFill>
                <a:latin typeface="Calibri"/>
                <a:ea typeface="Calibri"/>
                <a:cs typeface="Calibri"/>
                <a:sym typeface="Calibri"/>
              </a:rPr>
              <a:t>Enterprise AI Systems</a:t>
            </a:r>
            <a:endParaRPr sz="1600" b="0" i="0" u="none" strike="noStrike" cap="none">
              <a:solidFill>
                <a:srgbClr val="000000"/>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32"/>
          <p:cNvSpPr txBox="1"/>
          <p:nvPr/>
        </p:nvSpPr>
        <p:spPr>
          <a:xfrm>
            <a:off x="2151375" y="1533150"/>
            <a:ext cx="4632600" cy="1262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7000"/>
              <a:buFont typeface="Arial"/>
              <a:buNone/>
            </a:pPr>
            <a:r>
              <a:rPr lang="en" sz="7000" b="1" i="0" u="none" strike="noStrike" cap="none">
                <a:solidFill>
                  <a:srgbClr val="3C78D8"/>
                </a:solidFill>
                <a:latin typeface="Calibri"/>
                <a:ea typeface="Calibri"/>
                <a:cs typeface="Calibri"/>
                <a:sym typeface="Calibri"/>
              </a:rPr>
              <a:t>Thank You!</a:t>
            </a:r>
            <a:endParaRPr sz="7000" b="1" i="0" u="none" strike="noStrike" cap="none">
              <a:solidFill>
                <a:srgbClr val="3C78D8"/>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2397</Words>
  <Application>Microsoft Macintosh PowerPoint</Application>
  <PresentationFormat>On-screen Show (16:9)</PresentationFormat>
  <Paragraphs>344</Paragraphs>
  <Slides>19</Slides>
  <Notes>19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Roboto Mono</vt:lpstr>
      <vt:lpstr>Calibri</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Lev Selector</cp:lastModifiedBy>
  <cp:revision>1</cp:revision>
  <dcterms:modified xsi:type="dcterms:W3CDTF">2024-04-19T13:46:07Z</dcterms:modified>
</cp:coreProperties>
</file>