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embeddedFontLst>
    <p:embeddedFont>
      <p:font typeface="Roboto Mono" pitchFamily="49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161" d="100"/>
          <a:sy n="161" d="100"/>
        </p:scale>
        <p:origin x="7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dfea7fbe3a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g2dfea7fbe3a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ec4c02dd06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g2ec4c02dd06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ee72287e7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g2ee72287e7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ee6090c30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g2ee6090c30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edaef3745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2edaef3745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ed5afae061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2ed5afae061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edaef3745d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2edaef3745d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ee17fdba1b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2ee17fdba1b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ee3516cb4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g2ee3516cb4d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ee83c2e70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2ee83c2e702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ee3516cb4d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g2ee3516cb4d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e8a450c44d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g2e8a450c44d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eba0d0ca6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g2eba0d0ca6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82287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huggingface.co/meta-llama" TargetMode="External"/><Relationship Id="rId13" Type="http://schemas.openxmlformats.org/officeDocument/2006/relationships/image" Target="../media/image4.png"/><Relationship Id="rId3" Type="http://schemas.openxmlformats.org/officeDocument/2006/relationships/hyperlink" Target="https://ollama.com/library/llama3.1" TargetMode="External"/><Relationship Id="rId7" Type="http://schemas.openxmlformats.org/officeDocument/2006/relationships/hyperlink" Target="https://twitter.com/AIatMeta/status/1816189043706847626" TargetMode="External"/><Relationship Id="rId12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llama.meta.com" TargetMode="External"/><Relationship Id="rId11" Type="http://schemas.openxmlformats.org/officeDocument/2006/relationships/image" Target="../media/image2.png"/><Relationship Id="rId5" Type="http://schemas.openxmlformats.org/officeDocument/2006/relationships/hyperlink" Target="https://ai.meta.com/blog/meta-llama-3-1/" TargetMode="External"/><Relationship Id="rId10" Type="http://schemas.openxmlformats.org/officeDocument/2006/relationships/image" Target="../media/image1.png"/><Relationship Id="rId4" Type="http://schemas.openxmlformats.org/officeDocument/2006/relationships/hyperlink" Target="https://twitter.com/ylecun/status/1815772369572520120" TargetMode="External"/><Relationship Id="rId9" Type="http://schemas.openxmlformats.org/officeDocument/2006/relationships/hyperlink" Target="https://github.com/meta-llama/llama-agentic-system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anthropic.com/claude/docs/models-overview" TargetMode="External"/><Relationship Id="rId3" Type="http://schemas.openxmlformats.org/officeDocument/2006/relationships/hyperlink" Target="https://www.youtube.com/watch?v=Vy3OkbtUa5k" TargetMode="External"/><Relationship Id="rId7" Type="http://schemas.openxmlformats.org/officeDocument/2006/relationships/hyperlink" Target="https://openai.com/api/pricing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llmpricecheck.com/fireworks/llama-3.1-405b-instruct/" TargetMode="External"/><Relationship Id="rId5" Type="http://schemas.openxmlformats.org/officeDocument/2006/relationships/image" Target="../media/image5.png"/><Relationship Id="rId4" Type="http://schemas.openxmlformats.org/officeDocument/2006/relationships/hyperlink" Target="https://about.fb.com/news/2024/07/open-source-ai-is-the-path-forward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twitter.com/AravSrinivas/status/1816248208802336975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mistralai/Mistral-Nemo-Instruct-2407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huggingface.co/InferenceIllusionist/Mistral-Nemo-Instruct-12B-iMat-GGUF/tree/main" TargetMode="External"/><Relationship Id="rId4" Type="http://schemas.openxmlformats.org/officeDocument/2006/relationships/hyperlink" Target="https://huggingface.co/QuantFactory/Mistral-Nemo-Instruct-2407-GGUF/tree/main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hyperlink" Target="https://www.youtube.com/watch?v=GtGW9pExqV0" TargetMode="External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fW9rdtuuQ-Y" TargetMode="External"/><Relationship Id="rId5" Type="http://schemas.openxmlformats.org/officeDocument/2006/relationships/hyperlink" Target="https://arstechnica.com/information-technology/2024/07/trump-allies-want-to-make-america-first-in-ai-with-sweeping-executive-order/" TargetMode="External"/><Relationship Id="rId10" Type="http://schemas.openxmlformats.org/officeDocument/2006/relationships/hyperlink" Target="https://www.windowscentral.com/software-apps/a-new-cutting-edge-ai-tool-predicts-the-progression-of-alzheimers-disease-with-over-80-accuracy-minus-the-scalpel" TargetMode="External"/><Relationship Id="rId4" Type="http://schemas.openxmlformats.org/officeDocument/2006/relationships/hyperlink" Target="https://www.foxnews.com/health/artificial-intelligence-detects-cancer-17-more-accuracy-than-doctors-ucla-study?utm_source=substack&amp;utm_medium=email" TargetMode="External"/><Relationship Id="rId9" Type="http://schemas.openxmlformats.org/officeDocument/2006/relationships/hyperlink" Target="https://www.silicon.co.uk/ai/openai-broadcom-in-talks-over-development-of-ai-chip-report-572277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kild.ai" TargetMode="External"/><Relationship Id="rId3" Type="http://schemas.openxmlformats.org/officeDocument/2006/relationships/hyperlink" Target="https://huggingface.co/apple/DCLM-7B" TargetMode="External"/><Relationship Id="rId7" Type="http://schemas.openxmlformats.org/officeDocument/2006/relationships/hyperlink" Target="https://ollama.com/sciphi/triplex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huggingface.co/SciPhi/Triplex" TargetMode="External"/><Relationship Id="rId5" Type="http://schemas.openxmlformats.org/officeDocument/2006/relationships/hyperlink" Target="https://owencolegrove.substack.com/p/triplex-a-sota-llm-for-knowledge?utm_source=post-email-title&amp;publication_id=1867259&amp;post_id=146804612&amp;utm_campaign=email-post-title&amp;isFreemail=true&amp;r=cgnlq&amp;triedRedirect=true&amp;utm_medium=email" TargetMode="External"/><Relationship Id="rId10" Type="http://schemas.openxmlformats.org/officeDocument/2006/relationships/image" Target="../media/image10.jpeg"/><Relationship Id="rId4" Type="http://schemas.openxmlformats.org/officeDocument/2006/relationships/hyperlink" Target="https://afficone.com/blog/window-ai-new-chrome-feature-api/" TargetMode="External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huggingface.co/stabilityai/sv4d" TargetMode="External"/><Relationship Id="rId3" Type="http://schemas.openxmlformats.org/officeDocument/2006/relationships/hyperlink" Target="https://mistral.ai/news/mistral-large-2407/" TargetMode="External"/><Relationship Id="rId7" Type="http://schemas.openxmlformats.org/officeDocument/2006/relationships/hyperlink" Target="https://stability.ai/news/stable-video-4d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402.16785" TargetMode="External"/><Relationship Id="rId3" Type="http://schemas.openxmlformats.org/officeDocument/2006/relationships/hyperlink" Target="https://www.youtube.com/playlist?list=PLAqhIrjkxbuWI23v9cThsA9GvCAUhRvKZ" TargetMode="External"/><Relationship Id="rId7" Type="http://schemas.openxmlformats.org/officeDocument/2006/relationships/image" Target="../media/image15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Sinaptik-AI/pandas-ai" TargetMode="External"/><Relationship Id="rId11" Type="http://schemas.openxmlformats.org/officeDocument/2006/relationships/hyperlink" Target="https://deepmind.google/discover/blog/ai-solves-imo-problems-at-silver-medal-level/" TargetMode="External"/><Relationship Id="rId5" Type="http://schemas.openxmlformats.org/officeDocument/2006/relationships/hyperlink" Target="https://twitter.com/ylecun/status/1815858771610210756" TargetMode="External"/><Relationship Id="rId10" Type="http://schemas.openxmlformats.org/officeDocument/2006/relationships/hyperlink" Target="https://x.com/GaelVaroquaux/status/1814198479045931141" TargetMode="External"/><Relationship Id="rId4" Type="http://schemas.openxmlformats.org/officeDocument/2006/relationships/image" Target="../media/image14.png"/><Relationship Id="rId9" Type="http://schemas.openxmlformats.org/officeDocument/2006/relationships/hyperlink" Target="https://gael-varoquaux.info/science/carte-toward-table-foundation-models.html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tenstorrent.com" TargetMode="External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hyperlink" Target="https://www.youtube.com/watch?v=lPX1H3jW8ZQ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.lmsys.org/?leaderboard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.lmsys.org/?leaderboard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ntreprenal.com/the-layoffs-wont-stop-anytime-soon-23784dcb8e50" TargetMode="External"/><Relationship Id="rId4" Type="http://schemas.openxmlformats.org/officeDocument/2006/relationships/hyperlink" Target="https://layoffs.fyi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ais.ai" TargetMode="Externa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/>
        </p:nvSpPr>
        <p:spPr>
          <a:xfrm>
            <a:off x="83860" y="1284725"/>
            <a:ext cx="4420200" cy="3186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Meta Llama 3.1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Meta: New Models + Tools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Open-source catches up with Closed-source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Mistral-Nemo-Instruct-2407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Stanford STORM AI - write Wikipedia post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Mem0 - memory across sessions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AI cancer diagnostics 84% vs 64% Human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Trump: "Make America First in AI"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AI Alzheimer's diagnostics with 80% accuracy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OpenAI to design its own custom chips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Nvidia's new AI chip B20 for China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Apple DCLM-Baseline-7B model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window.ai - run LLM in Google Chrome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4633738" y="1284719"/>
            <a:ext cx="4420200" cy="34170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SKILD.AI model for robots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Triplex - a SOTA LLM for Knowledge Graphs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Nvidia Minitron 8B and 4B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Stability.ai Stable Video 4D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Mistral Large 2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Andrej Karpathy's YouTube playlist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Yann LeCun: Fine-tuned Llama-3.1-8b vs GPT-4o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PandasAI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CARTE: Pretraining &amp; Transfer for Tabular Learning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Deepmind’s AlphaProof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OpenAI GPT-4o Mini "instruction hierarchy"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Tenstorrent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Crowd-sourced "Arena" Leaderboard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Tech Layoffs in 2024 are lower than last year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4"/>
          <p:cNvSpPr txBox="1"/>
          <p:nvPr/>
        </p:nvSpPr>
        <p:spPr>
          <a:xfrm>
            <a:off x="2631225" y="-80050"/>
            <a:ext cx="2539200" cy="9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AI Updates </a:t>
            </a:r>
            <a:endParaRPr sz="3600" b="1" i="0" u="none" strike="noStrike" cap="non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July 26</a:t>
            </a:r>
            <a:r>
              <a:rPr lang="en" sz="2400" b="1" i="0" u="none" strike="noStrike" cap="none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, 2024</a:t>
            </a:r>
            <a:endParaRPr sz="2400" b="1" i="0" u="none" strike="noStrike" cap="non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7138225" y="343250"/>
            <a:ext cx="1370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solidFill>
                  <a:srgbClr val="FF0000"/>
                </a:solidFill>
              </a:rPr>
              <a:t>xxxx</a:t>
            </a:r>
            <a:endParaRPr b="1" i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76200" y="-11150"/>
            <a:ext cx="18069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 Llama 3.1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76200" y="403450"/>
            <a:ext cx="4515000" cy="2496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Meta Llama 3.1 - 405B, 70B, 8B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versions, </a:t>
            </a: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open-source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405B on par with GPT-4o and Claude 3.5 Sonnet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128k context length, multi-lingual, coding, reasoning, tool use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Open/free weights and code, license that enables fine-tuning, distillation into other models, and deployment anywhere.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Llama Stack APIs, over 25 partners, including AWS, NVIDIA, Databricks, Groq, Dell, Azure, and Google Cloud.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065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https://ollama.com/library/llama3.1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065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https://twitter.com/ylecun/status/1815772369572520120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065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https://ai.meta.com/blog/meta-llama-3-1/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065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https://llama.meta.com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065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https://twitter.com/AIatMeta/status/1816189043706847626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065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https://huggingface.co/meta-llama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065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https://github.com/meta-llama/llama-agentic-system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- Agentic System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15"/>
          <p:cNvPicPr preferRelativeResize="0"/>
          <p:nvPr/>
        </p:nvPicPr>
        <p:blipFill rotWithShape="1"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4625" y="3386546"/>
            <a:ext cx="3217172" cy="16713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8" name="Google Shape;68;p15"/>
          <p:cNvPicPr preferRelativeResize="0"/>
          <p:nvPr/>
        </p:nvPicPr>
        <p:blipFill rotWithShape="1">
          <a:blip r:embed="rId11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626" y="3017257"/>
            <a:ext cx="4514999" cy="20806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1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9350" y="1919621"/>
            <a:ext cx="1694261" cy="9697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7263443" y="31000"/>
            <a:ext cx="1336800" cy="695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On Ollama: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.. 405b  231 GB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..  70b   40 GB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..   8b  4.7 GB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1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50450" y="42225"/>
            <a:ext cx="442425" cy="62575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4659350" y="134275"/>
            <a:ext cx="2330400" cy="1619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Llama 3.1 was trained on over </a:t>
            </a:r>
            <a:r>
              <a:rPr lang="en" sz="1300" b="1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15T tokens on 16,000 Nvidia H100 GPUs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, 31 Mln GPU hours, </a:t>
            </a:r>
            <a:br>
              <a:rPr lang="en" sz="1300">
                <a:latin typeface="Calibri"/>
                <a:ea typeface="Calibri"/>
                <a:cs typeface="Calibri"/>
                <a:sym typeface="Calibri"/>
              </a:rPr>
            </a:b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training cost $500 Mln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SFT  (Supervised Fine-Tuning) 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was used for post-training for Code, Math, Multilinguality, Long Context, Tool Use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6421750" y="2088000"/>
            <a:ext cx="2640000" cy="1218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Hardware for 405B model: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405b*2Bytes = 810 GB of VRAM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2 nodes * 8 Nvidia H100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16 * 80GB = 960GB VRAM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Or 1 node with 5 AMD Instinct MI300X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5 * 192GB =  960GB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7096980" y="792625"/>
            <a:ext cx="1960800" cy="757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u="sng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Octo.ai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offers Llama 3.1 405B at ($3/$9) per M in/out tokens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GPT-4o  (5/15)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GPT-4o mini (0.15/0.6)</a:t>
            </a:r>
            <a:endParaRPr sz="1200" b="1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/>
        </p:nvSpPr>
        <p:spPr>
          <a:xfrm>
            <a:off x="48276" y="46425"/>
            <a:ext cx="37539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Meta: New Models + Tools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4105900" y="65050"/>
            <a:ext cx="4997400" cy="495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 Zuckerberg on Llama 3.1, Open Source, AI Agents, Safety, and more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https://www.youtube.com/watch?v=Vy3OkbtUa5k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https://about.fb.com/news/2024/07/open-source-ai-is-the-path-forward/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46700" y="763550"/>
            <a:ext cx="2402598" cy="134262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48275" y="763550"/>
            <a:ext cx="5604900" cy="2619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Release of Llama 3.1 405B - first open-sourced frontier AI model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Real-world use cases for Llama 3.1 in various industries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 of open-source AI tools to build custom solutions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Meta to become universal framework for creating custom solutions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Effects that open-source AI may have on society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Balancing power and managing bad actors, mitigate risks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source and global competition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Tools to accelerate innovation and economic growth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 on Apple and lessons from the past. Open vs closed.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of AI: Llama 3 and beyond.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Prediction: Billions of personalized AI agents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Factors to changing anti-AI sentiment: Analysis of the reasons behind shifting public perceptions regarding AI technology.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58947" y="3792525"/>
            <a:ext cx="1304700" cy="7572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Meta Llama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1439847" y="3987075"/>
            <a:ext cx="534300" cy="534300"/>
          </a:xfrm>
          <a:prstGeom prst="mathPlus">
            <a:avLst>
              <a:gd name="adj1" fmla="val 2352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2050347" y="3716325"/>
            <a:ext cx="1304700" cy="9420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Meta tools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distill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finetune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3477899" y="3965800"/>
            <a:ext cx="732900" cy="534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4317124" y="3667779"/>
            <a:ext cx="1304700" cy="11268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Billions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custom models and personalized AI agents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5791000" y="2288025"/>
            <a:ext cx="3258300" cy="2096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 Mono"/>
                <a:ea typeface="Roboto Mono"/>
                <a:cs typeface="Roboto Mono"/>
                <a:sym typeface="Roboto Mono"/>
              </a:rPr>
              <a:t>Price per Mln tokens (in+out):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------------------------------------</a:t>
            </a:r>
            <a:endParaRPr sz="9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Llama 3.1 405b       $6</a:t>
            </a:r>
            <a:endParaRPr sz="900" b="1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Llama 3.1 405b Groq  $1.64 (250 t/s)</a:t>
            </a:r>
            <a:endParaRPr sz="900" b="1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Llama 3.1 70b        $1.27</a:t>
            </a:r>
            <a:endParaRPr sz="900" b="1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Llama 3.1 8b         $0.18</a:t>
            </a:r>
            <a:endParaRPr sz="900" b="1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------------------------------------</a:t>
            </a:r>
            <a:endParaRPr sz="9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GPT-4o              $20</a:t>
            </a:r>
            <a:endParaRPr sz="9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GPT-4-turbo         $40</a:t>
            </a:r>
            <a:endParaRPr sz="9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Claude 3.5 Sonnet   $18</a:t>
            </a:r>
            <a:endParaRPr sz="9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Claude 3 Opus       $90</a:t>
            </a:r>
            <a:endParaRPr sz="9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------------------------------------</a:t>
            </a:r>
            <a:endParaRPr sz="9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https://llmpricecheck.com/fireworks/llama-3.1-405b-instruct/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https://openai.com/api/pricing/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https://docs.anthropic.com/claude/docs/models-overview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/>
        </p:nvSpPr>
        <p:spPr>
          <a:xfrm>
            <a:off x="48265" y="46427"/>
            <a:ext cx="3276000" cy="6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Open-source catches up with Closed-source 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3249750" y="65050"/>
            <a:ext cx="5853300" cy="618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trend is clear ... small open-source models, distillation and fine-tuning, serving, and data collection. One or two frontier closed-source models will still be valuable.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https://twitter.com/AravSrinivas/status/1816248208802336975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7470" y="790996"/>
            <a:ext cx="6153277" cy="4290483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/>
        </p:nvSpPr>
        <p:spPr>
          <a:xfrm>
            <a:off x="76200" y="65050"/>
            <a:ext cx="32169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Mistral-Nemo-Instruct-2407 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76200" y="1272175"/>
            <a:ext cx="5572200" cy="680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On Hugginface: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https://huggingface.co/mistralai/Mistral-Nemo-Instruct-2407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(safetensors)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https://huggingface.co/QuantFactory/Mistral-Nemo-Instruct-2407-GGUF/tree/main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(GGUF)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https://huggingface.co/InferenceIllusionist/Mistral-Nemo-Instruct-12B-iMat-GGUF/tree/main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(GGUF)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6005000" y="503150"/>
            <a:ext cx="3028200" cy="1542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Layers: 40           (vs  32 in 7b)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Dim: 5,120           (vs  4k in 7b)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Hidden dim: 14,436   (vs  4k in 7b)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Vocab. size: 128k    (vs 32k in 7b)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Activation Function: SwiGLU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Head dim: 128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Number of heads: 32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Number of kv-heads: 8 (GQA)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Rotary embeddings (theta = 1M)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6005000" y="2124925"/>
            <a:ext cx="2457300" cy="1419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Drop-in replacement of Mistral 7B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Apache 2 License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Pre-trained and instruct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128k context window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Multilingual and code</a:t>
            </a:r>
            <a:endParaRPr sz="13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12B params</a:t>
            </a:r>
            <a:endParaRPr sz="13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q4 file 7 GB</a:t>
            </a:r>
            <a:endParaRPr sz="13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76200" y="2137400"/>
            <a:ext cx="5572200" cy="618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July 23 - Ollama was updated to version 0.2.8,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it can now run mistral-nemo: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</a:t>
            </a:r>
            <a:r>
              <a:rPr lang="en" sz="13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ollama run mistral-nemo </a:t>
            </a:r>
            <a:endParaRPr sz="13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/>
        </p:nvSpPr>
        <p:spPr>
          <a:xfrm>
            <a:off x="76200" y="0"/>
            <a:ext cx="45564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Misc 1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76200" y="486575"/>
            <a:ext cx="4426500" cy="41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Stanford STORM AI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write Wikipedia post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https://www.youtube.com/watch?v=GtGW9pExqV0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76200" y="1597950"/>
            <a:ext cx="4426500" cy="926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new study from UCLA found that an AI tool i</a:t>
            </a:r>
            <a:r>
              <a:rPr lang="en" sz="13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dentified prostate cancer with 84% accuracy, compared to 67% accuracy for cases detected by physicians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https://www.foxnews.com/health/artificial-intelligence-detects-cancer-17-more-accuracy-than-doctors-ucla-study?utm_source=substack&amp;utm_medium=email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76200" y="2638850"/>
            <a:ext cx="4426500" cy="112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Allies of former President Donald Trump have reportedly drafted a sweeping AI executive order that aims to boost military technology and reduce regulations on AI development.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"Make America First in AI"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https://arstechnica.com/information-technology/2024/07/trump-allies-want-to-make-america-first-in-ai-with-sweeping-executive-order/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76200" y="1065250"/>
            <a:ext cx="4426500" cy="41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Mem0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platform to maintain memory across sessions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https://www.youtube.com/watch?v=fW9rdtuuQ-Y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80748" y="1597951"/>
            <a:ext cx="1649630" cy="926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9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80750" y="2809800"/>
            <a:ext cx="1649625" cy="75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9"/>
          <p:cNvSpPr txBox="1"/>
          <p:nvPr/>
        </p:nvSpPr>
        <p:spPr>
          <a:xfrm>
            <a:off x="4680750" y="486575"/>
            <a:ext cx="4426500" cy="526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OpenAI looking for partners to design its own custom chips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https://www.silicon.co.uk/ai/openai-broadcom-in-talks-over-development-of-ai-chip-report-572277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4680750" y="4070450"/>
            <a:ext cx="4426500" cy="41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Nvidia is developing a new B20 AI chip for China which is tailored to comply with U.S. export controls for the Chinese market.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9"/>
          <p:cNvSpPr txBox="1"/>
          <p:nvPr/>
        </p:nvSpPr>
        <p:spPr>
          <a:xfrm>
            <a:off x="76200" y="3879850"/>
            <a:ext cx="4426500" cy="926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Researchers from Cambridge University have developed an AI tool that can predict the progression of </a:t>
            </a: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Alzheimer's disease with over 80% accuracy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using speech data.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https://www.windowscentral.com/software-apps/a-new-cutting-edge-ai-tool-predicts-the-progression-of-alzheimers-disease-with-over-80-accuracy-minus-the-scalpel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/>
        </p:nvSpPr>
        <p:spPr>
          <a:xfrm>
            <a:off x="76200" y="0"/>
            <a:ext cx="1930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Misc 2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0"/>
          <p:cNvSpPr txBox="1"/>
          <p:nvPr/>
        </p:nvSpPr>
        <p:spPr>
          <a:xfrm>
            <a:off x="119800" y="420350"/>
            <a:ext cx="4401600" cy="818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Apple DCLM-Baseline-7B model</a:t>
            </a:r>
            <a:r>
              <a:rPr lang="en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context length = 2K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open-source, trained on 2.5T DCLM dataset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DCLM = DataComp for Language Models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https://huggingface.co/apple/DCLM-7B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0"/>
          <p:cNvSpPr txBox="1"/>
          <p:nvPr/>
        </p:nvSpPr>
        <p:spPr>
          <a:xfrm>
            <a:off x="119800" y="1297700"/>
            <a:ext cx="4401600" cy="772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window.ai   API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- new </a:t>
            </a: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Google Chrome API 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(currently only available in Chrome Canary) - native AI models that are ran locally and completely offline.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https://afficone.com/blog/window-ai-new-chrome-feature-api/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0"/>
          <p:cNvSpPr txBox="1"/>
          <p:nvPr/>
        </p:nvSpPr>
        <p:spPr>
          <a:xfrm>
            <a:off x="4691800" y="420350"/>
            <a:ext cx="4401600" cy="4128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Triplex - a SOTA LLM for Knowledge Graph Construction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0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https://owencolegrove.substack.com/p/triplex-a-sota-llm-for-knowledge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outperforms few-shot prompted GPT-4 at 1/60th the inference cost.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small, can run directly on your laptop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Source </a:t>
            </a: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https://huggingface.co/SciPhi/Triplex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</a:t>
            </a: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https://ollama.com/sciphi/triplex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Specifically trained for triple extraction, the cornerstone of knowledge graph construction.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Instructable: You can specify exact input entity types and relationships, ensuring high-fidelity output tailored to your needs.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Triplex efficiently converts unstructured text into "semantic triples" - the building blocks of knowledge graphs. These triples follow a (subject &gt; predicate &gt; object) format. For example: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Input: </a:t>
            </a:r>
            <a:b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3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"Paris is the capital of France"</a:t>
            </a:r>
            <a:b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b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3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CITY: Paris &gt; CAPITAL_OF &gt; COUNTRY: France</a:t>
            </a:r>
            <a:br>
              <a:rPr lang="en" sz="13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3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CITY: Paris &gt; LOCATED_IN &gt; COUNTRY: France</a:t>
            </a:r>
            <a:endParaRPr sz="13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119800" y="3086000"/>
            <a:ext cx="4401600" cy="1419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SKILD.AI - </a:t>
            </a: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https://www.skild.ai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- since 2023, founded by Abhinav Gupta and Deepak Pathak, two former Carnegie Mellon University professors, created a foundational model for a "general purpose brain" that can be slotted into a variety of robots, enabling them to do things like climbing steep slopes, walking over objects obstructing its path and identifying and picking up items. Raised $300 Mln at a $1.5 Bln valuation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20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800" y="2682738"/>
            <a:ext cx="1221225" cy="28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0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3875" y="2129158"/>
            <a:ext cx="1337525" cy="898192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/>
        </p:nvSpPr>
        <p:spPr>
          <a:xfrm>
            <a:off x="76200" y="0"/>
            <a:ext cx="1930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Misc 3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1"/>
          <p:cNvSpPr txBox="1"/>
          <p:nvPr/>
        </p:nvSpPr>
        <p:spPr>
          <a:xfrm>
            <a:off x="70925" y="374800"/>
            <a:ext cx="4478100" cy="2019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Nvidia Minitron 8B and 4B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pruned versions of </a:t>
            </a: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Nemotron-4 15B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model, which require up to </a:t>
            </a:r>
            <a:r>
              <a:rPr lang="en" sz="13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40x fewer training tokens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result in 1.8x compute cost savings compared to training from scratch.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models show </a:t>
            </a:r>
            <a:r>
              <a:rPr lang="en" sz="13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up to 16% improvement in MMLU scores compared to training from scratch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perform comparably to models like Mistral 7B and Llama-3 8B, and are intended for research and development purposes only.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Pruning is similar to quantization.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1"/>
          <p:cNvSpPr txBox="1"/>
          <p:nvPr/>
        </p:nvSpPr>
        <p:spPr>
          <a:xfrm>
            <a:off x="70925" y="3258750"/>
            <a:ext cx="4478100" cy="1819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Mistral Large 2 - new model on Mistral la Plateforme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128k context window, 123 Bln params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non-commercial license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supports dozens of languages including French, German, Spanish, Italian, Portuguese, Arabic, Hindi, Russian, Chinese, Japanese, and Korean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supports 80+ coding languages including Python, Java, C, C++, JavaScript, and Bash.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https://mistral.ai/news/mistral-large-2407/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21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82400" y="3494104"/>
            <a:ext cx="1930200" cy="158384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8" name="Google Shape;138;p21"/>
          <p:cNvSpPr txBox="1"/>
          <p:nvPr/>
        </p:nvSpPr>
        <p:spPr>
          <a:xfrm>
            <a:off x="5027038" y="3258750"/>
            <a:ext cx="1440900" cy="218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Accuracy for coding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21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56474" y="3960050"/>
            <a:ext cx="1650200" cy="52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1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98523" y="79550"/>
            <a:ext cx="3968706" cy="29539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1" name="Google Shape;141;p21"/>
          <p:cNvSpPr txBox="1"/>
          <p:nvPr/>
        </p:nvSpPr>
        <p:spPr>
          <a:xfrm>
            <a:off x="75816" y="2529125"/>
            <a:ext cx="4478100" cy="618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Stability.ai </a:t>
            </a:r>
            <a:r>
              <a:rPr lang="en" sz="13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Stable Video 4D</a:t>
            </a: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128k context length, 123Bln params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https://stability.ai/news/stable-video-4d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https://huggingface.co/stabilityai/sv4d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/>
        </p:nvSpPr>
        <p:spPr>
          <a:xfrm>
            <a:off x="76200" y="0"/>
            <a:ext cx="1930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Misc 4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70925" y="374800"/>
            <a:ext cx="4478100" cy="618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Andrej Karpathy's YouTube playlist on Neural Networks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https://www.youtube.com/playlist?list=PLAqhIrjkxbuWI23v9cThsA9GvCAUhRvKZ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22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" y="1041800"/>
            <a:ext cx="4478100" cy="327111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9" name="Google Shape;149;p22"/>
          <p:cNvSpPr txBox="1"/>
          <p:nvPr/>
        </p:nvSpPr>
        <p:spPr>
          <a:xfrm>
            <a:off x="4615845" y="374800"/>
            <a:ext cx="4478100" cy="818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Yann LeCun: Fine-tuned Llama 3.1 8B blows GPT-4o mini out of the water on every task.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3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There has never been an open model this small, this good.</a:t>
            </a:r>
            <a:endParaRPr sz="13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https://twitter.com/ylecun/status/1815858771610210756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2"/>
          <p:cNvSpPr txBox="1"/>
          <p:nvPr/>
        </p:nvSpPr>
        <p:spPr>
          <a:xfrm>
            <a:off x="4615845" y="1255425"/>
            <a:ext cx="4478100" cy="618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PandasAI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Python platform that makes it easy to ask questions to your data in natural language.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https://github.com/Sinaptik-AI/pandas-ai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22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46398" y="1943950"/>
            <a:ext cx="2118501" cy="61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2"/>
          <p:cNvSpPr txBox="1"/>
          <p:nvPr/>
        </p:nvSpPr>
        <p:spPr>
          <a:xfrm>
            <a:off x="4615845" y="2632475"/>
            <a:ext cx="4478100" cy="680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CARTE: Pretraining and Transfer for Tabular Learning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065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https://arxiv.org/abs/2402.16785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065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https://gael-varoquaux.info/science/carte-toward-table-foundation-models.html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065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https://x.com/GaelVaroquaux/status/1814198479045931141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2"/>
          <p:cNvSpPr txBox="1"/>
          <p:nvPr/>
        </p:nvSpPr>
        <p:spPr>
          <a:xfrm>
            <a:off x="4615850" y="3386625"/>
            <a:ext cx="2565000" cy="695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Deepmind’s AlphaProof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scores silver in math olympiad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https://deepmind.google/discover/blog/ai-solves-imo-problems-at-silver-medal-level/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4" name="Google Shape;154;p22"/>
          <p:cNvGrpSpPr/>
          <p:nvPr/>
        </p:nvGrpSpPr>
        <p:grpSpPr>
          <a:xfrm>
            <a:off x="7248294" y="3386625"/>
            <a:ext cx="1845656" cy="1667374"/>
            <a:chOff x="7248294" y="3386625"/>
            <a:chExt cx="1845656" cy="1667374"/>
          </a:xfrm>
        </p:grpSpPr>
        <p:pic>
          <p:nvPicPr>
            <p:cNvPr id="155" name="Google Shape;155;p22"/>
            <p:cNvPicPr preferRelativeResize="0"/>
            <p:nvPr/>
          </p:nvPicPr>
          <p:blipFill>
            <a:blip r:embed="rId12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248294" y="3386625"/>
              <a:ext cx="1845656" cy="1667374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156" name="Google Shape;156;p22"/>
            <p:cNvSpPr/>
            <p:nvPr/>
          </p:nvSpPr>
          <p:spPr>
            <a:xfrm rot="4557825">
              <a:off x="8624096" y="3749686"/>
              <a:ext cx="356236" cy="14683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/>
        </p:nvSpPr>
        <p:spPr>
          <a:xfrm>
            <a:off x="76200" y="0"/>
            <a:ext cx="1930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Misc 5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3"/>
          <p:cNvSpPr txBox="1"/>
          <p:nvPr/>
        </p:nvSpPr>
        <p:spPr>
          <a:xfrm>
            <a:off x="70925" y="374800"/>
            <a:ext cx="4422600" cy="1018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OpenAI GPT-4o Mini model </a:t>
            </a: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"instruction hierarchy"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a new technique to block the </a:t>
            </a: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"ignore all previous instructions" loophole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The enhanced prioritization of system instructions over user prompts aims to address growing safety and trust concerns surrounding AI models.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 txBox="1"/>
          <p:nvPr/>
        </p:nvSpPr>
        <p:spPr>
          <a:xfrm>
            <a:off x="76200" y="0"/>
            <a:ext cx="14946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Tenstorrent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4"/>
          <p:cNvSpPr txBox="1"/>
          <p:nvPr/>
        </p:nvSpPr>
        <p:spPr>
          <a:xfrm>
            <a:off x="70925" y="374800"/>
            <a:ext cx="5525700" cy="1218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Idea - put each layer of a 32-layer transformer on a separate chip.</a:t>
            </a:r>
            <a:endParaRPr sz="13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Put 32 chips in one box - making a pipeline for transformer.</a:t>
            </a:r>
            <a:endParaRPr sz="13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n150 and n300 cards ($1K .. $1.4K)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TT-LoudBox for $12K, TT-QuietBox for $15K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https://tenstorrent.com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https://www.youtube.com/watch?v=lPX1H3jW8ZQ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AI Hardware w/ Jim Keller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24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925" y="1724850"/>
            <a:ext cx="2898849" cy="140137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0" name="Google Shape;170;p24"/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04250" y="30000"/>
            <a:ext cx="2149625" cy="64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4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45386" y="677000"/>
            <a:ext cx="2417375" cy="13582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2" name="Google Shape;172;p24"/>
          <p:cNvSpPr txBox="1"/>
          <p:nvPr/>
        </p:nvSpPr>
        <p:spPr>
          <a:xfrm>
            <a:off x="3096060" y="2099975"/>
            <a:ext cx="5966700" cy="2604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Tenstorrent's AI accelerator architecture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reducing data movement bottlenecks.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Tenstorrent's Grayskull AI accelerator cards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 a grid of 12x12 "Tensix" cores, each containing 5 RISC-V RV32IMC cores = 720 cores.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Tensix cores do not have direct access to DRAM, data must be moved via explicit DMA.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no caches, so caching must be done in software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architecture is designed to reduce unnecessary data movement compared to GPUs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Grayskull e75 &amp; e150 cards have 8GB memory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performance on LLMs is achieved by pipelining multiple matrix-vector multiplications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However, the memory bandwidth is still a bottleneck for LLMs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Tenstorrent's solution is to link multiple chips together via 100G Ethernet to distribute compute and increase effective memory bandwidth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distributed approach is not ideal, the current Grayskull cards have limited memory capacity and bandwidth which could be a bottleneck. Future generations with more memory and multi-chip scaling may be better suited for LLMs.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 txBox="1"/>
          <p:nvPr/>
        </p:nvSpPr>
        <p:spPr>
          <a:xfrm>
            <a:off x="5439489" y="55350"/>
            <a:ext cx="1761300" cy="5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F293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Total #models: 118.</a:t>
            </a:r>
            <a:endParaRPr sz="1100">
              <a:solidFill>
                <a:srgbClr val="1F2937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F293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Total #votes: 1,531,686.</a:t>
            </a:r>
            <a:endParaRPr sz="1100">
              <a:solidFill>
                <a:srgbClr val="1F2937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F293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Last updated: 2024-07-25.</a:t>
            </a:r>
            <a:endParaRPr sz="11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5"/>
          <p:cNvSpPr txBox="1"/>
          <p:nvPr/>
        </p:nvSpPr>
        <p:spPr>
          <a:xfrm>
            <a:off x="7261325" y="52350"/>
            <a:ext cx="1831500" cy="387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Starting Elo rating = 1000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95% CI = Confidence Interval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5"/>
          <p:cNvSpPr txBox="1"/>
          <p:nvPr/>
        </p:nvSpPr>
        <p:spPr>
          <a:xfrm>
            <a:off x="-38048" y="-108050"/>
            <a:ext cx="4151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Crowd-sourced "Arena" Leaderboard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5"/>
          <p:cNvSpPr txBox="1"/>
          <p:nvPr/>
        </p:nvSpPr>
        <p:spPr>
          <a:xfrm>
            <a:off x="0" y="157800"/>
            <a:ext cx="2076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https://chat.lmsys.org/?leaderboard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5"/>
          <p:cNvSpPr txBox="1"/>
          <p:nvPr/>
        </p:nvSpPr>
        <p:spPr>
          <a:xfrm>
            <a:off x="2486410" y="351769"/>
            <a:ext cx="13998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English-only queries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5"/>
          <p:cNvSpPr/>
          <p:nvPr/>
        </p:nvSpPr>
        <p:spPr>
          <a:xfrm>
            <a:off x="5235575" y="226378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5"/>
          <p:cNvSpPr/>
          <p:nvPr/>
        </p:nvSpPr>
        <p:spPr>
          <a:xfrm>
            <a:off x="287225" y="3570278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5"/>
          <p:cNvSpPr/>
          <p:nvPr/>
        </p:nvSpPr>
        <p:spPr>
          <a:xfrm>
            <a:off x="287225" y="4322455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25"/>
          <p:cNvSpPr/>
          <p:nvPr/>
        </p:nvSpPr>
        <p:spPr>
          <a:xfrm>
            <a:off x="243125" y="1520150"/>
            <a:ext cx="213600" cy="2031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25"/>
          <p:cNvSpPr/>
          <p:nvPr/>
        </p:nvSpPr>
        <p:spPr>
          <a:xfrm>
            <a:off x="4738742" y="1097855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5"/>
          <p:cNvSpPr/>
          <p:nvPr/>
        </p:nvSpPr>
        <p:spPr>
          <a:xfrm>
            <a:off x="4738742" y="1596854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5"/>
          <p:cNvSpPr/>
          <p:nvPr/>
        </p:nvSpPr>
        <p:spPr>
          <a:xfrm>
            <a:off x="4738742" y="2869285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5"/>
          <p:cNvSpPr/>
          <p:nvPr/>
        </p:nvSpPr>
        <p:spPr>
          <a:xfrm>
            <a:off x="4738742" y="3338425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5"/>
          <p:cNvSpPr/>
          <p:nvPr/>
        </p:nvSpPr>
        <p:spPr>
          <a:xfrm>
            <a:off x="4738742" y="3820637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5"/>
          <p:cNvSpPr/>
          <p:nvPr/>
        </p:nvSpPr>
        <p:spPr>
          <a:xfrm>
            <a:off x="4738742" y="4068072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5"/>
          <p:cNvSpPr/>
          <p:nvPr/>
        </p:nvSpPr>
        <p:spPr>
          <a:xfrm>
            <a:off x="4738742" y="4804595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3" name="Google Shape;193;p25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1900" y="707269"/>
            <a:ext cx="3675426" cy="428383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94" name="Google Shape;194;p25"/>
          <p:cNvSpPr/>
          <p:nvPr/>
        </p:nvSpPr>
        <p:spPr>
          <a:xfrm>
            <a:off x="287225" y="2083864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5" name="Google Shape;195;p25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0342" y="734250"/>
            <a:ext cx="3652278" cy="42568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6"/>
          <p:cNvSpPr txBox="1"/>
          <p:nvPr/>
        </p:nvSpPr>
        <p:spPr>
          <a:xfrm>
            <a:off x="5439489" y="55350"/>
            <a:ext cx="1761300" cy="5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F293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Total #models: 115.    </a:t>
            </a:r>
            <a:endParaRPr sz="1100">
              <a:solidFill>
                <a:srgbClr val="1F2937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F293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Total #votes: 1,450,208. </a:t>
            </a:r>
            <a:endParaRPr sz="1100">
              <a:solidFill>
                <a:srgbClr val="1F2937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F293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Last updated: 2024-07-08.</a:t>
            </a:r>
            <a:endParaRPr sz="11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6"/>
          <p:cNvSpPr txBox="1"/>
          <p:nvPr/>
        </p:nvSpPr>
        <p:spPr>
          <a:xfrm>
            <a:off x="7261325" y="52350"/>
            <a:ext cx="1831500" cy="387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Starting Elo rating = 1000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95% CI = Confidence Interval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6"/>
          <p:cNvSpPr txBox="1"/>
          <p:nvPr/>
        </p:nvSpPr>
        <p:spPr>
          <a:xfrm>
            <a:off x="-38048" y="-108050"/>
            <a:ext cx="4151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Crowd-sourced "Arena" Leaderboard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6"/>
          <p:cNvSpPr txBox="1"/>
          <p:nvPr/>
        </p:nvSpPr>
        <p:spPr>
          <a:xfrm>
            <a:off x="0" y="157800"/>
            <a:ext cx="2076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https://chat.lmsys.org/?leaderboard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6"/>
          <p:cNvSpPr txBox="1"/>
          <p:nvPr/>
        </p:nvSpPr>
        <p:spPr>
          <a:xfrm>
            <a:off x="3186581" y="444363"/>
            <a:ext cx="5523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5235575" y="226378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6"/>
          <p:cNvSpPr/>
          <p:nvPr/>
        </p:nvSpPr>
        <p:spPr>
          <a:xfrm>
            <a:off x="329775" y="2607849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6"/>
          <p:cNvSpPr/>
          <p:nvPr/>
        </p:nvSpPr>
        <p:spPr>
          <a:xfrm>
            <a:off x="329775" y="3133840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6"/>
          <p:cNvSpPr/>
          <p:nvPr/>
        </p:nvSpPr>
        <p:spPr>
          <a:xfrm>
            <a:off x="285675" y="1130000"/>
            <a:ext cx="213600" cy="2031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6"/>
          <p:cNvSpPr/>
          <p:nvPr/>
        </p:nvSpPr>
        <p:spPr>
          <a:xfrm>
            <a:off x="4891142" y="1840862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26"/>
          <p:cNvSpPr/>
          <p:nvPr/>
        </p:nvSpPr>
        <p:spPr>
          <a:xfrm>
            <a:off x="4891142" y="1603315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6"/>
          <p:cNvSpPr/>
          <p:nvPr/>
        </p:nvSpPr>
        <p:spPr>
          <a:xfrm>
            <a:off x="4891142" y="3093533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26"/>
          <p:cNvSpPr/>
          <p:nvPr/>
        </p:nvSpPr>
        <p:spPr>
          <a:xfrm>
            <a:off x="4891142" y="3568740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6"/>
          <p:cNvSpPr/>
          <p:nvPr/>
        </p:nvSpPr>
        <p:spPr>
          <a:xfrm>
            <a:off x="4891142" y="4549618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6"/>
          <p:cNvSpPr txBox="1"/>
          <p:nvPr/>
        </p:nvSpPr>
        <p:spPr>
          <a:xfrm>
            <a:off x="5439489" y="55350"/>
            <a:ext cx="1761300" cy="5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F293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Total #models: 118.</a:t>
            </a:r>
            <a:endParaRPr sz="1100">
              <a:solidFill>
                <a:srgbClr val="1F2937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F293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Total #votes: 1,531,686.</a:t>
            </a:r>
            <a:endParaRPr sz="1100">
              <a:solidFill>
                <a:srgbClr val="1F2937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F293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Last updated: 2024-07-25.</a:t>
            </a:r>
            <a:endParaRPr sz="11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26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5475" y="799863"/>
            <a:ext cx="3595985" cy="4191238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16" name="Google Shape;216;p26"/>
          <p:cNvSpPr/>
          <p:nvPr/>
        </p:nvSpPr>
        <p:spPr>
          <a:xfrm>
            <a:off x="329775" y="4071409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7" name="Google Shape;217;p26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92742" y="734250"/>
            <a:ext cx="3652278" cy="42568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18" name="Google Shape;218;p26"/>
          <p:cNvSpPr/>
          <p:nvPr/>
        </p:nvSpPr>
        <p:spPr>
          <a:xfrm>
            <a:off x="4891142" y="2099325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6"/>
          <p:cNvSpPr/>
          <p:nvPr/>
        </p:nvSpPr>
        <p:spPr>
          <a:xfrm>
            <a:off x="4891142" y="3820509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7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7719" y="603950"/>
            <a:ext cx="5872923" cy="2535174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7"/>
          <p:cNvSpPr/>
          <p:nvPr/>
        </p:nvSpPr>
        <p:spPr>
          <a:xfrm>
            <a:off x="4649235" y="2007975"/>
            <a:ext cx="146700" cy="450300"/>
          </a:xfrm>
          <a:prstGeom prst="rect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7"/>
          <p:cNvSpPr txBox="1"/>
          <p:nvPr/>
        </p:nvSpPr>
        <p:spPr>
          <a:xfrm>
            <a:off x="72300" y="76200"/>
            <a:ext cx="49011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 Layoffs in 2024 </a:t>
            </a: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</a:t>
            </a: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lower than last year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7"/>
          <p:cNvSpPr txBox="1"/>
          <p:nvPr/>
        </p:nvSpPr>
        <p:spPr>
          <a:xfrm>
            <a:off x="6291625" y="109963"/>
            <a:ext cx="2002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F0F0F"/>
                </a:solidFill>
                <a:latin typeface="Calibri"/>
                <a:ea typeface="Calibri"/>
                <a:cs typeface="Calibri"/>
                <a:sym typeface="Calibri"/>
              </a:rPr>
              <a:t>Layoffs - </a:t>
            </a:r>
            <a:r>
              <a:rPr lang="en" sz="13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https://layoffs.fyi</a:t>
            </a:r>
            <a:r>
              <a:rPr lang="en" sz="1300" b="0" i="0" u="none" strike="noStrike" cap="none">
                <a:solidFill>
                  <a:srgbClr val="0F0F0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 b="0" i="0" u="none" strike="noStrike" cap="none">
              <a:solidFill>
                <a:srgbClr val="0F0F0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7"/>
          <p:cNvSpPr txBox="1"/>
          <p:nvPr/>
        </p:nvSpPr>
        <p:spPr>
          <a:xfrm>
            <a:off x="1541111" y="3215325"/>
            <a:ext cx="5331600" cy="1847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Employees: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You told us things will get better this year! But… why firings? </a:t>
            </a:r>
            <a:b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                       Revenues are increasing… Productivity is at an all-time high!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"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Company: </a:t>
            </a:r>
            <a:r>
              <a:rPr lang="en" sz="1200" b="1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"Take your pick, we've got </a:t>
            </a:r>
            <a:endParaRPr sz="1200" b="1">
              <a:solidFill>
                <a:srgbClr val="E0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  … 'Cost-cutting efforts' </a:t>
            </a:r>
            <a:endParaRPr sz="1200" b="1">
              <a:solidFill>
                <a:srgbClr val="E0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  … 'Strategic restructuring' </a:t>
            </a:r>
            <a:endParaRPr sz="1200" b="1">
              <a:solidFill>
                <a:srgbClr val="E0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  … 'Unexpected Macro Environment' </a:t>
            </a:r>
            <a:endParaRPr sz="1200" b="1">
              <a:solidFill>
                <a:srgbClr val="E0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  … 'Optimizing for growth' </a:t>
            </a:r>
            <a:endParaRPr sz="1200" b="1">
              <a:solidFill>
                <a:srgbClr val="E0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  … Oh, this one's good, 'A renewed focus on AI.'</a:t>
            </a:r>
            <a:endParaRPr sz="1200" b="1">
              <a:solidFill>
                <a:srgbClr val="E0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https://entreprenal.com/the-layoffs-wont-stop-anytime-soon-23784dcb8e50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7"/>
          <p:cNvSpPr/>
          <p:nvPr/>
        </p:nvSpPr>
        <p:spPr>
          <a:xfrm>
            <a:off x="6356527" y="2007975"/>
            <a:ext cx="146700" cy="450300"/>
          </a:xfrm>
          <a:prstGeom prst="rect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5238" y="1203525"/>
            <a:ext cx="2094075" cy="2094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8"/>
          <p:cNvSpPr txBox="1"/>
          <p:nvPr/>
        </p:nvSpPr>
        <p:spPr>
          <a:xfrm>
            <a:off x="-25625" y="-14775"/>
            <a:ext cx="3355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About the Speaker</a:t>
            </a:r>
            <a:endParaRPr sz="2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8"/>
          <p:cNvSpPr txBox="1"/>
          <p:nvPr/>
        </p:nvSpPr>
        <p:spPr>
          <a:xfrm>
            <a:off x="3330175" y="878750"/>
            <a:ext cx="5621700" cy="3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Lev Selector, Ph.D.</a:t>
            </a:r>
            <a:endParaRPr sz="2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40+ years of software engineering, data science, and building teams (hiring, training, and managing)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Ph.D. in mathematical modeling and computer simulations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Interests: 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Generative AI, Using LLM with your data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AI for Local Private Data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Cloud architecture, fin-tech, application security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Find/connect: Linkedin, GitHub, YouTube, Google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28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0941" y="3664175"/>
            <a:ext cx="1144600" cy="415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8"/>
          <p:cNvSpPr txBox="1"/>
          <p:nvPr/>
        </p:nvSpPr>
        <p:spPr>
          <a:xfrm>
            <a:off x="912377" y="4005903"/>
            <a:ext cx="139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https://eais.ai</a:t>
            </a: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8"/>
          <p:cNvSpPr txBox="1"/>
          <p:nvPr/>
        </p:nvSpPr>
        <p:spPr>
          <a:xfrm>
            <a:off x="536203" y="4360974"/>
            <a:ext cx="2094075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 AI Systems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9"/>
          <p:cNvSpPr txBox="1"/>
          <p:nvPr/>
        </p:nvSpPr>
        <p:spPr>
          <a:xfrm>
            <a:off x="2151375" y="1533150"/>
            <a:ext cx="46326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lang="en" sz="7000" b="1" i="0" u="none" strike="noStrike" cap="none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7000" b="1" i="0" u="none" strike="noStrike" cap="non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2374</Words>
  <Application>Microsoft Macintosh PowerPoint</Application>
  <PresentationFormat>On-screen Show (16:9)</PresentationFormat>
  <Paragraphs>248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Roboto Mono</vt:lpstr>
      <vt:lpstr>Arial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Lev Selector</cp:lastModifiedBy>
  <cp:revision>1</cp:revision>
  <dcterms:modified xsi:type="dcterms:W3CDTF">2024-07-25T22:14:31Z</dcterms:modified>
</cp:coreProperties>
</file>