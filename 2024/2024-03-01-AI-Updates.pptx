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Roboto Mono" pitchFamily="49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61" d="100"/>
          <a:sy n="161" d="100"/>
        </p:scale>
        <p:origin x="784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bd6b57c3f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2bd6b57c3f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bd583588f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g2bd583588f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2bd583588f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g2bd583588f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bd7a686f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2bd7a686f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istral.ai/news/mistral-large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karpathy/status/1759996551378940395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twitter.com/karpathy/status/1760350892317098371" TargetMode="External"/><Relationship Id="rId4" Type="http://schemas.openxmlformats.org/officeDocument/2006/relationships/hyperlink" Target="https://www.youtube.com/watch?v=zduSFxRajkE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eureka-research.github.io/assets/eureka_paper.pdf" TargetMode="External"/><Relationship Id="rId13" Type="http://schemas.openxmlformats.org/officeDocument/2006/relationships/image" Target="../media/image9.png"/><Relationship Id="rId3" Type="http://schemas.openxmlformats.org/officeDocument/2006/relationships/hyperlink" Target="https://www.youtube.com/watch?v=sSKxxVtAANQ" TargetMode="External"/><Relationship Id="rId7" Type="http://schemas.openxmlformats.org/officeDocument/2006/relationships/hyperlink" Target="https://arxiv.org/abs/2310.12931" TargetMode="Externa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ureka-research.github.io/" TargetMode="External"/><Relationship Id="rId11" Type="http://schemas.openxmlformats.org/officeDocument/2006/relationships/image" Target="../media/image7.jpg"/><Relationship Id="rId5" Type="http://schemas.openxmlformats.org/officeDocument/2006/relationships/hyperlink" Target="https://www.1x.tech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www.figure.ai" TargetMode="External"/><Relationship Id="rId9" Type="http://schemas.openxmlformats.org/officeDocument/2006/relationships/hyperlink" Target="https://github.com/eureka-research/Eureka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gerardo.pdm/beyond-imagination-nvidias-foundation-agent-transforming-ai-and-reality-38c827b83096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witter.com/DrJimFan" TargetMode="External"/><Relationship Id="rId5" Type="http://schemas.openxmlformats.org/officeDocument/2006/relationships/hyperlink" Target="https://www.linkedin.com/in/drjimfan/" TargetMode="External"/><Relationship Id="rId4" Type="http://schemas.openxmlformats.org/officeDocument/2006/relationships/hyperlink" Target="https://jimfan.me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hyperlink" Target="https://www.rungalileo.io/blog/mastering-rag-how-to-architect-an-enterprise-rag-system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oores.samaltman.com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hyperlink" Target="https://www.youtube.com/watch?v=JEFEJsTxPCc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5.png"/><Relationship Id="rId7" Type="http://schemas.openxmlformats.org/officeDocument/2006/relationships/image" Target="../media/image1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youtube.com/watch?v=hLFzBZz5IkY" TargetMode="Externa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llm.mlc.ai" TargetMode="External"/><Relationship Id="rId13" Type="http://schemas.openxmlformats.org/officeDocument/2006/relationships/hyperlink" Target="https://github.com/homanp/superagent" TargetMode="External"/><Relationship Id="rId18" Type="http://schemas.openxmlformats.org/officeDocument/2006/relationships/hyperlink" Target="https://github.com/run-llama" TargetMode="External"/><Relationship Id="rId26" Type="http://schemas.openxmlformats.org/officeDocument/2006/relationships/hyperlink" Target="https://docs.openwebui.com" TargetMode="External"/><Relationship Id="rId3" Type="http://schemas.openxmlformats.org/officeDocument/2006/relationships/hyperlink" Target="https://gpt4all.io" TargetMode="External"/><Relationship Id="rId21" Type="http://schemas.openxmlformats.org/officeDocument/2006/relationships/hyperlink" Target="https://ollama.com" TargetMode="External"/><Relationship Id="rId7" Type="http://schemas.openxmlformats.org/officeDocument/2006/relationships/hyperlink" Target="https://www.gradio.app" TargetMode="External"/><Relationship Id="rId12" Type="http://schemas.openxmlformats.org/officeDocument/2006/relationships/hyperlink" Target="https://github.com/kyrolabs/awesome-langchain" TargetMode="External"/><Relationship Id="rId17" Type="http://schemas.openxmlformats.org/officeDocument/2006/relationships/hyperlink" Target="https://github.com/chatscope/chat-ui-kit-react" TargetMode="External"/><Relationship Id="rId25" Type="http://schemas.openxmlformats.org/officeDocument/2006/relationships/hyperlink" Target="https://github.com/open-webui/open-webui" TargetMode="External"/><Relationship Id="rId2" Type="http://schemas.openxmlformats.org/officeDocument/2006/relationships/notesSlide" Target="../notesSlides/notesSlide12.xml"/><Relationship Id="rId16" Type="http://schemas.openxmlformats.org/officeDocument/2006/relationships/hyperlink" Target="https://github.com/logspace-ai/langflow" TargetMode="External"/><Relationship Id="rId20" Type="http://schemas.openxmlformats.org/officeDocument/2006/relationships/hyperlink" Target="https://lmstudio.ai" TargetMode="External"/><Relationship Id="rId29" Type="http://schemas.openxmlformats.org/officeDocument/2006/relationships/hyperlink" Target="https://github.com/HelgeSverre/ollama-gui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privategpt.dev" TargetMode="External"/><Relationship Id="rId11" Type="http://schemas.openxmlformats.org/officeDocument/2006/relationships/hyperlink" Target="https://github.com/shashankdeshpande/langchain-chatbot" TargetMode="External"/><Relationship Id="rId24" Type="http://schemas.openxmlformats.org/officeDocument/2006/relationships/hyperlink" Target="https://github.com/Chainlit/chainlit" TargetMode="External"/><Relationship Id="rId5" Type="http://schemas.openxmlformats.org/officeDocument/2006/relationships/hyperlink" Target="https://github.com/imartinez/privateGPT" TargetMode="External"/><Relationship Id="rId15" Type="http://schemas.openxmlformats.org/officeDocument/2006/relationships/hyperlink" Target="https://www.langflow.org" TargetMode="External"/><Relationship Id="rId23" Type="http://schemas.openxmlformats.org/officeDocument/2006/relationships/hyperlink" Target="https://docs.chainlit.io/get-started/overview" TargetMode="External"/><Relationship Id="rId28" Type="http://schemas.openxmlformats.org/officeDocument/2006/relationships/hyperlink" Target="https://github.com/oobabooga/text-generation-webui/wiki/12-%E2%80%90-OpenAI-API#examples" TargetMode="External"/><Relationship Id="rId10" Type="http://schemas.openxmlformats.org/officeDocument/2006/relationships/hyperlink" Target="https://github.com/alejandro-ao/chat-with-websites" TargetMode="External"/><Relationship Id="rId19" Type="http://schemas.openxmlformats.org/officeDocument/2006/relationships/hyperlink" Target="https://github.com/run-llama/LlamaIndexTS" TargetMode="External"/><Relationship Id="rId4" Type="http://schemas.openxmlformats.org/officeDocument/2006/relationships/hyperlink" Target="https://github.com/nomic-ai/gpt4all" TargetMode="External"/><Relationship Id="rId9" Type="http://schemas.openxmlformats.org/officeDocument/2006/relationships/hyperlink" Target="https://github.com/mlc-ai/mlc-llm" TargetMode="External"/><Relationship Id="rId14" Type="http://schemas.openxmlformats.org/officeDocument/2006/relationships/hyperlink" Target="https://www.analyticsvidhya.com/blog/2023/06/langflow-ui-for-langchain-to-develop-applications-with-llms/" TargetMode="External"/><Relationship Id="rId22" Type="http://schemas.openxmlformats.org/officeDocument/2006/relationships/hyperlink" Target="https://github.com/ggerganov/llama.cpp" TargetMode="External"/><Relationship Id="rId27" Type="http://schemas.openxmlformats.org/officeDocument/2006/relationships/hyperlink" Target="https://github.com/oobabooga/text-generation-webui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ssafelovic/gpt-researcher" TargetMode="External"/><Relationship Id="rId7" Type="http://schemas.openxmlformats.org/officeDocument/2006/relationships/hyperlink" Target="https://www.youtube.com/watch?v=WJIzVok-0GI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i.plainenglish.io/pioneering-the-future-of-web-scraping-with-intelligent-ai-agents-unleash-the-power-of-autogen-222aa73daad6" TargetMode="External"/><Relationship Id="rId5" Type="http://schemas.openxmlformats.org/officeDocument/2006/relationships/hyperlink" Target="https://medium.com/simform-engineering/creating-a-web-research-chatbot-using-langchain-and-openai-aa7113c9ccbf" TargetMode="External"/><Relationship Id="rId4" Type="http://schemas.openxmlformats.org/officeDocument/2006/relationships/hyperlink" Target="https://python.langchain.com/docs/use_cases/web_scraping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lmsys/chatbot-arena-leaderboard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37850" y="1280228"/>
            <a:ext cx="4342500" cy="3386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Mistral Large 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Andrej Karpathy - Tokenizers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Robotics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NVIDIA Foundation Agent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RAG, Embeddings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When AI Robots Will Do Everything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Post-Scarcity Economics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Exponential Growth - Ray Kurzweil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How To Make a Simple AI Chatbot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Multiple Ways to Create AI Chatbots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Web Research using LLM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>
                <a:solidFill>
                  <a:srgbClr val="3C78D8"/>
                </a:solidFill>
              </a:rPr>
              <a:t>Crowd-sourced "Arena" Leaderboard</a:t>
            </a:r>
            <a:endParaRPr sz="1600" b="1">
              <a:solidFill>
                <a:srgbClr val="3C78D8"/>
              </a:solidFill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Char char="●"/>
            </a:pPr>
            <a:r>
              <a:rPr lang="en" sz="1600" b="1">
                <a:solidFill>
                  <a:srgbClr val="3C78D8"/>
                </a:solidFill>
              </a:rPr>
              <a:t>Layoffs.fyi</a:t>
            </a:r>
            <a:endParaRPr sz="1600" b="1">
              <a:solidFill>
                <a:srgbClr val="3C78D8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672738" y="1277253"/>
            <a:ext cx="4342500" cy="43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Arial"/>
              <a:buChar char="●"/>
            </a:pPr>
            <a:r>
              <a:rPr lang="en" sz="1600" b="1" i="0" u="none" strike="noStrike" cap="none">
                <a:solidFill>
                  <a:srgbClr val="3C78D8"/>
                </a:solidFill>
                <a:latin typeface="Arial"/>
                <a:ea typeface="Arial"/>
                <a:cs typeface="Arial"/>
                <a:sym typeface="Arial"/>
              </a:rPr>
              <a:t>xxx</a:t>
            </a:r>
            <a:endParaRPr sz="1600" b="1" i="0" u="none" strike="noStrike" cap="none">
              <a:solidFill>
                <a:srgbClr val="3C78D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027550" y="228175"/>
            <a:ext cx="31926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Arial"/>
                <a:ea typeface="Arial"/>
                <a:cs typeface="Arial"/>
                <a:sym typeface="Arial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rgbClr val="3C78D8"/>
                </a:solidFill>
                <a:latin typeface="Arial"/>
                <a:ea typeface="Arial"/>
                <a:cs typeface="Arial"/>
                <a:sym typeface="Arial"/>
              </a:rPr>
              <a:t>March 01, 2024</a:t>
            </a:r>
            <a:endParaRPr sz="2400" b="1" i="0" u="none" strike="noStrike" cap="none">
              <a:solidFill>
                <a:srgbClr val="3C78D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/>
        </p:nvSpPr>
        <p:spPr>
          <a:xfrm>
            <a:off x="72300" y="0"/>
            <a:ext cx="168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Mistral Large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72300" y="402600"/>
            <a:ext cx="4133400" cy="2185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Mistral Large model - </a:t>
            </a: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https://mistral.ai/news/mistral-large/</a:t>
            </a:r>
            <a:r>
              <a:rPr lang="en" sz="1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Really close to GPT-4, good at reasoning, multilingual. good at following instructions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Mistral models also available from Microsoft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open-mistral-7B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open-mixtral-8x7b.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mistral-small-2402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mistral-medium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mistral-large-2402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2" name="Google Shape;72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2400" y="2823483"/>
            <a:ext cx="4133402" cy="216761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3" name="Google Shape;73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52953" y="2823475"/>
            <a:ext cx="4277122" cy="2167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4" name="Google Shape;74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73075" y="783965"/>
            <a:ext cx="4794726" cy="1420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5" name="Google Shape;75;p15"/>
          <p:cNvSpPr txBox="1"/>
          <p:nvPr/>
        </p:nvSpPr>
        <p:spPr>
          <a:xfrm>
            <a:off x="7036025" y="2823475"/>
            <a:ext cx="697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MMLU</a:t>
            </a:r>
            <a:endParaRPr sz="1300" b="1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72300" y="0"/>
            <a:ext cx="168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Tokenizers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72300" y="783600"/>
            <a:ext cx="4133400" cy="1046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Andrej Karpathy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https://twitter.com/karpathy/status/1759996551378940395</a:t>
            </a:r>
            <a:r>
              <a:rPr lang="en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https://www.youtube.com/watch?v=zduSFxRajkE</a:t>
            </a:r>
            <a:r>
              <a:rPr lang="en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https://twitter.com/karpathy/status/1760350892317098371</a:t>
            </a:r>
            <a:r>
              <a:rPr lang="en" sz="10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/>
        </p:nvSpPr>
        <p:spPr>
          <a:xfrm>
            <a:off x="72300" y="0"/>
            <a:ext cx="365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Robotics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72300" y="466175"/>
            <a:ext cx="4359066" cy="118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Video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https://www.youtube.com/watch?v=sSKxxVtAANQ</a:t>
            </a: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https://www.figure.ai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https://www.1x.tech</a:t>
            </a: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72300" y="1787100"/>
            <a:ext cx="4359066" cy="1615797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Eureka: Human-Level Reward Design via Coding LLMs (Nvidia, UPenn, Caltech, UT Austin)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" sz="1300" b="0" i="0" u="sng" strike="noStrike" cap="none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https://eureka-research.github.io</a:t>
            </a:r>
            <a:r>
              <a:rPr lang="en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sng" strike="noStrike" cap="none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https://arxiv.org/abs/2310.12931</a:t>
            </a:r>
            <a:r>
              <a:rPr lang="en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sng" strike="noStrike" cap="none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https://eureka-research.github.io/assets/eureka_paper.pdf</a:t>
            </a:r>
            <a:r>
              <a:rPr lang="en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sng" strike="noStrike" cap="none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https://github.com/eureka-research/Eureka</a:t>
            </a:r>
            <a:r>
              <a:rPr lang="en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236822" y="80775"/>
            <a:ext cx="2863176" cy="217194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0" name="Google Shape;90;p1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605238" y="111062"/>
            <a:ext cx="1490950" cy="18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4572000" y="2370850"/>
            <a:ext cx="1300034" cy="18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7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979425" y="2370854"/>
            <a:ext cx="1019290" cy="189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/>
        </p:nvSpPr>
        <p:spPr>
          <a:xfrm>
            <a:off x="72300" y="0"/>
            <a:ext cx="365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Foundation Agent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8"/>
          <p:cNvSpPr txBox="1"/>
          <p:nvPr/>
        </p:nvSpPr>
        <p:spPr>
          <a:xfrm>
            <a:off x="72300" y="783600"/>
            <a:ext cx="4133400" cy="298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NVIDIA’s Foundation Agent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Dr. Jim Fan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ISAC Sim, a simulation platform that accelerates physical training a thousandfold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https://medium.com/@gerardo.pdm/beyond-imagination-nvidias-foundation-agent-transforming-ai-and-reality-38c827b83096</a:t>
            </a: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Voyager project in Minecraft demonstrated the agent’s capacity for continuous learning and self-improvement. Engaging in a game with over 140 million active players,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text-to-action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6192775" y="2969400"/>
            <a:ext cx="28674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Dr. Jim Fan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https://jimfan.me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https://www.linkedin.com/in/drjimfan/</a:t>
            </a: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sng" strike="noStrike" cap="none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https://twitter.com/DrJimFan</a:t>
            </a: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sng" strike="noStrike" cap="none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192750" y="71196"/>
            <a:ext cx="2867550" cy="284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/>
        </p:nvSpPr>
        <p:spPr>
          <a:xfrm>
            <a:off x="72300" y="0"/>
            <a:ext cx="365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RAG, Embeddings, ...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9"/>
          <p:cNvSpPr txBox="1"/>
          <p:nvPr/>
        </p:nvSpPr>
        <p:spPr>
          <a:xfrm>
            <a:off x="72300" y="553750"/>
            <a:ext cx="4133400" cy="38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RAG - from Sander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5775" y="1423925"/>
            <a:ext cx="4290125" cy="27022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8" name="Google Shape;108;p19"/>
          <p:cNvSpPr txBox="1"/>
          <p:nvPr/>
        </p:nvSpPr>
        <p:spPr>
          <a:xfrm>
            <a:off x="4952500" y="380900"/>
            <a:ext cx="4133400" cy="78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Enterprise </a:t>
            </a: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RAG</a:t>
            </a:r>
            <a:b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https://www.rungalileo.io/blog/mastering-rag-how-to-architect-an-enterprise-rag-system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301" y="1434227"/>
            <a:ext cx="4572001" cy="2082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/>
        </p:nvSpPr>
        <p:spPr>
          <a:xfrm>
            <a:off x="72300" y="0"/>
            <a:ext cx="413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AI Robots Will Do Everything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4403675" y="2032850"/>
            <a:ext cx="4638000" cy="298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Points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Progress beyond computing: Similar exponential improvement curves are happening in areas like DNA sequencing, solar energy, battery storage, and AI development.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Massive cost reductions: These advancements will drastically reduce costs in essential sectors, making them accessible to far more people than ever before.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 shift in societal focus: As the cost of necessities decreases, society can refocus on goals beyond basic survival such as human connection and creativity.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Proposal: A Universal Basic Income (UBI) funded by the wealth generated by new technologies could offer stability and alleviate poverty in the face of potential job displacement.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0"/>
          <p:cNvSpPr txBox="1"/>
          <p:nvPr/>
        </p:nvSpPr>
        <p:spPr>
          <a:xfrm>
            <a:off x="72300" y="466175"/>
            <a:ext cx="4221404" cy="258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Moore's Law for Everything</a:t>
            </a:r>
            <a:endParaRPr sz="1300" b="1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by Sam Altman · March 16, 2021</a:t>
            </a:r>
            <a:endParaRPr sz="1300" b="1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sng" strike="noStrike" cap="none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https://moores.samaltman.com</a:t>
            </a:r>
            <a:r>
              <a:rPr lang="en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sng" strike="noStrike" cap="none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https://www.youtube.com/watch?v=JEFEJsTxPCc</a:t>
            </a:r>
            <a:r>
              <a:rPr lang="en" sz="13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Sam Altman predicts technological advancement (AI, robotics) causing all costs decreasing exponentially over time (like Moore's Law in computing)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will expand in all areas beyond just computing. 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will dramatically lower costs in key sectors like healthcare, education, energy, and more. 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believes this will lead to unprecedented abundance.</a:t>
            </a:r>
            <a:endParaRPr sz="13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2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411525" y="46225"/>
            <a:ext cx="1630150" cy="180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31250" y="3191950"/>
            <a:ext cx="3070284" cy="178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/>
          <p:nvPr/>
        </p:nvSpPr>
        <p:spPr>
          <a:xfrm>
            <a:off x="72300" y="0"/>
            <a:ext cx="413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Post-Scarcity Economics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1"/>
          <p:cNvSpPr txBox="1"/>
          <p:nvPr/>
        </p:nvSpPr>
        <p:spPr>
          <a:xfrm>
            <a:off x="178175" y="439700"/>
            <a:ext cx="4133400" cy="358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Karl Marx theorized about the potential of automation to displace labor, leading to economic upheaval.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John Maynard Keynes predicted "technological unemployment" due to machines replacing workers.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Robert Heinlein "Waldo &amp; Magic, Inc." - remote manipulators ("waldoes") 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Isaac Asimov: His stories often explore how robots and AI impact jobs and society.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Kurt Vonnegut (Player Piano): Novel about automation displacing skilled workers, leading to social unrest.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 Trek: replicator technology can produce most goods on demand.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Iain M. Banks' Culture series: A galactic society where AI provides for all needs.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3975" y="152400"/>
            <a:ext cx="1420600" cy="145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46150" y="363000"/>
            <a:ext cx="1305925" cy="15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57750" y="695875"/>
            <a:ext cx="1323765" cy="15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63975" y="1691250"/>
            <a:ext cx="1420601" cy="17019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937225" y="1968947"/>
            <a:ext cx="1323775" cy="1769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357750" y="2330700"/>
            <a:ext cx="1305926" cy="186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63975" y="3565396"/>
            <a:ext cx="1420600" cy="1095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 txBox="1"/>
          <p:nvPr/>
        </p:nvSpPr>
        <p:spPr>
          <a:xfrm>
            <a:off x="72300" y="0"/>
            <a:ext cx="413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Exponential Growth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178175" y="439700"/>
            <a:ext cx="1676400" cy="58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1939 - 0.00001 = 1e-5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2021 - 100 Bln = 1e11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00" y="1338100"/>
            <a:ext cx="6579901" cy="365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2"/>
          <p:cNvSpPr txBox="1"/>
          <p:nvPr/>
        </p:nvSpPr>
        <p:spPr>
          <a:xfrm>
            <a:off x="2008950" y="439700"/>
            <a:ext cx="2960100" cy="78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82 years, 16 orders of 10,  53 orders of 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82/16 =  5.125 years to x10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82/53 =  1.55   years to   x2 performance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24326" y="81075"/>
            <a:ext cx="2106899" cy="2216178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/>
        </p:nvSpPr>
        <p:spPr>
          <a:xfrm>
            <a:off x="7182925" y="2297250"/>
            <a:ext cx="15897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Ray Kurzweil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https://www.youtube.com/watch?v=hLFzBZz5IkY</a:t>
            </a:r>
            <a:r>
              <a:rPr lang="en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/>
        </p:nvSpPr>
        <p:spPr>
          <a:xfrm>
            <a:off x="72300" y="0"/>
            <a:ext cx="413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Make a Simple AI Chatbot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3"/>
          <p:cNvSpPr txBox="1"/>
          <p:nvPr/>
        </p:nvSpPr>
        <p:spPr>
          <a:xfrm>
            <a:off x="4806025" y="574275"/>
            <a:ext cx="4133400" cy="295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&lt;!DOCTYPE html&gt;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&lt;html&gt;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&lt;head&gt;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&lt;title&gt;Chatbot&lt;/title&gt;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&lt;/head&gt;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&lt;body&gt;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&lt;h1&gt;Chatbot&lt;/h1&gt;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&lt;form action="/chat" method="POST"&gt;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&lt;input type="text" name="user_input" 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placeholder="Enter your message"&gt;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&lt;button type="submit"&gt;Send&lt;/button&gt;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&lt;/form&gt;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{% if user_input %}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&lt;p&gt;You: {{ user_input }}&lt;/p&gt;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&lt;p&gt;Chatbot: {{ ai_response }}&lt;/p&gt;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{% endif %}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&lt;/body&gt;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&lt;/html&gt;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8" name="Google Shape;148;p23"/>
          <p:cNvSpPr txBox="1"/>
          <p:nvPr/>
        </p:nvSpPr>
        <p:spPr>
          <a:xfrm>
            <a:off x="72300" y="574280"/>
            <a:ext cx="4622100" cy="434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# pip install flask, openai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import os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flask import Flask, render_template, request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openai import OpenAI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client = OpenAI(api_key=os.environ.get("OPENAI_API_KEY"))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app = Flask(__name__)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@app.route("/")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def index():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return render_template("index.html")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@app.route("/chat", methods=["POST"])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def chat():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user_input = request.form["user_input"]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response = client.chat.completions.create(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messages=[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{"role":"user","content":f"{user_input}",}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],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model="gpt-3.5-turbo",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ai_response = response.choices[0].message.content.strip()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return render_template("index.html",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user_input=user_input,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ai_response=ai_response)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if __name__ == "__main__":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app.run(debug=True)   # http://127.0.0.1:5000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9" name="Google Shape;149;p23"/>
          <p:cNvSpPr txBox="1"/>
          <p:nvPr/>
        </p:nvSpPr>
        <p:spPr>
          <a:xfrm>
            <a:off x="5992750" y="299425"/>
            <a:ext cx="1823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templates/index.html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50" name="Google Shape;150;p23"/>
          <p:cNvSpPr txBox="1"/>
          <p:nvPr/>
        </p:nvSpPr>
        <p:spPr>
          <a:xfrm>
            <a:off x="1597950" y="299425"/>
            <a:ext cx="1395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python app.py</a:t>
            </a:r>
            <a:endParaRPr sz="10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51" name="Google Shape;151;p2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20163" y="3656125"/>
            <a:ext cx="3106950" cy="1296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4"/>
          <p:cNvSpPr txBox="1"/>
          <p:nvPr/>
        </p:nvSpPr>
        <p:spPr>
          <a:xfrm>
            <a:off x="72300" y="0"/>
            <a:ext cx="413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Multiple Ways to Create AI Chatbots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4"/>
          <p:cNvSpPr txBox="1"/>
          <p:nvPr/>
        </p:nvSpPr>
        <p:spPr>
          <a:xfrm>
            <a:off x="4650750" y="397425"/>
            <a:ext cx="4381500" cy="4402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GPT4All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ecosystem to train and deploy LLMs that run locally on consumer grade CPUs. Written in C++, has python and Javascript bindings.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https://gpt4all.io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https://github.com/nomic-ai/gpt4all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PrivateGPT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python-based, llama.cpp, gradio UI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https://github.com/imartinez/privateGPT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https://docs.privategpt.dev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https://www.gradio.app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MLC LLM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open-source apps (cpp, python, rust)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https://llm.mlc.ai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https://github.com/mlc-ai/mlc-llm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Streamlit GUI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https://github.com/alejandro-ao/chat-with-websites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https://github.com/shashankdeshpande/langchain-chatbot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LangChain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https://github.com/kyrolabs/awesome-langchain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https://github.com/homanp/superagent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https://www.analyticsvidhya.com/blog/2023/06/langflow-ui-for-langchain-to-develop-applications-with-llms/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LangFlow</a:t>
            </a:r>
            <a:endParaRPr sz="10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https://www.langflow.org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;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https://github.com/logspace-ai/langflow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https://github.com/chatscope/chat-ui-kit-react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LlamaIndex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https://github.com/run-llama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LlamaIndex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9"/>
              </a:rPr>
              <a:t>https://github.com/run-llama/LlamaIndexTS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Javascript apps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72300" y="397425"/>
            <a:ext cx="4381500" cy="4617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LMStudio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/>
              </a:rPr>
              <a:t>https://lmstudio.ai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app to run chat locally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Ollama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1"/>
              </a:rPr>
              <a:t>https://ollama.com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server, prompt, python API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llama.cpp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2"/>
              </a:rPr>
              <a:t>https://github.com/ggerganov/llama.cpp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runtime to efficiently run LLMs (cmd, server)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Chainlit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build app in minutes (integrates with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LangChain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3"/>
              </a:rPr>
              <a:t>https://docs.chainlit.io/get-started/overview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4"/>
              </a:rPr>
              <a:t>https://github.com/Chainlit/chainlit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 WebUI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(Formerly Ollama WebUI) - supports Ollama </a:t>
            </a:r>
            <a:b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 OpenAI-compatible APIs. Python and Javascript.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5"/>
              </a:rPr>
              <a:t>https://github.com/open-webui/open-webui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6"/>
              </a:rPr>
              <a:t>https://docs.openwebui.com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Text-Generation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open source, but problem installing (it installs its own miniconda). Python based. Uses transformers and datasets modules, as well as llama.cpp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7"/>
              </a:rPr>
              <a:t>https://github.com/oobabooga/text-generation-webui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8"/>
              </a:rPr>
              <a:t>https://github.com/oobabooga/text-generation-webui/wiki/12-%E2%80%90-OpenAI-API#examples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Ollama GUI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open-source pure Javascript chat app to use local LLMs via Ollama.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9"/>
              </a:rPr>
              <a:t>https://github.com/HelgeSverre/ollama-gui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/>
        </p:nvSpPr>
        <p:spPr>
          <a:xfrm>
            <a:off x="72300" y="0"/>
            <a:ext cx="413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Research using LLM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72300" y="397425"/>
            <a:ext cx="4381500" cy="255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GPT Researcher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https://github.com/assafelovic/gpt-researcher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scraping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https://python.langchain.com/docs/use_cases/web_scraping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Research chatbot LangChain+OpenAI: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https://medium.com/simform-engineering/creating-a-web-research-chatbot-using-langchain-and-openai-aa7113c9ccbf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Pioneering the Future of Web Scraping with Intelligent AI Agents: Unleash the Power of AutoGen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https://ai.plainenglish.io/pioneering-the-future-of-web-scraping-with-intelligent-ai-agents-unleash-the-power-of-autogen-222aa73daad6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AutoGen Part 4 | Create Multi-Agents GPT for Research Apps !!!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https://www.youtube.com/watch?v=WJIzVok-0GI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4670225" y="397425"/>
            <a:ext cx="4381500" cy="29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xxx</a:t>
            </a:r>
            <a:endParaRPr sz="7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6"/>
          <p:cNvSpPr txBox="1"/>
          <p:nvPr/>
        </p:nvSpPr>
        <p:spPr>
          <a:xfrm>
            <a:off x="7287950" y="845650"/>
            <a:ext cx="1763700" cy="4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Feb 15, 2024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64 Models, 300 K votes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7254050" y="4211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6"/>
          <p:cNvSpPr txBox="1"/>
          <p:nvPr/>
        </p:nvSpPr>
        <p:spPr>
          <a:xfrm>
            <a:off x="5535876" y="45850"/>
            <a:ext cx="3549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https://huggingface.co/spaces/lmsys/chatbot-arena-leaderboard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800" y="421150"/>
            <a:ext cx="7050350" cy="4611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/>
        </p:nvSpPr>
        <p:spPr>
          <a:xfrm>
            <a:off x="72300" y="76200"/>
            <a:ext cx="413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Layoffs are not too big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2452313" y="4109075"/>
            <a:ext cx="3716100" cy="2184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far in 2024 layoffs are 3-times less than in 2023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9325" y="814647"/>
            <a:ext cx="7124034" cy="3008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1700</Words>
  <Application>Microsoft Macintosh PowerPoint</Application>
  <PresentationFormat>On-screen Show (16:9)</PresentationFormat>
  <Paragraphs>213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Roboto Mono</vt:lpstr>
      <vt:lpstr>Calibri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</cp:revision>
  <dcterms:modified xsi:type="dcterms:W3CDTF">2024-02-28T11:52:54Z</dcterms:modified>
</cp:coreProperties>
</file>