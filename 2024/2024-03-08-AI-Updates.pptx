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5" r:id="rId19"/>
    <p:sldId id="276" r:id="rId20"/>
    <p:sldId id="277" r:id="rId21"/>
    <p:sldId id="278" r:id="rId22"/>
    <p:sldId id="279" r:id="rId23"/>
    <p:sldId id="271" r:id="rId24"/>
    <p:sldId id="274" r:id="rId25"/>
    <p:sldId id="280" r:id="rId26"/>
  </p:sldIdLst>
  <p:sldSz cx="9144000" cy="5143500" type="screen16x9"/>
  <p:notesSz cx="6858000" cy="9144000"/>
  <p:embeddedFontLst>
    <p:embeddedFont>
      <p:font typeface="JetBrains Mono" panose="02000009000000000000" pitchFamily="49" charset="0"/>
      <p:regular r:id="rId28"/>
      <p:bold r:id="rId29"/>
      <p:italic r:id="rId30"/>
      <p:boldItalic r:id="rId31"/>
    </p:embeddedFont>
    <p:embeddedFont>
      <p:font typeface="Roboto Mono" pitchFamily="49"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65AAF0E-EBC3-4B0C-B30E-AF410319031E}">
  <a:tblStyle styleId="{E65AAF0E-EBC3-4B0C-B30E-AF410319031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BF781D7-07CC-4569-BD81-52501F8F7F03}"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p:cViewPr varScale="1">
        <p:scale>
          <a:sx n="161" d="100"/>
          <a:sy n="161" d="100"/>
        </p:scale>
        <p:origin x="78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 name="Google Shape;63;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2bf5ad3321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 name="Google Shape;72;g2bf5ad33213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2c08fab52a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 name="Google Shape;84;g2c08fab52a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2beb723012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g2beb723012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bed43ef8c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 name="Google Shape;102;g2bed43ef8c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bed7b5718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2bed7b5718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2bed43ef8cf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g2bed43ef8cf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bf4634aea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2bf4634aea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2bf03781861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2bf03781861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2bf5ad3321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 name="Google Shape;143;g2bf5ad3321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f3afb49ba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2" name="Google Shape;152;g1f3afb49ba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bf7fc4256d_2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9" name="Google Shape;159;g2bf7fc4256d_2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2c0944a46a1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2" name="Google Shape;172;g2c0944a46a1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c01748d66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g2c01748d66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2bd7a686f3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6" name="Google Shape;196;g2bd7a686f3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2beadeb6b4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3" name="Google Shape;203;g2beadeb6b4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c004575e7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9" name="Google Shape;219;g2c004575e7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1f3afb49fb4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7" name="Google Shape;227;g1f3afb49fb4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7" name="Google Shape;23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5" name="Google Shape;255;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7" name="Google Shape;18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222807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2bfecfce78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2" name="Google Shape;212;g2bfecfce78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613872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bffe074f52_1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0" name="Google Shape;260;g2bffe074f52_1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s://www.anthropic.com/news/claude-3-family" TargetMode="External"/><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lifearchitect.substack.com/p/the-memo-special-edition-claude-3" TargetMode="External"/><Relationship Id="rId5" Type="http://schemas.openxmlformats.org/officeDocument/2006/relationships/hyperlink" Target="https://encord.com/blog/claude-3-explained/" TargetMode="External"/><Relationship Id="rId10" Type="http://schemas.openxmlformats.org/officeDocument/2006/relationships/hyperlink" Target="https://claude.ai/chats" TargetMode="External"/><Relationship Id="rId4" Type="http://schemas.openxmlformats.org/officeDocument/2006/relationships/hyperlink" Target="https://twitter.com/AnthropicAI/status/1764653830468428150" TargetMode="External"/><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hyperlink" Target="https://twitter.com/waitbutwhy/status/1765554130804724057"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hyperlink" Target="https://twitter.com/tsarnick/status/1765292098117681233"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hyperlink" Target="https://twitter.com/elonmusk/status/1765415187161464972" TargetMode="External"/><Relationship Id="rId5" Type="http://schemas.openxmlformats.org/officeDocument/2006/relationships/image" Target="../media/image13.jpe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hyperlink" Target="https://www.courthousenews.com/wp-content/uploads/2024/02/musk-v-altman-openai-complaint-sf.pdf"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www.youtube.com/watch?v=FYJVTPzj0cE" TargetMode="External"/><Relationship Id="rId5" Type="http://schemas.openxmlformats.org/officeDocument/2006/relationships/hyperlink" Target="https://openletter.svangel.com" TargetMode="External"/><Relationship Id="rId4" Type="http://schemas.openxmlformats.org/officeDocument/2006/relationships/hyperlink" Target="https://twitter.com/elonmusk/status/1764051414727201099" TargetMode="External"/></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hyperlink" Target="https://www.marketsandmarkets.com/Market-Reports/generative-ai-market-142870584.html" TargetMode="External"/><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hyperlink" Target="https://explodingtopics.com/blog/ai-market-size-stats" TargetMode="External"/><Relationship Id="rId4" Type="http://schemas.openxmlformats.org/officeDocument/2006/relationships/hyperlink" Target="https://www.statista.com/outlook/tmo/artificial-intelligence/generative-ai/worldwide#market-size"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conductor.com/academy/search-generative-experience/"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hyperlink" Target="https://www.tomshardware.com/news/google-sge-break-internet"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tomshardware.com/tech-industry/artificial-intelligence/ai-worm-infects-users-via-ai-enabled-email-clients-morris-ii-generative-ai-worm-steals-confidential-data-as-it-spreads"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hyperlink" Target="https://www.404media.co/inside-the-underground-site-where-ai-neural-networks-churns-out-fake-ids-onlyfake/" TargetMode="External"/><Relationship Id="rId4" Type="http://schemas.openxmlformats.org/officeDocument/2006/relationships/hyperlink" Target="https://www.medianama.com/2024/02/223-onlyfake-generative-ai-fake-id/"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arxiv.org/abs/2402.13064" TargetMode="External"/><Relationship Id="rId7" Type="http://schemas.openxmlformats.org/officeDocument/2006/relationships/hyperlink" Target="https://artificialintelligenceact.eu"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s://oversight.house.gov/release/comer-raskin-introduce-the-federal-ai-governance-and-transparency-act" TargetMode="External"/><Relationship Id="rId5" Type="http://schemas.openxmlformats.org/officeDocument/2006/relationships/hyperlink" Target="https://twitter.com/AravSrinivas/status/1764429686787252402" TargetMode="Externa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hyperlink" Target="https://gowinston.ai" TargetMode="External"/><Relationship Id="rId13" Type="http://schemas.openxmlformats.org/officeDocument/2006/relationships/hyperlink" Target="https://www.tripo3d.ai" TargetMode="External"/><Relationship Id="rId18" Type="http://schemas.openxmlformats.org/officeDocument/2006/relationships/hyperlink" Target="https://www.ema.co" TargetMode="External"/><Relationship Id="rId3" Type="http://schemas.openxmlformats.org/officeDocument/2006/relationships/hyperlink" Target="https://humbot.ai" TargetMode="External"/><Relationship Id="rId7" Type="http://schemas.openxmlformats.org/officeDocument/2006/relationships/hyperlink" Target="https://contentatscale.ai" TargetMode="External"/><Relationship Id="rId12" Type="http://schemas.openxmlformats.org/officeDocument/2006/relationships/hyperlink" Target="https://arxiv.org/abs/2310.05869?utm_source=tldrai" TargetMode="External"/><Relationship Id="rId17" Type="http://schemas.openxmlformats.org/officeDocument/2006/relationships/hyperlink" Target="https://github.com/YoucanBaby/VTG-GPT" TargetMode="External"/><Relationship Id="rId2" Type="http://schemas.openxmlformats.org/officeDocument/2006/relationships/notesSlide" Target="../notesSlides/notesSlide13.xml"/><Relationship Id="rId16" Type="http://schemas.openxmlformats.org/officeDocument/2006/relationships/hyperlink" Target="https://stability.ai/news/stable-diffusion-3-research-paper" TargetMode="External"/><Relationship Id="rId1" Type="http://schemas.openxmlformats.org/officeDocument/2006/relationships/slideLayout" Target="../slideLayouts/slideLayout1.xml"/><Relationship Id="rId6" Type="http://schemas.openxmlformats.org/officeDocument/2006/relationships/hyperlink" Target="https://www.zerogpt.com" TargetMode="External"/><Relationship Id="rId11" Type="http://schemas.openxmlformats.org/officeDocument/2006/relationships/hyperlink" Target="https://gptzero.me" TargetMode="External"/><Relationship Id="rId5" Type="http://schemas.openxmlformats.org/officeDocument/2006/relationships/hyperlink" Target="https://originality.ai" TargetMode="External"/><Relationship Id="rId15" Type="http://schemas.openxmlformats.org/officeDocument/2006/relationships/hyperlink" Target="https://stability.ai/news/triposr-3d-generation" TargetMode="External"/><Relationship Id="rId10" Type="http://schemas.openxmlformats.org/officeDocument/2006/relationships/hyperlink" Target="https://www.turnitin.com" TargetMode="External"/><Relationship Id="rId19" Type="http://schemas.openxmlformats.org/officeDocument/2006/relationships/hyperlink" Target="https://techcrunch.com/2024/03/05/ema-a-universal-ai-employee-emerges-from-stealth-with-25m/" TargetMode="External"/><Relationship Id="rId4" Type="http://schemas.openxmlformats.org/officeDocument/2006/relationships/hyperlink" Target="https://undetectableai.ai" TargetMode="External"/><Relationship Id="rId9" Type="http://schemas.openxmlformats.org/officeDocument/2006/relationships/hyperlink" Target="https://copyleaks.com" TargetMode="External"/><Relationship Id="rId14" Type="http://schemas.openxmlformats.org/officeDocument/2006/relationships/hyperlink" Target="https://arxiv.org/abs/2311.04400"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www.snowflake.com/en/data-cloud/cortex/"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hyperlink" Target="https://inflection.ai/inflection-2-5"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techcrunch.com/2024/03/05/amazons-new-rufus-chatbot-isnt-bad-but-it-isnt-great-either/"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www.deeplearning.ai/short-courses/functions-tools-agents-langchain/"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hyperlink" Target="https://www.youtube.com/watch?v=6nfdL76d6OI"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hyperlink" Target="https://www.youtube.com/watch?v=zduSFxRajkE&amp;t=146s" TargetMode="External"/><Relationship Id="rId7"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hyperlink" Target="https://hundredblocks.github.io/transcription_demo/" TargetMode="External"/><Relationship Id="rId5" Type="http://schemas.openxmlformats.org/officeDocument/2006/relationships/hyperlink" Target="https://github.com/hundredblocks/transcription_demo?utm_source=tldrai" TargetMode="External"/><Relationship Id="rId4" Type="http://schemas.openxmlformats.org/officeDocument/2006/relationships/hyperlink" Target="https://twitter.com/karpathy/status/1760740503614836917"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7.jpeg"/><Relationship Id="rId5" Type="http://schemas.openxmlformats.org/officeDocument/2006/relationships/image" Target="../media/image26.png"/><Relationship Id="rId4" Type="http://schemas.openxmlformats.org/officeDocument/2006/relationships/image" Target="../media/image25.jpeg"/></Relationships>
</file>

<file path=ppt/slides/_rels/slide20.xml.rels><?xml version="1.0" encoding="UTF-8" standalone="yes"?>
<Relationships xmlns="http://schemas.openxmlformats.org/package/2006/relationships"><Relationship Id="rId3" Type="http://schemas.openxmlformats.org/officeDocument/2006/relationships/hyperlink" Target="https://huggingface.co/spaces/lmsys/chatbot-arena-leaderboard"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hyperlink" Target="https://www.rungalileo.io/blog/mastering-rag-how-to-architect-an-enterprise-rag-system"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github.com/assafelovic/gpt-researcher" TargetMode="External"/><Relationship Id="rId7" Type="http://schemas.openxmlformats.org/officeDocument/2006/relationships/hyperlink" Target="https://www.youtube.com/watch?v=WJIzVok-0GI"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hyperlink" Target="https://ai.plainenglish.io/pioneering-the-future-of-web-scraping-with-intelligent-ai-agents-unleash-the-power-of-autogen-222aa73daad6" TargetMode="External"/><Relationship Id="rId5" Type="http://schemas.openxmlformats.org/officeDocument/2006/relationships/hyperlink" Target="https://medium.com/simform-engineering/creating-a-web-research-chatbot-using-langchain-and-openai-aa7113c9ccbf" TargetMode="External"/><Relationship Id="rId4" Type="http://schemas.openxmlformats.org/officeDocument/2006/relationships/hyperlink" Target="https://python.langchain.com/docs/use_cases/web_scraping"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aiforgood.itu.int/celebrating-leading-women-in-ai-on-international-womens-day/" TargetMode="External"/><Relationship Id="rId7" Type="http://schemas.openxmlformats.org/officeDocument/2006/relationships/image" Target="../media/image34.jpe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jpeg"/><Relationship Id="rId4" Type="http://schemas.openxmlformats.org/officeDocument/2006/relationships/hyperlink" Target="https://www.forbes.com/sites/robtoews/2020/12/13/8-leading-women-in-the-field-of-a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86325" y="1356425"/>
            <a:ext cx="4420200" cy="36480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Claude 3 Released by Anthropic, Beats Average Human on IQ Test </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Elon Musk suing OpenAI &amp; Sam Altman</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Generative AI market to skyrocket</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Google’s Content-Swiping AI</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AI worm Morris II</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AI-generated fake IDs</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Microsoft GLAN (Instruction Tuning)</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India - Gov. approval for AI deployments</a:t>
            </a:r>
            <a:br>
              <a:rPr lang="en" sz="1500" b="1">
                <a:solidFill>
                  <a:srgbClr val="3C78D8"/>
                </a:solidFill>
              </a:rPr>
            </a:br>
            <a:r>
              <a:rPr lang="en" sz="1500" b="1">
                <a:solidFill>
                  <a:srgbClr val="3C78D8"/>
                </a:solidFill>
              </a:rPr>
              <a:t>US - "Federal AI Governance ... Act"</a:t>
            </a:r>
            <a:br>
              <a:rPr lang="en" sz="1500" b="1">
                <a:solidFill>
                  <a:srgbClr val="3C78D8"/>
                </a:solidFill>
              </a:rPr>
            </a:br>
            <a:r>
              <a:rPr lang="en" sz="1500" b="1">
                <a:solidFill>
                  <a:srgbClr val="3C78D8"/>
                </a:solidFill>
              </a:rPr>
              <a:t>EU - AI Act</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Decline of Conventional Media </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AI content detectors, Text Humanizers</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HyperAttention</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Single Image =&gt; 3D</a:t>
            </a:r>
            <a:endParaRPr sz="1500" b="1">
              <a:solidFill>
                <a:srgbClr val="3C78D8"/>
              </a:solidFill>
            </a:endParaRPr>
          </a:p>
        </p:txBody>
      </p:sp>
      <p:sp>
        <p:nvSpPr>
          <p:cNvPr id="55" name="Google Shape;55;p13"/>
          <p:cNvSpPr txBox="1"/>
          <p:nvPr/>
        </p:nvSpPr>
        <p:spPr>
          <a:xfrm>
            <a:off x="4636000" y="1353450"/>
            <a:ext cx="4420200" cy="2954625"/>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marR="0" lvl="0" indent="-209550" algn="l" rtl="0">
              <a:lnSpc>
                <a:spcPct val="100000"/>
              </a:lnSpc>
              <a:spcBef>
                <a:spcPts val="0"/>
              </a:spcBef>
              <a:spcAft>
                <a:spcPts val="0"/>
              </a:spcAft>
              <a:buClr>
                <a:srgbClr val="3C78D8"/>
              </a:buClr>
              <a:buSzPts val="1500"/>
              <a:buFont typeface="Arial"/>
              <a:buChar char="●"/>
            </a:pPr>
            <a:r>
              <a:rPr lang="en" sz="1500" b="1" dirty="0">
                <a:solidFill>
                  <a:srgbClr val="3C78D8"/>
                </a:solidFill>
              </a:rPr>
              <a:t>VTG-GPT (search inside videos)</a:t>
            </a:r>
            <a:endParaRPr sz="1500" b="1" dirty="0">
              <a:solidFill>
                <a:srgbClr val="3C78D8"/>
              </a:solidFill>
            </a:endParaRPr>
          </a:p>
          <a:p>
            <a:pPr marL="228600" marR="0" lvl="0" indent="-209550" algn="l" rtl="0">
              <a:lnSpc>
                <a:spcPct val="100000"/>
              </a:lnSpc>
              <a:spcBef>
                <a:spcPts val="0"/>
              </a:spcBef>
              <a:spcAft>
                <a:spcPts val="0"/>
              </a:spcAft>
              <a:buClr>
                <a:srgbClr val="3C78D8"/>
              </a:buClr>
              <a:buSzPts val="1500"/>
              <a:buFont typeface="Arial"/>
              <a:buChar char="●"/>
            </a:pPr>
            <a:r>
              <a:rPr lang="en" sz="1500" b="1" dirty="0" err="1">
                <a:solidFill>
                  <a:srgbClr val="3C78D8"/>
                </a:solidFill>
              </a:rPr>
              <a:t>Ema</a:t>
            </a:r>
            <a:r>
              <a:rPr lang="en" sz="1500" b="1" dirty="0">
                <a:solidFill>
                  <a:srgbClr val="3C78D8"/>
                </a:solidFill>
              </a:rPr>
              <a:t> - an Universal AI employee</a:t>
            </a:r>
            <a:endParaRPr sz="1500" b="1" dirty="0">
              <a:solidFill>
                <a:srgbClr val="3C78D8"/>
              </a:solidFill>
            </a:endParaRPr>
          </a:p>
          <a:p>
            <a:pPr marL="228600" marR="0" lvl="0" indent="-209550" algn="l" rtl="0">
              <a:lnSpc>
                <a:spcPct val="100000"/>
              </a:lnSpc>
              <a:spcBef>
                <a:spcPts val="0"/>
              </a:spcBef>
              <a:spcAft>
                <a:spcPts val="0"/>
              </a:spcAft>
              <a:buClr>
                <a:srgbClr val="3C78D8"/>
              </a:buClr>
              <a:buSzPts val="1500"/>
              <a:buFont typeface="Arial"/>
              <a:buChar char="●"/>
            </a:pPr>
            <a:r>
              <a:rPr lang="en" sz="1500" b="1" dirty="0">
                <a:solidFill>
                  <a:srgbClr val="3C78D8"/>
                </a:solidFill>
              </a:rPr>
              <a:t>Copyright: LLMs similar to VCRs</a:t>
            </a:r>
            <a:endParaRPr sz="1500" b="1" dirty="0">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dirty="0">
                <a:solidFill>
                  <a:srgbClr val="3C78D8"/>
                </a:solidFill>
              </a:rPr>
              <a:t>Snowflake Cortex + Mistral Large</a:t>
            </a:r>
            <a:endParaRPr sz="1500" b="1" dirty="0">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dirty="0">
                <a:solidFill>
                  <a:srgbClr val="3C78D8"/>
                </a:solidFill>
              </a:rPr>
              <a:t>Inflection-2.5 on Pi platform</a:t>
            </a:r>
            <a:endParaRPr sz="1500" b="1" dirty="0">
              <a:solidFill>
                <a:srgbClr val="3C78D8"/>
              </a:solidFill>
            </a:endParaRPr>
          </a:p>
          <a:p>
            <a:pPr marL="228600" marR="0" lvl="0" indent="-209550" algn="l" rtl="0">
              <a:lnSpc>
                <a:spcPct val="100000"/>
              </a:lnSpc>
              <a:spcBef>
                <a:spcPts val="0"/>
              </a:spcBef>
              <a:spcAft>
                <a:spcPts val="0"/>
              </a:spcAft>
              <a:buClr>
                <a:srgbClr val="3C78D8"/>
              </a:buClr>
              <a:buSzPts val="1500"/>
              <a:buFont typeface="Arial"/>
              <a:buChar char="●"/>
            </a:pPr>
            <a:r>
              <a:rPr lang="en" sz="1500" b="1" dirty="0">
                <a:solidFill>
                  <a:srgbClr val="3C78D8"/>
                </a:solidFill>
              </a:rPr>
              <a:t>Amazon Rufus Chatbot</a:t>
            </a:r>
            <a:endParaRPr sz="1500" b="1" dirty="0">
              <a:solidFill>
                <a:srgbClr val="3C78D8"/>
              </a:solidFill>
            </a:endParaRPr>
          </a:p>
          <a:p>
            <a:pPr marL="228600" marR="0" lvl="0" indent="-209550" algn="l" rtl="0">
              <a:lnSpc>
                <a:spcPct val="100000"/>
              </a:lnSpc>
              <a:spcBef>
                <a:spcPts val="0"/>
              </a:spcBef>
              <a:spcAft>
                <a:spcPts val="0"/>
              </a:spcAft>
              <a:buClr>
                <a:srgbClr val="3C78D8"/>
              </a:buClr>
              <a:buSzPts val="1500"/>
              <a:buFont typeface="Arial"/>
              <a:buChar char="●"/>
            </a:pPr>
            <a:r>
              <a:rPr lang="en" sz="1500" b="1" dirty="0">
                <a:solidFill>
                  <a:srgbClr val="3C78D8"/>
                </a:solidFill>
              </a:rPr>
              <a:t>Amara's Law</a:t>
            </a:r>
            <a:endParaRPr sz="1500" b="1" dirty="0">
              <a:solidFill>
                <a:srgbClr val="3C78D8"/>
              </a:solidFill>
            </a:endParaRPr>
          </a:p>
          <a:p>
            <a:pPr marL="228600" marR="0" lvl="0" indent="-209550" algn="l" rtl="0">
              <a:lnSpc>
                <a:spcPct val="100000"/>
              </a:lnSpc>
              <a:spcBef>
                <a:spcPts val="0"/>
              </a:spcBef>
              <a:spcAft>
                <a:spcPts val="0"/>
              </a:spcAft>
              <a:buClr>
                <a:srgbClr val="3C78D8"/>
              </a:buClr>
              <a:buSzPts val="1500"/>
              <a:buFont typeface="Arial"/>
              <a:buChar char="●"/>
            </a:pPr>
            <a:r>
              <a:rPr lang="en" sz="1500" b="1" dirty="0">
                <a:solidFill>
                  <a:srgbClr val="3C78D8"/>
                </a:solidFill>
              </a:rPr>
              <a:t>Function Calling with LLM</a:t>
            </a:r>
            <a:endParaRPr sz="1500" b="1" dirty="0">
              <a:solidFill>
                <a:srgbClr val="3C78D8"/>
              </a:solidFill>
            </a:endParaRPr>
          </a:p>
          <a:p>
            <a:pPr marL="228600" marR="0" lvl="0" indent="-209550" algn="l" rtl="0">
              <a:lnSpc>
                <a:spcPct val="100000"/>
              </a:lnSpc>
              <a:spcBef>
                <a:spcPts val="0"/>
              </a:spcBef>
              <a:spcAft>
                <a:spcPts val="0"/>
              </a:spcAft>
              <a:buClr>
                <a:srgbClr val="3C78D8"/>
              </a:buClr>
              <a:buSzPts val="1500"/>
              <a:buFont typeface="Arial"/>
              <a:buChar char="●"/>
            </a:pPr>
            <a:r>
              <a:rPr lang="en" sz="1500" b="1" dirty="0">
                <a:solidFill>
                  <a:srgbClr val="3C78D8"/>
                </a:solidFill>
              </a:rPr>
              <a:t>Andrej </a:t>
            </a:r>
            <a:r>
              <a:rPr lang="en" sz="1500" b="1" dirty="0" err="1">
                <a:solidFill>
                  <a:srgbClr val="3C78D8"/>
                </a:solidFill>
              </a:rPr>
              <a:t>Karpathy</a:t>
            </a:r>
            <a:r>
              <a:rPr lang="en" sz="1500" b="1" dirty="0">
                <a:solidFill>
                  <a:srgbClr val="3C78D8"/>
                </a:solidFill>
              </a:rPr>
              <a:t> - using Claude 3 for Video Summarization</a:t>
            </a:r>
            <a:endParaRPr sz="1500" b="1" dirty="0">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dirty="0">
                <a:solidFill>
                  <a:srgbClr val="3C78D8"/>
                </a:solidFill>
              </a:rPr>
              <a:t>ASML</a:t>
            </a:r>
            <a:endParaRPr sz="1500" b="1" dirty="0">
              <a:solidFill>
                <a:srgbClr val="3C78D8"/>
              </a:solidFill>
            </a:endParaRPr>
          </a:p>
          <a:p>
            <a:pPr marL="228600" marR="0" lvl="0" indent="-209550" algn="l" rtl="0">
              <a:lnSpc>
                <a:spcPct val="100000"/>
              </a:lnSpc>
              <a:spcBef>
                <a:spcPts val="0"/>
              </a:spcBef>
              <a:spcAft>
                <a:spcPts val="0"/>
              </a:spcAft>
              <a:buClr>
                <a:srgbClr val="3C78D8"/>
              </a:buClr>
              <a:buSzPts val="1500"/>
              <a:buFont typeface="Arial"/>
              <a:buChar char="●"/>
            </a:pPr>
            <a:r>
              <a:rPr lang="en" sz="1500" b="1" dirty="0">
                <a:solidFill>
                  <a:srgbClr val="3C78D8"/>
                </a:solidFill>
              </a:rPr>
              <a:t>Crowd-sourced "Arena" Leaderboard</a:t>
            </a:r>
            <a:endParaRPr sz="1500" b="1" dirty="0">
              <a:solidFill>
                <a:srgbClr val="3C78D8"/>
              </a:solidFill>
            </a:endParaRPr>
          </a:p>
        </p:txBody>
      </p:sp>
      <p:sp>
        <p:nvSpPr>
          <p:cNvPr id="56" name="Google Shape;56;p13"/>
          <p:cNvSpPr txBox="1"/>
          <p:nvPr/>
        </p:nvSpPr>
        <p:spPr>
          <a:xfrm>
            <a:off x="3027550" y="228175"/>
            <a:ext cx="3192600" cy="9420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600" b="1" i="0" u="none" strike="noStrike" cap="none">
                <a:solidFill>
                  <a:srgbClr val="3C78D8"/>
                </a:solidFill>
                <a:latin typeface="Arial"/>
                <a:ea typeface="Arial"/>
                <a:cs typeface="Arial"/>
                <a:sym typeface="Arial"/>
              </a:rPr>
              <a:t>AI Updates </a:t>
            </a:r>
            <a:endParaRPr sz="3600" b="1" i="0" u="none" strike="noStrike" cap="none">
              <a:solidFill>
                <a:srgbClr val="3C78D8"/>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rgbClr val="3C78D8"/>
                </a:solidFill>
                <a:latin typeface="Arial"/>
                <a:ea typeface="Arial"/>
                <a:cs typeface="Arial"/>
                <a:sym typeface="Arial"/>
              </a:rPr>
              <a:t>March 0</a:t>
            </a:r>
            <a:r>
              <a:rPr lang="en" sz="2400" b="1">
                <a:solidFill>
                  <a:srgbClr val="3C78D8"/>
                </a:solidFill>
              </a:rPr>
              <a:t>8</a:t>
            </a:r>
            <a:r>
              <a:rPr lang="en" sz="2400" b="1" i="0" u="none" strike="noStrike" cap="none">
                <a:solidFill>
                  <a:srgbClr val="3C78D8"/>
                </a:solidFill>
                <a:latin typeface="Arial"/>
                <a:ea typeface="Arial"/>
                <a:cs typeface="Arial"/>
                <a:sym typeface="Arial"/>
              </a:rPr>
              <a:t>, 2024</a:t>
            </a:r>
            <a:endParaRPr sz="2400" b="1" i="0" u="none" strike="noStrike" cap="none">
              <a:solidFill>
                <a:srgbClr val="3C78D8"/>
              </a:solidFill>
              <a:latin typeface="Arial"/>
              <a:ea typeface="Arial"/>
              <a:cs typeface="Arial"/>
              <a:sym typeface="Arial"/>
            </a:endParaRPr>
          </a:p>
        </p:txBody>
      </p:sp>
      <p:pic>
        <p:nvPicPr>
          <p:cNvPr id="57" name="Google Shape;57;p13"/>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7978548" y="87825"/>
            <a:ext cx="1082350" cy="1082350"/>
          </a:xfrm>
          <a:prstGeom prst="rect">
            <a:avLst/>
          </a:prstGeom>
          <a:noFill/>
          <a:ln>
            <a:noFill/>
          </a:ln>
        </p:spPr>
      </p:pic>
      <p:sp>
        <p:nvSpPr>
          <p:cNvPr id="58" name="Google Shape;58;p13"/>
          <p:cNvSpPr txBox="1"/>
          <p:nvPr/>
        </p:nvSpPr>
        <p:spPr>
          <a:xfrm>
            <a:off x="5943600" y="336500"/>
            <a:ext cx="1979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dirty="0">
                <a:solidFill>
                  <a:srgbClr val="FF0000"/>
                </a:solidFill>
                <a:latin typeface="JetBrains Mono"/>
                <a:ea typeface="JetBrains Mono"/>
                <a:cs typeface="JetBrains Mono"/>
                <a:sym typeface="JetBrains Mono"/>
              </a:rPr>
              <a:t>International Women's Day</a:t>
            </a:r>
            <a:endParaRPr sz="1600" b="1" dirty="0">
              <a:solidFill>
                <a:srgbClr val="FF0000"/>
              </a:solidFill>
              <a:latin typeface="JetBrains Mono"/>
              <a:ea typeface="JetBrains Mono"/>
              <a:cs typeface="JetBrains Mono"/>
              <a:sym typeface="JetBrains Mono"/>
            </a:endParaRPr>
          </a:p>
        </p:txBody>
      </p:sp>
      <p:pic>
        <p:nvPicPr>
          <p:cNvPr id="59" name="Google Shape;59;p1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85425" y="66184"/>
            <a:ext cx="1386481" cy="1132624"/>
          </a:xfrm>
          <a:prstGeom prst="rect">
            <a:avLst/>
          </a:prstGeom>
          <a:noFill/>
          <a:ln>
            <a:noFill/>
          </a:ln>
        </p:spPr>
      </p:pic>
      <p:pic>
        <p:nvPicPr>
          <p:cNvPr id="60" name="Google Shape;60;p1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1606702" y="63358"/>
            <a:ext cx="1698939" cy="11326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65" name="Google Shape;65;p14"/>
          <p:cNvPicPr preferRelativeResize="0"/>
          <p:nvPr/>
        </p:nvPicPr>
        <p:blipFill rotWithShape="1">
          <a:blip r:embed="rId3">
            <a:alphaModFix/>
          </a:blip>
          <a:srcRect/>
          <a:stretch/>
        </p:blipFill>
        <p:spPr>
          <a:xfrm>
            <a:off x="605238" y="1203525"/>
            <a:ext cx="2094075" cy="2094075"/>
          </a:xfrm>
          <a:prstGeom prst="rect">
            <a:avLst/>
          </a:prstGeom>
          <a:noFill/>
          <a:ln>
            <a:noFill/>
          </a:ln>
        </p:spPr>
      </p:pic>
      <p:sp>
        <p:nvSpPr>
          <p:cNvPr id="66" name="Google Shape;66;p14"/>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67" name="Google Shape;67;p14"/>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dirty="0">
                <a:solidFill>
                  <a:srgbClr val="000000"/>
                </a:solidFill>
                <a:latin typeface="Calibri"/>
                <a:ea typeface="Calibri"/>
                <a:cs typeface="Calibri"/>
                <a:sym typeface="Calibri"/>
              </a:rPr>
              <a:t>Lev Selector, Ph.D.</a:t>
            </a:r>
            <a:endParaRPr sz="2500" b="1"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dirty="0">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dirty="0">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dirty="0">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dirty="0">
                <a:solidFill>
                  <a:schemeClr val="dk1"/>
                </a:solidFill>
                <a:latin typeface="Calibri"/>
                <a:ea typeface="Calibri"/>
                <a:cs typeface="Calibri"/>
                <a:sym typeface="Calibri"/>
              </a:rPr>
              <a:t>Ph.D. in mathematical modeling and computer simulations</a:t>
            </a:r>
            <a:endParaRPr sz="16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dirty="0">
                <a:solidFill>
                  <a:srgbClr val="000000"/>
                </a:solidFill>
                <a:latin typeface="Calibri"/>
                <a:ea typeface="Calibri"/>
                <a:cs typeface="Calibri"/>
                <a:sym typeface="Calibri"/>
              </a:rPr>
              <a:t>Interests: </a:t>
            </a:r>
            <a:endParaRPr sz="1600" b="0" i="0" u="none" strike="noStrike" cap="none" dirty="0">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dirty="0">
                <a:solidFill>
                  <a:schemeClr val="dk1"/>
                </a:solidFill>
                <a:latin typeface="Calibri"/>
                <a:ea typeface="Calibri"/>
                <a:cs typeface="Calibri"/>
                <a:sym typeface="Calibri"/>
              </a:rPr>
              <a:t>Generative AI, Using LLM with your data</a:t>
            </a:r>
            <a:endParaRPr sz="1600" b="0" i="0" u="none" strike="noStrike" cap="none" dirty="0">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dirty="0">
                <a:solidFill>
                  <a:schemeClr val="dk1"/>
                </a:solidFill>
                <a:latin typeface="Calibri"/>
                <a:ea typeface="Calibri"/>
                <a:cs typeface="Calibri"/>
                <a:sym typeface="Calibri"/>
              </a:rPr>
              <a:t>Local AI for Local Private Data</a:t>
            </a:r>
            <a:endParaRPr sz="1600" b="0" i="0" u="none" strike="noStrike" cap="none" dirty="0">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dirty="0">
                <a:solidFill>
                  <a:srgbClr val="000000"/>
                </a:solidFill>
                <a:latin typeface="Calibri"/>
                <a:ea typeface="Calibri"/>
                <a:cs typeface="Calibri"/>
                <a:sym typeface="Calibri"/>
              </a:rPr>
              <a:t>Cloud architecture, fin-tech, application security</a:t>
            </a:r>
            <a:endParaRPr sz="16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dirty="0">
                <a:solidFill>
                  <a:srgbClr val="000000"/>
                </a:solidFill>
                <a:latin typeface="Calibri"/>
                <a:ea typeface="Calibri"/>
                <a:cs typeface="Calibri"/>
                <a:sym typeface="Calibri"/>
              </a:rPr>
              <a:t>Find/connect: </a:t>
            </a:r>
            <a:r>
              <a:rPr lang="en" sz="1600" b="0" i="0" u="none" strike="noStrike" cap="none" dirty="0" err="1">
                <a:solidFill>
                  <a:srgbClr val="000000"/>
                </a:solidFill>
                <a:latin typeface="Calibri"/>
                <a:ea typeface="Calibri"/>
                <a:cs typeface="Calibri"/>
                <a:sym typeface="Calibri"/>
              </a:rPr>
              <a:t>Linkedin</a:t>
            </a:r>
            <a:r>
              <a:rPr lang="en" sz="1600" b="0" i="0" u="none" strike="noStrike" cap="none" dirty="0">
                <a:solidFill>
                  <a:srgbClr val="000000"/>
                </a:solidFill>
                <a:latin typeface="Calibri"/>
                <a:ea typeface="Calibri"/>
                <a:cs typeface="Calibri"/>
                <a:sym typeface="Calibri"/>
              </a:rPr>
              <a:t>, GitHub, YouTube, Google</a:t>
            </a:r>
            <a:endParaRPr sz="1600" b="0" i="0" u="none" strike="noStrike" cap="none" dirty="0">
              <a:solidFill>
                <a:srgbClr val="000000"/>
              </a:solidFill>
              <a:latin typeface="Calibri"/>
              <a:ea typeface="Calibri"/>
              <a:cs typeface="Calibri"/>
              <a:sym typeface="Calibri"/>
            </a:endParaRPr>
          </a:p>
        </p:txBody>
      </p:sp>
      <p:pic>
        <p:nvPicPr>
          <p:cNvPr id="68" name="Google Shape;68;p14"/>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10941" y="3664175"/>
            <a:ext cx="1144600" cy="415875"/>
          </a:xfrm>
          <a:prstGeom prst="rect">
            <a:avLst/>
          </a:prstGeom>
          <a:noFill/>
          <a:ln>
            <a:noFill/>
          </a:ln>
        </p:spPr>
      </p:pic>
      <p:sp>
        <p:nvSpPr>
          <p:cNvPr id="69" name="Google Shape;69;p14"/>
          <p:cNvSpPr txBox="1"/>
          <p:nvPr/>
        </p:nvSpPr>
        <p:spPr>
          <a:xfrm>
            <a:off x="912377"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2" name="Google Shape;67;p14">
            <a:extLst>
              <a:ext uri="{FF2B5EF4-FFF2-40B4-BE49-F238E27FC236}">
                <a16:creationId xmlns:a16="http://schemas.microsoft.com/office/drawing/2014/main" id="{13D05EE6-54D9-0392-7327-2CF87A671834}"/>
              </a:ext>
            </a:extLst>
          </p:cNvPr>
          <p:cNvSpPr txBox="1"/>
          <p:nvPr/>
        </p:nvSpPr>
        <p:spPr>
          <a:xfrm>
            <a:off x="536203" y="4360974"/>
            <a:ext cx="2094075" cy="430857"/>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dirty="0">
                <a:solidFill>
                  <a:srgbClr val="000000"/>
                </a:solidFill>
                <a:latin typeface="Calibri"/>
                <a:ea typeface="Calibri"/>
                <a:cs typeface="Calibri"/>
                <a:sym typeface="Calibri"/>
              </a:rPr>
              <a:t>Enterprise AI Systems</a:t>
            </a:r>
            <a:endParaRPr sz="1600" b="0" i="0" u="none" strike="noStrike" cap="none" dirty="0">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p:nvPr/>
        </p:nvSpPr>
        <p:spPr>
          <a:xfrm>
            <a:off x="72300" y="0"/>
            <a:ext cx="31566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Claude 3 - released March 4</a:t>
            </a:r>
            <a:endParaRPr sz="2000" b="1" i="0" u="none" strike="noStrike" cap="none">
              <a:solidFill>
                <a:srgbClr val="000000"/>
              </a:solidFill>
              <a:latin typeface="Calibri"/>
              <a:ea typeface="Calibri"/>
              <a:cs typeface="Calibri"/>
              <a:sym typeface="Calibri"/>
            </a:endParaRPr>
          </a:p>
        </p:txBody>
      </p:sp>
      <p:sp>
        <p:nvSpPr>
          <p:cNvPr id="75" name="Google Shape;75;p15"/>
          <p:cNvSpPr txBox="1"/>
          <p:nvPr/>
        </p:nvSpPr>
        <p:spPr>
          <a:xfrm>
            <a:off x="72300" y="398525"/>
            <a:ext cx="4386600" cy="1308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Calibri"/>
                <a:ea typeface="Calibri"/>
                <a:cs typeface="Calibri"/>
                <a:sym typeface="Calibri"/>
              </a:rPr>
              <a:t>Anthropic has released three new models: Haiku, Sonnet, Opus. Named after poem sizes (3-liner, 12-liner, big literary work). They are all much better than GPT-3.5, and Opus is close to GPT-4-Turbo</a:t>
            </a:r>
            <a:endParaRPr sz="10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000" u="sng">
                <a:solidFill>
                  <a:schemeClr val="hlink"/>
                </a:solidFill>
                <a:latin typeface="Calibri"/>
                <a:ea typeface="Calibri"/>
                <a:cs typeface="Calibri"/>
                <a:sym typeface="Calibri"/>
                <a:hlinkClick r:id="rId3"/>
              </a:rPr>
              <a:t>https://www.anthropic.com/news/claude-3-family</a:t>
            </a:r>
            <a:endParaRPr sz="1000">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https://twitter.com/AnthropicAI/status/1764653830468428150</a:t>
            </a:r>
            <a:endParaRPr sz="1000">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5"/>
              </a:rPr>
              <a:t>https://encord.com/blog/claude-3-explained/</a:t>
            </a:r>
            <a:r>
              <a:rPr lang="en" sz="1000">
                <a:latin typeface="Calibri"/>
                <a:ea typeface="Calibri"/>
                <a:cs typeface="Calibri"/>
                <a:sym typeface="Calibri"/>
              </a:rPr>
              <a:t>  </a:t>
            </a:r>
            <a:endParaRPr sz="1000">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6"/>
              </a:rPr>
              <a:t>https://lifearchitect.substack.com/p/the-memo-special-edition-claude-3</a:t>
            </a:r>
            <a:r>
              <a:rPr lang="en" sz="1000">
                <a:latin typeface="Calibri"/>
                <a:ea typeface="Calibri"/>
                <a:cs typeface="Calibri"/>
                <a:sym typeface="Calibri"/>
              </a:rPr>
              <a:t> </a:t>
            </a:r>
            <a:endParaRPr sz="1000">
              <a:latin typeface="Calibri"/>
              <a:ea typeface="Calibri"/>
              <a:cs typeface="Calibri"/>
              <a:sym typeface="Calibri"/>
            </a:endParaRPr>
          </a:p>
        </p:txBody>
      </p:sp>
      <p:pic>
        <p:nvPicPr>
          <p:cNvPr id="76" name="Google Shape;76;p15"/>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121925" y="1778968"/>
            <a:ext cx="3745198" cy="3326433"/>
          </a:xfrm>
          <a:prstGeom prst="rect">
            <a:avLst/>
          </a:prstGeom>
          <a:noFill/>
          <a:ln w="9525" cap="flat" cmpd="sng">
            <a:solidFill>
              <a:srgbClr val="FF0000"/>
            </a:solidFill>
            <a:prstDash val="solid"/>
            <a:round/>
            <a:headEnd type="none" w="sm" len="sm"/>
            <a:tailEnd type="none" w="sm" len="sm"/>
          </a:ln>
        </p:spPr>
      </p:pic>
      <p:pic>
        <p:nvPicPr>
          <p:cNvPr id="77" name="Google Shape;77;p15"/>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5534450" y="3537809"/>
            <a:ext cx="3497626" cy="1505516"/>
          </a:xfrm>
          <a:prstGeom prst="rect">
            <a:avLst/>
          </a:prstGeom>
          <a:noFill/>
          <a:ln w="9525" cap="flat" cmpd="sng">
            <a:solidFill>
              <a:srgbClr val="FF0000"/>
            </a:solidFill>
            <a:prstDash val="solid"/>
            <a:round/>
            <a:headEnd type="none" w="sm" len="sm"/>
            <a:tailEnd type="none" w="sm" len="sm"/>
          </a:ln>
        </p:spPr>
      </p:pic>
      <p:pic>
        <p:nvPicPr>
          <p:cNvPr id="78" name="Google Shape;78;p15"/>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4531825" y="398525"/>
            <a:ext cx="929660" cy="1154399"/>
          </a:xfrm>
          <a:prstGeom prst="rect">
            <a:avLst/>
          </a:prstGeom>
          <a:noFill/>
          <a:ln>
            <a:noFill/>
          </a:ln>
        </p:spPr>
      </p:pic>
      <p:graphicFrame>
        <p:nvGraphicFramePr>
          <p:cNvPr id="79" name="Google Shape;79;p15"/>
          <p:cNvGraphicFramePr/>
          <p:nvPr/>
        </p:nvGraphicFramePr>
        <p:xfrm>
          <a:off x="5534450" y="106700"/>
          <a:ext cx="3497625" cy="2084150"/>
        </p:xfrm>
        <a:graphic>
          <a:graphicData uri="http://schemas.openxmlformats.org/drawingml/2006/table">
            <a:tbl>
              <a:tblPr>
                <a:noFill/>
                <a:tableStyleId>{E65AAF0E-EBC3-4B0C-B30E-AF410319031E}</a:tableStyleId>
              </a:tblPr>
              <a:tblGrid>
                <a:gridCol w="1246150">
                  <a:extLst>
                    <a:ext uri="{9D8B030D-6E8A-4147-A177-3AD203B41FA5}">
                      <a16:colId xmlns:a16="http://schemas.microsoft.com/office/drawing/2014/main" val="20000"/>
                    </a:ext>
                  </a:extLst>
                </a:gridCol>
                <a:gridCol w="699875">
                  <a:extLst>
                    <a:ext uri="{9D8B030D-6E8A-4147-A177-3AD203B41FA5}">
                      <a16:colId xmlns:a16="http://schemas.microsoft.com/office/drawing/2014/main" val="20001"/>
                    </a:ext>
                  </a:extLst>
                </a:gridCol>
                <a:gridCol w="832950">
                  <a:extLst>
                    <a:ext uri="{9D8B030D-6E8A-4147-A177-3AD203B41FA5}">
                      <a16:colId xmlns:a16="http://schemas.microsoft.com/office/drawing/2014/main" val="20002"/>
                    </a:ext>
                  </a:extLst>
                </a:gridCol>
                <a:gridCol w="718650">
                  <a:extLst>
                    <a:ext uri="{9D8B030D-6E8A-4147-A177-3AD203B41FA5}">
                      <a16:colId xmlns:a16="http://schemas.microsoft.com/office/drawing/2014/main" val="20003"/>
                    </a:ext>
                  </a:extLst>
                </a:gridCol>
              </a:tblGrid>
              <a:tr h="302900">
                <a:tc>
                  <a:txBody>
                    <a:bodyPr/>
                    <a:lstStyle/>
                    <a:p>
                      <a:pPr marL="0" lvl="0" indent="0" algn="l" rtl="0">
                        <a:lnSpc>
                          <a:spcPct val="115000"/>
                        </a:lnSpc>
                        <a:spcBef>
                          <a:spcPts val="0"/>
                        </a:spcBef>
                        <a:spcAft>
                          <a:spcPts val="0"/>
                        </a:spcAft>
                        <a:buNone/>
                      </a:pPr>
                      <a:r>
                        <a:rPr lang="en" sz="1000"/>
                        <a:t>Model</a:t>
                      </a:r>
                      <a:endParaRPr sz="1000"/>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t>Input Price ($/Mln tks)</a:t>
                      </a:r>
                      <a:endParaRPr sz="1000"/>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t>Output Price</a:t>
                      </a:r>
                      <a:br>
                        <a:rPr lang="en" sz="1000"/>
                      </a:br>
                      <a:r>
                        <a:rPr lang="en" sz="1000">
                          <a:solidFill>
                            <a:schemeClr val="dk1"/>
                          </a:solidFill>
                        </a:rPr>
                        <a:t>($/Mln tks)</a:t>
                      </a:r>
                      <a:endParaRPr sz="1000"/>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t>Total Price (</a:t>
                      </a:r>
                      <a:r>
                        <a:rPr lang="en" sz="1000">
                          <a:solidFill>
                            <a:schemeClr val="dk1"/>
                          </a:solidFill>
                        </a:rPr>
                        <a:t>$/Mln tks</a:t>
                      </a:r>
                      <a:r>
                        <a:rPr lang="en" sz="1000"/>
                        <a:t>)</a:t>
                      </a:r>
                      <a:endParaRPr sz="1000"/>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229175">
                <a:tc>
                  <a:txBody>
                    <a:bodyPr/>
                    <a:lstStyle/>
                    <a:p>
                      <a:pPr marL="0" lvl="0" indent="0" algn="l" rtl="0">
                        <a:lnSpc>
                          <a:spcPct val="115000"/>
                        </a:lnSpc>
                        <a:spcBef>
                          <a:spcPts val="0"/>
                        </a:spcBef>
                        <a:spcAft>
                          <a:spcPts val="0"/>
                        </a:spcAft>
                        <a:buNone/>
                      </a:pPr>
                      <a:r>
                        <a:rPr lang="en" sz="1000" b="1">
                          <a:solidFill>
                            <a:srgbClr val="3C78D8"/>
                          </a:solidFill>
                        </a:rPr>
                        <a:t>Claude 3 Haiku</a:t>
                      </a:r>
                      <a:endParaRPr sz="1000" b="1">
                        <a:solidFill>
                          <a:srgbClr val="3C78D8"/>
                        </a:solidFill>
                      </a:endParaRPr>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b="1">
                          <a:solidFill>
                            <a:srgbClr val="3C78D8"/>
                          </a:solidFill>
                        </a:rPr>
                        <a:t>0.25</a:t>
                      </a:r>
                      <a:endParaRPr sz="1000" b="1">
                        <a:solidFill>
                          <a:srgbClr val="3C78D8"/>
                        </a:solidFill>
                      </a:endParaRPr>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b="1">
                          <a:solidFill>
                            <a:srgbClr val="3C78D8"/>
                          </a:solidFill>
                        </a:rPr>
                        <a:t>1.25</a:t>
                      </a:r>
                      <a:endParaRPr sz="1000" b="1">
                        <a:solidFill>
                          <a:srgbClr val="3C78D8"/>
                        </a:solidFill>
                      </a:endParaRPr>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b="1">
                          <a:solidFill>
                            <a:srgbClr val="3C78D8"/>
                          </a:solidFill>
                        </a:rPr>
                        <a:t>1.5</a:t>
                      </a:r>
                      <a:endParaRPr sz="1000" b="1">
                        <a:solidFill>
                          <a:srgbClr val="3C78D8"/>
                        </a:solidFill>
                      </a:endParaRPr>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r h="166600">
                <a:tc>
                  <a:txBody>
                    <a:bodyPr/>
                    <a:lstStyle/>
                    <a:p>
                      <a:pPr marL="0" lvl="0" indent="0" algn="l" rtl="0">
                        <a:lnSpc>
                          <a:spcPct val="115000"/>
                        </a:lnSpc>
                        <a:spcBef>
                          <a:spcPts val="0"/>
                        </a:spcBef>
                        <a:spcAft>
                          <a:spcPts val="0"/>
                        </a:spcAft>
                        <a:buNone/>
                      </a:pPr>
                      <a:r>
                        <a:rPr lang="en" sz="1000"/>
                        <a:t>GPT-3.5 Turbo</a:t>
                      </a:r>
                      <a:endParaRPr sz="1000"/>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t>0.5</a:t>
                      </a:r>
                      <a:endParaRPr sz="1000"/>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t>1.5</a:t>
                      </a:r>
                      <a:endParaRPr sz="1000"/>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t>2</a:t>
                      </a:r>
                      <a:endParaRPr sz="1000"/>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2"/>
                  </a:ext>
                </a:extLst>
              </a:tr>
              <a:tr h="229175">
                <a:tc>
                  <a:txBody>
                    <a:bodyPr/>
                    <a:lstStyle/>
                    <a:p>
                      <a:pPr marL="0" lvl="0" indent="0" algn="l" rtl="0">
                        <a:lnSpc>
                          <a:spcPct val="115000"/>
                        </a:lnSpc>
                        <a:spcBef>
                          <a:spcPts val="0"/>
                        </a:spcBef>
                        <a:spcAft>
                          <a:spcPts val="0"/>
                        </a:spcAft>
                        <a:buNone/>
                      </a:pPr>
                      <a:r>
                        <a:rPr lang="en" sz="1000" b="1">
                          <a:solidFill>
                            <a:srgbClr val="3C78D8"/>
                          </a:solidFill>
                        </a:rPr>
                        <a:t>Claude 3 Sonnet</a:t>
                      </a:r>
                      <a:endParaRPr sz="1000" b="1">
                        <a:solidFill>
                          <a:srgbClr val="3C78D8"/>
                        </a:solidFill>
                      </a:endParaRPr>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b="1">
                          <a:solidFill>
                            <a:srgbClr val="3C78D8"/>
                          </a:solidFill>
                        </a:rPr>
                        <a:t>3</a:t>
                      </a:r>
                      <a:endParaRPr sz="1000" b="1">
                        <a:solidFill>
                          <a:srgbClr val="3C78D8"/>
                        </a:solidFill>
                      </a:endParaRPr>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b="1">
                          <a:solidFill>
                            <a:srgbClr val="3C78D8"/>
                          </a:solidFill>
                        </a:rPr>
                        <a:t>15</a:t>
                      </a:r>
                      <a:endParaRPr sz="1000" b="1">
                        <a:solidFill>
                          <a:srgbClr val="3C78D8"/>
                        </a:solidFill>
                      </a:endParaRPr>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b="1">
                          <a:solidFill>
                            <a:srgbClr val="3C78D8"/>
                          </a:solidFill>
                        </a:rPr>
                        <a:t>18</a:t>
                      </a:r>
                      <a:endParaRPr sz="1000" b="1">
                        <a:solidFill>
                          <a:srgbClr val="3C78D8"/>
                        </a:solidFill>
                      </a:endParaRPr>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3"/>
                  </a:ext>
                </a:extLst>
              </a:tr>
              <a:tr h="229175">
                <a:tc>
                  <a:txBody>
                    <a:bodyPr/>
                    <a:lstStyle/>
                    <a:p>
                      <a:pPr marL="0" lvl="0" indent="0" algn="l" rtl="0">
                        <a:lnSpc>
                          <a:spcPct val="115000"/>
                        </a:lnSpc>
                        <a:spcBef>
                          <a:spcPts val="0"/>
                        </a:spcBef>
                        <a:spcAft>
                          <a:spcPts val="0"/>
                        </a:spcAft>
                        <a:buNone/>
                      </a:pPr>
                      <a:r>
                        <a:rPr lang="en" sz="1000"/>
                        <a:t>Mistral Large</a:t>
                      </a:r>
                      <a:endParaRPr sz="1000"/>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t>8</a:t>
                      </a:r>
                      <a:endParaRPr sz="1000"/>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t>24</a:t>
                      </a:r>
                      <a:endParaRPr sz="1000"/>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t>32</a:t>
                      </a:r>
                      <a:endParaRPr sz="1000"/>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4"/>
                  </a:ext>
                </a:extLst>
              </a:tr>
              <a:tr h="229175">
                <a:tc>
                  <a:txBody>
                    <a:bodyPr/>
                    <a:lstStyle/>
                    <a:p>
                      <a:pPr marL="0" lvl="0" indent="0" algn="l" rtl="0">
                        <a:lnSpc>
                          <a:spcPct val="115000"/>
                        </a:lnSpc>
                        <a:spcBef>
                          <a:spcPts val="0"/>
                        </a:spcBef>
                        <a:spcAft>
                          <a:spcPts val="0"/>
                        </a:spcAft>
                        <a:buNone/>
                      </a:pPr>
                      <a:r>
                        <a:rPr lang="en" sz="1000"/>
                        <a:t>GPT-4 Turbo (128K)</a:t>
                      </a:r>
                      <a:endParaRPr sz="1000"/>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t>10</a:t>
                      </a:r>
                      <a:endParaRPr sz="1000"/>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t>30</a:t>
                      </a:r>
                      <a:endParaRPr sz="1000"/>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t>40</a:t>
                      </a:r>
                      <a:endParaRPr sz="1000"/>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5"/>
                  </a:ext>
                </a:extLst>
              </a:tr>
              <a:tr h="166600">
                <a:tc>
                  <a:txBody>
                    <a:bodyPr/>
                    <a:lstStyle/>
                    <a:p>
                      <a:pPr marL="0" lvl="0" indent="0" algn="l" rtl="0">
                        <a:lnSpc>
                          <a:spcPct val="115000"/>
                        </a:lnSpc>
                        <a:spcBef>
                          <a:spcPts val="0"/>
                        </a:spcBef>
                        <a:spcAft>
                          <a:spcPts val="0"/>
                        </a:spcAft>
                        <a:buNone/>
                      </a:pPr>
                      <a:r>
                        <a:rPr lang="en" sz="1000" b="1">
                          <a:solidFill>
                            <a:srgbClr val="3C78D8"/>
                          </a:solidFill>
                        </a:rPr>
                        <a:t>Claude 3 Opus</a:t>
                      </a:r>
                      <a:endParaRPr sz="1000" b="1">
                        <a:solidFill>
                          <a:srgbClr val="3C78D8"/>
                        </a:solidFill>
                      </a:endParaRPr>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b="1">
                          <a:solidFill>
                            <a:srgbClr val="3C78D8"/>
                          </a:solidFill>
                        </a:rPr>
                        <a:t>15</a:t>
                      </a:r>
                      <a:endParaRPr sz="1000" b="1">
                        <a:solidFill>
                          <a:srgbClr val="3C78D8"/>
                        </a:solidFill>
                      </a:endParaRPr>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b="1">
                          <a:solidFill>
                            <a:srgbClr val="3C78D8"/>
                          </a:solidFill>
                        </a:rPr>
                        <a:t>75</a:t>
                      </a:r>
                      <a:endParaRPr sz="1000" b="1">
                        <a:solidFill>
                          <a:srgbClr val="3C78D8"/>
                        </a:solidFill>
                      </a:endParaRPr>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b="1">
                          <a:solidFill>
                            <a:srgbClr val="3C78D8"/>
                          </a:solidFill>
                        </a:rPr>
                        <a:t>90</a:t>
                      </a:r>
                      <a:endParaRPr sz="1000" b="1">
                        <a:solidFill>
                          <a:srgbClr val="3C78D8"/>
                        </a:solidFill>
                      </a:endParaRPr>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6"/>
                  </a:ext>
                </a:extLst>
              </a:tr>
              <a:tr h="166600">
                <a:tc>
                  <a:txBody>
                    <a:bodyPr/>
                    <a:lstStyle/>
                    <a:p>
                      <a:pPr marL="0" lvl="0" indent="0" algn="l" rtl="0">
                        <a:lnSpc>
                          <a:spcPct val="115000"/>
                        </a:lnSpc>
                        <a:spcBef>
                          <a:spcPts val="0"/>
                        </a:spcBef>
                        <a:spcAft>
                          <a:spcPts val="0"/>
                        </a:spcAft>
                        <a:buNone/>
                      </a:pPr>
                      <a:r>
                        <a:rPr lang="en" sz="1000"/>
                        <a:t>GPT-4 8K</a:t>
                      </a:r>
                      <a:endParaRPr sz="1000"/>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t>30</a:t>
                      </a:r>
                      <a:endParaRPr sz="1000"/>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t>60</a:t>
                      </a:r>
                      <a:endParaRPr sz="1000"/>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t>90</a:t>
                      </a:r>
                      <a:endParaRPr sz="1000"/>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7"/>
                  </a:ext>
                </a:extLst>
              </a:tr>
              <a:tr h="166600">
                <a:tc>
                  <a:txBody>
                    <a:bodyPr/>
                    <a:lstStyle/>
                    <a:p>
                      <a:pPr marL="0" lvl="0" indent="0" algn="l" rtl="0">
                        <a:lnSpc>
                          <a:spcPct val="115000"/>
                        </a:lnSpc>
                        <a:spcBef>
                          <a:spcPts val="0"/>
                        </a:spcBef>
                        <a:spcAft>
                          <a:spcPts val="0"/>
                        </a:spcAft>
                        <a:buNone/>
                      </a:pPr>
                      <a:r>
                        <a:rPr lang="en" sz="1000"/>
                        <a:t>GPT-4 32K</a:t>
                      </a:r>
                      <a:endParaRPr sz="1000"/>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t>60</a:t>
                      </a:r>
                      <a:endParaRPr sz="1000"/>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t>120</a:t>
                      </a:r>
                      <a:endParaRPr sz="1000"/>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t>180</a:t>
                      </a:r>
                      <a:endParaRPr sz="1000"/>
                    </a:p>
                  </a:txBody>
                  <a:tcPr marL="18275" marR="182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8"/>
                  </a:ext>
                </a:extLst>
              </a:tr>
            </a:tbl>
          </a:graphicData>
        </a:graphic>
      </p:graphicFrame>
      <p:sp>
        <p:nvSpPr>
          <p:cNvPr id="80" name="Google Shape;80;p15"/>
          <p:cNvSpPr txBox="1"/>
          <p:nvPr/>
        </p:nvSpPr>
        <p:spPr>
          <a:xfrm>
            <a:off x="4961682" y="2337931"/>
            <a:ext cx="4070400" cy="1108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lvl="0" indent="-190500" algn="l" rtl="0">
              <a:spcBef>
                <a:spcPts val="0"/>
              </a:spcBef>
              <a:spcAft>
                <a:spcPts val="0"/>
              </a:spcAft>
              <a:buSzPts val="1200"/>
              <a:buFont typeface="Calibri"/>
              <a:buChar char="●"/>
            </a:pPr>
            <a:r>
              <a:rPr lang="en" sz="1200">
                <a:latin typeface="Calibri"/>
                <a:ea typeface="Calibri"/>
                <a:cs typeface="Calibri"/>
                <a:sym typeface="Calibri"/>
              </a:rPr>
              <a:t>Context window is 200K (1 Mln+ possible)</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Opus - 99% recall on processing long context prompts</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solidFill>
                  <a:schemeClr val="dk1"/>
                </a:solidFill>
                <a:latin typeface="Calibri"/>
                <a:ea typeface="Calibri"/>
                <a:cs typeface="Calibri"/>
                <a:sym typeface="Calibri"/>
              </a:rPr>
              <a:t>API is available</a:t>
            </a:r>
            <a:endParaRPr sz="1200">
              <a:solidFill>
                <a:schemeClr val="dk1"/>
              </a:solidFill>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Free chat uses Sonnet - </a:t>
            </a:r>
            <a:r>
              <a:rPr lang="en" sz="1200" u="sng">
                <a:solidFill>
                  <a:schemeClr val="hlink"/>
                </a:solidFill>
                <a:latin typeface="Calibri"/>
                <a:ea typeface="Calibri"/>
                <a:cs typeface="Calibri"/>
                <a:sym typeface="Calibri"/>
                <a:hlinkClick r:id="rId10"/>
              </a:rPr>
              <a:t>https://claude.ai/chats</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V</a:t>
            </a:r>
            <a:r>
              <a:rPr lang="en" sz="1200">
                <a:solidFill>
                  <a:schemeClr val="dk1"/>
                </a:solidFill>
                <a:latin typeface="Calibri"/>
                <a:ea typeface="Calibri"/>
                <a:cs typeface="Calibri"/>
                <a:sym typeface="Calibri"/>
              </a:rPr>
              <a:t>ision capabilities on par with leading models like GPT-4V</a:t>
            </a:r>
            <a:endParaRPr sz="1200">
              <a:latin typeface="Calibri"/>
              <a:ea typeface="Calibri"/>
              <a:cs typeface="Calibri"/>
              <a:sym typeface="Calibri"/>
            </a:endParaRPr>
          </a:p>
        </p:txBody>
      </p:sp>
      <p:graphicFrame>
        <p:nvGraphicFramePr>
          <p:cNvPr id="81" name="Google Shape;81;p15"/>
          <p:cNvGraphicFramePr/>
          <p:nvPr>
            <p:extLst>
              <p:ext uri="{D42A27DB-BD31-4B8C-83A1-F6EECF244321}">
                <p14:modId xmlns:p14="http://schemas.microsoft.com/office/powerpoint/2010/main" val="285644537"/>
              </p:ext>
            </p:extLst>
          </p:nvPr>
        </p:nvGraphicFramePr>
        <p:xfrm>
          <a:off x="3971625" y="1778950"/>
          <a:ext cx="398475" cy="3330257"/>
        </p:xfrm>
        <a:graphic>
          <a:graphicData uri="http://schemas.openxmlformats.org/drawingml/2006/table">
            <a:tbl>
              <a:tblPr>
                <a:noFill/>
                <a:tableStyleId>{CBF781D7-07CC-4569-BD81-52501F8F7F03}</a:tableStyleId>
              </a:tblPr>
              <a:tblGrid>
                <a:gridCol w="398475">
                  <a:extLst>
                    <a:ext uri="{9D8B030D-6E8A-4147-A177-3AD203B41FA5}">
                      <a16:colId xmlns:a16="http://schemas.microsoft.com/office/drawing/2014/main" val="20000"/>
                    </a:ext>
                  </a:extLst>
                </a:gridCol>
              </a:tblGrid>
              <a:tr h="382100">
                <a:tc>
                  <a:txBody>
                    <a:bodyPr/>
                    <a:lstStyle/>
                    <a:p>
                      <a:pPr marL="0" lvl="0" indent="0" algn="l" rtl="0">
                        <a:spcBef>
                          <a:spcPts val="0"/>
                        </a:spcBef>
                        <a:spcAft>
                          <a:spcPts val="0"/>
                        </a:spcAft>
                        <a:buNone/>
                      </a:pPr>
                      <a:r>
                        <a:rPr lang="en" sz="1200">
                          <a:latin typeface="Calibri"/>
                          <a:ea typeface="Calibri"/>
                          <a:cs typeface="Calibri"/>
                          <a:sym typeface="Calibri"/>
                        </a:rPr>
                        <a:t>GPT-4 Turbo</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382100">
                <a:tc>
                  <a:txBody>
                    <a:bodyPr/>
                    <a:lstStyle/>
                    <a:p>
                      <a:pPr marL="0" lvl="0" indent="0" algn="l" rtl="0">
                        <a:spcBef>
                          <a:spcPts val="0"/>
                        </a:spcBef>
                        <a:spcAft>
                          <a:spcPts val="0"/>
                        </a:spcAft>
                        <a:buNone/>
                      </a:pPr>
                      <a:r>
                        <a:rPr lang="en" sz="1200">
                          <a:latin typeface="Calibri"/>
                          <a:ea typeface="Calibri"/>
                          <a:cs typeface="Calibri"/>
                          <a:sym typeface="Calibri"/>
                        </a:rPr>
                        <a:t>90.1%</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284693">
                <a:tc>
                  <a:txBody>
                    <a:bodyPr/>
                    <a:lstStyle/>
                    <a:p>
                      <a:pPr marL="0" lvl="0" indent="0" algn="l" rtl="0">
                        <a:spcBef>
                          <a:spcPts val="0"/>
                        </a:spcBef>
                        <a:spcAft>
                          <a:spcPts val="0"/>
                        </a:spcAft>
                        <a:buNone/>
                      </a:pPr>
                      <a:r>
                        <a:rPr lang="en" sz="1200">
                          <a:latin typeface="Calibri"/>
                          <a:ea typeface="Calibri"/>
                          <a:cs typeface="Calibri"/>
                          <a:sym typeface="Calibri"/>
                        </a:rPr>
                        <a:t> - </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284693">
                <a:tc>
                  <a:txBody>
                    <a:bodyPr/>
                    <a:lstStyle/>
                    <a:p>
                      <a:pPr marL="0" lvl="0" indent="0" algn="l" rtl="0">
                        <a:spcBef>
                          <a:spcPts val="0"/>
                        </a:spcBef>
                        <a:spcAft>
                          <a:spcPts val="0"/>
                        </a:spcAft>
                        <a:buNone/>
                      </a:pPr>
                      <a:r>
                        <a:rPr lang="en" sz="1200">
                          <a:latin typeface="Calibri"/>
                          <a:ea typeface="Calibri"/>
                          <a:cs typeface="Calibri"/>
                          <a:sym typeface="Calibri"/>
                        </a:rPr>
                        <a:t>95.27</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284693">
                <a:tc>
                  <a:txBody>
                    <a:bodyPr/>
                    <a:lstStyle/>
                    <a:p>
                      <a:pPr marL="0" lvl="0" indent="0" algn="l" rtl="0">
                        <a:spcBef>
                          <a:spcPts val="0"/>
                        </a:spcBef>
                        <a:spcAft>
                          <a:spcPts val="0"/>
                        </a:spcAft>
                        <a:buNone/>
                      </a:pPr>
                      <a:r>
                        <a:rPr lang="en" sz="1200">
                          <a:latin typeface="Calibri"/>
                          <a:ea typeface="Calibri"/>
                          <a:cs typeface="Calibri"/>
                          <a:sym typeface="Calibri"/>
                        </a:rPr>
                        <a:t>68.42</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284693">
                <a:tc>
                  <a:txBody>
                    <a:bodyPr/>
                    <a:lstStyle/>
                    <a:p>
                      <a:pPr marL="0" lvl="0" indent="0" algn="l" rtl="0">
                        <a:spcBef>
                          <a:spcPts val="0"/>
                        </a:spcBef>
                        <a:spcAft>
                          <a:spcPts val="0"/>
                        </a:spcAft>
                        <a:buNone/>
                      </a:pPr>
                      <a:r>
                        <a:rPr lang="en" sz="1200">
                          <a:latin typeface="Calibri"/>
                          <a:ea typeface="Calibri"/>
                          <a:cs typeface="Calibri"/>
                          <a:sym typeface="Calibri"/>
                        </a:rPr>
                        <a:t> - </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284693">
                <a:tc>
                  <a:txBody>
                    <a:bodyPr/>
                    <a:lstStyle/>
                    <a:p>
                      <a:pPr marL="0" lvl="0" indent="0" algn="l" rtl="0">
                        <a:spcBef>
                          <a:spcPts val="0"/>
                        </a:spcBef>
                        <a:spcAft>
                          <a:spcPts val="0"/>
                        </a:spcAft>
                        <a:buNone/>
                      </a:pPr>
                      <a:r>
                        <a:rPr lang="en" sz="1200">
                          <a:latin typeface="Calibri"/>
                          <a:ea typeface="Calibri"/>
                          <a:cs typeface="Calibri"/>
                          <a:sym typeface="Calibri"/>
                        </a:rPr>
                        <a:t>87.8</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284693">
                <a:tc>
                  <a:txBody>
                    <a:bodyPr/>
                    <a:lstStyle/>
                    <a:p>
                      <a:pPr marL="0" lvl="0" indent="0" algn="l" rtl="0">
                        <a:spcBef>
                          <a:spcPts val="0"/>
                        </a:spcBef>
                        <a:spcAft>
                          <a:spcPts val="0"/>
                        </a:spcAft>
                        <a:buNone/>
                      </a:pPr>
                      <a:r>
                        <a:rPr lang="en" sz="1200">
                          <a:latin typeface="Calibri"/>
                          <a:ea typeface="Calibri"/>
                          <a:cs typeface="Calibri"/>
                          <a:sym typeface="Calibri"/>
                        </a:rPr>
                        <a:t>83.7</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284693">
                <a:tc>
                  <a:txBody>
                    <a:bodyPr/>
                    <a:lstStyle/>
                    <a:p>
                      <a:pPr marL="0" lvl="0" indent="0" algn="l" rtl="0">
                        <a:spcBef>
                          <a:spcPts val="0"/>
                        </a:spcBef>
                        <a:spcAft>
                          <a:spcPts val="0"/>
                        </a:spcAft>
                        <a:buNone/>
                      </a:pPr>
                      <a:r>
                        <a:rPr lang="en" sz="1200">
                          <a:latin typeface="Calibri"/>
                          <a:ea typeface="Calibri"/>
                          <a:cs typeface="Calibri"/>
                          <a:sym typeface="Calibri"/>
                        </a:rPr>
                        <a:t>89</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284693">
                <a:tc>
                  <a:txBody>
                    <a:bodyPr/>
                    <a:lstStyle/>
                    <a:p>
                      <a:pPr marL="0" lvl="0" indent="0" algn="l" rtl="0">
                        <a:spcBef>
                          <a:spcPts val="0"/>
                        </a:spcBef>
                        <a:spcAft>
                          <a:spcPts val="0"/>
                        </a:spcAft>
                        <a:buNone/>
                      </a:pPr>
                      <a:r>
                        <a:rPr lang="en" sz="1200">
                          <a:latin typeface="Calibri"/>
                          <a:ea typeface="Calibri"/>
                          <a:cs typeface="Calibri"/>
                          <a:sym typeface="Calibri"/>
                        </a:rPr>
                        <a:t> - </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284693">
                <a:tc>
                  <a:txBody>
                    <a:bodyPr/>
                    <a:lstStyle/>
                    <a:p>
                      <a:pPr marL="0" lvl="0" indent="0" algn="l" rtl="0">
                        <a:spcBef>
                          <a:spcPts val="0"/>
                        </a:spcBef>
                        <a:spcAft>
                          <a:spcPts val="0"/>
                        </a:spcAft>
                        <a:buNone/>
                      </a:pPr>
                      <a:r>
                        <a:rPr lang="en" sz="1200" dirty="0">
                          <a:latin typeface="Calibri"/>
                          <a:ea typeface="Calibri"/>
                          <a:cs typeface="Calibri"/>
                          <a:sym typeface="Calibri"/>
                        </a:rPr>
                        <a:t>95.3</a:t>
                      </a:r>
                      <a:endParaRPr sz="1200" dirty="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6"/>
          <p:cNvSpPr txBox="1"/>
          <p:nvPr/>
        </p:nvSpPr>
        <p:spPr>
          <a:xfrm>
            <a:off x="72300" y="0"/>
            <a:ext cx="45870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Claude 3: Beats Average Human on IQ Test</a:t>
            </a:r>
            <a:endParaRPr sz="2000" b="1" i="0" u="none" strike="noStrike" cap="none">
              <a:solidFill>
                <a:srgbClr val="000000"/>
              </a:solidFill>
              <a:latin typeface="Calibri"/>
              <a:ea typeface="Calibri"/>
              <a:cs typeface="Calibri"/>
              <a:sym typeface="Calibri"/>
            </a:endParaRPr>
          </a:p>
        </p:txBody>
      </p:sp>
      <p:sp>
        <p:nvSpPr>
          <p:cNvPr id="87" name="Google Shape;87;p16"/>
          <p:cNvSpPr txBox="1"/>
          <p:nvPr/>
        </p:nvSpPr>
        <p:spPr>
          <a:xfrm>
            <a:off x="224700" y="435825"/>
            <a:ext cx="3595500" cy="646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3"/>
              </a:rPr>
              <a:t>https://twitter.com/waitbutwhy/status/1765554130804724057</a:t>
            </a:r>
            <a:r>
              <a:rPr lang="en" sz="1000">
                <a:latin typeface="Calibri"/>
                <a:ea typeface="Calibri"/>
                <a:cs typeface="Calibri"/>
                <a:sym typeface="Calibri"/>
              </a:rPr>
              <a:t> </a:t>
            </a:r>
            <a:endParaRPr sz="10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0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4"/>
              </a:rPr>
              <a:t>https://twitter.com/tsarnick/status/1765292098117681233</a:t>
            </a:r>
            <a:endParaRPr sz="1000">
              <a:latin typeface="Calibri"/>
              <a:ea typeface="Calibri"/>
              <a:cs typeface="Calibri"/>
              <a:sym typeface="Calibri"/>
            </a:endParaRPr>
          </a:p>
        </p:txBody>
      </p:sp>
      <p:pic>
        <p:nvPicPr>
          <p:cNvPr id="88" name="Google Shape;88;p16"/>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72300" y="1695925"/>
            <a:ext cx="4701825" cy="3408825"/>
          </a:xfrm>
          <a:prstGeom prst="rect">
            <a:avLst/>
          </a:prstGeom>
          <a:noFill/>
          <a:ln w="9525" cap="flat" cmpd="sng">
            <a:solidFill>
              <a:srgbClr val="FF0000"/>
            </a:solidFill>
            <a:prstDash val="solid"/>
            <a:round/>
            <a:headEnd type="none" w="sm" len="sm"/>
            <a:tailEnd type="none" w="sm" len="sm"/>
          </a:ln>
        </p:spPr>
      </p:pic>
      <p:pic>
        <p:nvPicPr>
          <p:cNvPr id="89" name="Google Shape;89;p16"/>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892939" y="1695925"/>
            <a:ext cx="4175411" cy="340882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7"/>
          <p:cNvSpPr txBox="1"/>
          <p:nvPr/>
        </p:nvSpPr>
        <p:spPr>
          <a:xfrm>
            <a:off x="72300" y="0"/>
            <a:ext cx="46575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Elon Musk sues OpenAI and Sam Altman</a:t>
            </a:r>
            <a:endParaRPr sz="2000" b="1" i="0" u="none" strike="noStrike" cap="none">
              <a:solidFill>
                <a:srgbClr val="000000"/>
              </a:solidFill>
              <a:latin typeface="Calibri"/>
              <a:ea typeface="Calibri"/>
              <a:cs typeface="Calibri"/>
              <a:sym typeface="Calibri"/>
            </a:endParaRPr>
          </a:p>
        </p:txBody>
      </p:sp>
      <p:sp>
        <p:nvSpPr>
          <p:cNvPr id="95" name="Google Shape;95;p17"/>
          <p:cNvSpPr txBox="1"/>
          <p:nvPr/>
        </p:nvSpPr>
        <p:spPr>
          <a:xfrm>
            <a:off x="72300" y="368825"/>
            <a:ext cx="8987700" cy="861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Calibri"/>
                <a:ea typeface="Calibri"/>
                <a:cs typeface="Calibri"/>
                <a:sym typeface="Calibri"/>
              </a:rPr>
              <a:t>Elon Musk sues OpenAI and Sam Altman over 'betrayal' of nonprofit AI mission, for abandoning (violating) original guiding principles in favor of profit. Below is the original email (2015) from Sam Altman. </a:t>
            </a:r>
            <a:r>
              <a:rPr lang="en" sz="1100" b="1">
                <a:solidFill>
                  <a:srgbClr val="FF0000"/>
                </a:solidFill>
                <a:latin typeface="Calibri"/>
                <a:ea typeface="Calibri"/>
                <a:cs typeface="Calibri"/>
                <a:sym typeface="Calibri"/>
              </a:rPr>
              <a:t>Musk, a co-founder and early backer of OpenAI, claims Altman and Brockman convinced him to help found and bankroll the startup in 2015</a:t>
            </a:r>
            <a:r>
              <a:rPr lang="en" sz="1100">
                <a:latin typeface="Calibri"/>
                <a:ea typeface="Calibri"/>
                <a:cs typeface="Calibri"/>
                <a:sym typeface="Calibri"/>
              </a:rPr>
              <a:t> </a:t>
            </a:r>
            <a:r>
              <a:rPr lang="en" sz="1100" b="1">
                <a:solidFill>
                  <a:srgbClr val="3C78D8"/>
                </a:solidFill>
                <a:latin typeface="Calibri"/>
                <a:ea typeface="Calibri"/>
                <a:cs typeface="Calibri"/>
                <a:sym typeface="Calibri"/>
              </a:rPr>
              <a:t>with promises it would be a nonprofit focused on countering the competitive threat from Google</a:t>
            </a:r>
            <a:r>
              <a:rPr lang="en" sz="1100">
                <a:latin typeface="Calibri"/>
                <a:ea typeface="Calibri"/>
                <a:cs typeface="Calibri"/>
                <a:sym typeface="Calibri"/>
              </a:rPr>
              <a:t>. </a:t>
            </a:r>
            <a:r>
              <a:rPr lang="en" sz="1100" b="1">
                <a:solidFill>
                  <a:srgbClr val="6AA84F"/>
                </a:solidFill>
                <a:latin typeface="Calibri"/>
                <a:ea typeface="Calibri"/>
                <a:cs typeface="Calibri"/>
                <a:sym typeface="Calibri"/>
              </a:rPr>
              <a:t>The founding agreement required OpenAI to make its technology "freely available" to the public, the lawsuit alleges.</a:t>
            </a:r>
            <a:endParaRPr sz="1100" b="1">
              <a:solidFill>
                <a:srgbClr val="6AA84F"/>
              </a:solidFill>
              <a:latin typeface="Calibri"/>
              <a:ea typeface="Calibri"/>
              <a:cs typeface="Calibri"/>
              <a:sym typeface="Calibri"/>
            </a:endParaRPr>
          </a:p>
        </p:txBody>
      </p:sp>
      <p:pic>
        <p:nvPicPr>
          <p:cNvPr id="96" name="Google Shape;96;p17"/>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5329375" y="1345850"/>
            <a:ext cx="3712450" cy="2059001"/>
          </a:xfrm>
          <a:prstGeom prst="rect">
            <a:avLst/>
          </a:prstGeom>
          <a:noFill/>
          <a:ln w="9525" cap="flat" cmpd="sng">
            <a:solidFill>
              <a:srgbClr val="FF0000"/>
            </a:solidFill>
            <a:prstDash val="solid"/>
            <a:round/>
            <a:headEnd type="none" w="sm" len="sm"/>
            <a:tailEnd type="none" w="sm" len="sm"/>
          </a:ln>
        </p:spPr>
      </p:pic>
      <p:pic>
        <p:nvPicPr>
          <p:cNvPr id="97" name="Google Shape;97;p1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2300" y="1345850"/>
            <a:ext cx="3243782" cy="3737550"/>
          </a:xfrm>
          <a:prstGeom prst="rect">
            <a:avLst/>
          </a:prstGeom>
          <a:noFill/>
          <a:ln w="9525" cap="flat" cmpd="sng">
            <a:solidFill>
              <a:srgbClr val="FF0000"/>
            </a:solidFill>
            <a:prstDash val="solid"/>
            <a:round/>
            <a:headEnd type="none" w="sm" len="sm"/>
            <a:tailEnd type="none" w="sm" len="sm"/>
          </a:ln>
        </p:spPr>
      </p:pic>
      <p:pic>
        <p:nvPicPr>
          <p:cNvPr id="98" name="Google Shape;98;p17"/>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3531574" y="2459973"/>
            <a:ext cx="1650025" cy="1925041"/>
          </a:xfrm>
          <a:prstGeom prst="rect">
            <a:avLst/>
          </a:prstGeom>
          <a:noFill/>
          <a:ln>
            <a:noFill/>
          </a:ln>
        </p:spPr>
      </p:pic>
      <p:sp>
        <p:nvSpPr>
          <p:cNvPr id="99" name="Google Shape;99;p17"/>
          <p:cNvSpPr txBox="1"/>
          <p:nvPr/>
        </p:nvSpPr>
        <p:spPr>
          <a:xfrm>
            <a:off x="3531575" y="4450225"/>
            <a:ext cx="35313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6"/>
              </a:rPr>
              <a:t>https://twitter.com/elonmusk/status/1765415187161464972</a:t>
            </a:r>
            <a:endParaRPr sz="10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Elon Musk - Fixed It</a:t>
            </a:r>
            <a:endParaRPr sz="13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8"/>
          <p:cNvSpPr txBox="1"/>
          <p:nvPr/>
        </p:nvSpPr>
        <p:spPr>
          <a:xfrm>
            <a:off x="72300" y="0"/>
            <a:ext cx="46575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Elon Musk is suing OpenAI and Sam Altman</a:t>
            </a:r>
            <a:endParaRPr sz="2000" b="1" i="0" u="none" strike="noStrike" cap="none">
              <a:solidFill>
                <a:srgbClr val="000000"/>
              </a:solidFill>
              <a:latin typeface="Calibri"/>
              <a:ea typeface="Calibri"/>
              <a:cs typeface="Calibri"/>
              <a:sym typeface="Calibri"/>
            </a:endParaRPr>
          </a:p>
        </p:txBody>
      </p:sp>
      <p:sp>
        <p:nvSpPr>
          <p:cNvPr id="105" name="Google Shape;105;p18"/>
          <p:cNvSpPr txBox="1"/>
          <p:nvPr/>
        </p:nvSpPr>
        <p:spPr>
          <a:xfrm>
            <a:off x="72300" y="347100"/>
            <a:ext cx="4803600" cy="2807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Clr>
                <a:schemeClr val="dk1"/>
              </a:buClr>
              <a:buSzPts val="1100"/>
              <a:buFont typeface="Arial"/>
              <a:buNone/>
            </a:pPr>
            <a:r>
              <a:rPr lang="en" sz="1200" u="sng">
                <a:solidFill>
                  <a:schemeClr val="hlink"/>
                </a:solidFill>
                <a:latin typeface="Calibri"/>
                <a:ea typeface="Calibri"/>
                <a:cs typeface="Calibri"/>
                <a:sym typeface="Calibri"/>
                <a:hlinkClick r:id="rId3"/>
              </a:rPr>
              <a:t>https://www.courthousenews.com/wp-content/uploads/2024/02/musk-v-altman-openai-complaint-sf.pdf</a:t>
            </a:r>
            <a:r>
              <a:rPr lang="en" sz="1200">
                <a:latin typeface="Calibri"/>
                <a:ea typeface="Calibri"/>
                <a:cs typeface="Calibri"/>
                <a:sym typeface="Calibri"/>
              </a:rPr>
              <a:t> - February 29, 2024</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Elon Musk is suing Sam Altman &amp; Greg Brockman of OpenAI.</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In </a:t>
            </a:r>
            <a:r>
              <a:rPr lang="en" sz="1200" b="1">
                <a:solidFill>
                  <a:srgbClr val="FF0000"/>
                </a:solidFill>
                <a:latin typeface="Calibri"/>
                <a:ea typeface="Calibri"/>
                <a:cs typeface="Calibri"/>
                <a:sym typeface="Calibri"/>
              </a:rPr>
              <a:t>2015</a:t>
            </a:r>
            <a:r>
              <a:rPr lang="en" sz="1200">
                <a:latin typeface="Calibri"/>
                <a:ea typeface="Calibri"/>
                <a:cs typeface="Calibri"/>
                <a:sym typeface="Calibri"/>
              </a:rPr>
              <a:t> Sam Altman approached Musk with promise to build an open-source organization to oppose closed-source giants like Google</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Musk has invested ~</a:t>
            </a:r>
            <a:r>
              <a:rPr lang="en" sz="1200" b="1">
                <a:solidFill>
                  <a:srgbClr val="FF0000"/>
                </a:solidFill>
                <a:latin typeface="Calibri"/>
                <a:ea typeface="Calibri"/>
                <a:cs typeface="Calibri"/>
                <a:sym typeface="Calibri"/>
              </a:rPr>
              <a:t>$44 Mln</a:t>
            </a:r>
            <a:r>
              <a:rPr lang="en" sz="1200">
                <a:latin typeface="Calibri"/>
                <a:ea typeface="Calibri"/>
                <a:cs typeface="Calibri"/>
                <a:sym typeface="Calibri"/>
              </a:rPr>
              <a:t> total, left in 2018 </a:t>
            </a:r>
            <a:r>
              <a:rPr lang="en" sz="1200">
                <a:solidFill>
                  <a:schemeClr val="dk1"/>
                </a:solidFill>
                <a:latin typeface="Calibri"/>
                <a:ea typeface="Calibri"/>
                <a:cs typeface="Calibri"/>
                <a:sym typeface="Calibri"/>
              </a:rPr>
              <a:t>due to potential conflict of interests between OpenAI and AI used in Tesla self-driving car</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2019: Microsoft invested $1 Billion in OpenAI - both funding research and utilizing Azure cloud compute.</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2020 - OpenAI officially announced GPT-3 in a research paper titled "Language Models are Few-Shot Learners" - but never open-sourced this or following models.</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2023: Microsoft announced a new $10 Bln investment into OpenAI</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OpenAI has become completely opposite to its original intended open-source nature. It is closed source. </a:t>
            </a:r>
            <a:endParaRPr sz="1200">
              <a:latin typeface="Calibri"/>
              <a:ea typeface="Calibri"/>
              <a:cs typeface="Calibri"/>
              <a:sym typeface="Calibri"/>
            </a:endParaRPr>
          </a:p>
        </p:txBody>
      </p:sp>
      <p:sp>
        <p:nvSpPr>
          <p:cNvPr id="106" name="Google Shape;106;p18"/>
          <p:cNvSpPr txBox="1"/>
          <p:nvPr/>
        </p:nvSpPr>
        <p:spPr>
          <a:xfrm>
            <a:off x="72300" y="3243575"/>
            <a:ext cx="4803600" cy="1699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Clr>
                <a:schemeClr val="dk1"/>
              </a:buClr>
              <a:buSzPts val="1100"/>
              <a:buFont typeface="Arial"/>
              <a:buNone/>
            </a:pPr>
            <a:r>
              <a:rPr lang="en" sz="1200">
                <a:latin typeface="Calibri"/>
                <a:ea typeface="Calibri"/>
                <a:cs typeface="Calibri"/>
                <a:sym typeface="Calibri"/>
              </a:rPr>
              <a:t>Musk's example with amazon forest:</a:t>
            </a:r>
            <a:endParaRPr sz="12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u="sng">
                <a:solidFill>
                  <a:schemeClr val="hlink"/>
                </a:solidFill>
                <a:latin typeface="Calibri"/>
                <a:ea typeface="Calibri"/>
                <a:cs typeface="Calibri"/>
                <a:sym typeface="Calibri"/>
                <a:hlinkClick r:id="rId4"/>
              </a:rPr>
              <a:t>https://twitter.com/elonmusk/status/1764051414727201099</a:t>
            </a:r>
            <a:endParaRPr sz="12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Musk is accusing for</a:t>
            </a:r>
            <a:r>
              <a:rPr lang="en" sz="1200">
                <a:latin typeface="Calibri"/>
                <a:ea typeface="Calibri"/>
                <a:cs typeface="Calibri"/>
                <a:sym typeface="Calibri"/>
              </a:rPr>
              <a:t>: Breach of Contract, Promissory Estoppel, Breach of Fiduciary Duty, Unfair Business Practices, Accounting</a:t>
            </a:r>
            <a:endParaRPr sz="12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Musk is asking for</a:t>
            </a:r>
            <a:r>
              <a:rPr lang="en" sz="1200">
                <a:latin typeface="Calibri"/>
                <a:ea typeface="Calibri"/>
                <a:cs typeface="Calibri"/>
                <a:sym typeface="Calibri"/>
              </a:rPr>
              <a:t>: forcing OpenAI to become open again; determining that GPT-4, Q*, etc.  are AGI and are outside the scope of OpenAI’s license to Microsoft; intellectual property and derivative work which defendants used for personal benefit; returning the money and compensatory and punitive damages</a:t>
            </a:r>
            <a:endParaRPr sz="1200">
              <a:latin typeface="Calibri"/>
              <a:ea typeface="Calibri"/>
              <a:cs typeface="Calibri"/>
              <a:sym typeface="Calibri"/>
            </a:endParaRPr>
          </a:p>
        </p:txBody>
      </p:sp>
      <p:sp>
        <p:nvSpPr>
          <p:cNvPr id="107" name="Google Shape;107;p18"/>
          <p:cNvSpPr txBox="1"/>
          <p:nvPr/>
        </p:nvSpPr>
        <p:spPr>
          <a:xfrm>
            <a:off x="4975850" y="347100"/>
            <a:ext cx="4080000" cy="960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OpenAI team denies Musk's claims</a:t>
            </a:r>
            <a:r>
              <a:rPr lang="en" sz="1200">
                <a:latin typeface="Calibri"/>
                <a:ea typeface="Calibri"/>
                <a:cs typeface="Calibri"/>
                <a:sym typeface="Calibri"/>
              </a:rPr>
              <a:t> and states that:</a:t>
            </a:r>
            <a:endParaRPr sz="1200">
              <a:latin typeface="Calibri"/>
              <a:ea typeface="Calibri"/>
              <a:cs typeface="Calibri"/>
              <a:sym typeface="Calibri"/>
            </a:endParaRPr>
          </a:p>
          <a:p>
            <a:pPr marL="0" lvl="0" indent="0" algn="l" rtl="0">
              <a:spcBef>
                <a:spcPts val="0"/>
              </a:spcBef>
              <a:spcAft>
                <a:spcPts val="0"/>
              </a:spcAft>
              <a:buNone/>
            </a:pPr>
            <a:r>
              <a:rPr lang="en" sz="1200">
                <a:latin typeface="Calibri"/>
                <a:ea typeface="Calibri"/>
                <a:cs typeface="Calibri"/>
                <a:sym typeface="Calibri"/>
              </a:rPr>
              <a:t>GPT-4 isn't AGI; OpenAI still aims to benefit humanity, striving to develop AGI; OpenAI, not a Microsoft subsidiary, independently researches and competes in providing value through ChatGPT, different from Microsoft's Copilot offerings.</a:t>
            </a:r>
            <a:endParaRPr sz="1200">
              <a:latin typeface="Calibri"/>
              <a:ea typeface="Calibri"/>
              <a:cs typeface="Calibri"/>
              <a:sym typeface="Calibri"/>
            </a:endParaRPr>
          </a:p>
        </p:txBody>
      </p:sp>
      <p:sp>
        <p:nvSpPr>
          <p:cNvPr id="108" name="Google Shape;108;p18"/>
          <p:cNvSpPr txBox="1"/>
          <p:nvPr/>
        </p:nvSpPr>
        <p:spPr>
          <a:xfrm>
            <a:off x="4975850" y="1367325"/>
            <a:ext cx="4080000" cy="1699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200">
                <a:latin typeface="Calibri"/>
                <a:ea typeface="Calibri"/>
                <a:cs typeface="Calibri"/>
                <a:sym typeface="Calibri"/>
              </a:rPr>
              <a:t>OpenAI "corporate shell game" - 8 companies:</a:t>
            </a:r>
            <a:endParaRPr sz="1200">
              <a:latin typeface="Calibri"/>
              <a:ea typeface="Calibri"/>
              <a:cs typeface="Calibri"/>
              <a:sym typeface="Calibri"/>
            </a:endParaRPr>
          </a:p>
          <a:p>
            <a:pPr marL="457200" lvl="0" indent="-304800" algn="l" rtl="0">
              <a:spcBef>
                <a:spcPts val="0"/>
              </a:spcBef>
              <a:spcAft>
                <a:spcPts val="0"/>
              </a:spcAft>
              <a:buSzPts val="1200"/>
              <a:buFont typeface="Calibri"/>
              <a:buAutoNum type="arabicPeriod"/>
            </a:pPr>
            <a:r>
              <a:rPr lang="en" sz="1200">
                <a:latin typeface="Calibri"/>
                <a:ea typeface="Calibri"/>
                <a:cs typeface="Calibri"/>
                <a:sym typeface="Calibri"/>
              </a:rPr>
              <a:t>OPENAI, INC., a corporation,</a:t>
            </a:r>
            <a:endParaRPr sz="1200">
              <a:latin typeface="Calibri"/>
              <a:ea typeface="Calibri"/>
              <a:cs typeface="Calibri"/>
              <a:sym typeface="Calibri"/>
            </a:endParaRPr>
          </a:p>
          <a:p>
            <a:pPr marL="457200" lvl="0" indent="-304800" algn="l" rtl="0">
              <a:spcBef>
                <a:spcPts val="0"/>
              </a:spcBef>
              <a:spcAft>
                <a:spcPts val="0"/>
              </a:spcAft>
              <a:buSzPts val="1200"/>
              <a:buFont typeface="Calibri"/>
              <a:buAutoNum type="arabicPeriod"/>
            </a:pPr>
            <a:r>
              <a:rPr lang="en" sz="1200">
                <a:latin typeface="Calibri"/>
                <a:ea typeface="Calibri"/>
                <a:cs typeface="Calibri"/>
                <a:sym typeface="Calibri"/>
              </a:rPr>
              <a:t>OPENAI, L.P., a limited partnership,</a:t>
            </a:r>
            <a:endParaRPr sz="1200">
              <a:latin typeface="Calibri"/>
              <a:ea typeface="Calibri"/>
              <a:cs typeface="Calibri"/>
              <a:sym typeface="Calibri"/>
            </a:endParaRPr>
          </a:p>
          <a:p>
            <a:pPr marL="457200" lvl="0" indent="-304800" algn="l" rtl="0">
              <a:spcBef>
                <a:spcPts val="0"/>
              </a:spcBef>
              <a:spcAft>
                <a:spcPts val="0"/>
              </a:spcAft>
              <a:buSzPts val="1200"/>
              <a:buFont typeface="Calibri"/>
              <a:buAutoNum type="arabicPeriod"/>
            </a:pPr>
            <a:r>
              <a:rPr lang="en" sz="1200">
                <a:latin typeface="Calibri"/>
                <a:ea typeface="Calibri"/>
                <a:cs typeface="Calibri"/>
                <a:sym typeface="Calibri"/>
              </a:rPr>
              <a:t>OPENAI, L.L.C., a limited liability company,</a:t>
            </a:r>
            <a:endParaRPr sz="1200">
              <a:latin typeface="Calibri"/>
              <a:ea typeface="Calibri"/>
              <a:cs typeface="Calibri"/>
              <a:sym typeface="Calibri"/>
            </a:endParaRPr>
          </a:p>
          <a:p>
            <a:pPr marL="457200" lvl="0" indent="-304800" algn="l" rtl="0">
              <a:spcBef>
                <a:spcPts val="0"/>
              </a:spcBef>
              <a:spcAft>
                <a:spcPts val="0"/>
              </a:spcAft>
              <a:buSzPts val="1200"/>
              <a:buFont typeface="Calibri"/>
              <a:buAutoNum type="arabicPeriod"/>
            </a:pPr>
            <a:r>
              <a:rPr lang="en" sz="1200">
                <a:latin typeface="Calibri"/>
                <a:ea typeface="Calibri"/>
                <a:cs typeface="Calibri"/>
                <a:sym typeface="Calibri"/>
              </a:rPr>
              <a:t>OPENAI GP, L.L.C., a limited liability company,</a:t>
            </a:r>
            <a:endParaRPr sz="1200">
              <a:latin typeface="Calibri"/>
              <a:ea typeface="Calibri"/>
              <a:cs typeface="Calibri"/>
              <a:sym typeface="Calibri"/>
            </a:endParaRPr>
          </a:p>
          <a:p>
            <a:pPr marL="457200" lvl="0" indent="-304800" algn="l" rtl="0">
              <a:spcBef>
                <a:spcPts val="0"/>
              </a:spcBef>
              <a:spcAft>
                <a:spcPts val="0"/>
              </a:spcAft>
              <a:buSzPts val="1200"/>
              <a:buFont typeface="Calibri"/>
              <a:buAutoNum type="arabicPeriod"/>
            </a:pPr>
            <a:r>
              <a:rPr lang="en" sz="1200">
                <a:latin typeface="Calibri"/>
                <a:ea typeface="Calibri"/>
                <a:cs typeface="Calibri"/>
                <a:sym typeface="Calibri"/>
              </a:rPr>
              <a:t>OPENAI OPCO, LLC, a limited liability company,</a:t>
            </a:r>
            <a:endParaRPr sz="1200">
              <a:latin typeface="Calibri"/>
              <a:ea typeface="Calibri"/>
              <a:cs typeface="Calibri"/>
              <a:sym typeface="Calibri"/>
            </a:endParaRPr>
          </a:p>
          <a:p>
            <a:pPr marL="457200" lvl="0" indent="-304800" algn="l" rtl="0">
              <a:spcBef>
                <a:spcPts val="0"/>
              </a:spcBef>
              <a:spcAft>
                <a:spcPts val="0"/>
              </a:spcAft>
              <a:buSzPts val="1200"/>
              <a:buFont typeface="Calibri"/>
              <a:buAutoNum type="arabicPeriod"/>
            </a:pPr>
            <a:r>
              <a:rPr lang="en" sz="1200">
                <a:latin typeface="Calibri"/>
                <a:ea typeface="Calibri"/>
                <a:cs typeface="Calibri"/>
                <a:sym typeface="Calibri"/>
              </a:rPr>
              <a:t>OPENAI GLOBAL, LLC, a limited liability company,</a:t>
            </a:r>
            <a:endParaRPr sz="1200">
              <a:latin typeface="Calibri"/>
              <a:ea typeface="Calibri"/>
              <a:cs typeface="Calibri"/>
              <a:sym typeface="Calibri"/>
            </a:endParaRPr>
          </a:p>
          <a:p>
            <a:pPr marL="457200" lvl="0" indent="-304800" algn="l" rtl="0">
              <a:spcBef>
                <a:spcPts val="0"/>
              </a:spcBef>
              <a:spcAft>
                <a:spcPts val="0"/>
              </a:spcAft>
              <a:buSzPts val="1200"/>
              <a:buFont typeface="Calibri"/>
              <a:buAutoNum type="arabicPeriod"/>
            </a:pPr>
            <a:r>
              <a:rPr lang="en" sz="1200">
                <a:latin typeface="Calibri"/>
                <a:ea typeface="Calibri"/>
                <a:cs typeface="Calibri"/>
                <a:sym typeface="Calibri"/>
              </a:rPr>
              <a:t>OAI CORPORATION, LLC, a limited liability company,</a:t>
            </a:r>
            <a:endParaRPr sz="1200">
              <a:latin typeface="Calibri"/>
              <a:ea typeface="Calibri"/>
              <a:cs typeface="Calibri"/>
              <a:sym typeface="Calibri"/>
            </a:endParaRPr>
          </a:p>
          <a:p>
            <a:pPr marL="457200" lvl="0" indent="-304800" algn="l" rtl="0">
              <a:spcBef>
                <a:spcPts val="0"/>
              </a:spcBef>
              <a:spcAft>
                <a:spcPts val="0"/>
              </a:spcAft>
              <a:buSzPts val="1200"/>
              <a:buFont typeface="Calibri"/>
              <a:buAutoNum type="arabicPeriod"/>
            </a:pPr>
            <a:r>
              <a:rPr lang="en" sz="1200">
                <a:latin typeface="Calibri"/>
                <a:ea typeface="Calibri"/>
                <a:cs typeface="Calibri"/>
                <a:sym typeface="Calibri"/>
              </a:rPr>
              <a:t>OPENAI HOLDINGS, LLC</a:t>
            </a:r>
            <a:endParaRPr sz="1200">
              <a:latin typeface="Calibri"/>
              <a:ea typeface="Calibri"/>
              <a:cs typeface="Calibri"/>
              <a:sym typeface="Calibri"/>
            </a:endParaRPr>
          </a:p>
        </p:txBody>
      </p:sp>
      <p:sp>
        <p:nvSpPr>
          <p:cNvPr id="109" name="Google Shape;109;p18"/>
          <p:cNvSpPr txBox="1"/>
          <p:nvPr/>
        </p:nvSpPr>
        <p:spPr>
          <a:xfrm>
            <a:off x="4975850" y="3141713"/>
            <a:ext cx="4080000" cy="406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200">
                <a:latin typeface="Calibri"/>
                <a:ea typeface="Calibri"/>
                <a:cs typeface="Calibri"/>
                <a:sym typeface="Calibri"/>
              </a:rPr>
              <a:t>Ron Conway (famous angel investor) - Open Letter - "Build AI for a Better Future" - </a:t>
            </a:r>
            <a:r>
              <a:rPr lang="en" sz="1200" u="sng">
                <a:solidFill>
                  <a:schemeClr val="hlink"/>
                </a:solidFill>
                <a:latin typeface="Calibri"/>
                <a:ea typeface="Calibri"/>
                <a:cs typeface="Calibri"/>
                <a:sym typeface="Calibri"/>
                <a:hlinkClick r:id="rId5"/>
              </a:rPr>
              <a:t>https://openletter.svangel.com</a:t>
            </a:r>
            <a:r>
              <a:rPr lang="en" sz="1200">
                <a:latin typeface="Calibri"/>
                <a:ea typeface="Calibri"/>
                <a:cs typeface="Calibri"/>
                <a:sym typeface="Calibri"/>
              </a:rPr>
              <a:t> </a:t>
            </a:r>
            <a:endParaRPr sz="1200">
              <a:latin typeface="Calibri"/>
              <a:ea typeface="Calibri"/>
              <a:cs typeface="Calibri"/>
              <a:sym typeface="Calibri"/>
            </a:endParaRPr>
          </a:p>
        </p:txBody>
      </p:sp>
      <p:sp>
        <p:nvSpPr>
          <p:cNvPr id="110" name="Google Shape;110;p18"/>
          <p:cNvSpPr txBox="1"/>
          <p:nvPr/>
        </p:nvSpPr>
        <p:spPr>
          <a:xfrm>
            <a:off x="4975850" y="3623113"/>
            <a:ext cx="4080000" cy="591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200">
                <a:latin typeface="Calibri"/>
                <a:ea typeface="Calibri"/>
                <a:cs typeface="Calibri"/>
                <a:sym typeface="Calibri"/>
              </a:rPr>
              <a:t>OpenAI response with historical evidence talking about Elon Musk saying that Billion $ is needed, trying to attach OpenAI to Tesla and taking control</a:t>
            </a:r>
            <a:r>
              <a:rPr lang="en" sz="900">
                <a:latin typeface="Calibri"/>
                <a:ea typeface="Calibri"/>
                <a:cs typeface="Calibri"/>
                <a:sym typeface="Calibri"/>
              </a:rPr>
              <a:t> - </a:t>
            </a:r>
            <a:r>
              <a:rPr lang="en" sz="900" u="sng">
                <a:solidFill>
                  <a:schemeClr val="hlink"/>
                </a:solidFill>
                <a:latin typeface="Calibri"/>
                <a:ea typeface="Calibri"/>
                <a:cs typeface="Calibri"/>
                <a:sym typeface="Calibri"/>
                <a:hlinkClick r:id="rId6"/>
              </a:rPr>
              <a:t>https://www.youtube.com/watch?v=FYJVTPzj0cE</a:t>
            </a:r>
            <a:r>
              <a:rPr lang="en" sz="900">
                <a:latin typeface="Calibri"/>
                <a:ea typeface="Calibri"/>
                <a:cs typeface="Calibri"/>
                <a:sym typeface="Calibri"/>
              </a:rPr>
              <a:t> </a:t>
            </a:r>
            <a:endParaRPr sz="9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9"/>
          <p:cNvSpPr txBox="1"/>
          <p:nvPr/>
        </p:nvSpPr>
        <p:spPr>
          <a:xfrm>
            <a:off x="72300" y="0"/>
            <a:ext cx="38796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Generative AI market to skyrocket </a:t>
            </a:r>
            <a:endParaRPr sz="2000" b="1" i="0" u="none" strike="noStrike" cap="none">
              <a:solidFill>
                <a:srgbClr val="000000"/>
              </a:solidFill>
              <a:latin typeface="Calibri"/>
              <a:ea typeface="Calibri"/>
              <a:cs typeface="Calibri"/>
              <a:sym typeface="Calibri"/>
            </a:endParaRPr>
          </a:p>
        </p:txBody>
      </p:sp>
      <p:sp>
        <p:nvSpPr>
          <p:cNvPr id="116" name="Google Shape;116;p19"/>
          <p:cNvSpPr txBox="1"/>
          <p:nvPr/>
        </p:nvSpPr>
        <p:spPr>
          <a:xfrm>
            <a:off x="224700" y="435825"/>
            <a:ext cx="5958300" cy="2247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300">
                <a:latin typeface="Calibri"/>
                <a:ea typeface="Calibri"/>
                <a:cs typeface="Calibri"/>
                <a:sym typeface="Calibri"/>
              </a:rPr>
              <a:t>Generative AI market to skyrocket (2023-2030) from USD 11.3 billion to:</a:t>
            </a:r>
            <a:endParaRPr sz="13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latin typeface="Calibri"/>
              <a:ea typeface="Calibri"/>
              <a:cs typeface="Calibri"/>
              <a:sym typeface="Calibri"/>
            </a:endParaRPr>
          </a:p>
          <a:p>
            <a:pPr marL="457200" lvl="0" indent="-311150" algn="l" rtl="0">
              <a:spcBef>
                <a:spcPts val="0"/>
              </a:spcBef>
              <a:spcAft>
                <a:spcPts val="0"/>
              </a:spcAft>
              <a:buSzPts val="1300"/>
              <a:buFont typeface="Calibri"/>
              <a:buChar char="●"/>
            </a:pPr>
            <a:r>
              <a:rPr lang="en" sz="1300">
                <a:latin typeface="Calibri"/>
                <a:ea typeface="Calibri"/>
                <a:cs typeface="Calibri"/>
                <a:sym typeface="Calibri"/>
              </a:rPr>
              <a:t>77 Bln - MarketsandMarkets research</a:t>
            </a:r>
            <a:endParaRPr sz="1300">
              <a:latin typeface="Calibri"/>
              <a:ea typeface="Calibri"/>
              <a:cs typeface="Calibri"/>
              <a:sym typeface="Calibri"/>
            </a:endParaRPr>
          </a:p>
          <a:p>
            <a:pPr marL="457200" lvl="0" indent="0" algn="l" rtl="0">
              <a:spcBef>
                <a:spcPts val="0"/>
              </a:spcBef>
              <a:spcAft>
                <a:spcPts val="0"/>
              </a:spcAft>
              <a:buNone/>
            </a:pPr>
            <a:r>
              <a:rPr lang="en" sz="1000" u="sng">
                <a:solidFill>
                  <a:schemeClr val="hlink"/>
                </a:solidFill>
                <a:latin typeface="Calibri"/>
                <a:ea typeface="Calibri"/>
                <a:cs typeface="Calibri"/>
                <a:sym typeface="Calibri"/>
                <a:hlinkClick r:id="rId3"/>
              </a:rPr>
              <a:t>https://www.marketsandmarkets.com/Market-Reports/generative-ai-market-142870584.html</a:t>
            </a:r>
            <a:r>
              <a:rPr lang="en" sz="1000">
                <a:latin typeface="Calibri"/>
                <a:ea typeface="Calibri"/>
                <a:cs typeface="Calibri"/>
                <a:sym typeface="Calibri"/>
              </a:rPr>
              <a:t> </a:t>
            </a:r>
            <a:endParaRPr sz="1000">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$207 Bln - Statista</a:t>
            </a:r>
            <a:endParaRPr sz="1000">
              <a:latin typeface="Calibri"/>
              <a:ea typeface="Calibri"/>
              <a:cs typeface="Calibri"/>
              <a:sym typeface="Calibri"/>
            </a:endParaRPr>
          </a:p>
          <a:p>
            <a:pPr marL="457200" lvl="0" indent="0" algn="l" rtl="0">
              <a:spcBef>
                <a:spcPts val="0"/>
              </a:spcBef>
              <a:spcAft>
                <a:spcPts val="0"/>
              </a:spcAft>
              <a:buNone/>
            </a:pPr>
            <a:r>
              <a:rPr lang="en" sz="1000" u="sng">
                <a:solidFill>
                  <a:schemeClr val="hlink"/>
                </a:solidFill>
                <a:latin typeface="Calibri"/>
                <a:ea typeface="Calibri"/>
                <a:cs typeface="Calibri"/>
                <a:sym typeface="Calibri"/>
                <a:hlinkClick r:id="rId4"/>
              </a:rPr>
              <a:t>https://www.statista.com/outlook/tmo/artificial-intelligence/generative-ai/worldwide#market-size</a:t>
            </a:r>
            <a:endParaRPr sz="1000">
              <a:latin typeface="Calibri"/>
              <a:ea typeface="Calibri"/>
              <a:cs typeface="Calibri"/>
              <a:sym typeface="Calibri"/>
            </a:endParaRPr>
          </a:p>
          <a:p>
            <a:pPr marL="457200" lvl="0" indent="-311150" algn="l" rtl="0">
              <a:spcBef>
                <a:spcPts val="0"/>
              </a:spcBef>
              <a:spcAft>
                <a:spcPts val="0"/>
              </a:spcAft>
              <a:buSzPts val="1300"/>
              <a:buFont typeface="Calibri"/>
              <a:buChar char="●"/>
            </a:pPr>
            <a:r>
              <a:rPr lang="en" sz="1300">
                <a:latin typeface="Calibri"/>
                <a:ea typeface="Calibri"/>
                <a:cs typeface="Calibri"/>
                <a:sym typeface="Calibri"/>
              </a:rPr>
              <a:t>$1,850 Bln - ExplodingTopics</a:t>
            </a:r>
            <a:endParaRPr sz="1300">
              <a:latin typeface="Calibri"/>
              <a:ea typeface="Calibri"/>
              <a:cs typeface="Calibri"/>
              <a:sym typeface="Calibri"/>
            </a:endParaRPr>
          </a:p>
          <a:p>
            <a:pPr marL="457200" lvl="0" indent="0" algn="l" rtl="0">
              <a:spcBef>
                <a:spcPts val="0"/>
              </a:spcBef>
              <a:spcAft>
                <a:spcPts val="0"/>
              </a:spcAft>
              <a:buNone/>
            </a:pPr>
            <a:r>
              <a:rPr lang="en" sz="1000" u="sng">
                <a:solidFill>
                  <a:schemeClr val="hlink"/>
                </a:solidFill>
                <a:latin typeface="Calibri"/>
                <a:ea typeface="Calibri"/>
                <a:cs typeface="Calibri"/>
                <a:sym typeface="Calibri"/>
                <a:hlinkClick r:id="rId5"/>
              </a:rPr>
              <a:t>https://explodingtopics.com/blog/ai-market-size-stats</a:t>
            </a:r>
            <a:r>
              <a:rPr lang="en" sz="1000">
                <a:latin typeface="Calibri"/>
                <a:ea typeface="Calibri"/>
                <a:cs typeface="Calibri"/>
                <a:sym typeface="Calibri"/>
              </a:rPr>
              <a:t> </a:t>
            </a:r>
            <a:endParaRPr sz="10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latin typeface="Calibri"/>
                <a:ea typeface="Calibri"/>
                <a:cs typeface="Calibri"/>
                <a:sym typeface="Calibri"/>
              </a:rPr>
              <a:t>And maybe even this is too conservative. AI compute grows more than x4/year.</a:t>
            </a:r>
            <a:endParaRPr sz="13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latin typeface="Calibri"/>
                <a:ea typeface="Calibri"/>
                <a:cs typeface="Calibri"/>
                <a:sym typeface="Calibri"/>
              </a:rPr>
              <a:t>7 years ~ 16,000 growth ? Reaching 10s of Trillions by 2030?</a:t>
            </a:r>
            <a:endParaRPr sz="1300" b="1">
              <a:solidFill>
                <a:srgbClr val="FF0000"/>
              </a:solidFill>
              <a:latin typeface="Calibri"/>
              <a:ea typeface="Calibri"/>
              <a:cs typeface="Calibri"/>
              <a:sym typeface="Calibri"/>
            </a:endParaRPr>
          </a:p>
        </p:txBody>
      </p:sp>
      <p:pic>
        <p:nvPicPr>
          <p:cNvPr id="117" name="Google Shape;117;p1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203770" y="3065869"/>
            <a:ext cx="2978824" cy="2042676"/>
          </a:xfrm>
          <a:prstGeom prst="rect">
            <a:avLst/>
          </a:prstGeom>
          <a:noFill/>
          <a:ln>
            <a:noFill/>
          </a:ln>
        </p:spPr>
      </p:pic>
      <p:pic>
        <p:nvPicPr>
          <p:cNvPr id="118" name="Google Shape;118;p19"/>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3236020" y="3065869"/>
            <a:ext cx="2584477" cy="1931275"/>
          </a:xfrm>
          <a:prstGeom prst="rect">
            <a:avLst/>
          </a:prstGeom>
          <a:noFill/>
          <a:ln>
            <a:noFill/>
          </a:ln>
        </p:spPr>
      </p:pic>
      <p:pic>
        <p:nvPicPr>
          <p:cNvPr id="119" name="Google Shape;119;p19"/>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6030595" y="3392681"/>
            <a:ext cx="2914100" cy="1623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0"/>
          <p:cNvSpPr txBox="1"/>
          <p:nvPr/>
        </p:nvSpPr>
        <p:spPr>
          <a:xfrm>
            <a:off x="72300" y="0"/>
            <a:ext cx="4657500" cy="6342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Google’s Content-Swiping AI</a:t>
            </a:r>
            <a:endParaRPr sz="2000" b="1">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a.k.a.  Search Generative Experience (SGE) </a:t>
            </a:r>
            <a:endParaRPr sz="2000" b="1" i="0" u="none" strike="noStrike" cap="none">
              <a:solidFill>
                <a:srgbClr val="000000"/>
              </a:solidFill>
              <a:latin typeface="Calibri"/>
              <a:ea typeface="Calibri"/>
              <a:cs typeface="Calibri"/>
              <a:sym typeface="Calibri"/>
            </a:endParaRPr>
          </a:p>
        </p:txBody>
      </p:sp>
      <p:sp>
        <p:nvSpPr>
          <p:cNvPr id="125" name="Google Shape;125;p20"/>
          <p:cNvSpPr txBox="1"/>
          <p:nvPr/>
        </p:nvSpPr>
        <p:spPr>
          <a:xfrm>
            <a:off x="126000" y="694600"/>
            <a:ext cx="6373200" cy="3186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Search Generative Experience (SGE) is an experimental feature of Google Search.</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SGE uses AI to compile facts and snippets of text from various websites into one short summary.</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3"/>
              </a:rPr>
              <a:t>https://www.conductor.com/academy/search-generative-experience/</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Criticism - </a:t>
            </a:r>
            <a:r>
              <a:rPr lang="en" sz="1300">
                <a:solidFill>
                  <a:schemeClr val="dk1"/>
                </a:solidFill>
                <a:latin typeface="Calibri"/>
                <a:ea typeface="Calibri"/>
                <a:cs typeface="Calibri"/>
                <a:sym typeface="Calibri"/>
              </a:rPr>
              <a:t>Google doesn't always give attributions to original sources, which leads to a perception of these answers as Google's own creation, even when they aren't.</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Also the users get their answers from an AI summary instead of clicking through to the original sources. This harms the websites that rely on traffic from Google Search. </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June 11, 2023</a:t>
            </a:r>
            <a:endParaRPr sz="1300">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4"/>
              </a:rPr>
              <a:t>https://www.tomshardware.com/news/google-sge-break-internet</a:t>
            </a:r>
            <a:endParaRPr sz="1300">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1"/>
          <p:cNvSpPr txBox="1"/>
          <p:nvPr/>
        </p:nvSpPr>
        <p:spPr>
          <a:xfrm>
            <a:off x="72300" y="76200"/>
            <a:ext cx="64269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worm Morris II spreads and steals data from emails</a:t>
            </a:r>
            <a:endParaRPr sz="2000" b="1" i="0" u="none" strike="noStrike" cap="none">
              <a:solidFill>
                <a:srgbClr val="000000"/>
              </a:solidFill>
              <a:latin typeface="Calibri"/>
              <a:ea typeface="Calibri"/>
              <a:cs typeface="Calibri"/>
              <a:sym typeface="Calibri"/>
            </a:endParaRPr>
          </a:p>
        </p:txBody>
      </p:sp>
      <p:sp>
        <p:nvSpPr>
          <p:cNvPr id="131" name="Google Shape;131;p21"/>
          <p:cNvSpPr txBox="1"/>
          <p:nvPr/>
        </p:nvSpPr>
        <p:spPr>
          <a:xfrm>
            <a:off x="99150" y="546000"/>
            <a:ext cx="6373200" cy="389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AI worm infects users via AI-enabled email clients — </a:t>
            </a:r>
            <a:r>
              <a:rPr lang="en" sz="1300" b="1">
                <a:solidFill>
                  <a:srgbClr val="FF0000"/>
                </a:solidFill>
                <a:latin typeface="Calibri"/>
                <a:ea typeface="Calibri"/>
                <a:cs typeface="Calibri"/>
                <a:sym typeface="Calibri"/>
              </a:rPr>
              <a:t>Morris II </a:t>
            </a:r>
            <a:r>
              <a:rPr lang="en" sz="1300">
                <a:latin typeface="Calibri"/>
                <a:ea typeface="Calibri"/>
                <a:cs typeface="Calibri"/>
                <a:sym typeface="Calibri"/>
              </a:rPr>
              <a:t>generative AI worm steals confidential data as it spreads</a:t>
            </a:r>
            <a:endParaRPr sz="1300">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3"/>
              </a:rPr>
              <a:t>https://www.tomshardware.com/tech-industry/artificial-intelligence/ai-worm-infects-users-via-ai-enabled-email-clients-morris-ii-generative-ai-worm-steals-confidential-data-as-it-spreads</a:t>
            </a:r>
            <a:endParaRPr sz="10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b="1">
                <a:solidFill>
                  <a:srgbClr val="FF0000"/>
                </a:solidFill>
                <a:latin typeface="Calibri"/>
                <a:ea typeface="Calibri"/>
                <a:cs typeface="Calibri"/>
                <a:sym typeface="Calibri"/>
              </a:rPr>
              <a:t>Morris II</a:t>
            </a:r>
            <a:r>
              <a:rPr lang="en" sz="1300">
                <a:latin typeface="Calibri"/>
                <a:ea typeface="Calibri"/>
                <a:cs typeface="Calibri"/>
                <a:sym typeface="Calibri"/>
              </a:rPr>
              <a:t> demo was created by researches at </a:t>
            </a:r>
            <a:r>
              <a:rPr lang="en" sz="1300">
                <a:solidFill>
                  <a:schemeClr val="dk1"/>
                </a:solidFill>
                <a:latin typeface="Calibri"/>
                <a:ea typeface="Calibri"/>
                <a:cs typeface="Calibri"/>
                <a:sym typeface="Calibri"/>
              </a:rPr>
              <a:t>Israel Institute of Technology &amp; Intuit</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They named it '</a:t>
            </a:r>
            <a:r>
              <a:rPr lang="en" sz="1300" b="1">
                <a:solidFill>
                  <a:srgbClr val="FF0000"/>
                </a:solidFill>
                <a:latin typeface="Calibri"/>
                <a:ea typeface="Calibri"/>
                <a:cs typeface="Calibri"/>
                <a:sym typeface="Calibri"/>
              </a:rPr>
              <a:t>Morris II</a:t>
            </a:r>
            <a:r>
              <a:rPr lang="en" sz="1300">
                <a:latin typeface="Calibri"/>
                <a:ea typeface="Calibri"/>
                <a:cs typeface="Calibri"/>
                <a:sym typeface="Calibri"/>
              </a:rPr>
              <a:t>' after the </a:t>
            </a:r>
            <a:r>
              <a:rPr lang="en" sz="1300" b="1">
                <a:solidFill>
                  <a:srgbClr val="FF0000"/>
                </a:solidFill>
                <a:latin typeface="Calibri"/>
                <a:ea typeface="Calibri"/>
                <a:cs typeface="Calibri"/>
                <a:sym typeface="Calibri"/>
              </a:rPr>
              <a:t>original Morris</a:t>
            </a:r>
            <a:r>
              <a:rPr lang="en" sz="1300">
                <a:latin typeface="Calibri"/>
                <a:ea typeface="Calibri"/>
                <a:cs typeface="Calibri"/>
                <a:sym typeface="Calibri"/>
              </a:rPr>
              <a:t> - first computer worm (</a:t>
            </a:r>
            <a:r>
              <a:rPr lang="en" sz="1300" b="1">
                <a:solidFill>
                  <a:srgbClr val="FF0000"/>
                </a:solidFill>
                <a:latin typeface="Calibri"/>
                <a:ea typeface="Calibri"/>
                <a:cs typeface="Calibri"/>
                <a:sym typeface="Calibri"/>
              </a:rPr>
              <a:t>1988</a:t>
            </a:r>
            <a:r>
              <a:rPr lang="en" sz="1300">
                <a:latin typeface="Calibri"/>
                <a:ea typeface="Calibri"/>
                <a:cs typeface="Calibri"/>
                <a:sym typeface="Calibri"/>
              </a:rPr>
              <a:t>).</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This worm targets AI apps and </a:t>
            </a:r>
            <a:r>
              <a:rPr lang="en" sz="1300" b="1">
                <a:solidFill>
                  <a:srgbClr val="FF0000"/>
                </a:solidFill>
                <a:latin typeface="Calibri"/>
                <a:ea typeface="Calibri"/>
                <a:cs typeface="Calibri"/>
                <a:sym typeface="Calibri"/>
              </a:rPr>
              <a:t>AI-enabled email assistants</a:t>
            </a:r>
            <a:r>
              <a:rPr lang="en" sz="1300">
                <a:latin typeface="Calibri"/>
                <a:ea typeface="Calibri"/>
                <a:cs typeface="Calibri"/>
                <a:sym typeface="Calibri"/>
              </a:rPr>
              <a:t> that generate text and images using models like Gemini Pro, ChatGPT 4.0, and LLaVA.</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The worm uses </a:t>
            </a:r>
            <a:r>
              <a:rPr lang="en" sz="1300" b="1">
                <a:solidFill>
                  <a:srgbClr val="FF0000"/>
                </a:solidFill>
                <a:latin typeface="Calibri"/>
                <a:ea typeface="Calibri"/>
                <a:cs typeface="Calibri"/>
                <a:sym typeface="Calibri"/>
              </a:rPr>
              <a:t>adversarial self-replicating prompts</a:t>
            </a:r>
            <a:r>
              <a:rPr lang="en" sz="1300">
                <a:latin typeface="Calibri"/>
                <a:ea typeface="Calibri"/>
                <a:cs typeface="Calibri"/>
                <a:sym typeface="Calibri"/>
              </a:rPr>
              <a:t>. Here's how the authors describe the attack mechanism:</a:t>
            </a:r>
            <a:endParaRPr sz="1300">
              <a:latin typeface="Calibri"/>
              <a:ea typeface="Calibri"/>
              <a:cs typeface="Calibri"/>
              <a:sym typeface="Calibri"/>
            </a:endParaRPr>
          </a:p>
          <a:p>
            <a:pPr marL="228600" lvl="0" indent="-196850" algn="l" rtl="0">
              <a:spcBef>
                <a:spcPts val="0"/>
              </a:spcBef>
              <a:spcAft>
                <a:spcPts val="0"/>
              </a:spcAft>
              <a:buClr>
                <a:srgbClr val="3C78D8"/>
              </a:buClr>
              <a:buSzPts val="1300"/>
              <a:buFont typeface="Calibri"/>
              <a:buChar char="●"/>
            </a:pPr>
            <a:r>
              <a:rPr lang="en" sz="1300">
                <a:solidFill>
                  <a:srgbClr val="3C78D8"/>
                </a:solidFill>
                <a:latin typeface="Calibri"/>
                <a:ea typeface="Calibri"/>
                <a:cs typeface="Calibri"/>
                <a:sym typeface="Calibri"/>
              </a:rPr>
              <a:t>"The study demonstrates that attackers can </a:t>
            </a:r>
            <a:r>
              <a:rPr lang="en" sz="1300">
                <a:solidFill>
                  <a:srgbClr val="FF0000"/>
                </a:solidFill>
                <a:latin typeface="Calibri"/>
                <a:ea typeface="Calibri"/>
                <a:cs typeface="Calibri"/>
                <a:sym typeface="Calibri"/>
              </a:rPr>
              <a:t>insert such prompts into inputs that, when processed by GenAI models</a:t>
            </a:r>
            <a:r>
              <a:rPr lang="en" sz="1300">
                <a:solidFill>
                  <a:srgbClr val="3C78D8"/>
                </a:solidFill>
                <a:latin typeface="Calibri"/>
                <a:ea typeface="Calibri"/>
                <a:cs typeface="Calibri"/>
                <a:sym typeface="Calibri"/>
              </a:rPr>
              <a:t>, prompt the model to replicate the input as output (replication) and </a:t>
            </a:r>
            <a:r>
              <a:rPr lang="en" sz="1300">
                <a:solidFill>
                  <a:srgbClr val="FF0000"/>
                </a:solidFill>
                <a:latin typeface="Calibri"/>
                <a:ea typeface="Calibri"/>
                <a:cs typeface="Calibri"/>
                <a:sym typeface="Calibri"/>
              </a:rPr>
              <a:t>engage in malicious activities</a:t>
            </a:r>
            <a:r>
              <a:rPr lang="en" sz="1300">
                <a:solidFill>
                  <a:srgbClr val="3C78D8"/>
                </a:solidFill>
                <a:latin typeface="Calibri"/>
                <a:ea typeface="Calibri"/>
                <a:cs typeface="Calibri"/>
                <a:sym typeface="Calibri"/>
              </a:rPr>
              <a:t> (payload). </a:t>
            </a:r>
            <a:endParaRPr sz="1300">
              <a:solidFill>
                <a:srgbClr val="3C78D8"/>
              </a:solidFill>
              <a:latin typeface="Calibri"/>
              <a:ea typeface="Calibri"/>
              <a:cs typeface="Calibri"/>
              <a:sym typeface="Calibri"/>
            </a:endParaRPr>
          </a:p>
          <a:p>
            <a:pPr marL="228600" lvl="0" indent="-196850" algn="l" rtl="0">
              <a:spcBef>
                <a:spcPts val="0"/>
              </a:spcBef>
              <a:spcAft>
                <a:spcPts val="0"/>
              </a:spcAft>
              <a:buClr>
                <a:srgbClr val="3C78D8"/>
              </a:buClr>
              <a:buSzPts val="1300"/>
              <a:buFont typeface="Calibri"/>
              <a:buChar char="●"/>
            </a:pPr>
            <a:r>
              <a:rPr lang="en" sz="1300">
                <a:solidFill>
                  <a:srgbClr val="3C78D8"/>
                </a:solidFill>
                <a:latin typeface="Calibri"/>
                <a:ea typeface="Calibri"/>
                <a:cs typeface="Calibri"/>
                <a:sym typeface="Calibri"/>
              </a:rPr>
              <a:t>Additionally, these inputs compel the agent to deliver them (</a:t>
            </a:r>
            <a:r>
              <a:rPr lang="en" sz="1300">
                <a:solidFill>
                  <a:srgbClr val="FF0000"/>
                </a:solidFill>
                <a:latin typeface="Calibri"/>
                <a:ea typeface="Calibri"/>
                <a:cs typeface="Calibri"/>
                <a:sym typeface="Calibri"/>
              </a:rPr>
              <a:t>propagate</a:t>
            </a:r>
            <a:r>
              <a:rPr lang="en" sz="1300">
                <a:solidFill>
                  <a:srgbClr val="3C78D8"/>
                </a:solidFill>
                <a:latin typeface="Calibri"/>
                <a:ea typeface="Calibri"/>
                <a:cs typeface="Calibri"/>
                <a:sym typeface="Calibri"/>
              </a:rPr>
              <a:t>) to new agents by exploiting the connectivity within the GenAI ecosystem. </a:t>
            </a:r>
            <a:endParaRPr sz="1300">
              <a:solidFill>
                <a:srgbClr val="3C78D8"/>
              </a:solidFill>
              <a:latin typeface="Calibri"/>
              <a:ea typeface="Calibri"/>
              <a:cs typeface="Calibri"/>
              <a:sym typeface="Calibri"/>
            </a:endParaRPr>
          </a:p>
          <a:p>
            <a:pPr marL="228600" lvl="0" indent="-196850" algn="l" rtl="0">
              <a:spcBef>
                <a:spcPts val="0"/>
              </a:spcBef>
              <a:spcAft>
                <a:spcPts val="0"/>
              </a:spcAft>
              <a:buClr>
                <a:srgbClr val="3C78D8"/>
              </a:buClr>
              <a:buSzPts val="1300"/>
              <a:buFont typeface="Calibri"/>
              <a:buChar char="●"/>
            </a:pPr>
            <a:r>
              <a:rPr lang="en" sz="1300">
                <a:solidFill>
                  <a:srgbClr val="3C78D8"/>
                </a:solidFill>
                <a:latin typeface="Calibri"/>
                <a:ea typeface="Calibri"/>
                <a:cs typeface="Calibri"/>
                <a:sym typeface="Calibri"/>
              </a:rPr>
              <a:t>We demonstrate the application of Morris II against GenAI-powered email assistants in two use cases (spamming and exfiltrating personal data), under two settings (black-box and white-box accesses), using two types of input data (text and images)."</a:t>
            </a:r>
            <a:endParaRPr sz="1300">
              <a:solidFill>
                <a:srgbClr val="3C78D8"/>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2"/>
          <p:cNvSpPr txBox="1"/>
          <p:nvPr/>
        </p:nvSpPr>
        <p:spPr>
          <a:xfrm>
            <a:off x="72300" y="0"/>
            <a:ext cx="46575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AI-generated fake IDs</a:t>
            </a:r>
            <a:endParaRPr sz="2000" b="1" i="0" u="none" strike="noStrike" cap="none">
              <a:solidFill>
                <a:srgbClr val="000000"/>
              </a:solidFill>
              <a:latin typeface="Calibri"/>
              <a:ea typeface="Calibri"/>
              <a:cs typeface="Calibri"/>
              <a:sym typeface="Calibri"/>
            </a:endParaRPr>
          </a:p>
        </p:txBody>
      </p:sp>
      <p:sp>
        <p:nvSpPr>
          <p:cNvPr id="137" name="Google Shape;137;p22"/>
          <p:cNvSpPr txBox="1"/>
          <p:nvPr/>
        </p:nvSpPr>
        <p:spPr>
          <a:xfrm>
            <a:off x="126000" y="694600"/>
            <a:ext cx="4293900" cy="138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AI to detect fraudulent passports.</a:t>
            </a:r>
            <a:endParaRPr sz="1300" b="1">
              <a:solidFill>
                <a:srgbClr val="FF0000"/>
              </a:solidFill>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Many government agencies and border security organizations are using AI-powered systems to detect fraudulent passports. Private companies are also developing AI-based solutions for identity verification, including passport checks.</a:t>
            </a:r>
            <a:endParaRPr sz="1300">
              <a:latin typeface="Calibri"/>
              <a:ea typeface="Calibri"/>
              <a:cs typeface="Calibri"/>
              <a:sym typeface="Calibri"/>
            </a:endParaRPr>
          </a:p>
        </p:txBody>
      </p:sp>
      <p:pic>
        <p:nvPicPr>
          <p:cNvPr id="138" name="Google Shape;138;p22"/>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4921875" y="157950"/>
            <a:ext cx="3509568" cy="2998300"/>
          </a:xfrm>
          <a:prstGeom prst="rect">
            <a:avLst/>
          </a:prstGeom>
          <a:noFill/>
          <a:ln>
            <a:noFill/>
          </a:ln>
        </p:spPr>
      </p:pic>
      <p:sp>
        <p:nvSpPr>
          <p:cNvPr id="139" name="Google Shape;139;p22"/>
          <p:cNvSpPr txBox="1"/>
          <p:nvPr/>
        </p:nvSpPr>
        <p:spPr>
          <a:xfrm>
            <a:off x="126000" y="2307500"/>
            <a:ext cx="4293900" cy="1785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AI-generated fake IDs</a:t>
            </a:r>
            <a:r>
              <a:rPr lang="en" sz="1300">
                <a:latin typeface="Calibri"/>
                <a:ea typeface="Calibri"/>
                <a:cs typeface="Calibri"/>
                <a:sym typeface="Calibri"/>
              </a:rPr>
              <a:t> claimed to pass crypto exchange KYC (Know Your Customer) are selling for $15</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4"/>
              </a:rPr>
              <a:t>https://www.medianama.com/2024/02/223-onlyfake-generative-ai-fake-id/</a:t>
            </a:r>
            <a:r>
              <a:rPr lang="en" sz="1300">
                <a:latin typeface="Calibri"/>
                <a:ea typeface="Calibri"/>
                <a:cs typeface="Calibri"/>
                <a:sym typeface="Calibri"/>
              </a:rPr>
              <a:t> </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5"/>
              </a:rPr>
              <a:t>https://www.404media.co/inside-the-underground-site-where-ai-neural-networks-churns-out-fake-ids-onlyfake/</a:t>
            </a:r>
            <a:r>
              <a:rPr lang="en" sz="1300">
                <a:latin typeface="Calibri"/>
                <a:ea typeface="Calibri"/>
                <a:cs typeface="Calibri"/>
                <a:sym typeface="Calibri"/>
              </a:rPr>
              <a:t> </a:t>
            </a:r>
            <a:endParaRPr sz="1300">
              <a:latin typeface="Calibri"/>
              <a:ea typeface="Calibri"/>
              <a:cs typeface="Calibri"/>
              <a:sym typeface="Calibri"/>
            </a:endParaRPr>
          </a:p>
        </p:txBody>
      </p:sp>
      <p:pic>
        <p:nvPicPr>
          <p:cNvPr id="140" name="Google Shape;140;p22"/>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386325" y="3275625"/>
            <a:ext cx="2580676" cy="16824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3"/>
          <p:cNvSpPr txBox="1"/>
          <p:nvPr/>
        </p:nvSpPr>
        <p:spPr>
          <a:xfrm>
            <a:off x="72300" y="91425"/>
            <a:ext cx="9870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Misc 1</a:t>
            </a:r>
            <a:endParaRPr sz="2000" b="1" i="0" u="none" strike="noStrike" cap="none">
              <a:solidFill>
                <a:srgbClr val="000000"/>
              </a:solidFill>
              <a:latin typeface="Calibri"/>
              <a:ea typeface="Calibri"/>
              <a:cs typeface="Calibri"/>
              <a:sym typeface="Calibri"/>
            </a:endParaRPr>
          </a:p>
        </p:txBody>
      </p:sp>
      <p:sp>
        <p:nvSpPr>
          <p:cNvPr id="146" name="Google Shape;146;p23"/>
          <p:cNvSpPr txBox="1"/>
          <p:nvPr/>
        </p:nvSpPr>
        <p:spPr>
          <a:xfrm>
            <a:off x="72300" y="488200"/>
            <a:ext cx="4334400" cy="3620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Microsoft GLAN</a:t>
            </a:r>
            <a:r>
              <a:rPr lang="en" sz="1300">
                <a:latin typeface="Calibri"/>
                <a:ea typeface="Calibri"/>
                <a:cs typeface="Calibri"/>
                <a:sym typeface="Calibri"/>
              </a:rPr>
              <a:t> (Generalized Instruction Tuning)</a:t>
            </a:r>
            <a:br>
              <a:rPr lang="en" sz="1300">
                <a:latin typeface="Calibri"/>
                <a:ea typeface="Calibri"/>
                <a:cs typeface="Calibri"/>
                <a:sym typeface="Calibri"/>
              </a:rPr>
            </a:br>
            <a:r>
              <a:rPr lang="en" sz="1300">
                <a:solidFill>
                  <a:srgbClr val="3C78D8"/>
                </a:solidFill>
                <a:latin typeface="Calibri"/>
                <a:ea typeface="Calibri"/>
                <a:cs typeface="Calibri"/>
                <a:sym typeface="Calibri"/>
              </a:rPr>
              <a:t>Synthetic Data (Almost) from Scratch: Generalized Instruction Tuning for Language Models -</a:t>
            </a:r>
            <a:r>
              <a:rPr lang="en" sz="1300">
                <a:latin typeface="Calibri"/>
                <a:ea typeface="Calibri"/>
                <a:cs typeface="Calibri"/>
                <a:sym typeface="Calibri"/>
              </a:rPr>
              <a:t> </a:t>
            </a:r>
            <a:r>
              <a:rPr lang="en" sz="1000" u="sng">
                <a:solidFill>
                  <a:schemeClr val="hlink"/>
                </a:solidFill>
                <a:latin typeface="Calibri"/>
                <a:ea typeface="Calibri"/>
                <a:cs typeface="Calibri"/>
                <a:sym typeface="Calibri"/>
                <a:hlinkClick r:id="rId3"/>
              </a:rPr>
              <a:t>https://arxiv.org/abs/2402.13064</a:t>
            </a:r>
            <a:r>
              <a:rPr lang="en" sz="1000">
                <a:latin typeface="Calibri"/>
                <a:ea typeface="Calibri"/>
                <a:cs typeface="Calibri"/>
                <a:sym typeface="Calibri"/>
              </a:rPr>
              <a:t> - </a:t>
            </a:r>
            <a:endParaRPr sz="10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b="1">
                <a:solidFill>
                  <a:srgbClr val="FF0000"/>
                </a:solidFill>
                <a:latin typeface="Calibri"/>
                <a:ea typeface="Calibri"/>
                <a:cs typeface="Calibri"/>
                <a:sym typeface="Calibri"/>
              </a:rPr>
              <a:t>GLAN</a:t>
            </a:r>
            <a:r>
              <a:rPr lang="en" sz="1300">
                <a:latin typeface="Calibri"/>
                <a:ea typeface="Calibri"/>
                <a:cs typeface="Calibri"/>
                <a:sym typeface="Calibri"/>
              </a:rPr>
              <a:t> uses pre-curated taxonomy of human knowledge (in various fields, sub-fields and ultimately, distinct disciplines semi-automatically, facilitated by LLMs). </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b="1">
                <a:solidFill>
                  <a:srgbClr val="FF0000"/>
                </a:solidFill>
                <a:latin typeface="Calibri"/>
                <a:ea typeface="Calibri"/>
                <a:cs typeface="Calibri"/>
                <a:sym typeface="Calibri"/>
              </a:rPr>
              <a:t>GLAN</a:t>
            </a:r>
            <a:r>
              <a:rPr lang="en" sz="1300">
                <a:latin typeface="Calibri"/>
                <a:ea typeface="Calibri"/>
                <a:cs typeface="Calibri"/>
                <a:sym typeface="Calibri"/>
              </a:rPr>
              <a:t> generates a comprehensive list of subjects for every discipline and proceed to design a syllabus tailored to each subject, again utilizing LLMs.</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b="1">
                <a:solidFill>
                  <a:srgbClr val="FF0000"/>
                </a:solidFill>
                <a:latin typeface="Calibri"/>
                <a:ea typeface="Calibri"/>
                <a:cs typeface="Calibri"/>
                <a:sym typeface="Calibri"/>
              </a:rPr>
              <a:t>GLAN</a:t>
            </a:r>
            <a:r>
              <a:rPr lang="en" sz="1300">
                <a:latin typeface="Calibri"/>
                <a:ea typeface="Calibri"/>
                <a:cs typeface="Calibri"/>
                <a:sym typeface="Calibri"/>
              </a:rPr>
              <a:t> generates diverse instructions with a broad coverage across the entire spectrum of human knowledge and skills.</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Tuning Mistral using </a:t>
            </a:r>
            <a:r>
              <a:rPr lang="en" sz="1300" b="1">
                <a:solidFill>
                  <a:srgbClr val="FF0000"/>
                </a:solidFill>
                <a:latin typeface="Calibri"/>
                <a:ea typeface="Calibri"/>
                <a:cs typeface="Calibri"/>
                <a:sym typeface="Calibri"/>
              </a:rPr>
              <a:t>GLAN</a:t>
            </a:r>
            <a:r>
              <a:rPr lang="en" sz="1300">
                <a:latin typeface="Calibri"/>
                <a:ea typeface="Calibri"/>
                <a:cs typeface="Calibri"/>
                <a:sym typeface="Calibri"/>
              </a:rPr>
              <a:t> - excels in multiple dimensions from mathematical reasoning, coding, academic exams, logical reasoning to general instruction following without using task-specific training data of these tasks. </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b="1">
                <a:solidFill>
                  <a:srgbClr val="FF0000"/>
                </a:solidFill>
                <a:latin typeface="Calibri"/>
                <a:ea typeface="Calibri"/>
                <a:cs typeface="Calibri"/>
                <a:sym typeface="Calibri"/>
              </a:rPr>
              <a:t>GLAN</a:t>
            </a:r>
            <a:r>
              <a:rPr lang="en" sz="1300">
                <a:latin typeface="Calibri"/>
                <a:ea typeface="Calibri"/>
                <a:cs typeface="Calibri"/>
                <a:sym typeface="Calibri"/>
              </a:rPr>
              <a:t> allows for easy customization and new fields or skills can be added by simply incorporating a new node into our taxonomy.</a:t>
            </a:r>
            <a:endParaRPr sz="1300">
              <a:latin typeface="Calibri"/>
              <a:ea typeface="Calibri"/>
              <a:cs typeface="Calibri"/>
              <a:sym typeface="Calibri"/>
            </a:endParaRPr>
          </a:p>
        </p:txBody>
      </p:sp>
      <p:pic>
        <p:nvPicPr>
          <p:cNvPr id="147" name="Google Shape;147;p23"/>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6669700" y="2831000"/>
            <a:ext cx="2375249" cy="2213449"/>
          </a:xfrm>
          <a:prstGeom prst="rect">
            <a:avLst/>
          </a:prstGeom>
          <a:noFill/>
          <a:ln w="9525" cap="flat" cmpd="sng">
            <a:solidFill>
              <a:srgbClr val="FF0000"/>
            </a:solidFill>
            <a:prstDash val="solid"/>
            <a:round/>
            <a:headEnd type="none" w="sm" len="sm"/>
            <a:tailEnd type="none" w="sm" len="sm"/>
          </a:ln>
        </p:spPr>
      </p:pic>
      <p:sp>
        <p:nvSpPr>
          <p:cNvPr id="148" name="Google Shape;148;p23"/>
          <p:cNvSpPr txBox="1"/>
          <p:nvPr/>
        </p:nvSpPr>
        <p:spPr>
          <a:xfrm>
            <a:off x="4581725" y="129550"/>
            <a:ext cx="4463100" cy="2542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India</a:t>
            </a:r>
            <a:r>
              <a:rPr lang="en" sz="1300">
                <a:solidFill>
                  <a:schemeClr val="dk1"/>
                </a:solidFill>
                <a:latin typeface="Calibri"/>
                <a:ea typeface="Calibri"/>
                <a:cs typeface="Calibri"/>
                <a:sym typeface="Calibri"/>
              </a:rPr>
              <a:t> now requires approval for certain AI deployments by the Ministry of Electronics and Information Technology (MeitY).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5"/>
              </a:rPr>
              <a:t>https://twitter.com/AravSrinivas/status/1764429686787252402</a:t>
            </a:r>
            <a:endParaRPr sz="10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US gov</a:t>
            </a:r>
            <a:r>
              <a:rPr lang="en" sz="1300">
                <a:solidFill>
                  <a:schemeClr val="dk1"/>
                </a:solidFill>
                <a:latin typeface="Calibri"/>
                <a:ea typeface="Calibri"/>
                <a:cs typeface="Calibri"/>
                <a:sym typeface="Calibri"/>
              </a:rPr>
              <a:t>: considering Federal AI Governance and Transparency Act</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u="sng">
                <a:solidFill>
                  <a:schemeClr val="accent5"/>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https://oversight.house.gov/release/comer-raskin-introduce-the-federal-ai-governance-and-transparency-act</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0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Europe</a:t>
            </a:r>
            <a:r>
              <a:rPr lang="en" sz="1300">
                <a:latin typeface="Calibri"/>
                <a:ea typeface="Calibri"/>
                <a:cs typeface="Calibri"/>
                <a:sym typeface="Calibri"/>
              </a:rPr>
              <a:t>: The EU AI Act was officially enacted on Dec 9, 2023 and is expected to go into effect in 2025.</a:t>
            </a:r>
            <a:endParaRPr sz="13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a:latin typeface="Calibri"/>
                <a:ea typeface="Calibri"/>
                <a:cs typeface="Calibri"/>
                <a:sym typeface="Calibri"/>
              </a:rPr>
              <a:t>.. </a:t>
            </a:r>
            <a:r>
              <a:rPr lang="en" sz="1000" u="sng">
                <a:solidFill>
                  <a:schemeClr val="hlink"/>
                </a:solidFill>
                <a:latin typeface="Calibri"/>
                <a:ea typeface="Calibri"/>
                <a:cs typeface="Calibri"/>
                <a:sym typeface="Calibri"/>
                <a:hlinkClick r:id="rId7"/>
              </a:rPr>
              <a:t>https://artificialintelligenceact.eu</a:t>
            </a:r>
            <a:r>
              <a:rPr lang="en" sz="1000">
                <a:latin typeface="Calibri"/>
                <a:ea typeface="Calibri"/>
                <a:cs typeface="Calibri"/>
                <a:sym typeface="Calibri"/>
              </a:rPr>
              <a:t> </a:t>
            </a:r>
            <a:endParaRPr sz="10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0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latin typeface="Calibri"/>
                <a:ea typeface="Calibri"/>
                <a:cs typeface="Calibri"/>
                <a:sym typeface="Calibri"/>
              </a:rPr>
              <a:t>Europe is leading in creating regulations. First was GDPR (2016 .. 2018), now the AI Act (2023-2025)</a:t>
            </a:r>
            <a:endParaRPr sz="1300">
              <a:latin typeface="Calibri"/>
              <a:ea typeface="Calibri"/>
              <a:cs typeface="Calibri"/>
              <a:sym typeface="Calibri"/>
            </a:endParaRPr>
          </a:p>
        </p:txBody>
      </p:sp>
      <p:sp>
        <p:nvSpPr>
          <p:cNvPr id="149" name="Google Shape;149;p23"/>
          <p:cNvSpPr txBox="1"/>
          <p:nvPr/>
        </p:nvSpPr>
        <p:spPr>
          <a:xfrm>
            <a:off x="5388225" y="3549175"/>
            <a:ext cx="1133100" cy="618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a:latin typeface="Calibri"/>
                <a:ea typeface="Calibri"/>
                <a:cs typeface="Calibri"/>
                <a:sym typeface="Calibri"/>
              </a:rPr>
              <a:t>Decline of Conventional Media </a:t>
            </a:r>
            <a:endParaRPr sz="1300">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4"/>
          <p:cNvSpPr txBox="1"/>
          <p:nvPr/>
        </p:nvSpPr>
        <p:spPr>
          <a:xfrm>
            <a:off x="72300" y="91425"/>
            <a:ext cx="30651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EU Artificial Intelligence Act</a:t>
            </a:r>
            <a:endParaRPr sz="2000" b="1" i="0" u="none" strike="noStrike" cap="none">
              <a:solidFill>
                <a:srgbClr val="000000"/>
              </a:solidFill>
              <a:latin typeface="Calibri"/>
              <a:ea typeface="Calibri"/>
              <a:cs typeface="Calibri"/>
              <a:sym typeface="Calibri"/>
            </a:endParaRPr>
          </a:p>
        </p:txBody>
      </p:sp>
      <p:sp>
        <p:nvSpPr>
          <p:cNvPr id="155" name="Google Shape;155;p24"/>
          <p:cNvSpPr txBox="1"/>
          <p:nvPr/>
        </p:nvSpPr>
        <p:spPr>
          <a:xfrm>
            <a:off x="72300" y="488200"/>
            <a:ext cx="4400100" cy="4220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EU Artificial Intelligence Act</a:t>
            </a:r>
            <a:r>
              <a:rPr lang="en" sz="1300">
                <a:latin typeface="Calibri"/>
                <a:ea typeface="Calibri"/>
                <a:cs typeface="Calibri"/>
                <a:sym typeface="Calibri"/>
              </a:rPr>
              <a:t> - Dec 2023</a:t>
            </a:r>
            <a:endParaRPr sz="13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latin typeface="Calibri"/>
                <a:ea typeface="Calibri"/>
                <a:cs typeface="Calibri"/>
                <a:sym typeface="Calibri"/>
              </a:rPr>
              <a:t>Regulates dev &amp; use of AI within European Union. </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latin typeface="Calibri"/>
                <a:ea typeface="Calibri"/>
                <a:cs typeface="Calibri"/>
                <a:sym typeface="Calibri"/>
              </a:rPr>
              <a:t>Goals: </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Safe, protect EU citizens</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Promote trust in AI</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Ensure ethics, respect fundamental rights</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Global standard (potentially influencing other countries)</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Foster innovation in AI in safe way</a:t>
            </a:r>
            <a:endParaRPr sz="13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latin typeface="Calibri"/>
                <a:ea typeface="Calibri"/>
                <a:cs typeface="Calibri"/>
                <a:sym typeface="Calibri"/>
              </a:rPr>
              <a:t>Risk-Based Approach - four categories of A! systems</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b="1">
                <a:solidFill>
                  <a:srgbClr val="FF0000"/>
                </a:solidFill>
                <a:latin typeface="Calibri"/>
                <a:ea typeface="Calibri"/>
                <a:cs typeface="Calibri"/>
                <a:sym typeface="Calibri"/>
              </a:rPr>
              <a:t>Unacceptable Risk</a:t>
            </a:r>
            <a:r>
              <a:rPr lang="en" sz="1300">
                <a:latin typeface="Calibri"/>
                <a:ea typeface="Calibri"/>
                <a:cs typeface="Calibri"/>
                <a:sym typeface="Calibri"/>
              </a:rPr>
              <a:t> - threat to safety, livelihoods, and rights.  Prohibited outright.</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b="1">
                <a:solidFill>
                  <a:srgbClr val="FF0000"/>
                </a:solidFill>
                <a:latin typeface="Calibri"/>
                <a:ea typeface="Calibri"/>
                <a:cs typeface="Calibri"/>
                <a:sym typeface="Calibri"/>
              </a:rPr>
              <a:t>High-Risk</a:t>
            </a:r>
            <a:r>
              <a:rPr lang="en" sz="1300">
                <a:latin typeface="Calibri"/>
                <a:ea typeface="Calibri"/>
                <a:cs typeface="Calibri"/>
                <a:sym typeface="Calibri"/>
              </a:rPr>
              <a:t> - significant potential for harm. Undergo strict assessments, must meet requirements for transparency, human oversight, accuracy, and robustness. Examples: AI in critical infrastructure, education, employment, and law enforcement.</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b="1">
                <a:solidFill>
                  <a:srgbClr val="FF0000"/>
                </a:solidFill>
                <a:latin typeface="Calibri"/>
                <a:ea typeface="Calibri"/>
                <a:cs typeface="Calibri"/>
                <a:sym typeface="Calibri"/>
              </a:rPr>
              <a:t>Limited Risk</a:t>
            </a:r>
            <a:r>
              <a:rPr lang="en" sz="1300">
                <a:latin typeface="Calibri"/>
                <a:ea typeface="Calibri"/>
                <a:cs typeface="Calibri"/>
                <a:sym typeface="Calibri"/>
              </a:rPr>
              <a:t> - specific transparency obligations: chatbots.</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b="1">
                <a:solidFill>
                  <a:srgbClr val="FF0000"/>
                </a:solidFill>
                <a:latin typeface="Calibri"/>
                <a:ea typeface="Calibri"/>
                <a:cs typeface="Calibri"/>
                <a:sym typeface="Calibri"/>
              </a:rPr>
              <a:t>Minimal Risk</a:t>
            </a:r>
            <a:r>
              <a:rPr lang="en" sz="1300">
                <a:latin typeface="Calibri"/>
                <a:ea typeface="Calibri"/>
                <a:cs typeface="Calibri"/>
                <a:sym typeface="Calibri"/>
              </a:rPr>
              <a:t> - the majority of AI systems fall here with no special restrictions (e.g., AI-based video games).</a:t>
            </a:r>
            <a:endParaRPr sz="1300">
              <a:latin typeface="Calibri"/>
              <a:ea typeface="Calibri"/>
              <a:cs typeface="Calibri"/>
              <a:sym typeface="Calibri"/>
            </a:endParaRPr>
          </a:p>
        </p:txBody>
      </p:sp>
      <p:sp>
        <p:nvSpPr>
          <p:cNvPr id="156" name="Google Shape;156;p24"/>
          <p:cNvSpPr txBox="1"/>
          <p:nvPr/>
        </p:nvSpPr>
        <p:spPr>
          <a:xfrm>
            <a:off x="4650150" y="488200"/>
            <a:ext cx="4400100" cy="3020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Prohibited AI Practices:</a:t>
            </a:r>
            <a:endParaRPr sz="1300" b="1">
              <a:solidFill>
                <a:srgbClr val="FF0000"/>
              </a:solidFill>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Social scoring systems used by governments.</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Use of AI for real-time remote biometric identification in public spaces for law enforcement purposes (with specific exceptions).</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AI that exploit vulnerabilities of individuals or groups.</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Obligations for High-Risk Systems</a:t>
            </a:r>
            <a:endParaRPr sz="1300" b="1">
              <a:solidFill>
                <a:srgbClr val="FF0000"/>
              </a:solidFill>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Must undergo assessments before being put into use.</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Requirements for high-quality datasets to minimize risks of bias/discrimination.</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Robustness, accuracy, and cybersecurity safeguards.</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Traceability and record-keeping for results generated.</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Appropriate human oversight mechanisms.</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Clear user instructions and information.</a:t>
            </a:r>
            <a:endParaRPr sz="1300">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5"/>
          <p:cNvSpPr txBox="1"/>
          <p:nvPr/>
        </p:nvSpPr>
        <p:spPr>
          <a:xfrm>
            <a:off x="72300" y="91425"/>
            <a:ext cx="9870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Misc 2</a:t>
            </a:r>
            <a:endParaRPr sz="2000" b="1" i="0" u="none" strike="noStrike" cap="none">
              <a:solidFill>
                <a:srgbClr val="000000"/>
              </a:solidFill>
              <a:latin typeface="Calibri"/>
              <a:ea typeface="Calibri"/>
              <a:cs typeface="Calibri"/>
              <a:sym typeface="Calibri"/>
            </a:endParaRPr>
          </a:p>
        </p:txBody>
      </p:sp>
      <p:sp>
        <p:nvSpPr>
          <p:cNvPr id="162" name="Google Shape;162;p25"/>
          <p:cNvSpPr txBox="1"/>
          <p:nvPr/>
        </p:nvSpPr>
        <p:spPr>
          <a:xfrm>
            <a:off x="72300" y="2385456"/>
            <a:ext cx="3592800" cy="1185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Text Humanizers</a:t>
            </a:r>
            <a:r>
              <a:rPr lang="en" sz="1300">
                <a:latin typeface="Calibri"/>
                <a:ea typeface="Calibri"/>
                <a:cs typeface="Calibri"/>
                <a:sym typeface="Calibri"/>
              </a:rPr>
              <a:t>:</a:t>
            </a:r>
            <a:endParaRPr sz="1300">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3"/>
              </a:rPr>
              <a:t>https://humbot.ai</a:t>
            </a:r>
            <a:r>
              <a:rPr lang="en" sz="1300">
                <a:latin typeface="Calibri"/>
                <a:ea typeface="Calibri"/>
                <a:cs typeface="Calibri"/>
                <a:sym typeface="Calibri"/>
              </a:rPr>
              <a:t> - humanize AI text into authentic and original content undetectable by most AI content detectors</a:t>
            </a:r>
            <a:endParaRPr sz="1300">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4"/>
              </a:rPr>
              <a:t>https://undetectableai.ai</a:t>
            </a:r>
            <a:r>
              <a:rPr lang="en" sz="1300">
                <a:latin typeface="Calibri"/>
                <a:ea typeface="Calibri"/>
                <a:cs typeface="Calibri"/>
                <a:sym typeface="Calibri"/>
              </a:rPr>
              <a:t> - ...</a:t>
            </a:r>
            <a:endParaRPr sz="1300">
              <a:latin typeface="Calibri"/>
              <a:ea typeface="Calibri"/>
              <a:cs typeface="Calibri"/>
              <a:sym typeface="Calibri"/>
            </a:endParaRPr>
          </a:p>
        </p:txBody>
      </p:sp>
      <p:sp>
        <p:nvSpPr>
          <p:cNvPr id="163" name="Google Shape;163;p25"/>
          <p:cNvSpPr txBox="1"/>
          <p:nvPr/>
        </p:nvSpPr>
        <p:spPr>
          <a:xfrm>
            <a:off x="72300" y="541550"/>
            <a:ext cx="3592800" cy="1785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AI content detectors</a:t>
            </a:r>
            <a:r>
              <a:rPr lang="en" sz="1300">
                <a:latin typeface="Calibri"/>
                <a:ea typeface="Calibri"/>
                <a:cs typeface="Calibri"/>
                <a:sym typeface="Calibri"/>
              </a:rPr>
              <a:t>:</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u="sng">
                <a:solidFill>
                  <a:schemeClr val="hlink"/>
                </a:solidFill>
                <a:latin typeface="Calibri"/>
                <a:ea typeface="Calibri"/>
                <a:cs typeface="Calibri"/>
                <a:sym typeface="Calibri"/>
                <a:hlinkClick r:id="rId5"/>
              </a:rPr>
              <a:t>https://originality.ai</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u="sng">
                <a:solidFill>
                  <a:schemeClr val="hlink"/>
                </a:solidFill>
                <a:latin typeface="Calibri"/>
                <a:ea typeface="Calibri"/>
                <a:cs typeface="Calibri"/>
                <a:sym typeface="Calibri"/>
                <a:hlinkClick r:id="rId6"/>
              </a:rPr>
              <a:t>https://www.zerogpt.com</a:t>
            </a:r>
            <a:r>
              <a:rPr lang="en" sz="1300">
                <a:latin typeface="Calibri"/>
                <a:ea typeface="Calibri"/>
                <a:cs typeface="Calibri"/>
                <a:sym typeface="Calibri"/>
              </a:rPr>
              <a:t> </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u="sng">
                <a:solidFill>
                  <a:schemeClr val="hlink"/>
                </a:solidFill>
                <a:latin typeface="Calibri"/>
                <a:ea typeface="Calibri"/>
                <a:cs typeface="Calibri"/>
                <a:sym typeface="Calibri"/>
                <a:hlinkClick r:id="rId7"/>
              </a:rPr>
              <a:t>https://contentatscale.ai</a:t>
            </a:r>
            <a:r>
              <a:rPr lang="en" sz="1300">
                <a:latin typeface="Calibri"/>
                <a:ea typeface="Calibri"/>
                <a:cs typeface="Calibri"/>
                <a:sym typeface="Calibri"/>
              </a:rPr>
              <a:t> </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u="sng">
                <a:solidFill>
                  <a:schemeClr val="hlink"/>
                </a:solidFill>
                <a:latin typeface="Calibri"/>
                <a:ea typeface="Calibri"/>
                <a:cs typeface="Calibri"/>
                <a:sym typeface="Calibri"/>
                <a:hlinkClick r:id="rId8"/>
              </a:rPr>
              <a:t>https://gowinston.ai</a:t>
            </a:r>
            <a:r>
              <a:rPr lang="en" sz="1300">
                <a:latin typeface="Calibri"/>
                <a:ea typeface="Calibri"/>
                <a:cs typeface="Calibri"/>
                <a:sym typeface="Calibri"/>
              </a:rPr>
              <a:t> </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u="sng">
                <a:solidFill>
                  <a:schemeClr val="hlink"/>
                </a:solidFill>
                <a:latin typeface="Calibri"/>
                <a:ea typeface="Calibri"/>
                <a:cs typeface="Calibri"/>
                <a:sym typeface="Calibri"/>
                <a:hlinkClick r:id="rId9"/>
              </a:rPr>
              <a:t>https://copyleaks.com</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u="sng">
                <a:solidFill>
                  <a:schemeClr val="hlink"/>
                </a:solidFill>
                <a:latin typeface="Calibri"/>
                <a:ea typeface="Calibri"/>
                <a:cs typeface="Calibri"/>
                <a:sym typeface="Calibri"/>
                <a:hlinkClick r:id="rId10"/>
              </a:rPr>
              <a:t>https://www.turnitin.com</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u="sng">
                <a:solidFill>
                  <a:schemeClr val="hlink"/>
                </a:solidFill>
                <a:latin typeface="Calibri"/>
                <a:ea typeface="Calibri"/>
                <a:cs typeface="Calibri"/>
                <a:sym typeface="Calibri"/>
                <a:hlinkClick r:id="rId11"/>
              </a:rPr>
              <a:t>https://gptzero.me</a:t>
            </a:r>
            <a:r>
              <a:rPr lang="en" sz="1300">
                <a:latin typeface="Calibri"/>
                <a:ea typeface="Calibri"/>
                <a:cs typeface="Calibri"/>
                <a:sym typeface="Calibri"/>
              </a:rPr>
              <a:t> </a:t>
            </a:r>
            <a:endParaRPr sz="1300">
              <a:latin typeface="Calibri"/>
              <a:ea typeface="Calibri"/>
              <a:cs typeface="Calibri"/>
              <a:sym typeface="Calibri"/>
            </a:endParaRPr>
          </a:p>
        </p:txBody>
      </p:sp>
      <p:sp>
        <p:nvSpPr>
          <p:cNvPr id="164" name="Google Shape;164;p25"/>
          <p:cNvSpPr txBox="1"/>
          <p:nvPr/>
        </p:nvSpPr>
        <p:spPr>
          <a:xfrm>
            <a:off x="72300" y="3653400"/>
            <a:ext cx="3592800" cy="58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HyperAttention</a:t>
            </a:r>
            <a:r>
              <a:rPr lang="en" sz="1300">
                <a:latin typeface="Calibri"/>
                <a:ea typeface="Calibri"/>
                <a:cs typeface="Calibri"/>
                <a:sym typeface="Calibri"/>
              </a:rPr>
              <a:t>: Long-context Attention in Near-Linear Time - </a:t>
            </a:r>
            <a:r>
              <a:rPr lang="en" sz="1000" u="sng">
                <a:solidFill>
                  <a:schemeClr val="hlink"/>
                </a:solidFill>
                <a:latin typeface="Calibri"/>
                <a:ea typeface="Calibri"/>
                <a:cs typeface="Calibri"/>
                <a:sym typeface="Calibri"/>
                <a:hlinkClick r:id="rId12"/>
              </a:rPr>
              <a:t>https://arxiv.org/abs/2310.05869</a:t>
            </a:r>
            <a:r>
              <a:rPr lang="en" sz="1300">
                <a:latin typeface="Calibri"/>
                <a:ea typeface="Calibri"/>
                <a:cs typeface="Calibri"/>
                <a:sym typeface="Calibri"/>
              </a:rPr>
              <a:t> </a:t>
            </a:r>
            <a:endParaRPr sz="1300">
              <a:latin typeface="Calibri"/>
              <a:ea typeface="Calibri"/>
              <a:cs typeface="Calibri"/>
              <a:sym typeface="Calibri"/>
            </a:endParaRPr>
          </a:p>
        </p:txBody>
      </p:sp>
      <p:sp>
        <p:nvSpPr>
          <p:cNvPr id="165" name="Google Shape;165;p25"/>
          <p:cNvSpPr txBox="1"/>
          <p:nvPr/>
        </p:nvSpPr>
        <p:spPr>
          <a:xfrm>
            <a:off x="4363450" y="541550"/>
            <a:ext cx="4609500" cy="1785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Single Image =&gt; 3D</a:t>
            </a:r>
            <a:r>
              <a:rPr lang="en" sz="1300">
                <a:latin typeface="Calibri"/>
                <a:ea typeface="Calibri"/>
                <a:cs typeface="Calibri"/>
                <a:sym typeface="Calibri"/>
              </a:rPr>
              <a:t> </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in less than a second without GPU</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open source</a:t>
            </a:r>
            <a:endParaRPr sz="1300">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Tripo3d.AI + Stability.AI</a:t>
            </a:r>
            <a:endParaRPr sz="1300" b="1">
              <a:solidFill>
                <a:srgbClr val="FF0000"/>
              </a:solidFill>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13"/>
              </a:rPr>
              <a:t>https://www.tripo3d.ai</a:t>
            </a:r>
            <a:r>
              <a:rPr lang="en" sz="1300">
                <a:latin typeface="Calibri"/>
                <a:ea typeface="Calibri"/>
                <a:cs typeface="Calibri"/>
                <a:sym typeface="Calibri"/>
              </a:rPr>
              <a:t> - generate 3d images from photos in under a second.</a:t>
            </a:r>
            <a:endParaRPr sz="1300">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14"/>
              </a:rPr>
              <a:t>https://arxiv.org/abs/2311.04400</a:t>
            </a:r>
            <a:r>
              <a:rPr lang="en" sz="1300">
                <a:latin typeface="Calibri"/>
                <a:ea typeface="Calibri"/>
                <a:cs typeface="Calibri"/>
                <a:sym typeface="Calibri"/>
              </a:rPr>
              <a:t> </a:t>
            </a:r>
            <a:endParaRPr sz="1300">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15"/>
              </a:rPr>
              <a:t>https://stability.ai/news/triposr-3d-generation</a:t>
            </a:r>
            <a:r>
              <a:rPr lang="en" sz="1300">
                <a:latin typeface="Calibri"/>
                <a:ea typeface="Calibri"/>
                <a:cs typeface="Calibri"/>
                <a:sym typeface="Calibri"/>
              </a:rPr>
              <a:t> </a:t>
            </a:r>
            <a:endParaRPr sz="1300">
              <a:latin typeface="Calibri"/>
              <a:ea typeface="Calibri"/>
              <a:cs typeface="Calibri"/>
              <a:sym typeface="Calibri"/>
            </a:endParaRPr>
          </a:p>
        </p:txBody>
      </p:sp>
      <p:sp>
        <p:nvSpPr>
          <p:cNvPr id="166" name="Google Shape;166;p25"/>
          <p:cNvSpPr txBox="1"/>
          <p:nvPr/>
        </p:nvSpPr>
        <p:spPr>
          <a:xfrm>
            <a:off x="72300" y="4314600"/>
            <a:ext cx="3592800" cy="58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Google Cloud Next'24</a:t>
            </a:r>
            <a:r>
              <a:rPr lang="en" sz="1300">
                <a:latin typeface="Calibri"/>
                <a:ea typeface="Calibri"/>
                <a:cs typeface="Calibri"/>
                <a:sym typeface="Calibri"/>
              </a:rPr>
              <a:t>: global exhibition</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Apr. 9-11, 2024 in Las Vegas</a:t>
            </a:r>
            <a:endParaRPr sz="1300">
              <a:latin typeface="Calibri"/>
              <a:ea typeface="Calibri"/>
              <a:cs typeface="Calibri"/>
              <a:sym typeface="Calibri"/>
            </a:endParaRPr>
          </a:p>
        </p:txBody>
      </p:sp>
      <p:sp>
        <p:nvSpPr>
          <p:cNvPr id="167" name="Google Shape;167;p25"/>
          <p:cNvSpPr txBox="1"/>
          <p:nvPr/>
        </p:nvSpPr>
        <p:spPr>
          <a:xfrm>
            <a:off x="4363450" y="2385450"/>
            <a:ext cx="4609500" cy="538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Stable Diffusion 3</a:t>
            </a:r>
            <a:r>
              <a:rPr lang="en" sz="1300">
                <a:latin typeface="Calibri"/>
                <a:ea typeface="Calibri"/>
                <a:cs typeface="Calibri"/>
                <a:sym typeface="Calibri"/>
              </a:rPr>
              <a:t>: Research Paper</a:t>
            </a:r>
            <a:endParaRPr sz="1300">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16"/>
              </a:rPr>
              <a:t>https://stability.ai/news/stable-diffusion-3-research-paper</a:t>
            </a:r>
            <a:r>
              <a:rPr lang="en" sz="1000">
                <a:latin typeface="Calibri"/>
                <a:ea typeface="Calibri"/>
                <a:cs typeface="Calibri"/>
                <a:sym typeface="Calibri"/>
              </a:rPr>
              <a:t> </a:t>
            </a:r>
            <a:endParaRPr sz="1000">
              <a:latin typeface="Calibri"/>
              <a:ea typeface="Calibri"/>
              <a:cs typeface="Calibri"/>
              <a:sym typeface="Calibri"/>
            </a:endParaRPr>
          </a:p>
        </p:txBody>
      </p:sp>
      <p:sp>
        <p:nvSpPr>
          <p:cNvPr id="168" name="Google Shape;168;p25"/>
          <p:cNvSpPr txBox="1"/>
          <p:nvPr/>
        </p:nvSpPr>
        <p:spPr>
          <a:xfrm>
            <a:off x="4363450" y="3031950"/>
            <a:ext cx="4609500" cy="58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VTG-GPT</a:t>
            </a:r>
            <a:r>
              <a:rPr lang="en" sz="1300">
                <a:latin typeface="Calibri"/>
                <a:ea typeface="Calibri"/>
                <a:cs typeface="Calibri"/>
                <a:sym typeface="Calibri"/>
              </a:rPr>
              <a:t> - find specific segments in videos using natural language queries - </a:t>
            </a:r>
            <a:r>
              <a:rPr lang="en" sz="1000" u="sng">
                <a:solidFill>
                  <a:schemeClr val="hlink"/>
                </a:solidFill>
                <a:latin typeface="Calibri"/>
                <a:ea typeface="Calibri"/>
                <a:cs typeface="Calibri"/>
                <a:sym typeface="Calibri"/>
                <a:hlinkClick r:id="rId17"/>
              </a:rPr>
              <a:t>https://github.com/YoucanBaby/VTG-GPT</a:t>
            </a:r>
            <a:r>
              <a:rPr lang="en" sz="1000">
                <a:latin typeface="Calibri"/>
                <a:ea typeface="Calibri"/>
                <a:cs typeface="Calibri"/>
                <a:sym typeface="Calibri"/>
              </a:rPr>
              <a:t> </a:t>
            </a:r>
            <a:endParaRPr sz="1000">
              <a:latin typeface="Calibri"/>
              <a:ea typeface="Calibri"/>
              <a:cs typeface="Calibri"/>
              <a:sym typeface="Calibri"/>
            </a:endParaRPr>
          </a:p>
        </p:txBody>
      </p:sp>
      <p:sp>
        <p:nvSpPr>
          <p:cNvPr id="169" name="Google Shape;169;p25"/>
          <p:cNvSpPr txBox="1"/>
          <p:nvPr/>
        </p:nvSpPr>
        <p:spPr>
          <a:xfrm>
            <a:off x="4363450" y="3724650"/>
            <a:ext cx="4609500" cy="1092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18"/>
              </a:rPr>
              <a:t>https://www.ema.co</a:t>
            </a:r>
            <a:r>
              <a:rPr lang="en" sz="1300">
                <a:latin typeface="Calibri"/>
                <a:ea typeface="Calibri"/>
                <a:cs typeface="Calibri"/>
                <a:sym typeface="Calibri"/>
              </a:rPr>
              <a:t> - startup received $25 Mln.</a:t>
            </a:r>
            <a:br>
              <a:rPr lang="en" sz="1300">
                <a:latin typeface="Calibri"/>
                <a:ea typeface="Calibri"/>
                <a:cs typeface="Calibri"/>
                <a:sym typeface="Calibri"/>
              </a:rPr>
            </a:br>
            <a:r>
              <a:rPr lang="en" sz="1300" b="1">
                <a:solidFill>
                  <a:srgbClr val="FF0000"/>
                </a:solidFill>
                <a:latin typeface="Calibri"/>
                <a:ea typeface="Calibri"/>
                <a:cs typeface="Calibri"/>
                <a:sym typeface="Calibri"/>
              </a:rPr>
              <a:t>Ema is an Universal AI employee</a:t>
            </a:r>
            <a:r>
              <a:rPr lang="en" sz="1300">
                <a:latin typeface="Calibri"/>
                <a:ea typeface="Calibri"/>
                <a:cs typeface="Calibri"/>
                <a:sym typeface="Calibri"/>
              </a:rPr>
              <a:t>; using multiple LLMs to do common office tasks; simple to use, trusted and accurate.</a:t>
            </a:r>
            <a:br>
              <a:rPr lang="en" sz="1300">
                <a:latin typeface="Calibri"/>
                <a:ea typeface="Calibri"/>
                <a:cs typeface="Calibri"/>
                <a:sym typeface="Calibri"/>
              </a:rPr>
            </a:br>
            <a:r>
              <a:rPr lang="en" sz="1000" u="sng">
                <a:solidFill>
                  <a:schemeClr val="hlink"/>
                </a:solidFill>
                <a:latin typeface="Calibri"/>
                <a:ea typeface="Calibri"/>
                <a:cs typeface="Calibri"/>
                <a:sym typeface="Calibri"/>
                <a:hlinkClick r:id="rId19"/>
              </a:rPr>
              <a:t>https://techcrunch.com/2024/03/05/ema-a-universal-ai-employee-emerges-from-stealth-with-25m/</a:t>
            </a:r>
            <a:r>
              <a:rPr lang="en" sz="1000">
                <a:latin typeface="Calibri"/>
                <a:ea typeface="Calibri"/>
                <a:cs typeface="Calibri"/>
                <a:sym typeface="Calibri"/>
              </a:rPr>
              <a:t> </a:t>
            </a:r>
            <a:endParaRPr sz="700">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6"/>
          <p:cNvSpPr txBox="1"/>
          <p:nvPr/>
        </p:nvSpPr>
        <p:spPr>
          <a:xfrm>
            <a:off x="72300" y="91425"/>
            <a:ext cx="9870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Misc 3</a:t>
            </a:r>
            <a:endParaRPr sz="2000" b="1" i="0" u="none" strike="noStrike" cap="none">
              <a:solidFill>
                <a:srgbClr val="000000"/>
              </a:solidFill>
              <a:latin typeface="Calibri"/>
              <a:ea typeface="Calibri"/>
              <a:cs typeface="Calibri"/>
              <a:sym typeface="Calibri"/>
            </a:endParaRPr>
          </a:p>
        </p:txBody>
      </p:sp>
      <p:sp>
        <p:nvSpPr>
          <p:cNvPr id="175" name="Google Shape;175;p26"/>
          <p:cNvSpPr txBox="1"/>
          <p:nvPr/>
        </p:nvSpPr>
        <p:spPr>
          <a:xfrm>
            <a:off x="72300" y="541550"/>
            <a:ext cx="4374600" cy="1185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Lawsuit: Microsoft vs The New York Times:</a:t>
            </a:r>
            <a:endParaRPr sz="1300" b="1">
              <a:solidFill>
                <a:srgbClr val="FF0000"/>
              </a:solidFill>
              <a:latin typeface="Calibri"/>
              <a:ea typeface="Calibri"/>
              <a:cs typeface="Calibri"/>
              <a:sym typeface="Calibri"/>
            </a:endParaRPr>
          </a:p>
          <a:p>
            <a:pPr marL="0" lvl="0" indent="0" algn="l" rtl="0">
              <a:spcBef>
                <a:spcPts val="0"/>
              </a:spcBef>
              <a:spcAft>
                <a:spcPts val="0"/>
              </a:spcAft>
              <a:buNone/>
            </a:pPr>
            <a:r>
              <a:rPr lang="en" sz="1300">
                <a:solidFill>
                  <a:srgbClr val="3C78D8"/>
                </a:solidFill>
                <a:latin typeface="Calibri"/>
                <a:ea typeface="Calibri"/>
                <a:cs typeface="Calibri"/>
                <a:sym typeface="Calibri"/>
              </a:rPr>
              <a:t>drawing parallels between using LLMs and VCRs (Video Cassette Recorder). </a:t>
            </a:r>
            <a:r>
              <a:rPr lang="en" sz="1300">
                <a:solidFill>
                  <a:schemeClr val="dk1"/>
                </a:solidFill>
                <a:latin typeface="Calibri"/>
                <a:ea typeface="Calibri"/>
                <a:cs typeface="Calibri"/>
                <a:sym typeface="Calibri"/>
              </a:rPr>
              <a:t>The precedent: </a:t>
            </a:r>
            <a:r>
              <a:rPr lang="en" sz="1300">
                <a:solidFill>
                  <a:srgbClr val="6AA84F"/>
                </a:solidFill>
                <a:latin typeface="Calibri"/>
                <a:ea typeface="Calibri"/>
                <a:cs typeface="Calibri"/>
                <a:sym typeface="Calibri"/>
              </a:rPr>
              <a:t>"technologies capable of copyright infringement have been deemed legal if they also have substantial lawful uses"</a:t>
            </a:r>
            <a:endParaRPr sz="1300">
              <a:solidFill>
                <a:srgbClr val="6AA84F"/>
              </a:solidFill>
              <a:latin typeface="Calibri"/>
              <a:ea typeface="Calibri"/>
              <a:cs typeface="Calibri"/>
              <a:sym typeface="Calibri"/>
            </a:endParaRPr>
          </a:p>
        </p:txBody>
      </p:sp>
      <p:sp>
        <p:nvSpPr>
          <p:cNvPr id="176" name="Google Shape;176;p26"/>
          <p:cNvSpPr txBox="1"/>
          <p:nvPr/>
        </p:nvSpPr>
        <p:spPr>
          <a:xfrm>
            <a:off x="72300" y="1850575"/>
            <a:ext cx="4374600" cy="939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Snowflake Cortex</a:t>
            </a:r>
            <a:r>
              <a:rPr lang="en" sz="1300">
                <a:solidFill>
                  <a:schemeClr val="dk1"/>
                </a:solidFill>
                <a:latin typeface="Calibri"/>
                <a:ea typeface="Calibri"/>
                <a:cs typeface="Calibri"/>
                <a:sym typeface="Calibri"/>
              </a:rPr>
              <a:t> now uses </a:t>
            </a:r>
            <a:r>
              <a:rPr lang="en" sz="1300" b="1">
                <a:solidFill>
                  <a:srgbClr val="FF0000"/>
                </a:solidFill>
                <a:latin typeface="Calibri"/>
                <a:ea typeface="Calibri"/>
                <a:cs typeface="Calibri"/>
                <a:sym typeface="Calibri"/>
              </a:rPr>
              <a:t>Mistral Large</a:t>
            </a:r>
            <a:r>
              <a:rPr lang="en" sz="1300">
                <a:solidFill>
                  <a:schemeClr val="dk1"/>
                </a:solidFill>
                <a:latin typeface="Calibri"/>
                <a:ea typeface="Calibri"/>
                <a:cs typeface="Calibri"/>
                <a:sym typeface="Calibri"/>
              </a:rPr>
              <a:t> LLM to analyze text data and build AI applications (including RAG, vector search - using Python, serverless functions, Streamlit, data pipelines).</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3"/>
              </a:rPr>
              <a:t>https://www.snowflake.com/en/data-cloud/cortex/</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177" name="Google Shape;177;p26"/>
          <p:cNvSpPr txBox="1"/>
          <p:nvPr/>
        </p:nvSpPr>
        <p:spPr>
          <a:xfrm>
            <a:off x="72300" y="2913300"/>
            <a:ext cx="4374600" cy="73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Inflection 2.5</a:t>
            </a:r>
            <a:r>
              <a:rPr lang="en" sz="1300">
                <a:solidFill>
                  <a:schemeClr val="dk1"/>
                </a:solidFill>
                <a:latin typeface="Calibri"/>
                <a:ea typeface="Calibri"/>
                <a:cs typeface="Calibri"/>
                <a:sym typeface="Calibri"/>
              </a:rPr>
              <a:t> - available to all Pi users. Approaches GPT-4, </a:t>
            </a:r>
            <a:br>
              <a:rPr lang="en" sz="1300">
                <a:solidFill>
                  <a:schemeClr val="dk1"/>
                </a:solidFill>
                <a:latin typeface="Calibri"/>
                <a:ea typeface="Calibri"/>
                <a:cs typeface="Calibri"/>
                <a:sym typeface="Calibri"/>
              </a:rPr>
            </a:br>
            <a:r>
              <a:rPr lang="en" sz="1300">
                <a:solidFill>
                  <a:schemeClr val="dk1"/>
                </a:solidFill>
                <a:latin typeface="Calibri"/>
                <a:ea typeface="Calibri"/>
                <a:cs typeface="Calibri"/>
                <a:sym typeface="Calibri"/>
              </a:rPr>
              <a:t>Pi now also has world-class real-time web search capabilities</a:t>
            </a:r>
            <a:br>
              <a:rPr lang="en" sz="1300">
                <a:solidFill>
                  <a:schemeClr val="dk1"/>
                </a:solidFill>
                <a:latin typeface="Calibri"/>
                <a:ea typeface="Calibri"/>
                <a:cs typeface="Calibri"/>
                <a:sym typeface="Calibri"/>
              </a:rPr>
            </a:br>
            <a:r>
              <a:rPr lang="en" sz="1000" u="sng">
                <a:solidFill>
                  <a:schemeClr val="hlink"/>
                </a:solidFill>
                <a:latin typeface="Calibri"/>
                <a:ea typeface="Calibri"/>
                <a:cs typeface="Calibri"/>
                <a:sym typeface="Calibri"/>
                <a:hlinkClick r:id="rId4"/>
              </a:rPr>
              <a:t>https://inflection.ai/inflection-2-5</a:t>
            </a:r>
            <a:endParaRPr sz="7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7"/>
          <p:cNvSpPr txBox="1"/>
          <p:nvPr/>
        </p:nvSpPr>
        <p:spPr>
          <a:xfrm>
            <a:off x="72300" y="91425"/>
            <a:ext cx="32646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Amazon Rufus Chatbot</a:t>
            </a:r>
            <a:endParaRPr sz="2000" b="1" i="0" u="none" strike="noStrike" cap="none">
              <a:solidFill>
                <a:srgbClr val="000000"/>
              </a:solidFill>
              <a:latin typeface="Calibri"/>
              <a:ea typeface="Calibri"/>
              <a:cs typeface="Calibri"/>
              <a:sym typeface="Calibri"/>
            </a:endParaRPr>
          </a:p>
        </p:txBody>
      </p:sp>
      <p:sp>
        <p:nvSpPr>
          <p:cNvPr id="183" name="Google Shape;183;p27"/>
          <p:cNvSpPr txBox="1"/>
          <p:nvPr/>
        </p:nvSpPr>
        <p:spPr>
          <a:xfrm>
            <a:off x="72300" y="555150"/>
            <a:ext cx="4380600" cy="1785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Amazon Rufus Chatbot - AI powered, inside Amazon Shopping app for Android and iOS, started rolling out in February</a:t>
            </a:r>
            <a:endParaRPr sz="1300">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3"/>
              </a:rPr>
              <a:t>https://techcrunch.com/2024/03/05/amazons-new-rufus-chatbot-isnt-bad-but-it-isnt-great-either/</a:t>
            </a:r>
            <a:r>
              <a:rPr lang="en" sz="1300">
                <a:latin typeface="Calibri"/>
                <a:ea typeface="Calibri"/>
                <a:cs typeface="Calibri"/>
                <a:sym typeface="Calibri"/>
              </a:rPr>
              <a:t> </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Open Rufus by swiping up from the bottom of the screen in amazon catalog, or by tapping on the search bar &gt;&gt; "Ask a question" section.  You can type or speak your questions.</a:t>
            </a:r>
            <a:endParaRPr sz="1300">
              <a:latin typeface="Calibri"/>
              <a:ea typeface="Calibri"/>
              <a:cs typeface="Calibri"/>
              <a:sym typeface="Calibri"/>
            </a:endParaRPr>
          </a:p>
        </p:txBody>
      </p:sp>
      <p:pic>
        <p:nvPicPr>
          <p:cNvPr id="184" name="Google Shape;184;p2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248400" y="152399"/>
            <a:ext cx="2178361" cy="4838702"/>
          </a:xfrm>
          <a:prstGeom prst="rect">
            <a:avLst/>
          </a:prstGeom>
          <a:noFill/>
          <a:ln>
            <a:solidFill>
              <a:srgbClr val="FF0000"/>
            </a:solid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9"/>
          <p:cNvSpPr txBox="1"/>
          <p:nvPr/>
        </p:nvSpPr>
        <p:spPr>
          <a:xfrm>
            <a:off x="72300" y="0"/>
            <a:ext cx="4133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Amara's Law</a:t>
            </a:r>
            <a:endParaRPr sz="2000" b="1" i="0" u="none" strike="noStrike" cap="none">
              <a:solidFill>
                <a:srgbClr val="000000"/>
              </a:solidFill>
              <a:latin typeface="Calibri"/>
              <a:ea typeface="Calibri"/>
              <a:cs typeface="Calibri"/>
              <a:sym typeface="Calibri"/>
            </a:endParaRPr>
          </a:p>
        </p:txBody>
      </p:sp>
      <p:sp>
        <p:nvSpPr>
          <p:cNvPr id="199" name="Google Shape;199;p29"/>
          <p:cNvSpPr txBox="1"/>
          <p:nvPr/>
        </p:nvSpPr>
        <p:spPr>
          <a:xfrm>
            <a:off x="72300" y="397425"/>
            <a:ext cx="4381500" cy="357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100">
                <a:latin typeface="Calibri"/>
                <a:ea typeface="Calibri"/>
                <a:cs typeface="Calibri"/>
                <a:sym typeface="Calibri"/>
              </a:rPr>
              <a:t>Amara's Law:</a:t>
            </a:r>
            <a:endParaRPr sz="11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100">
                <a:latin typeface="Calibri"/>
                <a:ea typeface="Calibri"/>
                <a:cs typeface="Calibri"/>
                <a:sym typeface="Calibri"/>
              </a:rPr>
              <a:t>The Concept: We are prone to overestimating the impact of new technologies in the short term but underestimating their profound effects in the long run.</a:t>
            </a:r>
            <a:endParaRPr sz="11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100">
                <a:latin typeface="Calibri"/>
                <a:ea typeface="Calibri"/>
                <a:cs typeface="Calibri"/>
                <a:sym typeface="Calibri"/>
              </a:rPr>
              <a:t>Origin: Named after Roy Amara, a computer scientist, futurist, and former president of the Institute for the Future.</a:t>
            </a:r>
            <a:endParaRPr sz="11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100">
                <a:latin typeface="Calibri"/>
                <a:ea typeface="Calibri"/>
                <a:cs typeface="Calibri"/>
                <a:sym typeface="Calibri"/>
              </a:rPr>
              <a:t>Examples:</a:t>
            </a:r>
            <a:endParaRPr sz="11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100">
                <a:latin typeface="Calibri"/>
                <a:ea typeface="Calibri"/>
                <a:cs typeface="Calibri"/>
                <a:sym typeface="Calibri"/>
              </a:rPr>
              <a:t>Artificial Intelligence: In its early stages, AI hype can lead to unrealistic expectations. However, its gradual integration into various fields is fundamentally changing how we do things.</a:t>
            </a:r>
            <a:endParaRPr sz="11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100">
                <a:latin typeface="Calibri"/>
                <a:ea typeface="Calibri"/>
                <a:cs typeface="Calibri"/>
                <a:sym typeface="Calibri"/>
              </a:rPr>
              <a:t>The Internet: In the early days of the internet, predictions were overly optimistic. Over time, though, the internet has revolutionized communication, commerce, and access to information.</a:t>
            </a:r>
            <a:endParaRPr sz="11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100">
                <a:latin typeface="Calibri"/>
                <a:ea typeface="Calibri"/>
                <a:cs typeface="Calibri"/>
                <a:sym typeface="Calibri"/>
              </a:rPr>
              <a:t>Why it Matters:</a:t>
            </a:r>
            <a:endParaRPr sz="11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100">
                <a:latin typeface="Calibri"/>
                <a:ea typeface="Calibri"/>
                <a:cs typeface="Calibri"/>
                <a:sym typeface="Calibri"/>
              </a:rPr>
              <a:t>Amara's Law reminds us to be patient with emerging technologies.  The real transformative power may take years or even decades to fully manifest.</a:t>
            </a:r>
            <a:endParaRPr sz="1100">
              <a:latin typeface="Calibri"/>
              <a:ea typeface="Calibri"/>
              <a:cs typeface="Calibri"/>
              <a:sym typeface="Calibri"/>
            </a:endParaRPr>
          </a:p>
        </p:txBody>
      </p:sp>
      <p:pic>
        <p:nvPicPr>
          <p:cNvPr id="200" name="Google Shape;200;p29"/>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572000" y="397425"/>
            <a:ext cx="4385400" cy="274259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0"/>
          <p:cNvSpPr txBox="1"/>
          <p:nvPr/>
        </p:nvSpPr>
        <p:spPr>
          <a:xfrm>
            <a:off x="72300" y="0"/>
            <a:ext cx="4133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Function Calling with LLM</a:t>
            </a:r>
            <a:endParaRPr sz="2000" b="1" i="0" u="none" strike="noStrike" cap="none">
              <a:solidFill>
                <a:srgbClr val="000000"/>
              </a:solidFill>
              <a:latin typeface="Calibri"/>
              <a:ea typeface="Calibri"/>
              <a:cs typeface="Calibri"/>
              <a:sym typeface="Calibri"/>
            </a:endParaRPr>
          </a:p>
        </p:txBody>
      </p:sp>
      <p:sp>
        <p:nvSpPr>
          <p:cNvPr id="206" name="Google Shape;206;p30"/>
          <p:cNvSpPr txBox="1"/>
          <p:nvPr/>
        </p:nvSpPr>
        <p:spPr>
          <a:xfrm>
            <a:off x="72300" y="2317000"/>
            <a:ext cx="4381500" cy="1985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For this to work we need to set things up:</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create a set of functions (Python functions, API calls, etc)</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create </a:t>
            </a:r>
            <a:r>
              <a:rPr lang="en" sz="1300">
                <a:solidFill>
                  <a:schemeClr val="dk1"/>
                </a:solidFill>
                <a:latin typeface="Calibri"/>
                <a:ea typeface="Calibri"/>
                <a:cs typeface="Calibri"/>
                <a:sym typeface="Calibri"/>
              </a:rPr>
              <a:t>clear descriptions of those functions in a structured way (usually in JSON)</a:t>
            </a:r>
            <a:endParaRPr sz="1300">
              <a:solidFill>
                <a:schemeClr val="dk1"/>
              </a:solidFill>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solidFill>
                  <a:schemeClr val="dk1"/>
                </a:solidFill>
                <a:latin typeface="Calibri"/>
                <a:ea typeface="Calibri"/>
                <a:cs typeface="Calibri"/>
                <a:sym typeface="Calibri"/>
              </a:rPr>
              <a:t>Include these descriptions into the prompt along with instructions of how LLM should be using these descriptions to identify the function. </a:t>
            </a:r>
            <a:r>
              <a:rPr lang="en" sz="1300">
                <a:latin typeface="Calibri"/>
                <a:ea typeface="Calibri"/>
                <a:cs typeface="Calibri"/>
                <a:sym typeface="Calibri"/>
              </a:rPr>
              <a:t>Instruct LLM to provide responses in a (JSON) format to indicate whether a function call is needed, function name and parameters.</a:t>
            </a:r>
            <a:endParaRPr sz="1300">
              <a:latin typeface="Calibri"/>
              <a:ea typeface="Calibri"/>
              <a:cs typeface="Calibri"/>
              <a:sym typeface="Calibri"/>
            </a:endParaRPr>
          </a:p>
        </p:txBody>
      </p:sp>
      <p:sp>
        <p:nvSpPr>
          <p:cNvPr id="207" name="Google Shape;207;p30"/>
          <p:cNvSpPr txBox="1"/>
          <p:nvPr/>
        </p:nvSpPr>
        <p:spPr>
          <a:xfrm>
            <a:off x="4638725" y="397425"/>
            <a:ext cx="4381500" cy="1893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Popular frameworks (LangChain, LammaIndex, ...) make function calling simple.</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3"/>
              </a:rPr>
              <a:t>https://www.deeplearning.ai/short-courses/functions-tools-agents-langchain/</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But the system may easily break when the model is changed.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See for example "Claude Opus vs. GPT4":</a:t>
            </a:r>
            <a:br>
              <a:rPr lang="en" sz="1300">
                <a:solidFill>
                  <a:schemeClr val="dk1"/>
                </a:solidFill>
                <a:latin typeface="Calibri"/>
                <a:ea typeface="Calibri"/>
                <a:cs typeface="Calibri"/>
                <a:sym typeface="Calibri"/>
              </a:rPr>
            </a:br>
            <a:r>
              <a:rPr lang="en" sz="1000" u="sng">
                <a:solidFill>
                  <a:schemeClr val="hlink"/>
                </a:solidFill>
                <a:latin typeface="Calibri"/>
                <a:ea typeface="Calibri"/>
                <a:cs typeface="Calibri"/>
                <a:sym typeface="Calibri"/>
                <a:hlinkClick r:id="rId4"/>
              </a:rPr>
              <a:t>https://www.youtube.com/watch?v=6nfdL76d6OI</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It is more reliable to have your own prompts and wrappers, which you can update without waiting for LangChain to fix the problems.</a:t>
            </a:r>
            <a:endParaRPr sz="1300">
              <a:solidFill>
                <a:schemeClr val="dk1"/>
              </a:solidFill>
              <a:latin typeface="Calibri"/>
              <a:ea typeface="Calibri"/>
              <a:cs typeface="Calibri"/>
              <a:sym typeface="Calibri"/>
            </a:endParaRPr>
          </a:p>
        </p:txBody>
      </p:sp>
      <p:sp>
        <p:nvSpPr>
          <p:cNvPr id="208" name="Google Shape;208;p30"/>
          <p:cNvSpPr txBox="1"/>
          <p:nvPr/>
        </p:nvSpPr>
        <p:spPr>
          <a:xfrm>
            <a:off x="72300" y="397425"/>
            <a:ext cx="4381500" cy="1785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We send text request to LLM</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LLM tries to determine if a function call needs to be made, and if so - then which function and with which parameters. It returns JSON with function name and parameters' values.</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We call the function on our side, get its output, and feed it back to LLM along with the original request - asking LLM to provide final output.</a:t>
            </a:r>
            <a:endParaRPr sz="1300">
              <a:solidFill>
                <a:schemeClr val="dk1"/>
              </a:solidFill>
              <a:latin typeface="Calibri"/>
              <a:ea typeface="Calibri"/>
              <a:cs typeface="Calibri"/>
              <a:sym typeface="Calibri"/>
            </a:endParaRPr>
          </a:p>
        </p:txBody>
      </p:sp>
      <p:sp>
        <p:nvSpPr>
          <p:cNvPr id="209" name="Google Shape;209;p30"/>
          <p:cNvSpPr txBox="1"/>
          <p:nvPr/>
        </p:nvSpPr>
        <p:spPr>
          <a:xfrm>
            <a:off x="4638725" y="2383866"/>
            <a:ext cx="4381500" cy="2647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000">
                <a:solidFill>
                  <a:srgbClr val="3C78D8"/>
                </a:solidFill>
                <a:latin typeface="Roboto Mono"/>
                <a:ea typeface="Roboto Mono"/>
                <a:cs typeface="Roboto Mono"/>
                <a:sym typeface="Roboto Mono"/>
              </a:rPr>
              <a:t>from langchain.llms import OpenAI</a:t>
            </a:r>
            <a:endParaRPr sz="1000">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3C78D8"/>
                </a:solidFill>
                <a:latin typeface="Roboto Mono"/>
                <a:ea typeface="Roboto Mono"/>
                <a:cs typeface="Roboto Mono"/>
                <a:sym typeface="Roboto Mono"/>
              </a:rPr>
              <a:t>from langchain.chains.function_to_llm \</a:t>
            </a:r>
            <a:endParaRPr sz="10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3C78D8"/>
                </a:solidFill>
                <a:latin typeface="Roboto Mono"/>
                <a:ea typeface="Roboto Mono"/>
                <a:cs typeface="Roboto Mono"/>
                <a:sym typeface="Roboto Mono"/>
              </a:rPr>
              <a:t>     import MapFunctionChain</a:t>
            </a:r>
            <a:endParaRPr sz="10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10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3C78D8"/>
                </a:solidFill>
                <a:latin typeface="Roboto Mono"/>
                <a:ea typeface="Roboto Mono"/>
                <a:cs typeface="Roboto Mono"/>
                <a:sym typeface="Roboto Mono"/>
              </a:rPr>
              <a:t>def weather_lookup(location):</a:t>
            </a:r>
            <a:endParaRPr sz="10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3C78D8"/>
                </a:solidFill>
                <a:latin typeface="Roboto Mono"/>
                <a:ea typeface="Roboto Mono"/>
                <a:cs typeface="Roboto Mono"/>
                <a:sym typeface="Roboto Mono"/>
              </a:rPr>
              <a:t>    </a:t>
            </a:r>
            <a:r>
              <a:rPr lang="en" sz="1000">
                <a:solidFill>
                  <a:srgbClr val="6AA84F"/>
                </a:solidFill>
                <a:latin typeface="Roboto Mono"/>
                <a:ea typeface="Roboto Mono"/>
                <a:cs typeface="Roboto Mono"/>
                <a:sym typeface="Roboto Mono"/>
              </a:rPr>
              <a:t>""" implements fetching weather data """</a:t>
            </a:r>
            <a:endParaRPr sz="1000">
              <a:solidFill>
                <a:srgbClr val="6AA84F"/>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3C78D8"/>
                </a:solidFill>
                <a:latin typeface="Roboto Mono"/>
                <a:ea typeface="Roboto Mono"/>
                <a:cs typeface="Roboto Mono"/>
                <a:sym typeface="Roboto Mono"/>
              </a:rPr>
              <a:t>    return weather_description</a:t>
            </a:r>
            <a:endParaRPr sz="10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1000">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3C78D8"/>
                </a:solidFill>
                <a:latin typeface="Roboto Mono"/>
                <a:ea typeface="Roboto Mono"/>
                <a:cs typeface="Roboto Mono"/>
                <a:sym typeface="Roboto Mono"/>
              </a:rPr>
              <a:t>llm = OpenAI(temperature=0) </a:t>
            </a:r>
            <a:r>
              <a:rPr lang="en" sz="1000">
                <a:solidFill>
                  <a:srgbClr val="6AA84F"/>
                </a:solidFill>
                <a:latin typeface="Roboto Mono"/>
                <a:ea typeface="Roboto Mono"/>
                <a:cs typeface="Roboto Mono"/>
                <a:sym typeface="Roboto Mono"/>
              </a:rPr>
              <a:t># Lower temp for</a:t>
            </a:r>
            <a:endParaRPr sz="1000">
              <a:solidFill>
                <a:srgbClr val="6AA84F"/>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3C78D8"/>
                </a:solidFill>
                <a:latin typeface="Roboto Mono"/>
                <a:ea typeface="Roboto Mono"/>
                <a:cs typeface="Roboto Mono"/>
                <a:sym typeface="Roboto Mono"/>
              </a:rPr>
              <a:t>                            </a:t>
            </a:r>
            <a:r>
              <a:rPr lang="en" sz="1000">
                <a:solidFill>
                  <a:srgbClr val="6AA84F"/>
                </a:solidFill>
                <a:latin typeface="Roboto Mono"/>
                <a:ea typeface="Roboto Mono"/>
                <a:cs typeface="Roboto Mono"/>
                <a:sym typeface="Roboto Mono"/>
              </a:rPr>
              <a:t># deterministic output</a:t>
            </a:r>
            <a:endParaRPr sz="1000">
              <a:solidFill>
                <a:srgbClr val="6AA84F"/>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1000">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3C78D8"/>
                </a:solidFill>
                <a:latin typeface="Roboto Mono"/>
                <a:ea typeface="Roboto Mono"/>
                <a:cs typeface="Roboto Mono"/>
                <a:sym typeface="Roboto Mono"/>
              </a:rPr>
              <a:t>weather_chain = MapFunctionChain(</a:t>
            </a:r>
            <a:endParaRPr sz="10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3C78D8"/>
                </a:solidFill>
                <a:latin typeface="Roboto Mono"/>
                <a:ea typeface="Roboto Mono"/>
                <a:cs typeface="Roboto Mono"/>
                <a:sym typeface="Roboto Mono"/>
              </a:rPr>
              <a:t>                    llm=llm, func=weather_lookup)</a:t>
            </a:r>
            <a:endParaRPr sz="1000">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3C78D8"/>
                </a:solidFill>
                <a:latin typeface="Roboto Mono"/>
                <a:ea typeface="Roboto Mono"/>
                <a:cs typeface="Roboto Mono"/>
                <a:sym typeface="Roboto Mono"/>
              </a:rPr>
              <a:t>question = </a:t>
            </a:r>
            <a:r>
              <a:rPr lang="en" sz="1000">
                <a:solidFill>
                  <a:srgbClr val="6AA84F"/>
                </a:solidFill>
                <a:latin typeface="Roboto Mono"/>
                <a:ea typeface="Roboto Mono"/>
                <a:cs typeface="Roboto Mono"/>
                <a:sym typeface="Roboto Mono"/>
              </a:rPr>
              <a:t>"What's the weather like in Paris?"</a:t>
            </a:r>
            <a:endParaRPr sz="1000">
              <a:solidFill>
                <a:srgbClr val="6AA84F"/>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3C78D8"/>
                </a:solidFill>
                <a:latin typeface="Roboto Mono"/>
                <a:ea typeface="Roboto Mono"/>
                <a:cs typeface="Roboto Mono"/>
                <a:sym typeface="Roboto Mono"/>
              </a:rPr>
              <a:t>response = weather_chain.run(question)</a:t>
            </a:r>
            <a:endParaRPr sz="1000">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3C78D8"/>
                </a:solidFill>
                <a:latin typeface="Roboto Mono"/>
                <a:ea typeface="Roboto Mono"/>
                <a:cs typeface="Roboto Mono"/>
                <a:sym typeface="Roboto Mono"/>
              </a:rPr>
              <a:t>print(response)</a:t>
            </a:r>
            <a:endParaRPr sz="1000">
              <a:solidFill>
                <a:srgbClr val="3C78D8"/>
              </a:solidFill>
              <a:latin typeface="Roboto Mono"/>
              <a:ea typeface="Roboto Mono"/>
              <a:cs typeface="Roboto Mono"/>
              <a:sym typeface="Roboto Mon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2"/>
          <p:cNvSpPr txBox="1"/>
          <p:nvPr/>
        </p:nvSpPr>
        <p:spPr>
          <a:xfrm>
            <a:off x="72300" y="0"/>
            <a:ext cx="3165600" cy="6342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Andrej Karpathy - Claude 3 </a:t>
            </a:r>
            <a:endParaRPr sz="20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to Sumarize Video into Text</a:t>
            </a:r>
            <a:endParaRPr sz="2000" b="1" i="0" u="none" strike="noStrike" cap="none">
              <a:solidFill>
                <a:srgbClr val="000000"/>
              </a:solidFill>
              <a:latin typeface="Calibri"/>
              <a:ea typeface="Calibri"/>
              <a:cs typeface="Calibri"/>
              <a:sym typeface="Calibri"/>
            </a:endParaRPr>
          </a:p>
        </p:txBody>
      </p:sp>
      <p:sp>
        <p:nvSpPr>
          <p:cNvPr id="222" name="Google Shape;222;p32"/>
          <p:cNvSpPr txBox="1"/>
          <p:nvPr/>
        </p:nvSpPr>
        <p:spPr>
          <a:xfrm>
            <a:off x="72300" y="634200"/>
            <a:ext cx="5262600" cy="164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lvl="0" indent="-203200" algn="l" rtl="0">
              <a:spcBef>
                <a:spcPts val="0"/>
              </a:spcBef>
              <a:spcAft>
                <a:spcPts val="0"/>
              </a:spcAft>
              <a:buSzPts val="1400"/>
              <a:buFont typeface="Calibri"/>
              <a:buChar char="●"/>
            </a:pPr>
            <a:r>
              <a:rPr lang="en">
                <a:latin typeface="Calibri"/>
                <a:ea typeface="Calibri"/>
                <a:cs typeface="Calibri"/>
                <a:sym typeface="Calibri"/>
              </a:rPr>
              <a:t>Andrej Karpathy recorded a video "Let's build the GPT Tokenizer":</a:t>
            </a:r>
            <a:endParaRPr>
              <a:latin typeface="Calibri"/>
              <a:ea typeface="Calibri"/>
              <a:cs typeface="Calibri"/>
              <a:sym typeface="Calibri"/>
            </a:endParaRPr>
          </a:p>
          <a:p>
            <a:pPr marL="457200" lvl="0" indent="0" algn="l" rtl="0">
              <a:spcBef>
                <a:spcPts val="0"/>
              </a:spcBef>
              <a:spcAft>
                <a:spcPts val="0"/>
              </a:spcAft>
              <a:buNone/>
            </a:pPr>
            <a:r>
              <a:rPr lang="en" sz="1000" u="sng">
                <a:solidFill>
                  <a:schemeClr val="hlink"/>
                </a:solidFill>
                <a:latin typeface="Calibri"/>
                <a:ea typeface="Calibri"/>
                <a:cs typeface="Calibri"/>
                <a:sym typeface="Calibri"/>
                <a:hlinkClick r:id="rId3"/>
              </a:rPr>
              <a:t>https://www.youtube.com/watch?v=zduSFxRajkE</a:t>
            </a:r>
            <a:r>
              <a:rPr lang="en" sz="1000">
                <a:latin typeface="Calibri"/>
                <a:ea typeface="Calibri"/>
                <a:cs typeface="Calibri"/>
                <a:sym typeface="Calibri"/>
              </a:rPr>
              <a:t> </a:t>
            </a:r>
            <a:endParaRPr>
              <a:latin typeface="Calibri"/>
              <a:ea typeface="Calibri"/>
              <a:cs typeface="Calibri"/>
              <a:sym typeface="Calibri"/>
            </a:endParaRPr>
          </a:p>
          <a:p>
            <a:pPr marL="228600" lvl="0" indent="-203200" algn="l" rtl="0">
              <a:spcBef>
                <a:spcPts val="0"/>
              </a:spcBef>
              <a:spcAft>
                <a:spcPts val="0"/>
              </a:spcAft>
              <a:buSzPts val="1400"/>
              <a:buFont typeface="Calibri"/>
              <a:buChar char="●"/>
            </a:pPr>
            <a:r>
              <a:rPr lang="en">
                <a:latin typeface="Calibri"/>
                <a:ea typeface="Calibri"/>
                <a:cs typeface="Calibri"/>
                <a:sym typeface="Calibri"/>
              </a:rPr>
              <a:t>and then used LLM (Claude 3 Opus) to make a blog post from it:</a:t>
            </a:r>
            <a:endParaRPr>
              <a:latin typeface="Calibri"/>
              <a:ea typeface="Calibri"/>
              <a:cs typeface="Calibri"/>
              <a:sym typeface="Calibri"/>
            </a:endParaRPr>
          </a:p>
          <a:p>
            <a:pPr marL="457200" lvl="0" indent="0" algn="l" rtl="0">
              <a:spcBef>
                <a:spcPts val="0"/>
              </a:spcBef>
              <a:spcAft>
                <a:spcPts val="0"/>
              </a:spcAft>
              <a:buNone/>
            </a:pPr>
            <a:r>
              <a:rPr lang="en" sz="1000" u="sng">
                <a:solidFill>
                  <a:schemeClr val="hlink"/>
                </a:solidFill>
                <a:latin typeface="Calibri"/>
                <a:ea typeface="Calibri"/>
                <a:cs typeface="Calibri"/>
                <a:sym typeface="Calibri"/>
                <a:hlinkClick r:id="rId4"/>
              </a:rPr>
              <a:t>https://twitter.com/karpathy/status/1760740503614836917</a:t>
            </a:r>
            <a:r>
              <a:rPr lang="en" sz="1000">
                <a:latin typeface="Calibri"/>
                <a:ea typeface="Calibri"/>
                <a:cs typeface="Calibri"/>
                <a:sym typeface="Calibri"/>
              </a:rPr>
              <a:t> </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Here is  GitHub:</a:t>
            </a:r>
            <a:endParaRPr sz="1300">
              <a:latin typeface="Calibri"/>
              <a:ea typeface="Calibri"/>
              <a:cs typeface="Calibri"/>
              <a:sym typeface="Calibri"/>
            </a:endParaRPr>
          </a:p>
          <a:p>
            <a:pPr marL="457200" lvl="0" indent="0" algn="l" rtl="0">
              <a:spcBef>
                <a:spcPts val="0"/>
              </a:spcBef>
              <a:spcAft>
                <a:spcPts val="0"/>
              </a:spcAft>
              <a:buNone/>
            </a:pPr>
            <a:r>
              <a:rPr lang="en" sz="1000" u="sng">
                <a:solidFill>
                  <a:schemeClr val="hlink"/>
                </a:solidFill>
                <a:latin typeface="Calibri"/>
                <a:ea typeface="Calibri"/>
                <a:cs typeface="Calibri"/>
                <a:sym typeface="Calibri"/>
                <a:hlinkClick r:id="rId5"/>
              </a:rPr>
              <a:t>https://github.com/hundredblocks/transcription_demo?utm_source=tldrai</a:t>
            </a:r>
            <a:r>
              <a:rPr lang="en" sz="1000">
                <a:latin typeface="Calibri"/>
                <a:ea typeface="Calibri"/>
                <a:cs typeface="Calibri"/>
                <a:sym typeface="Calibri"/>
              </a:rPr>
              <a:t> </a:t>
            </a:r>
            <a:endParaRPr sz="1300">
              <a:latin typeface="Calibri"/>
              <a:ea typeface="Calibri"/>
              <a:cs typeface="Calibri"/>
              <a:sym typeface="Calibri"/>
            </a:endParaRPr>
          </a:p>
          <a:p>
            <a:pPr marL="228600" lvl="0" indent="-203200" algn="l" rtl="0">
              <a:spcBef>
                <a:spcPts val="0"/>
              </a:spcBef>
              <a:spcAft>
                <a:spcPts val="0"/>
              </a:spcAft>
              <a:buSzPts val="1400"/>
              <a:buFont typeface="Calibri"/>
              <a:buChar char="●"/>
            </a:pPr>
            <a:r>
              <a:rPr lang="en" sz="1300">
                <a:latin typeface="Calibri"/>
                <a:ea typeface="Calibri"/>
                <a:cs typeface="Calibri"/>
                <a:sym typeface="Calibri"/>
              </a:rPr>
              <a:t>Result: course "LLM Tokenization"</a:t>
            </a:r>
            <a:endParaRPr sz="1000">
              <a:latin typeface="Calibri"/>
              <a:ea typeface="Calibri"/>
              <a:cs typeface="Calibri"/>
              <a:sym typeface="Calibri"/>
            </a:endParaRPr>
          </a:p>
          <a:p>
            <a:pPr marL="457200" lvl="0" indent="0" algn="l" rtl="0">
              <a:spcBef>
                <a:spcPts val="0"/>
              </a:spcBef>
              <a:spcAft>
                <a:spcPts val="0"/>
              </a:spcAft>
              <a:buNone/>
            </a:pPr>
            <a:r>
              <a:rPr lang="en" sz="1000" u="sng">
                <a:solidFill>
                  <a:schemeClr val="hlink"/>
                </a:solidFill>
                <a:latin typeface="Calibri"/>
                <a:ea typeface="Calibri"/>
                <a:cs typeface="Calibri"/>
                <a:sym typeface="Calibri"/>
                <a:hlinkClick r:id="rId6"/>
              </a:rPr>
              <a:t>https://hundredblocks.github.io/transcription_demo/</a:t>
            </a:r>
            <a:r>
              <a:rPr lang="en" sz="1000">
                <a:latin typeface="Calibri"/>
                <a:ea typeface="Calibri"/>
                <a:cs typeface="Calibri"/>
                <a:sym typeface="Calibri"/>
              </a:rPr>
              <a:t> </a:t>
            </a:r>
            <a:endParaRPr sz="1000">
              <a:latin typeface="Calibri"/>
              <a:ea typeface="Calibri"/>
              <a:cs typeface="Calibri"/>
              <a:sym typeface="Calibri"/>
            </a:endParaRPr>
          </a:p>
        </p:txBody>
      </p:sp>
      <p:pic>
        <p:nvPicPr>
          <p:cNvPr id="223" name="Google Shape;223;p32"/>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444400" y="152400"/>
            <a:ext cx="3566877" cy="4838697"/>
          </a:xfrm>
          <a:prstGeom prst="rect">
            <a:avLst/>
          </a:prstGeom>
          <a:noFill/>
          <a:ln w="9525" cap="flat" cmpd="sng">
            <a:solidFill>
              <a:srgbClr val="FF0000"/>
            </a:solidFill>
            <a:prstDash val="solid"/>
            <a:round/>
            <a:headEnd type="none" w="sm" len="sm"/>
            <a:tailEnd type="none" w="sm" len="sm"/>
          </a:ln>
        </p:spPr>
      </p:pic>
      <p:pic>
        <p:nvPicPr>
          <p:cNvPr id="224" name="Google Shape;224;p32"/>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1009500" y="2385450"/>
            <a:ext cx="3322979" cy="26056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3"/>
          <p:cNvSpPr txBox="1"/>
          <p:nvPr/>
        </p:nvSpPr>
        <p:spPr>
          <a:xfrm>
            <a:off x="72300" y="0"/>
            <a:ext cx="55797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a:solidFill>
                  <a:schemeClr val="dk1"/>
                </a:solidFill>
                <a:latin typeface="Calibri"/>
                <a:ea typeface="Calibri"/>
                <a:cs typeface="Calibri"/>
                <a:sym typeface="Calibri"/>
              </a:rPr>
              <a:t>ASML = "Advanced Semiconductor Materials Lithography"</a:t>
            </a:r>
            <a:endParaRPr sz="1800" b="1" i="0" u="none" strike="noStrike" cap="none">
              <a:solidFill>
                <a:srgbClr val="000000"/>
              </a:solidFill>
              <a:latin typeface="Calibri"/>
              <a:ea typeface="Calibri"/>
              <a:cs typeface="Calibri"/>
              <a:sym typeface="Calibri"/>
            </a:endParaRPr>
          </a:p>
        </p:txBody>
      </p:sp>
      <p:sp>
        <p:nvSpPr>
          <p:cNvPr id="230" name="Google Shape;230;p33"/>
          <p:cNvSpPr txBox="1"/>
          <p:nvPr/>
        </p:nvSpPr>
        <p:spPr>
          <a:xfrm>
            <a:off x="72300" y="326400"/>
            <a:ext cx="5484000" cy="2216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lvl="0" indent="-190500" algn="l" rtl="0">
              <a:spcBef>
                <a:spcPts val="0"/>
              </a:spcBef>
              <a:spcAft>
                <a:spcPts val="0"/>
              </a:spcAft>
              <a:buSzPts val="1200"/>
              <a:buFont typeface="Calibri"/>
              <a:buChar char="●"/>
            </a:pPr>
            <a:r>
              <a:rPr lang="en" sz="1200">
                <a:latin typeface="Calibri"/>
                <a:ea typeface="Calibri"/>
                <a:cs typeface="Calibri"/>
                <a:sym typeface="Calibri"/>
              </a:rPr>
              <a:t>Nvidia's AI chips are made using ASML's EUV (Extreme Ultraviolet) machines</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Nvidia outsource chip manufacturing to foundries like TSMC (Taiwan Semiconductor Manufacturing Company) which heavily relies on ASML's equipment for its chip fabrication.</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Intel &amp; AMD chips are also manufactured using ASML machines.</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ASML is a Dutch company (</a:t>
            </a:r>
            <a:r>
              <a:rPr lang="en" sz="1200">
                <a:solidFill>
                  <a:schemeClr val="dk1"/>
                </a:solidFill>
                <a:latin typeface="Calibri"/>
                <a:ea typeface="Calibri"/>
                <a:cs typeface="Calibri"/>
                <a:sym typeface="Calibri"/>
              </a:rPr>
              <a:t>Veldhoven, Netherlands). It is </a:t>
            </a:r>
            <a:r>
              <a:rPr lang="en" sz="1200">
                <a:latin typeface="Calibri"/>
                <a:ea typeface="Calibri"/>
                <a:cs typeface="Calibri"/>
                <a:sym typeface="Calibri"/>
              </a:rPr>
              <a:t>the world's leading manufacturer of photolithography systems. </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It was founded in 1984, has ~12,000 employees, ~$32 Bln annual revenues</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ASML machines are heavy (~200 tons), several meters high, fill big room </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EUV machines costs $200..$400 Mln each.</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ASML can produce around 40-60 EUV machines per year. </a:t>
            </a:r>
            <a:endParaRPr sz="1200">
              <a:latin typeface="Calibri"/>
              <a:ea typeface="Calibri"/>
              <a:cs typeface="Calibri"/>
              <a:sym typeface="Calibri"/>
            </a:endParaRPr>
          </a:p>
        </p:txBody>
      </p:sp>
      <p:pic>
        <p:nvPicPr>
          <p:cNvPr id="231" name="Google Shape;231;p33"/>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123875" y="3148550"/>
            <a:ext cx="1921000" cy="1536800"/>
          </a:xfrm>
          <a:prstGeom prst="rect">
            <a:avLst/>
          </a:prstGeom>
          <a:noFill/>
          <a:ln w="9525" cap="flat" cmpd="sng">
            <a:solidFill>
              <a:srgbClr val="FF0000"/>
            </a:solidFill>
            <a:prstDash val="solid"/>
            <a:round/>
            <a:headEnd type="none" w="sm" len="sm"/>
            <a:tailEnd type="none" w="sm" len="sm"/>
          </a:ln>
        </p:spPr>
      </p:pic>
      <p:pic>
        <p:nvPicPr>
          <p:cNvPr id="232" name="Google Shape;232;p3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720289" y="80550"/>
            <a:ext cx="3329411" cy="2216400"/>
          </a:xfrm>
          <a:prstGeom prst="rect">
            <a:avLst/>
          </a:prstGeom>
          <a:noFill/>
          <a:ln w="9525" cap="flat" cmpd="sng">
            <a:solidFill>
              <a:srgbClr val="FF0000"/>
            </a:solidFill>
            <a:prstDash val="solid"/>
            <a:round/>
            <a:headEnd type="none" w="sm" len="sm"/>
            <a:tailEnd type="none" w="sm" len="sm"/>
          </a:ln>
        </p:spPr>
      </p:pic>
      <p:pic>
        <p:nvPicPr>
          <p:cNvPr id="233" name="Google Shape;233;p3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720300" y="2381075"/>
            <a:ext cx="3329400" cy="1888605"/>
          </a:xfrm>
          <a:prstGeom prst="rect">
            <a:avLst/>
          </a:prstGeom>
          <a:noFill/>
          <a:ln w="9525" cap="flat" cmpd="sng">
            <a:solidFill>
              <a:srgbClr val="FF0000"/>
            </a:solidFill>
            <a:prstDash val="solid"/>
            <a:round/>
            <a:headEnd type="none" w="sm" len="sm"/>
            <a:tailEnd type="none" w="sm" len="sm"/>
          </a:ln>
        </p:spPr>
      </p:pic>
      <p:pic>
        <p:nvPicPr>
          <p:cNvPr id="234" name="Google Shape;234;p33"/>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2096025" y="2622575"/>
            <a:ext cx="3460275" cy="24619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4"/>
          <p:cNvSpPr txBox="1"/>
          <p:nvPr/>
        </p:nvSpPr>
        <p:spPr>
          <a:xfrm>
            <a:off x="7287950" y="845650"/>
            <a:ext cx="1763700" cy="449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400" b="1" i="0" u="none" strike="noStrike" cap="none">
                <a:solidFill>
                  <a:srgbClr val="FF0000"/>
                </a:solidFill>
                <a:latin typeface="Calibri"/>
                <a:ea typeface="Calibri"/>
                <a:cs typeface="Calibri"/>
                <a:sym typeface="Calibri"/>
              </a:rPr>
              <a:t>March 5, 2024</a:t>
            </a:r>
            <a:endParaRPr sz="1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400" b="0" i="0" u="none" strike="noStrike" cap="none">
                <a:solidFill>
                  <a:schemeClr val="dk1"/>
                </a:solidFill>
                <a:latin typeface="Calibri"/>
                <a:ea typeface="Calibri"/>
                <a:cs typeface="Calibri"/>
                <a:sym typeface="Calibri"/>
              </a:rPr>
              <a:t>6</a:t>
            </a:r>
            <a:r>
              <a:rPr lang="en">
                <a:solidFill>
                  <a:schemeClr val="dk1"/>
                </a:solidFill>
                <a:latin typeface="Calibri"/>
                <a:ea typeface="Calibri"/>
                <a:cs typeface="Calibri"/>
                <a:sym typeface="Calibri"/>
              </a:rPr>
              <a:t>9</a:t>
            </a:r>
            <a:r>
              <a:rPr lang="en" sz="1400" b="0" i="0" u="none" strike="noStrike" cap="none">
                <a:solidFill>
                  <a:schemeClr val="dk1"/>
                </a:solidFill>
                <a:latin typeface="Calibri"/>
                <a:ea typeface="Calibri"/>
                <a:cs typeface="Calibri"/>
                <a:sym typeface="Calibri"/>
              </a:rPr>
              <a:t> Models, </a:t>
            </a:r>
            <a:r>
              <a:rPr lang="en">
                <a:solidFill>
                  <a:schemeClr val="dk1"/>
                </a:solidFill>
                <a:latin typeface="Calibri"/>
                <a:ea typeface="Calibri"/>
                <a:cs typeface="Calibri"/>
                <a:sym typeface="Calibri"/>
              </a:rPr>
              <a:t>358 K</a:t>
            </a:r>
            <a:r>
              <a:rPr lang="en" sz="1400" b="0" i="0" u="none" strike="noStrike" cap="none">
                <a:solidFill>
                  <a:schemeClr val="dk1"/>
                </a:solidFill>
                <a:latin typeface="Calibri"/>
                <a:ea typeface="Calibri"/>
                <a:cs typeface="Calibri"/>
                <a:sym typeface="Calibri"/>
              </a:rPr>
              <a:t> votes</a:t>
            </a:r>
            <a:endParaRPr sz="1400" b="0" i="0" u="none" strike="noStrike" cap="none">
              <a:solidFill>
                <a:schemeClr val="dk1"/>
              </a:solidFill>
              <a:latin typeface="Calibri"/>
              <a:ea typeface="Calibri"/>
              <a:cs typeface="Calibri"/>
              <a:sym typeface="Calibri"/>
            </a:endParaRPr>
          </a:p>
        </p:txBody>
      </p:sp>
      <p:sp>
        <p:nvSpPr>
          <p:cNvPr id="240" name="Google Shape;240;p34"/>
          <p:cNvSpPr txBox="1"/>
          <p:nvPr/>
        </p:nvSpPr>
        <p:spPr>
          <a:xfrm>
            <a:off x="7254050" y="421150"/>
            <a:ext cx="18315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95% CI = Confidence Interval</a:t>
            </a:r>
            <a:endParaRPr sz="1200" b="0" i="0" u="none" strike="noStrike" cap="none">
              <a:solidFill>
                <a:schemeClr val="dk1"/>
              </a:solidFill>
              <a:latin typeface="Calibri"/>
              <a:ea typeface="Calibri"/>
              <a:cs typeface="Calibri"/>
              <a:sym typeface="Calibri"/>
            </a:endParaRPr>
          </a:p>
        </p:txBody>
      </p:sp>
      <p:sp>
        <p:nvSpPr>
          <p:cNvPr id="241" name="Google Shape;241;p34"/>
          <p:cNvSpPr txBox="1"/>
          <p:nvPr/>
        </p:nvSpPr>
        <p:spPr>
          <a:xfrm>
            <a:off x="-38048" y="-108050"/>
            <a:ext cx="4151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Crowd-sourced "Arena" Leaderboard</a:t>
            </a:r>
            <a:endParaRPr sz="2000" b="1" i="0" u="none" strike="noStrike" cap="none">
              <a:solidFill>
                <a:srgbClr val="000000"/>
              </a:solidFill>
              <a:latin typeface="Calibri"/>
              <a:ea typeface="Calibri"/>
              <a:cs typeface="Calibri"/>
              <a:sym typeface="Calibri"/>
            </a:endParaRPr>
          </a:p>
        </p:txBody>
      </p:sp>
      <p:sp>
        <p:nvSpPr>
          <p:cNvPr id="242" name="Google Shape;242;p34"/>
          <p:cNvSpPr txBox="1"/>
          <p:nvPr/>
        </p:nvSpPr>
        <p:spPr>
          <a:xfrm>
            <a:off x="5535876" y="45850"/>
            <a:ext cx="35496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000" b="0" i="0" u="sng" strike="noStrike" cap="none">
                <a:solidFill>
                  <a:schemeClr val="hlink"/>
                </a:solidFill>
                <a:latin typeface="Calibri"/>
                <a:ea typeface="Calibri"/>
                <a:cs typeface="Calibri"/>
                <a:sym typeface="Calibri"/>
                <a:hlinkClick r:id="rId3"/>
              </a:rPr>
              <a:t>https://huggingface.co/spaces/lmsys/chatbot-arena-leaderboard</a:t>
            </a:r>
            <a:r>
              <a:rPr lang="en" sz="1000" b="0" i="0" u="none" strike="noStrike" cap="none">
                <a:solidFill>
                  <a:schemeClr val="dk1"/>
                </a:solidFill>
                <a:latin typeface="Calibri"/>
                <a:ea typeface="Calibri"/>
                <a:cs typeface="Calibri"/>
                <a:sym typeface="Calibri"/>
              </a:rPr>
              <a:t> </a:t>
            </a:r>
            <a:endParaRPr sz="1300" b="0" i="0" u="none" strike="noStrike" cap="none">
              <a:solidFill>
                <a:schemeClr val="dk1"/>
              </a:solidFill>
              <a:latin typeface="Calibri"/>
              <a:ea typeface="Calibri"/>
              <a:cs typeface="Calibri"/>
              <a:sym typeface="Calibri"/>
            </a:endParaRPr>
          </a:p>
        </p:txBody>
      </p:sp>
      <p:pic>
        <p:nvPicPr>
          <p:cNvPr id="243" name="Google Shape;243;p3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0434" y="521184"/>
            <a:ext cx="7005149" cy="4567826"/>
          </a:xfrm>
          <a:prstGeom prst="rect">
            <a:avLst/>
          </a:prstGeom>
          <a:noFill/>
          <a:ln w="9525" cap="flat" cmpd="sng">
            <a:solidFill>
              <a:srgbClr val="FF0000"/>
            </a:solidFill>
            <a:prstDash val="solid"/>
            <a:round/>
            <a:headEnd type="none" w="sm" len="sm"/>
            <a:tailEnd type="none" w="sm" len="sm"/>
          </a:ln>
        </p:spPr>
      </p:pic>
      <p:sp>
        <p:nvSpPr>
          <p:cNvPr id="244" name="Google Shape;244;p34"/>
          <p:cNvSpPr txBox="1"/>
          <p:nvPr/>
        </p:nvSpPr>
        <p:spPr>
          <a:xfrm>
            <a:off x="7254050" y="1456425"/>
            <a:ext cx="1831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Claude 3 is not included yet</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5"/>
          <p:cNvSpPr txBox="1"/>
          <p:nvPr/>
        </p:nvSpPr>
        <p:spPr>
          <a:xfrm>
            <a:off x="72300" y="76200"/>
            <a:ext cx="4874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Layoffs are </a:t>
            </a:r>
            <a:r>
              <a:rPr lang="en" sz="2000" b="1">
                <a:solidFill>
                  <a:schemeClr val="dk1"/>
                </a:solidFill>
                <a:latin typeface="Calibri"/>
                <a:ea typeface="Calibri"/>
                <a:cs typeface="Calibri"/>
                <a:sym typeface="Calibri"/>
              </a:rPr>
              <a:t>x3 times lower than in 2023</a:t>
            </a:r>
            <a:endParaRPr sz="2000" b="1" i="0" u="none" strike="noStrike" cap="none">
              <a:solidFill>
                <a:srgbClr val="000000"/>
              </a:solidFill>
              <a:latin typeface="Calibri"/>
              <a:ea typeface="Calibri"/>
              <a:cs typeface="Calibri"/>
              <a:sym typeface="Calibri"/>
            </a:endParaRPr>
          </a:p>
        </p:txBody>
      </p:sp>
      <p:sp>
        <p:nvSpPr>
          <p:cNvPr id="250" name="Google Shape;250;p35"/>
          <p:cNvSpPr txBox="1"/>
          <p:nvPr/>
        </p:nvSpPr>
        <p:spPr>
          <a:xfrm>
            <a:off x="6291625" y="109963"/>
            <a:ext cx="20025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F0F0F"/>
                </a:solidFill>
                <a:latin typeface="Calibri"/>
                <a:ea typeface="Calibri"/>
                <a:cs typeface="Calibri"/>
                <a:sym typeface="Calibri"/>
              </a:rPr>
              <a:t>Layoffs - </a:t>
            </a:r>
            <a:r>
              <a:rPr lang="en" sz="1300" b="0" i="0" u="sng" strike="noStrike" cap="none">
                <a:solidFill>
                  <a:schemeClr val="hlink"/>
                </a:solidFill>
                <a:latin typeface="Calibri"/>
                <a:ea typeface="Calibri"/>
                <a:cs typeface="Calibri"/>
                <a:sym typeface="Calibri"/>
                <a:hlinkClick r:id="rId3"/>
              </a:rPr>
              <a:t>https://layoffs.fyi</a:t>
            </a:r>
            <a:r>
              <a:rPr lang="en" sz="1300" b="0" i="0" u="none" strike="noStrike" cap="none">
                <a:solidFill>
                  <a:srgbClr val="0F0F0F"/>
                </a:solidFill>
                <a:latin typeface="Calibri"/>
                <a:ea typeface="Calibri"/>
                <a:cs typeface="Calibri"/>
                <a:sym typeface="Calibri"/>
              </a:rPr>
              <a:t> </a:t>
            </a:r>
            <a:endParaRPr sz="1300" b="0" i="0" u="none" strike="noStrike" cap="none">
              <a:solidFill>
                <a:srgbClr val="0F0F0F"/>
              </a:solidFill>
              <a:latin typeface="Calibri"/>
              <a:ea typeface="Calibri"/>
              <a:cs typeface="Calibri"/>
              <a:sym typeface="Calibri"/>
            </a:endParaRPr>
          </a:p>
        </p:txBody>
      </p:sp>
      <p:sp>
        <p:nvSpPr>
          <p:cNvPr id="251" name="Google Shape;251;p35"/>
          <p:cNvSpPr txBox="1"/>
          <p:nvPr/>
        </p:nvSpPr>
        <p:spPr>
          <a:xfrm>
            <a:off x="2532625" y="4109075"/>
            <a:ext cx="3716100" cy="218400"/>
          </a:xfrm>
          <a:prstGeom prst="rect">
            <a:avLst/>
          </a:prstGeom>
          <a:solidFill>
            <a:srgbClr val="FFF2CC"/>
          </a:solid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300" b="0" i="0" u="none" strike="noStrike" cap="none">
                <a:solidFill>
                  <a:schemeClr val="dk1"/>
                </a:solidFill>
                <a:latin typeface="Calibri"/>
                <a:ea typeface="Calibri"/>
                <a:cs typeface="Calibri"/>
                <a:sym typeface="Calibri"/>
              </a:rPr>
              <a:t>So far in 2024 layoffs are 3-times less than in 2023</a:t>
            </a:r>
            <a:endParaRPr sz="1300" b="0" i="0" u="none" strike="noStrike" cap="none">
              <a:solidFill>
                <a:schemeClr val="dk1"/>
              </a:solidFill>
              <a:latin typeface="Calibri"/>
              <a:ea typeface="Calibri"/>
              <a:cs typeface="Calibri"/>
              <a:sym typeface="Calibri"/>
            </a:endParaRPr>
          </a:p>
        </p:txBody>
      </p:sp>
      <p:pic>
        <p:nvPicPr>
          <p:cNvPr id="252" name="Google Shape;252;p3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1009987" y="1042052"/>
            <a:ext cx="7124026" cy="2934376"/>
          </a:xfrm>
          <a:prstGeom prst="rect">
            <a:avLst/>
          </a:prstGeom>
          <a:noFill/>
          <a:ln w="9525" cap="flat" cmpd="sng">
            <a:solidFill>
              <a:srgbClr val="3C78D8"/>
            </a:solidFill>
            <a:prstDash val="solid"/>
            <a:round/>
            <a:headEnd type="none" w="sm" len="sm"/>
            <a:tailEnd type="none" w="sm" len="sm"/>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6"/>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8"/>
          <p:cNvSpPr txBox="1"/>
          <p:nvPr/>
        </p:nvSpPr>
        <p:spPr>
          <a:xfrm>
            <a:off x="72300" y="0"/>
            <a:ext cx="3651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RAG, Embeddings, ...</a:t>
            </a:r>
            <a:endParaRPr sz="2000" b="1" i="0" u="none" strike="noStrike" cap="none">
              <a:solidFill>
                <a:srgbClr val="000000"/>
              </a:solidFill>
              <a:latin typeface="Calibri"/>
              <a:ea typeface="Calibri"/>
              <a:cs typeface="Calibri"/>
              <a:sym typeface="Calibri"/>
            </a:endParaRPr>
          </a:p>
        </p:txBody>
      </p:sp>
      <p:sp>
        <p:nvSpPr>
          <p:cNvPr id="190" name="Google Shape;190;p28"/>
          <p:cNvSpPr txBox="1"/>
          <p:nvPr/>
        </p:nvSpPr>
        <p:spPr>
          <a:xfrm>
            <a:off x="72300" y="553750"/>
            <a:ext cx="4133400" cy="384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rgbClr val="000000"/>
                </a:solidFill>
                <a:latin typeface="Calibri"/>
                <a:ea typeface="Calibri"/>
                <a:cs typeface="Calibri"/>
                <a:sym typeface="Calibri"/>
              </a:rPr>
              <a:t>RAG - from Sander</a:t>
            </a:r>
            <a:endParaRPr sz="1300" b="0" i="0" u="none" strike="noStrike" cap="none">
              <a:solidFill>
                <a:srgbClr val="000000"/>
              </a:solidFill>
              <a:latin typeface="Calibri"/>
              <a:ea typeface="Calibri"/>
              <a:cs typeface="Calibri"/>
              <a:sym typeface="Calibri"/>
            </a:endParaRPr>
          </a:p>
        </p:txBody>
      </p:sp>
      <p:pic>
        <p:nvPicPr>
          <p:cNvPr id="191" name="Google Shape;191;p28"/>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795775" y="1423925"/>
            <a:ext cx="4290125" cy="2702276"/>
          </a:xfrm>
          <a:prstGeom prst="rect">
            <a:avLst/>
          </a:prstGeom>
          <a:noFill/>
          <a:ln w="9525" cap="flat" cmpd="sng">
            <a:solidFill>
              <a:srgbClr val="FF0000"/>
            </a:solidFill>
            <a:prstDash val="solid"/>
            <a:round/>
            <a:headEnd type="none" w="sm" len="sm"/>
            <a:tailEnd type="none" w="sm" len="sm"/>
          </a:ln>
        </p:spPr>
      </p:pic>
      <p:sp>
        <p:nvSpPr>
          <p:cNvPr id="192" name="Google Shape;192;p28"/>
          <p:cNvSpPr txBox="1"/>
          <p:nvPr/>
        </p:nvSpPr>
        <p:spPr>
          <a:xfrm>
            <a:off x="4952500" y="380900"/>
            <a:ext cx="4133400" cy="785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300">
                <a:latin typeface="Calibri"/>
                <a:ea typeface="Calibri"/>
                <a:cs typeface="Calibri"/>
                <a:sym typeface="Calibri"/>
              </a:rPr>
              <a:t>Enterprise </a:t>
            </a:r>
            <a:r>
              <a:rPr lang="en" sz="1300" b="0" i="0" u="none" strike="noStrike" cap="none">
                <a:solidFill>
                  <a:srgbClr val="000000"/>
                </a:solidFill>
                <a:latin typeface="Calibri"/>
                <a:ea typeface="Calibri"/>
                <a:cs typeface="Calibri"/>
                <a:sym typeface="Calibri"/>
              </a:rPr>
              <a:t>RAG</a:t>
            </a:r>
            <a:br>
              <a:rPr lang="en" sz="1300" b="0" i="0" u="none" strike="noStrike" cap="none">
                <a:solidFill>
                  <a:srgbClr val="000000"/>
                </a:solidFill>
                <a:latin typeface="Calibri"/>
                <a:ea typeface="Calibri"/>
                <a:cs typeface="Calibri"/>
                <a:sym typeface="Calibri"/>
              </a:rPr>
            </a:br>
            <a:r>
              <a:rPr lang="en" sz="1300" b="0" i="0" u="sng" strike="noStrike" cap="none">
                <a:solidFill>
                  <a:schemeClr val="hlink"/>
                </a:solidFill>
                <a:latin typeface="Calibri"/>
                <a:ea typeface="Calibri"/>
                <a:cs typeface="Calibri"/>
                <a:sym typeface="Calibri"/>
                <a:hlinkClick r:id="rId4"/>
              </a:rPr>
              <a:t>https://www.rungalileo.io/blog/mastering-rag-how-to-architect-an-enterprise-rag-system</a:t>
            </a:r>
            <a:r>
              <a:rPr lang="en" sz="1300">
                <a:latin typeface="Calibri"/>
                <a:ea typeface="Calibri"/>
                <a:cs typeface="Calibri"/>
                <a:sym typeface="Calibri"/>
              </a:rPr>
              <a:t> </a:t>
            </a:r>
            <a:endParaRPr sz="1300" b="0" i="0" u="none" strike="noStrike" cap="none">
              <a:solidFill>
                <a:srgbClr val="000000"/>
              </a:solidFill>
              <a:latin typeface="Calibri"/>
              <a:ea typeface="Calibri"/>
              <a:cs typeface="Calibri"/>
              <a:sym typeface="Calibri"/>
            </a:endParaRPr>
          </a:p>
        </p:txBody>
      </p:sp>
      <p:pic>
        <p:nvPicPr>
          <p:cNvPr id="193" name="Google Shape;193;p28"/>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72301" y="1434227"/>
            <a:ext cx="4572001" cy="2082850"/>
          </a:xfrm>
          <a:prstGeom prst="rect">
            <a:avLst/>
          </a:prstGeom>
          <a:noFill/>
          <a:ln w="9525" cap="flat" cmpd="sng">
            <a:solidFill>
              <a:srgbClr val="FF0000"/>
            </a:solidFill>
            <a:prstDash val="solid"/>
            <a:round/>
            <a:headEnd type="none" w="sm" len="sm"/>
            <a:tailEnd type="none" w="sm" len="sm"/>
          </a:ln>
        </p:spPr>
      </p:pic>
    </p:spTree>
    <p:extLst>
      <p:ext uri="{BB962C8B-B14F-4D97-AF65-F5344CB8AC3E}">
        <p14:creationId xmlns:p14="http://schemas.microsoft.com/office/powerpoint/2010/main" val="2430314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1"/>
          <p:cNvSpPr txBox="1"/>
          <p:nvPr/>
        </p:nvSpPr>
        <p:spPr>
          <a:xfrm>
            <a:off x="72300" y="0"/>
            <a:ext cx="4133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Web Research using LLM</a:t>
            </a:r>
            <a:endParaRPr sz="2000" b="1" i="0" u="none" strike="noStrike" cap="none">
              <a:solidFill>
                <a:srgbClr val="000000"/>
              </a:solidFill>
              <a:latin typeface="Calibri"/>
              <a:ea typeface="Calibri"/>
              <a:cs typeface="Calibri"/>
              <a:sym typeface="Calibri"/>
            </a:endParaRPr>
          </a:p>
        </p:txBody>
      </p:sp>
      <p:sp>
        <p:nvSpPr>
          <p:cNvPr id="215" name="Google Shape;215;p31"/>
          <p:cNvSpPr txBox="1"/>
          <p:nvPr/>
        </p:nvSpPr>
        <p:spPr>
          <a:xfrm>
            <a:off x="72300" y="397425"/>
            <a:ext cx="4381500" cy="2555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Calibri"/>
                <a:ea typeface="Calibri"/>
                <a:cs typeface="Calibri"/>
                <a:sym typeface="Calibri"/>
              </a:rPr>
              <a:t>GPT Researcher</a:t>
            </a:r>
            <a:endParaRPr sz="1100">
              <a:latin typeface="Calibri"/>
              <a:ea typeface="Calibri"/>
              <a:cs typeface="Calibri"/>
              <a:sym typeface="Calibri"/>
            </a:endParaRPr>
          </a:p>
          <a:p>
            <a:pPr marL="0" lvl="0" indent="0" algn="l" rtl="0">
              <a:spcBef>
                <a:spcPts val="0"/>
              </a:spcBef>
              <a:spcAft>
                <a:spcPts val="0"/>
              </a:spcAft>
              <a:buNone/>
            </a:pPr>
            <a:r>
              <a:rPr lang="en" sz="1100" u="sng">
                <a:solidFill>
                  <a:schemeClr val="hlink"/>
                </a:solidFill>
                <a:latin typeface="Calibri"/>
                <a:ea typeface="Calibri"/>
                <a:cs typeface="Calibri"/>
                <a:sym typeface="Calibri"/>
                <a:hlinkClick r:id="rId3"/>
              </a:rPr>
              <a:t>https://github.com/assafelovic/gpt-researcher</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0" lvl="0" indent="0" algn="l" rtl="0">
              <a:spcBef>
                <a:spcPts val="0"/>
              </a:spcBef>
              <a:spcAft>
                <a:spcPts val="0"/>
              </a:spcAft>
              <a:buNone/>
            </a:pPr>
            <a:r>
              <a:rPr lang="en" sz="1100">
                <a:solidFill>
                  <a:schemeClr val="dk1"/>
                </a:solidFill>
                <a:latin typeface="Calibri"/>
                <a:ea typeface="Calibri"/>
                <a:cs typeface="Calibri"/>
                <a:sym typeface="Calibri"/>
              </a:rPr>
              <a:t>Web scraping</a:t>
            </a:r>
            <a:endParaRPr sz="1100">
              <a:solidFill>
                <a:schemeClr val="dk1"/>
              </a:solidFill>
              <a:latin typeface="Calibri"/>
              <a:ea typeface="Calibri"/>
              <a:cs typeface="Calibri"/>
              <a:sym typeface="Calibri"/>
            </a:endParaRPr>
          </a:p>
          <a:p>
            <a:pPr marL="0" lvl="0" indent="0" algn="l" rtl="0">
              <a:spcBef>
                <a:spcPts val="0"/>
              </a:spcBef>
              <a:spcAft>
                <a:spcPts val="0"/>
              </a:spcAft>
              <a:buNone/>
            </a:pPr>
            <a:r>
              <a:rPr lang="en" sz="1100" u="sng">
                <a:solidFill>
                  <a:schemeClr val="hlink"/>
                </a:solidFill>
                <a:latin typeface="Calibri"/>
                <a:ea typeface="Calibri"/>
                <a:cs typeface="Calibri"/>
                <a:sym typeface="Calibri"/>
                <a:hlinkClick r:id="rId4"/>
              </a:rPr>
              <a:t>https://python.langchain.com/docs/use_cases/web_scraping</a:t>
            </a:r>
            <a:endParaRPr sz="1100">
              <a:solidFill>
                <a:schemeClr val="dk1"/>
              </a:solidFill>
              <a:latin typeface="Calibri"/>
              <a:ea typeface="Calibri"/>
              <a:cs typeface="Calibri"/>
              <a:sym typeface="Calibri"/>
            </a:endParaRPr>
          </a:p>
          <a:p>
            <a:pPr marL="0" lvl="0" indent="0" algn="l" rtl="0">
              <a:spcBef>
                <a:spcPts val="0"/>
              </a:spcBef>
              <a:spcAft>
                <a:spcPts val="0"/>
              </a:spcAft>
              <a:buNone/>
            </a:pPr>
            <a:r>
              <a:rPr lang="en" sz="1100">
                <a:solidFill>
                  <a:schemeClr val="dk1"/>
                </a:solidFill>
                <a:latin typeface="Calibri"/>
                <a:ea typeface="Calibri"/>
                <a:cs typeface="Calibri"/>
                <a:sym typeface="Calibri"/>
              </a:rPr>
              <a:t>Web Research chatbot LangChain+OpenAI:</a:t>
            </a:r>
            <a:endParaRPr sz="1100">
              <a:solidFill>
                <a:schemeClr val="dk1"/>
              </a:solidFill>
              <a:latin typeface="Calibri"/>
              <a:ea typeface="Calibri"/>
              <a:cs typeface="Calibri"/>
              <a:sym typeface="Calibri"/>
            </a:endParaRPr>
          </a:p>
          <a:p>
            <a:pPr marL="0" lvl="0" indent="0" algn="l" rtl="0">
              <a:spcBef>
                <a:spcPts val="0"/>
              </a:spcBef>
              <a:spcAft>
                <a:spcPts val="0"/>
              </a:spcAft>
              <a:buNone/>
            </a:pPr>
            <a:r>
              <a:rPr lang="en" sz="1100" u="sng">
                <a:solidFill>
                  <a:schemeClr val="hlink"/>
                </a:solidFill>
                <a:latin typeface="Calibri"/>
                <a:ea typeface="Calibri"/>
                <a:cs typeface="Calibri"/>
                <a:sym typeface="Calibri"/>
                <a:hlinkClick r:id="rId5"/>
              </a:rPr>
              <a:t>https://medium.com/simform-engineering/creating-a-web-research-chatbot-using-langchain-and-openai-aa7113c9ccbf</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0" lvl="0" indent="0" algn="l" rtl="0">
              <a:spcBef>
                <a:spcPts val="0"/>
              </a:spcBef>
              <a:spcAft>
                <a:spcPts val="0"/>
              </a:spcAft>
              <a:buNone/>
            </a:pPr>
            <a:r>
              <a:rPr lang="en" sz="1100">
                <a:solidFill>
                  <a:schemeClr val="dk1"/>
                </a:solidFill>
                <a:latin typeface="Calibri"/>
                <a:ea typeface="Calibri"/>
                <a:cs typeface="Calibri"/>
                <a:sym typeface="Calibri"/>
              </a:rPr>
              <a:t>Pioneering the Future of Web Scraping with Intelligent AI Agents: Unleash the Power of AutoGen</a:t>
            </a:r>
            <a:endParaRPr sz="1100">
              <a:solidFill>
                <a:schemeClr val="dk1"/>
              </a:solidFill>
              <a:latin typeface="Calibri"/>
              <a:ea typeface="Calibri"/>
              <a:cs typeface="Calibri"/>
              <a:sym typeface="Calibri"/>
            </a:endParaRPr>
          </a:p>
          <a:p>
            <a:pPr marL="0" lvl="0" indent="0" algn="l" rtl="0">
              <a:spcBef>
                <a:spcPts val="0"/>
              </a:spcBef>
              <a:spcAft>
                <a:spcPts val="0"/>
              </a:spcAft>
              <a:buNone/>
            </a:pPr>
            <a:r>
              <a:rPr lang="en" sz="1100" u="sng">
                <a:solidFill>
                  <a:schemeClr val="hlink"/>
                </a:solidFill>
                <a:latin typeface="Calibri"/>
                <a:ea typeface="Calibri"/>
                <a:cs typeface="Calibri"/>
                <a:sym typeface="Calibri"/>
                <a:hlinkClick r:id="rId6"/>
              </a:rPr>
              <a:t>https://ai.plainenglish.io/pioneering-the-future-of-web-scraping-with-intelligent-ai-agents-unleash-the-power-of-autogen-222aa73daad6</a:t>
            </a:r>
            <a:endParaRPr sz="1100">
              <a:solidFill>
                <a:schemeClr val="dk1"/>
              </a:solidFill>
              <a:latin typeface="Calibri"/>
              <a:ea typeface="Calibri"/>
              <a:cs typeface="Calibri"/>
              <a:sym typeface="Calibri"/>
            </a:endParaRPr>
          </a:p>
          <a:p>
            <a:pPr marL="0" lvl="0" indent="0" algn="l" rtl="0">
              <a:spcBef>
                <a:spcPts val="0"/>
              </a:spcBef>
              <a:spcAft>
                <a:spcPts val="0"/>
              </a:spcAft>
              <a:buNone/>
            </a:pPr>
            <a:r>
              <a:rPr lang="en" sz="1100">
                <a:solidFill>
                  <a:schemeClr val="dk1"/>
                </a:solidFill>
                <a:latin typeface="Calibri"/>
                <a:ea typeface="Calibri"/>
                <a:cs typeface="Calibri"/>
                <a:sym typeface="Calibri"/>
              </a:rPr>
              <a:t>AutoGen Part 4 | Create Multi-Agents GPT for Research Apps !!! </a:t>
            </a:r>
            <a:endParaRPr sz="1100">
              <a:solidFill>
                <a:schemeClr val="dk1"/>
              </a:solidFill>
              <a:latin typeface="Calibri"/>
              <a:ea typeface="Calibri"/>
              <a:cs typeface="Calibri"/>
              <a:sym typeface="Calibri"/>
            </a:endParaRPr>
          </a:p>
          <a:p>
            <a:pPr marL="0" lvl="0" indent="0" algn="l" rtl="0">
              <a:spcBef>
                <a:spcPts val="0"/>
              </a:spcBef>
              <a:spcAft>
                <a:spcPts val="0"/>
              </a:spcAft>
              <a:buNone/>
            </a:pPr>
            <a:r>
              <a:rPr lang="en" sz="1100" u="sng">
                <a:solidFill>
                  <a:schemeClr val="hlink"/>
                </a:solidFill>
                <a:latin typeface="Calibri"/>
                <a:ea typeface="Calibri"/>
                <a:cs typeface="Calibri"/>
                <a:sym typeface="Calibri"/>
                <a:hlinkClick r:id="rId7"/>
              </a:rPr>
              <a:t>https://www.youtube.com/watch?v=WJIzVok-0GI</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0" lvl="0" indent="0" algn="l" rtl="0">
              <a:spcBef>
                <a:spcPts val="0"/>
              </a:spcBef>
              <a:spcAft>
                <a:spcPts val="0"/>
              </a:spcAft>
              <a:buNone/>
            </a:pPr>
            <a:endParaRPr sz="1100">
              <a:solidFill>
                <a:schemeClr val="dk1"/>
              </a:solidFill>
              <a:latin typeface="Calibri"/>
              <a:ea typeface="Calibri"/>
              <a:cs typeface="Calibri"/>
              <a:sym typeface="Calibri"/>
            </a:endParaRPr>
          </a:p>
        </p:txBody>
      </p:sp>
      <p:sp>
        <p:nvSpPr>
          <p:cNvPr id="216" name="Google Shape;216;p31"/>
          <p:cNvSpPr txBox="1"/>
          <p:nvPr/>
        </p:nvSpPr>
        <p:spPr>
          <a:xfrm>
            <a:off x="4670225" y="397425"/>
            <a:ext cx="4381500" cy="29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chemeClr val="dk1"/>
                </a:solidFill>
                <a:latin typeface="Roboto Mono"/>
                <a:ea typeface="Roboto Mono"/>
                <a:cs typeface="Roboto Mono"/>
                <a:sym typeface="Roboto Mono"/>
              </a:rPr>
              <a:t>xxx</a:t>
            </a:r>
            <a:endParaRPr sz="700">
              <a:solidFill>
                <a:schemeClr val="dk1"/>
              </a:solidFill>
              <a:latin typeface="Roboto Mono"/>
              <a:ea typeface="Roboto Mono"/>
              <a:cs typeface="Roboto Mono"/>
              <a:sym typeface="Roboto Mono"/>
            </a:endParaRPr>
          </a:p>
        </p:txBody>
      </p:sp>
    </p:spTree>
    <p:extLst>
      <p:ext uri="{BB962C8B-B14F-4D97-AF65-F5344CB8AC3E}">
        <p14:creationId xmlns:p14="http://schemas.microsoft.com/office/powerpoint/2010/main" val="33758169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7"/>
          <p:cNvSpPr txBox="1"/>
          <p:nvPr/>
        </p:nvSpPr>
        <p:spPr>
          <a:xfrm>
            <a:off x="72300" y="0"/>
            <a:ext cx="38796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Women in AI</a:t>
            </a:r>
            <a:endParaRPr sz="2000" b="1" i="0" u="none" strike="noStrike" cap="none">
              <a:solidFill>
                <a:srgbClr val="000000"/>
              </a:solidFill>
              <a:latin typeface="Calibri"/>
              <a:ea typeface="Calibri"/>
              <a:cs typeface="Calibri"/>
              <a:sym typeface="Calibri"/>
            </a:endParaRPr>
          </a:p>
        </p:txBody>
      </p:sp>
      <p:sp>
        <p:nvSpPr>
          <p:cNvPr id="263" name="Google Shape;263;p37"/>
          <p:cNvSpPr txBox="1"/>
          <p:nvPr/>
        </p:nvSpPr>
        <p:spPr>
          <a:xfrm>
            <a:off x="72300" y="4446825"/>
            <a:ext cx="4928100" cy="492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3"/>
              </a:rPr>
              <a:t>https://aiforgood.itu.int/celebrating-leading-women-in-ai-on-international-womens-day/</a:t>
            </a:r>
            <a:endParaRPr sz="10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4"/>
              </a:rPr>
              <a:t>https://www.forbes.com/sites/robtoews/2020/12/13/8-leading-women-in-the-field-of-ai/</a:t>
            </a:r>
            <a:endParaRPr sz="1000">
              <a:solidFill>
                <a:schemeClr val="dk1"/>
              </a:solidFill>
              <a:latin typeface="Calibri"/>
              <a:ea typeface="Calibri"/>
              <a:cs typeface="Calibri"/>
              <a:sym typeface="Calibri"/>
            </a:endParaRPr>
          </a:p>
        </p:txBody>
      </p:sp>
      <p:pic>
        <p:nvPicPr>
          <p:cNvPr id="264" name="Google Shape;264;p37"/>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3411256" y="932350"/>
            <a:ext cx="5457344" cy="2182938"/>
          </a:xfrm>
          <a:prstGeom prst="rect">
            <a:avLst/>
          </a:prstGeom>
          <a:noFill/>
          <a:ln>
            <a:noFill/>
          </a:ln>
        </p:spPr>
      </p:pic>
      <p:pic>
        <p:nvPicPr>
          <p:cNvPr id="265" name="Google Shape;265;p37"/>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231247" y="679877"/>
            <a:ext cx="1270294" cy="1132625"/>
          </a:xfrm>
          <a:prstGeom prst="rect">
            <a:avLst/>
          </a:prstGeom>
          <a:noFill/>
          <a:ln>
            <a:noFill/>
          </a:ln>
        </p:spPr>
      </p:pic>
      <p:sp>
        <p:nvSpPr>
          <p:cNvPr id="266" name="Google Shape;266;p37"/>
          <p:cNvSpPr txBox="1"/>
          <p:nvPr/>
        </p:nvSpPr>
        <p:spPr>
          <a:xfrm>
            <a:off x="155050" y="1762225"/>
            <a:ext cx="17445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t>Dr. Ebtesam Almazrouei</a:t>
            </a:r>
            <a:endParaRPr sz="1100"/>
          </a:p>
          <a:p>
            <a:pPr marL="0" lvl="0" indent="0" algn="ctr" rtl="0">
              <a:spcBef>
                <a:spcPts val="0"/>
              </a:spcBef>
              <a:spcAft>
                <a:spcPts val="0"/>
              </a:spcAft>
              <a:buNone/>
            </a:pPr>
            <a:r>
              <a:rPr lang="en" sz="1100"/>
              <a:t>TII, UAE</a:t>
            </a:r>
            <a:endParaRPr sz="1100"/>
          </a:p>
        </p:txBody>
      </p:sp>
      <p:pic>
        <p:nvPicPr>
          <p:cNvPr id="267" name="Google Shape;267;p37"/>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2027700" y="679875"/>
            <a:ext cx="992643" cy="1132625"/>
          </a:xfrm>
          <a:prstGeom prst="rect">
            <a:avLst/>
          </a:prstGeom>
          <a:noFill/>
          <a:ln>
            <a:noFill/>
          </a:ln>
        </p:spPr>
      </p:pic>
      <p:sp>
        <p:nvSpPr>
          <p:cNvPr id="268" name="Google Shape;268;p37"/>
          <p:cNvSpPr txBox="1"/>
          <p:nvPr/>
        </p:nvSpPr>
        <p:spPr>
          <a:xfrm>
            <a:off x="1943850" y="1812500"/>
            <a:ext cx="12288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t>Dr. Fei-Fei Li</a:t>
            </a:r>
            <a:endParaRPr sz="1100"/>
          </a:p>
          <a:p>
            <a:pPr marL="0" lvl="0" indent="0" algn="ctr" rtl="0">
              <a:spcBef>
                <a:spcPts val="0"/>
              </a:spcBef>
              <a:spcAft>
                <a:spcPts val="0"/>
              </a:spcAft>
              <a:buNone/>
            </a:pPr>
            <a:r>
              <a:rPr lang="en" sz="1100"/>
              <a:t>Stanford</a:t>
            </a:r>
            <a:endParaRPr sz="11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3498</Words>
  <Application>Microsoft Macintosh PowerPoint</Application>
  <PresentationFormat>On-screen Show (16:9)</PresentationFormat>
  <Paragraphs>353</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JetBrains Mono</vt:lpstr>
      <vt:lpstr>Roboto Mono</vt:lpstr>
      <vt:lpstr>Calibri</vt: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3</cp:revision>
  <dcterms:modified xsi:type="dcterms:W3CDTF">2024-03-08T02:24:52Z</dcterms:modified>
</cp:coreProperties>
</file>