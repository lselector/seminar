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Roboto Mono" pitchFamily="49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F916BC6-8AA8-4614-BCCC-B7C693FF55D5}">
  <a:tblStyle styleId="{7F916BC6-8AA8-4614-BCCC-B7C693FF55D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>
      <p:cViewPr varScale="1">
        <p:scale>
          <a:sx n="161" d="100"/>
          <a:sy n="161" d="100"/>
        </p:scale>
        <p:origin x="7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f5417c9c7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g1f5417c9c7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cb01868c3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2cb01868c3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cb5e50a2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2cb5e50a2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cb5e50a2fd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g2cb5e50a2fd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ca5a11b978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" name="Google Shape;117;g2ca5a11b978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c9ea90b5da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2c9ea90b5da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cb01868c32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g2cb01868c32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cb017cd3f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g2cb017cd3f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2ca5a11b978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3" name="Google Shape;163;g2ca5a11b978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cb01867ce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2cb01867ce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c9ea90b5d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g2c9ea90b5d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" name="Google Shape;201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hyperlink" Target="https://wccftech.com/intel-gaudi-3-ai-accelerator-5nm-128-gb-hbm2e-900w-50-percent-faster-nvidia-h100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blog/next-generation-meta-training-inference-accelerator-AI-MTIA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www.youtube.com/watch?v=gmzd8dhlc0g" TargetMode="External"/><Relationship Id="rId7" Type="http://schemas.openxmlformats.org/officeDocument/2006/relationships/hyperlink" Target="https://console.groq.com/docs/quickstar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roq.com" TargetMode="External"/><Relationship Id="rId5" Type="http://schemas.openxmlformats.org/officeDocument/2006/relationships/hyperlink" Target="https://www.youtube.com/watch?v=WQDMKTEgQnY" TargetMode="External"/><Relationship Id="rId10" Type="http://schemas.openxmlformats.org/officeDocument/2006/relationships/image" Target="../media/image19.jpg"/><Relationship Id="rId4" Type="http://schemas.openxmlformats.org/officeDocument/2006/relationships/hyperlink" Target="https://www.youtube.com/watch?v=fv69M1M_fXw" TargetMode="External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twitter.com/MistralAI/status/1777869263778291896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abs.perplexity.ai" TargetMode="External"/><Relationship Id="rId5" Type="http://schemas.openxmlformats.org/officeDocument/2006/relationships/hyperlink" Target="https://huggingface.co/mlx-community/Mixtral-8x22B-4bit" TargetMode="External"/><Relationship Id="rId4" Type="http://schemas.openxmlformats.org/officeDocument/2006/relationships/hyperlink" Target="https://huggingface.co/v2ray/Mixtral-8x22B-v0.1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economictimes.indiatimes.com/tech/technology/prompt-in-progress-genai-text-to-code-tools-boost-productivity/articleshow/109093288.cms" TargetMode="External"/><Relationship Id="rId3" Type="http://schemas.openxmlformats.org/officeDocument/2006/relationships/hyperlink" Target="https://finance.yahoo.com/news/report-jony-ive-openai-ceo-134000931.html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hyperlink" Target="https://www.theverge.com/2024/4/6/24122915/openai-youtube-transcripts-gpt-4-training-data-google" TargetMode="External"/><Relationship Id="rId10" Type="http://schemas.openxmlformats.org/officeDocument/2006/relationships/hyperlink" Target="https://twitter.com/elonmusk/status/1776351450542768368" TargetMode="External"/><Relationship Id="rId4" Type="http://schemas.openxmlformats.org/officeDocument/2006/relationships/image" Target="../media/image22.jpeg"/><Relationship Id="rId9" Type="http://schemas.openxmlformats.org/officeDocument/2006/relationships/hyperlink" Target="https://twitter.com/awnihannun/status/1777072588633882741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google.com/products/agent-builder" TargetMode="External"/><Relationship Id="rId3" Type="http://schemas.openxmlformats.org/officeDocument/2006/relationships/hyperlink" Target="https://www.youtube.com/watch?v=XQU9Agg2MrU" TargetMode="External"/><Relationship Id="rId7" Type="http://schemas.openxmlformats.org/officeDocument/2006/relationships/image" Target="../media/image25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i.google.dev/gemma/docs/codegemma" TargetMode="External"/><Relationship Id="rId11" Type="http://schemas.openxmlformats.org/officeDocument/2006/relationships/image" Target="../media/image26.png"/><Relationship Id="rId5" Type="http://schemas.openxmlformats.org/officeDocument/2006/relationships/hyperlink" Target="https://huggingface.co/blog/codegemma" TargetMode="External"/><Relationship Id="rId10" Type="http://schemas.openxmlformats.org/officeDocument/2006/relationships/hyperlink" Target="https://github.com/HumanAIGC" TargetMode="External"/><Relationship Id="rId4" Type="http://schemas.openxmlformats.org/officeDocument/2006/relationships/hyperlink" Target="https://venturebeat.com/ai/google-imagen-2-creates-four-second-animated-images/?utm_source=substack&amp;utm_medium=email" TargetMode="External"/><Relationship Id="rId9" Type="http://schemas.openxmlformats.org/officeDocument/2006/relationships/hyperlink" Target="https://humanaigc.github.io/emote-portrait-alive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2.19427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hyperlink" Target="https://medium.com/@bnjmn_marie/griffin-and-hawk-local-attention-for-efficient-language-models-7856fbb6bb32" TargetMode="External"/><Relationship Id="rId4" Type="http://schemas.openxmlformats.org/officeDocument/2006/relationships/hyperlink" Target="https://artgor.medium.com/paper-review-griffin-mixing-gated-linear-recurrences-with-local-attention-for-efficient-language-75e5a86b1b24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AndrewYNg/status/1776737961243218134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hyperlink" Target="https://meeno.com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rpathy/llm.c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iresearch/AIO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spaces/lmsys/chatbot-arena-leaderboar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hyperlink" Target="https://qz.com/tech-layoffs-high-ai-struggling-find-talent-1851368861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86325" y="1661225"/>
            <a:ext cx="4420200" cy="2955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AI Accelerators - GH200, GB200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Intel AI Accelerator - Gaudi 3 Chip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 AI Accelerator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Groq AI Accelerator - fast Inference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Mixtral 8x22B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$1 Bln to design new AI phone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GPT-4 trained on  1+ Mln hrs of YouTube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Text-to-Code usage grows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100+ toks/sec on a Mac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CodeGemma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Llama-3 to be release in a month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Imagen-2 Animated Images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635500" y="1661225"/>
            <a:ext cx="4420200" cy="2031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Vertex AI Agent Builder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EMO: Emote Portrait Alive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- Griffin &amp; Hawk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fake girlfriend/boyfriend industry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llm.c from Andrej Karpathy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AIOS: LLM Agent Operating System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9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500"/>
              <a:buFont typeface="Calibri"/>
              <a:buChar char="●"/>
            </a:pPr>
            <a:r>
              <a:rPr lang="en" sz="15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Tech Layoffs are x3 times lower than in 2023</a:t>
            </a:r>
            <a:endParaRPr sz="15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975700" y="115925"/>
            <a:ext cx="3192600" cy="9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6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</a:t>
            </a:r>
            <a:endParaRPr sz="36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April 12</a:t>
            </a:r>
            <a:r>
              <a:rPr lang="en" sz="24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24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47516" y="2794671"/>
            <a:ext cx="1458228" cy="89374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5137296" y="3766443"/>
            <a:ext cx="1318800" cy="1126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GH200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Grace CPU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Hopper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576 .. 624 GB of 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unified memory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starts 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$3.99/hr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252" y="2604385"/>
            <a:ext cx="1018675" cy="1279886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/>
          <p:nvPr/>
        </p:nvSpPr>
        <p:spPr>
          <a:xfrm>
            <a:off x="7755275" y="3952046"/>
            <a:ext cx="1318800" cy="11268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GB200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compute tray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 Grace CPUs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4 Blackwell GPUs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1.7 TB Memory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80 petaflops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1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55225" y="2642275"/>
            <a:ext cx="1318799" cy="1204109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/>
        </p:nvSpPr>
        <p:spPr>
          <a:xfrm>
            <a:off x="6538200" y="3952046"/>
            <a:ext cx="1140000" cy="757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GB200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Grace CPU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 Blackwell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~ 850 GB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0725" y="588527"/>
            <a:ext cx="4528799" cy="237082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4"/>
          <p:cNvSpPr txBox="1"/>
          <p:nvPr/>
        </p:nvSpPr>
        <p:spPr>
          <a:xfrm>
            <a:off x="1732875" y="3952046"/>
            <a:ext cx="14520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H100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Hopper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80GB GPU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with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AMD EPYC 9004 CPU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starts 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$1.99/hr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14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4093" y="3200080"/>
            <a:ext cx="1318800" cy="645647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1132" y="3161802"/>
            <a:ext cx="1451966" cy="6842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3254450" y="3952046"/>
            <a:ext cx="18000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H200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Hopper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128 .. 141 GB GPU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(still expected ...)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1963" y="136275"/>
            <a:ext cx="1232362" cy="82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30054" y="136275"/>
            <a:ext cx="954125" cy="820075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4"/>
          <p:cNvSpPr txBox="1"/>
          <p:nvPr/>
        </p:nvSpPr>
        <p:spPr>
          <a:xfrm>
            <a:off x="5511152" y="1059375"/>
            <a:ext cx="10740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Motherboard + several GPUs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6969125" y="1059375"/>
            <a:ext cx="2115000" cy="7572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Accelerated compute trays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GB200 NVL72 rack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36 Grace CPUs and 72 Blackwell GPUs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estimated price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$3.5 Mln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6699450" y="588525"/>
            <a:ext cx="1286100" cy="3678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4"/>
          <p:cNvSpPr txBox="1"/>
          <p:nvPr/>
        </p:nvSpPr>
        <p:spPr>
          <a:xfrm>
            <a:off x="208875" y="3952046"/>
            <a:ext cx="14520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A100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Ampere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80GB GPU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 per server,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starts 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$1.29/hr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8" name="Google Shape;78;p14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813" y="3193409"/>
            <a:ext cx="954125" cy="697523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/>
          <p:nvPr/>
        </p:nvSpPr>
        <p:spPr>
          <a:xfrm>
            <a:off x="3512018" y="1972596"/>
            <a:ext cx="951175" cy="573000"/>
          </a:xfrm>
          <a:custGeom>
            <a:avLst/>
            <a:gdLst/>
            <a:ahLst/>
            <a:cxnLst/>
            <a:rect l="l" t="t" r="r" b="b"/>
            <a:pathLst>
              <a:path w="38047" h="22920" extrusionOk="0">
                <a:moveTo>
                  <a:pt x="36116" y="16730"/>
                </a:moveTo>
                <a:cubicBezTo>
                  <a:pt x="28136" y="21289"/>
                  <a:pt x="17996" y="24365"/>
                  <a:pt x="9080" y="22137"/>
                </a:cubicBezTo>
                <a:cubicBezTo>
                  <a:pt x="4457" y="20982"/>
                  <a:pt x="-589" y="15637"/>
                  <a:pt x="196" y="10937"/>
                </a:cubicBezTo>
                <a:cubicBezTo>
                  <a:pt x="1748" y="1646"/>
                  <a:pt x="17168" y="-1038"/>
                  <a:pt x="26460" y="509"/>
                </a:cubicBezTo>
                <a:cubicBezTo>
                  <a:pt x="32509" y="1516"/>
                  <a:pt x="38047" y="8667"/>
                  <a:pt x="38047" y="14799"/>
                </a:cubicBezTo>
              </a:path>
            </a:pathLst>
          </a:cu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80" name="Google Shape;80;p14"/>
          <p:cNvSpPr txBox="1"/>
          <p:nvPr/>
        </p:nvSpPr>
        <p:spPr>
          <a:xfrm>
            <a:off x="0" y="0"/>
            <a:ext cx="2518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Nvidia AI Accelerators</a:t>
            </a:r>
            <a:endParaRPr sz="1800" b="1">
              <a:solidFill>
                <a:srgbClr val="0F1419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/>
          <p:nvPr/>
        </p:nvSpPr>
        <p:spPr>
          <a:xfrm>
            <a:off x="6181550" y="2057315"/>
            <a:ext cx="2847900" cy="105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Antoni Gaudí i Cornet (1852-1926) was a Catalan architect and designer from Spain. Most of his work are located in Barcelona, including his main work, the church of the Sagrada Família.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0" y="0"/>
            <a:ext cx="3926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Intel AI Accelerator - </a:t>
            </a:r>
            <a:r>
              <a:rPr lang="en" sz="1800" b="1">
                <a:solidFill>
                  <a:srgbClr val="0F1419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Gaudi 3 </a:t>
            </a: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Chip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81538" y="373950"/>
            <a:ext cx="2847975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2500" y="537900"/>
            <a:ext cx="3573000" cy="116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Intel claims that their new Gaudi 3 AI Accelerator Chips are better than Nvidia H100s in speed and cost and comparable with Nvidia Blackwell !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https://wccftech.com/intel-gaudi-3-ai-accelerator-5nm-128-gb-hbm2e-900w-50-percent-faster-nvidia-h100/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550" y="3172323"/>
            <a:ext cx="2847974" cy="19245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5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715576" y="525600"/>
            <a:ext cx="937398" cy="11637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5"/>
          <p:cNvSpPr txBox="1"/>
          <p:nvPr/>
        </p:nvSpPr>
        <p:spPr>
          <a:xfrm>
            <a:off x="4422650" y="3059496"/>
            <a:ext cx="1446900" cy="4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Universal board with 8 Gaudi 3 chips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1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498" y="1895792"/>
            <a:ext cx="4140650" cy="307235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3" name="Google Shape;93;p1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72800" y="1895797"/>
            <a:ext cx="1746626" cy="1163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4" name="Google Shape;94;p15"/>
          <p:cNvSpPr txBox="1"/>
          <p:nvPr/>
        </p:nvSpPr>
        <p:spPr>
          <a:xfrm>
            <a:off x="4422663" y="3709421"/>
            <a:ext cx="1446900" cy="8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Typical server contains dual Xeon CPU and 8 Gaudi GPUs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/>
        </p:nvSpPr>
        <p:spPr>
          <a:xfrm>
            <a:off x="0" y="0"/>
            <a:ext cx="429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Meta AI Accelerator - Inference &amp; Training</a:t>
            </a:r>
            <a:endParaRPr sz="1800" b="1">
              <a:solidFill>
                <a:srgbClr val="0F1419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72500" y="537900"/>
            <a:ext cx="3573000" cy="56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Meta Training and Inference Accelerator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https://ai.meta.com/blog/next-generation-meta-training-inference-accelerator-AI-MTIA/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600" y="1177500"/>
            <a:ext cx="2212700" cy="150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6"/>
          <p:cNvSpPr txBox="1"/>
          <p:nvPr/>
        </p:nvSpPr>
        <p:spPr>
          <a:xfrm>
            <a:off x="4140800" y="537900"/>
            <a:ext cx="2418600" cy="295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TSMC 5nm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Frequency 1.35GHz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2.35B gates, 103M flops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Area 25.6mm x 16.4mm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Package: 50mm x 40mm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Power: 0.85V, 90W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Host Connection: 8x PCIe Gen5 (32 GB/s)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   708 TFLOPS/s (INT8) (sparsity)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   354 TFLOPS/s (INT8)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On-chip memory: 256 MB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Off-chip LPDDR5: 128 GB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Memory Bandwidth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Local memory: 1 TB/s per PE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On-chip memory: 2.7 TB/s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Off-chip LPDDR5: 204.8 GB/s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113" y="2760050"/>
            <a:ext cx="2789667" cy="2078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/>
        </p:nvSpPr>
        <p:spPr>
          <a:xfrm>
            <a:off x="68175" y="53025"/>
            <a:ext cx="390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Groq AI Accelerator - fast Inference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80625" y="439875"/>
            <a:ext cx="3813000" cy="163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GROQ - Super fast LPU Inference Engine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LPU = Language Processing Unit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Up to 500 tokens/sec, x100 - x600 faster than GPUs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Char char="●"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https://www.youtube.com/watch?v=gmzd8dhlc0g</a:t>
            </a:r>
            <a:r>
              <a:rPr lang="en" sz="1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Char char="●"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https://www.youtube.com/watch?v=fv69M1M_fXw</a:t>
            </a:r>
            <a:r>
              <a:rPr lang="en" sz="1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Char char="●"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https://www.youtube.com/watch?v=WQDMKTEgQnY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Char char="●"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https://groq.com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alibri"/>
              <a:buChar char="●"/>
            </a:pPr>
            <a:r>
              <a:rPr lang="en" sz="11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https://console.groq.com/docs/quickstart</a:t>
            </a:r>
            <a:r>
              <a:rPr lang="en" sz="11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001826" y="2269425"/>
            <a:ext cx="6036026" cy="2752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1" name="Google Shape;111;p17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22100" y="106951"/>
            <a:ext cx="2822051" cy="19646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2" name="Google Shape;11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90250" y="2223975"/>
            <a:ext cx="1089925" cy="1089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7"/>
          <p:cNvSpPr txBox="1"/>
          <p:nvPr/>
        </p:nvSpPr>
        <p:spPr>
          <a:xfrm>
            <a:off x="80625" y="3389950"/>
            <a:ext cx="2479800" cy="138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Jonathan Ross* is Groq’s founder and CEO. He has began Google’s TPU effort as a 20% project, 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and became a member of Google X’s Rapid Eval Team (Moonshots factory).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 txBox="1"/>
          <p:nvPr/>
        </p:nvSpPr>
        <p:spPr>
          <a:xfrm>
            <a:off x="3975613" y="696713"/>
            <a:ext cx="2164500" cy="78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Groq's LPU card cost $20K,</a:t>
            </a:r>
            <a:endParaRPr sz="13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which is much cheaper than $35K for Nvidia's H100</a:t>
            </a:r>
            <a:endParaRPr sz="11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/>
        </p:nvSpPr>
        <p:spPr>
          <a:xfrm>
            <a:off x="103100" y="400175"/>
            <a:ext cx="3990600" cy="82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Mistral has released a bigger Mixtral model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https://twitter.com/MistralAI/status/1777869263778291896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https://huggingface.co/v2ray/Mixtral-8x22B-v0.1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https://huggingface.co/mlx-community/Mixtral-8x22B-4bit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Play with it: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https://labs.perplexity.ai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-76200" y="-76200"/>
            <a:ext cx="1645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Mixtral 8x22B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Google Shape;121;p18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782575" y="135825"/>
            <a:ext cx="2247000" cy="30499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graphicFrame>
        <p:nvGraphicFramePr>
          <p:cNvPr id="122" name="Google Shape;122;p18"/>
          <p:cNvGraphicFramePr/>
          <p:nvPr/>
        </p:nvGraphicFramePr>
        <p:xfrm>
          <a:off x="103100" y="1788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{7F916BC6-8AA8-4614-BCCC-B7C693FF55D5}</a:tableStyleId>
              </a:tblPr>
              <a:tblGrid>
                <a:gridCol w="1217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7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95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Model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ARC C</a:t>
                      </a:r>
                      <a:endParaRPr sz="90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(25-shot)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Hellaswag </a:t>
                      </a:r>
                      <a:endParaRPr sz="90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(10-shot)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MMLU </a:t>
                      </a:r>
                      <a:endParaRPr sz="900"/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(5-shot)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TruthfulQA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Mixtral 8x22B - Base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70.5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88.9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77.3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52.3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Cohere Command R+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70.99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88.56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75.73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56.3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Mixtral 8x7B-Base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66.38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86.46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71.88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46.81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Owen1.5-728-Base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65.87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85.99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77.2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59.61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LLAMA-2-70B-Base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87.1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69.9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44.7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83.2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mistral-large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89.2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81.2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50.5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mistral-medium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75.3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mistral-small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72.2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51.7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84.7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GPT-3.5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85.5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70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81.6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GPT-4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95.3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86.4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87.5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Claude 3 Opus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95.4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88.5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Claude 3 Sonet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75.1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Claude 3 Haiku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85.9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75.2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74.2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Gemini 1.0 Pro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84.7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71.8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86.5 (Maj1@32)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88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Gemini 1.0 Ultra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87.8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83.7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94.4 (Maj1@32)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14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Gemini 1.5 Pro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92.5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81.9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91.7 (11)</a:t>
                      </a:r>
                      <a:endParaRPr sz="900"/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23" name="Google Shape;123;p18"/>
          <p:cNvSpPr txBox="1"/>
          <p:nvPr/>
        </p:nvSpPr>
        <p:spPr>
          <a:xfrm>
            <a:off x="4491650" y="3976000"/>
            <a:ext cx="3990600" cy="6342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(Abstraction and Reasoning Corpus) - a dataset by Francois Chollet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HellaSwag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- a dataset to test for grounded common sense inference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MMLU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= Massive Multitask Language Understanding (math, science, medicine, finance, ...)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102802" y="1326450"/>
            <a:ext cx="4289700" cy="332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transformers import AutoModelForCausalLM, AutoTokenizer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model_id = "v2ray/Mixtral-8x22B-v0.1"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5" name="Google Shape;125;p18"/>
          <p:cNvSpPr txBox="1"/>
          <p:nvPr/>
        </p:nvSpPr>
        <p:spPr>
          <a:xfrm>
            <a:off x="4491628" y="723700"/>
            <a:ext cx="2191800" cy="225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x3 times bigger than 8x7B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176B parameters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torrent download 261 GB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VRAM 260 GB in fp16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VRAM 73 GB in 4bits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65K tokens sequence length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32000 vocab size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 experts, 2 experts/token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tokeniser similar to 7b model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6K dim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8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17871" y="135825"/>
            <a:ext cx="128390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/>
        </p:nvSpPr>
        <p:spPr>
          <a:xfrm>
            <a:off x="87825" y="479650"/>
            <a:ext cx="4325100" cy="100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Former Apple Chief Design Officer Jony Ive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OpenAI CEO Sam Altman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have raised ~$1 Bln from Masayoshi Son’s Softbank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design the new kind of smartphone device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https://finance.yahoo.com/news/report-jony-ive-openai-ceo-134000931.html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1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65" y="1576950"/>
            <a:ext cx="2078046" cy="1163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 txBox="1"/>
          <p:nvPr/>
        </p:nvSpPr>
        <p:spPr>
          <a:xfrm>
            <a:off x="87825" y="3276225"/>
            <a:ext cx="4263600" cy="116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developed its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Whisper audio transcription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model and used it to transcribe over a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million hours of YouTube videos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train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GPT-4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Company knew this was legally questionable but believed it to be fair use.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https://www.theverge.com/2024/4/6/24122915/openai-youtube-transcripts-gpt-4-training-data-google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1089" y="2034150"/>
            <a:ext cx="2078050" cy="116370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 txBox="1"/>
          <p:nvPr/>
        </p:nvSpPr>
        <p:spPr>
          <a:xfrm>
            <a:off x="0" y="0"/>
            <a:ext cx="11139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Misc 1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19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61850" y="1092275"/>
            <a:ext cx="4263600" cy="214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7" name="Google Shape;137;p19"/>
          <p:cNvSpPr txBox="1"/>
          <p:nvPr/>
        </p:nvSpPr>
        <p:spPr>
          <a:xfrm>
            <a:off x="4731100" y="479650"/>
            <a:ext cx="4325100" cy="563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Text-to-Code usage grows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https://economictimes.indiatimes.com/tech/technology/prompt-in-progress-genai-text-to-code-tools-boost-productivity/articleshow/109093288.cms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/>
        </p:nvSpPr>
        <p:spPr>
          <a:xfrm>
            <a:off x="4761850" y="3297605"/>
            <a:ext cx="4263600" cy="1009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 is great: 103.5 toks-per-sec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Apple Studio Ultra M2 192 GB memory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MLX framework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4-bit Mistral 7B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https://twitter.com/awnihannun/status/1777072588633882741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4761850" y="4361695"/>
            <a:ext cx="4263600" cy="25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Gemma 1.1 Instruct 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2B and “7B” are out!</a:t>
            </a:r>
            <a:endParaRPr sz="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76975" y="4507440"/>
            <a:ext cx="4263600" cy="40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Elon Musk Announces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Tesla's Robotaxi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Unveiling in August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https://twitter.com/elonmusk/status/1776351450542768368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0"/>
          <p:cNvSpPr txBox="1"/>
          <p:nvPr/>
        </p:nvSpPr>
        <p:spPr>
          <a:xfrm>
            <a:off x="141350" y="2319350"/>
            <a:ext cx="4308900" cy="71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Google’s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Imagen 2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can now create 4 sec animated images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https://www.youtube.com/watch?v=XQU9Agg2MrU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https://venturebeat.com/ai/google-imagen-2-creates-four-second-animated-images/?utm_source=substack&amp;utm_medium=email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0"/>
          <p:cNvSpPr txBox="1"/>
          <p:nvPr/>
        </p:nvSpPr>
        <p:spPr>
          <a:xfrm>
            <a:off x="0" y="0"/>
            <a:ext cx="101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Misc 2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0"/>
          <p:cNvSpPr txBox="1"/>
          <p:nvPr/>
        </p:nvSpPr>
        <p:spPr>
          <a:xfrm>
            <a:off x="141350" y="549500"/>
            <a:ext cx="4308900" cy="105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Google open-sources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CodeGemma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models based on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Gemma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architecture and uploaded pre-quantized 4-bit models for 4x faster downloading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https://huggingface.co/blog/codegemma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https://ai.google.dev/gemma/docs/codegemma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0"/>
          <p:cNvSpPr txBox="1"/>
          <p:nvPr/>
        </p:nvSpPr>
        <p:spPr>
          <a:xfrm>
            <a:off x="141350" y="1748825"/>
            <a:ext cx="4308900" cy="45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At an event in London on Tuesday, Meta confirmed that it plans an initial release of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Llama 3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within the next month.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1350" y="3104649"/>
            <a:ext cx="2732702" cy="1385674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0"/>
          <p:cNvSpPr txBox="1"/>
          <p:nvPr/>
        </p:nvSpPr>
        <p:spPr>
          <a:xfrm>
            <a:off x="6042900" y="1573200"/>
            <a:ext cx="2971500" cy="161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Vertex AI Agent Builder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https://cloud.google.com/products/agent-builder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Build conversational AI agents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Ground your apps in Google Search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Use Vertex AI search for RAG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Use search component APIs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Vector search (embeddings)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Use LangChain on Vertex AI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3279100" y="3698050"/>
            <a:ext cx="2511000" cy="90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EMO: Emote Portrait Alive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Portrait + Audio =&gt; animated video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https://humanaigc.github.io/emote-portrait-alive/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https://github.com/HumanAIGC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20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43575" y="3332300"/>
            <a:ext cx="3170877" cy="1741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7682" y="110073"/>
            <a:ext cx="2671542" cy="1310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1"/>
          <p:cNvSpPr txBox="1"/>
          <p:nvPr/>
        </p:nvSpPr>
        <p:spPr>
          <a:xfrm>
            <a:off x="141350" y="537900"/>
            <a:ext cx="3573000" cy="4226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 - Griffin &amp; Hawk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https://arxiv.org/abs/2402.19427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- paper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Hawk and Griffin are new RNNs by DeepMind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Hawk  - high performance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(faster than Mamba) using gated linear recurrences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Griffin - matches Llama-2’s performance with significantly less training data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Griffin is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a hybrid combining gated linear recurrences and local attention.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Griffin - handles long sequences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(longer than seen during training).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Both models are as hardware efficient as Transformers, but offer </a:t>
            </a:r>
            <a:r>
              <a:rPr lang="en" sz="13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lower latency and higher throughput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during inference.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Griffin is scaled to 14 billion parameters.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https://artgor.medium.com/paper-review-griffin-mixing-gated-linear-recurrences-with-local-attention-for-efficient-language-75e5a86b1b24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77800" algn="l" rtl="0"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https://medium.com/@bnjmn_marie/griffin-and-hawk-local-attention-for-efficient-language-models-7856fbb6bb32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1"/>
          <p:cNvSpPr txBox="1"/>
          <p:nvPr/>
        </p:nvSpPr>
        <p:spPr>
          <a:xfrm>
            <a:off x="0" y="0"/>
            <a:ext cx="21444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rgbClr val="0F1419"/>
                </a:solidFill>
                <a:highlight>
                  <a:schemeClr val="lt1"/>
                </a:highlight>
                <a:latin typeface="Calibri"/>
                <a:ea typeface="Calibri"/>
                <a:cs typeface="Calibri"/>
                <a:sym typeface="Calibri"/>
              </a:rPr>
              <a:t>Griffin &amp; Hawk</a:t>
            </a:r>
            <a:endParaRPr sz="1800" b="1">
              <a:solidFill>
                <a:srgbClr val="0F1419"/>
              </a:solidFill>
              <a:highlight>
                <a:srgbClr val="FFFF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46900" y="916900"/>
            <a:ext cx="5124851" cy="3634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2"/>
          <p:cNvSpPr txBox="1"/>
          <p:nvPr/>
        </p:nvSpPr>
        <p:spPr>
          <a:xfrm>
            <a:off x="136200" y="461700"/>
            <a:ext cx="4910400" cy="307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Andrew Ng: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https://twitter.com/AndrewYNg/status/1776737961243218134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Financial Times has a great article on Renate Nyborg's work speaking about the dangers of the AI fake girlfriend/boyfriend industry and the risk of this leading to greater loneliness.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Renate says  "Men didn’t want to meet girls because they had virtual girlfriends who said exactly what they wanted to hear."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regulators wondering what are the risky applications of AI, I would urge taking a look at the fake gf/bf industry!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contrast, Meeno ( </a:t>
            </a: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https://meeno.com</a:t>
            </a: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) gives advice for human relationships, and is working to bring people together. Working to reduce human loneliness is a wonderful goal!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2"/>
          <p:cNvSpPr txBox="1"/>
          <p:nvPr/>
        </p:nvSpPr>
        <p:spPr>
          <a:xfrm>
            <a:off x="0" y="0"/>
            <a:ext cx="3926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AI fake girlfriend/boyfriend industry 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7" name="Google Shape;167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82725" y="119600"/>
            <a:ext cx="2143125" cy="2143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8" name="Google Shape;168;p2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3779" y="2471575"/>
            <a:ext cx="2641027" cy="2543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/>
          <p:nvPr/>
        </p:nvSpPr>
        <p:spPr>
          <a:xfrm>
            <a:off x="141350" y="537900"/>
            <a:ext cx="3573000" cy="165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LLM training in simple, pure C/CUDA.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There is no need for 245MB of PyTorch or 107MB of cPython.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For example, training GPT-2 (CPU, fp32) is ~1,000 lines of clean code in a single file.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It compiles and runs instantly, and exactly matches the PyTorch reference implementation.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https://github.com/karpathy/llm.c</a:t>
            </a: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3"/>
          <p:cNvSpPr txBox="1"/>
          <p:nvPr/>
        </p:nvSpPr>
        <p:spPr>
          <a:xfrm>
            <a:off x="0" y="0"/>
            <a:ext cx="3926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llm.c from Andrej Karpathy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2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63450" y="537900"/>
            <a:ext cx="1372550" cy="137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3"/>
          <p:cNvSpPr txBox="1"/>
          <p:nvPr/>
        </p:nvSpPr>
        <p:spPr>
          <a:xfrm>
            <a:off x="4127425" y="1910450"/>
            <a:ext cx="1644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Andrej Karpathy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4"/>
          <p:cNvSpPr txBox="1"/>
          <p:nvPr/>
        </p:nvSpPr>
        <p:spPr>
          <a:xfrm>
            <a:off x="65150" y="461700"/>
            <a:ext cx="3573000" cy="34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AIOS = AI OS (AI Operating System)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open source LLM Agent operating system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embeds large language model into Operating Systems (OS) as the brain of the OS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SzPts val="1300"/>
              <a:buFont typeface="Calibri"/>
              <a:buChar char="●"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enables an operating system "with soul"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It is an important step towards AGI. 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latin typeface="Calibri"/>
                <a:ea typeface="Calibri"/>
                <a:cs typeface="Calibri"/>
                <a:sym typeface="Calibri"/>
              </a:rPr>
              <a:t>AIOS is designed to: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optimize resource allocation,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facilitate context switch across agents,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enable concurrent execution of agents,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provide tool service for agents,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 access control for agents, 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96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Char char="●"/>
            </a:pPr>
            <a:r>
              <a:rPr lang="en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provide a rich set of toolkits for developers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https://github.com/agiresearch/AIOS</a:t>
            </a:r>
            <a:endParaRPr sz="13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4"/>
          <p:cNvSpPr txBox="1"/>
          <p:nvPr/>
        </p:nvSpPr>
        <p:spPr>
          <a:xfrm>
            <a:off x="0" y="0"/>
            <a:ext cx="3926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>
                <a:solidFill>
                  <a:srgbClr val="0F1419"/>
                </a:solidFill>
                <a:highlight>
                  <a:srgbClr val="FFFFFF"/>
                </a:highlight>
                <a:latin typeface="Calibri"/>
                <a:ea typeface="Calibri"/>
                <a:cs typeface="Calibri"/>
                <a:sym typeface="Calibri"/>
              </a:rPr>
              <a:t>AIOS: LLM Agent Operating System</a:t>
            </a:r>
            <a:endParaRPr sz="18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3" name="Google Shape;183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9426" y="2182825"/>
            <a:ext cx="5335301" cy="2873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/>
        </p:nvSpPr>
        <p:spPr>
          <a:xfrm>
            <a:off x="7484600" y="998050"/>
            <a:ext cx="15672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models: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81</a:t>
            </a:r>
            <a:endParaRPr sz="13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votes: </a:t>
            </a: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634676</a:t>
            </a:r>
            <a:endParaRPr sz="13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April 9</a:t>
            </a:r>
            <a:r>
              <a:rPr lang="en" sz="13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, 2024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5"/>
          <p:cNvSpPr txBox="1"/>
          <p:nvPr/>
        </p:nvSpPr>
        <p:spPr>
          <a:xfrm>
            <a:off x="7254050" y="421150"/>
            <a:ext cx="18315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95% CI = Confidence Interval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 txBox="1"/>
          <p:nvPr/>
        </p:nvSpPr>
        <p:spPr>
          <a:xfrm>
            <a:off x="-38048" y="-108050"/>
            <a:ext cx="4151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Crowd-sourced "Arena" Leaderboard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5"/>
          <p:cNvSpPr txBox="1"/>
          <p:nvPr/>
        </p:nvSpPr>
        <p:spPr>
          <a:xfrm>
            <a:off x="5535876" y="45850"/>
            <a:ext cx="35496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https://huggingface.co/spaces/lmsys/chatbot-arena-leaderboard</a:t>
            </a: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5"/>
          <p:cNvSpPr txBox="1"/>
          <p:nvPr/>
        </p:nvSpPr>
        <p:spPr>
          <a:xfrm>
            <a:off x="4345950" y="2319025"/>
            <a:ext cx="8874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5"/>
          <p:cNvSpPr txBox="1"/>
          <p:nvPr/>
        </p:nvSpPr>
        <p:spPr>
          <a:xfrm>
            <a:off x="4345950" y="2998653"/>
            <a:ext cx="8874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4345950" y="3678266"/>
            <a:ext cx="8874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717" y="421150"/>
            <a:ext cx="4257410" cy="27457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5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500" y="3136640"/>
            <a:ext cx="4257410" cy="173130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5"/>
          <p:cNvSpPr txBox="1"/>
          <p:nvPr/>
        </p:nvSpPr>
        <p:spPr>
          <a:xfrm>
            <a:off x="4345950" y="4664841"/>
            <a:ext cx="8874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5"/>
          <p:cNvSpPr txBox="1"/>
          <p:nvPr/>
        </p:nvSpPr>
        <p:spPr>
          <a:xfrm>
            <a:off x="4345950" y="4171553"/>
            <a:ext cx="8874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source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6"/>
          <p:cNvSpPr txBox="1"/>
          <p:nvPr/>
        </p:nvSpPr>
        <p:spPr>
          <a:xfrm>
            <a:off x="72300" y="76200"/>
            <a:ext cx="3999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Tech Layoffs are lower than in 2023</a:t>
            </a:r>
            <a:endParaRPr sz="20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6"/>
          <p:cNvSpPr txBox="1"/>
          <p:nvPr/>
        </p:nvSpPr>
        <p:spPr>
          <a:xfrm>
            <a:off x="6291625" y="109963"/>
            <a:ext cx="20025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Layoffs - </a:t>
            </a:r>
            <a:r>
              <a:rPr lang="en" sz="13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r>
              <a:rPr lang="en" sz="1300" b="0" i="0" u="none" strike="noStrike" cap="none">
                <a:solidFill>
                  <a:srgbClr val="0F0F0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b="0" i="0" u="none" strike="noStrike" cap="none">
              <a:solidFill>
                <a:srgbClr val="0F0F0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387275" y="4202375"/>
            <a:ext cx="8367000" cy="9234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Salaries for AI engineers rose 12% from the third to fourth quarter last year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average salary for a senior AI engineer nationally is more than $190,000, according to Comprehensive.io.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●"/>
            </a:pP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AI has a talent shortage, meaning </a:t>
            </a:r>
            <a:r>
              <a:rPr lang="en" sz="1200" b="1" i="0" u="none" strike="noStrike" cap="non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$1 Mln salary job offers!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Even during tech layoffs</a:t>
            </a:r>
            <a:b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https://qz.com/tech-layoffs-high-ai-struggling-find-talent-1851368861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838" y="656951"/>
            <a:ext cx="8067873" cy="3482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6"/>
          <p:cNvSpPr/>
          <p:nvPr/>
        </p:nvSpPr>
        <p:spPr>
          <a:xfrm>
            <a:off x="4287625" y="1553375"/>
            <a:ext cx="861300" cy="1665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26"/>
          <p:cNvSpPr/>
          <p:nvPr/>
        </p:nvSpPr>
        <p:spPr>
          <a:xfrm>
            <a:off x="6877475" y="1553393"/>
            <a:ext cx="861300" cy="1665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5238" y="1203525"/>
            <a:ext cx="2094075" cy="2094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7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7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27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0941" y="3664175"/>
            <a:ext cx="1144600" cy="41587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7"/>
          <p:cNvSpPr txBox="1"/>
          <p:nvPr/>
        </p:nvSpPr>
        <p:spPr>
          <a:xfrm>
            <a:off x="912377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7"/>
          <p:cNvSpPr txBox="1"/>
          <p:nvPr/>
        </p:nvSpPr>
        <p:spPr>
          <a:xfrm>
            <a:off x="536203" y="4360974"/>
            <a:ext cx="2094075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8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1863</Words>
  <Application>Microsoft Macintosh PowerPoint</Application>
  <PresentationFormat>On-screen Show (16:9)</PresentationFormat>
  <Paragraphs>321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</cp:revision>
  <dcterms:modified xsi:type="dcterms:W3CDTF">2024-04-11T18:40:10Z</dcterms:modified>
</cp:coreProperties>
</file>