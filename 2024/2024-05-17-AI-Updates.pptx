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6858000" cy="9144000"/>
  <p:embeddedFontLst>
    <p:embeddedFont>
      <p:font typeface="Roboto Mono" pitchFamily="49" charset="0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EA7C72C-350E-48B4-9140-AC023A573A22}">
  <a:tblStyle styleId="{3EA7C72C-350E-48B4-9140-AC023A573A2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>
      <p:cViewPr varScale="1">
        <p:scale>
          <a:sx n="161" d="100"/>
          <a:sy n="161" d="100"/>
        </p:scale>
        <p:origin x="78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" name="Google Shape;5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2db3e12f42d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" name="Google Shape;64;g2db3e12f42d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2dd42028c3e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4" name="Google Shape;74;g2dd42028c3e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1f80c797b9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3" name="Google Shape;83;g1f80c797b9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ddbbf5bd38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" name="Google Shape;99;g2ddbbf5bd38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2db883b6776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4" name="Google Shape;114;g2db883b6776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2db883b6776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4" name="Google Shape;124;g2db883b6776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ddbbf5bd38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7" name="Google Shape;137;g2ddbbf5bd38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ddbbf5bd38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2" name="Google Shape;152;g2ddbbf5bd38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2dd42028c3e_1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9" name="Google Shape;159;g2dd42028c3e_1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2ddbbf5bd38_0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0" name="Google Shape;170;g2ddbbf5bd38_0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202f8b223fd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8" name="Google Shape;178;g202f8b223fd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4" name="Google Shape;194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4" name="Google Shape;204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4" name="Google Shape;214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" type="obj">
  <p:cSld name="OBJEC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457172" y="205067"/>
            <a:ext cx="8228700" cy="8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457172" y="1203299"/>
            <a:ext cx="8228700" cy="29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marL="91440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openai.com/api/pricing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https://blog.google/products/search/generative-ai-google-search-may-2024/" TargetMode="External"/><Relationship Id="rId3" Type="http://schemas.openxmlformats.org/officeDocument/2006/relationships/hyperlink" Target="https://aitestkitchen.withgoogle.com/tools/image-fx" TargetMode="External"/><Relationship Id="rId7" Type="http://schemas.openxmlformats.org/officeDocument/2006/relationships/hyperlink" Target="https://twitter.com/rowancheung/status/1790437573694996667" TargetMode="External"/><Relationship Id="rId12" Type="http://schemas.openxmlformats.org/officeDocument/2006/relationships/hyperlink" Target="https://deepmind.google/technologies/gemini/flash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deepmind.google/technologies/veo/" TargetMode="External"/><Relationship Id="rId11" Type="http://schemas.openxmlformats.org/officeDocument/2006/relationships/hyperlink" Target="https://ai.google.dev/pricing" TargetMode="External"/><Relationship Id="rId5" Type="http://schemas.openxmlformats.org/officeDocument/2006/relationships/hyperlink" Target="https://aitestkitchen.withgoogle.com/tools/video-fx" TargetMode="External"/><Relationship Id="rId10" Type="http://schemas.openxmlformats.org/officeDocument/2006/relationships/image" Target="../media/image5.png"/><Relationship Id="rId4" Type="http://schemas.openxmlformats.org/officeDocument/2006/relationships/hyperlink" Target="https://aitestkitchen.withgoogle.com/tools/music-fx" TargetMode="External"/><Relationship Id="rId9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chat.lmsys.org/?leaderboard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twitter.com/maximelabonne/status/1790676962974867724" TargetMode="External"/><Relationship Id="rId7" Type="http://schemas.openxmlformats.org/officeDocument/2006/relationships/image" Target="../media/image10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hyperlink" Target="https://twitter.com/maximelabonne/status/1790519226677026831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anthropic.com/en/docs/prompt-generator" TargetMode="External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stealthgpt.ai" TargetMode="External"/><Relationship Id="rId5" Type="http://schemas.openxmlformats.org/officeDocument/2006/relationships/hyperlink" Target="https://www.stealthgpt.ai/blog/how-to-beat-conch-ai-detector" TargetMode="External"/><Relationship Id="rId4" Type="http://schemas.openxmlformats.org/officeDocument/2006/relationships/hyperlink" Target="https://github.com/McGill-NLP/webllama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ya2bxqbM3Yw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hyperlink" Target="https://siri-pro.com/en/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twitter.com/ilyasut/status/1790517455628198322" TargetMode="External"/><Relationship Id="rId7" Type="http://schemas.openxmlformats.org/officeDocument/2006/relationships/image" Target="../media/image17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jpe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jpeg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hyperlink" Target="https://docs.mistral.ai/guides/model-selection/" TargetMode="External"/><Relationship Id="rId13" Type="http://schemas.openxmlformats.org/officeDocument/2006/relationships/hyperlink" Target="https://www.anthropic.com/news/claude-2-1" TargetMode="External"/><Relationship Id="rId3" Type="http://schemas.openxmlformats.org/officeDocument/2006/relationships/hyperlink" Target="https://gorilla.cs.berkeley.edu/leaderboard.html" TargetMode="External"/><Relationship Id="rId7" Type="http://schemas.openxmlformats.org/officeDocument/2006/relationships/hyperlink" Target="https://llama.meta.com/llama3" TargetMode="External"/><Relationship Id="rId12" Type="http://schemas.openxmlformats.org/officeDocument/2006/relationships/hyperlink" Target="https://www.anthropic.com/news/releasing-claude-instant-1-2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orilla.cs.berkeley.edu/blogs/7_open_functions_v2.html" TargetMode="External"/><Relationship Id="rId11" Type="http://schemas.openxmlformats.org/officeDocument/2006/relationships/hyperlink" Target="https://huggingface.co/meetkai/functionary-small-v2.4" TargetMode="External"/><Relationship Id="rId5" Type="http://schemas.openxmlformats.org/officeDocument/2006/relationships/hyperlink" Target="https://www.anthropic.com/news/claude-3-family" TargetMode="External"/><Relationship Id="rId10" Type="http://schemas.openxmlformats.org/officeDocument/2006/relationships/hyperlink" Target="https://huggingface.co/meetkai/functionary-medium-v2.4" TargetMode="External"/><Relationship Id="rId4" Type="http://schemas.openxmlformats.org/officeDocument/2006/relationships/hyperlink" Target="https://platform.openai.com/docs/models/gpt-4-and-gpt-4-turbo" TargetMode="External"/><Relationship Id="rId9" Type="http://schemas.openxmlformats.org/officeDocument/2006/relationships/hyperlink" Target="https://txt.cohere.com/command-r-plus-microsoft-azure" TargetMode="External"/><Relationship Id="rId14" Type="http://schemas.openxmlformats.org/officeDocument/2006/relationships/hyperlink" Target="https://www.databricks.com/blog/introducing-dbrx-new-state-art-open-llm" TargetMode="Externa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hyperlink" Target="https://codeium.com" TargetMode="External"/><Relationship Id="rId13" Type="http://schemas.openxmlformats.org/officeDocument/2006/relationships/image" Target="../media/image26.png"/><Relationship Id="rId3" Type="http://schemas.openxmlformats.org/officeDocument/2006/relationships/hyperlink" Target="https://github.com/features/copilot" TargetMode="External"/><Relationship Id="rId7" Type="http://schemas.openxmlformats.org/officeDocument/2006/relationships/hyperlink" Target="https://www.tabnine.com" TargetMode="External"/><Relationship Id="rId12" Type="http://schemas.openxmlformats.org/officeDocument/2006/relationships/image" Target="../media/image25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11" Type="http://schemas.openxmlformats.org/officeDocument/2006/relationships/image" Target="../media/image24.png"/><Relationship Id="rId5" Type="http://schemas.openxmlformats.org/officeDocument/2006/relationships/image" Target="../media/image22.png"/><Relationship Id="rId10" Type="http://schemas.openxmlformats.org/officeDocument/2006/relationships/hyperlink" Target="https://snyk.io/product/snyk-code/" TargetMode="External"/><Relationship Id="rId4" Type="http://schemas.openxmlformats.org/officeDocument/2006/relationships/image" Target="../media/image21.png"/><Relationship Id="rId9" Type="http://schemas.openxmlformats.org/officeDocument/2006/relationships/hyperlink" Target="https://cursor.sh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layoffs.fyi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eais.ai" TargetMode="External"/><Relationship Id="rId4" Type="http://schemas.openxmlformats.org/officeDocument/2006/relationships/image" Target="../media/image29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/>
        </p:nvSpPr>
        <p:spPr>
          <a:xfrm>
            <a:off x="128210" y="975425"/>
            <a:ext cx="4420200" cy="27243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28600" marR="0" lvl="0" indent="-209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500"/>
              <a:buFont typeface="Calibri"/>
              <a:buChar char="●"/>
            </a:pPr>
            <a:r>
              <a:rPr lang="en" sz="15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OpenAI GPT-4o</a:t>
            </a:r>
            <a:endParaRPr sz="15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9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500"/>
              <a:buFont typeface="Calibri"/>
              <a:buChar char="●"/>
            </a:pPr>
            <a:r>
              <a:rPr lang="en" sz="15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Google I/O - new models, apps, and more</a:t>
            </a:r>
            <a:endParaRPr sz="15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9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500"/>
              <a:buFont typeface="Calibri"/>
              <a:buChar char="●"/>
            </a:pPr>
            <a:r>
              <a:rPr lang="en" sz="15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Crowd-sourced "Arena" Leaderboard</a:t>
            </a:r>
            <a:endParaRPr sz="15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9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500"/>
              <a:buFont typeface="Calibri"/>
              <a:buChar char="●"/>
            </a:pPr>
            <a:r>
              <a:rPr lang="en" sz="15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Model Comparison - Graphs</a:t>
            </a:r>
            <a:endParaRPr sz="15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9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500"/>
              <a:buFont typeface="Calibri"/>
              <a:buChar char="●"/>
            </a:pPr>
            <a:r>
              <a:rPr lang="en" sz="15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AnthropicAI prompt generator</a:t>
            </a:r>
            <a:endParaRPr sz="15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9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500"/>
              <a:buFont typeface="Calibri"/>
              <a:buChar char="●"/>
            </a:pPr>
            <a:r>
              <a:rPr lang="en" sz="15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How To Beat Conch AI Detector, StealthGPT</a:t>
            </a:r>
            <a:endParaRPr sz="15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9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500"/>
              <a:buFont typeface="Calibri"/>
              <a:buChar char="●"/>
            </a:pPr>
            <a:r>
              <a:rPr lang="en" sz="15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WebLlama</a:t>
            </a:r>
            <a:endParaRPr sz="15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9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500"/>
              <a:buFont typeface="Calibri"/>
              <a:buChar char="●"/>
            </a:pPr>
            <a:r>
              <a:rPr lang="en" sz="15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John Wiley &amp; Sons closing 19 journals (due to AI)</a:t>
            </a:r>
            <a:endParaRPr sz="15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9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500"/>
              <a:buFont typeface="Calibri"/>
              <a:buChar char="●"/>
            </a:pPr>
            <a:r>
              <a:rPr lang="en" sz="15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Apple + OpenAI</a:t>
            </a:r>
            <a:endParaRPr sz="15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9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500"/>
              <a:buFont typeface="Calibri"/>
              <a:buChar char="●"/>
            </a:pPr>
            <a:r>
              <a:rPr lang="en" sz="15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Ilya Sutskever is leaving OpenAI</a:t>
            </a:r>
            <a:endParaRPr sz="15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9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500"/>
              <a:buFont typeface="Calibri"/>
              <a:buChar char="●"/>
            </a:pPr>
            <a:r>
              <a:rPr lang="en" sz="15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When LLM is bigger than memory ...</a:t>
            </a:r>
            <a:endParaRPr sz="15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14"/>
          <p:cNvSpPr txBox="1"/>
          <p:nvPr/>
        </p:nvSpPr>
        <p:spPr>
          <a:xfrm>
            <a:off x="4661960" y="1437119"/>
            <a:ext cx="4420200" cy="11082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28600" marR="0" lvl="0" indent="-209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500"/>
              <a:buFont typeface="Calibri"/>
              <a:buChar char="●"/>
            </a:pPr>
            <a:r>
              <a:rPr lang="en" sz="15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Which model to use for an Agent?</a:t>
            </a:r>
            <a:endParaRPr sz="15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9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500"/>
              <a:buFont typeface="Calibri"/>
              <a:buChar char="●"/>
            </a:pPr>
            <a:r>
              <a:rPr lang="en" sz="15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Berkeley Function-Calling Leaderboard</a:t>
            </a:r>
            <a:endParaRPr sz="15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9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500"/>
              <a:buFont typeface="Calibri"/>
              <a:buChar char="●"/>
            </a:pPr>
            <a:r>
              <a:rPr lang="en" sz="15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Coding Assistants</a:t>
            </a:r>
            <a:endParaRPr sz="15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9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500"/>
              <a:buFont typeface="Calibri"/>
              <a:buChar char="●"/>
            </a:pPr>
            <a:r>
              <a:rPr lang="en" sz="15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Tech Layoffs were lower than in 2023</a:t>
            </a:r>
            <a:endParaRPr sz="15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14"/>
          <p:cNvSpPr txBox="1"/>
          <p:nvPr/>
        </p:nvSpPr>
        <p:spPr>
          <a:xfrm>
            <a:off x="1278050" y="0"/>
            <a:ext cx="2539200" cy="94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" sz="3600" b="1" i="0" u="none" strike="noStrike" cap="none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AI Updates </a:t>
            </a:r>
            <a:endParaRPr sz="3600" b="1" i="0" u="none" strike="noStrike" cap="none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May 17</a:t>
            </a:r>
            <a:r>
              <a:rPr lang="en" sz="2400" b="1" i="0" u="none" strike="noStrike" cap="none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, 2024</a:t>
            </a:r>
            <a:endParaRPr sz="2400" b="1" i="0" u="none" strike="noStrike" cap="none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0" name="Google Shape;60;p14"/>
          <p:cNvPicPr preferRelativeResize="0"/>
          <p:nvPr/>
        </p:nvPicPr>
        <p:blipFill rotWithShape="1"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356300" y="279063"/>
            <a:ext cx="1617425" cy="696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14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67343" y="73122"/>
            <a:ext cx="1477608" cy="110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/>
        </p:nvSpPr>
        <p:spPr>
          <a:xfrm>
            <a:off x="47500" y="492450"/>
            <a:ext cx="4465200" cy="2419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228600" lvl="0" indent="-139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●"/>
            </a:pPr>
            <a:r>
              <a:rPr lang="en" sz="13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GPT-4o</a:t>
            </a: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A new AI model with improved capabilities in text, video, and audio processing. It is faster and more powerful than previous versions, offering enhanced performance and features.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9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●"/>
            </a:pPr>
            <a:r>
              <a:rPr lang="en" sz="13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Desktop version of ChatGPT</a:t>
            </a: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A dedicated desktop application for ChatGPT, providing a streamlined and user-friendly experience for interacting with the AI chatbot.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9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●"/>
            </a:pPr>
            <a:r>
              <a:rPr lang="en" sz="13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GPT-4 for all users</a:t>
            </a: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GPT-4, previously available only to paid subscribers, is now accessible to all ChatGPT users, including those using the free version.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9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●"/>
            </a:pPr>
            <a:r>
              <a:rPr lang="en" sz="13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Enhanced user interface</a:t>
            </a: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An updated user interface for ChatGPT, focusing on improved usability and accessibility.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15"/>
          <p:cNvSpPr txBox="1"/>
          <p:nvPr/>
        </p:nvSpPr>
        <p:spPr>
          <a:xfrm>
            <a:off x="47500" y="53575"/>
            <a:ext cx="46698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OpenAI announcement - Monday May 13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15"/>
          <p:cNvSpPr txBox="1"/>
          <p:nvPr/>
        </p:nvSpPr>
        <p:spPr>
          <a:xfrm>
            <a:off x="47500" y="3024425"/>
            <a:ext cx="4465200" cy="16191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Pricing (per 1 Mln tokens)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https://openai.com/api/pricing/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rgbClr val="3C78D8"/>
                </a:solidFill>
                <a:latin typeface="Roboto Mono"/>
                <a:ea typeface="Roboto Mono"/>
                <a:cs typeface="Roboto Mono"/>
                <a:sym typeface="Roboto Mono"/>
              </a:rPr>
              <a:t>gpt-4 :   $10    in,    $30 out</a:t>
            </a:r>
            <a:endParaRPr sz="1300" b="1">
              <a:solidFill>
                <a:srgbClr val="3C78D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rgbClr val="3C78D8"/>
                </a:solidFill>
                <a:latin typeface="Roboto Mono"/>
                <a:ea typeface="Roboto Mono"/>
                <a:cs typeface="Roboto Mono"/>
                <a:sym typeface="Roboto Mono"/>
              </a:rPr>
              <a:t>gpt-4o:    $5    in,    $15 out</a:t>
            </a:r>
            <a:endParaRPr sz="1300" b="1">
              <a:solidFill>
                <a:srgbClr val="3C78D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Note: Google Gemini 1.5 Flash is &gt; 10-times cheaper: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rgbClr val="3C78D8"/>
                </a:solidFill>
                <a:latin typeface="Roboto Mono"/>
                <a:ea typeface="Roboto Mono"/>
                <a:cs typeface="Roboto Mono"/>
                <a:sym typeface="Roboto Mono"/>
              </a:rPr>
              <a:t>Flash :    $0.35 in,      0.53 out</a:t>
            </a:r>
            <a:endParaRPr sz="1300" b="1">
              <a:solidFill>
                <a:srgbClr val="3C78D8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69" name="Google Shape;69;p15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14975" y="492450"/>
            <a:ext cx="4405476" cy="2097599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70" name="Google Shape;70;p15"/>
          <p:cNvSpPr txBox="1"/>
          <p:nvPr/>
        </p:nvSpPr>
        <p:spPr>
          <a:xfrm>
            <a:off x="5502600" y="2648850"/>
            <a:ext cx="2348400" cy="2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GPT-4o is available for paid users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15"/>
          <p:cNvSpPr txBox="1"/>
          <p:nvPr/>
        </p:nvSpPr>
        <p:spPr>
          <a:xfrm>
            <a:off x="4585100" y="3024425"/>
            <a:ext cx="4465200" cy="6186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voice features - not released yet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flirtatious and engaging voice style (default voice has a "California Valley Girl" tone)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/>
        </p:nvSpPr>
        <p:spPr>
          <a:xfrm>
            <a:off x="47500" y="417916"/>
            <a:ext cx="4465200" cy="35586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Gemini models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family of models, multimodal (images, audio, video), 1 Mln tokens context length (or 2M), fast, efficient, scalable.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Gemini Advanced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subscription now includes the latest model.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Gemini Nano integrated into Chrome!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Imagen 3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image generation model, available in Imagen FX.</a:t>
            </a:r>
            <a:b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0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https://aitestkitchen.withgoogle.com/tools/image-fx</a:t>
            </a:r>
            <a:r>
              <a:rPr lang="e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MusicFX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</a:t>
            </a:r>
            <a:r>
              <a:rPr lang="en" sz="10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https://aitestkitchen.withgoogle.com/tools/music-fx</a:t>
            </a:r>
            <a:r>
              <a:rPr lang="e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Veo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in VideoFX - creating short 1080p videos from text</a:t>
            </a:r>
            <a:b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0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https://aitestkitchen.withgoogle.com/tools/video-fx</a:t>
            </a:r>
            <a:r>
              <a:rPr lang="e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br>
              <a:rPr lang="e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0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https://deepmind.google/technologies/veo/</a:t>
            </a:r>
            <a:r>
              <a:rPr lang="e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AI Scam Protection in Android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using Gemini Nano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Firebase Genkit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An open-source framework for building AI-powered applications.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Gemini in Android Studio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An AI coding companion with multimodal input support coming soon.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Astra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newest assistant - universal AI agent that can see AND hear what you do live in real-time, and take action on your behalf. </a:t>
            </a:r>
            <a:br>
              <a:rPr lang="e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0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/>
              </a:rPr>
              <a:t>https://twitter.com/rowancheung/status/1790437573694996667</a:t>
            </a:r>
            <a:r>
              <a:rPr lang="e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206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Google Search AI Overviews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</a:t>
            </a:r>
            <a:r>
              <a:rPr lang="en" sz="10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8"/>
              </a:rPr>
              <a:t>https://blog.google/products/search/generative-ai-google-search-may-2024/</a:t>
            </a:r>
            <a:r>
              <a:rPr lang="e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16"/>
          <p:cNvSpPr txBox="1"/>
          <p:nvPr/>
        </p:nvSpPr>
        <p:spPr>
          <a:xfrm>
            <a:off x="47500" y="53575"/>
            <a:ext cx="44652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Google I/O 2024 - May 14, 2024</a:t>
            </a:r>
            <a:endParaRPr sz="20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8" name="Google Shape;78;p16"/>
          <p:cNvPicPr preferRelativeResize="0"/>
          <p:nvPr/>
        </p:nvPicPr>
        <p:blipFill>
          <a:blip r:embed="rId9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53075" y="2483525"/>
            <a:ext cx="3212926" cy="2409678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6"/>
          <p:cNvPicPr preferRelativeResize="0"/>
          <p:nvPr/>
        </p:nvPicPr>
        <p:blipFill>
          <a:blip r:embed="rId10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53075" y="304805"/>
            <a:ext cx="3212923" cy="180555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6"/>
          <p:cNvSpPr txBox="1"/>
          <p:nvPr/>
        </p:nvSpPr>
        <p:spPr>
          <a:xfrm>
            <a:off x="47500" y="4013571"/>
            <a:ext cx="4465200" cy="10650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228600" lvl="0" indent="-1206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Char char="●"/>
            </a:pPr>
            <a:r>
              <a:rPr lang="en" sz="10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1"/>
              </a:rPr>
              <a:t>https://ai.google.dev/pricing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Gemini 1.0 Pro (33k tokens), </a:t>
            </a:r>
            <a:r>
              <a:rPr lang="en" sz="1200" b="1">
                <a:solidFill>
                  <a:srgbClr val="6AA84F"/>
                </a:solidFill>
                <a:latin typeface="Calibri"/>
                <a:ea typeface="Calibri"/>
                <a:cs typeface="Calibri"/>
                <a:sym typeface="Calibri"/>
              </a:rPr>
              <a:t>Gemini 1.5 Pro (1 Mln tokens),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b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Gemini 1.5 Flash (1 Mln tokens) - light, fast, cheap</a:t>
            </a:r>
            <a:b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0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2"/>
              </a:rPr>
              <a:t>https://deepmind.google/technologies/gemini/flash/</a:t>
            </a:r>
            <a:r>
              <a:rPr lang="e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b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1,500 Request per day for FREE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Flash Pricing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($0.35+0.53 / 1 Mt (for prompts up to 128Kt)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/>
          <p:nvPr/>
        </p:nvSpPr>
        <p:spPr>
          <a:xfrm>
            <a:off x="5650240" y="55346"/>
            <a:ext cx="1550400" cy="5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F2937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Total #models: 97.    </a:t>
            </a:r>
            <a:endParaRPr sz="1100">
              <a:solidFill>
                <a:srgbClr val="1F2937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F2937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Total #votes: 1,131,288.</a:t>
            </a:r>
            <a:endParaRPr sz="1100">
              <a:solidFill>
                <a:srgbClr val="1F2937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F2937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Last updated: 2024-05-16</a:t>
            </a:r>
            <a:endParaRPr sz="11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7"/>
          <p:cNvSpPr txBox="1"/>
          <p:nvPr/>
        </p:nvSpPr>
        <p:spPr>
          <a:xfrm>
            <a:off x="7261325" y="52350"/>
            <a:ext cx="1831500" cy="3879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Starting Elo rating = 1000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95% CI = Confidence Interval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7"/>
          <p:cNvSpPr txBox="1"/>
          <p:nvPr/>
        </p:nvSpPr>
        <p:spPr>
          <a:xfrm>
            <a:off x="-38048" y="-108050"/>
            <a:ext cx="41517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Crowd-sourced "Arena" Leaderboard</a:t>
            </a:r>
            <a:endParaRPr sz="20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7"/>
          <p:cNvSpPr txBox="1"/>
          <p:nvPr/>
        </p:nvSpPr>
        <p:spPr>
          <a:xfrm>
            <a:off x="0" y="157800"/>
            <a:ext cx="2076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https://chat.lmsys.org/?leaderboard</a:t>
            </a:r>
            <a:r>
              <a:rPr lang="e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7"/>
          <p:cNvSpPr txBox="1"/>
          <p:nvPr/>
        </p:nvSpPr>
        <p:spPr>
          <a:xfrm>
            <a:off x="4011197" y="187519"/>
            <a:ext cx="1399800" cy="2031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English-only queries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7"/>
          <p:cNvSpPr/>
          <p:nvPr/>
        </p:nvSpPr>
        <p:spPr>
          <a:xfrm>
            <a:off x="5464175" y="226378"/>
            <a:ext cx="125400" cy="125400"/>
          </a:xfrm>
          <a:prstGeom prst="ellipse">
            <a:avLst/>
          </a:prstGeom>
          <a:solidFill>
            <a:srgbClr val="6AA84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1" name="Google Shape;91;p17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775" y="709125"/>
            <a:ext cx="4447701" cy="3548751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92" name="Google Shape;92;p17"/>
          <p:cNvPicPr preferRelativeResize="0"/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06852" y="709125"/>
            <a:ext cx="4594350" cy="3447274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93" name="Google Shape;93;p17"/>
          <p:cNvSpPr/>
          <p:nvPr/>
        </p:nvSpPr>
        <p:spPr>
          <a:xfrm>
            <a:off x="891925" y="2221737"/>
            <a:ext cx="125400" cy="125400"/>
          </a:xfrm>
          <a:prstGeom prst="ellipse">
            <a:avLst/>
          </a:prstGeom>
          <a:solidFill>
            <a:srgbClr val="6AA84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17"/>
          <p:cNvSpPr/>
          <p:nvPr/>
        </p:nvSpPr>
        <p:spPr>
          <a:xfrm>
            <a:off x="891925" y="3672570"/>
            <a:ext cx="125400" cy="125400"/>
          </a:xfrm>
          <a:prstGeom prst="ellipse">
            <a:avLst/>
          </a:prstGeom>
          <a:solidFill>
            <a:srgbClr val="6AA84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17"/>
          <p:cNvSpPr/>
          <p:nvPr/>
        </p:nvSpPr>
        <p:spPr>
          <a:xfrm>
            <a:off x="5411000" y="3563924"/>
            <a:ext cx="125400" cy="125400"/>
          </a:xfrm>
          <a:prstGeom prst="ellipse">
            <a:avLst/>
          </a:prstGeom>
          <a:solidFill>
            <a:srgbClr val="6AA84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17"/>
          <p:cNvSpPr/>
          <p:nvPr/>
        </p:nvSpPr>
        <p:spPr>
          <a:xfrm>
            <a:off x="5411000" y="2062828"/>
            <a:ext cx="125400" cy="125400"/>
          </a:xfrm>
          <a:prstGeom prst="ellipse">
            <a:avLst/>
          </a:prstGeom>
          <a:solidFill>
            <a:srgbClr val="6AA84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8"/>
          <p:cNvSpPr txBox="1"/>
          <p:nvPr/>
        </p:nvSpPr>
        <p:spPr>
          <a:xfrm>
            <a:off x="47500" y="492450"/>
            <a:ext cx="4153500" cy="526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Maxime Labonne tweets: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" sz="10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https://twitter.com/maximelabonne/status/1790676962974867724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" sz="10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https://twitter.com/maximelabonne/status/1790519226677026831</a:t>
            </a:r>
            <a:r>
              <a:rPr lang="e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8"/>
          <p:cNvSpPr txBox="1"/>
          <p:nvPr/>
        </p:nvSpPr>
        <p:spPr>
          <a:xfrm>
            <a:off x="47500" y="53575"/>
            <a:ext cx="32610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 Comparisons - Graphs</a:t>
            </a:r>
            <a:endParaRPr sz="20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18"/>
          <p:cNvPicPr preferRelativeResize="0"/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500" y="2932325"/>
            <a:ext cx="3450456" cy="2058776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04" name="Google Shape;104;p18"/>
          <p:cNvPicPr preferRelativeResize="0"/>
          <p:nvPr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27400" y="1308475"/>
            <a:ext cx="5356524" cy="3682624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05" name="Google Shape;105;p18"/>
          <p:cNvSpPr/>
          <p:nvPr/>
        </p:nvSpPr>
        <p:spPr>
          <a:xfrm rot="-2848856">
            <a:off x="428548" y="2716323"/>
            <a:ext cx="122515" cy="482209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4CC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18"/>
          <p:cNvSpPr/>
          <p:nvPr/>
        </p:nvSpPr>
        <p:spPr>
          <a:xfrm rot="-1571287">
            <a:off x="8439475" y="1340204"/>
            <a:ext cx="122360" cy="482058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4CC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18"/>
          <p:cNvSpPr/>
          <p:nvPr/>
        </p:nvSpPr>
        <p:spPr>
          <a:xfrm rot="-6252406">
            <a:off x="4827877" y="3597443"/>
            <a:ext cx="122238" cy="482188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4CC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18"/>
          <p:cNvSpPr/>
          <p:nvPr/>
        </p:nvSpPr>
        <p:spPr>
          <a:xfrm rot="6661038">
            <a:off x="8675815" y="2780906"/>
            <a:ext cx="122125" cy="482317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4CC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18"/>
          <p:cNvSpPr/>
          <p:nvPr/>
        </p:nvSpPr>
        <p:spPr>
          <a:xfrm rot="6661038">
            <a:off x="8629615" y="2364806"/>
            <a:ext cx="122125" cy="482317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4CC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0" name="Google Shape;110;p18"/>
          <p:cNvPicPr preferRelativeResize="0"/>
          <p:nvPr/>
        </p:nvPicPr>
        <p:blipFill>
          <a:blip r:embed="rId7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494" y="1095150"/>
            <a:ext cx="1129575" cy="1124575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8"/>
          <p:cNvSpPr txBox="1"/>
          <p:nvPr/>
        </p:nvSpPr>
        <p:spPr>
          <a:xfrm>
            <a:off x="1239875" y="1411575"/>
            <a:ext cx="2211000" cy="6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Maxime Labonne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Staff ML Scientist @ Liquid AI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London, UK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9"/>
          <p:cNvSpPr txBox="1"/>
          <p:nvPr/>
        </p:nvSpPr>
        <p:spPr>
          <a:xfrm>
            <a:off x="47500" y="492450"/>
            <a:ext cx="4465200" cy="6186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AnthropicAI prompt generator. </a:t>
            </a:r>
            <a:endParaRPr sz="13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(also accepts variables to easily inject external data).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https://docs.anthropic.com/en/docs/prompt-generator</a:t>
            </a: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9"/>
          <p:cNvSpPr txBox="1"/>
          <p:nvPr/>
        </p:nvSpPr>
        <p:spPr>
          <a:xfrm>
            <a:off x="47500" y="53575"/>
            <a:ext cx="32610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Misc 1</a:t>
            </a:r>
            <a:endParaRPr sz="20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9"/>
          <p:cNvSpPr txBox="1"/>
          <p:nvPr/>
        </p:nvSpPr>
        <p:spPr>
          <a:xfrm>
            <a:off x="4605825" y="508325"/>
            <a:ext cx="4465200" cy="418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WebLlama</a:t>
            </a: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 - browse the web by following instructions and talking to you - </a:t>
            </a:r>
            <a:r>
              <a:rPr lang="en" sz="13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https://github.com/McGill-NLP/webllama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9"/>
          <p:cNvSpPr txBox="1"/>
          <p:nvPr/>
        </p:nvSpPr>
        <p:spPr>
          <a:xfrm>
            <a:off x="47500" y="1175825"/>
            <a:ext cx="4465200" cy="34203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How To Beat </a:t>
            </a:r>
            <a:r>
              <a:rPr lang="en" sz="13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Conch AI Detector</a:t>
            </a:r>
            <a:endParaRPr sz="13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https://www.stealthgpt.ai/blog/how-to-beat-conch-ai-detector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300"/>
              <a:buFont typeface="Calibri"/>
              <a:buChar char="●"/>
            </a:pPr>
            <a:r>
              <a:rPr lang="en" sz="130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Humanize content with </a:t>
            </a:r>
            <a:r>
              <a:rPr lang="en" sz="13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StealthGPT</a:t>
            </a:r>
            <a:r>
              <a:rPr lang="en" sz="130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: This is the easiest and most effective method. </a:t>
            </a:r>
            <a:r>
              <a:rPr lang="en" sz="13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https://www.stealthgpt.ai</a:t>
            </a:r>
            <a:r>
              <a:rPr lang="en" sz="130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300">
              <a:solidFill>
                <a:srgbClr val="1F1F1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300"/>
              <a:buFont typeface="Calibri"/>
              <a:buChar char="●"/>
            </a:pPr>
            <a:r>
              <a:rPr lang="en" sz="130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Write content manually: Conch AI has a low rate of false positives, so human-written content usually scores well.</a:t>
            </a:r>
            <a:endParaRPr sz="1300">
              <a:solidFill>
                <a:srgbClr val="1F1F1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300"/>
              <a:buFont typeface="Calibri"/>
              <a:buChar char="●"/>
            </a:pPr>
            <a:r>
              <a:rPr lang="en" sz="130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Use Conch AI’s Humanizing Tool: This is a paid option and may not be effective against other AI detectors.</a:t>
            </a:r>
            <a:endParaRPr sz="1300">
              <a:solidFill>
                <a:srgbClr val="1F1F1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300"/>
              <a:buFont typeface="Calibri"/>
              <a:buChar char="●"/>
            </a:pPr>
            <a:r>
              <a:rPr lang="en" sz="130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Introduce variety into content: Avoid repetitive sentence structures and phrases. This method can be challenging if you lack experience with AI content.</a:t>
            </a:r>
            <a:endParaRPr sz="1300">
              <a:solidFill>
                <a:srgbClr val="1F1F1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300"/>
              <a:buFont typeface="Calibri"/>
              <a:buChar char="●"/>
            </a:pPr>
            <a:r>
              <a:rPr lang="en" sz="130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Train the AI model in your writing voice: Provide the AI with samples of your writing to make the generated content more personal. This method may not be effective for neutral or informative writing styles.</a:t>
            </a:r>
            <a:endParaRPr sz="1300">
              <a:solidFill>
                <a:srgbClr val="1F1F1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300"/>
              <a:buFont typeface="Calibri"/>
              <a:buChar char="●"/>
            </a:pPr>
            <a:r>
              <a:rPr lang="en" sz="130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Tell a story: AI struggles with authentic storytelling, so adding personal anecdotes can help bypass detection.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0" name="Google Shape;120;p19"/>
          <p:cNvPicPr preferRelativeResize="0"/>
          <p:nvPr/>
        </p:nvPicPr>
        <p:blipFill>
          <a:blip r:embed="rId7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75175" y="2159025"/>
            <a:ext cx="4326500" cy="2803666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9"/>
          <p:cNvSpPr txBox="1"/>
          <p:nvPr/>
        </p:nvSpPr>
        <p:spPr>
          <a:xfrm>
            <a:off x="4605825" y="1040150"/>
            <a:ext cx="4465200" cy="8187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John Wiley &amp; Sons, Inc.</a:t>
            </a: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a 200+ years old publishing company is closing 19 journals. They had to retract more than 11,300 papers recently "that appeared compromised" as </a:t>
            </a:r>
            <a:r>
              <a:rPr lang="en" sz="13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generative AI makes it easier for paper mills to peddle fake research</a:t>
            </a: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0"/>
          <p:cNvSpPr txBox="1"/>
          <p:nvPr/>
        </p:nvSpPr>
        <p:spPr>
          <a:xfrm>
            <a:off x="47500" y="492450"/>
            <a:ext cx="3120300" cy="9267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Apple + OpenAI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SiriPro with OpenAI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Free ChatGPT for Mac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20650" algn="l" rtl="0"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" sz="10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https://www.youtube.com/watch?v=ya2bxqbM3Yw</a:t>
            </a:r>
            <a:r>
              <a:rPr lang="e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20650" algn="l" rtl="0"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" sz="10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https://siri-pro.com/en/</a:t>
            </a:r>
            <a:r>
              <a:rPr lang="e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20"/>
          <p:cNvSpPr txBox="1"/>
          <p:nvPr/>
        </p:nvSpPr>
        <p:spPr>
          <a:xfrm>
            <a:off x="47500" y="53575"/>
            <a:ext cx="10773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Misc 2</a:t>
            </a:r>
            <a:endParaRPr sz="20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8" name="Google Shape;128;p20"/>
          <p:cNvPicPr preferRelativeResize="0"/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0325" y="53575"/>
            <a:ext cx="2438518" cy="1365575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29" name="Google Shape;129;p20"/>
          <p:cNvSpPr txBox="1"/>
          <p:nvPr/>
        </p:nvSpPr>
        <p:spPr>
          <a:xfrm>
            <a:off x="47500" y="1841000"/>
            <a:ext cx="2479200" cy="418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Stability AI is facing a cash crunch and is exploring a sale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20"/>
          <p:cNvSpPr txBox="1"/>
          <p:nvPr/>
        </p:nvSpPr>
        <p:spPr>
          <a:xfrm>
            <a:off x="4622050" y="3161800"/>
            <a:ext cx="4465200" cy="2184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xxxxx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20"/>
          <p:cNvSpPr txBox="1"/>
          <p:nvPr/>
        </p:nvSpPr>
        <p:spPr>
          <a:xfrm>
            <a:off x="4622050" y="3700692"/>
            <a:ext cx="4465200" cy="2184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xxxxx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20"/>
          <p:cNvSpPr txBox="1"/>
          <p:nvPr/>
        </p:nvSpPr>
        <p:spPr>
          <a:xfrm>
            <a:off x="4622050" y="4239583"/>
            <a:ext cx="4465200" cy="2184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xxxxx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20"/>
          <p:cNvSpPr txBox="1"/>
          <p:nvPr/>
        </p:nvSpPr>
        <p:spPr>
          <a:xfrm>
            <a:off x="4622050" y="4778475"/>
            <a:ext cx="4465200" cy="2184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xxxxx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4" name="Google Shape;134;p20"/>
          <p:cNvPicPr preferRelativeResize="0"/>
          <p:nvPr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1000" y="2343025"/>
            <a:ext cx="1970325" cy="65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1"/>
          <p:cNvSpPr txBox="1"/>
          <p:nvPr/>
        </p:nvSpPr>
        <p:spPr>
          <a:xfrm>
            <a:off x="47500" y="53575"/>
            <a:ext cx="36102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Ilya Sutskever is leaving OpenAI</a:t>
            </a:r>
            <a:endParaRPr sz="20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21"/>
          <p:cNvSpPr txBox="1"/>
          <p:nvPr/>
        </p:nvSpPr>
        <p:spPr>
          <a:xfrm>
            <a:off x="47500" y="436200"/>
            <a:ext cx="4465200" cy="15732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Ilya Sutskever is leaving OpenAI.</a:t>
            </a:r>
            <a:endParaRPr sz="13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206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Char char="●"/>
            </a:pPr>
            <a:r>
              <a:rPr lang="en" sz="10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https://twitter.com/ilyasut/status/1790517455628198322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9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●"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Ilya is a co-founder and chief scientist. 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9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●"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 helped lead the coup against Sam Altman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9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●"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 later changed his mind. 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9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●"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His employment status had been ambiguous since the ouster.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9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●"/>
            </a:pPr>
            <a:r>
              <a:rPr lang="en" sz="13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Jakub Pachocki</a:t>
            </a: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the company's director of research, will be OpenAI's new chief scientist. 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21"/>
          <p:cNvSpPr txBox="1"/>
          <p:nvPr/>
        </p:nvSpPr>
        <p:spPr>
          <a:xfrm>
            <a:off x="239663" y="3826750"/>
            <a:ext cx="1193400" cy="2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Ilya Sutskever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21"/>
          <p:cNvSpPr txBox="1"/>
          <p:nvPr/>
        </p:nvSpPr>
        <p:spPr>
          <a:xfrm>
            <a:off x="55800" y="4167325"/>
            <a:ext cx="3425700" cy="8187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Jan Leike has also resigned</a:t>
            </a: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He was a co-lead of the Sutskever’s superalignment group. The news follows months of departures largely coming from OpenAI’s superalignment and safety teams.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3" name="Google Shape;143;p21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800" y="2273525"/>
            <a:ext cx="1561118" cy="1523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21"/>
          <p:cNvPicPr preferRelativeResize="0"/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33983" y="2266363"/>
            <a:ext cx="1478717" cy="1523799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21"/>
          <p:cNvSpPr txBox="1"/>
          <p:nvPr/>
        </p:nvSpPr>
        <p:spPr>
          <a:xfrm>
            <a:off x="3176625" y="3819588"/>
            <a:ext cx="1193400" cy="2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Jakub Pachocki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6" name="Google Shape;146;p21"/>
          <p:cNvPicPr preferRelativeResize="0"/>
          <p:nvPr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73275" y="107138"/>
            <a:ext cx="4465200" cy="33489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21"/>
          <p:cNvSpPr txBox="1"/>
          <p:nvPr/>
        </p:nvSpPr>
        <p:spPr>
          <a:xfrm>
            <a:off x="5206575" y="3492525"/>
            <a:ext cx="3198600" cy="41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--&gt;&gt; Jakub Pachocki, Greg Brockman, 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Ilya Sutskever, Sam Altman, Mira Murati  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8" name="Google Shape;148;p21"/>
          <p:cNvPicPr preferRelativeResize="0"/>
          <p:nvPr/>
        </p:nvPicPr>
        <p:blipFill rotWithShape="1">
          <a:blip r:embed="rId7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673050" y="2270493"/>
            <a:ext cx="1284204" cy="1523774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21"/>
          <p:cNvSpPr txBox="1"/>
          <p:nvPr/>
        </p:nvSpPr>
        <p:spPr>
          <a:xfrm>
            <a:off x="1708138" y="3871588"/>
            <a:ext cx="1193400" cy="2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Jan Leike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2"/>
          <p:cNvSpPr txBox="1"/>
          <p:nvPr/>
        </p:nvSpPr>
        <p:spPr>
          <a:xfrm>
            <a:off x="47500" y="53575"/>
            <a:ext cx="44652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When LLM is bigger than memory ...</a:t>
            </a:r>
            <a:endParaRPr sz="20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22"/>
          <p:cNvSpPr txBox="1"/>
          <p:nvPr/>
        </p:nvSpPr>
        <p:spPr>
          <a:xfrm>
            <a:off x="47500" y="442100"/>
            <a:ext cx="4497600" cy="30201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 used my standard prompt asking to list 10 presidents on my 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M1 32GB MacBook Pro 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using ollama llama3-70b 4-bit model (~40GB size).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40GB &gt; 32GB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 the model couldn't fit into memory.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took 1 hour and 20 minutes to generate the answer !!!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prompt was: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Please make a numbered chronological list of the last ten (10) US presidents in reverse order.  The list should start like this: 1. Joe Biden (2021-present); 2. Donald Trump (2017-2021); 3. Barack Obama (2009-2017);  the list should contain 10 rows. Important - make a fresh list. Disregard the chat history. Output only the list itself, nothing else. Output each list element on a separate line.</a:t>
            </a:r>
            <a:endParaRPr sz="1300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2"/>
          <p:cNvSpPr txBox="1"/>
          <p:nvPr/>
        </p:nvSpPr>
        <p:spPr>
          <a:xfrm>
            <a:off x="4622050" y="442100"/>
            <a:ext cx="4465200" cy="38973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Here is the output and stats:</a:t>
            </a:r>
            <a:endParaRPr sz="12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1.⁠ ⁠Joe Biden (2021-present)</a:t>
            </a:r>
            <a:endParaRPr sz="12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 2.⁠ ⁠Donald Trump (2017-2021)</a:t>
            </a:r>
            <a:endParaRPr sz="12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 3.⁠ ⁠Barack Obama (2009-2017)</a:t>
            </a:r>
            <a:endParaRPr sz="12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 4.⁠ ⁠George W. Bush (2001-2009)</a:t>
            </a:r>
            <a:endParaRPr sz="12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 5.⁠ ⁠Bill Clinton (1993-2001)</a:t>
            </a:r>
            <a:endParaRPr sz="12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 6.⁠ ⁠George H.W. Bush (1989-1993)</a:t>
            </a:r>
            <a:endParaRPr sz="12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 7.⁠ ⁠Ronald Reagan (1981-1989)</a:t>
            </a:r>
            <a:endParaRPr sz="12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 8.⁠ ⁠Jimmy Carter (1977-1981)</a:t>
            </a:r>
            <a:endParaRPr sz="12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 9.⁠ ⁠Gerald Ford (1974-1977)</a:t>
            </a:r>
            <a:endParaRPr sz="12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10.⁠ ⁠Richard Nixon (1969-1974)</a:t>
            </a:r>
            <a:endParaRPr sz="12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total duration:       </a:t>
            </a:r>
            <a:r>
              <a:rPr lang="en" sz="1200" b="1">
                <a:solidFill>
                  <a:srgbClr val="FF0000"/>
                </a:solidFill>
                <a:latin typeface="Roboto Mono"/>
                <a:ea typeface="Roboto Mono"/>
                <a:cs typeface="Roboto Mono"/>
                <a:sym typeface="Roboto Mono"/>
              </a:rPr>
              <a:t>1h 21m 35s</a:t>
            </a:r>
            <a:endParaRPr sz="1200" b="1">
              <a:solidFill>
                <a:srgbClr val="FF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load duration:        40s</a:t>
            </a:r>
            <a:endParaRPr sz="12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prompt eval count:    281 token(s)</a:t>
            </a:r>
            <a:endParaRPr sz="12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prompt eval duration: 1m 53s</a:t>
            </a:r>
            <a:endParaRPr sz="12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prompt eval rate:     2.48 tokens/s</a:t>
            </a:r>
            <a:endParaRPr sz="12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eval count:           114 token(s)</a:t>
            </a:r>
            <a:endParaRPr sz="12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eval duration:        1h 19m 2s</a:t>
            </a:r>
            <a:endParaRPr sz="12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eval rate:            </a:t>
            </a:r>
            <a:r>
              <a:rPr lang="en" sz="1200" b="1">
                <a:solidFill>
                  <a:srgbClr val="FF0000"/>
                </a:solidFill>
                <a:latin typeface="Roboto Mono"/>
                <a:ea typeface="Roboto Mono"/>
                <a:cs typeface="Roboto Mono"/>
                <a:sym typeface="Roboto Mono"/>
              </a:rPr>
              <a:t>0.02 tokens/s</a:t>
            </a:r>
            <a:endParaRPr sz="1200" b="1">
              <a:solidFill>
                <a:srgbClr val="FF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3"/>
          <p:cNvSpPr txBox="1"/>
          <p:nvPr/>
        </p:nvSpPr>
        <p:spPr>
          <a:xfrm>
            <a:off x="47500" y="53575"/>
            <a:ext cx="42021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Which model to use for an Agent?</a:t>
            </a:r>
            <a:endParaRPr sz="20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23"/>
          <p:cNvSpPr txBox="1"/>
          <p:nvPr/>
        </p:nvSpPr>
        <p:spPr>
          <a:xfrm>
            <a:off x="97700" y="418950"/>
            <a:ext cx="6153900" cy="30201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228600" lvl="0" indent="-139700" algn="l" rtl="0">
              <a:spcBef>
                <a:spcPts val="0"/>
              </a:spcBef>
              <a:spcAft>
                <a:spcPts val="0"/>
              </a:spcAft>
              <a:buSzPts val="1300"/>
              <a:buFont typeface="Calibri"/>
              <a:buChar char="●"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 agent has an </a:t>
            </a:r>
            <a:r>
              <a:rPr lang="en" sz="13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internal loop</a:t>
            </a: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it can </a:t>
            </a:r>
            <a:r>
              <a:rPr lang="en" sz="1300" b="1">
                <a:solidFill>
                  <a:srgbClr val="6AA84F"/>
                </a:solidFill>
                <a:latin typeface="Calibri"/>
                <a:ea typeface="Calibri"/>
                <a:cs typeface="Calibri"/>
                <a:sym typeface="Calibri"/>
              </a:rPr>
              <a:t>iterate</a:t>
            </a: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adjusting the approach. 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9700" algn="l" rtl="0">
              <a:spcBef>
                <a:spcPts val="0"/>
              </a:spcBef>
              <a:spcAft>
                <a:spcPts val="0"/>
              </a:spcAft>
              <a:buSzPts val="1300"/>
              <a:buFont typeface="Calibri"/>
              <a:buChar char="●"/>
            </a:pPr>
            <a:r>
              <a:rPr lang="en" sz="1300" b="1">
                <a:solidFill>
                  <a:srgbClr val="6AA84F"/>
                </a:solidFill>
                <a:latin typeface="Calibri"/>
                <a:ea typeface="Calibri"/>
                <a:cs typeface="Calibri"/>
                <a:sym typeface="Calibri"/>
              </a:rPr>
              <a:t>Agent can send internal messages, using LLM and functions (tools)</a:t>
            </a: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9700" algn="l" rtl="0">
              <a:spcBef>
                <a:spcPts val="0"/>
              </a:spcBef>
              <a:spcAft>
                <a:spcPts val="0"/>
              </a:spcAft>
              <a:buSzPts val="1300"/>
              <a:buFont typeface="Calibri"/>
              <a:buChar char="●"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 can also create a </a:t>
            </a:r>
            <a:r>
              <a:rPr lang="en" sz="1300" b="1">
                <a:solidFill>
                  <a:srgbClr val="6AA84F"/>
                </a:solidFill>
                <a:latin typeface="Calibri"/>
                <a:ea typeface="Calibri"/>
                <a:cs typeface="Calibri"/>
                <a:sym typeface="Calibri"/>
              </a:rPr>
              <a:t>multi-agent solutions, </a:t>
            </a: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where agents send the messages to each other. And can get into loops as well.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9700" algn="l" rtl="0">
              <a:spcBef>
                <a:spcPts val="0"/>
              </a:spcBef>
              <a:spcAft>
                <a:spcPts val="0"/>
              </a:spcAft>
              <a:buSzPts val="1300"/>
              <a:buFont typeface="Calibri"/>
              <a:buChar char="●"/>
            </a:pPr>
            <a:r>
              <a:rPr lang="en" sz="13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The model in agent has to be good.</a:t>
            </a: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it should be </a:t>
            </a:r>
            <a:r>
              <a:rPr lang="en" sz="13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good at function calling</a:t>
            </a: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" sz="1300" b="1">
                <a:solidFill>
                  <a:srgbClr val="6AA84F"/>
                </a:solidFill>
                <a:latin typeface="Calibri"/>
                <a:ea typeface="Calibri"/>
                <a:cs typeface="Calibri"/>
                <a:sym typeface="Calibri"/>
              </a:rPr>
              <a:t>You should NOT use gpt-3.5-turbo, or mistral-7b, or llama3-8b</a:t>
            </a: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Because if you do, the agents may be making errors and getting into never-resolving loops.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9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●"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Remember how a year ago you would ask ChatGPT to write code. You would try to run it - it crushed. you ask the model to fix it. Over and over again. The model couldn't figure things out and get out of this loop.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9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●"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Today we have much better models. </a:t>
            </a:r>
            <a:r>
              <a:rPr lang="en" sz="13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You should try to use the best LLM you can afford. </a:t>
            </a: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 NOT use GPT-3.5. Use GPT-4 or GPT-4o (especially with LangChain)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9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●"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LangChain framework started in October of 2022 with the release of OpenAI GPT-3. it is by far the most popular framework, and well tested with OpenAI models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9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●"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Some other options - LlamaIndex from Meta/Facebook, CrewAI, AutoGen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3" name="Google Shape;163;p23"/>
          <p:cNvPicPr preferRelativeResize="0"/>
          <p:nvPr/>
        </p:nvPicPr>
        <p:blipFill rotWithShape="1"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379150" y="418950"/>
            <a:ext cx="2702724" cy="37668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64" name="Google Shape;164;p23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2200" y="3591450"/>
            <a:ext cx="2332750" cy="1399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3"/>
          <p:cNvPicPr preferRelativeResize="0"/>
          <p:nvPr/>
        </p:nvPicPr>
        <p:blipFill rotWithShape="1"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786475" y="3591450"/>
            <a:ext cx="2465119" cy="139965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3"/>
          <p:cNvSpPr txBox="1"/>
          <p:nvPr/>
        </p:nvSpPr>
        <p:spPr>
          <a:xfrm>
            <a:off x="3272925" y="3590300"/>
            <a:ext cx="817800" cy="218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GPT-4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23"/>
          <p:cNvSpPr txBox="1"/>
          <p:nvPr/>
        </p:nvSpPr>
        <p:spPr>
          <a:xfrm>
            <a:off x="1837750" y="3590300"/>
            <a:ext cx="817800" cy="218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GPT-3.5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4"/>
          <p:cNvSpPr txBox="1"/>
          <p:nvPr/>
        </p:nvSpPr>
        <p:spPr>
          <a:xfrm>
            <a:off x="5621575" y="107575"/>
            <a:ext cx="3368700" cy="2184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https://gorilla.cs.berkeley.edu/leaderboard.html</a:t>
            </a: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24"/>
          <p:cNvSpPr txBox="1"/>
          <p:nvPr/>
        </p:nvSpPr>
        <p:spPr>
          <a:xfrm>
            <a:off x="47500" y="53575"/>
            <a:ext cx="42021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Berkeley Function-Calling Leaderboard</a:t>
            </a:r>
            <a:endParaRPr sz="20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74" name="Google Shape;174;p24"/>
          <p:cNvGraphicFramePr/>
          <p:nvPr/>
        </p:nvGraphicFramePr>
        <p:xfrm>
          <a:off x="0" y="447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{3EA7C72C-350E-48B4-9140-AC023A573A22}</a:tableStyleId>
              </a:tblPr>
              <a:tblGrid>
                <a:gridCol w="674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92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4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42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42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618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1">
                          <a:solidFill>
                            <a:srgbClr val="212529"/>
                          </a:solidFill>
                        </a:rPr>
                        <a:t>Rank 🔼</a:t>
                      </a:r>
                      <a:endParaRPr sz="900" b="1">
                        <a:solidFill>
                          <a:srgbClr val="212529"/>
                        </a:solidFill>
                      </a:endParaRPr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5EFF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1">
                          <a:solidFill>
                            <a:srgbClr val="212529"/>
                          </a:solidFill>
                        </a:rPr>
                        <a:t>Overall Acc</a:t>
                      </a:r>
                      <a:endParaRPr sz="900" b="1">
                        <a:solidFill>
                          <a:srgbClr val="212529"/>
                        </a:solidFill>
                      </a:endParaRPr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5EFF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1">
                          <a:solidFill>
                            <a:srgbClr val="212529"/>
                          </a:solidFill>
                        </a:rPr>
                        <a:t>Model</a:t>
                      </a:r>
                      <a:endParaRPr sz="900" b="1">
                        <a:solidFill>
                          <a:srgbClr val="212529"/>
                        </a:solidFill>
                      </a:endParaRPr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5EFF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1">
                          <a:solidFill>
                            <a:srgbClr val="212529"/>
                          </a:solidFill>
                        </a:rPr>
                        <a:t>Cost ($)</a:t>
                      </a:r>
                      <a:endParaRPr sz="900" b="1">
                        <a:solidFill>
                          <a:srgbClr val="212529"/>
                        </a:solidFill>
                      </a:endParaRPr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5EFF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1">
                          <a:solidFill>
                            <a:srgbClr val="212529"/>
                          </a:solidFill>
                        </a:rPr>
                        <a:t>Mean</a:t>
                      </a:r>
                      <a:endParaRPr sz="900" b="1">
                        <a:solidFill>
                          <a:srgbClr val="212529"/>
                        </a:solidFill>
                      </a:endParaRPr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5EFF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1">
                          <a:solidFill>
                            <a:srgbClr val="212529"/>
                          </a:solidFill>
                        </a:rPr>
                        <a:t>SD</a:t>
                      </a:r>
                      <a:endParaRPr sz="900" b="1">
                        <a:solidFill>
                          <a:srgbClr val="212529"/>
                        </a:solidFill>
                      </a:endParaRPr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5EF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18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212529"/>
                          </a:solidFill>
                        </a:rPr>
                        <a:t>1</a:t>
                      </a:r>
                      <a:endParaRPr sz="900">
                        <a:solidFill>
                          <a:srgbClr val="212529"/>
                        </a:solidFill>
                      </a:endParaRPr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17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212529"/>
                          </a:solidFill>
                        </a:rPr>
                        <a:t>87</a:t>
                      </a:r>
                      <a:endParaRPr sz="900">
                        <a:solidFill>
                          <a:srgbClr val="212529"/>
                        </a:solidFill>
                      </a:endParaRPr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EFD7E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u="sng">
                          <a:solidFill>
                            <a:schemeClr val="hlink"/>
                          </a:solidFill>
                          <a:hlinkClick r:id="rId4"/>
                        </a:rPr>
                        <a:t>GPT-4-0125-Preview (Prompt)</a:t>
                      </a:r>
                      <a:endParaRPr sz="900" u="sng">
                        <a:solidFill>
                          <a:schemeClr val="hlink"/>
                        </a:solidFill>
                      </a:endParaRPr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212529"/>
                          </a:solidFill>
                        </a:rPr>
                        <a:t>5.25</a:t>
                      </a:r>
                      <a:endParaRPr sz="900">
                        <a:solidFill>
                          <a:srgbClr val="212529"/>
                        </a:solidFill>
                      </a:endParaRPr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787B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212529"/>
                          </a:solidFill>
                        </a:rPr>
                        <a:t>1.97</a:t>
                      </a:r>
                      <a:endParaRPr sz="900">
                        <a:solidFill>
                          <a:srgbClr val="212529"/>
                        </a:solidFill>
                      </a:endParaRPr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F8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212529"/>
                          </a:solidFill>
                        </a:rPr>
                        <a:t>1.31</a:t>
                      </a:r>
                      <a:endParaRPr sz="900">
                        <a:solidFill>
                          <a:srgbClr val="212529"/>
                        </a:solidFill>
                      </a:endParaRPr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F8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18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212529"/>
                          </a:solidFill>
                        </a:rPr>
                        <a:t>2</a:t>
                      </a:r>
                      <a:endParaRPr sz="900">
                        <a:solidFill>
                          <a:srgbClr val="212529"/>
                        </a:solidFill>
                      </a:endParaRPr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59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212529"/>
                          </a:solidFill>
                        </a:rPr>
                        <a:t>86.47</a:t>
                      </a:r>
                      <a:endParaRPr sz="900">
                        <a:solidFill>
                          <a:srgbClr val="212529"/>
                        </a:solidFill>
                      </a:endParaRPr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EFD7E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u="sng">
                          <a:solidFill>
                            <a:schemeClr val="hlink"/>
                          </a:solidFill>
                          <a:hlinkClick r:id="rId5"/>
                        </a:rPr>
                        <a:t>Claude-3-Opus-20240229 (Prompt)</a:t>
                      </a:r>
                      <a:endParaRPr sz="900" u="sng">
                        <a:solidFill>
                          <a:schemeClr val="hlink"/>
                        </a:solidFill>
                      </a:endParaRPr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212529"/>
                          </a:solidFill>
                        </a:rPr>
                        <a:t>10.84</a:t>
                      </a:r>
                      <a:endParaRPr sz="900">
                        <a:solidFill>
                          <a:srgbClr val="212529"/>
                        </a:solidFill>
                      </a:endParaRPr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787B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212529"/>
                          </a:solidFill>
                        </a:rPr>
                        <a:t>4.61</a:t>
                      </a:r>
                      <a:endParaRPr sz="900">
                        <a:solidFill>
                          <a:srgbClr val="212529"/>
                        </a:solidFill>
                      </a:endParaRPr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F8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212529"/>
                          </a:solidFill>
                        </a:rPr>
                        <a:t>1.53</a:t>
                      </a:r>
                      <a:endParaRPr sz="900">
                        <a:solidFill>
                          <a:srgbClr val="212529"/>
                        </a:solidFill>
                      </a:endParaRPr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F8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18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212529"/>
                          </a:solidFill>
                        </a:rPr>
                        <a:t>3</a:t>
                      </a:r>
                      <a:endParaRPr sz="900">
                        <a:solidFill>
                          <a:srgbClr val="212529"/>
                        </a:solidFill>
                      </a:endParaRPr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212529"/>
                          </a:solidFill>
                        </a:rPr>
                        <a:t>84.35</a:t>
                      </a:r>
                      <a:endParaRPr sz="900">
                        <a:solidFill>
                          <a:srgbClr val="212529"/>
                        </a:solidFill>
                      </a:endParaRPr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EFD7E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u="sng">
                          <a:solidFill>
                            <a:schemeClr val="hlink"/>
                          </a:solidFill>
                          <a:hlinkClick r:id="rId4"/>
                        </a:rPr>
                        <a:t>GPT-4-1106-Preview (FC)</a:t>
                      </a:r>
                      <a:endParaRPr sz="900" u="sng">
                        <a:solidFill>
                          <a:schemeClr val="hlink"/>
                        </a:solidFill>
                      </a:endParaRPr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212529"/>
                          </a:solidFill>
                        </a:rPr>
                        <a:t>5.07</a:t>
                      </a:r>
                      <a:endParaRPr sz="900">
                        <a:solidFill>
                          <a:srgbClr val="212529"/>
                        </a:solidFill>
                      </a:endParaRPr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787B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212529"/>
                          </a:solidFill>
                        </a:rPr>
                        <a:t>5.97</a:t>
                      </a:r>
                      <a:endParaRPr sz="900">
                        <a:solidFill>
                          <a:srgbClr val="212529"/>
                        </a:solidFill>
                      </a:endParaRPr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F8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212529"/>
                          </a:solidFill>
                        </a:rPr>
                        <a:t>6.31</a:t>
                      </a:r>
                      <a:endParaRPr sz="900">
                        <a:solidFill>
                          <a:srgbClr val="212529"/>
                        </a:solidFill>
                      </a:endParaRPr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F8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18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212529"/>
                          </a:solidFill>
                        </a:rPr>
                        <a:t>4</a:t>
                      </a:r>
                      <a:endParaRPr sz="900">
                        <a:solidFill>
                          <a:srgbClr val="212529"/>
                        </a:solidFill>
                      </a:endParaRPr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5EFF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212529"/>
                          </a:solidFill>
                        </a:rPr>
                        <a:t>84.24</a:t>
                      </a:r>
                      <a:endParaRPr sz="900">
                        <a:solidFill>
                          <a:srgbClr val="212529"/>
                        </a:solidFill>
                      </a:endParaRPr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EFD7E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u="sng">
                          <a:solidFill>
                            <a:schemeClr val="hlink"/>
                          </a:solidFill>
                          <a:hlinkClick r:id="rId4"/>
                        </a:rPr>
                        <a:t>GPT-4-turbo-2024-04-09 (Prompt)</a:t>
                      </a:r>
                      <a:endParaRPr sz="900" u="sng">
                        <a:solidFill>
                          <a:schemeClr val="hlink"/>
                        </a:solidFill>
                      </a:endParaRPr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212529"/>
                          </a:solidFill>
                        </a:rPr>
                        <a:t>5.25</a:t>
                      </a:r>
                      <a:endParaRPr sz="900">
                        <a:solidFill>
                          <a:srgbClr val="212529"/>
                        </a:solidFill>
                      </a:endParaRPr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787B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212529"/>
                          </a:solidFill>
                        </a:rPr>
                        <a:t>2.57</a:t>
                      </a:r>
                      <a:endParaRPr sz="900">
                        <a:solidFill>
                          <a:srgbClr val="212529"/>
                        </a:solidFill>
                      </a:endParaRPr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F8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212529"/>
                          </a:solidFill>
                        </a:rPr>
                        <a:t>2.2</a:t>
                      </a:r>
                      <a:endParaRPr sz="900">
                        <a:solidFill>
                          <a:srgbClr val="212529"/>
                        </a:solidFill>
                      </a:endParaRPr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F8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18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212529"/>
                          </a:solidFill>
                        </a:rPr>
                        <a:t>5</a:t>
                      </a:r>
                      <a:endParaRPr sz="900">
                        <a:solidFill>
                          <a:srgbClr val="212529"/>
                        </a:solidFill>
                      </a:endParaRPr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5EFF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212529"/>
                          </a:solidFill>
                        </a:rPr>
                        <a:t>83.29</a:t>
                      </a:r>
                      <a:endParaRPr sz="900">
                        <a:solidFill>
                          <a:srgbClr val="212529"/>
                        </a:solidFill>
                      </a:endParaRPr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EFD7E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u="sng">
                          <a:solidFill>
                            <a:schemeClr val="hlink"/>
                          </a:solidFill>
                          <a:hlinkClick r:id="rId6"/>
                        </a:rPr>
                        <a:t>Gorilla-OpenFunctions-v2 (FC)</a:t>
                      </a:r>
                      <a:endParaRPr sz="900" u="sng">
                        <a:solidFill>
                          <a:schemeClr val="hlink"/>
                        </a:solidFill>
                      </a:endParaRPr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212529"/>
                          </a:solidFill>
                        </a:rPr>
                        <a:t>0.31</a:t>
                      </a:r>
                      <a:endParaRPr sz="900">
                        <a:solidFill>
                          <a:srgbClr val="212529"/>
                        </a:solidFill>
                      </a:endParaRPr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787B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212529"/>
                          </a:solidFill>
                        </a:rPr>
                        <a:t>0.05</a:t>
                      </a:r>
                      <a:endParaRPr sz="900">
                        <a:solidFill>
                          <a:srgbClr val="212529"/>
                        </a:solidFill>
                      </a:endParaRPr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F8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212529"/>
                          </a:solidFill>
                        </a:rPr>
                        <a:t>N/A</a:t>
                      </a:r>
                      <a:endParaRPr sz="900">
                        <a:solidFill>
                          <a:srgbClr val="212529"/>
                        </a:solidFill>
                      </a:endParaRPr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F8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418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212529"/>
                          </a:solidFill>
                        </a:rPr>
                        <a:t>6</a:t>
                      </a:r>
                      <a:endParaRPr sz="900">
                        <a:solidFill>
                          <a:srgbClr val="212529"/>
                        </a:solidFill>
                      </a:endParaRPr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5EFF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212529"/>
                          </a:solidFill>
                        </a:rPr>
                        <a:t>83.12</a:t>
                      </a:r>
                      <a:endParaRPr sz="900">
                        <a:solidFill>
                          <a:srgbClr val="212529"/>
                        </a:solidFill>
                      </a:endParaRPr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EFD7E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u="sng">
                          <a:solidFill>
                            <a:schemeClr val="hlink"/>
                          </a:solidFill>
                          <a:hlinkClick r:id="rId4"/>
                        </a:rPr>
                        <a:t>GPT-4-0125-Preview (FC)</a:t>
                      </a:r>
                      <a:endParaRPr sz="900" u="sng">
                        <a:solidFill>
                          <a:schemeClr val="hlink"/>
                        </a:solidFill>
                      </a:endParaRPr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212529"/>
                          </a:solidFill>
                        </a:rPr>
                        <a:t>4.83</a:t>
                      </a:r>
                      <a:endParaRPr sz="900">
                        <a:solidFill>
                          <a:srgbClr val="212529"/>
                        </a:solidFill>
                      </a:endParaRPr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787B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212529"/>
                          </a:solidFill>
                        </a:rPr>
                        <a:t>4.72</a:t>
                      </a:r>
                      <a:endParaRPr sz="900">
                        <a:solidFill>
                          <a:srgbClr val="212529"/>
                        </a:solidFill>
                      </a:endParaRPr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F8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212529"/>
                          </a:solidFill>
                        </a:rPr>
                        <a:t>5.76</a:t>
                      </a:r>
                      <a:endParaRPr sz="900">
                        <a:solidFill>
                          <a:srgbClr val="212529"/>
                        </a:solidFill>
                      </a:endParaRPr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F8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418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212529"/>
                          </a:solidFill>
                        </a:rPr>
                        <a:t>7</a:t>
                      </a:r>
                      <a:endParaRPr sz="900">
                        <a:solidFill>
                          <a:srgbClr val="212529"/>
                        </a:solidFill>
                      </a:endParaRPr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5EFF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212529"/>
                          </a:solidFill>
                        </a:rPr>
                        <a:t>82.12</a:t>
                      </a:r>
                      <a:endParaRPr sz="900">
                        <a:solidFill>
                          <a:srgbClr val="212529"/>
                        </a:solidFill>
                      </a:endParaRPr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EFD7E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u="sng">
                          <a:solidFill>
                            <a:schemeClr val="hlink"/>
                          </a:solidFill>
                          <a:hlinkClick r:id="rId7"/>
                        </a:rPr>
                        <a:t>Meta-Llama-3-70B-Instruct (Prompt)</a:t>
                      </a:r>
                      <a:endParaRPr sz="900" u="sng">
                        <a:solidFill>
                          <a:schemeClr val="hlink"/>
                        </a:solidFill>
                      </a:endParaRPr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212529"/>
                          </a:solidFill>
                        </a:rPr>
                        <a:t>1.1</a:t>
                      </a:r>
                      <a:endParaRPr sz="900">
                        <a:solidFill>
                          <a:srgbClr val="212529"/>
                        </a:solidFill>
                      </a:endParaRPr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787B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212529"/>
                          </a:solidFill>
                        </a:rPr>
                        <a:t>0.18</a:t>
                      </a:r>
                      <a:endParaRPr sz="900">
                        <a:solidFill>
                          <a:srgbClr val="212529"/>
                        </a:solidFill>
                      </a:endParaRPr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F8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212529"/>
                          </a:solidFill>
                        </a:rPr>
                        <a:t>N/A</a:t>
                      </a:r>
                      <a:endParaRPr sz="900">
                        <a:solidFill>
                          <a:srgbClr val="212529"/>
                        </a:solidFill>
                      </a:endParaRPr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F8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418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212529"/>
                          </a:solidFill>
                        </a:rPr>
                        <a:t>8</a:t>
                      </a:r>
                      <a:endParaRPr sz="900">
                        <a:solidFill>
                          <a:srgbClr val="212529"/>
                        </a:solidFill>
                      </a:endParaRPr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5EFF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212529"/>
                          </a:solidFill>
                        </a:rPr>
                        <a:t>81.24</a:t>
                      </a:r>
                      <a:endParaRPr sz="900">
                        <a:solidFill>
                          <a:srgbClr val="212529"/>
                        </a:solidFill>
                      </a:endParaRPr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EFD7E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u="sng">
                          <a:solidFill>
                            <a:schemeClr val="hlink"/>
                          </a:solidFill>
                          <a:hlinkClick r:id="rId4"/>
                        </a:rPr>
                        <a:t>GPT-4-turbo-2024-04-09 (FC)</a:t>
                      </a:r>
                      <a:endParaRPr sz="900" u="sng">
                        <a:solidFill>
                          <a:schemeClr val="hlink"/>
                        </a:solidFill>
                      </a:endParaRPr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212529"/>
                          </a:solidFill>
                        </a:rPr>
                        <a:t>4.78</a:t>
                      </a:r>
                      <a:endParaRPr sz="900">
                        <a:solidFill>
                          <a:srgbClr val="212529"/>
                        </a:solidFill>
                      </a:endParaRPr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787B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212529"/>
                          </a:solidFill>
                        </a:rPr>
                        <a:t>5.48</a:t>
                      </a:r>
                      <a:endParaRPr sz="900">
                        <a:solidFill>
                          <a:srgbClr val="212529"/>
                        </a:solidFill>
                      </a:endParaRPr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F8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212529"/>
                          </a:solidFill>
                        </a:rPr>
                        <a:t>6.37</a:t>
                      </a:r>
                      <a:endParaRPr sz="900">
                        <a:solidFill>
                          <a:srgbClr val="212529"/>
                        </a:solidFill>
                      </a:endParaRPr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F8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18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212529"/>
                          </a:solidFill>
                        </a:rPr>
                        <a:t>9</a:t>
                      </a:r>
                      <a:endParaRPr sz="900">
                        <a:solidFill>
                          <a:srgbClr val="212529"/>
                        </a:solidFill>
                      </a:endParaRPr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5EFF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212529"/>
                          </a:solidFill>
                        </a:rPr>
                        <a:t>81.06</a:t>
                      </a:r>
                      <a:endParaRPr sz="900">
                        <a:solidFill>
                          <a:srgbClr val="212529"/>
                        </a:solidFill>
                      </a:endParaRPr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EFD7E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u="sng">
                          <a:solidFill>
                            <a:schemeClr val="hlink"/>
                          </a:solidFill>
                          <a:hlinkClick r:id="rId5"/>
                        </a:rPr>
                        <a:t>Claude-3-Sonnet-20240229 (Prompt)</a:t>
                      </a:r>
                      <a:endParaRPr sz="900" u="sng">
                        <a:solidFill>
                          <a:schemeClr val="hlink"/>
                        </a:solidFill>
                      </a:endParaRPr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212529"/>
                          </a:solidFill>
                        </a:rPr>
                        <a:t>2.13</a:t>
                      </a:r>
                      <a:endParaRPr sz="900">
                        <a:solidFill>
                          <a:srgbClr val="212529"/>
                        </a:solidFill>
                      </a:endParaRPr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787B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212529"/>
                          </a:solidFill>
                        </a:rPr>
                        <a:t>1.95</a:t>
                      </a:r>
                      <a:endParaRPr sz="900">
                        <a:solidFill>
                          <a:srgbClr val="212529"/>
                        </a:solidFill>
                      </a:endParaRPr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F8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212529"/>
                          </a:solidFill>
                        </a:rPr>
                        <a:t>1.16</a:t>
                      </a:r>
                      <a:endParaRPr sz="900">
                        <a:solidFill>
                          <a:srgbClr val="212529"/>
                        </a:solidFill>
                      </a:endParaRPr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F8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418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212529"/>
                          </a:solidFill>
                        </a:rPr>
                        <a:t>10</a:t>
                      </a:r>
                      <a:endParaRPr sz="900">
                        <a:solidFill>
                          <a:srgbClr val="212529"/>
                        </a:solidFill>
                      </a:endParaRPr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5EFF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212529"/>
                          </a:solidFill>
                        </a:rPr>
                        <a:t>80.24</a:t>
                      </a:r>
                      <a:endParaRPr sz="900">
                        <a:solidFill>
                          <a:srgbClr val="212529"/>
                        </a:solidFill>
                      </a:endParaRPr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EFD7E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u="sng">
                          <a:solidFill>
                            <a:schemeClr val="hlink"/>
                          </a:solidFill>
                          <a:hlinkClick r:id="rId8"/>
                        </a:rPr>
                        <a:t>Mistral-Medium-2312 (Prompt)</a:t>
                      </a:r>
                      <a:endParaRPr sz="900" u="sng">
                        <a:solidFill>
                          <a:schemeClr val="hlink"/>
                        </a:solidFill>
                      </a:endParaRPr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212529"/>
                          </a:solidFill>
                        </a:rPr>
                        <a:t>1.76</a:t>
                      </a:r>
                      <a:endParaRPr sz="900">
                        <a:solidFill>
                          <a:srgbClr val="212529"/>
                        </a:solidFill>
                      </a:endParaRPr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787B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212529"/>
                          </a:solidFill>
                        </a:rPr>
                        <a:t>2.75</a:t>
                      </a:r>
                      <a:endParaRPr sz="900">
                        <a:solidFill>
                          <a:srgbClr val="212529"/>
                        </a:solidFill>
                      </a:endParaRPr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F8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212529"/>
                          </a:solidFill>
                        </a:rPr>
                        <a:t>2.15</a:t>
                      </a:r>
                      <a:endParaRPr sz="900">
                        <a:solidFill>
                          <a:srgbClr val="212529"/>
                        </a:solidFill>
                      </a:endParaRPr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F8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618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212529"/>
                          </a:solidFill>
                        </a:rPr>
                        <a:t>11</a:t>
                      </a:r>
                      <a:endParaRPr sz="900">
                        <a:solidFill>
                          <a:srgbClr val="212529"/>
                        </a:solidFill>
                      </a:endParaRPr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5EFF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212529"/>
                          </a:solidFill>
                        </a:rPr>
                        <a:t>79.06</a:t>
                      </a:r>
                      <a:endParaRPr sz="900">
                        <a:solidFill>
                          <a:srgbClr val="212529"/>
                        </a:solidFill>
                      </a:endParaRPr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EFD7E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u="sng">
                          <a:solidFill>
                            <a:schemeClr val="hlink"/>
                          </a:solidFill>
                          <a:hlinkClick r:id="rId9"/>
                        </a:rPr>
                        <a:t>Command-R-Plus (Prompt) (Optimized)</a:t>
                      </a:r>
                      <a:endParaRPr sz="900" u="sng">
                        <a:solidFill>
                          <a:schemeClr val="hlink"/>
                        </a:solidFill>
                      </a:endParaRPr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212529"/>
                          </a:solidFill>
                        </a:rPr>
                        <a:t>1.9</a:t>
                      </a:r>
                      <a:endParaRPr sz="900">
                        <a:solidFill>
                          <a:srgbClr val="212529"/>
                        </a:solidFill>
                      </a:endParaRPr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787B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212529"/>
                          </a:solidFill>
                        </a:rPr>
                        <a:t>1.27</a:t>
                      </a:r>
                      <a:endParaRPr sz="900">
                        <a:solidFill>
                          <a:srgbClr val="212529"/>
                        </a:solidFill>
                      </a:endParaRPr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F8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212529"/>
                          </a:solidFill>
                        </a:rPr>
                        <a:t>0.93</a:t>
                      </a:r>
                      <a:endParaRPr sz="900">
                        <a:solidFill>
                          <a:srgbClr val="212529"/>
                        </a:solidFill>
                      </a:endParaRPr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F8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618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212529"/>
                          </a:solidFill>
                        </a:rPr>
                        <a:t>12</a:t>
                      </a:r>
                      <a:endParaRPr sz="900">
                        <a:solidFill>
                          <a:srgbClr val="212529"/>
                        </a:solidFill>
                      </a:endParaRPr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5EFF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212529"/>
                          </a:solidFill>
                        </a:rPr>
                        <a:t>79</a:t>
                      </a:r>
                      <a:endParaRPr sz="900">
                        <a:solidFill>
                          <a:srgbClr val="212529"/>
                        </a:solidFill>
                      </a:endParaRPr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EFD7E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u="sng">
                          <a:solidFill>
                            <a:schemeClr val="hlink"/>
                          </a:solidFill>
                          <a:hlinkClick r:id="rId9"/>
                        </a:rPr>
                        <a:t>Command-R-Plus (Prompt) (Original)</a:t>
                      </a:r>
                      <a:endParaRPr sz="900" u="sng">
                        <a:solidFill>
                          <a:schemeClr val="hlink"/>
                        </a:solidFill>
                      </a:endParaRPr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212529"/>
                          </a:solidFill>
                        </a:rPr>
                        <a:t>1.9</a:t>
                      </a:r>
                      <a:endParaRPr sz="900">
                        <a:solidFill>
                          <a:srgbClr val="212529"/>
                        </a:solidFill>
                      </a:endParaRPr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787B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212529"/>
                          </a:solidFill>
                        </a:rPr>
                        <a:t>1.32</a:t>
                      </a:r>
                      <a:endParaRPr sz="900">
                        <a:solidFill>
                          <a:srgbClr val="212529"/>
                        </a:solidFill>
                      </a:endParaRPr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F8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212529"/>
                          </a:solidFill>
                        </a:rPr>
                        <a:t>0.94</a:t>
                      </a:r>
                      <a:endParaRPr sz="900">
                        <a:solidFill>
                          <a:srgbClr val="212529"/>
                        </a:solidFill>
                      </a:endParaRPr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F8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418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212529"/>
                          </a:solidFill>
                        </a:rPr>
                        <a:t>13</a:t>
                      </a:r>
                      <a:endParaRPr sz="900">
                        <a:solidFill>
                          <a:srgbClr val="212529"/>
                        </a:solidFill>
                      </a:endParaRPr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5EFF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212529"/>
                          </a:solidFill>
                        </a:rPr>
                        <a:t>79</a:t>
                      </a:r>
                      <a:endParaRPr sz="900">
                        <a:solidFill>
                          <a:srgbClr val="212529"/>
                        </a:solidFill>
                      </a:endParaRPr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EFD7E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u="sng">
                          <a:solidFill>
                            <a:schemeClr val="hlink"/>
                          </a:solidFill>
                          <a:hlinkClick r:id="rId10"/>
                        </a:rPr>
                        <a:t>Functionary-Medium-v2.4 (FC)</a:t>
                      </a:r>
                      <a:endParaRPr sz="900" u="sng">
                        <a:solidFill>
                          <a:schemeClr val="hlink"/>
                        </a:solidFill>
                      </a:endParaRPr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212529"/>
                          </a:solidFill>
                        </a:rPr>
                        <a:t>N/A</a:t>
                      </a:r>
                      <a:endParaRPr sz="900">
                        <a:solidFill>
                          <a:srgbClr val="212529"/>
                        </a:solidFill>
                      </a:endParaRPr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787B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212529"/>
                          </a:solidFill>
                        </a:rPr>
                        <a:t>2.49</a:t>
                      </a:r>
                      <a:endParaRPr sz="900">
                        <a:solidFill>
                          <a:srgbClr val="212529"/>
                        </a:solidFill>
                      </a:endParaRPr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F8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212529"/>
                          </a:solidFill>
                        </a:rPr>
                        <a:t>2.69</a:t>
                      </a:r>
                      <a:endParaRPr sz="900">
                        <a:solidFill>
                          <a:srgbClr val="212529"/>
                        </a:solidFill>
                      </a:endParaRPr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F8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418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212529"/>
                          </a:solidFill>
                        </a:rPr>
                        <a:t>14</a:t>
                      </a:r>
                      <a:endParaRPr sz="900">
                        <a:solidFill>
                          <a:srgbClr val="212529"/>
                        </a:solidFill>
                      </a:endParaRPr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5EFF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212529"/>
                          </a:solidFill>
                        </a:rPr>
                        <a:t>78.47</a:t>
                      </a:r>
                      <a:endParaRPr sz="900">
                        <a:solidFill>
                          <a:srgbClr val="212529"/>
                        </a:solidFill>
                      </a:endParaRPr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EFD7E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u="sng">
                          <a:solidFill>
                            <a:schemeClr val="hlink"/>
                          </a:solidFill>
                          <a:hlinkClick r:id="rId11"/>
                        </a:rPr>
                        <a:t>Functionary-Small-v2.4 (FC)</a:t>
                      </a:r>
                      <a:endParaRPr sz="900" u="sng">
                        <a:solidFill>
                          <a:schemeClr val="hlink"/>
                        </a:solidFill>
                      </a:endParaRPr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212529"/>
                          </a:solidFill>
                        </a:rPr>
                        <a:t>N/A</a:t>
                      </a:r>
                      <a:endParaRPr sz="900">
                        <a:solidFill>
                          <a:srgbClr val="212529"/>
                        </a:solidFill>
                      </a:endParaRPr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787B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212529"/>
                          </a:solidFill>
                        </a:rPr>
                        <a:t>2.43</a:t>
                      </a:r>
                      <a:endParaRPr sz="900">
                        <a:solidFill>
                          <a:srgbClr val="212529"/>
                        </a:solidFill>
                      </a:endParaRPr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F8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212529"/>
                          </a:solidFill>
                        </a:rPr>
                        <a:t>2.55</a:t>
                      </a:r>
                      <a:endParaRPr sz="900">
                        <a:solidFill>
                          <a:srgbClr val="212529"/>
                        </a:solidFill>
                      </a:endParaRPr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F8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418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212529"/>
                          </a:solidFill>
                        </a:rPr>
                        <a:t>15</a:t>
                      </a:r>
                      <a:endParaRPr sz="900">
                        <a:solidFill>
                          <a:srgbClr val="212529"/>
                        </a:solidFill>
                      </a:endParaRPr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5EFF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212529"/>
                          </a:solidFill>
                        </a:rPr>
                        <a:t>78.12</a:t>
                      </a:r>
                      <a:endParaRPr sz="900">
                        <a:solidFill>
                          <a:srgbClr val="212529"/>
                        </a:solidFill>
                      </a:endParaRPr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EFD7E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u="sng">
                          <a:solidFill>
                            <a:schemeClr val="hlink"/>
                          </a:solidFill>
                          <a:hlinkClick r:id="rId9"/>
                        </a:rPr>
                        <a:t>Command-R-Plus (FC) (Optimized)</a:t>
                      </a:r>
                      <a:endParaRPr sz="900" u="sng">
                        <a:solidFill>
                          <a:schemeClr val="hlink"/>
                        </a:solidFill>
                      </a:endParaRPr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212529"/>
                          </a:solidFill>
                        </a:rPr>
                        <a:t>1.06</a:t>
                      </a:r>
                      <a:endParaRPr sz="900">
                        <a:solidFill>
                          <a:srgbClr val="212529"/>
                        </a:solidFill>
                      </a:endParaRPr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787B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212529"/>
                          </a:solidFill>
                        </a:rPr>
                        <a:t>1.9</a:t>
                      </a:r>
                      <a:endParaRPr sz="900">
                        <a:solidFill>
                          <a:srgbClr val="212529"/>
                        </a:solidFill>
                      </a:endParaRPr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F8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212529"/>
                          </a:solidFill>
                        </a:rPr>
                        <a:t>1.34</a:t>
                      </a:r>
                      <a:endParaRPr sz="900">
                        <a:solidFill>
                          <a:srgbClr val="212529"/>
                        </a:solidFill>
                      </a:endParaRPr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F8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618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212529"/>
                          </a:solidFill>
                        </a:rPr>
                        <a:t>16</a:t>
                      </a:r>
                      <a:endParaRPr sz="900">
                        <a:solidFill>
                          <a:srgbClr val="212529"/>
                        </a:solidFill>
                      </a:endParaRPr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5EFF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212529"/>
                          </a:solidFill>
                        </a:rPr>
                        <a:t>76.47</a:t>
                      </a:r>
                      <a:endParaRPr sz="900">
                        <a:solidFill>
                          <a:srgbClr val="212529"/>
                        </a:solidFill>
                      </a:endParaRPr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EFD7E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u="sng">
                          <a:solidFill>
                            <a:schemeClr val="hlink"/>
                          </a:solidFill>
                          <a:hlinkClick r:id="rId5"/>
                        </a:rPr>
                        <a:t>Claude-3-Opus-20240229 (FC tools-2024-04-04)</a:t>
                      </a:r>
                      <a:endParaRPr sz="900" u="sng">
                        <a:solidFill>
                          <a:schemeClr val="hlink"/>
                        </a:solidFill>
                      </a:endParaRPr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212529"/>
                          </a:solidFill>
                        </a:rPr>
                        <a:t>30.87</a:t>
                      </a:r>
                      <a:endParaRPr sz="900">
                        <a:solidFill>
                          <a:srgbClr val="212529"/>
                        </a:solidFill>
                      </a:endParaRPr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787B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212529"/>
                          </a:solidFill>
                        </a:rPr>
                        <a:t>12.92</a:t>
                      </a:r>
                      <a:endParaRPr sz="900">
                        <a:solidFill>
                          <a:srgbClr val="212529"/>
                        </a:solidFill>
                      </a:endParaRPr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F8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212529"/>
                          </a:solidFill>
                        </a:rPr>
                        <a:t>3.95</a:t>
                      </a:r>
                      <a:endParaRPr sz="900">
                        <a:solidFill>
                          <a:srgbClr val="212529"/>
                        </a:solidFill>
                      </a:endParaRPr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F8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418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212529"/>
                          </a:solidFill>
                        </a:rPr>
                        <a:t>17</a:t>
                      </a:r>
                      <a:endParaRPr sz="900">
                        <a:solidFill>
                          <a:srgbClr val="212529"/>
                        </a:solidFill>
                      </a:endParaRPr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5EFF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212529"/>
                          </a:solidFill>
                        </a:rPr>
                        <a:t>75.24</a:t>
                      </a:r>
                      <a:endParaRPr sz="900">
                        <a:solidFill>
                          <a:srgbClr val="212529"/>
                        </a:solidFill>
                      </a:endParaRPr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EFD7E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u="sng">
                          <a:solidFill>
                            <a:schemeClr val="hlink"/>
                          </a:solidFill>
                          <a:hlinkClick r:id="rId12"/>
                        </a:rPr>
                        <a:t>Claude-instant-1.2 (Prompt)</a:t>
                      </a:r>
                      <a:endParaRPr sz="900" u="sng">
                        <a:solidFill>
                          <a:schemeClr val="hlink"/>
                        </a:solidFill>
                      </a:endParaRPr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212529"/>
                          </a:solidFill>
                        </a:rPr>
                        <a:t>0.95</a:t>
                      </a:r>
                      <a:endParaRPr sz="900">
                        <a:solidFill>
                          <a:srgbClr val="212529"/>
                        </a:solidFill>
                      </a:endParaRPr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787B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212529"/>
                          </a:solidFill>
                        </a:rPr>
                        <a:t>1.21</a:t>
                      </a:r>
                      <a:endParaRPr sz="900">
                        <a:solidFill>
                          <a:srgbClr val="212529"/>
                        </a:solidFill>
                      </a:endParaRPr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F8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212529"/>
                          </a:solidFill>
                        </a:rPr>
                        <a:t>0.69</a:t>
                      </a:r>
                      <a:endParaRPr sz="900">
                        <a:solidFill>
                          <a:srgbClr val="212529"/>
                        </a:solidFill>
                      </a:endParaRPr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F8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418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212529"/>
                          </a:solidFill>
                        </a:rPr>
                        <a:t>18</a:t>
                      </a:r>
                      <a:endParaRPr sz="900">
                        <a:solidFill>
                          <a:srgbClr val="212529"/>
                        </a:solidFill>
                      </a:endParaRPr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5EFF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212529"/>
                          </a:solidFill>
                        </a:rPr>
                        <a:t>73.29</a:t>
                      </a:r>
                      <a:endParaRPr sz="900">
                        <a:solidFill>
                          <a:srgbClr val="212529"/>
                        </a:solidFill>
                      </a:endParaRPr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EFD7E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u="sng">
                          <a:solidFill>
                            <a:schemeClr val="hlink"/>
                          </a:solidFill>
                          <a:hlinkClick r:id="rId5"/>
                        </a:rPr>
                        <a:t>Claude-3-Haiku-20240307 (Prompt)</a:t>
                      </a:r>
                      <a:endParaRPr sz="900" u="sng">
                        <a:solidFill>
                          <a:schemeClr val="hlink"/>
                        </a:solidFill>
                      </a:endParaRPr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212529"/>
                          </a:solidFill>
                        </a:rPr>
                        <a:t>0.18</a:t>
                      </a:r>
                      <a:endParaRPr sz="900">
                        <a:solidFill>
                          <a:srgbClr val="212529"/>
                        </a:solidFill>
                      </a:endParaRPr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787B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212529"/>
                          </a:solidFill>
                        </a:rPr>
                        <a:t>1</a:t>
                      </a:r>
                      <a:endParaRPr sz="900">
                        <a:solidFill>
                          <a:srgbClr val="212529"/>
                        </a:solidFill>
                      </a:endParaRPr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F8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212529"/>
                          </a:solidFill>
                        </a:rPr>
                        <a:t>0.49</a:t>
                      </a:r>
                      <a:endParaRPr sz="900">
                        <a:solidFill>
                          <a:srgbClr val="212529"/>
                        </a:solidFill>
                      </a:endParaRPr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F8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418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212529"/>
                          </a:solidFill>
                        </a:rPr>
                        <a:t>19</a:t>
                      </a:r>
                      <a:endParaRPr sz="900">
                        <a:solidFill>
                          <a:srgbClr val="212529"/>
                        </a:solidFill>
                      </a:endParaRPr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5EFF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212529"/>
                          </a:solidFill>
                        </a:rPr>
                        <a:t>70.29</a:t>
                      </a:r>
                      <a:endParaRPr sz="900">
                        <a:solidFill>
                          <a:srgbClr val="212529"/>
                        </a:solidFill>
                      </a:endParaRPr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EFD7E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u="sng">
                          <a:solidFill>
                            <a:schemeClr val="hlink"/>
                          </a:solidFill>
                          <a:hlinkClick r:id="rId13"/>
                        </a:rPr>
                        <a:t>Claude-2.1 (Prompt)</a:t>
                      </a:r>
                      <a:endParaRPr sz="900" u="sng">
                        <a:solidFill>
                          <a:schemeClr val="hlink"/>
                        </a:solidFill>
                      </a:endParaRPr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212529"/>
                          </a:solidFill>
                        </a:rPr>
                        <a:t>6.61</a:t>
                      </a:r>
                      <a:endParaRPr sz="900">
                        <a:solidFill>
                          <a:srgbClr val="212529"/>
                        </a:solidFill>
                      </a:endParaRPr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787B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212529"/>
                          </a:solidFill>
                        </a:rPr>
                        <a:t>3.27</a:t>
                      </a:r>
                      <a:endParaRPr sz="900">
                        <a:solidFill>
                          <a:srgbClr val="212529"/>
                        </a:solidFill>
                      </a:endParaRPr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F8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212529"/>
                          </a:solidFill>
                        </a:rPr>
                        <a:t>2.13</a:t>
                      </a:r>
                      <a:endParaRPr sz="900">
                        <a:solidFill>
                          <a:srgbClr val="212529"/>
                        </a:solidFill>
                      </a:endParaRPr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F8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418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212529"/>
                          </a:solidFill>
                        </a:rPr>
                        <a:t>20</a:t>
                      </a:r>
                      <a:endParaRPr sz="900">
                        <a:solidFill>
                          <a:srgbClr val="212529"/>
                        </a:solidFill>
                      </a:endParaRPr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5EFF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212529"/>
                          </a:solidFill>
                        </a:rPr>
                        <a:t>69.47</a:t>
                      </a:r>
                      <a:endParaRPr sz="900">
                        <a:solidFill>
                          <a:srgbClr val="212529"/>
                        </a:solidFill>
                      </a:endParaRPr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EFD7E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u="sng">
                          <a:solidFill>
                            <a:schemeClr val="hlink"/>
                          </a:solidFill>
                          <a:hlinkClick r:id="rId9"/>
                        </a:rPr>
                        <a:t>Command-R-Plus (FC) (Original)</a:t>
                      </a:r>
                      <a:endParaRPr sz="900" u="sng">
                        <a:solidFill>
                          <a:schemeClr val="hlink"/>
                        </a:solidFill>
                      </a:endParaRPr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212529"/>
                          </a:solidFill>
                        </a:rPr>
                        <a:t>1.07</a:t>
                      </a:r>
                      <a:endParaRPr sz="900">
                        <a:solidFill>
                          <a:srgbClr val="212529"/>
                        </a:solidFill>
                      </a:endParaRPr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787B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212529"/>
                          </a:solidFill>
                        </a:rPr>
                        <a:t>1.9</a:t>
                      </a:r>
                      <a:endParaRPr sz="900">
                        <a:solidFill>
                          <a:srgbClr val="212529"/>
                        </a:solidFill>
                      </a:endParaRPr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F8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212529"/>
                          </a:solidFill>
                        </a:rPr>
                        <a:t>0.99</a:t>
                      </a:r>
                      <a:endParaRPr sz="900">
                        <a:solidFill>
                          <a:srgbClr val="212529"/>
                        </a:solidFill>
                      </a:endParaRPr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F8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418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212529"/>
                          </a:solidFill>
                        </a:rPr>
                        <a:t>21</a:t>
                      </a:r>
                      <a:endParaRPr sz="900">
                        <a:solidFill>
                          <a:srgbClr val="212529"/>
                        </a:solidFill>
                      </a:endParaRPr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5EFF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212529"/>
                          </a:solidFill>
                        </a:rPr>
                        <a:t>67.59</a:t>
                      </a:r>
                      <a:endParaRPr sz="900">
                        <a:solidFill>
                          <a:srgbClr val="212529"/>
                        </a:solidFill>
                      </a:endParaRPr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EFD7E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u="sng">
                          <a:solidFill>
                            <a:schemeClr val="hlink"/>
                          </a:solidFill>
                          <a:hlinkClick r:id="rId8"/>
                        </a:rPr>
                        <a:t>Mistral-large-2402 (FC Auto)</a:t>
                      </a:r>
                      <a:endParaRPr sz="900" u="sng">
                        <a:solidFill>
                          <a:schemeClr val="hlink"/>
                        </a:solidFill>
                      </a:endParaRPr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212529"/>
                          </a:solidFill>
                        </a:rPr>
                        <a:t>4.95</a:t>
                      </a:r>
                      <a:endParaRPr sz="900">
                        <a:solidFill>
                          <a:srgbClr val="212529"/>
                        </a:solidFill>
                      </a:endParaRPr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787B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212529"/>
                          </a:solidFill>
                        </a:rPr>
                        <a:t>3.02</a:t>
                      </a:r>
                      <a:endParaRPr sz="900">
                        <a:solidFill>
                          <a:srgbClr val="212529"/>
                        </a:solidFill>
                      </a:endParaRPr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F8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212529"/>
                          </a:solidFill>
                        </a:rPr>
                        <a:t>2.94</a:t>
                      </a:r>
                      <a:endParaRPr sz="900">
                        <a:solidFill>
                          <a:srgbClr val="212529"/>
                        </a:solidFill>
                      </a:endParaRPr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F8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418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212529"/>
                          </a:solidFill>
                        </a:rPr>
                        <a:t>22</a:t>
                      </a:r>
                      <a:endParaRPr sz="900">
                        <a:solidFill>
                          <a:srgbClr val="212529"/>
                        </a:solidFill>
                      </a:endParaRPr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5EFF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212529"/>
                          </a:solidFill>
                        </a:rPr>
                        <a:t>64.88</a:t>
                      </a:r>
                      <a:endParaRPr sz="900">
                        <a:solidFill>
                          <a:srgbClr val="212529"/>
                        </a:solidFill>
                      </a:endParaRPr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EFD7E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u="sng">
                          <a:solidFill>
                            <a:schemeClr val="hlink"/>
                          </a:solidFill>
                          <a:hlinkClick r:id="rId14"/>
                        </a:rPr>
                        <a:t>DBRX-Instruct (Prompt)</a:t>
                      </a:r>
                      <a:endParaRPr sz="900" u="sng">
                        <a:solidFill>
                          <a:schemeClr val="hlink"/>
                        </a:solidFill>
                      </a:endParaRPr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212529"/>
                          </a:solidFill>
                        </a:rPr>
                        <a:t>1.25</a:t>
                      </a:r>
                      <a:endParaRPr sz="900">
                        <a:solidFill>
                          <a:srgbClr val="212529"/>
                        </a:solidFill>
                      </a:endParaRPr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787B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212529"/>
                          </a:solidFill>
                        </a:rPr>
                        <a:t>0.64</a:t>
                      </a:r>
                      <a:endParaRPr sz="900">
                        <a:solidFill>
                          <a:srgbClr val="212529"/>
                        </a:solidFill>
                      </a:endParaRPr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F8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212529"/>
                          </a:solidFill>
                        </a:rPr>
                        <a:t>0.41</a:t>
                      </a:r>
                      <a:endParaRPr sz="900">
                        <a:solidFill>
                          <a:srgbClr val="212529"/>
                        </a:solidFill>
                      </a:endParaRPr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F8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</a:tbl>
          </a:graphicData>
        </a:graphic>
      </p:graphicFrame>
      <p:sp>
        <p:nvSpPr>
          <p:cNvPr id="175" name="Google Shape;175;p24"/>
          <p:cNvSpPr txBox="1"/>
          <p:nvPr/>
        </p:nvSpPr>
        <p:spPr>
          <a:xfrm>
            <a:off x="5836600" y="1031100"/>
            <a:ext cx="3153600" cy="10188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GPT-4 &amp; Claude3-Opus are on top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Llama3-70b is good (on 7th place)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GPT-3.5 is on 25th place, 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Llama3-8b is on 28th place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5"/>
          <p:cNvSpPr txBox="1"/>
          <p:nvPr/>
        </p:nvSpPr>
        <p:spPr>
          <a:xfrm>
            <a:off x="47500" y="53575"/>
            <a:ext cx="42021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Coding Assistants</a:t>
            </a:r>
            <a:endParaRPr sz="20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5"/>
          <p:cNvSpPr txBox="1"/>
          <p:nvPr/>
        </p:nvSpPr>
        <p:spPr>
          <a:xfrm>
            <a:off x="47500" y="2091025"/>
            <a:ext cx="2549100" cy="418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GitHub Copilot</a:t>
            </a:r>
            <a:endParaRPr sz="13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https://github.com/features/copilot</a:t>
            </a: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2" name="Google Shape;182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39025" y="465063"/>
            <a:ext cx="1772050" cy="5316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25"/>
          <p:cNvPicPr preferRelativeResize="0"/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98300" y="2780750"/>
            <a:ext cx="1251300" cy="60875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84" name="Google Shape;184;p25"/>
          <p:cNvPicPr preferRelativeResize="0"/>
          <p:nvPr/>
        </p:nvPicPr>
        <p:blipFill rotWithShape="1"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606075" y="1081775"/>
            <a:ext cx="1772058" cy="60875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5"/>
          <p:cNvSpPr txBox="1"/>
          <p:nvPr/>
        </p:nvSpPr>
        <p:spPr>
          <a:xfrm>
            <a:off x="47500" y="522850"/>
            <a:ext cx="3199500" cy="418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tabnine</a:t>
            </a: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local or remote LLMs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/>
              </a:rPr>
              <a:t>https://www.tabnine.com</a:t>
            </a: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25"/>
          <p:cNvSpPr txBox="1"/>
          <p:nvPr/>
        </p:nvSpPr>
        <p:spPr>
          <a:xfrm>
            <a:off x="47500" y="1195125"/>
            <a:ext cx="3391500" cy="418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Codeium</a:t>
            </a: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(formerly Cody) - local or remote LLMs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8"/>
              </a:rPr>
              <a:t>https://codeium.com</a:t>
            </a: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25"/>
          <p:cNvSpPr txBox="1"/>
          <p:nvPr/>
        </p:nvSpPr>
        <p:spPr>
          <a:xfrm>
            <a:off x="47500" y="3728025"/>
            <a:ext cx="3512700" cy="12189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Cursor</a:t>
            </a: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</a:t>
            </a:r>
            <a:r>
              <a:rPr lang="en" sz="13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9"/>
              </a:rPr>
              <a:t>https://cursor.sh</a:t>
            </a: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AI-first editor, a fork of VS Code, uses OpenAI models.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One-click migration from VSCode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Cursor is essentially VSCode enhanced with AI capabilities to boost productivity and improve the coding experience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5"/>
          <p:cNvSpPr txBox="1"/>
          <p:nvPr/>
        </p:nvSpPr>
        <p:spPr>
          <a:xfrm>
            <a:off x="47500" y="2852750"/>
            <a:ext cx="2549100" cy="418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Snyk Code</a:t>
            </a: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(code security)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0"/>
              </a:rPr>
              <a:t>https://snyk.io/product/snyk-code/</a:t>
            </a: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9" name="Google Shape;189;p25"/>
          <p:cNvPicPr preferRelativeResize="0"/>
          <p:nvPr/>
        </p:nvPicPr>
        <p:blipFill rotWithShape="1">
          <a:blip r:embed="rId11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773025" y="2025588"/>
            <a:ext cx="2406275" cy="57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5"/>
          <p:cNvPicPr preferRelativeResize="0"/>
          <p:nvPr/>
        </p:nvPicPr>
        <p:blipFill rotWithShape="1">
          <a:blip r:embed="rId1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713850" y="3802325"/>
            <a:ext cx="2218400" cy="103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5"/>
          <p:cNvPicPr preferRelativeResize="0"/>
          <p:nvPr/>
        </p:nvPicPr>
        <p:blipFill>
          <a:blip r:embed="rId1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54300" y="53575"/>
            <a:ext cx="2921749" cy="49764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26"/>
          <p:cNvPicPr preferRelativeResize="0"/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7275" y="589236"/>
            <a:ext cx="8366998" cy="36118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6"/>
          <p:cNvSpPr txBox="1"/>
          <p:nvPr/>
        </p:nvSpPr>
        <p:spPr>
          <a:xfrm>
            <a:off x="72300" y="76200"/>
            <a:ext cx="39996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Tech Layoffs </a:t>
            </a: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were</a:t>
            </a:r>
            <a:r>
              <a:rPr lang="en"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lower than in 2023</a:t>
            </a:r>
            <a:endParaRPr sz="20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6"/>
          <p:cNvSpPr txBox="1"/>
          <p:nvPr/>
        </p:nvSpPr>
        <p:spPr>
          <a:xfrm>
            <a:off x="6291625" y="109963"/>
            <a:ext cx="20025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rgbClr val="0F0F0F"/>
                </a:solidFill>
                <a:latin typeface="Calibri"/>
                <a:ea typeface="Calibri"/>
                <a:cs typeface="Calibri"/>
                <a:sym typeface="Calibri"/>
              </a:rPr>
              <a:t>Layoffs - </a:t>
            </a:r>
            <a:r>
              <a:rPr lang="en" sz="1300" b="0" i="0" u="sng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https://layoffs.fyi</a:t>
            </a:r>
            <a:r>
              <a:rPr lang="en" sz="1300" b="0" i="0" u="none" strike="noStrike" cap="none">
                <a:solidFill>
                  <a:srgbClr val="0F0F0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300" b="0" i="0" u="none" strike="noStrike" cap="none">
              <a:solidFill>
                <a:srgbClr val="0F0F0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6"/>
          <p:cNvSpPr txBox="1"/>
          <p:nvPr/>
        </p:nvSpPr>
        <p:spPr>
          <a:xfrm>
            <a:off x="387275" y="4278575"/>
            <a:ext cx="8367000" cy="7389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Char char="●"/>
            </a:pPr>
            <a:r>
              <a:rPr lang="en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Salaries for AI engineers rose 12% from the third to fourth quarter last year</a:t>
            </a: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Char char="●"/>
            </a:pPr>
            <a:r>
              <a:rPr lang="en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average salary for a senior AI engineer nationally is more than $190,000, according to Comprehensive.io.</a:t>
            </a: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Char char="●"/>
            </a:pPr>
            <a:r>
              <a:rPr lang="en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AI has a talent shortage, meaning </a:t>
            </a:r>
            <a:r>
              <a:rPr lang="en" sz="1200" b="1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$1 Mln salary job offers! </a:t>
            </a:r>
            <a:r>
              <a:rPr lang="en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Even during tech layoffs</a:t>
            </a: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6"/>
          <p:cNvSpPr/>
          <p:nvPr/>
        </p:nvSpPr>
        <p:spPr>
          <a:xfrm>
            <a:off x="4170625" y="1597677"/>
            <a:ext cx="1076400" cy="1665300"/>
          </a:xfrm>
          <a:prstGeom prst="rect">
            <a:avLst/>
          </a:prstGeom>
          <a:noFill/>
          <a:ln w="28575" cap="flat" cmpd="sng">
            <a:solidFill>
              <a:srgbClr val="00F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26"/>
          <p:cNvSpPr/>
          <p:nvPr/>
        </p:nvSpPr>
        <p:spPr>
          <a:xfrm>
            <a:off x="6773830" y="1597677"/>
            <a:ext cx="1076400" cy="1665300"/>
          </a:xfrm>
          <a:prstGeom prst="rect">
            <a:avLst/>
          </a:prstGeom>
          <a:noFill/>
          <a:ln w="28575" cap="flat" cmpd="sng">
            <a:solidFill>
              <a:srgbClr val="00F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5238" y="1203525"/>
            <a:ext cx="2094075" cy="2094075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7"/>
          <p:cNvSpPr txBox="1"/>
          <p:nvPr/>
        </p:nvSpPr>
        <p:spPr>
          <a:xfrm>
            <a:off x="-25625" y="-14775"/>
            <a:ext cx="33558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" sz="25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About the Speaker</a:t>
            </a:r>
            <a:endParaRPr sz="25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7"/>
          <p:cNvSpPr txBox="1"/>
          <p:nvPr/>
        </p:nvSpPr>
        <p:spPr>
          <a:xfrm>
            <a:off x="3330175" y="878750"/>
            <a:ext cx="5621700" cy="330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Lev Selector, Ph.D.</a:t>
            </a:r>
            <a:endParaRPr sz="25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Char char="●"/>
            </a:pPr>
            <a:r>
              <a:rPr lang="en"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40+ years of software engineering, data science, and building teams (hiring, training, and managing)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Char char="●"/>
            </a:pPr>
            <a:r>
              <a:rPr lang="en"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Ph.D. in mathematical modeling and computer simulations</a:t>
            </a: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Interests: </a:t>
            </a: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Char char="●"/>
            </a:pPr>
            <a:r>
              <a:rPr lang="en"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Generative AI, Using LLM with your data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lang="en"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Local AI for Local Private Data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Char char="●"/>
            </a:pPr>
            <a:r>
              <a:rPr lang="en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Cloud architecture, fin-tech, application security</a:t>
            </a: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Find/connect: Linkedin, GitHub, YouTube, Google</a:t>
            </a: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9" name="Google Shape;209;p27"/>
          <p:cNvPicPr preferRelativeResize="0"/>
          <p:nvPr/>
        </p:nvPicPr>
        <p:blipFill rotWithShape="1"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10941" y="3664175"/>
            <a:ext cx="1144600" cy="415875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7"/>
          <p:cNvSpPr txBox="1"/>
          <p:nvPr/>
        </p:nvSpPr>
        <p:spPr>
          <a:xfrm>
            <a:off x="912377" y="4005903"/>
            <a:ext cx="1391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0" i="0" u="sng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https://eais.ai</a:t>
            </a:r>
            <a:r>
              <a:rPr lang="en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7"/>
          <p:cNvSpPr txBox="1"/>
          <p:nvPr/>
        </p:nvSpPr>
        <p:spPr>
          <a:xfrm>
            <a:off x="536203" y="4360974"/>
            <a:ext cx="2094075" cy="430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Enterprise AI Systems</a:t>
            </a: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8"/>
          <p:cNvSpPr txBox="1"/>
          <p:nvPr/>
        </p:nvSpPr>
        <p:spPr>
          <a:xfrm>
            <a:off x="2151375" y="1533150"/>
            <a:ext cx="46326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0"/>
              <a:buFont typeface="Arial"/>
              <a:buNone/>
            </a:pPr>
            <a:r>
              <a:rPr lang="en" sz="7000" b="1" i="0" u="none" strike="noStrike" cap="none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Thank You!</a:t>
            </a:r>
            <a:endParaRPr sz="7000" b="1" i="0" u="none" strike="noStrike" cap="none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2155</Words>
  <Application>Microsoft Macintosh PowerPoint</Application>
  <PresentationFormat>On-screen Show (16:9)</PresentationFormat>
  <Paragraphs>322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Roboto Mono</vt:lpstr>
      <vt:lpstr>Calibri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Lev Selector</cp:lastModifiedBy>
  <cp:revision>1</cp:revision>
  <dcterms:modified xsi:type="dcterms:W3CDTF">2024-05-17T19:54:04Z</dcterms:modified>
</cp:coreProperties>
</file>