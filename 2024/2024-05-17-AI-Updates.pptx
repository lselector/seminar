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embeddedFontLst>
    <p:embeddedFont>
      <p:font typeface="Roboto Mono" pitchFamily="49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D451C86-E476-4C53-B53A-DE2845CE29B8}">
  <a:tblStyle styleId="{0D451C86-E476-4C53-B53A-DE2845CE29B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161" d="100"/>
          <a:sy n="161" d="100"/>
        </p:scale>
        <p:origin x="7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" name="Google Shape;5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db3e12f42d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g2db3e12f42d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2dd42028c3e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" name="Google Shape;74;g2dd42028c3e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1f80c797b9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1f80c797b9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ddbbf5bd38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g2ddbbf5bd38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db883b677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g2db883b677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db883b677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g2db883b677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2ddbbf5bd38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g2ddbbf5bd38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ddbbf5bd38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g2ddbbf5bd38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dd42028c3e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2dd42028c3e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dbbf5bd3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dbbf5bd3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202f8b223fd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g202f8b223fd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0" name="Google Shape;210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i.com/api/pricing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products/search/generative-ai-google-search-may-2024/" TargetMode="External"/><Relationship Id="rId3" Type="http://schemas.openxmlformats.org/officeDocument/2006/relationships/hyperlink" Target="https://aitestkitchen.withgoogle.com/tools/image-fx" TargetMode="External"/><Relationship Id="rId7" Type="http://schemas.openxmlformats.org/officeDocument/2006/relationships/hyperlink" Target="https://twitter.com/rowancheung/status/1790437573694996667" TargetMode="External"/><Relationship Id="rId12" Type="http://schemas.openxmlformats.org/officeDocument/2006/relationships/hyperlink" Target="https://deepmind.google/technologies/gemini/flash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epmind.google/technologies/veo/" TargetMode="External"/><Relationship Id="rId11" Type="http://schemas.openxmlformats.org/officeDocument/2006/relationships/hyperlink" Target="https://ai.google.dev/pricing" TargetMode="External"/><Relationship Id="rId5" Type="http://schemas.openxmlformats.org/officeDocument/2006/relationships/hyperlink" Target="https://aitestkitchen.withgoogle.com/tools/video-fx" TargetMode="External"/><Relationship Id="rId10" Type="http://schemas.openxmlformats.org/officeDocument/2006/relationships/image" Target="../media/image5.png"/><Relationship Id="rId4" Type="http://schemas.openxmlformats.org/officeDocument/2006/relationships/hyperlink" Target="https://aitestkitchen.withgoogle.com/tools/music-fx" TargetMode="External"/><Relationship Id="rId9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lmsys.org/?leaderboard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maximelabonne/status/1790676962974867724" TargetMode="External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twitter.com/maximelabonne/status/1790519226677026831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thropic.com/en/docs/prompt-generator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tealthgpt.ai" TargetMode="External"/><Relationship Id="rId5" Type="http://schemas.openxmlformats.org/officeDocument/2006/relationships/hyperlink" Target="https://www.stealthgpt.ai/blog/how-to-beat-conch-ai-detector" TargetMode="External"/><Relationship Id="rId4" Type="http://schemas.openxmlformats.org/officeDocument/2006/relationships/hyperlink" Target="https://github.com/McGill-NLP/webllama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ya2bxqbM3Yw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siri-pro.com/e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ilyasut/status/1790517455628198322" TargetMode="External"/><Relationship Id="rId7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jpe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mistral.ai/guides/model-selection/" TargetMode="External"/><Relationship Id="rId13" Type="http://schemas.openxmlformats.org/officeDocument/2006/relationships/hyperlink" Target="https://www.anthropic.com/news/claude-2-1" TargetMode="External"/><Relationship Id="rId3" Type="http://schemas.openxmlformats.org/officeDocument/2006/relationships/hyperlink" Target="https://gorilla.cs.berkeley.edu/leaderboard.html" TargetMode="External"/><Relationship Id="rId7" Type="http://schemas.openxmlformats.org/officeDocument/2006/relationships/hyperlink" Target="https://llama.meta.com/llama3" TargetMode="External"/><Relationship Id="rId12" Type="http://schemas.openxmlformats.org/officeDocument/2006/relationships/hyperlink" Target="https://www.anthropic.com/news/releasing-claude-instant-1-2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orilla.cs.berkeley.edu/blogs/7_open_functions_v2.html" TargetMode="External"/><Relationship Id="rId11" Type="http://schemas.openxmlformats.org/officeDocument/2006/relationships/hyperlink" Target="https://huggingface.co/meetkai/functionary-small-v2.4" TargetMode="External"/><Relationship Id="rId5" Type="http://schemas.openxmlformats.org/officeDocument/2006/relationships/hyperlink" Target="https://www.anthropic.com/news/claude-3-family" TargetMode="External"/><Relationship Id="rId10" Type="http://schemas.openxmlformats.org/officeDocument/2006/relationships/hyperlink" Target="https://huggingface.co/meetkai/functionary-medium-v2.4" TargetMode="External"/><Relationship Id="rId4" Type="http://schemas.openxmlformats.org/officeDocument/2006/relationships/hyperlink" Target="https://platform.openai.com/docs/models/gpt-4-and-gpt-4-turbo" TargetMode="External"/><Relationship Id="rId9" Type="http://schemas.openxmlformats.org/officeDocument/2006/relationships/hyperlink" Target="https://txt.cohere.com/command-r-plus-microsoft-azure" TargetMode="External"/><Relationship Id="rId14" Type="http://schemas.openxmlformats.org/officeDocument/2006/relationships/hyperlink" Target="https://www.databricks.com/blog/introducing-dbrx-new-state-art-open-llm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codeium.com" TargetMode="External"/><Relationship Id="rId13" Type="http://schemas.openxmlformats.org/officeDocument/2006/relationships/image" Target="../media/image26.png"/><Relationship Id="rId3" Type="http://schemas.openxmlformats.org/officeDocument/2006/relationships/hyperlink" Target="https://github.com/features/copilot" TargetMode="External"/><Relationship Id="rId7" Type="http://schemas.openxmlformats.org/officeDocument/2006/relationships/hyperlink" Target="https://www.tabnine.com" TargetMode="External"/><Relationship Id="rId12" Type="http://schemas.openxmlformats.org/officeDocument/2006/relationships/image" Target="../media/image25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4.png"/><Relationship Id="rId5" Type="http://schemas.openxmlformats.org/officeDocument/2006/relationships/image" Target="../media/image22.png"/><Relationship Id="rId10" Type="http://schemas.openxmlformats.org/officeDocument/2006/relationships/hyperlink" Target="https://snyk.io/product/snyk-code/" TargetMode="External"/><Relationship Id="rId4" Type="http://schemas.openxmlformats.org/officeDocument/2006/relationships/image" Target="../media/image21.png"/><Relationship Id="rId9" Type="http://schemas.openxmlformats.org/officeDocument/2006/relationships/hyperlink" Target="https://cursor.sh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ayoffs.fyi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/>
        </p:nvSpPr>
        <p:spPr>
          <a:xfrm>
            <a:off x="128210" y="975425"/>
            <a:ext cx="4420200" cy="2724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GPT-4o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I/O - new models, apps, and more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Model Comparison - Graphs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AnthropicAI prompt generator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To Beat Conch AI Detector, StealthGPT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WebLlama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John Wiley &amp; Sons closing 19 journals (due to AI)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Apple + OpenAI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Ilya Sutskever is leaving OpenAI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When LLM is bigger than memory ...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4"/>
          <p:cNvSpPr txBox="1"/>
          <p:nvPr/>
        </p:nvSpPr>
        <p:spPr>
          <a:xfrm>
            <a:off x="4661960" y="1437119"/>
            <a:ext cx="4420200" cy="1108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Which model to use for an Agent?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Berkeley Function-Calling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Coding Assistants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Tech Layoffs were lower than in 2023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4"/>
          <p:cNvSpPr txBox="1"/>
          <p:nvPr/>
        </p:nvSpPr>
        <p:spPr>
          <a:xfrm>
            <a:off x="1278050" y="0"/>
            <a:ext cx="25392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</a:t>
            </a:r>
            <a:endParaRPr sz="36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May 17</a:t>
            </a:r>
            <a:r>
              <a:rPr lang="en" sz="24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, 2024</a:t>
            </a:r>
            <a:endParaRPr sz="24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Google Shape;60;p14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56300" y="279063"/>
            <a:ext cx="1617425" cy="696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67343" y="73122"/>
            <a:ext cx="1477608" cy="110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/>
        </p:nvSpPr>
        <p:spPr>
          <a:xfrm>
            <a:off x="47500" y="492450"/>
            <a:ext cx="44652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GPT-4o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 new AI model with improved capabilities in text, video, and audio processing. It is faster and more powerful than previous versions, offering enhanced performance and features.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Desktop version of ChatGPT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 dedicated desktop application for ChatGPT, providing a streamlined and user-friendly experience for interacting with the AI chatbot.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GPT-4 for all users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GPT-4, previously available only to paid subscribers, is now accessible to all ChatGPT users, including those using the free version.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Enhanced user interface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An updated user interface for ChatGPT, focusing on improved usability and accessibility.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7500" y="53575"/>
            <a:ext cx="4669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announcement - Monday May 13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47500" y="3024425"/>
            <a:ext cx="4465200" cy="161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 (per 1 Mln tokens)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https://openai.com/api/pricing/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gpt-4 :   $10    in,    $30 out</a:t>
            </a:r>
            <a:endParaRPr sz="13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gpt-4o:    $5    in,    $15 out</a:t>
            </a:r>
            <a:endParaRPr sz="13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Google Gemini 1.5 Flash is &gt; 10-times cheaper: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Flash :    $0.35 in,      0.53 out</a:t>
            </a:r>
            <a:endParaRPr sz="13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4975" y="492450"/>
            <a:ext cx="4405476" cy="20975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0" name="Google Shape;70;p15"/>
          <p:cNvSpPr txBox="1"/>
          <p:nvPr/>
        </p:nvSpPr>
        <p:spPr>
          <a:xfrm>
            <a:off x="5502600" y="2648850"/>
            <a:ext cx="23484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GPT-4o is available for paid users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4585100" y="3024425"/>
            <a:ext cx="44652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voice features - not released yet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flirtatious and engaging voice style (default voice has a "California Valley Girl" tone)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/>
        </p:nvSpPr>
        <p:spPr>
          <a:xfrm>
            <a:off x="47500" y="417916"/>
            <a:ext cx="4465200" cy="355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models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family of models, multimodal (images, audio, video), 1 Mln tokens context length (or 2M), fast, efficient, scalable.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Advanced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subscription now includes the latest model.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Nano integrated into Chrome!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Imagen 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image generation model, available in Imagen FX.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https://aitestkitchen.withgoogle.com/tools/image-fx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MusicFX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https://aitestkitchen.withgoogle.com/tools/music-fx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in VideoFX - creating short 1080p videos from text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https://aitestkitchen.withgoogle.com/tools/video-fx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https://deepmind.google/technologies/veo/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Scam Protection in Android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using Gemini Nano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Firebase Genkit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An open-source framework for building AI-powered applications.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in Android Studio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An AI coding companion with multimodal input support coming soon.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Astra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newest assistant - universal AI agent that can see AND hear what you do live in real-time, and take action on your behalf. </a:t>
            </a:r>
            <a:b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https://twitter.com/rowancheung/status/1790437573694996667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Search AI Overviews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https://blog.google/products/search/generative-ai-google-search-may-2024/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47500" y="53575"/>
            <a:ext cx="446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I/O 2024 - May 14, 2024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p1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53075" y="2483525"/>
            <a:ext cx="3212926" cy="2409678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53075" y="304805"/>
            <a:ext cx="3212923" cy="180555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/>
        </p:nvSpPr>
        <p:spPr>
          <a:xfrm>
            <a:off x="47500" y="4013571"/>
            <a:ext cx="4465200" cy="106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https://ai.google.dev/pricing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Gemini 1.0 Pro (33k tokens), </a:t>
            </a:r>
            <a:r>
              <a:rPr lang="en" sz="1200" b="1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Gemini 1.5 Pro (1 Mln tokens),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1.5 Flash (1 Mln tokens) - light, fast, cheap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https://deepmind.google/technologies/gemini/flash/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1,500 Request per day for FREE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Flash Pricing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($0.35+0.53 / 1 Mt (for prompts up to 128Kt)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/>
        </p:nvSpPr>
        <p:spPr>
          <a:xfrm>
            <a:off x="5650240" y="55346"/>
            <a:ext cx="15504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#models: 97.    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Total #votes: 1,131,288.</a:t>
            </a:r>
            <a:endParaRPr sz="1100">
              <a:solidFill>
                <a:srgbClr val="1F2937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1F2937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Last updated: 2024-05-16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7261325" y="523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0" y="157800"/>
            <a:ext cx="20769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https://chat.lmsys.org/?leaderboard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4011197" y="187519"/>
            <a:ext cx="13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English-only queries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7"/>
          <p:cNvSpPr/>
          <p:nvPr/>
        </p:nvSpPr>
        <p:spPr>
          <a:xfrm>
            <a:off x="5464175" y="22637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1" name="Google Shape;91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775" y="709125"/>
            <a:ext cx="4447701" cy="35487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2" name="Google Shape;92;p1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6852" y="709125"/>
            <a:ext cx="4594350" cy="34472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3" name="Google Shape;93;p17"/>
          <p:cNvSpPr/>
          <p:nvPr/>
        </p:nvSpPr>
        <p:spPr>
          <a:xfrm>
            <a:off x="891925" y="2221737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7"/>
          <p:cNvSpPr/>
          <p:nvPr/>
        </p:nvSpPr>
        <p:spPr>
          <a:xfrm>
            <a:off x="891925" y="3672570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7"/>
          <p:cNvSpPr/>
          <p:nvPr/>
        </p:nvSpPr>
        <p:spPr>
          <a:xfrm>
            <a:off x="5411000" y="3563924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7"/>
          <p:cNvSpPr/>
          <p:nvPr/>
        </p:nvSpPr>
        <p:spPr>
          <a:xfrm>
            <a:off x="5411000" y="2062828"/>
            <a:ext cx="125400" cy="125400"/>
          </a:xfrm>
          <a:prstGeom prst="ellipse">
            <a:avLst/>
          </a:prstGeom>
          <a:solidFill>
            <a:srgbClr val="6AA8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 txBox="1"/>
          <p:nvPr/>
        </p:nvSpPr>
        <p:spPr>
          <a:xfrm>
            <a:off x="47500" y="492450"/>
            <a:ext cx="4153500" cy="526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Maxime Labonne tweets: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https://twitter.com/maximelabonne/status/1790676962974867724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https://twitter.com/maximelabonne/status/1790519226677026831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8"/>
          <p:cNvSpPr txBox="1"/>
          <p:nvPr/>
        </p:nvSpPr>
        <p:spPr>
          <a:xfrm>
            <a:off x="47500" y="53575"/>
            <a:ext cx="3261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Comparisons - Graphs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" name="Google Shape;103;p1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500" y="2932325"/>
            <a:ext cx="3450456" cy="20587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4" name="Google Shape;104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27400" y="1308475"/>
            <a:ext cx="5356524" cy="36826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5" name="Google Shape;105;p18"/>
          <p:cNvSpPr/>
          <p:nvPr/>
        </p:nvSpPr>
        <p:spPr>
          <a:xfrm rot="-2848856">
            <a:off x="428548" y="2716323"/>
            <a:ext cx="122515" cy="482209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4CC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8"/>
          <p:cNvSpPr/>
          <p:nvPr/>
        </p:nvSpPr>
        <p:spPr>
          <a:xfrm rot="-1571287">
            <a:off x="8439475" y="1340204"/>
            <a:ext cx="122360" cy="48205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4CC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8"/>
          <p:cNvSpPr/>
          <p:nvPr/>
        </p:nvSpPr>
        <p:spPr>
          <a:xfrm rot="-6252406">
            <a:off x="4827877" y="3597443"/>
            <a:ext cx="122238" cy="48218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4CC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8"/>
          <p:cNvSpPr/>
          <p:nvPr/>
        </p:nvSpPr>
        <p:spPr>
          <a:xfrm rot="6661038">
            <a:off x="8675815" y="2780906"/>
            <a:ext cx="122125" cy="482317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4CC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8"/>
          <p:cNvSpPr/>
          <p:nvPr/>
        </p:nvSpPr>
        <p:spPr>
          <a:xfrm rot="6661038">
            <a:off x="8629615" y="2364806"/>
            <a:ext cx="122125" cy="482317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4CC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0" name="Google Shape;110;p1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94" y="1095150"/>
            <a:ext cx="1129575" cy="1124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8"/>
          <p:cNvSpPr txBox="1"/>
          <p:nvPr/>
        </p:nvSpPr>
        <p:spPr>
          <a:xfrm>
            <a:off x="1239875" y="1411575"/>
            <a:ext cx="2211000" cy="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Maxime Labonne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Staff ML Scientist @ Liquid AI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London, UK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/>
        </p:nvSpPr>
        <p:spPr>
          <a:xfrm>
            <a:off x="47500" y="492450"/>
            <a:ext cx="44652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AnthropicAI prompt generator. 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(also accepts variables to easily inject external data).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https://docs.anthropic.com/en/docs/prompt-generator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9"/>
          <p:cNvSpPr txBox="1"/>
          <p:nvPr/>
        </p:nvSpPr>
        <p:spPr>
          <a:xfrm>
            <a:off x="47500" y="53575"/>
            <a:ext cx="3261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1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4605825" y="508325"/>
            <a:ext cx="4465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WebLlama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browse the web by following instructions and talking to you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https://github.com/McGill-NLP/webllama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9"/>
          <p:cNvSpPr txBox="1"/>
          <p:nvPr/>
        </p:nvSpPr>
        <p:spPr>
          <a:xfrm>
            <a:off x="47500" y="1175825"/>
            <a:ext cx="4465200" cy="3420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How To Beat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Conch AI Detector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https://www.stealthgpt.ai/blog/how-to-beat-conch-ai-detector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Humanize content with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StealthGPT</a:t>
            </a:r>
            <a:r>
              <a:rPr lang="en" sz="13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: This is the easiest and most effective method.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https://www.stealthgpt.ai</a:t>
            </a:r>
            <a:r>
              <a:rPr lang="en" sz="13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Write content manually: Conch AI has a low rate of false positives, so human-written content usually scores well.</a:t>
            </a:r>
            <a:endParaRPr sz="13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Use Conch AI’s Humanizing Tool: This is a paid option and may not be effective against other AI detectors.</a:t>
            </a:r>
            <a:endParaRPr sz="13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Introduce variety into content: Avoid repetitive sentence structures and phrases. This method can be challenging if you lack experience with AI content.</a:t>
            </a:r>
            <a:endParaRPr sz="13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Train the AI model in your writing voice: Provide the AI with samples of your writing to make the generated content more personal. This method may not be effective for neutral or informative writing styles.</a:t>
            </a:r>
            <a:endParaRPr sz="13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Tell a story: AI struggles with authentic storytelling, so adding personal anecdotes can help bypass detection.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5175" y="2159025"/>
            <a:ext cx="4326500" cy="2803666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9"/>
          <p:cNvSpPr txBox="1"/>
          <p:nvPr/>
        </p:nvSpPr>
        <p:spPr>
          <a:xfrm>
            <a:off x="4605825" y="1040150"/>
            <a:ext cx="44652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John Wiley &amp; Sons, Inc.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 200+ years old publishing company is closing 19 journals. They had to retract more than 11,300 papers recently "that appeared compromised" as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generative AI makes it easier for paper mills to peddle fake research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/>
        </p:nvSpPr>
        <p:spPr>
          <a:xfrm>
            <a:off x="47500" y="492450"/>
            <a:ext cx="3120300" cy="926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 + OpenAI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SiriPro with OpenAI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Free ChatGPT for Mac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https://www.youtube.com/watch?v=ya2bxqbM3Yw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https://siri-pro.com/en/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0"/>
          <p:cNvSpPr txBox="1"/>
          <p:nvPr/>
        </p:nvSpPr>
        <p:spPr>
          <a:xfrm>
            <a:off x="47500" y="53575"/>
            <a:ext cx="1077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2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8" name="Google Shape;128;p2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30325" y="53575"/>
            <a:ext cx="2438518" cy="1365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9" name="Google Shape;129;p20"/>
          <p:cNvSpPr txBox="1"/>
          <p:nvPr/>
        </p:nvSpPr>
        <p:spPr>
          <a:xfrm>
            <a:off x="47500" y="1841000"/>
            <a:ext cx="24792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Stability AI is facing a cash crunch and is exploring a sale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2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1000" y="2343025"/>
            <a:ext cx="1970325" cy="65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/>
          <p:nvPr/>
        </p:nvSpPr>
        <p:spPr>
          <a:xfrm>
            <a:off x="47500" y="53575"/>
            <a:ext cx="3610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 Sutskever is leaving OpenAI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1"/>
          <p:cNvSpPr txBox="1"/>
          <p:nvPr/>
        </p:nvSpPr>
        <p:spPr>
          <a:xfrm>
            <a:off x="47500" y="436200"/>
            <a:ext cx="4465200" cy="157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Ilya Sutskever is leaving OpenAI.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https://twitter.com/ilyasut/status/1790517455628198322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 is a co-founder and chief scientist.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helped lead the coup against Sam Altman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later changed his mind.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His employment status had been ambiguous since the ouster.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Jakub Pachocki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the company's director of research, will be OpenAI's new chief scientist.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1"/>
          <p:cNvSpPr txBox="1"/>
          <p:nvPr/>
        </p:nvSpPr>
        <p:spPr>
          <a:xfrm>
            <a:off x="239663" y="3826750"/>
            <a:ext cx="11934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 Sutskever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1"/>
          <p:cNvSpPr txBox="1"/>
          <p:nvPr/>
        </p:nvSpPr>
        <p:spPr>
          <a:xfrm>
            <a:off x="55800" y="4167325"/>
            <a:ext cx="3425700" cy="81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Jan Leike has also resigned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He was a co-lead of the Sutskever’s superalignment group. The news follows months of departures largely coming from OpenAI’s superalignment and safety teams.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800" y="2273525"/>
            <a:ext cx="1561118" cy="1523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33983" y="2266363"/>
            <a:ext cx="1478717" cy="1523799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1"/>
          <p:cNvSpPr txBox="1"/>
          <p:nvPr/>
        </p:nvSpPr>
        <p:spPr>
          <a:xfrm>
            <a:off x="3176625" y="3819588"/>
            <a:ext cx="11934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Jakub Pachocki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3275" y="107138"/>
            <a:ext cx="4465200" cy="33489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1"/>
          <p:cNvSpPr txBox="1"/>
          <p:nvPr/>
        </p:nvSpPr>
        <p:spPr>
          <a:xfrm>
            <a:off x="5206575" y="3492525"/>
            <a:ext cx="31986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--&gt;&gt; Jakub Pachocki, Greg Brockman,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 Sutskever, Sam Altman, Mira Murati 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21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73050" y="2270493"/>
            <a:ext cx="1284204" cy="1523774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1"/>
          <p:cNvSpPr txBox="1"/>
          <p:nvPr/>
        </p:nvSpPr>
        <p:spPr>
          <a:xfrm>
            <a:off x="1708138" y="3871588"/>
            <a:ext cx="1193400" cy="2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Jan Leike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2"/>
          <p:cNvSpPr txBox="1"/>
          <p:nvPr/>
        </p:nvSpPr>
        <p:spPr>
          <a:xfrm>
            <a:off x="47500" y="53575"/>
            <a:ext cx="446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LLM is bigger than memory ...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2"/>
          <p:cNvSpPr txBox="1"/>
          <p:nvPr/>
        </p:nvSpPr>
        <p:spPr>
          <a:xfrm>
            <a:off x="47500" y="442100"/>
            <a:ext cx="4497600" cy="302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used my standard prompt asking to list 10 presidents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my M1 32GB MacBook Pro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using ollama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llama3-70b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4-bit model (~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40GB size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40GB &gt; 32GB, so the model couldn't fit into memory.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took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 hour and 20 minutes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generate the answer !!!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prompt was: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Please make a numbered chronological list of the last ten (10) US presidents in reverse order.  The list should start like this: 1. Joe Biden (2021-present); 2. Donald Trump (2017-2021); 3. Barack Obama (2009-2017);  the list should contain 10 rows. Important - make a fresh list. Disregard the chat history. Output only the list itself, nothing else. Output each list element on a separate line.</a:t>
            </a:r>
            <a:endParaRPr sz="13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2"/>
          <p:cNvSpPr txBox="1"/>
          <p:nvPr/>
        </p:nvSpPr>
        <p:spPr>
          <a:xfrm>
            <a:off x="4622050" y="442100"/>
            <a:ext cx="4465200" cy="389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Here is the output and stats:</a:t>
            </a:r>
            <a:endParaRPr sz="1200" b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1.⁠ ⁠Joe Biden (2021-present)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 2.⁠ ⁠Donald Trump (2017-2021)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 3.⁠ ⁠Barack Obama (2009-2017)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 4.⁠ ⁠George W. Bush (2001-2009)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 5.⁠ ⁠Bill Clinton (1993-2001)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 6.⁠ ⁠George H.W. Bush (1989-1993)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 7.⁠ ⁠Ronald Reagan (1981-1989)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 8.⁠ ⁠Jimmy Carter (1977-1981)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 9.⁠ ⁠Gerald Ford (1974-1977)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10.⁠ ⁠Richard Nixon (1969-1974)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total duration:       </a:t>
            </a:r>
            <a:r>
              <a:rPr lang="en" sz="12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1h 21m 35s</a:t>
            </a:r>
            <a:endParaRPr sz="1200" b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load duration:        40s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prompt eval count:    281 token(s)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prompt eval duration: 1m 53s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prompt eval rate:     2.48 tokens/s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eval count:           114 token(s)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eval duration:        1h 19m 2s</a:t>
            </a:r>
            <a:endParaRPr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eval rate:            </a:t>
            </a:r>
            <a:r>
              <a:rPr lang="en" sz="1200" b="1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rPr>
              <a:t>0.02 tokens/s</a:t>
            </a:r>
            <a:endParaRPr sz="1200" b="1">
              <a:solidFill>
                <a:srgbClr val="FF0000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/>
        </p:nvSpPr>
        <p:spPr>
          <a:xfrm>
            <a:off x="47500" y="53575"/>
            <a:ext cx="4202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Which model to use for an Agent?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3"/>
          <p:cNvSpPr txBox="1"/>
          <p:nvPr/>
        </p:nvSpPr>
        <p:spPr>
          <a:xfrm>
            <a:off x="97700" y="418950"/>
            <a:ext cx="6153900" cy="302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agent has an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internal loop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it can </a:t>
            </a:r>
            <a:r>
              <a:rPr lang="en" sz="1300" b="1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iterate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adjusting the approach.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Agent can send internal messages, using LLM and functions (tools)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also create a </a:t>
            </a:r>
            <a:r>
              <a:rPr lang="en" sz="1300" b="1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multi-agent solutions,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agents send the messages to each other. And can get into loops as well.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model in agent has to be good.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it should be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at function calling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r>
              <a:rPr lang="en" sz="1300" b="1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You should NOT use gpt-3.5-turbo, or mistral-7b, or llama3-8b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Because if you do, the agents may be making errors and getting into never-resolving loops.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Remember how a year ago you would ask ChatGPT to write code. You would try to run it - it crushed. you ask the model to fix it. Over and over again. The model couldn't figure things out and get out of this loop.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Today we have much better models.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You should try to use the best LLM you can afford.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 NOT use GPT-3.5. Use GPT-4 or GPT-4o (especially with LangChain)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LangChain framework started in October of 2022 with the release of OpenAI GPT-3. it is by far the most popular framework, and well tested with OpenAI models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9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other options - LlamaIndex from Meta/Facebook, CrewAI, AutoGen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23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79150" y="418950"/>
            <a:ext cx="2702724" cy="376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0" name="Google Shape;160;p2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2200" y="3591450"/>
            <a:ext cx="2332750" cy="139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3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786475" y="3591450"/>
            <a:ext cx="2465119" cy="1399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3"/>
          <p:cNvSpPr txBox="1"/>
          <p:nvPr/>
        </p:nvSpPr>
        <p:spPr>
          <a:xfrm>
            <a:off x="3272925" y="3590300"/>
            <a:ext cx="817800" cy="218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3"/>
          <p:cNvSpPr txBox="1"/>
          <p:nvPr/>
        </p:nvSpPr>
        <p:spPr>
          <a:xfrm>
            <a:off x="1837750" y="3590300"/>
            <a:ext cx="817800" cy="218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GPT-3.5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4"/>
          <p:cNvSpPr txBox="1"/>
          <p:nvPr/>
        </p:nvSpPr>
        <p:spPr>
          <a:xfrm>
            <a:off x="5621575" y="107575"/>
            <a:ext cx="3368700" cy="21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https://gorilla.cs.berkeley.edu/leaderboard.html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4"/>
          <p:cNvSpPr txBox="1"/>
          <p:nvPr/>
        </p:nvSpPr>
        <p:spPr>
          <a:xfrm>
            <a:off x="47500" y="53575"/>
            <a:ext cx="4202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Berkeley Function-Calling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0" name="Google Shape;170;p24"/>
          <p:cNvGraphicFramePr/>
          <p:nvPr/>
        </p:nvGraphicFramePr>
        <p:xfrm>
          <a:off x="0" y="447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{0D451C86-E476-4C53-B53A-DE2845CE29B8}</a:tableStyleId>
              </a:tblPr>
              <a:tblGrid>
                <a:gridCol w="674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2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4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4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4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2529"/>
                          </a:solidFill>
                        </a:rPr>
                        <a:t>Rank 🔼</a:t>
                      </a:r>
                      <a:endParaRPr sz="900" b="1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2529"/>
                          </a:solidFill>
                        </a:rPr>
                        <a:t>Overall Acc</a:t>
                      </a:r>
                      <a:endParaRPr sz="900" b="1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2529"/>
                          </a:solidFill>
                        </a:rPr>
                        <a:t>Model</a:t>
                      </a:r>
                      <a:endParaRPr sz="900" b="1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2529"/>
                          </a:solidFill>
                        </a:rPr>
                        <a:t>Cost ($)</a:t>
                      </a:r>
                      <a:endParaRPr sz="900" b="1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2529"/>
                          </a:solidFill>
                        </a:rPr>
                        <a:t>Mean</a:t>
                      </a:r>
                      <a:endParaRPr sz="900" b="1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212529"/>
                          </a:solidFill>
                        </a:rPr>
                        <a:t>SD</a:t>
                      </a:r>
                      <a:endParaRPr sz="900" b="1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17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4"/>
                        </a:rPr>
                        <a:t>GPT-4-0125-Preview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5.25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1.97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1.31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59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86.47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5"/>
                        </a:rPr>
                        <a:t>Claude-3-Opus-20240229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10.84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4.61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1.53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3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84.35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4"/>
                        </a:rPr>
                        <a:t>GPT-4-1106-Preview (FC)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5.07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5.97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6.31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84.24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4"/>
                        </a:rPr>
                        <a:t>GPT-4-turbo-2024-04-09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5.25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2.57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83.29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6"/>
                        </a:rPr>
                        <a:t>Gorilla-OpenFunctions-v2 (FC)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0.31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0.05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N/A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6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83.12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4"/>
                        </a:rPr>
                        <a:t>GPT-4-0125-Preview (FC)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4.83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4.72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5.76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82.12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7"/>
                        </a:rPr>
                        <a:t>Meta-Llama-3-70B-Instruct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0.18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N/A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81.24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4"/>
                        </a:rPr>
                        <a:t>GPT-4-turbo-2024-04-09 (FC)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4.78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5.48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6.37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81.06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5"/>
                        </a:rPr>
                        <a:t>Claude-3-Sonnet-20240229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2.13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1.95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1.16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10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80.24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8"/>
                        </a:rPr>
                        <a:t>Mistral-Medium-2312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1.76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2.75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2.15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79.06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9"/>
                        </a:rPr>
                        <a:t>Command-R-Plus (Prompt) (Optimized)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1.27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0.93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9"/>
                        </a:rPr>
                        <a:t>Command-R-Plus (Prompt) (Original)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1.32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0.94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13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10"/>
                        </a:rPr>
                        <a:t>Functionary-Medium-v2.4 (FC)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N/A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2.49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2.69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78.47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11"/>
                        </a:rPr>
                        <a:t>Functionary-Small-v2.4 (FC)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N/A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2.43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2.55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78.12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9"/>
                        </a:rPr>
                        <a:t>Command-R-Plus (FC) (Optimized)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1.06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1.34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16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76.47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5"/>
                        </a:rPr>
                        <a:t>Claude-3-Opus-20240229 (FC tools-2024-04-04)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30.87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12.92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3.95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75.24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12"/>
                        </a:rPr>
                        <a:t>Claude-instant-1.2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0.95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1.21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0.69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18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73.29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5"/>
                        </a:rPr>
                        <a:t>Claude-3-Haiku-20240307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0.18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0.49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70.29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13"/>
                        </a:rPr>
                        <a:t>Claude-2.1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6.61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3.27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2.13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20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69.47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9"/>
                        </a:rPr>
                        <a:t>Command-R-Plus (FC) (Original)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1.07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0.99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67.59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8"/>
                        </a:rPr>
                        <a:t>Mistral-large-2402 (FC Auto)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4.95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3.02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2.94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41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22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64.88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EFD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u="sng">
                          <a:solidFill>
                            <a:schemeClr val="hlink"/>
                          </a:solidFill>
                          <a:hlinkClick r:id="rId14"/>
                        </a:rPr>
                        <a:t>DBRX-Instruct (Prompt)</a:t>
                      </a:r>
                      <a:endParaRPr sz="900" u="sng">
                        <a:solidFill>
                          <a:schemeClr val="hlink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1.25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787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0.64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212529"/>
                          </a:solidFill>
                        </a:rPr>
                        <a:t>0.41</a:t>
                      </a:r>
                      <a:endParaRPr sz="900">
                        <a:solidFill>
                          <a:srgbClr val="212529"/>
                        </a:solidFill>
                      </a:endParaRPr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DDDD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F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sp>
        <p:nvSpPr>
          <p:cNvPr id="171" name="Google Shape;171;p24"/>
          <p:cNvSpPr txBox="1"/>
          <p:nvPr/>
        </p:nvSpPr>
        <p:spPr>
          <a:xfrm>
            <a:off x="5836600" y="1031100"/>
            <a:ext cx="3153600" cy="101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GPT-4 &amp; Claude3-Opus are on top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Llama3-70b is good (on 7th place)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GPT-3.5 is on 25th place,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Llama3-8b is on 28th place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5"/>
          <p:cNvSpPr txBox="1"/>
          <p:nvPr/>
        </p:nvSpPr>
        <p:spPr>
          <a:xfrm>
            <a:off x="47500" y="53575"/>
            <a:ext cx="4202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Coding Assistants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5"/>
          <p:cNvSpPr txBox="1"/>
          <p:nvPr/>
        </p:nvSpPr>
        <p:spPr>
          <a:xfrm>
            <a:off x="47500" y="2091025"/>
            <a:ext cx="25491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GitHub Copilot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https://github.com/features/copilot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39025" y="465063"/>
            <a:ext cx="1772050" cy="5316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98300" y="2780750"/>
            <a:ext cx="1251300" cy="608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0" name="Google Shape;180;p25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06075" y="1081775"/>
            <a:ext cx="1772058" cy="60875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5"/>
          <p:cNvSpPr txBox="1"/>
          <p:nvPr/>
        </p:nvSpPr>
        <p:spPr>
          <a:xfrm>
            <a:off x="47500" y="522850"/>
            <a:ext cx="31995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tabnine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local or remote LLMs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https://www.tabnine.com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5"/>
          <p:cNvSpPr txBox="1"/>
          <p:nvPr/>
        </p:nvSpPr>
        <p:spPr>
          <a:xfrm>
            <a:off x="47500" y="1195125"/>
            <a:ext cx="33915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Codeium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(formerly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Cody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- local or remote LLMs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https://codeium.com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5"/>
          <p:cNvSpPr txBox="1"/>
          <p:nvPr/>
        </p:nvSpPr>
        <p:spPr>
          <a:xfrm>
            <a:off x="47500" y="3728025"/>
            <a:ext cx="3512700" cy="121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https://cursor.sh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AI-first editor, a fork of VS Code, uses OpenAI models.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One-click migration from VSCode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Cursor is essentially VSCode enhanced with AI capabilities to boost productivity and improve the coding experience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5"/>
          <p:cNvSpPr txBox="1"/>
          <p:nvPr/>
        </p:nvSpPr>
        <p:spPr>
          <a:xfrm>
            <a:off x="47500" y="2852750"/>
            <a:ext cx="2549100" cy="41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Snyk Code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(code security)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https://snyk.io/product/snyk-code/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25"/>
          <p:cNvPicPr preferRelativeResize="0"/>
          <p:nvPr/>
        </p:nvPicPr>
        <p:blipFill rotWithShape="1"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773025" y="2025588"/>
            <a:ext cx="2406275" cy="57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5"/>
          <p:cNvPicPr preferRelativeResize="0"/>
          <p:nvPr/>
        </p:nvPicPr>
        <p:blipFill rotWithShape="1"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713850" y="3802325"/>
            <a:ext cx="2218400" cy="103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5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4300" y="53575"/>
            <a:ext cx="2921749" cy="49764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5" y="589236"/>
            <a:ext cx="8366998" cy="36118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72300" y="76200"/>
            <a:ext cx="399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 Layoffs </a:t>
            </a: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were</a:t>
            </a: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lower than in 2023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6"/>
          <p:cNvSpPr txBox="1"/>
          <p:nvPr/>
        </p:nvSpPr>
        <p:spPr>
          <a:xfrm>
            <a:off x="6291625" y="109963"/>
            <a:ext cx="20025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Layoffs - </a:t>
            </a: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https://layoffs.fyi</a:t>
            </a: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F0F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6"/>
          <p:cNvSpPr txBox="1"/>
          <p:nvPr/>
        </p:nvSpPr>
        <p:spPr>
          <a:xfrm>
            <a:off x="387275" y="4278575"/>
            <a:ext cx="8367000" cy="7389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Salaries for AI engineers rose 12% from the third to fourth quarter last year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average salary for a senior AI engineer nationally is more than $190,000, according to Comprehensive.io.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AI has a talent shortage, meaning </a:t>
            </a:r>
            <a:r>
              <a:rPr lang="en" sz="12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$1 Mln salary job offers!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Even during tech layoffs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6"/>
          <p:cNvSpPr/>
          <p:nvPr/>
        </p:nvSpPr>
        <p:spPr>
          <a:xfrm>
            <a:off x="4170625" y="1597677"/>
            <a:ext cx="1076400" cy="1665300"/>
          </a:xfrm>
          <a:prstGeom prst="rect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26"/>
          <p:cNvSpPr/>
          <p:nvPr/>
        </p:nvSpPr>
        <p:spPr>
          <a:xfrm>
            <a:off x="6773830" y="1597677"/>
            <a:ext cx="1076400" cy="1665300"/>
          </a:xfrm>
          <a:prstGeom prst="rect">
            <a:avLst/>
          </a:prstGeom>
          <a:noFill/>
          <a:ln w="28575" cap="flat" cmpd="sng">
            <a:solidFill>
              <a:srgbClr val="00F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5238" y="1203525"/>
            <a:ext cx="2094075" cy="209407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7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7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p27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0941" y="3664175"/>
            <a:ext cx="1144600" cy="41587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7"/>
          <p:cNvSpPr txBox="1"/>
          <p:nvPr/>
        </p:nvSpPr>
        <p:spPr>
          <a:xfrm>
            <a:off x="912377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7"/>
          <p:cNvSpPr txBox="1"/>
          <p:nvPr/>
        </p:nvSpPr>
        <p:spPr>
          <a:xfrm>
            <a:off x="536203" y="4360974"/>
            <a:ext cx="2094075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8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2152</Words>
  <Application>Microsoft Macintosh PowerPoint</Application>
  <PresentationFormat>On-screen Show (16:9)</PresentationFormat>
  <Paragraphs>318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Roboto Mono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2024-05-17T20:51:34Z</dcterms:modified>
</cp:coreProperties>
</file>