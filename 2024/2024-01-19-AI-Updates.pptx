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embeddedFontLst>
    <p:embeddedFont>
      <p:font typeface="Arial Black" panose="020B0604020202020204" pitchFamily="34" charset="0"/>
      <p:regular r:id="rId39"/>
      <p:bold r:id="rId40"/>
    </p:embeddedFont>
    <p:embeddedFont>
      <p:font typeface="Roboto" panose="02000000000000000000" pitchFamily="2" charset="0"/>
      <p:regular r:id="rId41"/>
      <p:bold r:id="rId42"/>
      <p:italic r:id="rId43"/>
      <p:boldItalic r:id="rId44"/>
    </p:embeddedFont>
    <p:embeddedFont>
      <p:font typeface="Roboto Mono" pitchFamily="49" charset="0"/>
      <p:regular r:id="rId45"/>
      <p:bold r:id="rId46"/>
      <p:italic r:id="rId47"/>
      <p:boldItalic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34CB4795-9869-4EF4-8C66-3DADEFB96E93}">
  <a:tblStyle styleId="{34CB4795-9869-4EF4-8C66-3DADEFB96E9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p:cViewPr varScale="1">
        <p:scale>
          <a:sx n="161" d="100"/>
          <a:sy n="161" d="100"/>
        </p:scale>
        <p:origin x="7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font" Target="fonts/font10.fntdata"/><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g2b11ab210e0_2_1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g2b11ab210e0_2_1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g277c3e955a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 name="Google Shape;71;g277c3e955a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1ef2d600f8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1ef2d600f8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1ef2d600f8b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1ef2d600f8b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2b0a0b0e1fa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 name="Google Shape;104;g2b0a0b0e1fa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1ef2fe60df5_0_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7" name="Google Shape;157;g1ef2fe60df5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2afe949b59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2afe949b59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2af2258096f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2af2258096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1ef423f3d5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 name="Google Shape;255;g1ef423f3d5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1ef2fe60df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 name="Google Shape;269;g1ef2fe60df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2afe520f4a6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2afe520f4a6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2affbdfe903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5" name="Google Shape;285;g2affbdfe903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g2afe949b591_0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3" name="Google Shape;333;g2afe949b591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1ef423f3d52_0_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9" name="Google Shape;339;g1ef423f3d52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2b02168fba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2b02168fbac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1ef44606cc5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1ef44606cc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2aabfee0e51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2aabfee0e5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afd26edd9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2afd26edd9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2b11ab210e0_2_1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2b11ab210e0_2_1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4"/>
        <p:cNvGrpSpPr/>
        <p:nvPr/>
      </p:nvGrpSpPr>
      <p:grpSpPr>
        <a:xfrm>
          <a:off x="0" y="0"/>
          <a:ext cx="0" cy="0"/>
          <a:chOff x="0" y="0"/>
          <a:chExt cx="0" cy="0"/>
        </a:xfrm>
      </p:grpSpPr>
      <p:sp>
        <p:nvSpPr>
          <p:cNvPr id="445" name="Google Shape;445;g2b12972a5a4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6" name="Google Shape;446;g2b12972a5a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1ef423f3d5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1ef423f3d5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9"/>
        <p:cNvGrpSpPr/>
        <p:nvPr/>
      </p:nvGrpSpPr>
      <p:grpSpPr>
        <a:xfrm>
          <a:off x="0" y="0"/>
          <a:ext cx="0" cy="0"/>
          <a:chOff x="0" y="0"/>
          <a:chExt cx="0" cy="0"/>
        </a:xfrm>
      </p:grpSpPr>
      <p:sp>
        <p:nvSpPr>
          <p:cNvPr id="460" name="Google Shape;460;g1ef423f3d52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1" name="Google Shape;461;g1ef423f3d52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b11ab210e0_2_1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b11ab210e0_2_1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2b04a3ca2b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7" name="Google Shape;477;g2b04a3ca2b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b1242ed1c5_0_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5" name="Google Shape;485;g2b1242ed1c5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
        <p:cNvGrpSpPr/>
        <p:nvPr/>
      </p:nvGrpSpPr>
      <p:grpSpPr>
        <a:xfrm>
          <a:off x="0" y="0"/>
          <a:ext cx="0" cy="0"/>
          <a:chOff x="0" y="0"/>
          <a:chExt cx="0" cy="0"/>
        </a:xfrm>
      </p:grpSpPr>
      <p:sp>
        <p:nvSpPr>
          <p:cNvPr id="495" name="Google Shape;495;g2b04a3ca98e_0_17: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6" name="Google Shape;496;g2b04a3ca98e_0_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5"/>
        <p:cNvGrpSpPr/>
        <p:nvPr/>
      </p:nvGrpSpPr>
      <p:grpSpPr>
        <a:xfrm>
          <a:off x="0" y="0"/>
          <a:ext cx="0" cy="0"/>
          <a:chOff x="0" y="0"/>
          <a:chExt cx="0" cy="0"/>
        </a:xfrm>
      </p:grpSpPr>
      <p:sp>
        <p:nvSpPr>
          <p:cNvPr id="506" name="Google Shape;506;g2b04a3ca98e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7" name="Google Shape;507;g2b04a3ca98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g2a9ffc56a77_0_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5" name="Google Shape;515;g2a9ffc56a77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3"/>
        <p:cNvGrpSpPr/>
        <p:nvPr/>
      </p:nvGrpSpPr>
      <p:grpSpPr>
        <a:xfrm>
          <a:off x="0" y="0"/>
          <a:ext cx="0" cy="0"/>
          <a:chOff x="0" y="0"/>
          <a:chExt cx="0" cy="0"/>
        </a:xfrm>
      </p:grpSpPr>
      <p:sp>
        <p:nvSpPr>
          <p:cNvPr id="534" name="Google Shape;534;g2a9ffc56a77_0_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5" name="Google Shape;535;g2a9ffc56a77_0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5"/>
        <p:cNvGrpSpPr/>
        <p:nvPr/>
      </p:nvGrpSpPr>
      <p:grpSpPr>
        <a:xfrm>
          <a:off x="0" y="0"/>
          <a:ext cx="0" cy="0"/>
          <a:chOff x="0" y="0"/>
          <a:chExt cx="0" cy="0"/>
        </a:xfrm>
      </p:grpSpPr>
      <p:sp>
        <p:nvSpPr>
          <p:cNvPr id="556" name="Google Shape;556;g265aba99801_0_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7" name="Google Shape;557;g265aba99801_0_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2"/>
        <p:cNvGrpSpPr/>
        <p:nvPr/>
      </p:nvGrpSpPr>
      <p:grpSpPr>
        <a:xfrm>
          <a:off x="0" y="0"/>
          <a:ext cx="0" cy="0"/>
          <a:chOff x="0" y="0"/>
          <a:chExt cx="0" cy="0"/>
        </a:xfrm>
      </p:grpSpPr>
      <p:sp>
        <p:nvSpPr>
          <p:cNvPr id="563" name="Google Shape;563;g1ef2b5ff050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64" name="Google Shape;564;g1ef2b5ff050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
        <p:cNvGrpSpPr/>
        <p:nvPr/>
      </p:nvGrpSpPr>
      <p:grpSpPr>
        <a:xfrm>
          <a:off x="0" y="0"/>
          <a:ext cx="0" cy="0"/>
          <a:chOff x="0" y="0"/>
          <a:chExt cx="0" cy="0"/>
        </a:xfrm>
      </p:grpSpPr>
      <p:sp>
        <p:nvSpPr>
          <p:cNvPr id="573" name="Google Shape;573;g1ef2b5ff050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4" name="Google Shape;574;g1ef2b5ff05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9"/>
        <p:cNvGrpSpPr/>
        <p:nvPr/>
      </p:nvGrpSpPr>
      <p:grpSpPr>
        <a:xfrm>
          <a:off x="0" y="0"/>
          <a:ext cx="0" cy="0"/>
          <a:chOff x="0" y="0"/>
          <a:chExt cx="0" cy="0"/>
        </a:xfrm>
      </p:grpSpPr>
      <p:sp>
        <p:nvSpPr>
          <p:cNvPr id="580" name="Google Shape;580;g1ee3445068b_0_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1" name="Google Shape;581;g1ee3445068b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8"/>
        <p:cNvGrpSpPr/>
        <p:nvPr/>
      </p:nvGrpSpPr>
      <p:grpSpPr>
        <a:xfrm>
          <a:off x="0" y="0"/>
          <a:ext cx="0" cy="0"/>
          <a:chOff x="0" y="0"/>
          <a:chExt cx="0" cy="0"/>
        </a:xfrm>
      </p:grpSpPr>
      <p:sp>
        <p:nvSpPr>
          <p:cNvPr id="599" name="Google Shape;599;g25d3c59165e_0_1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0" name="Google Shape;600;g25d3c59165e_0_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3"/>
        <p:cNvGrpSpPr/>
        <p:nvPr/>
      </p:nvGrpSpPr>
      <p:grpSpPr>
        <a:xfrm>
          <a:off x="0" y="0"/>
          <a:ext cx="0" cy="0"/>
          <a:chOff x="0" y="0"/>
          <a:chExt cx="0" cy="0"/>
        </a:xfrm>
      </p:grpSpPr>
      <p:sp>
        <p:nvSpPr>
          <p:cNvPr id="604" name="Google Shape;604;g2b10d96587b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5" name="Google Shape;605;g2b10d96587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9"/>
        <p:cNvGrpSpPr/>
        <p:nvPr/>
      </p:nvGrpSpPr>
      <p:grpSpPr>
        <a:xfrm>
          <a:off x="0" y="0"/>
          <a:ext cx="0" cy="0"/>
          <a:chOff x="0" y="0"/>
          <a:chExt cx="0" cy="0"/>
        </a:xfrm>
      </p:grpSpPr>
      <p:sp>
        <p:nvSpPr>
          <p:cNvPr id="610" name="Google Shape;610;g2afc6d8f022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1" name="Google Shape;611;g2afc6d8f022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628650" y="273844"/>
            <a:ext cx="7886700" cy="994200"/>
          </a:xfrm>
          <a:prstGeom prst="rect">
            <a:avLst/>
          </a:prstGeom>
          <a:noFill/>
          <a:ln>
            <a:noFill/>
          </a:ln>
        </p:spPr>
        <p:txBody>
          <a:bodyPr spcFirstLastPara="1" wrap="square" lIns="68575" tIns="68575" rIns="68575" bIns="685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lgn="l" rtl="0">
              <a:lnSpc>
                <a:spcPct val="100000"/>
              </a:lnSpc>
              <a:spcBef>
                <a:spcPts val="0"/>
              </a:spcBef>
              <a:spcAft>
                <a:spcPts val="0"/>
              </a:spcAft>
              <a:buSzPts val="1100"/>
              <a:buNone/>
              <a:defRPr sz="1400"/>
            </a:lvl2pPr>
            <a:lvl3pPr lvl="2" algn="l" rtl="0">
              <a:lnSpc>
                <a:spcPct val="100000"/>
              </a:lnSpc>
              <a:spcBef>
                <a:spcPts val="0"/>
              </a:spcBef>
              <a:spcAft>
                <a:spcPts val="0"/>
              </a:spcAft>
              <a:buSzPts val="1100"/>
              <a:buNone/>
              <a:defRPr sz="1400"/>
            </a:lvl3pPr>
            <a:lvl4pPr lvl="3" algn="l" rtl="0">
              <a:lnSpc>
                <a:spcPct val="100000"/>
              </a:lnSpc>
              <a:spcBef>
                <a:spcPts val="0"/>
              </a:spcBef>
              <a:spcAft>
                <a:spcPts val="0"/>
              </a:spcAft>
              <a:buSzPts val="1100"/>
              <a:buNone/>
              <a:defRPr sz="1400"/>
            </a:lvl4pPr>
            <a:lvl5pPr lvl="4" algn="l" rtl="0">
              <a:lnSpc>
                <a:spcPct val="100000"/>
              </a:lnSpc>
              <a:spcBef>
                <a:spcPts val="0"/>
              </a:spcBef>
              <a:spcAft>
                <a:spcPts val="0"/>
              </a:spcAft>
              <a:buSzPts val="1100"/>
              <a:buNone/>
              <a:defRPr sz="1400"/>
            </a:lvl5pPr>
            <a:lvl6pPr lvl="5" algn="l" rtl="0">
              <a:lnSpc>
                <a:spcPct val="100000"/>
              </a:lnSpc>
              <a:spcBef>
                <a:spcPts val="0"/>
              </a:spcBef>
              <a:spcAft>
                <a:spcPts val="0"/>
              </a:spcAft>
              <a:buSzPts val="1100"/>
              <a:buNone/>
              <a:defRPr sz="1400"/>
            </a:lvl6pPr>
            <a:lvl7pPr lvl="6" algn="l" rtl="0">
              <a:lnSpc>
                <a:spcPct val="100000"/>
              </a:lnSpc>
              <a:spcBef>
                <a:spcPts val="0"/>
              </a:spcBef>
              <a:spcAft>
                <a:spcPts val="0"/>
              </a:spcAft>
              <a:buSzPts val="1100"/>
              <a:buNone/>
              <a:defRPr sz="1400"/>
            </a:lvl7pPr>
            <a:lvl8pPr lvl="7" algn="l" rtl="0">
              <a:lnSpc>
                <a:spcPct val="100000"/>
              </a:lnSpc>
              <a:spcBef>
                <a:spcPts val="0"/>
              </a:spcBef>
              <a:spcAft>
                <a:spcPts val="0"/>
              </a:spcAft>
              <a:buSzPts val="1100"/>
              <a:buNone/>
              <a:defRPr sz="1400"/>
            </a:lvl8pPr>
            <a:lvl9pPr lvl="8" algn="l" rtl="0">
              <a:lnSpc>
                <a:spcPct val="100000"/>
              </a:lnSpc>
              <a:spcBef>
                <a:spcPts val="0"/>
              </a:spcBef>
              <a:spcAft>
                <a:spcPts val="0"/>
              </a:spcAft>
              <a:buSzPts val="1100"/>
              <a:buNone/>
              <a:defRPr sz="1400"/>
            </a:lvl9pPr>
          </a:lstStyle>
          <a:p>
            <a:endParaRPr/>
          </a:p>
        </p:txBody>
      </p:sp>
      <p:sp>
        <p:nvSpPr>
          <p:cNvPr id="52" name="Google Shape;52;p13"/>
          <p:cNvSpPr txBox="1">
            <a:spLocks noGrp="1"/>
          </p:cNvSpPr>
          <p:nvPr>
            <p:ph type="body" idx="1"/>
          </p:nvPr>
        </p:nvSpPr>
        <p:spPr>
          <a:xfrm>
            <a:off x="628650" y="1369219"/>
            <a:ext cx="7886700" cy="3263400"/>
          </a:xfrm>
          <a:prstGeom prst="rect">
            <a:avLst/>
          </a:prstGeom>
          <a:noFill/>
          <a:ln>
            <a:noFill/>
          </a:ln>
        </p:spPr>
        <p:txBody>
          <a:bodyPr spcFirstLastPara="1" wrap="square" lIns="68575" tIns="68575" rIns="68575" bIns="685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53" name="Google Shape;53;p13"/>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54" name="Google Shape;54;p13"/>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55" name="Google Shape;5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6"/>
        <p:cNvGrpSpPr/>
        <p:nvPr/>
      </p:nvGrpSpPr>
      <p:grpSpPr>
        <a:xfrm>
          <a:off x="0" y="0"/>
          <a:ext cx="0" cy="0"/>
          <a:chOff x="0" y="0"/>
          <a:chExt cx="0" cy="0"/>
        </a:xfrm>
      </p:grpSpPr>
      <p:sp>
        <p:nvSpPr>
          <p:cNvPr id="57" name="Google Shape;57;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rmAutofit/>
          </a:bodyPr>
          <a:lstStyle>
            <a:lvl1pPr marR="0" lvl="0" algn="l" rtl="0">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rtl="0">
              <a:lnSpc>
                <a:spcPct val="100000"/>
              </a:lnSpc>
              <a:spcBef>
                <a:spcPts val="0"/>
              </a:spcBef>
              <a:spcAft>
                <a:spcPts val="0"/>
              </a:spcAft>
              <a:buSzPts val="1100"/>
              <a:buNone/>
              <a:defRPr sz="1400"/>
            </a:lvl2pPr>
            <a:lvl3pPr lvl="2" algn="l" rtl="0">
              <a:lnSpc>
                <a:spcPct val="100000"/>
              </a:lnSpc>
              <a:spcBef>
                <a:spcPts val="0"/>
              </a:spcBef>
              <a:spcAft>
                <a:spcPts val="0"/>
              </a:spcAft>
              <a:buSzPts val="1100"/>
              <a:buNone/>
              <a:defRPr sz="1400"/>
            </a:lvl3pPr>
            <a:lvl4pPr lvl="3" algn="l" rtl="0">
              <a:lnSpc>
                <a:spcPct val="100000"/>
              </a:lnSpc>
              <a:spcBef>
                <a:spcPts val="0"/>
              </a:spcBef>
              <a:spcAft>
                <a:spcPts val="0"/>
              </a:spcAft>
              <a:buSzPts val="1100"/>
              <a:buNone/>
              <a:defRPr sz="1400"/>
            </a:lvl4pPr>
            <a:lvl5pPr lvl="4" algn="l" rtl="0">
              <a:lnSpc>
                <a:spcPct val="100000"/>
              </a:lnSpc>
              <a:spcBef>
                <a:spcPts val="0"/>
              </a:spcBef>
              <a:spcAft>
                <a:spcPts val="0"/>
              </a:spcAft>
              <a:buSzPts val="1100"/>
              <a:buNone/>
              <a:defRPr sz="1400"/>
            </a:lvl5pPr>
            <a:lvl6pPr lvl="5" algn="l" rtl="0">
              <a:lnSpc>
                <a:spcPct val="100000"/>
              </a:lnSpc>
              <a:spcBef>
                <a:spcPts val="0"/>
              </a:spcBef>
              <a:spcAft>
                <a:spcPts val="0"/>
              </a:spcAft>
              <a:buSzPts val="1100"/>
              <a:buNone/>
              <a:defRPr sz="1400"/>
            </a:lvl6pPr>
            <a:lvl7pPr lvl="6" algn="l" rtl="0">
              <a:lnSpc>
                <a:spcPct val="100000"/>
              </a:lnSpc>
              <a:spcBef>
                <a:spcPts val="0"/>
              </a:spcBef>
              <a:spcAft>
                <a:spcPts val="0"/>
              </a:spcAft>
              <a:buSzPts val="1100"/>
              <a:buNone/>
              <a:defRPr sz="1400"/>
            </a:lvl7pPr>
            <a:lvl8pPr lvl="7" algn="l" rtl="0">
              <a:lnSpc>
                <a:spcPct val="100000"/>
              </a:lnSpc>
              <a:spcBef>
                <a:spcPts val="0"/>
              </a:spcBef>
              <a:spcAft>
                <a:spcPts val="0"/>
              </a:spcAft>
              <a:buSzPts val="1100"/>
              <a:buNone/>
              <a:defRPr sz="1400"/>
            </a:lvl8pPr>
            <a:lvl9pPr lvl="8" algn="l" rtl="0">
              <a:lnSpc>
                <a:spcPct val="100000"/>
              </a:lnSpc>
              <a:spcBef>
                <a:spcPts val="0"/>
              </a:spcBef>
              <a:spcAft>
                <a:spcPts val="0"/>
              </a:spcAft>
              <a:buSzPts val="1100"/>
              <a:buNone/>
              <a:defRPr sz="1400"/>
            </a:lvl9pPr>
          </a:lstStyle>
          <a:p>
            <a:endParaRPr/>
          </a:p>
        </p:txBody>
      </p:sp>
      <p:sp>
        <p:nvSpPr>
          <p:cNvPr id="58" name="Google Shape;58;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rmAutofit/>
          </a:bodyPr>
          <a:lstStyle>
            <a:lvl1pPr marL="457200" marR="0" lvl="0" indent="-228600" algn="l" rtl="0">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9" name="Google Shape;59;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0" name="Google Shape;60;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SzPts val="1100"/>
              <a:buNone/>
              <a:defRPr sz="900">
                <a:solidFill>
                  <a:srgbClr val="888888"/>
                </a:solidFill>
                <a:latin typeface="Calibri"/>
                <a:ea typeface="Calibri"/>
                <a:cs typeface="Calibri"/>
                <a:sym typeface="Calibri"/>
              </a:defRPr>
            </a:lvl1pPr>
            <a:lvl2pPr marR="0" lvl="1"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61" name="Google Shape;61;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hyperlink" Target="https://wccftech.com/nvidia-blackwell-b100-gpus-2x-faster-hopper-h200-2024-launch/" TargetMode="External"/><Relationship Id="rId7" Type="http://schemas.openxmlformats.org/officeDocument/2006/relationships/image" Target="../media/image4.jpe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s://en.wikipedia.org/wiki/Rao%E2%80%93Blackwell_theorem" TargetMode="External"/><Relationship Id="rId4" Type="http://schemas.openxmlformats.org/officeDocument/2006/relationships/hyperlink" Target="https://en.wikipedia.org/wiki/David_Blackwell" TargetMode="External"/></Relationships>
</file>

<file path=ppt/slides/_rels/slide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3" Type="http://schemas.openxmlformats.org/officeDocument/2006/relationships/hyperlink" Target="https://arxiv.org/abs/1706.03762" TargetMode="External"/><Relationship Id="rId7" Type="http://schemas.openxmlformats.org/officeDocument/2006/relationships/hyperlink" Target="https://jalammar.github.io/illustrated-transformer/"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hyperlink" Target="https://www.youtube.com/watch?v=z3XKMnu2pgg"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www.unite.ai/mistral-ais-latest-mixture-of-experts-moe-8x7b-model/" TargetMode="External"/></Relationships>
</file>

<file path=ppt/slides/_rels/slide9.xml.rels><?xml version="1.0" encoding="UTF-8" standalone="yes"?>
<Relationships xmlns="http://schemas.openxmlformats.org/package/2006/relationships"><Relationship Id="rId8" Type="http://schemas.openxmlformats.org/officeDocument/2006/relationships/hyperlink" Target="https://github.com/huggingface/transformers/blob/main/src/transformers/models/mixtral/configuration_mixtral.py" TargetMode="External"/><Relationship Id="rId3" Type="http://schemas.openxmlformats.org/officeDocument/2006/relationships/image" Target="../media/image21.png"/><Relationship Id="rId7" Type="http://schemas.openxmlformats.org/officeDocument/2006/relationships/hyperlink" Target="https://arxiv.org/pdf/2209.01667.pdf"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huggingface.co/blog/vtabbott/mixtral" TargetMode="External"/><Relationship Id="rId5" Type="http://schemas.openxmlformats.org/officeDocument/2006/relationships/image" Target="../media/image22.png"/><Relationship Id="rId10" Type="http://schemas.openxmlformats.org/officeDocument/2006/relationships/hyperlink" Target="https://arxiv.org/abs/2305.13245" TargetMode="External"/><Relationship Id="rId4" Type="http://schemas.openxmlformats.org/officeDocument/2006/relationships/hyperlink" Target="https://arxiv.org/abs/2401.04088" TargetMode="External"/><Relationship Id="rId9" Type="http://schemas.openxmlformats.org/officeDocument/2006/relationships/hyperlink" Target="https://github.com/huggingface/transformers/blob/main/src/transformers/models/mistral/configuration_mistral.py" TargetMode="External"/></Relationships>
</file>

<file path=ppt/slides/_rels/slide10.xml.rels><?xml version="1.0" encoding="UTF-8" standalone="yes"?>
<Relationships xmlns="http://schemas.openxmlformats.org/package/2006/relationships"><Relationship Id="rId8" Type="http://schemas.openxmlformats.org/officeDocument/2006/relationships/hyperlink" Target="https://huggingface.co/google/switch-c-2048" TargetMode="External"/><Relationship Id="rId3" Type="http://schemas.openxmlformats.org/officeDocument/2006/relationships/hyperlink" Target="https://huggingface.co/blog/moe" TargetMode="External"/><Relationship Id="rId7" Type="http://schemas.openxmlformats.org/officeDocument/2006/relationships/hyperlink" Target="https://arxiv.org/pdf/2101.03961.pdf"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medium.com/@sthanikamsanthosh1994/the-mixer-of-experts-moe-modern-architecture-for-divide-and-concur-learning-dbe10ffa8436" TargetMode="External"/><Relationship Id="rId5" Type="http://schemas.openxmlformats.org/officeDocument/2006/relationships/hyperlink" Target="https://arxiv.org/pdf/1701.06538.pdf" TargetMode="External"/><Relationship Id="rId10" Type="http://schemas.openxmlformats.org/officeDocument/2006/relationships/image" Target="../media/image24.png"/><Relationship Id="rId4" Type="http://schemas.openxmlformats.org/officeDocument/2006/relationships/hyperlink" Target="https://en.wikipedia.org/wiki/Mixture_of_experts" TargetMode="External"/><Relationship Id="rId9" Type="http://schemas.openxmlformats.org/officeDocument/2006/relationships/image" Target="../media/image23.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arxiv.org/abs/1301.3781"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github.com/google/sentencepiece" TargetMode="External"/><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hyperlink" Target="https://www.researchgate.net/publication/357047476_Transformer-Based_Deep_Neural_Language_Modeling_for_Construct-Specific_Automatic_Item_Generation"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jalammar.github.io/illustrated-transformer/" TargetMode="External"/><Relationship Id="rId5" Type="http://schemas.openxmlformats.org/officeDocument/2006/relationships/image" Target="../media/image33.png"/><Relationship Id="rId4" Type="http://schemas.openxmlformats.org/officeDocument/2006/relationships/hyperlink" Target="https://wikidocs.net/167211"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NVIDIA/TensorRT-LLM"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hyperlink" Target="https://nvidia.github.io/TensorRT-LLM/performance.html" TargetMode="External"/><Relationship Id="rId5" Type="http://schemas.openxmlformats.org/officeDocument/2006/relationships/hyperlink" Target="https://github.com/lapp0/lm-inference-engines/" TargetMode="External"/><Relationship Id="rId4" Type="http://schemas.openxmlformats.org/officeDocument/2006/relationships/hyperlink" Target="https://github.com/triton-inference-server/server"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mlfrontiers.substack.com/p/the-rise-of-sparse-mixtures-of-experts"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hyperlink" Target="https://www.nature.com/articles/s41586-023-06747-5"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hyperlink" Target="https://deepmind.google/discover/blog/alphageometry-an-olympiad-level-ai-system-for-geometry/"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8" Type="http://schemas.openxmlformats.org/officeDocument/2006/relationships/hyperlink" Target="https://huggingface.co/stabilityai/stable-diffusion-xl-refiner-1.0" TargetMode="External"/><Relationship Id="rId3" Type="http://schemas.openxmlformats.org/officeDocument/2006/relationships/hyperlink" Target="https://www.youtube.com/watch?v=9k-yb83ZHfc" TargetMode="External"/><Relationship Id="rId7" Type="http://schemas.openxmlformats.org/officeDocument/2006/relationships/hyperlink" Target="https://huggingface.co/stabilityai/stable-diffusion-xl-base-1.0" TargetMode="External"/><Relationship Id="rId12" Type="http://schemas.openxmlformats.org/officeDocument/2006/relationships/hyperlink" Target="https://gptforwork.com/tools/openai-chatgpt-api-pricing-calculator"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hyperlink" Target="https://www.youtube.com/watch?v=m9jg1fdOiVY" TargetMode="External"/><Relationship Id="rId11" Type="http://schemas.openxmlformats.org/officeDocument/2006/relationships/hyperlink" Target="https://huggingface.co/CompVis/stable-diffusion-v-1-4-original" TargetMode="External"/><Relationship Id="rId5" Type="http://schemas.openxmlformats.org/officeDocument/2006/relationships/hyperlink" Target="https://github.com/ltdrdata/ComfyUI-Manager" TargetMode="External"/><Relationship Id="rId10" Type="http://schemas.openxmlformats.org/officeDocument/2006/relationships/hyperlink" Target="https://github.com/AUTOMATIC1111/stable-diffusion-webui" TargetMode="External"/><Relationship Id="rId4" Type="http://schemas.openxmlformats.org/officeDocument/2006/relationships/hyperlink" Target="https://github.com/comfyanonymous/ComfyUI" TargetMode="External"/><Relationship Id="rId9" Type="http://schemas.openxmlformats.org/officeDocument/2006/relationships/hyperlink" Target="https://huggingface.co/stabilityai/sdxl-vae"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hyperlink" Target="https://www.kaggle.com" TargetMode="External"/><Relationship Id="rId5" Type="http://schemas.openxmlformats.org/officeDocument/2006/relationships/image" Target="../media/image40.png"/><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28.xml.rels><?xml version="1.0" encoding="UTF-8" standalone="yes"?>
<Relationships xmlns="http://schemas.openxmlformats.org/package/2006/relationships"><Relationship Id="rId8" Type="http://schemas.openxmlformats.org/officeDocument/2006/relationships/hyperlink" Target="https://github.com/lselector/ai/blob/master/llm_leaderboard.py" TargetMode="External"/><Relationship Id="rId3" Type="http://schemas.openxmlformats.org/officeDocument/2006/relationships/image" Target="../media/image43.png"/><Relationship Id="rId7" Type="http://schemas.openxmlformats.org/officeDocument/2006/relationships/hyperlink" Target="https://huggingface.co/spaces/felixz/meta_open_llm_leaderboard"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hyperlink" Target="https://huggingface.co/spaces/felixz/open_llm_leaderboard" TargetMode="External"/><Relationship Id="rId5" Type="http://schemas.openxmlformats.org/officeDocument/2006/relationships/hyperlink" Target="https://huggingface.co/datasets/open-llm-leaderboard/results" TargetMode="External"/><Relationship Id="rId4" Type="http://schemas.openxmlformats.org/officeDocument/2006/relationships/hyperlink" Target="https://huggingface.co/spaces/HuggingFaceH4/open_llm_leaderboard"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huggingface.co/spaces/lmsys/chatbot-arena-leaderboard"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hyperlink" Target="https://www.reddit.com/r/LocalLLaMA/comments/18m2t0z/deducing_mistral_medium_size_from_pricing_is_it_a/"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huggingface.co/spaces/mlabonne/Yet_Another_LLM_Leaderboard" TargetMode="External"/><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31.xml.rels><?xml version="1.0" encoding="UTF-8" standalone="yes"?>
<Relationships xmlns="http://schemas.openxmlformats.org/package/2006/relationships"><Relationship Id="rId8" Type="http://schemas.openxmlformats.org/officeDocument/2006/relationships/hyperlink" Target="https://huggingface.co/codellama" TargetMode="External"/><Relationship Id="rId3" Type="http://schemas.openxmlformats.org/officeDocument/2006/relationships/hyperlink" Target="https://evalplus.github.io/leaderboard.html" TargetMode="External"/><Relationship Id="rId7" Type="http://schemas.openxmlformats.org/officeDocument/2006/relationships/hyperlink" Target="https://twitter.com/rohanpaul_ai/status/1745727811774771308" TargetMode="External"/><Relationship Id="rId12" Type="http://schemas.openxmlformats.org/officeDocument/2006/relationships/image" Target="../media/image47.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hyperlink" Target="https://huggingface.co/LLM360/CrystalCoder" TargetMode="External"/><Relationship Id="rId11" Type="http://schemas.openxmlformats.org/officeDocument/2006/relationships/hyperlink" Target="https://arxiv.org/abs/2311.07989" TargetMode="External"/><Relationship Id="rId5" Type="http://schemas.openxmlformats.org/officeDocument/2006/relationships/hyperlink" Target="https://huggingface.co/TheBloke/Mistral-7B-Code-16K-qlora-GPTQ" TargetMode="External"/><Relationship Id="rId10" Type="http://schemas.openxmlformats.org/officeDocument/2006/relationships/hyperlink" Target="https://huggingface.co/mistralai/Mistral-7B-v0.1" TargetMode="External"/><Relationship Id="rId4" Type="http://schemas.openxmlformats.org/officeDocument/2006/relationships/hyperlink" Target="https://www.reddit.com/r/LocalLLaMA/comments/17fm71r/best_mistral_model_for_code_generation/" TargetMode="External"/><Relationship Id="rId9" Type="http://schemas.openxmlformats.org/officeDocument/2006/relationships/hyperlink" Target="https://huggingface.co/codellama/CodeLlama-7b-hf" TargetMode="External"/></Relationships>
</file>

<file path=ppt/slides/_rels/slide32.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hyperlink" Target="https://huggingface.co/LLM360/CrystalCoder" TargetMode="External"/><Relationship Id="rId7" Type="http://schemas.openxmlformats.org/officeDocument/2006/relationships/hyperlink" Target="https://huggingface.co/mistralai/Mistral-7B-v0.1" TargetMode="External"/><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hyperlink" Target="https://huggingface.co/codellama/CodeLlama-7b-hf" TargetMode="External"/><Relationship Id="rId5" Type="http://schemas.openxmlformats.org/officeDocument/2006/relationships/hyperlink" Target="https://huggingface.co/codellama" TargetMode="External"/><Relationship Id="rId4" Type="http://schemas.openxmlformats.org/officeDocument/2006/relationships/hyperlink" Target="https://twitter.com/rohanpaul_ai/status/1745727811774771308" TargetMode="Externa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5"/>
          <p:cNvSpPr txBox="1"/>
          <p:nvPr/>
        </p:nvSpPr>
        <p:spPr>
          <a:xfrm>
            <a:off x="2392025" y="-425"/>
            <a:ext cx="4260300" cy="9420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3600" b="1">
                <a:solidFill>
                  <a:srgbClr val="3C78D8"/>
                </a:solidFill>
              </a:rPr>
              <a:t>AI Updates </a:t>
            </a:r>
            <a:endParaRPr sz="3600" b="1">
              <a:solidFill>
                <a:srgbClr val="3C78D8"/>
              </a:solidFill>
            </a:endParaRPr>
          </a:p>
          <a:p>
            <a:pPr marL="0" lvl="0" indent="0" algn="ctr" rtl="0">
              <a:spcBef>
                <a:spcPts val="0"/>
              </a:spcBef>
              <a:spcAft>
                <a:spcPts val="0"/>
              </a:spcAft>
              <a:buNone/>
            </a:pPr>
            <a:r>
              <a:rPr lang="en" sz="2400" b="1">
                <a:solidFill>
                  <a:srgbClr val="3C78D8"/>
                </a:solidFill>
              </a:rPr>
              <a:t>January 19, 2024</a:t>
            </a:r>
            <a:endParaRPr sz="2400" b="1">
              <a:solidFill>
                <a:srgbClr val="3C78D8"/>
              </a:solidFill>
            </a:endParaRPr>
          </a:p>
        </p:txBody>
      </p:sp>
      <p:sp>
        <p:nvSpPr>
          <p:cNvPr id="67" name="Google Shape;67;p15"/>
          <p:cNvSpPr txBox="1"/>
          <p:nvPr/>
        </p:nvSpPr>
        <p:spPr>
          <a:xfrm>
            <a:off x="137850" y="972453"/>
            <a:ext cx="4342500" cy="38790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NVIDIA Blackwell B100 GPUs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LLM - Transformer, Mistral, Mixtral</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History - Transformer &amp; Attention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How Translation Models Work</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Mixtral Layers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Mixtral - How it Works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What is MoE (Mixture of Experts)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How an LLM Generates Output</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Tokenization &amp; Embeddings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How Embedding Models Work</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Positional Encoding</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What weights are learned inside LLM</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Multi-head attention, Group Attention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Steps of the Attention Mechanism</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Sliding Window Attention</a:t>
            </a:r>
            <a:endParaRPr sz="1600" b="1">
              <a:solidFill>
                <a:srgbClr val="3C78D8"/>
              </a:solidFill>
            </a:endParaRPr>
          </a:p>
        </p:txBody>
      </p:sp>
      <p:sp>
        <p:nvSpPr>
          <p:cNvPr id="68" name="Google Shape;68;p15"/>
          <p:cNvSpPr txBox="1"/>
          <p:nvPr/>
        </p:nvSpPr>
        <p:spPr>
          <a:xfrm>
            <a:off x="4672738" y="972453"/>
            <a:ext cx="4342500" cy="3140100"/>
          </a:xfrm>
          <a:prstGeom prst="rect">
            <a:avLst/>
          </a:prstGeom>
          <a:no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215900" algn="l" rtl="0">
              <a:spcBef>
                <a:spcPts val="0"/>
              </a:spcBef>
              <a:spcAft>
                <a:spcPts val="0"/>
              </a:spcAft>
              <a:buClr>
                <a:srgbClr val="3C78D8"/>
              </a:buClr>
              <a:buSzPts val="1600"/>
              <a:buChar char="●"/>
            </a:pPr>
            <a:r>
              <a:rPr lang="en" sz="1600" b="1">
                <a:solidFill>
                  <a:srgbClr val="3C78D8"/>
                </a:solidFill>
              </a:rPr>
              <a:t>Why Not Combine Query &amp; Key Matrices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The End of the Transformer Process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TensorRT-LLM and Triton </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Is Having More Experts Better?</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AlphaGeometry</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Mark Zuckerberg Announcement (2min)</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Run SDXL Locally With ComfyUI</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Samsung Galaxy S24 AI Features</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ML &amp; AI on AWS, Azure, GCP</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LLM Leaderboards - Hugging Face, "Arena", YALL, Coding</a:t>
            </a:r>
            <a:endParaRPr sz="1600" b="1">
              <a:solidFill>
                <a:srgbClr val="3C78D8"/>
              </a:solidFill>
            </a:endParaRPr>
          </a:p>
          <a:p>
            <a:pPr marL="228600" lvl="0" indent="-215900" algn="l" rtl="0">
              <a:spcBef>
                <a:spcPts val="0"/>
              </a:spcBef>
              <a:spcAft>
                <a:spcPts val="0"/>
              </a:spcAft>
              <a:buClr>
                <a:srgbClr val="3C78D8"/>
              </a:buClr>
              <a:buSzPts val="1600"/>
              <a:buChar char="●"/>
            </a:pPr>
            <a:r>
              <a:rPr lang="en" sz="1600" b="1">
                <a:solidFill>
                  <a:srgbClr val="3C78D8"/>
                </a:solidFill>
              </a:rPr>
              <a:t>The AI Tools</a:t>
            </a:r>
            <a:endParaRPr sz="1600" b="1">
              <a:solidFill>
                <a:srgbClr val="3C78D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pic>
        <p:nvPicPr>
          <p:cNvPr id="73" name="Google Shape;73;p16"/>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05238" y="1203525"/>
            <a:ext cx="2094075" cy="2094075"/>
          </a:xfrm>
          <a:prstGeom prst="rect">
            <a:avLst/>
          </a:prstGeom>
          <a:noFill/>
          <a:ln>
            <a:noFill/>
          </a:ln>
        </p:spPr>
      </p:pic>
      <p:sp>
        <p:nvSpPr>
          <p:cNvPr id="74" name="Google Shape;74;p16"/>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latin typeface="Calibri"/>
                <a:ea typeface="Calibri"/>
                <a:cs typeface="Calibri"/>
                <a:sym typeface="Calibri"/>
              </a:rPr>
              <a:t>About the Speaker</a:t>
            </a:r>
            <a:endParaRPr sz="2500" b="1">
              <a:latin typeface="Calibri"/>
              <a:ea typeface="Calibri"/>
              <a:cs typeface="Calibri"/>
              <a:sym typeface="Calibri"/>
            </a:endParaRPr>
          </a:p>
        </p:txBody>
      </p:sp>
      <p:sp>
        <p:nvSpPr>
          <p:cNvPr id="75" name="Google Shape;75;p16"/>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2500" b="1">
                <a:latin typeface="Calibri"/>
                <a:ea typeface="Calibri"/>
                <a:cs typeface="Calibri"/>
                <a:sym typeface="Calibri"/>
              </a:rPr>
              <a:t>Lev Selector, Ph.D.</a:t>
            </a:r>
            <a:endParaRPr sz="2500" b="1">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8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40+ years of software engineering, data science, and building teams (hiring, training, and managing)</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Ph.D. in mathematical modeling and computer simulations</a:t>
            </a:r>
            <a:endParaRPr sz="160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Interests: </a:t>
            </a:r>
            <a:endParaRPr sz="1600">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solidFill>
                  <a:schemeClr val="dk1"/>
                </a:solidFill>
                <a:latin typeface="Calibri"/>
                <a:ea typeface="Calibri"/>
                <a:cs typeface="Calibri"/>
                <a:sym typeface="Calibri"/>
              </a:rPr>
              <a:t>Generative AI, Using LLM with your data</a:t>
            </a:r>
            <a:endParaRPr sz="1600">
              <a:solidFill>
                <a:schemeClr val="dk1"/>
              </a:solidFill>
              <a:latin typeface="Calibri"/>
              <a:ea typeface="Calibri"/>
              <a:cs typeface="Calibri"/>
              <a:sym typeface="Calibri"/>
            </a:endParaRPr>
          </a:p>
          <a:p>
            <a:pPr marL="457200" lvl="0" indent="-330200" algn="l" rtl="0">
              <a:spcBef>
                <a:spcPts val="0"/>
              </a:spcBef>
              <a:spcAft>
                <a:spcPts val="0"/>
              </a:spcAft>
              <a:buClr>
                <a:schemeClr val="dk1"/>
              </a:buClr>
              <a:buSzPts val="1600"/>
              <a:buFont typeface="Calibri"/>
              <a:buChar char="●"/>
            </a:pPr>
            <a:r>
              <a:rPr lang="en" sz="1600">
                <a:solidFill>
                  <a:schemeClr val="dk1"/>
                </a:solidFill>
                <a:latin typeface="Calibri"/>
                <a:ea typeface="Calibri"/>
                <a:cs typeface="Calibri"/>
                <a:sym typeface="Calibri"/>
              </a:rPr>
              <a:t>Local AI for Local Private Data</a:t>
            </a:r>
            <a:endParaRPr sz="1600">
              <a:solidFill>
                <a:schemeClr val="dk1"/>
              </a:solidFill>
              <a:latin typeface="Calibri"/>
              <a:ea typeface="Calibri"/>
              <a:cs typeface="Calibri"/>
              <a:sym typeface="Calibri"/>
            </a:endParaRPr>
          </a:p>
          <a:p>
            <a:pPr marL="457200" lvl="0" indent="-330200" algn="l" rtl="0">
              <a:spcBef>
                <a:spcPts val="0"/>
              </a:spcBef>
              <a:spcAft>
                <a:spcPts val="0"/>
              </a:spcAft>
              <a:buSzPts val="1600"/>
              <a:buFont typeface="Calibri"/>
              <a:buChar char="●"/>
            </a:pPr>
            <a:r>
              <a:rPr lang="en" sz="1600">
                <a:latin typeface="Calibri"/>
                <a:ea typeface="Calibri"/>
                <a:cs typeface="Calibri"/>
                <a:sym typeface="Calibri"/>
              </a:rPr>
              <a:t>Cloud architecture, fin-tech, application security</a:t>
            </a:r>
            <a:endParaRPr sz="1600">
              <a:latin typeface="Calibri"/>
              <a:ea typeface="Calibri"/>
              <a:cs typeface="Calibri"/>
              <a:sym typeface="Calibri"/>
            </a:endParaRPr>
          </a:p>
          <a:p>
            <a:pPr marL="0" lvl="0" indent="0" algn="l" rtl="0">
              <a:spcBef>
                <a:spcPts val="0"/>
              </a:spcBef>
              <a:spcAft>
                <a:spcPts val="0"/>
              </a:spcAft>
              <a:buNone/>
            </a:pPr>
            <a:endParaRPr sz="1600">
              <a:latin typeface="Calibri"/>
              <a:ea typeface="Calibri"/>
              <a:cs typeface="Calibri"/>
              <a:sym typeface="Calibri"/>
            </a:endParaRPr>
          </a:p>
          <a:p>
            <a:pPr marL="0" lvl="0" indent="0" algn="l" rtl="0">
              <a:spcBef>
                <a:spcPts val="0"/>
              </a:spcBef>
              <a:spcAft>
                <a:spcPts val="0"/>
              </a:spcAft>
              <a:buNone/>
            </a:pPr>
            <a:r>
              <a:rPr lang="en" sz="1600">
                <a:latin typeface="Calibri"/>
                <a:ea typeface="Calibri"/>
                <a:cs typeface="Calibri"/>
                <a:sym typeface="Calibri"/>
              </a:rPr>
              <a:t>Find/connect: Linkedin, GitHub, YouTube, Google</a:t>
            </a:r>
            <a:endParaRPr sz="1600">
              <a:latin typeface="Calibri"/>
              <a:ea typeface="Calibri"/>
              <a:cs typeface="Calibri"/>
              <a:sym typeface="Calibri"/>
            </a:endParaRPr>
          </a:p>
        </p:txBody>
      </p:sp>
      <p:pic>
        <p:nvPicPr>
          <p:cNvPr id="76" name="Google Shape;76;p1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010941" y="3664175"/>
            <a:ext cx="1144600" cy="415875"/>
          </a:xfrm>
          <a:prstGeom prst="rect">
            <a:avLst/>
          </a:prstGeom>
          <a:noFill/>
          <a:ln>
            <a:noFill/>
          </a:ln>
        </p:spPr>
      </p:pic>
      <p:sp>
        <p:nvSpPr>
          <p:cNvPr id="77" name="Google Shape;77;p16"/>
          <p:cNvSpPr txBox="1"/>
          <p:nvPr/>
        </p:nvSpPr>
        <p:spPr>
          <a:xfrm>
            <a:off x="912377" y="4005903"/>
            <a:ext cx="1391400" cy="431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600" u="sng">
                <a:solidFill>
                  <a:schemeClr val="hlink"/>
                </a:solidFill>
                <a:latin typeface="Calibri"/>
                <a:ea typeface="Calibri"/>
                <a:cs typeface="Calibri"/>
                <a:sym typeface="Calibri"/>
                <a:hlinkClick r:id="rId5"/>
              </a:rPr>
              <a:t>https://eais.ai</a:t>
            </a:r>
            <a:r>
              <a:rPr lang="en" sz="1600">
                <a:latin typeface="Calibri"/>
                <a:ea typeface="Calibri"/>
                <a:cs typeface="Calibri"/>
                <a:sym typeface="Calibri"/>
              </a:rPr>
              <a:t> </a:t>
            </a:r>
            <a:endParaRPr sz="1600">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7"/>
          <p:cNvSpPr txBox="1"/>
          <p:nvPr/>
        </p:nvSpPr>
        <p:spPr>
          <a:xfrm>
            <a:off x="72300" y="7620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NVIDIA Blackwell B100 GPU</a:t>
            </a:r>
            <a:endParaRPr sz="2000" b="1">
              <a:latin typeface="Calibri"/>
              <a:ea typeface="Calibri"/>
              <a:cs typeface="Calibri"/>
              <a:sym typeface="Calibri"/>
            </a:endParaRPr>
          </a:p>
        </p:txBody>
      </p:sp>
      <p:sp>
        <p:nvSpPr>
          <p:cNvPr id="83" name="Google Shape;83;p17"/>
          <p:cNvSpPr txBox="1"/>
          <p:nvPr/>
        </p:nvSpPr>
        <p:spPr>
          <a:xfrm>
            <a:off x="72300" y="592850"/>
            <a:ext cx="5939700" cy="184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NVIDIA Blackwell B100 GPUs </a:t>
            </a:r>
            <a:r>
              <a:rPr lang="en" sz="1300">
                <a:solidFill>
                  <a:srgbClr val="0F0F0F"/>
                </a:solidFill>
                <a:latin typeface="Calibri"/>
                <a:ea typeface="Calibri"/>
                <a:cs typeface="Calibri"/>
                <a:sym typeface="Calibri"/>
              </a:rPr>
              <a:t>is expected to be released in Q2 of 2024. </a:t>
            </a:r>
            <a:br>
              <a:rPr lang="en" sz="1300">
                <a:solidFill>
                  <a:srgbClr val="0F0F0F"/>
                </a:solidFill>
                <a:latin typeface="Calibri"/>
                <a:ea typeface="Calibri"/>
                <a:cs typeface="Calibri"/>
                <a:sym typeface="Calibri"/>
              </a:rPr>
            </a:br>
            <a:r>
              <a:rPr lang="en" sz="1000" u="sng">
                <a:solidFill>
                  <a:schemeClr val="hlink"/>
                </a:solidFill>
                <a:latin typeface="Calibri"/>
                <a:ea typeface="Calibri"/>
                <a:cs typeface="Calibri"/>
                <a:sym typeface="Calibri"/>
                <a:hlinkClick r:id="rId3"/>
              </a:rPr>
              <a:t>https://wccftech.com/nvidia-blackwell-b100-gpus-2x-faster-hopper-h200-2024-launch/</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More Than Double The Performance of </a:t>
            </a:r>
            <a:r>
              <a:rPr lang="en" sz="1300" b="1">
                <a:solidFill>
                  <a:srgbClr val="FF0000"/>
                </a:solidFill>
                <a:latin typeface="Calibri"/>
                <a:ea typeface="Calibri"/>
                <a:cs typeface="Calibri"/>
                <a:sym typeface="Calibri"/>
              </a:rPr>
              <a:t>Hopper H200 GPUs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"B"</a:t>
            </a:r>
            <a:r>
              <a:rPr lang="en" sz="1300">
                <a:solidFill>
                  <a:srgbClr val="0F0F0F"/>
                </a:solidFill>
                <a:latin typeface="Calibri"/>
                <a:ea typeface="Calibri"/>
                <a:cs typeface="Calibri"/>
                <a:sym typeface="Calibri"/>
              </a:rPr>
              <a:t> comes from  </a:t>
            </a:r>
            <a:r>
              <a:rPr lang="en" sz="1300" b="1">
                <a:solidFill>
                  <a:srgbClr val="FF0000"/>
                </a:solidFill>
                <a:latin typeface="Calibri"/>
                <a:ea typeface="Calibri"/>
                <a:cs typeface="Calibri"/>
                <a:sym typeface="Calibri"/>
              </a:rPr>
              <a:t>David Harold Blackwell</a:t>
            </a:r>
            <a:endParaRPr sz="1300" b="1">
              <a:solidFill>
                <a:srgbClr val="FF0000"/>
              </a:solidFill>
              <a:latin typeface="Calibri"/>
              <a:ea typeface="Calibri"/>
              <a:cs typeface="Calibri"/>
              <a:sym typeface="Calibri"/>
            </a:endParaRPr>
          </a:p>
          <a:p>
            <a:pPr marL="457200" lvl="1"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https://en.wikipedia.org/wiki/David_Blackwell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457200" lvl="1"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https://en.wikipedia.org/wiki/Rao%E2%80%93Blackwell_theorem</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The </a:t>
            </a:r>
            <a:r>
              <a:rPr lang="en" sz="1300" b="1">
                <a:solidFill>
                  <a:srgbClr val="FF0000"/>
                </a:solidFill>
                <a:latin typeface="Calibri"/>
                <a:ea typeface="Calibri"/>
                <a:cs typeface="Calibri"/>
                <a:sym typeface="Calibri"/>
              </a:rPr>
              <a:t>Rao-Blackwell theorem</a:t>
            </a:r>
            <a:r>
              <a:rPr lang="en" sz="1300">
                <a:solidFill>
                  <a:srgbClr val="0F0F0F"/>
                </a:solidFill>
                <a:latin typeface="Calibri"/>
                <a:ea typeface="Calibri"/>
                <a:cs typeface="Calibri"/>
                <a:sym typeface="Calibri"/>
              </a:rPr>
              <a:t> in statistics says that if you have an (unbiased) estimator for some parameter, you can often improve its accuracy (lower variance) by averaging on additional information (statistic).</a:t>
            </a:r>
            <a:endParaRPr sz="1300">
              <a:solidFill>
                <a:srgbClr val="0F0F0F"/>
              </a:solidFill>
              <a:latin typeface="Calibri"/>
              <a:ea typeface="Calibri"/>
              <a:cs typeface="Calibri"/>
              <a:sym typeface="Calibri"/>
            </a:endParaRPr>
          </a:p>
        </p:txBody>
      </p:sp>
      <p:pic>
        <p:nvPicPr>
          <p:cNvPr id="84" name="Google Shape;84;p1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176452" y="104450"/>
            <a:ext cx="1845675" cy="2246450"/>
          </a:xfrm>
          <a:prstGeom prst="rect">
            <a:avLst/>
          </a:prstGeom>
          <a:noFill/>
          <a:ln w="9525" cap="flat" cmpd="sng">
            <a:solidFill>
              <a:srgbClr val="FF0000"/>
            </a:solidFill>
            <a:prstDash val="solid"/>
            <a:round/>
            <a:headEnd type="none" w="sm" len="sm"/>
            <a:tailEnd type="none" w="sm" len="sm"/>
          </a:ln>
        </p:spPr>
      </p:pic>
      <p:sp>
        <p:nvSpPr>
          <p:cNvPr id="85" name="Google Shape;85;p17"/>
          <p:cNvSpPr txBox="1"/>
          <p:nvPr/>
        </p:nvSpPr>
        <p:spPr>
          <a:xfrm>
            <a:off x="7167635" y="2397225"/>
            <a:ext cx="18456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1300" b="1">
                <a:solidFill>
                  <a:srgbClr val="FF0000"/>
                </a:solidFill>
                <a:latin typeface="Calibri"/>
                <a:ea typeface="Calibri"/>
                <a:cs typeface="Calibri"/>
                <a:sym typeface="Calibri"/>
              </a:rPr>
              <a:t>David Harold Blackwell</a:t>
            </a:r>
            <a:endParaRPr sz="1300" b="1">
              <a:solidFill>
                <a:srgbClr val="FF0000"/>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(1919 – 2010) </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American statistician and mathematician,</a:t>
            </a:r>
            <a:endParaRPr sz="1300">
              <a:solidFill>
                <a:srgbClr val="0F0F0F"/>
              </a:solidFill>
              <a:latin typeface="Calibri"/>
              <a:ea typeface="Calibri"/>
              <a:cs typeface="Calibri"/>
              <a:sym typeface="Calibri"/>
            </a:endParaRPr>
          </a:p>
          <a:p>
            <a:pPr marL="0" lvl="0" indent="0" algn="ctr" rtl="0">
              <a:spcBef>
                <a:spcPts val="0"/>
              </a:spcBef>
              <a:spcAft>
                <a:spcPts val="0"/>
              </a:spcAft>
              <a:buNone/>
            </a:pPr>
            <a:r>
              <a:rPr lang="en" sz="1300">
                <a:solidFill>
                  <a:srgbClr val="0F0F0F"/>
                </a:solidFill>
                <a:latin typeface="Calibri"/>
                <a:ea typeface="Calibri"/>
                <a:cs typeface="Calibri"/>
                <a:sym typeface="Calibri"/>
              </a:rPr>
              <a:t>UC Berkeley (1954-88)</a:t>
            </a:r>
            <a:endParaRPr sz="1300">
              <a:solidFill>
                <a:srgbClr val="0F0F0F"/>
              </a:solidFill>
              <a:latin typeface="Calibri"/>
              <a:ea typeface="Calibri"/>
              <a:cs typeface="Calibri"/>
              <a:sym typeface="Calibri"/>
            </a:endParaRPr>
          </a:p>
        </p:txBody>
      </p:sp>
      <p:pic>
        <p:nvPicPr>
          <p:cNvPr id="86" name="Google Shape;86;p17"/>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13900" y="2509500"/>
            <a:ext cx="4940899" cy="256926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pic>
        <p:nvPicPr>
          <p:cNvPr id="91" name="Google Shape;91;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617638" y="376423"/>
            <a:ext cx="2288382" cy="2006735"/>
          </a:xfrm>
          <a:prstGeom prst="rect">
            <a:avLst/>
          </a:prstGeom>
          <a:noFill/>
          <a:ln>
            <a:noFill/>
          </a:ln>
        </p:spPr>
      </p:pic>
      <p:pic>
        <p:nvPicPr>
          <p:cNvPr id="92" name="Google Shape;92;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689969" y="2622448"/>
            <a:ext cx="2380007" cy="2418725"/>
          </a:xfrm>
          <a:prstGeom prst="rect">
            <a:avLst/>
          </a:prstGeom>
          <a:noFill/>
          <a:ln>
            <a:noFill/>
          </a:ln>
        </p:spPr>
      </p:pic>
      <p:sp>
        <p:nvSpPr>
          <p:cNvPr id="93" name="Google Shape;93;p18"/>
          <p:cNvSpPr txBox="1"/>
          <p:nvPr/>
        </p:nvSpPr>
        <p:spPr>
          <a:xfrm>
            <a:off x="99425" y="125950"/>
            <a:ext cx="1807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Next GPUs for AI</a:t>
            </a:r>
            <a:endParaRPr sz="2000" b="1">
              <a:latin typeface="Calibri"/>
              <a:ea typeface="Calibri"/>
              <a:cs typeface="Calibri"/>
              <a:sym typeface="Calibri"/>
            </a:endParaRPr>
          </a:p>
        </p:txBody>
      </p:sp>
      <p:graphicFrame>
        <p:nvGraphicFramePr>
          <p:cNvPr id="94" name="Google Shape;94;p18"/>
          <p:cNvGraphicFramePr/>
          <p:nvPr/>
        </p:nvGraphicFramePr>
        <p:xfrm>
          <a:off x="117438" y="603150"/>
          <a:ext cx="3979350" cy="2815209"/>
        </p:xfrm>
        <a:graphic>
          <a:graphicData uri="http://schemas.openxmlformats.org/drawingml/2006/table">
            <a:tbl>
              <a:tblPr>
                <a:noFill/>
                <a:tableStyleId>{34CB4795-9869-4EF4-8C66-3DADEFB96E93}</a:tableStyleId>
              </a:tblPr>
              <a:tblGrid>
                <a:gridCol w="408850">
                  <a:extLst>
                    <a:ext uri="{9D8B030D-6E8A-4147-A177-3AD203B41FA5}">
                      <a16:colId xmlns:a16="http://schemas.microsoft.com/office/drawing/2014/main" val="20000"/>
                    </a:ext>
                  </a:extLst>
                </a:gridCol>
                <a:gridCol w="967200">
                  <a:extLst>
                    <a:ext uri="{9D8B030D-6E8A-4147-A177-3AD203B41FA5}">
                      <a16:colId xmlns:a16="http://schemas.microsoft.com/office/drawing/2014/main" val="20001"/>
                    </a:ext>
                  </a:extLst>
                </a:gridCol>
                <a:gridCol w="691375">
                  <a:extLst>
                    <a:ext uri="{9D8B030D-6E8A-4147-A177-3AD203B41FA5}">
                      <a16:colId xmlns:a16="http://schemas.microsoft.com/office/drawing/2014/main" val="20002"/>
                    </a:ext>
                  </a:extLst>
                </a:gridCol>
                <a:gridCol w="827525">
                  <a:extLst>
                    <a:ext uri="{9D8B030D-6E8A-4147-A177-3AD203B41FA5}">
                      <a16:colId xmlns:a16="http://schemas.microsoft.com/office/drawing/2014/main" val="20003"/>
                    </a:ext>
                  </a:extLst>
                </a:gridCol>
                <a:gridCol w="630650">
                  <a:extLst>
                    <a:ext uri="{9D8B030D-6E8A-4147-A177-3AD203B41FA5}">
                      <a16:colId xmlns:a16="http://schemas.microsoft.com/office/drawing/2014/main" val="20004"/>
                    </a:ext>
                  </a:extLst>
                </a:gridCol>
                <a:gridCol w="453750">
                  <a:extLst>
                    <a:ext uri="{9D8B030D-6E8A-4147-A177-3AD203B41FA5}">
                      <a16:colId xmlns:a16="http://schemas.microsoft.com/office/drawing/2014/main" val="20005"/>
                    </a:ext>
                  </a:extLst>
                </a:gridCol>
              </a:tblGrid>
              <a:tr h="374375">
                <a:tc>
                  <a:txBody>
                    <a:bodyPr/>
                    <a:lstStyle/>
                    <a:p>
                      <a:pPr marL="0" lvl="0" indent="0" algn="ctr" rtl="0">
                        <a:lnSpc>
                          <a:spcPct val="115000"/>
                        </a:lnSpc>
                        <a:spcBef>
                          <a:spcPts val="0"/>
                        </a:spcBef>
                        <a:spcAft>
                          <a:spcPts val="0"/>
                        </a:spcAft>
                        <a:buNone/>
                      </a:pP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GPU</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Released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Generation</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Memory 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Price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0"/>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RTX 3090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2020 Q3</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0.7K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RTX 4090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2022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Ada Lovelace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2"/>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RTX A6000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2020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RTX 6000 Ada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2022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Ada Lovelace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7K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A100 (40GB)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2020 Q2</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6K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5"/>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A100 (80GB)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2021 Q2</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Ampere</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80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18K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6"/>
                  </a:ext>
                </a:extLst>
              </a:tr>
              <a:tr h="200025">
                <a:tc>
                  <a:txBody>
                    <a:bodyPr/>
                    <a:lstStyle/>
                    <a:p>
                      <a:pPr marL="0" lvl="0" indent="0" algn="l"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H100 (80GB)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2023 Q1</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Hopper</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80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32K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7"/>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H200 (141GB)</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Hopper</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141</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8"/>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Nvidia</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B100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Blackwell</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09"/>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RX 7900 XTX</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2022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RDNA 3</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24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0.9K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0"/>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PRO W7900</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2023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ctr"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RDNA 3</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Clr>
                          <a:schemeClr val="dk1"/>
                        </a:buClr>
                        <a:buSzPts val="1100"/>
                        <a:buFont typeface="Arial"/>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3.5K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9CB9C"/>
                    </a:solidFill>
                  </a:tcPr>
                </a:tc>
                <a:extLst>
                  <a:ext uri="{0D108BD9-81ED-4DB2-BD59-A6C34878D82A}">
                    <a16:rowId xmlns:a16="http://schemas.microsoft.com/office/drawing/2014/main" val="10011"/>
                  </a:ext>
                </a:extLst>
              </a:tr>
              <a:tr h="200025">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l" rtl="0">
                        <a:lnSpc>
                          <a:spcPct val="115000"/>
                        </a:lnSpc>
                        <a:spcBef>
                          <a:spcPts val="0"/>
                        </a:spcBef>
                        <a:spcAft>
                          <a:spcPts val="0"/>
                        </a:spcAft>
                        <a:buNone/>
                      </a:pPr>
                      <a:r>
                        <a:rPr lang="en" sz="1000">
                          <a:solidFill>
                            <a:srgbClr val="374151"/>
                          </a:solidFill>
                          <a:latin typeface="Calibri"/>
                          <a:ea typeface="Calibri"/>
                          <a:cs typeface="Calibri"/>
                          <a:sym typeface="Calibri"/>
                        </a:rPr>
                        <a:t>AMD MI250 </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2021 Q4</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ctr" rtl="0">
                        <a:lnSpc>
                          <a:spcPct val="115000"/>
                        </a:lnSpc>
                        <a:spcBef>
                          <a:spcPts val="0"/>
                        </a:spcBef>
                        <a:spcAft>
                          <a:spcPts val="0"/>
                        </a:spcAft>
                        <a:buNone/>
                      </a:pPr>
                      <a:r>
                        <a:rPr lang="en" sz="1000">
                          <a:solidFill>
                            <a:srgbClr val="374151"/>
                          </a:solidFill>
                          <a:latin typeface="Calibri"/>
                          <a:ea typeface="Calibri"/>
                          <a:cs typeface="Calibri"/>
                          <a:sym typeface="Calibri"/>
                        </a:rPr>
                        <a:t>CDNA 2</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48</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tc>
                  <a:txBody>
                    <a:bodyPr/>
                    <a:lstStyle/>
                    <a:p>
                      <a:pPr marL="0" lvl="0" indent="0" algn="r" rtl="0">
                        <a:lnSpc>
                          <a:spcPct val="115000"/>
                        </a:lnSpc>
                        <a:spcBef>
                          <a:spcPts val="0"/>
                        </a:spcBef>
                        <a:spcAft>
                          <a:spcPts val="0"/>
                        </a:spcAft>
                        <a:buNone/>
                      </a:pPr>
                      <a:r>
                        <a:rPr lang="en" sz="1000">
                          <a:solidFill>
                            <a:srgbClr val="374151"/>
                          </a:solidFill>
                          <a:latin typeface="Calibri"/>
                          <a:ea typeface="Calibri"/>
                          <a:cs typeface="Calibri"/>
                          <a:sym typeface="Calibri"/>
                        </a:rPr>
                        <a:t>~10K</a:t>
                      </a:r>
                      <a:endParaRPr sz="1000">
                        <a:solidFill>
                          <a:srgbClr val="374151"/>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2CC"/>
                    </a:solidFill>
                  </a:tcPr>
                </a:tc>
                <a:extLst>
                  <a:ext uri="{0D108BD9-81ED-4DB2-BD59-A6C34878D82A}">
                    <a16:rowId xmlns:a16="http://schemas.microsoft.com/office/drawing/2014/main" val="10012"/>
                  </a:ext>
                </a:extLst>
              </a:tr>
            </a:tbl>
          </a:graphicData>
        </a:graphic>
      </p:graphicFrame>
      <p:sp>
        <p:nvSpPr>
          <p:cNvPr id="95" name="Google Shape;95;p18"/>
          <p:cNvSpPr txBox="1"/>
          <p:nvPr/>
        </p:nvSpPr>
        <p:spPr>
          <a:xfrm>
            <a:off x="7345450" y="3615925"/>
            <a:ext cx="1257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Inference Performance</a:t>
            </a:r>
            <a:endParaRPr sz="1000">
              <a:solidFill>
                <a:schemeClr val="dk1"/>
              </a:solidFill>
              <a:latin typeface="Calibri"/>
              <a:ea typeface="Calibri"/>
              <a:cs typeface="Calibri"/>
              <a:sym typeface="Calibri"/>
            </a:endParaRPr>
          </a:p>
        </p:txBody>
      </p:sp>
      <p:sp>
        <p:nvSpPr>
          <p:cNvPr id="96" name="Google Shape;96;p18"/>
          <p:cNvSpPr txBox="1"/>
          <p:nvPr/>
        </p:nvSpPr>
        <p:spPr>
          <a:xfrm>
            <a:off x="117450" y="4143500"/>
            <a:ext cx="3106500" cy="81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Confusion about Nvidia 6000:</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Quadro 6000 (2010) - old, discontinued</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RTX A6000 (2020) - Ampere</a:t>
            </a:r>
            <a:endParaRPr sz="1300">
              <a:solidFill>
                <a:schemeClr val="dk1"/>
              </a:solidFill>
              <a:latin typeface="Calibri"/>
              <a:ea typeface="Calibri"/>
              <a:cs typeface="Calibri"/>
              <a:sym typeface="Calibri"/>
            </a:endParaRPr>
          </a:p>
          <a:p>
            <a:pPr marL="228600" lvl="0" indent="-196850" algn="l" rtl="0">
              <a:spcBef>
                <a:spcPts val="0"/>
              </a:spcBef>
              <a:spcAft>
                <a:spcPts val="0"/>
              </a:spcAft>
              <a:buClr>
                <a:schemeClr val="dk1"/>
              </a:buClr>
              <a:buSzPts val="1300"/>
              <a:buFont typeface="Calibri"/>
              <a:buChar char="●"/>
            </a:pPr>
            <a:r>
              <a:rPr lang="en" sz="1300">
                <a:solidFill>
                  <a:schemeClr val="dk1"/>
                </a:solidFill>
                <a:latin typeface="Calibri"/>
                <a:ea typeface="Calibri"/>
                <a:cs typeface="Calibri"/>
                <a:sym typeface="Calibri"/>
              </a:rPr>
              <a:t>RTX 6000 Ada (2023) - Ada Lovelace</a:t>
            </a:r>
            <a:endParaRPr sz="1300">
              <a:solidFill>
                <a:schemeClr val="dk1"/>
              </a:solidFill>
              <a:latin typeface="Calibri"/>
              <a:ea typeface="Calibri"/>
              <a:cs typeface="Calibri"/>
              <a:sym typeface="Calibri"/>
            </a:endParaRPr>
          </a:p>
        </p:txBody>
      </p:sp>
      <p:sp>
        <p:nvSpPr>
          <p:cNvPr id="97" name="Google Shape;97;p18"/>
          <p:cNvSpPr txBox="1"/>
          <p:nvPr/>
        </p:nvSpPr>
        <p:spPr>
          <a:xfrm>
            <a:off x="7206575" y="984150"/>
            <a:ext cx="11937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Training Performance</a:t>
            </a:r>
            <a:endParaRPr sz="1000">
              <a:solidFill>
                <a:schemeClr val="dk1"/>
              </a:solidFill>
              <a:latin typeface="Calibri"/>
              <a:ea typeface="Calibri"/>
              <a:cs typeface="Calibri"/>
              <a:sym typeface="Calibri"/>
            </a:endParaRPr>
          </a:p>
        </p:txBody>
      </p:sp>
      <p:pic>
        <p:nvPicPr>
          <p:cNvPr id="98" name="Google Shape;98;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159354" y="503825"/>
            <a:ext cx="964052" cy="1205975"/>
          </a:xfrm>
          <a:prstGeom prst="rect">
            <a:avLst/>
          </a:prstGeom>
          <a:noFill/>
          <a:ln w="9525" cap="flat" cmpd="sng">
            <a:solidFill>
              <a:srgbClr val="FF0000"/>
            </a:solidFill>
            <a:prstDash val="solid"/>
            <a:round/>
            <a:headEnd type="none" w="sm" len="sm"/>
            <a:tailEnd type="none" w="sm" len="sm"/>
          </a:ln>
        </p:spPr>
      </p:pic>
      <p:pic>
        <p:nvPicPr>
          <p:cNvPr id="99" name="Google Shape;99;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89221" y="1193695"/>
            <a:ext cx="929075" cy="974851"/>
          </a:xfrm>
          <a:prstGeom prst="rect">
            <a:avLst/>
          </a:prstGeom>
          <a:noFill/>
          <a:ln w="9525" cap="flat" cmpd="sng">
            <a:solidFill>
              <a:srgbClr val="FF0000"/>
            </a:solidFill>
            <a:prstDash val="solid"/>
            <a:round/>
            <a:headEnd type="none" w="sm" len="sm"/>
            <a:tailEnd type="none" w="sm" len="sm"/>
          </a:ln>
        </p:spPr>
      </p:pic>
      <p:pic>
        <p:nvPicPr>
          <p:cNvPr id="100" name="Google Shape;100;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159354" y="1761280"/>
            <a:ext cx="964050" cy="1011550"/>
          </a:xfrm>
          <a:prstGeom prst="rect">
            <a:avLst/>
          </a:prstGeom>
          <a:noFill/>
          <a:ln w="9525" cap="flat" cmpd="sng">
            <a:solidFill>
              <a:srgbClr val="FF0000"/>
            </a:solidFill>
            <a:prstDash val="solid"/>
            <a:round/>
            <a:headEnd type="none" w="sm" len="sm"/>
            <a:tailEnd type="none" w="sm" len="sm"/>
          </a:ln>
        </p:spPr>
      </p:pic>
      <p:pic>
        <p:nvPicPr>
          <p:cNvPr id="101" name="Google Shape;101;p1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189226" y="2208250"/>
            <a:ext cx="929075" cy="113081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19"/>
          <p:cNvSpPr/>
          <p:nvPr/>
        </p:nvSpPr>
        <p:spPr>
          <a:xfrm>
            <a:off x="112125" y="3286075"/>
            <a:ext cx="2535900" cy="1785600"/>
          </a:xfrm>
          <a:prstGeom prst="roundRect">
            <a:avLst>
              <a:gd name="adj" fmla="val 16667"/>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7" name="Google Shape;107;p19"/>
          <p:cNvSpPr txBox="1"/>
          <p:nvPr/>
        </p:nvSpPr>
        <p:spPr>
          <a:xfrm>
            <a:off x="72300" y="76200"/>
            <a:ext cx="4555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 Transformer, Mistral, Mixtral, ...</a:t>
            </a:r>
            <a:endParaRPr sz="2000" b="1">
              <a:latin typeface="Calibri"/>
              <a:ea typeface="Calibri"/>
              <a:cs typeface="Calibri"/>
              <a:sym typeface="Calibri"/>
            </a:endParaRPr>
          </a:p>
        </p:txBody>
      </p:sp>
      <p:sp>
        <p:nvSpPr>
          <p:cNvPr id="108" name="Google Shape;108;p19"/>
          <p:cNvSpPr txBox="1"/>
          <p:nvPr/>
        </p:nvSpPr>
        <p:spPr>
          <a:xfrm>
            <a:off x="72300" y="560950"/>
            <a:ext cx="4466400" cy="1785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LLM (Large Language Model) is typically a multi-layer model following the "decoder" part of the standard "transformer" architecture. It accepts a sequence of token vectors on the input - and </a:t>
            </a:r>
            <a:r>
              <a:rPr lang="en" sz="1300" b="1">
                <a:solidFill>
                  <a:srgbClr val="FF0000"/>
                </a:solidFill>
                <a:latin typeface="Calibri"/>
                <a:ea typeface="Calibri"/>
                <a:cs typeface="Calibri"/>
                <a:sym typeface="Calibri"/>
              </a:rPr>
              <a:t>generates the text token</a:t>
            </a:r>
            <a:r>
              <a:rPr lang="en" sz="1300">
                <a:solidFill>
                  <a:srgbClr val="0F0F0F"/>
                </a:solidFill>
                <a:latin typeface="Calibri"/>
                <a:ea typeface="Calibri"/>
                <a:cs typeface="Calibri"/>
                <a:sym typeface="Calibri"/>
              </a:rPr>
              <a:t>, which is added to the input - and the process continues.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Each layer consists of two parts: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Self-Attention and  Feed-Forward</a:t>
            </a:r>
            <a:endParaRPr sz="1300">
              <a:solidFill>
                <a:srgbClr val="0F0F0F"/>
              </a:solidFill>
              <a:latin typeface="Calibri"/>
              <a:ea typeface="Calibri"/>
              <a:cs typeface="Calibri"/>
              <a:sym typeface="Calibri"/>
            </a:endParaRPr>
          </a:p>
        </p:txBody>
      </p:sp>
      <p:pic>
        <p:nvPicPr>
          <p:cNvPr id="109" name="Google Shape;109;p19"/>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845278" y="591700"/>
            <a:ext cx="1543000" cy="2205851"/>
          </a:xfrm>
          <a:prstGeom prst="rect">
            <a:avLst/>
          </a:prstGeom>
          <a:noFill/>
          <a:ln>
            <a:noFill/>
          </a:ln>
        </p:spPr>
      </p:pic>
      <p:grpSp>
        <p:nvGrpSpPr>
          <p:cNvPr id="110" name="Google Shape;110;p19"/>
          <p:cNvGrpSpPr/>
          <p:nvPr/>
        </p:nvGrpSpPr>
        <p:grpSpPr>
          <a:xfrm>
            <a:off x="4045650" y="3330888"/>
            <a:ext cx="3033875" cy="907913"/>
            <a:chOff x="167475" y="3978263"/>
            <a:chExt cx="3033875" cy="907913"/>
          </a:xfrm>
        </p:grpSpPr>
        <p:sp>
          <p:nvSpPr>
            <p:cNvPr id="111" name="Google Shape;111;p19"/>
            <p:cNvSpPr txBox="1"/>
            <p:nvPr/>
          </p:nvSpPr>
          <p:spPr>
            <a:xfrm>
              <a:off x="1674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T1</a:t>
              </a:r>
              <a:endParaRPr sz="1300">
                <a:solidFill>
                  <a:srgbClr val="0F0F0F"/>
                </a:solidFill>
                <a:latin typeface="Calibri"/>
                <a:ea typeface="Calibri"/>
                <a:cs typeface="Calibri"/>
                <a:sym typeface="Calibri"/>
              </a:endParaRPr>
            </a:p>
          </p:txBody>
        </p:sp>
        <p:sp>
          <p:nvSpPr>
            <p:cNvPr id="112" name="Google Shape;112;p19"/>
            <p:cNvSpPr txBox="1"/>
            <p:nvPr/>
          </p:nvSpPr>
          <p:spPr>
            <a:xfrm>
              <a:off x="5233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T2</a:t>
              </a:r>
              <a:endParaRPr sz="1300">
                <a:solidFill>
                  <a:srgbClr val="0F0F0F"/>
                </a:solidFill>
                <a:latin typeface="Calibri"/>
                <a:ea typeface="Calibri"/>
                <a:cs typeface="Calibri"/>
                <a:sym typeface="Calibri"/>
              </a:endParaRPr>
            </a:p>
          </p:txBody>
        </p:sp>
        <p:sp>
          <p:nvSpPr>
            <p:cNvPr id="113" name="Google Shape;113;p19"/>
            <p:cNvSpPr txBox="1"/>
            <p:nvPr/>
          </p:nvSpPr>
          <p:spPr>
            <a:xfrm>
              <a:off x="1316550"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TN</a:t>
              </a:r>
              <a:endParaRPr sz="1300">
                <a:solidFill>
                  <a:srgbClr val="0F0F0F"/>
                </a:solidFill>
                <a:latin typeface="Calibri"/>
                <a:ea typeface="Calibri"/>
                <a:cs typeface="Calibri"/>
                <a:sym typeface="Calibri"/>
              </a:endParaRPr>
            </a:p>
          </p:txBody>
        </p:sp>
        <p:sp>
          <p:nvSpPr>
            <p:cNvPr id="114" name="Google Shape;114;p19"/>
            <p:cNvSpPr txBox="1"/>
            <p:nvPr/>
          </p:nvSpPr>
          <p:spPr>
            <a:xfrm>
              <a:off x="848950" y="434437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115" name="Google Shape;115;p19"/>
            <p:cNvGrpSpPr/>
            <p:nvPr/>
          </p:nvGrpSpPr>
          <p:grpSpPr>
            <a:xfrm>
              <a:off x="2332100" y="3978263"/>
              <a:ext cx="118500" cy="907913"/>
              <a:chOff x="2332100" y="3673463"/>
              <a:chExt cx="118500" cy="907913"/>
            </a:xfrm>
          </p:grpSpPr>
          <p:sp>
            <p:nvSpPr>
              <p:cNvPr id="116" name="Google Shape;116;p19"/>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7" name="Google Shape;117;p19"/>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8" name="Google Shape;118;p19"/>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19" name="Google Shape;119;p19"/>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0" name="Google Shape;120;p19"/>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1" name="Google Shape;121;p19"/>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2" name="Google Shape;122;p19"/>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3" name="Google Shape;123;p19"/>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124" name="Google Shape;124;p19"/>
            <p:cNvGrpSpPr/>
            <p:nvPr/>
          </p:nvGrpSpPr>
          <p:grpSpPr>
            <a:xfrm>
              <a:off x="2536450" y="3978263"/>
              <a:ext cx="118500" cy="907913"/>
              <a:chOff x="2332100" y="3673463"/>
              <a:chExt cx="118500" cy="907913"/>
            </a:xfrm>
          </p:grpSpPr>
          <p:sp>
            <p:nvSpPr>
              <p:cNvPr id="125" name="Google Shape;125;p19"/>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6" name="Google Shape;126;p19"/>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7" name="Google Shape;127;p19"/>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8" name="Google Shape;128;p19"/>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29" name="Google Shape;129;p19"/>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0" name="Google Shape;130;p19"/>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1" name="Google Shape;131;p19"/>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2" name="Google Shape;132;p19"/>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133" name="Google Shape;133;p19"/>
            <p:cNvSpPr txBox="1"/>
            <p:nvPr/>
          </p:nvSpPr>
          <p:spPr>
            <a:xfrm>
              <a:off x="2664600" y="448552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134" name="Google Shape;134;p19"/>
            <p:cNvGrpSpPr/>
            <p:nvPr/>
          </p:nvGrpSpPr>
          <p:grpSpPr>
            <a:xfrm>
              <a:off x="3082850" y="3978263"/>
              <a:ext cx="118500" cy="907913"/>
              <a:chOff x="2332100" y="3673463"/>
              <a:chExt cx="118500" cy="907913"/>
            </a:xfrm>
          </p:grpSpPr>
          <p:sp>
            <p:nvSpPr>
              <p:cNvPr id="135" name="Google Shape;135;p19"/>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6" name="Google Shape;136;p19"/>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7" name="Google Shape;137;p19"/>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8" name="Google Shape;138;p19"/>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39" name="Google Shape;139;p19"/>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40" name="Google Shape;140;p19"/>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41" name="Google Shape;141;p19"/>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42" name="Google Shape;142;p19"/>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143" name="Google Shape;143;p19"/>
            <p:cNvSpPr/>
            <p:nvPr/>
          </p:nvSpPr>
          <p:spPr>
            <a:xfrm>
              <a:off x="1796750" y="4333875"/>
              <a:ext cx="321300" cy="2370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144" name="Google Shape;144;p19"/>
          <p:cNvSpPr/>
          <p:nvPr/>
        </p:nvSpPr>
        <p:spPr>
          <a:xfrm>
            <a:off x="6530975" y="2898375"/>
            <a:ext cx="171600" cy="238800"/>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19"/>
          <p:cNvSpPr/>
          <p:nvPr/>
        </p:nvSpPr>
        <p:spPr>
          <a:xfrm>
            <a:off x="7634600" y="402600"/>
            <a:ext cx="783900" cy="33150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6" name="Google Shape;146;p19"/>
          <p:cNvSpPr txBox="1"/>
          <p:nvPr/>
        </p:nvSpPr>
        <p:spPr>
          <a:xfrm>
            <a:off x="8551950" y="1891025"/>
            <a:ext cx="5865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Next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a:t>
            </a:r>
            <a:endParaRPr sz="1300">
              <a:solidFill>
                <a:srgbClr val="0F0F0F"/>
              </a:solidFill>
              <a:latin typeface="Calibri"/>
              <a:ea typeface="Calibri"/>
              <a:cs typeface="Calibri"/>
              <a:sym typeface="Calibri"/>
            </a:endParaRPr>
          </a:p>
        </p:txBody>
      </p:sp>
      <p:pic>
        <p:nvPicPr>
          <p:cNvPr id="147" name="Google Shape;147;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457882" y="2423002"/>
            <a:ext cx="2141167" cy="907900"/>
          </a:xfrm>
          <a:prstGeom prst="rect">
            <a:avLst/>
          </a:prstGeom>
          <a:noFill/>
          <a:ln>
            <a:noFill/>
          </a:ln>
        </p:spPr>
      </p:pic>
      <p:pic>
        <p:nvPicPr>
          <p:cNvPr id="148" name="Google Shape;148;p1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rot="-5400000">
            <a:off x="709676" y="3535904"/>
            <a:ext cx="990102" cy="1243968"/>
          </a:xfrm>
          <a:prstGeom prst="rect">
            <a:avLst/>
          </a:prstGeom>
          <a:noFill/>
          <a:ln>
            <a:noFill/>
          </a:ln>
        </p:spPr>
      </p:pic>
      <p:sp>
        <p:nvSpPr>
          <p:cNvPr id="149" name="Google Shape;149;p19"/>
          <p:cNvSpPr txBox="1"/>
          <p:nvPr/>
        </p:nvSpPr>
        <p:spPr>
          <a:xfrm>
            <a:off x="1597775" y="4544925"/>
            <a:ext cx="783900" cy="2061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Input</a:t>
            </a:r>
            <a:endParaRPr sz="1100">
              <a:solidFill>
                <a:srgbClr val="0F0F0F"/>
              </a:solidFill>
              <a:latin typeface="Calibri"/>
              <a:ea typeface="Calibri"/>
              <a:cs typeface="Calibri"/>
              <a:sym typeface="Calibri"/>
            </a:endParaRPr>
          </a:p>
        </p:txBody>
      </p:sp>
      <p:sp>
        <p:nvSpPr>
          <p:cNvPr id="150" name="Google Shape;150;p19"/>
          <p:cNvSpPr txBox="1"/>
          <p:nvPr/>
        </p:nvSpPr>
        <p:spPr>
          <a:xfrm>
            <a:off x="1750172" y="3662825"/>
            <a:ext cx="631200" cy="2061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Output</a:t>
            </a:r>
            <a:endParaRPr sz="1100">
              <a:solidFill>
                <a:srgbClr val="0F0F0F"/>
              </a:solidFill>
              <a:latin typeface="Calibri"/>
              <a:ea typeface="Calibri"/>
              <a:cs typeface="Calibri"/>
              <a:sym typeface="Calibri"/>
            </a:endParaRPr>
          </a:p>
        </p:txBody>
      </p:sp>
      <p:sp>
        <p:nvSpPr>
          <p:cNvPr id="151" name="Google Shape;151;p19"/>
          <p:cNvSpPr txBox="1"/>
          <p:nvPr/>
        </p:nvSpPr>
        <p:spPr>
          <a:xfrm>
            <a:off x="573672" y="3342688"/>
            <a:ext cx="1460400" cy="2061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100">
                <a:solidFill>
                  <a:srgbClr val="0F0F0F"/>
                </a:solidFill>
                <a:latin typeface="Calibri"/>
                <a:ea typeface="Calibri"/>
                <a:cs typeface="Calibri"/>
                <a:sym typeface="Calibri"/>
              </a:rPr>
              <a:t>Feed Forward Layer</a:t>
            </a:r>
            <a:endParaRPr sz="1100">
              <a:solidFill>
                <a:srgbClr val="0F0F0F"/>
              </a:solidFill>
              <a:latin typeface="Calibri"/>
              <a:ea typeface="Calibri"/>
              <a:cs typeface="Calibri"/>
              <a:sym typeface="Calibri"/>
            </a:endParaRPr>
          </a:p>
        </p:txBody>
      </p:sp>
      <p:pic>
        <p:nvPicPr>
          <p:cNvPr id="152" name="Google Shape;152;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00925" y="4799919"/>
            <a:ext cx="2180450" cy="153756"/>
          </a:xfrm>
          <a:prstGeom prst="rect">
            <a:avLst/>
          </a:prstGeom>
          <a:noFill/>
          <a:ln>
            <a:noFill/>
          </a:ln>
        </p:spPr>
      </p:pic>
      <p:sp>
        <p:nvSpPr>
          <p:cNvPr id="153" name="Google Shape;153;p19"/>
          <p:cNvSpPr txBox="1"/>
          <p:nvPr/>
        </p:nvSpPr>
        <p:spPr>
          <a:xfrm>
            <a:off x="3047350" y="2923875"/>
            <a:ext cx="913200" cy="187800"/>
          </a:xfrm>
          <a:prstGeom prst="rect">
            <a:avLst/>
          </a:prstGeom>
          <a:solidFill>
            <a:schemeClr val="lt1"/>
          </a:solid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100">
                <a:solidFill>
                  <a:srgbClr val="0F0F0F"/>
                </a:solidFill>
                <a:latin typeface="Calibri"/>
                <a:ea typeface="Calibri"/>
                <a:cs typeface="Calibri"/>
                <a:sym typeface="Calibri"/>
              </a:rPr>
              <a:t>Self-attention</a:t>
            </a:r>
            <a:endParaRPr sz="1100">
              <a:solidFill>
                <a:srgbClr val="0F0F0F"/>
              </a:solidFill>
              <a:latin typeface="Calibri"/>
              <a:ea typeface="Calibri"/>
              <a:cs typeface="Calibri"/>
              <a:sym typeface="Calibri"/>
            </a:endParaRPr>
          </a:p>
        </p:txBody>
      </p:sp>
      <p:sp>
        <p:nvSpPr>
          <p:cNvPr id="154" name="Google Shape;154;p19"/>
          <p:cNvSpPr txBox="1"/>
          <p:nvPr/>
        </p:nvSpPr>
        <p:spPr>
          <a:xfrm>
            <a:off x="3047350" y="2544025"/>
            <a:ext cx="913200" cy="187800"/>
          </a:xfrm>
          <a:prstGeom prst="rect">
            <a:avLst/>
          </a:prstGeom>
          <a:solidFill>
            <a:schemeClr val="lt1"/>
          </a:solid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100">
                <a:solidFill>
                  <a:srgbClr val="0F0F0F"/>
                </a:solidFill>
                <a:latin typeface="Calibri"/>
                <a:ea typeface="Calibri"/>
                <a:cs typeface="Calibri"/>
                <a:sym typeface="Calibri"/>
              </a:rPr>
              <a:t>Feed-Forward</a:t>
            </a:r>
            <a:endParaRPr sz="1100">
              <a:solidFill>
                <a:srgbClr val="0F0F0F"/>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20"/>
          <p:cNvSpPr txBox="1"/>
          <p:nvPr/>
        </p:nvSpPr>
        <p:spPr>
          <a:xfrm>
            <a:off x="72300" y="76200"/>
            <a:ext cx="4555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History - Transformer &amp; Attention</a:t>
            </a:r>
            <a:endParaRPr sz="2000" b="1">
              <a:latin typeface="Calibri"/>
              <a:ea typeface="Calibri"/>
              <a:cs typeface="Calibri"/>
              <a:sym typeface="Calibri"/>
            </a:endParaRPr>
          </a:p>
        </p:txBody>
      </p:sp>
      <p:sp>
        <p:nvSpPr>
          <p:cNvPr id="160" name="Google Shape;160;p20"/>
          <p:cNvSpPr txBox="1"/>
          <p:nvPr/>
        </p:nvSpPr>
        <p:spPr>
          <a:xfrm>
            <a:off x="72300" y="408550"/>
            <a:ext cx="44664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2016-2017 - Google, Transformer Architecture</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"Attention is All You Need" - </a:t>
            </a:r>
            <a:r>
              <a:rPr lang="en" sz="1300" u="sng">
                <a:solidFill>
                  <a:schemeClr val="hlink"/>
                </a:solidFill>
                <a:latin typeface="Calibri"/>
                <a:ea typeface="Calibri"/>
                <a:cs typeface="Calibri"/>
                <a:sym typeface="Calibri"/>
                <a:hlinkClick r:id="rId3"/>
              </a:rPr>
              <a:t>https://arxiv.org/abs/1706.03762</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pic>
        <p:nvPicPr>
          <p:cNvPr id="161" name="Google Shape;161;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2300" y="1232375"/>
            <a:ext cx="2034626" cy="2927275"/>
          </a:xfrm>
          <a:prstGeom prst="rect">
            <a:avLst/>
          </a:prstGeom>
          <a:noFill/>
          <a:ln w="9525" cap="flat" cmpd="sng">
            <a:solidFill>
              <a:srgbClr val="FF0000"/>
            </a:solidFill>
            <a:prstDash val="solid"/>
            <a:round/>
            <a:headEnd type="none" w="sm" len="sm"/>
            <a:tailEnd type="none" w="sm" len="sm"/>
          </a:ln>
        </p:spPr>
      </p:pic>
      <p:pic>
        <p:nvPicPr>
          <p:cNvPr id="162" name="Google Shape;162;p2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821325" y="152400"/>
            <a:ext cx="3135900" cy="4740103"/>
          </a:xfrm>
          <a:prstGeom prst="rect">
            <a:avLst/>
          </a:prstGeom>
          <a:noFill/>
          <a:ln w="9525" cap="flat" cmpd="sng">
            <a:solidFill>
              <a:srgbClr val="FF0000"/>
            </a:solidFill>
            <a:prstDash val="solid"/>
            <a:round/>
            <a:headEnd type="none" w="sm" len="sm"/>
            <a:tailEnd type="none" w="sm" len="sm"/>
          </a:ln>
        </p:spPr>
      </p:pic>
      <p:pic>
        <p:nvPicPr>
          <p:cNvPr id="163" name="Google Shape;163;p20"/>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2558200" y="2918113"/>
            <a:ext cx="2689776" cy="1751226"/>
          </a:xfrm>
          <a:prstGeom prst="rect">
            <a:avLst/>
          </a:prstGeom>
          <a:noFill/>
          <a:ln w="9525" cap="flat" cmpd="sng">
            <a:solidFill>
              <a:srgbClr val="FF0000"/>
            </a:solidFill>
            <a:prstDash val="solid"/>
            <a:round/>
            <a:headEnd type="none" w="sm" len="sm"/>
            <a:tailEnd type="none" w="sm" len="sm"/>
          </a:ln>
        </p:spPr>
      </p:pic>
      <p:sp>
        <p:nvSpPr>
          <p:cNvPr id="164" name="Google Shape;164;p20"/>
          <p:cNvSpPr txBox="1"/>
          <p:nvPr/>
        </p:nvSpPr>
        <p:spPr>
          <a:xfrm>
            <a:off x="2474650" y="4679088"/>
            <a:ext cx="28689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7"/>
              </a:rPr>
              <a:t>https://jalammar.github.io/illustrated-transformer/</a:t>
            </a:r>
            <a:r>
              <a:rPr lang="en" sz="1000">
                <a:latin typeface="Calibri"/>
                <a:ea typeface="Calibri"/>
                <a:cs typeface="Calibri"/>
                <a:sym typeface="Calibri"/>
              </a:rPr>
              <a:t> </a:t>
            </a:r>
            <a:endParaRPr sz="1000">
              <a:latin typeface="Calibri"/>
              <a:ea typeface="Calibri"/>
              <a:cs typeface="Calibri"/>
              <a:sym typeface="Calibri"/>
            </a:endParaRPr>
          </a:p>
        </p:txBody>
      </p:sp>
      <p:sp>
        <p:nvSpPr>
          <p:cNvPr id="165" name="Google Shape;165;p20"/>
          <p:cNvSpPr txBox="1"/>
          <p:nvPr/>
        </p:nvSpPr>
        <p:spPr>
          <a:xfrm>
            <a:off x="2170475" y="1232375"/>
            <a:ext cx="3441600" cy="153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0" lvl="0" indent="0" algn="l" rtl="0">
              <a:spcBef>
                <a:spcPts val="0"/>
              </a:spcBef>
              <a:spcAft>
                <a:spcPts val="0"/>
              </a:spcAft>
              <a:buNone/>
            </a:pPr>
            <a:r>
              <a:rPr lang="en" sz="1200">
                <a:latin typeface="Calibri"/>
                <a:ea typeface="Calibri"/>
                <a:cs typeface="Calibri"/>
                <a:sym typeface="Calibri"/>
              </a:rPr>
              <a:t>The dominant </a:t>
            </a:r>
            <a:r>
              <a:rPr lang="en" sz="1200" b="1">
                <a:solidFill>
                  <a:srgbClr val="6AA84F"/>
                </a:solidFill>
                <a:latin typeface="Calibri"/>
                <a:ea typeface="Calibri"/>
                <a:cs typeface="Calibri"/>
                <a:sym typeface="Calibri"/>
              </a:rPr>
              <a:t>sequence transduction models</a:t>
            </a:r>
            <a:r>
              <a:rPr lang="en" sz="1200">
                <a:latin typeface="Calibri"/>
                <a:ea typeface="Calibri"/>
                <a:cs typeface="Calibri"/>
                <a:sym typeface="Calibri"/>
              </a:rPr>
              <a:t> are based on complex </a:t>
            </a:r>
            <a:r>
              <a:rPr lang="en" sz="1200" b="1">
                <a:solidFill>
                  <a:srgbClr val="6AA84F"/>
                </a:solidFill>
                <a:latin typeface="Calibri"/>
                <a:ea typeface="Calibri"/>
                <a:cs typeface="Calibri"/>
                <a:sym typeface="Calibri"/>
              </a:rPr>
              <a:t>recurrent or convolutional</a:t>
            </a:r>
            <a:r>
              <a:rPr lang="en" sz="1200">
                <a:latin typeface="Calibri"/>
                <a:ea typeface="Calibri"/>
                <a:cs typeface="Calibri"/>
                <a:sym typeface="Calibri"/>
              </a:rPr>
              <a:t> neural networks that include </a:t>
            </a:r>
            <a:r>
              <a:rPr lang="en" sz="1200" b="1">
                <a:solidFill>
                  <a:srgbClr val="FF0000"/>
                </a:solidFill>
                <a:latin typeface="Calibri"/>
                <a:ea typeface="Calibri"/>
                <a:cs typeface="Calibri"/>
                <a:sym typeface="Calibri"/>
              </a:rPr>
              <a:t>an encoder and a decoder</a:t>
            </a:r>
            <a:r>
              <a:rPr lang="en" sz="1200">
                <a:latin typeface="Calibri"/>
                <a:ea typeface="Calibri"/>
                <a:cs typeface="Calibri"/>
                <a:sym typeface="Calibri"/>
              </a:rPr>
              <a:t>. The best performing models also connect the encoder and decoder through an </a:t>
            </a:r>
            <a:r>
              <a:rPr lang="en" sz="1200" b="1">
                <a:solidFill>
                  <a:srgbClr val="FF0000"/>
                </a:solidFill>
                <a:latin typeface="Calibri"/>
                <a:ea typeface="Calibri"/>
                <a:cs typeface="Calibri"/>
                <a:sym typeface="Calibri"/>
              </a:rPr>
              <a:t>attention mechanism</a:t>
            </a:r>
            <a:r>
              <a:rPr lang="en" sz="1200">
                <a:latin typeface="Calibri"/>
                <a:ea typeface="Calibri"/>
                <a:cs typeface="Calibri"/>
                <a:sym typeface="Calibri"/>
              </a:rPr>
              <a:t>. </a:t>
            </a:r>
            <a:endParaRPr sz="1200">
              <a:latin typeface="Calibri"/>
              <a:ea typeface="Calibri"/>
              <a:cs typeface="Calibri"/>
              <a:sym typeface="Calibri"/>
            </a:endParaRPr>
          </a:p>
          <a:p>
            <a:pPr marL="0" lvl="0" indent="0" algn="l" rtl="0">
              <a:spcBef>
                <a:spcPts val="0"/>
              </a:spcBef>
              <a:spcAft>
                <a:spcPts val="0"/>
              </a:spcAft>
              <a:buNone/>
            </a:pPr>
            <a:r>
              <a:rPr lang="en" sz="1200">
                <a:latin typeface="Calibri"/>
                <a:ea typeface="Calibri"/>
                <a:cs typeface="Calibri"/>
                <a:sym typeface="Calibri"/>
              </a:rPr>
              <a:t>We propose a new simple network architecture, the </a:t>
            </a:r>
            <a:r>
              <a:rPr lang="en" sz="1200" b="1">
                <a:solidFill>
                  <a:srgbClr val="FF0000"/>
                </a:solidFill>
                <a:latin typeface="Calibri"/>
                <a:ea typeface="Calibri"/>
                <a:cs typeface="Calibri"/>
                <a:sym typeface="Calibri"/>
              </a:rPr>
              <a:t>Transformer</a:t>
            </a:r>
            <a:r>
              <a:rPr lang="en" sz="1200">
                <a:latin typeface="Calibri"/>
                <a:ea typeface="Calibri"/>
                <a:cs typeface="Calibri"/>
                <a:sym typeface="Calibri"/>
              </a:rPr>
              <a:t>, </a:t>
            </a:r>
            <a:r>
              <a:rPr lang="en" sz="1200">
                <a:solidFill>
                  <a:srgbClr val="6AA84F"/>
                </a:solidFill>
                <a:latin typeface="Calibri"/>
                <a:ea typeface="Calibri"/>
                <a:cs typeface="Calibri"/>
                <a:sym typeface="Calibri"/>
              </a:rPr>
              <a:t>based solely on attention mechanisms, dispensing with recurrence and convolutions entirely</a:t>
            </a:r>
            <a:r>
              <a:rPr lang="en" sz="1200">
                <a:latin typeface="Calibri"/>
                <a:ea typeface="Calibri"/>
                <a:cs typeface="Calibri"/>
                <a:sym typeface="Calibri"/>
              </a:rPr>
              <a:t>.</a:t>
            </a:r>
            <a:endParaRPr sz="1200">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1"/>
          <p:cNvSpPr txBox="1"/>
          <p:nvPr/>
        </p:nvSpPr>
        <p:spPr>
          <a:xfrm>
            <a:off x="72300" y="0"/>
            <a:ext cx="66054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Translation Models Work (Google Translate)</a:t>
            </a:r>
            <a:endParaRPr sz="2000" b="1">
              <a:latin typeface="Calibri"/>
              <a:ea typeface="Calibri"/>
              <a:cs typeface="Calibri"/>
              <a:sym typeface="Calibri"/>
            </a:endParaRPr>
          </a:p>
        </p:txBody>
      </p:sp>
      <p:sp>
        <p:nvSpPr>
          <p:cNvPr id="171" name="Google Shape;171;p21"/>
          <p:cNvSpPr txBox="1"/>
          <p:nvPr/>
        </p:nvSpPr>
        <p:spPr>
          <a:xfrm>
            <a:off x="142900" y="405600"/>
            <a:ext cx="3068100" cy="1145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Some </a:t>
            </a:r>
            <a:r>
              <a:rPr lang="en" sz="1200" b="1">
                <a:solidFill>
                  <a:srgbClr val="FF0000"/>
                </a:solidFill>
                <a:latin typeface="Calibri"/>
                <a:ea typeface="Calibri"/>
                <a:cs typeface="Calibri"/>
                <a:sym typeface="Calibri"/>
              </a:rPr>
              <a:t>Multi-Lingual LLMs</a:t>
            </a:r>
            <a:r>
              <a:rPr lang="en" sz="1200">
                <a:solidFill>
                  <a:srgbClr val="0F0F0F"/>
                </a:solidFill>
                <a:latin typeface="Calibri"/>
                <a:ea typeface="Calibri"/>
                <a:cs typeface="Calibri"/>
                <a:sym typeface="Calibri"/>
              </a:rPr>
              <a:t> can translate between multiple languages. But specialized translation models historically were designed differently. </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In 2016 the </a:t>
            </a:r>
            <a:r>
              <a:rPr lang="en" sz="1200" b="1">
                <a:solidFill>
                  <a:srgbClr val="FF0000"/>
                </a:solidFill>
                <a:latin typeface="Calibri"/>
                <a:ea typeface="Calibri"/>
                <a:cs typeface="Calibri"/>
                <a:sym typeface="Calibri"/>
              </a:rPr>
              <a:t>NMT (Neural Machine Translation)</a:t>
            </a:r>
            <a:r>
              <a:rPr lang="en" sz="1200">
                <a:solidFill>
                  <a:srgbClr val="0F0F0F"/>
                </a:solidFill>
                <a:latin typeface="Calibri"/>
                <a:ea typeface="Calibri"/>
                <a:cs typeface="Calibri"/>
                <a:sym typeface="Calibri"/>
              </a:rPr>
              <a:t> was switched to use RNN Encoder and Decoder (LSTMs) with an attention block between them.</a:t>
            </a:r>
            <a:endParaRPr sz="1200">
              <a:solidFill>
                <a:srgbClr val="0F0F0F"/>
              </a:solidFill>
              <a:latin typeface="Calibri"/>
              <a:ea typeface="Calibri"/>
              <a:cs typeface="Calibri"/>
              <a:sym typeface="Calibri"/>
            </a:endParaRPr>
          </a:p>
        </p:txBody>
      </p:sp>
      <p:sp>
        <p:nvSpPr>
          <p:cNvPr id="172" name="Google Shape;172;p21"/>
          <p:cNvSpPr txBox="1"/>
          <p:nvPr/>
        </p:nvSpPr>
        <p:spPr>
          <a:xfrm>
            <a:off x="5797225" y="3014725"/>
            <a:ext cx="3254100" cy="188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Modern NMT systems are designed to be </a:t>
            </a:r>
            <a:r>
              <a:rPr lang="en" sz="1200" b="1">
                <a:solidFill>
                  <a:srgbClr val="FF0000"/>
                </a:solidFill>
                <a:latin typeface="Calibri"/>
                <a:ea typeface="Calibri"/>
                <a:cs typeface="Calibri"/>
                <a:sym typeface="Calibri"/>
              </a:rPr>
              <a:t>context-aware</a:t>
            </a:r>
            <a:r>
              <a:rPr lang="en" sz="1200">
                <a:solidFill>
                  <a:srgbClr val="0F0F0F"/>
                </a:solidFill>
                <a:latin typeface="Calibri"/>
                <a:ea typeface="Calibri"/>
                <a:cs typeface="Calibri"/>
                <a:sym typeface="Calibri"/>
              </a:rPr>
              <a:t>. They don't just translate words in isolation; they also </a:t>
            </a:r>
            <a:r>
              <a:rPr lang="en" sz="1200" b="1">
                <a:solidFill>
                  <a:srgbClr val="6AA84F"/>
                </a:solidFill>
                <a:latin typeface="Calibri"/>
                <a:ea typeface="Calibri"/>
                <a:cs typeface="Calibri"/>
                <a:sym typeface="Calibri"/>
              </a:rPr>
              <a:t>consider the surrounding words and sentences</a:t>
            </a:r>
            <a:r>
              <a:rPr lang="en" sz="1200">
                <a:solidFill>
                  <a:srgbClr val="0F0F0F"/>
                </a:solidFill>
                <a:latin typeface="Calibri"/>
                <a:ea typeface="Calibri"/>
                <a:cs typeface="Calibri"/>
                <a:sym typeface="Calibri"/>
              </a:rPr>
              <a:t>.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They use attention mechanism to focus on different parts of the input sentence as it translates.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Some advanced translation models may use </a:t>
            </a:r>
            <a:r>
              <a:rPr lang="en" sz="1200" b="1">
                <a:solidFill>
                  <a:srgbClr val="6AA84F"/>
                </a:solidFill>
                <a:latin typeface="Calibri"/>
                <a:ea typeface="Calibri"/>
                <a:cs typeface="Calibri"/>
                <a:sym typeface="Calibri"/>
              </a:rPr>
              <a:t>iterative refinement</a:t>
            </a:r>
            <a:r>
              <a:rPr lang="en" sz="1200">
                <a:solidFill>
                  <a:srgbClr val="0F0F0F"/>
                </a:solidFill>
                <a:latin typeface="Calibri"/>
                <a:ea typeface="Calibri"/>
                <a:cs typeface="Calibri"/>
                <a:sym typeface="Calibri"/>
              </a:rPr>
              <a:t> techniques.</a:t>
            </a:r>
            <a:endParaRPr sz="1200">
              <a:solidFill>
                <a:srgbClr val="0F0F0F"/>
              </a:solidFill>
              <a:latin typeface="Calibri"/>
              <a:ea typeface="Calibri"/>
              <a:cs typeface="Calibri"/>
              <a:sym typeface="Calibri"/>
            </a:endParaRPr>
          </a:p>
        </p:txBody>
      </p:sp>
      <p:pic>
        <p:nvPicPr>
          <p:cNvPr id="173" name="Google Shape;173;p2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380910" y="547987"/>
            <a:ext cx="2184602" cy="1354699"/>
          </a:xfrm>
          <a:prstGeom prst="rect">
            <a:avLst/>
          </a:prstGeom>
          <a:noFill/>
          <a:ln w="9525" cap="flat" cmpd="sng">
            <a:solidFill>
              <a:srgbClr val="FF0000"/>
            </a:solidFill>
            <a:prstDash val="solid"/>
            <a:round/>
            <a:headEnd type="none" w="sm" len="sm"/>
            <a:tailEnd type="none" w="sm" len="sm"/>
          </a:ln>
        </p:spPr>
      </p:pic>
      <p:sp>
        <p:nvSpPr>
          <p:cNvPr id="174" name="Google Shape;174;p21"/>
          <p:cNvSpPr txBox="1"/>
          <p:nvPr/>
        </p:nvSpPr>
        <p:spPr>
          <a:xfrm>
            <a:off x="142900" y="2792150"/>
            <a:ext cx="3068100" cy="2253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Input tokens are encoded into intermediate representation, then decoded into another language.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Each new token is generated based on the already translated sequence (previous tokens in the target language) and the input sentence's encoded representation.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The newly generated token is then added to the sequence of translated tokens and used in generating subsequent tokens.</a:t>
            </a:r>
            <a:endParaRPr sz="1200">
              <a:solidFill>
                <a:srgbClr val="0F0F0F"/>
              </a:solidFill>
              <a:latin typeface="Calibri"/>
              <a:ea typeface="Calibri"/>
              <a:cs typeface="Calibri"/>
              <a:sym typeface="Calibri"/>
            </a:endParaRPr>
          </a:p>
        </p:txBody>
      </p:sp>
      <p:sp>
        <p:nvSpPr>
          <p:cNvPr id="175" name="Google Shape;175;p21"/>
          <p:cNvSpPr txBox="1"/>
          <p:nvPr/>
        </p:nvSpPr>
        <p:spPr>
          <a:xfrm>
            <a:off x="5782825" y="104700"/>
            <a:ext cx="3282900" cy="59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latin typeface="Calibri"/>
                <a:ea typeface="Calibri"/>
                <a:cs typeface="Calibri"/>
                <a:sym typeface="Calibri"/>
              </a:rPr>
              <a:t>"How Google Translate works - Architecture explained" - by La Vivien</a:t>
            </a:r>
            <a:endParaRPr sz="1200">
              <a:latin typeface="Calibri"/>
              <a:ea typeface="Calibri"/>
              <a:cs typeface="Calibri"/>
              <a:sym typeface="Calibri"/>
            </a:endParaRPr>
          </a:p>
          <a:p>
            <a:pPr marL="0" lvl="0" indent="0" algn="l" rtl="0">
              <a:spcBef>
                <a:spcPts val="0"/>
              </a:spcBef>
              <a:spcAft>
                <a:spcPts val="0"/>
              </a:spcAft>
              <a:buNone/>
            </a:pPr>
            <a:r>
              <a:rPr lang="en" sz="1200">
                <a:latin typeface="Calibri"/>
                <a:ea typeface="Calibri"/>
                <a:cs typeface="Calibri"/>
                <a:sym typeface="Calibri"/>
              </a:rPr>
              <a:t> - </a:t>
            </a:r>
            <a:r>
              <a:rPr lang="en" sz="900" u="sng">
                <a:solidFill>
                  <a:schemeClr val="hlink"/>
                </a:solidFill>
                <a:latin typeface="Calibri"/>
                <a:ea typeface="Calibri"/>
                <a:cs typeface="Calibri"/>
                <a:sym typeface="Calibri"/>
                <a:hlinkClick r:id="rId4"/>
              </a:rPr>
              <a:t>https://www.youtube.com/watch?v=z3XKMnu2pgg</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176" name="Google Shape;176;p21"/>
          <p:cNvSpPr txBox="1"/>
          <p:nvPr/>
        </p:nvSpPr>
        <p:spPr>
          <a:xfrm>
            <a:off x="142900" y="2082575"/>
            <a:ext cx="3068100" cy="59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In 2017 this architecture was substituted by a Transformer with multiheaded attention  (</a:t>
            </a:r>
            <a:r>
              <a:rPr lang="en" sz="1200" b="1">
                <a:solidFill>
                  <a:srgbClr val="FF0000"/>
                </a:solidFill>
                <a:latin typeface="Calibri"/>
                <a:ea typeface="Calibri"/>
                <a:cs typeface="Calibri"/>
                <a:sym typeface="Calibri"/>
              </a:rPr>
              <a:t>"Attention is All You Need", 2017</a:t>
            </a:r>
            <a:r>
              <a:rPr lang="en" sz="1200">
                <a:solidFill>
                  <a:srgbClr val="0F0F0F"/>
                </a:solidFill>
                <a:latin typeface="Calibri"/>
                <a:ea typeface="Calibri"/>
                <a:cs typeface="Calibri"/>
                <a:sym typeface="Calibri"/>
              </a:rPr>
              <a:t>)</a:t>
            </a:r>
            <a:endParaRPr sz="1200">
              <a:solidFill>
                <a:srgbClr val="0F0F0F"/>
              </a:solidFill>
              <a:latin typeface="Calibri"/>
              <a:ea typeface="Calibri"/>
              <a:cs typeface="Calibri"/>
              <a:sym typeface="Calibri"/>
            </a:endParaRPr>
          </a:p>
        </p:txBody>
      </p:sp>
      <p:pic>
        <p:nvPicPr>
          <p:cNvPr id="177" name="Google Shape;177;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358640" y="2448787"/>
            <a:ext cx="2184601" cy="1990671"/>
          </a:xfrm>
          <a:prstGeom prst="rect">
            <a:avLst/>
          </a:prstGeom>
          <a:noFill/>
          <a:ln w="9525" cap="flat" cmpd="sng">
            <a:solidFill>
              <a:srgbClr val="FF0000"/>
            </a:solidFill>
            <a:prstDash val="solid"/>
            <a:round/>
            <a:headEnd type="none" w="sm" len="sm"/>
            <a:tailEnd type="none" w="sm" len="sm"/>
          </a:ln>
        </p:spPr>
      </p:pic>
      <p:sp>
        <p:nvSpPr>
          <p:cNvPr id="178" name="Google Shape;178;p21"/>
          <p:cNvSpPr txBox="1"/>
          <p:nvPr/>
        </p:nvSpPr>
        <p:spPr>
          <a:xfrm>
            <a:off x="5782825" y="1679150"/>
            <a:ext cx="3282900" cy="960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In 2020 a hybrid approach was adopted (Transformer + LSTMs). </a:t>
            </a:r>
            <a:endParaRPr sz="1200">
              <a:solidFill>
                <a:srgbClr val="0F0F0F"/>
              </a:solidFill>
              <a:latin typeface="Calibri"/>
              <a:ea typeface="Calibri"/>
              <a:cs typeface="Calibri"/>
              <a:sym typeface="Calibri"/>
            </a:endParaRPr>
          </a:p>
          <a:p>
            <a:pPr marL="0" lvl="0" indent="0" algn="l" rtl="0">
              <a:spcBef>
                <a:spcPts val="0"/>
              </a:spcBef>
              <a:spcAft>
                <a:spcPts val="0"/>
              </a:spcAft>
              <a:buNone/>
            </a:pP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b="1">
                <a:solidFill>
                  <a:srgbClr val="FF0000"/>
                </a:solidFill>
                <a:latin typeface="Calibri"/>
                <a:ea typeface="Calibri"/>
                <a:cs typeface="Calibri"/>
                <a:sym typeface="Calibri"/>
              </a:rPr>
              <a:t>Nowadays (2024) most translators are purely Transformer based (no RNNs)</a:t>
            </a:r>
            <a:endParaRPr sz="1200" b="1">
              <a:solidFill>
                <a:srgbClr val="FF0000"/>
              </a:solidFill>
              <a:latin typeface="Calibri"/>
              <a:ea typeface="Calibri"/>
              <a:cs typeface="Calibri"/>
              <a:sym typeface="Calibri"/>
            </a:endParaRPr>
          </a:p>
        </p:txBody>
      </p:sp>
      <p:sp>
        <p:nvSpPr>
          <p:cNvPr id="2" name="Google Shape;145;p19">
            <a:extLst>
              <a:ext uri="{FF2B5EF4-FFF2-40B4-BE49-F238E27FC236}">
                <a16:creationId xmlns:a16="http://schemas.microsoft.com/office/drawing/2014/main" id="{A32EC420-96F4-20E7-D0EA-7FEC8F68D758}"/>
              </a:ext>
            </a:extLst>
          </p:cNvPr>
          <p:cNvSpPr/>
          <p:nvPr/>
        </p:nvSpPr>
        <p:spPr>
          <a:xfrm>
            <a:off x="5405275" y="2800350"/>
            <a:ext cx="285606" cy="1569848"/>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2"/>
          <p:cNvSpPr txBox="1"/>
          <p:nvPr/>
        </p:nvSpPr>
        <p:spPr>
          <a:xfrm>
            <a:off x="72300" y="0"/>
            <a:ext cx="1591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Mixtral Layers</a:t>
            </a:r>
            <a:endParaRPr sz="2000" b="1">
              <a:latin typeface="Calibri"/>
              <a:ea typeface="Calibri"/>
              <a:cs typeface="Calibri"/>
              <a:sym typeface="Calibri"/>
            </a:endParaRPr>
          </a:p>
        </p:txBody>
      </p:sp>
      <p:pic>
        <p:nvPicPr>
          <p:cNvPr id="184" name="Google Shape;184;p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327000" y="377054"/>
            <a:ext cx="3558699" cy="4689075"/>
          </a:xfrm>
          <a:prstGeom prst="rect">
            <a:avLst/>
          </a:prstGeom>
          <a:noFill/>
          <a:ln w="9525" cap="flat" cmpd="sng">
            <a:solidFill>
              <a:srgbClr val="FF0000"/>
            </a:solidFill>
            <a:prstDash val="solid"/>
            <a:round/>
            <a:headEnd type="none" w="sm" len="sm"/>
            <a:tailEnd type="none" w="sm" len="sm"/>
          </a:ln>
        </p:spPr>
      </p:pic>
      <p:sp>
        <p:nvSpPr>
          <p:cNvPr id="185" name="Google Shape;185;p22"/>
          <p:cNvSpPr txBox="1"/>
          <p:nvPr/>
        </p:nvSpPr>
        <p:spPr>
          <a:xfrm>
            <a:off x="3876050" y="105379"/>
            <a:ext cx="4674900" cy="1878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100" u="sng">
                <a:solidFill>
                  <a:schemeClr val="hlink"/>
                </a:solidFill>
                <a:latin typeface="Calibri"/>
                <a:ea typeface="Calibri"/>
                <a:cs typeface="Calibri"/>
                <a:sym typeface="Calibri"/>
                <a:hlinkClick r:id="rId4"/>
              </a:rPr>
              <a:t>https://www.unite.ai/mistral-ais-latest-mixture-of-experts-moe-8x7b-model/</a:t>
            </a:r>
            <a:r>
              <a:rPr lang="en" sz="1100">
                <a:latin typeface="Calibri"/>
                <a:ea typeface="Calibri"/>
                <a:cs typeface="Calibri"/>
                <a:sym typeface="Calibri"/>
              </a:rPr>
              <a:t> </a:t>
            </a:r>
            <a:endParaRPr sz="1100">
              <a:latin typeface="Calibri"/>
              <a:ea typeface="Calibri"/>
              <a:cs typeface="Calibri"/>
              <a:sym typeface="Calibri"/>
            </a:endParaRPr>
          </a:p>
        </p:txBody>
      </p:sp>
      <p:sp>
        <p:nvSpPr>
          <p:cNvPr id="186" name="Google Shape;186;p22"/>
          <p:cNvSpPr/>
          <p:nvPr/>
        </p:nvSpPr>
        <p:spPr>
          <a:xfrm>
            <a:off x="1691000" y="482425"/>
            <a:ext cx="783900" cy="4290000"/>
          </a:xfrm>
          <a:prstGeom prst="curvedLeftArrow">
            <a:avLst>
              <a:gd name="adj1" fmla="val 25000"/>
              <a:gd name="adj2" fmla="val 50000"/>
              <a:gd name="adj3" fmla="val 25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87" name="Google Shape;187;p22"/>
          <p:cNvSpPr txBox="1"/>
          <p:nvPr/>
        </p:nvSpPr>
        <p:spPr>
          <a:xfrm>
            <a:off x="2524300" y="2004638"/>
            <a:ext cx="586500" cy="418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Next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a:t>
            </a:r>
            <a:endParaRPr sz="1300">
              <a:solidFill>
                <a:srgbClr val="0F0F0F"/>
              </a:solidFill>
              <a:latin typeface="Calibri"/>
              <a:ea typeface="Calibri"/>
              <a:cs typeface="Calibri"/>
              <a:sym typeface="Calibri"/>
            </a:endParaRPr>
          </a:p>
        </p:txBody>
      </p:sp>
      <p:grpSp>
        <p:nvGrpSpPr>
          <p:cNvPr id="188" name="Google Shape;188;p22"/>
          <p:cNvGrpSpPr/>
          <p:nvPr/>
        </p:nvGrpSpPr>
        <p:grpSpPr>
          <a:xfrm>
            <a:off x="509625" y="4106238"/>
            <a:ext cx="869250" cy="907913"/>
            <a:chOff x="433425" y="3115638"/>
            <a:chExt cx="869250" cy="907913"/>
          </a:xfrm>
        </p:grpSpPr>
        <p:grpSp>
          <p:nvGrpSpPr>
            <p:cNvPr id="189" name="Google Shape;189;p22"/>
            <p:cNvGrpSpPr/>
            <p:nvPr/>
          </p:nvGrpSpPr>
          <p:grpSpPr>
            <a:xfrm>
              <a:off x="433425" y="3115638"/>
              <a:ext cx="118500" cy="907913"/>
              <a:chOff x="2332100" y="3673463"/>
              <a:chExt cx="118500" cy="907913"/>
            </a:xfrm>
          </p:grpSpPr>
          <p:sp>
            <p:nvSpPr>
              <p:cNvPr id="190" name="Google Shape;190;p22"/>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1" name="Google Shape;191;p22"/>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2" name="Google Shape;192;p22"/>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3" name="Google Shape;193;p22"/>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4" name="Google Shape;194;p22"/>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5" name="Google Shape;195;p22"/>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6" name="Google Shape;196;p22"/>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197" name="Google Shape;197;p22"/>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198" name="Google Shape;198;p22"/>
            <p:cNvGrpSpPr/>
            <p:nvPr/>
          </p:nvGrpSpPr>
          <p:grpSpPr>
            <a:xfrm>
              <a:off x="637775" y="3115638"/>
              <a:ext cx="118500" cy="907913"/>
              <a:chOff x="2332100" y="3673463"/>
              <a:chExt cx="118500" cy="907913"/>
            </a:xfrm>
          </p:grpSpPr>
          <p:sp>
            <p:nvSpPr>
              <p:cNvPr id="199" name="Google Shape;199;p22"/>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0" name="Google Shape;200;p22"/>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1" name="Google Shape;201;p22"/>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2" name="Google Shape;202;p22"/>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3" name="Google Shape;203;p22"/>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4" name="Google Shape;204;p22"/>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5" name="Google Shape;205;p22"/>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06" name="Google Shape;206;p22"/>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207" name="Google Shape;207;p22"/>
            <p:cNvSpPr txBox="1"/>
            <p:nvPr/>
          </p:nvSpPr>
          <p:spPr>
            <a:xfrm>
              <a:off x="765925" y="3622900"/>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208" name="Google Shape;208;p22"/>
            <p:cNvGrpSpPr/>
            <p:nvPr/>
          </p:nvGrpSpPr>
          <p:grpSpPr>
            <a:xfrm>
              <a:off x="1184175" y="3115638"/>
              <a:ext cx="118500" cy="907913"/>
              <a:chOff x="2332100" y="3673463"/>
              <a:chExt cx="118500" cy="907913"/>
            </a:xfrm>
          </p:grpSpPr>
          <p:sp>
            <p:nvSpPr>
              <p:cNvPr id="209" name="Google Shape;209;p22"/>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0" name="Google Shape;210;p22"/>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1" name="Google Shape;211;p22"/>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2" name="Google Shape;212;p22"/>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3" name="Google Shape;213;p22"/>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4" name="Google Shape;214;p22"/>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5" name="Google Shape;215;p22"/>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216" name="Google Shape;216;p22"/>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grpSp>
        <p:nvGrpSpPr>
          <p:cNvPr id="217" name="Google Shape;217;p22"/>
          <p:cNvGrpSpPr/>
          <p:nvPr/>
        </p:nvGrpSpPr>
        <p:grpSpPr>
          <a:xfrm rot="-5400000">
            <a:off x="-793528" y="1639561"/>
            <a:ext cx="3466023" cy="1315172"/>
            <a:chOff x="1776125" y="1266350"/>
            <a:chExt cx="5275530" cy="2162400"/>
          </a:xfrm>
        </p:grpSpPr>
        <p:sp>
          <p:nvSpPr>
            <p:cNvPr id="218" name="Google Shape;218;p22"/>
            <p:cNvSpPr/>
            <p:nvPr/>
          </p:nvSpPr>
          <p:spPr>
            <a:xfrm>
              <a:off x="177612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9" name="Google Shape;219;p22"/>
            <p:cNvSpPr/>
            <p:nvPr/>
          </p:nvSpPr>
          <p:spPr>
            <a:xfrm>
              <a:off x="194161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0" name="Google Shape;220;p22"/>
            <p:cNvSpPr/>
            <p:nvPr/>
          </p:nvSpPr>
          <p:spPr>
            <a:xfrm>
              <a:off x="210711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1" name="Google Shape;221;p22"/>
            <p:cNvSpPr/>
            <p:nvPr/>
          </p:nvSpPr>
          <p:spPr>
            <a:xfrm>
              <a:off x="2272603"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2" name="Google Shape;222;p22"/>
            <p:cNvSpPr/>
            <p:nvPr/>
          </p:nvSpPr>
          <p:spPr>
            <a:xfrm>
              <a:off x="244484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3" name="Google Shape;223;p22"/>
            <p:cNvSpPr/>
            <p:nvPr/>
          </p:nvSpPr>
          <p:spPr>
            <a:xfrm>
              <a:off x="261033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4" name="Google Shape;224;p22"/>
            <p:cNvSpPr/>
            <p:nvPr/>
          </p:nvSpPr>
          <p:spPr>
            <a:xfrm>
              <a:off x="277582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5" name="Google Shape;225;p22"/>
            <p:cNvSpPr/>
            <p:nvPr/>
          </p:nvSpPr>
          <p:spPr>
            <a:xfrm>
              <a:off x="294132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6" name="Google Shape;226;p22"/>
            <p:cNvSpPr/>
            <p:nvPr/>
          </p:nvSpPr>
          <p:spPr>
            <a:xfrm>
              <a:off x="311355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7" name="Google Shape;227;p22"/>
            <p:cNvSpPr/>
            <p:nvPr/>
          </p:nvSpPr>
          <p:spPr>
            <a:xfrm>
              <a:off x="327905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8" name="Google Shape;228;p22"/>
            <p:cNvSpPr/>
            <p:nvPr/>
          </p:nvSpPr>
          <p:spPr>
            <a:xfrm>
              <a:off x="344454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29" name="Google Shape;229;p22"/>
            <p:cNvSpPr/>
            <p:nvPr/>
          </p:nvSpPr>
          <p:spPr>
            <a:xfrm>
              <a:off x="361003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0" name="Google Shape;230;p22"/>
            <p:cNvSpPr/>
            <p:nvPr/>
          </p:nvSpPr>
          <p:spPr>
            <a:xfrm>
              <a:off x="3782277"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1" name="Google Shape;231;p22"/>
            <p:cNvSpPr/>
            <p:nvPr/>
          </p:nvSpPr>
          <p:spPr>
            <a:xfrm>
              <a:off x="394776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2" name="Google Shape;232;p22"/>
            <p:cNvSpPr/>
            <p:nvPr/>
          </p:nvSpPr>
          <p:spPr>
            <a:xfrm>
              <a:off x="411326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3" name="Google Shape;233;p22"/>
            <p:cNvSpPr/>
            <p:nvPr/>
          </p:nvSpPr>
          <p:spPr>
            <a:xfrm>
              <a:off x="427875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4" name="Google Shape;234;p22"/>
            <p:cNvSpPr/>
            <p:nvPr/>
          </p:nvSpPr>
          <p:spPr>
            <a:xfrm>
              <a:off x="444312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5" name="Google Shape;235;p22"/>
            <p:cNvSpPr/>
            <p:nvPr/>
          </p:nvSpPr>
          <p:spPr>
            <a:xfrm>
              <a:off x="460861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6" name="Google Shape;236;p22"/>
            <p:cNvSpPr/>
            <p:nvPr/>
          </p:nvSpPr>
          <p:spPr>
            <a:xfrm>
              <a:off x="477411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7" name="Google Shape;237;p22"/>
            <p:cNvSpPr/>
            <p:nvPr/>
          </p:nvSpPr>
          <p:spPr>
            <a:xfrm>
              <a:off x="4939603"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8" name="Google Shape;238;p22"/>
            <p:cNvSpPr/>
            <p:nvPr/>
          </p:nvSpPr>
          <p:spPr>
            <a:xfrm>
              <a:off x="511184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9" name="Google Shape;239;p22"/>
            <p:cNvSpPr/>
            <p:nvPr/>
          </p:nvSpPr>
          <p:spPr>
            <a:xfrm>
              <a:off x="527733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0" name="Google Shape;240;p22"/>
            <p:cNvSpPr/>
            <p:nvPr/>
          </p:nvSpPr>
          <p:spPr>
            <a:xfrm>
              <a:off x="544282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1" name="Google Shape;241;p22"/>
            <p:cNvSpPr/>
            <p:nvPr/>
          </p:nvSpPr>
          <p:spPr>
            <a:xfrm>
              <a:off x="5608320"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2" name="Google Shape;242;p22"/>
            <p:cNvSpPr/>
            <p:nvPr/>
          </p:nvSpPr>
          <p:spPr>
            <a:xfrm>
              <a:off x="578055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3" name="Google Shape;243;p22"/>
            <p:cNvSpPr/>
            <p:nvPr/>
          </p:nvSpPr>
          <p:spPr>
            <a:xfrm>
              <a:off x="594605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4" name="Google Shape;244;p22"/>
            <p:cNvSpPr/>
            <p:nvPr/>
          </p:nvSpPr>
          <p:spPr>
            <a:xfrm>
              <a:off x="611154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5" name="Google Shape;245;p22"/>
            <p:cNvSpPr/>
            <p:nvPr/>
          </p:nvSpPr>
          <p:spPr>
            <a:xfrm>
              <a:off x="6277038"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6" name="Google Shape;246;p22"/>
            <p:cNvSpPr/>
            <p:nvPr/>
          </p:nvSpPr>
          <p:spPr>
            <a:xfrm>
              <a:off x="6449277"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7" name="Google Shape;247;p22"/>
            <p:cNvSpPr/>
            <p:nvPr/>
          </p:nvSpPr>
          <p:spPr>
            <a:xfrm>
              <a:off x="6614769"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8" name="Google Shape;248;p22"/>
            <p:cNvSpPr/>
            <p:nvPr/>
          </p:nvSpPr>
          <p:spPr>
            <a:xfrm>
              <a:off x="6780262"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49" name="Google Shape;249;p22"/>
            <p:cNvSpPr/>
            <p:nvPr/>
          </p:nvSpPr>
          <p:spPr>
            <a:xfrm>
              <a:off x="6945755" y="1266350"/>
              <a:ext cx="105900" cy="21624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250" name="Google Shape;250;p22"/>
          <p:cNvSpPr txBox="1"/>
          <p:nvPr/>
        </p:nvSpPr>
        <p:spPr>
          <a:xfrm>
            <a:off x="1663800" y="2705250"/>
            <a:ext cx="6711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32 Layers</a:t>
            </a:r>
            <a:endParaRPr sz="1200">
              <a:solidFill>
                <a:srgbClr val="0F0F0F"/>
              </a:solidFill>
              <a:latin typeface="Calibri"/>
              <a:ea typeface="Calibri"/>
              <a:cs typeface="Calibri"/>
              <a:sym typeface="Calibri"/>
            </a:endParaRPr>
          </a:p>
        </p:txBody>
      </p:sp>
      <p:sp>
        <p:nvSpPr>
          <p:cNvPr id="251" name="Google Shape;251;p22"/>
          <p:cNvSpPr txBox="1"/>
          <p:nvPr/>
        </p:nvSpPr>
        <p:spPr>
          <a:xfrm>
            <a:off x="3586000" y="2705250"/>
            <a:ext cx="6711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32 Layers</a:t>
            </a:r>
            <a:endParaRPr sz="1200">
              <a:solidFill>
                <a:srgbClr val="0F0F0F"/>
              </a:solidFill>
              <a:latin typeface="Calibri"/>
              <a:ea typeface="Calibri"/>
              <a:cs typeface="Calibri"/>
              <a:sym typeface="Calibri"/>
            </a:endParaRPr>
          </a:p>
        </p:txBody>
      </p:sp>
      <p:sp>
        <p:nvSpPr>
          <p:cNvPr id="252" name="Google Shape;252;p22"/>
          <p:cNvSpPr txBox="1"/>
          <p:nvPr/>
        </p:nvSpPr>
        <p:spPr>
          <a:xfrm>
            <a:off x="7955600" y="2705250"/>
            <a:ext cx="671100" cy="2031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16 Layers</a:t>
            </a:r>
            <a:endParaRPr sz="1200">
              <a:solidFill>
                <a:srgbClr val="0F0F0F"/>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pic>
        <p:nvPicPr>
          <p:cNvPr id="257" name="Google Shape;257;p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058787" y="733163"/>
            <a:ext cx="3059125" cy="1083726"/>
          </a:xfrm>
          <a:prstGeom prst="rect">
            <a:avLst/>
          </a:prstGeom>
          <a:noFill/>
          <a:ln>
            <a:noFill/>
          </a:ln>
        </p:spPr>
      </p:pic>
      <p:sp>
        <p:nvSpPr>
          <p:cNvPr id="258" name="Google Shape;258;p23"/>
          <p:cNvSpPr txBox="1"/>
          <p:nvPr/>
        </p:nvSpPr>
        <p:spPr>
          <a:xfrm>
            <a:off x="72300" y="0"/>
            <a:ext cx="2805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Mixtral - how it works</a:t>
            </a:r>
            <a:endParaRPr sz="2000" b="1">
              <a:latin typeface="Calibri"/>
              <a:ea typeface="Calibri"/>
              <a:cs typeface="Calibri"/>
              <a:sym typeface="Calibri"/>
            </a:endParaRPr>
          </a:p>
        </p:txBody>
      </p:sp>
      <p:sp>
        <p:nvSpPr>
          <p:cNvPr id="259" name="Google Shape;259;p23"/>
          <p:cNvSpPr txBox="1"/>
          <p:nvPr/>
        </p:nvSpPr>
        <p:spPr>
          <a:xfrm>
            <a:off x="113225" y="353550"/>
            <a:ext cx="5976900" cy="34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Mixtral of Experts paper - </a:t>
            </a:r>
            <a:r>
              <a:rPr lang="en" sz="900" u="sng">
                <a:solidFill>
                  <a:schemeClr val="hlink"/>
                </a:solidFill>
                <a:latin typeface="Calibri"/>
                <a:ea typeface="Calibri"/>
                <a:cs typeface="Calibri"/>
                <a:sym typeface="Calibri"/>
                <a:hlinkClick r:id="rId4"/>
              </a:rPr>
              <a:t>https://arxiv.org/abs/2401.04088</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 introduce Mixtral 8x7B, a Sparse Mixture of Experts (SMoE) language model.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Mixtral has the same architecture as Mistral 7B, with the difference that </a:t>
            </a:r>
            <a:r>
              <a:rPr lang="en" sz="1300" b="1">
                <a:solidFill>
                  <a:srgbClr val="FF0000"/>
                </a:solidFill>
                <a:latin typeface="Calibri"/>
                <a:ea typeface="Calibri"/>
                <a:cs typeface="Calibri"/>
                <a:sym typeface="Calibri"/>
              </a:rPr>
              <a:t>each layer has 8 feedforward blocks (i.e. experts). </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3C78D8"/>
                </a:solidFill>
                <a:latin typeface="Calibri"/>
                <a:ea typeface="Calibri"/>
                <a:cs typeface="Calibri"/>
                <a:sym typeface="Calibri"/>
              </a:rPr>
              <a:t>For every token, at each layer,</a:t>
            </a:r>
            <a:r>
              <a:rPr lang="en" sz="1300">
                <a:solidFill>
                  <a:srgbClr val="0F0F0F"/>
                </a:solidFill>
                <a:latin typeface="Calibri"/>
                <a:ea typeface="Calibri"/>
                <a:cs typeface="Calibri"/>
                <a:sym typeface="Calibri"/>
              </a:rPr>
              <a:t> </a:t>
            </a:r>
            <a:r>
              <a:rPr lang="en" sz="1300" b="1">
                <a:solidFill>
                  <a:srgbClr val="6AA84F"/>
                </a:solidFill>
                <a:latin typeface="Calibri"/>
                <a:ea typeface="Calibri"/>
                <a:cs typeface="Calibri"/>
                <a:sym typeface="Calibri"/>
              </a:rPr>
              <a:t>a router network selects two experts to process the current state and combine their outputs. </a:t>
            </a:r>
            <a:endParaRPr sz="1300" b="1">
              <a:solidFill>
                <a:srgbClr val="6AA84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Even though each token only sees two experts, </a:t>
            </a:r>
            <a:r>
              <a:rPr lang="en" sz="1300" b="1">
                <a:solidFill>
                  <a:srgbClr val="FF0000"/>
                </a:solidFill>
                <a:latin typeface="Calibri"/>
                <a:ea typeface="Calibri"/>
                <a:cs typeface="Calibri"/>
                <a:sym typeface="Calibri"/>
              </a:rPr>
              <a:t>the selected experts can be different at each timestep.</a:t>
            </a:r>
            <a:r>
              <a:rPr lang="en" sz="1300">
                <a:solidFill>
                  <a:srgbClr val="0F0F0F"/>
                </a:solidFill>
                <a:latin typeface="Calibri"/>
                <a:ea typeface="Calibri"/>
                <a:cs typeface="Calibri"/>
                <a:sym typeface="Calibri"/>
              </a:rPr>
              <a:t> As a result, each token has access to 47B parameters, </a:t>
            </a:r>
            <a:r>
              <a:rPr lang="en" sz="1300">
                <a:solidFill>
                  <a:srgbClr val="6AA84F"/>
                </a:solidFill>
                <a:latin typeface="Calibri"/>
                <a:ea typeface="Calibri"/>
                <a:cs typeface="Calibri"/>
                <a:sym typeface="Calibri"/>
              </a:rPr>
              <a:t>but only uses 13B active parameters during inference</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Mixtral was trained with a </a:t>
            </a:r>
            <a:r>
              <a:rPr lang="en" sz="1300">
                <a:solidFill>
                  <a:srgbClr val="FF0000"/>
                </a:solidFill>
                <a:latin typeface="Calibri"/>
                <a:ea typeface="Calibri"/>
                <a:cs typeface="Calibri"/>
                <a:sym typeface="Calibri"/>
              </a:rPr>
              <a:t>context size of 32k tokens</a:t>
            </a:r>
            <a:r>
              <a:rPr lang="en" sz="1300">
                <a:solidFill>
                  <a:srgbClr val="0F0F0F"/>
                </a:solidFill>
                <a:latin typeface="Calibri"/>
                <a:ea typeface="Calibri"/>
                <a:cs typeface="Calibri"/>
                <a:sym typeface="Calibri"/>
              </a:rPr>
              <a:t> and it outperforms or matches Llama 2 70B and GPT-3.5 across all evaluated benchmarks.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In particular, Mixtral vastly outperforms Llama 2 70B on mathematics, code generation, and multilingual benchmarks.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 also provide a model fine-tuned to follow instructions, </a:t>
            </a:r>
            <a:r>
              <a:rPr lang="en" sz="1300" b="1">
                <a:solidFill>
                  <a:srgbClr val="FF0000"/>
                </a:solidFill>
                <a:latin typeface="Calibri"/>
                <a:ea typeface="Calibri"/>
                <a:cs typeface="Calibri"/>
                <a:sym typeface="Calibri"/>
              </a:rPr>
              <a:t>Mixtral 8x7B - Instruct</a:t>
            </a:r>
            <a:r>
              <a:rPr lang="en" sz="1300">
                <a:solidFill>
                  <a:srgbClr val="0F0F0F"/>
                </a:solidFill>
                <a:latin typeface="Calibri"/>
                <a:ea typeface="Calibri"/>
                <a:cs typeface="Calibri"/>
                <a:sym typeface="Calibri"/>
              </a:rPr>
              <a:t>, that surpasses GPT-3.5 Turbo, Claude-2.1, Gemini Pro, and Llama 2 70B - chat model on human benchmarks.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Both the </a:t>
            </a:r>
            <a:r>
              <a:rPr lang="en" sz="1300" b="1">
                <a:solidFill>
                  <a:srgbClr val="6AA84F"/>
                </a:solidFill>
                <a:latin typeface="Calibri"/>
                <a:ea typeface="Calibri"/>
                <a:cs typeface="Calibri"/>
                <a:sym typeface="Calibri"/>
              </a:rPr>
              <a:t>base and instruct models</a:t>
            </a:r>
            <a:r>
              <a:rPr lang="en" sz="1300">
                <a:solidFill>
                  <a:srgbClr val="0F0F0F"/>
                </a:solidFill>
                <a:latin typeface="Calibri"/>
                <a:ea typeface="Calibri"/>
                <a:cs typeface="Calibri"/>
                <a:sym typeface="Calibri"/>
              </a:rPr>
              <a:t> are released under the Apache 2.0 license.</a:t>
            </a:r>
            <a:endParaRPr sz="1300">
              <a:solidFill>
                <a:srgbClr val="0F0F0F"/>
              </a:solidFill>
              <a:latin typeface="Calibri"/>
              <a:ea typeface="Calibri"/>
              <a:cs typeface="Calibri"/>
              <a:sym typeface="Calibri"/>
            </a:endParaRPr>
          </a:p>
        </p:txBody>
      </p:sp>
      <p:sp>
        <p:nvSpPr>
          <p:cNvPr id="260" name="Google Shape;260;p23"/>
          <p:cNvSpPr txBox="1"/>
          <p:nvPr/>
        </p:nvSpPr>
        <p:spPr>
          <a:xfrm>
            <a:off x="6334950" y="21600"/>
            <a:ext cx="2659200" cy="785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Feed-Forward Sub-Layers have this structure with router, experts, and aggregation outputs.</a:t>
            </a:r>
            <a:endParaRPr sz="1300">
              <a:solidFill>
                <a:srgbClr val="0F0F0F"/>
              </a:solidFill>
              <a:latin typeface="Calibri"/>
              <a:ea typeface="Calibri"/>
              <a:cs typeface="Calibri"/>
              <a:sym typeface="Calibri"/>
            </a:endParaRPr>
          </a:p>
        </p:txBody>
      </p:sp>
      <p:pic>
        <p:nvPicPr>
          <p:cNvPr id="261" name="Google Shape;261;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258750" y="2902800"/>
            <a:ext cx="1750126" cy="1915976"/>
          </a:xfrm>
          <a:prstGeom prst="rect">
            <a:avLst/>
          </a:prstGeom>
          <a:noFill/>
          <a:ln>
            <a:noFill/>
          </a:ln>
        </p:spPr>
      </p:pic>
      <p:sp>
        <p:nvSpPr>
          <p:cNvPr id="262" name="Google Shape;262;p23"/>
          <p:cNvSpPr txBox="1"/>
          <p:nvPr/>
        </p:nvSpPr>
        <p:spPr>
          <a:xfrm>
            <a:off x="6258750" y="1867250"/>
            <a:ext cx="2659200" cy="985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aggregation at the output of each layer is implemented by taking the softmax over the Top-K logits of a linear layer of experts in this layer</a:t>
            </a:r>
            <a:endParaRPr sz="1300">
              <a:solidFill>
                <a:srgbClr val="0F0F0F"/>
              </a:solidFill>
              <a:latin typeface="Calibri"/>
              <a:ea typeface="Calibri"/>
              <a:cs typeface="Calibri"/>
              <a:sym typeface="Calibri"/>
            </a:endParaRPr>
          </a:p>
        </p:txBody>
      </p:sp>
      <p:sp>
        <p:nvSpPr>
          <p:cNvPr id="263" name="Google Shape;263;p23"/>
          <p:cNvSpPr txBox="1"/>
          <p:nvPr/>
        </p:nvSpPr>
        <p:spPr>
          <a:xfrm>
            <a:off x="113225" y="3914100"/>
            <a:ext cx="5976900" cy="871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27425" tIns="27425" rIns="27425" bIns="27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Understanding Mixtral-8x7b - </a:t>
            </a:r>
            <a:r>
              <a:rPr lang="en" sz="900" u="sng">
                <a:solidFill>
                  <a:schemeClr val="hlink"/>
                </a:solidFill>
                <a:latin typeface="Calibri"/>
                <a:ea typeface="Calibri"/>
                <a:cs typeface="Calibri"/>
                <a:sym typeface="Calibri"/>
                <a:hlinkClick r:id="rId6"/>
              </a:rPr>
              <a:t>https://huggingface.co/blog/vtabbott/mixtral</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Google 2022 review of sparse expert models - </a:t>
            </a:r>
            <a:r>
              <a:rPr lang="en" sz="900" u="sng">
                <a:solidFill>
                  <a:schemeClr val="hlink"/>
                </a:solidFill>
                <a:latin typeface="Calibri"/>
                <a:ea typeface="Calibri"/>
                <a:cs typeface="Calibri"/>
                <a:sym typeface="Calibri"/>
                <a:hlinkClick r:id="rId7"/>
              </a:rPr>
              <a:t>https://arxiv.org/pdf/2209.01667.pdf</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u="sng">
                <a:solidFill>
                  <a:schemeClr val="hlink"/>
                </a:solidFill>
                <a:latin typeface="Calibri"/>
                <a:ea typeface="Calibri"/>
                <a:cs typeface="Calibri"/>
                <a:sym typeface="Calibri"/>
                <a:hlinkClick r:id="rId8"/>
              </a:rPr>
              <a:t>https://github.com/huggingface/transformers/blob/main/src/transformers/models/mixtral/configuration_mixtral.py</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u="sng">
                <a:solidFill>
                  <a:schemeClr val="hlink"/>
                </a:solidFill>
                <a:latin typeface="Calibri"/>
                <a:ea typeface="Calibri"/>
                <a:cs typeface="Calibri"/>
                <a:sym typeface="Calibri"/>
                <a:hlinkClick r:id="rId9"/>
              </a:rPr>
              <a:t>https://github.com/huggingface/transformers/blob/main/src/transformers/models/mistral/configuration_mistral.py</a:t>
            </a:r>
            <a:r>
              <a:rPr lang="en" sz="900">
                <a:solidFill>
                  <a:srgbClr val="0F0F0F"/>
                </a:solidFill>
                <a:latin typeface="Calibri"/>
                <a:ea typeface="Calibri"/>
                <a:cs typeface="Calibri"/>
                <a:sym typeface="Calibri"/>
              </a:rPr>
              <a:t> </a:t>
            </a:r>
            <a:endParaRPr sz="900">
              <a:solidFill>
                <a:srgbClr val="0F0F0F"/>
              </a:solidFill>
              <a:latin typeface="Calibri"/>
              <a:ea typeface="Calibri"/>
              <a:cs typeface="Calibri"/>
              <a:sym typeface="Calibri"/>
            </a:endParaRPr>
          </a:p>
          <a:p>
            <a:pPr marL="228600" lvl="0" indent="-171450" algn="l" rtl="0">
              <a:spcBef>
                <a:spcPts val="0"/>
              </a:spcBef>
              <a:spcAft>
                <a:spcPts val="0"/>
              </a:spcAft>
              <a:buClr>
                <a:srgbClr val="0F0F0F"/>
              </a:buClr>
              <a:buSzPts val="900"/>
              <a:buFont typeface="Calibri"/>
              <a:buChar char="●"/>
            </a:pPr>
            <a:r>
              <a:rPr lang="en" sz="900" u="sng">
                <a:solidFill>
                  <a:schemeClr val="hlink"/>
                </a:solidFill>
                <a:latin typeface="Calibri"/>
                <a:ea typeface="Calibri"/>
                <a:cs typeface="Calibri"/>
                <a:sym typeface="Calibri"/>
                <a:hlinkClick r:id="rId10"/>
              </a:rPr>
              <a:t>https://arxiv.org/abs/2305.13245</a:t>
            </a:r>
            <a:r>
              <a:rPr lang="en" sz="900">
                <a:solidFill>
                  <a:srgbClr val="0F0F0F"/>
                </a:solidFill>
                <a:latin typeface="Calibri"/>
                <a:ea typeface="Calibri"/>
                <a:cs typeface="Calibri"/>
                <a:sym typeface="Calibri"/>
              </a:rPr>
              <a:t> - group attention mechanism </a:t>
            </a:r>
            <a:endParaRPr sz="900">
              <a:solidFill>
                <a:srgbClr val="0F0F0F"/>
              </a:solidFill>
              <a:latin typeface="Calibri"/>
              <a:ea typeface="Calibri"/>
              <a:cs typeface="Calibri"/>
              <a:sym typeface="Calibri"/>
            </a:endParaRPr>
          </a:p>
        </p:txBody>
      </p:sp>
      <p:sp>
        <p:nvSpPr>
          <p:cNvPr id="264" name="Google Shape;264;p23"/>
          <p:cNvSpPr txBox="1"/>
          <p:nvPr/>
        </p:nvSpPr>
        <p:spPr>
          <a:xfrm>
            <a:off x="8008875" y="3678650"/>
            <a:ext cx="1045500" cy="1569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0F0F0F"/>
                </a:solidFill>
                <a:latin typeface="Calibri"/>
                <a:ea typeface="Calibri"/>
                <a:cs typeface="Calibri"/>
                <a:sym typeface="Calibri"/>
              </a:rPr>
              <a:t>dim_MLP</a:t>
            </a:r>
            <a:endParaRPr sz="900" b="1">
              <a:solidFill>
                <a:srgbClr val="0F0F0F"/>
              </a:solidFill>
              <a:latin typeface="Calibri"/>
              <a:ea typeface="Calibri"/>
              <a:cs typeface="Calibri"/>
              <a:sym typeface="Calibri"/>
            </a:endParaRPr>
          </a:p>
        </p:txBody>
      </p:sp>
      <p:sp>
        <p:nvSpPr>
          <p:cNvPr id="265" name="Google Shape;265;p23"/>
          <p:cNvSpPr txBox="1"/>
          <p:nvPr/>
        </p:nvSpPr>
        <p:spPr>
          <a:xfrm>
            <a:off x="8008878" y="3955778"/>
            <a:ext cx="1045500" cy="1569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0F0F0F"/>
                </a:solidFill>
                <a:latin typeface="Calibri"/>
                <a:ea typeface="Calibri"/>
                <a:cs typeface="Calibri"/>
                <a:sym typeface="Calibri"/>
              </a:rPr>
              <a:t>group attention</a:t>
            </a:r>
            <a:endParaRPr sz="900" b="1">
              <a:solidFill>
                <a:srgbClr val="0F0F0F"/>
              </a:solidFill>
              <a:latin typeface="Calibri"/>
              <a:ea typeface="Calibri"/>
              <a:cs typeface="Calibri"/>
              <a:sym typeface="Calibri"/>
            </a:endParaRPr>
          </a:p>
        </p:txBody>
      </p:sp>
      <p:sp>
        <p:nvSpPr>
          <p:cNvPr id="266" name="Google Shape;266;p23"/>
          <p:cNvSpPr txBox="1"/>
          <p:nvPr/>
        </p:nvSpPr>
        <p:spPr>
          <a:xfrm>
            <a:off x="8008875" y="3514425"/>
            <a:ext cx="1045500" cy="1569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900" b="1">
                <a:solidFill>
                  <a:srgbClr val="0F0F0F"/>
                </a:solidFill>
                <a:latin typeface="Calibri"/>
                <a:ea typeface="Calibri"/>
                <a:cs typeface="Calibri"/>
                <a:sym typeface="Calibri"/>
              </a:rPr>
              <a:t>=4096/n_heads</a:t>
            </a:r>
            <a:endParaRPr sz="900" b="1">
              <a:solidFill>
                <a:srgbClr val="0F0F0F"/>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24"/>
          <p:cNvSpPr txBox="1"/>
          <p:nvPr/>
        </p:nvSpPr>
        <p:spPr>
          <a:xfrm>
            <a:off x="72300" y="0"/>
            <a:ext cx="5376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What is MoE</a:t>
            </a:r>
            <a:endParaRPr sz="2000" b="1">
              <a:latin typeface="Calibri"/>
              <a:ea typeface="Calibri"/>
              <a:cs typeface="Calibri"/>
              <a:sym typeface="Calibri"/>
            </a:endParaRPr>
          </a:p>
        </p:txBody>
      </p:sp>
      <p:sp>
        <p:nvSpPr>
          <p:cNvPr id="272" name="Google Shape;272;p24"/>
          <p:cNvSpPr txBox="1"/>
          <p:nvPr/>
        </p:nvSpPr>
        <p:spPr>
          <a:xfrm>
            <a:off x="72300" y="326400"/>
            <a:ext cx="53769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Mixture of Experts (MoE):</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MoE is a neural network architecture. It consists of multiple parts (experts), a </a:t>
            </a:r>
            <a:r>
              <a:rPr lang="en" sz="1300" b="1">
                <a:solidFill>
                  <a:srgbClr val="FF0000"/>
                </a:solidFill>
                <a:latin typeface="Calibri"/>
                <a:ea typeface="Calibri"/>
                <a:cs typeface="Calibri"/>
                <a:sym typeface="Calibri"/>
              </a:rPr>
              <a:t>trainable gating routing mechanism</a:t>
            </a:r>
            <a:r>
              <a:rPr lang="en" sz="1300">
                <a:solidFill>
                  <a:srgbClr val="0F0F0F"/>
                </a:solidFill>
                <a:latin typeface="Calibri"/>
                <a:ea typeface="Calibri"/>
                <a:cs typeface="Calibri"/>
                <a:sym typeface="Calibri"/>
              </a:rPr>
              <a:t> which directs each input to one or more experts, and a mechanism to </a:t>
            </a:r>
            <a:r>
              <a:rPr lang="en" sz="1300" b="1">
                <a:solidFill>
                  <a:srgbClr val="FF0000"/>
                </a:solidFill>
                <a:latin typeface="Calibri"/>
                <a:ea typeface="Calibri"/>
                <a:cs typeface="Calibri"/>
                <a:sym typeface="Calibri"/>
              </a:rPr>
              <a:t>aggregate outputs together</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MoE allows for efficient scaling since not all parts of the network are active at the same time, reducing computational load.</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Switch Transformer:</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Switch Transformer is an MoE developed by Google for (extremely) large-scale language processing tasks.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 employs a trainable 'switch' mechanism to </a:t>
            </a:r>
            <a:r>
              <a:rPr lang="en" sz="1300" b="1">
                <a:solidFill>
                  <a:srgbClr val="FF0000"/>
                </a:solidFill>
                <a:latin typeface="Calibri"/>
                <a:ea typeface="Calibri"/>
                <a:cs typeface="Calibri"/>
                <a:sym typeface="Calibri"/>
              </a:rPr>
              <a:t>route each token</a:t>
            </a:r>
            <a:r>
              <a:rPr lang="en" sz="1300">
                <a:solidFill>
                  <a:srgbClr val="0F0F0F"/>
                </a:solidFill>
                <a:latin typeface="Calibri"/>
                <a:ea typeface="Calibri"/>
                <a:cs typeface="Calibri"/>
                <a:sym typeface="Calibri"/>
              </a:rPr>
              <a:t> to the most relevant expert.</a:t>
            </a:r>
            <a:endParaRPr sz="1300">
              <a:solidFill>
                <a:srgbClr val="0F0F0F"/>
              </a:solidFill>
              <a:latin typeface="Calibri"/>
              <a:ea typeface="Calibri"/>
              <a:cs typeface="Calibri"/>
              <a:sym typeface="Calibri"/>
            </a:endParaRPr>
          </a:p>
        </p:txBody>
      </p:sp>
      <p:sp>
        <p:nvSpPr>
          <p:cNvPr id="273" name="Google Shape;273;p24"/>
          <p:cNvSpPr txBox="1"/>
          <p:nvPr/>
        </p:nvSpPr>
        <p:spPr>
          <a:xfrm>
            <a:off x="72300" y="3151100"/>
            <a:ext cx="5376900" cy="186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Mixture of Experts (MoE):</a:t>
            </a:r>
            <a:endParaRPr sz="1300" b="1">
              <a:solidFill>
                <a:srgbClr val="FF0000"/>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3"/>
              </a:rPr>
              <a:t>https://huggingface.co/blog/moe</a:t>
            </a:r>
            <a:r>
              <a:rPr lang="en" sz="1000">
                <a:solidFill>
                  <a:schemeClr val="dk1"/>
                </a:solidFill>
                <a:latin typeface="Calibri"/>
                <a:ea typeface="Calibri"/>
                <a:cs typeface="Calibri"/>
                <a:sym typeface="Calibri"/>
              </a:rPr>
              <a:t> (since 1991)</a:t>
            </a:r>
            <a:endParaRPr sz="1000">
              <a:solidFill>
                <a:schemeClr val="dk1"/>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u="sng">
                <a:solidFill>
                  <a:schemeClr val="hlink"/>
                </a:solidFill>
                <a:latin typeface="Calibri"/>
                <a:ea typeface="Calibri"/>
                <a:cs typeface="Calibri"/>
                <a:sym typeface="Calibri"/>
                <a:hlinkClick r:id="rId4"/>
              </a:rPr>
              <a:t>https://en.wikipedia.org/wiki/Mixture_of_experts</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u="sng">
                <a:solidFill>
                  <a:schemeClr val="hlink"/>
                </a:solidFill>
                <a:latin typeface="Calibri"/>
                <a:ea typeface="Calibri"/>
                <a:cs typeface="Calibri"/>
                <a:sym typeface="Calibri"/>
                <a:hlinkClick r:id="rId5"/>
              </a:rPr>
              <a:t>https://arxiv.org/pdf/1701.06538.pdf</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rgbClr val="0F0F0F"/>
              </a:buClr>
              <a:buSzPts val="1000"/>
              <a:buFont typeface="Calibri"/>
              <a:buChar char="●"/>
            </a:pPr>
            <a:r>
              <a:rPr lang="en" sz="1000" u="sng">
                <a:solidFill>
                  <a:schemeClr val="hlink"/>
                </a:solidFill>
                <a:latin typeface="Calibri"/>
                <a:ea typeface="Calibri"/>
                <a:cs typeface="Calibri"/>
                <a:sym typeface="Calibri"/>
                <a:hlinkClick r:id="rId6"/>
              </a:rPr>
              <a:t>https://medium.com/@sthanikamsanthosh1994/the-mixer-of-experts-moe-modern-architecture-for-divide-and-concur-learning-dbe10ffa8436</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Switch Transformer:</a:t>
            </a:r>
            <a:endParaRPr sz="1300" b="1">
              <a:solidFill>
                <a:srgbClr val="FF0000"/>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7"/>
              </a:rPr>
              <a:t>https://arxiv.org/pdf/2101.03961.pdf</a:t>
            </a:r>
            <a:r>
              <a:rPr lang="en" sz="1000">
                <a:solidFill>
                  <a:schemeClr val="dk1"/>
                </a:solidFill>
                <a:latin typeface="Calibri"/>
                <a:ea typeface="Calibri"/>
                <a:cs typeface="Calibri"/>
                <a:sym typeface="Calibri"/>
              </a:rPr>
              <a:t>  - paper (2022)</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8"/>
              </a:rPr>
              <a:t>https://huggingface.co/google/switch-c-2048</a:t>
            </a:r>
            <a:r>
              <a:rPr lang="en" sz="1000">
                <a:solidFill>
                  <a:schemeClr val="dk1"/>
                </a:solidFill>
                <a:latin typeface="Calibri"/>
                <a:ea typeface="Calibri"/>
                <a:cs typeface="Calibri"/>
                <a:sym typeface="Calibri"/>
              </a:rPr>
              <a:t>  (2048 experts (1.6T parameters for 3.1 TB))</a:t>
            </a:r>
            <a:endParaRPr sz="1000">
              <a:solidFill>
                <a:schemeClr val="dk1"/>
              </a:solidFill>
              <a:latin typeface="Calibri"/>
              <a:ea typeface="Calibri"/>
              <a:cs typeface="Calibri"/>
              <a:sym typeface="Calibri"/>
            </a:endParaRPr>
          </a:p>
        </p:txBody>
      </p:sp>
      <p:pic>
        <p:nvPicPr>
          <p:cNvPr id="274" name="Google Shape;274;p24"/>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5532500" y="631200"/>
            <a:ext cx="3474875" cy="1775933"/>
          </a:xfrm>
          <a:prstGeom prst="rect">
            <a:avLst/>
          </a:prstGeom>
          <a:noFill/>
          <a:ln w="9525" cap="flat" cmpd="sng">
            <a:solidFill>
              <a:srgbClr val="FF0000"/>
            </a:solidFill>
            <a:prstDash val="solid"/>
            <a:round/>
            <a:headEnd type="none" w="sm" len="sm"/>
            <a:tailEnd type="none" w="sm" len="sm"/>
          </a:ln>
        </p:spPr>
      </p:pic>
      <p:pic>
        <p:nvPicPr>
          <p:cNvPr id="275" name="Google Shape;275;p24"/>
          <p:cNvPicPr preferRelativeResize="0"/>
          <p:nvPr/>
        </p:nvPicPr>
        <p:blipFill rotWithShape="1">
          <a:blip r:embed="rId10" cstate="email">
            <a:alphaModFix/>
            <a:extLst>
              <a:ext uri="{28A0092B-C50C-407E-A947-70E740481C1C}">
                <a14:useLocalDpi xmlns:a14="http://schemas.microsoft.com/office/drawing/2010/main"/>
              </a:ext>
            </a:extLst>
          </a:blip>
          <a:srcRect/>
          <a:stretch/>
        </p:blipFill>
        <p:spPr>
          <a:xfrm>
            <a:off x="5532500" y="3167535"/>
            <a:ext cx="3474875" cy="18235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25"/>
          <p:cNvSpPr txBox="1"/>
          <p:nvPr/>
        </p:nvSpPr>
        <p:spPr>
          <a:xfrm>
            <a:off x="72300" y="0"/>
            <a:ext cx="4641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an LLM Generates Output (Inference)</a:t>
            </a:r>
            <a:endParaRPr sz="2000" b="1">
              <a:latin typeface="Calibri"/>
              <a:ea typeface="Calibri"/>
              <a:cs typeface="Calibri"/>
              <a:sym typeface="Calibri"/>
            </a:endParaRPr>
          </a:p>
        </p:txBody>
      </p:sp>
      <p:sp>
        <p:nvSpPr>
          <p:cNvPr id="281" name="Google Shape;281;p25"/>
          <p:cNvSpPr txBox="1"/>
          <p:nvPr/>
        </p:nvSpPr>
        <p:spPr>
          <a:xfrm>
            <a:off x="94525" y="413550"/>
            <a:ext cx="4371900" cy="463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Initially, the </a:t>
            </a:r>
            <a:r>
              <a:rPr lang="en" sz="1300" b="1">
                <a:solidFill>
                  <a:srgbClr val="6AA84F"/>
                </a:solidFill>
                <a:latin typeface="Calibri"/>
                <a:ea typeface="Calibri"/>
                <a:cs typeface="Calibri"/>
                <a:sym typeface="Calibri"/>
              </a:rPr>
              <a:t>input text (sequence of words)</a:t>
            </a:r>
            <a:r>
              <a:rPr lang="en" sz="1300">
                <a:solidFill>
                  <a:srgbClr val="0F0F0F"/>
                </a:solidFill>
                <a:latin typeface="Calibri"/>
                <a:ea typeface="Calibri"/>
                <a:cs typeface="Calibri"/>
                <a:sym typeface="Calibri"/>
              </a:rPr>
              <a:t> is converted into </a:t>
            </a:r>
            <a:r>
              <a:rPr lang="en" sz="1300" b="1">
                <a:solidFill>
                  <a:srgbClr val="FF0000"/>
                </a:solidFill>
                <a:latin typeface="Calibri"/>
                <a:ea typeface="Calibri"/>
                <a:cs typeface="Calibri"/>
                <a:sym typeface="Calibri"/>
              </a:rPr>
              <a:t>sequence of tokens</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Then </a:t>
            </a:r>
            <a:r>
              <a:rPr lang="en" sz="1300" b="1">
                <a:solidFill>
                  <a:srgbClr val="FF0000"/>
                </a:solidFill>
                <a:latin typeface="Calibri"/>
                <a:ea typeface="Calibri"/>
                <a:cs typeface="Calibri"/>
                <a:sym typeface="Calibri"/>
              </a:rPr>
              <a:t>sequence of tokens</a:t>
            </a:r>
            <a:r>
              <a:rPr lang="en" sz="1300">
                <a:solidFill>
                  <a:srgbClr val="0F0F0F"/>
                </a:solidFill>
                <a:latin typeface="Calibri"/>
                <a:ea typeface="Calibri"/>
                <a:cs typeface="Calibri"/>
                <a:sym typeface="Calibri"/>
              </a:rPr>
              <a:t> is converted into a </a:t>
            </a:r>
            <a:r>
              <a:rPr lang="en" sz="1300" b="1">
                <a:solidFill>
                  <a:srgbClr val="FF0000"/>
                </a:solidFill>
                <a:latin typeface="Calibri"/>
                <a:ea typeface="Calibri"/>
                <a:cs typeface="Calibri"/>
                <a:sym typeface="Calibri"/>
              </a:rPr>
              <a:t>sequence of embeddings (vectors)</a:t>
            </a:r>
            <a:r>
              <a:rPr lang="en" sz="1300">
                <a:solidFill>
                  <a:srgbClr val="0F0F0F"/>
                </a:solidFill>
                <a:latin typeface="Calibri"/>
                <a:ea typeface="Calibri"/>
                <a:cs typeface="Calibri"/>
                <a:sym typeface="Calibri"/>
              </a:rPr>
              <a:t>. These embeddings represent the input tokens in a way that captures their semantic and syntactic properties. Also positional info of each token is calculated as sin() and cos() and sum-ed into their vectors.</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b="1">
                <a:solidFill>
                  <a:srgbClr val="FF0000"/>
                </a:solidFill>
                <a:latin typeface="Calibri"/>
                <a:ea typeface="Calibri"/>
                <a:cs typeface="Calibri"/>
                <a:sym typeface="Calibri"/>
              </a:rPr>
              <a:t>Transformer Layers</a:t>
            </a:r>
            <a:r>
              <a:rPr lang="en" sz="1300">
                <a:solidFill>
                  <a:srgbClr val="0F0F0F"/>
                </a:solidFill>
                <a:latin typeface="Calibri"/>
                <a:ea typeface="Calibri"/>
                <a:cs typeface="Calibri"/>
                <a:sym typeface="Calibri"/>
              </a:rPr>
              <a:t>: The embeddings then pass through multiple layers of the transformer architecture. Each layer consists of </a:t>
            </a:r>
            <a:r>
              <a:rPr lang="en" sz="1300" b="1">
                <a:solidFill>
                  <a:srgbClr val="FF0000"/>
                </a:solidFill>
                <a:latin typeface="Calibri"/>
                <a:ea typeface="Calibri"/>
                <a:cs typeface="Calibri"/>
                <a:sym typeface="Calibri"/>
              </a:rPr>
              <a:t>self-attention mechanisms </a:t>
            </a:r>
            <a:r>
              <a:rPr lang="en" sz="1300">
                <a:solidFill>
                  <a:schemeClr val="dk1"/>
                </a:solidFill>
                <a:latin typeface="Calibri"/>
                <a:ea typeface="Calibri"/>
                <a:cs typeface="Calibri"/>
                <a:sym typeface="Calibri"/>
              </a:rPr>
              <a:t>and</a:t>
            </a:r>
            <a:r>
              <a:rPr lang="en" sz="1300" b="1">
                <a:solidFill>
                  <a:srgbClr val="FF0000"/>
                </a:solidFill>
                <a:latin typeface="Calibri"/>
                <a:ea typeface="Calibri"/>
                <a:cs typeface="Calibri"/>
                <a:sym typeface="Calibri"/>
              </a:rPr>
              <a:t> feed-forward neural networks</a:t>
            </a:r>
            <a:r>
              <a:rPr lang="en" sz="1300">
                <a:solidFill>
                  <a:srgbClr val="0F0F0F"/>
                </a:solidFill>
                <a:latin typeface="Calibri"/>
                <a:ea typeface="Calibri"/>
                <a:cs typeface="Calibri"/>
                <a:sym typeface="Calibri"/>
              </a:rPr>
              <a:t>. The self-attention mechanism allows the model to weigh the importance of different parts of the input sequence differently (helps to understand context and relationships between words).</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Output Embeddings</a:t>
            </a:r>
            <a:r>
              <a:rPr lang="en" sz="1300">
                <a:solidFill>
                  <a:srgbClr val="0F0F0F"/>
                </a:solidFill>
                <a:latin typeface="Calibri"/>
                <a:ea typeface="Calibri"/>
                <a:cs typeface="Calibri"/>
                <a:sym typeface="Calibri"/>
              </a:rPr>
              <a:t>: vectors after processing through the transformer layers.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Linear Layer</a:t>
            </a:r>
            <a:r>
              <a:rPr lang="en" sz="1300">
                <a:solidFill>
                  <a:srgbClr val="0F0F0F"/>
                </a:solidFill>
                <a:latin typeface="Calibri"/>
                <a:ea typeface="Calibri"/>
                <a:cs typeface="Calibri"/>
                <a:sym typeface="Calibri"/>
              </a:rPr>
              <a:t>: a type of fully connected neural network layer. Maps the high-dimensional vectors from the transformer output to a much larger, but fixed-size, </a:t>
            </a:r>
            <a:r>
              <a:rPr lang="en" sz="1300" b="1">
                <a:solidFill>
                  <a:srgbClr val="FF0000"/>
                </a:solidFill>
                <a:latin typeface="Calibri"/>
                <a:ea typeface="Calibri"/>
                <a:cs typeface="Calibri"/>
                <a:sym typeface="Calibri"/>
              </a:rPr>
              <a:t>vocabulary space of tokens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sp>
        <p:nvSpPr>
          <p:cNvPr id="282" name="Google Shape;282;p25"/>
          <p:cNvSpPr txBox="1"/>
          <p:nvPr/>
        </p:nvSpPr>
        <p:spPr>
          <a:xfrm>
            <a:off x="4713298" y="68459"/>
            <a:ext cx="4371900" cy="503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Softmax Layer</a:t>
            </a:r>
            <a:r>
              <a:rPr lang="en" sz="1300">
                <a:solidFill>
                  <a:srgbClr val="0F0F0F"/>
                </a:solidFill>
                <a:latin typeface="Calibri"/>
                <a:ea typeface="Calibri"/>
                <a:cs typeface="Calibri"/>
                <a:sym typeface="Calibri"/>
              </a:rPr>
              <a:t>: softmax function is applied to the outputs of the linear layer - and convert them into a probability distribution over the entire vocabulary of the model. Each element in this distribution represents </a:t>
            </a:r>
            <a:r>
              <a:rPr lang="en" sz="1300">
                <a:solidFill>
                  <a:srgbClr val="6AA84F"/>
                </a:solidFill>
                <a:latin typeface="Calibri"/>
                <a:ea typeface="Calibri"/>
                <a:cs typeface="Calibri"/>
                <a:sym typeface="Calibri"/>
              </a:rPr>
              <a:t>the probability that a particular token from the vocabulary </a:t>
            </a:r>
            <a:r>
              <a:rPr lang="en" sz="1300" b="1">
                <a:solidFill>
                  <a:srgbClr val="FF0000"/>
                </a:solidFill>
                <a:latin typeface="Calibri"/>
                <a:ea typeface="Calibri"/>
                <a:cs typeface="Calibri"/>
                <a:sym typeface="Calibri"/>
              </a:rPr>
              <a:t>is the next token</a:t>
            </a:r>
            <a:r>
              <a:rPr lang="en" sz="1300">
                <a:solidFill>
                  <a:srgbClr val="6AA84F"/>
                </a:solidFill>
                <a:latin typeface="Calibri"/>
                <a:ea typeface="Calibri"/>
                <a:cs typeface="Calibri"/>
                <a:sym typeface="Calibri"/>
              </a:rPr>
              <a:t> in the sequence</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 Selection: The </a:t>
            </a:r>
            <a:r>
              <a:rPr lang="en" sz="1300" b="1">
                <a:solidFill>
                  <a:srgbClr val="FF0000"/>
                </a:solidFill>
                <a:latin typeface="Calibri"/>
                <a:ea typeface="Calibri"/>
                <a:cs typeface="Calibri"/>
                <a:sym typeface="Calibri"/>
              </a:rPr>
              <a:t>token with the highest probability</a:t>
            </a:r>
            <a:r>
              <a:rPr lang="en" sz="1300">
                <a:solidFill>
                  <a:srgbClr val="0F0F0F"/>
                </a:solidFill>
                <a:latin typeface="Calibri"/>
                <a:ea typeface="Calibri"/>
                <a:cs typeface="Calibri"/>
                <a:sym typeface="Calibri"/>
              </a:rPr>
              <a:t> is usually selected as the output. </a:t>
            </a:r>
            <a:r>
              <a:rPr lang="en" sz="1300">
                <a:solidFill>
                  <a:srgbClr val="6AA84F"/>
                </a:solidFill>
                <a:latin typeface="Calibri"/>
                <a:ea typeface="Calibri"/>
                <a:cs typeface="Calibri"/>
                <a:sym typeface="Calibri"/>
              </a:rPr>
              <a:t>In some cases, techniques like beam search, temperature-controlled sampling, or top-k sampling are used to generate more varied or contextually appropriate responses.</a:t>
            </a:r>
            <a:endParaRPr sz="1300">
              <a:solidFill>
                <a:srgbClr val="6AA84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generated token is fed back into the model - it is converted into embedding and added as part of the input at the very first transformer layer. It becomes part of the input sequence for the next iteration of the processing.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new sequence is propagated through all layers - and end up generating </a:t>
            </a:r>
            <a:r>
              <a:rPr lang="en" sz="1300" b="1">
                <a:solidFill>
                  <a:srgbClr val="FF0000"/>
                </a:solidFill>
                <a:latin typeface="Calibri"/>
                <a:ea typeface="Calibri"/>
                <a:cs typeface="Calibri"/>
                <a:sym typeface="Calibri"/>
              </a:rPr>
              <a:t>next output token</a:t>
            </a:r>
            <a:r>
              <a:rPr lang="en" sz="1300">
                <a:solidFill>
                  <a:srgbClr val="0F0F0F"/>
                </a:solidFill>
                <a:latin typeface="Calibri"/>
                <a:ea typeface="Calibri"/>
                <a:cs typeface="Calibri"/>
                <a:sym typeface="Calibri"/>
              </a:rPr>
              <a:t>. This process repeated again and again. Each generated token is fed back into the model as part of the input for generating the next token, continuing until a stop condition is met (like generating a full stop or reaching a maximum length).</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Tokens are converted into words - and printed on the output.</a:t>
            </a:r>
            <a:endParaRPr sz="1300">
              <a:solidFill>
                <a:srgbClr val="0F0F0F"/>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26"/>
          <p:cNvSpPr txBox="1"/>
          <p:nvPr/>
        </p:nvSpPr>
        <p:spPr>
          <a:xfrm>
            <a:off x="72300" y="0"/>
            <a:ext cx="6477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Tokenization &amp; Embeddings</a:t>
            </a:r>
            <a:endParaRPr sz="2000" b="1">
              <a:latin typeface="Calibri"/>
              <a:ea typeface="Calibri"/>
              <a:cs typeface="Calibri"/>
              <a:sym typeface="Calibri"/>
            </a:endParaRPr>
          </a:p>
        </p:txBody>
      </p:sp>
      <p:sp>
        <p:nvSpPr>
          <p:cNvPr id="288" name="Google Shape;288;p26"/>
          <p:cNvSpPr txBox="1"/>
          <p:nvPr/>
        </p:nvSpPr>
        <p:spPr>
          <a:xfrm>
            <a:off x="109350" y="1448738"/>
            <a:ext cx="55935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Embeddings = vectors representing words or tokens</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"Efficient Estimation of Word Representations in Vector Space"</a:t>
            </a:r>
            <a:endParaRPr sz="1300" b="1">
              <a:solidFill>
                <a:srgbClr val="3C78D8"/>
              </a:solidFill>
              <a:latin typeface="Calibri"/>
              <a:ea typeface="Calibri"/>
              <a:cs typeface="Calibri"/>
              <a:sym typeface="Calibri"/>
            </a:endParaRPr>
          </a:p>
          <a:p>
            <a:pPr marL="0" lvl="0" indent="0" algn="l" rtl="0">
              <a:spcBef>
                <a:spcPts val="0"/>
              </a:spcBef>
              <a:spcAft>
                <a:spcPts val="0"/>
              </a:spcAft>
              <a:buNone/>
            </a:pPr>
            <a:r>
              <a:rPr lang="en" sz="1300" b="1">
                <a:solidFill>
                  <a:srgbClr val="3C78D8"/>
                </a:solidFill>
                <a:latin typeface="Calibri"/>
                <a:ea typeface="Calibri"/>
                <a:cs typeface="Calibri"/>
                <a:sym typeface="Calibri"/>
              </a:rPr>
              <a:t>word2vec</a:t>
            </a:r>
            <a:r>
              <a:rPr lang="en" sz="1300">
                <a:solidFill>
                  <a:srgbClr val="0F0F0F"/>
                </a:solidFill>
                <a:latin typeface="Calibri"/>
                <a:ea typeface="Calibri"/>
                <a:cs typeface="Calibri"/>
                <a:sym typeface="Calibri"/>
              </a:rPr>
              <a:t> (Tomas Mikolov, 2013, Google) - </a:t>
            </a:r>
            <a:r>
              <a:rPr lang="en" sz="1300" u="sng">
                <a:solidFill>
                  <a:schemeClr val="hlink"/>
                </a:solidFill>
                <a:latin typeface="Calibri"/>
                <a:ea typeface="Calibri"/>
                <a:cs typeface="Calibri"/>
                <a:sym typeface="Calibri"/>
                <a:hlinkClick r:id="rId3"/>
              </a:rPr>
              <a:t>https://arxiv.org/abs/1301.3781</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(note - dimensions of vectors were only 50..100) </a:t>
            </a:r>
            <a:endParaRPr sz="1300">
              <a:solidFill>
                <a:srgbClr val="0F0F0F"/>
              </a:solidFill>
              <a:latin typeface="Calibri"/>
              <a:ea typeface="Calibri"/>
              <a:cs typeface="Calibri"/>
              <a:sym typeface="Calibri"/>
            </a:endParaRPr>
          </a:p>
        </p:txBody>
      </p:sp>
      <p:grpSp>
        <p:nvGrpSpPr>
          <p:cNvPr id="289" name="Google Shape;289;p26"/>
          <p:cNvGrpSpPr/>
          <p:nvPr/>
        </p:nvGrpSpPr>
        <p:grpSpPr>
          <a:xfrm>
            <a:off x="6052663" y="914400"/>
            <a:ext cx="3003995" cy="2156325"/>
            <a:chOff x="6052663" y="990600"/>
            <a:chExt cx="3003995" cy="2156325"/>
          </a:xfrm>
        </p:grpSpPr>
        <p:pic>
          <p:nvPicPr>
            <p:cNvPr id="290" name="Google Shape;290;p26"/>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7898958" y="990600"/>
              <a:ext cx="1157700" cy="1486723"/>
            </a:xfrm>
            <a:prstGeom prst="rect">
              <a:avLst/>
            </a:prstGeom>
            <a:noFill/>
            <a:ln>
              <a:noFill/>
            </a:ln>
          </p:spPr>
        </p:pic>
        <p:sp>
          <p:nvSpPr>
            <p:cNvPr id="291" name="Google Shape;291;p26"/>
            <p:cNvSpPr txBox="1"/>
            <p:nvPr/>
          </p:nvSpPr>
          <p:spPr>
            <a:xfrm>
              <a:off x="7898958" y="2477325"/>
              <a:ext cx="1157700" cy="669600"/>
            </a:xfrm>
            <a:prstGeom prst="rect">
              <a:avLst/>
            </a:prstGeom>
            <a:noFill/>
            <a:ln>
              <a:noFill/>
            </a:ln>
          </p:spPr>
          <p:txBody>
            <a:bodyPr spcFirstLastPara="1" wrap="square" lIns="68575" tIns="34275" rIns="68575" bIns="34275" anchor="t" anchorCtr="0">
              <a:spAutoFit/>
            </a:bodyPr>
            <a:lstStyle/>
            <a:p>
              <a:pPr marL="0" marR="0" lvl="0" indent="0" algn="ctr" rtl="0">
                <a:spcBef>
                  <a:spcPts val="0"/>
                </a:spcBef>
                <a:spcAft>
                  <a:spcPts val="0"/>
                </a:spcAft>
                <a:buClr>
                  <a:schemeClr val="dk1"/>
                </a:buClr>
                <a:buSzPts val="2100"/>
                <a:buFont typeface="Calibri"/>
                <a:buNone/>
              </a:pPr>
              <a:r>
                <a:rPr lang="en" sz="1300">
                  <a:solidFill>
                    <a:schemeClr val="dk1"/>
                  </a:solidFill>
                  <a:latin typeface="Calibri"/>
                  <a:ea typeface="Calibri"/>
                  <a:cs typeface="Calibri"/>
                  <a:sym typeface="Calibri"/>
                </a:rPr>
                <a:t>Tomas Mikolov</a:t>
              </a:r>
              <a:endParaRPr sz="1300">
                <a:solidFill>
                  <a:schemeClr val="dk1"/>
                </a:solidFill>
                <a:latin typeface="Calibri"/>
                <a:ea typeface="Calibri"/>
                <a:cs typeface="Calibri"/>
                <a:sym typeface="Calibri"/>
              </a:endParaRPr>
            </a:p>
            <a:p>
              <a:pPr marL="0" marR="0" lvl="0" indent="0" algn="ctr" rtl="0">
                <a:spcBef>
                  <a:spcPts val="0"/>
                </a:spcBef>
                <a:spcAft>
                  <a:spcPts val="0"/>
                </a:spcAft>
                <a:buClr>
                  <a:schemeClr val="dk1"/>
                </a:buClr>
                <a:buSzPts val="2100"/>
                <a:buFont typeface="Calibri"/>
                <a:buNone/>
              </a:pPr>
              <a:r>
                <a:rPr lang="en" sz="1300">
                  <a:solidFill>
                    <a:schemeClr val="dk1"/>
                  </a:solidFill>
                  <a:latin typeface="Calibri"/>
                  <a:ea typeface="Calibri"/>
                  <a:cs typeface="Calibri"/>
                  <a:sym typeface="Calibri"/>
                </a:rPr>
                <a:t>word2vec</a:t>
              </a:r>
              <a:endParaRPr sz="1300">
                <a:solidFill>
                  <a:schemeClr val="dk1"/>
                </a:solidFill>
                <a:latin typeface="Calibri"/>
                <a:ea typeface="Calibri"/>
                <a:cs typeface="Calibri"/>
                <a:sym typeface="Calibri"/>
              </a:endParaRPr>
            </a:p>
            <a:p>
              <a:pPr marL="0" marR="0" lvl="0" indent="0" algn="ctr" rtl="0">
                <a:spcBef>
                  <a:spcPts val="0"/>
                </a:spcBef>
                <a:spcAft>
                  <a:spcPts val="0"/>
                </a:spcAft>
                <a:buClr>
                  <a:schemeClr val="dk1"/>
                </a:buClr>
                <a:buSzPts val="2100"/>
                <a:buFont typeface="Calibri"/>
                <a:buNone/>
              </a:pPr>
              <a:r>
                <a:rPr lang="en" sz="1300">
                  <a:solidFill>
                    <a:schemeClr val="dk1"/>
                  </a:solidFill>
                  <a:latin typeface="Calibri"/>
                  <a:ea typeface="Calibri"/>
                  <a:cs typeface="Calibri"/>
                  <a:sym typeface="Calibri"/>
                </a:rPr>
                <a:t>Google, 2013</a:t>
              </a:r>
              <a:endParaRPr sz="1300">
                <a:solidFill>
                  <a:schemeClr val="dk1"/>
                </a:solidFill>
                <a:latin typeface="Calibri"/>
                <a:ea typeface="Calibri"/>
                <a:cs typeface="Calibri"/>
                <a:sym typeface="Calibri"/>
              </a:endParaRPr>
            </a:p>
          </p:txBody>
        </p:sp>
        <p:pic>
          <p:nvPicPr>
            <p:cNvPr id="292" name="Google Shape;292;p26"/>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6052663" y="1479250"/>
              <a:ext cx="1530192" cy="1216300"/>
            </a:xfrm>
            <a:prstGeom prst="rect">
              <a:avLst/>
            </a:prstGeom>
            <a:noFill/>
            <a:ln>
              <a:noFill/>
            </a:ln>
          </p:spPr>
        </p:pic>
      </p:grpSp>
      <p:grpSp>
        <p:nvGrpSpPr>
          <p:cNvPr id="293" name="Google Shape;293;p26"/>
          <p:cNvGrpSpPr/>
          <p:nvPr/>
        </p:nvGrpSpPr>
        <p:grpSpPr>
          <a:xfrm>
            <a:off x="1103450" y="3977263"/>
            <a:ext cx="3033875" cy="907913"/>
            <a:chOff x="167475" y="3978263"/>
            <a:chExt cx="3033875" cy="907913"/>
          </a:xfrm>
        </p:grpSpPr>
        <p:sp>
          <p:nvSpPr>
            <p:cNvPr id="294" name="Google Shape;294;p26"/>
            <p:cNvSpPr txBox="1"/>
            <p:nvPr/>
          </p:nvSpPr>
          <p:spPr>
            <a:xfrm>
              <a:off x="1674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T1</a:t>
              </a:r>
              <a:endParaRPr sz="1300">
                <a:solidFill>
                  <a:srgbClr val="0F0F0F"/>
                </a:solidFill>
                <a:latin typeface="Calibri"/>
                <a:ea typeface="Calibri"/>
                <a:cs typeface="Calibri"/>
                <a:sym typeface="Calibri"/>
              </a:endParaRPr>
            </a:p>
          </p:txBody>
        </p:sp>
        <p:sp>
          <p:nvSpPr>
            <p:cNvPr id="295" name="Google Shape;295;p26"/>
            <p:cNvSpPr txBox="1"/>
            <p:nvPr/>
          </p:nvSpPr>
          <p:spPr>
            <a:xfrm>
              <a:off x="5233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T2</a:t>
              </a:r>
              <a:endParaRPr sz="1300">
                <a:solidFill>
                  <a:srgbClr val="0F0F0F"/>
                </a:solidFill>
                <a:latin typeface="Calibri"/>
                <a:ea typeface="Calibri"/>
                <a:cs typeface="Calibri"/>
                <a:sym typeface="Calibri"/>
              </a:endParaRPr>
            </a:p>
          </p:txBody>
        </p:sp>
        <p:sp>
          <p:nvSpPr>
            <p:cNvPr id="296" name="Google Shape;296;p26"/>
            <p:cNvSpPr txBox="1"/>
            <p:nvPr/>
          </p:nvSpPr>
          <p:spPr>
            <a:xfrm>
              <a:off x="1316550"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TN</a:t>
              </a:r>
              <a:endParaRPr sz="1300">
                <a:solidFill>
                  <a:srgbClr val="0F0F0F"/>
                </a:solidFill>
                <a:latin typeface="Calibri"/>
                <a:ea typeface="Calibri"/>
                <a:cs typeface="Calibri"/>
                <a:sym typeface="Calibri"/>
              </a:endParaRPr>
            </a:p>
          </p:txBody>
        </p:sp>
        <p:sp>
          <p:nvSpPr>
            <p:cNvPr id="297" name="Google Shape;297;p26"/>
            <p:cNvSpPr txBox="1"/>
            <p:nvPr/>
          </p:nvSpPr>
          <p:spPr>
            <a:xfrm>
              <a:off x="848950" y="434437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298" name="Google Shape;298;p26"/>
            <p:cNvGrpSpPr/>
            <p:nvPr/>
          </p:nvGrpSpPr>
          <p:grpSpPr>
            <a:xfrm>
              <a:off x="2332100" y="3978263"/>
              <a:ext cx="118500" cy="907913"/>
              <a:chOff x="2332100" y="3673463"/>
              <a:chExt cx="118500" cy="907913"/>
            </a:xfrm>
          </p:grpSpPr>
          <p:sp>
            <p:nvSpPr>
              <p:cNvPr id="299" name="Google Shape;299;p26"/>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0" name="Google Shape;300;p26"/>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1" name="Google Shape;301;p26"/>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2" name="Google Shape;302;p26"/>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3" name="Google Shape;303;p26"/>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4" name="Google Shape;304;p26"/>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5" name="Google Shape;305;p26"/>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6" name="Google Shape;306;p26"/>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307" name="Google Shape;307;p26"/>
            <p:cNvGrpSpPr/>
            <p:nvPr/>
          </p:nvGrpSpPr>
          <p:grpSpPr>
            <a:xfrm>
              <a:off x="2536450" y="3978263"/>
              <a:ext cx="118500" cy="907913"/>
              <a:chOff x="2332100" y="3673463"/>
              <a:chExt cx="118500" cy="907913"/>
            </a:xfrm>
          </p:grpSpPr>
          <p:sp>
            <p:nvSpPr>
              <p:cNvPr id="308" name="Google Shape;308;p26"/>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09" name="Google Shape;309;p26"/>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0" name="Google Shape;310;p26"/>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1" name="Google Shape;311;p26"/>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2" name="Google Shape;312;p26"/>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3" name="Google Shape;313;p26"/>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4" name="Google Shape;314;p26"/>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5" name="Google Shape;315;p26"/>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16" name="Google Shape;316;p26"/>
            <p:cNvSpPr txBox="1"/>
            <p:nvPr/>
          </p:nvSpPr>
          <p:spPr>
            <a:xfrm>
              <a:off x="2664600" y="448552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17" name="Google Shape;317;p26"/>
            <p:cNvGrpSpPr/>
            <p:nvPr/>
          </p:nvGrpSpPr>
          <p:grpSpPr>
            <a:xfrm>
              <a:off x="3082850" y="3978263"/>
              <a:ext cx="118500" cy="907913"/>
              <a:chOff x="2332100" y="3673463"/>
              <a:chExt cx="118500" cy="907913"/>
            </a:xfrm>
          </p:grpSpPr>
          <p:sp>
            <p:nvSpPr>
              <p:cNvPr id="318" name="Google Shape;318;p26"/>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19" name="Google Shape;319;p26"/>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0" name="Google Shape;320;p26"/>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1" name="Google Shape;321;p26"/>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2" name="Google Shape;322;p26"/>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3" name="Google Shape;323;p26"/>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4" name="Google Shape;324;p26"/>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25" name="Google Shape;325;p26"/>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26" name="Google Shape;326;p26"/>
            <p:cNvSpPr/>
            <p:nvPr/>
          </p:nvSpPr>
          <p:spPr>
            <a:xfrm>
              <a:off x="1796750" y="4333875"/>
              <a:ext cx="321300" cy="2370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sp>
        <p:nvSpPr>
          <p:cNvPr id="327" name="Google Shape;327;p26"/>
          <p:cNvSpPr txBox="1"/>
          <p:nvPr/>
        </p:nvSpPr>
        <p:spPr>
          <a:xfrm>
            <a:off x="109350" y="416563"/>
            <a:ext cx="5593500" cy="63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Tokenization</a:t>
            </a:r>
            <a:r>
              <a:rPr lang="en" sz="1300">
                <a:solidFill>
                  <a:srgbClr val="0F0F0F"/>
                </a:solidFill>
                <a:latin typeface="Calibri"/>
                <a:ea typeface="Calibri"/>
                <a:cs typeface="Calibri"/>
                <a:sym typeface="Calibri"/>
              </a:rPr>
              <a:t> (especially subword tokenization) - reduce vocabulary size, facilitate sequence modeling, improve generalization, reduces complexity</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Average length of a token in English is 4 chars (a word is 5 chars)</a:t>
            </a:r>
            <a:endParaRPr sz="1300">
              <a:solidFill>
                <a:srgbClr val="0F0F0F"/>
              </a:solidFill>
              <a:latin typeface="Calibri"/>
              <a:ea typeface="Calibri"/>
              <a:cs typeface="Calibri"/>
              <a:sym typeface="Calibri"/>
            </a:endParaRPr>
          </a:p>
        </p:txBody>
      </p:sp>
      <p:sp>
        <p:nvSpPr>
          <p:cNvPr id="328" name="Google Shape;328;p26"/>
          <p:cNvSpPr txBox="1"/>
          <p:nvPr/>
        </p:nvSpPr>
        <p:spPr>
          <a:xfrm>
            <a:off x="109350" y="2709825"/>
            <a:ext cx="5593500" cy="1037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LLM: Converting a Sequence or Tokens  into a Sequence of Vectors </a:t>
            </a:r>
            <a:br>
              <a:rPr lang="en" sz="1300" b="1">
                <a:solidFill>
                  <a:srgbClr val="FF0000"/>
                </a:solidFill>
                <a:latin typeface="Calibri"/>
                <a:ea typeface="Calibri"/>
                <a:cs typeface="Calibri"/>
                <a:sym typeface="Calibri"/>
              </a:rPr>
            </a:br>
            <a:r>
              <a:rPr lang="en" sz="1300" b="1">
                <a:solidFill>
                  <a:srgbClr val="FF0000"/>
                </a:solidFill>
                <a:latin typeface="Calibri"/>
                <a:ea typeface="Calibri"/>
                <a:cs typeface="Calibri"/>
                <a:sym typeface="Calibri"/>
              </a:rPr>
              <a:t>(dimensions ~ 4K)</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 vector representation is better because it can hold the "meaning" of a word/token. Also can represent usage, context, or relationships with other tokens/vectors.</a:t>
            </a:r>
            <a:endParaRPr sz="1300" b="1">
              <a:solidFill>
                <a:srgbClr val="FF0000"/>
              </a:solidFill>
              <a:latin typeface="Calibri"/>
              <a:ea typeface="Calibri"/>
              <a:cs typeface="Calibri"/>
              <a:sym typeface="Calibri"/>
            </a:endParaRPr>
          </a:p>
        </p:txBody>
      </p:sp>
      <p:sp>
        <p:nvSpPr>
          <p:cNvPr id="329" name="Google Shape;329;p26"/>
          <p:cNvSpPr txBox="1"/>
          <p:nvPr/>
        </p:nvSpPr>
        <p:spPr>
          <a:xfrm>
            <a:off x="5899250" y="57975"/>
            <a:ext cx="3157800" cy="6372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tokenizer used by Mistral is a </a:t>
            </a:r>
            <a:r>
              <a:rPr lang="en" sz="1300" b="1">
                <a:solidFill>
                  <a:srgbClr val="FF0000"/>
                </a:solidFill>
                <a:latin typeface="Calibri"/>
                <a:ea typeface="Calibri"/>
                <a:cs typeface="Calibri"/>
                <a:sym typeface="Calibri"/>
              </a:rPr>
              <a:t>SentencePiece Byte-Pair Encoding tokenizer</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6"/>
              </a:rPr>
              <a:t>https://github.com/google/sentencepiece</a:t>
            </a:r>
            <a:r>
              <a:rPr lang="en" sz="1300">
                <a:solidFill>
                  <a:srgbClr val="0F0F0F"/>
                </a:solidFill>
                <a:latin typeface="Calibri"/>
                <a:ea typeface="Calibri"/>
                <a:cs typeface="Calibri"/>
                <a:sym typeface="Calibri"/>
              </a:rPr>
              <a:t> </a:t>
            </a:r>
            <a:endParaRPr sz="1300" b="1">
              <a:solidFill>
                <a:srgbClr val="FF0000"/>
              </a:solidFill>
              <a:latin typeface="Calibri"/>
              <a:ea typeface="Calibri"/>
              <a:cs typeface="Calibri"/>
              <a:sym typeface="Calibri"/>
            </a:endParaRPr>
          </a:p>
        </p:txBody>
      </p:sp>
      <p:sp>
        <p:nvSpPr>
          <p:cNvPr id="330" name="Google Shape;330;p26"/>
          <p:cNvSpPr txBox="1"/>
          <p:nvPr/>
        </p:nvSpPr>
        <p:spPr>
          <a:xfrm>
            <a:off x="5899250" y="3335875"/>
            <a:ext cx="3157800" cy="8373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Mistral doesn't use a separate, standalone 'embedding matrix'. Mistral uses its own trainable function as part of the model architecture.</a:t>
            </a:r>
            <a:endParaRPr sz="1300">
              <a:solidFill>
                <a:srgbClr val="0F0F0F"/>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sp>
        <p:nvSpPr>
          <p:cNvPr id="335" name="Google Shape;335;p27"/>
          <p:cNvSpPr txBox="1"/>
          <p:nvPr/>
        </p:nvSpPr>
        <p:spPr>
          <a:xfrm>
            <a:off x="72300" y="0"/>
            <a:ext cx="4371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Embedding Models Work</a:t>
            </a:r>
            <a:endParaRPr sz="2000" b="1">
              <a:latin typeface="Calibri"/>
              <a:ea typeface="Calibri"/>
              <a:cs typeface="Calibri"/>
              <a:sym typeface="Calibri"/>
            </a:endParaRPr>
          </a:p>
        </p:txBody>
      </p:sp>
      <p:sp>
        <p:nvSpPr>
          <p:cNvPr id="336" name="Google Shape;336;p27"/>
          <p:cNvSpPr txBox="1"/>
          <p:nvPr/>
        </p:nvSpPr>
        <p:spPr>
          <a:xfrm>
            <a:off x="212700" y="516550"/>
            <a:ext cx="6849900" cy="403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An </a:t>
            </a:r>
            <a:r>
              <a:rPr lang="en" sz="1300" b="1">
                <a:solidFill>
                  <a:srgbClr val="FF0000"/>
                </a:solidFill>
                <a:latin typeface="Calibri"/>
                <a:ea typeface="Calibri"/>
                <a:cs typeface="Calibri"/>
                <a:sym typeface="Calibri"/>
              </a:rPr>
              <a:t>Embedding Model</a:t>
            </a:r>
            <a:r>
              <a:rPr lang="en" sz="1300">
                <a:solidFill>
                  <a:srgbClr val="0F0F0F"/>
                </a:solidFill>
                <a:latin typeface="Calibri"/>
                <a:ea typeface="Calibri"/>
                <a:cs typeface="Calibri"/>
                <a:sym typeface="Calibri"/>
              </a:rPr>
              <a:t> creates a single </a:t>
            </a:r>
            <a:r>
              <a:rPr lang="en" sz="1300" b="1">
                <a:solidFill>
                  <a:srgbClr val="FF0000"/>
                </a:solidFill>
                <a:latin typeface="Calibri"/>
                <a:ea typeface="Calibri"/>
                <a:cs typeface="Calibri"/>
                <a:sym typeface="Calibri"/>
              </a:rPr>
              <a:t>embedding vector</a:t>
            </a:r>
            <a:r>
              <a:rPr lang="en" sz="1300">
                <a:solidFill>
                  <a:srgbClr val="0F0F0F"/>
                </a:solidFill>
                <a:latin typeface="Calibri"/>
                <a:ea typeface="Calibri"/>
                <a:cs typeface="Calibri"/>
                <a:sym typeface="Calibri"/>
              </a:rPr>
              <a:t> from a large number of </a:t>
            </a:r>
            <a:r>
              <a:rPr lang="en" sz="1300" b="1">
                <a:solidFill>
                  <a:srgbClr val="FF0000"/>
                </a:solidFill>
                <a:latin typeface="Calibri"/>
                <a:ea typeface="Calibri"/>
                <a:cs typeface="Calibri"/>
                <a:sym typeface="Calibri"/>
              </a:rPr>
              <a:t>input tokens</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First, the input text is tokenized. Then each token is mapped to initial embeddings (typically of size 256, 512, 768, ...) which are obtained from a pre-trained embedding layer (using a </a:t>
            </a:r>
            <a:r>
              <a:rPr lang="en" sz="1300" b="1">
                <a:solidFill>
                  <a:srgbClr val="FF0000"/>
                </a:solidFill>
                <a:latin typeface="Calibri"/>
                <a:ea typeface="Calibri"/>
                <a:cs typeface="Calibri"/>
                <a:sym typeface="Calibri"/>
              </a:rPr>
              <a:t>lookup table</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In advanced </a:t>
            </a:r>
            <a:r>
              <a:rPr lang="en" sz="1300" b="1">
                <a:solidFill>
                  <a:srgbClr val="FF0000"/>
                </a:solidFill>
                <a:latin typeface="Calibri"/>
                <a:ea typeface="Calibri"/>
                <a:cs typeface="Calibri"/>
                <a:sym typeface="Calibri"/>
              </a:rPr>
              <a:t>context-aware models</a:t>
            </a:r>
            <a:r>
              <a:rPr lang="en" sz="1300">
                <a:solidFill>
                  <a:srgbClr val="0F0F0F"/>
                </a:solidFill>
                <a:latin typeface="Calibri"/>
                <a:ea typeface="Calibri"/>
                <a:cs typeface="Calibri"/>
                <a:sym typeface="Calibri"/>
              </a:rPr>
              <a:t> like transformers (</a:t>
            </a:r>
            <a:r>
              <a:rPr lang="en" sz="1300" b="1">
                <a:solidFill>
                  <a:srgbClr val="FF0000"/>
                </a:solidFill>
                <a:latin typeface="Calibri"/>
                <a:ea typeface="Calibri"/>
                <a:cs typeface="Calibri"/>
                <a:sym typeface="Calibri"/>
              </a:rPr>
              <a:t>BERT, GPT</a:t>
            </a:r>
            <a:r>
              <a:rPr lang="en" sz="1300">
                <a:solidFill>
                  <a:srgbClr val="0F0F0F"/>
                </a:solidFill>
                <a:latin typeface="Calibri"/>
                <a:ea typeface="Calibri"/>
                <a:cs typeface="Calibri"/>
                <a:sym typeface="Calibri"/>
              </a:rPr>
              <a:t>), these embeddings are processed through multiple layers of </a:t>
            </a:r>
            <a:r>
              <a:rPr lang="en" sz="1300" b="1">
                <a:solidFill>
                  <a:srgbClr val="FF0000"/>
                </a:solidFill>
                <a:latin typeface="Calibri"/>
                <a:ea typeface="Calibri"/>
                <a:cs typeface="Calibri"/>
                <a:sym typeface="Calibri"/>
              </a:rPr>
              <a:t>self-attention</a:t>
            </a:r>
            <a:r>
              <a:rPr lang="en" sz="1300">
                <a:solidFill>
                  <a:srgbClr val="0F0F0F"/>
                </a:solidFill>
                <a:latin typeface="Calibri"/>
                <a:ea typeface="Calibri"/>
                <a:cs typeface="Calibri"/>
                <a:sym typeface="Calibri"/>
              </a:rPr>
              <a:t> and </a:t>
            </a:r>
            <a:r>
              <a:rPr lang="en" sz="1300" b="1">
                <a:solidFill>
                  <a:srgbClr val="FF0000"/>
                </a:solidFill>
                <a:latin typeface="Calibri"/>
                <a:ea typeface="Calibri"/>
                <a:cs typeface="Calibri"/>
                <a:sym typeface="Calibri"/>
              </a:rPr>
              <a:t>feed-forward</a:t>
            </a:r>
            <a:r>
              <a:rPr lang="en" sz="1300">
                <a:solidFill>
                  <a:srgbClr val="0F0F0F"/>
                </a:solidFill>
                <a:latin typeface="Calibri"/>
                <a:ea typeface="Calibri"/>
                <a:cs typeface="Calibri"/>
                <a:sym typeface="Calibri"/>
              </a:rPr>
              <a:t> neural networks.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To compress these many token embeddings into a single vector,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model employs an </a:t>
            </a:r>
            <a:r>
              <a:rPr lang="en" sz="1300" b="1">
                <a:solidFill>
                  <a:srgbClr val="FF0000"/>
                </a:solidFill>
                <a:latin typeface="Calibri"/>
                <a:ea typeface="Calibri"/>
                <a:cs typeface="Calibri"/>
                <a:sym typeface="Calibri"/>
              </a:rPr>
              <a:t>aggregation strategy</a:t>
            </a:r>
            <a:r>
              <a:rPr lang="en" sz="1300">
                <a:solidFill>
                  <a:srgbClr val="0F0F0F"/>
                </a:solidFill>
                <a:latin typeface="Calibri"/>
                <a:ea typeface="Calibri"/>
                <a:cs typeface="Calibri"/>
                <a:sym typeface="Calibri"/>
              </a:rPr>
              <a:t>. Common methods include:</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Pooling</a:t>
            </a:r>
            <a:r>
              <a:rPr lang="en" sz="1300">
                <a:solidFill>
                  <a:srgbClr val="0F0F0F"/>
                </a:solidFill>
                <a:latin typeface="Calibri"/>
                <a:ea typeface="Calibri"/>
                <a:cs typeface="Calibri"/>
                <a:sym typeface="Calibri"/>
              </a:rPr>
              <a:t>: Techniques like mean pooling or max pooling (averaging)</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Attention</a:t>
            </a:r>
            <a:r>
              <a:rPr lang="en" sz="1300">
                <a:solidFill>
                  <a:srgbClr val="0F0F0F"/>
                </a:solidFill>
                <a:latin typeface="Calibri"/>
                <a:ea typeface="Calibri"/>
                <a:cs typeface="Calibri"/>
                <a:sym typeface="Calibri"/>
              </a:rPr>
              <a:t> Mechanisms - to weight the embeddings differently before combining them, focusing on more relevant parts of the input</a:t>
            </a:r>
            <a:endParaRPr sz="1300">
              <a:solidFill>
                <a:srgbClr val="0F0F0F"/>
              </a:solidFill>
              <a:latin typeface="Calibri"/>
              <a:ea typeface="Calibri"/>
              <a:cs typeface="Calibri"/>
              <a:sym typeface="Calibri"/>
            </a:endParaRPr>
          </a:p>
          <a:p>
            <a:pPr marL="457200" lvl="0" indent="-3111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Linear fully-connected layers</a:t>
            </a:r>
            <a:r>
              <a:rPr lang="en" sz="1300">
                <a:solidFill>
                  <a:srgbClr val="0F0F0F"/>
                </a:solidFill>
                <a:latin typeface="Calibri"/>
                <a:ea typeface="Calibri"/>
                <a:cs typeface="Calibri"/>
                <a:sym typeface="Calibri"/>
              </a:rPr>
              <a:t> to reduce number of dimensions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resulting vector might undergo </a:t>
            </a:r>
            <a:r>
              <a:rPr lang="en" sz="1300" b="1">
                <a:solidFill>
                  <a:srgbClr val="6AA84F"/>
                </a:solidFill>
                <a:latin typeface="Calibri"/>
                <a:ea typeface="Calibri"/>
                <a:cs typeface="Calibri"/>
                <a:sym typeface="Calibri"/>
              </a:rPr>
              <a:t>normalization</a:t>
            </a:r>
            <a:r>
              <a:rPr lang="en" sz="1300">
                <a:solidFill>
                  <a:srgbClr val="0F0F0F"/>
                </a:solidFill>
                <a:latin typeface="Calibri"/>
                <a:ea typeface="Calibri"/>
                <a:cs typeface="Calibri"/>
                <a:sym typeface="Calibri"/>
              </a:rPr>
              <a:t> and other processing steps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final output is a single embedding vector of the desired length, encapsulating the information from the large number of input tokens.</a:t>
            </a:r>
            <a:endParaRPr sz="1300">
              <a:solidFill>
                <a:srgbClr val="0F0F0F"/>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1" name="Google Shape;341;p28"/>
          <p:cNvSpPr txBox="1"/>
          <p:nvPr/>
        </p:nvSpPr>
        <p:spPr>
          <a:xfrm>
            <a:off x="72300" y="0"/>
            <a:ext cx="6477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LLM: How Positional Information is Added into Embeddings</a:t>
            </a:r>
            <a:endParaRPr sz="2000" b="1">
              <a:latin typeface="Calibri"/>
              <a:ea typeface="Calibri"/>
              <a:cs typeface="Calibri"/>
              <a:sym typeface="Calibri"/>
            </a:endParaRPr>
          </a:p>
        </p:txBody>
      </p:sp>
      <p:sp>
        <p:nvSpPr>
          <p:cNvPr id="342" name="Google Shape;342;p28"/>
          <p:cNvSpPr txBox="1"/>
          <p:nvPr/>
        </p:nvSpPr>
        <p:spPr>
          <a:xfrm>
            <a:off x="109350" y="500375"/>
            <a:ext cx="5593500" cy="1637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Adding Positional Information to Embedding Vectors: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positional encoding for each position is added element-wise to the corresponding embedding vector. This is done at the "bottom" of encoder and decoder stacks of the transformer.</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For each even/odd index of the embedding vector we calculate positional encoding using sin() or cos() functions as following:</a:t>
            </a:r>
            <a:endParaRPr sz="1300">
              <a:solidFill>
                <a:srgbClr val="0F0F0F"/>
              </a:solidFill>
              <a:latin typeface="Calibri"/>
              <a:ea typeface="Calibri"/>
              <a:cs typeface="Calibri"/>
              <a:sym typeface="Calibri"/>
            </a:endParaRPr>
          </a:p>
        </p:txBody>
      </p:sp>
      <p:pic>
        <p:nvPicPr>
          <p:cNvPr id="343" name="Google Shape;343;p2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414150" y="2299125"/>
            <a:ext cx="2425100" cy="1112600"/>
          </a:xfrm>
          <a:prstGeom prst="rect">
            <a:avLst/>
          </a:prstGeom>
          <a:noFill/>
          <a:ln>
            <a:noFill/>
          </a:ln>
        </p:spPr>
      </p:pic>
      <p:sp>
        <p:nvSpPr>
          <p:cNvPr id="344" name="Google Shape;344;p28"/>
          <p:cNvSpPr txBox="1"/>
          <p:nvPr/>
        </p:nvSpPr>
        <p:spPr>
          <a:xfrm>
            <a:off x="72300" y="3084875"/>
            <a:ext cx="5593500" cy="63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reason for using both sine and cosine is to allow the model to more easily learn to attend </a:t>
            </a:r>
            <a:r>
              <a:rPr lang="en" sz="1300" b="1">
                <a:solidFill>
                  <a:srgbClr val="FF0000"/>
                </a:solidFill>
                <a:latin typeface="Calibri"/>
                <a:ea typeface="Calibri"/>
                <a:cs typeface="Calibri"/>
                <a:sym typeface="Calibri"/>
              </a:rPr>
              <a:t>by relative positions</a:t>
            </a:r>
            <a:r>
              <a:rPr lang="en" sz="1300">
                <a:solidFill>
                  <a:srgbClr val="0F0F0F"/>
                </a:solidFill>
                <a:latin typeface="Calibri"/>
                <a:ea typeface="Calibri"/>
                <a:cs typeface="Calibri"/>
                <a:sym typeface="Calibri"/>
              </a:rPr>
              <a:t> since for any fixed offset k, sin(x+k) and cos(x+k) can be represented as linear transformations of sin(x) and cos(x).</a:t>
            </a:r>
            <a:endParaRPr sz="1300">
              <a:solidFill>
                <a:srgbClr val="0F0F0F"/>
              </a:solidFill>
              <a:latin typeface="Calibri"/>
              <a:ea typeface="Calibri"/>
              <a:cs typeface="Calibri"/>
              <a:sym typeface="Calibri"/>
            </a:endParaRPr>
          </a:p>
        </p:txBody>
      </p:sp>
      <p:sp>
        <p:nvSpPr>
          <p:cNvPr id="345" name="Google Shape;345;p28"/>
          <p:cNvSpPr txBox="1"/>
          <p:nvPr/>
        </p:nvSpPr>
        <p:spPr>
          <a:xfrm>
            <a:off x="72300" y="3830550"/>
            <a:ext cx="5593500" cy="83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This positional encoding is added element-wise to the embedding vector of the corresponding token. This way, each index "i" in the embedding vector is adjusted based on the position of the token in the sequence, with even indices being adjusted by a sine-based value and odd indices by a cosine-based value.</a:t>
            </a:r>
            <a:endParaRPr sz="1300">
              <a:solidFill>
                <a:srgbClr val="0F0F0F"/>
              </a:solidFill>
              <a:latin typeface="Calibri"/>
              <a:ea typeface="Calibri"/>
              <a:cs typeface="Calibri"/>
              <a:sym typeface="Calibri"/>
            </a:endParaRPr>
          </a:p>
        </p:txBody>
      </p:sp>
      <p:grpSp>
        <p:nvGrpSpPr>
          <p:cNvPr id="346" name="Google Shape;346;p28"/>
          <p:cNvGrpSpPr/>
          <p:nvPr/>
        </p:nvGrpSpPr>
        <p:grpSpPr>
          <a:xfrm>
            <a:off x="6015525" y="797113"/>
            <a:ext cx="3033875" cy="907913"/>
            <a:chOff x="167475" y="3978263"/>
            <a:chExt cx="3033875" cy="907913"/>
          </a:xfrm>
        </p:grpSpPr>
        <p:sp>
          <p:nvSpPr>
            <p:cNvPr id="347" name="Google Shape;347;p28"/>
            <p:cNvSpPr txBox="1"/>
            <p:nvPr/>
          </p:nvSpPr>
          <p:spPr>
            <a:xfrm>
              <a:off x="1674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T1</a:t>
              </a:r>
              <a:endParaRPr sz="1300">
                <a:solidFill>
                  <a:srgbClr val="0F0F0F"/>
                </a:solidFill>
                <a:latin typeface="Calibri"/>
                <a:ea typeface="Calibri"/>
                <a:cs typeface="Calibri"/>
                <a:sym typeface="Calibri"/>
              </a:endParaRPr>
            </a:p>
          </p:txBody>
        </p:sp>
        <p:sp>
          <p:nvSpPr>
            <p:cNvPr id="348" name="Google Shape;348;p28"/>
            <p:cNvSpPr txBox="1"/>
            <p:nvPr/>
          </p:nvSpPr>
          <p:spPr>
            <a:xfrm>
              <a:off x="523375"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T2</a:t>
              </a:r>
              <a:endParaRPr sz="1300">
                <a:solidFill>
                  <a:srgbClr val="0F0F0F"/>
                </a:solidFill>
                <a:latin typeface="Calibri"/>
                <a:ea typeface="Calibri"/>
                <a:cs typeface="Calibri"/>
                <a:sym typeface="Calibri"/>
              </a:endParaRPr>
            </a:p>
          </p:txBody>
        </p:sp>
        <p:sp>
          <p:nvSpPr>
            <p:cNvPr id="349" name="Google Shape;349;p28"/>
            <p:cNvSpPr txBox="1"/>
            <p:nvPr/>
          </p:nvSpPr>
          <p:spPr>
            <a:xfrm>
              <a:off x="1316550" y="4344375"/>
              <a:ext cx="233100" cy="23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1300">
                  <a:solidFill>
                    <a:srgbClr val="0F0F0F"/>
                  </a:solidFill>
                  <a:latin typeface="Calibri"/>
                  <a:ea typeface="Calibri"/>
                  <a:cs typeface="Calibri"/>
                  <a:sym typeface="Calibri"/>
                </a:rPr>
                <a:t>TN</a:t>
              </a:r>
              <a:endParaRPr sz="1300">
                <a:solidFill>
                  <a:srgbClr val="0F0F0F"/>
                </a:solidFill>
                <a:latin typeface="Calibri"/>
                <a:ea typeface="Calibri"/>
                <a:cs typeface="Calibri"/>
                <a:sym typeface="Calibri"/>
              </a:endParaRPr>
            </a:p>
          </p:txBody>
        </p:sp>
        <p:sp>
          <p:nvSpPr>
            <p:cNvPr id="350" name="Google Shape;350;p28"/>
            <p:cNvSpPr txBox="1"/>
            <p:nvPr/>
          </p:nvSpPr>
          <p:spPr>
            <a:xfrm>
              <a:off x="848950" y="434437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51" name="Google Shape;351;p28"/>
            <p:cNvGrpSpPr/>
            <p:nvPr/>
          </p:nvGrpSpPr>
          <p:grpSpPr>
            <a:xfrm>
              <a:off x="2332100" y="3978263"/>
              <a:ext cx="118500" cy="907913"/>
              <a:chOff x="2332100" y="3673463"/>
              <a:chExt cx="118500" cy="907913"/>
            </a:xfrm>
          </p:grpSpPr>
          <p:sp>
            <p:nvSpPr>
              <p:cNvPr id="352" name="Google Shape;352;p28"/>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3" name="Google Shape;353;p28"/>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4" name="Google Shape;354;p28"/>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5" name="Google Shape;355;p28"/>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6" name="Google Shape;356;p28"/>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7" name="Google Shape;357;p28"/>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8" name="Google Shape;358;p28"/>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59" name="Google Shape;359;p28"/>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grpSp>
          <p:nvGrpSpPr>
            <p:cNvPr id="360" name="Google Shape;360;p28"/>
            <p:cNvGrpSpPr/>
            <p:nvPr/>
          </p:nvGrpSpPr>
          <p:grpSpPr>
            <a:xfrm>
              <a:off x="2536450" y="3978263"/>
              <a:ext cx="118500" cy="907913"/>
              <a:chOff x="2332100" y="3673463"/>
              <a:chExt cx="118500" cy="907913"/>
            </a:xfrm>
          </p:grpSpPr>
          <p:sp>
            <p:nvSpPr>
              <p:cNvPr id="361" name="Google Shape;361;p28"/>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2" name="Google Shape;362;p28"/>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3" name="Google Shape;363;p28"/>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4" name="Google Shape;364;p28"/>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5" name="Google Shape;365;p28"/>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6" name="Google Shape;366;p28"/>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7" name="Google Shape;367;p28"/>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68" name="Google Shape;368;p28"/>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69" name="Google Shape;369;p28"/>
            <p:cNvSpPr txBox="1"/>
            <p:nvPr/>
          </p:nvSpPr>
          <p:spPr>
            <a:xfrm>
              <a:off x="2664600" y="4485525"/>
              <a:ext cx="380100" cy="237000"/>
            </a:xfrm>
            <a:prstGeom prst="rect">
              <a:avLst/>
            </a:prstGeom>
            <a:noFill/>
            <a:ln>
              <a:noFill/>
            </a:ln>
          </p:spPr>
          <p:txBody>
            <a:bodyPr spcFirstLastPara="1" wrap="square" lIns="18275" tIns="18275" rIns="18275" bIns="18275" anchor="t" anchorCtr="0">
              <a:spAutoFit/>
            </a:bodyPr>
            <a:lstStyle/>
            <a:p>
              <a:pPr marL="0" lvl="0" indent="0" algn="ctr" rtl="0">
                <a:spcBef>
                  <a:spcPts val="0"/>
                </a:spcBef>
                <a:spcAft>
                  <a:spcPts val="0"/>
                </a:spcAft>
                <a:buNone/>
              </a:pPr>
              <a:r>
                <a:rPr lang="en" sz="1300" b="1">
                  <a:solidFill>
                    <a:srgbClr val="0F0F0F"/>
                  </a:solidFill>
                  <a:latin typeface="Calibri"/>
                  <a:ea typeface="Calibri"/>
                  <a:cs typeface="Calibri"/>
                  <a:sym typeface="Calibri"/>
                </a:rPr>
                <a:t>. . .</a:t>
              </a:r>
              <a:endParaRPr sz="1300" b="1">
                <a:solidFill>
                  <a:srgbClr val="0F0F0F"/>
                </a:solidFill>
                <a:latin typeface="Calibri"/>
                <a:ea typeface="Calibri"/>
                <a:cs typeface="Calibri"/>
                <a:sym typeface="Calibri"/>
              </a:endParaRPr>
            </a:p>
          </p:txBody>
        </p:sp>
        <p:grpSp>
          <p:nvGrpSpPr>
            <p:cNvPr id="370" name="Google Shape;370;p28"/>
            <p:cNvGrpSpPr/>
            <p:nvPr/>
          </p:nvGrpSpPr>
          <p:grpSpPr>
            <a:xfrm>
              <a:off x="3082850" y="3978263"/>
              <a:ext cx="118500" cy="907913"/>
              <a:chOff x="2332100" y="3673463"/>
              <a:chExt cx="118500" cy="907913"/>
            </a:xfrm>
          </p:grpSpPr>
          <p:sp>
            <p:nvSpPr>
              <p:cNvPr id="371" name="Google Shape;371;p28"/>
              <p:cNvSpPr txBox="1"/>
              <p:nvPr/>
            </p:nvSpPr>
            <p:spPr>
              <a:xfrm>
                <a:off x="2332100" y="4467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2" name="Google Shape;372;p28"/>
              <p:cNvSpPr txBox="1"/>
              <p:nvPr/>
            </p:nvSpPr>
            <p:spPr>
              <a:xfrm>
                <a:off x="2332100" y="4353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3" name="Google Shape;373;p28"/>
              <p:cNvSpPr txBox="1"/>
              <p:nvPr/>
            </p:nvSpPr>
            <p:spPr>
              <a:xfrm>
                <a:off x="2332100" y="4239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4" name="Google Shape;374;p28"/>
              <p:cNvSpPr txBox="1"/>
              <p:nvPr/>
            </p:nvSpPr>
            <p:spPr>
              <a:xfrm>
                <a:off x="2332100" y="4125375"/>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5" name="Google Shape;375;p28"/>
              <p:cNvSpPr txBox="1"/>
              <p:nvPr/>
            </p:nvSpPr>
            <p:spPr>
              <a:xfrm>
                <a:off x="2332100" y="4015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6" name="Google Shape;376;p28"/>
              <p:cNvSpPr txBox="1"/>
              <p:nvPr/>
            </p:nvSpPr>
            <p:spPr>
              <a:xfrm>
                <a:off x="2332100" y="3901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7" name="Google Shape;377;p28"/>
              <p:cNvSpPr txBox="1"/>
              <p:nvPr/>
            </p:nvSpPr>
            <p:spPr>
              <a:xfrm>
                <a:off x="2332100" y="3787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sp>
            <p:nvSpPr>
              <p:cNvPr id="378" name="Google Shape;378;p28"/>
              <p:cNvSpPr txBox="1"/>
              <p:nvPr/>
            </p:nvSpPr>
            <p:spPr>
              <a:xfrm>
                <a:off x="2332100" y="3673463"/>
                <a:ext cx="118500" cy="11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ctr" rtl="0">
                  <a:spcBef>
                    <a:spcPts val="0"/>
                  </a:spcBef>
                  <a:spcAft>
                    <a:spcPts val="0"/>
                  </a:spcAft>
                  <a:buNone/>
                </a:pPr>
                <a:r>
                  <a:rPr lang="en" sz="500">
                    <a:solidFill>
                      <a:srgbClr val="0F0F0F"/>
                    </a:solidFill>
                    <a:latin typeface="Calibri"/>
                    <a:ea typeface="Calibri"/>
                    <a:cs typeface="Calibri"/>
                    <a:sym typeface="Calibri"/>
                  </a:rPr>
                  <a:t>.</a:t>
                </a:r>
                <a:endParaRPr sz="500">
                  <a:solidFill>
                    <a:srgbClr val="0F0F0F"/>
                  </a:solidFill>
                  <a:latin typeface="Calibri"/>
                  <a:ea typeface="Calibri"/>
                  <a:cs typeface="Calibri"/>
                  <a:sym typeface="Calibri"/>
                </a:endParaRPr>
              </a:p>
            </p:txBody>
          </p:sp>
        </p:grpSp>
        <p:sp>
          <p:nvSpPr>
            <p:cNvPr id="379" name="Google Shape;379;p28"/>
            <p:cNvSpPr/>
            <p:nvPr/>
          </p:nvSpPr>
          <p:spPr>
            <a:xfrm>
              <a:off x="1796750" y="4333875"/>
              <a:ext cx="321300" cy="237000"/>
            </a:xfrm>
            <a:prstGeom prst="righ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pic>
        <p:nvPicPr>
          <p:cNvPr id="380" name="Google Shape;380;p2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777853" y="2192825"/>
            <a:ext cx="4037400" cy="837300"/>
          </a:xfrm>
          <a:prstGeom prst="rect">
            <a:avLst/>
          </a:prstGeom>
          <a:noFill/>
          <a:ln>
            <a:noFill/>
          </a:ln>
        </p:spPr>
      </p:pic>
      <p:sp>
        <p:nvSpPr>
          <p:cNvPr id="381" name="Google Shape;381;p28"/>
          <p:cNvSpPr txBox="1"/>
          <p:nvPr/>
        </p:nvSpPr>
        <p:spPr>
          <a:xfrm>
            <a:off x="8345544" y="1847075"/>
            <a:ext cx="209100" cy="1725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1000">
                <a:solidFill>
                  <a:schemeClr val="dk2"/>
                </a:solidFill>
                <a:latin typeface="Calibri"/>
                <a:ea typeface="Calibri"/>
                <a:cs typeface="Calibri"/>
                <a:sym typeface="Calibri"/>
              </a:rPr>
              <a:t>pos</a:t>
            </a:r>
            <a:endParaRPr sz="1000">
              <a:solidFill>
                <a:schemeClr val="dk2"/>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29"/>
          <p:cNvSpPr txBox="1"/>
          <p:nvPr/>
        </p:nvSpPr>
        <p:spPr>
          <a:xfrm>
            <a:off x="72300" y="0"/>
            <a:ext cx="4371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What weights are learned inside LLM</a:t>
            </a:r>
            <a:endParaRPr sz="2000" b="1">
              <a:latin typeface="Calibri"/>
              <a:ea typeface="Calibri"/>
              <a:cs typeface="Calibri"/>
              <a:sym typeface="Calibri"/>
            </a:endParaRPr>
          </a:p>
        </p:txBody>
      </p:sp>
      <p:sp>
        <p:nvSpPr>
          <p:cNvPr id="387" name="Google Shape;387;p29"/>
          <p:cNvSpPr txBox="1"/>
          <p:nvPr/>
        </p:nvSpPr>
        <p:spPr>
          <a:xfrm>
            <a:off x="4572000" y="76200"/>
            <a:ext cx="4495800" cy="461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u="sng">
                <a:solidFill>
                  <a:schemeClr val="hlink"/>
                </a:solidFill>
                <a:latin typeface="Calibri"/>
                <a:ea typeface="Calibri"/>
                <a:cs typeface="Calibri"/>
                <a:sym typeface="Calibri"/>
                <a:hlinkClick r:id="rId3"/>
              </a:rPr>
              <a:t>https://www.researchgate.net/publication/357047476_Transformer-Based_Deep_Neural_Language_Modeling_for_Construct-Specific_Automatic_Item_Generation</a:t>
            </a:r>
            <a:r>
              <a:rPr lang="en" sz="900">
                <a:latin typeface="Calibri"/>
                <a:ea typeface="Calibri"/>
                <a:cs typeface="Calibri"/>
                <a:sym typeface="Calibri"/>
              </a:rPr>
              <a:t> </a:t>
            </a:r>
            <a:endParaRPr sz="900">
              <a:latin typeface="Calibri"/>
              <a:ea typeface="Calibri"/>
              <a:cs typeface="Calibri"/>
              <a:sym typeface="Calibri"/>
            </a:endParaRPr>
          </a:p>
        </p:txBody>
      </p:sp>
      <p:sp>
        <p:nvSpPr>
          <p:cNvPr id="388" name="Google Shape;388;p29"/>
          <p:cNvSpPr txBox="1"/>
          <p:nvPr/>
        </p:nvSpPr>
        <p:spPr>
          <a:xfrm>
            <a:off x="5468925" y="537900"/>
            <a:ext cx="3548700" cy="169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Each "head" of the attention mechanism uses 3 learned matrices Query (Q), Key (K), Value (V)</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and also learned Weight Matrix.</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 </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Also learned are weights of the Feed Forward Layer (FFL). The FFL is typically comprised of two  linear (fully connected) layers. </a:t>
            </a:r>
            <a:endParaRPr sz="1200">
              <a:solidFill>
                <a:srgbClr val="0F0F0F"/>
              </a:solidFill>
              <a:latin typeface="Calibri"/>
              <a:ea typeface="Calibri"/>
              <a:cs typeface="Calibri"/>
              <a:sym typeface="Calibri"/>
            </a:endParaRPr>
          </a:p>
          <a:p>
            <a:pPr marL="0" lvl="0" indent="0" algn="l" rtl="0">
              <a:spcBef>
                <a:spcPts val="0"/>
              </a:spcBef>
              <a:spcAft>
                <a:spcPts val="0"/>
              </a:spcAft>
              <a:buNone/>
            </a:pPr>
            <a:r>
              <a:rPr lang="en" sz="1200">
                <a:solidFill>
                  <a:srgbClr val="0F0F0F"/>
                </a:solidFill>
                <a:latin typeface="Calibri"/>
                <a:ea typeface="Calibri"/>
                <a:cs typeface="Calibri"/>
                <a:sym typeface="Calibri"/>
              </a:rPr>
              <a:t>The middle layer adds non-linearity. It is also usually 4 times larger than the input (and output) size.</a:t>
            </a:r>
            <a:endParaRPr sz="1200">
              <a:solidFill>
                <a:srgbClr val="0F0F0F"/>
              </a:solidFill>
              <a:latin typeface="Calibri"/>
              <a:ea typeface="Calibri"/>
              <a:cs typeface="Calibri"/>
              <a:sym typeface="Calibri"/>
            </a:endParaRPr>
          </a:p>
        </p:txBody>
      </p:sp>
      <p:pic>
        <p:nvPicPr>
          <p:cNvPr id="389" name="Google Shape;389;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122875" y="698298"/>
            <a:ext cx="5206398" cy="3600413"/>
          </a:xfrm>
          <a:prstGeom prst="rect">
            <a:avLst/>
          </a:prstGeom>
          <a:noFill/>
          <a:ln w="9525" cap="flat" cmpd="sng">
            <a:solidFill>
              <a:srgbClr val="FF0000"/>
            </a:solidFill>
            <a:prstDash val="solid"/>
            <a:round/>
            <a:headEnd type="none" w="sm" len="sm"/>
            <a:tailEnd type="none" w="sm" len="sm"/>
          </a:ln>
        </p:spPr>
      </p:pic>
      <p:sp>
        <p:nvSpPr>
          <p:cNvPr id="390" name="Google Shape;390;p29"/>
          <p:cNvSpPr/>
          <p:nvPr/>
        </p:nvSpPr>
        <p:spPr>
          <a:xfrm>
            <a:off x="674050" y="2783476"/>
            <a:ext cx="787864" cy="68639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391" name="Google Shape;391;p29"/>
          <p:cNvSpPr/>
          <p:nvPr/>
        </p:nvSpPr>
        <p:spPr>
          <a:xfrm>
            <a:off x="723050" y="2160563"/>
            <a:ext cx="787864" cy="62288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392" name="Google Shape;392;p29"/>
          <p:cNvSpPr/>
          <p:nvPr/>
        </p:nvSpPr>
        <p:spPr>
          <a:xfrm>
            <a:off x="1362500" y="1492374"/>
            <a:ext cx="787864" cy="62288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393" name="Google Shape;393;p29"/>
          <p:cNvSpPr/>
          <p:nvPr/>
        </p:nvSpPr>
        <p:spPr>
          <a:xfrm>
            <a:off x="3346406" y="2469730"/>
            <a:ext cx="2031428" cy="497838"/>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pic>
        <p:nvPicPr>
          <p:cNvPr id="394" name="Google Shape;394;p2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rot="-5400000">
            <a:off x="6878213" y="2278625"/>
            <a:ext cx="1232525" cy="1318600"/>
          </a:xfrm>
          <a:prstGeom prst="rect">
            <a:avLst/>
          </a:prstGeom>
          <a:noFill/>
          <a:ln>
            <a:noFill/>
          </a:ln>
        </p:spPr>
      </p:pic>
      <p:sp>
        <p:nvSpPr>
          <p:cNvPr id="395" name="Google Shape;395;p29"/>
          <p:cNvSpPr txBox="1"/>
          <p:nvPr/>
        </p:nvSpPr>
        <p:spPr>
          <a:xfrm>
            <a:off x="8098300" y="3264275"/>
            <a:ext cx="5337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Input</a:t>
            </a:r>
            <a:endParaRPr sz="1300">
              <a:solidFill>
                <a:srgbClr val="0F0F0F"/>
              </a:solidFill>
              <a:latin typeface="Calibri"/>
              <a:ea typeface="Calibri"/>
              <a:cs typeface="Calibri"/>
              <a:sym typeface="Calibri"/>
            </a:endParaRPr>
          </a:p>
        </p:txBody>
      </p:sp>
      <p:sp>
        <p:nvSpPr>
          <p:cNvPr id="396" name="Google Shape;396;p29"/>
          <p:cNvSpPr txBox="1"/>
          <p:nvPr/>
        </p:nvSpPr>
        <p:spPr>
          <a:xfrm>
            <a:off x="8033300" y="2272375"/>
            <a:ext cx="6156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Output</a:t>
            </a:r>
            <a:endParaRPr sz="1300">
              <a:solidFill>
                <a:srgbClr val="0F0F0F"/>
              </a:solidFill>
              <a:latin typeface="Calibri"/>
              <a:ea typeface="Calibri"/>
              <a:cs typeface="Calibri"/>
              <a:sym typeface="Calibri"/>
            </a:endParaRPr>
          </a:p>
        </p:txBody>
      </p:sp>
      <p:sp>
        <p:nvSpPr>
          <p:cNvPr id="397" name="Google Shape;397;p29"/>
          <p:cNvSpPr txBox="1"/>
          <p:nvPr/>
        </p:nvSpPr>
        <p:spPr>
          <a:xfrm>
            <a:off x="5468925" y="2272375"/>
            <a:ext cx="18036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Feed Forward Layer</a:t>
            </a:r>
            <a:endParaRPr sz="1300">
              <a:solidFill>
                <a:srgbClr val="0F0F0F"/>
              </a:solidFill>
              <a:latin typeface="Calibri"/>
              <a:ea typeface="Calibri"/>
              <a:cs typeface="Calibri"/>
              <a:sym typeface="Calibri"/>
            </a:endParaRPr>
          </a:p>
        </p:txBody>
      </p:sp>
      <p:sp>
        <p:nvSpPr>
          <p:cNvPr id="398" name="Google Shape;398;p29"/>
          <p:cNvSpPr txBox="1"/>
          <p:nvPr/>
        </p:nvSpPr>
        <p:spPr>
          <a:xfrm>
            <a:off x="72300" y="4621000"/>
            <a:ext cx="12960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Attention Matrix</a:t>
            </a:r>
            <a:endParaRPr sz="1300">
              <a:solidFill>
                <a:srgbClr val="0F0F0F"/>
              </a:solidFill>
              <a:latin typeface="Calibri"/>
              <a:ea typeface="Calibri"/>
              <a:cs typeface="Calibri"/>
              <a:sym typeface="Calibri"/>
            </a:endParaRPr>
          </a:p>
        </p:txBody>
      </p:sp>
      <p:sp>
        <p:nvSpPr>
          <p:cNvPr id="399" name="Google Shape;399;p29"/>
          <p:cNvSpPr/>
          <p:nvPr/>
        </p:nvSpPr>
        <p:spPr>
          <a:xfrm rot="1077420">
            <a:off x="816033" y="4162568"/>
            <a:ext cx="181964" cy="441062"/>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0" name="Google Shape;400;p29"/>
          <p:cNvSpPr/>
          <p:nvPr/>
        </p:nvSpPr>
        <p:spPr>
          <a:xfrm rot="-1095343">
            <a:off x="1946288" y="4162565"/>
            <a:ext cx="181958" cy="441045"/>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401" name="Google Shape;401;p29"/>
          <p:cNvSpPr txBox="1"/>
          <p:nvPr/>
        </p:nvSpPr>
        <p:spPr>
          <a:xfrm>
            <a:off x="1376250" y="4621000"/>
            <a:ext cx="1094700" cy="4371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Weight Matrix</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(Value Matrix)</a:t>
            </a:r>
            <a:endParaRPr sz="1300">
              <a:solidFill>
                <a:srgbClr val="0F0F0F"/>
              </a:solidFill>
              <a:latin typeface="Calibri"/>
              <a:ea typeface="Calibri"/>
              <a:cs typeface="Calibri"/>
              <a:sym typeface="Calibri"/>
            </a:endParaRPr>
          </a:p>
        </p:txBody>
      </p:sp>
      <p:sp>
        <p:nvSpPr>
          <p:cNvPr id="402" name="Google Shape;402;p29"/>
          <p:cNvSpPr txBox="1"/>
          <p:nvPr/>
        </p:nvSpPr>
        <p:spPr>
          <a:xfrm>
            <a:off x="2742375" y="4621000"/>
            <a:ext cx="1094700" cy="237000"/>
          </a:xfrm>
          <a:prstGeom prst="rect">
            <a:avLst/>
          </a:prstGeom>
          <a:noFill/>
          <a:ln>
            <a:noFill/>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Output Matrix</a:t>
            </a:r>
            <a:endParaRPr sz="1300">
              <a:solidFill>
                <a:srgbClr val="0F0F0F"/>
              </a:solidFill>
              <a:latin typeface="Calibri"/>
              <a:ea typeface="Calibri"/>
              <a:cs typeface="Calibri"/>
              <a:sym typeface="Calibri"/>
            </a:endParaRPr>
          </a:p>
        </p:txBody>
      </p:sp>
      <p:sp>
        <p:nvSpPr>
          <p:cNvPr id="403" name="Google Shape;403;p29"/>
          <p:cNvSpPr/>
          <p:nvPr/>
        </p:nvSpPr>
        <p:spPr>
          <a:xfrm rot="-1095343">
            <a:off x="3013088" y="4177495"/>
            <a:ext cx="181958" cy="441045"/>
          </a:xfrm>
          <a:prstGeom prst="up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404" name="Google Shape;404;p2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468924" y="3554205"/>
            <a:ext cx="3375974" cy="279575"/>
          </a:xfrm>
          <a:prstGeom prst="rect">
            <a:avLst/>
          </a:prstGeom>
          <a:noFill/>
          <a:ln>
            <a:noFill/>
          </a:ln>
        </p:spPr>
      </p:pic>
      <p:sp>
        <p:nvSpPr>
          <p:cNvPr id="405" name="Google Shape;405;p29"/>
          <p:cNvSpPr/>
          <p:nvPr/>
        </p:nvSpPr>
        <p:spPr>
          <a:xfrm>
            <a:off x="1588450" y="3621677"/>
            <a:ext cx="787864" cy="575352"/>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6" name="Google Shape;406;p29"/>
          <p:cNvSpPr/>
          <p:nvPr/>
        </p:nvSpPr>
        <p:spPr>
          <a:xfrm rot="-791">
            <a:off x="3346372" y="3221412"/>
            <a:ext cx="2031426" cy="279633"/>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7" name="Google Shape;407;p29"/>
          <p:cNvSpPr/>
          <p:nvPr/>
        </p:nvSpPr>
        <p:spPr>
          <a:xfrm rot="-791">
            <a:off x="3346372" y="1665744"/>
            <a:ext cx="2031426" cy="279633"/>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8" name="Google Shape;408;p29"/>
          <p:cNvSpPr/>
          <p:nvPr/>
        </p:nvSpPr>
        <p:spPr>
          <a:xfrm>
            <a:off x="630875" y="746700"/>
            <a:ext cx="491234" cy="622880"/>
          </a:xfrm>
          <a:custGeom>
            <a:avLst/>
            <a:gdLst/>
            <a:ahLst/>
            <a:cxnLst/>
            <a:rect l="l" t="t" r="r" b="b"/>
            <a:pathLst>
              <a:path w="37406" h="41783" extrusionOk="0">
                <a:moveTo>
                  <a:pt x="26929" y="41446"/>
                </a:moveTo>
                <a:cubicBezTo>
                  <a:pt x="17027" y="41446"/>
                  <a:pt x="1521" y="38121"/>
                  <a:pt x="293" y="28296"/>
                </a:cubicBezTo>
                <a:cubicBezTo>
                  <a:pt x="-782" y="19691"/>
                  <a:pt x="2060" y="9235"/>
                  <a:pt x="8722" y="3683"/>
                </a:cubicBezTo>
                <a:cubicBezTo>
                  <a:pt x="13704" y="-469"/>
                  <a:pt x="21543" y="-417"/>
                  <a:pt x="27941" y="649"/>
                </a:cubicBezTo>
                <a:cubicBezTo>
                  <a:pt x="36250" y="2033"/>
                  <a:pt x="39454" y="16891"/>
                  <a:pt x="36033" y="24588"/>
                </a:cubicBezTo>
                <a:cubicBezTo>
                  <a:pt x="32542" y="32443"/>
                  <a:pt x="25154" y="39700"/>
                  <a:pt x="16814" y="41783"/>
                </a:cubicBezTo>
              </a:path>
            </a:pathLst>
          </a:custGeom>
          <a:noFill/>
          <a:ln w="19050" cap="flat" cmpd="sng">
            <a:solidFill>
              <a:srgbClr val="FF0000"/>
            </a:solidFill>
            <a:prstDash val="solid"/>
            <a:round/>
            <a:headEnd type="none" w="med" len="med"/>
            <a:tailEnd type="none" w="med" len="med"/>
          </a:ln>
        </p:spPr>
        <p:txBody>
          <a:bodyPr/>
          <a:lstStyle/>
          <a:p>
            <a:endParaRPr lang="en-US"/>
          </a:p>
        </p:txBody>
      </p:sp>
      <p:sp>
        <p:nvSpPr>
          <p:cNvPr id="409" name="Google Shape;409;p29"/>
          <p:cNvSpPr txBox="1"/>
          <p:nvPr/>
        </p:nvSpPr>
        <p:spPr>
          <a:xfrm>
            <a:off x="245738" y="537900"/>
            <a:ext cx="1261500" cy="1725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000">
                <a:solidFill>
                  <a:srgbClr val="0F0F0F"/>
                </a:solidFill>
                <a:latin typeface="Calibri"/>
                <a:ea typeface="Calibri"/>
                <a:cs typeface="Calibri"/>
                <a:sym typeface="Calibri"/>
              </a:rPr>
              <a:t>Embedding weights</a:t>
            </a:r>
            <a:endParaRPr sz="1000">
              <a:latin typeface="Calibri"/>
              <a:ea typeface="Calibri"/>
              <a:cs typeface="Calibri"/>
              <a:sym typeface="Calibri"/>
            </a:endParaRPr>
          </a:p>
        </p:txBody>
      </p:sp>
      <p:sp>
        <p:nvSpPr>
          <p:cNvPr id="410" name="Google Shape;410;p29"/>
          <p:cNvSpPr txBox="1"/>
          <p:nvPr/>
        </p:nvSpPr>
        <p:spPr>
          <a:xfrm>
            <a:off x="5468925" y="4271700"/>
            <a:ext cx="3548700" cy="437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Also learned are the w</a:t>
            </a:r>
            <a:r>
              <a:rPr lang="en" sz="1300">
                <a:solidFill>
                  <a:srgbClr val="0F0F0F"/>
                </a:solidFill>
                <a:latin typeface="Calibri"/>
                <a:ea typeface="Calibri"/>
                <a:cs typeface="Calibri"/>
                <a:sym typeface="Calibri"/>
              </a:rPr>
              <a:t>eights in the output layer for generating next word predictions</a:t>
            </a:r>
            <a:endParaRPr sz="1200">
              <a:solidFill>
                <a:srgbClr val="0F0F0F"/>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30"/>
          <p:cNvSpPr txBox="1"/>
          <p:nvPr/>
        </p:nvSpPr>
        <p:spPr>
          <a:xfrm>
            <a:off x="72300" y="0"/>
            <a:ext cx="4371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Multi-head attention</a:t>
            </a:r>
            <a:endParaRPr sz="2000" b="1">
              <a:latin typeface="Calibri"/>
              <a:ea typeface="Calibri"/>
              <a:cs typeface="Calibri"/>
              <a:sym typeface="Calibri"/>
            </a:endParaRPr>
          </a:p>
        </p:txBody>
      </p:sp>
      <p:sp>
        <p:nvSpPr>
          <p:cNvPr id="416" name="Google Shape;416;p30"/>
          <p:cNvSpPr txBox="1"/>
          <p:nvPr/>
        </p:nvSpPr>
        <p:spPr>
          <a:xfrm>
            <a:off x="72300" y="326400"/>
            <a:ext cx="4756800" cy="160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In case of a multi-head attention, each head has its own Q,K,V matrixes. The </a:t>
            </a:r>
            <a:r>
              <a:rPr lang="en" sz="1300" b="1">
                <a:solidFill>
                  <a:srgbClr val="FF0000"/>
                </a:solidFill>
                <a:latin typeface="Calibri"/>
                <a:ea typeface="Calibri"/>
                <a:cs typeface="Calibri"/>
                <a:sym typeface="Calibri"/>
              </a:rPr>
              <a:t>outputs of heads are concatenated</a:t>
            </a:r>
            <a:r>
              <a:rPr lang="en" sz="1300">
                <a:solidFill>
                  <a:srgbClr val="0F0F0F"/>
                </a:solidFill>
                <a:latin typeface="Calibri"/>
                <a:ea typeface="Calibri"/>
                <a:cs typeface="Calibri"/>
                <a:sym typeface="Calibri"/>
              </a:rPr>
              <a:t>. This means that a </a:t>
            </a:r>
            <a:r>
              <a:rPr lang="en" sz="1200">
                <a:solidFill>
                  <a:srgbClr val="374151"/>
                </a:solidFill>
                <a:latin typeface="Roboto"/>
                <a:ea typeface="Roboto"/>
                <a:cs typeface="Roboto"/>
                <a:sym typeface="Roboto"/>
              </a:rPr>
              <a:t>single, long vector is created for each token. </a:t>
            </a:r>
            <a:endParaRPr sz="1200">
              <a:solidFill>
                <a:srgbClr val="374151"/>
              </a:solidFill>
              <a:latin typeface="Roboto"/>
              <a:ea typeface="Roboto"/>
              <a:cs typeface="Roboto"/>
              <a:sym typeface="Roboto"/>
            </a:endParaRPr>
          </a:p>
          <a:p>
            <a:pPr marL="0" lvl="0" indent="0" algn="l" rtl="0">
              <a:spcBef>
                <a:spcPts val="0"/>
              </a:spcBef>
              <a:spcAft>
                <a:spcPts val="0"/>
              </a:spcAft>
              <a:buNone/>
            </a:pPr>
            <a:endParaRPr sz="1200">
              <a:solidFill>
                <a:srgbClr val="374151"/>
              </a:solidFill>
              <a:latin typeface="Roboto"/>
              <a:ea typeface="Roboto"/>
              <a:cs typeface="Roboto"/>
              <a:sym typeface="Roboto"/>
            </a:endParaRPr>
          </a:p>
          <a:p>
            <a:pPr marL="0" lvl="0" indent="0" algn="l" rtl="0">
              <a:spcBef>
                <a:spcPts val="0"/>
              </a:spcBef>
              <a:spcAft>
                <a:spcPts val="0"/>
              </a:spcAft>
              <a:buNone/>
            </a:pPr>
            <a:r>
              <a:rPr lang="en" sz="1200">
                <a:solidFill>
                  <a:srgbClr val="374151"/>
                </a:solidFill>
                <a:latin typeface="Roboto"/>
                <a:ea typeface="Roboto"/>
                <a:cs typeface="Roboto"/>
                <a:sym typeface="Roboto"/>
              </a:rPr>
              <a:t>Then </a:t>
            </a:r>
            <a:r>
              <a:rPr lang="en" sz="1300">
                <a:solidFill>
                  <a:srgbClr val="0F0F0F"/>
                </a:solidFill>
                <a:latin typeface="Calibri"/>
                <a:ea typeface="Calibri"/>
                <a:cs typeface="Calibri"/>
                <a:sym typeface="Calibri"/>
              </a:rPr>
              <a:t>the combined output goes through a linear transformation using another learned weight matrix, often denoted as </a:t>
            </a:r>
            <a:r>
              <a:rPr lang="en" sz="1300" b="1">
                <a:solidFill>
                  <a:srgbClr val="FF0000"/>
                </a:solidFill>
                <a:latin typeface="Calibri"/>
                <a:ea typeface="Calibri"/>
                <a:cs typeface="Calibri"/>
                <a:sym typeface="Calibri"/>
              </a:rPr>
              <a:t>W</a:t>
            </a:r>
            <a:r>
              <a:rPr lang="en" sz="1300" b="1" baseline="30000">
                <a:solidFill>
                  <a:srgbClr val="FF0000"/>
                </a:solidFill>
                <a:latin typeface="Calibri"/>
                <a:ea typeface="Calibri"/>
                <a:cs typeface="Calibri"/>
                <a:sym typeface="Calibri"/>
              </a:rPr>
              <a:t>o</a:t>
            </a:r>
            <a:r>
              <a:rPr lang="en" sz="1300">
                <a:solidFill>
                  <a:srgbClr val="0F0F0F"/>
                </a:solidFill>
                <a:latin typeface="Calibri"/>
                <a:ea typeface="Calibri"/>
                <a:cs typeface="Calibri"/>
                <a:sym typeface="Calibri"/>
              </a:rPr>
              <a:t>  (where "o" stands for "output") which projects the </a:t>
            </a:r>
            <a:r>
              <a:rPr lang="en" sz="1300" b="1">
                <a:solidFill>
                  <a:srgbClr val="FF0000"/>
                </a:solidFill>
                <a:latin typeface="Calibri"/>
                <a:ea typeface="Calibri"/>
                <a:cs typeface="Calibri"/>
                <a:sym typeface="Calibri"/>
              </a:rPr>
              <a:t>concatenated vector</a:t>
            </a:r>
            <a:r>
              <a:rPr lang="en" sz="1300">
                <a:solidFill>
                  <a:srgbClr val="0F0F0F"/>
                </a:solidFill>
                <a:latin typeface="Calibri"/>
                <a:ea typeface="Calibri"/>
                <a:cs typeface="Calibri"/>
                <a:sym typeface="Calibri"/>
              </a:rPr>
              <a:t> back to the </a:t>
            </a:r>
            <a:r>
              <a:rPr lang="en" sz="1300" b="1">
                <a:solidFill>
                  <a:srgbClr val="FF0000"/>
                </a:solidFill>
                <a:latin typeface="Calibri"/>
                <a:ea typeface="Calibri"/>
                <a:cs typeface="Calibri"/>
                <a:sym typeface="Calibri"/>
              </a:rPr>
              <a:t>original embedding dimension</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pic>
        <p:nvPicPr>
          <p:cNvPr id="417" name="Google Shape;417;p3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758725" y="85925"/>
            <a:ext cx="2769575" cy="3067389"/>
          </a:xfrm>
          <a:prstGeom prst="rect">
            <a:avLst/>
          </a:prstGeom>
          <a:noFill/>
          <a:ln>
            <a:noFill/>
          </a:ln>
        </p:spPr>
      </p:pic>
      <p:sp>
        <p:nvSpPr>
          <p:cNvPr id="418" name="Google Shape;418;p30"/>
          <p:cNvSpPr txBox="1"/>
          <p:nvPr/>
        </p:nvSpPr>
        <p:spPr>
          <a:xfrm>
            <a:off x="5978845" y="3243575"/>
            <a:ext cx="24444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4"/>
              </a:rPr>
              <a:t>https://wikidocs.net/167211</a:t>
            </a:r>
            <a:r>
              <a:rPr lang="en" sz="1000">
                <a:latin typeface="Calibri"/>
                <a:ea typeface="Calibri"/>
                <a:cs typeface="Calibri"/>
                <a:sym typeface="Calibri"/>
              </a:rPr>
              <a:t> </a:t>
            </a:r>
            <a:endParaRPr sz="1000">
              <a:latin typeface="Calibri"/>
              <a:ea typeface="Calibri"/>
              <a:cs typeface="Calibri"/>
              <a:sym typeface="Calibri"/>
            </a:endParaRPr>
          </a:p>
        </p:txBody>
      </p:sp>
      <p:pic>
        <p:nvPicPr>
          <p:cNvPr id="419" name="Google Shape;419;p30"/>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03788" y="1989750"/>
            <a:ext cx="3493827" cy="2402349"/>
          </a:xfrm>
          <a:prstGeom prst="rect">
            <a:avLst/>
          </a:prstGeom>
          <a:noFill/>
          <a:ln>
            <a:noFill/>
          </a:ln>
        </p:spPr>
      </p:pic>
      <p:sp>
        <p:nvSpPr>
          <p:cNvPr id="420" name="Google Shape;420;p30"/>
          <p:cNvSpPr txBox="1"/>
          <p:nvPr/>
        </p:nvSpPr>
        <p:spPr>
          <a:xfrm>
            <a:off x="615902" y="4392100"/>
            <a:ext cx="3284700" cy="338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000" u="sng">
                <a:solidFill>
                  <a:schemeClr val="hlink"/>
                </a:solidFill>
                <a:latin typeface="Calibri"/>
                <a:ea typeface="Calibri"/>
                <a:cs typeface="Calibri"/>
                <a:sym typeface="Calibri"/>
                <a:hlinkClick r:id="rId6"/>
              </a:rPr>
              <a:t>https://jalammar.github.io/illustrated-transformer/</a:t>
            </a:r>
            <a:r>
              <a:rPr lang="en" sz="1000">
                <a:latin typeface="Calibri"/>
                <a:ea typeface="Calibri"/>
                <a:cs typeface="Calibri"/>
                <a:sym typeface="Calibri"/>
              </a:rPr>
              <a:t> </a:t>
            </a:r>
            <a:endParaRPr sz="1000">
              <a:latin typeface="Calibri"/>
              <a:ea typeface="Calibri"/>
              <a:cs typeface="Calibri"/>
              <a:sym typeface="Calibri"/>
            </a:endParaRPr>
          </a:p>
        </p:txBody>
      </p:sp>
      <p:sp>
        <p:nvSpPr>
          <p:cNvPr id="421" name="Google Shape;421;p30"/>
          <p:cNvSpPr txBox="1"/>
          <p:nvPr/>
        </p:nvSpPr>
        <p:spPr>
          <a:xfrm>
            <a:off x="5072925" y="3990850"/>
            <a:ext cx="3939600" cy="1037400"/>
          </a:xfrm>
          <a:prstGeom prst="rect">
            <a:avLst/>
          </a:prstGeom>
          <a:solidFill>
            <a:srgbClr val="D9EAD3"/>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Mistral uses "Grouped Query Attention" for faster inference. This means that 32 attention heads are split into 8 groups of 4 heads. The heads inside each group share their learned K &amp; V matrixes (heads) for faster inference.</a:t>
            </a:r>
            <a:endParaRPr sz="1300">
              <a:solidFill>
                <a:srgbClr val="0F0F0F"/>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1"/>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Steps of the Attention Mechanism</a:t>
            </a:r>
            <a:endParaRPr sz="2000" b="1">
              <a:latin typeface="Calibri"/>
              <a:ea typeface="Calibri"/>
              <a:cs typeface="Calibri"/>
              <a:sym typeface="Calibri"/>
            </a:endParaRPr>
          </a:p>
        </p:txBody>
      </p:sp>
      <p:sp>
        <p:nvSpPr>
          <p:cNvPr id="427" name="Google Shape;427;p31"/>
          <p:cNvSpPr txBox="1"/>
          <p:nvPr/>
        </p:nvSpPr>
        <p:spPr>
          <a:xfrm>
            <a:off x="72300" y="326400"/>
            <a:ext cx="4362600" cy="458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Multiply input embeddings by Q, K, V matrices - to get Q, K, V vectors:</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Q=X⋅W</a:t>
            </a:r>
            <a:r>
              <a:rPr lang="en" sz="1300" b="1" baseline="30000">
                <a:solidFill>
                  <a:srgbClr val="FF0000"/>
                </a:solidFill>
                <a:latin typeface="Calibri"/>
                <a:ea typeface="Calibri"/>
                <a:cs typeface="Calibri"/>
                <a:sym typeface="Calibri"/>
              </a:rPr>
              <a:t>Q</a:t>
            </a:r>
            <a:r>
              <a:rPr lang="en" sz="1300" b="1">
                <a:solidFill>
                  <a:srgbClr val="FF0000"/>
                </a:solidFill>
                <a:latin typeface="Calibri"/>
                <a:ea typeface="Calibri"/>
                <a:cs typeface="Calibri"/>
                <a:sym typeface="Calibri"/>
              </a:rPr>
              <a:t> , K=X⋅W</a:t>
            </a:r>
            <a:r>
              <a:rPr lang="en" sz="1300" b="1" baseline="30000">
                <a:solidFill>
                  <a:srgbClr val="FF0000"/>
                </a:solidFill>
                <a:latin typeface="Calibri"/>
                <a:ea typeface="Calibri"/>
                <a:cs typeface="Calibri"/>
                <a:sym typeface="Calibri"/>
              </a:rPr>
              <a:t>K</a:t>
            </a:r>
            <a:r>
              <a:rPr lang="en" sz="1300" b="1">
                <a:solidFill>
                  <a:srgbClr val="FF0000"/>
                </a:solidFill>
                <a:latin typeface="Calibri"/>
                <a:ea typeface="Calibri"/>
                <a:cs typeface="Calibri"/>
                <a:sym typeface="Calibri"/>
              </a:rPr>
              <a:t> , V=X⋅W</a:t>
            </a:r>
            <a:r>
              <a:rPr lang="en" sz="1300" b="1" baseline="30000">
                <a:solidFill>
                  <a:srgbClr val="FF0000"/>
                </a:solidFill>
                <a:latin typeface="Calibri"/>
                <a:ea typeface="Calibri"/>
                <a:cs typeface="Calibri"/>
                <a:sym typeface="Calibri"/>
              </a:rPr>
              <a:t>V</a:t>
            </a:r>
            <a:r>
              <a:rPr lang="en" sz="1300" b="1">
                <a:solidFill>
                  <a:srgbClr val="FF0000"/>
                </a:solidFill>
                <a:latin typeface="Calibri"/>
                <a:ea typeface="Calibri"/>
                <a:cs typeface="Calibri"/>
                <a:sym typeface="Calibri"/>
              </a:rPr>
              <a:t> </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Multiply Q by K-transposed to get a score for each query token against each key, measuring similarity:</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score = Q * K^T</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Divide the scores by √dk (square root of key vector dimensionality) for normalization: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score = score / √dk</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Apply softmax to the scores to convert them to attention weights on the values. High scores mean the query is very relevant to that key:</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attention_weights = softmax(score)</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Multiply the attention weights by V to get the weighted sum of values for each query. The higher weights mean more focus/attention put on those values:</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attention_output = attention_weights * V</a:t>
            </a:r>
            <a:endParaRPr sz="1300" b="1">
              <a:solidFill>
                <a:srgbClr val="FF0000"/>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The attention output then becomes the new representations for each query token, focused on the most relevant key/value pairs.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An optional final linear transformation can be applied on the output to project it back into the model dimensionality</a:t>
            </a:r>
            <a:endParaRPr sz="1300">
              <a:solidFill>
                <a:srgbClr val="0F0F0F"/>
              </a:solidFill>
              <a:latin typeface="Calibri"/>
              <a:ea typeface="Calibri"/>
              <a:cs typeface="Calibri"/>
              <a:sym typeface="Calibri"/>
            </a:endParaRPr>
          </a:p>
        </p:txBody>
      </p:sp>
      <p:sp>
        <p:nvSpPr>
          <p:cNvPr id="428" name="Google Shape;428;p31"/>
          <p:cNvSpPr txBox="1"/>
          <p:nvPr/>
        </p:nvSpPr>
        <p:spPr>
          <a:xfrm>
            <a:off x="4690050" y="326400"/>
            <a:ext cx="4362600" cy="238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The sizes of the attention mechanism matrices are the same. Normally they would depend on the length of the input sequence and the hidden dimensionality. For Mistral the numbers are 32K and 4K.</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However Mistral uses the sliding window attention with a window size of 4K. So the size of attention matrices will be 4k x 4K.</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In the code you will see the shapes as following:</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   </a:t>
            </a:r>
            <a:r>
              <a:rPr lang="en" sz="1300" b="1">
                <a:solidFill>
                  <a:srgbClr val="3C78D8"/>
                </a:solidFill>
                <a:latin typeface="Calibri"/>
                <a:ea typeface="Calibri"/>
                <a:cs typeface="Calibri"/>
                <a:sym typeface="Calibri"/>
              </a:rPr>
              <a:t>(batch_size, num_heads, seq_length, head_dimension)</a:t>
            </a:r>
            <a:endParaRPr sz="1300" b="1">
              <a:solidFill>
                <a:srgbClr val="3C78D8"/>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2"/>
          <p:cNvSpPr txBox="1"/>
          <p:nvPr/>
        </p:nvSpPr>
        <p:spPr>
          <a:xfrm>
            <a:off x="72300" y="0"/>
            <a:ext cx="31500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Sliding Window Attention</a:t>
            </a:r>
            <a:endParaRPr sz="2000" b="1">
              <a:latin typeface="Calibri"/>
              <a:ea typeface="Calibri"/>
              <a:cs typeface="Calibri"/>
              <a:sym typeface="Calibri"/>
            </a:endParaRPr>
          </a:p>
        </p:txBody>
      </p:sp>
      <p:sp>
        <p:nvSpPr>
          <p:cNvPr id="434" name="Google Shape;434;p32"/>
          <p:cNvSpPr txBox="1"/>
          <p:nvPr/>
        </p:nvSpPr>
        <p:spPr>
          <a:xfrm>
            <a:off x="113225" y="2359300"/>
            <a:ext cx="5919300" cy="158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Here's a breakdown of how it works: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6AA84F"/>
                </a:solidFill>
                <a:latin typeface="Calibri"/>
                <a:ea typeface="Calibri"/>
                <a:cs typeface="Calibri"/>
                <a:sym typeface="Calibri"/>
              </a:rPr>
              <a:t>Initial Window</a:t>
            </a:r>
            <a:r>
              <a:rPr lang="en" sz="1300">
                <a:solidFill>
                  <a:srgbClr val="0F0F0F"/>
                </a:solidFill>
                <a:latin typeface="Calibri"/>
                <a:ea typeface="Calibri"/>
                <a:cs typeface="Calibri"/>
                <a:sym typeface="Calibri"/>
              </a:rPr>
              <a:t>: The model starts by processing the first 4096 vectors.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6AA84F"/>
                </a:solidFill>
                <a:latin typeface="Calibri"/>
                <a:ea typeface="Calibri"/>
                <a:cs typeface="Calibri"/>
                <a:sym typeface="Calibri"/>
              </a:rPr>
              <a:t>Sliding Forward</a:t>
            </a:r>
            <a:r>
              <a:rPr lang="en" sz="1300">
                <a:solidFill>
                  <a:srgbClr val="0F0F0F"/>
                </a:solidFill>
                <a:latin typeface="Calibri"/>
                <a:ea typeface="Calibri"/>
                <a:cs typeface="Calibri"/>
                <a:sym typeface="Calibri"/>
              </a:rPr>
              <a:t>: It then shifts the window by a certain amount (e.g., 256 vectors), attending to both new tokens and information from the previous window.</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6AA84F"/>
                </a:solidFill>
                <a:latin typeface="Calibri"/>
                <a:ea typeface="Calibri"/>
                <a:cs typeface="Calibri"/>
                <a:sym typeface="Calibri"/>
              </a:rPr>
              <a:t>Iterative Processing</a:t>
            </a:r>
            <a:r>
              <a:rPr lang="en" sz="1300">
                <a:solidFill>
                  <a:srgbClr val="0F0F0F"/>
                </a:solidFill>
                <a:latin typeface="Calibri"/>
                <a:ea typeface="Calibri"/>
                <a:cs typeface="Calibri"/>
                <a:sym typeface="Calibri"/>
              </a:rPr>
              <a:t>: This process continues until the entire 32,768-token sequence has been processed.</a:t>
            </a:r>
            <a:endParaRPr sz="1300">
              <a:solidFill>
                <a:srgbClr val="0F0F0F"/>
              </a:solidFill>
              <a:latin typeface="Calibri"/>
              <a:ea typeface="Calibri"/>
              <a:cs typeface="Calibri"/>
              <a:sym typeface="Calibri"/>
            </a:endParaRPr>
          </a:p>
        </p:txBody>
      </p:sp>
      <p:sp>
        <p:nvSpPr>
          <p:cNvPr id="435" name="Google Shape;435;p32"/>
          <p:cNvSpPr txBox="1"/>
          <p:nvPr/>
        </p:nvSpPr>
        <p:spPr>
          <a:xfrm>
            <a:off x="113225" y="450050"/>
            <a:ext cx="5919300" cy="138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Mistral 7B has a maximum input sequence length of 32,768 tokens (approx 50 pages). </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It is a long sequence.</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Each layer processes these long sequence using a Sliding Window Attention (SWA).</a:t>
            </a:r>
            <a:endParaRPr sz="13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It does it in overlapping chunks (window) of 4096 tokens (approx 6 pages).</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This window is sliding across the entire input sequence.</a:t>
            </a:r>
            <a:endParaRPr sz="1300">
              <a:solidFill>
                <a:srgbClr val="0F0F0F"/>
              </a:solidFill>
              <a:latin typeface="Calibri"/>
              <a:ea typeface="Calibri"/>
              <a:cs typeface="Calibri"/>
              <a:sym typeface="Calibri"/>
            </a:endParaRPr>
          </a:p>
        </p:txBody>
      </p:sp>
      <p:pic>
        <p:nvPicPr>
          <p:cNvPr id="436" name="Google Shape;436;p3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36750" y="151725"/>
            <a:ext cx="2666649" cy="2515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40"/>
        <p:cNvGrpSpPr/>
        <p:nvPr/>
      </p:nvGrpSpPr>
      <p:grpSpPr>
        <a:xfrm>
          <a:off x="0" y="0"/>
          <a:ext cx="0" cy="0"/>
          <a:chOff x="0" y="0"/>
          <a:chExt cx="0" cy="0"/>
        </a:xfrm>
      </p:grpSpPr>
      <p:sp>
        <p:nvSpPr>
          <p:cNvPr id="441" name="Google Shape;441;p33"/>
          <p:cNvSpPr txBox="1"/>
          <p:nvPr/>
        </p:nvSpPr>
        <p:spPr>
          <a:xfrm>
            <a:off x="72300" y="0"/>
            <a:ext cx="7294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Why Can't we Combine the Query &amp; Key Matrices into One ?</a:t>
            </a:r>
            <a:endParaRPr sz="2000" b="1">
              <a:latin typeface="Calibri"/>
              <a:ea typeface="Calibri"/>
              <a:cs typeface="Calibri"/>
              <a:sym typeface="Calibri"/>
            </a:endParaRPr>
          </a:p>
        </p:txBody>
      </p:sp>
      <p:sp>
        <p:nvSpPr>
          <p:cNvPr id="442" name="Google Shape;442;p33"/>
          <p:cNvSpPr txBox="1"/>
          <p:nvPr/>
        </p:nvSpPr>
        <p:spPr>
          <a:xfrm>
            <a:off x="4648450" y="467575"/>
            <a:ext cx="4371000" cy="458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Benefits of having separate Query, Key, and Value matrices: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Having more than one vector enables better representation learning and improves the overall performance of the model.</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Dot product of Q &amp; K = a simple way of computing similarity.</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Having separate matrices helps maintain the distinction between the importance weights and actual content information.</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Breaking down the embedding space into smaller subspaces via multiple matrices helps reduce the memory footprint and improve parallelization opportunities during training.</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Introducing multiple learnable parameters (matrices) increases the capacity of the network while allowing for richer interactions among the components.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 also offers regularization benefits due to increased parameter count, reducing the risk of overfitting.</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Allowing independent manipulation of the Query, Key, and Value matrices opens possibilities for designing new variants of self-attention mechanisms.</a:t>
            </a:r>
            <a:endParaRPr sz="1300">
              <a:solidFill>
                <a:srgbClr val="0F0F0F"/>
              </a:solidFill>
              <a:latin typeface="Calibri"/>
              <a:ea typeface="Calibri"/>
              <a:cs typeface="Calibri"/>
              <a:sym typeface="Calibri"/>
            </a:endParaRPr>
          </a:p>
        </p:txBody>
      </p:sp>
      <p:sp>
        <p:nvSpPr>
          <p:cNvPr id="443" name="Google Shape;443;p33"/>
          <p:cNvSpPr txBox="1"/>
          <p:nvPr/>
        </p:nvSpPr>
        <p:spPr>
          <a:xfrm>
            <a:off x="105525" y="467575"/>
            <a:ext cx="4371000" cy="3186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300">
                <a:solidFill>
                  <a:srgbClr val="0F0F0F"/>
                </a:solidFill>
                <a:latin typeface="Calibri"/>
                <a:ea typeface="Calibri"/>
                <a:cs typeface="Calibri"/>
                <a:sym typeface="Calibri"/>
              </a:rPr>
              <a:t>The power of Gen AI system grows with increasing the number of parameters. A good model (like Mistral) has Billions of parameters. They are structured into 32 layers, each layer having 32 attention heads and a Feed-Forward layer. And each attention head has multiple matrices and normalization layers.</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Combining matrices may appear attractive initially, but doing so actually reduces representational power, limits comparisons, and eliminates potential design innovations afforded by maintaining distinct Query, Key, and Value matrices.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Extra matrices and extra nonlinearity provided by splitting the embeddings across multiple matrices contributes significantly to the success of attention-based models.</a:t>
            </a:r>
            <a:endParaRPr sz="1300">
              <a:solidFill>
                <a:srgbClr val="0F0F0F"/>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447"/>
        <p:cNvGrpSpPr/>
        <p:nvPr/>
      </p:nvGrpSpPr>
      <p:grpSpPr>
        <a:xfrm>
          <a:off x="0" y="0"/>
          <a:ext cx="0" cy="0"/>
          <a:chOff x="0" y="0"/>
          <a:chExt cx="0" cy="0"/>
        </a:xfrm>
      </p:grpSpPr>
      <p:sp>
        <p:nvSpPr>
          <p:cNvPr id="448" name="Google Shape;448;p34"/>
          <p:cNvSpPr txBox="1"/>
          <p:nvPr/>
        </p:nvSpPr>
        <p:spPr>
          <a:xfrm>
            <a:off x="28463" y="25057"/>
            <a:ext cx="3887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The End of the Transformer Process</a:t>
            </a:r>
            <a:endParaRPr sz="2000" b="1">
              <a:latin typeface="Calibri"/>
              <a:ea typeface="Calibri"/>
              <a:cs typeface="Calibri"/>
              <a:sym typeface="Calibri"/>
            </a:endParaRPr>
          </a:p>
        </p:txBody>
      </p:sp>
      <p:sp>
        <p:nvSpPr>
          <p:cNvPr id="449" name="Google Shape;449;p34"/>
          <p:cNvSpPr txBox="1"/>
          <p:nvPr/>
        </p:nvSpPr>
        <p:spPr>
          <a:xfrm>
            <a:off x="613975" y="646500"/>
            <a:ext cx="4610100" cy="4248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0500" algn="l" rtl="0">
              <a:spcBef>
                <a:spcPts val="0"/>
              </a:spcBef>
              <a:spcAft>
                <a:spcPts val="0"/>
              </a:spcAft>
              <a:buClr>
                <a:srgbClr val="374151"/>
              </a:buClr>
              <a:buSzPts val="1200"/>
              <a:buChar char="●"/>
            </a:pPr>
            <a:r>
              <a:rPr lang="en" sz="1200">
                <a:solidFill>
                  <a:srgbClr val="374151"/>
                </a:solidFill>
              </a:rPr>
              <a:t>Suppose an LLM input has 5 tokens. We convert them into embedding vectors of size "d".</a:t>
            </a:r>
            <a:endParaRPr sz="1200">
              <a:solidFill>
                <a:srgbClr val="374151"/>
              </a:solidFill>
            </a:endParaRPr>
          </a:p>
          <a:p>
            <a:pPr marL="228600" lvl="0" indent="-190500" algn="l" rtl="0">
              <a:spcBef>
                <a:spcPts val="0"/>
              </a:spcBef>
              <a:spcAft>
                <a:spcPts val="0"/>
              </a:spcAft>
              <a:buClr>
                <a:srgbClr val="374151"/>
              </a:buClr>
              <a:buSzPts val="1200"/>
              <a:buChar char="●"/>
            </a:pPr>
            <a:r>
              <a:rPr lang="en" sz="1200">
                <a:solidFill>
                  <a:srgbClr val="374151"/>
                </a:solidFill>
              </a:rPr>
              <a:t>These embeddings pass through multiple Transformer layers. The output of the final Transformer layer consists of 5 updated vectors, each still having a size of d.</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We multiply the output by an </a:t>
            </a:r>
            <a:r>
              <a:rPr lang="en" sz="1200" b="1">
                <a:solidFill>
                  <a:srgbClr val="FF0000"/>
                </a:solidFill>
              </a:rPr>
              <a:t>unembedding matrix</a:t>
            </a:r>
            <a:r>
              <a:rPr lang="en" sz="1200">
                <a:solidFill>
                  <a:srgbClr val="374151"/>
                </a:solidFill>
              </a:rPr>
              <a:t> W_u, yielding a matrix of "logits" (unnormalized probabilities) of size 5 x |V|, where |V| represents the size of the vocabulary of tokens (commonly around 30,000 tokens).</a:t>
            </a:r>
            <a:endParaRPr sz="1200">
              <a:solidFill>
                <a:srgbClr val="374151"/>
              </a:solidFill>
            </a:endParaRPr>
          </a:p>
          <a:p>
            <a:pPr marL="228600" lvl="0" indent="-190500" algn="l" rtl="0">
              <a:spcBef>
                <a:spcPts val="0"/>
              </a:spcBef>
              <a:spcAft>
                <a:spcPts val="0"/>
              </a:spcAft>
              <a:buClr>
                <a:srgbClr val="374151"/>
              </a:buClr>
              <a:buSzPts val="1200"/>
              <a:buChar char="●"/>
            </a:pPr>
            <a:r>
              <a:rPr lang="en" sz="1200">
                <a:solidFill>
                  <a:srgbClr val="374151"/>
                </a:solidFill>
              </a:rPr>
              <a:t>We apply softmax function to each of 5 "rows". We still have the matrix of shape 5 x |V|, but the values are now probabilities.</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Finally, to determine the most probable token we find the </a:t>
            </a:r>
            <a:r>
              <a:rPr lang="en" sz="1200" b="1">
                <a:solidFill>
                  <a:srgbClr val="FF0000"/>
                </a:solidFill>
              </a:rPr>
              <a:t>maximum value</a:t>
            </a:r>
            <a:r>
              <a:rPr lang="en" sz="1200">
                <a:solidFill>
                  <a:srgbClr val="374151"/>
                </a:solidFill>
              </a:rPr>
              <a:t> in the last row (corresponding to the last token). The column of this last value will give us the id of the next token. </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Alternatively, we can use </a:t>
            </a:r>
            <a:r>
              <a:rPr lang="en" sz="1200" b="1">
                <a:solidFill>
                  <a:srgbClr val="FF0000"/>
                </a:solidFill>
              </a:rPr>
              <a:t>sampling</a:t>
            </a:r>
            <a:r>
              <a:rPr lang="en" sz="1200">
                <a:solidFill>
                  <a:srgbClr val="374151"/>
                </a:solidFill>
              </a:rPr>
              <a:t>. We find several top values in the last row - and randomly sample one of them.</a:t>
            </a:r>
            <a:endParaRPr sz="1200">
              <a:solidFill>
                <a:srgbClr val="374151"/>
              </a:solidFill>
            </a:endParaRPr>
          </a:p>
          <a:p>
            <a:pPr marL="228600" lvl="0" indent="-190500" algn="l" rtl="0">
              <a:spcBef>
                <a:spcPts val="0"/>
              </a:spcBef>
              <a:spcAft>
                <a:spcPts val="0"/>
              </a:spcAft>
              <a:buSzPts val="1200"/>
              <a:buChar char="●"/>
            </a:pPr>
            <a:r>
              <a:rPr lang="en" sz="1200">
                <a:solidFill>
                  <a:srgbClr val="374151"/>
                </a:solidFill>
              </a:rPr>
              <a:t>A more advanced tactics is called </a:t>
            </a:r>
            <a:r>
              <a:rPr lang="en" sz="1200" b="1">
                <a:solidFill>
                  <a:srgbClr val="FF0000"/>
                </a:solidFill>
              </a:rPr>
              <a:t>Beam Search</a:t>
            </a:r>
            <a:r>
              <a:rPr lang="en" sz="1200">
                <a:solidFill>
                  <a:srgbClr val="374151"/>
                </a:solidFill>
              </a:rPr>
              <a:t> - we keep track of multiple potential sequences (beams) and expand them at each step, eventually selecting the sequence with the highest overall probability.</a:t>
            </a:r>
            <a:endParaRPr sz="1200">
              <a:solidFill>
                <a:srgbClr val="37415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35"/>
          <p:cNvSpPr txBox="1"/>
          <p:nvPr/>
        </p:nvSpPr>
        <p:spPr>
          <a:xfrm>
            <a:off x="72300" y="0"/>
            <a:ext cx="53769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How Mixtral was trained and run</a:t>
            </a:r>
            <a:endParaRPr sz="2000" b="1">
              <a:latin typeface="Calibri"/>
              <a:ea typeface="Calibri"/>
              <a:cs typeface="Calibri"/>
              <a:sym typeface="Calibri"/>
            </a:endParaRPr>
          </a:p>
        </p:txBody>
      </p:sp>
      <p:sp>
        <p:nvSpPr>
          <p:cNvPr id="455" name="Google Shape;455;p35"/>
          <p:cNvSpPr txBox="1"/>
          <p:nvPr/>
        </p:nvSpPr>
        <p:spPr>
          <a:xfrm>
            <a:off x="72300" y="356400"/>
            <a:ext cx="4388700" cy="1585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In the Mixtral paper:</a:t>
            </a:r>
            <a:endParaRPr sz="1300">
              <a:latin typeface="Calibri"/>
              <a:ea typeface="Calibri"/>
              <a:cs typeface="Calibri"/>
              <a:sym typeface="Calibri"/>
            </a:endParaRPr>
          </a:p>
          <a:p>
            <a:pPr marL="0" lvl="0" indent="0" algn="l" rtl="0">
              <a:spcBef>
                <a:spcPts val="0"/>
              </a:spcBef>
              <a:spcAft>
                <a:spcPts val="0"/>
              </a:spcAft>
              <a:buNone/>
            </a:pPr>
            <a:r>
              <a:rPr lang="en" sz="1300">
                <a:solidFill>
                  <a:srgbClr val="3C78D8"/>
                </a:solidFill>
                <a:latin typeface="Calibri"/>
                <a:ea typeface="Calibri"/>
                <a:cs typeface="Calibri"/>
                <a:sym typeface="Calibri"/>
              </a:rPr>
              <a:t>"We thank the CoreWeave and Scaleway teams for technical support as we trained our models. We are grateful to NVIDIA for supporting us in integrating TensorRT-LLM and Triton and working alongside us to make a sparse mixture of experts compatible with TensorRT-LLM."</a:t>
            </a:r>
            <a:r>
              <a:rPr lang="en" sz="1300">
                <a:latin typeface="Calibri"/>
                <a:ea typeface="Calibri"/>
                <a:cs typeface="Calibri"/>
                <a:sym typeface="Calibri"/>
              </a:rPr>
              <a:t>  </a:t>
            </a:r>
            <a:br>
              <a:rPr lang="en" sz="1300">
                <a:latin typeface="Calibri"/>
                <a:ea typeface="Calibri"/>
                <a:cs typeface="Calibri"/>
                <a:sym typeface="Calibri"/>
              </a:rPr>
            </a:br>
            <a:r>
              <a:rPr lang="en" sz="1300">
                <a:latin typeface="Calibri"/>
                <a:ea typeface="Calibri"/>
                <a:cs typeface="Calibri"/>
                <a:sym typeface="Calibri"/>
              </a:rPr>
              <a:t>OK, so what is </a:t>
            </a:r>
            <a:r>
              <a:rPr lang="en" sz="1300" b="1">
                <a:solidFill>
                  <a:srgbClr val="FF0000"/>
                </a:solidFill>
                <a:latin typeface="Calibri"/>
                <a:ea typeface="Calibri"/>
                <a:cs typeface="Calibri"/>
                <a:sym typeface="Calibri"/>
              </a:rPr>
              <a:t>TensorRT-LLM</a:t>
            </a:r>
            <a:r>
              <a:rPr lang="en" sz="1300">
                <a:solidFill>
                  <a:schemeClr val="dk1"/>
                </a:solidFill>
                <a:latin typeface="Calibri"/>
                <a:ea typeface="Calibri"/>
                <a:cs typeface="Calibri"/>
                <a:sym typeface="Calibri"/>
              </a:rPr>
              <a:t> and what is </a:t>
            </a:r>
            <a:r>
              <a:rPr lang="en" sz="1300" b="1">
                <a:solidFill>
                  <a:srgbClr val="FF0000"/>
                </a:solidFill>
                <a:latin typeface="Calibri"/>
                <a:ea typeface="Calibri"/>
                <a:cs typeface="Calibri"/>
                <a:sym typeface="Calibri"/>
              </a:rPr>
              <a:t>Triton</a:t>
            </a:r>
            <a:r>
              <a:rPr lang="en" sz="1300">
                <a:solidFill>
                  <a:schemeClr val="dk1"/>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sp>
        <p:nvSpPr>
          <p:cNvPr id="456" name="Google Shape;456;p35"/>
          <p:cNvSpPr txBox="1"/>
          <p:nvPr/>
        </p:nvSpPr>
        <p:spPr>
          <a:xfrm>
            <a:off x="72300" y="2038425"/>
            <a:ext cx="4388700" cy="2893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TensorRT Toolbox for Optimized LLM Inference</a:t>
            </a:r>
            <a:endParaRPr sz="1300">
              <a:solidFill>
                <a:schemeClr val="dk1"/>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https://github.com/NVIDIA/TensorRT-LLM</a:t>
            </a:r>
            <a:r>
              <a:rPr lang="en" sz="1000">
                <a:solidFill>
                  <a:srgbClr val="0F0F0F"/>
                </a:solidFill>
                <a:latin typeface="Calibri"/>
                <a:ea typeface="Calibri"/>
                <a:cs typeface="Calibri"/>
                <a:sym typeface="Calibri"/>
              </a:rPr>
              <a:t> - open source (Apache)</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accent5"/>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https://github.com/triton-inference-server/server</a:t>
            </a:r>
            <a:r>
              <a:rPr lang="en" sz="1000">
                <a:solidFill>
                  <a:srgbClr val="0F0F0F"/>
                </a:solidFill>
                <a:latin typeface="Calibri"/>
                <a:ea typeface="Calibri"/>
                <a:cs typeface="Calibri"/>
                <a:sym typeface="Calibri"/>
              </a:rPr>
              <a:t> - open source (BSD 3)</a:t>
            </a:r>
            <a:endParaRPr sz="10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b="1">
                <a:solidFill>
                  <a:srgbClr val="FF0000"/>
                </a:solidFill>
                <a:latin typeface="Calibri"/>
                <a:ea typeface="Calibri"/>
                <a:cs typeface="Calibri"/>
                <a:sym typeface="Calibri"/>
              </a:rPr>
              <a:t>TensorRT-LLM</a:t>
            </a:r>
            <a:r>
              <a:rPr lang="en" sz="1300">
                <a:solidFill>
                  <a:srgbClr val="0F0F0F"/>
                </a:solidFill>
                <a:latin typeface="Calibri"/>
                <a:ea typeface="Calibri"/>
                <a:cs typeface="Calibri"/>
                <a:sym typeface="Calibri"/>
              </a:rPr>
              <a:t> provides users with an easy-to-use Python API (similar to PyTorch) </a:t>
            </a:r>
            <a:r>
              <a:rPr lang="en" sz="1300" b="1">
                <a:solidFill>
                  <a:srgbClr val="6AA84F"/>
                </a:solidFill>
                <a:latin typeface="Calibri"/>
                <a:ea typeface="Calibri"/>
                <a:cs typeface="Calibri"/>
                <a:sym typeface="Calibri"/>
              </a:rPr>
              <a:t>to define LLMs and build TensorRT engines</a:t>
            </a:r>
            <a:r>
              <a:rPr lang="en" sz="1300">
                <a:solidFill>
                  <a:srgbClr val="0F0F0F"/>
                </a:solidFill>
                <a:latin typeface="Calibri"/>
                <a:ea typeface="Calibri"/>
                <a:cs typeface="Calibri"/>
                <a:sym typeface="Calibri"/>
              </a:rPr>
              <a:t> that contain state-of-the-art optimizations to perform inference efficiently on </a:t>
            </a:r>
            <a:r>
              <a:rPr lang="en" sz="1300" b="1">
                <a:solidFill>
                  <a:srgbClr val="FF0000"/>
                </a:solidFill>
                <a:latin typeface="Calibri"/>
                <a:ea typeface="Calibri"/>
                <a:cs typeface="Calibri"/>
                <a:sym typeface="Calibri"/>
              </a:rPr>
              <a:t>NVIDIA GPUs</a:t>
            </a:r>
            <a:r>
              <a:rPr lang="en" sz="1300">
                <a:solidFill>
                  <a:srgbClr val="0F0F0F"/>
                </a:solidFill>
                <a:latin typeface="Calibri"/>
                <a:ea typeface="Calibri"/>
                <a:cs typeface="Calibri"/>
                <a:sym typeface="Calibri"/>
              </a:rPr>
              <a:t>. To create </a:t>
            </a:r>
            <a:r>
              <a:rPr lang="en" sz="1300" b="1">
                <a:solidFill>
                  <a:srgbClr val="FF0000"/>
                </a:solidFill>
                <a:latin typeface="Calibri"/>
                <a:ea typeface="Calibri"/>
                <a:cs typeface="Calibri"/>
                <a:sym typeface="Calibri"/>
              </a:rPr>
              <a:t>Python and C++ runtimes</a:t>
            </a:r>
            <a:r>
              <a:rPr lang="en" sz="1300">
                <a:solidFill>
                  <a:srgbClr val="0F0F0F"/>
                </a:solidFill>
                <a:latin typeface="Calibri"/>
                <a:ea typeface="Calibri"/>
                <a:cs typeface="Calibri"/>
                <a:sym typeface="Calibri"/>
              </a:rPr>
              <a:t> for those TensorRT engines.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 also includes a backend for integration with the </a:t>
            </a:r>
            <a:r>
              <a:rPr lang="en" sz="1300" b="1">
                <a:solidFill>
                  <a:srgbClr val="FF0000"/>
                </a:solidFill>
                <a:latin typeface="Calibri"/>
                <a:ea typeface="Calibri"/>
                <a:cs typeface="Calibri"/>
                <a:sym typeface="Calibri"/>
              </a:rPr>
              <a:t>NVIDIA Triton Inference Server</a:t>
            </a:r>
            <a:r>
              <a:rPr lang="en" sz="1300">
                <a:solidFill>
                  <a:srgbClr val="0F0F0F"/>
                </a:solidFill>
                <a:latin typeface="Calibri"/>
                <a:ea typeface="Calibri"/>
                <a:cs typeface="Calibri"/>
                <a:sym typeface="Calibri"/>
              </a:rPr>
              <a:t> to serve LLMs. </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Models built with TensorRT-LLM can be executed on a wide range of configurations going </a:t>
            </a:r>
            <a:r>
              <a:rPr lang="en" sz="1300" b="1">
                <a:solidFill>
                  <a:srgbClr val="6AA84F"/>
                </a:solidFill>
                <a:latin typeface="Calibri"/>
                <a:ea typeface="Calibri"/>
                <a:cs typeface="Calibri"/>
                <a:sym typeface="Calibri"/>
              </a:rPr>
              <a:t>from a single GPU to multiple nodes with multiple GPUs</a:t>
            </a:r>
            <a:r>
              <a:rPr lang="en" sz="1300">
                <a:solidFill>
                  <a:srgbClr val="0F0F0F"/>
                </a:solidFill>
                <a:latin typeface="Calibri"/>
                <a:ea typeface="Calibri"/>
                <a:cs typeface="Calibri"/>
                <a:sym typeface="Calibri"/>
              </a:rPr>
              <a:t> (</a:t>
            </a:r>
            <a:r>
              <a:rPr lang="en" sz="1300" b="1">
                <a:solidFill>
                  <a:srgbClr val="FF0000"/>
                </a:solidFill>
                <a:latin typeface="Calibri"/>
                <a:ea typeface="Calibri"/>
                <a:cs typeface="Calibri"/>
                <a:sym typeface="Calibri"/>
              </a:rPr>
              <a:t>using Tensor Parallelism and/or Pipeline Parallelism</a:t>
            </a:r>
            <a:r>
              <a:rPr lang="en" sz="1300">
                <a:solidFill>
                  <a:srgbClr val="0F0F0F"/>
                </a:solidFill>
                <a:latin typeface="Calibri"/>
                <a:ea typeface="Calibri"/>
                <a:cs typeface="Calibri"/>
                <a:sym typeface="Calibri"/>
              </a:rPr>
              <a:t>).</a:t>
            </a:r>
            <a:endParaRPr sz="1300">
              <a:solidFill>
                <a:srgbClr val="0F0F0F"/>
              </a:solidFill>
              <a:latin typeface="Calibri"/>
              <a:ea typeface="Calibri"/>
              <a:cs typeface="Calibri"/>
              <a:sym typeface="Calibri"/>
            </a:endParaRPr>
          </a:p>
        </p:txBody>
      </p:sp>
      <p:sp>
        <p:nvSpPr>
          <p:cNvPr id="457" name="Google Shape;457;p35"/>
          <p:cNvSpPr txBox="1"/>
          <p:nvPr/>
        </p:nvSpPr>
        <p:spPr>
          <a:xfrm>
            <a:off x="4650975" y="356400"/>
            <a:ext cx="43887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Open Inference Engines:</a:t>
            </a:r>
            <a:endParaRPr sz="1300">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5"/>
              </a:rPr>
              <a:t>https://github.com/lapp0/lm-inference-engines/</a:t>
            </a:r>
            <a:r>
              <a:rPr lang="en" sz="1300">
                <a:latin typeface="Calibri"/>
                <a:ea typeface="Calibri"/>
                <a:cs typeface="Calibri"/>
                <a:sym typeface="Calibri"/>
              </a:rPr>
              <a:t> </a:t>
            </a:r>
            <a:endParaRPr sz="1300">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Performance:</a:t>
            </a:r>
            <a:br>
              <a:rPr lang="en" sz="1300">
                <a:latin typeface="Calibri"/>
                <a:ea typeface="Calibri"/>
                <a:cs typeface="Calibri"/>
                <a:sym typeface="Calibri"/>
              </a:rPr>
            </a:br>
            <a:r>
              <a:rPr lang="en" sz="1300" u="sng">
                <a:solidFill>
                  <a:schemeClr val="hlink"/>
                </a:solidFill>
                <a:latin typeface="Calibri"/>
                <a:ea typeface="Calibri"/>
                <a:cs typeface="Calibri"/>
                <a:sym typeface="Calibri"/>
                <a:hlinkClick r:id="rId6"/>
              </a:rPr>
              <a:t>https://nvidia.github.io/TensorRT-LLM/performance.html</a:t>
            </a:r>
            <a:r>
              <a:rPr lang="en" sz="1300">
                <a:latin typeface="Calibri"/>
                <a:ea typeface="Calibri"/>
                <a:cs typeface="Calibri"/>
                <a:sym typeface="Calibri"/>
              </a:rPr>
              <a:t> </a:t>
            </a:r>
            <a:endParaRPr sz="1300">
              <a:latin typeface="Calibri"/>
              <a:ea typeface="Calibri"/>
              <a:cs typeface="Calibri"/>
              <a:sym typeface="Calibri"/>
            </a:endParaRPr>
          </a:p>
        </p:txBody>
      </p:sp>
      <p:sp>
        <p:nvSpPr>
          <p:cNvPr id="458" name="Google Shape;458;p35"/>
          <p:cNvSpPr txBox="1"/>
          <p:nvPr/>
        </p:nvSpPr>
        <p:spPr>
          <a:xfrm>
            <a:off x="4652434" y="2168807"/>
            <a:ext cx="4388700" cy="1185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TensorRT supports running models saved in various formats,</a:t>
            </a:r>
            <a:endParaRPr sz="1300">
              <a:latin typeface="Calibri"/>
              <a:ea typeface="Calibri"/>
              <a:cs typeface="Calibri"/>
              <a:sym typeface="Calibri"/>
            </a:endParaRPr>
          </a:p>
          <a:p>
            <a:pPr marL="0" lvl="0" indent="0" algn="l" rtl="0">
              <a:spcBef>
                <a:spcPts val="0"/>
              </a:spcBef>
              <a:spcAft>
                <a:spcPts val="0"/>
              </a:spcAft>
              <a:buNone/>
            </a:pPr>
            <a:r>
              <a:rPr lang="en" sz="1300">
                <a:latin typeface="Calibri"/>
                <a:ea typeface="Calibri"/>
                <a:cs typeface="Calibri"/>
                <a:sym typeface="Calibri"/>
              </a:rPr>
              <a:t>for example:</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TensorFlow formats</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b="1">
                <a:solidFill>
                  <a:srgbClr val="FF0000"/>
                </a:solidFill>
                <a:latin typeface="Calibri"/>
                <a:ea typeface="Calibri"/>
                <a:cs typeface="Calibri"/>
                <a:sym typeface="Calibri"/>
              </a:rPr>
              <a:t>ONNX</a:t>
            </a:r>
            <a:r>
              <a:rPr lang="en" sz="1300">
                <a:latin typeface="Calibri"/>
                <a:ea typeface="Calibri"/>
                <a:cs typeface="Calibri"/>
                <a:sym typeface="Calibri"/>
              </a:rPr>
              <a:t> (Open Neural Network Exchange) format</a:t>
            </a:r>
            <a:endParaRPr sz="1300">
              <a:latin typeface="Calibri"/>
              <a:ea typeface="Calibri"/>
              <a:cs typeface="Calibri"/>
              <a:sym typeface="Calibri"/>
            </a:endParaRPr>
          </a:p>
          <a:p>
            <a:pPr marL="457200" lvl="0" indent="-311150" algn="l" rtl="0">
              <a:spcBef>
                <a:spcPts val="0"/>
              </a:spcBef>
              <a:spcAft>
                <a:spcPts val="0"/>
              </a:spcAft>
              <a:buSzPts val="1300"/>
              <a:buFont typeface="Calibri"/>
              <a:buChar char="●"/>
            </a:pPr>
            <a:r>
              <a:rPr lang="en" sz="1300">
                <a:latin typeface="Calibri"/>
                <a:ea typeface="Calibri"/>
                <a:cs typeface="Calibri"/>
                <a:sym typeface="Calibri"/>
              </a:rPr>
              <a:t>PyTorch </a:t>
            </a:r>
            <a:r>
              <a:rPr lang="en" sz="1300" b="1">
                <a:solidFill>
                  <a:srgbClr val="FF0000"/>
                </a:solidFill>
                <a:latin typeface="Calibri"/>
                <a:ea typeface="Calibri"/>
                <a:cs typeface="Calibri"/>
                <a:sym typeface="Calibri"/>
              </a:rPr>
              <a:t>TorchScript</a:t>
            </a:r>
            <a:r>
              <a:rPr lang="en" sz="1300">
                <a:latin typeface="Calibri"/>
                <a:ea typeface="Calibri"/>
                <a:cs typeface="Calibri"/>
                <a:sym typeface="Calibri"/>
              </a:rPr>
              <a:t> (.pt) format </a:t>
            </a:r>
            <a:endParaRPr sz="1300">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36"/>
          <p:cNvSpPr txBox="1"/>
          <p:nvPr/>
        </p:nvSpPr>
        <p:spPr>
          <a:xfrm>
            <a:off x="87225" y="74650"/>
            <a:ext cx="40488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Is Having More Experts Better?</a:t>
            </a:r>
            <a:endParaRPr sz="2000" b="1">
              <a:latin typeface="Calibri"/>
              <a:ea typeface="Calibri"/>
              <a:cs typeface="Calibri"/>
              <a:sym typeface="Calibri"/>
            </a:endParaRPr>
          </a:p>
        </p:txBody>
      </p:sp>
      <p:sp>
        <p:nvSpPr>
          <p:cNvPr id="464" name="Google Shape;464;p36"/>
          <p:cNvSpPr txBox="1"/>
          <p:nvPr/>
        </p:nvSpPr>
        <p:spPr>
          <a:xfrm>
            <a:off x="87225" y="538825"/>
            <a:ext cx="4368600" cy="358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For example, can Mixtral 8x7B be improved by increasing the number of experts from 8 to 16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The answer is "it depends". </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Here are some factors to consider:</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More experts - more compute needed, more expensive</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For smaller datasets or simpler problems, adding more experts may result in redundancy, overfitting and reduced generalization performance.</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 more complicated gating network may be needed when increasing the number of experts to maintain good routing decisions.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So, increasing the number of experts in a Mixtral model from eight to sixteen might lead to improvements in certain scenarios. Decision depends on available resources, dataset characteristics, and overall goals. </a:t>
            </a:r>
            <a:endParaRPr sz="1300">
              <a:solidFill>
                <a:srgbClr val="0F0F0F"/>
              </a:solidFill>
              <a:latin typeface="Calibri"/>
              <a:ea typeface="Calibri"/>
              <a:cs typeface="Calibri"/>
              <a:sym typeface="Calibri"/>
            </a:endParaRPr>
          </a:p>
        </p:txBody>
      </p:sp>
      <p:sp>
        <p:nvSpPr>
          <p:cNvPr id="465" name="Google Shape;465;p36"/>
          <p:cNvSpPr txBox="1"/>
          <p:nvPr/>
        </p:nvSpPr>
        <p:spPr>
          <a:xfrm>
            <a:off x="87225" y="4207625"/>
            <a:ext cx="4368600" cy="76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Calibri"/>
                <a:ea typeface="Calibri"/>
                <a:cs typeface="Calibri"/>
                <a:sym typeface="Calibri"/>
              </a:rPr>
              <a:t>The Rise of Sparse Mixtures of Experts: Switch Transformers</a:t>
            </a:r>
            <a:br>
              <a:rPr lang="en">
                <a:latin typeface="Calibri"/>
                <a:ea typeface="Calibri"/>
                <a:cs typeface="Calibri"/>
                <a:sym typeface="Calibri"/>
              </a:rPr>
            </a:br>
            <a:r>
              <a:rPr lang="en" sz="1000" u="sng">
                <a:solidFill>
                  <a:schemeClr val="hlink"/>
                </a:solidFill>
                <a:latin typeface="Calibri"/>
                <a:ea typeface="Calibri"/>
                <a:cs typeface="Calibri"/>
                <a:sym typeface="Calibri"/>
                <a:hlinkClick r:id="rId3"/>
              </a:rPr>
              <a:t>https://mlfrontiers.substack.com/p/the-rise-of-sparse-mixtures-of-experts</a:t>
            </a:r>
            <a:r>
              <a:rPr lang="en" sz="1000">
                <a:latin typeface="Calibri"/>
                <a:ea typeface="Calibri"/>
                <a:cs typeface="Calibri"/>
                <a:sym typeface="Calibri"/>
              </a:rPr>
              <a:t> </a:t>
            </a:r>
            <a:endParaRPr sz="900">
              <a:solidFill>
                <a:srgbClr val="0F0F0F"/>
              </a:solidFill>
              <a:latin typeface="Calibri"/>
              <a:ea typeface="Calibri"/>
              <a:cs typeface="Calibri"/>
              <a:sym typeface="Calibri"/>
            </a:endParaRPr>
          </a:p>
        </p:txBody>
      </p:sp>
      <p:sp>
        <p:nvSpPr>
          <p:cNvPr id="466" name="Google Shape;466;p36"/>
          <p:cNvSpPr txBox="1"/>
          <p:nvPr/>
        </p:nvSpPr>
        <p:spPr>
          <a:xfrm>
            <a:off x="4610550" y="538825"/>
            <a:ext cx="4368600" cy="2539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Here are some LLMs:</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Year | Model        | Params | Layers | Embed dim | heads </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2020 | GPT-3        |  175B  |   96   |  12,288   |  96</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2021 | Gopher       |  280B  |   80   |  16,384   | 128</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2021 | Anthropic LM |   52B  |   64   |   8,192   |  - </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2022 | PaLM.        |  540B  |  118   |  18,432   |  48</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2022 | Chinchilla   |   70B  |   80   |   8,192   |  64</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2023 | Llama-2-7B   |    7B  |   32   |  11,008   |  32 </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2023 | Mistral-7B   |    7B  |   32   |  14,336   |  32</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Clr>
                <a:schemeClr val="dk1"/>
              </a:buClr>
              <a:buSzPts val="1100"/>
              <a:buFont typeface="Arial"/>
              <a:buNone/>
            </a:pPr>
            <a:r>
              <a:rPr lang="en" sz="900" b="1">
                <a:solidFill>
                  <a:srgbClr val="3C78D8"/>
                </a:solidFill>
                <a:latin typeface="Roboto Mono"/>
                <a:ea typeface="Roboto Mono"/>
                <a:cs typeface="Roboto Mono"/>
                <a:sym typeface="Roboto Mono"/>
              </a:rPr>
              <a:t>2023 | Mixtral-8x7B |   47B  |   32   |  14,336   |  32</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a:t>
            </a: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endParaRPr sz="900" b="1">
              <a:solidFill>
                <a:srgbClr val="3C78D8"/>
              </a:solidFill>
              <a:latin typeface="Roboto Mono"/>
              <a:ea typeface="Roboto Mono"/>
              <a:cs typeface="Roboto Mono"/>
              <a:sym typeface="Roboto Mono"/>
            </a:endParaRPr>
          </a:p>
          <a:p>
            <a:pPr marL="0" lvl="0" indent="0" algn="l" rtl="0">
              <a:spcBef>
                <a:spcPts val="0"/>
              </a:spcBef>
              <a:spcAft>
                <a:spcPts val="0"/>
              </a:spcAft>
              <a:buNone/>
            </a:pPr>
            <a:r>
              <a:rPr lang="en" sz="900" b="1">
                <a:solidFill>
                  <a:srgbClr val="3C78D8"/>
                </a:solidFill>
                <a:latin typeface="Roboto Mono"/>
                <a:ea typeface="Roboto Mono"/>
                <a:cs typeface="Roboto Mono"/>
                <a:sym typeface="Roboto Mono"/>
              </a:rPr>
              <a:t>Unfortunately there is no public info about architectures of </a:t>
            </a:r>
            <a:br>
              <a:rPr lang="en" sz="900" b="1">
                <a:solidFill>
                  <a:srgbClr val="3C78D8"/>
                </a:solidFill>
                <a:latin typeface="Roboto Mono"/>
                <a:ea typeface="Roboto Mono"/>
                <a:cs typeface="Roboto Mono"/>
                <a:sym typeface="Roboto Mono"/>
              </a:rPr>
            </a:br>
            <a:r>
              <a:rPr lang="en" sz="900" b="1">
                <a:solidFill>
                  <a:srgbClr val="3C78D8"/>
                </a:solidFill>
                <a:latin typeface="Roboto Mono"/>
                <a:ea typeface="Roboto Mono"/>
                <a:cs typeface="Roboto Mono"/>
                <a:sym typeface="Roboto Mono"/>
              </a:rPr>
              <a:t>GPT-4-Turbo, GPT-3-Turbo, Claude-2, Gemini Pro, ...</a:t>
            </a:r>
            <a:endParaRPr sz="900" b="1">
              <a:solidFill>
                <a:srgbClr val="3C78D8"/>
              </a:solidFill>
              <a:latin typeface="Roboto Mono"/>
              <a:ea typeface="Roboto Mono"/>
              <a:cs typeface="Roboto Mono"/>
              <a:sym typeface="Roboto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37"/>
          <p:cNvSpPr txBox="1"/>
          <p:nvPr/>
        </p:nvSpPr>
        <p:spPr>
          <a:xfrm>
            <a:off x="87225" y="74650"/>
            <a:ext cx="1964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AlphaGeometry</a:t>
            </a:r>
            <a:endParaRPr sz="2000" b="1">
              <a:latin typeface="Calibri"/>
              <a:ea typeface="Calibri"/>
              <a:cs typeface="Calibri"/>
              <a:sym typeface="Calibri"/>
            </a:endParaRPr>
          </a:p>
        </p:txBody>
      </p:sp>
      <p:sp>
        <p:nvSpPr>
          <p:cNvPr id="472" name="Google Shape;472;p37"/>
          <p:cNvSpPr txBox="1"/>
          <p:nvPr/>
        </p:nvSpPr>
        <p:spPr>
          <a:xfrm>
            <a:off x="142600" y="643900"/>
            <a:ext cx="3827400" cy="224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b="1">
                <a:solidFill>
                  <a:srgbClr val="FF0000"/>
                </a:solidFill>
                <a:latin typeface="Calibri"/>
                <a:ea typeface="Calibri"/>
                <a:cs typeface="Calibri"/>
                <a:sym typeface="Calibri"/>
              </a:rPr>
              <a:t>Google Deepmind - AlphaGeometry: </a:t>
            </a:r>
            <a:endParaRPr sz="1300" b="1">
              <a:solidFill>
                <a:srgbClr val="FF0000"/>
              </a:solidFill>
              <a:latin typeface="Calibri"/>
              <a:ea typeface="Calibri"/>
              <a:cs typeface="Calibri"/>
              <a:sym typeface="Calibri"/>
            </a:endParaRPr>
          </a:p>
          <a:p>
            <a:pPr marL="0" lvl="0" indent="0" algn="l" rtl="0">
              <a:spcBef>
                <a:spcPts val="0"/>
              </a:spcBef>
              <a:spcAft>
                <a:spcPts val="0"/>
              </a:spcAft>
              <a:buNone/>
            </a:pPr>
            <a:r>
              <a:rPr lang="en" sz="1300" b="1">
                <a:solidFill>
                  <a:srgbClr val="FF0000"/>
                </a:solidFill>
                <a:latin typeface="Calibri"/>
                <a:ea typeface="Calibri"/>
                <a:cs typeface="Calibri"/>
                <a:sym typeface="Calibri"/>
              </a:rPr>
              <a:t>An Olympiad-level AI system for geometry</a:t>
            </a:r>
            <a:endParaRPr sz="1300" b="1">
              <a:solidFill>
                <a:srgbClr val="FF0000"/>
              </a:solidFill>
              <a:latin typeface="Calibri"/>
              <a:ea typeface="Calibri"/>
              <a:cs typeface="Calibri"/>
              <a:sym typeface="Calibri"/>
            </a:endParaRPr>
          </a:p>
          <a:p>
            <a:pPr marL="0" lvl="0" indent="0" algn="l" rtl="0">
              <a:spcBef>
                <a:spcPts val="0"/>
              </a:spcBef>
              <a:spcAft>
                <a:spcPts val="0"/>
              </a:spcAft>
              <a:buNone/>
            </a:pPr>
            <a:endParaRPr sz="13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https://www.nature.com/articles/s41586-023-06747-5</a:t>
            </a:r>
            <a:r>
              <a:rPr lang="en" sz="1000">
                <a:latin typeface="Calibri"/>
                <a:ea typeface="Calibri"/>
                <a:cs typeface="Calibri"/>
                <a:sym typeface="Calibri"/>
              </a:rPr>
              <a:t> </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https://deepmind.google/discover/blog/alphageometry-an-olympiad-level-ai-system-for-geometry/</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AlphaGeometry is a neuro-symbolic system made up of a neural language model and a symbolic deduction engine, which work together to find proofs for complex geometry theorems. </a:t>
            </a:r>
            <a:endParaRPr sz="1300">
              <a:solidFill>
                <a:srgbClr val="0F0F0F"/>
              </a:solidFill>
              <a:latin typeface="Calibri"/>
              <a:ea typeface="Calibri"/>
              <a:cs typeface="Calibri"/>
              <a:sym typeface="Calibri"/>
            </a:endParaRPr>
          </a:p>
        </p:txBody>
      </p:sp>
      <p:pic>
        <p:nvPicPr>
          <p:cNvPr id="473" name="Google Shape;473;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32600" y="2964500"/>
            <a:ext cx="3129652" cy="2067324"/>
          </a:xfrm>
          <a:prstGeom prst="rect">
            <a:avLst/>
          </a:prstGeom>
          <a:noFill/>
          <a:ln>
            <a:noFill/>
          </a:ln>
        </p:spPr>
      </p:pic>
      <p:pic>
        <p:nvPicPr>
          <p:cNvPr id="474" name="Google Shape;474;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139000" y="1049350"/>
            <a:ext cx="4869200" cy="32946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38"/>
          <p:cNvSpPr txBox="1"/>
          <p:nvPr/>
        </p:nvSpPr>
        <p:spPr>
          <a:xfrm>
            <a:off x="87225" y="74650"/>
            <a:ext cx="5107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Mark Zuckerberg Announcement (2 min video) </a:t>
            </a:r>
            <a:endParaRPr sz="2000" b="1">
              <a:latin typeface="Calibri"/>
              <a:ea typeface="Calibri"/>
              <a:cs typeface="Calibri"/>
              <a:sym typeface="Calibri"/>
            </a:endParaRPr>
          </a:p>
        </p:txBody>
      </p:sp>
      <p:sp>
        <p:nvSpPr>
          <p:cNvPr id="480" name="Google Shape;480;p38"/>
          <p:cNvSpPr txBox="1"/>
          <p:nvPr/>
        </p:nvSpPr>
        <p:spPr>
          <a:xfrm>
            <a:off x="87225" y="477800"/>
            <a:ext cx="74382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Mark Zuckerberg just dropped a huge announcement and confirmed LLaMA 3 is in training: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Hey everyone today I bringing meta's two AI research efforts closer together to support our long-term goals of building general intelligence, open-sourcing it responsibly and making it available and useful to everyone in all of our daily lives.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It's become clearer that the next generation of services requires building full general intelligence. Building the best AI assistants ,AIs for creators, AIs for businesses and more that needs advances in every area of AI from reasoning to planning to coding to memory and other cognitive abilities.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This technology is so important and the opportunities are so great, that we should open-source and make it as widely available as we responsibly can, so that everyone can benefit.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 were building an absolutely massive amount of infrastructure to support this. By the end of this year we're going to have around 350,000 Nvidia H100s, or around 600,000 H100 equivalent of compute if you include other gpus we're currently training llama 3.</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And we've got an exciting road map of of future models that we're going to keep training responsibly and safely too.</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People are also going to need new devices for AI, and this brings together AI and the metaverse, because over time I think a lot of us are going to talk to AIs frequently throughout the day, and a lot of us are going to do that using glasses, because glasses are the ideal form factor for letting an AI see what you see and hear what you hear, so it's always available to help out. Ray-Ban Meta glasses with meta AI are already off to a very strong start, and overall across all this stuff we are just getting started. </a:t>
            </a:r>
            <a:endParaRPr sz="1300">
              <a:solidFill>
                <a:srgbClr val="0F0F0F"/>
              </a:solidFill>
              <a:latin typeface="Calibri"/>
              <a:ea typeface="Calibri"/>
              <a:cs typeface="Calibri"/>
              <a:sym typeface="Calibri"/>
            </a:endParaRPr>
          </a:p>
        </p:txBody>
      </p:sp>
      <p:pic>
        <p:nvPicPr>
          <p:cNvPr id="481" name="Google Shape;481;p3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7642826" y="74650"/>
            <a:ext cx="1399924" cy="1702500"/>
          </a:xfrm>
          <a:prstGeom prst="rect">
            <a:avLst/>
          </a:prstGeom>
          <a:noFill/>
          <a:ln>
            <a:noFill/>
          </a:ln>
        </p:spPr>
      </p:pic>
      <p:sp>
        <p:nvSpPr>
          <p:cNvPr id="482" name="Google Shape;482;p38"/>
          <p:cNvSpPr txBox="1"/>
          <p:nvPr/>
        </p:nvSpPr>
        <p:spPr>
          <a:xfrm>
            <a:off x="7613638" y="1811925"/>
            <a:ext cx="1458300" cy="1075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sz="1300">
                <a:solidFill>
                  <a:schemeClr val="dk1"/>
                </a:solidFill>
                <a:highlight>
                  <a:srgbClr val="FFFFFF"/>
                </a:highlight>
                <a:latin typeface="Calibri"/>
                <a:ea typeface="Calibri"/>
                <a:cs typeface="Calibri"/>
                <a:sym typeface="Calibri"/>
              </a:rPr>
              <a:t>Zuck: "We're currently training LLaMA 3 ... Open-Source AGI"</a:t>
            </a:r>
            <a:endParaRPr sz="1300">
              <a:solidFill>
                <a:schemeClr val="dk1"/>
              </a:solidFill>
              <a:highlight>
                <a:srgbClr val="FFFFFF"/>
              </a:highlight>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p39"/>
          <p:cNvSpPr txBox="1"/>
          <p:nvPr/>
        </p:nvSpPr>
        <p:spPr>
          <a:xfrm>
            <a:off x="87225" y="74650"/>
            <a:ext cx="32496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Misc</a:t>
            </a:r>
            <a:endParaRPr sz="2000" b="1">
              <a:latin typeface="Calibri"/>
              <a:ea typeface="Calibri"/>
              <a:cs typeface="Calibri"/>
              <a:sym typeface="Calibri"/>
            </a:endParaRPr>
          </a:p>
        </p:txBody>
      </p:sp>
      <p:sp>
        <p:nvSpPr>
          <p:cNvPr id="488" name="Google Shape;488;p39"/>
          <p:cNvSpPr txBox="1"/>
          <p:nvPr/>
        </p:nvSpPr>
        <p:spPr>
          <a:xfrm>
            <a:off x="87225" y="477800"/>
            <a:ext cx="4366500" cy="192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Run SDXL Locally With ComfyUI:</a:t>
            </a:r>
            <a:endParaRPr sz="13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https://www.youtube.com/watch?v=9k-yb83ZHfc</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https://github.com/comfyanonymous/ComfyUI</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https://github.com/ltdrdata/ComfyUI-Manager</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6"/>
              </a:rPr>
              <a:t>https://www.youtube.com/watch?v=m9jg1fdOiVY</a:t>
            </a:r>
            <a:r>
              <a:rPr lang="en" sz="1000">
                <a:solidFill>
                  <a:srgbClr val="0F0F0F"/>
                </a:solidFill>
                <a:latin typeface="Calibri"/>
                <a:ea typeface="Calibri"/>
                <a:cs typeface="Calibri"/>
                <a:sym typeface="Calibri"/>
              </a:rPr>
              <a:t> - on Mac</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https://huggingface.co/stabilityai/stable-diffusion-xl-base-1.0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https://huggingface.co/stabilityai/stable-diffusion-xl-refiner-1.0</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9"/>
              </a:rPr>
              <a:t>https://huggingface.co/stabilityai/sdxl-vae</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Also:</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0"/>
              </a:rPr>
              <a:t>https://github.com/AUTOMATIC1111/stable-diffusion-webui</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11"/>
              </a:rPr>
              <a:t>https://huggingface.co/CompVis/stable-diffusion-v-1-4-original</a:t>
            </a:r>
            <a:r>
              <a:rPr lang="en" sz="10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p:txBody>
      </p:sp>
      <p:sp>
        <p:nvSpPr>
          <p:cNvPr id="489" name="Google Shape;489;p39"/>
          <p:cNvSpPr txBox="1"/>
          <p:nvPr/>
        </p:nvSpPr>
        <p:spPr>
          <a:xfrm>
            <a:off x="87225" y="2465239"/>
            <a:ext cx="4366500" cy="538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OpenAI ChatGPT Pricing Calculator:</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12"/>
              </a:rPr>
              <a:t>https://gptforwork.com/tools/openai-chatgpt-api-pricing-calculator</a:t>
            </a:r>
            <a:endParaRPr sz="1000">
              <a:solidFill>
                <a:srgbClr val="0F0F0F"/>
              </a:solidFill>
              <a:latin typeface="Calibri"/>
              <a:ea typeface="Calibri"/>
              <a:cs typeface="Calibri"/>
              <a:sym typeface="Calibri"/>
            </a:endParaRPr>
          </a:p>
        </p:txBody>
      </p:sp>
      <p:sp>
        <p:nvSpPr>
          <p:cNvPr id="490" name="Google Shape;490;p39"/>
          <p:cNvSpPr txBox="1"/>
          <p:nvPr/>
        </p:nvSpPr>
        <p:spPr>
          <a:xfrm>
            <a:off x="87225" y="3080447"/>
            <a:ext cx="4366500" cy="985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New Samsung Galaxy S24 AI Features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Circle it. Search it.</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Live Translate (real time)</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Nightography Zoom</a:t>
            </a:r>
            <a:endParaRPr sz="1300">
              <a:solidFill>
                <a:srgbClr val="0F0F0F"/>
              </a:solidFill>
              <a:latin typeface="Calibri"/>
              <a:ea typeface="Calibri"/>
              <a:cs typeface="Calibri"/>
              <a:sym typeface="Calibri"/>
            </a:endParaRPr>
          </a:p>
        </p:txBody>
      </p:sp>
      <p:sp>
        <p:nvSpPr>
          <p:cNvPr id="491" name="Google Shape;491;p39"/>
          <p:cNvSpPr txBox="1"/>
          <p:nvPr/>
        </p:nvSpPr>
        <p:spPr>
          <a:xfrm>
            <a:off x="4610800" y="477800"/>
            <a:ext cx="4366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Volkswagen and Mercedes Benz demonstrated dashboard LLM-based voice assistants.</a:t>
            </a:r>
            <a:endParaRPr sz="1300">
              <a:latin typeface="Calibri"/>
              <a:ea typeface="Calibri"/>
              <a:cs typeface="Calibri"/>
              <a:sym typeface="Calibri"/>
            </a:endParaRPr>
          </a:p>
        </p:txBody>
      </p:sp>
      <p:sp>
        <p:nvSpPr>
          <p:cNvPr id="492" name="Google Shape;492;p39"/>
          <p:cNvSpPr txBox="1"/>
          <p:nvPr/>
        </p:nvSpPr>
        <p:spPr>
          <a:xfrm>
            <a:off x="4610800" y="1147250"/>
            <a:ext cx="4366500" cy="58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Taiwanese startup Neuchips displayed an add-in board that enables desktop computers to run 7B LLMs at 55 watts</a:t>
            </a:r>
            <a:endParaRPr sz="1300">
              <a:latin typeface="Calibri"/>
              <a:ea typeface="Calibri"/>
              <a:cs typeface="Calibri"/>
              <a:sym typeface="Calibri"/>
            </a:endParaRPr>
          </a:p>
        </p:txBody>
      </p:sp>
      <p:sp>
        <p:nvSpPr>
          <p:cNvPr id="493" name="Google Shape;493;p39"/>
          <p:cNvSpPr txBox="1"/>
          <p:nvPr/>
        </p:nvSpPr>
        <p:spPr>
          <a:xfrm>
            <a:off x="87225" y="4153047"/>
            <a:ext cx="43665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Microsoft launches Copilot Pro for $20 per month per user</a:t>
            </a:r>
            <a:endParaRPr sz="1300">
              <a:solidFill>
                <a:srgbClr val="0F0F0F"/>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pic>
        <p:nvPicPr>
          <p:cNvPr id="498" name="Google Shape;498;p40" descr="Google Cloud Platform | Lingows I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243742" y="645156"/>
            <a:ext cx="900247" cy="900247"/>
          </a:xfrm>
          <a:prstGeom prst="rect">
            <a:avLst/>
          </a:prstGeom>
          <a:noFill/>
          <a:ln>
            <a:noFill/>
          </a:ln>
        </p:spPr>
      </p:pic>
      <p:pic>
        <p:nvPicPr>
          <p:cNvPr id="499" name="Google Shape;499;p40" descr="Darko Mocelj (@moceljd) | Twitter"/>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969308" y="871049"/>
            <a:ext cx="1054989" cy="603866"/>
          </a:xfrm>
          <a:prstGeom prst="rect">
            <a:avLst/>
          </a:prstGeom>
          <a:noFill/>
          <a:ln>
            <a:noFill/>
          </a:ln>
        </p:spPr>
      </p:pic>
      <p:pic>
        <p:nvPicPr>
          <p:cNvPr id="500" name="Google Shape;500;p40"/>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1986212" y="871047"/>
            <a:ext cx="1054989" cy="674365"/>
          </a:xfrm>
          <a:prstGeom prst="rect">
            <a:avLst/>
          </a:prstGeom>
          <a:noFill/>
          <a:ln>
            <a:noFill/>
          </a:ln>
        </p:spPr>
      </p:pic>
      <p:sp>
        <p:nvSpPr>
          <p:cNvPr id="501" name="Google Shape;501;p40"/>
          <p:cNvSpPr txBox="1"/>
          <p:nvPr/>
        </p:nvSpPr>
        <p:spPr>
          <a:xfrm>
            <a:off x="102050" y="64750"/>
            <a:ext cx="5056200" cy="4386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400" b="1">
                <a:solidFill>
                  <a:schemeClr val="dk1"/>
                </a:solidFill>
                <a:latin typeface="Arial Black"/>
                <a:ea typeface="Arial Black"/>
                <a:cs typeface="Arial Black"/>
                <a:sym typeface="Arial Black"/>
              </a:rPr>
              <a:t>ML &amp; AI on AWS, Azure, GCP</a:t>
            </a:r>
            <a:endParaRPr sz="1100"/>
          </a:p>
        </p:txBody>
      </p:sp>
      <p:sp>
        <p:nvSpPr>
          <p:cNvPr id="502" name="Google Shape;502;p40"/>
          <p:cNvSpPr txBox="1"/>
          <p:nvPr/>
        </p:nvSpPr>
        <p:spPr>
          <a:xfrm>
            <a:off x="38904" y="1247823"/>
            <a:ext cx="3421800" cy="37635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200">
                <a:solidFill>
                  <a:schemeClr val="dk1"/>
                </a:solidFill>
                <a:latin typeface="Calibri"/>
                <a:ea typeface="Calibri"/>
                <a:cs typeface="Calibri"/>
                <a:sym typeface="Calibri"/>
              </a:rPr>
              <a:t>Amazon:</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Trainium</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Bedrock</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AWS Inferentia</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CodeWhisperer</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Amazon Sagemaker</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Comprehend (extract from text)</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CodeGuru (auto code review)</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Lex (Chatbots)</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Forecast</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Textract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(extract text &amp; data from millions of docs)</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Kendra (Natural Language Search)</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Fraud Detector</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Rekognition - image/video analysis,</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Personalize - recommendation engine,</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Translate - real time translation</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Polly - text-to-speech</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Transcribe - speech to text</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QuickSight - Analytics dashboards</a:t>
            </a:r>
            <a:endParaRPr sz="1200">
              <a:latin typeface="Calibri"/>
              <a:ea typeface="Calibri"/>
              <a:cs typeface="Calibri"/>
              <a:sym typeface="Calibri"/>
            </a:endParaRPr>
          </a:p>
        </p:txBody>
      </p:sp>
      <p:sp>
        <p:nvSpPr>
          <p:cNvPr id="503" name="Google Shape;503;p40"/>
          <p:cNvSpPr txBox="1"/>
          <p:nvPr/>
        </p:nvSpPr>
        <p:spPr>
          <a:xfrm>
            <a:off x="3586074" y="1247825"/>
            <a:ext cx="2188500" cy="17316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200">
                <a:solidFill>
                  <a:schemeClr val="dk1"/>
                </a:solidFill>
                <a:latin typeface="Calibri"/>
                <a:ea typeface="Calibri"/>
                <a:cs typeface="Calibri"/>
                <a:sym typeface="Calibri"/>
              </a:rPr>
              <a:t>Azure:</a:t>
            </a:r>
            <a:endParaRPr sz="1200">
              <a:solidFill>
                <a:schemeClr val="dk1"/>
              </a:solidFill>
              <a:latin typeface="Calibri"/>
              <a:ea typeface="Calibri"/>
              <a:cs typeface="Calibri"/>
              <a:sym typeface="Calibri"/>
            </a:endParaRPr>
          </a:p>
          <a:p>
            <a:pPr marL="0" marR="0" lvl="0" indent="0" algn="l" rtl="0">
              <a:spcBef>
                <a:spcPts val="0"/>
              </a:spcBef>
              <a:spcAft>
                <a:spcPts val="0"/>
              </a:spcAft>
              <a:buNone/>
            </a:pP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Open AI</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ML Studio</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PySpark</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Data Fabric</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Azure Cognitive Services</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(Vision, Speech, Language, Knowledge, Search)</a:t>
            </a:r>
            <a:endParaRPr sz="1200">
              <a:solidFill>
                <a:schemeClr val="dk1"/>
              </a:solidFill>
              <a:latin typeface="Calibri"/>
              <a:ea typeface="Calibri"/>
              <a:cs typeface="Calibri"/>
              <a:sym typeface="Calibri"/>
            </a:endParaRPr>
          </a:p>
        </p:txBody>
      </p:sp>
      <p:sp>
        <p:nvSpPr>
          <p:cNvPr id="504" name="Google Shape;504;p40"/>
          <p:cNvSpPr txBox="1"/>
          <p:nvPr/>
        </p:nvSpPr>
        <p:spPr>
          <a:xfrm>
            <a:off x="6912401" y="1247825"/>
            <a:ext cx="2188500" cy="3578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1200">
                <a:solidFill>
                  <a:schemeClr val="dk1"/>
                </a:solidFill>
                <a:latin typeface="Calibri"/>
                <a:ea typeface="Calibri"/>
                <a:cs typeface="Calibri"/>
                <a:sym typeface="Calibri"/>
              </a:rPr>
              <a:t>GCP</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Google Cloud AI Services</a:t>
            </a:r>
            <a:endParaRPr sz="1200">
              <a:latin typeface="Calibri"/>
              <a:ea typeface="Calibri"/>
              <a:cs typeface="Calibri"/>
              <a:sym typeface="Calibri"/>
            </a:endParaRPr>
          </a:p>
          <a:p>
            <a:pPr marL="0" marR="0" lvl="0" indent="0" algn="l" rtl="0">
              <a:spcBef>
                <a:spcPts val="0"/>
              </a:spcBef>
              <a:spcAft>
                <a:spcPts val="0"/>
              </a:spcAft>
              <a:buNone/>
            </a:pP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Generative AI on Vertex AI</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Generative AI App Builder</a:t>
            </a:r>
            <a:endParaRPr sz="1200">
              <a:solidFill>
                <a:schemeClr val="dk1"/>
              </a:solidFill>
              <a:latin typeface="Calibri"/>
              <a:ea typeface="Calibri"/>
              <a:cs typeface="Calibri"/>
              <a:sym typeface="Calibri"/>
            </a:endParaRPr>
          </a:p>
          <a:p>
            <a:pPr marL="22860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Duet AI</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Vision API</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Video Intelligence API</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Speech API</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Natural Language</a:t>
            </a:r>
            <a:endParaRPr sz="1200">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Cloud Translation</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DataLab</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ML Engine</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AutoML</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Colab - free jupyter notebooks with GPU</a:t>
            </a:r>
            <a:endParaRPr sz="1200">
              <a:solidFill>
                <a:schemeClr val="dk1"/>
              </a:solidFill>
              <a:latin typeface="Calibri"/>
              <a:ea typeface="Calibri"/>
              <a:cs typeface="Calibri"/>
              <a:sym typeface="Calibri"/>
            </a:endParaRPr>
          </a:p>
          <a:p>
            <a:pPr marL="228600" marR="0" lvl="0" indent="-19050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Kaggle - ML competitions, code, notebooks (kernels), ... - </a:t>
            </a:r>
            <a:r>
              <a:rPr lang="en" sz="1200" u="sng">
                <a:solidFill>
                  <a:schemeClr val="hlink"/>
                </a:solidFill>
                <a:latin typeface="Calibri"/>
                <a:ea typeface="Calibri"/>
                <a:cs typeface="Calibri"/>
                <a:sym typeface="Calibri"/>
                <a:hlinkClick r:id="rId6"/>
              </a:rPr>
              <a:t>https://www.kaggle.com</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08"/>
        <p:cNvGrpSpPr/>
        <p:nvPr/>
      </p:nvGrpSpPr>
      <p:grpSpPr>
        <a:xfrm>
          <a:off x="0" y="0"/>
          <a:ext cx="0" cy="0"/>
          <a:chOff x="0" y="0"/>
          <a:chExt cx="0" cy="0"/>
        </a:xfrm>
      </p:grpSpPr>
      <p:sp>
        <p:nvSpPr>
          <p:cNvPr id="509" name="Google Shape;509;p41"/>
          <p:cNvSpPr txBox="1"/>
          <p:nvPr/>
        </p:nvSpPr>
        <p:spPr>
          <a:xfrm>
            <a:off x="87225" y="74650"/>
            <a:ext cx="45372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Generative AI on Major Cloud Platforms</a:t>
            </a:r>
            <a:endParaRPr sz="2000" b="1">
              <a:latin typeface="Calibri"/>
              <a:ea typeface="Calibri"/>
              <a:cs typeface="Calibri"/>
              <a:sym typeface="Calibri"/>
            </a:endParaRPr>
          </a:p>
        </p:txBody>
      </p:sp>
      <p:pic>
        <p:nvPicPr>
          <p:cNvPr id="510" name="Google Shape;510;p41"/>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099100" y="74650"/>
            <a:ext cx="3978701" cy="2238025"/>
          </a:xfrm>
          <a:prstGeom prst="rect">
            <a:avLst/>
          </a:prstGeom>
          <a:noFill/>
          <a:ln>
            <a:noFill/>
          </a:ln>
        </p:spPr>
      </p:pic>
      <p:pic>
        <p:nvPicPr>
          <p:cNvPr id="511" name="Google Shape;511;p4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72925" y="2354100"/>
            <a:ext cx="4685875" cy="2624826"/>
          </a:xfrm>
          <a:prstGeom prst="rect">
            <a:avLst/>
          </a:prstGeom>
          <a:noFill/>
          <a:ln>
            <a:noFill/>
          </a:ln>
        </p:spPr>
      </p:pic>
      <p:sp>
        <p:nvSpPr>
          <p:cNvPr id="512" name="Google Shape;512;p41"/>
          <p:cNvSpPr txBox="1"/>
          <p:nvPr/>
        </p:nvSpPr>
        <p:spPr>
          <a:xfrm>
            <a:off x="143150" y="1189000"/>
            <a:ext cx="3738900" cy="1699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18275" tIns="18275" rIns="18275" bIns="18275" anchor="t" anchorCtr="0">
            <a:spAutoFit/>
          </a:bodyPr>
          <a:lstStyle/>
          <a:p>
            <a:pPr marL="0" lvl="0" indent="0" algn="l" rtl="0">
              <a:spcBef>
                <a:spcPts val="0"/>
              </a:spcBef>
              <a:spcAft>
                <a:spcPts val="0"/>
              </a:spcAft>
              <a:buNone/>
            </a:pPr>
            <a:r>
              <a:rPr lang="en" sz="1200">
                <a:solidFill>
                  <a:srgbClr val="0F0F0F"/>
                </a:solidFill>
                <a:latin typeface="Calibri"/>
                <a:ea typeface="Calibri"/>
                <a:cs typeface="Calibri"/>
                <a:sym typeface="Calibri"/>
              </a:rPr>
              <a:t>Benefits of Gen AI Cloud Platforms</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train and deploy</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Build and scale</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Latest Gen AI models, LLMs</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High performance</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pay-as-you-go pricing </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Pre-built ML/AI Frameworks </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Frameworks for images, videos, business use</a:t>
            </a:r>
            <a:endParaRPr sz="1200">
              <a:solidFill>
                <a:srgbClr val="0F0F0F"/>
              </a:solidFill>
              <a:latin typeface="Calibri"/>
              <a:ea typeface="Calibri"/>
              <a:cs typeface="Calibri"/>
              <a:sym typeface="Calibri"/>
            </a:endParaRPr>
          </a:p>
          <a:p>
            <a:pPr marL="228600" lvl="0" indent="-190500" algn="l" rtl="0">
              <a:spcBef>
                <a:spcPts val="0"/>
              </a:spcBef>
              <a:spcAft>
                <a:spcPts val="0"/>
              </a:spcAft>
              <a:buClr>
                <a:srgbClr val="0F0F0F"/>
              </a:buClr>
              <a:buSzPts val="1200"/>
              <a:buFont typeface="Calibri"/>
              <a:buChar char="●"/>
            </a:pPr>
            <a:r>
              <a:rPr lang="en" sz="1200">
                <a:solidFill>
                  <a:srgbClr val="0F0F0F"/>
                </a:solidFill>
                <a:latin typeface="Calibri"/>
                <a:ea typeface="Calibri"/>
                <a:cs typeface="Calibri"/>
                <a:sym typeface="Calibri"/>
              </a:rPr>
              <a:t>Advanced models offered by Cloud providers</a:t>
            </a:r>
            <a:endParaRPr sz="1200">
              <a:solidFill>
                <a:srgbClr val="0F0F0F"/>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16"/>
        <p:cNvGrpSpPr/>
        <p:nvPr/>
      </p:nvGrpSpPr>
      <p:grpSpPr>
        <a:xfrm>
          <a:off x="0" y="0"/>
          <a:ext cx="0" cy="0"/>
          <a:chOff x="0" y="0"/>
          <a:chExt cx="0" cy="0"/>
        </a:xfrm>
      </p:grpSpPr>
      <p:pic>
        <p:nvPicPr>
          <p:cNvPr id="517" name="Google Shape;517;p4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39388" y="1480950"/>
            <a:ext cx="8465224" cy="3426601"/>
          </a:xfrm>
          <a:prstGeom prst="rect">
            <a:avLst/>
          </a:prstGeom>
          <a:noFill/>
          <a:ln w="9525" cap="flat" cmpd="sng">
            <a:solidFill>
              <a:srgbClr val="FF0000"/>
            </a:solidFill>
            <a:prstDash val="solid"/>
            <a:round/>
            <a:headEnd type="none" w="sm" len="sm"/>
            <a:tailEnd type="none" w="sm" len="sm"/>
          </a:ln>
        </p:spPr>
      </p:pic>
      <p:sp>
        <p:nvSpPr>
          <p:cNvPr id="518" name="Google Shape;518;p42"/>
          <p:cNvSpPr txBox="1"/>
          <p:nvPr/>
        </p:nvSpPr>
        <p:spPr>
          <a:xfrm>
            <a:off x="1" y="0"/>
            <a:ext cx="36990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Hugging Face LLM Leaderboard</a:t>
            </a:r>
            <a:endParaRPr sz="2000" b="1">
              <a:latin typeface="Calibri"/>
              <a:ea typeface="Calibri"/>
              <a:cs typeface="Calibri"/>
              <a:sym typeface="Calibri"/>
            </a:endParaRPr>
          </a:p>
        </p:txBody>
      </p:sp>
      <p:sp>
        <p:nvSpPr>
          <p:cNvPr id="519" name="Google Shape;519;p42"/>
          <p:cNvSpPr txBox="1"/>
          <p:nvPr/>
        </p:nvSpPr>
        <p:spPr>
          <a:xfrm>
            <a:off x="5001427" y="56525"/>
            <a:ext cx="4089600" cy="95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https://huggingface.co/spaces/HuggingFaceH4/open_llm_leaderboard</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5"/>
              </a:rPr>
              <a:t>https://huggingface.co/datasets/open-llm-leaderboard/results</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hlink"/>
                </a:solidFill>
                <a:latin typeface="Calibri"/>
                <a:ea typeface="Calibri"/>
                <a:cs typeface="Calibri"/>
                <a:sym typeface="Calibri"/>
                <a:hlinkClick r:id="rId6"/>
              </a:rPr>
              <a:t>https://huggingface.co/spaces/felixz/open_llm_leaderboard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7"/>
              </a:rPr>
              <a:t>https://huggingface.co/spaces/felixz/meta_open_llm_leaderboard</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8"/>
              </a:rPr>
              <a:t>https://github.com/lselector/ai/blob/master/llm_leaderboard.py</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p:txBody>
      </p:sp>
      <p:sp>
        <p:nvSpPr>
          <p:cNvPr id="520" name="Google Shape;520;p42"/>
          <p:cNvSpPr txBox="1"/>
          <p:nvPr/>
        </p:nvSpPr>
        <p:spPr>
          <a:xfrm>
            <a:off x="141350" y="1081625"/>
            <a:ext cx="1726800" cy="2184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January 12, 2024</a:t>
            </a:r>
            <a:endParaRPr sz="1300">
              <a:solidFill>
                <a:schemeClr val="dk1"/>
              </a:solidFill>
              <a:latin typeface="Calibri"/>
              <a:ea typeface="Calibri"/>
              <a:cs typeface="Calibri"/>
              <a:sym typeface="Calibri"/>
            </a:endParaRPr>
          </a:p>
        </p:txBody>
      </p:sp>
      <p:sp>
        <p:nvSpPr>
          <p:cNvPr id="521" name="Google Shape;521;p42"/>
          <p:cNvSpPr txBox="1"/>
          <p:nvPr/>
        </p:nvSpPr>
        <p:spPr>
          <a:xfrm>
            <a:off x="3938127" y="1852299"/>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522" name="Google Shape;522;p42"/>
          <p:cNvSpPr txBox="1"/>
          <p:nvPr/>
        </p:nvSpPr>
        <p:spPr>
          <a:xfrm>
            <a:off x="3938127" y="2109536"/>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Mixtral</a:t>
            </a:r>
            <a:endParaRPr sz="1300">
              <a:solidFill>
                <a:schemeClr val="dk1"/>
              </a:solidFill>
              <a:latin typeface="Calibri"/>
              <a:ea typeface="Calibri"/>
              <a:cs typeface="Calibri"/>
              <a:sym typeface="Calibri"/>
            </a:endParaRPr>
          </a:p>
        </p:txBody>
      </p:sp>
      <p:sp>
        <p:nvSpPr>
          <p:cNvPr id="523" name="Google Shape;523;p42"/>
          <p:cNvSpPr txBox="1"/>
          <p:nvPr/>
        </p:nvSpPr>
        <p:spPr>
          <a:xfrm>
            <a:off x="3938127" y="3652954"/>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524" name="Google Shape;524;p42"/>
          <p:cNvSpPr txBox="1"/>
          <p:nvPr/>
        </p:nvSpPr>
        <p:spPr>
          <a:xfrm>
            <a:off x="3938127" y="2366772"/>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Mixtral</a:t>
            </a:r>
            <a:endParaRPr sz="1300">
              <a:solidFill>
                <a:schemeClr val="dk1"/>
              </a:solidFill>
              <a:latin typeface="Calibri"/>
              <a:ea typeface="Calibri"/>
              <a:cs typeface="Calibri"/>
              <a:sym typeface="Calibri"/>
            </a:endParaRPr>
          </a:p>
        </p:txBody>
      </p:sp>
      <p:sp>
        <p:nvSpPr>
          <p:cNvPr id="525" name="Google Shape;525;p42"/>
          <p:cNvSpPr txBox="1"/>
          <p:nvPr/>
        </p:nvSpPr>
        <p:spPr>
          <a:xfrm>
            <a:off x="3938127" y="2624008"/>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526" name="Google Shape;526;p42"/>
          <p:cNvSpPr txBox="1"/>
          <p:nvPr/>
        </p:nvSpPr>
        <p:spPr>
          <a:xfrm>
            <a:off x="3938127" y="2881245"/>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527" name="Google Shape;527;p42"/>
          <p:cNvSpPr txBox="1"/>
          <p:nvPr/>
        </p:nvSpPr>
        <p:spPr>
          <a:xfrm>
            <a:off x="3938127" y="3138481"/>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Alibaba</a:t>
            </a:r>
            <a:endParaRPr sz="1300">
              <a:solidFill>
                <a:schemeClr val="dk1"/>
              </a:solidFill>
              <a:latin typeface="Calibri"/>
              <a:ea typeface="Calibri"/>
              <a:cs typeface="Calibri"/>
              <a:sym typeface="Calibri"/>
            </a:endParaRPr>
          </a:p>
        </p:txBody>
      </p:sp>
      <p:sp>
        <p:nvSpPr>
          <p:cNvPr id="528" name="Google Shape;528;p42"/>
          <p:cNvSpPr txBox="1"/>
          <p:nvPr/>
        </p:nvSpPr>
        <p:spPr>
          <a:xfrm>
            <a:off x="3938127" y="3395718"/>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01.ai</a:t>
            </a:r>
            <a:endParaRPr sz="1300">
              <a:solidFill>
                <a:schemeClr val="dk1"/>
              </a:solidFill>
              <a:latin typeface="Calibri"/>
              <a:ea typeface="Calibri"/>
              <a:cs typeface="Calibri"/>
              <a:sym typeface="Calibri"/>
            </a:endParaRPr>
          </a:p>
        </p:txBody>
      </p:sp>
      <p:sp>
        <p:nvSpPr>
          <p:cNvPr id="529" name="Google Shape;529;p42"/>
          <p:cNvSpPr txBox="1"/>
          <p:nvPr/>
        </p:nvSpPr>
        <p:spPr>
          <a:xfrm>
            <a:off x="3938127" y="3910190"/>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530" name="Google Shape;530;p42"/>
          <p:cNvSpPr txBox="1"/>
          <p:nvPr/>
        </p:nvSpPr>
        <p:spPr>
          <a:xfrm>
            <a:off x="3938127" y="4167427"/>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531" name="Google Shape;531;p42"/>
          <p:cNvSpPr txBox="1"/>
          <p:nvPr/>
        </p:nvSpPr>
        <p:spPr>
          <a:xfrm>
            <a:off x="3938127" y="4424663"/>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
        <p:nvSpPr>
          <p:cNvPr id="532" name="Google Shape;532;p42"/>
          <p:cNvSpPr txBox="1"/>
          <p:nvPr/>
        </p:nvSpPr>
        <p:spPr>
          <a:xfrm>
            <a:off x="3938127" y="4681899"/>
            <a:ext cx="525600" cy="21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300">
                <a:solidFill>
                  <a:schemeClr val="dk1"/>
                </a:solidFill>
                <a:latin typeface="Calibri"/>
                <a:ea typeface="Calibri"/>
                <a:cs typeface="Calibri"/>
                <a:sym typeface="Calibri"/>
              </a:rPr>
              <a:t>Llama</a:t>
            </a:r>
            <a:endParaRPr sz="1300">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36"/>
        <p:cNvGrpSpPr/>
        <p:nvPr/>
      </p:nvGrpSpPr>
      <p:grpSpPr>
        <a:xfrm>
          <a:off x="0" y="0"/>
          <a:ext cx="0" cy="0"/>
          <a:chOff x="0" y="0"/>
          <a:chExt cx="0" cy="0"/>
        </a:xfrm>
      </p:grpSpPr>
      <p:sp>
        <p:nvSpPr>
          <p:cNvPr id="537" name="Google Shape;537;p43"/>
          <p:cNvSpPr txBox="1"/>
          <p:nvPr/>
        </p:nvSpPr>
        <p:spPr>
          <a:xfrm>
            <a:off x="-38048" y="-108050"/>
            <a:ext cx="4151700" cy="492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Crowd-sourced "Arena" leaderboard</a:t>
            </a:r>
            <a:endParaRPr sz="2000" b="1">
              <a:latin typeface="Calibri"/>
              <a:ea typeface="Calibri"/>
              <a:cs typeface="Calibri"/>
              <a:sym typeface="Calibri"/>
            </a:endParaRPr>
          </a:p>
        </p:txBody>
      </p:sp>
      <p:sp>
        <p:nvSpPr>
          <p:cNvPr id="538" name="Google Shape;538;p43"/>
          <p:cNvSpPr txBox="1"/>
          <p:nvPr/>
        </p:nvSpPr>
        <p:spPr>
          <a:xfrm>
            <a:off x="4259285" y="0"/>
            <a:ext cx="4015800" cy="3387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https://huggingface.co/spaces/lmsys/chatbot-arena-leaderboard</a:t>
            </a:r>
            <a:r>
              <a:rPr lang="en" sz="1000">
                <a:solidFill>
                  <a:schemeClr val="dk1"/>
                </a:solidFill>
                <a:latin typeface="Calibri"/>
                <a:ea typeface="Calibri"/>
                <a:cs typeface="Calibri"/>
                <a:sym typeface="Calibri"/>
              </a:rPr>
              <a:t> </a:t>
            </a:r>
            <a:endParaRPr sz="1300">
              <a:solidFill>
                <a:schemeClr val="dk1"/>
              </a:solidFill>
              <a:latin typeface="Calibri"/>
              <a:ea typeface="Calibri"/>
              <a:cs typeface="Calibri"/>
              <a:sym typeface="Calibri"/>
            </a:endParaRPr>
          </a:p>
        </p:txBody>
      </p:sp>
      <p:sp>
        <p:nvSpPr>
          <p:cNvPr id="539" name="Google Shape;539;p43"/>
          <p:cNvSpPr txBox="1"/>
          <p:nvPr/>
        </p:nvSpPr>
        <p:spPr>
          <a:xfrm>
            <a:off x="5439325" y="377925"/>
            <a:ext cx="1501200" cy="6957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800" b="1">
                <a:solidFill>
                  <a:srgbClr val="FF0000"/>
                </a:solidFill>
                <a:latin typeface="Calibri"/>
                <a:ea typeface="Calibri"/>
                <a:cs typeface="Calibri"/>
                <a:sym typeface="Calibri"/>
              </a:rPr>
              <a:t>Jan 18, 2024 </a:t>
            </a:r>
            <a:endParaRPr sz="18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54 Models</a:t>
            </a:r>
            <a:endParaRPr sz="13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300">
                <a:solidFill>
                  <a:schemeClr val="dk1"/>
                </a:solidFill>
                <a:latin typeface="Calibri"/>
                <a:ea typeface="Calibri"/>
                <a:cs typeface="Calibri"/>
                <a:sym typeface="Calibri"/>
              </a:rPr>
              <a:t>231K+ votes</a:t>
            </a:r>
            <a:endParaRPr sz="1300">
              <a:solidFill>
                <a:schemeClr val="dk1"/>
              </a:solidFill>
              <a:latin typeface="Calibri"/>
              <a:ea typeface="Calibri"/>
              <a:cs typeface="Calibri"/>
              <a:sym typeface="Calibri"/>
            </a:endParaRPr>
          </a:p>
        </p:txBody>
      </p:sp>
      <p:sp>
        <p:nvSpPr>
          <p:cNvPr id="540" name="Google Shape;540;p43"/>
          <p:cNvSpPr txBox="1"/>
          <p:nvPr/>
        </p:nvSpPr>
        <p:spPr>
          <a:xfrm>
            <a:off x="7090578" y="377925"/>
            <a:ext cx="1965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Starting Elo rating = 1000</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for each model</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95% CI = Confidence Interval</a:t>
            </a:r>
            <a:endParaRPr sz="1200">
              <a:solidFill>
                <a:schemeClr val="dk1"/>
              </a:solidFill>
              <a:latin typeface="Calibri"/>
              <a:ea typeface="Calibri"/>
              <a:cs typeface="Calibri"/>
              <a:sym typeface="Calibri"/>
            </a:endParaRPr>
          </a:p>
        </p:txBody>
      </p:sp>
      <p:sp>
        <p:nvSpPr>
          <p:cNvPr id="541" name="Google Shape;541;p43"/>
          <p:cNvSpPr txBox="1"/>
          <p:nvPr/>
        </p:nvSpPr>
        <p:spPr>
          <a:xfrm>
            <a:off x="7103425" y="1260375"/>
            <a:ext cx="19650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What is the architecture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of Mistral Medium?</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It is probably MoE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8x30b ?  32x7b ?</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800" u="sng">
                <a:solidFill>
                  <a:schemeClr val="hlink"/>
                </a:solidFill>
                <a:latin typeface="Calibri"/>
                <a:ea typeface="Calibri"/>
                <a:cs typeface="Calibri"/>
                <a:sym typeface="Calibri"/>
                <a:hlinkClick r:id="rId4"/>
              </a:rPr>
              <a:t>https://www.reddit.com/r/LocalLLaMA/comments/18m2t0z/deducing_mistral_medium_size_from_pricing_is_it_a/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grpSp>
        <p:nvGrpSpPr>
          <p:cNvPr id="542" name="Google Shape;542;p43"/>
          <p:cNvGrpSpPr/>
          <p:nvPr/>
        </p:nvGrpSpPr>
        <p:grpSpPr>
          <a:xfrm>
            <a:off x="79500" y="384545"/>
            <a:ext cx="4709703" cy="4387763"/>
            <a:chOff x="79500" y="384545"/>
            <a:chExt cx="4709703" cy="4387763"/>
          </a:xfrm>
        </p:grpSpPr>
        <p:pic>
          <p:nvPicPr>
            <p:cNvPr id="543" name="Google Shape;543;p4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9504" y="384545"/>
              <a:ext cx="4709699" cy="2258276"/>
            </a:xfrm>
            <a:prstGeom prst="rect">
              <a:avLst/>
            </a:prstGeom>
            <a:noFill/>
            <a:ln>
              <a:noFill/>
            </a:ln>
          </p:spPr>
        </p:pic>
        <p:pic>
          <p:nvPicPr>
            <p:cNvPr id="544" name="Google Shape;544;p4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9500" y="2642825"/>
              <a:ext cx="4709699" cy="2129483"/>
            </a:xfrm>
            <a:prstGeom prst="rect">
              <a:avLst/>
            </a:prstGeom>
            <a:noFill/>
            <a:ln>
              <a:noFill/>
            </a:ln>
          </p:spPr>
        </p:pic>
      </p:grpSp>
      <p:sp>
        <p:nvSpPr>
          <p:cNvPr id="545" name="Google Shape;545;p43"/>
          <p:cNvSpPr/>
          <p:nvPr/>
        </p:nvSpPr>
        <p:spPr>
          <a:xfrm>
            <a:off x="189908" y="1051915"/>
            <a:ext cx="137400" cy="137400"/>
          </a:xfrm>
          <a:prstGeom prst="ellipse">
            <a:avLst/>
          </a:prstGeom>
          <a:solidFill>
            <a:srgbClr val="F1C232"/>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6" name="Google Shape;546;p43"/>
          <p:cNvSpPr/>
          <p:nvPr/>
        </p:nvSpPr>
        <p:spPr>
          <a:xfrm>
            <a:off x="189908" y="1314103"/>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7" name="Google Shape;547;p43"/>
          <p:cNvSpPr/>
          <p:nvPr/>
        </p:nvSpPr>
        <p:spPr>
          <a:xfrm>
            <a:off x="189908" y="3176203"/>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8" name="Google Shape;548;p43"/>
          <p:cNvSpPr/>
          <p:nvPr/>
        </p:nvSpPr>
        <p:spPr>
          <a:xfrm>
            <a:off x="189908" y="1983281"/>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49" name="Google Shape;549;p43"/>
          <p:cNvSpPr/>
          <p:nvPr/>
        </p:nvSpPr>
        <p:spPr>
          <a:xfrm>
            <a:off x="189908" y="2245150"/>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50" name="Google Shape;550;p43"/>
          <p:cNvSpPr txBox="1"/>
          <p:nvPr/>
        </p:nvSpPr>
        <p:spPr>
          <a:xfrm>
            <a:off x="1257458" y="3157962"/>
            <a:ext cx="225600" cy="15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900">
                <a:solidFill>
                  <a:schemeClr val="dk1"/>
                </a:solidFill>
                <a:latin typeface="Calibri"/>
                <a:ea typeface="Calibri"/>
                <a:cs typeface="Calibri"/>
                <a:sym typeface="Calibri"/>
              </a:rPr>
              <a:t>7B</a:t>
            </a:r>
            <a:endParaRPr sz="900">
              <a:solidFill>
                <a:schemeClr val="dk1"/>
              </a:solidFill>
              <a:latin typeface="Calibri"/>
              <a:ea typeface="Calibri"/>
              <a:cs typeface="Calibri"/>
              <a:sym typeface="Calibri"/>
            </a:endParaRPr>
          </a:p>
        </p:txBody>
      </p:sp>
      <p:sp>
        <p:nvSpPr>
          <p:cNvPr id="551" name="Google Shape;551;p43"/>
          <p:cNvSpPr txBox="1"/>
          <p:nvPr/>
        </p:nvSpPr>
        <p:spPr>
          <a:xfrm>
            <a:off x="1257458" y="3829150"/>
            <a:ext cx="225600" cy="15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900">
                <a:solidFill>
                  <a:schemeClr val="dk1"/>
                </a:solidFill>
                <a:latin typeface="Calibri"/>
                <a:ea typeface="Calibri"/>
                <a:cs typeface="Calibri"/>
                <a:sym typeface="Calibri"/>
              </a:rPr>
              <a:t>7B</a:t>
            </a:r>
            <a:endParaRPr sz="900">
              <a:solidFill>
                <a:schemeClr val="dk1"/>
              </a:solidFill>
              <a:latin typeface="Calibri"/>
              <a:ea typeface="Calibri"/>
              <a:cs typeface="Calibri"/>
              <a:sym typeface="Calibri"/>
            </a:endParaRPr>
          </a:p>
        </p:txBody>
      </p:sp>
      <p:sp>
        <p:nvSpPr>
          <p:cNvPr id="552" name="Google Shape;552;p43"/>
          <p:cNvSpPr txBox="1"/>
          <p:nvPr/>
        </p:nvSpPr>
        <p:spPr>
          <a:xfrm>
            <a:off x="1257458" y="4083836"/>
            <a:ext cx="225600" cy="156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ctr" rtl="0">
              <a:spcBef>
                <a:spcPts val="0"/>
              </a:spcBef>
              <a:spcAft>
                <a:spcPts val="0"/>
              </a:spcAft>
              <a:buClr>
                <a:schemeClr val="dk1"/>
              </a:buClr>
              <a:buSzPts val="1100"/>
              <a:buFont typeface="Arial"/>
              <a:buNone/>
            </a:pPr>
            <a:r>
              <a:rPr lang="en" sz="900">
                <a:solidFill>
                  <a:schemeClr val="dk1"/>
                </a:solidFill>
                <a:latin typeface="Calibri"/>
                <a:ea typeface="Calibri"/>
                <a:cs typeface="Calibri"/>
                <a:sym typeface="Calibri"/>
              </a:rPr>
              <a:t>7B</a:t>
            </a:r>
            <a:endParaRPr sz="900">
              <a:solidFill>
                <a:schemeClr val="dk1"/>
              </a:solidFill>
              <a:latin typeface="Calibri"/>
              <a:ea typeface="Calibri"/>
              <a:cs typeface="Calibri"/>
              <a:sym typeface="Calibri"/>
            </a:endParaRPr>
          </a:p>
        </p:txBody>
      </p:sp>
      <p:sp>
        <p:nvSpPr>
          <p:cNvPr id="553" name="Google Shape;553;p43"/>
          <p:cNvSpPr/>
          <p:nvPr/>
        </p:nvSpPr>
        <p:spPr>
          <a:xfrm>
            <a:off x="189908" y="3832778"/>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554" name="Google Shape;554;p43"/>
          <p:cNvSpPr/>
          <p:nvPr/>
        </p:nvSpPr>
        <p:spPr>
          <a:xfrm>
            <a:off x="189908" y="4102076"/>
            <a:ext cx="137400" cy="137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8"/>
        <p:cNvGrpSpPr/>
        <p:nvPr/>
      </p:nvGrpSpPr>
      <p:grpSpPr>
        <a:xfrm>
          <a:off x="0" y="0"/>
          <a:ext cx="0" cy="0"/>
          <a:chOff x="0" y="0"/>
          <a:chExt cx="0" cy="0"/>
        </a:xfrm>
      </p:grpSpPr>
      <p:sp>
        <p:nvSpPr>
          <p:cNvPr id="559" name="Google Shape;559;p44"/>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YALL - Yet Another LLM Leaderboard</a:t>
            </a:r>
            <a:endParaRPr sz="2000" b="1">
              <a:latin typeface="Calibri"/>
              <a:ea typeface="Calibri"/>
              <a:cs typeface="Calibri"/>
              <a:sym typeface="Calibri"/>
            </a:endParaRPr>
          </a:p>
        </p:txBody>
      </p:sp>
      <p:sp>
        <p:nvSpPr>
          <p:cNvPr id="560" name="Google Shape;560;p44"/>
          <p:cNvSpPr txBox="1"/>
          <p:nvPr/>
        </p:nvSpPr>
        <p:spPr>
          <a:xfrm>
            <a:off x="107550" y="326400"/>
            <a:ext cx="4060800" cy="73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https://huggingface.co/spaces/mlabonne/Yet_Another_LLM_Leaderboard</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Leaderboard made with LLM AutoEval </a:t>
            </a:r>
            <a:br>
              <a:rPr lang="en" sz="1300">
                <a:solidFill>
                  <a:srgbClr val="0F0F0F"/>
                </a:solidFill>
                <a:latin typeface="Calibri"/>
                <a:ea typeface="Calibri"/>
                <a:cs typeface="Calibri"/>
                <a:sym typeface="Calibri"/>
              </a:rPr>
            </a:br>
            <a:r>
              <a:rPr lang="en" sz="1300">
                <a:solidFill>
                  <a:srgbClr val="0F0F0F"/>
                </a:solidFill>
                <a:latin typeface="Calibri"/>
                <a:ea typeface="Calibri"/>
                <a:cs typeface="Calibri"/>
                <a:sym typeface="Calibri"/>
              </a:rPr>
              <a:t>using Nous benchmark suite.</a:t>
            </a:r>
            <a:endParaRPr sz="1300">
              <a:solidFill>
                <a:srgbClr val="0F0F0F"/>
              </a:solidFill>
              <a:latin typeface="Calibri"/>
              <a:ea typeface="Calibri"/>
              <a:cs typeface="Calibri"/>
              <a:sym typeface="Calibri"/>
            </a:endParaRPr>
          </a:p>
        </p:txBody>
      </p:sp>
      <p:pic>
        <p:nvPicPr>
          <p:cNvPr id="561" name="Google Shape;561;p4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324750" y="83525"/>
            <a:ext cx="4756449" cy="4997052"/>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565"/>
        <p:cNvGrpSpPr/>
        <p:nvPr/>
      </p:nvGrpSpPr>
      <p:grpSpPr>
        <a:xfrm>
          <a:off x="0" y="0"/>
          <a:ext cx="0" cy="0"/>
          <a:chOff x="0" y="0"/>
          <a:chExt cx="0" cy="0"/>
        </a:xfrm>
      </p:grpSpPr>
      <p:sp>
        <p:nvSpPr>
          <p:cNvPr id="566" name="Google Shape;566;p45"/>
          <p:cNvSpPr txBox="1"/>
          <p:nvPr/>
        </p:nvSpPr>
        <p:spPr>
          <a:xfrm>
            <a:off x="72300" y="0"/>
            <a:ext cx="3284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Leaderboard for AI Coding</a:t>
            </a:r>
            <a:endParaRPr sz="2000" b="1">
              <a:latin typeface="Calibri"/>
              <a:ea typeface="Calibri"/>
              <a:cs typeface="Calibri"/>
              <a:sym typeface="Calibri"/>
            </a:endParaRPr>
          </a:p>
        </p:txBody>
      </p:sp>
      <p:sp>
        <p:nvSpPr>
          <p:cNvPr id="567" name="Google Shape;567;p45"/>
          <p:cNvSpPr txBox="1"/>
          <p:nvPr/>
        </p:nvSpPr>
        <p:spPr>
          <a:xfrm>
            <a:off x="107550" y="402600"/>
            <a:ext cx="4095900" cy="4648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Calibri"/>
                <a:ea typeface="Calibri"/>
                <a:cs typeface="Calibri"/>
                <a:sym typeface="Calibri"/>
              </a:rPr>
              <a:t>EvalPlus Leaderboard</a:t>
            </a:r>
            <a:endParaRPr sz="1000">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3"/>
              </a:rPr>
              <a:t>https://evalplus.github.io/leaderboard.html</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Best Mistral model for code generation?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4"/>
              </a:rPr>
              <a:t>https://www.reddit.com/r/LocalLLaMA/comments/17fm71r/best_mistral_model_for_code_generation/</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mistral-instruct</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openorca mistral</a:t>
            </a: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a:solidFill>
                  <a:srgbClr val="0F0F0F"/>
                </a:solidFill>
                <a:latin typeface="Calibri"/>
                <a:ea typeface="Calibri"/>
                <a:cs typeface="Calibri"/>
                <a:sym typeface="Calibri"/>
              </a:rPr>
              <a:t>- airboros-m</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 SkunkworksAI/Mistralic-7B-1 </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 HuggingFaceH4/zephyr-7b-alpha</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 defog/sqlcoder-7b (SQL only)</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000">
              <a:solidFill>
                <a:srgbClr val="0F0F0F"/>
              </a:solidFill>
              <a:latin typeface="Calibri"/>
              <a:ea typeface="Calibri"/>
              <a:cs typeface="Calibri"/>
              <a:sym typeface="Calibri"/>
            </a:endParaRPr>
          </a:p>
          <a:p>
            <a:pPr marL="0" lvl="0" indent="0" algn="l" rtl="0">
              <a:spcBef>
                <a:spcPts val="0"/>
              </a:spcBef>
              <a:spcAft>
                <a:spcPts val="0"/>
              </a:spcAft>
              <a:buNone/>
            </a:pPr>
            <a:r>
              <a:rPr lang="en" sz="1000" u="sng">
                <a:solidFill>
                  <a:schemeClr val="hlink"/>
                </a:solidFill>
                <a:latin typeface="Calibri"/>
                <a:ea typeface="Calibri"/>
                <a:cs typeface="Calibri"/>
                <a:sym typeface="Calibri"/>
                <a:hlinkClick r:id="rId5"/>
              </a:rPr>
              <a:t>https://huggingface.co/TheBloke/Mistral-7B-Code-16K-qlora-GPTQ</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chemeClr val="dk1"/>
                </a:solidFill>
                <a:latin typeface="Calibri"/>
                <a:ea typeface="Calibri"/>
                <a:cs typeface="Calibri"/>
                <a:sym typeface="Calibri"/>
              </a:rPr>
              <a:t>CrystalCoder-7B - open source</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https://huggingface.co/LLM360/CrystalCoder</a:t>
            </a:r>
            <a:r>
              <a:rPr lang="en" sz="1000">
                <a:solidFill>
                  <a:schemeClr val="dk1"/>
                </a:solidFill>
                <a:latin typeface="Calibri"/>
                <a:ea typeface="Calibri"/>
                <a:cs typeface="Calibri"/>
                <a:sym typeface="Calibri"/>
              </a:rPr>
              <a:t> </a:t>
            </a:r>
            <a:endParaRPr sz="1000">
              <a:solidFill>
                <a:schemeClr val="dk1"/>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https://twitter.com/rohanpaul_ai/status/1745727811774771308</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CodeLlama</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https://huggingface.co/codellama</a:t>
            </a:r>
            <a:endParaRPr sz="1000">
              <a:solidFill>
                <a:srgbClr val="0F0F0F"/>
              </a:solidFill>
              <a:latin typeface="Calibri"/>
              <a:ea typeface="Calibri"/>
              <a:cs typeface="Calibri"/>
              <a:sym typeface="Calibri"/>
            </a:endParaRPr>
          </a:p>
          <a:p>
            <a:pPr marL="228600" lvl="0" indent="-177800" algn="l" rtl="0">
              <a:spcBef>
                <a:spcPts val="0"/>
              </a:spcBef>
              <a:spcAft>
                <a:spcPts val="0"/>
              </a:spcAft>
              <a:buClr>
                <a:schemeClr val="dk1"/>
              </a:buClr>
              <a:buSzPts val="1000"/>
              <a:buFont typeface="Calibri"/>
              <a:buChar char="●"/>
            </a:pPr>
            <a:r>
              <a:rPr lang="en" sz="1000" u="sng">
                <a:solidFill>
                  <a:schemeClr val="accent5"/>
                </a:solidFill>
                <a:latin typeface="Calibri"/>
                <a:ea typeface="Calibri"/>
                <a:cs typeface="Calibri"/>
                <a:sym typeface="Calibri"/>
                <a:hlinkClick r:id="rId9">
                  <a:extLst>
                    <a:ext uri="{A12FA001-AC4F-418D-AE19-62706E023703}">
                      <ahyp:hlinkClr xmlns:ahyp="http://schemas.microsoft.com/office/drawing/2018/hyperlinkcolor" val="tx"/>
                    </a:ext>
                  </a:extLst>
                </a:hlinkClick>
              </a:rPr>
              <a:t>https://huggingface.co/codellama/CodeLlama-7b-hf</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codellama wizardcoder variant.</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a:solidFill>
                  <a:srgbClr val="0F0F0F"/>
                </a:solidFill>
                <a:latin typeface="Calibri"/>
                <a:ea typeface="Calibri"/>
                <a:cs typeface="Calibri"/>
                <a:sym typeface="Calibri"/>
              </a:rPr>
              <a:t>Mistral</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accent5"/>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https://huggingface.co/mistralai/Mistral-7B-v0.1</a:t>
            </a:r>
            <a:r>
              <a:rPr lang="en" sz="1000">
                <a:solidFill>
                  <a:srgbClr val="0F0F0F"/>
                </a:solidFill>
                <a:latin typeface="Calibri"/>
                <a:ea typeface="Calibri"/>
                <a:cs typeface="Calibri"/>
                <a:sym typeface="Calibri"/>
              </a:rPr>
              <a:t> </a:t>
            </a: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000">
              <a:solidFill>
                <a:srgbClr val="0F0F0F"/>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000" u="sng">
                <a:solidFill>
                  <a:schemeClr val="hlink"/>
                </a:solidFill>
                <a:latin typeface="Calibri"/>
                <a:ea typeface="Calibri"/>
                <a:cs typeface="Calibri"/>
                <a:sym typeface="Calibri"/>
                <a:hlinkClick r:id="rId11"/>
              </a:rPr>
              <a:t>https://arxiv.org/abs/2311.07989</a:t>
            </a:r>
            <a:r>
              <a:rPr lang="en" sz="1000">
                <a:solidFill>
                  <a:srgbClr val="0F0F0F"/>
                </a:solidFill>
                <a:latin typeface="Calibri"/>
                <a:ea typeface="Calibri"/>
                <a:cs typeface="Calibri"/>
                <a:sym typeface="Calibri"/>
              </a:rPr>
              <a:t> - A Survey on Language Models for Code</a:t>
            </a:r>
            <a:endParaRPr sz="1000">
              <a:solidFill>
                <a:srgbClr val="0F0F0F"/>
              </a:solidFill>
              <a:latin typeface="Calibri"/>
              <a:ea typeface="Calibri"/>
              <a:cs typeface="Calibri"/>
              <a:sym typeface="Calibri"/>
            </a:endParaRPr>
          </a:p>
        </p:txBody>
      </p:sp>
      <p:pic>
        <p:nvPicPr>
          <p:cNvPr id="568" name="Google Shape;568;p45"/>
          <p:cNvPicPr preferRelativeResize="0"/>
          <p:nvPr/>
        </p:nvPicPr>
        <p:blipFill>
          <a:blip r:embed="rId12" cstate="email">
            <a:alphaModFix/>
            <a:extLst>
              <a:ext uri="{28A0092B-C50C-407E-A947-70E740481C1C}">
                <a14:useLocalDpi xmlns:a14="http://schemas.microsoft.com/office/drawing/2010/main"/>
              </a:ext>
            </a:extLst>
          </a:blip>
          <a:stretch>
            <a:fillRect/>
          </a:stretch>
        </p:blipFill>
        <p:spPr>
          <a:xfrm>
            <a:off x="4406350" y="765450"/>
            <a:ext cx="4670850" cy="4010186"/>
          </a:xfrm>
          <a:prstGeom prst="rect">
            <a:avLst/>
          </a:prstGeom>
          <a:noFill/>
          <a:ln w="9525" cap="flat" cmpd="sng">
            <a:solidFill>
              <a:srgbClr val="FF0000"/>
            </a:solidFill>
            <a:prstDash val="solid"/>
            <a:round/>
            <a:headEnd type="none" w="sm" len="sm"/>
            <a:tailEnd type="none" w="sm" len="sm"/>
          </a:ln>
        </p:spPr>
      </p:pic>
      <p:sp>
        <p:nvSpPr>
          <p:cNvPr id="569" name="Google Shape;569;p45"/>
          <p:cNvSpPr txBox="1"/>
          <p:nvPr/>
        </p:nvSpPr>
        <p:spPr>
          <a:xfrm>
            <a:off x="5056961" y="531975"/>
            <a:ext cx="927600" cy="1725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000" b="1">
                <a:solidFill>
                  <a:srgbClr val="3C78D8"/>
                </a:solidFill>
                <a:latin typeface="Calibri"/>
                <a:ea typeface="Calibri"/>
                <a:cs typeface="Calibri"/>
                <a:sym typeface="Calibri"/>
              </a:rPr>
              <a:t>With EvalPlus</a:t>
            </a:r>
            <a:endParaRPr sz="1000" b="1">
              <a:solidFill>
                <a:srgbClr val="3C78D8"/>
              </a:solidFill>
              <a:latin typeface="Calibri"/>
              <a:ea typeface="Calibri"/>
              <a:cs typeface="Calibri"/>
              <a:sym typeface="Calibri"/>
            </a:endParaRPr>
          </a:p>
        </p:txBody>
      </p:sp>
      <p:sp>
        <p:nvSpPr>
          <p:cNvPr id="570" name="Google Shape;570;p45"/>
          <p:cNvSpPr txBox="1"/>
          <p:nvPr/>
        </p:nvSpPr>
        <p:spPr>
          <a:xfrm>
            <a:off x="7435050" y="542671"/>
            <a:ext cx="927600" cy="1725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000" b="1">
                <a:solidFill>
                  <a:srgbClr val="FF0000"/>
                </a:solidFill>
                <a:latin typeface="Calibri"/>
                <a:ea typeface="Calibri"/>
                <a:cs typeface="Calibri"/>
                <a:sym typeface="Calibri"/>
              </a:rPr>
              <a:t>Original</a:t>
            </a:r>
            <a:endParaRPr sz="1000" b="1">
              <a:solidFill>
                <a:srgbClr val="FF0000"/>
              </a:solidFill>
              <a:latin typeface="Calibri"/>
              <a:ea typeface="Calibri"/>
              <a:cs typeface="Calibri"/>
              <a:sym typeface="Calibri"/>
            </a:endParaRPr>
          </a:p>
        </p:txBody>
      </p:sp>
      <p:sp>
        <p:nvSpPr>
          <p:cNvPr id="571" name="Google Shape;571;p45"/>
          <p:cNvSpPr txBox="1"/>
          <p:nvPr/>
        </p:nvSpPr>
        <p:spPr>
          <a:xfrm>
            <a:off x="6005044" y="153900"/>
            <a:ext cx="1449000" cy="172500"/>
          </a:xfrm>
          <a:prstGeom prst="rect">
            <a:avLst/>
          </a:prstGeom>
          <a:noFill/>
          <a:ln>
            <a:noFill/>
          </a:ln>
        </p:spPr>
        <p:txBody>
          <a:bodyPr spcFirstLastPara="1" wrap="square" lIns="9125" tIns="9125" rIns="9125" bIns="9125" anchor="t" anchorCtr="0">
            <a:spAutoFit/>
          </a:bodyPr>
          <a:lstStyle/>
          <a:p>
            <a:pPr marL="0" lvl="0" indent="0" algn="ctr" rtl="0">
              <a:spcBef>
                <a:spcPts val="0"/>
              </a:spcBef>
              <a:spcAft>
                <a:spcPts val="0"/>
              </a:spcAft>
              <a:buNone/>
            </a:pPr>
            <a:r>
              <a:rPr lang="en" sz="1000" b="1">
                <a:solidFill>
                  <a:srgbClr val="3C78D8"/>
                </a:solidFill>
                <a:latin typeface="Calibri"/>
                <a:ea typeface="Calibri"/>
                <a:cs typeface="Calibri"/>
                <a:sym typeface="Calibri"/>
              </a:rPr>
              <a:t>EvalPlus Leaderboard</a:t>
            </a:r>
            <a:endParaRPr sz="1000" b="1">
              <a:solidFill>
                <a:srgbClr val="3C78D8"/>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575"/>
        <p:cNvGrpSpPr/>
        <p:nvPr/>
      </p:nvGrpSpPr>
      <p:grpSpPr>
        <a:xfrm>
          <a:off x="0" y="0"/>
          <a:ext cx="0" cy="0"/>
          <a:chOff x="0" y="0"/>
          <a:chExt cx="0" cy="0"/>
        </a:xfrm>
      </p:grpSpPr>
      <p:sp>
        <p:nvSpPr>
          <p:cNvPr id="576" name="Google Shape;576;p46"/>
          <p:cNvSpPr txBox="1"/>
          <p:nvPr/>
        </p:nvSpPr>
        <p:spPr>
          <a:xfrm>
            <a:off x="72300" y="76200"/>
            <a:ext cx="20961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CrystalCoder-7B</a:t>
            </a:r>
            <a:endParaRPr sz="2000" b="1">
              <a:latin typeface="Calibri"/>
              <a:ea typeface="Calibri"/>
              <a:cs typeface="Calibri"/>
              <a:sym typeface="Calibri"/>
            </a:endParaRPr>
          </a:p>
        </p:txBody>
      </p:sp>
      <p:sp>
        <p:nvSpPr>
          <p:cNvPr id="577" name="Google Shape;577;p46"/>
          <p:cNvSpPr txBox="1"/>
          <p:nvPr/>
        </p:nvSpPr>
        <p:spPr>
          <a:xfrm>
            <a:off x="147175" y="607825"/>
            <a:ext cx="4321500" cy="309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latin typeface="Calibri"/>
                <a:ea typeface="Calibri"/>
                <a:cs typeface="Calibri"/>
                <a:sym typeface="Calibri"/>
              </a:rPr>
              <a:t>CrystalCoder-7B - open source</a:t>
            </a:r>
            <a:endParaRPr sz="13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3"/>
              </a:rPr>
              <a:t>https://huggingface.co/LLM360/CrystalCoder</a:t>
            </a:r>
            <a:r>
              <a:rPr lang="en" sz="1000">
                <a:latin typeface="Calibri"/>
                <a:ea typeface="Calibri"/>
                <a:cs typeface="Calibri"/>
                <a:sym typeface="Calibri"/>
              </a:rPr>
              <a:t> </a:t>
            </a:r>
            <a:endParaRPr sz="1000">
              <a:latin typeface="Calibri"/>
              <a:ea typeface="Calibri"/>
              <a:cs typeface="Calibri"/>
              <a:sym typeface="Calibri"/>
            </a:endParaRPr>
          </a:p>
          <a:p>
            <a:pPr marL="228600" lvl="0" indent="-177800" algn="l" rtl="0">
              <a:spcBef>
                <a:spcPts val="0"/>
              </a:spcBef>
              <a:spcAft>
                <a:spcPts val="0"/>
              </a:spcAft>
              <a:buSzPts val="1000"/>
              <a:buFont typeface="Calibri"/>
              <a:buChar char="●"/>
            </a:pPr>
            <a:r>
              <a:rPr lang="en" sz="1000" u="sng">
                <a:solidFill>
                  <a:schemeClr val="hlink"/>
                </a:solidFill>
                <a:latin typeface="Calibri"/>
                <a:ea typeface="Calibri"/>
                <a:cs typeface="Calibri"/>
                <a:sym typeface="Calibri"/>
                <a:hlinkClick r:id="rId4"/>
              </a:rPr>
              <a:t>https://twitter.com/rohanpaul_ai/status/1745727811774771308</a:t>
            </a:r>
            <a:endParaRPr sz="10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Compare with CodeLlama-7B and Mistral-7B</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CodeLlama</a:t>
            </a:r>
            <a:endParaRPr sz="1300">
              <a:solidFill>
                <a:srgbClr val="0F0F0F"/>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5"/>
              </a:rPr>
              <a:t>https://huggingface.co/codellama</a:t>
            </a:r>
            <a:endParaRPr sz="1300">
              <a:solidFill>
                <a:srgbClr val="0F0F0F"/>
              </a:solidFill>
              <a:latin typeface="Calibri"/>
              <a:ea typeface="Calibri"/>
              <a:cs typeface="Calibri"/>
              <a:sym typeface="Calibri"/>
            </a:endParaRPr>
          </a:p>
          <a:p>
            <a:pPr marL="228600" lvl="0" indent="-196850" algn="l" rtl="0">
              <a:spcBef>
                <a:spcPts val="0"/>
              </a:spcBef>
              <a:spcAft>
                <a:spcPts val="0"/>
              </a:spcAft>
              <a:buSzPts val="1300"/>
              <a:buFont typeface="Calibri"/>
              <a:buChar char="●"/>
            </a:pPr>
            <a:r>
              <a:rPr lang="en" sz="1300" u="sng">
                <a:solidFill>
                  <a:schemeClr val="hlink"/>
                </a:solidFill>
                <a:latin typeface="Calibri"/>
                <a:ea typeface="Calibri"/>
                <a:cs typeface="Calibri"/>
                <a:sym typeface="Calibri"/>
                <a:hlinkClick r:id="rId6"/>
              </a:rPr>
              <a:t>https://huggingface.co/codellama/CodeLlama-7b-hf</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codellama wizardcoder variant.</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a:solidFill>
                  <a:srgbClr val="0F0F0F"/>
                </a:solidFill>
                <a:latin typeface="Calibri"/>
                <a:ea typeface="Calibri"/>
                <a:cs typeface="Calibri"/>
                <a:sym typeface="Calibri"/>
              </a:rPr>
              <a:t>Mistral</a:t>
            </a:r>
            <a:endParaRPr sz="1300">
              <a:solidFill>
                <a:srgbClr val="0F0F0F"/>
              </a:solidFill>
              <a:latin typeface="Calibri"/>
              <a:ea typeface="Calibri"/>
              <a:cs typeface="Calibri"/>
              <a:sym typeface="Calibri"/>
            </a:endParaRPr>
          </a:p>
          <a:p>
            <a:pPr marL="0" lvl="0" indent="0" algn="l" rtl="0">
              <a:spcBef>
                <a:spcPts val="0"/>
              </a:spcBef>
              <a:spcAft>
                <a:spcPts val="0"/>
              </a:spcAft>
              <a:buNone/>
            </a:pPr>
            <a:r>
              <a:rPr lang="en" sz="1300" u="sng">
                <a:solidFill>
                  <a:schemeClr val="hlink"/>
                </a:solidFill>
                <a:latin typeface="Calibri"/>
                <a:ea typeface="Calibri"/>
                <a:cs typeface="Calibri"/>
                <a:sym typeface="Calibri"/>
                <a:hlinkClick r:id="rId7"/>
              </a:rPr>
              <a:t>https://huggingface.co/mistralai/Mistral-7B-v0.1</a:t>
            </a:r>
            <a:r>
              <a:rPr lang="en" sz="1300">
                <a:solidFill>
                  <a:srgbClr val="0F0F0F"/>
                </a:solidFill>
                <a:latin typeface="Calibri"/>
                <a:ea typeface="Calibri"/>
                <a:cs typeface="Calibri"/>
                <a:sym typeface="Calibri"/>
              </a:rPr>
              <a:t> </a:t>
            </a:r>
            <a:endParaRPr sz="1300">
              <a:solidFill>
                <a:srgbClr val="0F0F0F"/>
              </a:solidFill>
              <a:latin typeface="Calibri"/>
              <a:ea typeface="Calibri"/>
              <a:cs typeface="Calibri"/>
              <a:sym typeface="Calibri"/>
            </a:endParaRPr>
          </a:p>
          <a:p>
            <a:pPr marL="0" lvl="0" indent="0" algn="l" rtl="0">
              <a:spcBef>
                <a:spcPts val="0"/>
              </a:spcBef>
              <a:spcAft>
                <a:spcPts val="0"/>
              </a:spcAft>
              <a:buNone/>
            </a:pPr>
            <a:endParaRPr sz="1300">
              <a:solidFill>
                <a:srgbClr val="0F0F0F"/>
              </a:solidFill>
              <a:latin typeface="Calibri"/>
              <a:ea typeface="Calibri"/>
              <a:cs typeface="Calibri"/>
              <a:sym typeface="Calibri"/>
            </a:endParaRPr>
          </a:p>
        </p:txBody>
      </p:sp>
      <p:pic>
        <p:nvPicPr>
          <p:cNvPr id="578" name="Google Shape;578;p46"/>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21075" y="152400"/>
            <a:ext cx="4370525" cy="3144993"/>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47"/>
          <p:cNvSpPr txBox="1"/>
          <p:nvPr/>
        </p:nvSpPr>
        <p:spPr>
          <a:xfrm>
            <a:off x="0" y="0"/>
            <a:ext cx="27597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The AI Tools</a:t>
            </a:r>
            <a:endParaRPr sz="2000" b="1">
              <a:solidFill>
                <a:schemeClr val="dk1"/>
              </a:solidFill>
              <a:latin typeface="Calibri"/>
              <a:ea typeface="Calibri"/>
              <a:cs typeface="Calibri"/>
              <a:sym typeface="Calibri"/>
            </a:endParaRPr>
          </a:p>
        </p:txBody>
      </p:sp>
      <p:sp>
        <p:nvSpPr>
          <p:cNvPr id="584" name="Google Shape;584;p47"/>
          <p:cNvSpPr txBox="1"/>
          <p:nvPr/>
        </p:nvSpPr>
        <p:spPr>
          <a:xfrm>
            <a:off x="55075" y="399200"/>
            <a:ext cx="2396400" cy="1496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Nov 30, 2022 - ChatGPT release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has pushed many companies to completely change their agenda and to re-organize around AI</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2023 - year of discoveries, POCs</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2024 - year of deployments</a:t>
            </a:r>
            <a:endParaRPr sz="1200">
              <a:solidFill>
                <a:schemeClr val="dk1"/>
              </a:solidFill>
              <a:latin typeface="Calibri"/>
              <a:ea typeface="Calibri"/>
              <a:cs typeface="Calibri"/>
              <a:sym typeface="Calibri"/>
            </a:endParaRPr>
          </a:p>
        </p:txBody>
      </p:sp>
      <p:sp>
        <p:nvSpPr>
          <p:cNvPr id="585" name="Google Shape;585;p47"/>
          <p:cNvSpPr txBox="1"/>
          <p:nvPr/>
        </p:nvSpPr>
        <p:spPr>
          <a:xfrm>
            <a:off x="1502000" y="1980400"/>
            <a:ext cx="13914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Research:</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Berkeley, Carnegie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Mellon, MIT,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OpenAI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Mistral.ai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Stability.ai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Anthropic</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DeepMind</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01.ai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X.ai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Inflection.ai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IBM</a:t>
            </a:r>
            <a:endParaRPr sz="1200">
              <a:solidFill>
                <a:schemeClr val="dk1"/>
              </a:solidFill>
              <a:latin typeface="Calibri"/>
              <a:ea typeface="Calibri"/>
              <a:cs typeface="Calibri"/>
              <a:sym typeface="Calibri"/>
            </a:endParaRPr>
          </a:p>
        </p:txBody>
      </p:sp>
      <p:sp>
        <p:nvSpPr>
          <p:cNvPr id="586" name="Google Shape;586;p47"/>
          <p:cNvSpPr txBox="1"/>
          <p:nvPr/>
        </p:nvSpPr>
        <p:spPr>
          <a:xfrm>
            <a:off x="2979225" y="55800"/>
            <a:ext cx="12753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Cloud Platforms: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 Azure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 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Amazon Bedrock</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AWS EC2</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Vertex 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CoLab</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IBM Watson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cloud.vast.ai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paperspace.com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LambdaLabs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brev.dev</a:t>
            </a:r>
            <a:endParaRPr sz="1200">
              <a:solidFill>
                <a:schemeClr val="dk1"/>
              </a:solidFill>
              <a:latin typeface="Calibri"/>
              <a:ea typeface="Calibri"/>
              <a:cs typeface="Calibri"/>
              <a:sym typeface="Calibri"/>
            </a:endParaRPr>
          </a:p>
        </p:txBody>
      </p:sp>
      <p:sp>
        <p:nvSpPr>
          <p:cNvPr id="587" name="Google Shape;587;p47"/>
          <p:cNvSpPr txBox="1"/>
          <p:nvPr/>
        </p:nvSpPr>
        <p:spPr>
          <a:xfrm>
            <a:off x="4885450" y="55800"/>
            <a:ext cx="18321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Tools: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RAG tools: Vector DBs,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Graph DBs, PostgreSQL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AutoGen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TaskWeaver</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CrewAI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MemGPT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vLLM + AutoAWQ</a:t>
            </a:r>
            <a:endParaRPr sz="1200">
              <a:solidFill>
                <a:schemeClr val="dk1"/>
              </a:solidFill>
              <a:latin typeface="Calibri"/>
              <a:ea typeface="Calibri"/>
              <a:cs typeface="Calibri"/>
              <a:sym typeface="Calibri"/>
            </a:endParaRPr>
          </a:p>
        </p:txBody>
      </p:sp>
      <p:sp>
        <p:nvSpPr>
          <p:cNvPr id="588" name="Google Shape;588;p47"/>
          <p:cNvSpPr txBox="1"/>
          <p:nvPr/>
        </p:nvSpPr>
        <p:spPr>
          <a:xfrm>
            <a:off x="55075" y="3376800"/>
            <a:ext cx="10665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Chips: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 TPUs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Microsoft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OpenAI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Apple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Rain NPU</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Cerebras </a:t>
            </a:r>
            <a:endParaRPr sz="1200">
              <a:solidFill>
                <a:schemeClr val="dk1"/>
              </a:solidFill>
              <a:latin typeface="Calibri"/>
              <a:ea typeface="Calibri"/>
              <a:cs typeface="Calibri"/>
              <a:sym typeface="Calibri"/>
            </a:endParaRPr>
          </a:p>
        </p:txBody>
      </p:sp>
      <p:sp>
        <p:nvSpPr>
          <p:cNvPr id="589" name="Google Shape;589;p47"/>
          <p:cNvSpPr txBox="1"/>
          <p:nvPr/>
        </p:nvSpPr>
        <p:spPr>
          <a:xfrm>
            <a:off x="4676350" y="3192289"/>
            <a:ext cx="2316300" cy="1865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Software:</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Python, PyTorch, JAX</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Rust Candle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Nvidia CUDA, cuDNN, TensorRT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SDK, DeepStream SDK,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 python modules </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(datasets, transformers)</a:t>
            </a:r>
            <a:br>
              <a:rPr lang="en" sz="1200">
                <a:solidFill>
                  <a:schemeClr val="dk1"/>
                </a:solidFill>
                <a:latin typeface="Calibri"/>
                <a:ea typeface="Calibri"/>
                <a:cs typeface="Calibri"/>
                <a:sym typeface="Calibri"/>
              </a:rPr>
            </a:br>
            <a:r>
              <a:rPr lang="en" sz="1200">
                <a:solidFill>
                  <a:schemeClr val="dk1"/>
                </a:solidFill>
                <a:latin typeface="Calibri"/>
                <a:ea typeface="Calibri"/>
                <a:cs typeface="Calibri"/>
                <a:sym typeface="Calibri"/>
              </a:rPr>
              <a:t>   models, datasets,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LangChain, LlamaIndex</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Apple MLX</a:t>
            </a:r>
            <a:endParaRPr sz="1200">
              <a:solidFill>
                <a:schemeClr val="dk1"/>
              </a:solidFill>
              <a:latin typeface="Calibri"/>
              <a:ea typeface="Calibri"/>
              <a:cs typeface="Calibri"/>
              <a:sym typeface="Calibri"/>
            </a:endParaRPr>
          </a:p>
        </p:txBody>
      </p:sp>
      <p:sp>
        <p:nvSpPr>
          <p:cNvPr id="590" name="Google Shape;590;p47"/>
          <p:cNvSpPr txBox="1"/>
          <p:nvPr/>
        </p:nvSpPr>
        <p:spPr>
          <a:xfrm>
            <a:off x="7065325" y="2170700"/>
            <a:ext cx="20346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Model Training, Fine-tuning:</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Axolotl</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LoRA, QLoRA, S-LoRA </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wandb.ai (weights &amp; biases)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fast.ai</a:t>
            </a:r>
            <a:endParaRPr sz="1200">
              <a:solidFill>
                <a:schemeClr val="dk1"/>
              </a:solidFill>
              <a:latin typeface="Calibri"/>
              <a:ea typeface="Calibri"/>
              <a:cs typeface="Calibri"/>
              <a:sym typeface="Calibri"/>
            </a:endParaRPr>
          </a:p>
        </p:txBody>
      </p:sp>
      <p:sp>
        <p:nvSpPr>
          <p:cNvPr id="591" name="Google Shape;591;p47"/>
          <p:cNvSpPr txBox="1"/>
          <p:nvPr/>
        </p:nvSpPr>
        <p:spPr>
          <a:xfrm>
            <a:off x="6802940" y="55800"/>
            <a:ext cx="22890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Model Safety:</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Meta Purple Llama </a:t>
            </a:r>
            <a:endParaRPr sz="1200">
              <a:solidFill>
                <a:schemeClr val="dk1"/>
              </a:solidFill>
              <a:latin typeface="Calibri"/>
              <a:ea typeface="Calibri"/>
              <a:cs typeface="Calibri"/>
              <a:sym typeface="Calibri"/>
            </a:endParaRPr>
          </a:p>
          <a:p>
            <a:pPr marL="0" lvl="0" indent="0" algn="l" rtl="0">
              <a:spcBef>
                <a:spcPts val="0"/>
              </a:spcBef>
              <a:spcAft>
                <a:spcPts val="0"/>
              </a:spcAft>
              <a:buNone/>
            </a:pPr>
            <a:endParaRPr sz="1200">
              <a:solidFill>
                <a:schemeClr val="dk1"/>
              </a:solidFill>
              <a:latin typeface="Calibri"/>
              <a:ea typeface="Calibri"/>
              <a:cs typeface="Calibri"/>
              <a:sym typeface="Calibri"/>
            </a:endParaRPr>
          </a:p>
        </p:txBody>
      </p:sp>
      <p:sp>
        <p:nvSpPr>
          <p:cNvPr id="592" name="Google Shape;592;p47"/>
          <p:cNvSpPr txBox="1"/>
          <p:nvPr/>
        </p:nvSpPr>
        <p:spPr>
          <a:xfrm>
            <a:off x="6802940" y="732300"/>
            <a:ext cx="22890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Front-End Dev:</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LangChain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Windows AI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AutiGen 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Streamlit, Flask, Gradio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voiceflow.com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Text Generation WebUI</a:t>
            </a:r>
            <a:endParaRPr sz="1200">
              <a:solidFill>
                <a:schemeClr val="dk1"/>
              </a:solidFill>
              <a:latin typeface="Calibri"/>
              <a:ea typeface="Calibri"/>
              <a:cs typeface="Calibri"/>
              <a:sym typeface="Calibri"/>
            </a:endParaRPr>
          </a:p>
        </p:txBody>
      </p:sp>
      <p:sp>
        <p:nvSpPr>
          <p:cNvPr id="593" name="Google Shape;593;p47"/>
          <p:cNvSpPr txBox="1"/>
          <p:nvPr/>
        </p:nvSpPr>
        <p:spPr>
          <a:xfrm>
            <a:off x="2979225" y="3561600"/>
            <a:ext cx="1611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Cloud App Dev:</a:t>
            </a:r>
            <a:endParaRPr sz="1200" b="1">
              <a:solidFill>
                <a:srgbClr val="FF0000"/>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 Hugging 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platform.openai.com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Cohere.com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RunPod.io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replit.com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 voiceflow.com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chatbase.co</a:t>
            </a:r>
            <a:endParaRPr sz="1200">
              <a:solidFill>
                <a:schemeClr val="dk1"/>
              </a:solidFill>
              <a:latin typeface="Calibri"/>
              <a:ea typeface="Calibri"/>
              <a:cs typeface="Calibri"/>
              <a:sym typeface="Calibri"/>
            </a:endParaRPr>
          </a:p>
        </p:txBody>
      </p:sp>
      <p:sp>
        <p:nvSpPr>
          <p:cNvPr id="594" name="Google Shape;594;p47"/>
          <p:cNvSpPr txBox="1"/>
          <p:nvPr/>
        </p:nvSpPr>
        <p:spPr>
          <a:xfrm>
            <a:off x="7816800" y="3424600"/>
            <a:ext cx="12753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Local Apps:</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Ollama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LMStudio</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TextGen WebUI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GPT4All</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MLC LLM</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PrivateGPT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h2oGPT</a:t>
            </a:r>
            <a:endParaRPr sz="1200">
              <a:solidFill>
                <a:schemeClr val="dk1"/>
              </a:solidFill>
              <a:latin typeface="Calibri"/>
              <a:ea typeface="Calibri"/>
              <a:cs typeface="Calibri"/>
              <a:sym typeface="Calibri"/>
            </a:endParaRPr>
          </a:p>
        </p:txBody>
      </p:sp>
      <p:sp>
        <p:nvSpPr>
          <p:cNvPr id="595" name="Google Shape;595;p47"/>
          <p:cNvSpPr txBox="1"/>
          <p:nvPr/>
        </p:nvSpPr>
        <p:spPr>
          <a:xfrm>
            <a:off x="2979225" y="2547450"/>
            <a:ext cx="1361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Datasets: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HuggingFace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Orca2, Open Orca</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Dolphin</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scale.com</a:t>
            </a:r>
            <a:endParaRPr sz="1200">
              <a:solidFill>
                <a:schemeClr val="dk1"/>
              </a:solidFill>
              <a:latin typeface="Calibri"/>
              <a:ea typeface="Calibri"/>
              <a:cs typeface="Calibri"/>
              <a:sym typeface="Calibri"/>
            </a:endParaRPr>
          </a:p>
        </p:txBody>
      </p:sp>
      <p:sp>
        <p:nvSpPr>
          <p:cNvPr id="596" name="Google Shape;596;p47"/>
          <p:cNvSpPr txBox="1"/>
          <p:nvPr/>
        </p:nvSpPr>
        <p:spPr>
          <a:xfrm>
            <a:off x="55075" y="1980400"/>
            <a:ext cx="13611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Chats: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ChatGPT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Bard</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Claude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labs.perplexity.ai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llama2.ai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pi.ai</a:t>
            </a:r>
            <a:endParaRPr sz="1200">
              <a:solidFill>
                <a:schemeClr val="dk1"/>
              </a:solidFill>
              <a:latin typeface="Calibri"/>
              <a:ea typeface="Calibri"/>
              <a:cs typeface="Calibri"/>
              <a:sym typeface="Calibri"/>
            </a:endParaRPr>
          </a:p>
        </p:txBody>
      </p:sp>
      <p:sp>
        <p:nvSpPr>
          <p:cNvPr id="597" name="Google Shape;597;p47"/>
          <p:cNvSpPr txBox="1"/>
          <p:nvPr/>
        </p:nvSpPr>
        <p:spPr>
          <a:xfrm>
            <a:off x="4885450" y="2054950"/>
            <a:ext cx="1832100" cy="942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AI Coding Tools:</a:t>
            </a:r>
            <a:endParaRPr sz="1200" b="1">
              <a:solidFill>
                <a:srgbClr val="FF0000"/>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GPT Pilot in VS Code</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GitHub Copilot</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Google’s Duet AI</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 JetBrains AI IDEs</a:t>
            </a:r>
            <a:endParaRPr sz="1200">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2" name="Google Shape;602;p48"/>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7000" b="1">
                <a:solidFill>
                  <a:srgbClr val="3C78D8"/>
                </a:solidFill>
                <a:latin typeface="Calibri"/>
                <a:ea typeface="Calibri"/>
                <a:cs typeface="Calibri"/>
                <a:sym typeface="Calibri"/>
              </a:rPr>
              <a:t>Thank You!</a:t>
            </a:r>
            <a:endParaRPr sz="7000" b="1">
              <a:solidFill>
                <a:srgbClr val="3C78D8"/>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07" name="Google Shape;607;p49"/>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xxxx</a:t>
            </a:r>
            <a:endParaRPr sz="2000" b="1">
              <a:latin typeface="Calibri"/>
              <a:ea typeface="Calibri"/>
              <a:cs typeface="Calibri"/>
              <a:sym typeface="Calibri"/>
            </a:endParaRPr>
          </a:p>
        </p:txBody>
      </p:sp>
      <p:sp>
        <p:nvSpPr>
          <p:cNvPr id="608" name="Google Shape;608;p49"/>
          <p:cNvSpPr txBox="1"/>
          <p:nvPr/>
        </p:nvSpPr>
        <p:spPr>
          <a:xfrm>
            <a:off x="147175" y="607825"/>
            <a:ext cx="4321500" cy="38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300">
                <a:solidFill>
                  <a:srgbClr val="0F0F0F"/>
                </a:solidFill>
                <a:latin typeface="Calibri"/>
                <a:ea typeface="Calibri"/>
                <a:cs typeface="Calibri"/>
                <a:sym typeface="Calibri"/>
              </a:rPr>
              <a:t>xxxx</a:t>
            </a:r>
            <a:endParaRPr sz="1300">
              <a:solidFill>
                <a:srgbClr val="0F0F0F"/>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50"/>
          <p:cNvSpPr txBox="1"/>
          <p:nvPr/>
        </p:nvSpPr>
        <p:spPr>
          <a:xfrm>
            <a:off x="72300" y="0"/>
            <a:ext cx="41313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None/>
            </a:pPr>
            <a:r>
              <a:rPr lang="en" sz="2000" b="1">
                <a:solidFill>
                  <a:schemeClr val="dk1"/>
                </a:solidFill>
                <a:latin typeface="Calibri"/>
                <a:ea typeface="Calibri"/>
                <a:cs typeface="Calibri"/>
                <a:sym typeface="Calibri"/>
              </a:rPr>
              <a:t>Routing in Mixture-Of-Experts</a:t>
            </a:r>
            <a:endParaRPr sz="2000" b="1">
              <a:latin typeface="Calibri"/>
              <a:ea typeface="Calibri"/>
              <a:cs typeface="Calibri"/>
              <a:sym typeface="Calibri"/>
            </a:endParaRPr>
          </a:p>
        </p:txBody>
      </p:sp>
      <p:sp>
        <p:nvSpPr>
          <p:cNvPr id="614" name="Google Shape;614;p50"/>
          <p:cNvSpPr txBox="1"/>
          <p:nvPr/>
        </p:nvSpPr>
        <p:spPr>
          <a:xfrm>
            <a:off x="113225" y="505950"/>
            <a:ext cx="5845200" cy="258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Round robin - requests (stateless) routed sequentially</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Sticky round-robin - an improvement where if Alice’s first request goes to service A, the following requests go to service A as well.</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Weighted round-robin - the admin can specify the weight for each service. The ones with a higher weight handle more requests than others.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Hash - this algorithm applies a hash function on the incoming requests’ IP or URL. The requests are routed to relevant instances based on the hash function result. Usually "consistent hashing" is used.</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Least connections - new request is sent to the service instance with the least concurrent connections.</a:t>
            </a:r>
            <a:endParaRPr sz="1300">
              <a:solidFill>
                <a:srgbClr val="0F0F0F"/>
              </a:solidFill>
              <a:latin typeface="Calibri"/>
              <a:ea typeface="Calibri"/>
              <a:cs typeface="Calibri"/>
              <a:sym typeface="Calibri"/>
            </a:endParaRPr>
          </a:p>
          <a:p>
            <a:pPr marL="228600" lvl="0" indent="-196850" algn="l" rtl="0">
              <a:spcBef>
                <a:spcPts val="0"/>
              </a:spcBef>
              <a:spcAft>
                <a:spcPts val="0"/>
              </a:spcAft>
              <a:buClr>
                <a:srgbClr val="0F0F0F"/>
              </a:buClr>
              <a:buSzPts val="1300"/>
              <a:buFont typeface="Calibri"/>
              <a:buChar char="●"/>
            </a:pPr>
            <a:r>
              <a:rPr lang="en" sz="1300">
                <a:solidFill>
                  <a:srgbClr val="0F0F0F"/>
                </a:solidFill>
                <a:latin typeface="Calibri"/>
                <a:ea typeface="Calibri"/>
                <a:cs typeface="Calibri"/>
                <a:sym typeface="Calibri"/>
              </a:rPr>
              <a:t>Least response time - new request is sent to the service instance with the fastest response time.</a:t>
            </a:r>
            <a:endParaRPr sz="1300">
              <a:solidFill>
                <a:srgbClr val="0F0F0F"/>
              </a:solidFill>
              <a:latin typeface="Calibri"/>
              <a:ea typeface="Calibri"/>
              <a:cs typeface="Calibri"/>
              <a:sym typeface="Calibri"/>
            </a:endParaRPr>
          </a:p>
        </p:txBody>
      </p:sp>
      <p:pic>
        <p:nvPicPr>
          <p:cNvPr id="615" name="Google Shape;615;p5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290523" y="1884225"/>
            <a:ext cx="2782450" cy="1893126"/>
          </a:xfrm>
          <a:prstGeom prst="rect">
            <a:avLst/>
          </a:prstGeom>
          <a:noFill/>
          <a:ln>
            <a:noFill/>
          </a:ln>
        </p:spPr>
      </p:pic>
      <p:pic>
        <p:nvPicPr>
          <p:cNvPr id="616" name="Google Shape;616;p50"/>
          <p:cNvPicPr preferRelativeResize="0"/>
          <p:nvPr/>
        </p:nvPicPr>
        <p:blipFill>
          <a:blip r:embed="rId4">
            <a:alphaModFix/>
          </a:blip>
          <a:stretch>
            <a:fillRect/>
          </a:stretch>
        </p:blipFill>
        <p:spPr>
          <a:xfrm>
            <a:off x="6967950" y="46600"/>
            <a:ext cx="2105025" cy="1571625"/>
          </a:xfrm>
          <a:prstGeom prst="rect">
            <a:avLst/>
          </a:prstGeom>
          <a:noFill/>
          <a:ln>
            <a:noFill/>
          </a:ln>
        </p:spPr>
      </p:pic>
      <p:sp>
        <p:nvSpPr>
          <p:cNvPr id="617" name="Google Shape;617;p50"/>
          <p:cNvSpPr txBox="1"/>
          <p:nvPr/>
        </p:nvSpPr>
        <p:spPr>
          <a:xfrm>
            <a:off x="113225" y="3176600"/>
            <a:ext cx="5845200" cy="166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Consistent hashing  (ring hash)</a:t>
            </a:r>
            <a:r>
              <a:rPr lang="en" sz="1200">
                <a:solidFill>
                  <a:schemeClr val="dk1"/>
                </a:solidFill>
                <a:latin typeface="Calibri"/>
                <a:ea typeface="Calibri"/>
                <a:cs typeface="Calibri"/>
                <a:sym typeface="Calibri"/>
              </a:rPr>
              <a:t> - MIT Thesis by Daniel Lewin (1998)</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1.Make a circle (a.k.a. a "hash ring") with a big number of "positions" (232 .. 2160)</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2.Map each server to 1024 random positions on circle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3.Map each request (IP/port/...) to the same point on circle, and go clockwise</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to find the server to process this request</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4.Continue going clockwise to find a 2nd server (for backup)</a:t>
            </a:r>
            <a:endParaRPr sz="1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 sz="1200">
                <a:solidFill>
                  <a:schemeClr val="dk1"/>
                </a:solidFill>
                <a:latin typeface="Calibri"/>
                <a:ea typeface="Calibri"/>
                <a:cs typeface="Calibri"/>
                <a:sym typeface="Calibri"/>
              </a:rPr>
              <a:t>•https://medium.com/system-design-blog/consistent-hashing-b9134c8a9062</a:t>
            </a:r>
            <a:endParaRPr sz="1200">
              <a:solidFill>
                <a:schemeClr val="dk1"/>
              </a:solidFill>
              <a:latin typeface="Calibri"/>
              <a:ea typeface="Calibri"/>
              <a:cs typeface="Calibri"/>
              <a:sym typeface="Calibri"/>
            </a:endParaRPr>
          </a:p>
          <a:p>
            <a:pPr marL="0" lvl="0" indent="0" algn="l" rtl="0">
              <a:spcBef>
                <a:spcPts val="0"/>
              </a:spcBef>
              <a:spcAft>
                <a:spcPts val="0"/>
              </a:spcAft>
              <a:buNone/>
            </a:pPr>
            <a:r>
              <a:rPr lang="en" sz="1200">
                <a:solidFill>
                  <a:schemeClr val="dk1"/>
                </a:solidFill>
                <a:latin typeface="Calibri"/>
                <a:ea typeface="Calibri"/>
                <a:cs typeface="Calibri"/>
                <a:sym typeface="Calibri"/>
              </a:rPr>
              <a:t>•https://en.wikipedia.org/wiki/Consistent_hashing</a:t>
            </a:r>
            <a:endParaRPr sz="12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6269</Words>
  <Application>Microsoft Macintosh PowerPoint</Application>
  <PresentationFormat>On-screen Show (16:9)</PresentationFormat>
  <Paragraphs>806</Paragraphs>
  <Slides>36</Slides>
  <Notes>36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Arial</vt:lpstr>
      <vt:lpstr>Roboto Mono</vt:lpstr>
      <vt:lpstr>Roboto</vt:lpstr>
      <vt:lpstr>Calibri</vt:lpstr>
      <vt:lpstr>Arial Black</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cp:revision>
  <dcterms:modified xsi:type="dcterms:W3CDTF">2024-01-19T06:08:29Z</dcterms:modified>
</cp:coreProperties>
</file>