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Roboto Mono"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720896-178B-45A2-AEEA-D0D2DCF17E8D}">
  <a:tblStyle styleId="{13720896-178B-45A2-AEEA-D0D2DCF17E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314E878-3E45-428C-A9B3-C2D216E8C6CA}"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b9b9eac199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b9b9eac19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b7eafe0074_1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b7eafe0074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b9fe0b8e54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b9fe0b8e5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bb4be32bd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bb4be32bd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bb5e71753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bb5e71753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bad9bea68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bad9bea6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ba5f586be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ba5f586be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ba60d651b9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ba60d651b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baf2ccdf4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baf2ccdf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bacc5fb6a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bacc5fb6a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bb0d5757ec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bb0d5757e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bacc5fb6a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bacc5fb6a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ba352aa90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ba352aa90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bb0aac8bd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bb0aac8bd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bb15e5412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bb15e5412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bb15e54cb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bb15e54cb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bbd68d928c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2bbd68d928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bb0d5757e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bb0d5757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b7eafe0074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b7eafe0074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bb63b346e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bb63b346e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bb63ba892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bb63ba892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bbdf1cc35a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bbdf1cc35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b9ba3ebc86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2b9ba3ebc8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b7eafe0074_1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b7eafe0074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o4yoPEjIYRk" TargetMode="External"/><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chat.lmsys.org" TargetMode="External"/><Relationship Id="rId4" Type="http://schemas.openxmlformats.org/officeDocument/2006/relationships/hyperlink" Target="https://www.youtube.com/watch?v=vf2NBdjJ40k"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blog.google/technology/developers/gemma-open-models/" TargetMode="External"/><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youtube.com/watch?v=eC_Qn8t2p2E" TargetMode="External"/><Relationship Id="rId5" Type="http://schemas.openxmlformats.org/officeDocument/2006/relationships/hyperlink" Target="https://www.youtube.com/watch?v=1Mn0U6HGLeg" TargetMode="External"/><Relationship Id="rId4" Type="http://schemas.openxmlformats.org/officeDocument/2006/relationships/hyperlink" Target="https://www.youtube.com/watch?v=UM2arC3EzEI"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openai.com/sora" TargetMode="External"/><Relationship Id="rId7" Type="http://schemas.openxmlformats.org/officeDocument/2006/relationships/hyperlink" Target="https://stability.ai/news/stable-diffusion-3"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hyperlink" Target="https://openai.com/research/video-generation-models-as-world-simulators" TargetMode="External"/><Relationship Id="rId4" Type="http://schemas.openxmlformats.org/officeDocument/2006/relationships/hyperlink" Target="https://www.youtube.com/watch?v=BH9FU7Gd6v8"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twitter.com/AlphaSignalAI/status/1759259191292592530" TargetMode="External"/><Relationship Id="rId3" Type="http://schemas.openxmlformats.org/officeDocument/2006/relationships/hyperlink" Target="https://www.youtube.com/watch?v=oSCRZkSQ1CE" TargetMode="External"/><Relationship Id="rId7" Type="http://schemas.openxmlformats.org/officeDocument/2006/relationships/hyperlink" Target="https://github.com/karpathy/minbpe"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hyperlink" Target="https://huggingface.co/datasets/nvidia/OpenMathInstruct-1" TargetMode="External"/><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hyperlink" Target="https://cohere.com/research/aya"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arxiv.org/pdf/2402.07862.pdf" TargetMode="External"/><Relationship Id="rId3" Type="http://schemas.openxmlformats.org/officeDocument/2006/relationships/hyperlink" Target="https://twitter.com/Francis_YAO_/status/1758934303655030929?cxt=HBwWosLbicLb_ugwAAAA&amp;cn=ZmxleGlibGVfcmVjcw%3D%3D&amp;refsrc=email" TargetMode="External"/><Relationship Id="rId7" Type="http://schemas.openxmlformats.org/officeDocument/2006/relationships/hyperlink" Target="https://openaccess.thecvf.com/content/ICCV2023/html/Peebles_Scalable_Diffusion_Models_with_Transformers_ICCV_2023_paper.html"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twitter.com/ylecun/status/1758760027203006952" TargetMode="External"/><Relationship Id="rId5" Type="http://schemas.openxmlformats.org/officeDocument/2006/relationships/image" Target="../media/image11.png"/><Relationship Id="rId4" Type="http://schemas.openxmlformats.org/officeDocument/2006/relationships/hyperlink" Target="https://twitter.com/skeptrune/status/1759034741658185785" TargetMode="External"/><Relationship Id="rId9" Type="http://schemas.openxmlformats.org/officeDocument/2006/relationships/hyperlink" Target="https://www.forbes.com/sites/antoniopequenoiv/2024/02/16/openai-reaches-80-billion-valuation-in-venture-firm-deal-report-says/"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blog.langchain.dev/langsmith-ga/" TargetMode="External"/><Relationship Id="rId3" Type="http://schemas.openxmlformats.org/officeDocument/2006/relationships/hyperlink" Target="https://www.langchain.com" TargetMode="External"/><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github.com/langchain-ai/langchain" TargetMode="External"/><Relationship Id="rId9" Type="http://schemas.openxmlformats.org/officeDocument/2006/relationships/hyperlink" Target="https://smith.langchain.com"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explodinggradients/raga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hyperlink" Target="https://towardsdatascience.com/evaluating-rag-applications-with-ragas-81d67b0ee31a" TargetMode="External"/><Relationship Id="rId4" Type="http://schemas.openxmlformats.org/officeDocument/2006/relationships/hyperlink" Target="https://docs.ragas.io/en/stable/"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hyperlink" Target="https://groq.com" TargetMode="External"/><Relationship Id="rId7" Type="http://schemas.openxmlformats.org/officeDocument/2006/relationships/hyperlink" Target="https://blog.youtube/inside-youtube/2024-letter-from-neal/"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hyperlink" Target="https://magic.dev" TargetMode="External"/><Relationship Id="rId4" Type="http://schemas.openxmlformats.org/officeDocument/2006/relationships/image" Target="../media/image16.png"/><Relationship Id="rId9" Type="http://schemas.openxmlformats.org/officeDocument/2006/relationships/hyperlink" Target="https://www.phind.com/blog/introducing-phind-70b"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towardsdatascience.com/text-embeddings-comprehensive-guide-afd97fce8fb5"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predibase.com/blog/lora-land-fine-tuned-open-source-llms-that-outperform-gpt-4" TargetMode="External"/><Relationship Id="rId5" Type="http://schemas.openxmlformats.org/officeDocument/2006/relationships/image" Target="../media/image19.png"/><Relationship Id="rId4" Type="http://schemas.openxmlformats.org/officeDocument/2006/relationships/hyperlink" Target="https://www.assemblyai.com/blog/why-language-models-became-large-language-model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s://rasa.com" TargetMode="External"/><Relationship Id="rId3" Type="http://schemas.openxmlformats.org/officeDocument/2006/relationships/hyperlink" Target="https://sierra.ai" TargetMode="External"/><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linkedin.com/in/brettaylor" TargetMode="External"/><Relationship Id="rId5" Type="http://schemas.openxmlformats.org/officeDocument/2006/relationships/image" Target="../media/image21.png"/><Relationship Id="rId10" Type="http://schemas.openxmlformats.org/officeDocument/2006/relationships/hyperlink" Target="https://www.ada.cx" TargetMode="External"/><Relationship Id="rId4" Type="http://schemas.openxmlformats.org/officeDocument/2006/relationships/hyperlink" Target="https://thesiliconreview.com/2024/02/openai-bret-taylor-startup-sierra" TargetMode="External"/><Relationship Id="rId9" Type="http://schemas.openxmlformats.org/officeDocument/2006/relationships/hyperlink" Target="https://www.haptik.ai"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carlini/yet-another-applied-llm-benchmark" TargetMode="External"/><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hyperlink" Target="https://twitter.com/karpathy/status/1760022429605474550" TargetMode="External"/><Relationship Id="rId4" Type="http://schemas.openxmlformats.org/officeDocument/2006/relationships/hyperlink" Target="https://nicholas.carlini.com/writing/2024/my-benchmark-for-large-language-models.html"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uptrain.ai"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hyperlink" Target="https://pypi.org/project/uptrain/" TargetMode="External"/><Relationship Id="rId4" Type="http://schemas.openxmlformats.org/officeDocument/2006/relationships/hyperlink" Target="https://github.com/uptrain-ai/uptrain"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notebooklm.google.com" TargetMode="External"/><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hyperlink" Target="https://support.google.com/notebooklm" TargetMode="External"/><Relationship Id="rId4" Type="http://schemas.openxmlformats.org/officeDocument/2006/relationships/hyperlink" Target="https://www.youtube.com/watch?v=iWPjBwXy_Io"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hyperlink" Target="https://www.youtube.com/watch?v=Fr6Teh_ox-8" TargetMode="External"/><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hyperlink" Target="https://www.gartner.com/en/doc/797246-how-to-pilot-generative-ai"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hyperlink" Target="https://huggingface.co/spaces/lmsys/chatbot-arena-leaderboard"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hyperlink" Target="https://crfm.stanford.edu/helm/lite/latest/#/leaderboard" TargetMode="External"/><Relationship Id="rId7"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hyperlink" Target="https://arxiv.org/abs/2211.09110" TargetMode="External"/><Relationship Id="rId10" Type="http://schemas.openxmlformats.org/officeDocument/2006/relationships/image" Target="../media/image42.png"/><Relationship Id="rId4" Type="http://schemas.openxmlformats.org/officeDocument/2006/relationships/hyperlink" Target="https://crfm.stanford.edu/helm/lite/latest/" TargetMode="External"/><Relationship Id="rId9"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hyperlink" Target="https://news.ycombinator.com/item?id=36806770"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bloomberry.com/i-analyzed-5m-freelancing-jobs-to-see-what-jobs-are-being-replaced-by-ai/"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37850" y="1127828"/>
            <a:ext cx="4342500" cy="3879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215900" algn="l" rtl="0">
              <a:spcBef>
                <a:spcPts val="0"/>
              </a:spcBef>
              <a:spcAft>
                <a:spcPts val="0"/>
              </a:spcAft>
              <a:buClr>
                <a:srgbClr val="3C78D8"/>
              </a:buClr>
              <a:buSzPts val="1600"/>
              <a:buChar char="●"/>
            </a:pPr>
            <a:r>
              <a:rPr lang="en" sz="1600" b="1">
                <a:solidFill>
                  <a:srgbClr val="3C78D8"/>
                </a:solidFill>
              </a:rPr>
              <a:t>Mistral-Next</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Google open LLMs - Gemma 2B &amp; 7B</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OpenAI World Simulation</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Jeff Dean Lecture (Google)</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Dataset OpenMath Instruct-1 by Nvidia</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Aya - open-source multilingual project</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10M context kills RAG ?</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"Scalable Diffusion" paper</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Biased and unbiased LLM assistants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OpenAI Reaches $80 Billion Valuation</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LangChain - Startup</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RAGAs = RAG Assessment Framework</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Gemini working with Google Workspace</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Fast Inference with Groq</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Magic AI - AI Software Engineer</a:t>
            </a:r>
            <a:endParaRPr sz="1600" b="1">
              <a:solidFill>
                <a:srgbClr val="3C78D8"/>
              </a:solidFill>
            </a:endParaRPr>
          </a:p>
        </p:txBody>
      </p:sp>
      <p:sp>
        <p:nvSpPr>
          <p:cNvPr id="55" name="Google Shape;55;p13"/>
          <p:cNvSpPr txBox="1"/>
          <p:nvPr/>
        </p:nvSpPr>
        <p:spPr>
          <a:xfrm>
            <a:off x="4672738" y="1124853"/>
            <a:ext cx="4342500" cy="3879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215900" algn="l" rtl="0">
              <a:spcBef>
                <a:spcPts val="0"/>
              </a:spcBef>
              <a:spcAft>
                <a:spcPts val="0"/>
              </a:spcAft>
              <a:buClr>
                <a:srgbClr val="3C78D8"/>
              </a:buClr>
              <a:buSzPts val="1600"/>
              <a:buChar char="●"/>
            </a:pPr>
            <a:r>
              <a:rPr lang="en" sz="1600" b="1">
                <a:solidFill>
                  <a:srgbClr val="3C78D8"/>
                </a:solidFill>
              </a:rPr>
              <a:t>YouTube CEO: 4 Big bets for 2024</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Text Embeddings Guide</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Fine-Tuned 7b Outperforms GPT-4</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Nvidia GTC in March 2024</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Sierra - startup - AI chatbots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Yet Another LLM Benchmark 100 tests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UpTrain - Open-source LLMOps eval</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NotebookLM.Google.com</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Gemini Diversity Problem</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Gartner - How to Pilot Generative AI</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Crowd-sourced "Arena" Leaderboard</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HELM Leaderboard</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LLM as Zero-cost Commodity</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Writing/Translation Jobs Go Down</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Layoffs are not too big</a:t>
            </a:r>
            <a:endParaRPr sz="1600" b="1">
              <a:solidFill>
                <a:srgbClr val="3C78D8"/>
              </a:solidFill>
            </a:endParaRPr>
          </a:p>
        </p:txBody>
      </p:sp>
      <p:sp>
        <p:nvSpPr>
          <p:cNvPr id="56" name="Google Shape;56;p13"/>
          <p:cNvSpPr txBox="1"/>
          <p:nvPr/>
        </p:nvSpPr>
        <p:spPr>
          <a:xfrm>
            <a:off x="3027550" y="151975"/>
            <a:ext cx="3192600" cy="9420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None/>
            </a:pPr>
            <a:r>
              <a:rPr lang="en" sz="3600" b="1">
                <a:solidFill>
                  <a:srgbClr val="3C78D8"/>
                </a:solidFill>
              </a:rPr>
              <a:t>AI Updates </a:t>
            </a:r>
            <a:endParaRPr sz="3600" b="1">
              <a:solidFill>
                <a:srgbClr val="3C78D8"/>
              </a:solidFill>
            </a:endParaRPr>
          </a:p>
          <a:p>
            <a:pPr marL="0" lvl="0" indent="0" algn="ctr" rtl="0">
              <a:spcBef>
                <a:spcPts val="0"/>
              </a:spcBef>
              <a:spcAft>
                <a:spcPts val="0"/>
              </a:spcAft>
              <a:buNone/>
            </a:pPr>
            <a:r>
              <a:rPr lang="en" sz="2400" b="1">
                <a:solidFill>
                  <a:srgbClr val="3C78D8"/>
                </a:solidFill>
              </a:rPr>
              <a:t>February 23, 2024</a:t>
            </a:r>
            <a:endParaRPr sz="2400" b="1">
              <a:solidFill>
                <a:srgbClr val="3C78D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1" name="Google Shape;61;p1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05238" y="1203525"/>
            <a:ext cx="2094075" cy="2094075"/>
          </a:xfrm>
          <a:prstGeom prst="rect">
            <a:avLst/>
          </a:prstGeom>
          <a:noFill/>
          <a:ln>
            <a:noFill/>
          </a:ln>
        </p:spPr>
      </p:pic>
      <p:sp>
        <p:nvSpPr>
          <p:cNvPr id="62" name="Google Shape;62;p1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latin typeface="Calibri"/>
                <a:ea typeface="Calibri"/>
                <a:cs typeface="Calibri"/>
                <a:sym typeface="Calibri"/>
              </a:rPr>
              <a:t>About the Speaker</a:t>
            </a:r>
            <a:endParaRPr sz="2500" b="1">
              <a:latin typeface="Calibri"/>
              <a:ea typeface="Calibri"/>
              <a:cs typeface="Calibri"/>
              <a:sym typeface="Calibri"/>
            </a:endParaRPr>
          </a:p>
        </p:txBody>
      </p:sp>
      <p:sp>
        <p:nvSpPr>
          <p:cNvPr id="63" name="Google Shape;63;p1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500" b="1">
                <a:latin typeface="Calibri"/>
                <a:ea typeface="Calibri"/>
                <a:cs typeface="Calibri"/>
                <a:sym typeface="Calibri"/>
              </a:rPr>
              <a:t>Lev Selector, Ph.D.</a:t>
            </a:r>
            <a:endParaRPr sz="2500" b="1">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40+ years of software engineering, data science, and building teams (hiring, training, and managing)</a:t>
            </a:r>
            <a:endParaRPr sz="1600">
              <a:solidFill>
                <a:schemeClr val="dk1"/>
              </a:solidFill>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Ph.D. in mathematical modeling and computer simulations</a:t>
            </a:r>
            <a:endParaRPr sz="16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600">
              <a:latin typeface="Calibri"/>
              <a:ea typeface="Calibri"/>
              <a:cs typeface="Calibri"/>
              <a:sym typeface="Calibri"/>
            </a:endParaRPr>
          </a:p>
          <a:p>
            <a:pPr marL="0" lvl="0" indent="0" algn="l" rtl="0">
              <a:spcBef>
                <a:spcPts val="0"/>
              </a:spcBef>
              <a:spcAft>
                <a:spcPts val="0"/>
              </a:spcAft>
              <a:buNone/>
            </a:pPr>
            <a:r>
              <a:rPr lang="en" sz="1600">
                <a:latin typeface="Calibri"/>
                <a:ea typeface="Calibri"/>
                <a:cs typeface="Calibri"/>
                <a:sym typeface="Calibri"/>
              </a:rPr>
              <a:t>Interests: </a:t>
            </a:r>
            <a:endParaRPr sz="1600">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Generative AI, Using LLM with your data</a:t>
            </a:r>
            <a:endParaRPr sz="1600">
              <a:solidFill>
                <a:schemeClr val="dk1"/>
              </a:solidFill>
              <a:latin typeface="Calibri"/>
              <a:ea typeface="Calibri"/>
              <a:cs typeface="Calibri"/>
              <a:sym typeface="Calibri"/>
            </a:endParaRPr>
          </a:p>
          <a:p>
            <a:pPr marL="457200" lvl="0" indent="-330200" algn="l" rtl="0">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Local AI for Local Private Data</a:t>
            </a:r>
            <a:endParaRPr sz="1600">
              <a:solidFill>
                <a:schemeClr val="dk1"/>
              </a:solidFill>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latin typeface="Calibri"/>
                <a:ea typeface="Calibri"/>
                <a:cs typeface="Calibri"/>
                <a:sym typeface="Calibri"/>
              </a:rPr>
              <a:t>Cloud architecture, fin-tech, application security</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p>
            <a:pPr marL="0" lvl="0" indent="0" algn="l" rtl="0">
              <a:spcBef>
                <a:spcPts val="0"/>
              </a:spcBef>
              <a:spcAft>
                <a:spcPts val="0"/>
              </a:spcAft>
              <a:buNone/>
            </a:pPr>
            <a:r>
              <a:rPr lang="en" sz="1600">
                <a:latin typeface="Calibri"/>
                <a:ea typeface="Calibri"/>
                <a:cs typeface="Calibri"/>
                <a:sym typeface="Calibri"/>
              </a:rPr>
              <a:t>Find/connect: Linkedin, GitHub, YouTube, Google</a:t>
            </a:r>
            <a:endParaRPr sz="1600">
              <a:latin typeface="Calibri"/>
              <a:ea typeface="Calibri"/>
              <a:cs typeface="Calibri"/>
              <a:sym typeface="Calibri"/>
            </a:endParaRPr>
          </a:p>
        </p:txBody>
      </p:sp>
      <p:pic>
        <p:nvPicPr>
          <p:cNvPr id="64" name="Google Shape;64;p1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010941" y="3664175"/>
            <a:ext cx="1144600" cy="415875"/>
          </a:xfrm>
          <a:prstGeom prst="rect">
            <a:avLst/>
          </a:prstGeom>
          <a:noFill/>
          <a:ln>
            <a:noFill/>
          </a:ln>
        </p:spPr>
      </p:pic>
      <p:sp>
        <p:nvSpPr>
          <p:cNvPr id="65" name="Google Shape;65;p14"/>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a:solidFill>
                  <a:schemeClr val="hlink"/>
                </a:solidFill>
                <a:latin typeface="Calibri"/>
                <a:ea typeface="Calibri"/>
                <a:cs typeface="Calibri"/>
                <a:sym typeface="Calibri"/>
                <a:hlinkClick r:id="rId5"/>
              </a:rPr>
              <a:t>https://eais.ai</a:t>
            </a:r>
            <a:r>
              <a:rPr lang="en" sz="1600">
                <a:latin typeface="Calibri"/>
                <a:ea typeface="Calibri"/>
                <a:cs typeface="Calibri"/>
                <a:sym typeface="Calibri"/>
              </a:rPr>
              <a:t> </a:t>
            </a:r>
            <a:endParaRPr sz="16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p:nvPr/>
        </p:nvSpPr>
        <p:spPr>
          <a:xfrm>
            <a:off x="72300" y="0"/>
            <a:ext cx="1689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Mistral-Next</a:t>
            </a:r>
            <a:endParaRPr sz="2000" b="1">
              <a:latin typeface="Calibri"/>
              <a:ea typeface="Calibri"/>
              <a:cs typeface="Calibri"/>
              <a:sym typeface="Calibri"/>
            </a:endParaRPr>
          </a:p>
        </p:txBody>
      </p:sp>
      <p:sp>
        <p:nvSpPr>
          <p:cNvPr id="71" name="Google Shape;71;p15"/>
          <p:cNvSpPr txBox="1"/>
          <p:nvPr/>
        </p:nvSpPr>
        <p:spPr>
          <a:xfrm>
            <a:off x="72300" y="783600"/>
            <a:ext cx="4133400" cy="318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Good video demo</a:t>
            </a:r>
            <a:r>
              <a:rPr lang="en" sz="1000">
                <a:latin typeface="Calibri"/>
                <a:ea typeface="Calibri"/>
                <a:cs typeface="Calibri"/>
                <a:sym typeface="Calibri"/>
              </a:rPr>
              <a:t> - </a:t>
            </a:r>
            <a:r>
              <a:rPr lang="en" sz="1000" u="sng">
                <a:solidFill>
                  <a:schemeClr val="hlink"/>
                </a:solidFill>
                <a:latin typeface="Calibri"/>
                <a:ea typeface="Calibri"/>
                <a:cs typeface="Calibri"/>
                <a:sym typeface="Calibri"/>
                <a:hlinkClick r:id="rId3"/>
              </a:rPr>
              <a:t>https://www.youtube.com/watch?v=o4yoPEjIYRk</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My short video</a:t>
            </a:r>
            <a:r>
              <a:rPr lang="en" sz="1000">
                <a:latin typeface="Calibri"/>
                <a:ea typeface="Calibri"/>
                <a:cs typeface="Calibri"/>
                <a:sym typeface="Calibri"/>
              </a:rPr>
              <a:t> - </a:t>
            </a:r>
            <a:r>
              <a:rPr lang="en" sz="1000" u="sng">
                <a:solidFill>
                  <a:schemeClr val="hlink"/>
                </a:solidFill>
                <a:latin typeface="Calibri"/>
                <a:ea typeface="Calibri"/>
                <a:cs typeface="Calibri"/>
                <a:sym typeface="Calibri"/>
                <a:hlinkClick r:id="rId4"/>
              </a:rPr>
              <a:t>https://www.youtube.com/watch?v=vf2NBdjJ40k</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Go to </a:t>
            </a:r>
            <a:r>
              <a:rPr lang="en" sz="1300" u="sng">
                <a:solidFill>
                  <a:schemeClr val="hlink"/>
                </a:solidFill>
                <a:latin typeface="Calibri"/>
                <a:ea typeface="Calibri"/>
                <a:cs typeface="Calibri"/>
                <a:sym typeface="Calibri"/>
                <a:hlinkClick r:id="rId5"/>
              </a:rPr>
              <a:t>https://chat.lmsys.org</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Click on "Direct Chat" tab on the top</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Under "Choose any model to chat" select "mistral-next"</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Note: it is an experimental model and might have unpredictable behavior.</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Note: it doesn't have access to recent data. I asked it about RAGAs, RAG, Llama, llama.cpp, ChatGPT, etc. - it didn't know any of these.</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It is uncensored (answers how to break into a car).</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It is very good at logic and reasoning</a:t>
            </a:r>
            <a:endParaRPr sz="1300">
              <a:latin typeface="Calibri"/>
              <a:ea typeface="Calibri"/>
              <a:cs typeface="Calibri"/>
              <a:sym typeface="Calibri"/>
            </a:endParaRPr>
          </a:p>
        </p:txBody>
      </p:sp>
      <p:pic>
        <p:nvPicPr>
          <p:cNvPr id="72" name="Google Shape;72;p15"/>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5113125" y="783600"/>
            <a:ext cx="3944700" cy="1692040"/>
          </a:xfrm>
          <a:prstGeom prst="rect">
            <a:avLst/>
          </a:prstGeom>
          <a:noFill/>
          <a:ln w="9525" cap="flat" cmpd="sng">
            <a:solidFill>
              <a:srgbClr val="FF0000"/>
            </a:solidFill>
            <a:prstDash val="solid"/>
            <a:round/>
            <a:headEnd type="none" w="sm" len="sm"/>
            <a:tailEnd type="none" w="sm" len="sm"/>
          </a:ln>
        </p:spPr>
      </p:pic>
      <p:sp>
        <p:nvSpPr>
          <p:cNvPr id="73" name="Google Shape;73;p15"/>
          <p:cNvSpPr/>
          <p:nvPr/>
        </p:nvSpPr>
        <p:spPr>
          <a:xfrm>
            <a:off x="4619275" y="1785325"/>
            <a:ext cx="364800" cy="114000"/>
          </a:xfrm>
          <a:prstGeom prst="rightArrow">
            <a:avLst>
              <a:gd name="adj1" fmla="val 50000"/>
              <a:gd name="adj2" fmla="val 50000"/>
            </a:avLst>
          </a:prstGeom>
          <a:solidFill>
            <a:schemeClr val="lt2"/>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4" name="Google Shape;74;p1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113125" y="2476708"/>
            <a:ext cx="3944700" cy="165724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p:nvPr/>
        </p:nvSpPr>
        <p:spPr>
          <a:xfrm>
            <a:off x="72300" y="0"/>
            <a:ext cx="4499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Google open LLMs - Gemma 2B &amp; 7B</a:t>
            </a:r>
            <a:endParaRPr sz="2000" b="1">
              <a:latin typeface="Calibri"/>
              <a:ea typeface="Calibri"/>
              <a:cs typeface="Calibri"/>
              <a:sym typeface="Calibri"/>
            </a:endParaRPr>
          </a:p>
        </p:txBody>
      </p:sp>
      <p:sp>
        <p:nvSpPr>
          <p:cNvPr id="80" name="Google Shape;80;p16"/>
          <p:cNvSpPr txBox="1"/>
          <p:nvPr/>
        </p:nvSpPr>
        <p:spPr>
          <a:xfrm>
            <a:off x="72300" y="351641"/>
            <a:ext cx="5931900" cy="458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6850" algn="l" rtl="0">
              <a:spcBef>
                <a:spcPts val="0"/>
              </a:spcBef>
              <a:spcAft>
                <a:spcPts val="0"/>
              </a:spcAft>
              <a:buSzPts val="1300"/>
              <a:buFont typeface="Calibri"/>
              <a:buChar char="●"/>
            </a:pPr>
            <a:r>
              <a:rPr lang="en" sz="1300">
                <a:latin typeface="Calibri"/>
                <a:ea typeface="Calibri"/>
                <a:cs typeface="Calibri"/>
                <a:sym typeface="Calibri"/>
              </a:rPr>
              <a:t>Google open-sourced Gemma LLMs with 2B and 7B parameters on Kaggle and Huggingface - </a:t>
            </a:r>
            <a:r>
              <a:rPr lang="en" sz="1300" u="sng">
                <a:solidFill>
                  <a:schemeClr val="hlink"/>
                </a:solidFill>
                <a:latin typeface="Calibri"/>
                <a:ea typeface="Calibri"/>
                <a:cs typeface="Calibri"/>
                <a:sym typeface="Calibri"/>
                <a:hlinkClick r:id="rId3"/>
              </a:rPr>
              <a:t>https://blog.google/technology/developers/gemma-open-models/</a:t>
            </a:r>
            <a:r>
              <a:rPr lang="en" sz="1300">
                <a:latin typeface="Calibri"/>
                <a:ea typeface="Calibri"/>
                <a:cs typeface="Calibri"/>
                <a:sym typeface="Calibri"/>
              </a:rPr>
              <a:t>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4"/>
              </a:rPr>
              <a:t>https://www.youtube.com/watch?v=UM2arC3EzEI</a:t>
            </a:r>
            <a:r>
              <a:rPr lang="en" sz="1300">
                <a:latin typeface="Calibri"/>
                <a:ea typeface="Calibri"/>
                <a:cs typeface="Calibri"/>
                <a:sym typeface="Calibri"/>
              </a:rPr>
              <a:t> - short video</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According to Google, it is better than Llama2 7b and 13b, and even Mistral-7b</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According to independent tests: </a:t>
            </a:r>
            <a:r>
              <a:rPr lang="en" sz="1300" u="sng">
                <a:solidFill>
                  <a:schemeClr val="hlink"/>
                </a:solidFill>
                <a:latin typeface="Calibri"/>
                <a:ea typeface="Calibri"/>
                <a:cs typeface="Calibri"/>
                <a:sym typeface="Calibri"/>
                <a:hlinkClick r:id="rId5"/>
              </a:rPr>
              <a:t>https://www.youtube.com/watch?v=1Mn0U6HGLeg</a:t>
            </a:r>
            <a:r>
              <a:rPr lang="en" sz="1300">
                <a:latin typeface="Calibri"/>
                <a:ea typeface="Calibri"/>
                <a:cs typeface="Calibri"/>
                <a:sym typeface="Calibri"/>
              </a:rPr>
              <a:t> - </a:t>
            </a:r>
            <a:r>
              <a:rPr lang="en" sz="1300">
                <a:solidFill>
                  <a:schemeClr val="dk1"/>
                </a:solidFill>
                <a:latin typeface="Calibri"/>
                <a:ea typeface="Calibri"/>
                <a:cs typeface="Calibri"/>
                <a:sym typeface="Calibri"/>
              </a:rPr>
              <a:t>"SHOCKINGLY BAD"</a:t>
            </a:r>
            <a:br>
              <a:rPr lang="en" sz="1300">
                <a:latin typeface="Calibri"/>
                <a:ea typeface="Calibri"/>
                <a:cs typeface="Calibri"/>
                <a:sym typeface="Calibri"/>
              </a:rPr>
            </a:br>
            <a:r>
              <a:rPr lang="en" sz="1300" u="sng">
                <a:solidFill>
                  <a:schemeClr val="hlink"/>
                </a:solidFill>
                <a:latin typeface="Calibri"/>
                <a:ea typeface="Calibri"/>
                <a:cs typeface="Calibri"/>
                <a:sym typeface="Calibri"/>
                <a:hlinkClick r:id="rId6"/>
              </a:rPr>
              <a:t>https://www.youtube.com/watch?v=eC_Qn8t2p2E</a:t>
            </a:r>
            <a:r>
              <a:rPr lang="en" sz="1300">
                <a:latin typeface="Calibri"/>
                <a:ea typeface="Calibri"/>
                <a:cs typeface="Calibri"/>
                <a:sym typeface="Calibri"/>
              </a:rPr>
              <a:t> - not on the level of Mistral-7B</a:t>
            </a:r>
            <a:br>
              <a:rPr lang="en" sz="1300">
                <a:latin typeface="Calibri"/>
                <a:ea typeface="Calibri"/>
                <a:cs typeface="Calibri"/>
                <a:sym typeface="Calibri"/>
              </a:rPr>
            </a:b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The size of download are surprisingly big - 34GB for a 7b model in gguf format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Providing toolchains for inference and supervised fine-tuning (SFT) across all major frameworks: JAX, PyTorch, and TensorFlow through native Keras 3.0.</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Ready-to-use Colab and Kaggle notebooks, alongside integration with popular tools such as Hugging Face, MaxText, NVIDIA NeMo and TensorRT-LLM, make it easy to get started with Gemma.</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Pre-trained and instruction-tuned Gemma models can run on your laptop, workstation, or Google Cloud with easy deployment on Vertex AI and Google Kubernetes Engine (GKE).</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Optimization across multiple AI hardware platforms ensures industry-leading performance, including NVIDIA GPUs and Google Cloud TPUs.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Terms of use permit responsible commercial usage and distribution for all organizations, regardless of size.</a:t>
            </a:r>
            <a:endParaRPr sz="1300">
              <a:latin typeface="Calibri"/>
              <a:ea typeface="Calibri"/>
              <a:cs typeface="Calibri"/>
              <a:sym typeface="Calibri"/>
            </a:endParaRPr>
          </a:p>
        </p:txBody>
      </p:sp>
      <p:pic>
        <p:nvPicPr>
          <p:cNvPr id="81" name="Google Shape;81;p16"/>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6427375" y="88600"/>
            <a:ext cx="2618200" cy="21063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p:nvPr/>
        </p:nvSpPr>
        <p:spPr>
          <a:xfrm>
            <a:off x="72300" y="0"/>
            <a:ext cx="4499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OpenAI World Simulation</a:t>
            </a:r>
            <a:endParaRPr sz="2000" b="1">
              <a:latin typeface="Calibri"/>
              <a:ea typeface="Calibri"/>
              <a:cs typeface="Calibri"/>
              <a:sym typeface="Calibri"/>
            </a:endParaRPr>
          </a:p>
        </p:txBody>
      </p:sp>
      <p:sp>
        <p:nvSpPr>
          <p:cNvPr id="87" name="Google Shape;87;p17"/>
          <p:cNvSpPr txBox="1"/>
          <p:nvPr/>
        </p:nvSpPr>
        <p:spPr>
          <a:xfrm>
            <a:off x="257650" y="412900"/>
            <a:ext cx="38352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https://openai.com/sora</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OpenAI's "World Simulator"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a:t>
            </a:r>
            <a:r>
              <a:rPr lang="en" sz="1300" u="sng">
                <a:solidFill>
                  <a:schemeClr val="hlink"/>
                </a:solidFill>
                <a:latin typeface="Calibri"/>
                <a:ea typeface="Calibri"/>
                <a:cs typeface="Calibri"/>
                <a:sym typeface="Calibri"/>
                <a:hlinkClick r:id="rId4"/>
              </a:rPr>
              <a:t>https://www.youtube.com/watch?v=BH9FU7Gd6v8</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Video generation models as world simulators</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https://openai.com/research/video-generation-models-as-world-simulators</a:t>
            </a:r>
            <a:r>
              <a:rPr lang="en" sz="1300">
                <a:latin typeface="Calibri"/>
                <a:ea typeface="Calibri"/>
                <a:cs typeface="Calibri"/>
                <a:sym typeface="Calibri"/>
              </a:rPr>
              <a:t> </a:t>
            </a:r>
            <a:endParaRPr sz="1300">
              <a:latin typeface="Calibri"/>
              <a:ea typeface="Calibri"/>
              <a:cs typeface="Calibri"/>
              <a:sym typeface="Calibri"/>
            </a:endParaRPr>
          </a:p>
        </p:txBody>
      </p:sp>
      <p:pic>
        <p:nvPicPr>
          <p:cNvPr id="88" name="Google Shape;88;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320846" y="108276"/>
            <a:ext cx="3741725" cy="2097299"/>
          </a:xfrm>
          <a:prstGeom prst="rect">
            <a:avLst/>
          </a:prstGeom>
          <a:noFill/>
          <a:ln>
            <a:noFill/>
          </a:ln>
        </p:spPr>
      </p:pic>
      <p:sp>
        <p:nvSpPr>
          <p:cNvPr id="89" name="Google Shape;89;p17"/>
          <p:cNvSpPr txBox="1"/>
          <p:nvPr/>
        </p:nvSpPr>
        <p:spPr>
          <a:xfrm>
            <a:off x="257625" y="3293575"/>
            <a:ext cx="3835200" cy="118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7"/>
              </a:rPr>
              <a:t>https://stability.ai/news/stable-diffusion-3</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Stable Diffusion 3 is in early preview stage.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Up to 8 Bln parameters!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It may use some concepts from </a:t>
            </a:r>
            <a:r>
              <a:rPr lang="en" sz="1300">
                <a:latin typeface="Calibri"/>
                <a:ea typeface="Calibri"/>
                <a:cs typeface="Calibri"/>
                <a:sym typeface="Calibri"/>
              </a:rPr>
              <a:t>Stability.AI Cascade model.</a:t>
            </a:r>
            <a:endParaRPr sz="1300">
              <a:latin typeface="Calibri"/>
              <a:ea typeface="Calibri"/>
              <a:cs typeface="Calibri"/>
              <a:sym typeface="Calibri"/>
            </a:endParaRPr>
          </a:p>
        </p:txBody>
      </p:sp>
      <p:sp>
        <p:nvSpPr>
          <p:cNvPr id="90" name="Google Shape;90;p17"/>
          <p:cNvSpPr txBox="1"/>
          <p:nvPr/>
        </p:nvSpPr>
        <p:spPr>
          <a:xfrm>
            <a:off x="72300" y="2888375"/>
            <a:ext cx="4499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Stable Diffusion 3</a:t>
            </a:r>
            <a:endParaRPr sz="2000" b="1">
              <a:latin typeface="Calibri"/>
              <a:ea typeface="Calibri"/>
              <a:cs typeface="Calibri"/>
              <a:sym typeface="Calibri"/>
            </a:endParaRPr>
          </a:p>
        </p:txBody>
      </p:sp>
      <p:pic>
        <p:nvPicPr>
          <p:cNvPr id="91" name="Google Shape;91;p1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572000" y="3462025"/>
            <a:ext cx="4499702" cy="84838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p:nvPr/>
        </p:nvSpPr>
        <p:spPr>
          <a:xfrm>
            <a:off x="72300" y="0"/>
            <a:ext cx="4362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 1</a:t>
            </a:r>
            <a:endParaRPr sz="2000" b="1">
              <a:latin typeface="Calibri"/>
              <a:ea typeface="Calibri"/>
              <a:cs typeface="Calibri"/>
              <a:sym typeface="Calibri"/>
            </a:endParaRPr>
          </a:p>
        </p:txBody>
      </p:sp>
      <p:sp>
        <p:nvSpPr>
          <p:cNvPr id="97" name="Google Shape;97;p18"/>
          <p:cNvSpPr txBox="1"/>
          <p:nvPr/>
        </p:nvSpPr>
        <p:spPr>
          <a:xfrm>
            <a:off x="72300" y="326400"/>
            <a:ext cx="41334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Jeff Dean (Google): </a:t>
            </a:r>
            <a:r>
              <a:rPr lang="en" sz="1300" b="1">
                <a:solidFill>
                  <a:srgbClr val="FF0000"/>
                </a:solidFill>
                <a:latin typeface="Calibri"/>
                <a:ea typeface="Calibri"/>
                <a:cs typeface="Calibri"/>
                <a:sym typeface="Calibri"/>
              </a:rPr>
              <a:t>"Exciting Trends in Machine Learning"</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https://www.youtube.com/watch?v=oSCRZkSQ1CE</a:t>
            </a:r>
            <a:endParaRPr sz="1300">
              <a:latin typeface="Calibri"/>
              <a:ea typeface="Calibri"/>
              <a:cs typeface="Calibri"/>
              <a:sym typeface="Calibri"/>
            </a:endParaRPr>
          </a:p>
        </p:txBody>
      </p:sp>
      <p:pic>
        <p:nvPicPr>
          <p:cNvPr id="98" name="Google Shape;98;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71999" y="98925"/>
            <a:ext cx="2409748" cy="1267225"/>
          </a:xfrm>
          <a:prstGeom prst="rect">
            <a:avLst/>
          </a:prstGeom>
          <a:noFill/>
          <a:ln w="9525" cap="flat" cmpd="sng">
            <a:solidFill>
              <a:srgbClr val="FF0000"/>
            </a:solidFill>
            <a:prstDash val="solid"/>
            <a:round/>
            <a:headEnd type="none" w="sm" len="sm"/>
            <a:tailEnd type="none" w="sm" len="sm"/>
          </a:ln>
        </p:spPr>
      </p:pic>
      <p:sp>
        <p:nvSpPr>
          <p:cNvPr id="99" name="Google Shape;99;p18"/>
          <p:cNvSpPr txBox="1"/>
          <p:nvPr/>
        </p:nvSpPr>
        <p:spPr>
          <a:xfrm>
            <a:off x="92850" y="2931750"/>
            <a:ext cx="4133400" cy="213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https://huggingface.co/datasets/nvidia/OpenMathInstruct-1</a:t>
            </a:r>
            <a:endParaRPr sz="10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Dataset </a:t>
            </a:r>
            <a:r>
              <a:rPr lang="en" sz="1300" b="1">
                <a:solidFill>
                  <a:srgbClr val="FF0000"/>
                </a:solidFill>
                <a:latin typeface="Calibri"/>
                <a:ea typeface="Calibri"/>
                <a:cs typeface="Calibri"/>
                <a:sym typeface="Calibri"/>
              </a:rPr>
              <a:t>OpenMath Instruct-1 by Nvidia</a:t>
            </a:r>
            <a:endParaRPr sz="1300" b="1">
              <a:solidFill>
                <a:srgbClr val="FF0000"/>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1.8 Mln Problem-Solution (synthetic) pairs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Uses GSM8K &amp; MATH training subsets.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Uses Mixtral 8x7B to produce the pairs.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Leverages both text reasoning + code interpreter during generation.</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Released LLama, CodeLlama, Mistral, Mixtral fine-tunes along with.</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Apache 2.0 licensed!</a:t>
            </a:r>
            <a:endParaRPr sz="1300">
              <a:latin typeface="Calibri"/>
              <a:ea typeface="Calibri"/>
              <a:cs typeface="Calibri"/>
              <a:sym typeface="Calibri"/>
            </a:endParaRPr>
          </a:p>
        </p:txBody>
      </p:sp>
      <p:pic>
        <p:nvPicPr>
          <p:cNvPr id="100" name="Google Shape;100;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316725" y="1600825"/>
            <a:ext cx="3689381" cy="939000"/>
          </a:xfrm>
          <a:prstGeom prst="rect">
            <a:avLst/>
          </a:prstGeom>
          <a:noFill/>
          <a:ln w="9525" cap="flat" cmpd="sng">
            <a:solidFill>
              <a:srgbClr val="FF0000"/>
            </a:solidFill>
            <a:prstDash val="solid"/>
            <a:round/>
            <a:headEnd type="none" w="sm" len="sm"/>
            <a:tailEnd type="none" w="sm" len="sm"/>
          </a:ln>
        </p:spPr>
      </p:pic>
      <p:sp>
        <p:nvSpPr>
          <p:cNvPr id="101" name="Google Shape;101;p18"/>
          <p:cNvSpPr txBox="1"/>
          <p:nvPr/>
        </p:nvSpPr>
        <p:spPr>
          <a:xfrm>
            <a:off x="72300" y="963450"/>
            <a:ext cx="4133400" cy="133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minbpe from Andrej Karpathy</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Minimal, clean code for the (byte-level) Byte Pair Encoding (BPE) algorithm commonly used in LLM tokenization.</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7"/>
              </a:rPr>
              <a:t>https://github.com/karpathy/minbpe</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gpt4.py is only 37 lines of python code!</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8"/>
              </a:rPr>
              <a:t>https://twitter.com/AlphaSignalAI/status/1759259191292592530</a:t>
            </a:r>
            <a:r>
              <a:rPr lang="en" sz="1000">
                <a:latin typeface="Calibri"/>
                <a:ea typeface="Calibri"/>
                <a:cs typeface="Calibri"/>
                <a:sym typeface="Calibri"/>
              </a:rPr>
              <a:t> </a:t>
            </a:r>
            <a:endParaRPr sz="1000">
              <a:latin typeface="Calibri"/>
              <a:ea typeface="Calibri"/>
              <a:cs typeface="Calibri"/>
              <a:sym typeface="Calibri"/>
            </a:endParaRPr>
          </a:p>
        </p:txBody>
      </p:sp>
      <p:sp>
        <p:nvSpPr>
          <p:cNvPr id="102" name="Google Shape;102;p18"/>
          <p:cNvSpPr txBox="1"/>
          <p:nvPr/>
        </p:nvSpPr>
        <p:spPr>
          <a:xfrm>
            <a:off x="4316725" y="4132350"/>
            <a:ext cx="4706100" cy="93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9"/>
              </a:rPr>
              <a:t>https://cohere.com/research/aya</a:t>
            </a:r>
            <a:endParaRPr sz="1000">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Aya</a:t>
            </a:r>
            <a:r>
              <a:rPr lang="en" sz="1300">
                <a:latin typeface="Calibri"/>
                <a:ea typeface="Calibri"/>
                <a:cs typeface="Calibri"/>
                <a:sym typeface="Calibri"/>
              </a:rPr>
              <a:t> - open-source multilingual project, LLM and dataset, 101 languages, a global initiative led by </a:t>
            </a:r>
            <a:r>
              <a:rPr lang="en" sz="1300" b="1">
                <a:solidFill>
                  <a:srgbClr val="FF0000"/>
                </a:solidFill>
                <a:latin typeface="Calibri"/>
                <a:ea typeface="Calibri"/>
                <a:cs typeface="Calibri"/>
                <a:sym typeface="Calibri"/>
              </a:rPr>
              <a:t>Cohere For AI</a:t>
            </a:r>
            <a:r>
              <a:rPr lang="en" sz="1300">
                <a:latin typeface="Calibri"/>
                <a:ea typeface="Calibri"/>
                <a:cs typeface="Calibri"/>
                <a:sym typeface="Calibri"/>
              </a:rPr>
              <a:t> involving over 3,000 independent researchers across 119 countries</a:t>
            </a:r>
            <a:endParaRPr sz="1300">
              <a:latin typeface="Calibri"/>
              <a:ea typeface="Calibri"/>
              <a:cs typeface="Calibri"/>
              <a:sym typeface="Calibri"/>
            </a:endParaRPr>
          </a:p>
        </p:txBody>
      </p:sp>
      <p:pic>
        <p:nvPicPr>
          <p:cNvPr id="103" name="Google Shape;103;p18"/>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333450" y="2599213"/>
            <a:ext cx="3689375" cy="14737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p:nvPr/>
        </p:nvSpPr>
        <p:spPr>
          <a:xfrm>
            <a:off x="72300" y="449300"/>
            <a:ext cx="4362600" cy="149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10M context kills RAG. A context window of 10M tokens effectively makes most of existing RAG frameworks unnecessary. A startup killer !? </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https://twitter.com/Francis_YAO_/status/1758934303655030929</a:t>
            </a:r>
            <a:endParaRPr sz="10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But what about the costs?</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https://twitter.com/skeptrune/status/1759034741658185785</a:t>
            </a:r>
            <a:r>
              <a:rPr lang="en" sz="1000">
                <a:latin typeface="Calibri"/>
                <a:ea typeface="Calibri"/>
                <a:cs typeface="Calibri"/>
                <a:sym typeface="Calibri"/>
              </a:rPr>
              <a:t> </a:t>
            </a:r>
            <a:endParaRPr sz="1000">
              <a:latin typeface="Calibri"/>
              <a:ea typeface="Calibri"/>
              <a:cs typeface="Calibri"/>
              <a:sym typeface="Calibri"/>
            </a:endParaRPr>
          </a:p>
        </p:txBody>
      </p:sp>
      <p:pic>
        <p:nvPicPr>
          <p:cNvPr id="109" name="Google Shape;109;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572000" y="90444"/>
            <a:ext cx="3626500" cy="3671831"/>
          </a:xfrm>
          <a:prstGeom prst="rect">
            <a:avLst/>
          </a:prstGeom>
          <a:noFill/>
          <a:ln w="9525" cap="flat" cmpd="sng">
            <a:solidFill>
              <a:srgbClr val="FF0000"/>
            </a:solidFill>
            <a:prstDash val="solid"/>
            <a:round/>
            <a:headEnd type="none" w="sm" len="sm"/>
            <a:tailEnd type="none" w="sm" len="sm"/>
          </a:ln>
        </p:spPr>
      </p:pic>
      <p:sp>
        <p:nvSpPr>
          <p:cNvPr id="110" name="Google Shape;110;p19"/>
          <p:cNvSpPr txBox="1"/>
          <p:nvPr/>
        </p:nvSpPr>
        <p:spPr>
          <a:xfrm>
            <a:off x="72300" y="0"/>
            <a:ext cx="4362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 2</a:t>
            </a:r>
            <a:endParaRPr sz="2000" b="1">
              <a:latin typeface="Calibri"/>
              <a:ea typeface="Calibri"/>
              <a:cs typeface="Calibri"/>
              <a:sym typeface="Calibri"/>
            </a:endParaRPr>
          </a:p>
        </p:txBody>
      </p:sp>
      <p:sp>
        <p:nvSpPr>
          <p:cNvPr id="111" name="Google Shape;111;p19"/>
          <p:cNvSpPr txBox="1"/>
          <p:nvPr/>
        </p:nvSpPr>
        <p:spPr>
          <a:xfrm>
            <a:off x="72300" y="2110475"/>
            <a:ext cx="4362600" cy="144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u="sng">
                <a:solidFill>
                  <a:schemeClr val="accent5"/>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https://twitter.com/ylecun/status/1758760027203006952</a:t>
            </a:r>
            <a:r>
              <a:rPr lang="en" sz="1000">
                <a:solidFill>
                  <a:schemeClr val="dk1"/>
                </a:solidFill>
                <a:latin typeface="Calibri"/>
                <a:ea typeface="Calibri"/>
                <a:cs typeface="Calibri"/>
                <a:sym typeface="Calibri"/>
              </a:rPr>
              <a:t> </a:t>
            </a:r>
            <a:br>
              <a:rPr lang="en" sz="1000">
                <a:solidFill>
                  <a:schemeClr val="dk1"/>
                </a:solidFill>
                <a:latin typeface="Calibri"/>
                <a:ea typeface="Calibri"/>
                <a:cs typeface="Calibri"/>
                <a:sym typeface="Calibri"/>
              </a:rPr>
            </a:br>
            <a:r>
              <a:rPr lang="en" sz="1300">
                <a:latin typeface="Calibri"/>
                <a:ea typeface="Calibri"/>
                <a:cs typeface="Calibri"/>
                <a:sym typeface="Calibri"/>
              </a:rPr>
              <a:t>This paper is the basis for SORA:</a:t>
            </a:r>
            <a:endParaRPr sz="1300">
              <a:latin typeface="Calibri"/>
              <a:ea typeface="Calibri"/>
              <a:cs typeface="Calibri"/>
              <a:sym typeface="Calibri"/>
            </a:endParaRPr>
          </a:p>
          <a:p>
            <a:pPr marL="0" lvl="0" indent="0" algn="l" rtl="0">
              <a:spcBef>
                <a:spcPts val="0"/>
              </a:spcBef>
              <a:spcAft>
                <a:spcPts val="0"/>
              </a:spcAft>
              <a:buNone/>
            </a:pPr>
            <a:br>
              <a:rPr lang="en" sz="1300">
                <a:latin typeface="Calibri"/>
                <a:ea typeface="Calibri"/>
                <a:cs typeface="Calibri"/>
                <a:sym typeface="Calibri"/>
              </a:rPr>
            </a:br>
            <a:r>
              <a:rPr lang="en" sz="1300">
                <a:latin typeface="Calibri"/>
                <a:ea typeface="Calibri"/>
                <a:cs typeface="Calibri"/>
                <a:sym typeface="Calibri"/>
              </a:rPr>
              <a:t>"Scalable Diffusion Models with Transformers"</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7"/>
              </a:rPr>
              <a:t>https://openaccess.thecvf.com/content/ICCV2023/html/Peebles_Scalable_Diffusion_Models_with_Transformers_ICCV_2023_paper.html</a:t>
            </a:r>
            <a:endParaRPr sz="10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by William Peebles (UC Berkeley) and Saining Xie (NYU)</a:t>
            </a:r>
            <a:endParaRPr sz="1300">
              <a:latin typeface="Calibri"/>
              <a:ea typeface="Calibri"/>
              <a:cs typeface="Calibri"/>
              <a:sym typeface="Calibri"/>
            </a:endParaRPr>
          </a:p>
        </p:txBody>
      </p:sp>
      <p:sp>
        <p:nvSpPr>
          <p:cNvPr id="112" name="Google Shape;112;p19"/>
          <p:cNvSpPr txBox="1"/>
          <p:nvPr/>
        </p:nvSpPr>
        <p:spPr>
          <a:xfrm>
            <a:off x="72300" y="3725450"/>
            <a:ext cx="4362600" cy="118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"AI-Augmented Predictions: LLM Assistants Improve Human Forecasting Accuracy" - </a:t>
            </a:r>
            <a:r>
              <a:rPr lang="en" sz="1000" u="sng">
                <a:solidFill>
                  <a:schemeClr val="hlink"/>
                </a:solidFill>
                <a:latin typeface="Calibri"/>
                <a:ea typeface="Calibri"/>
                <a:cs typeface="Calibri"/>
                <a:sym typeface="Calibri"/>
                <a:hlinkClick r:id="rId8"/>
              </a:rPr>
              <a:t>https://arxiv.org/pdf/2402.07862.pdf</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Both biased and unbiased LLM assistants helped humans make much better forecasts and improved their accuracy:</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Unbiased - by 43%, biased - by 28%</a:t>
            </a:r>
            <a:endParaRPr sz="1300">
              <a:latin typeface="Calibri"/>
              <a:ea typeface="Calibri"/>
              <a:cs typeface="Calibri"/>
              <a:sym typeface="Calibri"/>
            </a:endParaRPr>
          </a:p>
        </p:txBody>
      </p:sp>
      <p:sp>
        <p:nvSpPr>
          <p:cNvPr id="113" name="Google Shape;113;p19"/>
          <p:cNvSpPr txBox="1"/>
          <p:nvPr/>
        </p:nvSpPr>
        <p:spPr>
          <a:xfrm>
            <a:off x="4572000" y="4010981"/>
            <a:ext cx="4362600" cy="89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OpenAI Reaches $80 Billion Valuation In Venture Firm Deal</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a nearly 3x increase in value from just 9 months ago.</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9"/>
              </a:rPr>
              <a:t>https://www.forbes.com/sites/antoniopequenoiv/2024/02/16/openai-reaches-80-billion-valuation-in-venture-firm-deal-report-says/</a:t>
            </a:r>
            <a:r>
              <a:rPr lang="en" sz="1000">
                <a:latin typeface="Calibri"/>
                <a:ea typeface="Calibri"/>
                <a:cs typeface="Calibri"/>
                <a:sym typeface="Calibri"/>
              </a:rPr>
              <a:t> </a:t>
            </a:r>
            <a:endParaRPr sz="10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p:nvPr/>
        </p:nvSpPr>
        <p:spPr>
          <a:xfrm>
            <a:off x="72300" y="0"/>
            <a:ext cx="4362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LangChain - Startup</a:t>
            </a:r>
            <a:endParaRPr sz="2000" b="1">
              <a:latin typeface="Calibri"/>
              <a:ea typeface="Calibri"/>
              <a:cs typeface="Calibri"/>
              <a:sym typeface="Calibri"/>
            </a:endParaRPr>
          </a:p>
        </p:txBody>
      </p:sp>
      <p:sp>
        <p:nvSpPr>
          <p:cNvPr id="119" name="Google Shape;119;p20"/>
          <p:cNvSpPr txBox="1"/>
          <p:nvPr/>
        </p:nvSpPr>
        <p:spPr>
          <a:xfrm>
            <a:off x="72301" y="478800"/>
            <a:ext cx="3180600" cy="89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6850" algn="l" rtl="0">
              <a:spcBef>
                <a:spcPts val="0"/>
              </a:spcBef>
              <a:spcAft>
                <a:spcPts val="0"/>
              </a:spcAft>
              <a:buSzPts val="1300"/>
              <a:buFont typeface="Calibri"/>
              <a:buChar char="●"/>
            </a:pPr>
            <a:r>
              <a:rPr lang="en" sz="1300">
                <a:latin typeface="Calibri"/>
                <a:ea typeface="Calibri"/>
                <a:cs typeface="Calibri"/>
                <a:sym typeface="Calibri"/>
              </a:rPr>
              <a:t>LangChain is now a startup</a:t>
            </a:r>
            <a:br>
              <a:rPr lang="en" sz="1300">
                <a:latin typeface="Calibri"/>
                <a:ea typeface="Calibri"/>
                <a:cs typeface="Calibri"/>
                <a:sym typeface="Calibri"/>
              </a:rPr>
            </a:br>
            <a:r>
              <a:rPr lang="en" sz="1300">
                <a:latin typeface="Calibri"/>
                <a:ea typeface="Calibri"/>
                <a:cs typeface="Calibri"/>
                <a:sym typeface="Calibri"/>
              </a:rPr>
              <a:t>$25M Series A funding</a:t>
            </a:r>
            <a:endParaRPr sz="13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https://www.langchain.com</a:t>
            </a:r>
            <a:r>
              <a:rPr lang="en" sz="1000">
                <a:latin typeface="Calibri"/>
                <a:ea typeface="Calibri"/>
                <a:cs typeface="Calibri"/>
                <a:sym typeface="Calibri"/>
              </a:rPr>
              <a:t> </a:t>
            </a:r>
            <a:endParaRPr sz="10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https://github.com/langchain-ai/langchain</a:t>
            </a:r>
            <a:r>
              <a:rPr lang="en" sz="1000">
                <a:latin typeface="Calibri"/>
                <a:ea typeface="Calibri"/>
                <a:cs typeface="Calibri"/>
                <a:sym typeface="Calibri"/>
              </a:rPr>
              <a:t>  </a:t>
            </a:r>
            <a:endParaRPr sz="1000">
              <a:latin typeface="Calibri"/>
              <a:ea typeface="Calibri"/>
              <a:cs typeface="Calibri"/>
              <a:sym typeface="Calibri"/>
            </a:endParaRPr>
          </a:p>
        </p:txBody>
      </p:sp>
      <p:pic>
        <p:nvPicPr>
          <p:cNvPr id="120" name="Google Shape;120;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434900" y="702350"/>
            <a:ext cx="4612948" cy="1796992"/>
          </a:xfrm>
          <a:prstGeom prst="rect">
            <a:avLst/>
          </a:prstGeom>
          <a:noFill/>
          <a:ln>
            <a:noFill/>
          </a:ln>
        </p:spPr>
      </p:pic>
      <p:pic>
        <p:nvPicPr>
          <p:cNvPr id="121" name="Google Shape;121;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2300" y="1597200"/>
            <a:ext cx="2496900" cy="2442175"/>
          </a:xfrm>
          <a:prstGeom prst="rect">
            <a:avLst/>
          </a:prstGeom>
          <a:noFill/>
          <a:ln>
            <a:noFill/>
          </a:ln>
        </p:spPr>
      </p:pic>
      <p:pic>
        <p:nvPicPr>
          <p:cNvPr id="122" name="Google Shape;122;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774150" y="76196"/>
            <a:ext cx="2293650" cy="527725"/>
          </a:xfrm>
          <a:prstGeom prst="rect">
            <a:avLst/>
          </a:prstGeom>
          <a:noFill/>
          <a:ln>
            <a:noFill/>
          </a:ln>
        </p:spPr>
      </p:pic>
      <p:sp>
        <p:nvSpPr>
          <p:cNvPr id="123" name="Google Shape;123;p20"/>
          <p:cNvSpPr txBox="1"/>
          <p:nvPr/>
        </p:nvSpPr>
        <p:spPr>
          <a:xfrm>
            <a:off x="72297" y="4222450"/>
            <a:ext cx="3180600" cy="38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The biggest developer community in  GenAI</a:t>
            </a:r>
            <a:endParaRPr sz="1300">
              <a:latin typeface="Calibri"/>
              <a:ea typeface="Calibri"/>
              <a:cs typeface="Calibri"/>
              <a:sym typeface="Calibri"/>
            </a:endParaRPr>
          </a:p>
        </p:txBody>
      </p:sp>
      <p:sp>
        <p:nvSpPr>
          <p:cNvPr id="124" name="Google Shape;124;p20"/>
          <p:cNvSpPr txBox="1"/>
          <p:nvPr/>
        </p:nvSpPr>
        <p:spPr>
          <a:xfrm>
            <a:off x="4434897" y="3054175"/>
            <a:ext cx="3180600" cy="89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LangSmith - LLM application development, monitoring, and testing</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8"/>
              </a:rPr>
              <a:t>https://blog.langchain.dev/langsmith-ga/</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9"/>
              </a:rPr>
              <a:t>https://smith.langchain.com</a:t>
            </a:r>
            <a:r>
              <a:rPr lang="en" sz="1000">
                <a:latin typeface="Calibri"/>
                <a:ea typeface="Calibri"/>
                <a:cs typeface="Calibri"/>
                <a:sym typeface="Calibri"/>
              </a:rPr>
              <a:t>  </a:t>
            </a:r>
            <a:endParaRPr sz="10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p:nvPr/>
        </p:nvSpPr>
        <p:spPr>
          <a:xfrm>
            <a:off x="72300" y="0"/>
            <a:ext cx="4362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RAGAs = RAG Assessment Framework</a:t>
            </a:r>
            <a:endParaRPr sz="2000" b="1">
              <a:latin typeface="Calibri"/>
              <a:ea typeface="Calibri"/>
              <a:cs typeface="Calibri"/>
              <a:sym typeface="Calibri"/>
            </a:endParaRPr>
          </a:p>
        </p:txBody>
      </p:sp>
      <p:sp>
        <p:nvSpPr>
          <p:cNvPr id="130" name="Google Shape;130;p21"/>
          <p:cNvSpPr txBox="1"/>
          <p:nvPr/>
        </p:nvSpPr>
        <p:spPr>
          <a:xfrm>
            <a:off x="72300" y="478800"/>
            <a:ext cx="4115100" cy="338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457200" lvl="0" indent="-3111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RAGAs (Retrieval-Augmented Generation Assessment) </a:t>
            </a:r>
            <a:r>
              <a:rPr lang="en" sz="1300">
                <a:latin typeface="Calibri"/>
                <a:ea typeface="Calibri"/>
                <a:cs typeface="Calibri"/>
                <a:sym typeface="Calibri"/>
              </a:rPr>
              <a:t>is an open-source framework designed specifically for model-based evaluation of RAG (Retrieval-Augmented Generation) pipelines.</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3"/>
              </a:rPr>
              <a:t>https://github.com/explodinggradients/ragas</a:t>
            </a:r>
            <a:r>
              <a:rPr lang="en" sz="1300">
                <a:latin typeface="Calibri"/>
                <a:ea typeface="Calibri"/>
                <a:cs typeface="Calibri"/>
                <a:sym typeface="Calibri"/>
              </a:rPr>
              <a:t> </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4"/>
              </a:rPr>
              <a:t>https://docs.ragas.io/en/stable/</a:t>
            </a:r>
            <a:r>
              <a:rPr lang="en" sz="1300">
                <a:latin typeface="Calibri"/>
                <a:ea typeface="Calibri"/>
                <a:cs typeface="Calibri"/>
                <a:sym typeface="Calibri"/>
              </a:rPr>
              <a:t> </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5"/>
              </a:rPr>
              <a:t>https://towardsdatascience.com/evaluating-rag-applications-with-ragas-81d67b0ee31a</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Ragas evaluates pipelines on correctness, tonality, hallucination, fluency, etc. (Context Relevancy, Context Recall, </a:t>
            </a:r>
            <a:r>
              <a:rPr lang="en" sz="1300">
                <a:solidFill>
                  <a:schemeClr val="dk1"/>
                </a:solidFill>
                <a:latin typeface="Calibri"/>
                <a:ea typeface="Calibri"/>
                <a:cs typeface="Calibri"/>
                <a:sym typeface="Calibri"/>
              </a:rPr>
              <a:t>Answer Relevancy, </a:t>
            </a:r>
            <a:r>
              <a:rPr lang="en" sz="1300">
                <a:latin typeface="Calibri"/>
                <a:ea typeface="Calibri"/>
                <a:cs typeface="Calibri"/>
                <a:sym typeface="Calibri"/>
              </a:rPr>
              <a:t>Faithfulness, ...)</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RAGAs can use LLMs to create synthetic test data and assist with reference-free evaluation, reducing reliance on costly human annotators.</a:t>
            </a:r>
            <a:endParaRPr sz="1300">
              <a:latin typeface="Calibri"/>
              <a:ea typeface="Calibri"/>
              <a:cs typeface="Calibri"/>
              <a:sym typeface="Calibri"/>
            </a:endParaRPr>
          </a:p>
        </p:txBody>
      </p:sp>
      <p:pic>
        <p:nvPicPr>
          <p:cNvPr id="131" name="Google Shape;131;p2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156925" y="114704"/>
            <a:ext cx="2824001" cy="938575"/>
          </a:xfrm>
          <a:prstGeom prst="rect">
            <a:avLst/>
          </a:prstGeom>
          <a:noFill/>
          <a:ln>
            <a:noFill/>
          </a:ln>
        </p:spPr>
      </p:pic>
      <p:sp>
        <p:nvSpPr>
          <p:cNvPr id="132" name="Google Shape;132;p21"/>
          <p:cNvSpPr txBox="1"/>
          <p:nvPr/>
        </p:nvSpPr>
        <p:spPr>
          <a:xfrm>
            <a:off x="4263950" y="1128900"/>
            <a:ext cx="4780200" cy="378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6AA84F"/>
                </a:solidFill>
                <a:latin typeface="Calibri"/>
                <a:ea typeface="Calibri"/>
                <a:cs typeface="Calibri"/>
                <a:sym typeface="Calibri"/>
              </a:rPr>
              <a:t># pip install ragas</a:t>
            </a:r>
            <a:endParaRPr sz="1300">
              <a:solidFill>
                <a:srgbClr val="6AA84F"/>
              </a:solidFill>
              <a:latin typeface="Calibri"/>
              <a:ea typeface="Calibri"/>
              <a:cs typeface="Calibri"/>
              <a:sym typeface="Calibri"/>
            </a:endParaRPr>
          </a:p>
          <a:p>
            <a:pPr marL="0" lvl="0" indent="0" algn="l" rtl="0">
              <a:spcBef>
                <a:spcPts val="0"/>
              </a:spcBef>
              <a:spcAft>
                <a:spcPts val="0"/>
              </a:spcAft>
              <a:buNone/>
            </a:pPr>
            <a:r>
              <a:rPr lang="en" sz="1300">
                <a:solidFill>
                  <a:srgbClr val="3C78D8"/>
                </a:solidFill>
                <a:latin typeface="Calibri"/>
                <a:ea typeface="Calibri"/>
                <a:cs typeface="Calibri"/>
                <a:sym typeface="Calibri"/>
              </a:rPr>
              <a:t>from ragas import evaluate</a:t>
            </a:r>
            <a:endParaRPr sz="1300">
              <a:solidFill>
                <a:srgbClr val="3C78D8"/>
              </a:solidFill>
              <a:latin typeface="Calibri"/>
              <a:ea typeface="Calibri"/>
              <a:cs typeface="Calibri"/>
              <a:sym typeface="Calibri"/>
            </a:endParaRPr>
          </a:p>
          <a:p>
            <a:pPr marL="0" lvl="0" indent="0" algn="l" rtl="0">
              <a:spcBef>
                <a:spcPts val="0"/>
              </a:spcBef>
              <a:spcAft>
                <a:spcPts val="0"/>
              </a:spcAft>
              <a:buNone/>
            </a:pPr>
            <a:r>
              <a:rPr lang="en" sz="1300">
                <a:solidFill>
                  <a:srgbClr val="3C78D8"/>
                </a:solidFill>
                <a:latin typeface="Calibri"/>
                <a:ea typeface="Calibri"/>
                <a:cs typeface="Calibri"/>
                <a:sym typeface="Calibri"/>
              </a:rPr>
              <a:t>from datasets import Dataset</a:t>
            </a:r>
            <a:endParaRPr sz="1300">
              <a:solidFill>
                <a:srgbClr val="3C78D8"/>
              </a:solidFill>
              <a:latin typeface="Calibri"/>
              <a:ea typeface="Calibri"/>
              <a:cs typeface="Calibri"/>
              <a:sym typeface="Calibri"/>
            </a:endParaRPr>
          </a:p>
          <a:p>
            <a:pPr marL="0" lvl="0" indent="0" algn="l" rtl="0">
              <a:spcBef>
                <a:spcPts val="0"/>
              </a:spcBef>
              <a:spcAft>
                <a:spcPts val="0"/>
              </a:spcAft>
              <a:buNone/>
            </a:pPr>
            <a:r>
              <a:rPr lang="en" sz="1300">
                <a:solidFill>
                  <a:srgbClr val="3C78D8"/>
                </a:solidFill>
                <a:latin typeface="Calibri"/>
                <a:ea typeface="Calibri"/>
                <a:cs typeface="Calibri"/>
                <a:sym typeface="Calibri"/>
              </a:rPr>
              <a:t>import os</a:t>
            </a:r>
            <a:endParaRPr sz="1300">
              <a:solidFill>
                <a:srgbClr val="3C78D8"/>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 os.environ["OPENAI_API_KEY"] = "your-openai-key"</a:t>
            </a:r>
            <a:endParaRPr sz="1300">
              <a:solidFill>
                <a:srgbClr val="6AA84F"/>
              </a:solidFill>
              <a:latin typeface="Calibri"/>
              <a:ea typeface="Calibri"/>
              <a:cs typeface="Calibri"/>
              <a:sym typeface="Calibri"/>
            </a:endParaRPr>
          </a:p>
          <a:p>
            <a:pPr marL="0" lvl="0" indent="0" algn="l" rtl="0">
              <a:spcBef>
                <a:spcPts val="0"/>
              </a:spcBef>
              <a:spcAft>
                <a:spcPts val="0"/>
              </a:spcAft>
              <a:buNone/>
            </a:pPr>
            <a:endParaRPr sz="1300">
              <a:solidFill>
                <a:srgbClr val="3C78D8"/>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 prepare your huggingface dataset in the format</a:t>
            </a:r>
            <a:endParaRPr sz="1300">
              <a:solidFill>
                <a:srgbClr val="6AA84F"/>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 Dataset({</a:t>
            </a:r>
            <a:endParaRPr sz="1300">
              <a:solidFill>
                <a:srgbClr val="6AA84F"/>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     features: ['question', 'contexts', 'answer', 'ground_truths'],</a:t>
            </a:r>
            <a:endParaRPr sz="1300">
              <a:solidFill>
                <a:srgbClr val="6AA84F"/>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     num_rows: 25</a:t>
            </a:r>
            <a:endParaRPr sz="1300">
              <a:solidFill>
                <a:srgbClr val="6AA84F"/>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 })</a:t>
            </a:r>
            <a:endParaRPr sz="1300">
              <a:solidFill>
                <a:srgbClr val="6AA84F"/>
              </a:solidFill>
              <a:latin typeface="Calibri"/>
              <a:ea typeface="Calibri"/>
              <a:cs typeface="Calibri"/>
              <a:sym typeface="Calibri"/>
            </a:endParaRPr>
          </a:p>
          <a:p>
            <a:pPr marL="0" lvl="0" indent="0" algn="l" rtl="0">
              <a:spcBef>
                <a:spcPts val="0"/>
              </a:spcBef>
              <a:spcAft>
                <a:spcPts val="0"/>
              </a:spcAft>
              <a:buNone/>
            </a:pPr>
            <a:endParaRPr sz="1300">
              <a:solidFill>
                <a:srgbClr val="3C78D8"/>
              </a:solidFill>
              <a:latin typeface="Calibri"/>
              <a:ea typeface="Calibri"/>
              <a:cs typeface="Calibri"/>
              <a:sym typeface="Calibri"/>
            </a:endParaRPr>
          </a:p>
          <a:p>
            <a:pPr marL="0" lvl="0" indent="0" algn="l" rtl="0">
              <a:spcBef>
                <a:spcPts val="0"/>
              </a:spcBef>
              <a:spcAft>
                <a:spcPts val="0"/>
              </a:spcAft>
              <a:buNone/>
            </a:pPr>
            <a:r>
              <a:rPr lang="en" sz="1300">
                <a:solidFill>
                  <a:srgbClr val="3C78D8"/>
                </a:solidFill>
                <a:latin typeface="Calibri"/>
                <a:ea typeface="Calibri"/>
                <a:cs typeface="Calibri"/>
                <a:sym typeface="Calibri"/>
              </a:rPr>
              <a:t>dataset: Dataset</a:t>
            </a:r>
            <a:endParaRPr sz="1300">
              <a:solidFill>
                <a:srgbClr val="3C78D8"/>
              </a:solidFill>
              <a:latin typeface="Calibri"/>
              <a:ea typeface="Calibri"/>
              <a:cs typeface="Calibri"/>
              <a:sym typeface="Calibri"/>
            </a:endParaRPr>
          </a:p>
          <a:p>
            <a:pPr marL="0" lvl="0" indent="0" algn="l" rtl="0">
              <a:spcBef>
                <a:spcPts val="0"/>
              </a:spcBef>
              <a:spcAft>
                <a:spcPts val="0"/>
              </a:spcAft>
              <a:buNone/>
            </a:pPr>
            <a:endParaRPr sz="1300">
              <a:solidFill>
                <a:srgbClr val="3C78D8"/>
              </a:solidFill>
              <a:latin typeface="Calibri"/>
              <a:ea typeface="Calibri"/>
              <a:cs typeface="Calibri"/>
              <a:sym typeface="Calibri"/>
            </a:endParaRPr>
          </a:p>
          <a:p>
            <a:pPr marL="0" lvl="0" indent="0" algn="l" rtl="0">
              <a:spcBef>
                <a:spcPts val="0"/>
              </a:spcBef>
              <a:spcAft>
                <a:spcPts val="0"/>
              </a:spcAft>
              <a:buNone/>
            </a:pPr>
            <a:r>
              <a:rPr lang="en" sz="1300">
                <a:solidFill>
                  <a:srgbClr val="3C78D8"/>
                </a:solidFill>
                <a:latin typeface="Calibri"/>
                <a:ea typeface="Calibri"/>
                <a:cs typeface="Calibri"/>
                <a:sym typeface="Calibri"/>
              </a:rPr>
              <a:t>results = evaluate(dataset)</a:t>
            </a:r>
            <a:endParaRPr sz="1300">
              <a:solidFill>
                <a:srgbClr val="3C78D8"/>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 {'context_precision': 0.817,</a:t>
            </a:r>
            <a:endParaRPr sz="1300">
              <a:solidFill>
                <a:srgbClr val="6AA84F"/>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 'faithfulness': 0.892, </a:t>
            </a:r>
            <a:endParaRPr sz="1300">
              <a:solidFill>
                <a:srgbClr val="6AA84F"/>
              </a:solidFill>
              <a:latin typeface="Calibri"/>
              <a:ea typeface="Calibri"/>
              <a:cs typeface="Calibri"/>
              <a:sym typeface="Calibri"/>
            </a:endParaRPr>
          </a:p>
          <a:p>
            <a:pPr marL="0" lvl="0" indent="0" algn="l" rtl="0">
              <a:spcBef>
                <a:spcPts val="0"/>
              </a:spcBef>
              <a:spcAft>
                <a:spcPts val="0"/>
              </a:spcAft>
              <a:buNone/>
            </a:pPr>
            <a:r>
              <a:rPr lang="en" sz="1300">
                <a:solidFill>
                  <a:srgbClr val="6AA84F"/>
                </a:solidFill>
                <a:latin typeface="Calibri"/>
                <a:ea typeface="Calibri"/>
                <a:cs typeface="Calibri"/>
                <a:sym typeface="Calibri"/>
              </a:rPr>
              <a:t># 'answer_relevancy': 0.874}</a:t>
            </a:r>
            <a:endParaRPr sz="1300">
              <a:solidFill>
                <a:srgbClr val="3C78D8"/>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2"/>
          <p:cNvSpPr txBox="1"/>
          <p:nvPr/>
        </p:nvSpPr>
        <p:spPr>
          <a:xfrm>
            <a:off x="72300" y="380225"/>
            <a:ext cx="4362600" cy="198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Gemini helps s</a:t>
            </a:r>
            <a:r>
              <a:rPr lang="en" sz="1300">
                <a:latin typeface="Calibri"/>
                <a:ea typeface="Calibri"/>
                <a:cs typeface="Calibri"/>
                <a:sym typeface="Calibri"/>
              </a:rPr>
              <a:t>earch &amp; summarize Google Workspace content.</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In Gemini - enable Google Workspace extensions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In Gemini prompt to summarize or locate information in your Google Space by appending @gmail, @drive, or @docs to your queries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you can ask Gemini to identify high-priority emails that require your attention</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you can ask Gemini to review a Google Doc and summarize the key points</a:t>
            </a:r>
            <a:endParaRPr sz="1300">
              <a:latin typeface="Calibri"/>
              <a:ea typeface="Calibri"/>
              <a:cs typeface="Calibri"/>
              <a:sym typeface="Calibri"/>
            </a:endParaRPr>
          </a:p>
        </p:txBody>
      </p:sp>
      <p:sp>
        <p:nvSpPr>
          <p:cNvPr id="138" name="Google Shape;138;p22"/>
          <p:cNvSpPr txBox="1"/>
          <p:nvPr/>
        </p:nvSpPr>
        <p:spPr>
          <a:xfrm>
            <a:off x="72300" y="0"/>
            <a:ext cx="4362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 2</a:t>
            </a:r>
            <a:endParaRPr sz="2000" b="1">
              <a:latin typeface="Calibri"/>
              <a:ea typeface="Calibri"/>
              <a:cs typeface="Calibri"/>
              <a:sym typeface="Calibri"/>
            </a:endParaRPr>
          </a:p>
        </p:txBody>
      </p:sp>
      <p:sp>
        <p:nvSpPr>
          <p:cNvPr id="139" name="Google Shape;139;p22"/>
          <p:cNvSpPr txBox="1"/>
          <p:nvPr/>
        </p:nvSpPr>
        <p:spPr>
          <a:xfrm>
            <a:off x="64922" y="3694275"/>
            <a:ext cx="43626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3"/>
              </a:rPr>
              <a:t>https://groq.com</a:t>
            </a:r>
            <a:r>
              <a:rPr lang="en" sz="1300">
                <a:solidFill>
                  <a:schemeClr val="dk1"/>
                </a:solidFill>
                <a:latin typeface="Calibri"/>
                <a:ea typeface="Calibri"/>
                <a:cs typeface="Calibri"/>
                <a:sym typeface="Calibri"/>
              </a:rPr>
              <a:t> - try using Mixtral or Llama2</a:t>
            </a:r>
            <a:endParaRPr sz="130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solidFill>
                  <a:schemeClr val="dk1"/>
                </a:solidFill>
                <a:latin typeface="Calibri"/>
                <a:ea typeface="Calibri"/>
                <a:cs typeface="Calibri"/>
                <a:sym typeface="Calibri"/>
              </a:rPr>
              <a:t>AI startup Groq (since 2016, not Elon Musk’s Grok…) uses specialized chips (LPU = language processing units) to run LLMs 4..10..50 times faster (500 tokens per second, compared to 30-50 for GPT 3.5) </a:t>
            </a:r>
            <a:endParaRPr sz="130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solidFill>
                  <a:schemeClr val="dk1"/>
                </a:solidFill>
                <a:latin typeface="Calibri"/>
                <a:ea typeface="Calibri"/>
                <a:cs typeface="Calibri"/>
                <a:sym typeface="Calibri"/>
              </a:rPr>
              <a:t>Near-instant responses, efficiency, affordability (?)</a:t>
            </a:r>
            <a:endParaRPr sz="1300">
              <a:solidFill>
                <a:schemeClr val="dk1"/>
              </a:solidFill>
              <a:latin typeface="Calibri"/>
              <a:ea typeface="Calibri"/>
              <a:cs typeface="Calibri"/>
              <a:sym typeface="Calibri"/>
            </a:endParaRPr>
          </a:p>
        </p:txBody>
      </p:sp>
      <p:pic>
        <p:nvPicPr>
          <p:cNvPr id="140" name="Google Shape;140;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11100" y="4539450"/>
            <a:ext cx="1031050" cy="378975"/>
          </a:xfrm>
          <a:prstGeom prst="rect">
            <a:avLst/>
          </a:prstGeom>
          <a:noFill/>
          <a:ln>
            <a:noFill/>
          </a:ln>
        </p:spPr>
      </p:pic>
      <p:sp>
        <p:nvSpPr>
          <p:cNvPr id="141" name="Google Shape;141;p22"/>
          <p:cNvSpPr txBox="1"/>
          <p:nvPr/>
        </p:nvSpPr>
        <p:spPr>
          <a:xfrm>
            <a:off x="6205225" y="3632200"/>
            <a:ext cx="28698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https://magic.dev</a:t>
            </a:r>
            <a:r>
              <a:rPr lang="en" sz="1300">
                <a:solidFill>
                  <a:schemeClr val="dk1"/>
                </a:solidFill>
                <a:latin typeface="Calibri"/>
                <a:ea typeface="Calibri"/>
                <a:cs typeface="Calibri"/>
                <a:sym typeface="Calibri"/>
              </a:rPr>
              <a:t> - </a:t>
            </a:r>
            <a:r>
              <a:rPr lang="en" sz="1300" b="1">
                <a:solidFill>
                  <a:srgbClr val="FF0000"/>
                </a:solidFill>
                <a:latin typeface="Calibri"/>
                <a:ea typeface="Calibri"/>
                <a:cs typeface="Calibri"/>
                <a:sym typeface="Calibri"/>
              </a:rPr>
              <a:t>Magic AI</a:t>
            </a:r>
            <a:r>
              <a:rPr lang="en" sz="1300">
                <a:solidFill>
                  <a:schemeClr val="dk1"/>
                </a:solidFill>
                <a:latin typeface="Calibri"/>
                <a:ea typeface="Calibri"/>
                <a:cs typeface="Calibri"/>
                <a:sym typeface="Calibri"/>
              </a:rPr>
              <a:t> Secures $117 Mln to Build an AI Software Engineer capable of assisting with complex coding tasks and that will act more as a coworker than merely a "copilot" tool.</a:t>
            </a:r>
            <a:endParaRPr sz="1300">
              <a:solidFill>
                <a:schemeClr val="dk1"/>
              </a:solidFill>
              <a:latin typeface="Calibri"/>
              <a:ea typeface="Calibri"/>
              <a:cs typeface="Calibri"/>
              <a:sym typeface="Calibri"/>
            </a:endParaRPr>
          </a:p>
        </p:txBody>
      </p:sp>
      <p:pic>
        <p:nvPicPr>
          <p:cNvPr id="142" name="Google Shape;142;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95426" y="3860398"/>
            <a:ext cx="1341448" cy="326400"/>
          </a:xfrm>
          <a:prstGeom prst="rect">
            <a:avLst/>
          </a:prstGeom>
          <a:noFill/>
          <a:ln>
            <a:noFill/>
          </a:ln>
        </p:spPr>
      </p:pic>
      <p:sp>
        <p:nvSpPr>
          <p:cNvPr id="143" name="Google Shape;143;p22"/>
          <p:cNvSpPr txBox="1"/>
          <p:nvPr/>
        </p:nvSpPr>
        <p:spPr>
          <a:xfrm>
            <a:off x="4678425" y="380225"/>
            <a:ext cx="43626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7"/>
              </a:rPr>
              <a:t>https://blog.youtube/inside-youtube/2024-letter-from-neal/</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Letter from YouTube CEO: 4 Big bets for 2024</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#1: AI will empower human creativity.</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#2: Creators should be recognized as next-generation studios.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#3: YouTube’s next frontier is the living room and subscriptions - videos to be watched on big screen in living room, subscriptions are growing</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#4: Protecting the creator economy is foundational.</a:t>
            </a:r>
            <a:endParaRPr sz="1300">
              <a:solidFill>
                <a:schemeClr val="dk1"/>
              </a:solidFill>
              <a:latin typeface="Calibri"/>
              <a:ea typeface="Calibri"/>
              <a:cs typeface="Calibri"/>
              <a:sym typeface="Calibri"/>
            </a:endParaRPr>
          </a:p>
        </p:txBody>
      </p:sp>
      <p:pic>
        <p:nvPicPr>
          <p:cNvPr id="144" name="Google Shape;144;p2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513250" y="2242025"/>
            <a:ext cx="1237975" cy="1159326"/>
          </a:xfrm>
          <a:prstGeom prst="rect">
            <a:avLst/>
          </a:prstGeom>
          <a:noFill/>
          <a:ln>
            <a:noFill/>
          </a:ln>
        </p:spPr>
      </p:pic>
      <p:sp>
        <p:nvSpPr>
          <p:cNvPr id="145" name="Google Shape;145;p22"/>
          <p:cNvSpPr txBox="1"/>
          <p:nvPr/>
        </p:nvSpPr>
        <p:spPr>
          <a:xfrm>
            <a:off x="7861135" y="2279250"/>
            <a:ext cx="11799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Neal Mohan</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300">
                <a:solidFill>
                  <a:schemeClr val="dk1"/>
                </a:solidFill>
                <a:latin typeface="Calibri"/>
                <a:ea typeface="Calibri"/>
                <a:cs typeface="Calibri"/>
                <a:sym typeface="Calibri"/>
              </a:rPr>
              <a:t>YouTube CEO</a:t>
            </a:r>
            <a:endParaRPr sz="1300">
              <a:solidFill>
                <a:schemeClr val="dk1"/>
              </a:solidFill>
              <a:latin typeface="Calibri"/>
              <a:ea typeface="Calibri"/>
              <a:cs typeface="Calibri"/>
              <a:sym typeface="Calibri"/>
            </a:endParaRPr>
          </a:p>
        </p:txBody>
      </p:sp>
      <p:sp>
        <p:nvSpPr>
          <p:cNvPr id="146" name="Google Shape;146;p22"/>
          <p:cNvSpPr txBox="1"/>
          <p:nvPr/>
        </p:nvSpPr>
        <p:spPr>
          <a:xfrm>
            <a:off x="72300" y="2422760"/>
            <a:ext cx="4362600" cy="118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Phind-70B</a:t>
            </a:r>
            <a:r>
              <a:rPr lang="en" sz="1300">
                <a:latin typeface="Calibri"/>
                <a:ea typeface="Calibri"/>
                <a:cs typeface="Calibri"/>
                <a:sym typeface="Calibri"/>
              </a:rPr>
              <a:t> is better than GPT-4-turbo for coding.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Based on CodeLlama-70B, fine-tuned on 50 Bln tokens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Context length 32K tokens.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Scores 82.3% on HumanEval</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9"/>
              </a:rPr>
              <a:t>https://www.phind.com/blog/introducing-phind-70b</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p:nvPr/>
        </p:nvSpPr>
        <p:spPr>
          <a:xfrm>
            <a:off x="72300" y="0"/>
            <a:ext cx="4362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 3</a:t>
            </a:r>
            <a:endParaRPr sz="2000" b="1">
              <a:latin typeface="Calibri"/>
              <a:ea typeface="Calibri"/>
              <a:cs typeface="Calibri"/>
              <a:sym typeface="Calibri"/>
            </a:endParaRPr>
          </a:p>
        </p:txBody>
      </p:sp>
      <p:sp>
        <p:nvSpPr>
          <p:cNvPr id="152" name="Google Shape;152;p23"/>
          <p:cNvSpPr txBox="1"/>
          <p:nvPr/>
        </p:nvSpPr>
        <p:spPr>
          <a:xfrm>
            <a:off x="72300" y="482350"/>
            <a:ext cx="4362600" cy="52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Text Embeddings: Comprehensive Guide - </a:t>
            </a:r>
            <a:r>
              <a:rPr lang="en" sz="900" u="sng">
                <a:solidFill>
                  <a:schemeClr val="hlink"/>
                </a:solidFill>
                <a:latin typeface="Calibri"/>
                <a:ea typeface="Calibri"/>
                <a:cs typeface="Calibri"/>
                <a:sym typeface="Calibri"/>
                <a:hlinkClick r:id="rId3"/>
              </a:rPr>
              <a:t>https://towardsdatascience.com/text-embeddings-comprehensive-guide-afd97fce8fb5</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53" name="Google Shape;153;p23"/>
          <p:cNvSpPr txBox="1"/>
          <p:nvPr/>
        </p:nvSpPr>
        <p:spPr>
          <a:xfrm>
            <a:off x="72300" y="1161500"/>
            <a:ext cx="4362600" cy="89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Why Language Models Became Large Language Models And The Hurdles In Developing LLM-based Applications</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https://www.assemblyai.com/blog/why-language-models-became-large-language-models/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54" name="Google Shape;154;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517300" y="1161500"/>
            <a:ext cx="4509458" cy="3092200"/>
          </a:xfrm>
          <a:prstGeom prst="rect">
            <a:avLst/>
          </a:prstGeom>
          <a:noFill/>
          <a:ln w="9525" cap="flat" cmpd="sng">
            <a:solidFill>
              <a:srgbClr val="FF0000"/>
            </a:solidFill>
            <a:prstDash val="solid"/>
            <a:round/>
            <a:headEnd type="none" w="sm" len="sm"/>
            <a:tailEnd type="none" w="sm" len="sm"/>
          </a:ln>
        </p:spPr>
      </p:pic>
      <p:sp>
        <p:nvSpPr>
          <p:cNvPr id="155" name="Google Shape;155;p23"/>
          <p:cNvSpPr txBox="1"/>
          <p:nvPr/>
        </p:nvSpPr>
        <p:spPr>
          <a:xfrm>
            <a:off x="40350" y="2167825"/>
            <a:ext cx="4362600" cy="89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LoRA Land</a:t>
            </a:r>
            <a:r>
              <a:rPr lang="en" sz="1300">
                <a:latin typeface="Calibri"/>
                <a:ea typeface="Calibri"/>
                <a:cs typeface="Calibri"/>
                <a:sym typeface="Calibri"/>
              </a:rPr>
              <a:t>: Fine-Tuned Open-Source LLMs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that Outperform GPT-4</a:t>
            </a:r>
            <a:r>
              <a:rPr lang="en" sz="1000">
                <a:latin typeface="Calibri"/>
                <a:ea typeface="Calibri"/>
                <a:cs typeface="Calibri"/>
                <a:sym typeface="Calibri"/>
              </a:rPr>
              <a:t> - </a:t>
            </a:r>
            <a:r>
              <a:rPr lang="en" sz="1000" u="sng">
                <a:solidFill>
                  <a:schemeClr val="hlink"/>
                </a:solidFill>
                <a:latin typeface="Calibri"/>
                <a:ea typeface="Calibri"/>
                <a:cs typeface="Calibri"/>
                <a:sym typeface="Calibri"/>
                <a:hlinkClick r:id="rId6"/>
              </a:rPr>
              <a:t>https://predibase.com/blog/lora-land-fine-tuned-open-source-llms-that-outperform-gpt-4</a:t>
            </a:r>
            <a:r>
              <a:rPr lang="en" sz="1000">
                <a:latin typeface="Calibri"/>
                <a:ea typeface="Calibri"/>
                <a:cs typeface="Calibri"/>
                <a:sym typeface="Calibri"/>
              </a:rPr>
              <a:t> </a:t>
            </a:r>
            <a:endParaRPr sz="16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4"/>
          <p:cNvSpPr txBox="1"/>
          <p:nvPr/>
        </p:nvSpPr>
        <p:spPr>
          <a:xfrm>
            <a:off x="72300" y="380225"/>
            <a:ext cx="4362600" cy="98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6850" algn="l" rtl="0">
              <a:spcBef>
                <a:spcPts val="0"/>
              </a:spcBef>
              <a:spcAft>
                <a:spcPts val="0"/>
              </a:spcAft>
              <a:buSzPts val="1300"/>
              <a:buFont typeface="Calibri"/>
              <a:buChar char="●"/>
            </a:pPr>
            <a:r>
              <a:rPr lang="en" sz="1300">
                <a:solidFill>
                  <a:schemeClr val="dk1"/>
                </a:solidFill>
                <a:latin typeface="Calibri"/>
                <a:ea typeface="Calibri"/>
                <a:cs typeface="Calibri"/>
                <a:sym typeface="Calibri"/>
              </a:rPr>
              <a:t>NVIDIA's GTC (GPU Technology Conference) will be held on March 18-21, 2024. </a:t>
            </a:r>
            <a:endParaRPr sz="130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solidFill>
                  <a:schemeClr val="dk1"/>
                </a:solidFill>
                <a:latin typeface="Calibri"/>
                <a:ea typeface="Calibri"/>
                <a:cs typeface="Calibri"/>
                <a:sym typeface="Calibri"/>
              </a:rPr>
              <a:t>It will take place at the San Jose McEnery Convention Center in San Jose, California</a:t>
            </a:r>
            <a:endParaRPr sz="1300">
              <a:latin typeface="Calibri"/>
              <a:ea typeface="Calibri"/>
              <a:cs typeface="Calibri"/>
              <a:sym typeface="Calibri"/>
            </a:endParaRPr>
          </a:p>
        </p:txBody>
      </p:sp>
      <p:sp>
        <p:nvSpPr>
          <p:cNvPr id="161" name="Google Shape;161;p24"/>
          <p:cNvSpPr txBox="1"/>
          <p:nvPr/>
        </p:nvSpPr>
        <p:spPr>
          <a:xfrm>
            <a:off x="72300" y="0"/>
            <a:ext cx="4362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Nvidia GTC in March 2024</a:t>
            </a:r>
            <a:endParaRPr sz="2000" b="1">
              <a:latin typeface="Calibri"/>
              <a:ea typeface="Calibri"/>
              <a:cs typeface="Calibri"/>
              <a:sym typeface="Calibri"/>
            </a:endParaRPr>
          </a:p>
        </p:txBody>
      </p:sp>
      <p:pic>
        <p:nvPicPr>
          <p:cNvPr id="162" name="Google Shape;162;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2300" y="1470799"/>
            <a:ext cx="6284150" cy="3494950"/>
          </a:xfrm>
          <a:prstGeom prst="rect">
            <a:avLst/>
          </a:prstGeom>
          <a:noFill/>
          <a:ln w="9525" cap="flat" cmpd="sng">
            <a:solidFill>
              <a:srgbClr val="FF0000"/>
            </a:solidFill>
            <a:prstDash val="solid"/>
            <a:round/>
            <a:headEnd type="none" w="sm" len="sm"/>
            <a:tailEnd type="none" w="sm" len="sm"/>
          </a:ln>
        </p:spPr>
      </p:pic>
      <p:sp>
        <p:nvSpPr>
          <p:cNvPr id="163" name="Google Shape;163;p24"/>
          <p:cNvSpPr txBox="1"/>
          <p:nvPr/>
        </p:nvSpPr>
        <p:spPr>
          <a:xfrm>
            <a:off x="6540650" y="1991600"/>
            <a:ext cx="2439000" cy="238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On March 20th Jensen Huang will lead the panel of all 8 original authors of "Attention is All You Need" paper!</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How did they come up with the idea? What challenges did they face? What surprised them in the following years? What have they been up to these days? How do they envision a post-transformer future? </a:t>
            </a:r>
            <a:endParaRPr sz="13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5"/>
          <p:cNvSpPr txBox="1"/>
          <p:nvPr/>
        </p:nvSpPr>
        <p:spPr>
          <a:xfrm>
            <a:off x="72300" y="0"/>
            <a:ext cx="2032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Sierra - startup</a:t>
            </a:r>
            <a:endParaRPr sz="2000" b="1">
              <a:latin typeface="Calibri"/>
              <a:ea typeface="Calibri"/>
              <a:cs typeface="Calibri"/>
              <a:sym typeface="Calibri"/>
            </a:endParaRPr>
          </a:p>
        </p:txBody>
      </p:sp>
      <p:sp>
        <p:nvSpPr>
          <p:cNvPr id="169" name="Google Shape;169;p25"/>
          <p:cNvSpPr txBox="1"/>
          <p:nvPr/>
        </p:nvSpPr>
        <p:spPr>
          <a:xfrm>
            <a:off x="72300" y="555000"/>
            <a:ext cx="4674600" cy="158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https://sierra.ai</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Bret Taylor, the Chairman of OpenAI (since November 2023), and former co-CEO of Salesforce, founded Sierra, a startup focused on (AI) chatbots tailored for business applications; secured $110 Mln in funding, has 30 employees; Established partnerships with enterprise clients like WeightWatchers, Sonos, and Sirius XM Holdings. - </a:t>
            </a:r>
            <a:r>
              <a:rPr lang="en" sz="1000" u="sng">
                <a:solidFill>
                  <a:schemeClr val="hlink"/>
                </a:solidFill>
                <a:latin typeface="Calibri"/>
                <a:ea typeface="Calibri"/>
                <a:cs typeface="Calibri"/>
                <a:sym typeface="Calibri"/>
                <a:hlinkClick r:id="rId4"/>
              </a:rPr>
              <a:t>https://thesiliconreview.com/2024/02/openai-bret-taylor-startup-sierra</a:t>
            </a:r>
            <a:r>
              <a:rPr lang="en" sz="1000">
                <a:latin typeface="Calibri"/>
                <a:ea typeface="Calibri"/>
                <a:cs typeface="Calibri"/>
                <a:sym typeface="Calibri"/>
              </a:rPr>
              <a:t> </a:t>
            </a:r>
            <a:endParaRPr sz="1000">
              <a:latin typeface="Calibri"/>
              <a:ea typeface="Calibri"/>
              <a:cs typeface="Calibri"/>
              <a:sym typeface="Calibri"/>
            </a:endParaRPr>
          </a:p>
        </p:txBody>
      </p:sp>
      <p:pic>
        <p:nvPicPr>
          <p:cNvPr id="170" name="Google Shape;170;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41000" y="1397738"/>
            <a:ext cx="4009899" cy="2103225"/>
          </a:xfrm>
          <a:prstGeom prst="rect">
            <a:avLst/>
          </a:prstGeom>
          <a:noFill/>
          <a:ln>
            <a:noFill/>
          </a:ln>
        </p:spPr>
      </p:pic>
      <p:sp>
        <p:nvSpPr>
          <p:cNvPr id="171" name="Google Shape;171;p25"/>
          <p:cNvSpPr txBox="1"/>
          <p:nvPr/>
        </p:nvSpPr>
        <p:spPr>
          <a:xfrm>
            <a:off x="5540150" y="3500975"/>
            <a:ext cx="3166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6"/>
              </a:rPr>
              <a:t>https://www.linkedin.com/in/brettaylor</a:t>
            </a:r>
            <a:r>
              <a:rPr lang="en" sz="1300">
                <a:latin typeface="Calibri"/>
                <a:ea typeface="Calibri"/>
                <a:cs typeface="Calibri"/>
                <a:sym typeface="Calibri"/>
              </a:rPr>
              <a:t> </a:t>
            </a:r>
            <a:endParaRPr sz="1300">
              <a:latin typeface="Calibri"/>
              <a:ea typeface="Calibri"/>
              <a:cs typeface="Calibri"/>
              <a:sym typeface="Calibri"/>
            </a:endParaRPr>
          </a:p>
        </p:txBody>
      </p:sp>
      <p:pic>
        <p:nvPicPr>
          <p:cNvPr id="172" name="Google Shape;172;p2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661225" y="107525"/>
            <a:ext cx="2389675" cy="943000"/>
          </a:xfrm>
          <a:prstGeom prst="rect">
            <a:avLst/>
          </a:prstGeom>
          <a:noFill/>
          <a:ln>
            <a:noFill/>
          </a:ln>
        </p:spPr>
      </p:pic>
      <p:sp>
        <p:nvSpPr>
          <p:cNvPr id="173" name="Google Shape;173;p25"/>
          <p:cNvSpPr txBox="1"/>
          <p:nvPr/>
        </p:nvSpPr>
        <p:spPr>
          <a:xfrm>
            <a:off x="72300" y="2297975"/>
            <a:ext cx="4674600" cy="258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Competition:</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8"/>
              </a:rPr>
              <a:t>https://rasa.com</a:t>
            </a:r>
            <a:r>
              <a:rPr lang="en" sz="1300">
                <a:latin typeface="Calibri"/>
                <a:ea typeface="Calibri"/>
                <a:cs typeface="Calibri"/>
                <a:sym typeface="Calibri"/>
              </a:rPr>
              <a:t> (San-Francisco, CA) - Rasa is a Gen. AI conversational AI platform, claims to have more than 10K developers and 3K customers using its platform</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9"/>
              </a:rPr>
              <a:t>https://www.haptik.ai</a:t>
            </a:r>
            <a:r>
              <a:rPr lang="en" sz="1300">
                <a:latin typeface="Calibri"/>
                <a:ea typeface="Calibri"/>
                <a:cs typeface="Calibri"/>
                <a:sym typeface="Calibri"/>
              </a:rPr>
              <a:t> (Mumbai, India) - a conversational AI platform that was acquired by Reliance Jio in 2019, has more than 100 Enterprise customers such as Samsung, KFC, Coca-Cola, and more</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10"/>
              </a:rPr>
              <a:t>https://www.ada.cx</a:t>
            </a:r>
            <a:r>
              <a:rPr lang="en" sz="1300">
                <a:latin typeface="Calibri"/>
                <a:ea typeface="Calibri"/>
                <a:cs typeface="Calibri"/>
                <a:sym typeface="Calibri"/>
              </a:rPr>
              <a:t> (Toronto, Canada) - Ada is a no code conversational AI platform for business. Claims to have more than 500 clients such as Shopify, Zzoom, MailChimp, etc, and to have automated over 2 billion customer interactions. </a:t>
            </a:r>
            <a:endParaRPr sz="13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6"/>
          <p:cNvSpPr txBox="1"/>
          <p:nvPr/>
        </p:nvSpPr>
        <p:spPr>
          <a:xfrm>
            <a:off x="72300" y="0"/>
            <a:ext cx="5133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Yet Another LLM Benchmark - 100+ coding tests</a:t>
            </a:r>
            <a:endParaRPr sz="2000" b="1">
              <a:latin typeface="Calibri"/>
              <a:ea typeface="Calibri"/>
              <a:cs typeface="Calibri"/>
              <a:sym typeface="Calibri"/>
            </a:endParaRPr>
          </a:p>
        </p:txBody>
      </p:sp>
      <p:sp>
        <p:nvSpPr>
          <p:cNvPr id="179" name="Google Shape;179;p26"/>
          <p:cNvSpPr txBox="1"/>
          <p:nvPr/>
        </p:nvSpPr>
        <p:spPr>
          <a:xfrm>
            <a:off x="128650" y="371495"/>
            <a:ext cx="5133900" cy="1723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https://github.com/carlini/yet-another-applied-llm-benchmark</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https://nicholas.carlini.com/writing/2024/my-benchmark-for-large-language-models.html</a:t>
            </a:r>
            <a:endParaRPr sz="10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https://twitter.com/karpathy/status/1760022429605474550</a:t>
            </a:r>
            <a:r>
              <a:rPr lang="en" sz="1000">
                <a:latin typeface="Calibri"/>
                <a:ea typeface="Calibri"/>
                <a:cs typeface="Calibri"/>
                <a:sym typeface="Calibri"/>
              </a:rPr>
              <a:t> - Andrej Karpathy likes it</a:t>
            </a:r>
            <a:endParaRPr sz="1000">
              <a:latin typeface="Calibri"/>
              <a:ea typeface="Calibri"/>
              <a:cs typeface="Calibri"/>
              <a:sym typeface="Calibri"/>
            </a:endParaRPr>
          </a:p>
          <a:p>
            <a:pPr marL="0" lvl="0" indent="0" algn="l" rtl="0">
              <a:spcBef>
                <a:spcPts val="0"/>
              </a:spcBef>
              <a:spcAft>
                <a:spcPts val="0"/>
              </a:spcAft>
              <a:buNone/>
            </a:pPr>
            <a:r>
              <a:rPr lang="en" sz="1000">
                <a:latin typeface="Calibri"/>
                <a:ea typeface="Calibri"/>
                <a:cs typeface="Calibri"/>
                <a:sym typeface="Calibri"/>
              </a:rPr>
              <a:t>Tests like:</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a:latin typeface="Calibri"/>
                <a:ea typeface="Calibri"/>
                <a:cs typeface="Calibri"/>
                <a:sym typeface="Calibri"/>
              </a:rPr>
              <a:t>convert a python function to an equivalent-but-faster c function;</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a:latin typeface="Calibri"/>
                <a:ea typeface="Calibri"/>
                <a:cs typeface="Calibri"/>
                <a:sym typeface="Calibri"/>
              </a:rPr>
              <a:t>explain the functionality of minified javascript;</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a:latin typeface="Calibri"/>
                <a:ea typeface="Calibri"/>
                <a:cs typeface="Calibri"/>
                <a:sym typeface="Calibri"/>
              </a:rPr>
              <a:t>identify the encoding format (in this case, uuencoded) of some data;</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a:latin typeface="Calibri"/>
                <a:ea typeface="Calibri"/>
                <a:cs typeface="Calibri"/>
                <a:sym typeface="Calibri"/>
              </a:rPr>
              <a:t>write a parser from a BNF-like grammar;</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a:latin typeface="Calibri"/>
                <a:ea typeface="Calibri"/>
                <a:cs typeface="Calibri"/>
                <a:sym typeface="Calibri"/>
              </a:rPr>
              <a:t>convert some english sentences to SQL queries; and,</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a:latin typeface="Calibri"/>
                <a:ea typeface="Calibri"/>
                <a:cs typeface="Calibri"/>
                <a:sym typeface="Calibri"/>
              </a:rPr>
              <a:t>write some bash oneliners.</a:t>
            </a:r>
            <a:endParaRPr sz="1000">
              <a:latin typeface="Calibri"/>
              <a:ea typeface="Calibri"/>
              <a:cs typeface="Calibri"/>
              <a:sym typeface="Calibri"/>
            </a:endParaRPr>
          </a:p>
        </p:txBody>
      </p:sp>
      <p:graphicFrame>
        <p:nvGraphicFramePr>
          <p:cNvPr id="180" name="Google Shape;180;p26"/>
          <p:cNvGraphicFramePr/>
          <p:nvPr/>
        </p:nvGraphicFramePr>
        <p:xfrm>
          <a:off x="1347750" y="2177425"/>
          <a:ext cx="3000000" cy="3000000"/>
        </p:xfrm>
        <a:graphic>
          <a:graphicData uri="http://schemas.openxmlformats.org/drawingml/2006/table">
            <a:tbl>
              <a:tblPr>
                <a:noFill/>
                <a:tableStyleId>{13720896-178B-45A2-AEEA-D0D2DCF17E8D}</a:tableStyleId>
              </a:tblPr>
              <a:tblGrid>
                <a:gridCol w="1212975">
                  <a:extLst>
                    <a:ext uri="{9D8B030D-6E8A-4147-A177-3AD203B41FA5}">
                      <a16:colId xmlns:a16="http://schemas.microsoft.com/office/drawing/2014/main" val="20000"/>
                    </a:ext>
                  </a:extLst>
                </a:gridCol>
                <a:gridCol w="730025">
                  <a:extLst>
                    <a:ext uri="{9D8B030D-6E8A-4147-A177-3AD203B41FA5}">
                      <a16:colId xmlns:a16="http://schemas.microsoft.com/office/drawing/2014/main" val="20001"/>
                    </a:ext>
                  </a:extLst>
                </a:gridCol>
              </a:tblGrid>
              <a:tr h="100000">
                <a:tc>
                  <a:txBody>
                    <a:bodyPr/>
                    <a:lstStyle/>
                    <a:p>
                      <a:pPr marL="0" lvl="0" indent="0" algn="l" rtl="0">
                        <a:spcBef>
                          <a:spcPts val="0"/>
                        </a:spcBef>
                        <a:spcAft>
                          <a:spcPts val="0"/>
                        </a:spcAft>
                        <a:buNone/>
                      </a:pPr>
                      <a:r>
                        <a:rPr lang="en" sz="1100">
                          <a:latin typeface="Calibri"/>
                          <a:ea typeface="Calibri"/>
                          <a:cs typeface="Calibri"/>
                          <a:sym typeface="Calibri"/>
                        </a:rPr>
                        <a:t>Model</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100">
                          <a:latin typeface="Calibri"/>
                          <a:ea typeface="Calibri"/>
                          <a:cs typeface="Calibri"/>
                          <a:sym typeface="Calibri"/>
                        </a:rPr>
                        <a:t>% passed</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55125">
                <a:tc>
                  <a:txBody>
                    <a:bodyPr/>
                    <a:lstStyle/>
                    <a:p>
                      <a:pPr marL="0" lvl="0" indent="0" algn="l" rtl="0">
                        <a:spcBef>
                          <a:spcPts val="0"/>
                        </a:spcBef>
                        <a:spcAft>
                          <a:spcPts val="0"/>
                        </a:spcAft>
                        <a:buNone/>
                      </a:pPr>
                      <a:r>
                        <a:rPr lang="en" sz="1100">
                          <a:latin typeface="Calibri"/>
                          <a:ea typeface="Calibri"/>
                          <a:cs typeface="Calibri"/>
                          <a:sym typeface="Calibri"/>
                        </a:rPr>
                        <a:t>GPT-4</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100">
                          <a:latin typeface="Calibri"/>
                          <a:ea typeface="Calibri"/>
                          <a:cs typeface="Calibri"/>
                          <a:sym typeface="Calibri"/>
                        </a:rPr>
                        <a:t>49</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155125">
                <a:tc>
                  <a:txBody>
                    <a:bodyPr/>
                    <a:lstStyle/>
                    <a:p>
                      <a:pPr marL="0" lvl="0" indent="0" algn="l" rtl="0">
                        <a:spcBef>
                          <a:spcPts val="0"/>
                        </a:spcBef>
                        <a:spcAft>
                          <a:spcPts val="0"/>
                        </a:spcAft>
                        <a:buNone/>
                      </a:pPr>
                      <a:r>
                        <a:rPr lang="en" sz="1100">
                          <a:latin typeface="Calibri"/>
                          <a:ea typeface="Calibri"/>
                          <a:cs typeface="Calibri"/>
                          <a:sym typeface="Calibri"/>
                        </a:rPr>
                        <a:t>GPT-3.5</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100">
                          <a:latin typeface="Calibri"/>
                          <a:ea typeface="Calibri"/>
                          <a:cs typeface="Calibri"/>
                          <a:sym typeface="Calibri"/>
                        </a:rPr>
                        <a:t>30</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155125">
                <a:tc>
                  <a:txBody>
                    <a:bodyPr/>
                    <a:lstStyle/>
                    <a:p>
                      <a:pPr marL="0" lvl="0" indent="0" algn="l" rtl="0">
                        <a:spcBef>
                          <a:spcPts val="0"/>
                        </a:spcBef>
                        <a:spcAft>
                          <a:spcPts val="0"/>
                        </a:spcAft>
                        <a:buNone/>
                      </a:pPr>
                      <a:r>
                        <a:rPr lang="en" sz="1100">
                          <a:latin typeface="Calibri"/>
                          <a:ea typeface="Calibri"/>
                          <a:cs typeface="Calibri"/>
                          <a:sym typeface="Calibri"/>
                        </a:rPr>
                        <a:t>Claude 2.1</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100">
                          <a:latin typeface="Calibri"/>
                          <a:ea typeface="Calibri"/>
                          <a:cs typeface="Calibri"/>
                          <a:sym typeface="Calibri"/>
                        </a:rPr>
                        <a:t>31</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155125">
                <a:tc>
                  <a:txBody>
                    <a:bodyPr/>
                    <a:lstStyle/>
                    <a:p>
                      <a:pPr marL="0" lvl="0" indent="0" algn="l" rtl="0">
                        <a:spcBef>
                          <a:spcPts val="0"/>
                        </a:spcBef>
                        <a:spcAft>
                          <a:spcPts val="0"/>
                        </a:spcAft>
                        <a:buNone/>
                      </a:pPr>
                      <a:r>
                        <a:rPr lang="en" sz="1100">
                          <a:latin typeface="Calibri"/>
                          <a:ea typeface="Calibri"/>
                          <a:cs typeface="Calibri"/>
                          <a:sym typeface="Calibri"/>
                        </a:rPr>
                        <a:t>Claude Instant 1.2</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100">
                          <a:latin typeface="Calibri"/>
                          <a:ea typeface="Calibri"/>
                          <a:cs typeface="Calibri"/>
                          <a:sym typeface="Calibri"/>
                        </a:rPr>
                        <a:t>23</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155125">
                <a:tc>
                  <a:txBody>
                    <a:bodyPr/>
                    <a:lstStyle/>
                    <a:p>
                      <a:pPr marL="0" lvl="0" indent="0" algn="l" rtl="0">
                        <a:spcBef>
                          <a:spcPts val="0"/>
                        </a:spcBef>
                        <a:spcAft>
                          <a:spcPts val="0"/>
                        </a:spcAft>
                        <a:buNone/>
                      </a:pPr>
                      <a:r>
                        <a:rPr lang="en" sz="1100">
                          <a:latin typeface="Calibri"/>
                          <a:ea typeface="Calibri"/>
                          <a:cs typeface="Calibri"/>
                          <a:sym typeface="Calibri"/>
                        </a:rPr>
                        <a:t>Mistral Medium</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100">
                          <a:latin typeface="Calibri"/>
                          <a:ea typeface="Calibri"/>
                          <a:cs typeface="Calibri"/>
                          <a:sym typeface="Calibri"/>
                        </a:rPr>
                        <a:t>25</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155125">
                <a:tc>
                  <a:txBody>
                    <a:bodyPr/>
                    <a:lstStyle/>
                    <a:p>
                      <a:pPr marL="0" lvl="0" indent="0" algn="l" rtl="0">
                        <a:spcBef>
                          <a:spcPts val="0"/>
                        </a:spcBef>
                        <a:spcAft>
                          <a:spcPts val="0"/>
                        </a:spcAft>
                        <a:buNone/>
                      </a:pPr>
                      <a:r>
                        <a:rPr lang="en" sz="1100">
                          <a:latin typeface="Calibri"/>
                          <a:ea typeface="Calibri"/>
                          <a:cs typeface="Calibri"/>
                          <a:sym typeface="Calibri"/>
                        </a:rPr>
                        <a:t>Mistral Small</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100">
                          <a:latin typeface="Calibri"/>
                          <a:ea typeface="Calibri"/>
                          <a:cs typeface="Calibri"/>
                          <a:sym typeface="Calibri"/>
                        </a:rPr>
                        <a:t>21</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r h="155125">
                <a:tc>
                  <a:txBody>
                    <a:bodyPr/>
                    <a:lstStyle/>
                    <a:p>
                      <a:pPr marL="0" lvl="0" indent="0" algn="l" rtl="0">
                        <a:spcBef>
                          <a:spcPts val="0"/>
                        </a:spcBef>
                        <a:spcAft>
                          <a:spcPts val="0"/>
                        </a:spcAft>
                        <a:buNone/>
                      </a:pPr>
                      <a:r>
                        <a:rPr lang="en" sz="1100">
                          <a:latin typeface="Calibri"/>
                          <a:ea typeface="Calibri"/>
                          <a:cs typeface="Calibri"/>
                          <a:sym typeface="Calibri"/>
                        </a:rPr>
                        <a:t>Gemini Pro</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100">
                          <a:latin typeface="Calibri"/>
                          <a:ea typeface="Calibri"/>
                          <a:cs typeface="Calibri"/>
                          <a:sym typeface="Calibri"/>
                        </a:rPr>
                        <a:t>21</a:t>
                      </a:r>
                      <a:endParaRPr sz="11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7"/>
                  </a:ext>
                </a:extLst>
              </a:tr>
            </a:tbl>
          </a:graphicData>
        </a:graphic>
      </p:graphicFrame>
      <p:pic>
        <p:nvPicPr>
          <p:cNvPr id="181" name="Google Shape;181;p26"/>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5640400" y="367164"/>
            <a:ext cx="1704503" cy="4091111"/>
          </a:xfrm>
          <a:prstGeom prst="rect">
            <a:avLst/>
          </a:prstGeom>
          <a:noFill/>
          <a:ln>
            <a:noFill/>
          </a:ln>
        </p:spPr>
      </p:pic>
      <p:pic>
        <p:nvPicPr>
          <p:cNvPr id="182" name="Google Shape;182;p26"/>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7417119" y="792450"/>
            <a:ext cx="1669032" cy="4314249"/>
          </a:xfrm>
          <a:prstGeom prst="rect">
            <a:avLst/>
          </a:prstGeom>
          <a:noFill/>
          <a:ln>
            <a:noFill/>
          </a:ln>
        </p:spPr>
      </p:pic>
      <p:sp>
        <p:nvSpPr>
          <p:cNvPr id="183" name="Google Shape;183;p26"/>
          <p:cNvSpPr txBox="1"/>
          <p:nvPr/>
        </p:nvSpPr>
        <p:spPr>
          <a:xfrm>
            <a:off x="72300" y="3749495"/>
            <a:ext cx="51339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this is the first test that ALL models fail:</a:t>
            </a:r>
            <a:endParaRPr sz="1200">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6AA84F"/>
                </a:solidFill>
                <a:latin typeface="Roboto Mono"/>
                <a:ea typeface="Roboto Mono"/>
                <a:cs typeface="Roboto Mono"/>
                <a:sym typeface="Roboto Mono"/>
              </a:rPr>
              <a:t>Read this base64 string, think about the answer, and type just the answer in base64. You're entire answer must be base64.</a:t>
            </a:r>
            <a:endParaRPr sz="1200">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200">
              <a:solidFill>
                <a:srgbClr val="6AA84F"/>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6AA84F"/>
                </a:solidFill>
                <a:latin typeface="Roboto Mono"/>
                <a:ea typeface="Roboto Mono"/>
                <a:cs typeface="Roboto Mono"/>
                <a:sym typeface="Roboto Mono"/>
              </a:rPr>
              <a:t>V2hhdCBpcyBvbmUgeWVhciBhZnRlciB3aGVuIFByZXNpZGVudCBnZW9yZ2Ugd2FzaGluZ3RvbiBib3JuPw==</a:t>
            </a:r>
            <a:endParaRPr sz="1200">
              <a:solidFill>
                <a:srgbClr val="6AA84F"/>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7"/>
          <p:cNvSpPr txBox="1"/>
          <p:nvPr/>
        </p:nvSpPr>
        <p:spPr>
          <a:xfrm>
            <a:off x="72300" y="0"/>
            <a:ext cx="5133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UpTrain</a:t>
            </a:r>
            <a:endParaRPr sz="2000" b="1">
              <a:latin typeface="Calibri"/>
              <a:ea typeface="Calibri"/>
              <a:cs typeface="Calibri"/>
              <a:sym typeface="Calibri"/>
            </a:endParaRPr>
          </a:p>
        </p:txBody>
      </p:sp>
      <p:sp>
        <p:nvSpPr>
          <p:cNvPr id="189" name="Google Shape;189;p27"/>
          <p:cNvSpPr txBox="1"/>
          <p:nvPr/>
        </p:nvSpPr>
        <p:spPr>
          <a:xfrm>
            <a:off x="128650" y="371495"/>
            <a:ext cx="5133900" cy="315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457200" lvl="0" indent="-311150" algn="l" rtl="0">
              <a:spcBef>
                <a:spcPts val="0"/>
              </a:spcBef>
              <a:spcAft>
                <a:spcPts val="0"/>
              </a:spcAft>
              <a:buSzPts val="1300"/>
              <a:buFont typeface="Calibri"/>
              <a:buChar char="●"/>
            </a:pPr>
            <a:r>
              <a:rPr lang="en"/>
              <a:t>Open-source LLMOps evaluations</a:t>
            </a:r>
            <a:endParaRPr/>
          </a:p>
          <a:p>
            <a:pPr marL="457200" lvl="0" indent="-317500" algn="l" rtl="0">
              <a:spcBef>
                <a:spcPts val="0"/>
              </a:spcBef>
              <a:spcAft>
                <a:spcPts val="0"/>
              </a:spcAft>
              <a:buSzPts val="1400"/>
              <a:buChar char="●"/>
            </a:pPr>
            <a:r>
              <a:rPr lang="en"/>
              <a:t>Diverse Metrics: Evaluations covering aspects like factual accuracy, response completeness, tone critique, guideline adherence, and more.</a:t>
            </a:r>
            <a:endParaRPr/>
          </a:p>
          <a:p>
            <a:pPr marL="457200" lvl="0" indent="-317500" algn="l" rtl="0">
              <a:spcBef>
                <a:spcPts val="0"/>
              </a:spcBef>
              <a:spcAft>
                <a:spcPts val="0"/>
              </a:spcAft>
              <a:buSzPts val="1400"/>
              <a:buChar char="●"/>
            </a:pPr>
            <a:r>
              <a:rPr lang="en"/>
              <a:t>A/B Testing: Facilitates split testing, allowing users to experiment with different prompts. Useful for fine-tuning prompt strategies .</a:t>
            </a:r>
            <a:endParaRPr/>
          </a:p>
          <a:p>
            <a:pPr marL="457200" lvl="0" indent="-317500" algn="l" rtl="0">
              <a:spcBef>
                <a:spcPts val="0"/>
              </a:spcBef>
              <a:spcAft>
                <a:spcPts val="0"/>
              </a:spcAft>
              <a:buSzPts val="1400"/>
              <a:buChar char="●"/>
            </a:pPr>
            <a:r>
              <a:rPr lang="en"/>
              <a:t>Conversation Evaluation: Includes the ‘Conversation Satisfaction’ metric, which assesses user satisfaction based on the completeness and acceptance of the conversation with the AI assistant.</a:t>
            </a:r>
            <a:endParaRPr/>
          </a:p>
          <a:p>
            <a:pPr marL="457200" lvl="0" indent="-3111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3"/>
              </a:rPr>
              <a:t>https://uptrain.ai</a:t>
            </a:r>
            <a:r>
              <a:rPr lang="en" sz="1300">
                <a:latin typeface="Calibri"/>
                <a:ea typeface="Calibri"/>
                <a:cs typeface="Calibri"/>
                <a:sym typeface="Calibri"/>
              </a:rPr>
              <a:t> </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4"/>
              </a:rPr>
              <a:t>https://github.com/uptrain-ai/uptrain</a:t>
            </a:r>
            <a:r>
              <a:rPr lang="en" sz="1300">
                <a:latin typeface="Calibri"/>
                <a:ea typeface="Calibri"/>
                <a:cs typeface="Calibri"/>
                <a:sym typeface="Calibri"/>
              </a:rPr>
              <a:t> </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5"/>
              </a:rPr>
              <a:t>https://pypi.org/project/uptrain/</a:t>
            </a:r>
            <a:r>
              <a:rPr lang="en" sz="1300">
                <a:latin typeface="Calibri"/>
                <a:ea typeface="Calibri"/>
                <a:cs typeface="Calibri"/>
                <a:sym typeface="Calibri"/>
              </a:rPr>
              <a:t> </a:t>
            </a:r>
            <a:endParaRPr sz="1300">
              <a:latin typeface="Calibri"/>
              <a:ea typeface="Calibri"/>
              <a:cs typeface="Calibri"/>
              <a:sym typeface="Calibri"/>
            </a:endParaRPr>
          </a:p>
        </p:txBody>
      </p:sp>
      <p:pic>
        <p:nvPicPr>
          <p:cNvPr id="190" name="Google Shape;190;p2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165902" y="156594"/>
            <a:ext cx="2826399" cy="6817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8"/>
          <p:cNvSpPr txBox="1"/>
          <p:nvPr/>
        </p:nvSpPr>
        <p:spPr>
          <a:xfrm>
            <a:off x="72300" y="76200"/>
            <a:ext cx="3252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NotebookLM.Google.com</a:t>
            </a:r>
            <a:endParaRPr sz="2000" b="1">
              <a:latin typeface="Calibri"/>
              <a:ea typeface="Calibri"/>
              <a:cs typeface="Calibri"/>
              <a:sym typeface="Calibri"/>
            </a:endParaRPr>
          </a:p>
        </p:txBody>
      </p:sp>
      <p:sp>
        <p:nvSpPr>
          <p:cNvPr id="196" name="Google Shape;196;p28"/>
          <p:cNvSpPr txBox="1"/>
          <p:nvPr/>
        </p:nvSpPr>
        <p:spPr>
          <a:xfrm>
            <a:off x="72300" y="581225"/>
            <a:ext cx="4415700" cy="78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3"/>
              </a:rPr>
              <a:t>https://notebooklm.google.com</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4"/>
              </a:rPr>
              <a:t>https://www.youtube.com/watch?v=iWPjBwXy_Io</a:t>
            </a:r>
            <a:r>
              <a:rPr lang="en" sz="1300">
                <a:latin typeface="Calibri"/>
                <a:ea typeface="Calibri"/>
                <a:cs typeface="Calibri"/>
                <a:sym typeface="Calibri"/>
              </a:rPr>
              <a:t> - demo</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5"/>
              </a:rPr>
              <a:t>https://support.google.com/notebooklm</a:t>
            </a:r>
            <a:r>
              <a:rPr lang="en" sz="1300">
                <a:latin typeface="Calibri"/>
                <a:ea typeface="Calibri"/>
                <a:cs typeface="Calibri"/>
                <a:sym typeface="Calibri"/>
              </a:rPr>
              <a:t> - how-to</a:t>
            </a:r>
            <a:endParaRPr sz="1300">
              <a:latin typeface="Calibri"/>
              <a:ea typeface="Calibri"/>
              <a:cs typeface="Calibri"/>
              <a:sym typeface="Calibri"/>
            </a:endParaRPr>
          </a:p>
        </p:txBody>
      </p:sp>
      <p:pic>
        <p:nvPicPr>
          <p:cNvPr id="197" name="Google Shape;197;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40400" y="658814"/>
            <a:ext cx="4351200" cy="4407955"/>
          </a:xfrm>
          <a:prstGeom prst="rect">
            <a:avLst/>
          </a:prstGeom>
          <a:noFill/>
          <a:ln w="9525" cap="flat" cmpd="sng">
            <a:solidFill>
              <a:srgbClr val="FF0000"/>
            </a:solidFill>
            <a:prstDash val="solid"/>
            <a:round/>
            <a:headEnd type="none" w="sm" len="sm"/>
            <a:tailEnd type="none" w="sm" len="sm"/>
          </a:ln>
        </p:spPr>
      </p:pic>
      <p:pic>
        <p:nvPicPr>
          <p:cNvPr id="198" name="Google Shape;198;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6200" y="1547225"/>
            <a:ext cx="4335601" cy="352479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9"/>
          <p:cNvSpPr txBox="1"/>
          <p:nvPr/>
        </p:nvSpPr>
        <p:spPr>
          <a:xfrm>
            <a:off x="72300" y="0"/>
            <a:ext cx="4362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Gemini Diversity Problem</a:t>
            </a:r>
            <a:endParaRPr sz="2000" b="1">
              <a:latin typeface="Calibri"/>
              <a:ea typeface="Calibri"/>
              <a:cs typeface="Calibri"/>
              <a:sym typeface="Calibri"/>
            </a:endParaRPr>
          </a:p>
        </p:txBody>
      </p:sp>
      <p:sp>
        <p:nvSpPr>
          <p:cNvPr id="204" name="Google Shape;204;p29"/>
          <p:cNvSpPr txBox="1"/>
          <p:nvPr/>
        </p:nvSpPr>
        <p:spPr>
          <a:xfrm>
            <a:off x="32975" y="445725"/>
            <a:ext cx="43626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Gemini has problem with diversity settings (against white or jewish people) </a:t>
            </a: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3"/>
              </a:rPr>
              <a:t>https://www.youtube.com/watch?v=Fr6Teh_ox-8</a:t>
            </a:r>
            <a:r>
              <a:rPr lang="en" sz="1000">
                <a:solidFill>
                  <a:schemeClr val="dk1"/>
                </a:solidFill>
                <a:latin typeface="Calibri"/>
                <a:ea typeface="Calibri"/>
                <a:cs typeface="Calibri"/>
                <a:sym typeface="Calibri"/>
              </a:rPr>
              <a:t> </a:t>
            </a:r>
            <a:endParaRPr sz="1000">
              <a:latin typeface="Calibri"/>
              <a:ea typeface="Calibri"/>
              <a:cs typeface="Calibri"/>
              <a:sym typeface="Calibri"/>
            </a:endParaRPr>
          </a:p>
        </p:txBody>
      </p:sp>
      <p:pic>
        <p:nvPicPr>
          <p:cNvPr id="205" name="Google Shape;205;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00853" y="1185000"/>
            <a:ext cx="1922600" cy="2136225"/>
          </a:xfrm>
          <a:prstGeom prst="rect">
            <a:avLst/>
          </a:prstGeom>
          <a:noFill/>
          <a:ln>
            <a:noFill/>
          </a:ln>
        </p:spPr>
      </p:pic>
      <p:pic>
        <p:nvPicPr>
          <p:cNvPr id="206" name="Google Shape;206;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079900" y="127826"/>
            <a:ext cx="2018115" cy="2102200"/>
          </a:xfrm>
          <a:prstGeom prst="rect">
            <a:avLst/>
          </a:prstGeom>
          <a:noFill/>
          <a:ln>
            <a:noFill/>
          </a:ln>
        </p:spPr>
      </p:pic>
      <p:pic>
        <p:nvPicPr>
          <p:cNvPr id="207" name="Google Shape;207;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521150" y="127825"/>
            <a:ext cx="2018125" cy="1325297"/>
          </a:xfrm>
          <a:prstGeom prst="rect">
            <a:avLst/>
          </a:prstGeom>
          <a:noFill/>
          <a:ln>
            <a:noFill/>
          </a:ln>
        </p:spPr>
      </p:pic>
      <p:pic>
        <p:nvPicPr>
          <p:cNvPr id="208" name="Google Shape;208;p2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200850" y="3475500"/>
            <a:ext cx="1922601" cy="1498024"/>
          </a:xfrm>
          <a:prstGeom prst="rect">
            <a:avLst/>
          </a:prstGeom>
          <a:noFill/>
          <a:ln>
            <a:noFill/>
          </a:ln>
        </p:spPr>
      </p:pic>
      <p:pic>
        <p:nvPicPr>
          <p:cNvPr id="209" name="Google Shape;209;p2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2456624" y="1150050"/>
            <a:ext cx="1922599" cy="1942950"/>
          </a:xfrm>
          <a:prstGeom prst="rect">
            <a:avLst/>
          </a:prstGeom>
          <a:noFill/>
          <a:ln>
            <a:noFill/>
          </a:ln>
        </p:spPr>
      </p:pic>
      <p:pic>
        <p:nvPicPr>
          <p:cNvPr id="210" name="Google Shape;210;p29"/>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521155" y="1716473"/>
            <a:ext cx="2018126" cy="3257053"/>
          </a:xfrm>
          <a:prstGeom prst="rect">
            <a:avLst/>
          </a:prstGeom>
          <a:noFill/>
          <a:ln>
            <a:noFill/>
          </a:ln>
        </p:spPr>
      </p:pic>
      <p:pic>
        <p:nvPicPr>
          <p:cNvPr id="211" name="Google Shape;211;p29"/>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6721905" y="2863351"/>
            <a:ext cx="2299920" cy="2110177"/>
          </a:xfrm>
          <a:prstGeom prst="rect">
            <a:avLst/>
          </a:prstGeom>
          <a:noFill/>
          <a:ln>
            <a:noFill/>
          </a:ln>
        </p:spPr>
      </p:pic>
      <p:pic>
        <p:nvPicPr>
          <p:cNvPr id="212" name="Google Shape;212;p29"/>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2558733" y="3212325"/>
            <a:ext cx="1718380" cy="1822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0"/>
          <p:cNvSpPr txBox="1"/>
          <p:nvPr/>
        </p:nvSpPr>
        <p:spPr>
          <a:xfrm>
            <a:off x="72300" y="76200"/>
            <a:ext cx="3252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How to Pilot Generative AI </a:t>
            </a:r>
            <a:endParaRPr sz="2000" b="1">
              <a:latin typeface="Calibri"/>
              <a:ea typeface="Calibri"/>
              <a:cs typeface="Calibri"/>
              <a:sym typeface="Calibri"/>
            </a:endParaRPr>
          </a:p>
        </p:txBody>
      </p:sp>
      <p:sp>
        <p:nvSpPr>
          <p:cNvPr id="218" name="Google Shape;218;p30"/>
          <p:cNvSpPr txBox="1"/>
          <p:nvPr/>
        </p:nvSpPr>
        <p:spPr>
          <a:xfrm>
            <a:off x="72300" y="581225"/>
            <a:ext cx="4415700" cy="3740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How to Pilot Generative AI - by Gartner</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https://www.gartner.com/en/doc/797246-how-to-pilot-generative-ai</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Learn how to successfully build generative AI pilot applications.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Analysis and recommendations for product and IT leaders.</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Find out how to shift the discussion towards the business potential of generative AI, rather than focusing solely on technical feasibility.</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Gain insights on identifying the most valuable and feasible use cases.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Understand how to build an efficient AI team and collaborate effectively with business partners, AI, and software engineers.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Lay the foundation for faster development cycles and prioritizing Gen AI initiatives.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earn how to build a product, not just an IT demo, and how to mitigate the risks associated with generative AI.</a:t>
            </a:r>
            <a:endParaRPr sz="1300">
              <a:latin typeface="Calibri"/>
              <a:ea typeface="Calibri"/>
              <a:cs typeface="Calibri"/>
              <a:sym typeface="Calibri"/>
            </a:endParaRPr>
          </a:p>
        </p:txBody>
      </p:sp>
      <p:pic>
        <p:nvPicPr>
          <p:cNvPr id="219" name="Google Shape;219;p30"/>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350850" y="136300"/>
            <a:ext cx="1701200" cy="524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1"/>
          <p:cNvSpPr txBox="1"/>
          <p:nvPr/>
        </p:nvSpPr>
        <p:spPr>
          <a:xfrm>
            <a:off x="7287950" y="845650"/>
            <a:ext cx="1763700" cy="449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b="1">
                <a:solidFill>
                  <a:srgbClr val="FF0000"/>
                </a:solidFill>
                <a:latin typeface="Calibri"/>
                <a:ea typeface="Calibri"/>
                <a:cs typeface="Calibri"/>
                <a:sym typeface="Calibri"/>
              </a:rPr>
              <a:t>Feb 15, 2024</a:t>
            </a:r>
            <a:endParaRPr>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64 Models, 300 K votes</a:t>
            </a:r>
            <a:endParaRPr>
              <a:solidFill>
                <a:schemeClr val="dk1"/>
              </a:solidFill>
              <a:latin typeface="Calibri"/>
              <a:ea typeface="Calibri"/>
              <a:cs typeface="Calibri"/>
              <a:sym typeface="Calibri"/>
            </a:endParaRPr>
          </a:p>
        </p:txBody>
      </p:sp>
      <p:sp>
        <p:nvSpPr>
          <p:cNvPr id="225" name="Google Shape;225;p31"/>
          <p:cNvSpPr txBox="1"/>
          <p:nvPr/>
        </p:nvSpPr>
        <p:spPr>
          <a:xfrm>
            <a:off x="7254050" y="4211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Starting Elo rating = 1000</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95% CI = Confidence Interval</a:t>
            </a:r>
            <a:endParaRPr sz="1200">
              <a:solidFill>
                <a:schemeClr val="dk1"/>
              </a:solidFill>
              <a:latin typeface="Calibri"/>
              <a:ea typeface="Calibri"/>
              <a:cs typeface="Calibri"/>
              <a:sym typeface="Calibri"/>
            </a:endParaRPr>
          </a:p>
        </p:txBody>
      </p:sp>
      <p:sp>
        <p:nvSpPr>
          <p:cNvPr id="226" name="Google Shape;226;p31"/>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Crowd-sourced "Arena" Leaderboard</a:t>
            </a:r>
            <a:endParaRPr sz="2000" b="1">
              <a:latin typeface="Calibri"/>
              <a:ea typeface="Calibri"/>
              <a:cs typeface="Calibri"/>
              <a:sym typeface="Calibri"/>
            </a:endParaRPr>
          </a:p>
        </p:txBody>
      </p:sp>
      <p:sp>
        <p:nvSpPr>
          <p:cNvPr id="227" name="Google Shape;227;p31"/>
          <p:cNvSpPr txBox="1"/>
          <p:nvPr/>
        </p:nvSpPr>
        <p:spPr>
          <a:xfrm>
            <a:off x="5535876" y="45850"/>
            <a:ext cx="3549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https://huggingface.co/spaces/lmsys/chatbot-arena-leaderboard</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228" name="Google Shape;228;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01800" y="421150"/>
            <a:ext cx="7050350" cy="46118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2"/>
          <p:cNvSpPr txBox="1"/>
          <p:nvPr/>
        </p:nvSpPr>
        <p:spPr>
          <a:xfrm>
            <a:off x="4278488" y="39363"/>
            <a:ext cx="34278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HELM = Holistic Evaluation of Language Models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from Stanford CRFM (Center for Research on Foundation Models). Python package </a:t>
            </a:r>
            <a:r>
              <a:rPr lang="en" sz="1200" b="1">
                <a:solidFill>
                  <a:srgbClr val="FF0000"/>
                </a:solidFill>
                <a:latin typeface="Calibri"/>
                <a:ea typeface="Calibri"/>
                <a:cs typeface="Calibri"/>
                <a:sym typeface="Calibri"/>
              </a:rPr>
              <a:t>crfm-helm.</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https://crfm.stanford.edu/helm/lite/latest/#/leaderboard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4"/>
              </a:rPr>
              <a:t>https://crfm.stanford.edu/helm/lite/latest/</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5"/>
              </a:rPr>
              <a:t>https://arxiv.org/abs/2211.09110</a:t>
            </a:r>
            <a:r>
              <a:rPr lang="en" sz="1000">
                <a:solidFill>
                  <a:schemeClr val="dk1"/>
                </a:solidFill>
                <a:latin typeface="Calibri"/>
                <a:ea typeface="Calibri"/>
                <a:cs typeface="Calibri"/>
                <a:sym typeface="Calibri"/>
              </a:rPr>
              <a:t> - paper</a:t>
            </a:r>
            <a:endParaRPr sz="1000">
              <a:solidFill>
                <a:schemeClr val="dk1"/>
              </a:solidFill>
              <a:latin typeface="Calibri"/>
              <a:ea typeface="Calibri"/>
              <a:cs typeface="Calibri"/>
              <a:sym typeface="Calibri"/>
            </a:endParaRPr>
          </a:p>
        </p:txBody>
      </p:sp>
      <p:sp>
        <p:nvSpPr>
          <p:cNvPr id="234" name="Google Shape;234;p32"/>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HELM Leaderboard</a:t>
            </a:r>
            <a:endParaRPr sz="2000" b="1">
              <a:latin typeface="Calibri"/>
              <a:ea typeface="Calibri"/>
              <a:cs typeface="Calibri"/>
              <a:sym typeface="Calibri"/>
            </a:endParaRPr>
          </a:p>
        </p:txBody>
      </p:sp>
      <p:pic>
        <p:nvPicPr>
          <p:cNvPr id="235" name="Google Shape;235;p3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871124" y="0"/>
            <a:ext cx="1239101" cy="774426"/>
          </a:xfrm>
          <a:prstGeom prst="rect">
            <a:avLst/>
          </a:prstGeom>
          <a:noFill/>
          <a:ln>
            <a:noFill/>
          </a:ln>
        </p:spPr>
      </p:pic>
      <p:pic>
        <p:nvPicPr>
          <p:cNvPr id="236" name="Google Shape;236;p3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2808350" y="39375"/>
            <a:ext cx="1353800" cy="452275"/>
          </a:xfrm>
          <a:prstGeom prst="rect">
            <a:avLst/>
          </a:prstGeom>
          <a:noFill/>
          <a:ln>
            <a:noFill/>
          </a:ln>
        </p:spPr>
      </p:pic>
      <p:pic>
        <p:nvPicPr>
          <p:cNvPr id="237" name="Google Shape;237;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2522150" y="2105353"/>
            <a:ext cx="3955087" cy="2856223"/>
          </a:xfrm>
          <a:prstGeom prst="rect">
            <a:avLst/>
          </a:prstGeom>
          <a:noFill/>
          <a:ln w="9525" cap="flat" cmpd="sng">
            <a:solidFill>
              <a:srgbClr val="FF0000"/>
            </a:solidFill>
            <a:prstDash val="solid"/>
            <a:round/>
            <a:headEnd type="none" w="sm" len="sm"/>
            <a:tailEnd type="none" w="sm" len="sm"/>
          </a:ln>
        </p:spPr>
      </p:pic>
      <p:pic>
        <p:nvPicPr>
          <p:cNvPr id="238" name="Google Shape;238;p3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822225" y="1558253"/>
            <a:ext cx="2232300" cy="1754300"/>
          </a:xfrm>
          <a:prstGeom prst="rect">
            <a:avLst/>
          </a:prstGeom>
          <a:noFill/>
          <a:ln w="9525" cap="flat" cmpd="sng">
            <a:solidFill>
              <a:srgbClr val="FF0000"/>
            </a:solidFill>
            <a:prstDash val="solid"/>
            <a:round/>
            <a:headEnd type="none" w="sm" len="sm"/>
            <a:tailEnd type="none" w="sm" len="sm"/>
          </a:ln>
        </p:spPr>
      </p:pic>
      <p:pic>
        <p:nvPicPr>
          <p:cNvPr id="239" name="Google Shape;239;p32"/>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6575125" y="3446875"/>
            <a:ext cx="2479399" cy="695700"/>
          </a:xfrm>
          <a:prstGeom prst="rect">
            <a:avLst/>
          </a:prstGeom>
          <a:noFill/>
          <a:ln w="9525" cap="flat" cmpd="sng">
            <a:solidFill>
              <a:srgbClr val="FF0000"/>
            </a:solidFill>
            <a:prstDash val="solid"/>
            <a:round/>
            <a:headEnd type="none" w="sm" len="sm"/>
            <a:tailEnd type="none" w="sm" len="sm"/>
          </a:ln>
        </p:spPr>
      </p:pic>
      <p:graphicFrame>
        <p:nvGraphicFramePr>
          <p:cNvPr id="240" name="Google Shape;240;p32"/>
          <p:cNvGraphicFramePr/>
          <p:nvPr/>
        </p:nvGraphicFramePr>
        <p:xfrm>
          <a:off x="152400" y="457200"/>
          <a:ext cx="3000000" cy="3000000"/>
        </p:xfrm>
        <a:graphic>
          <a:graphicData uri="http://schemas.openxmlformats.org/drawingml/2006/table">
            <a:tbl>
              <a:tblPr>
                <a:noFill/>
                <a:tableStyleId>{8314E878-3E45-428C-A9B3-C2D216E8C6CA}</a:tableStyleId>
              </a:tblPr>
              <a:tblGrid>
                <a:gridCol w="1828800">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tblGrid>
              <a:tr h="123950">
                <a:tc>
                  <a:txBody>
                    <a:bodyPr/>
                    <a:lstStyle/>
                    <a:p>
                      <a:pPr marL="0" lvl="0" indent="0" algn="l" rtl="0">
                        <a:lnSpc>
                          <a:spcPct val="115000"/>
                        </a:lnSpc>
                        <a:spcBef>
                          <a:spcPts val="0"/>
                        </a:spcBef>
                        <a:spcAft>
                          <a:spcPts val="0"/>
                        </a:spcAft>
                        <a:buNone/>
                      </a:pPr>
                      <a:r>
                        <a:rPr lang="en" sz="900" b="1">
                          <a:solidFill>
                            <a:srgbClr val="FF0000"/>
                          </a:solidFill>
                          <a:latin typeface="Calibri"/>
                          <a:ea typeface="Calibri"/>
                          <a:cs typeface="Calibri"/>
                          <a:sym typeface="Calibri"/>
                        </a:rPr>
                        <a:t>GPT-4 (0613)</a:t>
                      </a:r>
                      <a:endParaRPr sz="900" b="1">
                        <a:solidFill>
                          <a:srgbClr val="FF0000"/>
                        </a:solidFill>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0.962</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34825">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GPT-4 Turbo (1106 preview)</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0.834</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Palmyra X V3 (72B)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0.821</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Palmyra X V2 (33B)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0.783</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PaLM-2 (Unicorn)</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0.776</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Yi (34B)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0.772</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123950">
                <a:tc>
                  <a:txBody>
                    <a:bodyPr/>
                    <a:lstStyle/>
                    <a:p>
                      <a:pPr marL="0" lvl="0" indent="0" algn="l" rtl="0">
                        <a:lnSpc>
                          <a:spcPct val="115000"/>
                        </a:lnSpc>
                        <a:spcBef>
                          <a:spcPts val="0"/>
                        </a:spcBef>
                        <a:spcAft>
                          <a:spcPts val="0"/>
                        </a:spcAft>
                        <a:buNone/>
                      </a:pPr>
                      <a:r>
                        <a:rPr lang="en" sz="900" b="1">
                          <a:solidFill>
                            <a:srgbClr val="FF0000"/>
                          </a:solidFill>
                          <a:latin typeface="Calibri"/>
                          <a:ea typeface="Calibri"/>
                          <a:cs typeface="Calibri"/>
                          <a:sym typeface="Calibri"/>
                        </a:rPr>
                        <a:t>Mixtral (8x7B 32K seqlen)</a:t>
                      </a:r>
                      <a:endParaRPr sz="900" b="1">
                        <a:solidFill>
                          <a:srgbClr val="FF0000"/>
                        </a:solidFill>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0.728</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Anthropic Claude v1.3</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0.724</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7"/>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PaLM-2 (Bison)</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0.686</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8"/>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Anthropic Claude 2.0</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0.679</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9"/>
                  </a:ext>
                </a:extLst>
              </a:tr>
              <a:tr h="123950">
                <a:tc>
                  <a:txBody>
                    <a:bodyPr/>
                    <a:lstStyle/>
                    <a:p>
                      <a:pPr marL="0" lvl="0" indent="0" algn="l" rtl="0">
                        <a:lnSpc>
                          <a:spcPct val="115000"/>
                        </a:lnSpc>
                        <a:spcBef>
                          <a:spcPts val="0"/>
                        </a:spcBef>
                        <a:spcAft>
                          <a:spcPts val="0"/>
                        </a:spcAft>
                        <a:buNone/>
                      </a:pPr>
                      <a:r>
                        <a:rPr lang="en" sz="900" b="1">
                          <a:solidFill>
                            <a:srgbClr val="FF0000"/>
                          </a:solidFill>
                          <a:latin typeface="Calibri"/>
                          <a:ea typeface="Calibri"/>
                          <a:cs typeface="Calibri"/>
                          <a:sym typeface="Calibri"/>
                        </a:rPr>
                        <a:t>Llama 2 (70B)</a:t>
                      </a:r>
                      <a:endParaRPr sz="900" b="1">
                        <a:solidFill>
                          <a:srgbClr val="FF0000"/>
                        </a:solidFill>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0.659</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0"/>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GPT-3.5 (text-davinci-003)</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0.621</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1"/>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Anthropic Claude 2.1</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0.593</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2"/>
                  </a:ext>
                </a:extLst>
              </a:tr>
              <a:tr h="134825">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Anthropic Claude Instant 1.2</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0.562</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3"/>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GPT-3.5 (text-davinci-002)</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0.514</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4"/>
                  </a:ext>
                </a:extLst>
              </a:tr>
              <a:tr h="123950">
                <a:tc>
                  <a:txBody>
                    <a:bodyPr/>
                    <a:lstStyle/>
                    <a:p>
                      <a:pPr marL="0" lvl="0" indent="0" algn="l" rtl="0">
                        <a:lnSpc>
                          <a:spcPct val="115000"/>
                        </a:lnSpc>
                        <a:spcBef>
                          <a:spcPts val="0"/>
                        </a:spcBef>
                        <a:spcAft>
                          <a:spcPts val="0"/>
                        </a:spcAft>
                        <a:buNone/>
                      </a:pPr>
                      <a:r>
                        <a:rPr lang="en" sz="900" b="1">
                          <a:solidFill>
                            <a:srgbClr val="FF0000"/>
                          </a:solidFill>
                          <a:latin typeface="Calibri"/>
                          <a:ea typeface="Calibri"/>
                          <a:cs typeface="Calibri"/>
                          <a:sym typeface="Calibri"/>
                        </a:rPr>
                        <a:t>GPT-3.5 Turbo (0613)</a:t>
                      </a:r>
                      <a:endParaRPr sz="900" b="1">
                        <a:solidFill>
                          <a:srgbClr val="FF0000"/>
                        </a:solidFill>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0.507</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5"/>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LLaMA (65B)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0.503</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6"/>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Cohere Command</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0.462</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7"/>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Mistral v0.1 (7B)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0.438</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8"/>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Yi (6B)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0.376</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9"/>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Llama 2 (13B)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0.348</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20"/>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Jurassic-2 Jumbo (178B)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0.331</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21"/>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Falcon (40B)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0.324</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22"/>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Jurassic-2 Grande (17B)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0.252</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23"/>
                  </a:ext>
                </a:extLst>
              </a:tr>
              <a:tr h="123950">
                <a:tc>
                  <a:txBody>
                    <a:bodyPr/>
                    <a:lstStyle/>
                    <a:p>
                      <a:pPr marL="0" lvl="0" indent="0" algn="l" rtl="0">
                        <a:lnSpc>
                          <a:spcPct val="115000"/>
                        </a:lnSpc>
                        <a:spcBef>
                          <a:spcPts val="0"/>
                        </a:spcBef>
                        <a:spcAft>
                          <a:spcPts val="0"/>
                        </a:spcAft>
                        <a:buNone/>
                      </a:pPr>
                      <a:r>
                        <a:rPr lang="en" sz="900">
                          <a:latin typeface="Calibri"/>
                          <a:ea typeface="Calibri"/>
                          <a:cs typeface="Calibri"/>
                          <a:sym typeface="Calibri"/>
                        </a:rPr>
                        <a:t>Llama 2 (7B)</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900">
                          <a:latin typeface="Calibri"/>
                          <a:ea typeface="Calibri"/>
                          <a:cs typeface="Calibri"/>
                          <a:sym typeface="Calibri"/>
                        </a:rPr>
                        <a:t>0.217</a:t>
                      </a:r>
                      <a:endParaRPr sz="900">
                        <a:latin typeface="Calibri"/>
                        <a:ea typeface="Calibri"/>
                        <a:cs typeface="Calibri"/>
                        <a:sym typeface="Calibri"/>
                      </a:endParaRPr>
                    </a:p>
                  </a:txBody>
                  <a:tcPr marL="28575" marR="2857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2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3"/>
          <p:cNvSpPr txBox="1"/>
          <p:nvPr/>
        </p:nvSpPr>
        <p:spPr>
          <a:xfrm>
            <a:off x="72300" y="76200"/>
            <a:ext cx="3252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LLM as Zero-cost Commodity</a:t>
            </a:r>
            <a:endParaRPr sz="2000" b="1">
              <a:latin typeface="Calibri"/>
              <a:ea typeface="Calibri"/>
              <a:cs typeface="Calibri"/>
              <a:sym typeface="Calibri"/>
            </a:endParaRPr>
          </a:p>
        </p:txBody>
      </p:sp>
      <p:sp>
        <p:nvSpPr>
          <p:cNvPr id="246" name="Google Shape;246;p33"/>
          <p:cNvSpPr txBox="1"/>
          <p:nvPr/>
        </p:nvSpPr>
        <p:spPr>
          <a:xfrm>
            <a:off x="72300" y="581225"/>
            <a:ext cx="4415700" cy="398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LLMs are becoming better and cheaper.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Eventually becoming a free commodity.</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The value will be not in LLMs, but in systems and data.</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3"/>
              </a:rPr>
              <a:t>https://news.ycombinator.com/item?id=36806770</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"First customer service, Then replacement of call centers.</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LLMs will then be incorporated into video games ... NPCs you can actually talk to who will address you by name</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Then there will education ... A well tuned LLM can substitute for the bottom 40 percent of grade school teachers.</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The real question is what aspects of this are monetizable? The truth is </a:t>
            </a:r>
            <a:r>
              <a:rPr lang="en" sz="1300" b="1">
                <a:solidFill>
                  <a:srgbClr val="FF0000"/>
                </a:solidFill>
                <a:latin typeface="Calibri"/>
                <a:ea typeface="Calibri"/>
                <a:cs typeface="Calibri"/>
                <a:sym typeface="Calibri"/>
              </a:rPr>
              <a:t>all software becomes a commodity over time. LLMs will become cheap, then they will become free</a:t>
            </a:r>
            <a:r>
              <a:rPr lang="en" sz="1300">
                <a:latin typeface="Calibri"/>
                <a:ea typeface="Calibri"/>
                <a:cs typeface="Calibri"/>
                <a:sym typeface="Calibri"/>
              </a:rPr>
              <a:t> (they already are with LLAMA). The truly valuable companies have network effects that keep users coming back. LinkedIn, Google, Union Pacific, GitHub, Microsoft windows are all network monopolies."</a:t>
            </a:r>
            <a:endParaRPr sz="1300">
              <a:latin typeface="Calibri"/>
              <a:ea typeface="Calibri"/>
              <a:cs typeface="Calibri"/>
              <a:sym typeface="Calibri"/>
            </a:endParaRPr>
          </a:p>
        </p:txBody>
      </p:sp>
      <p:sp>
        <p:nvSpPr>
          <p:cNvPr id="247" name="Google Shape;247;p33"/>
          <p:cNvSpPr txBox="1"/>
          <p:nvPr/>
        </p:nvSpPr>
        <p:spPr>
          <a:xfrm>
            <a:off x="4572000" y="581225"/>
            <a:ext cx="4493100" cy="298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"From that perspective, the most valuable LLM company will be the anti-LLM companies.</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Facebook, Tinder, Twitter, Instagram - all considerably less valuable once the majority of their user bases is replaced with extremely high quality bots. The real consumers may gradually sign off and take their money elsewhere.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In that world, a naive person would try to build a bot detector. But a good bot detector can simply be used to build a better bot.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Instead, to win at this game, I think the most important way to win with LLMs to devise better forms of human authentication!"</a:t>
            </a:r>
            <a:endParaRPr sz="13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4"/>
          <p:cNvSpPr txBox="1"/>
          <p:nvPr/>
        </p:nvSpPr>
        <p:spPr>
          <a:xfrm>
            <a:off x="72300" y="76200"/>
            <a:ext cx="4131300" cy="6342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Decrease in writing, translation, and some other jobs</a:t>
            </a:r>
            <a:endParaRPr sz="2000" b="1">
              <a:latin typeface="Calibri"/>
              <a:ea typeface="Calibri"/>
              <a:cs typeface="Calibri"/>
              <a:sym typeface="Calibri"/>
            </a:endParaRPr>
          </a:p>
        </p:txBody>
      </p:sp>
      <p:sp>
        <p:nvSpPr>
          <p:cNvPr id="253" name="Google Shape;253;p34"/>
          <p:cNvSpPr txBox="1"/>
          <p:nvPr/>
        </p:nvSpPr>
        <p:spPr>
          <a:xfrm>
            <a:off x="72300" y="710400"/>
            <a:ext cx="4975200" cy="557100"/>
          </a:xfrm>
          <a:prstGeom prst="rect">
            <a:avLst/>
          </a:prstGeom>
          <a:solidFill>
            <a:srgbClr val="FFF2CC"/>
          </a:solid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I analyzed 5M freelancing jobs </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to see what jobs are being replaced by AI</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900" u="sng">
                <a:solidFill>
                  <a:schemeClr val="hlink"/>
                </a:solidFill>
                <a:latin typeface="Calibri"/>
                <a:ea typeface="Calibri"/>
                <a:cs typeface="Calibri"/>
                <a:sym typeface="Calibri"/>
                <a:hlinkClick r:id="rId3"/>
              </a:rPr>
              <a:t>https://bloomberry.com/i-analyzed-5m-freelancing-jobs-to-see-what-jobs-are-being-replaced-by-ai/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54" name="Google Shape;254;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84726" y="76200"/>
            <a:ext cx="3904400" cy="2415675"/>
          </a:xfrm>
          <a:prstGeom prst="rect">
            <a:avLst/>
          </a:prstGeom>
          <a:noFill/>
          <a:ln w="9525" cap="flat" cmpd="sng">
            <a:solidFill>
              <a:srgbClr val="FF0000"/>
            </a:solidFill>
            <a:prstDash val="solid"/>
            <a:round/>
            <a:headEnd type="none" w="sm" len="sm"/>
            <a:tailEnd type="none" w="sm" len="sm"/>
          </a:ln>
        </p:spPr>
      </p:pic>
      <p:pic>
        <p:nvPicPr>
          <p:cNvPr id="255" name="Google Shape;255;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85499" y="2584601"/>
            <a:ext cx="3898026" cy="2415675"/>
          </a:xfrm>
          <a:prstGeom prst="rect">
            <a:avLst/>
          </a:prstGeom>
          <a:noFill/>
          <a:ln w="9525" cap="flat" cmpd="sng">
            <a:solidFill>
              <a:srgbClr val="FF0000"/>
            </a:solidFill>
            <a:prstDash val="solid"/>
            <a:round/>
            <a:headEnd type="none" w="sm" len="sm"/>
            <a:tailEnd type="none" w="sm" len="sm"/>
          </a:ln>
        </p:spPr>
      </p:pic>
      <p:pic>
        <p:nvPicPr>
          <p:cNvPr id="256" name="Google Shape;256;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12225" y="1919628"/>
            <a:ext cx="4975201" cy="308064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5"/>
          <p:cNvSpPr txBox="1"/>
          <p:nvPr/>
        </p:nvSpPr>
        <p:spPr>
          <a:xfrm>
            <a:off x="72300" y="7620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Layoffs are not too big</a:t>
            </a:r>
            <a:endParaRPr sz="2000" b="1">
              <a:latin typeface="Calibri"/>
              <a:ea typeface="Calibri"/>
              <a:cs typeface="Calibri"/>
              <a:sym typeface="Calibri"/>
            </a:endParaRPr>
          </a:p>
        </p:txBody>
      </p:sp>
      <p:sp>
        <p:nvSpPr>
          <p:cNvPr id="262" name="Google Shape;262;p35"/>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Layoffs - </a:t>
            </a:r>
            <a:r>
              <a:rPr lang="en" sz="1300" u="sng">
                <a:solidFill>
                  <a:schemeClr val="hlink"/>
                </a:solidFill>
                <a:latin typeface="Calibri"/>
                <a:ea typeface="Calibri"/>
                <a:cs typeface="Calibri"/>
                <a:sym typeface="Calibri"/>
                <a:hlinkClick r:id="rId3"/>
              </a:rPr>
              <a:t>https://layoffs.fyi</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p:txBody>
      </p:sp>
      <p:sp>
        <p:nvSpPr>
          <p:cNvPr id="263" name="Google Shape;263;p35"/>
          <p:cNvSpPr txBox="1"/>
          <p:nvPr/>
        </p:nvSpPr>
        <p:spPr>
          <a:xfrm>
            <a:off x="2452313" y="4109075"/>
            <a:ext cx="3716100" cy="218400"/>
          </a:xfrm>
          <a:prstGeom prst="rect">
            <a:avLst/>
          </a:prstGeom>
          <a:solidFill>
            <a:srgbClr val="FFF2CC"/>
          </a:solidFill>
          <a:ln>
            <a:noFill/>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So far in 2024 layoffs are 3-times less than in 2023</a:t>
            </a:r>
            <a:endParaRPr sz="1300">
              <a:solidFill>
                <a:schemeClr val="dk1"/>
              </a:solidFill>
              <a:latin typeface="Calibri"/>
              <a:ea typeface="Calibri"/>
              <a:cs typeface="Calibri"/>
              <a:sym typeface="Calibri"/>
            </a:endParaRPr>
          </a:p>
        </p:txBody>
      </p:sp>
      <p:pic>
        <p:nvPicPr>
          <p:cNvPr id="264" name="Google Shape;264;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39325" y="814647"/>
            <a:ext cx="7124034" cy="30088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6"/>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0" b="1">
                <a:solidFill>
                  <a:srgbClr val="3C78D8"/>
                </a:solidFill>
                <a:latin typeface="Calibri"/>
                <a:ea typeface="Calibri"/>
                <a:cs typeface="Calibri"/>
                <a:sym typeface="Calibri"/>
              </a:rPr>
              <a:t>Thank You!</a:t>
            </a:r>
            <a:endParaRPr sz="7000" b="1">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3089</Words>
  <Application>Microsoft Macintosh PowerPoint</Application>
  <PresentationFormat>On-screen Show (16:9)</PresentationFormat>
  <Paragraphs>340</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Calibri</vt: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cp:lastPrinted>2024-02-23T18:33:14Z</cp:lastPrinted>
  <dcterms:modified xsi:type="dcterms:W3CDTF">2024-02-23T18:33:24Z</dcterms:modified>
</cp:coreProperties>
</file>