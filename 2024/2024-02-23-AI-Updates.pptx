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embeddedFontLst>
    <p:embeddedFont>
      <p:font typeface="Roboto Mono" pitchFamily="49" charset="0"/>
      <p:regular r:id="rId25"/>
      <p:bold r:id="rId26"/>
      <p:italic r:id="rId27"/>
      <p:boldItalic r:id="rId28"/>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1B0C7711-56E5-4754-9238-86AEBA9C43E4}">
  <a:tblStyle styleId="{1B0C7711-56E5-4754-9238-86AEBA9C43E4}"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3E865C45-AA70-49CF-9D23-C2631EF97349}" styleName="Table_1">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94"/>
  </p:normalViewPr>
  <p:slideViewPr>
    <p:cSldViewPr snapToGrid="0">
      <p:cViewPr varScale="1">
        <p:scale>
          <a:sx n="161" d="100"/>
          <a:sy n="161" d="100"/>
        </p:scale>
        <p:origin x="784" y="200"/>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2.fntdata"/><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1.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4.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3.fntdata"/><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g2b9b9eac199_0_2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2b9b9eac199_0_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
        <p:cNvGrpSpPr/>
        <p:nvPr/>
      </p:nvGrpSpPr>
      <p:grpSpPr>
        <a:xfrm>
          <a:off x="0" y="0"/>
          <a:ext cx="0" cy="0"/>
          <a:chOff x="0" y="0"/>
          <a:chExt cx="0" cy="0"/>
        </a:xfrm>
      </p:grpSpPr>
      <p:sp>
        <p:nvSpPr>
          <p:cNvPr id="58" name="Google Shape;58;g2b7eafe0074_1_10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 name="Google Shape;59;g2b7eafe0074_1_1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
        <p:cNvGrpSpPr/>
        <p:nvPr/>
      </p:nvGrpSpPr>
      <p:grpSpPr>
        <a:xfrm>
          <a:off x="0" y="0"/>
          <a:ext cx="0" cy="0"/>
          <a:chOff x="0" y="0"/>
          <a:chExt cx="0" cy="0"/>
        </a:xfrm>
      </p:grpSpPr>
      <p:sp>
        <p:nvSpPr>
          <p:cNvPr id="67" name="Google Shape;67;g2b9fe0b8e54_0_3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8" name="Google Shape;68;g2b9fe0b8e54_0_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
        <p:cNvGrpSpPr/>
        <p:nvPr/>
      </p:nvGrpSpPr>
      <p:grpSpPr>
        <a:xfrm>
          <a:off x="0" y="0"/>
          <a:ext cx="0" cy="0"/>
          <a:chOff x="0" y="0"/>
          <a:chExt cx="0" cy="0"/>
        </a:xfrm>
      </p:grpSpPr>
      <p:sp>
        <p:nvSpPr>
          <p:cNvPr id="76" name="Google Shape;76;g2bb4be32bd4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7" name="Google Shape;77;g2bb4be32bd4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
        <p:cNvGrpSpPr/>
        <p:nvPr/>
      </p:nvGrpSpPr>
      <p:grpSpPr>
        <a:xfrm>
          <a:off x="0" y="0"/>
          <a:ext cx="0" cy="0"/>
          <a:chOff x="0" y="0"/>
          <a:chExt cx="0" cy="0"/>
        </a:xfrm>
      </p:grpSpPr>
      <p:sp>
        <p:nvSpPr>
          <p:cNvPr id="83" name="Google Shape;83;g2bb5e717530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4" name="Google Shape;84;g2bb5e717530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g2bad9bea683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1" name="Google Shape;91;g2bad9bea683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
        <p:cNvGrpSpPr/>
        <p:nvPr/>
      </p:nvGrpSpPr>
      <p:grpSpPr>
        <a:xfrm>
          <a:off x="0" y="0"/>
          <a:ext cx="0" cy="0"/>
          <a:chOff x="0" y="0"/>
          <a:chExt cx="0" cy="0"/>
        </a:xfrm>
      </p:grpSpPr>
      <p:sp>
        <p:nvSpPr>
          <p:cNvPr id="102" name="Google Shape;102;g2ba5f586be2_1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 name="Google Shape;103;g2ba5f586be2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g2ba60d651b9_0_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 name="Google Shape;113;g2ba60d651b9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2"/>
        <p:cNvGrpSpPr/>
        <p:nvPr/>
      </p:nvGrpSpPr>
      <p:grpSpPr>
        <a:xfrm>
          <a:off x="0" y="0"/>
          <a:ext cx="0" cy="0"/>
          <a:chOff x="0" y="0"/>
          <a:chExt cx="0" cy="0"/>
        </a:xfrm>
      </p:grpSpPr>
      <p:sp>
        <p:nvSpPr>
          <p:cNvPr id="123" name="Google Shape;123;g2baf2ccdf4e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4" name="Google Shape;124;g2baf2ccdf4e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
        <p:cNvGrpSpPr/>
        <p:nvPr/>
      </p:nvGrpSpPr>
      <p:grpSpPr>
        <a:xfrm>
          <a:off x="0" y="0"/>
          <a:ext cx="0" cy="0"/>
          <a:chOff x="0" y="0"/>
          <a:chExt cx="0" cy="0"/>
        </a:xfrm>
      </p:grpSpPr>
      <p:sp>
        <p:nvSpPr>
          <p:cNvPr id="131" name="Google Shape;131;g2bacc5fb6a8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2" name="Google Shape;132;g2bacc5fb6a8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
        <p:cNvGrpSpPr/>
        <p:nvPr/>
      </p:nvGrpSpPr>
      <p:grpSpPr>
        <a:xfrm>
          <a:off x="0" y="0"/>
          <a:ext cx="0" cy="0"/>
          <a:chOff x="0" y="0"/>
          <a:chExt cx="0" cy="0"/>
        </a:xfrm>
      </p:grpSpPr>
      <p:sp>
        <p:nvSpPr>
          <p:cNvPr id="145" name="Google Shape;145;g2bb0d5757ec_0_1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6" name="Google Shape;146;g2bb0d5757ec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2"/>
        <p:cNvGrpSpPr/>
        <p:nvPr/>
      </p:nvGrpSpPr>
      <p:grpSpPr>
        <a:xfrm>
          <a:off x="0" y="0"/>
          <a:ext cx="0" cy="0"/>
          <a:chOff x="0" y="0"/>
          <a:chExt cx="0" cy="0"/>
        </a:xfrm>
      </p:grpSpPr>
      <p:sp>
        <p:nvSpPr>
          <p:cNvPr id="153" name="Google Shape;153;g2bacc5fb6a8_0_1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4" name="Google Shape;154;g2bacc5fb6a8_0_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
        <p:cNvGrpSpPr/>
        <p:nvPr/>
      </p:nvGrpSpPr>
      <p:grpSpPr>
        <a:xfrm>
          <a:off x="0" y="0"/>
          <a:ext cx="0" cy="0"/>
          <a:chOff x="0" y="0"/>
          <a:chExt cx="0" cy="0"/>
        </a:xfrm>
      </p:grpSpPr>
      <p:sp>
        <p:nvSpPr>
          <p:cNvPr id="161" name="Google Shape;161;g2ba352aa90c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2" name="Google Shape;162;g2ba352aa90c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g2bb0aac8bdd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2" name="Google Shape;172;g2bb0aac8bdd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0"/>
        <p:cNvGrpSpPr/>
        <p:nvPr/>
      </p:nvGrpSpPr>
      <p:grpSpPr>
        <a:xfrm>
          <a:off x="0" y="0"/>
          <a:ext cx="0" cy="0"/>
          <a:chOff x="0" y="0"/>
          <a:chExt cx="0" cy="0"/>
        </a:xfrm>
      </p:grpSpPr>
      <p:sp>
        <p:nvSpPr>
          <p:cNvPr id="181" name="Google Shape;181;g2bb15e54125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2" name="Google Shape;182;g2bb15e54125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
        <p:cNvGrpSpPr/>
        <p:nvPr/>
      </p:nvGrpSpPr>
      <p:grpSpPr>
        <a:xfrm>
          <a:off x="0" y="0"/>
          <a:ext cx="0" cy="0"/>
          <a:chOff x="0" y="0"/>
          <a:chExt cx="0" cy="0"/>
        </a:xfrm>
      </p:grpSpPr>
      <p:sp>
        <p:nvSpPr>
          <p:cNvPr id="188" name="Google Shape;188;g2bb15e54cb0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9" name="Google Shape;189;g2bb15e54cb0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g2bb0d5757ec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7" name="Google Shape;197;g2bb0d5757ec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2"/>
        <p:cNvGrpSpPr/>
        <p:nvPr/>
      </p:nvGrpSpPr>
      <p:grpSpPr>
        <a:xfrm>
          <a:off x="0" y="0"/>
          <a:ext cx="0" cy="0"/>
          <a:chOff x="0" y="0"/>
          <a:chExt cx="0" cy="0"/>
        </a:xfrm>
      </p:grpSpPr>
      <p:sp>
        <p:nvSpPr>
          <p:cNvPr id="203" name="Google Shape;203;g2b7eafe0074_1_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4" name="Google Shape;204;g2b7eafe0074_1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1"/>
        <p:cNvGrpSpPr/>
        <p:nvPr/>
      </p:nvGrpSpPr>
      <p:grpSpPr>
        <a:xfrm>
          <a:off x="0" y="0"/>
          <a:ext cx="0" cy="0"/>
          <a:chOff x="0" y="0"/>
          <a:chExt cx="0" cy="0"/>
        </a:xfrm>
      </p:grpSpPr>
      <p:sp>
        <p:nvSpPr>
          <p:cNvPr id="212" name="Google Shape;212;g2bb63b346ef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3" name="Google Shape;213;g2bb63b346e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3"/>
        <p:cNvGrpSpPr/>
        <p:nvPr/>
      </p:nvGrpSpPr>
      <p:grpSpPr>
        <a:xfrm>
          <a:off x="0" y="0"/>
          <a:ext cx="0" cy="0"/>
          <a:chOff x="0" y="0"/>
          <a:chExt cx="0" cy="0"/>
        </a:xfrm>
      </p:grpSpPr>
      <p:sp>
        <p:nvSpPr>
          <p:cNvPr id="224" name="Google Shape;224;g2bb63ba8922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5" name="Google Shape;225;g2bb63ba8922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0"/>
        <p:cNvGrpSpPr/>
        <p:nvPr/>
      </p:nvGrpSpPr>
      <p:grpSpPr>
        <a:xfrm>
          <a:off x="0" y="0"/>
          <a:ext cx="0" cy="0"/>
          <a:chOff x="0" y="0"/>
          <a:chExt cx="0" cy="0"/>
        </a:xfrm>
      </p:grpSpPr>
      <p:sp>
        <p:nvSpPr>
          <p:cNvPr id="231" name="Google Shape;231;g2b9ba3ebc86_0_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2" name="Google Shape;232;g2b9ba3ebc86_0_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0"/>
        <p:cNvGrpSpPr/>
        <p:nvPr/>
      </p:nvGrpSpPr>
      <p:grpSpPr>
        <a:xfrm>
          <a:off x="0" y="0"/>
          <a:ext cx="0" cy="0"/>
          <a:chOff x="0" y="0"/>
          <a:chExt cx="0" cy="0"/>
        </a:xfrm>
      </p:grpSpPr>
      <p:sp>
        <p:nvSpPr>
          <p:cNvPr id="241" name="Google Shape;241;g2b7eafe0074_1_2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2" name="Google Shape;242;g2b7eafe0074_1_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hyperlink" Target="https://eais.ai" TargetMode="Externa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hyperlink" Target="https://www.youtube.com/watch?v=o4yoPEjIYRk" TargetMode="External"/><Relationship Id="rId7"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hyperlink" Target="https://chat.lmsys.org" TargetMode="External"/><Relationship Id="rId4" Type="http://schemas.openxmlformats.org/officeDocument/2006/relationships/hyperlink" Target="https://www.youtube.com/watch?v=vf2NBdjJ40k" TargetMode="External"/></Relationships>
</file>

<file path=ppt/slides/_rels/slide4.xml.rels><?xml version="1.0" encoding="UTF-8" standalone="yes"?>
<Relationships xmlns="http://schemas.openxmlformats.org/package/2006/relationships"><Relationship Id="rId3" Type="http://schemas.openxmlformats.org/officeDocument/2006/relationships/hyperlink" Target="https://blog.google/technology/developers/gemma-open-models/" TargetMode="External"/><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hyperlink" Target="https://www.youtube.com/watch?v=UM2arC3EzEI" TargetMode="External"/></Relationships>
</file>

<file path=ppt/slides/_rels/slide5.xml.rels><?xml version="1.0" encoding="UTF-8" standalone="yes"?>
<Relationships xmlns="http://schemas.openxmlformats.org/package/2006/relationships"><Relationship Id="rId3" Type="http://schemas.openxmlformats.org/officeDocument/2006/relationships/hyperlink" Target="https://openai.com/sora" TargetMode="External"/><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hyperlink" Target="https://openai.com/research/video-generation-models-as-world-simulators" TargetMode="External"/><Relationship Id="rId4" Type="http://schemas.openxmlformats.org/officeDocument/2006/relationships/hyperlink" Target="https://www.youtube.com/watch?v=BH9FU7Gd6v8" TargetMode="External"/></Relationships>
</file>

<file path=ppt/slides/_rels/slide6.xml.rels><?xml version="1.0" encoding="UTF-8" standalone="yes"?>
<Relationships xmlns="http://schemas.openxmlformats.org/package/2006/relationships"><Relationship Id="rId8" Type="http://schemas.openxmlformats.org/officeDocument/2006/relationships/hyperlink" Target="https://twitter.com/AlphaSignalAI/status/1759259191292592530" TargetMode="External"/><Relationship Id="rId3" Type="http://schemas.openxmlformats.org/officeDocument/2006/relationships/hyperlink" Target="https://www.youtube.com/watch?v=oSCRZkSQ1CE" TargetMode="External"/><Relationship Id="rId7" Type="http://schemas.openxmlformats.org/officeDocument/2006/relationships/hyperlink" Target="https://github.com/karpathy/minbpe" TargetMode="External"/><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hyperlink" Target="https://huggingface.co/datasets/nvidia/OpenMathInstruct-1" TargetMode="External"/><Relationship Id="rId10" Type="http://schemas.openxmlformats.org/officeDocument/2006/relationships/image" Target="../media/image9.png"/><Relationship Id="rId4" Type="http://schemas.openxmlformats.org/officeDocument/2006/relationships/image" Target="../media/image7.png"/><Relationship Id="rId9" Type="http://schemas.openxmlformats.org/officeDocument/2006/relationships/hyperlink" Target="https://cohere.com/research/aya" TargetMode="External"/></Relationships>
</file>

<file path=ppt/slides/_rels/slide7.xml.rels><?xml version="1.0" encoding="UTF-8" standalone="yes"?>
<Relationships xmlns="http://schemas.openxmlformats.org/package/2006/relationships"><Relationship Id="rId8" Type="http://schemas.openxmlformats.org/officeDocument/2006/relationships/hyperlink" Target="https://arxiv.org/pdf/2402.07862.pdf" TargetMode="External"/><Relationship Id="rId3" Type="http://schemas.openxmlformats.org/officeDocument/2006/relationships/hyperlink" Target="https://twitter.com/Francis_YAO_/status/1758934303655030929?cxt=HBwWosLbicLb_ugwAAAA&amp;cn=ZmxleGlibGVfcmVjcw%3D%3D&amp;refsrc=email" TargetMode="External"/><Relationship Id="rId7" Type="http://schemas.openxmlformats.org/officeDocument/2006/relationships/hyperlink" Target="https://openaccess.thecvf.com/content/ICCV2023/html/Peebles_Scalable_Diffusion_Models_with_Transformers_ICCV_2023_paper.html" TargetMode="External"/><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hyperlink" Target="https://twitter.com/ylecun/status/1758760027203006952" TargetMode="External"/><Relationship Id="rId5" Type="http://schemas.openxmlformats.org/officeDocument/2006/relationships/image" Target="../media/image10.png"/><Relationship Id="rId4" Type="http://schemas.openxmlformats.org/officeDocument/2006/relationships/hyperlink" Target="https://twitter.com/skeptrune/status/1759034741658185785" TargetMode="External"/><Relationship Id="rId9" Type="http://schemas.openxmlformats.org/officeDocument/2006/relationships/hyperlink" Target="https://www.forbes.com/sites/antoniopequenoiv/2024/02/16/openai-reaches-80-billion-valuation-in-venture-firm-deal-report-says/" TargetMode="External"/></Relationships>
</file>

<file path=ppt/slides/_rels/slide8.xml.rels><?xml version="1.0" encoding="UTF-8" standalone="yes"?>
<Relationships xmlns="http://schemas.openxmlformats.org/package/2006/relationships"><Relationship Id="rId8" Type="http://schemas.openxmlformats.org/officeDocument/2006/relationships/hyperlink" Target="https://blog.langchain.dev/langsmith-ga/" TargetMode="External"/><Relationship Id="rId3" Type="http://schemas.openxmlformats.org/officeDocument/2006/relationships/hyperlink" Target="https://www.langchain.com" TargetMode="External"/><Relationship Id="rId7" Type="http://schemas.openxmlformats.org/officeDocument/2006/relationships/image" Target="../media/image13.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hyperlink" Target="https://github.com/langchain-ai/langchain" TargetMode="External"/><Relationship Id="rId9" Type="http://schemas.openxmlformats.org/officeDocument/2006/relationships/hyperlink" Target="https://smith.langchain.com" TargetMode="External"/></Relationships>
</file>

<file path=ppt/slides/_rels/slide9.xml.rels><?xml version="1.0" encoding="UTF-8" standalone="yes"?>
<Relationships xmlns="http://schemas.openxmlformats.org/package/2006/relationships"><Relationship Id="rId3" Type="http://schemas.openxmlformats.org/officeDocument/2006/relationships/hyperlink" Target="https://github.com/explodinggradients/ragas" TargetMode="External"/><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hyperlink" Target="https://towardsdatascience.com/evaluating-rag-applications-with-ragas-81d67b0ee31a" TargetMode="External"/><Relationship Id="rId4" Type="http://schemas.openxmlformats.org/officeDocument/2006/relationships/hyperlink" Target="https://docs.ragas.io/en/stable/" TargetMode="External"/></Relationships>
</file>

<file path=ppt/slides/_rels/slide10.xml.rels><?xml version="1.0" encoding="UTF-8" standalone="yes"?>
<Relationships xmlns="http://schemas.openxmlformats.org/package/2006/relationships"><Relationship Id="rId8" Type="http://schemas.openxmlformats.org/officeDocument/2006/relationships/hyperlink" Target="https://blog.youtube/inside-youtube/2024-letter-from-neal/" TargetMode="External"/><Relationship Id="rId3" Type="http://schemas.openxmlformats.org/officeDocument/2006/relationships/hyperlink" Target="https://groq.com" TargetMode="External"/><Relationship Id="rId7" Type="http://schemas.openxmlformats.org/officeDocument/2006/relationships/image" Target="../media/image17.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hyperlink" Target="https://magic.dev" TargetMode="External"/><Relationship Id="rId5" Type="http://schemas.openxmlformats.org/officeDocument/2006/relationships/image" Target="../media/image16.png"/><Relationship Id="rId4" Type="http://schemas.openxmlformats.org/officeDocument/2006/relationships/image" Target="../media/image15.png"/><Relationship Id="rId9" Type="http://schemas.openxmlformats.org/officeDocument/2006/relationships/image" Target="../media/image18.png"/></Relationships>
</file>

<file path=ppt/slides/_rels/slide11.xml.rels><?xml version="1.0" encoding="UTF-8" standalone="yes"?>
<Relationships xmlns="http://schemas.openxmlformats.org/package/2006/relationships"><Relationship Id="rId3" Type="http://schemas.openxmlformats.org/officeDocument/2006/relationships/hyperlink" Target="https://towardsdatascience.com/text-embeddings-comprehensive-guide-afd97fce8fb5" TargetMode="External"/><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19.png"/><Relationship Id="rId4" Type="http://schemas.openxmlformats.org/officeDocument/2006/relationships/hyperlink" Target="https://www.assemblyai.com/blog/why-language-models-became-large-language-models/"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8" Type="http://schemas.openxmlformats.org/officeDocument/2006/relationships/hyperlink" Target="https://rasa.com" TargetMode="External"/><Relationship Id="rId3" Type="http://schemas.openxmlformats.org/officeDocument/2006/relationships/hyperlink" Target="https://sierra.ai" TargetMode="External"/><Relationship Id="rId7" Type="http://schemas.openxmlformats.org/officeDocument/2006/relationships/image" Target="../media/image22.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hyperlink" Target="https://www.linkedin.com/in/brettaylor" TargetMode="External"/><Relationship Id="rId5" Type="http://schemas.openxmlformats.org/officeDocument/2006/relationships/image" Target="../media/image21.png"/><Relationship Id="rId10" Type="http://schemas.openxmlformats.org/officeDocument/2006/relationships/hyperlink" Target="https://www.ada.cx" TargetMode="External"/><Relationship Id="rId4" Type="http://schemas.openxmlformats.org/officeDocument/2006/relationships/hyperlink" Target="https://thesiliconreview.com/2024/02/openai-bret-taylor-startup-sierra" TargetMode="External"/><Relationship Id="rId9" Type="http://schemas.openxmlformats.org/officeDocument/2006/relationships/hyperlink" Target="https://www.haptik.ai" TargetMode="External"/></Relationships>
</file>

<file path=ppt/slides/_rels/slide14.xml.rels><?xml version="1.0" encoding="UTF-8" standalone="yes"?>
<Relationships xmlns="http://schemas.openxmlformats.org/package/2006/relationships"><Relationship Id="rId3" Type="http://schemas.openxmlformats.org/officeDocument/2006/relationships/hyperlink" Target="https://github.com/carlini/yet-another-applied-llm-benchmark" TargetMode="External"/><Relationship Id="rId7" Type="http://schemas.openxmlformats.org/officeDocument/2006/relationships/image" Target="../media/image24.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23.png"/><Relationship Id="rId5" Type="http://schemas.openxmlformats.org/officeDocument/2006/relationships/hyperlink" Target="https://twitter.com/karpathy/status/1760022429605474550" TargetMode="External"/><Relationship Id="rId4" Type="http://schemas.openxmlformats.org/officeDocument/2006/relationships/hyperlink" Target="https://nicholas.carlini.com/writing/2024/my-benchmark-for-large-language-models.html" TargetMode="External"/></Relationships>
</file>

<file path=ppt/slides/_rels/slide15.xml.rels><?xml version="1.0" encoding="UTF-8" standalone="yes"?>
<Relationships xmlns="http://schemas.openxmlformats.org/package/2006/relationships"><Relationship Id="rId3" Type="http://schemas.openxmlformats.org/officeDocument/2006/relationships/hyperlink" Target="https://uptrain.ai" TargetMode="External"/><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25.png"/><Relationship Id="rId5" Type="http://schemas.openxmlformats.org/officeDocument/2006/relationships/hyperlink" Target="https://pypi.org/project/uptrain/" TargetMode="External"/><Relationship Id="rId4" Type="http://schemas.openxmlformats.org/officeDocument/2006/relationships/hyperlink" Target="https://github.com/uptrain-ai/uptrain" TargetMode="External"/></Relationships>
</file>

<file path=ppt/slides/_rels/slide16.xml.rels><?xml version="1.0" encoding="UTF-8" standalone="yes"?>
<Relationships xmlns="http://schemas.openxmlformats.org/package/2006/relationships"><Relationship Id="rId3" Type="http://schemas.openxmlformats.org/officeDocument/2006/relationships/hyperlink" Target="https://notebooklm.google.com" TargetMode="External"/><Relationship Id="rId7" Type="http://schemas.openxmlformats.org/officeDocument/2006/relationships/image" Target="../media/image27.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26.png"/><Relationship Id="rId5" Type="http://schemas.openxmlformats.org/officeDocument/2006/relationships/hyperlink" Target="https://support.google.com/notebooklm" TargetMode="External"/><Relationship Id="rId4" Type="http://schemas.openxmlformats.org/officeDocument/2006/relationships/hyperlink" Target="https://www.youtube.com/watch?v=iWPjBwXy_Io" TargetMode="External"/></Relationships>
</file>

<file path=ppt/slides/_rels/slide17.xml.rels><?xml version="1.0" encoding="UTF-8" standalone="yes"?>
<Relationships xmlns="http://schemas.openxmlformats.org/package/2006/relationships"><Relationship Id="rId3" Type="http://schemas.openxmlformats.org/officeDocument/2006/relationships/hyperlink" Target="https://www.gartner.com/en/doc/797246-how-to-pilot-generative-ai" TargetMode="External"/><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28.png"/></Relationships>
</file>

<file path=ppt/slides/_rels/slide18.xml.rels><?xml version="1.0" encoding="UTF-8" standalone="yes"?>
<Relationships xmlns="http://schemas.openxmlformats.org/package/2006/relationships"><Relationship Id="rId3" Type="http://schemas.openxmlformats.org/officeDocument/2006/relationships/hyperlink" Target="https://huggingface.co/spaces/lmsys/chatbot-arena-leaderboard" TargetMode="External"/><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29.png"/></Relationships>
</file>

<file path=ppt/slides/_rels/slide19.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hyperlink" Target="https://crfm.stanford.edu/helm/lite/latest/#/leaderboard" TargetMode="External"/><Relationship Id="rId7" Type="http://schemas.openxmlformats.org/officeDocument/2006/relationships/image" Target="../media/image31.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30.png"/><Relationship Id="rId5" Type="http://schemas.openxmlformats.org/officeDocument/2006/relationships/hyperlink" Target="https://arxiv.org/abs/2211.09110" TargetMode="External"/><Relationship Id="rId10" Type="http://schemas.openxmlformats.org/officeDocument/2006/relationships/image" Target="../media/image34.png"/><Relationship Id="rId4" Type="http://schemas.openxmlformats.org/officeDocument/2006/relationships/hyperlink" Target="https://crfm.stanford.edu/helm/lite/latest/" TargetMode="External"/><Relationship Id="rId9" Type="http://schemas.openxmlformats.org/officeDocument/2006/relationships/image" Target="../media/image33.png"/></Relationships>
</file>

<file path=ppt/slides/_rels/slide20.xml.rels><?xml version="1.0" encoding="UTF-8" standalone="yes"?>
<Relationships xmlns="http://schemas.openxmlformats.org/package/2006/relationships"><Relationship Id="rId3" Type="http://schemas.openxmlformats.org/officeDocument/2006/relationships/hyperlink" Target="https://news.ycombinator.com/item?id=36806770" TargetMode="External"/><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hyperlink" Target="https://layoffs.fyi" TargetMode="External"/><Relationship Id="rId2" Type="http://schemas.openxmlformats.org/officeDocument/2006/relationships/notesSlide" Target="../notesSlides/notesSlide21.xml"/><Relationship Id="rId1" Type="http://schemas.openxmlformats.org/officeDocument/2006/relationships/slideLayout" Target="../slideLayouts/slideLayout1.xml"/><Relationship Id="rId5" Type="http://schemas.openxmlformats.org/officeDocument/2006/relationships/image" Target="../media/image36.png"/><Relationship Id="rId4" Type="http://schemas.openxmlformats.org/officeDocument/2006/relationships/image" Target="../media/image35.pn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Google Shape;54;p13"/>
          <p:cNvSpPr txBox="1"/>
          <p:nvPr/>
        </p:nvSpPr>
        <p:spPr>
          <a:xfrm>
            <a:off x="137850" y="1280228"/>
            <a:ext cx="4342500" cy="3632700"/>
          </a:xfrm>
          <a:prstGeom prst="rect">
            <a:avLst/>
          </a:prstGeom>
          <a:no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228600" lvl="0" indent="-215900" algn="l" rtl="0">
              <a:spcBef>
                <a:spcPts val="0"/>
              </a:spcBef>
              <a:spcAft>
                <a:spcPts val="0"/>
              </a:spcAft>
              <a:buClr>
                <a:srgbClr val="3C78D8"/>
              </a:buClr>
              <a:buSzPts val="1600"/>
              <a:buChar char="●"/>
            </a:pPr>
            <a:r>
              <a:rPr lang="en" sz="1600" b="1">
                <a:solidFill>
                  <a:srgbClr val="3C78D8"/>
                </a:solidFill>
              </a:rPr>
              <a:t>Mistral-Next</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Google open LLMs - Gemma 2B &amp; 7B</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OpenAI World Simulation</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Jeff Dean Lecture (Google)</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Dataset OpenMath Instruct-1 by Nvidia</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Aya - open-source multilingual project</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10M context kills RAG ?</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"Scalable Diffusion" paper</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Biased and unbiased LLM assistants</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OpenAI Reaches $80 Billion Valuation</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LangChain - Startup</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RAGAs = RAG Assessment Framework</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Gemini working with Google Workspace</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Fast Inference with Groq</a:t>
            </a:r>
            <a:endParaRPr sz="1600" b="1">
              <a:solidFill>
                <a:srgbClr val="3C78D8"/>
              </a:solidFill>
            </a:endParaRPr>
          </a:p>
        </p:txBody>
      </p:sp>
      <p:sp>
        <p:nvSpPr>
          <p:cNvPr id="55" name="Google Shape;55;p13"/>
          <p:cNvSpPr txBox="1"/>
          <p:nvPr/>
        </p:nvSpPr>
        <p:spPr>
          <a:xfrm>
            <a:off x="4672738" y="1277253"/>
            <a:ext cx="4342500" cy="3386400"/>
          </a:xfrm>
          <a:prstGeom prst="rect">
            <a:avLst/>
          </a:prstGeom>
          <a:no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228600" lvl="0" indent="-215900" algn="l" rtl="0">
              <a:spcBef>
                <a:spcPts val="0"/>
              </a:spcBef>
              <a:spcAft>
                <a:spcPts val="0"/>
              </a:spcAft>
              <a:buClr>
                <a:srgbClr val="3C78D8"/>
              </a:buClr>
              <a:buSzPts val="1600"/>
              <a:buChar char="●"/>
            </a:pPr>
            <a:r>
              <a:rPr lang="en" sz="1600" b="1">
                <a:solidFill>
                  <a:srgbClr val="3C78D8"/>
                </a:solidFill>
              </a:rPr>
              <a:t>Magic AI - AI Software Engineer</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YouTube CEO: 4 Big bets for 2024</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Text Embeddings Guide</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Nvidia GTC in March 2024</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Sierra - startup - AI chatbots</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Yet Another LLM Benchmark 100 tests</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UpTrain - Open-source LLMOps eval</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NotebookLM.Google.com</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Gartner - How to Pilot Generative AI</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Crowd-sourced "Arena" Leaderboard</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HELM Leaderboard</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LLM as Zero-cost Commodity</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Layoffs are not too big</a:t>
            </a:r>
            <a:endParaRPr sz="1600" b="1">
              <a:solidFill>
                <a:srgbClr val="3C78D8"/>
              </a:solidFill>
            </a:endParaRPr>
          </a:p>
        </p:txBody>
      </p:sp>
      <p:sp>
        <p:nvSpPr>
          <p:cNvPr id="56" name="Google Shape;56;p13"/>
          <p:cNvSpPr txBox="1"/>
          <p:nvPr/>
        </p:nvSpPr>
        <p:spPr>
          <a:xfrm>
            <a:off x="2493250" y="228175"/>
            <a:ext cx="4260300" cy="942000"/>
          </a:xfrm>
          <a:prstGeom prst="rect">
            <a:avLst/>
          </a:prstGeom>
          <a:noFill/>
          <a:ln>
            <a:noFill/>
          </a:ln>
        </p:spPr>
        <p:txBody>
          <a:bodyPr spcFirstLastPara="1" wrap="square" lIns="9125" tIns="9125" rIns="9125" bIns="9125" anchor="t" anchorCtr="0">
            <a:spAutoFit/>
          </a:bodyPr>
          <a:lstStyle/>
          <a:p>
            <a:pPr marL="0" lvl="0" indent="0" algn="ctr" rtl="0">
              <a:spcBef>
                <a:spcPts val="0"/>
              </a:spcBef>
              <a:spcAft>
                <a:spcPts val="0"/>
              </a:spcAft>
              <a:buNone/>
            </a:pPr>
            <a:r>
              <a:rPr lang="en" sz="3600" b="1">
                <a:solidFill>
                  <a:srgbClr val="3C78D8"/>
                </a:solidFill>
              </a:rPr>
              <a:t>AI Updates </a:t>
            </a:r>
            <a:endParaRPr sz="3600" b="1">
              <a:solidFill>
                <a:srgbClr val="3C78D8"/>
              </a:solidFill>
            </a:endParaRPr>
          </a:p>
          <a:p>
            <a:pPr marL="0" lvl="0" indent="0" algn="ctr" rtl="0">
              <a:spcBef>
                <a:spcPts val="0"/>
              </a:spcBef>
              <a:spcAft>
                <a:spcPts val="0"/>
              </a:spcAft>
              <a:buNone/>
            </a:pPr>
            <a:r>
              <a:rPr lang="en" sz="2400" b="1">
                <a:solidFill>
                  <a:srgbClr val="3C78D8"/>
                </a:solidFill>
              </a:rPr>
              <a:t>February 23, 2024</a:t>
            </a:r>
            <a:endParaRPr sz="2400" b="1">
              <a:solidFill>
                <a:srgbClr val="3C78D8"/>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0"/>
        <p:cNvGrpSpPr/>
        <p:nvPr/>
      </p:nvGrpSpPr>
      <p:grpSpPr>
        <a:xfrm>
          <a:off x="0" y="0"/>
          <a:ext cx="0" cy="0"/>
          <a:chOff x="0" y="0"/>
          <a:chExt cx="0" cy="0"/>
        </a:xfrm>
      </p:grpSpPr>
      <p:pic>
        <p:nvPicPr>
          <p:cNvPr id="61" name="Google Shape;61;p14"/>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605238" y="1203525"/>
            <a:ext cx="2094075" cy="2094075"/>
          </a:xfrm>
          <a:prstGeom prst="rect">
            <a:avLst/>
          </a:prstGeom>
          <a:noFill/>
          <a:ln>
            <a:noFill/>
          </a:ln>
        </p:spPr>
      </p:pic>
      <p:sp>
        <p:nvSpPr>
          <p:cNvPr id="62" name="Google Shape;62;p14"/>
          <p:cNvSpPr txBox="1"/>
          <p:nvPr/>
        </p:nvSpPr>
        <p:spPr>
          <a:xfrm>
            <a:off x="-25625" y="-14775"/>
            <a:ext cx="33558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500" b="1">
                <a:latin typeface="Calibri"/>
                <a:ea typeface="Calibri"/>
                <a:cs typeface="Calibri"/>
                <a:sym typeface="Calibri"/>
              </a:rPr>
              <a:t>About the Speaker</a:t>
            </a:r>
            <a:endParaRPr sz="2500" b="1">
              <a:latin typeface="Calibri"/>
              <a:ea typeface="Calibri"/>
              <a:cs typeface="Calibri"/>
              <a:sym typeface="Calibri"/>
            </a:endParaRPr>
          </a:p>
        </p:txBody>
      </p:sp>
      <p:sp>
        <p:nvSpPr>
          <p:cNvPr id="63" name="Google Shape;63;p14"/>
          <p:cNvSpPr txBox="1"/>
          <p:nvPr/>
        </p:nvSpPr>
        <p:spPr>
          <a:xfrm>
            <a:off x="3330175" y="878750"/>
            <a:ext cx="5621700" cy="3309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n" sz="2500" b="1">
                <a:latin typeface="Calibri"/>
                <a:ea typeface="Calibri"/>
                <a:cs typeface="Calibri"/>
                <a:sym typeface="Calibri"/>
              </a:rPr>
              <a:t>Lev Selector, Ph.D.</a:t>
            </a:r>
            <a:endParaRPr sz="2500" b="1">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800">
              <a:latin typeface="Calibri"/>
              <a:ea typeface="Calibri"/>
              <a:cs typeface="Calibri"/>
              <a:sym typeface="Calibri"/>
            </a:endParaRPr>
          </a:p>
          <a:p>
            <a:pPr marL="457200" lvl="0" indent="-330200" algn="l" rtl="0">
              <a:spcBef>
                <a:spcPts val="0"/>
              </a:spcBef>
              <a:spcAft>
                <a:spcPts val="0"/>
              </a:spcAft>
              <a:buSzPts val="1600"/>
              <a:buFont typeface="Calibri"/>
              <a:buChar char="●"/>
            </a:pPr>
            <a:r>
              <a:rPr lang="en" sz="1600">
                <a:solidFill>
                  <a:schemeClr val="dk1"/>
                </a:solidFill>
                <a:latin typeface="Calibri"/>
                <a:ea typeface="Calibri"/>
                <a:cs typeface="Calibri"/>
                <a:sym typeface="Calibri"/>
              </a:rPr>
              <a:t>40+ years of software engineering, data science, and building teams (hiring, training, and managing)</a:t>
            </a:r>
            <a:endParaRPr sz="1600">
              <a:solidFill>
                <a:schemeClr val="dk1"/>
              </a:solidFill>
              <a:latin typeface="Calibri"/>
              <a:ea typeface="Calibri"/>
              <a:cs typeface="Calibri"/>
              <a:sym typeface="Calibri"/>
            </a:endParaRPr>
          </a:p>
          <a:p>
            <a:pPr marL="457200" lvl="0" indent="-330200" algn="l" rtl="0">
              <a:spcBef>
                <a:spcPts val="0"/>
              </a:spcBef>
              <a:spcAft>
                <a:spcPts val="0"/>
              </a:spcAft>
              <a:buSzPts val="1600"/>
              <a:buFont typeface="Calibri"/>
              <a:buChar char="●"/>
            </a:pPr>
            <a:r>
              <a:rPr lang="en" sz="1600">
                <a:solidFill>
                  <a:schemeClr val="dk1"/>
                </a:solidFill>
                <a:latin typeface="Calibri"/>
                <a:ea typeface="Calibri"/>
                <a:cs typeface="Calibri"/>
                <a:sym typeface="Calibri"/>
              </a:rPr>
              <a:t>Ph.D. in mathematical modeling and computer simulations</a:t>
            </a:r>
            <a:endParaRPr sz="160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600">
              <a:latin typeface="Calibri"/>
              <a:ea typeface="Calibri"/>
              <a:cs typeface="Calibri"/>
              <a:sym typeface="Calibri"/>
            </a:endParaRPr>
          </a:p>
          <a:p>
            <a:pPr marL="0" lvl="0" indent="0" algn="l" rtl="0">
              <a:spcBef>
                <a:spcPts val="0"/>
              </a:spcBef>
              <a:spcAft>
                <a:spcPts val="0"/>
              </a:spcAft>
              <a:buNone/>
            </a:pPr>
            <a:r>
              <a:rPr lang="en" sz="1600">
                <a:latin typeface="Calibri"/>
                <a:ea typeface="Calibri"/>
                <a:cs typeface="Calibri"/>
                <a:sym typeface="Calibri"/>
              </a:rPr>
              <a:t>Interests: </a:t>
            </a:r>
            <a:endParaRPr sz="1600">
              <a:latin typeface="Calibri"/>
              <a:ea typeface="Calibri"/>
              <a:cs typeface="Calibri"/>
              <a:sym typeface="Calibri"/>
            </a:endParaRPr>
          </a:p>
          <a:p>
            <a:pPr marL="457200" lvl="0" indent="-330200" algn="l" rtl="0">
              <a:spcBef>
                <a:spcPts val="0"/>
              </a:spcBef>
              <a:spcAft>
                <a:spcPts val="0"/>
              </a:spcAft>
              <a:buSzPts val="1600"/>
              <a:buFont typeface="Calibri"/>
              <a:buChar char="●"/>
            </a:pPr>
            <a:r>
              <a:rPr lang="en" sz="1600">
                <a:solidFill>
                  <a:schemeClr val="dk1"/>
                </a:solidFill>
                <a:latin typeface="Calibri"/>
                <a:ea typeface="Calibri"/>
                <a:cs typeface="Calibri"/>
                <a:sym typeface="Calibri"/>
              </a:rPr>
              <a:t>Generative AI, Using LLM with your data</a:t>
            </a:r>
            <a:endParaRPr sz="1600">
              <a:solidFill>
                <a:schemeClr val="dk1"/>
              </a:solidFill>
              <a:latin typeface="Calibri"/>
              <a:ea typeface="Calibri"/>
              <a:cs typeface="Calibri"/>
              <a:sym typeface="Calibri"/>
            </a:endParaRPr>
          </a:p>
          <a:p>
            <a:pPr marL="457200" lvl="0" indent="-330200" algn="l" rtl="0">
              <a:spcBef>
                <a:spcPts val="0"/>
              </a:spcBef>
              <a:spcAft>
                <a:spcPts val="0"/>
              </a:spcAft>
              <a:buClr>
                <a:schemeClr val="dk1"/>
              </a:buClr>
              <a:buSzPts val="1600"/>
              <a:buFont typeface="Calibri"/>
              <a:buChar char="●"/>
            </a:pPr>
            <a:r>
              <a:rPr lang="en" sz="1600">
                <a:solidFill>
                  <a:schemeClr val="dk1"/>
                </a:solidFill>
                <a:latin typeface="Calibri"/>
                <a:ea typeface="Calibri"/>
                <a:cs typeface="Calibri"/>
                <a:sym typeface="Calibri"/>
              </a:rPr>
              <a:t>Local AI for Local Private Data</a:t>
            </a:r>
            <a:endParaRPr sz="1600">
              <a:solidFill>
                <a:schemeClr val="dk1"/>
              </a:solidFill>
              <a:latin typeface="Calibri"/>
              <a:ea typeface="Calibri"/>
              <a:cs typeface="Calibri"/>
              <a:sym typeface="Calibri"/>
            </a:endParaRPr>
          </a:p>
          <a:p>
            <a:pPr marL="457200" lvl="0" indent="-330200" algn="l" rtl="0">
              <a:spcBef>
                <a:spcPts val="0"/>
              </a:spcBef>
              <a:spcAft>
                <a:spcPts val="0"/>
              </a:spcAft>
              <a:buSzPts val="1600"/>
              <a:buFont typeface="Calibri"/>
              <a:buChar char="●"/>
            </a:pPr>
            <a:r>
              <a:rPr lang="en" sz="1600">
                <a:latin typeface="Calibri"/>
                <a:ea typeface="Calibri"/>
                <a:cs typeface="Calibri"/>
                <a:sym typeface="Calibri"/>
              </a:rPr>
              <a:t>Cloud architecture, fin-tech, application security</a:t>
            </a:r>
            <a:endParaRPr sz="1600">
              <a:latin typeface="Calibri"/>
              <a:ea typeface="Calibri"/>
              <a:cs typeface="Calibri"/>
              <a:sym typeface="Calibri"/>
            </a:endParaRPr>
          </a:p>
          <a:p>
            <a:pPr marL="0" lvl="0" indent="0" algn="l" rtl="0">
              <a:spcBef>
                <a:spcPts val="0"/>
              </a:spcBef>
              <a:spcAft>
                <a:spcPts val="0"/>
              </a:spcAft>
              <a:buNone/>
            </a:pPr>
            <a:endParaRPr sz="1600">
              <a:latin typeface="Calibri"/>
              <a:ea typeface="Calibri"/>
              <a:cs typeface="Calibri"/>
              <a:sym typeface="Calibri"/>
            </a:endParaRPr>
          </a:p>
          <a:p>
            <a:pPr marL="0" lvl="0" indent="0" algn="l" rtl="0">
              <a:spcBef>
                <a:spcPts val="0"/>
              </a:spcBef>
              <a:spcAft>
                <a:spcPts val="0"/>
              </a:spcAft>
              <a:buNone/>
            </a:pPr>
            <a:r>
              <a:rPr lang="en" sz="1600">
                <a:latin typeface="Calibri"/>
                <a:ea typeface="Calibri"/>
                <a:cs typeface="Calibri"/>
                <a:sym typeface="Calibri"/>
              </a:rPr>
              <a:t>Find/connect: Linkedin, GitHub, YouTube, Google</a:t>
            </a:r>
            <a:endParaRPr sz="1600">
              <a:latin typeface="Calibri"/>
              <a:ea typeface="Calibri"/>
              <a:cs typeface="Calibri"/>
              <a:sym typeface="Calibri"/>
            </a:endParaRPr>
          </a:p>
        </p:txBody>
      </p:sp>
      <p:pic>
        <p:nvPicPr>
          <p:cNvPr id="64" name="Google Shape;64;p14"/>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1010941" y="3664175"/>
            <a:ext cx="1144600" cy="415875"/>
          </a:xfrm>
          <a:prstGeom prst="rect">
            <a:avLst/>
          </a:prstGeom>
          <a:noFill/>
          <a:ln>
            <a:noFill/>
          </a:ln>
        </p:spPr>
      </p:pic>
      <p:sp>
        <p:nvSpPr>
          <p:cNvPr id="65" name="Google Shape;65;p14"/>
          <p:cNvSpPr txBox="1"/>
          <p:nvPr/>
        </p:nvSpPr>
        <p:spPr>
          <a:xfrm>
            <a:off x="912377" y="4005903"/>
            <a:ext cx="13914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u="sng">
                <a:solidFill>
                  <a:schemeClr val="hlink"/>
                </a:solidFill>
                <a:latin typeface="Calibri"/>
                <a:ea typeface="Calibri"/>
                <a:cs typeface="Calibri"/>
                <a:sym typeface="Calibri"/>
                <a:hlinkClick r:id="rId5"/>
              </a:rPr>
              <a:t>https://eais.ai</a:t>
            </a:r>
            <a:r>
              <a:rPr lang="en" sz="1600">
                <a:latin typeface="Calibri"/>
                <a:ea typeface="Calibri"/>
                <a:cs typeface="Calibri"/>
                <a:sym typeface="Calibri"/>
              </a:rPr>
              <a:t> </a:t>
            </a:r>
            <a:endParaRPr sz="1600">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9"/>
        <p:cNvGrpSpPr/>
        <p:nvPr/>
      </p:nvGrpSpPr>
      <p:grpSpPr>
        <a:xfrm>
          <a:off x="0" y="0"/>
          <a:ext cx="0" cy="0"/>
          <a:chOff x="0" y="0"/>
          <a:chExt cx="0" cy="0"/>
        </a:xfrm>
      </p:grpSpPr>
      <p:sp>
        <p:nvSpPr>
          <p:cNvPr id="70" name="Google Shape;70;p15"/>
          <p:cNvSpPr txBox="1"/>
          <p:nvPr/>
        </p:nvSpPr>
        <p:spPr>
          <a:xfrm>
            <a:off x="72300" y="0"/>
            <a:ext cx="16896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Mistral-Next</a:t>
            </a:r>
            <a:endParaRPr sz="2000" b="1">
              <a:latin typeface="Calibri"/>
              <a:ea typeface="Calibri"/>
              <a:cs typeface="Calibri"/>
              <a:sym typeface="Calibri"/>
            </a:endParaRPr>
          </a:p>
        </p:txBody>
      </p:sp>
      <p:sp>
        <p:nvSpPr>
          <p:cNvPr id="71" name="Google Shape;71;p15"/>
          <p:cNvSpPr txBox="1"/>
          <p:nvPr/>
        </p:nvSpPr>
        <p:spPr>
          <a:xfrm>
            <a:off x="72300" y="783600"/>
            <a:ext cx="4133400" cy="3186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a:latin typeface="Calibri"/>
                <a:ea typeface="Calibri"/>
                <a:cs typeface="Calibri"/>
                <a:sym typeface="Calibri"/>
              </a:rPr>
              <a:t>Good video demo</a:t>
            </a:r>
            <a:r>
              <a:rPr lang="en" sz="1000">
                <a:latin typeface="Calibri"/>
                <a:ea typeface="Calibri"/>
                <a:cs typeface="Calibri"/>
                <a:sym typeface="Calibri"/>
              </a:rPr>
              <a:t> - </a:t>
            </a:r>
            <a:r>
              <a:rPr lang="en" sz="1000" u="sng">
                <a:solidFill>
                  <a:schemeClr val="hlink"/>
                </a:solidFill>
                <a:latin typeface="Calibri"/>
                <a:ea typeface="Calibri"/>
                <a:cs typeface="Calibri"/>
                <a:sym typeface="Calibri"/>
                <a:hlinkClick r:id="rId3"/>
              </a:rPr>
              <a:t>https://www.youtube.com/watch?v=o4yoPEjIYRk</a:t>
            </a:r>
            <a:r>
              <a:rPr lang="en" sz="1000">
                <a:latin typeface="Calibri"/>
                <a:ea typeface="Calibri"/>
                <a:cs typeface="Calibri"/>
                <a:sym typeface="Calibri"/>
              </a:rPr>
              <a:t> </a:t>
            </a:r>
            <a:endParaRPr sz="1000">
              <a:latin typeface="Calibri"/>
              <a:ea typeface="Calibri"/>
              <a:cs typeface="Calibri"/>
              <a:sym typeface="Calibri"/>
            </a:endParaRPr>
          </a:p>
          <a:p>
            <a:pPr marL="0" lvl="0" indent="0" algn="l" rtl="0">
              <a:spcBef>
                <a:spcPts val="0"/>
              </a:spcBef>
              <a:spcAft>
                <a:spcPts val="0"/>
              </a:spcAft>
              <a:buNone/>
            </a:pPr>
            <a:r>
              <a:rPr lang="en" sz="1300">
                <a:latin typeface="Calibri"/>
                <a:ea typeface="Calibri"/>
                <a:cs typeface="Calibri"/>
                <a:sym typeface="Calibri"/>
              </a:rPr>
              <a:t>My short video</a:t>
            </a:r>
            <a:r>
              <a:rPr lang="en" sz="1000">
                <a:latin typeface="Calibri"/>
                <a:ea typeface="Calibri"/>
                <a:cs typeface="Calibri"/>
                <a:sym typeface="Calibri"/>
              </a:rPr>
              <a:t> - </a:t>
            </a:r>
            <a:r>
              <a:rPr lang="en" sz="1000" u="sng">
                <a:solidFill>
                  <a:schemeClr val="hlink"/>
                </a:solidFill>
                <a:latin typeface="Calibri"/>
                <a:ea typeface="Calibri"/>
                <a:cs typeface="Calibri"/>
                <a:sym typeface="Calibri"/>
                <a:hlinkClick r:id="rId4"/>
              </a:rPr>
              <a:t>https://www.youtube.com/watch?v=vf2NBdjJ40k</a:t>
            </a:r>
            <a:r>
              <a:rPr lang="en" sz="1000">
                <a:latin typeface="Calibri"/>
                <a:ea typeface="Calibri"/>
                <a:cs typeface="Calibri"/>
                <a:sym typeface="Calibri"/>
              </a:rPr>
              <a:t> </a:t>
            </a:r>
            <a:endParaRPr sz="1000">
              <a:latin typeface="Calibri"/>
              <a:ea typeface="Calibri"/>
              <a:cs typeface="Calibri"/>
              <a:sym typeface="Calibri"/>
            </a:endParaRPr>
          </a:p>
          <a:p>
            <a:pPr marL="0" lvl="0" indent="0" algn="l" rtl="0">
              <a:spcBef>
                <a:spcPts val="0"/>
              </a:spcBef>
              <a:spcAft>
                <a:spcPts val="0"/>
              </a:spcAft>
              <a:buNone/>
            </a:pPr>
            <a:endParaRPr sz="1300">
              <a:latin typeface="Calibri"/>
              <a:ea typeface="Calibri"/>
              <a:cs typeface="Calibri"/>
              <a:sym typeface="Calibri"/>
            </a:endParaRPr>
          </a:p>
          <a:p>
            <a:pPr marL="0" lvl="0" indent="0" algn="l" rtl="0">
              <a:spcBef>
                <a:spcPts val="0"/>
              </a:spcBef>
              <a:spcAft>
                <a:spcPts val="0"/>
              </a:spcAft>
              <a:buNone/>
            </a:pPr>
            <a:r>
              <a:rPr lang="en" sz="1300">
                <a:latin typeface="Calibri"/>
                <a:ea typeface="Calibri"/>
                <a:cs typeface="Calibri"/>
                <a:sym typeface="Calibri"/>
              </a:rPr>
              <a:t>Go to </a:t>
            </a:r>
            <a:r>
              <a:rPr lang="en" sz="1300" u="sng">
                <a:solidFill>
                  <a:schemeClr val="hlink"/>
                </a:solidFill>
                <a:latin typeface="Calibri"/>
                <a:ea typeface="Calibri"/>
                <a:cs typeface="Calibri"/>
                <a:sym typeface="Calibri"/>
                <a:hlinkClick r:id="rId5"/>
              </a:rPr>
              <a:t>https://chat.lmsys.org</a:t>
            </a:r>
            <a:r>
              <a:rPr lang="en" sz="1300">
                <a:latin typeface="Calibri"/>
                <a:ea typeface="Calibri"/>
                <a:cs typeface="Calibri"/>
                <a:sym typeface="Calibri"/>
              </a:rPr>
              <a:t> </a:t>
            </a:r>
            <a:endParaRPr sz="1300">
              <a:latin typeface="Calibri"/>
              <a:ea typeface="Calibri"/>
              <a:cs typeface="Calibri"/>
              <a:sym typeface="Calibri"/>
            </a:endParaRPr>
          </a:p>
          <a:p>
            <a:pPr marL="0" lvl="0" indent="0" algn="l" rtl="0">
              <a:spcBef>
                <a:spcPts val="0"/>
              </a:spcBef>
              <a:spcAft>
                <a:spcPts val="0"/>
              </a:spcAft>
              <a:buNone/>
            </a:pPr>
            <a:r>
              <a:rPr lang="en" sz="1300">
                <a:latin typeface="Calibri"/>
                <a:ea typeface="Calibri"/>
                <a:cs typeface="Calibri"/>
                <a:sym typeface="Calibri"/>
              </a:rPr>
              <a:t>Click on "Direct Chat" tab on the top</a:t>
            </a:r>
            <a:endParaRPr sz="1300">
              <a:latin typeface="Calibri"/>
              <a:ea typeface="Calibri"/>
              <a:cs typeface="Calibri"/>
              <a:sym typeface="Calibri"/>
            </a:endParaRPr>
          </a:p>
          <a:p>
            <a:pPr marL="0" lvl="0" indent="0" algn="l" rtl="0">
              <a:spcBef>
                <a:spcPts val="0"/>
              </a:spcBef>
              <a:spcAft>
                <a:spcPts val="0"/>
              </a:spcAft>
              <a:buNone/>
            </a:pPr>
            <a:r>
              <a:rPr lang="en" sz="1300">
                <a:latin typeface="Calibri"/>
                <a:ea typeface="Calibri"/>
                <a:cs typeface="Calibri"/>
                <a:sym typeface="Calibri"/>
              </a:rPr>
              <a:t>Under "Choose any model to chat" select "mistral-next"</a:t>
            </a:r>
            <a:endParaRPr sz="1300">
              <a:latin typeface="Calibri"/>
              <a:ea typeface="Calibri"/>
              <a:cs typeface="Calibri"/>
              <a:sym typeface="Calibri"/>
            </a:endParaRPr>
          </a:p>
          <a:p>
            <a:pPr marL="0" lvl="0" indent="0" algn="l" rtl="0">
              <a:spcBef>
                <a:spcPts val="0"/>
              </a:spcBef>
              <a:spcAft>
                <a:spcPts val="0"/>
              </a:spcAft>
              <a:buNone/>
            </a:pPr>
            <a:endParaRPr sz="1300">
              <a:latin typeface="Calibri"/>
              <a:ea typeface="Calibri"/>
              <a:cs typeface="Calibri"/>
              <a:sym typeface="Calibri"/>
            </a:endParaRPr>
          </a:p>
          <a:p>
            <a:pPr marL="0" lvl="0" indent="0" algn="l" rtl="0">
              <a:spcBef>
                <a:spcPts val="0"/>
              </a:spcBef>
              <a:spcAft>
                <a:spcPts val="0"/>
              </a:spcAft>
              <a:buNone/>
            </a:pPr>
            <a:r>
              <a:rPr lang="en" sz="1300">
                <a:latin typeface="Calibri"/>
                <a:ea typeface="Calibri"/>
                <a:cs typeface="Calibri"/>
                <a:sym typeface="Calibri"/>
              </a:rPr>
              <a:t>Note: it is an experimental model and might have unpredictable behavior.</a:t>
            </a:r>
            <a:endParaRPr sz="1300">
              <a:latin typeface="Calibri"/>
              <a:ea typeface="Calibri"/>
              <a:cs typeface="Calibri"/>
              <a:sym typeface="Calibri"/>
            </a:endParaRPr>
          </a:p>
          <a:p>
            <a:pPr marL="0" lvl="0" indent="0" algn="l" rtl="0">
              <a:spcBef>
                <a:spcPts val="0"/>
              </a:spcBef>
              <a:spcAft>
                <a:spcPts val="0"/>
              </a:spcAft>
              <a:buNone/>
            </a:pPr>
            <a:r>
              <a:rPr lang="en" sz="1300">
                <a:latin typeface="Calibri"/>
                <a:ea typeface="Calibri"/>
                <a:cs typeface="Calibri"/>
                <a:sym typeface="Calibri"/>
              </a:rPr>
              <a:t>Note: it doesn't have access to recent data. I asked it about RAGAs, RAG, Llama, llama.cpp, ChatGPT, etc. - it didn't know any of these.</a:t>
            </a:r>
            <a:endParaRPr sz="1300">
              <a:latin typeface="Calibri"/>
              <a:ea typeface="Calibri"/>
              <a:cs typeface="Calibri"/>
              <a:sym typeface="Calibri"/>
            </a:endParaRPr>
          </a:p>
          <a:p>
            <a:pPr marL="0" lvl="0" indent="0" algn="l" rtl="0">
              <a:spcBef>
                <a:spcPts val="0"/>
              </a:spcBef>
              <a:spcAft>
                <a:spcPts val="0"/>
              </a:spcAft>
              <a:buNone/>
            </a:pPr>
            <a:endParaRPr sz="1300">
              <a:latin typeface="Calibri"/>
              <a:ea typeface="Calibri"/>
              <a:cs typeface="Calibri"/>
              <a:sym typeface="Calibri"/>
            </a:endParaRPr>
          </a:p>
          <a:p>
            <a:pPr marL="0" lvl="0" indent="0" algn="l" rtl="0">
              <a:spcBef>
                <a:spcPts val="0"/>
              </a:spcBef>
              <a:spcAft>
                <a:spcPts val="0"/>
              </a:spcAft>
              <a:buNone/>
            </a:pPr>
            <a:r>
              <a:rPr lang="en" sz="1300">
                <a:latin typeface="Calibri"/>
                <a:ea typeface="Calibri"/>
                <a:cs typeface="Calibri"/>
                <a:sym typeface="Calibri"/>
              </a:rPr>
              <a:t>It is uncensored (answers how to break into a car).</a:t>
            </a:r>
            <a:endParaRPr sz="1300">
              <a:latin typeface="Calibri"/>
              <a:ea typeface="Calibri"/>
              <a:cs typeface="Calibri"/>
              <a:sym typeface="Calibri"/>
            </a:endParaRPr>
          </a:p>
          <a:p>
            <a:pPr marL="0" lvl="0" indent="0" algn="l" rtl="0">
              <a:spcBef>
                <a:spcPts val="0"/>
              </a:spcBef>
              <a:spcAft>
                <a:spcPts val="0"/>
              </a:spcAft>
              <a:buNone/>
            </a:pPr>
            <a:r>
              <a:rPr lang="en" sz="1300">
                <a:latin typeface="Calibri"/>
                <a:ea typeface="Calibri"/>
                <a:cs typeface="Calibri"/>
                <a:sym typeface="Calibri"/>
              </a:rPr>
              <a:t>It is very good at logic and reasoning</a:t>
            </a:r>
            <a:endParaRPr sz="1300">
              <a:latin typeface="Calibri"/>
              <a:ea typeface="Calibri"/>
              <a:cs typeface="Calibri"/>
              <a:sym typeface="Calibri"/>
            </a:endParaRPr>
          </a:p>
        </p:txBody>
      </p:sp>
      <p:pic>
        <p:nvPicPr>
          <p:cNvPr id="72" name="Google Shape;72;p15"/>
          <p:cNvPicPr preferRelativeResize="0"/>
          <p:nvPr/>
        </p:nvPicPr>
        <p:blipFill rotWithShape="1">
          <a:blip r:embed="rId6" cstate="email">
            <a:alphaModFix/>
            <a:extLst>
              <a:ext uri="{28A0092B-C50C-407E-A947-70E740481C1C}">
                <a14:useLocalDpi xmlns:a14="http://schemas.microsoft.com/office/drawing/2010/main"/>
              </a:ext>
            </a:extLst>
          </a:blip>
          <a:srcRect/>
          <a:stretch/>
        </p:blipFill>
        <p:spPr>
          <a:xfrm>
            <a:off x="5113125" y="783600"/>
            <a:ext cx="3944700" cy="1692040"/>
          </a:xfrm>
          <a:prstGeom prst="rect">
            <a:avLst/>
          </a:prstGeom>
          <a:noFill/>
          <a:ln w="9525" cap="flat" cmpd="sng">
            <a:solidFill>
              <a:srgbClr val="FF0000"/>
            </a:solidFill>
            <a:prstDash val="solid"/>
            <a:round/>
            <a:headEnd type="none" w="sm" len="sm"/>
            <a:tailEnd type="none" w="sm" len="sm"/>
          </a:ln>
        </p:spPr>
      </p:pic>
      <p:sp>
        <p:nvSpPr>
          <p:cNvPr id="73" name="Google Shape;73;p15"/>
          <p:cNvSpPr/>
          <p:nvPr/>
        </p:nvSpPr>
        <p:spPr>
          <a:xfrm>
            <a:off x="4619275" y="1785325"/>
            <a:ext cx="364800" cy="114000"/>
          </a:xfrm>
          <a:prstGeom prst="rightArrow">
            <a:avLst>
              <a:gd name="adj1" fmla="val 50000"/>
              <a:gd name="adj2" fmla="val 50000"/>
            </a:avLst>
          </a:prstGeom>
          <a:solidFill>
            <a:schemeClr val="lt2"/>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74" name="Google Shape;74;p15"/>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5113125" y="2476708"/>
            <a:ext cx="3944700" cy="1657243"/>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78"/>
        <p:cNvGrpSpPr/>
        <p:nvPr/>
      </p:nvGrpSpPr>
      <p:grpSpPr>
        <a:xfrm>
          <a:off x="0" y="0"/>
          <a:ext cx="0" cy="0"/>
          <a:chOff x="0" y="0"/>
          <a:chExt cx="0" cy="0"/>
        </a:xfrm>
      </p:grpSpPr>
      <p:sp>
        <p:nvSpPr>
          <p:cNvPr id="79" name="Google Shape;79;p16"/>
          <p:cNvSpPr txBox="1"/>
          <p:nvPr/>
        </p:nvSpPr>
        <p:spPr>
          <a:xfrm>
            <a:off x="72300" y="0"/>
            <a:ext cx="44997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Google open LLMs - Gemma 2B &amp; 7B</a:t>
            </a:r>
            <a:endParaRPr sz="2000" b="1">
              <a:latin typeface="Calibri"/>
              <a:ea typeface="Calibri"/>
              <a:cs typeface="Calibri"/>
              <a:sym typeface="Calibri"/>
            </a:endParaRPr>
          </a:p>
        </p:txBody>
      </p:sp>
      <p:sp>
        <p:nvSpPr>
          <p:cNvPr id="80" name="Google Shape;80;p16"/>
          <p:cNvSpPr txBox="1"/>
          <p:nvPr/>
        </p:nvSpPr>
        <p:spPr>
          <a:xfrm>
            <a:off x="72300" y="783600"/>
            <a:ext cx="5931900" cy="3386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228600" lvl="0" indent="-196850" algn="l" rtl="0">
              <a:spcBef>
                <a:spcPts val="0"/>
              </a:spcBef>
              <a:spcAft>
                <a:spcPts val="0"/>
              </a:spcAft>
              <a:buSzPts val="1300"/>
              <a:buFont typeface="Calibri"/>
              <a:buChar char="●"/>
            </a:pPr>
            <a:r>
              <a:rPr lang="en" sz="1300">
                <a:latin typeface="Calibri"/>
                <a:ea typeface="Calibri"/>
                <a:cs typeface="Calibri"/>
                <a:sym typeface="Calibri"/>
              </a:rPr>
              <a:t>Google open-sourced Gemma LLMs with 2B and 7B parameters on Kaggle and Huggingface - </a:t>
            </a:r>
            <a:r>
              <a:rPr lang="en" sz="1300" u="sng">
                <a:solidFill>
                  <a:schemeClr val="hlink"/>
                </a:solidFill>
                <a:latin typeface="Calibri"/>
                <a:ea typeface="Calibri"/>
                <a:cs typeface="Calibri"/>
                <a:sym typeface="Calibri"/>
                <a:hlinkClick r:id="rId3"/>
              </a:rPr>
              <a:t>https://blog.google/technology/developers/gemma-open-models/</a:t>
            </a:r>
            <a:r>
              <a:rPr lang="en" sz="1300">
                <a:latin typeface="Calibri"/>
                <a:ea typeface="Calibri"/>
                <a:cs typeface="Calibri"/>
                <a:sym typeface="Calibri"/>
              </a:rPr>
              <a:t> </a:t>
            </a:r>
            <a:endParaRPr sz="1300">
              <a:latin typeface="Calibri"/>
              <a:ea typeface="Calibri"/>
              <a:cs typeface="Calibri"/>
              <a:sym typeface="Calibri"/>
            </a:endParaRPr>
          </a:p>
          <a:p>
            <a:pPr marL="228600" lvl="0" indent="-196850" algn="l" rtl="0">
              <a:spcBef>
                <a:spcPts val="0"/>
              </a:spcBef>
              <a:spcAft>
                <a:spcPts val="0"/>
              </a:spcAft>
              <a:buSzPts val="1300"/>
              <a:buFont typeface="Calibri"/>
              <a:buChar char="●"/>
            </a:pPr>
            <a:r>
              <a:rPr lang="en" sz="1300" u="sng">
                <a:solidFill>
                  <a:schemeClr val="hlink"/>
                </a:solidFill>
                <a:latin typeface="Calibri"/>
                <a:ea typeface="Calibri"/>
                <a:cs typeface="Calibri"/>
                <a:sym typeface="Calibri"/>
                <a:hlinkClick r:id="rId4"/>
              </a:rPr>
              <a:t>https://www.youtube.com/watch?v=UM2arC3EzEI</a:t>
            </a:r>
            <a:r>
              <a:rPr lang="en" sz="1300">
                <a:latin typeface="Calibri"/>
                <a:ea typeface="Calibri"/>
                <a:cs typeface="Calibri"/>
                <a:sym typeface="Calibri"/>
              </a:rPr>
              <a:t> - short video</a:t>
            </a:r>
            <a:endParaRPr sz="1300">
              <a:latin typeface="Calibri"/>
              <a:ea typeface="Calibri"/>
              <a:cs typeface="Calibri"/>
              <a:sym typeface="Calibri"/>
            </a:endParaRPr>
          </a:p>
          <a:p>
            <a:pPr marL="228600" lvl="0" indent="-196850" algn="l" rtl="0">
              <a:spcBef>
                <a:spcPts val="0"/>
              </a:spcBef>
              <a:spcAft>
                <a:spcPts val="0"/>
              </a:spcAft>
              <a:buSzPts val="1300"/>
              <a:buFont typeface="Calibri"/>
              <a:buChar char="●"/>
            </a:pPr>
            <a:r>
              <a:rPr lang="en" sz="1300">
                <a:latin typeface="Calibri"/>
                <a:ea typeface="Calibri"/>
                <a:cs typeface="Calibri"/>
                <a:sym typeface="Calibri"/>
              </a:rPr>
              <a:t>Beats Llama2 7b and 13b, and even Mistral-7b</a:t>
            </a:r>
            <a:endParaRPr sz="1300">
              <a:latin typeface="Calibri"/>
              <a:ea typeface="Calibri"/>
              <a:cs typeface="Calibri"/>
              <a:sym typeface="Calibri"/>
            </a:endParaRPr>
          </a:p>
          <a:p>
            <a:pPr marL="228600" lvl="0" indent="-196850" algn="l" rtl="0">
              <a:spcBef>
                <a:spcPts val="0"/>
              </a:spcBef>
              <a:spcAft>
                <a:spcPts val="0"/>
              </a:spcAft>
              <a:buSzPts val="1300"/>
              <a:buFont typeface="Calibri"/>
              <a:buChar char="●"/>
            </a:pPr>
            <a:r>
              <a:rPr lang="en" sz="1300">
                <a:latin typeface="Calibri"/>
                <a:ea typeface="Calibri"/>
                <a:cs typeface="Calibri"/>
                <a:sym typeface="Calibri"/>
              </a:rPr>
              <a:t>Providing toolchains for inference and supervised fine-tuning (SFT) across all major frameworks: JAX, PyTorch, and TensorFlow through native Keras 3.0.</a:t>
            </a:r>
            <a:endParaRPr sz="1300">
              <a:latin typeface="Calibri"/>
              <a:ea typeface="Calibri"/>
              <a:cs typeface="Calibri"/>
              <a:sym typeface="Calibri"/>
            </a:endParaRPr>
          </a:p>
          <a:p>
            <a:pPr marL="228600" lvl="0" indent="-196850" algn="l" rtl="0">
              <a:spcBef>
                <a:spcPts val="0"/>
              </a:spcBef>
              <a:spcAft>
                <a:spcPts val="0"/>
              </a:spcAft>
              <a:buSzPts val="1300"/>
              <a:buFont typeface="Calibri"/>
              <a:buChar char="●"/>
            </a:pPr>
            <a:r>
              <a:rPr lang="en" sz="1300">
                <a:latin typeface="Calibri"/>
                <a:ea typeface="Calibri"/>
                <a:cs typeface="Calibri"/>
                <a:sym typeface="Calibri"/>
              </a:rPr>
              <a:t>Ready-to-use Colab and Kaggle notebooks, alongside integration with popular tools such as Hugging Face, MaxText, NVIDIA NeMo and TensorRT-LLM, make it easy to get started with Gemma.</a:t>
            </a:r>
            <a:endParaRPr sz="1300">
              <a:latin typeface="Calibri"/>
              <a:ea typeface="Calibri"/>
              <a:cs typeface="Calibri"/>
              <a:sym typeface="Calibri"/>
            </a:endParaRPr>
          </a:p>
          <a:p>
            <a:pPr marL="228600" lvl="0" indent="-196850" algn="l" rtl="0">
              <a:spcBef>
                <a:spcPts val="0"/>
              </a:spcBef>
              <a:spcAft>
                <a:spcPts val="0"/>
              </a:spcAft>
              <a:buSzPts val="1300"/>
              <a:buFont typeface="Calibri"/>
              <a:buChar char="●"/>
            </a:pPr>
            <a:r>
              <a:rPr lang="en" sz="1300">
                <a:latin typeface="Calibri"/>
                <a:ea typeface="Calibri"/>
                <a:cs typeface="Calibri"/>
                <a:sym typeface="Calibri"/>
              </a:rPr>
              <a:t>Pre-trained and instruction-tuned Gemma models can run on your laptop, workstation, or Google Cloud with easy deployment on Vertex AI and Google Kubernetes Engine (GKE).</a:t>
            </a:r>
            <a:endParaRPr sz="1300">
              <a:latin typeface="Calibri"/>
              <a:ea typeface="Calibri"/>
              <a:cs typeface="Calibri"/>
              <a:sym typeface="Calibri"/>
            </a:endParaRPr>
          </a:p>
          <a:p>
            <a:pPr marL="228600" lvl="0" indent="-196850" algn="l" rtl="0">
              <a:spcBef>
                <a:spcPts val="0"/>
              </a:spcBef>
              <a:spcAft>
                <a:spcPts val="0"/>
              </a:spcAft>
              <a:buSzPts val="1300"/>
              <a:buFont typeface="Calibri"/>
              <a:buChar char="●"/>
            </a:pPr>
            <a:r>
              <a:rPr lang="en" sz="1300">
                <a:latin typeface="Calibri"/>
                <a:ea typeface="Calibri"/>
                <a:cs typeface="Calibri"/>
                <a:sym typeface="Calibri"/>
              </a:rPr>
              <a:t>Optimization across multiple AI hardware platforms ensures industry-leading performance, including NVIDIA GPUs and Google Cloud TPUs.</a:t>
            </a:r>
            <a:endParaRPr sz="1300">
              <a:latin typeface="Calibri"/>
              <a:ea typeface="Calibri"/>
              <a:cs typeface="Calibri"/>
              <a:sym typeface="Calibri"/>
            </a:endParaRPr>
          </a:p>
          <a:p>
            <a:pPr marL="228600" lvl="0" indent="-196850" algn="l" rtl="0">
              <a:spcBef>
                <a:spcPts val="0"/>
              </a:spcBef>
              <a:spcAft>
                <a:spcPts val="0"/>
              </a:spcAft>
              <a:buSzPts val="1300"/>
              <a:buFont typeface="Calibri"/>
              <a:buChar char="●"/>
            </a:pPr>
            <a:r>
              <a:rPr lang="en" sz="1300">
                <a:latin typeface="Calibri"/>
                <a:ea typeface="Calibri"/>
                <a:cs typeface="Calibri"/>
                <a:sym typeface="Calibri"/>
              </a:rPr>
              <a:t>Terms of use permit responsible commercial usage and distribution for all organizations, regardless of size.</a:t>
            </a:r>
            <a:endParaRPr sz="1300">
              <a:latin typeface="Calibri"/>
              <a:ea typeface="Calibri"/>
              <a:cs typeface="Calibri"/>
              <a:sym typeface="Calibri"/>
            </a:endParaRPr>
          </a:p>
        </p:txBody>
      </p:sp>
      <p:pic>
        <p:nvPicPr>
          <p:cNvPr id="81" name="Google Shape;81;p16"/>
          <p:cNvPicPr preferRelativeResize="0"/>
          <p:nvPr/>
        </p:nvPicPr>
        <p:blipFill rotWithShape="1">
          <a:blip r:embed="rId5" cstate="email">
            <a:alphaModFix/>
            <a:extLst>
              <a:ext uri="{28A0092B-C50C-407E-A947-70E740481C1C}">
                <a14:useLocalDpi xmlns:a14="http://schemas.microsoft.com/office/drawing/2010/main"/>
              </a:ext>
            </a:extLst>
          </a:blip>
          <a:srcRect/>
          <a:stretch/>
        </p:blipFill>
        <p:spPr>
          <a:xfrm>
            <a:off x="6427375" y="88600"/>
            <a:ext cx="2618200" cy="210635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5"/>
        <p:cNvGrpSpPr/>
        <p:nvPr/>
      </p:nvGrpSpPr>
      <p:grpSpPr>
        <a:xfrm>
          <a:off x="0" y="0"/>
          <a:ext cx="0" cy="0"/>
          <a:chOff x="0" y="0"/>
          <a:chExt cx="0" cy="0"/>
        </a:xfrm>
      </p:grpSpPr>
      <p:sp>
        <p:nvSpPr>
          <p:cNvPr id="86" name="Google Shape;86;p17"/>
          <p:cNvSpPr txBox="1"/>
          <p:nvPr/>
        </p:nvSpPr>
        <p:spPr>
          <a:xfrm>
            <a:off x="72300" y="0"/>
            <a:ext cx="44997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OpenAI World Simulation</a:t>
            </a:r>
            <a:endParaRPr sz="2000" b="1">
              <a:latin typeface="Calibri"/>
              <a:ea typeface="Calibri"/>
              <a:cs typeface="Calibri"/>
              <a:sym typeface="Calibri"/>
            </a:endParaRPr>
          </a:p>
        </p:txBody>
      </p:sp>
      <p:sp>
        <p:nvSpPr>
          <p:cNvPr id="87" name="Google Shape;87;p17"/>
          <p:cNvSpPr txBox="1"/>
          <p:nvPr/>
        </p:nvSpPr>
        <p:spPr>
          <a:xfrm>
            <a:off x="72300" y="783600"/>
            <a:ext cx="3835200" cy="1985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n" sz="1300" u="sng">
                <a:solidFill>
                  <a:schemeClr val="accent5"/>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https://openai.com/sora</a:t>
            </a:r>
            <a:r>
              <a:rPr lang="en" sz="1300">
                <a:solidFill>
                  <a:schemeClr val="dk1"/>
                </a:solidFill>
                <a:latin typeface="Calibri"/>
                <a:ea typeface="Calibri"/>
                <a:cs typeface="Calibri"/>
                <a:sym typeface="Calibri"/>
              </a:rPr>
              <a:t> </a:t>
            </a:r>
            <a:endParaRPr sz="1300">
              <a:solidFill>
                <a:schemeClr val="dk1"/>
              </a:solidFill>
              <a:latin typeface="Calibri"/>
              <a:ea typeface="Calibri"/>
              <a:cs typeface="Calibri"/>
              <a:sym typeface="Calibri"/>
            </a:endParaRPr>
          </a:p>
          <a:p>
            <a:pPr marL="0" lvl="0" indent="0" algn="l" rtl="0">
              <a:spcBef>
                <a:spcPts val="0"/>
              </a:spcBef>
              <a:spcAft>
                <a:spcPts val="0"/>
              </a:spcAft>
              <a:buNone/>
            </a:pPr>
            <a:endParaRPr sz="1300">
              <a:latin typeface="Calibri"/>
              <a:ea typeface="Calibri"/>
              <a:cs typeface="Calibri"/>
              <a:sym typeface="Calibri"/>
            </a:endParaRPr>
          </a:p>
          <a:p>
            <a:pPr marL="0" lvl="0" indent="0" algn="l" rtl="0">
              <a:spcBef>
                <a:spcPts val="0"/>
              </a:spcBef>
              <a:spcAft>
                <a:spcPts val="0"/>
              </a:spcAft>
              <a:buNone/>
            </a:pPr>
            <a:r>
              <a:rPr lang="en" sz="1300">
                <a:latin typeface="Calibri"/>
                <a:ea typeface="Calibri"/>
                <a:cs typeface="Calibri"/>
                <a:sym typeface="Calibri"/>
              </a:rPr>
              <a:t>OpenAI's "World Simulator" </a:t>
            </a:r>
            <a:endParaRPr sz="1300">
              <a:latin typeface="Calibri"/>
              <a:ea typeface="Calibri"/>
              <a:cs typeface="Calibri"/>
              <a:sym typeface="Calibri"/>
            </a:endParaRPr>
          </a:p>
          <a:p>
            <a:pPr marL="0" lvl="0" indent="0" algn="l" rtl="0">
              <a:spcBef>
                <a:spcPts val="0"/>
              </a:spcBef>
              <a:spcAft>
                <a:spcPts val="0"/>
              </a:spcAft>
              <a:buNone/>
            </a:pPr>
            <a:r>
              <a:rPr lang="en" sz="1300">
                <a:latin typeface="Calibri"/>
                <a:ea typeface="Calibri"/>
                <a:cs typeface="Calibri"/>
                <a:sym typeface="Calibri"/>
              </a:rPr>
              <a:t>- </a:t>
            </a:r>
            <a:r>
              <a:rPr lang="en" sz="1300" u="sng">
                <a:solidFill>
                  <a:schemeClr val="hlink"/>
                </a:solidFill>
                <a:latin typeface="Calibri"/>
                <a:ea typeface="Calibri"/>
                <a:cs typeface="Calibri"/>
                <a:sym typeface="Calibri"/>
                <a:hlinkClick r:id="rId4"/>
              </a:rPr>
              <a:t>https://www.youtube.com/watch?v=BH9FU7Gd6v8</a:t>
            </a:r>
            <a:r>
              <a:rPr lang="en" sz="1300">
                <a:latin typeface="Calibri"/>
                <a:ea typeface="Calibri"/>
                <a:cs typeface="Calibri"/>
                <a:sym typeface="Calibri"/>
              </a:rPr>
              <a:t> </a:t>
            </a:r>
            <a:endParaRPr sz="1300">
              <a:latin typeface="Calibri"/>
              <a:ea typeface="Calibri"/>
              <a:cs typeface="Calibri"/>
              <a:sym typeface="Calibri"/>
            </a:endParaRPr>
          </a:p>
          <a:p>
            <a:pPr marL="0" lvl="0" indent="0" algn="l" rtl="0">
              <a:spcBef>
                <a:spcPts val="0"/>
              </a:spcBef>
              <a:spcAft>
                <a:spcPts val="0"/>
              </a:spcAft>
              <a:buNone/>
            </a:pPr>
            <a:endParaRPr sz="1300">
              <a:latin typeface="Calibri"/>
              <a:ea typeface="Calibri"/>
              <a:cs typeface="Calibri"/>
              <a:sym typeface="Calibri"/>
            </a:endParaRPr>
          </a:p>
          <a:p>
            <a:pPr marL="0" lvl="0" indent="0" algn="l" rtl="0">
              <a:spcBef>
                <a:spcPts val="0"/>
              </a:spcBef>
              <a:spcAft>
                <a:spcPts val="0"/>
              </a:spcAft>
              <a:buNone/>
            </a:pPr>
            <a:r>
              <a:rPr lang="en" sz="1300">
                <a:latin typeface="Calibri"/>
                <a:ea typeface="Calibri"/>
                <a:cs typeface="Calibri"/>
                <a:sym typeface="Calibri"/>
              </a:rPr>
              <a:t>Video generation models as world simulators</a:t>
            </a:r>
            <a:endParaRPr sz="1300">
              <a:latin typeface="Calibri"/>
              <a:ea typeface="Calibri"/>
              <a:cs typeface="Calibri"/>
              <a:sym typeface="Calibri"/>
            </a:endParaRPr>
          </a:p>
          <a:p>
            <a:pPr marL="0" lvl="0" indent="0" algn="l" rtl="0">
              <a:spcBef>
                <a:spcPts val="0"/>
              </a:spcBef>
              <a:spcAft>
                <a:spcPts val="0"/>
              </a:spcAft>
              <a:buNone/>
            </a:pPr>
            <a:r>
              <a:rPr lang="en" sz="1300" u="sng">
                <a:solidFill>
                  <a:schemeClr val="hlink"/>
                </a:solidFill>
                <a:latin typeface="Calibri"/>
                <a:ea typeface="Calibri"/>
                <a:cs typeface="Calibri"/>
                <a:sym typeface="Calibri"/>
                <a:hlinkClick r:id="rId5"/>
              </a:rPr>
              <a:t>https://openai.com/research/video-generation-models-as-world-simulators</a:t>
            </a:r>
            <a:r>
              <a:rPr lang="en" sz="1300">
                <a:latin typeface="Calibri"/>
                <a:ea typeface="Calibri"/>
                <a:cs typeface="Calibri"/>
                <a:sym typeface="Calibri"/>
              </a:rPr>
              <a:t> </a:t>
            </a:r>
            <a:endParaRPr sz="1300">
              <a:latin typeface="Calibri"/>
              <a:ea typeface="Calibri"/>
              <a:cs typeface="Calibri"/>
              <a:sym typeface="Calibri"/>
            </a:endParaRPr>
          </a:p>
          <a:p>
            <a:pPr marL="0" lvl="0" indent="0" algn="l" rtl="0">
              <a:spcBef>
                <a:spcPts val="0"/>
              </a:spcBef>
              <a:spcAft>
                <a:spcPts val="0"/>
              </a:spcAft>
              <a:buNone/>
            </a:pPr>
            <a:endParaRPr sz="1300">
              <a:latin typeface="Calibri"/>
              <a:ea typeface="Calibri"/>
              <a:cs typeface="Calibri"/>
              <a:sym typeface="Calibri"/>
            </a:endParaRPr>
          </a:p>
        </p:txBody>
      </p:sp>
      <p:pic>
        <p:nvPicPr>
          <p:cNvPr id="88" name="Google Shape;88;p17"/>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5320846" y="108276"/>
            <a:ext cx="3741725" cy="2097299"/>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18"/>
          <p:cNvSpPr txBox="1"/>
          <p:nvPr/>
        </p:nvSpPr>
        <p:spPr>
          <a:xfrm>
            <a:off x="72300" y="0"/>
            <a:ext cx="43626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Misc 1</a:t>
            </a:r>
            <a:endParaRPr sz="2000" b="1">
              <a:latin typeface="Calibri"/>
              <a:ea typeface="Calibri"/>
              <a:cs typeface="Calibri"/>
              <a:sym typeface="Calibri"/>
            </a:endParaRPr>
          </a:p>
        </p:txBody>
      </p:sp>
      <p:sp>
        <p:nvSpPr>
          <p:cNvPr id="94" name="Google Shape;94;p18"/>
          <p:cNvSpPr txBox="1"/>
          <p:nvPr/>
        </p:nvSpPr>
        <p:spPr>
          <a:xfrm>
            <a:off x="72300" y="326400"/>
            <a:ext cx="4133400" cy="585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a:latin typeface="Calibri"/>
                <a:ea typeface="Calibri"/>
                <a:cs typeface="Calibri"/>
                <a:sym typeface="Calibri"/>
              </a:rPr>
              <a:t>Jeff Dean (Google): </a:t>
            </a:r>
            <a:r>
              <a:rPr lang="en" sz="1300" b="1">
                <a:solidFill>
                  <a:srgbClr val="FF0000"/>
                </a:solidFill>
                <a:latin typeface="Calibri"/>
                <a:ea typeface="Calibri"/>
                <a:cs typeface="Calibri"/>
                <a:sym typeface="Calibri"/>
              </a:rPr>
              <a:t>"Exciting Trends in Machine Learning"</a:t>
            </a:r>
            <a:r>
              <a:rPr lang="en" sz="1300">
                <a:latin typeface="Calibri"/>
                <a:ea typeface="Calibri"/>
                <a:cs typeface="Calibri"/>
                <a:sym typeface="Calibri"/>
              </a:rPr>
              <a:t> </a:t>
            </a:r>
            <a:endParaRPr sz="1300">
              <a:latin typeface="Calibri"/>
              <a:ea typeface="Calibri"/>
              <a:cs typeface="Calibri"/>
              <a:sym typeface="Calibri"/>
            </a:endParaRPr>
          </a:p>
          <a:p>
            <a:pPr marL="0" lvl="0" indent="0" algn="l" rtl="0">
              <a:spcBef>
                <a:spcPts val="0"/>
              </a:spcBef>
              <a:spcAft>
                <a:spcPts val="0"/>
              </a:spcAft>
              <a:buNone/>
            </a:pPr>
            <a:r>
              <a:rPr lang="en" sz="1300" u="sng">
                <a:solidFill>
                  <a:schemeClr val="hlink"/>
                </a:solidFill>
                <a:latin typeface="Calibri"/>
                <a:ea typeface="Calibri"/>
                <a:cs typeface="Calibri"/>
                <a:sym typeface="Calibri"/>
                <a:hlinkClick r:id="rId3"/>
              </a:rPr>
              <a:t>https://www.youtube.com/watch?v=oSCRZkSQ1CE</a:t>
            </a:r>
            <a:endParaRPr sz="1300">
              <a:latin typeface="Calibri"/>
              <a:ea typeface="Calibri"/>
              <a:cs typeface="Calibri"/>
              <a:sym typeface="Calibri"/>
            </a:endParaRPr>
          </a:p>
        </p:txBody>
      </p:sp>
      <p:pic>
        <p:nvPicPr>
          <p:cNvPr id="95" name="Google Shape;95;p18"/>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571999" y="98925"/>
            <a:ext cx="2409748" cy="1267225"/>
          </a:xfrm>
          <a:prstGeom prst="rect">
            <a:avLst/>
          </a:prstGeom>
          <a:noFill/>
          <a:ln w="9525" cap="flat" cmpd="sng">
            <a:solidFill>
              <a:srgbClr val="FF0000"/>
            </a:solidFill>
            <a:prstDash val="solid"/>
            <a:round/>
            <a:headEnd type="none" w="sm" len="sm"/>
            <a:tailEnd type="none" w="sm" len="sm"/>
          </a:ln>
        </p:spPr>
      </p:pic>
      <p:sp>
        <p:nvSpPr>
          <p:cNvPr id="96" name="Google Shape;96;p18"/>
          <p:cNvSpPr txBox="1"/>
          <p:nvPr/>
        </p:nvSpPr>
        <p:spPr>
          <a:xfrm>
            <a:off x="92850" y="2931750"/>
            <a:ext cx="4133400" cy="2139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000" u="sng">
                <a:solidFill>
                  <a:schemeClr val="hlink"/>
                </a:solidFill>
                <a:latin typeface="Calibri"/>
                <a:ea typeface="Calibri"/>
                <a:cs typeface="Calibri"/>
                <a:sym typeface="Calibri"/>
                <a:hlinkClick r:id="rId5"/>
              </a:rPr>
              <a:t>https://huggingface.co/datasets/nvidia/OpenMathInstruct-1</a:t>
            </a:r>
            <a:endParaRPr sz="1000">
              <a:latin typeface="Calibri"/>
              <a:ea typeface="Calibri"/>
              <a:cs typeface="Calibri"/>
              <a:sym typeface="Calibri"/>
            </a:endParaRPr>
          </a:p>
          <a:p>
            <a:pPr marL="0" lvl="0" indent="0" algn="l" rtl="0">
              <a:spcBef>
                <a:spcPts val="0"/>
              </a:spcBef>
              <a:spcAft>
                <a:spcPts val="0"/>
              </a:spcAft>
              <a:buNone/>
            </a:pPr>
            <a:r>
              <a:rPr lang="en" sz="1300">
                <a:latin typeface="Calibri"/>
                <a:ea typeface="Calibri"/>
                <a:cs typeface="Calibri"/>
                <a:sym typeface="Calibri"/>
              </a:rPr>
              <a:t>Dataset </a:t>
            </a:r>
            <a:r>
              <a:rPr lang="en" sz="1300" b="1">
                <a:solidFill>
                  <a:srgbClr val="FF0000"/>
                </a:solidFill>
                <a:latin typeface="Calibri"/>
                <a:ea typeface="Calibri"/>
                <a:cs typeface="Calibri"/>
                <a:sym typeface="Calibri"/>
              </a:rPr>
              <a:t>OpenMath Instruct-1 by Nvidia</a:t>
            </a:r>
            <a:endParaRPr sz="1300" b="1">
              <a:solidFill>
                <a:srgbClr val="FF0000"/>
              </a:solidFill>
              <a:latin typeface="Calibri"/>
              <a:ea typeface="Calibri"/>
              <a:cs typeface="Calibri"/>
              <a:sym typeface="Calibri"/>
            </a:endParaRPr>
          </a:p>
          <a:p>
            <a:pPr marL="228600" lvl="0" indent="-196850" algn="l" rtl="0">
              <a:spcBef>
                <a:spcPts val="0"/>
              </a:spcBef>
              <a:spcAft>
                <a:spcPts val="0"/>
              </a:spcAft>
              <a:buSzPts val="1300"/>
              <a:buFont typeface="Calibri"/>
              <a:buChar char="●"/>
            </a:pPr>
            <a:r>
              <a:rPr lang="en" sz="1300">
                <a:latin typeface="Calibri"/>
                <a:ea typeface="Calibri"/>
                <a:cs typeface="Calibri"/>
                <a:sym typeface="Calibri"/>
              </a:rPr>
              <a:t>1.8 Mln Problem-Solution (synthetic) pairs</a:t>
            </a:r>
            <a:endParaRPr sz="1300">
              <a:latin typeface="Calibri"/>
              <a:ea typeface="Calibri"/>
              <a:cs typeface="Calibri"/>
              <a:sym typeface="Calibri"/>
            </a:endParaRPr>
          </a:p>
          <a:p>
            <a:pPr marL="228600" lvl="0" indent="-196850" algn="l" rtl="0">
              <a:spcBef>
                <a:spcPts val="0"/>
              </a:spcBef>
              <a:spcAft>
                <a:spcPts val="0"/>
              </a:spcAft>
              <a:buSzPts val="1300"/>
              <a:buFont typeface="Calibri"/>
              <a:buChar char="●"/>
            </a:pPr>
            <a:r>
              <a:rPr lang="en" sz="1300">
                <a:latin typeface="Calibri"/>
                <a:ea typeface="Calibri"/>
                <a:cs typeface="Calibri"/>
                <a:sym typeface="Calibri"/>
              </a:rPr>
              <a:t>Uses GSM8K &amp; MATH training subsets.</a:t>
            </a:r>
            <a:endParaRPr sz="1300">
              <a:latin typeface="Calibri"/>
              <a:ea typeface="Calibri"/>
              <a:cs typeface="Calibri"/>
              <a:sym typeface="Calibri"/>
            </a:endParaRPr>
          </a:p>
          <a:p>
            <a:pPr marL="228600" lvl="0" indent="-196850" algn="l" rtl="0">
              <a:spcBef>
                <a:spcPts val="0"/>
              </a:spcBef>
              <a:spcAft>
                <a:spcPts val="0"/>
              </a:spcAft>
              <a:buSzPts val="1300"/>
              <a:buFont typeface="Calibri"/>
              <a:buChar char="●"/>
            </a:pPr>
            <a:r>
              <a:rPr lang="en" sz="1300">
                <a:latin typeface="Calibri"/>
                <a:ea typeface="Calibri"/>
                <a:cs typeface="Calibri"/>
                <a:sym typeface="Calibri"/>
              </a:rPr>
              <a:t>Uses Mixtral 8x7B to produce the pairs.</a:t>
            </a:r>
            <a:endParaRPr sz="1300">
              <a:latin typeface="Calibri"/>
              <a:ea typeface="Calibri"/>
              <a:cs typeface="Calibri"/>
              <a:sym typeface="Calibri"/>
            </a:endParaRPr>
          </a:p>
          <a:p>
            <a:pPr marL="228600" lvl="0" indent="-196850" algn="l" rtl="0">
              <a:spcBef>
                <a:spcPts val="0"/>
              </a:spcBef>
              <a:spcAft>
                <a:spcPts val="0"/>
              </a:spcAft>
              <a:buSzPts val="1300"/>
              <a:buFont typeface="Calibri"/>
              <a:buChar char="●"/>
            </a:pPr>
            <a:r>
              <a:rPr lang="en" sz="1300">
                <a:latin typeface="Calibri"/>
                <a:ea typeface="Calibri"/>
                <a:cs typeface="Calibri"/>
                <a:sym typeface="Calibri"/>
              </a:rPr>
              <a:t>Leverages both text reasoning + code interpreter during generation.</a:t>
            </a:r>
            <a:endParaRPr sz="1300">
              <a:latin typeface="Calibri"/>
              <a:ea typeface="Calibri"/>
              <a:cs typeface="Calibri"/>
              <a:sym typeface="Calibri"/>
            </a:endParaRPr>
          </a:p>
          <a:p>
            <a:pPr marL="228600" lvl="0" indent="-196850" algn="l" rtl="0">
              <a:spcBef>
                <a:spcPts val="0"/>
              </a:spcBef>
              <a:spcAft>
                <a:spcPts val="0"/>
              </a:spcAft>
              <a:buSzPts val="1300"/>
              <a:buFont typeface="Calibri"/>
              <a:buChar char="●"/>
            </a:pPr>
            <a:r>
              <a:rPr lang="en" sz="1300">
                <a:latin typeface="Calibri"/>
                <a:ea typeface="Calibri"/>
                <a:cs typeface="Calibri"/>
                <a:sym typeface="Calibri"/>
              </a:rPr>
              <a:t>Released LLama, CodeLlama, Mistral, Mixtral fine-tunes along with.</a:t>
            </a:r>
            <a:endParaRPr sz="1300">
              <a:latin typeface="Calibri"/>
              <a:ea typeface="Calibri"/>
              <a:cs typeface="Calibri"/>
              <a:sym typeface="Calibri"/>
            </a:endParaRPr>
          </a:p>
          <a:p>
            <a:pPr marL="228600" lvl="0" indent="-196850" algn="l" rtl="0">
              <a:spcBef>
                <a:spcPts val="0"/>
              </a:spcBef>
              <a:spcAft>
                <a:spcPts val="0"/>
              </a:spcAft>
              <a:buSzPts val="1300"/>
              <a:buFont typeface="Calibri"/>
              <a:buChar char="●"/>
            </a:pPr>
            <a:r>
              <a:rPr lang="en" sz="1300">
                <a:latin typeface="Calibri"/>
                <a:ea typeface="Calibri"/>
                <a:cs typeface="Calibri"/>
                <a:sym typeface="Calibri"/>
              </a:rPr>
              <a:t>Apache 2.0 licensed!</a:t>
            </a:r>
            <a:endParaRPr sz="1300">
              <a:latin typeface="Calibri"/>
              <a:ea typeface="Calibri"/>
              <a:cs typeface="Calibri"/>
              <a:sym typeface="Calibri"/>
            </a:endParaRPr>
          </a:p>
        </p:txBody>
      </p:sp>
      <p:pic>
        <p:nvPicPr>
          <p:cNvPr id="97" name="Google Shape;97;p18"/>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316725" y="1600825"/>
            <a:ext cx="3689381" cy="939000"/>
          </a:xfrm>
          <a:prstGeom prst="rect">
            <a:avLst/>
          </a:prstGeom>
          <a:noFill/>
          <a:ln w="9525" cap="flat" cmpd="sng">
            <a:solidFill>
              <a:srgbClr val="FF0000"/>
            </a:solidFill>
            <a:prstDash val="solid"/>
            <a:round/>
            <a:headEnd type="none" w="sm" len="sm"/>
            <a:tailEnd type="none" w="sm" len="sm"/>
          </a:ln>
        </p:spPr>
      </p:pic>
      <p:sp>
        <p:nvSpPr>
          <p:cNvPr id="98" name="Google Shape;98;p18"/>
          <p:cNvSpPr txBox="1"/>
          <p:nvPr/>
        </p:nvSpPr>
        <p:spPr>
          <a:xfrm>
            <a:off x="72300" y="963450"/>
            <a:ext cx="4133400" cy="1339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minbpe from Andrej Karpathy</a:t>
            </a:r>
            <a:endParaRPr sz="1300" b="1">
              <a:solidFill>
                <a:srgbClr val="FF0000"/>
              </a:solidFill>
              <a:latin typeface="Calibri"/>
              <a:ea typeface="Calibri"/>
              <a:cs typeface="Calibri"/>
              <a:sym typeface="Calibri"/>
            </a:endParaRPr>
          </a:p>
          <a:p>
            <a:pPr marL="0" lvl="0" indent="0" algn="l" rtl="0">
              <a:spcBef>
                <a:spcPts val="0"/>
              </a:spcBef>
              <a:spcAft>
                <a:spcPts val="0"/>
              </a:spcAft>
              <a:buNone/>
            </a:pPr>
            <a:r>
              <a:rPr lang="en" sz="1300">
                <a:latin typeface="Calibri"/>
                <a:ea typeface="Calibri"/>
                <a:cs typeface="Calibri"/>
                <a:sym typeface="Calibri"/>
              </a:rPr>
              <a:t>Minimal, clean code for the (byte-level) Byte Pair Encoding (BPE) algorithm commonly used in LLM tokenization.</a:t>
            </a:r>
            <a:endParaRPr sz="1300">
              <a:latin typeface="Calibri"/>
              <a:ea typeface="Calibri"/>
              <a:cs typeface="Calibri"/>
              <a:sym typeface="Calibri"/>
            </a:endParaRPr>
          </a:p>
          <a:p>
            <a:pPr marL="0" lvl="0" indent="0" algn="l" rtl="0">
              <a:spcBef>
                <a:spcPts val="0"/>
              </a:spcBef>
              <a:spcAft>
                <a:spcPts val="0"/>
              </a:spcAft>
              <a:buNone/>
            </a:pPr>
            <a:r>
              <a:rPr lang="en" sz="1300" u="sng">
                <a:solidFill>
                  <a:schemeClr val="hlink"/>
                </a:solidFill>
                <a:latin typeface="Calibri"/>
                <a:ea typeface="Calibri"/>
                <a:cs typeface="Calibri"/>
                <a:sym typeface="Calibri"/>
                <a:hlinkClick r:id="rId7"/>
              </a:rPr>
              <a:t>https://github.com/karpathy/minbpe</a:t>
            </a:r>
            <a:r>
              <a:rPr lang="en" sz="1300">
                <a:latin typeface="Calibri"/>
                <a:ea typeface="Calibri"/>
                <a:cs typeface="Calibri"/>
                <a:sym typeface="Calibri"/>
              </a:rPr>
              <a:t> </a:t>
            </a:r>
            <a:endParaRPr sz="1300">
              <a:latin typeface="Calibri"/>
              <a:ea typeface="Calibri"/>
              <a:cs typeface="Calibri"/>
              <a:sym typeface="Calibri"/>
            </a:endParaRPr>
          </a:p>
          <a:p>
            <a:pPr marL="0" lvl="0" indent="0" algn="l" rtl="0">
              <a:spcBef>
                <a:spcPts val="0"/>
              </a:spcBef>
              <a:spcAft>
                <a:spcPts val="0"/>
              </a:spcAft>
              <a:buNone/>
            </a:pPr>
            <a:r>
              <a:rPr lang="en" sz="1300">
                <a:latin typeface="Calibri"/>
                <a:ea typeface="Calibri"/>
                <a:cs typeface="Calibri"/>
                <a:sym typeface="Calibri"/>
              </a:rPr>
              <a:t>gpt4.py is only 37 lines of python code!</a:t>
            </a:r>
            <a:endParaRPr sz="1300">
              <a:latin typeface="Calibri"/>
              <a:ea typeface="Calibri"/>
              <a:cs typeface="Calibri"/>
              <a:sym typeface="Calibri"/>
            </a:endParaRPr>
          </a:p>
          <a:p>
            <a:pPr marL="0" lvl="0" indent="0" algn="l" rtl="0">
              <a:spcBef>
                <a:spcPts val="0"/>
              </a:spcBef>
              <a:spcAft>
                <a:spcPts val="0"/>
              </a:spcAft>
              <a:buNone/>
            </a:pPr>
            <a:r>
              <a:rPr lang="en" sz="1000" u="sng">
                <a:solidFill>
                  <a:schemeClr val="hlink"/>
                </a:solidFill>
                <a:latin typeface="Calibri"/>
                <a:ea typeface="Calibri"/>
                <a:cs typeface="Calibri"/>
                <a:sym typeface="Calibri"/>
                <a:hlinkClick r:id="rId8"/>
              </a:rPr>
              <a:t>https://twitter.com/AlphaSignalAI/status/1759259191292592530</a:t>
            </a:r>
            <a:r>
              <a:rPr lang="en" sz="1000">
                <a:latin typeface="Calibri"/>
                <a:ea typeface="Calibri"/>
                <a:cs typeface="Calibri"/>
                <a:sym typeface="Calibri"/>
              </a:rPr>
              <a:t> </a:t>
            </a:r>
            <a:endParaRPr sz="1000">
              <a:latin typeface="Calibri"/>
              <a:ea typeface="Calibri"/>
              <a:cs typeface="Calibri"/>
              <a:sym typeface="Calibri"/>
            </a:endParaRPr>
          </a:p>
        </p:txBody>
      </p:sp>
      <p:sp>
        <p:nvSpPr>
          <p:cNvPr id="99" name="Google Shape;99;p18"/>
          <p:cNvSpPr txBox="1"/>
          <p:nvPr/>
        </p:nvSpPr>
        <p:spPr>
          <a:xfrm>
            <a:off x="4316725" y="4132350"/>
            <a:ext cx="4706100" cy="939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000" u="sng">
                <a:solidFill>
                  <a:schemeClr val="hlink"/>
                </a:solidFill>
                <a:latin typeface="Calibri"/>
                <a:ea typeface="Calibri"/>
                <a:cs typeface="Calibri"/>
                <a:sym typeface="Calibri"/>
                <a:hlinkClick r:id="rId9"/>
              </a:rPr>
              <a:t>https://cohere.com/research/aya</a:t>
            </a:r>
            <a:endParaRPr sz="1000">
              <a:latin typeface="Calibri"/>
              <a:ea typeface="Calibri"/>
              <a:cs typeface="Calibri"/>
              <a:sym typeface="Calibri"/>
            </a:endParaRPr>
          </a:p>
          <a:p>
            <a:pPr marL="0" lvl="0" indent="0" algn="l" rtl="0">
              <a:spcBef>
                <a:spcPts val="0"/>
              </a:spcBef>
              <a:spcAft>
                <a:spcPts val="0"/>
              </a:spcAft>
              <a:buNone/>
            </a:pPr>
            <a:r>
              <a:rPr lang="en" sz="1300" b="1">
                <a:solidFill>
                  <a:srgbClr val="FF0000"/>
                </a:solidFill>
                <a:latin typeface="Calibri"/>
                <a:ea typeface="Calibri"/>
                <a:cs typeface="Calibri"/>
                <a:sym typeface="Calibri"/>
              </a:rPr>
              <a:t>Aya</a:t>
            </a:r>
            <a:r>
              <a:rPr lang="en" sz="1300">
                <a:latin typeface="Calibri"/>
                <a:ea typeface="Calibri"/>
                <a:cs typeface="Calibri"/>
                <a:sym typeface="Calibri"/>
              </a:rPr>
              <a:t> - open-source multilingual project, LLM and dataset, 101 languages, a global initiative led by </a:t>
            </a:r>
            <a:r>
              <a:rPr lang="en" sz="1300" b="1">
                <a:solidFill>
                  <a:srgbClr val="FF0000"/>
                </a:solidFill>
                <a:latin typeface="Calibri"/>
                <a:ea typeface="Calibri"/>
                <a:cs typeface="Calibri"/>
                <a:sym typeface="Calibri"/>
              </a:rPr>
              <a:t>Cohere For AI</a:t>
            </a:r>
            <a:r>
              <a:rPr lang="en" sz="1300">
                <a:latin typeface="Calibri"/>
                <a:ea typeface="Calibri"/>
                <a:cs typeface="Calibri"/>
                <a:sym typeface="Calibri"/>
              </a:rPr>
              <a:t> involving over 3,000 independent researchers across 119 countries</a:t>
            </a:r>
            <a:endParaRPr sz="1300">
              <a:latin typeface="Calibri"/>
              <a:ea typeface="Calibri"/>
              <a:cs typeface="Calibri"/>
              <a:sym typeface="Calibri"/>
            </a:endParaRPr>
          </a:p>
        </p:txBody>
      </p:sp>
      <p:pic>
        <p:nvPicPr>
          <p:cNvPr id="100" name="Google Shape;100;p18"/>
          <p:cNvPicPr preferRelativeResize="0"/>
          <p:nvPr/>
        </p:nvPicPr>
        <p:blipFill>
          <a:blip r:embed="rId10" cstate="email">
            <a:alphaModFix/>
            <a:extLst>
              <a:ext uri="{28A0092B-C50C-407E-A947-70E740481C1C}">
                <a14:useLocalDpi xmlns:a14="http://schemas.microsoft.com/office/drawing/2010/main"/>
              </a:ext>
            </a:extLst>
          </a:blip>
          <a:stretch>
            <a:fillRect/>
          </a:stretch>
        </p:blipFill>
        <p:spPr>
          <a:xfrm>
            <a:off x="5333450" y="2599213"/>
            <a:ext cx="3689375" cy="1473738"/>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04"/>
        <p:cNvGrpSpPr/>
        <p:nvPr/>
      </p:nvGrpSpPr>
      <p:grpSpPr>
        <a:xfrm>
          <a:off x="0" y="0"/>
          <a:ext cx="0" cy="0"/>
          <a:chOff x="0" y="0"/>
          <a:chExt cx="0" cy="0"/>
        </a:xfrm>
      </p:grpSpPr>
      <p:sp>
        <p:nvSpPr>
          <p:cNvPr id="105" name="Google Shape;105;p19"/>
          <p:cNvSpPr txBox="1"/>
          <p:nvPr/>
        </p:nvSpPr>
        <p:spPr>
          <a:xfrm>
            <a:off x="72300" y="449300"/>
            <a:ext cx="4362600" cy="149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a:latin typeface="Calibri"/>
                <a:ea typeface="Calibri"/>
                <a:cs typeface="Calibri"/>
                <a:sym typeface="Calibri"/>
              </a:rPr>
              <a:t>10M context kills RAG. A context window of 10M tokens effectively makes most of existing RAG frameworks unnecessary. A startup killer !? </a:t>
            </a:r>
            <a:endParaRPr sz="1300">
              <a:latin typeface="Calibri"/>
              <a:ea typeface="Calibri"/>
              <a:cs typeface="Calibri"/>
              <a:sym typeface="Calibri"/>
            </a:endParaRPr>
          </a:p>
          <a:p>
            <a:pPr marL="0" lvl="0" indent="0" algn="l" rtl="0">
              <a:spcBef>
                <a:spcPts val="0"/>
              </a:spcBef>
              <a:spcAft>
                <a:spcPts val="0"/>
              </a:spcAft>
              <a:buNone/>
            </a:pPr>
            <a:r>
              <a:rPr lang="en" sz="1000" u="sng">
                <a:solidFill>
                  <a:schemeClr val="hlink"/>
                </a:solidFill>
                <a:latin typeface="Calibri"/>
                <a:ea typeface="Calibri"/>
                <a:cs typeface="Calibri"/>
                <a:sym typeface="Calibri"/>
                <a:hlinkClick r:id="rId3"/>
              </a:rPr>
              <a:t>https://twitter.com/Francis_YAO_/status/1758934303655030929</a:t>
            </a:r>
            <a:endParaRPr sz="1000">
              <a:latin typeface="Calibri"/>
              <a:ea typeface="Calibri"/>
              <a:cs typeface="Calibri"/>
              <a:sym typeface="Calibri"/>
            </a:endParaRPr>
          </a:p>
          <a:p>
            <a:pPr marL="0" lvl="0" indent="0" algn="l" rtl="0">
              <a:spcBef>
                <a:spcPts val="0"/>
              </a:spcBef>
              <a:spcAft>
                <a:spcPts val="0"/>
              </a:spcAft>
              <a:buNone/>
            </a:pPr>
            <a:endParaRPr sz="1300">
              <a:latin typeface="Calibri"/>
              <a:ea typeface="Calibri"/>
              <a:cs typeface="Calibri"/>
              <a:sym typeface="Calibri"/>
            </a:endParaRPr>
          </a:p>
          <a:p>
            <a:pPr marL="0" lvl="0" indent="0" algn="l" rtl="0">
              <a:spcBef>
                <a:spcPts val="0"/>
              </a:spcBef>
              <a:spcAft>
                <a:spcPts val="0"/>
              </a:spcAft>
              <a:buNone/>
            </a:pPr>
            <a:r>
              <a:rPr lang="en" sz="1300">
                <a:latin typeface="Calibri"/>
                <a:ea typeface="Calibri"/>
                <a:cs typeface="Calibri"/>
                <a:sym typeface="Calibri"/>
              </a:rPr>
              <a:t>But what about the costs?</a:t>
            </a:r>
            <a:endParaRPr sz="1300">
              <a:latin typeface="Calibri"/>
              <a:ea typeface="Calibri"/>
              <a:cs typeface="Calibri"/>
              <a:sym typeface="Calibri"/>
            </a:endParaRPr>
          </a:p>
          <a:p>
            <a:pPr marL="0" lvl="0" indent="0" algn="l" rtl="0">
              <a:spcBef>
                <a:spcPts val="0"/>
              </a:spcBef>
              <a:spcAft>
                <a:spcPts val="0"/>
              </a:spcAft>
              <a:buNone/>
            </a:pPr>
            <a:r>
              <a:rPr lang="en" sz="1000" u="sng">
                <a:solidFill>
                  <a:schemeClr val="hlink"/>
                </a:solidFill>
                <a:latin typeface="Calibri"/>
                <a:ea typeface="Calibri"/>
                <a:cs typeface="Calibri"/>
                <a:sym typeface="Calibri"/>
                <a:hlinkClick r:id="rId4"/>
              </a:rPr>
              <a:t>https://twitter.com/skeptrune/status/1759034741658185785</a:t>
            </a:r>
            <a:r>
              <a:rPr lang="en" sz="1000">
                <a:latin typeface="Calibri"/>
                <a:ea typeface="Calibri"/>
                <a:cs typeface="Calibri"/>
                <a:sym typeface="Calibri"/>
              </a:rPr>
              <a:t> </a:t>
            </a:r>
            <a:endParaRPr sz="1000">
              <a:latin typeface="Calibri"/>
              <a:ea typeface="Calibri"/>
              <a:cs typeface="Calibri"/>
              <a:sym typeface="Calibri"/>
            </a:endParaRPr>
          </a:p>
        </p:txBody>
      </p:sp>
      <p:pic>
        <p:nvPicPr>
          <p:cNvPr id="106" name="Google Shape;106;p19"/>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572000" y="90444"/>
            <a:ext cx="3626500" cy="3671831"/>
          </a:xfrm>
          <a:prstGeom prst="rect">
            <a:avLst/>
          </a:prstGeom>
          <a:noFill/>
          <a:ln w="9525" cap="flat" cmpd="sng">
            <a:solidFill>
              <a:srgbClr val="FF0000"/>
            </a:solidFill>
            <a:prstDash val="solid"/>
            <a:round/>
            <a:headEnd type="none" w="sm" len="sm"/>
            <a:tailEnd type="none" w="sm" len="sm"/>
          </a:ln>
        </p:spPr>
      </p:pic>
      <p:sp>
        <p:nvSpPr>
          <p:cNvPr id="107" name="Google Shape;107;p19"/>
          <p:cNvSpPr txBox="1"/>
          <p:nvPr/>
        </p:nvSpPr>
        <p:spPr>
          <a:xfrm>
            <a:off x="72300" y="0"/>
            <a:ext cx="43626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Misc 2</a:t>
            </a:r>
            <a:endParaRPr sz="2000" b="1">
              <a:latin typeface="Calibri"/>
              <a:ea typeface="Calibri"/>
              <a:cs typeface="Calibri"/>
              <a:sym typeface="Calibri"/>
            </a:endParaRPr>
          </a:p>
        </p:txBody>
      </p:sp>
      <p:sp>
        <p:nvSpPr>
          <p:cNvPr id="108" name="Google Shape;108;p19"/>
          <p:cNvSpPr txBox="1"/>
          <p:nvPr/>
        </p:nvSpPr>
        <p:spPr>
          <a:xfrm>
            <a:off x="72300" y="2110475"/>
            <a:ext cx="4362600" cy="1446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000" u="sng">
                <a:solidFill>
                  <a:schemeClr val="accent5"/>
                </a:solidFill>
                <a:latin typeface="Calibri"/>
                <a:ea typeface="Calibri"/>
                <a:cs typeface="Calibri"/>
                <a:sym typeface="Calibri"/>
                <a:hlinkClick r:id="rId6">
                  <a:extLst>
                    <a:ext uri="{A12FA001-AC4F-418D-AE19-62706E023703}">
                      <ahyp:hlinkClr xmlns:ahyp="http://schemas.microsoft.com/office/drawing/2018/hyperlinkcolor" val="tx"/>
                    </a:ext>
                  </a:extLst>
                </a:hlinkClick>
              </a:rPr>
              <a:t>https://twitter.com/ylecun/status/1758760027203006952</a:t>
            </a:r>
            <a:r>
              <a:rPr lang="en" sz="1000">
                <a:solidFill>
                  <a:schemeClr val="dk1"/>
                </a:solidFill>
                <a:latin typeface="Calibri"/>
                <a:ea typeface="Calibri"/>
                <a:cs typeface="Calibri"/>
                <a:sym typeface="Calibri"/>
              </a:rPr>
              <a:t> </a:t>
            </a:r>
            <a:br>
              <a:rPr lang="en" sz="1000">
                <a:solidFill>
                  <a:schemeClr val="dk1"/>
                </a:solidFill>
                <a:latin typeface="Calibri"/>
                <a:ea typeface="Calibri"/>
                <a:cs typeface="Calibri"/>
                <a:sym typeface="Calibri"/>
              </a:rPr>
            </a:br>
            <a:r>
              <a:rPr lang="en" sz="1300">
                <a:latin typeface="Calibri"/>
                <a:ea typeface="Calibri"/>
                <a:cs typeface="Calibri"/>
                <a:sym typeface="Calibri"/>
              </a:rPr>
              <a:t>This paper is the basis for SORA:</a:t>
            </a:r>
            <a:endParaRPr sz="1300">
              <a:latin typeface="Calibri"/>
              <a:ea typeface="Calibri"/>
              <a:cs typeface="Calibri"/>
              <a:sym typeface="Calibri"/>
            </a:endParaRPr>
          </a:p>
          <a:p>
            <a:pPr marL="0" lvl="0" indent="0" algn="l" rtl="0">
              <a:spcBef>
                <a:spcPts val="0"/>
              </a:spcBef>
              <a:spcAft>
                <a:spcPts val="0"/>
              </a:spcAft>
              <a:buNone/>
            </a:pPr>
            <a:br>
              <a:rPr lang="en" sz="1300">
                <a:latin typeface="Calibri"/>
                <a:ea typeface="Calibri"/>
                <a:cs typeface="Calibri"/>
                <a:sym typeface="Calibri"/>
              </a:rPr>
            </a:br>
            <a:r>
              <a:rPr lang="en" sz="1300">
                <a:latin typeface="Calibri"/>
                <a:ea typeface="Calibri"/>
                <a:cs typeface="Calibri"/>
                <a:sym typeface="Calibri"/>
              </a:rPr>
              <a:t>"Scalable Diffusion Models with Transformers"</a:t>
            </a:r>
            <a:endParaRPr sz="1300">
              <a:latin typeface="Calibri"/>
              <a:ea typeface="Calibri"/>
              <a:cs typeface="Calibri"/>
              <a:sym typeface="Calibri"/>
            </a:endParaRPr>
          </a:p>
          <a:p>
            <a:pPr marL="0" lvl="0" indent="0" algn="l" rtl="0">
              <a:spcBef>
                <a:spcPts val="0"/>
              </a:spcBef>
              <a:spcAft>
                <a:spcPts val="0"/>
              </a:spcAft>
              <a:buNone/>
            </a:pPr>
            <a:r>
              <a:rPr lang="en" sz="1000" u="sng">
                <a:solidFill>
                  <a:schemeClr val="hlink"/>
                </a:solidFill>
                <a:latin typeface="Calibri"/>
                <a:ea typeface="Calibri"/>
                <a:cs typeface="Calibri"/>
                <a:sym typeface="Calibri"/>
                <a:hlinkClick r:id="rId7"/>
              </a:rPr>
              <a:t>https://openaccess.thecvf.com/content/ICCV2023/html/Peebles_Scalable_Diffusion_Models_with_Transformers_ICCV_2023_paper.html</a:t>
            </a:r>
            <a:endParaRPr sz="1000">
              <a:latin typeface="Calibri"/>
              <a:ea typeface="Calibri"/>
              <a:cs typeface="Calibri"/>
              <a:sym typeface="Calibri"/>
            </a:endParaRPr>
          </a:p>
          <a:p>
            <a:pPr marL="0" lvl="0" indent="0" algn="l" rtl="0">
              <a:spcBef>
                <a:spcPts val="0"/>
              </a:spcBef>
              <a:spcAft>
                <a:spcPts val="0"/>
              </a:spcAft>
              <a:buNone/>
            </a:pPr>
            <a:r>
              <a:rPr lang="en" sz="1300">
                <a:latin typeface="Calibri"/>
                <a:ea typeface="Calibri"/>
                <a:cs typeface="Calibri"/>
                <a:sym typeface="Calibri"/>
              </a:rPr>
              <a:t>by William Peebles (UC Berkeley) and Saining Xie (NYU)</a:t>
            </a:r>
            <a:endParaRPr sz="1300">
              <a:latin typeface="Calibri"/>
              <a:ea typeface="Calibri"/>
              <a:cs typeface="Calibri"/>
              <a:sym typeface="Calibri"/>
            </a:endParaRPr>
          </a:p>
        </p:txBody>
      </p:sp>
      <p:sp>
        <p:nvSpPr>
          <p:cNvPr id="109" name="Google Shape;109;p19"/>
          <p:cNvSpPr txBox="1"/>
          <p:nvPr/>
        </p:nvSpPr>
        <p:spPr>
          <a:xfrm>
            <a:off x="72300" y="3725450"/>
            <a:ext cx="4362600" cy="1185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a:latin typeface="Calibri"/>
                <a:ea typeface="Calibri"/>
                <a:cs typeface="Calibri"/>
                <a:sym typeface="Calibri"/>
              </a:rPr>
              <a:t>"AI-Augmented Predictions: LLM Assistants Improve Human Forecasting Accuracy" - </a:t>
            </a:r>
            <a:r>
              <a:rPr lang="en" sz="1000" u="sng">
                <a:solidFill>
                  <a:schemeClr val="hlink"/>
                </a:solidFill>
                <a:latin typeface="Calibri"/>
                <a:ea typeface="Calibri"/>
                <a:cs typeface="Calibri"/>
                <a:sym typeface="Calibri"/>
                <a:hlinkClick r:id="rId8"/>
              </a:rPr>
              <a:t>https://arxiv.org/pdf/2402.07862.pdf</a:t>
            </a:r>
            <a:r>
              <a:rPr lang="en" sz="1000">
                <a:latin typeface="Calibri"/>
                <a:ea typeface="Calibri"/>
                <a:cs typeface="Calibri"/>
                <a:sym typeface="Calibri"/>
              </a:rPr>
              <a:t> </a:t>
            </a:r>
            <a:endParaRPr sz="1000">
              <a:latin typeface="Calibri"/>
              <a:ea typeface="Calibri"/>
              <a:cs typeface="Calibri"/>
              <a:sym typeface="Calibri"/>
            </a:endParaRPr>
          </a:p>
          <a:p>
            <a:pPr marL="0" lvl="0" indent="0" algn="l" rtl="0">
              <a:spcBef>
                <a:spcPts val="0"/>
              </a:spcBef>
              <a:spcAft>
                <a:spcPts val="0"/>
              </a:spcAft>
              <a:buNone/>
            </a:pPr>
            <a:r>
              <a:rPr lang="en" sz="1300">
                <a:latin typeface="Calibri"/>
                <a:ea typeface="Calibri"/>
                <a:cs typeface="Calibri"/>
                <a:sym typeface="Calibri"/>
              </a:rPr>
              <a:t>Both biased and unbiased LLM assistants helped humans make much better forecasts and improved their accuracy:</a:t>
            </a:r>
            <a:endParaRPr sz="1300">
              <a:latin typeface="Calibri"/>
              <a:ea typeface="Calibri"/>
              <a:cs typeface="Calibri"/>
              <a:sym typeface="Calibri"/>
            </a:endParaRPr>
          </a:p>
          <a:p>
            <a:pPr marL="0" lvl="0" indent="0" algn="l" rtl="0">
              <a:spcBef>
                <a:spcPts val="0"/>
              </a:spcBef>
              <a:spcAft>
                <a:spcPts val="0"/>
              </a:spcAft>
              <a:buNone/>
            </a:pPr>
            <a:r>
              <a:rPr lang="en" sz="1300">
                <a:latin typeface="Calibri"/>
                <a:ea typeface="Calibri"/>
                <a:cs typeface="Calibri"/>
                <a:sym typeface="Calibri"/>
              </a:rPr>
              <a:t>Unbiased - by 43%, biased - by 28%</a:t>
            </a:r>
            <a:endParaRPr sz="1300">
              <a:latin typeface="Calibri"/>
              <a:ea typeface="Calibri"/>
              <a:cs typeface="Calibri"/>
              <a:sym typeface="Calibri"/>
            </a:endParaRPr>
          </a:p>
        </p:txBody>
      </p:sp>
      <p:sp>
        <p:nvSpPr>
          <p:cNvPr id="110" name="Google Shape;110;p19"/>
          <p:cNvSpPr txBox="1"/>
          <p:nvPr/>
        </p:nvSpPr>
        <p:spPr>
          <a:xfrm>
            <a:off x="4572000" y="4010981"/>
            <a:ext cx="4362600" cy="892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a:latin typeface="Calibri"/>
                <a:ea typeface="Calibri"/>
                <a:cs typeface="Calibri"/>
                <a:sym typeface="Calibri"/>
              </a:rPr>
              <a:t>OpenAI Reaches $80 Billion Valuation In Venture Firm Deal</a:t>
            </a:r>
            <a:endParaRPr sz="1300">
              <a:latin typeface="Calibri"/>
              <a:ea typeface="Calibri"/>
              <a:cs typeface="Calibri"/>
              <a:sym typeface="Calibri"/>
            </a:endParaRPr>
          </a:p>
          <a:p>
            <a:pPr marL="0" lvl="0" indent="0" algn="l" rtl="0">
              <a:spcBef>
                <a:spcPts val="0"/>
              </a:spcBef>
              <a:spcAft>
                <a:spcPts val="0"/>
              </a:spcAft>
              <a:buNone/>
            </a:pPr>
            <a:r>
              <a:rPr lang="en" sz="1300">
                <a:latin typeface="Calibri"/>
                <a:ea typeface="Calibri"/>
                <a:cs typeface="Calibri"/>
                <a:sym typeface="Calibri"/>
              </a:rPr>
              <a:t>... a nearly 3x increase in value from just 9 months ago.</a:t>
            </a:r>
            <a:endParaRPr sz="1300">
              <a:latin typeface="Calibri"/>
              <a:ea typeface="Calibri"/>
              <a:cs typeface="Calibri"/>
              <a:sym typeface="Calibri"/>
            </a:endParaRPr>
          </a:p>
          <a:p>
            <a:pPr marL="0" lvl="0" indent="0" algn="l" rtl="0">
              <a:spcBef>
                <a:spcPts val="0"/>
              </a:spcBef>
              <a:spcAft>
                <a:spcPts val="0"/>
              </a:spcAft>
              <a:buNone/>
            </a:pPr>
            <a:r>
              <a:rPr lang="en" sz="1000" u="sng">
                <a:solidFill>
                  <a:schemeClr val="hlink"/>
                </a:solidFill>
                <a:latin typeface="Calibri"/>
                <a:ea typeface="Calibri"/>
                <a:cs typeface="Calibri"/>
                <a:sym typeface="Calibri"/>
                <a:hlinkClick r:id="rId9"/>
              </a:rPr>
              <a:t>https://www.forbes.com/sites/antoniopequenoiv/2024/02/16/openai-reaches-80-billion-valuation-in-venture-firm-deal-report-says/</a:t>
            </a:r>
            <a:r>
              <a:rPr lang="en" sz="1000">
                <a:latin typeface="Calibri"/>
                <a:ea typeface="Calibri"/>
                <a:cs typeface="Calibri"/>
                <a:sym typeface="Calibri"/>
              </a:rPr>
              <a:t> </a:t>
            </a:r>
            <a:endParaRPr sz="1000">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4"/>
        <p:cNvGrpSpPr/>
        <p:nvPr/>
      </p:nvGrpSpPr>
      <p:grpSpPr>
        <a:xfrm>
          <a:off x="0" y="0"/>
          <a:ext cx="0" cy="0"/>
          <a:chOff x="0" y="0"/>
          <a:chExt cx="0" cy="0"/>
        </a:xfrm>
      </p:grpSpPr>
      <p:sp>
        <p:nvSpPr>
          <p:cNvPr id="115" name="Google Shape;115;p20"/>
          <p:cNvSpPr txBox="1"/>
          <p:nvPr/>
        </p:nvSpPr>
        <p:spPr>
          <a:xfrm>
            <a:off x="72300" y="0"/>
            <a:ext cx="43626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LangChain - Startup</a:t>
            </a:r>
            <a:endParaRPr sz="2000" b="1">
              <a:latin typeface="Calibri"/>
              <a:ea typeface="Calibri"/>
              <a:cs typeface="Calibri"/>
              <a:sym typeface="Calibri"/>
            </a:endParaRPr>
          </a:p>
        </p:txBody>
      </p:sp>
      <p:sp>
        <p:nvSpPr>
          <p:cNvPr id="116" name="Google Shape;116;p20"/>
          <p:cNvSpPr txBox="1"/>
          <p:nvPr/>
        </p:nvSpPr>
        <p:spPr>
          <a:xfrm>
            <a:off x="72301" y="478800"/>
            <a:ext cx="3180600" cy="892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228600" lvl="0" indent="-196850" algn="l" rtl="0">
              <a:spcBef>
                <a:spcPts val="0"/>
              </a:spcBef>
              <a:spcAft>
                <a:spcPts val="0"/>
              </a:spcAft>
              <a:buSzPts val="1300"/>
              <a:buFont typeface="Calibri"/>
              <a:buChar char="●"/>
            </a:pPr>
            <a:r>
              <a:rPr lang="en" sz="1300">
                <a:latin typeface="Calibri"/>
                <a:ea typeface="Calibri"/>
                <a:cs typeface="Calibri"/>
                <a:sym typeface="Calibri"/>
              </a:rPr>
              <a:t>LangChain is now a startup</a:t>
            </a:r>
            <a:br>
              <a:rPr lang="en" sz="1300">
                <a:latin typeface="Calibri"/>
                <a:ea typeface="Calibri"/>
                <a:cs typeface="Calibri"/>
                <a:sym typeface="Calibri"/>
              </a:rPr>
            </a:br>
            <a:r>
              <a:rPr lang="en" sz="1300">
                <a:latin typeface="Calibri"/>
                <a:ea typeface="Calibri"/>
                <a:cs typeface="Calibri"/>
                <a:sym typeface="Calibri"/>
              </a:rPr>
              <a:t>$25M Series A funding</a:t>
            </a:r>
            <a:endParaRPr sz="1300">
              <a:latin typeface="Calibri"/>
              <a:ea typeface="Calibri"/>
              <a:cs typeface="Calibri"/>
              <a:sym typeface="Calibri"/>
            </a:endParaRPr>
          </a:p>
          <a:p>
            <a:pPr marL="228600" lvl="0" indent="-177800" algn="l" rtl="0">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3"/>
              </a:rPr>
              <a:t>https://www.langchain.com</a:t>
            </a:r>
            <a:r>
              <a:rPr lang="en" sz="1000">
                <a:latin typeface="Calibri"/>
                <a:ea typeface="Calibri"/>
                <a:cs typeface="Calibri"/>
                <a:sym typeface="Calibri"/>
              </a:rPr>
              <a:t> </a:t>
            </a:r>
            <a:endParaRPr sz="1000">
              <a:latin typeface="Calibri"/>
              <a:ea typeface="Calibri"/>
              <a:cs typeface="Calibri"/>
              <a:sym typeface="Calibri"/>
            </a:endParaRPr>
          </a:p>
          <a:p>
            <a:pPr marL="228600" lvl="0" indent="-177800" algn="l" rtl="0">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4"/>
              </a:rPr>
              <a:t>https://github.com/langchain-ai/langchain</a:t>
            </a:r>
            <a:r>
              <a:rPr lang="en" sz="1000">
                <a:latin typeface="Calibri"/>
                <a:ea typeface="Calibri"/>
                <a:cs typeface="Calibri"/>
                <a:sym typeface="Calibri"/>
              </a:rPr>
              <a:t>  </a:t>
            </a:r>
            <a:endParaRPr sz="1000">
              <a:latin typeface="Calibri"/>
              <a:ea typeface="Calibri"/>
              <a:cs typeface="Calibri"/>
              <a:sym typeface="Calibri"/>
            </a:endParaRPr>
          </a:p>
        </p:txBody>
      </p:sp>
      <p:pic>
        <p:nvPicPr>
          <p:cNvPr id="117" name="Google Shape;117;p20"/>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434900" y="702350"/>
            <a:ext cx="4612948" cy="1796992"/>
          </a:xfrm>
          <a:prstGeom prst="rect">
            <a:avLst/>
          </a:prstGeom>
          <a:noFill/>
          <a:ln>
            <a:noFill/>
          </a:ln>
        </p:spPr>
      </p:pic>
      <p:pic>
        <p:nvPicPr>
          <p:cNvPr id="118" name="Google Shape;118;p20"/>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72300" y="1597200"/>
            <a:ext cx="2496900" cy="2442175"/>
          </a:xfrm>
          <a:prstGeom prst="rect">
            <a:avLst/>
          </a:prstGeom>
          <a:noFill/>
          <a:ln>
            <a:noFill/>
          </a:ln>
        </p:spPr>
      </p:pic>
      <p:pic>
        <p:nvPicPr>
          <p:cNvPr id="119" name="Google Shape;119;p20"/>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6774150" y="76196"/>
            <a:ext cx="2293650" cy="527725"/>
          </a:xfrm>
          <a:prstGeom prst="rect">
            <a:avLst/>
          </a:prstGeom>
          <a:noFill/>
          <a:ln>
            <a:noFill/>
          </a:ln>
        </p:spPr>
      </p:pic>
      <p:sp>
        <p:nvSpPr>
          <p:cNvPr id="120" name="Google Shape;120;p20"/>
          <p:cNvSpPr txBox="1"/>
          <p:nvPr/>
        </p:nvSpPr>
        <p:spPr>
          <a:xfrm>
            <a:off x="72297" y="4222450"/>
            <a:ext cx="3180600" cy="384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a:latin typeface="Calibri"/>
                <a:ea typeface="Calibri"/>
                <a:cs typeface="Calibri"/>
                <a:sym typeface="Calibri"/>
              </a:rPr>
              <a:t>The biggest developer community in  GenAI</a:t>
            </a:r>
            <a:endParaRPr sz="1300">
              <a:latin typeface="Calibri"/>
              <a:ea typeface="Calibri"/>
              <a:cs typeface="Calibri"/>
              <a:sym typeface="Calibri"/>
            </a:endParaRPr>
          </a:p>
        </p:txBody>
      </p:sp>
      <p:sp>
        <p:nvSpPr>
          <p:cNvPr id="121" name="Google Shape;121;p20"/>
          <p:cNvSpPr txBox="1"/>
          <p:nvPr/>
        </p:nvSpPr>
        <p:spPr>
          <a:xfrm>
            <a:off x="4434897" y="3054175"/>
            <a:ext cx="3180600" cy="892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a:latin typeface="Calibri"/>
                <a:ea typeface="Calibri"/>
                <a:cs typeface="Calibri"/>
                <a:sym typeface="Calibri"/>
              </a:rPr>
              <a:t>LangSmith - LLM application development, monitoring, and testing</a:t>
            </a:r>
            <a:endParaRPr sz="1300">
              <a:latin typeface="Calibri"/>
              <a:ea typeface="Calibri"/>
              <a:cs typeface="Calibri"/>
              <a:sym typeface="Calibri"/>
            </a:endParaRPr>
          </a:p>
          <a:p>
            <a:pPr marL="0" lvl="0" indent="0" algn="l" rtl="0">
              <a:spcBef>
                <a:spcPts val="0"/>
              </a:spcBef>
              <a:spcAft>
                <a:spcPts val="0"/>
              </a:spcAft>
              <a:buNone/>
            </a:pPr>
            <a:r>
              <a:rPr lang="en" sz="1000" u="sng">
                <a:solidFill>
                  <a:schemeClr val="hlink"/>
                </a:solidFill>
                <a:latin typeface="Calibri"/>
                <a:ea typeface="Calibri"/>
                <a:cs typeface="Calibri"/>
                <a:sym typeface="Calibri"/>
                <a:hlinkClick r:id="rId8"/>
              </a:rPr>
              <a:t>https://blog.langchain.dev/langsmith-ga/</a:t>
            </a:r>
            <a:r>
              <a:rPr lang="en" sz="1000">
                <a:latin typeface="Calibri"/>
                <a:ea typeface="Calibri"/>
                <a:cs typeface="Calibri"/>
                <a:sym typeface="Calibri"/>
              </a:rPr>
              <a:t> </a:t>
            </a:r>
            <a:endParaRPr sz="1000">
              <a:latin typeface="Calibri"/>
              <a:ea typeface="Calibri"/>
              <a:cs typeface="Calibri"/>
              <a:sym typeface="Calibri"/>
            </a:endParaRPr>
          </a:p>
          <a:p>
            <a:pPr marL="0" lvl="0" indent="0" algn="l" rtl="0">
              <a:spcBef>
                <a:spcPts val="0"/>
              </a:spcBef>
              <a:spcAft>
                <a:spcPts val="0"/>
              </a:spcAft>
              <a:buNone/>
            </a:pPr>
            <a:r>
              <a:rPr lang="en" sz="1000" u="sng">
                <a:solidFill>
                  <a:schemeClr val="hlink"/>
                </a:solidFill>
                <a:latin typeface="Calibri"/>
                <a:ea typeface="Calibri"/>
                <a:cs typeface="Calibri"/>
                <a:sym typeface="Calibri"/>
                <a:hlinkClick r:id="rId9"/>
              </a:rPr>
              <a:t>https://smith.langchain.com</a:t>
            </a:r>
            <a:r>
              <a:rPr lang="en" sz="1000">
                <a:latin typeface="Calibri"/>
                <a:ea typeface="Calibri"/>
                <a:cs typeface="Calibri"/>
                <a:sym typeface="Calibri"/>
              </a:rPr>
              <a:t>  </a:t>
            </a:r>
            <a:endParaRPr sz="1000">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25"/>
        <p:cNvGrpSpPr/>
        <p:nvPr/>
      </p:nvGrpSpPr>
      <p:grpSpPr>
        <a:xfrm>
          <a:off x="0" y="0"/>
          <a:ext cx="0" cy="0"/>
          <a:chOff x="0" y="0"/>
          <a:chExt cx="0" cy="0"/>
        </a:xfrm>
      </p:grpSpPr>
      <p:sp>
        <p:nvSpPr>
          <p:cNvPr id="126" name="Google Shape;126;p21"/>
          <p:cNvSpPr txBox="1"/>
          <p:nvPr/>
        </p:nvSpPr>
        <p:spPr>
          <a:xfrm>
            <a:off x="72300" y="0"/>
            <a:ext cx="43626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RAGAs = RAG Assessment Framework</a:t>
            </a:r>
            <a:endParaRPr sz="2000" b="1">
              <a:latin typeface="Calibri"/>
              <a:ea typeface="Calibri"/>
              <a:cs typeface="Calibri"/>
              <a:sym typeface="Calibri"/>
            </a:endParaRPr>
          </a:p>
        </p:txBody>
      </p:sp>
      <p:sp>
        <p:nvSpPr>
          <p:cNvPr id="127" name="Google Shape;127;p21"/>
          <p:cNvSpPr txBox="1"/>
          <p:nvPr/>
        </p:nvSpPr>
        <p:spPr>
          <a:xfrm>
            <a:off x="72300" y="478800"/>
            <a:ext cx="4115100" cy="3386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457200" lvl="0" indent="-311150" algn="l" rtl="0">
              <a:spcBef>
                <a:spcPts val="0"/>
              </a:spcBef>
              <a:spcAft>
                <a:spcPts val="0"/>
              </a:spcAft>
              <a:buSzPts val="1300"/>
              <a:buFont typeface="Calibri"/>
              <a:buChar char="●"/>
            </a:pPr>
            <a:r>
              <a:rPr lang="en" sz="1300" b="1">
                <a:solidFill>
                  <a:srgbClr val="FF0000"/>
                </a:solidFill>
                <a:latin typeface="Calibri"/>
                <a:ea typeface="Calibri"/>
                <a:cs typeface="Calibri"/>
                <a:sym typeface="Calibri"/>
              </a:rPr>
              <a:t>RAGAs (Retrieval-Augmented Generation Assessment) </a:t>
            </a:r>
            <a:r>
              <a:rPr lang="en" sz="1300">
                <a:latin typeface="Calibri"/>
                <a:ea typeface="Calibri"/>
                <a:cs typeface="Calibri"/>
                <a:sym typeface="Calibri"/>
              </a:rPr>
              <a:t>is an open-source framework designed specifically for model-based evaluation of RAG (Retrieval-Augmented Generation) pipelines.</a:t>
            </a:r>
            <a:endParaRPr sz="1300">
              <a:latin typeface="Calibri"/>
              <a:ea typeface="Calibri"/>
              <a:cs typeface="Calibri"/>
              <a:sym typeface="Calibri"/>
            </a:endParaRPr>
          </a:p>
          <a:p>
            <a:pPr marL="457200" lvl="0" indent="-311150" algn="l" rtl="0">
              <a:spcBef>
                <a:spcPts val="0"/>
              </a:spcBef>
              <a:spcAft>
                <a:spcPts val="0"/>
              </a:spcAft>
              <a:buSzPts val="1300"/>
              <a:buFont typeface="Calibri"/>
              <a:buChar char="●"/>
            </a:pPr>
            <a:r>
              <a:rPr lang="en" sz="1300" u="sng">
                <a:solidFill>
                  <a:schemeClr val="hlink"/>
                </a:solidFill>
                <a:latin typeface="Calibri"/>
                <a:ea typeface="Calibri"/>
                <a:cs typeface="Calibri"/>
                <a:sym typeface="Calibri"/>
                <a:hlinkClick r:id="rId3"/>
              </a:rPr>
              <a:t>https://github.com/explodinggradients/ragas</a:t>
            </a:r>
            <a:r>
              <a:rPr lang="en" sz="1300">
                <a:latin typeface="Calibri"/>
                <a:ea typeface="Calibri"/>
                <a:cs typeface="Calibri"/>
                <a:sym typeface="Calibri"/>
              </a:rPr>
              <a:t> </a:t>
            </a:r>
            <a:endParaRPr sz="1300">
              <a:latin typeface="Calibri"/>
              <a:ea typeface="Calibri"/>
              <a:cs typeface="Calibri"/>
              <a:sym typeface="Calibri"/>
            </a:endParaRPr>
          </a:p>
          <a:p>
            <a:pPr marL="457200" lvl="0" indent="-311150" algn="l" rtl="0">
              <a:spcBef>
                <a:spcPts val="0"/>
              </a:spcBef>
              <a:spcAft>
                <a:spcPts val="0"/>
              </a:spcAft>
              <a:buSzPts val="1300"/>
              <a:buFont typeface="Calibri"/>
              <a:buChar char="●"/>
            </a:pPr>
            <a:r>
              <a:rPr lang="en" sz="1300" u="sng">
                <a:solidFill>
                  <a:schemeClr val="hlink"/>
                </a:solidFill>
                <a:latin typeface="Calibri"/>
                <a:ea typeface="Calibri"/>
                <a:cs typeface="Calibri"/>
                <a:sym typeface="Calibri"/>
                <a:hlinkClick r:id="rId4"/>
              </a:rPr>
              <a:t>https://docs.ragas.io/en/stable/</a:t>
            </a:r>
            <a:r>
              <a:rPr lang="en" sz="1300">
                <a:latin typeface="Calibri"/>
                <a:ea typeface="Calibri"/>
                <a:cs typeface="Calibri"/>
                <a:sym typeface="Calibri"/>
              </a:rPr>
              <a:t> </a:t>
            </a:r>
            <a:endParaRPr sz="1300">
              <a:latin typeface="Calibri"/>
              <a:ea typeface="Calibri"/>
              <a:cs typeface="Calibri"/>
              <a:sym typeface="Calibri"/>
            </a:endParaRPr>
          </a:p>
          <a:p>
            <a:pPr marL="457200" lvl="0" indent="-311150" algn="l" rtl="0">
              <a:spcBef>
                <a:spcPts val="0"/>
              </a:spcBef>
              <a:spcAft>
                <a:spcPts val="0"/>
              </a:spcAft>
              <a:buSzPts val="1300"/>
              <a:buFont typeface="Calibri"/>
              <a:buChar char="●"/>
            </a:pPr>
            <a:r>
              <a:rPr lang="en" sz="1300" u="sng">
                <a:solidFill>
                  <a:schemeClr val="hlink"/>
                </a:solidFill>
                <a:latin typeface="Calibri"/>
                <a:ea typeface="Calibri"/>
                <a:cs typeface="Calibri"/>
                <a:sym typeface="Calibri"/>
                <a:hlinkClick r:id="rId5"/>
              </a:rPr>
              <a:t>https://towardsdatascience.com/evaluating-rag-applications-with-ragas-81d67b0ee31a</a:t>
            </a:r>
            <a:r>
              <a:rPr lang="en" sz="1300">
                <a:latin typeface="Calibri"/>
                <a:ea typeface="Calibri"/>
                <a:cs typeface="Calibri"/>
                <a:sym typeface="Calibri"/>
              </a:rPr>
              <a:t> </a:t>
            </a:r>
            <a:endParaRPr sz="1300">
              <a:latin typeface="Calibri"/>
              <a:ea typeface="Calibri"/>
              <a:cs typeface="Calibri"/>
              <a:sym typeface="Calibri"/>
            </a:endParaRPr>
          </a:p>
          <a:p>
            <a:pPr marL="0" lvl="0" indent="0" algn="l" rtl="0">
              <a:spcBef>
                <a:spcPts val="0"/>
              </a:spcBef>
              <a:spcAft>
                <a:spcPts val="0"/>
              </a:spcAft>
              <a:buNone/>
            </a:pPr>
            <a:endParaRPr sz="1300">
              <a:latin typeface="Calibri"/>
              <a:ea typeface="Calibri"/>
              <a:cs typeface="Calibri"/>
              <a:sym typeface="Calibri"/>
            </a:endParaRPr>
          </a:p>
          <a:p>
            <a:pPr marL="0" lvl="0" indent="0" algn="l" rtl="0">
              <a:spcBef>
                <a:spcPts val="0"/>
              </a:spcBef>
              <a:spcAft>
                <a:spcPts val="0"/>
              </a:spcAft>
              <a:buNone/>
            </a:pPr>
            <a:r>
              <a:rPr lang="en" sz="1300">
                <a:latin typeface="Calibri"/>
                <a:ea typeface="Calibri"/>
                <a:cs typeface="Calibri"/>
                <a:sym typeface="Calibri"/>
              </a:rPr>
              <a:t>Ragas evaluates pipelines on correctness, tonality, hallucination, fluency, etc. (Context Relevancy, Context Recall, </a:t>
            </a:r>
            <a:r>
              <a:rPr lang="en" sz="1300">
                <a:solidFill>
                  <a:schemeClr val="dk1"/>
                </a:solidFill>
                <a:latin typeface="Calibri"/>
                <a:ea typeface="Calibri"/>
                <a:cs typeface="Calibri"/>
                <a:sym typeface="Calibri"/>
              </a:rPr>
              <a:t>Answer Relevancy, </a:t>
            </a:r>
            <a:r>
              <a:rPr lang="en" sz="1300">
                <a:latin typeface="Calibri"/>
                <a:ea typeface="Calibri"/>
                <a:cs typeface="Calibri"/>
                <a:sym typeface="Calibri"/>
              </a:rPr>
              <a:t>Faithfulness, ...)</a:t>
            </a:r>
            <a:endParaRPr sz="130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300">
              <a:latin typeface="Calibri"/>
              <a:ea typeface="Calibri"/>
              <a:cs typeface="Calibri"/>
              <a:sym typeface="Calibri"/>
            </a:endParaRPr>
          </a:p>
          <a:p>
            <a:pPr marL="0" lvl="0" indent="0" algn="l" rtl="0">
              <a:spcBef>
                <a:spcPts val="0"/>
              </a:spcBef>
              <a:spcAft>
                <a:spcPts val="0"/>
              </a:spcAft>
              <a:buNone/>
            </a:pPr>
            <a:r>
              <a:rPr lang="en" sz="1300">
                <a:latin typeface="Calibri"/>
                <a:ea typeface="Calibri"/>
                <a:cs typeface="Calibri"/>
                <a:sym typeface="Calibri"/>
              </a:rPr>
              <a:t>RAGAs can use LLMs to create synthetic test data and assist with reference-free evaluation, reducing reliance on costly human annotators.</a:t>
            </a:r>
            <a:endParaRPr sz="1300">
              <a:latin typeface="Calibri"/>
              <a:ea typeface="Calibri"/>
              <a:cs typeface="Calibri"/>
              <a:sym typeface="Calibri"/>
            </a:endParaRPr>
          </a:p>
        </p:txBody>
      </p:sp>
      <p:pic>
        <p:nvPicPr>
          <p:cNvPr id="128" name="Google Shape;128;p21"/>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6156925" y="114704"/>
            <a:ext cx="2824001" cy="938575"/>
          </a:xfrm>
          <a:prstGeom prst="rect">
            <a:avLst/>
          </a:prstGeom>
          <a:noFill/>
          <a:ln>
            <a:noFill/>
          </a:ln>
        </p:spPr>
      </p:pic>
      <p:sp>
        <p:nvSpPr>
          <p:cNvPr id="129" name="Google Shape;129;p21"/>
          <p:cNvSpPr txBox="1"/>
          <p:nvPr/>
        </p:nvSpPr>
        <p:spPr>
          <a:xfrm>
            <a:off x="4263950" y="1128900"/>
            <a:ext cx="4780200" cy="3786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rgbClr val="6AA84F"/>
                </a:solidFill>
                <a:latin typeface="Calibri"/>
                <a:ea typeface="Calibri"/>
                <a:cs typeface="Calibri"/>
                <a:sym typeface="Calibri"/>
              </a:rPr>
              <a:t># pip install ragas</a:t>
            </a:r>
            <a:endParaRPr sz="1300">
              <a:solidFill>
                <a:srgbClr val="6AA84F"/>
              </a:solidFill>
              <a:latin typeface="Calibri"/>
              <a:ea typeface="Calibri"/>
              <a:cs typeface="Calibri"/>
              <a:sym typeface="Calibri"/>
            </a:endParaRPr>
          </a:p>
          <a:p>
            <a:pPr marL="0" lvl="0" indent="0" algn="l" rtl="0">
              <a:spcBef>
                <a:spcPts val="0"/>
              </a:spcBef>
              <a:spcAft>
                <a:spcPts val="0"/>
              </a:spcAft>
              <a:buNone/>
            </a:pPr>
            <a:r>
              <a:rPr lang="en" sz="1300">
                <a:solidFill>
                  <a:srgbClr val="3C78D8"/>
                </a:solidFill>
                <a:latin typeface="Calibri"/>
                <a:ea typeface="Calibri"/>
                <a:cs typeface="Calibri"/>
                <a:sym typeface="Calibri"/>
              </a:rPr>
              <a:t>from ragas import evaluate</a:t>
            </a:r>
            <a:endParaRPr sz="1300">
              <a:solidFill>
                <a:srgbClr val="3C78D8"/>
              </a:solidFill>
              <a:latin typeface="Calibri"/>
              <a:ea typeface="Calibri"/>
              <a:cs typeface="Calibri"/>
              <a:sym typeface="Calibri"/>
            </a:endParaRPr>
          </a:p>
          <a:p>
            <a:pPr marL="0" lvl="0" indent="0" algn="l" rtl="0">
              <a:spcBef>
                <a:spcPts val="0"/>
              </a:spcBef>
              <a:spcAft>
                <a:spcPts val="0"/>
              </a:spcAft>
              <a:buNone/>
            </a:pPr>
            <a:r>
              <a:rPr lang="en" sz="1300">
                <a:solidFill>
                  <a:srgbClr val="3C78D8"/>
                </a:solidFill>
                <a:latin typeface="Calibri"/>
                <a:ea typeface="Calibri"/>
                <a:cs typeface="Calibri"/>
                <a:sym typeface="Calibri"/>
              </a:rPr>
              <a:t>from datasets import Dataset</a:t>
            </a:r>
            <a:endParaRPr sz="1300">
              <a:solidFill>
                <a:srgbClr val="3C78D8"/>
              </a:solidFill>
              <a:latin typeface="Calibri"/>
              <a:ea typeface="Calibri"/>
              <a:cs typeface="Calibri"/>
              <a:sym typeface="Calibri"/>
            </a:endParaRPr>
          </a:p>
          <a:p>
            <a:pPr marL="0" lvl="0" indent="0" algn="l" rtl="0">
              <a:spcBef>
                <a:spcPts val="0"/>
              </a:spcBef>
              <a:spcAft>
                <a:spcPts val="0"/>
              </a:spcAft>
              <a:buNone/>
            </a:pPr>
            <a:r>
              <a:rPr lang="en" sz="1300">
                <a:solidFill>
                  <a:srgbClr val="3C78D8"/>
                </a:solidFill>
                <a:latin typeface="Calibri"/>
                <a:ea typeface="Calibri"/>
                <a:cs typeface="Calibri"/>
                <a:sym typeface="Calibri"/>
              </a:rPr>
              <a:t>import os</a:t>
            </a:r>
            <a:endParaRPr sz="1300">
              <a:solidFill>
                <a:srgbClr val="3C78D8"/>
              </a:solidFill>
              <a:latin typeface="Calibri"/>
              <a:ea typeface="Calibri"/>
              <a:cs typeface="Calibri"/>
              <a:sym typeface="Calibri"/>
            </a:endParaRPr>
          </a:p>
          <a:p>
            <a:pPr marL="0" lvl="0" indent="0" algn="l" rtl="0">
              <a:spcBef>
                <a:spcPts val="0"/>
              </a:spcBef>
              <a:spcAft>
                <a:spcPts val="0"/>
              </a:spcAft>
              <a:buNone/>
            </a:pPr>
            <a:r>
              <a:rPr lang="en" sz="1300">
                <a:solidFill>
                  <a:srgbClr val="6AA84F"/>
                </a:solidFill>
                <a:latin typeface="Calibri"/>
                <a:ea typeface="Calibri"/>
                <a:cs typeface="Calibri"/>
                <a:sym typeface="Calibri"/>
              </a:rPr>
              <a:t># os.environ["OPENAI_API_KEY"] = "your-openai-key"</a:t>
            </a:r>
            <a:endParaRPr sz="1300">
              <a:solidFill>
                <a:srgbClr val="6AA84F"/>
              </a:solidFill>
              <a:latin typeface="Calibri"/>
              <a:ea typeface="Calibri"/>
              <a:cs typeface="Calibri"/>
              <a:sym typeface="Calibri"/>
            </a:endParaRPr>
          </a:p>
          <a:p>
            <a:pPr marL="0" lvl="0" indent="0" algn="l" rtl="0">
              <a:spcBef>
                <a:spcPts val="0"/>
              </a:spcBef>
              <a:spcAft>
                <a:spcPts val="0"/>
              </a:spcAft>
              <a:buNone/>
            </a:pPr>
            <a:endParaRPr sz="1300">
              <a:solidFill>
                <a:srgbClr val="3C78D8"/>
              </a:solidFill>
              <a:latin typeface="Calibri"/>
              <a:ea typeface="Calibri"/>
              <a:cs typeface="Calibri"/>
              <a:sym typeface="Calibri"/>
            </a:endParaRPr>
          </a:p>
          <a:p>
            <a:pPr marL="0" lvl="0" indent="0" algn="l" rtl="0">
              <a:spcBef>
                <a:spcPts val="0"/>
              </a:spcBef>
              <a:spcAft>
                <a:spcPts val="0"/>
              </a:spcAft>
              <a:buNone/>
            </a:pPr>
            <a:r>
              <a:rPr lang="en" sz="1300">
                <a:solidFill>
                  <a:srgbClr val="6AA84F"/>
                </a:solidFill>
                <a:latin typeface="Calibri"/>
                <a:ea typeface="Calibri"/>
                <a:cs typeface="Calibri"/>
                <a:sym typeface="Calibri"/>
              </a:rPr>
              <a:t># prepare your huggingface dataset in the format</a:t>
            </a:r>
            <a:endParaRPr sz="1300">
              <a:solidFill>
                <a:srgbClr val="6AA84F"/>
              </a:solidFill>
              <a:latin typeface="Calibri"/>
              <a:ea typeface="Calibri"/>
              <a:cs typeface="Calibri"/>
              <a:sym typeface="Calibri"/>
            </a:endParaRPr>
          </a:p>
          <a:p>
            <a:pPr marL="0" lvl="0" indent="0" algn="l" rtl="0">
              <a:spcBef>
                <a:spcPts val="0"/>
              </a:spcBef>
              <a:spcAft>
                <a:spcPts val="0"/>
              </a:spcAft>
              <a:buNone/>
            </a:pPr>
            <a:r>
              <a:rPr lang="en" sz="1300">
                <a:solidFill>
                  <a:srgbClr val="6AA84F"/>
                </a:solidFill>
                <a:latin typeface="Calibri"/>
                <a:ea typeface="Calibri"/>
                <a:cs typeface="Calibri"/>
                <a:sym typeface="Calibri"/>
              </a:rPr>
              <a:t># Dataset({</a:t>
            </a:r>
            <a:endParaRPr sz="1300">
              <a:solidFill>
                <a:srgbClr val="6AA84F"/>
              </a:solidFill>
              <a:latin typeface="Calibri"/>
              <a:ea typeface="Calibri"/>
              <a:cs typeface="Calibri"/>
              <a:sym typeface="Calibri"/>
            </a:endParaRPr>
          </a:p>
          <a:p>
            <a:pPr marL="0" lvl="0" indent="0" algn="l" rtl="0">
              <a:spcBef>
                <a:spcPts val="0"/>
              </a:spcBef>
              <a:spcAft>
                <a:spcPts val="0"/>
              </a:spcAft>
              <a:buNone/>
            </a:pPr>
            <a:r>
              <a:rPr lang="en" sz="1300">
                <a:solidFill>
                  <a:srgbClr val="6AA84F"/>
                </a:solidFill>
                <a:latin typeface="Calibri"/>
                <a:ea typeface="Calibri"/>
                <a:cs typeface="Calibri"/>
                <a:sym typeface="Calibri"/>
              </a:rPr>
              <a:t>#     features: ['question', 'contexts', 'answer', 'ground_truths'],</a:t>
            </a:r>
            <a:endParaRPr sz="1300">
              <a:solidFill>
                <a:srgbClr val="6AA84F"/>
              </a:solidFill>
              <a:latin typeface="Calibri"/>
              <a:ea typeface="Calibri"/>
              <a:cs typeface="Calibri"/>
              <a:sym typeface="Calibri"/>
            </a:endParaRPr>
          </a:p>
          <a:p>
            <a:pPr marL="0" lvl="0" indent="0" algn="l" rtl="0">
              <a:spcBef>
                <a:spcPts val="0"/>
              </a:spcBef>
              <a:spcAft>
                <a:spcPts val="0"/>
              </a:spcAft>
              <a:buNone/>
            </a:pPr>
            <a:r>
              <a:rPr lang="en" sz="1300">
                <a:solidFill>
                  <a:srgbClr val="6AA84F"/>
                </a:solidFill>
                <a:latin typeface="Calibri"/>
                <a:ea typeface="Calibri"/>
                <a:cs typeface="Calibri"/>
                <a:sym typeface="Calibri"/>
              </a:rPr>
              <a:t>#     num_rows: 25</a:t>
            </a:r>
            <a:endParaRPr sz="1300">
              <a:solidFill>
                <a:srgbClr val="6AA84F"/>
              </a:solidFill>
              <a:latin typeface="Calibri"/>
              <a:ea typeface="Calibri"/>
              <a:cs typeface="Calibri"/>
              <a:sym typeface="Calibri"/>
            </a:endParaRPr>
          </a:p>
          <a:p>
            <a:pPr marL="0" lvl="0" indent="0" algn="l" rtl="0">
              <a:spcBef>
                <a:spcPts val="0"/>
              </a:spcBef>
              <a:spcAft>
                <a:spcPts val="0"/>
              </a:spcAft>
              <a:buNone/>
            </a:pPr>
            <a:r>
              <a:rPr lang="en" sz="1300">
                <a:solidFill>
                  <a:srgbClr val="6AA84F"/>
                </a:solidFill>
                <a:latin typeface="Calibri"/>
                <a:ea typeface="Calibri"/>
                <a:cs typeface="Calibri"/>
                <a:sym typeface="Calibri"/>
              </a:rPr>
              <a:t># })</a:t>
            </a:r>
            <a:endParaRPr sz="1300">
              <a:solidFill>
                <a:srgbClr val="6AA84F"/>
              </a:solidFill>
              <a:latin typeface="Calibri"/>
              <a:ea typeface="Calibri"/>
              <a:cs typeface="Calibri"/>
              <a:sym typeface="Calibri"/>
            </a:endParaRPr>
          </a:p>
          <a:p>
            <a:pPr marL="0" lvl="0" indent="0" algn="l" rtl="0">
              <a:spcBef>
                <a:spcPts val="0"/>
              </a:spcBef>
              <a:spcAft>
                <a:spcPts val="0"/>
              </a:spcAft>
              <a:buNone/>
            </a:pPr>
            <a:endParaRPr sz="1300">
              <a:solidFill>
                <a:srgbClr val="3C78D8"/>
              </a:solidFill>
              <a:latin typeface="Calibri"/>
              <a:ea typeface="Calibri"/>
              <a:cs typeface="Calibri"/>
              <a:sym typeface="Calibri"/>
            </a:endParaRPr>
          </a:p>
          <a:p>
            <a:pPr marL="0" lvl="0" indent="0" algn="l" rtl="0">
              <a:spcBef>
                <a:spcPts val="0"/>
              </a:spcBef>
              <a:spcAft>
                <a:spcPts val="0"/>
              </a:spcAft>
              <a:buNone/>
            </a:pPr>
            <a:r>
              <a:rPr lang="en" sz="1300">
                <a:solidFill>
                  <a:srgbClr val="3C78D8"/>
                </a:solidFill>
                <a:latin typeface="Calibri"/>
                <a:ea typeface="Calibri"/>
                <a:cs typeface="Calibri"/>
                <a:sym typeface="Calibri"/>
              </a:rPr>
              <a:t>dataset: Dataset</a:t>
            </a:r>
            <a:endParaRPr sz="1300">
              <a:solidFill>
                <a:srgbClr val="3C78D8"/>
              </a:solidFill>
              <a:latin typeface="Calibri"/>
              <a:ea typeface="Calibri"/>
              <a:cs typeface="Calibri"/>
              <a:sym typeface="Calibri"/>
            </a:endParaRPr>
          </a:p>
          <a:p>
            <a:pPr marL="0" lvl="0" indent="0" algn="l" rtl="0">
              <a:spcBef>
                <a:spcPts val="0"/>
              </a:spcBef>
              <a:spcAft>
                <a:spcPts val="0"/>
              </a:spcAft>
              <a:buNone/>
            </a:pPr>
            <a:endParaRPr sz="1300">
              <a:solidFill>
                <a:srgbClr val="3C78D8"/>
              </a:solidFill>
              <a:latin typeface="Calibri"/>
              <a:ea typeface="Calibri"/>
              <a:cs typeface="Calibri"/>
              <a:sym typeface="Calibri"/>
            </a:endParaRPr>
          </a:p>
          <a:p>
            <a:pPr marL="0" lvl="0" indent="0" algn="l" rtl="0">
              <a:spcBef>
                <a:spcPts val="0"/>
              </a:spcBef>
              <a:spcAft>
                <a:spcPts val="0"/>
              </a:spcAft>
              <a:buNone/>
            </a:pPr>
            <a:r>
              <a:rPr lang="en" sz="1300">
                <a:solidFill>
                  <a:srgbClr val="3C78D8"/>
                </a:solidFill>
                <a:latin typeface="Calibri"/>
                <a:ea typeface="Calibri"/>
                <a:cs typeface="Calibri"/>
                <a:sym typeface="Calibri"/>
              </a:rPr>
              <a:t>results = evaluate(dataset)</a:t>
            </a:r>
            <a:endParaRPr sz="1300">
              <a:solidFill>
                <a:srgbClr val="3C78D8"/>
              </a:solidFill>
              <a:latin typeface="Calibri"/>
              <a:ea typeface="Calibri"/>
              <a:cs typeface="Calibri"/>
              <a:sym typeface="Calibri"/>
            </a:endParaRPr>
          </a:p>
          <a:p>
            <a:pPr marL="0" lvl="0" indent="0" algn="l" rtl="0">
              <a:spcBef>
                <a:spcPts val="0"/>
              </a:spcBef>
              <a:spcAft>
                <a:spcPts val="0"/>
              </a:spcAft>
              <a:buNone/>
            </a:pPr>
            <a:r>
              <a:rPr lang="en" sz="1300">
                <a:solidFill>
                  <a:srgbClr val="6AA84F"/>
                </a:solidFill>
                <a:latin typeface="Calibri"/>
                <a:ea typeface="Calibri"/>
                <a:cs typeface="Calibri"/>
                <a:sym typeface="Calibri"/>
              </a:rPr>
              <a:t># {'context_precision': 0.817,</a:t>
            </a:r>
            <a:endParaRPr sz="1300">
              <a:solidFill>
                <a:srgbClr val="6AA84F"/>
              </a:solidFill>
              <a:latin typeface="Calibri"/>
              <a:ea typeface="Calibri"/>
              <a:cs typeface="Calibri"/>
              <a:sym typeface="Calibri"/>
            </a:endParaRPr>
          </a:p>
          <a:p>
            <a:pPr marL="0" lvl="0" indent="0" algn="l" rtl="0">
              <a:spcBef>
                <a:spcPts val="0"/>
              </a:spcBef>
              <a:spcAft>
                <a:spcPts val="0"/>
              </a:spcAft>
              <a:buNone/>
            </a:pPr>
            <a:r>
              <a:rPr lang="en" sz="1300">
                <a:solidFill>
                  <a:srgbClr val="6AA84F"/>
                </a:solidFill>
                <a:latin typeface="Calibri"/>
                <a:ea typeface="Calibri"/>
                <a:cs typeface="Calibri"/>
                <a:sym typeface="Calibri"/>
              </a:rPr>
              <a:t># 'faithfulness': 0.892, </a:t>
            </a:r>
            <a:endParaRPr sz="1300">
              <a:solidFill>
                <a:srgbClr val="6AA84F"/>
              </a:solidFill>
              <a:latin typeface="Calibri"/>
              <a:ea typeface="Calibri"/>
              <a:cs typeface="Calibri"/>
              <a:sym typeface="Calibri"/>
            </a:endParaRPr>
          </a:p>
          <a:p>
            <a:pPr marL="0" lvl="0" indent="0" algn="l" rtl="0">
              <a:spcBef>
                <a:spcPts val="0"/>
              </a:spcBef>
              <a:spcAft>
                <a:spcPts val="0"/>
              </a:spcAft>
              <a:buNone/>
            </a:pPr>
            <a:r>
              <a:rPr lang="en" sz="1300">
                <a:solidFill>
                  <a:srgbClr val="6AA84F"/>
                </a:solidFill>
                <a:latin typeface="Calibri"/>
                <a:ea typeface="Calibri"/>
                <a:cs typeface="Calibri"/>
                <a:sym typeface="Calibri"/>
              </a:rPr>
              <a:t># 'answer_relevancy': 0.874}</a:t>
            </a:r>
            <a:endParaRPr sz="1300">
              <a:solidFill>
                <a:srgbClr val="3C78D8"/>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33"/>
        <p:cNvGrpSpPr/>
        <p:nvPr/>
      </p:nvGrpSpPr>
      <p:grpSpPr>
        <a:xfrm>
          <a:off x="0" y="0"/>
          <a:ext cx="0" cy="0"/>
          <a:chOff x="0" y="0"/>
          <a:chExt cx="0" cy="0"/>
        </a:xfrm>
      </p:grpSpPr>
      <p:sp>
        <p:nvSpPr>
          <p:cNvPr id="134" name="Google Shape;134;p22"/>
          <p:cNvSpPr txBox="1"/>
          <p:nvPr/>
        </p:nvSpPr>
        <p:spPr>
          <a:xfrm>
            <a:off x="72300" y="380225"/>
            <a:ext cx="4362600" cy="1985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dk1"/>
                </a:solidFill>
                <a:latin typeface="Calibri"/>
                <a:ea typeface="Calibri"/>
                <a:cs typeface="Calibri"/>
                <a:sym typeface="Calibri"/>
              </a:rPr>
              <a:t>Gemini helps s</a:t>
            </a:r>
            <a:r>
              <a:rPr lang="en" sz="1300">
                <a:latin typeface="Calibri"/>
                <a:ea typeface="Calibri"/>
                <a:cs typeface="Calibri"/>
                <a:sym typeface="Calibri"/>
              </a:rPr>
              <a:t>earch &amp; summarize Google Workspace content.</a:t>
            </a:r>
            <a:endParaRPr sz="1300">
              <a:latin typeface="Calibri"/>
              <a:ea typeface="Calibri"/>
              <a:cs typeface="Calibri"/>
              <a:sym typeface="Calibri"/>
            </a:endParaRPr>
          </a:p>
          <a:p>
            <a:pPr marL="228600" lvl="0" indent="-196850" algn="l" rtl="0">
              <a:spcBef>
                <a:spcPts val="0"/>
              </a:spcBef>
              <a:spcAft>
                <a:spcPts val="0"/>
              </a:spcAft>
              <a:buSzPts val="1300"/>
              <a:buFont typeface="Calibri"/>
              <a:buChar char="●"/>
            </a:pPr>
            <a:r>
              <a:rPr lang="en" sz="1300">
                <a:latin typeface="Calibri"/>
                <a:ea typeface="Calibri"/>
                <a:cs typeface="Calibri"/>
                <a:sym typeface="Calibri"/>
              </a:rPr>
              <a:t>In Gemini - enable Google Workspace extensions</a:t>
            </a:r>
            <a:endParaRPr sz="1300">
              <a:latin typeface="Calibri"/>
              <a:ea typeface="Calibri"/>
              <a:cs typeface="Calibri"/>
              <a:sym typeface="Calibri"/>
            </a:endParaRPr>
          </a:p>
          <a:p>
            <a:pPr marL="228600" lvl="0" indent="-196850" algn="l" rtl="0">
              <a:spcBef>
                <a:spcPts val="0"/>
              </a:spcBef>
              <a:spcAft>
                <a:spcPts val="0"/>
              </a:spcAft>
              <a:buSzPts val="1300"/>
              <a:buFont typeface="Calibri"/>
              <a:buChar char="●"/>
            </a:pPr>
            <a:r>
              <a:rPr lang="en" sz="1300">
                <a:latin typeface="Calibri"/>
                <a:ea typeface="Calibri"/>
                <a:cs typeface="Calibri"/>
                <a:sym typeface="Calibri"/>
              </a:rPr>
              <a:t>In Gemini prompt to summarize or locate information in your Google Space by appending @gmail, @drive, or @docs to your queries</a:t>
            </a:r>
            <a:endParaRPr sz="1300">
              <a:latin typeface="Calibri"/>
              <a:ea typeface="Calibri"/>
              <a:cs typeface="Calibri"/>
              <a:sym typeface="Calibri"/>
            </a:endParaRPr>
          </a:p>
          <a:p>
            <a:pPr marL="228600" lvl="0" indent="-196850" algn="l" rtl="0">
              <a:spcBef>
                <a:spcPts val="0"/>
              </a:spcBef>
              <a:spcAft>
                <a:spcPts val="0"/>
              </a:spcAft>
              <a:buSzPts val="1300"/>
              <a:buFont typeface="Calibri"/>
              <a:buChar char="●"/>
            </a:pPr>
            <a:r>
              <a:rPr lang="en" sz="1300">
                <a:latin typeface="Calibri"/>
                <a:ea typeface="Calibri"/>
                <a:cs typeface="Calibri"/>
                <a:sym typeface="Calibri"/>
              </a:rPr>
              <a:t>you can ask Gemini to identify high-priority emails that require your attention</a:t>
            </a:r>
            <a:endParaRPr sz="1300">
              <a:latin typeface="Calibri"/>
              <a:ea typeface="Calibri"/>
              <a:cs typeface="Calibri"/>
              <a:sym typeface="Calibri"/>
            </a:endParaRPr>
          </a:p>
          <a:p>
            <a:pPr marL="228600" lvl="0" indent="-196850" algn="l" rtl="0">
              <a:spcBef>
                <a:spcPts val="0"/>
              </a:spcBef>
              <a:spcAft>
                <a:spcPts val="0"/>
              </a:spcAft>
              <a:buSzPts val="1300"/>
              <a:buFont typeface="Calibri"/>
              <a:buChar char="●"/>
            </a:pPr>
            <a:r>
              <a:rPr lang="en" sz="1300">
                <a:latin typeface="Calibri"/>
                <a:ea typeface="Calibri"/>
                <a:cs typeface="Calibri"/>
                <a:sym typeface="Calibri"/>
              </a:rPr>
              <a:t>you can ask Gemini to review a Google Doc and summarize the key points</a:t>
            </a:r>
            <a:endParaRPr sz="1300">
              <a:latin typeface="Calibri"/>
              <a:ea typeface="Calibri"/>
              <a:cs typeface="Calibri"/>
              <a:sym typeface="Calibri"/>
            </a:endParaRPr>
          </a:p>
        </p:txBody>
      </p:sp>
      <p:sp>
        <p:nvSpPr>
          <p:cNvPr id="135" name="Google Shape;135;p22"/>
          <p:cNvSpPr txBox="1"/>
          <p:nvPr/>
        </p:nvSpPr>
        <p:spPr>
          <a:xfrm>
            <a:off x="72300" y="0"/>
            <a:ext cx="43626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Misc 2</a:t>
            </a:r>
            <a:endParaRPr sz="2000" b="1">
              <a:latin typeface="Calibri"/>
              <a:ea typeface="Calibri"/>
              <a:cs typeface="Calibri"/>
              <a:sym typeface="Calibri"/>
            </a:endParaRPr>
          </a:p>
        </p:txBody>
      </p:sp>
      <p:sp>
        <p:nvSpPr>
          <p:cNvPr id="136" name="Google Shape;136;p22"/>
          <p:cNvSpPr txBox="1"/>
          <p:nvPr/>
        </p:nvSpPr>
        <p:spPr>
          <a:xfrm>
            <a:off x="72300" y="2506725"/>
            <a:ext cx="4362600" cy="1385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228600" lvl="0" indent="-196850" algn="l" rtl="0">
              <a:spcBef>
                <a:spcPts val="0"/>
              </a:spcBef>
              <a:spcAft>
                <a:spcPts val="0"/>
              </a:spcAft>
              <a:buSzPts val="1300"/>
              <a:buFont typeface="Calibri"/>
              <a:buChar char="●"/>
            </a:pPr>
            <a:r>
              <a:rPr lang="en" sz="1300" u="sng">
                <a:solidFill>
                  <a:schemeClr val="hlink"/>
                </a:solidFill>
                <a:latin typeface="Calibri"/>
                <a:ea typeface="Calibri"/>
                <a:cs typeface="Calibri"/>
                <a:sym typeface="Calibri"/>
                <a:hlinkClick r:id="rId3"/>
              </a:rPr>
              <a:t>https://groq.com</a:t>
            </a:r>
            <a:r>
              <a:rPr lang="en" sz="1300">
                <a:solidFill>
                  <a:schemeClr val="dk1"/>
                </a:solidFill>
                <a:latin typeface="Calibri"/>
                <a:ea typeface="Calibri"/>
                <a:cs typeface="Calibri"/>
                <a:sym typeface="Calibri"/>
              </a:rPr>
              <a:t> - try using Mixtral or Llama2</a:t>
            </a:r>
            <a:endParaRPr sz="1300">
              <a:solidFill>
                <a:schemeClr val="dk1"/>
              </a:solidFill>
              <a:latin typeface="Calibri"/>
              <a:ea typeface="Calibri"/>
              <a:cs typeface="Calibri"/>
              <a:sym typeface="Calibri"/>
            </a:endParaRPr>
          </a:p>
          <a:p>
            <a:pPr marL="228600" lvl="0" indent="-196850" algn="l" rtl="0">
              <a:spcBef>
                <a:spcPts val="0"/>
              </a:spcBef>
              <a:spcAft>
                <a:spcPts val="0"/>
              </a:spcAft>
              <a:buSzPts val="1300"/>
              <a:buFont typeface="Calibri"/>
              <a:buChar char="●"/>
            </a:pPr>
            <a:r>
              <a:rPr lang="en" sz="1300">
                <a:solidFill>
                  <a:schemeClr val="dk1"/>
                </a:solidFill>
                <a:latin typeface="Calibri"/>
                <a:ea typeface="Calibri"/>
                <a:cs typeface="Calibri"/>
                <a:sym typeface="Calibri"/>
              </a:rPr>
              <a:t>AI startup Groq (since 2016, not Elon Musk’s Grok…) uses specialized chips (LPU = language processing units) to run LLMs 4..10..50 times faster (500 tokens per second, compared to 30-50 for GPT 3.5) </a:t>
            </a:r>
            <a:endParaRPr sz="1300">
              <a:solidFill>
                <a:schemeClr val="dk1"/>
              </a:solidFill>
              <a:latin typeface="Calibri"/>
              <a:ea typeface="Calibri"/>
              <a:cs typeface="Calibri"/>
              <a:sym typeface="Calibri"/>
            </a:endParaRPr>
          </a:p>
          <a:p>
            <a:pPr marL="228600" lvl="0" indent="-196850" algn="l" rtl="0">
              <a:spcBef>
                <a:spcPts val="0"/>
              </a:spcBef>
              <a:spcAft>
                <a:spcPts val="0"/>
              </a:spcAft>
              <a:buSzPts val="1300"/>
              <a:buFont typeface="Calibri"/>
              <a:buChar char="●"/>
            </a:pPr>
            <a:r>
              <a:rPr lang="en" sz="1300">
                <a:solidFill>
                  <a:schemeClr val="dk1"/>
                </a:solidFill>
                <a:latin typeface="Calibri"/>
                <a:ea typeface="Calibri"/>
                <a:cs typeface="Calibri"/>
                <a:sym typeface="Calibri"/>
              </a:rPr>
              <a:t>Near-instant responses, efficiency, affordability (?)</a:t>
            </a:r>
            <a:endParaRPr sz="1300">
              <a:solidFill>
                <a:schemeClr val="dk1"/>
              </a:solidFill>
              <a:latin typeface="Calibri"/>
              <a:ea typeface="Calibri"/>
              <a:cs typeface="Calibri"/>
              <a:sym typeface="Calibri"/>
            </a:endParaRPr>
          </a:p>
        </p:txBody>
      </p:sp>
      <p:pic>
        <p:nvPicPr>
          <p:cNvPr id="137" name="Google Shape;137;p22"/>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518200" y="2506725"/>
            <a:ext cx="602275" cy="602275"/>
          </a:xfrm>
          <a:prstGeom prst="rect">
            <a:avLst/>
          </a:prstGeom>
          <a:noFill/>
          <a:ln>
            <a:noFill/>
          </a:ln>
        </p:spPr>
      </p:pic>
      <p:pic>
        <p:nvPicPr>
          <p:cNvPr id="138" name="Google Shape;138;p22"/>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518200" y="3154050"/>
            <a:ext cx="1300875" cy="478150"/>
          </a:xfrm>
          <a:prstGeom prst="rect">
            <a:avLst/>
          </a:prstGeom>
          <a:noFill/>
          <a:ln>
            <a:noFill/>
          </a:ln>
        </p:spPr>
      </p:pic>
      <p:sp>
        <p:nvSpPr>
          <p:cNvPr id="139" name="Google Shape;139;p22"/>
          <p:cNvSpPr txBox="1"/>
          <p:nvPr/>
        </p:nvSpPr>
        <p:spPr>
          <a:xfrm>
            <a:off x="72300" y="4032925"/>
            <a:ext cx="4362600" cy="985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u="sng">
                <a:solidFill>
                  <a:schemeClr val="hlink"/>
                </a:solidFill>
                <a:latin typeface="Calibri"/>
                <a:ea typeface="Calibri"/>
                <a:cs typeface="Calibri"/>
                <a:sym typeface="Calibri"/>
                <a:hlinkClick r:id="rId6"/>
              </a:rPr>
              <a:t>https://magic.dev</a:t>
            </a:r>
            <a:r>
              <a:rPr lang="en" sz="1300">
                <a:solidFill>
                  <a:schemeClr val="dk1"/>
                </a:solidFill>
                <a:latin typeface="Calibri"/>
                <a:ea typeface="Calibri"/>
                <a:cs typeface="Calibri"/>
                <a:sym typeface="Calibri"/>
              </a:rPr>
              <a:t> - </a:t>
            </a:r>
            <a:r>
              <a:rPr lang="en" sz="1300" b="1">
                <a:solidFill>
                  <a:srgbClr val="FF0000"/>
                </a:solidFill>
                <a:latin typeface="Calibri"/>
                <a:ea typeface="Calibri"/>
                <a:cs typeface="Calibri"/>
                <a:sym typeface="Calibri"/>
              </a:rPr>
              <a:t>Magic AI</a:t>
            </a:r>
            <a:r>
              <a:rPr lang="en" sz="1300">
                <a:solidFill>
                  <a:schemeClr val="dk1"/>
                </a:solidFill>
                <a:latin typeface="Calibri"/>
                <a:ea typeface="Calibri"/>
                <a:cs typeface="Calibri"/>
                <a:sym typeface="Calibri"/>
              </a:rPr>
              <a:t> Secures $117 Mln to Build an AI Software Engineer capable of assisting with complex coding tasks and that will act more as a coworker than merely a "copilot" tool.</a:t>
            </a:r>
            <a:endParaRPr sz="1300">
              <a:solidFill>
                <a:schemeClr val="dk1"/>
              </a:solidFill>
              <a:latin typeface="Calibri"/>
              <a:ea typeface="Calibri"/>
              <a:cs typeface="Calibri"/>
              <a:sym typeface="Calibri"/>
            </a:endParaRPr>
          </a:p>
        </p:txBody>
      </p:sp>
      <p:pic>
        <p:nvPicPr>
          <p:cNvPr id="140" name="Google Shape;140;p22"/>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4518200" y="4324288"/>
            <a:ext cx="1654000" cy="402475"/>
          </a:xfrm>
          <a:prstGeom prst="rect">
            <a:avLst/>
          </a:prstGeom>
          <a:noFill/>
          <a:ln>
            <a:noFill/>
          </a:ln>
        </p:spPr>
      </p:pic>
      <p:sp>
        <p:nvSpPr>
          <p:cNvPr id="141" name="Google Shape;141;p22"/>
          <p:cNvSpPr txBox="1"/>
          <p:nvPr/>
        </p:nvSpPr>
        <p:spPr>
          <a:xfrm>
            <a:off x="4678425" y="380225"/>
            <a:ext cx="4362600" cy="1785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u="sng">
                <a:solidFill>
                  <a:schemeClr val="hlink"/>
                </a:solidFill>
                <a:latin typeface="Calibri"/>
                <a:ea typeface="Calibri"/>
                <a:cs typeface="Calibri"/>
                <a:sym typeface="Calibri"/>
                <a:hlinkClick r:id="rId8"/>
              </a:rPr>
              <a:t>https://blog.youtube/inside-youtube/2024-letter-from-neal/</a:t>
            </a:r>
            <a:r>
              <a:rPr lang="en" sz="1300">
                <a:solidFill>
                  <a:schemeClr val="dk1"/>
                </a:solidFill>
                <a:latin typeface="Calibri"/>
                <a:ea typeface="Calibri"/>
                <a:cs typeface="Calibri"/>
                <a:sym typeface="Calibri"/>
              </a:rPr>
              <a:t> </a:t>
            </a:r>
            <a:endParaRPr sz="1300">
              <a:solidFill>
                <a:schemeClr val="dk1"/>
              </a:solidFill>
              <a:latin typeface="Calibri"/>
              <a:ea typeface="Calibri"/>
              <a:cs typeface="Calibri"/>
              <a:sym typeface="Calibri"/>
            </a:endParaRPr>
          </a:p>
          <a:p>
            <a:pPr marL="0" lvl="0" indent="0" algn="l" rtl="0">
              <a:spcBef>
                <a:spcPts val="0"/>
              </a:spcBef>
              <a:spcAft>
                <a:spcPts val="0"/>
              </a:spcAft>
              <a:buNone/>
            </a:pPr>
            <a:r>
              <a:rPr lang="en" sz="1300">
                <a:solidFill>
                  <a:schemeClr val="dk1"/>
                </a:solidFill>
                <a:latin typeface="Calibri"/>
                <a:ea typeface="Calibri"/>
                <a:cs typeface="Calibri"/>
                <a:sym typeface="Calibri"/>
              </a:rPr>
              <a:t>Letter from YouTube CEO: 4 Big bets for 2024</a:t>
            </a:r>
            <a:endParaRPr sz="1300">
              <a:solidFill>
                <a:schemeClr val="dk1"/>
              </a:solidFill>
              <a:latin typeface="Calibri"/>
              <a:ea typeface="Calibri"/>
              <a:cs typeface="Calibri"/>
              <a:sym typeface="Calibri"/>
            </a:endParaRPr>
          </a:p>
          <a:p>
            <a:pPr marL="0" lvl="0" indent="0" algn="l" rtl="0">
              <a:spcBef>
                <a:spcPts val="0"/>
              </a:spcBef>
              <a:spcAft>
                <a:spcPts val="0"/>
              </a:spcAft>
              <a:buNone/>
            </a:pPr>
            <a:r>
              <a:rPr lang="en" sz="1300">
                <a:solidFill>
                  <a:schemeClr val="dk1"/>
                </a:solidFill>
                <a:latin typeface="Calibri"/>
                <a:ea typeface="Calibri"/>
                <a:cs typeface="Calibri"/>
                <a:sym typeface="Calibri"/>
              </a:rPr>
              <a:t>#1: AI will empower human creativity.</a:t>
            </a:r>
            <a:endParaRPr sz="1300">
              <a:solidFill>
                <a:schemeClr val="dk1"/>
              </a:solidFill>
              <a:latin typeface="Calibri"/>
              <a:ea typeface="Calibri"/>
              <a:cs typeface="Calibri"/>
              <a:sym typeface="Calibri"/>
            </a:endParaRPr>
          </a:p>
          <a:p>
            <a:pPr marL="0" lvl="0" indent="0" algn="l" rtl="0">
              <a:spcBef>
                <a:spcPts val="0"/>
              </a:spcBef>
              <a:spcAft>
                <a:spcPts val="0"/>
              </a:spcAft>
              <a:buNone/>
            </a:pPr>
            <a:r>
              <a:rPr lang="en" sz="1300">
                <a:solidFill>
                  <a:schemeClr val="dk1"/>
                </a:solidFill>
                <a:latin typeface="Calibri"/>
                <a:ea typeface="Calibri"/>
                <a:cs typeface="Calibri"/>
                <a:sym typeface="Calibri"/>
              </a:rPr>
              <a:t>#2: Creators should be recognized as next-generation studios.</a:t>
            </a:r>
            <a:endParaRPr sz="1300">
              <a:solidFill>
                <a:schemeClr val="dk1"/>
              </a:solidFill>
              <a:latin typeface="Calibri"/>
              <a:ea typeface="Calibri"/>
              <a:cs typeface="Calibri"/>
              <a:sym typeface="Calibri"/>
            </a:endParaRPr>
          </a:p>
          <a:p>
            <a:pPr marL="0" lvl="0" indent="0" algn="l" rtl="0">
              <a:spcBef>
                <a:spcPts val="0"/>
              </a:spcBef>
              <a:spcAft>
                <a:spcPts val="0"/>
              </a:spcAft>
              <a:buNone/>
            </a:pPr>
            <a:r>
              <a:rPr lang="en" sz="1300">
                <a:solidFill>
                  <a:schemeClr val="dk1"/>
                </a:solidFill>
                <a:latin typeface="Calibri"/>
                <a:ea typeface="Calibri"/>
                <a:cs typeface="Calibri"/>
                <a:sym typeface="Calibri"/>
              </a:rPr>
              <a:t>#3: YouTube’s next frontier is the living room and subscriptions - videos to be watched on big screen in living room, subscriptions are growing</a:t>
            </a:r>
            <a:endParaRPr sz="1300">
              <a:solidFill>
                <a:schemeClr val="dk1"/>
              </a:solidFill>
              <a:latin typeface="Calibri"/>
              <a:ea typeface="Calibri"/>
              <a:cs typeface="Calibri"/>
              <a:sym typeface="Calibri"/>
            </a:endParaRPr>
          </a:p>
          <a:p>
            <a:pPr marL="0" lvl="0" indent="0" algn="l" rtl="0">
              <a:spcBef>
                <a:spcPts val="0"/>
              </a:spcBef>
              <a:spcAft>
                <a:spcPts val="0"/>
              </a:spcAft>
              <a:buNone/>
            </a:pPr>
            <a:r>
              <a:rPr lang="en" sz="1300">
                <a:solidFill>
                  <a:schemeClr val="dk1"/>
                </a:solidFill>
                <a:latin typeface="Calibri"/>
                <a:ea typeface="Calibri"/>
                <a:cs typeface="Calibri"/>
                <a:sym typeface="Calibri"/>
              </a:rPr>
              <a:t>#4: Protecting the creator economy is foundational.</a:t>
            </a:r>
            <a:endParaRPr sz="1300">
              <a:solidFill>
                <a:schemeClr val="dk1"/>
              </a:solidFill>
              <a:latin typeface="Calibri"/>
              <a:ea typeface="Calibri"/>
              <a:cs typeface="Calibri"/>
              <a:sym typeface="Calibri"/>
            </a:endParaRPr>
          </a:p>
        </p:txBody>
      </p:sp>
      <p:pic>
        <p:nvPicPr>
          <p:cNvPr id="142" name="Google Shape;142;p22"/>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7803050" y="2228200"/>
            <a:ext cx="1237975" cy="1159326"/>
          </a:xfrm>
          <a:prstGeom prst="rect">
            <a:avLst/>
          </a:prstGeom>
          <a:noFill/>
          <a:ln>
            <a:noFill/>
          </a:ln>
        </p:spPr>
      </p:pic>
      <p:sp>
        <p:nvSpPr>
          <p:cNvPr id="143" name="Google Shape;143;p22"/>
          <p:cNvSpPr txBox="1"/>
          <p:nvPr/>
        </p:nvSpPr>
        <p:spPr>
          <a:xfrm>
            <a:off x="7832085" y="3387525"/>
            <a:ext cx="1179900" cy="5850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300">
                <a:solidFill>
                  <a:schemeClr val="dk1"/>
                </a:solidFill>
                <a:latin typeface="Calibri"/>
                <a:ea typeface="Calibri"/>
                <a:cs typeface="Calibri"/>
                <a:sym typeface="Calibri"/>
              </a:rPr>
              <a:t>Neal Mohan</a:t>
            </a:r>
            <a:endParaRPr sz="1300">
              <a:solidFill>
                <a:schemeClr val="dk1"/>
              </a:solidFill>
              <a:latin typeface="Calibri"/>
              <a:ea typeface="Calibri"/>
              <a:cs typeface="Calibri"/>
              <a:sym typeface="Calibri"/>
            </a:endParaRPr>
          </a:p>
          <a:p>
            <a:pPr marL="0" lvl="0" indent="0" algn="ctr" rtl="0">
              <a:spcBef>
                <a:spcPts val="0"/>
              </a:spcBef>
              <a:spcAft>
                <a:spcPts val="0"/>
              </a:spcAft>
              <a:buNone/>
            </a:pPr>
            <a:r>
              <a:rPr lang="en" sz="1300">
                <a:solidFill>
                  <a:schemeClr val="dk1"/>
                </a:solidFill>
                <a:latin typeface="Calibri"/>
                <a:ea typeface="Calibri"/>
                <a:cs typeface="Calibri"/>
                <a:sym typeface="Calibri"/>
              </a:rPr>
              <a:t>YouTube CEO</a:t>
            </a:r>
            <a:endParaRPr sz="1300">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47"/>
        <p:cNvGrpSpPr/>
        <p:nvPr/>
      </p:nvGrpSpPr>
      <p:grpSpPr>
        <a:xfrm>
          <a:off x="0" y="0"/>
          <a:ext cx="0" cy="0"/>
          <a:chOff x="0" y="0"/>
          <a:chExt cx="0" cy="0"/>
        </a:xfrm>
      </p:grpSpPr>
      <p:sp>
        <p:nvSpPr>
          <p:cNvPr id="148" name="Google Shape;148;p23"/>
          <p:cNvSpPr txBox="1"/>
          <p:nvPr/>
        </p:nvSpPr>
        <p:spPr>
          <a:xfrm>
            <a:off x="72300" y="0"/>
            <a:ext cx="43626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Misc 3</a:t>
            </a:r>
            <a:endParaRPr sz="2000" b="1">
              <a:latin typeface="Calibri"/>
              <a:ea typeface="Calibri"/>
              <a:cs typeface="Calibri"/>
              <a:sym typeface="Calibri"/>
            </a:endParaRPr>
          </a:p>
        </p:txBody>
      </p:sp>
      <p:sp>
        <p:nvSpPr>
          <p:cNvPr id="149" name="Google Shape;149;p23"/>
          <p:cNvSpPr txBox="1"/>
          <p:nvPr/>
        </p:nvSpPr>
        <p:spPr>
          <a:xfrm>
            <a:off x="72300" y="482350"/>
            <a:ext cx="4362600" cy="523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dk1"/>
                </a:solidFill>
                <a:latin typeface="Calibri"/>
                <a:ea typeface="Calibri"/>
                <a:cs typeface="Calibri"/>
                <a:sym typeface="Calibri"/>
              </a:rPr>
              <a:t>Text Embeddings: Comprehensive Guide - </a:t>
            </a:r>
            <a:r>
              <a:rPr lang="en" sz="900" u="sng">
                <a:solidFill>
                  <a:schemeClr val="hlink"/>
                </a:solidFill>
                <a:latin typeface="Calibri"/>
                <a:ea typeface="Calibri"/>
                <a:cs typeface="Calibri"/>
                <a:sym typeface="Calibri"/>
                <a:hlinkClick r:id="rId3"/>
              </a:rPr>
              <a:t>https://towardsdatascience.com/text-embeddings-comprehensive-guide-afd97fce8fb5</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sp>
        <p:nvSpPr>
          <p:cNvPr id="150" name="Google Shape;150;p23"/>
          <p:cNvSpPr txBox="1"/>
          <p:nvPr/>
        </p:nvSpPr>
        <p:spPr>
          <a:xfrm>
            <a:off x="72300" y="1161500"/>
            <a:ext cx="4362600" cy="892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a:latin typeface="Calibri"/>
                <a:ea typeface="Calibri"/>
                <a:cs typeface="Calibri"/>
                <a:sym typeface="Calibri"/>
              </a:rPr>
              <a:t>Why Language Models Became Large Language Models And The Hurdles In Developing LLM-based Applications</a:t>
            </a:r>
            <a:endParaRPr sz="1300">
              <a:latin typeface="Calibri"/>
              <a:ea typeface="Calibri"/>
              <a:cs typeface="Calibri"/>
              <a:sym typeface="Calibri"/>
            </a:endParaRPr>
          </a:p>
          <a:p>
            <a:pPr marL="0" lvl="0" indent="0" algn="l" rtl="0">
              <a:spcBef>
                <a:spcPts val="0"/>
              </a:spcBef>
              <a:spcAft>
                <a:spcPts val="0"/>
              </a:spcAft>
              <a:buNone/>
            </a:pPr>
            <a:r>
              <a:rPr lang="en" sz="1000" u="sng">
                <a:solidFill>
                  <a:schemeClr val="hlink"/>
                </a:solidFill>
                <a:latin typeface="Calibri"/>
                <a:ea typeface="Calibri"/>
                <a:cs typeface="Calibri"/>
                <a:sym typeface="Calibri"/>
                <a:hlinkClick r:id="rId4"/>
              </a:rPr>
              <a:t>https://www.assemblyai.com/blog/why-language-models-became-large-language-models/</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p:txBody>
      </p:sp>
      <p:pic>
        <p:nvPicPr>
          <p:cNvPr id="151" name="Google Shape;151;p23"/>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517300" y="1161500"/>
            <a:ext cx="4509458" cy="30922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55"/>
        <p:cNvGrpSpPr/>
        <p:nvPr/>
      </p:nvGrpSpPr>
      <p:grpSpPr>
        <a:xfrm>
          <a:off x="0" y="0"/>
          <a:ext cx="0" cy="0"/>
          <a:chOff x="0" y="0"/>
          <a:chExt cx="0" cy="0"/>
        </a:xfrm>
      </p:grpSpPr>
      <p:sp>
        <p:nvSpPr>
          <p:cNvPr id="156" name="Google Shape;156;p24"/>
          <p:cNvSpPr txBox="1"/>
          <p:nvPr/>
        </p:nvSpPr>
        <p:spPr>
          <a:xfrm>
            <a:off x="72300" y="380225"/>
            <a:ext cx="4362600" cy="985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228600" lvl="0" indent="-196850" algn="l" rtl="0">
              <a:spcBef>
                <a:spcPts val="0"/>
              </a:spcBef>
              <a:spcAft>
                <a:spcPts val="0"/>
              </a:spcAft>
              <a:buSzPts val="1300"/>
              <a:buFont typeface="Calibri"/>
              <a:buChar char="●"/>
            </a:pPr>
            <a:r>
              <a:rPr lang="en" sz="1300">
                <a:solidFill>
                  <a:schemeClr val="dk1"/>
                </a:solidFill>
                <a:latin typeface="Calibri"/>
                <a:ea typeface="Calibri"/>
                <a:cs typeface="Calibri"/>
                <a:sym typeface="Calibri"/>
              </a:rPr>
              <a:t>NVIDIA's GTC (GPU Technology Conference) will be held on March 18-21, 2024. </a:t>
            </a:r>
            <a:endParaRPr sz="1300">
              <a:solidFill>
                <a:schemeClr val="dk1"/>
              </a:solidFill>
              <a:latin typeface="Calibri"/>
              <a:ea typeface="Calibri"/>
              <a:cs typeface="Calibri"/>
              <a:sym typeface="Calibri"/>
            </a:endParaRPr>
          </a:p>
          <a:p>
            <a:pPr marL="228600" lvl="0" indent="-196850" algn="l" rtl="0">
              <a:spcBef>
                <a:spcPts val="0"/>
              </a:spcBef>
              <a:spcAft>
                <a:spcPts val="0"/>
              </a:spcAft>
              <a:buSzPts val="1300"/>
              <a:buFont typeface="Calibri"/>
              <a:buChar char="●"/>
            </a:pPr>
            <a:r>
              <a:rPr lang="en" sz="1300">
                <a:solidFill>
                  <a:schemeClr val="dk1"/>
                </a:solidFill>
                <a:latin typeface="Calibri"/>
                <a:ea typeface="Calibri"/>
                <a:cs typeface="Calibri"/>
                <a:sym typeface="Calibri"/>
              </a:rPr>
              <a:t>It will take place at the San Jose McEnery Convention Center in San Jose, California</a:t>
            </a:r>
            <a:endParaRPr sz="1300">
              <a:latin typeface="Calibri"/>
              <a:ea typeface="Calibri"/>
              <a:cs typeface="Calibri"/>
              <a:sym typeface="Calibri"/>
            </a:endParaRPr>
          </a:p>
        </p:txBody>
      </p:sp>
      <p:sp>
        <p:nvSpPr>
          <p:cNvPr id="157" name="Google Shape;157;p24"/>
          <p:cNvSpPr txBox="1"/>
          <p:nvPr/>
        </p:nvSpPr>
        <p:spPr>
          <a:xfrm>
            <a:off x="72300" y="0"/>
            <a:ext cx="43626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Nvidia GTC in March 2024</a:t>
            </a:r>
            <a:endParaRPr sz="2000" b="1">
              <a:latin typeface="Calibri"/>
              <a:ea typeface="Calibri"/>
              <a:cs typeface="Calibri"/>
              <a:sym typeface="Calibri"/>
            </a:endParaRPr>
          </a:p>
        </p:txBody>
      </p:sp>
      <p:pic>
        <p:nvPicPr>
          <p:cNvPr id="158" name="Google Shape;158;p24"/>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72300" y="1470799"/>
            <a:ext cx="6284150" cy="3494950"/>
          </a:xfrm>
          <a:prstGeom prst="rect">
            <a:avLst/>
          </a:prstGeom>
          <a:noFill/>
          <a:ln w="9525" cap="flat" cmpd="sng">
            <a:solidFill>
              <a:srgbClr val="FF0000"/>
            </a:solidFill>
            <a:prstDash val="solid"/>
            <a:round/>
            <a:headEnd type="none" w="sm" len="sm"/>
            <a:tailEnd type="none" w="sm" len="sm"/>
          </a:ln>
        </p:spPr>
      </p:pic>
      <p:sp>
        <p:nvSpPr>
          <p:cNvPr id="159" name="Google Shape;159;p24"/>
          <p:cNvSpPr txBox="1"/>
          <p:nvPr/>
        </p:nvSpPr>
        <p:spPr>
          <a:xfrm>
            <a:off x="6540650" y="1991600"/>
            <a:ext cx="2439000" cy="2385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dk1"/>
                </a:solidFill>
                <a:latin typeface="Calibri"/>
                <a:ea typeface="Calibri"/>
                <a:cs typeface="Calibri"/>
                <a:sym typeface="Calibri"/>
              </a:rPr>
              <a:t>On March 20th Jensen Huang will lead the panel of all 8 original authors of "Attention is All You Need" paper!</a:t>
            </a:r>
            <a:endParaRPr sz="1300">
              <a:solidFill>
                <a:schemeClr val="dk1"/>
              </a:solidFill>
              <a:latin typeface="Calibri"/>
              <a:ea typeface="Calibri"/>
              <a:cs typeface="Calibri"/>
              <a:sym typeface="Calibri"/>
            </a:endParaRPr>
          </a:p>
          <a:p>
            <a:pPr marL="0" lvl="0" indent="0" algn="l" rtl="0">
              <a:spcBef>
                <a:spcPts val="0"/>
              </a:spcBef>
              <a:spcAft>
                <a:spcPts val="0"/>
              </a:spcAft>
              <a:buNone/>
            </a:pPr>
            <a:r>
              <a:rPr lang="en" sz="1300">
                <a:solidFill>
                  <a:schemeClr val="dk1"/>
                </a:solidFill>
                <a:latin typeface="Calibri"/>
                <a:ea typeface="Calibri"/>
                <a:cs typeface="Calibri"/>
                <a:sym typeface="Calibri"/>
              </a:rPr>
              <a:t>How did they come up with the idea? What challenges did they face? What surprised them in the following years? What have they been up to these days? How do they envision a post-transformer future? </a:t>
            </a:r>
            <a:endParaRPr sz="1300">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63"/>
        <p:cNvGrpSpPr/>
        <p:nvPr/>
      </p:nvGrpSpPr>
      <p:grpSpPr>
        <a:xfrm>
          <a:off x="0" y="0"/>
          <a:ext cx="0" cy="0"/>
          <a:chOff x="0" y="0"/>
          <a:chExt cx="0" cy="0"/>
        </a:xfrm>
      </p:grpSpPr>
      <p:sp>
        <p:nvSpPr>
          <p:cNvPr id="164" name="Google Shape;164;p25"/>
          <p:cNvSpPr txBox="1"/>
          <p:nvPr/>
        </p:nvSpPr>
        <p:spPr>
          <a:xfrm>
            <a:off x="72300" y="0"/>
            <a:ext cx="20322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Sierra - startup</a:t>
            </a:r>
            <a:endParaRPr sz="2000" b="1">
              <a:latin typeface="Calibri"/>
              <a:ea typeface="Calibri"/>
              <a:cs typeface="Calibri"/>
              <a:sym typeface="Calibri"/>
            </a:endParaRPr>
          </a:p>
        </p:txBody>
      </p:sp>
      <p:sp>
        <p:nvSpPr>
          <p:cNvPr id="165" name="Google Shape;165;p25"/>
          <p:cNvSpPr txBox="1"/>
          <p:nvPr/>
        </p:nvSpPr>
        <p:spPr>
          <a:xfrm>
            <a:off x="72300" y="555000"/>
            <a:ext cx="4674600" cy="1585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u="sng">
                <a:solidFill>
                  <a:schemeClr val="hlink"/>
                </a:solidFill>
                <a:latin typeface="Calibri"/>
                <a:ea typeface="Calibri"/>
                <a:cs typeface="Calibri"/>
                <a:sym typeface="Calibri"/>
                <a:hlinkClick r:id="rId3"/>
              </a:rPr>
              <a:t>https://sierra.ai</a:t>
            </a:r>
            <a:r>
              <a:rPr lang="en" sz="1300">
                <a:latin typeface="Calibri"/>
                <a:ea typeface="Calibri"/>
                <a:cs typeface="Calibri"/>
                <a:sym typeface="Calibri"/>
              </a:rPr>
              <a:t> </a:t>
            </a:r>
            <a:endParaRPr sz="1300">
              <a:latin typeface="Calibri"/>
              <a:ea typeface="Calibri"/>
              <a:cs typeface="Calibri"/>
              <a:sym typeface="Calibri"/>
            </a:endParaRPr>
          </a:p>
          <a:p>
            <a:pPr marL="0" lvl="0" indent="0" algn="l" rtl="0">
              <a:spcBef>
                <a:spcPts val="0"/>
              </a:spcBef>
              <a:spcAft>
                <a:spcPts val="0"/>
              </a:spcAft>
              <a:buNone/>
            </a:pPr>
            <a:r>
              <a:rPr lang="en" sz="1300">
                <a:latin typeface="Calibri"/>
                <a:ea typeface="Calibri"/>
                <a:cs typeface="Calibri"/>
                <a:sym typeface="Calibri"/>
              </a:rPr>
              <a:t>Bret Taylor, the Chairman of OpenAI (since November 2023), and former co-CEO of Salesforce, founded Sierra, a startup focused on (AI) chatbots tailored for business applications; secured $110 Mln in funding, has 30 employees; Established partnerships with enterprise clients like WeightWatchers, Sonos, and Sirius XM Holdings. - </a:t>
            </a:r>
            <a:r>
              <a:rPr lang="en" sz="1000" u="sng">
                <a:solidFill>
                  <a:schemeClr val="hlink"/>
                </a:solidFill>
                <a:latin typeface="Calibri"/>
                <a:ea typeface="Calibri"/>
                <a:cs typeface="Calibri"/>
                <a:sym typeface="Calibri"/>
                <a:hlinkClick r:id="rId4"/>
              </a:rPr>
              <a:t>https://thesiliconreview.com/2024/02/openai-bret-taylor-startup-sierra</a:t>
            </a:r>
            <a:r>
              <a:rPr lang="en" sz="1000">
                <a:latin typeface="Calibri"/>
                <a:ea typeface="Calibri"/>
                <a:cs typeface="Calibri"/>
                <a:sym typeface="Calibri"/>
              </a:rPr>
              <a:t> </a:t>
            </a:r>
            <a:endParaRPr sz="1000">
              <a:latin typeface="Calibri"/>
              <a:ea typeface="Calibri"/>
              <a:cs typeface="Calibri"/>
              <a:sym typeface="Calibri"/>
            </a:endParaRPr>
          </a:p>
        </p:txBody>
      </p:sp>
      <p:pic>
        <p:nvPicPr>
          <p:cNvPr id="166" name="Google Shape;166;p25"/>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5041000" y="1397738"/>
            <a:ext cx="4009899" cy="2103225"/>
          </a:xfrm>
          <a:prstGeom prst="rect">
            <a:avLst/>
          </a:prstGeom>
          <a:noFill/>
          <a:ln>
            <a:noFill/>
          </a:ln>
        </p:spPr>
      </p:pic>
      <p:sp>
        <p:nvSpPr>
          <p:cNvPr id="167" name="Google Shape;167;p25"/>
          <p:cNvSpPr txBox="1"/>
          <p:nvPr/>
        </p:nvSpPr>
        <p:spPr>
          <a:xfrm>
            <a:off x="5540150" y="3500975"/>
            <a:ext cx="31662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u="sng">
                <a:solidFill>
                  <a:schemeClr val="hlink"/>
                </a:solidFill>
                <a:latin typeface="Calibri"/>
                <a:ea typeface="Calibri"/>
                <a:cs typeface="Calibri"/>
                <a:sym typeface="Calibri"/>
                <a:hlinkClick r:id="rId6"/>
              </a:rPr>
              <a:t>https://www.linkedin.com/in/brettaylor</a:t>
            </a:r>
            <a:r>
              <a:rPr lang="en" sz="1300">
                <a:latin typeface="Calibri"/>
                <a:ea typeface="Calibri"/>
                <a:cs typeface="Calibri"/>
                <a:sym typeface="Calibri"/>
              </a:rPr>
              <a:t> </a:t>
            </a:r>
            <a:endParaRPr sz="1300">
              <a:latin typeface="Calibri"/>
              <a:ea typeface="Calibri"/>
              <a:cs typeface="Calibri"/>
              <a:sym typeface="Calibri"/>
            </a:endParaRPr>
          </a:p>
        </p:txBody>
      </p:sp>
      <p:pic>
        <p:nvPicPr>
          <p:cNvPr id="168" name="Google Shape;168;p25"/>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6661225" y="107525"/>
            <a:ext cx="2389675" cy="943000"/>
          </a:xfrm>
          <a:prstGeom prst="rect">
            <a:avLst/>
          </a:prstGeom>
          <a:noFill/>
          <a:ln>
            <a:noFill/>
          </a:ln>
        </p:spPr>
      </p:pic>
      <p:sp>
        <p:nvSpPr>
          <p:cNvPr id="169" name="Google Shape;169;p25"/>
          <p:cNvSpPr txBox="1"/>
          <p:nvPr/>
        </p:nvSpPr>
        <p:spPr>
          <a:xfrm>
            <a:off x="72300" y="2297975"/>
            <a:ext cx="4674600" cy="2586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a:latin typeface="Calibri"/>
                <a:ea typeface="Calibri"/>
                <a:cs typeface="Calibri"/>
                <a:sym typeface="Calibri"/>
              </a:rPr>
              <a:t>Competition:</a:t>
            </a:r>
            <a:endParaRPr sz="1300">
              <a:latin typeface="Calibri"/>
              <a:ea typeface="Calibri"/>
              <a:cs typeface="Calibri"/>
              <a:sym typeface="Calibri"/>
            </a:endParaRPr>
          </a:p>
          <a:p>
            <a:pPr marL="0" lvl="0" indent="0" algn="l" rtl="0">
              <a:spcBef>
                <a:spcPts val="0"/>
              </a:spcBef>
              <a:spcAft>
                <a:spcPts val="0"/>
              </a:spcAft>
              <a:buNone/>
            </a:pPr>
            <a:r>
              <a:rPr lang="en" sz="1300" u="sng">
                <a:solidFill>
                  <a:schemeClr val="hlink"/>
                </a:solidFill>
                <a:latin typeface="Calibri"/>
                <a:ea typeface="Calibri"/>
                <a:cs typeface="Calibri"/>
                <a:sym typeface="Calibri"/>
                <a:hlinkClick r:id="rId8"/>
              </a:rPr>
              <a:t>https://rasa.com</a:t>
            </a:r>
            <a:r>
              <a:rPr lang="en" sz="1300">
                <a:latin typeface="Calibri"/>
                <a:ea typeface="Calibri"/>
                <a:cs typeface="Calibri"/>
                <a:sym typeface="Calibri"/>
              </a:rPr>
              <a:t> (San-Francisco, CA) - Rasa is a Gen. AI conversational AI platform, claims to have more than 10K developers and 3K customers using its platform</a:t>
            </a:r>
            <a:endParaRPr sz="1300">
              <a:latin typeface="Calibri"/>
              <a:ea typeface="Calibri"/>
              <a:cs typeface="Calibri"/>
              <a:sym typeface="Calibri"/>
            </a:endParaRPr>
          </a:p>
          <a:p>
            <a:pPr marL="0" lvl="0" indent="0" algn="l" rtl="0">
              <a:spcBef>
                <a:spcPts val="0"/>
              </a:spcBef>
              <a:spcAft>
                <a:spcPts val="0"/>
              </a:spcAft>
              <a:buNone/>
            </a:pPr>
            <a:r>
              <a:rPr lang="en" sz="1300" u="sng">
                <a:solidFill>
                  <a:schemeClr val="hlink"/>
                </a:solidFill>
                <a:latin typeface="Calibri"/>
                <a:ea typeface="Calibri"/>
                <a:cs typeface="Calibri"/>
                <a:sym typeface="Calibri"/>
                <a:hlinkClick r:id="rId9"/>
              </a:rPr>
              <a:t>https://www.haptik.ai</a:t>
            </a:r>
            <a:r>
              <a:rPr lang="en" sz="1300">
                <a:latin typeface="Calibri"/>
                <a:ea typeface="Calibri"/>
                <a:cs typeface="Calibri"/>
                <a:sym typeface="Calibri"/>
              </a:rPr>
              <a:t> (Mumbai, India) - a conversational AI platform that was acquired by Reliance Jio in 2019, has more than 100 Enterprise customers such as Samsung, KFC, Coca-Cola, and more</a:t>
            </a:r>
            <a:endParaRPr sz="1300">
              <a:latin typeface="Calibri"/>
              <a:ea typeface="Calibri"/>
              <a:cs typeface="Calibri"/>
              <a:sym typeface="Calibri"/>
            </a:endParaRPr>
          </a:p>
          <a:p>
            <a:pPr marL="0" lvl="0" indent="0" algn="l" rtl="0">
              <a:spcBef>
                <a:spcPts val="0"/>
              </a:spcBef>
              <a:spcAft>
                <a:spcPts val="0"/>
              </a:spcAft>
              <a:buNone/>
            </a:pPr>
            <a:r>
              <a:rPr lang="en" sz="1300" u="sng">
                <a:solidFill>
                  <a:schemeClr val="hlink"/>
                </a:solidFill>
                <a:latin typeface="Calibri"/>
                <a:ea typeface="Calibri"/>
                <a:cs typeface="Calibri"/>
                <a:sym typeface="Calibri"/>
                <a:hlinkClick r:id="rId10"/>
              </a:rPr>
              <a:t>https://www.ada.cx</a:t>
            </a:r>
            <a:r>
              <a:rPr lang="en" sz="1300">
                <a:latin typeface="Calibri"/>
                <a:ea typeface="Calibri"/>
                <a:cs typeface="Calibri"/>
                <a:sym typeface="Calibri"/>
              </a:rPr>
              <a:t> (Toronto, Canada) - Ada is a no code conversational AI platform for business. Claims to have more than 500 clients such as Shopify, Zzoom, MailChimp, etc, and to have automated over 2 billion customer interactions. </a:t>
            </a:r>
            <a:endParaRPr sz="1300">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174" name="Google Shape;174;p26"/>
          <p:cNvSpPr txBox="1"/>
          <p:nvPr/>
        </p:nvSpPr>
        <p:spPr>
          <a:xfrm>
            <a:off x="72300" y="0"/>
            <a:ext cx="51339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Yet Another LLM Benchmark - 100+ coding tests</a:t>
            </a:r>
            <a:endParaRPr sz="2000" b="1">
              <a:latin typeface="Calibri"/>
              <a:ea typeface="Calibri"/>
              <a:cs typeface="Calibri"/>
              <a:sym typeface="Calibri"/>
            </a:endParaRPr>
          </a:p>
        </p:txBody>
      </p:sp>
      <p:sp>
        <p:nvSpPr>
          <p:cNvPr id="175" name="Google Shape;175;p26"/>
          <p:cNvSpPr txBox="1"/>
          <p:nvPr/>
        </p:nvSpPr>
        <p:spPr>
          <a:xfrm>
            <a:off x="128650" y="371495"/>
            <a:ext cx="5133900" cy="1723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000" u="sng">
                <a:solidFill>
                  <a:schemeClr val="hlink"/>
                </a:solidFill>
                <a:latin typeface="Calibri"/>
                <a:ea typeface="Calibri"/>
                <a:cs typeface="Calibri"/>
                <a:sym typeface="Calibri"/>
                <a:hlinkClick r:id="rId3"/>
              </a:rPr>
              <a:t>https://github.com/carlini/yet-another-applied-llm-benchmark</a:t>
            </a:r>
            <a:r>
              <a:rPr lang="en" sz="1000">
                <a:latin typeface="Calibri"/>
                <a:ea typeface="Calibri"/>
                <a:cs typeface="Calibri"/>
                <a:sym typeface="Calibri"/>
              </a:rPr>
              <a:t> </a:t>
            </a:r>
            <a:endParaRPr sz="1000">
              <a:latin typeface="Calibri"/>
              <a:ea typeface="Calibri"/>
              <a:cs typeface="Calibri"/>
              <a:sym typeface="Calibri"/>
            </a:endParaRPr>
          </a:p>
          <a:p>
            <a:pPr marL="0" lvl="0" indent="0" algn="l" rtl="0">
              <a:spcBef>
                <a:spcPts val="0"/>
              </a:spcBef>
              <a:spcAft>
                <a:spcPts val="0"/>
              </a:spcAft>
              <a:buNone/>
            </a:pPr>
            <a:r>
              <a:rPr lang="en" sz="1000" u="sng">
                <a:solidFill>
                  <a:schemeClr val="hlink"/>
                </a:solidFill>
                <a:latin typeface="Calibri"/>
                <a:ea typeface="Calibri"/>
                <a:cs typeface="Calibri"/>
                <a:sym typeface="Calibri"/>
                <a:hlinkClick r:id="rId4"/>
              </a:rPr>
              <a:t>https://nicholas.carlini.com/writing/2024/my-benchmark-for-large-language-models.html</a:t>
            </a:r>
            <a:endParaRPr sz="1000">
              <a:latin typeface="Calibri"/>
              <a:ea typeface="Calibri"/>
              <a:cs typeface="Calibri"/>
              <a:sym typeface="Calibri"/>
            </a:endParaRPr>
          </a:p>
          <a:p>
            <a:pPr marL="0" lvl="0" indent="0" algn="l" rtl="0">
              <a:spcBef>
                <a:spcPts val="0"/>
              </a:spcBef>
              <a:spcAft>
                <a:spcPts val="0"/>
              </a:spcAft>
              <a:buNone/>
            </a:pPr>
            <a:r>
              <a:rPr lang="en" sz="1000" u="sng">
                <a:solidFill>
                  <a:schemeClr val="hlink"/>
                </a:solidFill>
                <a:latin typeface="Calibri"/>
                <a:ea typeface="Calibri"/>
                <a:cs typeface="Calibri"/>
                <a:sym typeface="Calibri"/>
                <a:hlinkClick r:id="rId5"/>
              </a:rPr>
              <a:t>https://twitter.com/karpathy/status/1760022429605474550</a:t>
            </a:r>
            <a:r>
              <a:rPr lang="en" sz="1000">
                <a:latin typeface="Calibri"/>
                <a:ea typeface="Calibri"/>
                <a:cs typeface="Calibri"/>
                <a:sym typeface="Calibri"/>
              </a:rPr>
              <a:t> - Andrej Karpathy likes it</a:t>
            </a:r>
            <a:endParaRPr sz="1000">
              <a:latin typeface="Calibri"/>
              <a:ea typeface="Calibri"/>
              <a:cs typeface="Calibri"/>
              <a:sym typeface="Calibri"/>
            </a:endParaRPr>
          </a:p>
          <a:p>
            <a:pPr marL="0" lvl="0" indent="0" algn="l" rtl="0">
              <a:spcBef>
                <a:spcPts val="0"/>
              </a:spcBef>
              <a:spcAft>
                <a:spcPts val="0"/>
              </a:spcAft>
              <a:buNone/>
            </a:pPr>
            <a:r>
              <a:rPr lang="en" sz="1000">
                <a:latin typeface="Calibri"/>
                <a:ea typeface="Calibri"/>
                <a:cs typeface="Calibri"/>
                <a:sym typeface="Calibri"/>
              </a:rPr>
              <a:t>Tests like:</a:t>
            </a:r>
            <a:endParaRPr sz="1000">
              <a:latin typeface="Calibri"/>
              <a:ea typeface="Calibri"/>
              <a:cs typeface="Calibri"/>
              <a:sym typeface="Calibri"/>
            </a:endParaRPr>
          </a:p>
          <a:p>
            <a:pPr marL="457200" lvl="0" indent="-292100" algn="l" rtl="0">
              <a:spcBef>
                <a:spcPts val="0"/>
              </a:spcBef>
              <a:spcAft>
                <a:spcPts val="0"/>
              </a:spcAft>
              <a:buSzPts val="1000"/>
              <a:buFont typeface="Calibri"/>
              <a:buChar char="●"/>
            </a:pPr>
            <a:r>
              <a:rPr lang="en" sz="1000">
                <a:latin typeface="Calibri"/>
                <a:ea typeface="Calibri"/>
                <a:cs typeface="Calibri"/>
                <a:sym typeface="Calibri"/>
              </a:rPr>
              <a:t>convert a python function to an equivalent-but-faster c function;</a:t>
            </a:r>
            <a:endParaRPr sz="1000">
              <a:latin typeface="Calibri"/>
              <a:ea typeface="Calibri"/>
              <a:cs typeface="Calibri"/>
              <a:sym typeface="Calibri"/>
            </a:endParaRPr>
          </a:p>
          <a:p>
            <a:pPr marL="457200" lvl="0" indent="-292100" algn="l" rtl="0">
              <a:spcBef>
                <a:spcPts val="0"/>
              </a:spcBef>
              <a:spcAft>
                <a:spcPts val="0"/>
              </a:spcAft>
              <a:buSzPts val="1000"/>
              <a:buFont typeface="Calibri"/>
              <a:buChar char="●"/>
            </a:pPr>
            <a:r>
              <a:rPr lang="en" sz="1000">
                <a:latin typeface="Calibri"/>
                <a:ea typeface="Calibri"/>
                <a:cs typeface="Calibri"/>
                <a:sym typeface="Calibri"/>
              </a:rPr>
              <a:t>explain the functionality of minified javascript;</a:t>
            </a:r>
            <a:endParaRPr sz="1000">
              <a:latin typeface="Calibri"/>
              <a:ea typeface="Calibri"/>
              <a:cs typeface="Calibri"/>
              <a:sym typeface="Calibri"/>
            </a:endParaRPr>
          </a:p>
          <a:p>
            <a:pPr marL="457200" lvl="0" indent="-292100" algn="l" rtl="0">
              <a:spcBef>
                <a:spcPts val="0"/>
              </a:spcBef>
              <a:spcAft>
                <a:spcPts val="0"/>
              </a:spcAft>
              <a:buSzPts val="1000"/>
              <a:buFont typeface="Calibri"/>
              <a:buChar char="●"/>
            </a:pPr>
            <a:r>
              <a:rPr lang="en" sz="1000">
                <a:latin typeface="Calibri"/>
                <a:ea typeface="Calibri"/>
                <a:cs typeface="Calibri"/>
                <a:sym typeface="Calibri"/>
              </a:rPr>
              <a:t>identify the encoding format (in this case, uuencoded) of some data;</a:t>
            </a:r>
            <a:endParaRPr sz="1000">
              <a:latin typeface="Calibri"/>
              <a:ea typeface="Calibri"/>
              <a:cs typeface="Calibri"/>
              <a:sym typeface="Calibri"/>
            </a:endParaRPr>
          </a:p>
          <a:p>
            <a:pPr marL="457200" lvl="0" indent="-292100" algn="l" rtl="0">
              <a:spcBef>
                <a:spcPts val="0"/>
              </a:spcBef>
              <a:spcAft>
                <a:spcPts val="0"/>
              </a:spcAft>
              <a:buSzPts val="1000"/>
              <a:buFont typeface="Calibri"/>
              <a:buChar char="●"/>
            </a:pPr>
            <a:r>
              <a:rPr lang="en" sz="1000">
                <a:latin typeface="Calibri"/>
                <a:ea typeface="Calibri"/>
                <a:cs typeface="Calibri"/>
                <a:sym typeface="Calibri"/>
              </a:rPr>
              <a:t>write a parser from a BNF-like grammar;</a:t>
            </a:r>
            <a:endParaRPr sz="1000">
              <a:latin typeface="Calibri"/>
              <a:ea typeface="Calibri"/>
              <a:cs typeface="Calibri"/>
              <a:sym typeface="Calibri"/>
            </a:endParaRPr>
          </a:p>
          <a:p>
            <a:pPr marL="457200" lvl="0" indent="-292100" algn="l" rtl="0">
              <a:spcBef>
                <a:spcPts val="0"/>
              </a:spcBef>
              <a:spcAft>
                <a:spcPts val="0"/>
              </a:spcAft>
              <a:buSzPts val="1000"/>
              <a:buFont typeface="Calibri"/>
              <a:buChar char="●"/>
            </a:pPr>
            <a:r>
              <a:rPr lang="en" sz="1000">
                <a:latin typeface="Calibri"/>
                <a:ea typeface="Calibri"/>
                <a:cs typeface="Calibri"/>
                <a:sym typeface="Calibri"/>
              </a:rPr>
              <a:t>convert some english sentences to SQL queries; and,</a:t>
            </a:r>
            <a:endParaRPr sz="1000">
              <a:latin typeface="Calibri"/>
              <a:ea typeface="Calibri"/>
              <a:cs typeface="Calibri"/>
              <a:sym typeface="Calibri"/>
            </a:endParaRPr>
          </a:p>
          <a:p>
            <a:pPr marL="457200" lvl="0" indent="-292100" algn="l" rtl="0">
              <a:spcBef>
                <a:spcPts val="0"/>
              </a:spcBef>
              <a:spcAft>
                <a:spcPts val="0"/>
              </a:spcAft>
              <a:buSzPts val="1000"/>
              <a:buFont typeface="Calibri"/>
              <a:buChar char="●"/>
            </a:pPr>
            <a:r>
              <a:rPr lang="en" sz="1000">
                <a:latin typeface="Calibri"/>
                <a:ea typeface="Calibri"/>
                <a:cs typeface="Calibri"/>
                <a:sym typeface="Calibri"/>
              </a:rPr>
              <a:t>write some bash oneliners.</a:t>
            </a:r>
            <a:endParaRPr sz="1000">
              <a:latin typeface="Calibri"/>
              <a:ea typeface="Calibri"/>
              <a:cs typeface="Calibri"/>
              <a:sym typeface="Calibri"/>
            </a:endParaRPr>
          </a:p>
        </p:txBody>
      </p:sp>
      <p:graphicFrame>
        <p:nvGraphicFramePr>
          <p:cNvPr id="176" name="Google Shape;176;p26"/>
          <p:cNvGraphicFramePr/>
          <p:nvPr/>
        </p:nvGraphicFramePr>
        <p:xfrm>
          <a:off x="1347750" y="2177425"/>
          <a:ext cx="3000000" cy="3000000"/>
        </p:xfrm>
        <a:graphic>
          <a:graphicData uri="http://schemas.openxmlformats.org/drawingml/2006/table">
            <a:tbl>
              <a:tblPr>
                <a:noFill/>
                <a:tableStyleId>{1B0C7711-56E5-4754-9238-86AEBA9C43E4}</a:tableStyleId>
              </a:tblPr>
              <a:tblGrid>
                <a:gridCol w="1212975">
                  <a:extLst>
                    <a:ext uri="{9D8B030D-6E8A-4147-A177-3AD203B41FA5}">
                      <a16:colId xmlns:a16="http://schemas.microsoft.com/office/drawing/2014/main" val="20000"/>
                    </a:ext>
                  </a:extLst>
                </a:gridCol>
                <a:gridCol w="730025">
                  <a:extLst>
                    <a:ext uri="{9D8B030D-6E8A-4147-A177-3AD203B41FA5}">
                      <a16:colId xmlns:a16="http://schemas.microsoft.com/office/drawing/2014/main" val="20001"/>
                    </a:ext>
                  </a:extLst>
                </a:gridCol>
              </a:tblGrid>
              <a:tr h="100000">
                <a:tc>
                  <a:txBody>
                    <a:bodyPr/>
                    <a:lstStyle/>
                    <a:p>
                      <a:pPr marL="0" lvl="0" indent="0" algn="l" rtl="0">
                        <a:spcBef>
                          <a:spcPts val="0"/>
                        </a:spcBef>
                        <a:spcAft>
                          <a:spcPts val="0"/>
                        </a:spcAft>
                        <a:buNone/>
                      </a:pPr>
                      <a:r>
                        <a:rPr lang="en" sz="1100">
                          <a:latin typeface="Calibri"/>
                          <a:ea typeface="Calibri"/>
                          <a:cs typeface="Calibri"/>
                          <a:sym typeface="Calibri"/>
                        </a:rPr>
                        <a:t>Model</a:t>
                      </a:r>
                      <a:endParaRPr sz="11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ctr" rtl="0">
                        <a:spcBef>
                          <a:spcPts val="0"/>
                        </a:spcBef>
                        <a:spcAft>
                          <a:spcPts val="0"/>
                        </a:spcAft>
                        <a:buNone/>
                      </a:pPr>
                      <a:r>
                        <a:rPr lang="en" sz="1100">
                          <a:latin typeface="Calibri"/>
                          <a:ea typeface="Calibri"/>
                          <a:cs typeface="Calibri"/>
                          <a:sym typeface="Calibri"/>
                        </a:rPr>
                        <a:t>% passed</a:t>
                      </a:r>
                      <a:endParaRPr sz="11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00"/>
                  </a:ext>
                </a:extLst>
              </a:tr>
              <a:tr h="155125">
                <a:tc>
                  <a:txBody>
                    <a:bodyPr/>
                    <a:lstStyle/>
                    <a:p>
                      <a:pPr marL="0" lvl="0" indent="0" algn="l" rtl="0">
                        <a:spcBef>
                          <a:spcPts val="0"/>
                        </a:spcBef>
                        <a:spcAft>
                          <a:spcPts val="0"/>
                        </a:spcAft>
                        <a:buNone/>
                      </a:pPr>
                      <a:r>
                        <a:rPr lang="en" sz="1100">
                          <a:latin typeface="Calibri"/>
                          <a:ea typeface="Calibri"/>
                          <a:cs typeface="Calibri"/>
                          <a:sym typeface="Calibri"/>
                        </a:rPr>
                        <a:t>GPT-4</a:t>
                      </a:r>
                      <a:endParaRPr sz="11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ctr" rtl="0">
                        <a:spcBef>
                          <a:spcPts val="0"/>
                        </a:spcBef>
                        <a:spcAft>
                          <a:spcPts val="0"/>
                        </a:spcAft>
                        <a:buNone/>
                      </a:pPr>
                      <a:r>
                        <a:rPr lang="en" sz="1100">
                          <a:latin typeface="Calibri"/>
                          <a:ea typeface="Calibri"/>
                          <a:cs typeface="Calibri"/>
                          <a:sym typeface="Calibri"/>
                        </a:rPr>
                        <a:t>49</a:t>
                      </a:r>
                      <a:endParaRPr sz="11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01"/>
                  </a:ext>
                </a:extLst>
              </a:tr>
              <a:tr h="155125">
                <a:tc>
                  <a:txBody>
                    <a:bodyPr/>
                    <a:lstStyle/>
                    <a:p>
                      <a:pPr marL="0" lvl="0" indent="0" algn="l" rtl="0">
                        <a:spcBef>
                          <a:spcPts val="0"/>
                        </a:spcBef>
                        <a:spcAft>
                          <a:spcPts val="0"/>
                        </a:spcAft>
                        <a:buNone/>
                      </a:pPr>
                      <a:r>
                        <a:rPr lang="en" sz="1100">
                          <a:latin typeface="Calibri"/>
                          <a:ea typeface="Calibri"/>
                          <a:cs typeface="Calibri"/>
                          <a:sym typeface="Calibri"/>
                        </a:rPr>
                        <a:t>GPT-3.5</a:t>
                      </a:r>
                      <a:endParaRPr sz="11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ctr" rtl="0">
                        <a:spcBef>
                          <a:spcPts val="0"/>
                        </a:spcBef>
                        <a:spcAft>
                          <a:spcPts val="0"/>
                        </a:spcAft>
                        <a:buNone/>
                      </a:pPr>
                      <a:r>
                        <a:rPr lang="en" sz="1100">
                          <a:latin typeface="Calibri"/>
                          <a:ea typeface="Calibri"/>
                          <a:cs typeface="Calibri"/>
                          <a:sym typeface="Calibri"/>
                        </a:rPr>
                        <a:t>30</a:t>
                      </a:r>
                      <a:endParaRPr sz="11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02"/>
                  </a:ext>
                </a:extLst>
              </a:tr>
              <a:tr h="155125">
                <a:tc>
                  <a:txBody>
                    <a:bodyPr/>
                    <a:lstStyle/>
                    <a:p>
                      <a:pPr marL="0" lvl="0" indent="0" algn="l" rtl="0">
                        <a:spcBef>
                          <a:spcPts val="0"/>
                        </a:spcBef>
                        <a:spcAft>
                          <a:spcPts val="0"/>
                        </a:spcAft>
                        <a:buNone/>
                      </a:pPr>
                      <a:r>
                        <a:rPr lang="en" sz="1100">
                          <a:latin typeface="Calibri"/>
                          <a:ea typeface="Calibri"/>
                          <a:cs typeface="Calibri"/>
                          <a:sym typeface="Calibri"/>
                        </a:rPr>
                        <a:t>Claude 2.1</a:t>
                      </a:r>
                      <a:endParaRPr sz="11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ctr" rtl="0">
                        <a:spcBef>
                          <a:spcPts val="0"/>
                        </a:spcBef>
                        <a:spcAft>
                          <a:spcPts val="0"/>
                        </a:spcAft>
                        <a:buNone/>
                      </a:pPr>
                      <a:r>
                        <a:rPr lang="en" sz="1100">
                          <a:latin typeface="Calibri"/>
                          <a:ea typeface="Calibri"/>
                          <a:cs typeface="Calibri"/>
                          <a:sym typeface="Calibri"/>
                        </a:rPr>
                        <a:t>31</a:t>
                      </a:r>
                      <a:endParaRPr sz="11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03"/>
                  </a:ext>
                </a:extLst>
              </a:tr>
              <a:tr h="155125">
                <a:tc>
                  <a:txBody>
                    <a:bodyPr/>
                    <a:lstStyle/>
                    <a:p>
                      <a:pPr marL="0" lvl="0" indent="0" algn="l" rtl="0">
                        <a:spcBef>
                          <a:spcPts val="0"/>
                        </a:spcBef>
                        <a:spcAft>
                          <a:spcPts val="0"/>
                        </a:spcAft>
                        <a:buNone/>
                      </a:pPr>
                      <a:r>
                        <a:rPr lang="en" sz="1100">
                          <a:latin typeface="Calibri"/>
                          <a:ea typeface="Calibri"/>
                          <a:cs typeface="Calibri"/>
                          <a:sym typeface="Calibri"/>
                        </a:rPr>
                        <a:t>Claude Instant 1.2</a:t>
                      </a:r>
                      <a:endParaRPr sz="11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ctr" rtl="0">
                        <a:spcBef>
                          <a:spcPts val="0"/>
                        </a:spcBef>
                        <a:spcAft>
                          <a:spcPts val="0"/>
                        </a:spcAft>
                        <a:buNone/>
                      </a:pPr>
                      <a:r>
                        <a:rPr lang="en" sz="1100">
                          <a:latin typeface="Calibri"/>
                          <a:ea typeface="Calibri"/>
                          <a:cs typeface="Calibri"/>
                          <a:sym typeface="Calibri"/>
                        </a:rPr>
                        <a:t>23</a:t>
                      </a:r>
                      <a:endParaRPr sz="11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04"/>
                  </a:ext>
                </a:extLst>
              </a:tr>
              <a:tr h="155125">
                <a:tc>
                  <a:txBody>
                    <a:bodyPr/>
                    <a:lstStyle/>
                    <a:p>
                      <a:pPr marL="0" lvl="0" indent="0" algn="l" rtl="0">
                        <a:spcBef>
                          <a:spcPts val="0"/>
                        </a:spcBef>
                        <a:spcAft>
                          <a:spcPts val="0"/>
                        </a:spcAft>
                        <a:buNone/>
                      </a:pPr>
                      <a:r>
                        <a:rPr lang="en" sz="1100">
                          <a:latin typeface="Calibri"/>
                          <a:ea typeface="Calibri"/>
                          <a:cs typeface="Calibri"/>
                          <a:sym typeface="Calibri"/>
                        </a:rPr>
                        <a:t>Mistral Medium</a:t>
                      </a:r>
                      <a:endParaRPr sz="11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ctr" rtl="0">
                        <a:spcBef>
                          <a:spcPts val="0"/>
                        </a:spcBef>
                        <a:spcAft>
                          <a:spcPts val="0"/>
                        </a:spcAft>
                        <a:buNone/>
                      </a:pPr>
                      <a:r>
                        <a:rPr lang="en" sz="1100">
                          <a:latin typeface="Calibri"/>
                          <a:ea typeface="Calibri"/>
                          <a:cs typeface="Calibri"/>
                          <a:sym typeface="Calibri"/>
                        </a:rPr>
                        <a:t>25</a:t>
                      </a:r>
                      <a:endParaRPr sz="11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05"/>
                  </a:ext>
                </a:extLst>
              </a:tr>
              <a:tr h="155125">
                <a:tc>
                  <a:txBody>
                    <a:bodyPr/>
                    <a:lstStyle/>
                    <a:p>
                      <a:pPr marL="0" lvl="0" indent="0" algn="l" rtl="0">
                        <a:spcBef>
                          <a:spcPts val="0"/>
                        </a:spcBef>
                        <a:spcAft>
                          <a:spcPts val="0"/>
                        </a:spcAft>
                        <a:buNone/>
                      </a:pPr>
                      <a:r>
                        <a:rPr lang="en" sz="1100">
                          <a:latin typeface="Calibri"/>
                          <a:ea typeface="Calibri"/>
                          <a:cs typeface="Calibri"/>
                          <a:sym typeface="Calibri"/>
                        </a:rPr>
                        <a:t>Mistral Small</a:t>
                      </a:r>
                      <a:endParaRPr sz="11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ctr" rtl="0">
                        <a:spcBef>
                          <a:spcPts val="0"/>
                        </a:spcBef>
                        <a:spcAft>
                          <a:spcPts val="0"/>
                        </a:spcAft>
                        <a:buNone/>
                      </a:pPr>
                      <a:r>
                        <a:rPr lang="en" sz="1100">
                          <a:latin typeface="Calibri"/>
                          <a:ea typeface="Calibri"/>
                          <a:cs typeface="Calibri"/>
                          <a:sym typeface="Calibri"/>
                        </a:rPr>
                        <a:t>21</a:t>
                      </a:r>
                      <a:endParaRPr sz="11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06"/>
                  </a:ext>
                </a:extLst>
              </a:tr>
              <a:tr h="155125">
                <a:tc>
                  <a:txBody>
                    <a:bodyPr/>
                    <a:lstStyle/>
                    <a:p>
                      <a:pPr marL="0" lvl="0" indent="0" algn="l" rtl="0">
                        <a:spcBef>
                          <a:spcPts val="0"/>
                        </a:spcBef>
                        <a:spcAft>
                          <a:spcPts val="0"/>
                        </a:spcAft>
                        <a:buNone/>
                      </a:pPr>
                      <a:r>
                        <a:rPr lang="en" sz="1100">
                          <a:latin typeface="Calibri"/>
                          <a:ea typeface="Calibri"/>
                          <a:cs typeface="Calibri"/>
                          <a:sym typeface="Calibri"/>
                        </a:rPr>
                        <a:t>Gemini Pro</a:t>
                      </a:r>
                      <a:endParaRPr sz="11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ctr" rtl="0">
                        <a:spcBef>
                          <a:spcPts val="0"/>
                        </a:spcBef>
                        <a:spcAft>
                          <a:spcPts val="0"/>
                        </a:spcAft>
                        <a:buNone/>
                      </a:pPr>
                      <a:r>
                        <a:rPr lang="en" sz="1100">
                          <a:latin typeface="Calibri"/>
                          <a:ea typeface="Calibri"/>
                          <a:cs typeface="Calibri"/>
                          <a:sym typeface="Calibri"/>
                        </a:rPr>
                        <a:t>21</a:t>
                      </a:r>
                      <a:endParaRPr sz="11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07"/>
                  </a:ext>
                </a:extLst>
              </a:tr>
            </a:tbl>
          </a:graphicData>
        </a:graphic>
      </p:graphicFrame>
      <p:pic>
        <p:nvPicPr>
          <p:cNvPr id="177" name="Google Shape;177;p26"/>
          <p:cNvPicPr preferRelativeResize="0"/>
          <p:nvPr/>
        </p:nvPicPr>
        <p:blipFill rotWithShape="1">
          <a:blip r:embed="rId6" cstate="email">
            <a:alphaModFix/>
            <a:extLst>
              <a:ext uri="{28A0092B-C50C-407E-A947-70E740481C1C}">
                <a14:useLocalDpi xmlns:a14="http://schemas.microsoft.com/office/drawing/2010/main"/>
              </a:ext>
            </a:extLst>
          </a:blip>
          <a:srcRect/>
          <a:stretch/>
        </p:blipFill>
        <p:spPr>
          <a:xfrm>
            <a:off x="5640400" y="367164"/>
            <a:ext cx="1704503" cy="4091111"/>
          </a:xfrm>
          <a:prstGeom prst="rect">
            <a:avLst/>
          </a:prstGeom>
          <a:noFill/>
          <a:ln>
            <a:noFill/>
          </a:ln>
        </p:spPr>
      </p:pic>
      <p:pic>
        <p:nvPicPr>
          <p:cNvPr id="178" name="Google Shape;178;p26"/>
          <p:cNvPicPr preferRelativeResize="0"/>
          <p:nvPr/>
        </p:nvPicPr>
        <p:blipFill rotWithShape="1">
          <a:blip r:embed="rId7" cstate="email">
            <a:alphaModFix/>
            <a:extLst>
              <a:ext uri="{28A0092B-C50C-407E-A947-70E740481C1C}">
                <a14:useLocalDpi xmlns:a14="http://schemas.microsoft.com/office/drawing/2010/main"/>
              </a:ext>
            </a:extLst>
          </a:blip>
          <a:srcRect/>
          <a:stretch/>
        </p:blipFill>
        <p:spPr>
          <a:xfrm>
            <a:off x="7417119" y="792450"/>
            <a:ext cx="1669032" cy="4314249"/>
          </a:xfrm>
          <a:prstGeom prst="rect">
            <a:avLst/>
          </a:prstGeom>
          <a:noFill/>
          <a:ln>
            <a:noFill/>
          </a:ln>
        </p:spPr>
      </p:pic>
      <p:sp>
        <p:nvSpPr>
          <p:cNvPr id="179" name="Google Shape;179;p26"/>
          <p:cNvSpPr txBox="1"/>
          <p:nvPr/>
        </p:nvSpPr>
        <p:spPr>
          <a:xfrm>
            <a:off x="72300" y="3749495"/>
            <a:ext cx="51339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200">
                <a:solidFill>
                  <a:srgbClr val="3C78D8"/>
                </a:solidFill>
                <a:latin typeface="Roboto Mono"/>
                <a:ea typeface="Roboto Mono"/>
                <a:cs typeface="Roboto Mono"/>
                <a:sym typeface="Roboto Mono"/>
              </a:rPr>
              <a:t># this is the first test that ALL models fail:</a:t>
            </a:r>
            <a:endParaRPr sz="1200">
              <a:solidFill>
                <a:srgbClr val="6AA84F"/>
              </a:solidFill>
              <a:latin typeface="Roboto Mono"/>
              <a:ea typeface="Roboto Mono"/>
              <a:cs typeface="Roboto Mono"/>
              <a:sym typeface="Roboto Mono"/>
            </a:endParaRPr>
          </a:p>
          <a:p>
            <a:pPr marL="0" lvl="0" indent="0" algn="l" rtl="0">
              <a:spcBef>
                <a:spcPts val="0"/>
              </a:spcBef>
              <a:spcAft>
                <a:spcPts val="0"/>
              </a:spcAft>
              <a:buClr>
                <a:schemeClr val="dk1"/>
              </a:buClr>
              <a:buSzPts val="1100"/>
              <a:buFont typeface="Arial"/>
              <a:buNone/>
            </a:pPr>
            <a:r>
              <a:rPr lang="en" sz="1200">
                <a:solidFill>
                  <a:srgbClr val="6AA84F"/>
                </a:solidFill>
                <a:latin typeface="Roboto Mono"/>
                <a:ea typeface="Roboto Mono"/>
                <a:cs typeface="Roboto Mono"/>
                <a:sym typeface="Roboto Mono"/>
              </a:rPr>
              <a:t>Read this base64 string, think about the answer, and type just the answer in base64. You're entire answer must be base64.</a:t>
            </a:r>
            <a:endParaRPr sz="1200">
              <a:solidFill>
                <a:srgbClr val="6AA84F"/>
              </a:solidFill>
              <a:latin typeface="Roboto Mono"/>
              <a:ea typeface="Roboto Mono"/>
              <a:cs typeface="Roboto Mono"/>
              <a:sym typeface="Roboto Mono"/>
            </a:endParaRPr>
          </a:p>
          <a:p>
            <a:pPr marL="0" lvl="0" indent="0" algn="l" rtl="0">
              <a:spcBef>
                <a:spcPts val="0"/>
              </a:spcBef>
              <a:spcAft>
                <a:spcPts val="0"/>
              </a:spcAft>
              <a:buClr>
                <a:schemeClr val="dk1"/>
              </a:buClr>
              <a:buSzPts val="1100"/>
              <a:buFont typeface="Arial"/>
              <a:buNone/>
            </a:pPr>
            <a:endParaRPr sz="1200">
              <a:solidFill>
                <a:srgbClr val="6AA84F"/>
              </a:solidFill>
              <a:latin typeface="Roboto Mono"/>
              <a:ea typeface="Roboto Mono"/>
              <a:cs typeface="Roboto Mono"/>
              <a:sym typeface="Roboto Mono"/>
            </a:endParaRPr>
          </a:p>
          <a:p>
            <a:pPr marL="0" lvl="0" indent="0" algn="l" rtl="0">
              <a:spcBef>
                <a:spcPts val="0"/>
              </a:spcBef>
              <a:spcAft>
                <a:spcPts val="0"/>
              </a:spcAft>
              <a:buNone/>
            </a:pPr>
            <a:r>
              <a:rPr lang="en" sz="1200">
                <a:solidFill>
                  <a:srgbClr val="6AA84F"/>
                </a:solidFill>
                <a:latin typeface="Roboto Mono"/>
                <a:ea typeface="Roboto Mono"/>
                <a:cs typeface="Roboto Mono"/>
                <a:sym typeface="Roboto Mono"/>
              </a:rPr>
              <a:t>V2hhdCBpcyBvbmUgeWVhciBhZnRlciB3aGVuIFByZXNpZGVudCBnZW9yZ2Ugd2FzaGluZ3RvbiBib3JuPw==</a:t>
            </a:r>
            <a:endParaRPr sz="1200">
              <a:solidFill>
                <a:srgbClr val="6AA84F"/>
              </a:solidFill>
              <a:latin typeface="Roboto Mono"/>
              <a:ea typeface="Roboto Mono"/>
              <a:cs typeface="Roboto Mono"/>
              <a:sym typeface="Roboto Mono"/>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83"/>
        <p:cNvGrpSpPr/>
        <p:nvPr/>
      </p:nvGrpSpPr>
      <p:grpSpPr>
        <a:xfrm>
          <a:off x="0" y="0"/>
          <a:ext cx="0" cy="0"/>
          <a:chOff x="0" y="0"/>
          <a:chExt cx="0" cy="0"/>
        </a:xfrm>
      </p:grpSpPr>
      <p:sp>
        <p:nvSpPr>
          <p:cNvPr id="184" name="Google Shape;184;p27"/>
          <p:cNvSpPr txBox="1"/>
          <p:nvPr/>
        </p:nvSpPr>
        <p:spPr>
          <a:xfrm>
            <a:off x="72300" y="0"/>
            <a:ext cx="51339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UpTrain</a:t>
            </a:r>
            <a:endParaRPr sz="2000" b="1">
              <a:latin typeface="Calibri"/>
              <a:ea typeface="Calibri"/>
              <a:cs typeface="Calibri"/>
              <a:sym typeface="Calibri"/>
            </a:endParaRPr>
          </a:p>
        </p:txBody>
      </p:sp>
      <p:sp>
        <p:nvSpPr>
          <p:cNvPr id="185" name="Google Shape;185;p27"/>
          <p:cNvSpPr txBox="1"/>
          <p:nvPr/>
        </p:nvSpPr>
        <p:spPr>
          <a:xfrm>
            <a:off x="128650" y="371495"/>
            <a:ext cx="5133900" cy="3155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457200" lvl="0" indent="-311150" algn="l" rtl="0">
              <a:spcBef>
                <a:spcPts val="0"/>
              </a:spcBef>
              <a:spcAft>
                <a:spcPts val="0"/>
              </a:spcAft>
              <a:buSzPts val="1300"/>
              <a:buFont typeface="Calibri"/>
              <a:buChar char="●"/>
            </a:pPr>
            <a:r>
              <a:rPr lang="en"/>
              <a:t>Open-source LLMOps evaluations</a:t>
            </a:r>
            <a:endParaRPr/>
          </a:p>
          <a:p>
            <a:pPr marL="457200" lvl="0" indent="-317500" algn="l" rtl="0">
              <a:spcBef>
                <a:spcPts val="0"/>
              </a:spcBef>
              <a:spcAft>
                <a:spcPts val="0"/>
              </a:spcAft>
              <a:buSzPts val="1400"/>
              <a:buChar char="●"/>
            </a:pPr>
            <a:r>
              <a:rPr lang="en"/>
              <a:t>Diverse Metrics: Evaluations covering aspects like factual accuracy, response completeness, tone critique, guideline adherence, and more.</a:t>
            </a:r>
            <a:endParaRPr/>
          </a:p>
          <a:p>
            <a:pPr marL="457200" lvl="0" indent="-317500" algn="l" rtl="0">
              <a:spcBef>
                <a:spcPts val="0"/>
              </a:spcBef>
              <a:spcAft>
                <a:spcPts val="0"/>
              </a:spcAft>
              <a:buSzPts val="1400"/>
              <a:buChar char="●"/>
            </a:pPr>
            <a:r>
              <a:rPr lang="en"/>
              <a:t>A/B Testing: Facilitates split testing, allowing users to experiment with different prompts. Useful for fine-tuning prompt strategies .</a:t>
            </a:r>
            <a:endParaRPr/>
          </a:p>
          <a:p>
            <a:pPr marL="457200" lvl="0" indent="-317500" algn="l" rtl="0">
              <a:spcBef>
                <a:spcPts val="0"/>
              </a:spcBef>
              <a:spcAft>
                <a:spcPts val="0"/>
              </a:spcAft>
              <a:buSzPts val="1400"/>
              <a:buChar char="●"/>
            </a:pPr>
            <a:r>
              <a:rPr lang="en"/>
              <a:t>Conversation Evaluation: Includes the ‘Conversation Satisfaction’ metric, which assesses user satisfaction based on the completeness and acceptance of the conversation with the AI assistant.</a:t>
            </a:r>
            <a:endParaRPr/>
          </a:p>
          <a:p>
            <a:pPr marL="457200" lvl="0" indent="-311150" algn="l" rtl="0">
              <a:spcBef>
                <a:spcPts val="0"/>
              </a:spcBef>
              <a:spcAft>
                <a:spcPts val="0"/>
              </a:spcAft>
              <a:buSzPts val="1300"/>
              <a:buFont typeface="Calibri"/>
              <a:buChar char="●"/>
            </a:pPr>
            <a:r>
              <a:rPr lang="en" sz="1300" u="sng">
                <a:solidFill>
                  <a:schemeClr val="hlink"/>
                </a:solidFill>
                <a:latin typeface="Calibri"/>
                <a:ea typeface="Calibri"/>
                <a:cs typeface="Calibri"/>
                <a:sym typeface="Calibri"/>
                <a:hlinkClick r:id="rId3"/>
              </a:rPr>
              <a:t>https://uptrain.ai</a:t>
            </a:r>
            <a:r>
              <a:rPr lang="en" sz="1300">
                <a:latin typeface="Calibri"/>
                <a:ea typeface="Calibri"/>
                <a:cs typeface="Calibri"/>
                <a:sym typeface="Calibri"/>
              </a:rPr>
              <a:t> </a:t>
            </a:r>
            <a:endParaRPr sz="1300">
              <a:latin typeface="Calibri"/>
              <a:ea typeface="Calibri"/>
              <a:cs typeface="Calibri"/>
              <a:sym typeface="Calibri"/>
            </a:endParaRPr>
          </a:p>
          <a:p>
            <a:pPr marL="457200" lvl="0" indent="-311150" algn="l" rtl="0">
              <a:spcBef>
                <a:spcPts val="0"/>
              </a:spcBef>
              <a:spcAft>
                <a:spcPts val="0"/>
              </a:spcAft>
              <a:buSzPts val="1300"/>
              <a:buFont typeface="Calibri"/>
              <a:buChar char="●"/>
            </a:pPr>
            <a:r>
              <a:rPr lang="en" sz="1300" u="sng">
                <a:solidFill>
                  <a:schemeClr val="hlink"/>
                </a:solidFill>
                <a:latin typeface="Calibri"/>
                <a:ea typeface="Calibri"/>
                <a:cs typeface="Calibri"/>
                <a:sym typeface="Calibri"/>
                <a:hlinkClick r:id="rId4"/>
              </a:rPr>
              <a:t>https://github.com/uptrain-ai/uptrain</a:t>
            </a:r>
            <a:r>
              <a:rPr lang="en" sz="1300">
                <a:latin typeface="Calibri"/>
                <a:ea typeface="Calibri"/>
                <a:cs typeface="Calibri"/>
                <a:sym typeface="Calibri"/>
              </a:rPr>
              <a:t> </a:t>
            </a:r>
            <a:endParaRPr sz="1300">
              <a:latin typeface="Calibri"/>
              <a:ea typeface="Calibri"/>
              <a:cs typeface="Calibri"/>
              <a:sym typeface="Calibri"/>
            </a:endParaRPr>
          </a:p>
          <a:p>
            <a:pPr marL="457200" lvl="0" indent="-311150" algn="l" rtl="0">
              <a:spcBef>
                <a:spcPts val="0"/>
              </a:spcBef>
              <a:spcAft>
                <a:spcPts val="0"/>
              </a:spcAft>
              <a:buSzPts val="1300"/>
              <a:buFont typeface="Calibri"/>
              <a:buChar char="●"/>
            </a:pPr>
            <a:r>
              <a:rPr lang="en" sz="1300" u="sng">
                <a:solidFill>
                  <a:schemeClr val="hlink"/>
                </a:solidFill>
                <a:latin typeface="Calibri"/>
                <a:ea typeface="Calibri"/>
                <a:cs typeface="Calibri"/>
                <a:sym typeface="Calibri"/>
                <a:hlinkClick r:id="rId5"/>
              </a:rPr>
              <a:t>https://pypi.org/project/uptrain/</a:t>
            </a:r>
            <a:r>
              <a:rPr lang="en" sz="1300">
                <a:latin typeface="Calibri"/>
                <a:ea typeface="Calibri"/>
                <a:cs typeface="Calibri"/>
                <a:sym typeface="Calibri"/>
              </a:rPr>
              <a:t> </a:t>
            </a:r>
            <a:endParaRPr sz="1300">
              <a:latin typeface="Calibri"/>
              <a:ea typeface="Calibri"/>
              <a:cs typeface="Calibri"/>
              <a:sym typeface="Calibri"/>
            </a:endParaRPr>
          </a:p>
        </p:txBody>
      </p:sp>
      <p:pic>
        <p:nvPicPr>
          <p:cNvPr id="186" name="Google Shape;186;p27"/>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6165902" y="156594"/>
            <a:ext cx="2826399" cy="681776"/>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90"/>
        <p:cNvGrpSpPr/>
        <p:nvPr/>
      </p:nvGrpSpPr>
      <p:grpSpPr>
        <a:xfrm>
          <a:off x="0" y="0"/>
          <a:ext cx="0" cy="0"/>
          <a:chOff x="0" y="0"/>
          <a:chExt cx="0" cy="0"/>
        </a:xfrm>
      </p:grpSpPr>
      <p:sp>
        <p:nvSpPr>
          <p:cNvPr id="191" name="Google Shape;191;p28"/>
          <p:cNvSpPr txBox="1"/>
          <p:nvPr/>
        </p:nvSpPr>
        <p:spPr>
          <a:xfrm>
            <a:off x="72300" y="76200"/>
            <a:ext cx="32520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NotebookLM.Google.com</a:t>
            </a:r>
            <a:endParaRPr sz="2000" b="1">
              <a:latin typeface="Calibri"/>
              <a:ea typeface="Calibri"/>
              <a:cs typeface="Calibri"/>
              <a:sym typeface="Calibri"/>
            </a:endParaRPr>
          </a:p>
        </p:txBody>
      </p:sp>
      <p:sp>
        <p:nvSpPr>
          <p:cNvPr id="192" name="Google Shape;192;p28"/>
          <p:cNvSpPr txBox="1"/>
          <p:nvPr/>
        </p:nvSpPr>
        <p:spPr>
          <a:xfrm>
            <a:off x="72300" y="581225"/>
            <a:ext cx="4415700" cy="785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228600" lvl="0" indent="-196850" algn="l" rtl="0">
              <a:spcBef>
                <a:spcPts val="0"/>
              </a:spcBef>
              <a:spcAft>
                <a:spcPts val="0"/>
              </a:spcAft>
              <a:buSzPts val="1300"/>
              <a:buFont typeface="Calibri"/>
              <a:buChar char="●"/>
            </a:pPr>
            <a:r>
              <a:rPr lang="en" sz="1300" u="sng">
                <a:solidFill>
                  <a:schemeClr val="hlink"/>
                </a:solidFill>
                <a:latin typeface="Calibri"/>
                <a:ea typeface="Calibri"/>
                <a:cs typeface="Calibri"/>
                <a:sym typeface="Calibri"/>
                <a:hlinkClick r:id="rId3"/>
              </a:rPr>
              <a:t>https://notebooklm.google.com</a:t>
            </a:r>
            <a:endParaRPr sz="1300">
              <a:latin typeface="Calibri"/>
              <a:ea typeface="Calibri"/>
              <a:cs typeface="Calibri"/>
              <a:sym typeface="Calibri"/>
            </a:endParaRPr>
          </a:p>
          <a:p>
            <a:pPr marL="228600" lvl="0" indent="-196850" algn="l" rtl="0">
              <a:spcBef>
                <a:spcPts val="0"/>
              </a:spcBef>
              <a:spcAft>
                <a:spcPts val="0"/>
              </a:spcAft>
              <a:buSzPts val="1300"/>
              <a:buFont typeface="Calibri"/>
              <a:buChar char="●"/>
            </a:pPr>
            <a:r>
              <a:rPr lang="en" sz="1300" u="sng">
                <a:solidFill>
                  <a:schemeClr val="hlink"/>
                </a:solidFill>
                <a:latin typeface="Calibri"/>
                <a:ea typeface="Calibri"/>
                <a:cs typeface="Calibri"/>
                <a:sym typeface="Calibri"/>
                <a:hlinkClick r:id="rId4"/>
              </a:rPr>
              <a:t>https://www.youtube.com/watch?v=iWPjBwXy_Io</a:t>
            </a:r>
            <a:r>
              <a:rPr lang="en" sz="1300">
                <a:latin typeface="Calibri"/>
                <a:ea typeface="Calibri"/>
                <a:cs typeface="Calibri"/>
                <a:sym typeface="Calibri"/>
              </a:rPr>
              <a:t> - demo</a:t>
            </a:r>
            <a:endParaRPr sz="1300">
              <a:latin typeface="Calibri"/>
              <a:ea typeface="Calibri"/>
              <a:cs typeface="Calibri"/>
              <a:sym typeface="Calibri"/>
            </a:endParaRPr>
          </a:p>
          <a:p>
            <a:pPr marL="228600" lvl="0" indent="-196850" algn="l" rtl="0">
              <a:spcBef>
                <a:spcPts val="0"/>
              </a:spcBef>
              <a:spcAft>
                <a:spcPts val="0"/>
              </a:spcAft>
              <a:buSzPts val="1300"/>
              <a:buFont typeface="Calibri"/>
              <a:buChar char="●"/>
            </a:pPr>
            <a:r>
              <a:rPr lang="en" sz="1300" u="sng">
                <a:solidFill>
                  <a:schemeClr val="hlink"/>
                </a:solidFill>
                <a:latin typeface="Calibri"/>
                <a:ea typeface="Calibri"/>
                <a:cs typeface="Calibri"/>
                <a:sym typeface="Calibri"/>
                <a:hlinkClick r:id="rId5"/>
              </a:rPr>
              <a:t>https://support.google.com/notebooklm</a:t>
            </a:r>
            <a:r>
              <a:rPr lang="en" sz="1300">
                <a:latin typeface="Calibri"/>
                <a:ea typeface="Calibri"/>
                <a:cs typeface="Calibri"/>
                <a:sym typeface="Calibri"/>
              </a:rPr>
              <a:t> - how-to</a:t>
            </a:r>
            <a:endParaRPr sz="1300">
              <a:latin typeface="Calibri"/>
              <a:ea typeface="Calibri"/>
              <a:cs typeface="Calibri"/>
              <a:sym typeface="Calibri"/>
            </a:endParaRPr>
          </a:p>
        </p:txBody>
      </p:sp>
      <p:pic>
        <p:nvPicPr>
          <p:cNvPr id="193" name="Google Shape;193;p28"/>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640400" y="658814"/>
            <a:ext cx="4351200" cy="4407955"/>
          </a:xfrm>
          <a:prstGeom prst="rect">
            <a:avLst/>
          </a:prstGeom>
          <a:noFill/>
          <a:ln w="9525" cap="flat" cmpd="sng">
            <a:solidFill>
              <a:srgbClr val="FF0000"/>
            </a:solidFill>
            <a:prstDash val="solid"/>
            <a:round/>
            <a:headEnd type="none" w="sm" len="sm"/>
            <a:tailEnd type="none" w="sm" len="sm"/>
          </a:ln>
        </p:spPr>
      </p:pic>
      <p:pic>
        <p:nvPicPr>
          <p:cNvPr id="194" name="Google Shape;194;p28"/>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76200" y="1547225"/>
            <a:ext cx="4335601" cy="3524793"/>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sp>
        <p:nvSpPr>
          <p:cNvPr id="199" name="Google Shape;199;p29"/>
          <p:cNvSpPr txBox="1"/>
          <p:nvPr/>
        </p:nvSpPr>
        <p:spPr>
          <a:xfrm>
            <a:off x="72300" y="76200"/>
            <a:ext cx="32520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How to Pilot Generative AI </a:t>
            </a:r>
            <a:endParaRPr sz="2000" b="1">
              <a:latin typeface="Calibri"/>
              <a:ea typeface="Calibri"/>
              <a:cs typeface="Calibri"/>
              <a:sym typeface="Calibri"/>
            </a:endParaRPr>
          </a:p>
        </p:txBody>
      </p:sp>
      <p:sp>
        <p:nvSpPr>
          <p:cNvPr id="200" name="Google Shape;200;p29"/>
          <p:cNvSpPr txBox="1"/>
          <p:nvPr/>
        </p:nvSpPr>
        <p:spPr>
          <a:xfrm>
            <a:off x="72300" y="581225"/>
            <a:ext cx="4415700" cy="3740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a:latin typeface="Calibri"/>
                <a:ea typeface="Calibri"/>
                <a:cs typeface="Calibri"/>
                <a:sym typeface="Calibri"/>
              </a:rPr>
              <a:t>How to Pilot Generative AI - by Gartner</a:t>
            </a:r>
            <a:endParaRPr sz="1300">
              <a:latin typeface="Calibri"/>
              <a:ea typeface="Calibri"/>
              <a:cs typeface="Calibri"/>
              <a:sym typeface="Calibri"/>
            </a:endParaRPr>
          </a:p>
          <a:p>
            <a:pPr marL="0" lvl="0" indent="0" algn="l" rtl="0">
              <a:spcBef>
                <a:spcPts val="0"/>
              </a:spcBef>
              <a:spcAft>
                <a:spcPts val="0"/>
              </a:spcAft>
              <a:buNone/>
            </a:pPr>
            <a:r>
              <a:rPr lang="en" sz="1000" u="sng">
                <a:solidFill>
                  <a:schemeClr val="hlink"/>
                </a:solidFill>
                <a:latin typeface="Calibri"/>
                <a:ea typeface="Calibri"/>
                <a:cs typeface="Calibri"/>
                <a:sym typeface="Calibri"/>
                <a:hlinkClick r:id="rId3"/>
              </a:rPr>
              <a:t>https://www.gartner.com/en/doc/797246-how-to-pilot-generative-ai</a:t>
            </a:r>
            <a:r>
              <a:rPr lang="en" sz="1000">
                <a:latin typeface="Calibri"/>
                <a:ea typeface="Calibri"/>
                <a:cs typeface="Calibri"/>
                <a:sym typeface="Calibri"/>
              </a:rPr>
              <a:t> </a:t>
            </a:r>
            <a:endParaRPr sz="1000">
              <a:latin typeface="Calibri"/>
              <a:ea typeface="Calibri"/>
              <a:cs typeface="Calibri"/>
              <a:sym typeface="Calibri"/>
            </a:endParaRPr>
          </a:p>
          <a:p>
            <a:pPr marL="0" lvl="0" indent="0" algn="l" rtl="0">
              <a:spcBef>
                <a:spcPts val="0"/>
              </a:spcBef>
              <a:spcAft>
                <a:spcPts val="0"/>
              </a:spcAft>
              <a:buNone/>
            </a:pPr>
            <a:endParaRPr sz="1300">
              <a:latin typeface="Calibri"/>
              <a:ea typeface="Calibri"/>
              <a:cs typeface="Calibri"/>
              <a:sym typeface="Calibri"/>
            </a:endParaRPr>
          </a:p>
          <a:p>
            <a:pPr marL="0" lvl="0" indent="0" algn="l" rtl="0">
              <a:spcBef>
                <a:spcPts val="0"/>
              </a:spcBef>
              <a:spcAft>
                <a:spcPts val="0"/>
              </a:spcAft>
              <a:buNone/>
            </a:pPr>
            <a:r>
              <a:rPr lang="en" sz="1300">
                <a:latin typeface="Calibri"/>
                <a:ea typeface="Calibri"/>
                <a:cs typeface="Calibri"/>
                <a:sym typeface="Calibri"/>
              </a:rPr>
              <a:t>Learn how to successfully build generative AI pilot applications. </a:t>
            </a:r>
            <a:endParaRPr sz="1300">
              <a:latin typeface="Calibri"/>
              <a:ea typeface="Calibri"/>
              <a:cs typeface="Calibri"/>
              <a:sym typeface="Calibri"/>
            </a:endParaRPr>
          </a:p>
          <a:p>
            <a:pPr marL="0" lvl="0" indent="0" algn="l" rtl="0">
              <a:spcBef>
                <a:spcPts val="0"/>
              </a:spcBef>
              <a:spcAft>
                <a:spcPts val="0"/>
              </a:spcAft>
              <a:buNone/>
            </a:pPr>
            <a:r>
              <a:rPr lang="en" sz="1300">
                <a:latin typeface="Calibri"/>
                <a:ea typeface="Calibri"/>
                <a:cs typeface="Calibri"/>
                <a:sym typeface="Calibri"/>
              </a:rPr>
              <a:t>Analysis and recommendations for product and IT leaders.</a:t>
            </a:r>
            <a:endParaRPr sz="1300">
              <a:latin typeface="Calibri"/>
              <a:ea typeface="Calibri"/>
              <a:cs typeface="Calibri"/>
              <a:sym typeface="Calibri"/>
            </a:endParaRPr>
          </a:p>
          <a:p>
            <a:pPr marL="0" lvl="0" indent="0" algn="l" rtl="0">
              <a:spcBef>
                <a:spcPts val="0"/>
              </a:spcBef>
              <a:spcAft>
                <a:spcPts val="0"/>
              </a:spcAft>
              <a:buNone/>
            </a:pPr>
            <a:endParaRPr sz="1300">
              <a:latin typeface="Calibri"/>
              <a:ea typeface="Calibri"/>
              <a:cs typeface="Calibri"/>
              <a:sym typeface="Calibri"/>
            </a:endParaRPr>
          </a:p>
          <a:p>
            <a:pPr marL="228600" lvl="0" indent="-196850" algn="l" rtl="0">
              <a:spcBef>
                <a:spcPts val="0"/>
              </a:spcBef>
              <a:spcAft>
                <a:spcPts val="0"/>
              </a:spcAft>
              <a:buSzPts val="1300"/>
              <a:buFont typeface="Calibri"/>
              <a:buChar char="●"/>
            </a:pPr>
            <a:r>
              <a:rPr lang="en" sz="1300">
                <a:latin typeface="Calibri"/>
                <a:ea typeface="Calibri"/>
                <a:cs typeface="Calibri"/>
                <a:sym typeface="Calibri"/>
              </a:rPr>
              <a:t>Find out how to shift the discussion towards the business potential of generative AI, rather than focusing solely on technical feasibility.</a:t>
            </a:r>
            <a:endParaRPr sz="1300">
              <a:latin typeface="Calibri"/>
              <a:ea typeface="Calibri"/>
              <a:cs typeface="Calibri"/>
              <a:sym typeface="Calibri"/>
            </a:endParaRPr>
          </a:p>
          <a:p>
            <a:pPr marL="228600" lvl="0" indent="-196850" algn="l" rtl="0">
              <a:spcBef>
                <a:spcPts val="0"/>
              </a:spcBef>
              <a:spcAft>
                <a:spcPts val="0"/>
              </a:spcAft>
              <a:buSzPts val="1300"/>
              <a:buFont typeface="Calibri"/>
              <a:buChar char="●"/>
            </a:pPr>
            <a:r>
              <a:rPr lang="en" sz="1300">
                <a:latin typeface="Calibri"/>
                <a:ea typeface="Calibri"/>
                <a:cs typeface="Calibri"/>
                <a:sym typeface="Calibri"/>
              </a:rPr>
              <a:t>Gain insights on identifying the most valuable and feasible use cases.</a:t>
            </a:r>
            <a:endParaRPr sz="1300">
              <a:latin typeface="Calibri"/>
              <a:ea typeface="Calibri"/>
              <a:cs typeface="Calibri"/>
              <a:sym typeface="Calibri"/>
            </a:endParaRPr>
          </a:p>
          <a:p>
            <a:pPr marL="228600" lvl="0" indent="-196850" algn="l" rtl="0">
              <a:spcBef>
                <a:spcPts val="0"/>
              </a:spcBef>
              <a:spcAft>
                <a:spcPts val="0"/>
              </a:spcAft>
              <a:buSzPts val="1300"/>
              <a:buFont typeface="Calibri"/>
              <a:buChar char="●"/>
            </a:pPr>
            <a:r>
              <a:rPr lang="en" sz="1300">
                <a:latin typeface="Calibri"/>
                <a:ea typeface="Calibri"/>
                <a:cs typeface="Calibri"/>
                <a:sym typeface="Calibri"/>
              </a:rPr>
              <a:t>Understand how to build an efficient AI team and collaborate effectively with business partners, AI, and software engineers.</a:t>
            </a:r>
            <a:endParaRPr sz="1300">
              <a:latin typeface="Calibri"/>
              <a:ea typeface="Calibri"/>
              <a:cs typeface="Calibri"/>
              <a:sym typeface="Calibri"/>
            </a:endParaRPr>
          </a:p>
          <a:p>
            <a:pPr marL="228600" lvl="0" indent="-196850" algn="l" rtl="0">
              <a:spcBef>
                <a:spcPts val="0"/>
              </a:spcBef>
              <a:spcAft>
                <a:spcPts val="0"/>
              </a:spcAft>
              <a:buSzPts val="1300"/>
              <a:buFont typeface="Calibri"/>
              <a:buChar char="●"/>
            </a:pPr>
            <a:r>
              <a:rPr lang="en" sz="1300">
                <a:latin typeface="Calibri"/>
                <a:ea typeface="Calibri"/>
                <a:cs typeface="Calibri"/>
                <a:sym typeface="Calibri"/>
              </a:rPr>
              <a:t>Lay the foundation for faster development cycles and prioritizing Gen AI initiatives.</a:t>
            </a:r>
            <a:endParaRPr sz="1300">
              <a:latin typeface="Calibri"/>
              <a:ea typeface="Calibri"/>
              <a:cs typeface="Calibri"/>
              <a:sym typeface="Calibri"/>
            </a:endParaRPr>
          </a:p>
          <a:p>
            <a:pPr marL="228600" lvl="0" indent="-196850" algn="l" rtl="0">
              <a:spcBef>
                <a:spcPts val="0"/>
              </a:spcBef>
              <a:spcAft>
                <a:spcPts val="0"/>
              </a:spcAft>
              <a:buSzPts val="1300"/>
              <a:buFont typeface="Calibri"/>
              <a:buChar char="●"/>
            </a:pPr>
            <a:r>
              <a:rPr lang="en" sz="1300">
                <a:latin typeface="Calibri"/>
                <a:ea typeface="Calibri"/>
                <a:cs typeface="Calibri"/>
                <a:sym typeface="Calibri"/>
              </a:rPr>
              <a:t>earn how to build a product, not just an IT demo, and how to mitigate the risks associated with generative AI.</a:t>
            </a:r>
            <a:endParaRPr sz="1300">
              <a:latin typeface="Calibri"/>
              <a:ea typeface="Calibri"/>
              <a:cs typeface="Calibri"/>
              <a:sym typeface="Calibri"/>
            </a:endParaRPr>
          </a:p>
        </p:txBody>
      </p:sp>
      <p:pic>
        <p:nvPicPr>
          <p:cNvPr id="201" name="Google Shape;201;p29"/>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7350850" y="136300"/>
            <a:ext cx="1701200" cy="524325"/>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05"/>
        <p:cNvGrpSpPr/>
        <p:nvPr/>
      </p:nvGrpSpPr>
      <p:grpSpPr>
        <a:xfrm>
          <a:off x="0" y="0"/>
          <a:ext cx="0" cy="0"/>
          <a:chOff x="0" y="0"/>
          <a:chExt cx="0" cy="0"/>
        </a:xfrm>
      </p:grpSpPr>
      <p:sp>
        <p:nvSpPr>
          <p:cNvPr id="206" name="Google Shape;206;p30"/>
          <p:cNvSpPr txBox="1"/>
          <p:nvPr/>
        </p:nvSpPr>
        <p:spPr>
          <a:xfrm>
            <a:off x="7287950" y="845650"/>
            <a:ext cx="1763700" cy="449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b="1">
                <a:solidFill>
                  <a:srgbClr val="FF0000"/>
                </a:solidFill>
                <a:latin typeface="Calibri"/>
                <a:ea typeface="Calibri"/>
                <a:cs typeface="Calibri"/>
                <a:sym typeface="Calibri"/>
              </a:rPr>
              <a:t>Feb 15, 2024</a:t>
            </a:r>
            <a:endParaRPr>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a:solidFill>
                  <a:schemeClr val="dk1"/>
                </a:solidFill>
                <a:latin typeface="Calibri"/>
                <a:ea typeface="Calibri"/>
                <a:cs typeface="Calibri"/>
                <a:sym typeface="Calibri"/>
              </a:rPr>
              <a:t>64 Models, 300 K votes</a:t>
            </a:r>
            <a:endParaRPr>
              <a:solidFill>
                <a:schemeClr val="dk1"/>
              </a:solidFill>
              <a:latin typeface="Calibri"/>
              <a:ea typeface="Calibri"/>
              <a:cs typeface="Calibri"/>
              <a:sym typeface="Calibri"/>
            </a:endParaRPr>
          </a:p>
        </p:txBody>
      </p:sp>
      <p:sp>
        <p:nvSpPr>
          <p:cNvPr id="207" name="Google Shape;207;p30"/>
          <p:cNvSpPr txBox="1"/>
          <p:nvPr/>
        </p:nvSpPr>
        <p:spPr>
          <a:xfrm>
            <a:off x="7254050" y="421150"/>
            <a:ext cx="18315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Starting Elo rating = 1000</a:t>
            </a: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95% CI = Confidence Interval</a:t>
            </a:r>
            <a:endParaRPr sz="1200">
              <a:solidFill>
                <a:schemeClr val="dk1"/>
              </a:solidFill>
              <a:latin typeface="Calibri"/>
              <a:ea typeface="Calibri"/>
              <a:cs typeface="Calibri"/>
              <a:sym typeface="Calibri"/>
            </a:endParaRPr>
          </a:p>
        </p:txBody>
      </p:sp>
      <p:sp>
        <p:nvSpPr>
          <p:cNvPr id="208" name="Google Shape;208;p30"/>
          <p:cNvSpPr txBox="1"/>
          <p:nvPr/>
        </p:nvSpPr>
        <p:spPr>
          <a:xfrm>
            <a:off x="-38048" y="-108050"/>
            <a:ext cx="4151700" cy="492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Crowd-sourced "Arena" Leaderboard</a:t>
            </a:r>
            <a:endParaRPr sz="2000" b="1">
              <a:latin typeface="Calibri"/>
              <a:ea typeface="Calibri"/>
              <a:cs typeface="Calibri"/>
              <a:sym typeface="Calibri"/>
            </a:endParaRPr>
          </a:p>
        </p:txBody>
      </p:sp>
      <p:sp>
        <p:nvSpPr>
          <p:cNvPr id="209" name="Google Shape;209;p30"/>
          <p:cNvSpPr txBox="1"/>
          <p:nvPr/>
        </p:nvSpPr>
        <p:spPr>
          <a:xfrm>
            <a:off x="5535876" y="45850"/>
            <a:ext cx="3549600" cy="338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n" sz="1000" u="sng">
                <a:solidFill>
                  <a:schemeClr val="accent5"/>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https://huggingface.co/spaces/lmsys/chatbot-arena-leaderboard</a:t>
            </a:r>
            <a:r>
              <a:rPr lang="en" sz="1000">
                <a:solidFill>
                  <a:schemeClr val="dk1"/>
                </a:solidFill>
                <a:latin typeface="Calibri"/>
                <a:ea typeface="Calibri"/>
                <a:cs typeface="Calibri"/>
                <a:sym typeface="Calibri"/>
              </a:rPr>
              <a:t> </a:t>
            </a:r>
            <a:endParaRPr sz="1300">
              <a:solidFill>
                <a:schemeClr val="dk1"/>
              </a:solidFill>
              <a:latin typeface="Calibri"/>
              <a:ea typeface="Calibri"/>
              <a:cs typeface="Calibri"/>
              <a:sym typeface="Calibri"/>
            </a:endParaRPr>
          </a:p>
        </p:txBody>
      </p:sp>
      <p:pic>
        <p:nvPicPr>
          <p:cNvPr id="210" name="Google Shape;210;p30"/>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101800" y="421150"/>
            <a:ext cx="7050350" cy="4611899"/>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14"/>
        <p:cNvGrpSpPr/>
        <p:nvPr/>
      </p:nvGrpSpPr>
      <p:grpSpPr>
        <a:xfrm>
          <a:off x="0" y="0"/>
          <a:ext cx="0" cy="0"/>
          <a:chOff x="0" y="0"/>
          <a:chExt cx="0" cy="0"/>
        </a:xfrm>
      </p:grpSpPr>
      <p:sp>
        <p:nvSpPr>
          <p:cNvPr id="215" name="Google Shape;215;p31"/>
          <p:cNvSpPr txBox="1"/>
          <p:nvPr/>
        </p:nvSpPr>
        <p:spPr>
          <a:xfrm>
            <a:off x="4278488" y="39363"/>
            <a:ext cx="3427800" cy="1034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HELM = Holistic Evaluation of Language Models</a:t>
            </a: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from Stanford CRFM (Center for Research on Foundation Models). Python package </a:t>
            </a:r>
            <a:r>
              <a:rPr lang="en" sz="1200" b="1">
                <a:solidFill>
                  <a:srgbClr val="FF0000"/>
                </a:solidFill>
                <a:latin typeface="Calibri"/>
                <a:ea typeface="Calibri"/>
                <a:cs typeface="Calibri"/>
                <a:sym typeface="Calibri"/>
              </a:rPr>
              <a:t>crfm-helm.</a:t>
            </a: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000" u="sng">
                <a:solidFill>
                  <a:schemeClr val="hlink"/>
                </a:solidFill>
                <a:latin typeface="Calibri"/>
                <a:ea typeface="Calibri"/>
                <a:cs typeface="Calibri"/>
                <a:sym typeface="Calibri"/>
                <a:hlinkClick r:id="rId3"/>
              </a:rPr>
              <a:t>https://crfm.stanford.edu/helm/lite/latest/#/leaderboard</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000" u="sng">
                <a:solidFill>
                  <a:schemeClr val="hlink"/>
                </a:solidFill>
                <a:latin typeface="Calibri"/>
                <a:ea typeface="Calibri"/>
                <a:cs typeface="Calibri"/>
                <a:sym typeface="Calibri"/>
                <a:hlinkClick r:id="rId4"/>
              </a:rPr>
              <a:t>https://crfm.stanford.edu/helm/lite/latest/</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000" u="sng">
                <a:solidFill>
                  <a:schemeClr val="hlink"/>
                </a:solidFill>
                <a:latin typeface="Calibri"/>
                <a:ea typeface="Calibri"/>
                <a:cs typeface="Calibri"/>
                <a:sym typeface="Calibri"/>
                <a:hlinkClick r:id="rId5"/>
              </a:rPr>
              <a:t>https://arxiv.org/abs/2211.09110</a:t>
            </a:r>
            <a:r>
              <a:rPr lang="en" sz="1000">
                <a:solidFill>
                  <a:schemeClr val="dk1"/>
                </a:solidFill>
                <a:latin typeface="Calibri"/>
                <a:ea typeface="Calibri"/>
                <a:cs typeface="Calibri"/>
                <a:sym typeface="Calibri"/>
              </a:rPr>
              <a:t> - paper</a:t>
            </a:r>
            <a:endParaRPr sz="1000">
              <a:solidFill>
                <a:schemeClr val="dk1"/>
              </a:solidFill>
              <a:latin typeface="Calibri"/>
              <a:ea typeface="Calibri"/>
              <a:cs typeface="Calibri"/>
              <a:sym typeface="Calibri"/>
            </a:endParaRPr>
          </a:p>
        </p:txBody>
      </p:sp>
      <p:sp>
        <p:nvSpPr>
          <p:cNvPr id="216" name="Google Shape;216;p31"/>
          <p:cNvSpPr txBox="1"/>
          <p:nvPr/>
        </p:nvSpPr>
        <p:spPr>
          <a:xfrm>
            <a:off x="-38048" y="-108050"/>
            <a:ext cx="4151700" cy="492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HELM Leaderboard</a:t>
            </a:r>
            <a:endParaRPr sz="2000" b="1">
              <a:latin typeface="Calibri"/>
              <a:ea typeface="Calibri"/>
              <a:cs typeface="Calibri"/>
              <a:sym typeface="Calibri"/>
            </a:endParaRPr>
          </a:p>
        </p:txBody>
      </p:sp>
      <p:pic>
        <p:nvPicPr>
          <p:cNvPr id="217" name="Google Shape;217;p31"/>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7871124" y="0"/>
            <a:ext cx="1239101" cy="774426"/>
          </a:xfrm>
          <a:prstGeom prst="rect">
            <a:avLst/>
          </a:prstGeom>
          <a:noFill/>
          <a:ln>
            <a:noFill/>
          </a:ln>
        </p:spPr>
      </p:pic>
      <p:pic>
        <p:nvPicPr>
          <p:cNvPr id="218" name="Google Shape;218;p31"/>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2808350" y="39375"/>
            <a:ext cx="1353800" cy="452275"/>
          </a:xfrm>
          <a:prstGeom prst="rect">
            <a:avLst/>
          </a:prstGeom>
          <a:noFill/>
          <a:ln>
            <a:noFill/>
          </a:ln>
        </p:spPr>
      </p:pic>
      <p:pic>
        <p:nvPicPr>
          <p:cNvPr id="219" name="Google Shape;219;p31"/>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2522150" y="2105353"/>
            <a:ext cx="3955087" cy="2856223"/>
          </a:xfrm>
          <a:prstGeom prst="rect">
            <a:avLst/>
          </a:prstGeom>
          <a:noFill/>
          <a:ln w="9525" cap="flat" cmpd="sng">
            <a:solidFill>
              <a:srgbClr val="FF0000"/>
            </a:solidFill>
            <a:prstDash val="solid"/>
            <a:round/>
            <a:headEnd type="none" w="sm" len="sm"/>
            <a:tailEnd type="none" w="sm" len="sm"/>
          </a:ln>
        </p:spPr>
      </p:pic>
      <p:pic>
        <p:nvPicPr>
          <p:cNvPr id="220" name="Google Shape;220;p31"/>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6822225" y="1558253"/>
            <a:ext cx="2232300" cy="1754300"/>
          </a:xfrm>
          <a:prstGeom prst="rect">
            <a:avLst/>
          </a:prstGeom>
          <a:noFill/>
          <a:ln w="9525" cap="flat" cmpd="sng">
            <a:solidFill>
              <a:srgbClr val="FF0000"/>
            </a:solidFill>
            <a:prstDash val="solid"/>
            <a:round/>
            <a:headEnd type="none" w="sm" len="sm"/>
            <a:tailEnd type="none" w="sm" len="sm"/>
          </a:ln>
        </p:spPr>
      </p:pic>
      <p:pic>
        <p:nvPicPr>
          <p:cNvPr id="221" name="Google Shape;221;p31"/>
          <p:cNvPicPr preferRelativeResize="0"/>
          <p:nvPr/>
        </p:nvPicPr>
        <p:blipFill>
          <a:blip r:embed="rId10" cstate="email">
            <a:alphaModFix/>
            <a:extLst>
              <a:ext uri="{28A0092B-C50C-407E-A947-70E740481C1C}">
                <a14:useLocalDpi xmlns:a14="http://schemas.microsoft.com/office/drawing/2010/main"/>
              </a:ext>
            </a:extLst>
          </a:blip>
          <a:stretch>
            <a:fillRect/>
          </a:stretch>
        </p:blipFill>
        <p:spPr>
          <a:xfrm>
            <a:off x="6575125" y="3446875"/>
            <a:ext cx="2479399" cy="695700"/>
          </a:xfrm>
          <a:prstGeom prst="rect">
            <a:avLst/>
          </a:prstGeom>
          <a:noFill/>
          <a:ln w="9525" cap="flat" cmpd="sng">
            <a:solidFill>
              <a:srgbClr val="FF0000"/>
            </a:solidFill>
            <a:prstDash val="solid"/>
            <a:round/>
            <a:headEnd type="none" w="sm" len="sm"/>
            <a:tailEnd type="none" w="sm" len="sm"/>
          </a:ln>
        </p:spPr>
      </p:pic>
      <p:graphicFrame>
        <p:nvGraphicFramePr>
          <p:cNvPr id="222" name="Google Shape;222;p31"/>
          <p:cNvGraphicFramePr/>
          <p:nvPr/>
        </p:nvGraphicFramePr>
        <p:xfrm>
          <a:off x="152400" y="457200"/>
          <a:ext cx="3000000" cy="3000000"/>
        </p:xfrm>
        <a:graphic>
          <a:graphicData uri="http://schemas.openxmlformats.org/drawingml/2006/table">
            <a:tbl>
              <a:tblPr>
                <a:noFill/>
                <a:tableStyleId>{3E865C45-AA70-49CF-9D23-C2631EF97349}</a:tableStyleId>
              </a:tblPr>
              <a:tblGrid>
                <a:gridCol w="1828800">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tblGrid>
              <a:tr h="123950">
                <a:tc>
                  <a:txBody>
                    <a:bodyPr/>
                    <a:lstStyle/>
                    <a:p>
                      <a:pPr marL="0" lvl="0" indent="0" algn="l" rtl="0">
                        <a:lnSpc>
                          <a:spcPct val="115000"/>
                        </a:lnSpc>
                        <a:spcBef>
                          <a:spcPts val="0"/>
                        </a:spcBef>
                        <a:spcAft>
                          <a:spcPts val="0"/>
                        </a:spcAft>
                        <a:buNone/>
                      </a:pPr>
                      <a:r>
                        <a:rPr lang="en" sz="900" b="1">
                          <a:solidFill>
                            <a:srgbClr val="FF0000"/>
                          </a:solidFill>
                          <a:latin typeface="Calibri"/>
                          <a:ea typeface="Calibri"/>
                          <a:cs typeface="Calibri"/>
                          <a:sym typeface="Calibri"/>
                        </a:rPr>
                        <a:t>GPT-4 (0613)</a:t>
                      </a:r>
                      <a:endParaRPr sz="900" b="1">
                        <a:solidFill>
                          <a:srgbClr val="FF0000"/>
                        </a:solidFill>
                        <a:latin typeface="Calibri"/>
                        <a:ea typeface="Calibri"/>
                        <a:cs typeface="Calibri"/>
                        <a:sym typeface="Calibri"/>
                      </a:endParaRPr>
                    </a:p>
                  </a:txBody>
                  <a:tcPr marL="28575" marR="28575" marT="9125" marB="9125"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r" rtl="0">
                        <a:lnSpc>
                          <a:spcPct val="115000"/>
                        </a:lnSpc>
                        <a:spcBef>
                          <a:spcPts val="0"/>
                        </a:spcBef>
                        <a:spcAft>
                          <a:spcPts val="0"/>
                        </a:spcAft>
                        <a:buNone/>
                      </a:pPr>
                      <a:r>
                        <a:rPr lang="en" sz="900">
                          <a:latin typeface="Calibri"/>
                          <a:ea typeface="Calibri"/>
                          <a:cs typeface="Calibri"/>
                          <a:sym typeface="Calibri"/>
                        </a:rPr>
                        <a:t>0.962</a:t>
                      </a:r>
                      <a:endParaRPr sz="900">
                        <a:latin typeface="Calibri"/>
                        <a:ea typeface="Calibri"/>
                        <a:cs typeface="Calibri"/>
                        <a:sym typeface="Calibri"/>
                      </a:endParaRPr>
                    </a:p>
                  </a:txBody>
                  <a:tcPr marL="28575" marR="28575" marT="9125" marB="9125"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00"/>
                  </a:ext>
                </a:extLst>
              </a:tr>
              <a:tr h="134825">
                <a:tc>
                  <a:txBody>
                    <a:bodyPr/>
                    <a:lstStyle/>
                    <a:p>
                      <a:pPr marL="0" lvl="0" indent="0" algn="l" rtl="0">
                        <a:lnSpc>
                          <a:spcPct val="115000"/>
                        </a:lnSpc>
                        <a:spcBef>
                          <a:spcPts val="0"/>
                        </a:spcBef>
                        <a:spcAft>
                          <a:spcPts val="0"/>
                        </a:spcAft>
                        <a:buNone/>
                      </a:pPr>
                      <a:r>
                        <a:rPr lang="en" sz="900">
                          <a:latin typeface="Calibri"/>
                          <a:ea typeface="Calibri"/>
                          <a:cs typeface="Calibri"/>
                          <a:sym typeface="Calibri"/>
                        </a:rPr>
                        <a:t>GPT-4 Turbo (1106 preview)</a:t>
                      </a:r>
                      <a:endParaRPr sz="900">
                        <a:latin typeface="Calibri"/>
                        <a:ea typeface="Calibri"/>
                        <a:cs typeface="Calibri"/>
                        <a:sym typeface="Calibri"/>
                      </a:endParaRPr>
                    </a:p>
                  </a:txBody>
                  <a:tcPr marL="28575" marR="28575" marT="9125" marB="9125"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r" rtl="0">
                        <a:lnSpc>
                          <a:spcPct val="115000"/>
                        </a:lnSpc>
                        <a:spcBef>
                          <a:spcPts val="0"/>
                        </a:spcBef>
                        <a:spcAft>
                          <a:spcPts val="0"/>
                        </a:spcAft>
                        <a:buNone/>
                      </a:pPr>
                      <a:r>
                        <a:rPr lang="en" sz="900">
                          <a:latin typeface="Calibri"/>
                          <a:ea typeface="Calibri"/>
                          <a:cs typeface="Calibri"/>
                          <a:sym typeface="Calibri"/>
                        </a:rPr>
                        <a:t>0.834</a:t>
                      </a:r>
                      <a:endParaRPr sz="900">
                        <a:latin typeface="Calibri"/>
                        <a:ea typeface="Calibri"/>
                        <a:cs typeface="Calibri"/>
                        <a:sym typeface="Calibri"/>
                      </a:endParaRPr>
                    </a:p>
                  </a:txBody>
                  <a:tcPr marL="28575" marR="28575" marT="9125" marB="9125"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01"/>
                  </a:ext>
                </a:extLst>
              </a:tr>
              <a:tr h="123950">
                <a:tc>
                  <a:txBody>
                    <a:bodyPr/>
                    <a:lstStyle/>
                    <a:p>
                      <a:pPr marL="0" lvl="0" indent="0" algn="l" rtl="0">
                        <a:lnSpc>
                          <a:spcPct val="115000"/>
                        </a:lnSpc>
                        <a:spcBef>
                          <a:spcPts val="0"/>
                        </a:spcBef>
                        <a:spcAft>
                          <a:spcPts val="0"/>
                        </a:spcAft>
                        <a:buNone/>
                      </a:pPr>
                      <a:r>
                        <a:rPr lang="en" sz="900">
                          <a:latin typeface="Calibri"/>
                          <a:ea typeface="Calibri"/>
                          <a:cs typeface="Calibri"/>
                          <a:sym typeface="Calibri"/>
                        </a:rPr>
                        <a:t>Palmyra X V3 (72B)</a:t>
                      </a:r>
                      <a:endParaRPr sz="900">
                        <a:latin typeface="Calibri"/>
                        <a:ea typeface="Calibri"/>
                        <a:cs typeface="Calibri"/>
                        <a:sym typeface="Calibri"/>
                      </a:endParaRPr>
                    </a:p>
                  </a:txBody>
                  <a:tcPr marL="28575" marR="28575" marT="9125" marB="9125"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r" rtl="0">
                        <a:lnSpc>
                          <a:spcPct val="115000"/>
                        </a:lnSpc>
                        <a:spcBef>
                          <a:spcPts val="0"/>
                        </a:spcBef>
                        <a:spcAft>
                          <a:spcPts val="0"/>
                        </a:spcAft>
                        <a:buNone/>
                      </a:pPr>
                      <a:r>
                        <a:rPr lang="en" sz="900">
                          <a:latin typeface="Calibri"/>
                          <a:ea typeface="Calibri"/>
                          <a:cs typeface="Calibri"/>
                          <a:sym typeface="Calibri"/>
                        </a:rPr>
                        <a:t>0.821</a:t>
                      </a:r>
                      <a:endParaRPr sz="900">
                        <a:latin typeface="Calibri"/>
                        <a:ea typeface="Calibri"/>
                        <a:cs typeface="Calibri"/>
                        <a:sym typeface="Calibri"/>
                      </a:endParaRPr>
                    </a:p>
                  </a:txBody>
                  <a:tcPr marL="28575" marR="28575" marT="9125" marB="9125"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02"/>
                  </a:ext>
                </a:extLst>
              </a:tr>
              <a:tr h="123950">
                <a:tc>
                  <a:txBody>
                    <a:bodyPr/>
                    <a:lstStyle/>
                    <a:p>
                      <a:pPr marL="0" lvl="0" indent="0" algn="l" rtl="0">
                        <a:lnSpc>
                          <a:spcPct val="115000"/>
                        </a:lnSpc>
                        <a:spcBef>
                          <a:spcPts val="0"/>
                        </a:spcBef>
                        <a:spcAft>
                          <a:spcPts val="0"/>
                        </a:spcAft>
                        <a:buNone/>
                      </a:pPr>
                      <a:r>
                        <a:rPr lang="en" sz="900">
                          <a:latin typeface="Calibri"/>
                          <a:ea typeface="Calibri"/>
                          <a:cs typeface="Calibri"/>
                          <a:sym typeface="Calibri"/>
                        </a:rPr>
                        <a:t>Palmyra X V2 (33B)</a:t>
                      </a:r>
                      <a:endParaRPr sz="900">
                        <a:latin typeface="Calibri"/>
                        <a:ea typeface="Calibri"/>
                        <a:cs typeface="Calibri"/>
                        <a:sym typeface="Calibri"/>
                      </a:endParaRPr>
                    </a:p>
                  </a:txBody>
                  <a:tcPr marL="28575" marR="28575" marT="9125" marB="9125"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r" rtl="0">
                        <a:lnSpc>
                          <a:spcPct val="115000"/>
                        </a:lnSpc>
                        <a:spcBef>
                          <a:spcPts val="0"/>
                        </a:spcBef>
                        <a:spcAft>
                          <a:spcPts val="0"/>
                        </a:spcAft>
                        <a:buNone/>
                      </a:pPr>
                      <a:r>
                        <a:rPr lang="en" sz="900">
                          <a:latin typeface="Calibri"/>
                          <a:ea typeface="Calibri"/>
                          <a:cs typeface="Calibri"/>
                          <a:sym typeface="Calibri"/>
                        </a:rPr>
                        <a:t>0.783</a:t>
                      </a:r>
                      <a:endParaRPr sz="900">
                        <a:latin typeface="Calibri"/>
                        <a:ea typeface="Calibri"/>
                        <a:cs typeface="Calibri"/>
                        <a:sym typeface="Calibri"/>
                      </a:endParaRPr>
                    </a:p>
                  </a:txBody>
                  <a:tcPr marL="28575" marR="28575" marT="9125" marB="9125"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03"/>
                  </a:ext>
                </a:extLst>
              </a:tr>
              <a:tr h="123950">
                <a:tc>
                  <a:txBody>
                    <a:bodyPr/>
                    <a:lstStyle/>
                    <a:p>
                      <a:pPr marL="0" lvl="0" indent="0" algn="l" rtl="0">
                        <a:lnSpc>
                          <a:spcPct val="115000"/>
                        </a:lnSpc>
                        <a:spcBef>
                          <a:spcPts val="0"/>
                        </a:spcBef>
                        <a:spcAft>
                          <a:spcPts val="0"/>
                        </a:spcAft>
                        <a:buNone/>
                      </a:pPr>
                      <a:r>
                        <a:rPr lang="en" sz="900">
                          <a:latin typeface="Calibri"/>
                          <a:ea typeface="Calibri"/>
                          <a:cs typeface="Calibri"/>
                          <a:sym typeface="Calibri"/>
                        </a:rPr>
                        <a:t>PaLM-2 (Unicorn)</a:t>
                      </a:r>
                      <a:endParaRPr sz="900">
                        <a:latin typeface="Calibri"/>
                        <a:ea typeface="Calibri"/>
                        <a:cs typeface="Calibri"/>
                        <a:sym typeface="Calibri"/>
                      </a:endParaRPr>
                    </a:p>
                  </a:txBody>
                  <a:tcPr marL="28575" marR="28575" marT="9125" marB="9125"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r" rtl="0">
                        <a:lnSpc>
                          <a:spcPct val="115000"/>
                        </a:lnSpc>
                        <a:spcBef>
                          <a:spcPts val="0"/>
                        </a:spcBef>
                        <a:spcAft>
                          <a:spcPts val="0"/>
                        </a:spcAft>
                        <a:buNone/>
                      </a:pPr>
                      <a:r>
                        <a:rPr lang="en" sz="900">
                          <a:latin typeface="Calibri"/>
                          <a:ea typeface="Calibri"/>
                          <a:cs typeface="Calibri"/>
                          <a:sym typeface="Calibri"/>
                        </a:rPr>
                        <a:t>0.776</a:t>
                      </a:r>
                      <a:endParaRPr sz="900">
                        <a:latin typeface="Calibri"/>
                        <a:ea typeface="Calibri"/>
                        <a:cs typeface="Calibri"/>
                        <a:sym typeface="Calibri"/>
                      </a:endParaRPr>
                    </a:p>
                  </a:txBody>
                  <a:tcPr marL="28575" marR="28575" marT="9125" marB="9125"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04"/>
                  </a:ext>
                </a:extLst>
              </a:tr>
              <a:tr h="123950">
                <a:tc>
                  <a:txBody>
                    <a:bodyPr/>
                    <a:lstStyle/>
                    <a:p>
                      <a:pPr marL="0" lvl="0" indent="0" algn="l" rtl="0">
                        <a:lnSpc>
                          <a:spcPct val="115000"/>
                        </a:lnSpc>
                        <a:spcBef>
                          <a:spcPts val="0"/>
                        </a:spcBef>
                        <a:spcAft>
                          <a:spcPts val="0"/>
                        </a:spcAft>
                        <a:buNone/>
                      </a:pPr>
                      <a:r>
                        <a:rPr lang="en" sz="900">
                          <a:latin typeface="Calibri"/>
                          <a:ea typeface="Calibri"/>
                          <a:cs typeface="Calibri"/>
                          <a:sym typeface="Calibri"/>
                        </a:rPr>
                        <a:t>Yi (34B)</a:t>
                      </a:r>
                      <a:endParaRPr sz="900">
                        <a:latin typeface="Calibri"/>
                        <a:ea typeface="Calibri"/>
                        <a:cs typeface="Calibri"/>
                        <a:sym typeface="Calibri"/>
                      </a:endParaRPr>
                    </a:p>
                  </a:txBody>
                  <a:tcPr marL="28575" marR="28575" marT="9125" marB="9125"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r" rtl="0">
                        <a:lnSpc>
                          <a:spcPct val="115000"/>
                        </a:lnSpc>
                        <a:spcBef>
                          <a:spcPts val="0"/>
                        </a:spcBef>
                        <a:spcAft>
                          <a:spcPts val="0"/>
                        </a:spcAft>
                        <a:buNone/>
                      </a:pPr>
                      <a:r>
                        <a:rPr lang="en" sz="900">
                          <a:latin typeface="Calibri"/>
                          <a:ea typeface="Calibri"/>
                          <a:cs typeface="Calibri"/>
                          <a:sym typeface="Calibri"/>
                        </a:rPr>
                        <a:t>0.772</a:t>
                      </a:r>
                      <a:endParaRPr sz="900">
                        <a:latin typeface="Calibri"/>
                        <a:ea typeface="Calibri"/>
                        <a:cs typeface="Calibri"/>
                        <a:sym typeface="Calibri"/>
                      </a:endParaRPr>
                    </a:p>
                  </a:txBody>
                  <a:tcPr marL="28575" marR="28575" marT="9125" marB="9125"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05"/>
                  </a:ext>
                </a:extLst>
              </a:tr>
              <a:tr h="123950">
                <a:tc>
                  <a:txBody>
                    <a:bodyPr/>
                    <a:lstStyle/>
                    <a:p>
                      <a:pPr marL="0" lvl="0" indent="0" algn="l" rtl="0">
                        <a:lnSpc>
                          <a:spcPct val="115000"/>
                        </a:lnSpc>
                        <a:spcBef>
                          <a:spcPts val="0"/>
                        </a:spcBef>
                        <a:spcAft>
                          <a:spcPts val="0"/>
                        </a:spcAft>
                        <a:buNone/>
                      </a:pPr>
                      <a:r>
                        <a:rPr lang="en" sz="900" b="1">
                          <a:solidFill>
                            <a:srgbClr val="FF0000"/>
                          </a:solidFill>
                          <a:latin typeface="Calibri"/>
                          <a:ea typeface="Calibri"/>
                          <a:cs typeface="Calibri"/>
                          <a:sym typeface="Calibri"/>
                        </a:rPr>
                        <a:t>Mixtral (8x7B 32K seqlen)</a:t>
                      </a:r>
                      <a:endParaRPr sz="900" b="1">
                        <a:solidFill>
                          <a:srgbClr val="FF0000"/>
                        </a:solidFill>
                        <a:latin typeface="Calibri"/>
                        <a:ea typeface="Calibri"/>
                        <a:cs typeface="Calibri"/>
                        <a:sym typeface="Calibri"/>
                      </a:endParaRPr>
                    </a:p>
                  </a:txBody>
                  <a:tcPr marL="28575" marR="28575" marT="9125" marB="9125"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r" rtl="0">
                        <a:lnSpc>
                          <a:spcPct val="115000"/>
                        </a:lnSpc>
                        <a:spcBef>
                          <a:spcPts val="0"/>
                        </a:spcBef>
                        <a:spcAft>
                          <a:spcPts val="0"/>
                        </a:spcAft>
                        <a:buNone/>
                      </a:pPr>
                      <a:r>
                        <a:rPr lang="en" sz="900">
                          <a:latin typeface="Calibri"/>
                          <a:ea typeface="Calibri"/>
                          <a:cs typeface="Calibri"/>
                          <a:sym typeface="Calibri"/>
                        </a:rPr>
                        <a:t>0.728</a:t>
                      </a:r>
                      <a:endParaRPr sz="900">
                        <a:latin typeface="Calibri"/>
                        <a:ea typeface="Calibri"/>
                        <a:cs typeface="Calibri"/>
                        <a:sym typeface="Calibri"/>
                      </a:endParaRPr>
                    </a:p>
                  </a:txBody>
                  <a:tcPr marL="28575" marR="28575" marT="9125" marB="9125"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06"/>
                  </a:ext>
                </a:extLst>
              </a:tr>
              <a:tr h="123950">
                <a:tc>
                  <a:txBody>
                    <a:bodyPr/>
                    <a:lstStyle/>
                    <a:p>
                      <a:pPr marL="0" lvl="0" indent="0" algn="l" rtl="0">
                        <a:lnSpc>
                          <a:spcPct val="115000"/>
                        </a:lnSpc>
                        <a:spcBef>
                          <a:spcPts val="0"/>
                        </a:spcBef>
                        <a:spcAft>
                          <a:spcPts val="0"/>
                        </a:spcAft>
                        <a:buNone/>
                      </a:pPr>
                      <a:r>
                        <a:rPr lang="en" sz="900">
                          <a:latin typeface="Calibri"/>
                          <a:ea typeface="Calibri"/>
                          <a:cs typeface="Calibri"/>
                          <a:sym typeface="Calibri"/>
                        </a:rPr>
                        <a:t>Anthropic Claude v1.3</a:t>
                      </a:r>
                      <a:endParaRPr sz="900">
                        <a:latin typeface="Calibri"/>
                        <a:ea typeface="Calibri"/>
                        <a:cs typeface="Calibri"/>
                        <a:sym typeface="Calibri"/>
                      </a:endParaRPr>
                    </a:p>
                  </a:txBody>
                  <a:tcPr marL="28575" marR="28575" marT="9125" marB="9125"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r" rtl="0">
                        <a:lnSpc>
                          <a:spcPct val="115000"/>
                        </a:lnSpc>
                        <a:spcBef>
                          <a:spcPts val="0"/>
                        </a:spcBef>
                        <a:spcAft>
                          <a:spcPts val="0"/>
                        </a:spcAft>
                        <a:buNone/>
                      </a:pPr>
                      <a:r>
                        <a:rPr lang="en" sz="900">
                          <a:latin typeface="Calibri"/>
                          <a:ea typeface="Calibri"/>
                          <a:cs typeface="Calibri"/>
                          <a:sym typeface="Calibri"/>
                        </a:rPr>
                        <a:t>0.724</a:t>
                      </a:r>
                      <a:endParaRPr sz="900">
                        <a:latin typeface="Calibri"/>
                        <a:ea typeface="Calibri"/>
                        <a:cs typeface="Calibri"/>
                        <a:sym typeface="Calibri"/>
                      </a:endParaRPr>
                    </a:p>
                  </a:txBody>
                  <a:tcPr marL="28575" marR="28575" marT="9125" marB="9125"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07"/>
                  </a:ext>
                </a:extLst>
              </a:tr>
              <a:tr h="123950">
                <a:tc>
                  <a:txBody>
                    <a:bodyPr/>
                    <a:lstStyle/>
                    <a:p>
                      <a:pPr marL="0" lvl="0" indent="0" algn="l" rtl="0">
                        <a:lnSpc>
                          <a:spcPct val="115000"/>
                        </a:lnSpc>
                        <a:spcBef>
                          <a:spcPts val="0"/>
                        </a:spcBef>
                        <a:spcAft>
                          <a:spcPts val="0"/>
                        </a:spcAft>
                        <a:buNone/>
                      </a:pPr>
                      <a:r>
                        <a:rPr lang="en" sz="900">
                          <a:latin typeface="Calibri"/>
                          <a:ea typeface="Calibri"/>
                          <a:cs typeface="Calibri"/>
                          <a:sym typeface="Calibri"/>
                        </a:rPr>
                        <a:t>PaLM-2 (Bison)</a:t>
                      </a:r>
                      <a:endParaRPr sz="900">
                        <a:latin typeface="Calibri"/>
                        <a:ea typeface="Calibri"/>
                        <a:cs typeface="Calibri"/>
                        <a:sym typeface="Calibri"/>
                      </a:endParaRPr>
                    </a:p>
                  </a:txBody>
                  <a:tcPr marL="28575" marR="28575" marT="9125" marB="9125"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r" rtl="0">
                        <a:lnSpc>
                          <a:spcPct val="115000"/>
                        </a:lnSpc>
                        <a:spcBef>
                          <a:spcPts val="0"/>
                        </a:spcBef>
                        <a:spcAft>
                          <a:spcPts val="0"/>
                        </a:spcAft>
                        <a:buNone/>
                      </a:pPr>
                      <a:r>
                        <a:rPr lang="en" sz="900">
                          <a:latin typeface="Calibri"/>
                          <a:ea typeface="Calibri"/>
                          <a:cs typeface="Calibri"/>
                          <a:sym typeface="Calibri"/>
                        </a:rPr>
                        <a:t>0.686</a:t>
                      </a:r>
                      <a:endParaRPr sz="900">
                        <a:latin typeface="Calibri"/>
                        <a:ea typeface="Calibri"/>
                        <a:cs typeface="Calibri"/>
                        <a:sym typeface="Calibri"/>
                      </a:endParaRPr>
                    </a:p>
                  </a:txBody>
                  <a:tcPr marL="28575" marR="28575" marT="9125" marB="9125"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08"/>
                  </a:ext>
                </a:extLst>
              </a:tr>
              <a:tr h="123950">
                <a:tc>
                  <a:txBody>
                    <a:bodyPr/>
                    <a:lstStyle/>
                    <a:p>
                      <a:pPr marL="0" lvl="0" indent="0" algn="l" rtl="0">
                        <a:lnSpc>
                          <a:spcPct val="115000"/>
                        </a:lnSpc>
                        <a:spcBef>
                          <a:spcPts val="0"/>
                        </a:spcBef>
                        <a:spcAft>
                          <a:spcPts val="0"/>
                        </a:spcAft>
                        <a:buNone/>
                      </a:pPr>
                      <a:r>
                        <a:rPr lang="en" sz="900">
                          <a:latin typeface="Calibri"/>
                          <a:ea typeface="Calibri"/>
                          <a:cs typeface="Calibri"/>
                          <a:sym typeface="Calibri"/>
                        </a:rPr>
                        <a:t>Anthropic Claude 2.0</a:t>
                      </a:r>
                      <a:endParaRPr sz="900">
                        <a:latin typeface="Calibri"/>
                        <a:ea typeface="Calibri"/>
                        <a:cs typeface="Calibri"/>
                        <a:sym typeface="Calibri"/>
                      </a:endParaRPr>
                    </a:p>
                  </a:txBody>
                  <a:tcPr marL="28575" marR="28575" marT="9125" marB="9125"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r" rtl="0">
                        <a:lnSpc>
                          <a:spcPct val="115000"/>
                        </a:lnSpc>
                        <a:spcBef>
                          <a:spcPts val="0"/>
                        </a:spcBef>
                        <a:spcAft>
                          <a:spcPts val="0"/>
                        </a:spcAft>
                        <a:buNone/>
                      </a:pPr>
                      <a:r>
                        <a:rPr lang="en" sz="900">
                          <a:latin typeface="Calibri"/>
                          <a:ea typeface="Calibri"/>
                          <a:cs typeface="Calibri"/>
                          <a:sym typeface="Calibri"/>
                        </a:rPr>
                        <a:t>0.679</a:t>
                      </a:r>
                      <a:endParaRPr sz="900">
                        <a:latin typeface="Calibri"/>
                        <a:ea typeface="Calibri"/>
                        <a:cs typeface="Calibri"/>
                        <a:sym typeface="Calibri"/>
                      </a:endParaRPr>
                    </a:p>
                  </a:txBody>
                  <a:tcPr marL="28575" marR="28575" marT="9125" marB="9125"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09"/>
                  </a:ext>
                </a:extLst>
              </a:tr>
              <a:tr h="123950">
                <a:tc>
                  <a:txBody>
                    <a:bodyPr/>
                    <a:lstStyle/>
                    <a:p>
                      <a:pPr marL="0" lvl="0" indent="0" algn="l" rtl="0">
                        <a:lnSpc>
                          <a:spcPct val="115000"/>
                        </a:lnSpc>
                        <a:spcBef>
                          <a:spcPts val="0"/>
                        </a:spcBef>
                        <a:spcAft>
                          <a:spcPts val="0"/>
                        </a:spcAft>
                        <a:buNone/>
                      </a:pPr>
                      <a:r>
                        <a:rPr lang="en" sz="900" b="1">
                          <a:solidFill>
                            <a:srgbClr val="FF0000"/>
                          </a:solidFill>
                          <a:latin typeface="Calibri"/>
                          <a:ea typeface="Calibri"/>
                          <a:cs typeface="Calibri"/>
                          <a:sym typeface="Calibri"/>
                        </a:rPr>
                        <a:t>Llama 2 (70B)</a:t>
                      </a:r>
                      <a:endParaRPr sz="900" b="1">
                        <a:solidFill>
                          <a:srgbClr val="FF0000"/>
                        </a:solidFill>
                        <a:latin typeface="Calibri"/>
                        <a:ea typeface="Calibri"/>
                        <a:cs typeface="Calibri"/>
                        <a:sym typeface="Calibri"/>
                      </a:endParaRPr>
                    </a:p>
                  </a:txBody>
                  <a:tcPr marL="28575" marR="28575" marT="9125" marB="9125"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r" rtl="0">
                        <a:lnSpc>
                          <a:spcPct val="115000"/>
                        </a:lnSpc>
                        <a:spcBef>
                          <a:spcPts val="0"/>
                        </a:spcBef>
                        <a:spcAft>
                          <a:spcPts val="0"/>
                        </a:spcAft>
                        <a:buNone/>
                      </a:pPr>
                      <a:r>
                        <a:rPr lang="en" sz="900">
                          <a:latin typeface="Calibri"/>
                          <a:ea typeface="Calibri"/>
                          <a:cs typeface="Calibri"/>
                          <a:sym typeface="Calibri"/>
                        </a:rPr>
                        <a:t>0.659</a:t>
                      </a:r>
                      <a:endParaRPr sz="900">
                        <a:latin typeface="Calibri"/>
                        <a:ea typeface="Calibri"/>
                        <a:cs typeface="Calibri"/>
                        <a:sym typeface="Calibri"/>
                      </a:endParaRPr>
                    </a:p>
                  </a:txBody>
                  <a:tcPr marL="28575" marR="28575" marT="9125" marB="9125"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10"/>
                  </a:ext>
                </a:extLst>
              </a:tr>
              <a:tr h="123950">
                <a:tc>
                  <a:txBody>
                    <a:bodyPr/>
                    <a:lstStyle/>
                    <a:p>
                      <a:pPr marL="0" lvl="0" indent="0" algn="l" rtl="0">
                        <a:lnSpc>
                          <a:spcPct val="115000"/>
                        </a:lnSpc>
                        <a:spcBef>
                          <a:spcPts val="0"/>
                        </a:spcBef>
                        <a:spcAft>
                          <a:spcPts val="0"/>
                        </a:spcAft>
                        <a:buNone/>
                      </a:pPr>
                      <a:r>
                        <a:rPr lang="en" sz="900">
                          <a:latin typeface="Calibri"/>
                          <a:ea typeface="Calibri"/>
                          <a:cs typeface="Calibri"/>
                          <a:sym typeface="Calibri"/>
                        </a:rPr>
                        <a:t>GPT-3.5 (text-davinci-003)</a:t>
                      </a:r>
                      <a:endParaRPr sz="900">
                        <a:latin typeface="Calibri"/>
                        <a:ea typeface="Calibri"/>
                        <a:cs typeface="Calibri"/>
                        <a:sym typeface="Calibri"/>
                      </a:endParaRPr>
                    </a:p>
                  </a:txBody>
                  <a:tcPr marL="28575" marR="28575" marT="9125" marB="9125"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r" rtl="0">
                        <a:lnSpc>
                          <a:spcPct val="115000"/>
                        </a:lnSpc>
                        <a:spcBef>
                          <a:spcPts val="0"/>
                        </a:spcBef>
                        <a:spcAft>
                          <a:spcPts val="0"/>
                        </a:spcAft>
                        <a:buNone/>
                      </a:pPr>
                      <a:r>
                        <a:rPr lang="en" sz="900">
                          <a:latin typeface="Calibri"/>
                          <a:ea typeface="Calibri"/>
                          <a:cs typeface="Calibri"/>
                          <a:sym typeface="Calibri"/>
                        </a:rPr>
                        <a:t>0.621</a:t>
                      </a:r>
                      <a:endParaRPr sz="900">
                        <a:latin typeface="Calibri"/>
                        <a:ea typeface="Calibri"/>
                        <a:cs typeface="Calibri"/>
                        <a:sym typeface="Calibri"/>
                      </a:endParaRPr>
                    </a:p>
                  </a:txBody>
                  <a:tcPr marL="28575" marR="28575" marT="9125" marB="9125"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11"/>
                  </a:ext>
                </a:extLst>
              </a:tr>
              <a:tr h="123950">
                <a:tc>
                  <a:txBody>
                    <a:bodyPr/>
                    <a:lstStyle/>
                    <a:p>
                      <a:pPr marL="0" lvl="0" indent="0" algn="l" rtl="0">
                        <a:lnSpc>
                          <a:spcPct val="115000"/>
                        </a:lnSpc>
                        <a:spcBef>
                          <a:spcPts val="0"/>
                        </a:spcBef>
                        <a:spcAft>
                          <a:spcPts val="0"/>
                        </a:spcAft>
                        <a:buNone/>
                      </a:pPr>
                      <a:r>
                        <a:rPr lang="en" sz="900">
                          <a:latin typeface="Calibri"/>
                          <a:ea typeface="Calibri"/>
                          <a:cs typeface="Calibri"/>
                          <a:sym typeface="Calibri"/>
                        </a:rPr>
                        <a:t>Anthropic Claude 2.1</a:t>
                      </a:r>
                      <a:endParaRPr sz="900">
                        <a:latin typeface="Calibri"/>
                        <a:ea typeface="Calibri"/>
                        <a:cs typeface="Calibri"/>
                        <a:sym typeface="Calibri"/>
                      </a:endParaRPr>
                    </a:p>
                  </a:txBody>
                  <a:tcPr marL="28575" marR="28575" marT="9125" marB="9125"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r" rtl="0">
                        <a:lnSpc>
                          <a:spcPct val="115000"/>
                        </a:lnSpc>
                        <a:spcBef>
                          <a:spcPts val="0"/>
                        </a:spcBef>
                        <a:spcAft>
                          <a:spcPts val="0"/>
                        </a:spcAft>
                        <a:buNone/>
                      </a:pPr>
                      <a:r>
                        <a:rPr lang="en" sz="900">
                          <a:latin typeface="Calibri"/>
                          <a:ea typeface="Calibri"/>
                          <a:cs typeface="Calibri"/>
                          <a:sym typeface="Calibri"/>
                        </a:rPr>
                        <a:t>0.593</a:t>
                      </a:r>
                      <a:endParaRPr sz="900">
                        <a:latin typeface="Calibri"/>
                        <a:ea typeface="Calibri"/>
                        <a:cs typeface="Calibri"/>
                        <a:sym typeface="Calibri"/>
                      </a:endParaRPr>
                    </a:p>
                  </a:txBody>
                  <a:tcPr marL="28575" marR="28575" marT="9125" marB="9125"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12"/>
                  </a:ext>
                </a:extLst>
              </a:tr>
              <a:tr h="134825">
                <a:tc>
                  <a:txBody>
                    <a:bodyPr/>
                    <a:lstStyle/>
                    <a:p>
                      <a:pPr marL="0" lvl="0" indent="0" algn="l" rtl="0">
                        <a:lnSpc>
                          <a:spcPct val="115000"/>
                        </a:lnSpc>
                        <a:spcBef>
                          <a:spcPts val="0"/>
                        </a:spcBef>
                        <a:spcAft>
                          <a:spcPts val="0"/>
                        </a:spcAft>
                        <a:buNone/>
                      </a:pPr>
                      <a:r>
                        <a:rPr lang="en" sz="900">
                          <a:latin typeface="Calibri"/>
                          <a:ea typeface="Calibri"/>
                          <a:cs typeface="Calibri"/>
                          <a:sym typeface="Calibri"/>
                        </a:rPr>
                        <a:t>Anthropic Claude Instant 1.2</a:t>
                      </a:r>
                      <a:endParaRPr sz="900">
                        <a:latin typeface="Calibri"/>
                        <a:ea typeface="Calibri"/>
                        <a:cs typeface="Calibri"/>
                        <a:sym typeface="Calibri"/>
                      </a:endParaRPr>
                    </a:p>
                  </a:txBody>
                  <a:tcPr marL="28575" marR="28575" marT="9125" marB="9125"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r" rtl="0">
                        <a:lnSpc>
                          <a:spcPct val="115000"/>
                        </a:lnSpc>
                        <a:spcBef>
                          <a:spcPts val="0"/>
                        </a:spcBef>
                        <a:spcAft>
                          <a:spcPts val="0"/>
                        </a:spcAft>
                        <a:buNone/>
                      </a:pPr>
                      <a:r>
                        <a:rPr lang="en" sz="900">
                          <a:latin typeface="Calibri"/>
                          <a:ea typeface="Calibri"/>
                          <a:cs typeface="Calibri"/>
                          <a:sym typeface="Calibri"/>
                        </a:rPr>
                        <a:t>0.562</a:t>
                      </a:r>
                      <a:endParaRPr sz="900">
                        <a:latin typeface="Calibri"/>
                        <a:ea typeface="Calibri"/>
                        <a:cs typeface="Calibri"/>
                        <a:sym typeface="Calibri"/>
                      </a:endParaRPr>
                    </a:p>
                  </a:txBody>
                  <a:tcPr marL="28575" marR="28575" marT="9125" marB="9125"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13"/>
                  </a:ext>
                </a:extLst>
              </a:tr>
              <a:tr h="123950">
                <a:tc>
                  <a:txBody>
                    <a:bodyPr/>
                    <a:lstStyle/>
                    <a:p>
                      <a:pPr marL="0" lvl="0" indent="0" algn="l" rtl="0">
                        <a:lnSpc>
                          <a:spcPct val="115000"/>
                        </a:lnSpc>
                        <a:spcBef>
                          <a:spcPts val="0"/>
                        </a:spcBef>
                        <a:spcAft>
                          <a:spcPts val="0"/>
                        </a:spcAft>
                        <a:buNone/>
                      </a:pPr>
                      <a:r>
                        <a:rPr lang="en" sz="900">
                          <a:latin typeface="Calibri"/>
                          <a:ea typeface="Calibri"/>
                          <a:cs typeface="Calibri"/>
                          <a:sym typeface="Calibri"/>
                        </a:rPr>
                        <a:t>GPT-3.5 (text-davinci-002)</a:t>
                      </a:r>
                      <a:endParaRPr sz="900">
                        <a:latin typeface="Calibri"/>
                        <a:ea typeface="Calibri"/>
                        <a:cs typeface="Calibri"/>
                        <a:sym typeface="Calibri"/>
                      </a:endParaRPr>
                    </a:p>
                  </a:txBody>
                  <a:tcPr marL="28575" marR="28575" marT="9125" marB="9125"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r" rtl="0">
                        <a:lnSpc>
                          <a:spcPct val="115000"/>
                        </a:lnSpc>
                        <a:spcBef>
                          <a:spcPts val="0"/>
                        </a:spcBef>
                        <a:spcAft>
                          <a:spcPts val="0"/>
                        </a:spcAft>
                        <a:buNone/>
                      </a:pPr>
                      <a:r>
                        <a:rPr lang="en" sz="900">
                          <a:latin typeface="Calibri"/>
                          <a:ea typeface="Calibri"/>
                          <a:cs typeface="Calibri"/>
                          <a:sym typeface="Calibri"/>
                        </a:rPr>
                        <a:t>0.514</a:t>
                      </a:r>
                      <a:endParaRPr sz="900">
                        <a:latin typeface="Calibri"/>
                        <a:ea typeface="Calibri"/>
                        <a:cs typeface="Calibri"/>
                        <a:sym typeface="Calibri"/>
                      </a:endParaRPr>
                    </a:p>
                  </a:txBody>
                  <a:tcPr marL="28575" marR="28575" marT="9125" marB="9125"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14"/>
                  </a:ext>
                </a:extLst>
              </a:tr>
              <a:tr h="123950">
                <a:tc>
                  <a:txBody>
                    <a:bodyPr/>
                    <a:lstStyle/>
                    <a:p>
                      <a:pPr marL="0" lvl="0" indent="0" algn="l" rtl="0">
                        <a:lnSpc>
                          <a:spcPct val="115000"/>
                        </a:lnSpc>
                        <a:spcBef>
                          <a:spcPts val="0"/>
                        </a:spcBef>
                        <a:spcAft>
                          <a:spcPts val="0"/>
                        </a:spcAft>
                        <a:buNone/>
                      </a:pPr>
                      <a:r>
                        <a:rPr lang="en" sz="900" b="1">
                          <a:solidFill>
                            <a:srgbClr val="FF0000"/>
                          </a:solidFill>
                          <a:latin typeface="Calibri"/>
                          <a:ea typeface="Calibri"/>
                          <a:cs typeface="Calibri"/>
                          <a:sym typeface="Calibri"/>
                        </a:rPr>
                        <a:t>GPT-3.5 Turbo (0613)</a:t>
                      </a:r>
                      <a:endParaRPr sz="900" b="1">
                        <a:solidFill>
                          <a:srgbClr val="FF0000"/>
                        </a:solidFill>
                        <a:latin typeface="Calibri"/>
                        <a:ea typeface="Calibri"/>
                        <a:cs typeface="Calibri"/>
                        <a:sym typeface="Calibri"/>
                      </a:endParaRPr>
                    </a:p>
                  </a:txBody>
                  <a:tcPr marL="28575" marR="28575" marT="9125" marB="9125"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r" rtl="0">
                        <a:lnSpc>
                          <a:spcPct val="115000"/>
                        </a:lnSpc>
                        <a:spcBef>
                          <a:spcPts val="0"/>
                        </a:spcBef>
                        <a:spcAft>
                          <a:spcPts val="0"/>
                        </a:spcAft>
                        <a:buNone/>
                      </a:pPr>
                      <a:r>
                        <a:rPr lang="en" sz="900">
                          <a:latin typeface="Calibri"/>
                          <a:ea typeface="Calibri"/>
                          <a:cs typeface="Calibri"/>
                          <a:sym typeface="Calibri"/>
                        </a:rPr>
                        <a:t>0.507</a:t>
                      </a:r>
                      <a:endParaRPr sz="900">
                        <a:latin typeface="Calibri"/>
                        <a:ea typeface="Calibri"/>
                        <a:cs typeface="Calibri"/>
                        <a:sym typeface="Calibri"/>
                      </a:endParaRPr>
                    </a:p>
                  </a:txBody>
                  <a:tcPr marL="28575" marR="28575" marT="9125" marB="9125"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15"/>
                  </a:ext>
                </a:extLst>
              </a:tr>
              <a:tr h="123950">
                <a:tc>
                  <a:txBody>
                    <a:bodyPr/>
                    <a:lstStyle/>
                    <a:p>
                      <a:pPr marL="0" lvl="0" indent="0" algn="l" rtl="0">
                        <a:lnSpc>
                          <a:spcPct val="115000"/>
                        </a:lnSpc>
                        <a:spcBef>
                          <a:spcPts val="0"/>
                        </a:spcBef>
                        <a:spcAft>
                          <a:spcPts val="0"/>
                        </a:spcAft>
                        <a:buNone/>
                      </a:pPr>
                      <a:r>
                        <a:rPr lang="en" sz="900">
                          <a:latin typeface="Calibri"/>
                          <a:ea typeface="Calibri"/>
                          <a:cs typeface="Calibri"/>
                          <a:sym typeface="Calibri"/>
                        </a:rPr>
                        <a:t>LLaMA (65B)</a:t>
                      </a:r>
                      <a:endParaRPr sz="900">
                        <a:latin typeface="Calibri"/>
                        <a:ea typeface="Calibri"/>
                        <a:cs typeface="Calibri"/>
                        <a:sym typeface="Calibri"/>
                      </a:endParaRPr>
                    </a:p>
                  </a:txBody>
                  <a:tcPr marL="28575" marR="28575" marT="9125" marB="9125"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r" rtl="0">
                        <a:lnSpc>
                          <a:spcPct val="115000"/>
                        </a:lnSpc>
                        <a:spcBef>
                          <a:spcPts val="0"/>
                        </a:spcBef>
                        <a:spcAft>
                          <a:spcPts val="0"/>
                        </a:spcAft>
                        <a:buNone/>
                      </a:pPr>
                      <a:r>
                        <a:rPr lang="en" sz="900">
                          <a:latin typeface="Calibri"/>
                          <a:ea typeface="Calibri"/>
                          <a:cs typeface="Calibri"/>
                          <a:sym typeface="Calibri"/>
                        </a:rPr>
                        <a:t>0.503</a:t>
                      </a:r>
                      <a:endParaRPr sz="900">
                        <a:latin typeface="Calibri"/>
                        <a:ea typeface="Calibri"/>
                        <a:cs typeface="Calibri"/>
                        <a:sym typeface="Calibri"/>
                      </a:endParaRPr>
                    </a:p>
                  </a:txBody>
                  <a:tcPr marL="28575" marR="28575" marT="9125" marB="9125"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16"/>
                  </a:ext>
                </a:extLst>
              </a:tr>
              <a:tr h="123950">
                <a:tc>
                  <a:txBody>
                    <a:bodyPr/>
                    <a:lstStyle/>
                    <a:p>
                      <a:pPr marL="0" lvl="0" indent="0" algn="l" rtl="0">
                        <a:lnSpc>
                          <a:spcPct val="115000"/>
                        </a:lnSpc>
                        <a:spcBef>
                          <a:spcPts val="0"/>
                        </a:spcBef>
                        <a:spcAft>
                          <a:spcPts val="0"/>
                        </a:spcAft>
                        <a:buNone/>
                      </a:pPr>
                      <a:r>
                        <a:rPr lang="en" sz="900">
                          <a:latin typeface="Calibri"/>
                          <a:ea typeface="Calibri"/>
                          <a:cs typeface="Calibri"/>
                          <a:sym typeface="Calibri"/>
                        </a:rPr>
                        <a:t>Cohere Command</a:t>
                      </a:r>
                      <a:endParaRPr sz="900">
                        <a:latin typeface="Calibri"/>
                        <a:ea typeface="Calibri"/>
                        <a:cs typeface="Calibri"/>
                        <a:sym typeface="Calibri"/>
                      </a:endParaRPr>
                    </a:p>
                  </a:txBody>
                  <a:tcPr marL="28575" marR="28575" marT="9125" marB="9125"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r" rtl="0">
                        <a:lnSpc>
                          <a:spcPct val="115000"/>
                        </a:lnSpc>
                        <a:spcBef>
                          <a:spcPts val="0"/>
                        </a:spcBef>
                        <a:spcAft>
                          <a:spcPts val="0"/>
                        </a:spcAft>
                        <a:buNone/>
                      </a:pPr>
                      <a:r>
                        <a:rPr lang="en" sz="900">
                          <a:latin typeface="Calibri"/>
                          <a:ea typeface="Calibri"/>
                          <a:cs typeface="Calibri"/>
                          <a:sym typeface="Calibri"/>
                        </a:rPr>
                        <a:t>0.462</a:t>
                      </a:r>
                      <a:endParaRPr sz="900">
                        <a:latin typeface="Calibri"/>
                        <a:ea typeface="Calibri"/>
                        <a:cs typeface="Calibri"/>
                        <a:sym typeface="Calibri"/>
                      </a:endParaRPr>
                    </a:p>
                  </a:txBody>
                  <a:tcPr marL="28575" marR="28575" marT="9125" marB="9125"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17"/>
                  </a:ext>
                </a:extLst>
              </a:tr>
              <a:tr h="123950">
                <a:tc>
                  <a:txBody>
                    <a:bodyPr/>
                    <a:lstStyle/>
                    <a:p>
                      <a:pPr marL="0" lvl="0" indent="0" algn="l" rtl="0">
                        <a:lnSpc>
                          <a:spcPct val="115000"/>
                        </a:lnSpc>
                        <a:spcBef>
                          <a:spcPts val="0"/>
                        </a:spcBef>
                        <a:spcAft>
                          <a:spcPts val="0"/>
                        </a:spcAft>
                        <a:buNone/>
                      </a:pPr>
                      <a:r>
                        <a:rPr lang="en" sz="900">
                          <a:latin typeface="Calibri"/>
                          <a:ea typeface="Calibri"/>
                          <a:cs typeface="Calibri"/>
                          <a:sym typeface="Calibri"/>
                        </a:rPr>
                        <a:t>Mistral v0.1 (7B)</a:t>
                      </a:r>
                      <a:endParaRPr sz="900">
                        <a:latin typeface="Calibri"/>
                        <a:ea typeface="Calibri"/>
                        <a:cs typeface="Calibri"/>
                        <a:sym typeface="Calibri"/>
                      </a:endParaRPr>
                    </a:p>
                  </a:txBody>
                  <a:tcPr marL="28575" marR="28575" marT="9125" marB="9125"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r" rtl="0">
                        <a:lnSpc>
                          <a:spcPct val="115000"/>
                        </a:lnSpc>
                        <a:spcBef>
                          <a:spcPts val="0"/>
                        </a:spcBef>
                        <a:spcAft>
                          <a:spcPts val="0"/>
                        </a:spcAft>
                        <a:buNone/>
                      </a:pPr>
                      <a:r>
                        <a:rPr lang="en" sz="900">
                          <a:latin typeface="Calibri"/>
                          <a:ea typeface="Calibri"/>
                          <a:cs typeface="Calibri"/>
                          <a:sym typeface="Calibri"/>
                        </a:rPr>
                        <a:t>0.438</a:t>
                      </a:r>
                      <a:endParaRPr sz="900">
                        <a:latin typeface="Calibri"/>
                        <a:ea typeface="Calibri"/>
                        <a:cs typeface="Calibri"/>
                        <a:sym typeface="Calibri"/>
                      </a:endParaRPr>
                    </a:p>
                  </a:txBody>
                  <a:tcPr marL="28575" marR="28575" marT="9125" marB="9125"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18"/>
                  </a:ext>
                </a:extLst>
              </a:tr>
              <a:tr h="123950">
                <a:tc>
                  <a:txBody>
                    <a:bodyPr/>
                    <a:lstStyle/>
                    <a:p>
                      <a:pPr marL="0" lvl="0" indent="0" algn="l" rtl="0">
                        <a:lnSpc>
                          <a:spcPct val="115000"/>
                        </a:lnSpc>
                        <a:spcBef>
                          <a:spcPts val="0"/>
                        </a:spcBef>
                        <a:spcAft>
                          <a:spcPts val="0"/>
                        </a:spcAft>
                        <a:buNone/>
                      </a:pPr>
                      <a:r>
                        <a:rPr lang="en" sz="900">
                          <a:latin typeface="Calibri"/>
                          <a:ea typeface="Calibri"/>
                          <a:cs typeface="Calibri"/>
                          <a:sym typeface="Calibri"/>
                        </a:rPr>
                        <a:t>Yi (6B)</a:t>
                      </a:r>
                      <a:endParaRPr sz="900">
                        <a:latin typeface="Calibri"/>
                        <a:ea typeface="Calibri"/>
                        <a:cs typeface="Calibri"/>
                        <a:sym typeface="Calibri"/>
                      </a:endParaRPr>
                    </a:p>
                  </a:txBody>
                  <a:tcPr marL="28575" marR="28575" marT="9125" marB="9125"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r" rtl="0">
                        <a:lnSpc>
                          <a:spcPct val="115000"/>
                        </a:lnSpc>
                        <a:spcBef>
                          <a:spcPts val="0"/>
                        </a:spcBef>
                        <a:spcAft>
                          <a:spcPts val="0"/>
                        </a:spcAft>
                        <a:buNone/>
                      </a:pPr>
                      <a:r>
                        <a:rPr lang="en" sz="900">
                          <a:latin typeface="Calibri"/>
                          <a:ea typeface="Calibri"/>
                          <a:cs typeface="Calibri"/>
                          <a:sym typeface="Calibri"/>
                        </a:rPr>
                        <a:t>0.376</a:t>
                      </a:r>
                      <a:endParaRPr sz="900">
                        <a:latin typeface="Calibri"/>
                        <a:ea typeface="Calibri"/>
                        <a:cs typeface="Calibri"/>
                        <a:sym typeface="Calibri"/>
                      </a:endParaRPr>
                    </a:p>
                  </a:txBody>
                  <a:tcPr marL="28575" marR="28575" marT="9125" marB="9125"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19"/>
                  </a:ext>
                </a:extLst>
              </a:tr>
              <a:tr h="123950">
                <a:tc>
                  <a:txBody>
                    <a:bodyPr/>
                    <a:lstStyle/>
                    <a:p>
                      <a:pPr marL="0" lvl="0" indent="0" algn="l" rtl="0">
                        <a:lnSpc>
                          <a:spcPct val="115000"/>
                        </a:lnSpc>
                        <a:spcBef>
                          <a:spcPts val="0"/>
                        </a:spcBef>
                        <a:spcAft>
                          <a:spcPts val="0"/>
                        </a:spcAft>
                        <a:buNone/>
                      </a:pPr>
                      <a:r>
                        <a:rPr lang="en" sz="900">
                          <a:latin typeface="Calibri"/>
                          <a:ea typeface="Calibri"/>
                          <a:cs typeface="Calibri"/>
                          <a:sym typeface="Calibri"/>
                        </a:rPr>
                        <a:t>Llama 2 (13B)</a:t>
                      </a:r>
                      <a:endParaRPr sz="900">
                        <a:latin typeface="Calibri"/>
                        <a:ea typeface="Calibri"/>
                        <a:cs typeface="Calibri"/>
                        <a:sym typeface="Calibri"/>
                      </a:endParaRPr>
                    </a:p>
                  </a:txBody>
                  <a:tcPr marL="28575" marR="28575" marT="9125" marB="9125"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r" rtl="0">
                        <a:lnSpc>
                          <a:spcPct val="115000"/>
                        </a:lnSpc>
                        <a:spcBef>
                          <a:spcPts val="0"/>
                        </a:spcBef>
                        <a:spcAft>
                          <a:spcPts val="0"/>
                        </a:spcAft>
                        <a:buNone/>
                      </a:pPr>
                      <a:r>
                        <a:rPr lang="en" sz="900">
                          <a:latin typeface="Calibri"/>
                          <a:ea typeface="Calibri"/>
                          <a:cs typeface="Calibri"/>
                          <a:sym typeface="Calibri"/>
                        </a:rPr>
                        <a:t>0.348</a:t>
                      </a:r>
                      <a:endParaRPr sz="900">
                        <a:latin typeface="Calibri"/>
                        <a:ea typeface="Calibri"/>
                        <a:cs typeface="Calibri"/>
                        <a:sym typeface="Calibri"/>
                      </a:endParaRPr>
                    </a:p>
                  </a:txBody>
                  <a:tcPr marL="28575" marR="28575" marT="9125" marB="9125"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20"/>
                  </a:ext>
                </a:extLst>
              </a:tr>
              <a:tr h="123950">
                <a:tc>
                  <a:txBody>
                    <a:bodyPr/>
                    <a:lstStyle/>
                    <a:p>
                      <a:pPr marL="0" lvl="0" indent="0" algn="l" rtl="0">
                        <a:lnSpc>
                          <a:spcPct val="115000"/>
                        </a:lnSpc>
                        <a:spcBef>
                          <a:spcPts val="0"/>
                        </a:spcBef>
                        <a:spcAft>
                          <a:spcPts val="0"/>
                        </a:spcAft>
                        <a:buNone/>
                      </a:pPr>
                      <a:r>
                        <a:rPr lang="en" sz="900">
                          <a:latin typeface="Calibri"/>
                          <a:ea typeface="Calibri"/>
                          <a:cs typeface="Calibri"/>
                          <a:sym typeface="Calibri"/>
                        </a:rPr>
                        <a:t>Jurassic-2 Jumbo (178B)</a:t>
                      </a:r>
                      <a:endParaRPr sz="900">
                        <a:latin typeface="Calibri"/>
                        <a:ea typeface="Calibri"/>
                        <a:cs typeface="Calibri"/>
                        <a:sym typeface="Calibri"/>
                      </a:endParaRPr>
                    </a:p>
                  </a:txBody>
                  <a:tcPr marL="28575" marR="28575" marT="9125" marB="9125"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r" rtl="0">
                        <a:lnSpc>
                          <a:spcPct val="115000"/>
                        </a:lnSpc>
                        <a:spcBef>
                          <a:spcPts val="0"/>
                        </a:spcBef>
                        <a:spcAft>
                          <a:spcPts val="0"/>
                        </a:spcAft>
                        <a:buNone/>
                      </a:pPr>
                      <a:r>
                        <a:rPr lang="en" sz="900">
                          <a:latin typeface="Calibri"/>
                          <a:ea typeface="Calibri"/>
                          <a:cs typeface="Calibri"/>
                          <a:sym typeface="Calibri"/>
                        </a:rPr>
                        <a:t>0.331</a:t>
                      </a:r>
                      <a:endParaRPr sz="900">
                        <a:latin typeface="Calibri"/>
                        <a:ea typeface="Calibri"/>
                        <a:cs typeface="Calibri"/>
                        <a:sym typeface="Calibri"/>
                      </a:endParaRPr>
                    </a:p>
                  </a:txBody>
                  <a:tcPr marL="28575" marR="28575" marT="9125" marB="9125"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21"/>
                  </a:ext>
                </a:extLst>
              </a:tr>
              <a:tr h="123950">
                <a:tc>
                  <a:txBody>
                    <a:bodyPr/>
                    <a:lstStyle/>
                    <a:p>
                      <a:pPr marL="0" lvl="0" indent="0" algn="l" rtl="0">
                        <a:lnSpc>
                          <a:spcPct val="115000"/>
                        </a:lnSpc>
                        <a:spcBef>
                          <a:spcPts val="0"/>
                        </a:spcBef>
                        <a:spcAft>
                          <a:spcPts val="0"/>
                        </a:spcAft>
                        <a:buNone/>
                      </a:pPr>
                      <a:r>
                        <a:rPr lang="en" sz="900">
                          <a:latin typeface="Calibri"/>
                          <a:ea typeface="Calibri"/>
                          <a:cs typeface="Calibri"/>
                          <a:sym typeface="Calibri"/>
                        </a:rPr>
                        <a:t>Falcon (40B)</a:t>
                      </a:r>
                      <a:endParaRPr sz="900">
                        <a:latin typeface="Calibri"/>
                        <a:ea typeface="Calibri"/>
                        <a:cs typeface="Calibri"/>
                        <a:sym typeface="Calibri"/>
                      </a:endParaRPr>
                    </a:p>
                  </a:txBody>
                  <a:tcPr marL="28575" marR="28575" marT="9125" marB="9125"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r" rtl="0">
                        <a:lnSpc>
                          <a:spcPct val="115000"/>
                        </a:lnSpc>
                        <a:spcBef>
                          <a:spcPts val="0"/>
                        </a:spcBef>
                        <a:spcAft>
                          <a:spcPts val="0"/>
                        </a:spcAft>
                        <a:buNone/>
                      </a:pPr>
                      <a:r>
                        <a:rPr lang="en" sz="900">
                          <a:latin typeface="Calibri"/>
                          <a:ea typeface="Calibri"/>
                          <a:cs typeface="Calibri"/>
                          <a:sym typeface="Calibri"/>
                        </a:rPr>
                        <a:t>0.324</a:t>
                      </a:r>
                      <a:endParaRPr sz="900">
                        <a:latin typeface="Calibri"/>
                        <a:ea typeface="Calibri"/>
                        <a:cs typeface="Calibri"/>
                        <a:sym typeface="Calibri"/>
                      </a:endParaRPr>
                    </a:p>
                  </a:txBody>
                  <a:tcPr marL="28575" marR="28575" marT="9125" marB="9125"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22"/>
                  </a:ext>
                </a:extLst>
              </a:tr>
              <a:tr h="123950">
                <a:tc>
                  <a:txBody>
                    <a:bodyPr/>
                    <a:lstStyle/>
                    <a:p>
                      <a:pPr marL="0" lvl="0" indent="0" algn="l" rtl="0">
                        <a:lnSpc>
                          <a:spcPct val="115000"/>
                        </a:lnSpc>
                        <a:spcBef>
                          <a:spcPts val="0"/>
                        </a:spcBef>
                        <a:spcAft>
                          <a:spcPts val="0"/>
                        </a:spcAft>
                        <a:buNone/>
                      </a:pPr>
                      <a:r>
                        <a:rPr lang="en" sz="900">
                          <a:latin typeface="Calibri"/>
                          <a:ea typeface="Calibri"/>
                          <a:cs typeface="Calibri"/>
                          <a:sym typeface="Calibri"/>
                        </a:rPr>
                        <a:t>Jurassic-2 Grande (17B)</a:t>
                      </a:r>
                      <a:endParaRPr sz="900">
                        <a:latin typeface="Calibri"/>
                        <a:ea typeface="Calibri"/>
                        <a:cs typeface="Calibri"/>
                        <a:sym typeface="Calibri"/>
                      </a:endParaRPr>
                    </a:p>
                  </a:txBody>
                  <a:tcPr marL="28575" marR="28575" marT="9125" marB="9125"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r" rtl="0">
                        <a:lnSpc>
                          <a:spcPct val="115000"/>
                        </a:lnSpc>
                        <a:spcBef>
                          <a:spcPts val="0"/>
                        </a:spcBef>
                        <a:spcAft>
                          <a:spcPts val="0"/>
                        </a:spcAft>
                        <a:buNone/>
                      </a:pPr>
                      <a:r>
                        <a:rPr lang="en" sz="900">
                          <a:latin typeface="Calibri"/>
                          <a:ea typeface="Calibri"/>
                          <a:cs typeface="Calibri"/>
                          <a:sym typeface="Calibri"/>
                        </a:rPr>
                        <a:t>0.252</a:t>
                      </a:r>
                      <a:endParaRPr sz="900">
                        <a:latin typeface="Calibri"/>
                        <a:ea typeface="Calibri"/>
                        <a:cs typeface="Calibri"/>
                        <a:sym typeface="Calibri"/>
                      </a:endParaRPr>
                    </a:p>
                  </a:txBody>
                  <a:tcPr marL="28575" marR="28575" marT="9125" marB="9125"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23"/>
                  </a:ext>
                </a:extLst>
              </a:tr>
              <a:tr h="123950">
                <a:tc>
                  <a:txBody>
                    <a:bodyPr/>
                    <a:lstStyle/>
                    <a:p>
                      <a:pPr marL="0" lvl="0" indent="0" algn="l" rtl="0">
                        <a:lnSpc>
                          <a:spcPct val="115000"/>
                        </a:lnSpc>
                        <a:spcBef>
                          <a:spcPts val="0"/>
                        </a:spcBef>
                        <a:spcAft>
                          <a:spcPts val="0"/>
                        </a:spcAft>
                        <a:buNone/>
                      </a:pPr>
                      <a:r>
                        <a:rPr lang="en" sz="900">
                          <a:latin typeface="Calibri"/>
                          <a:ea typeface="Calibri"/>
                          <a:cs typeface="Calibri"/>
                          <a:sym typeface="Calibri"/>
                        </a:rPr>
                        <a:t>Llama 2 (7B)</a:t>
                      </a:r>
                      <a:endParaRPr sz="900">
                        <a:latin typeface="Calibri"/>
                        <a:ea typeface="Calibri"/>
                        <a:cs typeface="Calibri"/>
                        <a:sym typeface="Calibri"/>
                      </a:endParaRPr>
                    </a:p>
                  </a:txBody>
                  <a:tcPr marL="28575" marR="28575" marT="9125" marB="9125"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r" rtl="0">
                        <a:lnSpc>
                          <a:spcPct val="115000"/>
                        </a:lnSpc>
                        <a:spcBef>
                          <a:spcPts val="0"/>
                        </a:spcBef>
                        <a:spcAft>
                          <a:spcPts val="0"/>
                        </a:spcAft>
                        <a:buNone/>
                      </a:pPr>
                      <a:r>
                        <a:rPr lang="en" sz="900">
                          <a:latin typeface="Calibri"/>
                          <a:ea typeface="Calibri"/>
                          <a:cs typeface="Calibri"/>
                          <a:sym typeface="Calibri"/>
                        </a:rPr>
                        <a:t>0.217</a:t>
                      </a:r>
                      <a:endParaRPr sz="900">
                        <a:latin typeface="Calibri"/>
                        <a:ea typeface="Calibri"/>
                        <a:cs typeface="Calibri"/>
                        <a:sym typeface="Calibri"/>
                      </a:endParaRPr>
                    </a:p>
                  </a:txBody>
                  <a:tcPr marL="28575" marR="28575" marT="9125" marB="9125"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24"/>
                  </a:ext>
                </a:extLst>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26"/>
        <p:cNvGrpSpPr/>
        <p:nvPr/>
      </p:nvGrpSpPr>
      <p:grpSpPr>
        <a:xfrm>
          <a:off x="0" y="0"/>
          <a:ext cx="0" cy="0"/>
          <a:chOff x="0" y="0"/>
          <a:chExt cx="0" cy="0"/>
        </a:xfrm>
      </p:grpSpPr>
      <p:sp>
        <p:nvSpPr>
          <p:cNvPr id="227" name="Google Shape;227;p32"/>
          <p:cNvSpPr txBox="1"/>
          <p:nvPr/>
        </p:nvSpPr>
        <p:spPr>
          <a:xfrm>
            <a:off x="72300" y="76200"/>
            <a:ext cx="32520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LLM as Zero-cost Commodity</a:t>
            </a:r>
            <a:endParaRPr sz="2000" b="1">
              <a:latin typeface="Calibri"/>
              <a:ea typeface="Calibri"/>
              <a:cs typeface="Calibri"/>
              <a:sym typeface="Calibri"/>
            </a:endParaRPr>
          </a:p>
        </p:txBody>
      </p:sp>
      <p:sp>
        <p:nvSpPr>
          <p:cNvPr id="228" name="Google Shape;228;p32"/>
          <p:cNvSpPr txBox="1"/>
          <p:nvPr/>
        </p:nvSpPr>
        <p:spPr>
          <a:xfrm>
            <a:off x="72300" y="581225"/>
            <a:ext cx="4415700" cy="3986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a:latin typeface="Calibri"/>
                <a:ea typeface="Calibri"/>
                <a:cs typeface="Calibri"/>
                <a:sym typeface="Calibri"/>
              </a:rPr>
              <a:t>LLMs are becoming better and cheaper. </a:t>
            </a:r>
            <a:endParaRPr sz="1300">
              <a:latin typeface="Calibri"/>
              <a:ea typeface="Calibri"/>
              <a:cs typeface="Calibri"/>
              <a:sym typeface="Calibri"/>
            </a:endParaRPr>
          </a:p>
          <a:p>
            <a:pPr marL="0" lvl="0" indent="0" algn="l" rtl="0">
              <a:spcBef>
                <a:spcPts val="0"/>
              </a:spcBef>
              <a:spcAft>
                <a:spcPts val="0"/>
              </a:spcAft>
              <a:buNone/>
            </a:pPr>
            <a:r>
              <a:rPr lang="en" sz="1300">
                <a:latin typeface="Calibri"/>
                <a:ea typeface="Calibri"/>
                <a:cs typeface="Calibri"/>
                <a:sym typeface="Calibri"/>
              </a:rPr>
              <a:t>Eventually becoming a free commodity.</a:t>
            </a:r>
            <a:endParaRPr sz="1300">
              <a:latin typeface="Calibri"/>
              <a:ea typeface="Calibri"/>
              <a:cs typeface="Calibri"/>
              <a:sym typeface="Calibri"/>
            </a:endParaRPr>
          </a:p>
          <a:p>
            <a:pPr marL="0" lvl="0" indent="0" algn="l" rtl="0">
              <a:spcBef>
                <a:spcPts val="0"/>
              </a:spcBef>
              <a:spcAft>
                <a:spcPts val="0"/>
              </a:spcAft>
              <a:buNone/>
            </a:pPr>
            <a:r>
              <a:rPr lang="en" sz="1300">
                <a:latin typeface="Calibri"/>
                <a:ea typeface="Calibri"/>
                <a:cs typeface="Calibri"/>
                <a:sym typeface="Calibri"/>
              </a:rPr>
              <a:t>The value will be not in LLMs, but in systems and data.</a:t>
            </a:r>
            <a:endParaRPr sz="1300">
              <a:latin typeface="Calibri"/>
              <a:ea typeface="Calibri"/>
              <a:cs typeface="Calibri"/>
              <a:sym typeface="Calibri"/>
            </a:endParaRPr>
          </a:p>
          <a:p>
            <a:pPr marL="0" lvl="0" indent="0" algn="l" rtl="0">
              <a:spcBef>
                <a:spcPts val="0"/>
              </a:spcBef>
              <a:spcAft>
                <a:spcPts val="0"/>
              </a:spcAft>
              <a:buNone/>
            </a:pPr>
            <a:endParaRPr sz="1300">
              <a:latin typeface="Calibri"/>
              <a:ea typeface="Calibri"/>
              <a:cs typeface="Calibri"/>
              <a:sym typeface="Calibri"/>
            </a:endParaRPr>
          </a:p>
          <a:p>
            <a:pPr marL="228600" lvl="0" indent="-196850" algn="l" rtl="0">
              <a:spcBef>
                <a:spcPts val="0"/>
              </a:spcBef>
              <a:spcAft>
                <a:spcPts val="0"/>
              </a:spcAft>
              <a:buSzPts val="1300"/>
              <a:buFont typeface="Calibri"/>
              <a:buChar char="●"/>
            </a:pPr>
            <a:r>
              <a:rPr lang="en" sz="1300" u="sng">
                <a:solidFill>
                  <a:schemeClr val="hlink"/>
                </a:solidFill>
                <a:latin typeface="Calibri"/>
                <a:ea typeface="Calibri"/>
                <a:cs typeface="Calibri"/>
                <a:sym typeface="Calibri"/>
                <a:hlinkClick r:id="rId3"/>
              </a:rPr>
              <a:t>https://news.ycombinator.com/item?id=36806770</a:t>
            </a:r>
            <a:endParaRPr sz="1300">
              <a:latin typeface="Calibri"/>
              <a:ea typeface="Calibri"/>
              <a:cs typeface="Calibri"/>
              <a:sym typeface="Calibri"/>
            </a:endParaRPr>
          </a:p>
          <a:p>
            <a:pPr marL="0" lvl="0" indent="0" algn="l" rtl="0">
              <a:spcBef>
                <a:spcPts val="0"/>
              </a:spcBef>
              <a:spcAft>
                <a:spcPts val="0"/>
              </a:spcAft>
              <a:buNone/>
            </a:pPr>
            <a:endParaRPr sz="130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latin typeface="Calibri"/>
                <a:ea typeface="Calibri"/>
                <a:cs typeface="Calibri"/>
                <a:sym typeface="Calibri"/>
              </a:rPr>
              <a:t>"First customer service, Then replacement of call centers.</a:t>
            </a:r>
            <a:endParaRPr sz="130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latin typeface="Calibri"/>
                <a:ea typeface="Calibri"/>
                <a:cs typeface="Calibri"/>
                <a:sym typeface="Calibri"/>
              </a:rPr>
              <a:t>LLMs will then be incorporated into video games ... NPCs you can actually talk to who will address you by name</a:t>
            </a:r>
            <a:endParaRPr sz="130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latin typeface="Calibri"/>
                <a:ea typeface="Calibri"/>
                <a:cs typeface="Calibri"/>
                <a:sym typeface="Calibri"/>
              </a:rPr>
              <a:t>Then there will education ... A well tuned LLM can substitute for the bottom 40 percent of grade school teachers.</a:t>
            </a:r>
            <a:endParaRPr sz="130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300">
              <a:latin typeface="Calibri"/>
              <a:ea typeface="Calibri"/>
              <a:cs typeface="Calibri"/>
              <a:sym typeface="Calibri"/>
            </a:endParaRPr>
          </a:p>
          <a:p>
            <a:pPr marL="0" lvl="0" indent="0" algn="l" rtl="0">
              <a:spcBef>
                <a:spcPts val="0"/>
              </a:spcBef>
              <a:spcAft>
                <a:spcPts val="0"/>
              </a:spcAft>
              <a:buNone/>
            </a:pPr>
            <a:r>
              <a:rPr lang="en" sz="1300">
                <a:latin typeface="Calibri"/>
                <a:ea typeface="Calibri"/>
                <a:cs typeface="Calibri"/>
                <a:sym typeface="Calibri"/>
              </a:rPr>
              <a:t>The real question is what aspects of this are monetizable? The truth is </a:t>
            </a:r>
            <a:r>
              <a:rPr lang="en" sz="1300" b="1">
                <a:solidFill>
                  <a:srgbClr val="FF0000"/>
                </a:solidFill>
                <a:latin typeface="Calibri"/>
                <a:ea typeface="Calibri"/>
                <a:cs typeface="Calibri"/>
                <a:sym typeface="Calibri"/>
              </a:rPr>
              <a:t>all software becomes a commodity over time. LLMs will become cheap, then they will become free</a:t>
            </a:r>
            <a:r>
              <a:rPr lang="en" sz="1300">
                <a:latin typeface="Calibri"/>
                <a:ea typeface="Calibri"/>
                <a:cs typeface="Calibri"/>
                <a:sym typeface="Calibri"/>
              </a:rPr>
              <a:t> (they already are with LLAMA). The truly valuable companies have network effects that keep users coming back. LinkedIn, Google, Union Pacific, GitHub, Microsoft windows are all network monopolies."</a:t>
            </a:r>
            <a:endParaRPr sz="1300">
              <a:latin typeface="Calibri"/>
              <a:ea typeface="Calibri"/>
              <a:cs typeface="Calibri"/>
              <a:sym typeface="Calibri"/>
            </a:endParaRPr>
          </a:p>
        </p:txBody>
      </p:sp>
      <p:sp>
        <p:nvSpPr>
          <p:cNvPr id="229" name="Google Shape;229;p32"/>
          <p:cNvSpPr txBox="1"/>
          <p:nvPr/>
        </p:nvSpPr>
        <p:spPr>
          <a:xfrm>
            <a:off x="4572000" y="581225"/>
            <a:ext cx="4493100" cy="2986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a:latin typeface="Calibri"/>
                <a:ea typeface="Calibri"/>
                <a:cs typeface="Calibri"/>
                <a:sym typeface="Calibri"/>
              </a:rPr>
              <a:t>"From that perspective, the most valuable LLM company will be the anti-LLM companies.</a:t>
            </a:r>
            <a:endParaRPr sz="1300">
              <a:latin typeface="Calibri"/>
              <a:ea typeface="Calibri"/>
              <a:cs typeface="Calibri"/>
              <a:sym typeface="Calibri"/>
            </a:endParaRPr>
          </a:p>
          <a:p>
            <a:pPr marL="0" lvl="0" indent="0" algn="l" rtl="0">
              <a:spcBef>
                <a:spcPts val="0"/>
              </a:spcBef>
              <a:spcAft>
                <a:spcPts val="0"/>
              </a:spcAft>
              <a:buNone/>
            </a:pPr>
            <a:endParaRPr sz="1300">
              <a:latin typeface="Calibri"/>
              <a:ea typeface="Calibri"/>
              <a:cs typeface="Calibri"/>
              <a:sym typeface="Calibri"/>
            </a:endParaRPr>
          </a:p>
          <a:p>
            <a:pPr marL="0" lvl="0" indent="0" algn="l" rtl="0">
              <a:spcBef>
                <a:spcPts val="0"/>
              </a:spcBef>
              <a:spcAft>
                <a:spcPts val="0"/>
              </a:spcAft>
              <a:buNone/>
            </a:pPr>
            <a:r>
              <a:rPr lang="en" sz="1300">
                <a:latin typeface="Calibri"/>
                <a:ea typeface="Calibri"/>
                <a:cs typeface="Calibri"/>
                <a:sym typeface="Calibri"/>
              </a:rPr>
              <a:t>Facebook, Tinder, Twitter, Instagram - all considerably less valuable once the majority of their user bases is replaced with extremely high quality bots. The real consumers may gradually sign off and take their money elsewhere. </a:t>
            </a:r>
            <a:endParaRPr sz="1300">
              <a:latin typeface="Calibri"/>
              <a:ea typeface="Calibri"/>
              <a:cs typeface="Calibri"/>
              <a:sym typeface="Calibri"/>
            </a:endParaRPr>
          </a:p>
          <a:p>
            <a:pPr marL="0" lvl="0" indent="0" algn="l" rtl="0">
              <a:spcBef>
                <a:spcPts val="0"/>
              </a:spcBef>
              <a:spcAft>
                <a:spcPts val="0"/>
              </a:spcAft>
              <a:buNone/>
            </a:pPr>
            <a:endParaRPr sz="1300">
              <a:latin typeface="Calibri"/>
              <a:ea typeface="Calibri"/>
              <a:cs typeface="Calibri"/>
              <a:sym typeface="Calibri"/>
            </a:endParaRPr>
          </a:p>
          <a:p>
            <a:pPr marL="0" lvl="0" indent="0" algn="l" rtl="0">
              <a:spcBef>
                <a:spcPts val="0"/>
              </a:spcBef>
              <a:spcAft>
                <a:spcPts val="0"/>
              </a:spcAft>
              <a:buNone/>
            </a:pPr>
            <a:r>
              <a:rPr lang="en" sz="1300">
                <a:latin typeface="Calibri"/>
                <a:ea typeface="Calibri"/>
                <a:cs typeface="Calibri"/>
                <a:sym typeface="Calibri"/>
              </a:rPr>
              <a:t>In that world, a naive person would try to build a bot detector. But a good bot detector can simply be used to build a better bot. </a:t>
            </a:r>
            <a:endParaRPr sz="1300">
              <a:latin typeface="Calibri"/>
              <a:ea typeface="Calibri"/>
              <a:cs typeface="Calibri"/>
              <a:sym typeface="Calibri"/>
            </a:endParaRPr>
          </a:p>
          <a:p>
            <a:pPr marL="0" lvl="0" indent="0" algn="l" rtl="0">
              <a:spcBef>
                <a:spcPts val="0"/>
              </a:spcBef>
              <a:spcAft>
                <a:spcPts val="0"/>
              </a:spcAft>
              <a:buNone/>
            </a:pPr>
            <a:endParaRPr sz="1300">
              <a:latin typeface="Calibri"/>
              <a:ea typeface="Calibri"/>
              <a:cs typeface="Calibri"/>
              <a:sym typeface="Calibri"/>
            </a:endParaRPr>
          </a:p>
          <a:p>
            <a:pPr marL="0" lvl="0" indent="0" algn="l" rtl="0">
              <a:spcBef>
                <a:spcPts val="0"/>
              </a:spcBef>
              <a:spcAft>
                <a:spcPts val="0"/>
              </a:spcAft>
              <a:buNone/>
            </a:pPr>
            <a:r>
              <a:rPr lang="en" sz="1300">
                <a:latin typeface="Calibri"/>
                <a:ea typeface="Calibri"/>
                <a:cs typeface="Calibri"/>
                <a:sym typeface="Calibri"/>
              </a:rPr>
              <a:t>Instead, to win at this game, I think the most important way to win with LLMs to devise better forms of human authentication!"</a:t>
            </a:r>
            <a:endParaRPr sz="1300">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33"/>
        <p:cNvGrpSpPr/>
        <p:nvPr/>
      </p:nvGrpSpPr>
      <p:grpSpPr>
        <a:xfrm>
          <a:off x="0" y="0"/>
          <a:ext cx="0" cy="0"/>
          <a:chOff x="0" y="0"/>
          <a:chExt cx="0" cy="0"/>
        </a:xfrm>
      </p:grpSpPr>
      <p:sp>
        <p:nvSpPr>
          <p:cNvPr id="234" name="Google Shape;234;p33"/>
          <p:cNvSpPr txBox="1"/>
          <p:nvPr/>
        </p:nvSpPr>
        <p:spPr>
          <a:xfrm>
            <a:off x="72300" y="76200"/>
            <a:ext cx="41313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Layoffs are not too big</a:t>
            </a:r>
            <a:endParaRPr sz="2000" b="1">
              <a:latin typeface="Calibri"/>
              <a:ea typeface="Calibri"/>
              <a:cs typeface="Calibri"/>
              <a:sym typeface="Calibri"/>
            </a:endParaRPr>
          </a:p>
        </p:txBody>
      </p:sp>
      <p:sp>
        <p:nvSpPr>
          <p:cNvPr id="235" name="Google Shape;235;p33"/>
          <p:cNvSpPr txBox="1"/>
          <p:nvPr/>
        </p:nvSpPr>
        <p:spPr>
          <a:xfrm>
            <a:off x="1715200" y="533263"/>
            <a:ext cx="20025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rgbClr val="0F0F0F"/>
                </a:solidFill>
                <a:latin typeface="Calibri"/>
                <a:ea typeface="Calibri"/>
                <a:cs typeface="Calibri"/>
                <a:sym typeface="Calibri"/>
              </a:rPr>
              <a:t>Layoffs - </a:t>
            </a:r>
            <a:r>
              <a:rPr lang="en" sz="1300" u="sng">
                <a:solidFill>
                  <a:schemeClr val="hlink"/>
                </a:solidFill>
                <a:latin typeface="Calibri"/>
                <a:ea typeface="Calibri"/>
                <a:cs typeface="Calibri"/>
                <a:sym typeface="Calibri"/>
                <a:hlinkClick r:id="rId3"/>
              </a:rPr>
              <a:t>https://layoffs.fyi</a:t>
            </a:r>
            <a:r>
              <a:rPr lang="en" sz="1300">
                <a:solidFill>
                  <a:srgbClr val="0F0F0F"/>
                </a:solidFill>
                <a:latin typeface="Calibri"/>
                <a:ea typeface="Calibri"/>
                <a:cs typeface="Calibri"/>
                <a:sym typeface="Calibri"/>
              </a:rPr>
              <a:t> </a:t>
            </a:r>
            <a:endParaRPr sz="1300">
              <a:solidFill>
                <a:srgbClr val="0F0F0F"/>
              </a:solidFill>
              <a:latin typeface="Calibri"/>
              <a:ea typeface="Calibri"/>
              <a:cs typeface="Calibri"/>
              <a:sym typeface="Calibri"/>
            </a:endParaRPr>
          </a:p>
        </p:txBody>
      </p:sp>
      <p:sp>
        <p:nvSpPr>
          <p:cNvPr id="236" name="Google Shape;236;p33"/>
          <p:cNvSpPr txBox="1"/>
          <p:nvPr/>
        </p:nvSpPr>
        <p:spPr>
          <a:xfrm>
            <a:off x="643850" y="2527325"/>
            <a:ext cx="3559800" cy="338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solidFill>
                  <a:srgbClr val="0F0F0F"/>
                </a:solidFill>
                <a:latin typeface="Roboto Mono"/>
                <a:ea typeface="Roboto Mono"/>
                <a:cs typeface="Roboto Mono"/>
                <a:sym typeface="Roboto Mono"/>
              </a:rPr>
              <a:t>2022                2023                2024</a:t>
            </a:r>
            <a:endParaRPr sz="1000">
              <a:solidFill>
                <a:srgbClr val="0F0F0F"/>
              </a:solidFill>
              <a:latin typeface="Roboto Mono"/>
              <a:ea typeface="Roboto Mono"/>
              <a:cs typeface="Roboto Mono"/>
              <a:sym typeface="Roboto Mono"/>
            </a:endParaRPr>
          </a:p>
        </p:txBody>
      </p:sp>
      <p:sp>
        <p:nvSpPr>
          <p:cNvPr id="237" name="Google Shape;237;p33"/>
          <p:cNvSpPr txBox="1"/>
          <p:nvPr/>
        </p:nvSpPr>
        <p:spPr>
          <a:xfrm>
            <a:off x="444213" y="3102700"/>
            <a:ext cx="3716100" cy="218400"/>
          </a:xfrm>
          <a:prstGeom prst="rect">
            <a:avLst/>
          </a:prstGeom>
          <a:solidFill>
            <a:srgbClr val="FFF2CC"/>
          </a:solidFill>
          <a:ln>
            <a:noFill/>
          </a:ln>
        </p:spPr>
        <p:txBody>
          <a:bodyPr spcFirstLastPara="1" wrap="square" lIns="9125" tIns="9125" rIns="9125" bIns="9125" anchor="t" anchorCtr="0">
            <a:spAutoFit/>
          </a:bodyPr>
          <a:lstStyle/>
          <a:p>
            <a:pPr marL="0" lvl="0" indent="0" algn="ctr"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So far in 2024 layoffs are 3-times less than in 2023</a:t>
            </a:r>
            <a:endParaRPr sz="1300">
              <a:solidFill>
                <a:schemeClr val="dk1"/>
              </a:solidFill>
              <a:latin typeface="Calibri"/>
              <a:ea typeface="Calibri"/>
              <a:cs typeface="Calibri"/>
              <a:sym typeface="Calibri"/>
            </a:endParaRPr>
          </a:p>
        </p:txBody>
      </p:sp>
      <p:pic>
        <p:nvPicPr>
          <p:cNvPr id="238" name="Google Shape;238;p33"/>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133875" y="932350"/>
            <a:ext cx="4336776" cy="1629918"/>
          </a:xfrm>
          <a:prstGeom prst="rect">
            <a:avLst/>
          </a:prstGeom>
          <a:noFill/>
          <a:ln w="9525" cap="flat" cmpd="sng">
            <a:solidFill>
              <a:srgbClr val="FF0000"/>
            </a:solidFill>
            <a:prstDash val="solid"/>
            <a:round/>
            <a:headEnd type="none" w="sm" len="sm"/>
            <a:tailEnd type="none" w="sm" len="sm"/>
          </a:ln>
        </p:spPr>
      </p:pic>
      <p:pic>
        <p:nvPicPr>
          <p:cNvPr id="239" name="Google Shape;239;p33"/>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5248500" y="34300"/>
            <a:ext cx="3849201" cy="5026949"/>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43"/>
        <p:cNvGrpSpPr/>
        <p:nvPr/>
      </p:nvGrpSpPr>
      <p:grpSpPr>
        <a:xfrm>
          <a:off x="0" y="0"/>
          <a:ext cx="0" cy="0"/>
          <a:chOff x="0" y="0"/>
          <a:chExt cx="0" cy="0"/>
        </a:xfrm>
      </p:grpSpPr>
      <p:sp>
        <p:nvSpPr>
          <p:cNvPr id="244" name="Google Shape;244;p34"/>
          <p:cNvSpPr txBox="1"/>
          <p:nvPr/>
        </p:nvSpPr>
        <p:spPr>
          <a:xfrm>
            <a:off x="2151375" y="1533150"/>
            <a:ext cx="4632600" cy="1262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7000" b="1">
                <a:solidFill>
                  <a:srgbClr val="3C78D8"/>
                </a:solidFill>
                <a:latin typeface="Calibri"/>
                <a:ea typeface="Calibri"/>
                <a:cs typeface="Calibri"/>
                <a:sym typeface="Calibri"/>
              </a:rPr>
              <a:t>Thank You!</a:t>
            </a:r>
            <a:endParaRPr sz="7000" b="1">
              <a:solidFill>
                <a:srgbClr val="3C78D8"/>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2848</Words>
  <Application>Microsoft Macintosh PowerPoint</Application>
  <PresentationFormat>On-screen Show (16:9)</PresentationFormat>
  <Paragraphs>317</Paragraphs>
  <Slides>22</Slides>
  <Notes>22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22</vt:i4>
      </vt:variant>
    </vt:vector>
  </HeadingPairs>
  <TitlesOfParts>
    <vt:vector size="26" baseType="lpstr">
      <vt:lpstr>Arial</vt:lpstr>
      <vt:lpstr>Roboto Mono</vt:lpstr>
      <vt:lpstr>Calibri</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Lev Selector</cp:lastModifiedBy>
  <cp:revision>1</cp:revision>
  <dcterms:modified xsi:type="dcterms:W3CDTF">2024-02-21T23:08:42Z</dcterms:modified>
</cp:coreProperties>
</file>