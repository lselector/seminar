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embeddedFontLst>
    <p:embeddedFont>
      <p:font typeface="Roboto Mono" pitchFamily="49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2E45B01-94E9-479C-94AC-D3F2388F49AB}">
  <a:tblStyle styleId="{02E45B01-94E9-479C-94AC-D3F2388F49A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161" d="100"/>
          <a:sy n="161" d="100"/>
        </p:scale>
        <p:origin x="7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c75495f69d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c75495f69d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c75495f69d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c75495f69d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c5d1525b3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c5d1525b3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c5fcb40de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c5fcb40de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c670b387f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2c670b387f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c77538f867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c77538f867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c77538f86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2c77538f86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c677e684c1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2c677e684c1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c565bbd142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c565bbd142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c677e684c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c677e684c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c69c9adf3d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c69c9adf3d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c69883c6c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c69883c6c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c6d7e4e3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2c6d7e4e3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c6d7e4e38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2c6d7e4e38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c677e684c1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c677e684c1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c5d1525b3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2c5d1525b3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hyperlink" Target="https://www.youtube.com/watch?v=gmzd8dhlc0g" TargetMode="External"/><Relationship Id="rId7" Type="http://schemas.openxmlformats.org/officeDocument/2006/relationships/hyperlink" Target="https://console.groq.com/docs/quickstar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roq.com" TargetMode="External"/><Relationship Id="rId5" Type="http://schemas.openxmlformats.org/officeDocument/2006/relationships/hyperlink" Target="https://www.youtube.com/watch?v=WQDMKTEgQnY" TargetMode="External"/><Relationship Id="rId10" Type="http://schemas.openxmlformats.org/officeDocument/2006/relationships/image" Target="../media/image3.jpeg"/><Relationship Id="rId4" Type="http://schemas.openxmlformats.org/officeDocument/2006/relationships/hyperlink" Target="https://www.youtube.com/watch?v=fv69M1M_fXw" TargetMode="Externa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a16z.com/generative-ai-enterprise-2024/" TargetMode="External"/><Relationship Id="rId3" Type="http://schemas.openxmlformats.org/officeDocument/2006/relationships/hyperlink" Target="https://analyticsindiamag.com/accentures-generative-ai-revenue-surpasses-all-vc-backed-startups-combined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hyperlink" Target="https://en.wikipedia.org/wiki/Accenture" TargetMode="External"/><Relationship Id="rId4" Type="http://schemas.openxmlformats.org/officeDocument/2006/relationships/hyperlink" Target="https://www.ciodive.com/news/accenture-ai-investments-billions-data-modernization/711132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verge.com/2024/3/23/24109511/stability-ai-ceo-emad-mostaque-resignation-decentralized-ai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hyperlink" Target="https://twitter.com/EMostaque/status/1771400218170519741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310.06825" TargetMode="External"/><Relationship Id="rId13" Type="http://schemas.openxmlformats.org/officeDocument/2006/relationships/image" Target="../media/image10.jpeg"/><Relationship Id="rId3" Type="http://schemas.openxmlformats.org/officeDocument/2006/relationships/hyperlink" Target="https://twitter.com/dchaplot/status/1771672289953866212" TargetMode="External"/><Relationship Id="rId7" Type="http://schemas.openxmlformats.org/officeDocument/2006/relationships/hyperlink" Target="https://ollama.com/library/mistral" TargetMode="Externa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witter.com/ofermend/status/1772070911937560748" TargetMode="External"/><Relationship Id="rId11" Type="http://schemas.openxmlformats.org/officeDocument/2006/relationships/hyperlink" Target="https://www.youtube.com/watch?v=62gpF6Uq6Rc" TargetMode="External"/><Relationship Id="rId5" Type="http://schemas.openxmlformats.org/officeDocument/2006/relationships/hyperlink" Target="https://huggingface.co/mistralai/Mistral-7B-Instruct-v0.2" TargetMode="External"/><Relationship Id="rId10" Type="http://schemas.openxmlformats.org/officeDocument/2006/relationships/hyperlink" Target="https://github.com/mistralai-sf24/hackathon/tree/main" TargetMode="External"/><Relationship Id="rId4" Type="http://schemas.openxmlformats.org/officeDocument/2006/relationships/hyperlink" Target="https://twitter.com/osanseviero/status/1771654833830821949" TargetMode="External"/><Relationship Id="rId9" Type="http://schemas.openxmlformats.org/officeDocument/2006/relationships/hyperlink" Target="https://docs.mistral.ai/models/" TargetMode="External"/><Relationship Id="rId1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learning.ai/the-batch/issue-241/" TargetMode="Externa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www.youtube.com/watch?v=sal78ACtGTc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www.databricks.com/blog/announcing-dbrx-new-standard-efficient-open-source-customizable-llms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atabricks.com/blog/introducing-dbrx-new-state-art-open-llm" TargetMode="External"/><Relationship Id="rId5" Type="http://schemas.openxmlformats.org/officeDocument/2006/relationships/hyperlink" Target="https://huggingface.co/collections/databricks/dbrx-6601c0852a0cdd3c59f71962" TargetMode="External"/><Relationship Id="rId4" Type="http://schemas.openxmlformats.org/officeDocument/2006/relationships/hyperlink" Target="https://github.com/databricks/dbrx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Yampeleg/status/1773364830423937090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hyperlink" Target="https://www.ai21.com/blog/announcing-jamba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Interpreter/01" TargetMode="External"/><Relationship Id="rId7" Type="http://schemas.openxmlformats.org/officeDocument/2006/relationships/hyperlink" Target="https://www.cnn.com/2024/03/21/business/ai-jobs-white-house-work-force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theverge.com/2024/3/22/24108858/openai-is-pitching-sora-to-hollywood" TargetMode="External"/><Relationship Id="rId5" Type="http://schemas.openxmlformats.org/officeDocument/2006/relationships/image" Target="../media/image19.png"/><Relationship Id="rId4" Type="http://schemas.openxmlformats.org/officeDocument/2006/relationships/hyperlink" Target="https://www.geeky-gadgets.com/pocket-ai-agent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why-google-missed-chatgpt-alex-kantrowitz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ws-samples/generative-ai-amazon-bedrock-langchain-agent-example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hyperlink" Target="https://python.langchain.com/docs/templates/rag-aws-kendra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TlZ5BFx_m3M" TargetMode="External"/><Relationship Id="rId3" Type="http://schemas.openxmlformats.org/officeDocument/2006/relationships/image" Target="../media/image22.png"/><Relationship Id="rId7" Type="http://schemas.openxmlformats.org/officeDocument/2006/relationships/hyperlink" Target="https://medium.com/data-science-in-your-pocket/improving-rag-using-langgraph-and-langchain-bb195bfe4b44" TargetMode="External"/><Relationship Id="rId12" Type="http://schemas.openxmlformats.org/officeDocument/2006/relationships/hyperlink" Target="https://www.youtube.com/watch?v=aQ4yQXeB1S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ub.aimind.so/a-quick-tutorial-on-multi-agent-workflows-with-autogen-354a394d3df1" TargetMode="External"/><Relationship Id="rId11" Type="http://schemas.openxmlformats.org/officeDocument/2006/relationships/hyperlink" Target="https://cobusgreyling.medium.com/llamaindex-agentic-rag-demo-56e3f3cd973a" TargetMode="External"/><Relationship Id="rId5" Type="http://schemas.openxmlformats.org/officeDocument/2006/relationships/hyperlink" Target="https://www.youtube.com/watch?v=b3ofDE-XSP0" TargetMode="External"/><Relationship Id="rId10" Type="http://schemas.openxmlformats.org/officeDocument/2006/relationships/hyperlink" Target="https://www.linkedin.com/pulse/deep-dive-agentic-retrieval-augmented-generation-a-rag-sai-panyam-22dlc/" TargetMode="External"/><Relationship Id="rId4" Type="http://schemas.openxmlformats.org/officeDocument/2006/relationships/hyperlink" Target="https://superlinked.com/vectorhub/enhancing-rag-with-a-multi-agent-system" TargetMode="External"/><Relationship Id="rId9" Type="http://schemas.openxmlformats.org/officeDocument/2006/relationships/hyperlink" Target="https://towardsdatascience.com/using-langchain-react-agents-for-answering-multi-hop-questions-in-rag-systems-893208c1847e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gQdg0SRuC0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djvzSpjBuI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hyperlink" Target="https://docs.activeloop.ai/example-code/tutorials/vector-store/improving-search-accuracy-using-deep-memory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tardog.com" TargetMode="External"/><Relationship Id="rId3" Type="http://schemas.openxmlformats.org/officeDocument/2006/relationships/hyperlink" Target="https://neo4j.com" TargetMode="External"/><Relationship Id="rId7" Type="http://schemas.openxmlformats.org/officeDocument/2006/relationships/hyperlink" Target="https://aws.amazon.com/neptune/" TargetMode="External"/><Relationship Id="rId12" Type="http://schemas.openxmlformats.org/officeDocument/2006/relationships/hyperlink" Target="https://www.microsoft.com/en-us/research/blog/graphrag-unlocking-llm-discovery-on-narrative-private-data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DuUtzRYbpNM" TargetMode="External"/><Relationship Id="rId11" Type="http://schemas.openxmlformats.org/officeDocument/2006/relationships/image" Target="../media/image24.png"/><Relationship Id="rId5" Type="http://schemas.openxmlformats.org/officeDocument/2006/relationships/hyperlink" Target="https://www.youtube.com/watch?v=jMKRUo4wVKA" TargetMode="External"/><Relationship Id="rId10" Type="http://schemas.openxmlformats.org/officeDocument/2006/relationships/hyperlink" Target="https://www.huaweicloud.com/intl/en-us/product/ges.html" TargetMode="External"/><Relationship Id="rId4" Type="http://schemas.openxmlformats.org/officeDocument/2006/relationships/hyperlink" Target="https://www.youtube.com/watch?v=ftlZ0oeXYRE" TargetMode="External"/><Relationship Id="rId9" Type="http://schemas.openxmlformats.org/officeDocument/2006/relationships/hyperlink" Target="https://www.ontotext.com/products/graphdb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aces/lmsys/chatbot-arena-leaderboard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86325" y="1127825"/>
            <a:ext cx="4420200" cy="3879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Groq - fast inference hardware &amp; API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AI Consumption Growth, Consulting $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Emad Mostaque Has Left Stability.AI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Mistral 7b v0.2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Agentic Workflows - Andrew Ng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Databricks DBRX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AI21 Jamba - Hybrid SSM / Transformer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Context Length / Output Length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Open Interpreter 01 Light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OpenAI Sora and Hollywood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Elon Musk - AGI in 1-2-3 years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Microchips are the new oil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How Google let OpenAI take the lead?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Simple RAG on AWS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Multi-Agent RAG Systems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RAG - Evaluate and Improve</a:t>
            </a:r>
            <a:endParaRPr sz="1500" b="1">
              <a:solidFill>
                <a:srgbClr val="3C78D8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627375" y="1127825"/>
            <a:ext cx="4420200" cy="1339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RAG - Advanced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GraphRAG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xxx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Crowd-sourced "Arena" Leaderboard</a:t>
            </a:r>
            <a:endParaRPr sz="1500" b="1">
              <a:solidFill>
                <a:srgbClr val="3C78D8"/>
              </a:solidFill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Char char="●"/>
            </a:pPr>
            <a:r>
              <a:rPr lang="en" sz="1500" b="1">
                <a:solidFill>
                  <a:srgbClr val="3C78D8"/>
                </a:solidFill>
              </a:rPr>
              <a:t>Tech Layoffs is lower this year</a:t>
            </a:r>
            <a:endParaRPr sz="1500" b="1">
              <a:solidFill>
                <a:srgbClr val="3C78D8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027550" y="75775"/>
            <a:ext cx="31926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3C78D8"/>
                </a:solidFill>
                <a:latin typeface="Arial"/>
                <a:ea typeface="Arial"/>
                <a:cs typeface="Arial"/>
                <a:sym typeface="Arial"/>
              </a:rPr>
              <a:t>AI Updates </a:t>
            </a:r>
            <a:endParaRPr sz="3600" b="1" i="0" u="none" strike="noStrike" cap="none">
              <a:solidFill>
                <a:srgbClr val="3C78D8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3C78D8"/>
                </a:solidFill>
                <a:latin typeface="Arial"/>
                <a:ea typeface="Arial"/>
                <a:cs typeface="Arial"/>
                <a:sym typeface="Arial"/>
              </a:rPr>
              <a:t>March </a:t>
            </a:r>
            <a:r>
              <a:rPr lang="en" sz="2400" b="1">
                <a:solidFill>
                  <a:srgbClr val="3C78D8"/>
                </a:solidFill>
              </a:rPr>
              <a:t>29</a:t>
            </a:r>
            <a:r>
              <a:rPr lang="en" sz="2400" b="1" i="0" u="none" strike="noStrike" cap="none">
                <a:solidFill>
                  <a:srgbClr val="3C78D8"/>
                </a:solidFill>
                <a:latin typeface="Arial"/>
                <a:ea typeface="Arial"/>
                <a:cs typeface="Arial"/>
                <a:sym typeface="Arial"/>
              </a:rPr>
              <a:t>, 2024</a:t>
            </a:r>
            <a:endParaRPr sz="2400" b="1" i="0" u="none" strike="noStrike" cap="none">
              <a:solidFill>
                <a:srgbClr val="3C78D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68176" y="53026"/>
            <a:ext cx="5031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Groq - fast inference hardware and platform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80625" y="439875"/>
            <a:ext cx="3813000" cy="163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GROQ - Super fast LPU Inference Engine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LPU = Language Processing Unit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Up to 500 tokens/sec, x100 - x600 faster than GPUs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https://www.youtube.com/watch?v=gmzd8dhlc0g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https://www.youtube.com/watch?v=fv69M1M_fXw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https://www.youtube.com/watch?v=WQDMKTEgQnY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https://groq.com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https://console.groq.com/docs/quickstart</a:t>
            </a: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01826" y="2269425"/>
            <a:ext cx="6036026" cy="2752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22100" y="106951"/>
            <a:ext cx="2822051" cy="19646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0250" y="2223975"/>
            <a:ext cx="1089925" cy="10899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/>
        </p:nvSpPr>
        <p:spPr>
          <a:xfrm>
            <a:off x="80625" y="3389950"/>
            <a:ext cx="2479800" cy="138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Jonathan Ross* is Groq’s founder and CEO. He has began Google’s TPU effort as a 20% project,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and became a member of Google X’s Rapid Eval Team (Moonshots factory).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975613" y="696713"/>
            <a:ext cx="2164500" cy="78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Groq's LPU card cost $20K,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which is much cheaper than $35K for Nvidia's H100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/>
        </p:nvSpPr>
        <p:spPr>
          <a:xfrm>
            <a:off x="59800" y="-48400"/>
            <a:ext cx="2828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Consumption Growth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100765" y="1122193"/>
            <a:ext cx="4335600" cy="3355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Accenture is pushing AI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. At their current billing rate, they are at $2.4 Billion annualized revenues from Gen AI. Yes, it is only ~3% of their overall bookings, but it grows 33% Quarter over Quarter.  Which means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more than doubling in a year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. And they are planning to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double the number of data scientists and AI consultants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(from 40K to 80K) in next 2 years.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https://analyticsindiamag.com/accentures-generative-ai-revenue-surpasses-all-vc-backed-startups-combined/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https://www.ciodive.com/news/accenture-ai-investments-billions-data-modernization/711132/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https://en.wikipedia.org/wiki/Accenture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Accenture plc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is a US multinational professional services company based in Dublin, specializing in IT services and consulting. A Fortune Global 500 company, it reported revenues of $64.1 billion in 2023.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733,000 employees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Accenture partnered with AWS and Anthropic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build industry-specific AI solutions and ease enterprise adoption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15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09938" y="614100"/>
            <a:ext cx="1451274" cy="436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61975" y="1279425"/>
            <a:ext cx="1731283" cy="17171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 txBox="1"/>
          <p:nvPr/>
        </p:nvSpPr>
        <p:spPr>
          <a:xfrm>
            <a:off x="4702975" y="3164335"/>
            <a:ext cx="4335600" cy="178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Average enterprise more than doubles budgets for AI in 2024 -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https://a16z.com/generative-ai-enterprise-2024/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In one case an enterprise increased budget x8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after seeing ~90% cost savings.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While 80-90% utilized closed source models in 2023,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nowadays 46% of leaders prefer open source.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Internal uses (coding assistants, text summarization) are moving faster than external apps (chatbots).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/>
        </p:nvSpPr>
        <p:spPr>
          <a:xfrm>
            <a:off x="-48926" y="-116050"/>
            <a:ext cx="4092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Emad Mostaque Has Left Stability.AI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27925" y="526075"/>
            <a:ext cx="4802700" cy="444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Emad Mostaque, the founder and SEO of Stabiltiy.AI has left the company "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 pursue decentralized AI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".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https://www.theverge.com/2024/3/23/24109511/stability-ai-ceo-emad-mostaque-resignation-decentralized-ai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https://twitter.com/EMostaque/status/1771400218170519741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This departure is following reports of million-dollar burn rates and high-profile research team exits (3 out of 5 of the researchers behind Stable Diffusion reportedly followed suit, including leader Robin Rombach).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This move raises questions about the future of Stable Diffusion.  With Mostaque leaving and key developers gone, is the highly anticipated Stable Diffusion 3 release in jeopardy?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... push toward developing commercialized AI products is likely a big part of why Mostaque has stepped down.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"Not going to beat centralized AI with more centralized AI," said Mostaque in a post on X, following his resignation. "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It is now time to ensure AI remains open and decentralized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," says Mostaque in a separate statement.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" name="Google Shape;83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58925" y="152400"/>
            <a:ext cx="3042325" cy="2028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3700" y="2604550"/>
            <a:ext cx="1434300" cy="1587965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/>
        </p:nvSpPr>
        <p:spPr>
          <a:xfrm>
            <a:off x="5174938" y="4192525"/>
            <a:ext cx="14343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Robin Rombach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6400775" y="2219650"/>
            <a:ext cx="14343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Emad Mostaque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9250" y="2604550"/>
            <a:ext cx="1290232" cy="1587976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6"/>
          <p:cNvSpPr txBox="1"/>
          <p:nvPr/>
        </p:nvSpPr>
        <p:spPr>
          <a:xfrm>
            <a:off x="7950800" y="4192525"/>
            <a:ext cx="1065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Dominik Lorenz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6634874" y="4192525"/>
            <a:ext cx="1290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Andreas Blattmann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/>
          <p:nvPr/>
        </p:nvSpPr>
        <p:spPr>
          <a:xfrm>
            <a:off x="0" y="0"/>
            <a:ext cx="1803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Mistral 7b v0.2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94425" y="487325"/>
            <a:ext cx="4569600" cy="297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Mistral-7B-v0.2 has the following changes compared to Mistral-7B-v0.1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32k context window (vs 8k context in v0.1)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Rope-theta = 1e6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No Sliding-Window Attention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https://twitter.com/dchaplot/status/1771672289953866212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https://twitter.com/osanseviero/status/1771654833830821949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https://huggingface.co/mistralai/Mistral-7B-Instruct-v0.2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https://twitter.com/ofermend/status/1772070911937560748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https://ollama.com/library/mistral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- updated to v0.2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https://arxiv.org/abs/2310.06825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(Oct 2023)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https://docs.mistral.ai/models/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https://github.com/mistralai-sf24/hackathon/tree/main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https://www.youtube.com/watch?v=62gpF6Uq6Rc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7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9588" y="3539077"/>
            <a:ext cx="3399282" cy="146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7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60099" y="147100"/>
            <a:ext cx="3241375" cy="2276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7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60100" y="2458575"/>
            <a:ext cx="3241375" cy="25073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/>
          <p:nvPr/>
        </p:nvSpPr>
        <p:spPr>
          <a:xfrm>
            <a:off x="65200" y="47925"/>
            <a:ext cx="4399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Agentic Workflows - Andrew Ng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65200" y="461881"/>
            <a:ext cx="4506800" cy="138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Reflection, self-reflection, self-improvement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 Use (RAG or </a:t>
            </a:r>
            <a:r>
              <a:rPr lang="en" sz="13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websearch</a:t>
            </a: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calculator, code execution, ...)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Planning - devise and implement multi-step strategy (chain-of-thought, tree-of-thought, ...)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Multi-Agent Collaboration, distribute tasks, exchanging ideas to forge superior solutions.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 txBox="1"/>
          <p:nvPr/>
        </p:nvSpPr>
        <p:spPr>
          <a:xfrm>
            <a:off x="65200" y="1934825"/>
            <a:ext cx="4506800" cy="58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https://www.deeplearning.ai/the-batch/issue-241/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https://www.youtube.com/watch?v=sal78ACtGTc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3325" y="374325"/>
            <a:ext cx="4399199" cy="4701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8374" y="60845"/>
            <a:ext cx="1524695" cy="50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8" y="2607374"/>
            <a:ext cx="4486462" cy="217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/>
          <p:nvPr/>
        </p:nvSpPr>
        <p:spPr>
          <a:xfrm>
            <a:off x="0" y="0"/>
            <a:ext cx="23031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Databricks DBRX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48574" y="544275"/>
            <a:ext cx="4371025" cy="330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DBRX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 - new open-source LLM from Databricks' Mosaic team.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Better than Llama-2, Grok, and </a:t>
            </a:r>
            <a:r>
              <a:rPr lang="en" sz="13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Mixtral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LLM, transformer-based, decoder-only, 132B params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ixture-of-Experts (</a:t>
            </a:r>
            <a:r>
              <a:rPr lang="en" sz="1300" dirty="0" err="1">
                <a:latin typeface="Calibri"/>
                <a:ea typeface="Calibri"/>
                <a:cs typeface="Calibri"/>
                <a:sym typeface="Calibri"/>
              </a:rPr>
              <a:t>MoE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) - 16 experts, chooses 4.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Rotary Position Encodings (</a:t>
            </a:r>
            <a:r>
              <a:rPr lang="en" sz="1300" dirty="0" err="1">
                <a:latin typeface="Calibri"/>
                <a:ea typeface="Calibri"/>
                <a:cs typeface="Calibri"/>
                <a:sym typeface="Calibri"/>
              </a:rPr>
              <a:t>RoPE</a:t>
            </a: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Gated Linear Units (GLU)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Grouped Query Attention (GQA)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GPT-4 tokenizer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dirty="0">
                <a:latin typeface="Calibri"/>
                <a:ea typeface="Calibri"/>
                <a:cs typeface="Calibri"/>
                <a:sym typeface="Calibri"/>
              </a:rPr>
              <a:t>needs 4 80GB GPUs to run inference with 16-bit precision</a:t>
            </a:r>
            <a:endParaRPr sz="13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https://www.databricks.com/blog/announcing-dbrx-new-standard-efficient-open-source-customizable-llms</a:t>
            </a:r>
            <a:endParaRPr sz="10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https://github.com/databricks/dbrx</a:t>
            </a:r>
            <a:r>
              <a:rPr lang="en" sz="10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https://huggingface.co/collections/databricks/dbrx-6601c0852a0cdd3c59f71962</a:t>
            </a:r>
            <a:r>
              <a:rPr lang="en" sz="10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dirty="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https://www.databricks.com/blog/introducing-dbrx-new-state-art-open-llm</a:t>
            </a:r>
            <a:r>
              <a:rPr lang="en" sz="10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" name="Google Shape;115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989450" y="207025"/>
            <a:ext cx="2952750" cy="155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0925" y="2339875"/>
            <a:ext cx="4522598" cy="2685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/>
          <p:nvPr/>
        </p:nvSpPr>
        <p:spPr>
          <a:xfrm>
            <a:off x="0" y="0"/>
            <a:ext cx="20238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Jamba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66774" y="492600"/>
            <a:ext cx="3483407" cy="2493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AI21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just announced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Jamba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- an </a:t>
            </a:r>
            <a:r>
              <a:rPr lang="en" sz="1300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open-source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Mamba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!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Hybrid SSM / Transformer model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MoE with 52B parameters (active 12B).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SSM reduces quadratic complexity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256K context length - while x3 faster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than Mixtral 8x7B on long contexts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Fits up to 140K context on a single GPU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Competitive performance to Mixtral!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Open weights: Apache 2.0.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https://twitter.com/Yampeleg/status/1773364830423937090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https://www.ai21.com/blog/announcing-jamba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2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90493" y="665550"/>
            <a:ext cx="2571499" cy="1446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81400" y="2324667"/>
            <a:ext cx="5511450" cy="273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1"/>
          <p:cNvSpPr txBox="1"/>
          <p:nvPr/>
        </p:nvSpPr>
        <p:spPr>
          <a:xfrm>
            <a:off x="0" y="0"/>
            <a:ext cx="20238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1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112300" y="492600"/>
            <a:ext cx="4341000" cy="221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Context Length / Output Length</a:t>
            </a:r>
            <a:endParaRPr sz="11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84150" algn="l" rtl="0">
              <a:spcBef>
                <a:spcPts val="0"/>
              </a:spcBef>
              <a:spcAft>
                <a:spcPts val="0"/>
              </a:spcAft>
              <a:buSzPts val="1100"/>
              <a:buFont typeface="Roboto Mono"/>
              <a:buChar char="●"/>
            </a:pP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gpt-3.5-turbo-0125 -  16K / 4K tokens in/out, </a:t>
            </a:r>
            <a:br>
              <a:rPr lang="en" sz="1100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data as of Sept 2021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84150" algn="l" rtl="0">
              <a:spcBef>
                <a:spcPts val="0"/>
              </a:spcBef>
              <a:spcAft>
                <a:spcPts val="0"/>
              </a:spcAft>
              <a:buSzPts val="1100"/>
              <a:buFont typeface="Roboto Mono"/>
              <a:buChar char="●"/>
            </a:pP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gpt-4-0125-preview - 128K / 4K tokens in/out, </a:t>
            </a:r>
            <a:br>
              <a:rPr lang="en" sz="1100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data as of Dec 2023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84150" algn="l" rtl="0">
              <a:spcBef>
                <a:spcPts val="0"/>
              </a:spcBef>
              <a:spcAft>
                <a:spcPts val="0"/>
              </a:spcAft>
              <a:buSzPts val="1100"/>
              <a:buFont typeface="Roboto Mono"/>
              <a:buChar char="●"/>
            </a:pP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Claude-3           - 200K / 4K tokens in/out, </a:t>
            </a:r>
            <a:br>
              <a:rPr lang="en" sz="1100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data as of Aug 2023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84150" algn="l" rtl="0">
              <a:spcBef>
                <a:spcPts val="0"/>
              </a:spcBef>
              <a:spcAft>
                <a:spcPts val="0"/>
              </a:spcAft>
              <a:buSzPts val="1100"/>
              <a:buFont typeface="Roboto Mono"/>
              <a:buChar char="●"/>
            </a:pP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Gemini Pro 1.5     - 1Mln / 8K tokens in/out, </a:t>
            </a:r>
            <a:br>
              <a:rPr lang="en" sz="1100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data as of ... 2023 ?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lvl="0" indent="-184150" algn="l" rtl="0">
              <a:spcBef>
                <a:spcPts val="0"/>
              </a:spcBef>
              <a:spcAft>
                <a:spcPts val="0"/>
              </a:spcAft>
              <a:buSzPts val="1100"/>
              <a:buFont typeface="Roboto Mono"/>
              <a:buChar char="●"/>
            </a:pP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Mistral-7B v0.2     - 32K / ?? tokens in/out,</a:t>
            </a:r>
            <a:br>
              <a:rPr lang="en" sz="1100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100">
                <a:latin typeface="Roboto Mono"/>
                <a:ea typeface="Roboto Mono"/>
                <a:cs typeface="Roboto Mono"/>
                <a:sym typeface="Roboto Mono"/>
              </a:rPr>
              <a:t>data as of ... .... ?</a:t>
            </a:r>
            <a:endParaRPr sz="110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31" name="Google Shape;131;p21"/>
          <p:cNvSpPr txBox="1"/>
          <p:nvPr/>
        </p:nvSpPr>
        <p:spPr>
          <a:xfrm>
            <a:off x="112300" y="2783750"/>
            <a:ext cx="4341000" cy="38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Stable Code Instruct 3B from Stability.ai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1"/>
          <p:cNvSpPr txBox="1"/>
          <p:nvPr/>
        </p:nvSpPr>
        <p:spPr>
          <a:xfrm>
            <a:off x="112300" y="3260200"/>
            <a:ext cx="4341000" cy="178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 Interpreter 01 Light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is an open-source hardware device that enables users to control any computer through natural language commands.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This device is part of a broader open-source project aimed at creating a more accessible and flexible computing experience.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https://github.com/OpenInterpreter/01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https://www.geeky-gadgets.com/pocket-ai-agent/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2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3436" y="3107789"/>
            <a:ext cx="3678863" cy="17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1"/>
          <p:cNvSpPr txBox="1"/>
          <p:nvPr/>
        </p:nvSpPr>
        <p:spPr>
          <a:xfrm>
            <a:off x="4673425" y="492600"/>
            <a:ext cx="4341000" cy="78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OpenAI is pitching Sora to Hollywood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https://www.theverge.com/2024/3/22/24108858/openai-is-pitching-sora-to-hollywood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1"/>
          <p:cNvSpPr txBox="1"/>
          <p:nvPr/>
        </p:nvSpPr>
        <p:spPr>
          <a:xfrm>
            <a:off x="4673425" y="1397975"/>
            <a:ext cx="4341000" cy="73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10% of US workers are in jobs most exposed to artificial intelligence, White House says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https://www.cnn.com/2024/03/21/business/ai-jobs-white-house-work-force/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4673425" y="2252888"/>
            <a:ext cx="4341000" cy="58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Elon Musk - AGI may be achieved in 1-2-3 years, definitely in less than 5 years.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/>
        </p:nvSpPr>
        <p:spPr>
          <a:xfrm>
            <a:off x="0" y="-76200"/>
            <a:ext cx="2023800" cy="4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Chip War</a:t>
            </a:r>
            <a:endParaRPr sz="25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2"/>
          <p:cNvSpPr txBox="1"/>
          <p:nvPr/>
        </p:nvSpPr>
        <p:spPr>
          <a:xfrm>
            <a:off x="2664175" y="1006000"/>
            <a:ext cx="4802700" cy="298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Microchips are the new oil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Today, military, economic, and geopolitical power are built on a foundation of computer chips.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Virtually everything— from missiles to microwaves, smartphones to the stock market — runs on chips.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Until recently, America designed and built the fastest chips and maintained its lead as the #1 superpower.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Now, America's edge is slipping, undermined by competitors in Taiwan, Korea, Europe, and, above all, China. Today, as Chip War reveals,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China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, which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spends more money each year importing chips than it spends importing oil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, is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pouring billions into a chip-building initiative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to catch up to the US.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At stake is America's military superiority and economic prosperity.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2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842" y="1006000"/>
            <a:ext cx="1975732" cy="29861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/>
        </p:nvSpPr>
        <p:spPr>
          <a:xfrm>
            <a:off x="0" y="0"/>
            <a:ext cx="5151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Google let OpenAI take the lead?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3"/>
          <p:cNvSpPr txBox="1"/>
          <p:nvPr/>
        </p:nvSpPr>
        <p:spPr>
          <a:xfrm>
            <a:off x="127925" y="417000"/>
            <a:ext cx="4802700" cy="253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Google had a huge lead. Google created Google Translate, Attention mechanism, Transformer architecture (2017). Google understood the value of language models.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Google created multiple models, some of them  better than ChatGPT. But Google was hesitant about releasing them because chatbots were wrong often (hallucination) - and Google had a reputation and goal to always provide correct answers.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But releasing ChatGPT and other models made it clear that even with all shortcomings they are still useful and popular, and this has pushed Google to release their model eventually.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https://www.linkedin.com/pulse/why-google-missed-chatgpt-alex-kantrowitz/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/>
          <p:nvPr/>
        </p:nvSpPr>
        <p:spPr>
          <a:xfrm>
            <a:off x="0" y="0"/>
            <a:ext cx="2518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Simple RAG on AWS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127925" y="417000"/>
            <a:ext cx="4802700" cy="86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Build generative AI agents with Amazon Bedrock, Amazon DynamoDB, Amazon Kendra, Amazon Lex, and LangChain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145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https://github.com/aws-samples/generative-ai-amazon-bedrock-langchain-agent-example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145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https://python.langchain.com/docs/templates/rag-aws-kendra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2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8250" y="1524000"/>
            <a:ext cx="8080312" cy="343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/>
          <p:nvPr/>
        </p:nvSpPr>
        <p:spPr>
          <a:xfrm>
            <a:off x="0" y="0"/>
            <a:ext cx="4002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Multi-Agent RAG Systems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" name="Google Shape;162;p2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375" y="2019575"/>
            <a:ext cx="4410900" cy="146671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5"/>
          <p:cNvSpPr txBox="1"/>
          <p:nvPr/>
        </p:nvSpPr>
        <p:spPr>
          <a:xfrm>
            <a:off x="4666775" y="126150"/>
            <a:ext cx="4410900" cy="4294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Use Microsoft AutoGen framework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https://superlinked.com/vectorhub/enhancing-rag-with-a-multi-agent-system</a:t>
            </a:r>
            <a:br>
              <a:rPr lang="en" sz="9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https://www.youtube.com/watch?v=b3ofDE-XSP0</a:t>
            </a:r>
            <a:br>
              <a:rPr lang="en" sz="9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https://pub.aimind.so/a-quick-tutorial-on-multi-agent-workflows-with-autogen-354a394d3df1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Improving RAG using LangGraph and LangChain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https://medium.com/data-science-in-your-pocket/improving-rag-using-langgraph-and-langchain-bb195bfe4b44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0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https://www.youtube.com/watch?v=TlZ5BFx_m3M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Using LangChain ReAct Agents for Answering Multi-hop Questions in RAG Systems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https://towardsdatascience.com/using-langchain-react-agents-for-answering-multi-hop-questions-in-rag-systems-893208c1847e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ARAG = Augentic RAG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https://www.linkedin.com/pulse/deep-dive-agentic-retrieval-augmented-generation-a-rag-sai-panyam-22dlc/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LLamaIndex Agentic RAG Demo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https://cobusgreyling.medium.com/llamaindex-agentic-rag-demo-56e3f3cd973a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Adding Agentic Layers to RAG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https://www.youtube.com/watch?v=aQ4yQXeB1Ss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Multi-Agent RAG using AWS &amp; Kendra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Multi-Agent RAG using CrewAI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RAG on Azure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Multi-Agent RAG on Azure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 txBox="1"/>
          <p:nvPr/>
        </p:nvSpPr>
        <p:spPr>
          <a:xfrm>
            <a:off x="51375" y="401675"/>
            <a:ext cx="4410900" cy="138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Enhancing RAG with a Multi-Agent System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using LangChain, Microsoft AutoGen, LLamaIndex, ...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Multiple agents: query understanding, retriever, ranker, reader, and orchestrator agents.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Multi-agent RAG can mitigate single-agent RAG's relevance, scalability, and latency limitations.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/>
          <p:nvPr/>
        </p:nvSpPr>
        <p:spPr>
          <a:xfrm>
            <a:off x="137092" y="53578"/>
            <a:ext cx="3199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RAG - Evaluate and Improve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6"/>
          <p:cNvSpPr txBox="1"/>
          <p:nvPr/>
        </p:nvSpPr>
        <p:spPr>
          <a:xfrm>
            <a:off x="1289200" y="496850"/>
            <a:ext cx="5039700" cy="438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Naive RAG, how to evaluate RAG Applications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..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https://www.youtube.com/watch?v=CgQdg0SRuC0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Bad retrieval: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low precision, not relevant data, hallucination, lost in the middle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low recall, not all relevant data retrieved, so not enough data to synthesize and answer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redundant or outdated data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Bad Response Generation: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0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Hallucination, Irrelevance, Toxicity/Bias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How to improve?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Store additional information, multi-model data store like Activeloop's Deep Lake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Embeddings - make them better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Retrieval - make better using Activeloop's Deep Memory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Synthesis - use LLMs for more than generation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Evaluate RAG: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e2e (End-to-end) or evaluate separately retrieval and synthesis.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retrieval - precision &amp; recall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synthesis - labeled (accuracy), non-labeled ( faithfulness, relevancy, adheres to guidelines, toxicity-free)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 txBox="1"/>
          <p:nvPr/>
        </p:nvSpPr>
        <p:spPr>
          <a:xfrm>
            <a:off x="137092" y="53578"/>
            <a:ext cx="3199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RAG - Advanced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7"/>
          <p:cNvSpPr txBox="1"/>
          <p:nvPr/>
        </p:nvSpPr>
        <p:spPr>
          <a:xfrm>
            <a:off x="76200" y="449850"/>
            <a:ext cx="4579500" cy="1585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https://www.youtube.com/watch?v=TdjvzSpjBuI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Better Parsers, Chunk Sizes, Hybrid Search, Metadata Filters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Deep Memory, Reranking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Recursive Retrieval, Embedded Tables, Small-to-Big Retrieval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Agents, Multi-agents, routing, query planning, multi-document agents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Embedding Fine-tuning &amp; LLM Fine-tuning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7" name="Google Shape;177;p27"/>
          <p:cNvGraphicFramePr/>
          <p:nvPr/>
        </p:nvGraphicFramePr>
        <p:xfrm>
          <a:off x="4741900" y="449838"/>
          <a:ext cx="4280950" cy="2222950"/>
        </p:xfrm>
        <a:graphic>
          <a:graphicData uri="http://schemas.openxmlformats.org/drawingml/2006/table">
            <a:tbl>
              <a:tblPr>
                <a:noFill/>
                <a:tableStyleId>{02E45B01-94E9-479C-94AC-D3F2388F49AB}</a:tableStyleId>
              </a:tblPr>
              <a:tblGrid>
                <a:gridCol w="214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0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5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Pain Point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Solutions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Retrieval is bad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Deep Memory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Adjusting chunk sizes / parsers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Reranking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Small-to-big retrieval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Fine-tuning Embeddings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Handling structured/unstructured data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Metadata Filters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Augmenting SQL with semantic search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Parsing embedded tables in PDFs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Recursive Retrieval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59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Handling Complex Questions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Routing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Query Planning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228600" lvl="0" indent="-177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Font typeface="Calibri"/>
                        <a:buChar char="●"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Multi-Document Agents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8" name="Google Shape;178;p27"/>
          <p:cNvSpPr txBox="1"/>
          <p:nvPr/>
        </p:nvSpPr>
        <p:spPr>
          <a:xfrm>
            <a:off x="76200" y="2257625"/>
            <a:ext cx="4579500" cy="149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 Memory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 - a set of tools offered by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Activeloop.ai</a:t>
            </a:r>
            <a:endParaRPr sz="13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https://docs.activeloop.ai/example-code/tutorials/vector-store/improving-search-accuracy-using-deep-memory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 Memory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a tiny neural network, it analyzes your data and computes a tailored transformation for your embeddings, placing embeddings in an optimized space, significantly improving the accuracy of vector search (up to 22% increase in accuracy).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2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475" y="2792025"/>
            <a:ext cx="3165399" cy="23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7"/>
          <p:cNvSpPr txBox="1"/>
          <p:nvPr/>
        </p:nvSpPr>
        <p:spPr>
          <a:xfrm>
            <a:off x="76200" y="4064450"/>
            <a:ext cx="4579500" cy="58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Small-to-big retrieval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 - embed sentence, return with text before and after (implemented in LlamaIndex)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/>
        </p:nvSpPr>
        <p:spPr>
          <a:xfrm>
            <a:off x="127925" y="0"/>
            <a:ext cx="43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GraphRAG, Other Graph RAG Systems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810675" y="2272650"/>
            <a:ext cx="5743800" cy="235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Neo4j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graph database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https://neo4j.com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0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https://www.youtube.com/watch?v=ftlZ0oeXYRE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- Neo4j RAG</a:t>
            </a:r>
            <a:br>
              <a:rPr lang="en" sz="10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https://www.youtube.com/watch?v=jMKRUo4wVKA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Neo4j RAG - Andrew Ng course</a:t>
            </a:r>
            <a:br>
              <a:rPr lang="en" sz="10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https://www.youtube.com/watch?v=DuUtzRYbpNM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- Neo4j in 10 min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Amazon Neptune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fully managed graph database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https://aws.amazon.com/neptune/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Stardog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enterprise knowledge graph platform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https://www.stardog.com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Ontotext GraphDB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an RDF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database, great for semantic search.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RDF = Resource Description Framework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, stores information as graph of tripples (subject, predicate (property or relationship), object)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https://www.ontotext.com/products/graphdb/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Graph Engine Service (GES) on Huawei Cloud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distributed high scale graph DB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ttps://www.huaweicloud.com/intl/en-us/product/ges.html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8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68750" y="807875"/>
            <a:ext cx="1313374" cy="883849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/>
          <p:nvPr/>
        </p:nvSpPr>
        <p:spPr>
          <a:xfrm>
            <a:off x="810675" y="506775"/>
            <a:ext cx="4323600" cy="149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GraphRAG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uses LLM to create knowledge graph as a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GNN  (Graph Neural Network)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. GNN is used to both embedding the knowledge into the graph (as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numeric embedding vectors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) and to identify key information (ranked retrieval).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https://www.microsoft.com/en-us/research/blog/graphrag-unlocking-llm-discovery-on-narrative-private-data/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/>
        </p:nvSpPr>
        <p:spPr>
          <a:xfrm>
            <a:off x="7484600" y="998050"/>
            <a:ext cx="15672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models: 75 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votes: 477,471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March 26, 2024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9"/>
          <p:cNvSpPr txBox="1"/>
          <p:nvPr/>
        </p:nvSpPr>
        <p:spPr>
          <a:xfrm>
            <a:off x="7254050" y="4211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9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5535876" y="45850"/>
            <a:ext cx="3549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https://huggingface.co/spaces/lmsys/chatbot-arena-leaderboard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9"/>
          <p:cNvSpPr txBox="1"/>
          <p:nvPr/>
        </p:nvSpPr>
        <p:spPr>
          <a:xfrm>
            <a:off x="5421775" y="2708150"/>
            <a:ext cx="8874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5421775" y="3324540"/>
            <a:ext cx="8874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5421775" y="4592860"/>
            <a:ext cx="8874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2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00" y="536950"/>
            <a:ext cx="5116974" cy="3402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9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00" y="3943800"/>
            <a:ext cx="5117001" cy="1042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/>
          <p:nvPr/>
        </p:nvSpPr>
        <p:spPr>
          <a:xfrm>
            <a:off x="72300" y="76200"/>
            <a:ext cx="4874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</a:t>
            </a: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Layoffs are x3 times lower than in 2023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0"/>
          <p:cNvSpPr txBox="1"/>
          <p:nvPr/>
        </p:nvSpPr>
        <p:spPr>
          <a:xfrm>
            <a:off x="6291625" y="109963"/>
            <a:ext cx="20025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Layoffs - </a:t>
            </a: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F0F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0"/>
          <p:cNvSpPr txBox="1"/>
          <p:nvPr/>
        </p:nvSpPr>
        <p:spPr>
          <a:xfrm>
            <a:off x="251750" y="4354775"/>
            <a:ext cx="8649300" cy="554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Salaries for AI engineers rose 12% from the third to fourth quarter last year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average salary for a senior AI engineer nationally is more than $190,000, according to Comprehensive.io.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p3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255" y="606820"/>
            <a:ext cx="8466675" cy="3654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5238" y="1203525"/>
            <a:ext cx="2094075" cy="2094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31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1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1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0941" y="3664175"/>
            <a:ext cx="1144600" cy="415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1"/>
          <p:cNvSpPr txBox="1"/>
          <p:nvPr/>
        </p:nvSpPr>
        <p:spPr>
          <a:xfrm>
            <a:off x="912377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1"/>
          <p:cNvSpPr txBox="1"/>
          <p:nvPr/>
        </p:nvSpPr>
        <p:spPr>
          <a:xfrm>
            <a:off x="536203" y="4360974"/>
            <a:ext cx="2094075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2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/>
          <p:nvPr/>
        </p:nvSpPr>
        <p:spPr>
          <a:xfrm>
            <a:off x="0" y="-11385"/>
            <a:ext cx="20238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3"/>
          <p:cNvSpPr txBox="1"/>
          <p:nvPr/>
        </p:nvSpPr>
        <p:spPr>
          <a:xfrm>
            <a:off x="75975" y="550625"/>
            <a:ext cx="4384800" cy="38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2572</Words>
  <Application>Microsoft Macintosh PowerPoint</Application>
  <PresentationFormat>On-screen Show (16:9)</PresentationFormat>
  <Paragraphs>251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</cp:revision>
  <dcterms:modified xsi:type="dcterms:W3CDTF">2024-03-29T02:51:39Z</dcterms:modified>
</cp:coreProperties>
</file>