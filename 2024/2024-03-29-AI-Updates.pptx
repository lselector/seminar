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embeddedFontLst>
    <p:embeddedFont>
      <p:font typeface="Roboto Mono" pitchFamily="49"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D71B68-C5DD-425E-8F42-CA6E4722A4F6}">
  <a:tblStyle styleId="{92D71B68-C5DD-425E-8F42-CA6E4722A4F6}"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c780f2d62a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g2c780f2d62a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c792c30ee4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g2c792c30ee4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c792c30ee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2c792c30ee4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www.youtube.com/watch?v=gmzd8dhlc0g" TargetMode="External"/><Relationship Id="rId7" Type="http://schemas.openxmlformats.org/officeDocument/2006/relationships/hyperlink" Target="https://console.groq.com/docs/quickstart"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groq.com" TargetMode="External"/><Relationship Id="rId5" Type="http://schemas.openxmlformats.org/officeDocument/2006/relationships/hyperlink" Target="https://www.youtube.com/watch?v=WQDMKTEgQnY" TargetMode="External"/><Relationship Id="rId10" Type="http://schemas.openxmlformats.org/officeDocument/2006/relationships/image" Target="../media/image3.jpg"/><Relationship Id="rId4" Type="http://schemas.openxmlformats.org/officeDocument/2006/relationships/hyperlink" Target="https://www.youtube.com/watch?v=fv69M1M_fXw" TargetMode="External"/><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hyperlink" Target="https://a16z.com/generative-ai-enterprise-2024/" TargetMode="External"/><Relationship Id="rId3" Type="http://schemas.openxmlformats.org/officeDocument/2006/relationships/hyperlink" Target="https://analyticsindiamag.com/accentures-generative-ai-revenue-surpasses-all-vc-backed-startups-combined/" TargetMode="External"/><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en.wikipedia.org/wiki/Accenture" TargetMode="External"/><Relationship Id="rId4" Type="http://schemas.openxmlformats.org/officeDocument/2006/relationships/hyperlink" Target="https://www.ciodive.com/news/accenture-ai-investments-billions-data-modernization/711132/"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theverge.com/2024/3/23/24109511/stability-ai-ceo-emad-mostaque-resignation-decentralized-ai" TargetMode="External"/><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hyperlink" Target="https://twitter.com/EMostaque/status/1771400218170519741"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arxiv.org/abs/2310.06825" TargetMode="External"/><Relationship Id="rId13" Type="http://schemas.openxmlformats.org/officeDocument/2006/relationships/image" Target="../media/image10.jpg"/><Relationship Id="rId3" Type="http://schemas.openxmlformats.org/officeDocument/2006/relationships/hyperlink" Target="https://twitter.com/dchaplot/status/1771672289953866212" TargetMode="External"/><Relationship Id="rId7" Type="http://schemas.openxmlformats.org/officeDocument/2006/relationships/hyperlink" Target="https://ollama.com/library/mistral" TargetMode="External"/><Relationship Id="rId12"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twitter.com/ofermend/status/1772070911937560748" TargetMode="External"/><Relationship Id="rId11" Type="http://schemas.openxmlformats.org/officeDocument/2006/relationships/hyperlink" Target="https://www.youtube.com/watch?v=62gpF6Uq6Rc" TargetMode="External"/><Relationship Id="rId5" Type="http://schemas.openxmlformats.org/officeDocument/2006/relationships/hyperlink" Target="https://huggingface.co/mistralai/Mistral-7B-Instruct-v0.2" TargetMode="External"/><Relationship Id="rId10" Type="http://schemas.openxmlformats.org/officeDocument/2006/relationships/hyperlink" Target="https://github.com/mistralai-sf24/hackathon/tree/main" TargetMode="External"/><Relationship Id="rId4" Type="http://schemas.openxmlformats.org/officeDocument/2006/relationships/hyperlink" Target="https://twitter.com/osanseviero/status/1771654833830821949" TargetMode="External"/><Relationship Id="rId9" Type="http://schemas.openxmlformats.org/officeDocument/2006/relationships/hyperlink" Target="https://docs.mistral.ai/models/" TargetMode="External"/><Relationship Id="rId14"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hyperlink" Target="https://www.deeplearning.ai/the-batch/issue-241/" TargetMode="External"/><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hyperlink" Target="https://www.youtube.com/watch?v=sal78ACtGTc"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s://www.databricks.com/blog/announcing-dbrx-new-standard-efficient-open-source-customizable-llms" TargetMode="External"/><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databricks.com/blog/introducing-dbrx-new-state-art-open-llm" TargetMode="External"/><Relationship Id="rId5" Type="http://schemas.openxmlformats.org/officeDocument/2006/relationships/hyperlink" Target="https://huggingface.co/collections/databricks/dbrx-6601c0852a0cdd3c59f71962" TargetMode="External"/><Relationship Id="rId4" Type="http://schemas.openxmlformats.org/officeDocument/2006/relationships/hyperlink" Target="https://github.com/databricks/dbrx"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twitter.com/Yampeleg/status/1773364830423937090" TargetMode="External"/><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hyperlink" Target="https://arxiv.org/pdf/2312.00752.pdf" TargetMode="External"/><Relationship Id="rId10" Type="http://schemas.openxmlformats.org/officeDocument/2006/relationships/image" Target="../media/image21.png"/><Relationship Id="rId4" Type="http://schemas.openxmlformats.org/officeDocument/2006/relationships/hyperlink" Target="https://www.ai21.com/blog/announcing-jamba" TargetMode="External"/><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hyperlink" Target="https://arxiv.org/abs/2403.15360"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hyperlink" Target="https://www.marktechpost.com/2024/03/27/this-ai-paper-from-microsoft-present-simba-a-simplified-mamba-based-architecture-for-vision-and-multivariate-time-series/" TargetMode="External"/><Relationship Id="rId4" Type="http://schemas.openxmlformats.org/officeDocument/2006/relationships/hyperlink" Target="https://github.com/badripatro/Simba"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x.ai/blog/grok-1.5" TargetMode="External"/><Relationship Id="rId3" Type="http://schemas.openxmlformats.org/officeDocument/2006/relationships/hyperlink" Target="https://github.com/OpenInterpreter/01" TargetMode="External"/><Relationship Id="rId7" Type="http://schemas.openxmlformats.org/officeDocument/2006/relationships/hyperlink" Target="https://www.cnn.com/2024/03/21/business/ai-jobs-white-house-work-force/"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theverge.com/2024/3/22/24108858/openai-is-pitching-sora-to-hollywood" TargetMode="External"/><Relationship Id="rId5" Type="http://schemas.openxmlformats.org/officeDocument/2006/relationships/image" Target="../media/image23.png"/><Relationship Id="rId10" Type="http://schemas.openxmlformats.org/officeDocument/2006/relationships/hyperlink" Target="https://github.com/neo4j/NaLLM" TargetMode="External"/><Relationship Id="rId4" Type="http://schemas.openxmlformats.org/officeDocument/2006/relationships/hyperlink" Target="https://www.geeky-gadgets.com/pocket-ai-agent/" TargetMode="External"/><Relationship Id="rId9" Type="http://schemas.openxmlformats.org/officeDocument/2006/relationships/hyperlink" Target="https://github.com/h2oai/h2o-wizardl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linkedin.com/pulse/why-google-missed-chatgpt-alex-kantrowitz/"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ws-samples/generative-ai-amazon-bedrock-langchain-agent-example"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hyperlink" Target="https://python.langchain.com/docs/templates/rag-aws-kendra"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www.youtube.com/watch?v=TlZ5BFx_m3M" TargetMode="External"/><Relationship Id="rId3" Type="http://schemas.openxmlformats.org/officeDocument/2006/relationships/image" Target="../media/image26.png"/><Relationship Id="rId7" Type="http://schemas.openxmlformats.org/officeDocument/2006/relationships/hyperlink" Target="https://medium.com/data-science-in-your-pocket/improving-rag-using-langgraph-and-langchain-bb195bfe4b44" TargetMode="External"/><Relationship Id="rId12" Type="http://schemas.openxmlformats.org/officeDocument/2006/relationships/hyperlink" Target="https://www.youtube.com/watch?v=aQ4yQXeB1Ss"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pub.aimind.so/a-quick-tutorial-on-multi-agent-workflows-with-autogen-354a394d3df1" TargetMode="External"/><Relationship Id="rId11" Type="http://schemas.openxmlformats.org/officeDocument/2006/relationships/hyperlink" Target="https://cobusgreyling.medium.com/llamaindex-agentic-rag-demo-56e3f3cd973a" TargetMode="External"/><Relationship Id="rId5" Type="http://schemas.openxmlformats.org/officeDocument/2006/relationships/hyperlink" Target="https://www.youtube.com/watch?v=b3ofDE-XSP0" TargetMode="External"/><Relationship Id="rId10" Type="http://schemas.openxmlformats.org/officeDocument/2006/relationships/hyperlink" Target="https://www.linkedin.com/pulse/deep-dive-agentic-retrieval-augmented-generation-a-rag-sai-panyam-22dlc/" TargetMode="External"/><Relationship Id="rId4" Type="http://schemas.openxmlformats.org/officeDocument/2006/relationships/hyperlink" Target="https://superlinked.com/vectorhub/enhancing-rag-with-a-multi-agent-system" TargetMode="External"/><Relationship Id="rId9" Type="http://schemas.openxmlformats.org/officeDocument/2006/relationships/hyperlink" Target="https://towardsdatascience.com/using-langchain-react-agents-for-answering-multi-hop-questions-in-rag-systems-893208c1847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CgQdg0SRuC0"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TdjvzSpjBuI"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hyperlink" Target="https://docs.activeloop.ai/example-code/tutorials/vector-store/improving-search-accuracy-using-deep-memory"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hyperlink" Target="https://www.activeloop.ai" TargetMode="External"/><Relationship Id="rId7" Type="http://schemas.openxmlformats.org/officeDocument/2006/relationships/hyperlink" Target="https://docs.activeloop.ai/quickstart"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docs.activeloop.ai" TargetMode="External"/><Relationship Id="rId5" Type="http://schemas.openxmlformats.org/officeDocument/2006/relationships/hyperlink" Target="https://github.com/activeloopai/deeplake/" TargetMode="External"/><Relationship Id="rId4" Type="http://schemas.openxmlformats.org/officeDocument/2006/relationships/hyperlink" Target="https://www.activeloop.ai/about/" TargetMode="External"/><Relationship Id="rId9" Type="http://schemas.openxmlformats.org/officeDocument/2006/relationships/image" Target="../media/image29.jpeg"/></Relationships>
</file>

<file path=ppt/slides/_rels/slide18.xml.rels><?xml version="1.0" encoding="UTF-8" standalone="yes"?>
<Relationships xmlns="http://schemas.openxmlformats.org/package/2006/relationships"><Relationship Id="rId8" Type="http://schemas.openxmlformats.org/officeDocument/2006/relationships/hyperlink" Target="https://www.stardog.com" TargetMode="External"/><Relationship Id="rId3" Type="http://schemas.openxmlformats.org/officeDocument/2006/relationships/hyperlink" Target="https://neo4j.com" TargetMode="External"/><Relationship Id="rId7" Type="http://schemas.openxmlformats.org/officeDocument/2006/relationships/hyperlink" Target="https://aws.amazon.com/neptune/" TargetMode="External"/><Relationship Id="rId12" Type="http://schemas.openxmlformats.org/officeDocument/2006/relationships/hyperlink" Target="https://www.microsoft.com/en-us/research/blog/graphrag-unlocking-llm-discovery-on-narrative-private-data/"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www.youtube.com/watch?v=DuUtzRYbpNM" TargetMode="External"/><Relationship Id="rId11" Type="http://schemas.openxmlformats.org/officeDocument/2006/relationships/image" Target="../media/image30.png"/><Relationship Id="rId5" Type="http://schemas.openxmlformats.org/officeDocument/2006/relationships/hyperlink" Target="https://www.youtube.com/watch?v=jMKRUo4wVKA" TargetMode="External"/><Relationship Id="rId10" Type="http://schemas.openxmlformats.org/officeDocument/2006/relationships/hyperlink" Target="https://www.huaweicloud.com/intl/en-us/product/ges.html" TargetMode="External"/><Relationship Id="rId4" Type="http://schemas.openxmlformats.org/officeDocument/2006/relationships/hyperlink" Target="https://www.youtube.com/watch?v=ftlZ0oeXYRE" TargetMode="External"/><Relationship Id="rId9" Type="http://schemas.openxmlformats.org/officeDocument/2006/relationships/hyperlink" Target="https://www.ontotext.com/products/graphdb/"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mobiusml.github.io/1bit_blog/"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hyperlink" Target="https://huggingface.co/mobiuslabsgmbh/Llama-2-7b-chat-hf_2bitgs8_hqq" TargetMode="External"/><Relationship Id="rId4" Type="http://schemas.openxmlformats.org/officeDocument/2006/relationships/hyperlink" Target="https://huggingface.co/mobiuslabsgmbh/Llama-2-7b-chat-hf_1bitgs8_hqq"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huggingface.co/spaces/lmsys/chatbot-arena-leaderboard"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hyperlink" Target="https://qz.com/tech-layoffs-high-ai-struggling-find-talent-1851368861"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86325" y="1127825"/>
            <a:ext cx="4420200" cy="3648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Groq - fast inference hardware &amp; API</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AI Consumption Growth, Consulting $</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Emad Mostaque Has Left Stability.AI</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Mistral 7b v0.2</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Agentic Workflows - Andrew Ng</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Databricks DBRX</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Jamba from AI21 Labs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Simba from Microsoft</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Context Length / Output Length</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Open Interpreter 01 Light</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OpenAI Sora and Hollywood</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Elon Musk - AGI in 1-2-3 years</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h2o-wizardlm - turn docs into Q:A pairs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Microchips are the new oil</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How Google let OpenAI take the lead?</a:t>
            </a:r>
            <a:endParaRPr sz="1500" b="1" i="0" u="none" strike="noStrike" cap="none">
              <a:solidFill>
                <a:srgbClr val="3C78D8"/>
              </a:solidFill>
              <a:latin typeface="Arial"/>
              <a:ea typeface="Arial"/>
              <a:cs typeface="Arial"/>
              <a:sym typeface="Arial"/>
            </a:endParaRPr>
          </a:p>
        </p:txBody>
      </p:sp>
      <p:sp>
        <p:nvSpPr>
          <p:cNvPr id="55" name="Google Shape;55;p13"/>
          <p:cNvSpPr txBox="1"/>
          <p:nvPr/>
        </p:nvSpPr>
        <p:spPr>
          <a:xfrm>
            <a:off x="4627375" y="1127825"/>
            <a:ext cx="4420200" cy="22626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Arial"/>
              <a:buChar char="●"/>
            </a:pPr>
            <a:r>
              <a:rPr lang="en" sz="1500" b="1">
                <a:solidFill>
                  <a:srgbClr val="3C78D8"/>
                </a:solidFill>
              </a:rPr>
              <a:t>Simple RAG on AWS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Font typeface="Arial"/>
              <a:buChar char="●"/>
            </a:pPr>
            <a:r>
              <a:rPr lang="en" sz="1500" b="1">
                <a:solidFill>
                  <a:srgbClr val="3C78D8"/>
                </a:solidFill>
              </a:rPr>
              <a:t>Multi-Agent RAG Systems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Font typeface="Arial"/>
              <a:buChar char="●"/>
            </a:pPr>
            <a:r>
              <a:rPr lang="en" sz="1500" b="1">
                <a:solidFill>
                  <a:srgbClr val="3C78D8"/>
                </a:solidFill>
              </a:rPr>
              <a:t>RAG - Evaluate and Improve</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RAG - Advanced</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RAG - activeloop.ai, Deep Lake</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GraphRAG</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Quantize to 1-2 bit</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Crowd-sourced "Arena" Leaderboard</a:t>
            </a:r>
            <a:endParaRPr sz="1500" b="1" i="0" u="none" strike="noStrike" cap="none">
              <a:solidFill>
                <a:srgbClr val="3C78D8"/>
              </a:solidFill>
              <a:latin typeface="Arial"/>
              <a:ea typeface="Arial"/>
              <a:cs typeface="Arial"/>
              <a:sym typeface="Arial"/>
            </a:endParaRPr>
          </a:p>
          <a:p>
            <a:pPr marL="228600" marR="0" lvl="0" indent="-209550" algn="l" rtl="0">
              <a:lnSpc>
                <a:spcPct val="100000"/>
              </a:lnSpc>
              <a:spcBef>
                <a:spcPts val="0"/>
              </a:spcBef>
              <a:spcAft>
                <a:spcPts val="0"/>
              </a:spcAft>
              <a:buClr>
                <a:srgbClr val="3C78D8"/>
              </a:buClr>
              <a:buSzPts val="1500"/>
              <a:buFont typeface="Arial"/>
              <a:buChar char="●"/>
            </a:pPr>
            <a:r>
              <a:rPr lang="en" sz="1500" b="1" i="0" u="none" strike="noStrike" cap="none">
                <a:solidFill>
                  <a:srgbClr val="3C78D8"/>
                </a:solidFill>
                <a:latin typeface="Arial"/>
                <a:ea typeface="Arial"/>
                <a:cs typeface="Arial"/>
                <a:sym typeface="Arial"/>
              </a:rPr>
              <a:t>Tech Layoffs is lower this year</a:t>
            </a:r>
            <a:endParaRPr sz="1500" b="1" i="0" u="none" strike="noStrike" cap="none">
              <a:solidFill>
                <a:srgbClr val="3C78D8"/>
              </a:solidFill>
              <a:latin typeface="Arial"/>
              <a:ea typeface="Arial"/>
              <a:cs typeface="Arial"/>
              <a:sym typeface="Arial"/>
            </a:endParaRPr>
          </a:p>
        </p:txBody>
      </p:sp>
      <p:sp>
        <p:nvSpPr>
          <p:cNvPr id="56" name="Google Shape;56;p13"/>
          <p:cNvSpPr txBox="1"/>
          <p:nvPr/>
        </p:nvSpPr>
        <p:spPr>
          <a:xfrm>
            <a:off x="3027550" y="75775"/>
            <a:ext cx="3192600" cy="9420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1" i="0" u="none" strike="noStrike" cap="none">
                <a:solidFill>
                  <a:srgbClr val="3C78D8"/>
                </a:solidFill>
                <a:latin typeface="Arial"/>
                <a:ea typeface="Arial"/>
                <a:cs typeface="Arial"/>
                <a:sym typeface="Arial"/>
              </a:rPr>
              <a:t>AI Updates </a:t>
            </a:r>
            <a:endParaRPr sz="3600" b="1" i="0" u="none" strike="noStrike" cap="none">
              <a:solidFill>
                <a:srgbClr val="3C78D8"/>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3C78D8"/>
                </a:solidFill>
                <a:latin typeface="Arial"/>
                <a:ea typeface="Arial"/>
                <a:cs typeface="Arial"/>
                <a:sym typeface="Arial"/>
              </a:rPr>
              <a:t>March 29, 2024</a:t>
            </a:r>
            <a:endParaRPr sz="2400" b="1" i="0" u="none" strike="noStrike" cap="none">
              <a:solidFill>
                <a:srgbClr val="3C78D8"/>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p:nvPr/>
        </p:nvSpPr>
        <p:spPr>
          <a:xfrm>
            <a:off x="68176" y="53026"/>
            <a:ext cx="5031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Groq - fast inference hardware and platform</a:t>
            </a:r>
            <a:endParaRPr sz="2000" b="1" i="0" u="none" strike="noStrike" cap="none">
              <a:solidFill>
                <a:srgbClr val="000000"/>
              </a:solidFill>
              <a:latin typeface="Calibri"/>
              <a:ea typeface="Calibri"/>
              <a:cs typeface="Calibri"/>
              <a:sym typeface="Calibri"/>
            </a:endParaRPr>
          </a:p>
        </p:txBody>
      </p:sp>
      <p:sp>
        <p:nvSpPr>
          <p:cNvPr id="62" name="Google Shape;62;p14"/>
          <p:cNvSpPr txBox="1"/>
          <p:nvPr/>
        </p:nvSpPr>
        <p:spPr>
          <a:xfrm>
            <a:off x="80625" y="439875"/>
            <a:ext cx="3813000" cy="163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GROQ - Super fast LPU Inference Engine </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LPU = Language Processing Unit</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Up to 500 tokens/sec, x100 - x600 faster than GPUs</a:t>
            </a:r>
            <a:endParaRPr sz="1300" b="0" i="0" u="none" strike="noStrike" cap="none">
              <a:solidFill>
                <a:srgbClr val="000000"/>
              </a:solidFill>
              <a:latin typeface="Calibri"/>
              <a:ea typeface="Calibri"/>
              <a:cs typeface="Calibri"/>
              <a:sym typeface="Calibri"/>
            </a:endParaRPr>
          </a:p>
          <a:p>
            <a:pPr marL="457200" marR="0" lvl="0" indent="-298450" algn="l" rtl="0">
              <a:lnSpc>
                <a:spcPct val="100000"/>
              </a:lnSpc>
              <a:spcBef>
                <a:spcPts val="0"/>
              </a:spcBef>
              <a:spcAft>
                <a:spcPts val="0"/>
              </a:spcAft>
              <a:buClr>
                <a:srgbClr val="000000"/>
              </a:buClr>
              <a:buSzPts val="1100"/>
              <a:buFont typeface="Calibri"/>
              <a:buChar char="●"/>
            </a:pPr>
            <a:r>
              <a:rPr lang="en" sz="1100" b="0" i="0" u="sng" strike="noStrike" cap="none">
                <a:solidFill>
                  <a:schemeClr val="hlink"/>
                </a:solidFill>
                <a:latin typeface="Calibri"/>
                <a:ea typeface="Calibri"/>
                <a:cs typeface="Calibri"/>
                <a:sym typeface="Calibri"/>
                <a:hlinkClick r:id="rId3"/>
              </a:rPr>
              <a:t>https://www.youtube.com/watch?v=gmzd8dhlc0g</a:t>
            </a:r>
            <a:r>
              <a:rPr lang="en" sz="1100" b="0" i="0" u="none" strike="noStrike" cap="none">
                <a:solidFill>
                  <a:srgbClr val="000000"/>
                </a:solidFill>
                <a:latin typeface="Calibri"/>
                <a:ea typeface="Calibri"/>
                <a:cs typeface="Calibri"/>
                <a:sym typeface="Calibri"/>
              </a:rPr>
              <a:t> </a:t>
            </a:r>
            <a:endParaRPr sz="1100" b="0" i="0" u="none" strike="noStrike" cap="none">
              <a:solidFill>
                <a:srgbClr val="000000"/>
              </a:solidFill>
              <a:latin typeface="Calibri"/>
              <a:ea typeface="Calibri"/>
              <a:cs typeface="Calibri"/>
              <a:sym typeface="Calibri"/>
            </a:endParaRPr>
          </a:p>
          <a:p>
            <a:pPr marL="457200" marR="0" lvl="0" indent="-298450" algn="l" rtl="0">
              <a:lnSpc>
                <a:spcPct val="100000"/>
              </a:lnSpc>
              <a:spcBef>
                <a:spcPts val="0"/>
              </a:spcBef>
              <a:spcAft>
                <a:spcPts val="0"/>
              </a:spcAft>
              <a:buClr>
                <a:srgbClr val="000000"/>
              </a:buClr>
              <a:buSzPts val="1100"/>
              <a:buFont typeface="Calibri"/>
              <a:buChar char="●"/>
            </a:pPr>
            <a:r>
              <a:rPr lang="en" sz="1100" b="0" i="0" u="sng" strike="noStrike" cap="none">
                <a:solidFill>
                  <a:schemeClr val="hlink"/>
                </a:solidFill>
                <a:latin typeface="Calibri"/>
                <a:ea typeface="Calibri"/>
                <a:cs typeface="Calibri"/>
                <a:sym typeface="Calibri"/>
                <a:hlinkClick r:id="rId4"/>
              </a:rPr>
              <a:t>https://www.youtube.com/watch?v=fv69M1M_fXw</a:t>
            </a:r>
            <a:r>
              <a:rPr lang="en" sz="1100" b="0" i="0" u="none" strike="noStrike" cap="none">
                <a:solidFill>
                  <a:srgbClr val="000000"/>
                </a:solidFill>
                <a:latin typeface="Calibri"/>
                <a:ea typeface="Calibri"/>
                <a:cs typeface="Calibri"/>
                <a:sym typeface="Calibri"/>
              </a:rPr>
              <a:t> </a:t>
            </a:r>
            <a:endParaRPr sz="1100" b="0" i="0" u="none" strike="noStrike" cap="none">
              <a:solidFill>
                <a:srgbClr val="000000"/>
              </a:solidFill>
              <a:latin typeface="Calibri"/>
              <a:ea typeface="Calibri"/>
              <a:cs typeface="Calibri"/>
              <a:sym typeface="Calibri"/>
            </a:endParaRPr>
          </a:p>
          <a:p>
            <a:pPr marL="457200" marR="0" lvl="0" indent="-298450" algn="l" rtl="0">
              <a:lnSpc>
                <a:spcPct val="100000"/>
              </a:lnSpc>
              <a:spcBef>
                <a:spcPts val="0"/>
              </a:spcBef>
              <a:spcAft>
                <a:spcPts val="0"/>
              </a:spcAft>
              <a:buClr>
                <a:srgbClr val="000000"/>
              </a:buClr>
              <a:buSzPts val="1100"/>
              <a:buFont typeface="Calibri"/>
              <a:buChar char="●"/>
            </a:pPr>
            <a:r>
              <a:rPr lang="en" sz="1100" b="0" i="0" u="sng" strike="noStrike" cap="none">
                <a:solidFill>
                  <a:schemeClr val="hlink"/>
                </a:solidFill>
                <a:latin typeface="Calibri"/>
                <a:ea typeface="Calibri"/>
                <a:cs typeface="Calibri"/>
                <a:sym typeface="Calibri"/>
                <a:hlinkClick r:id="rId5"/>
              </a:rPr>
              <a:t>https://www.youtube.com/watch?v=WQDMKTEgQnY</a:t>
            </a:r>
            <a:endParaRPr sz="1100" b="0" i="0" u="none" strike="noStrike" cap="none">
              <a:solidFill>
                <a:srgbClr val="000000"/>
              </a:solidFill>
              <a:latin typeface="Calibri"/>
              <a:ea typeface="Calibri"/>
              <a:cs typeface="Calibri"/>
              <a:sym typeface="Calibri"/>
            </a:endParaRPr>
          </a:p>
          <a:p>
            <a:pPr marL="457200" marR="0" lvl="0" indent="-298450" algn="l" rtl="0">
              <a:lnSpc>
                <a:spcPct val="100000"/>
              </a:lnSpc>
              <a:spcBef>
                <a:spcPts val="0"/>
              </a:spcBef>
              <a:spcAft>
                <a:spcPts val="0"/>
              </a:spcAft>
              <a:buClr>
                <a:srgbClr val="000000"/>
              </a:buClr>
              <a:buSzPts val="1100"/>
              <a:buFont typeface="Calibri"/>
              <a:buChar char="●"/>
            </a:pPr>
            <a:r>
              <a:rPr lang="en" sz="1100" b="0" i="0" u="sng" strike="noStrike" cap="none">
                <a:solidFill>
                  <a:schemeClr val="hlink"/>
                </a:solidFill>
                <a:latin typeface="Calibri"/>
                <a:ea typeface="Calibri"/>
                <a:cs typeface="Calibri"/>
                <a:sym typeface="Calibri"/>
                <a:hlinkClick r:id="rId6"/>
              </a:rPr>
              <a:t>https://groq.com</a:t>
            </a:r>
            <a:endParaRPr sz="1100" b="0" i="0" u="none" strike="noStrike" cap="none">
              <a:solidFill>
                <a:srgbClr val="000000"/>
              </a:solidFill>
              <a:latin typeface="Calibri"/>
              <a:ea typeface="Calibri"/>
              <a:cs typeface="Calibri"/>
              <a:sym typeface="Calibri"/>
            </a:endParaRPr>
          </a:p>
          <a:p>
            <a:pPr marL="457200" marR="0" lvl="0" indent="-298450" algn="l" rtl="0">
              <a:lnSpc>
                <a:spcPct val="100000"/>
              </a:lnSpc>
              <a:spcBef>
                <a:spcPts val="0"/>
              </a:spcBef>
              <a:spcAft>
                <a:spcPts val="0"/>
              </a:spcAft>
              <a:buClr>
                <a:srgbClr val="000000"/>
              </a:buClr>
              <a:buSzPts val="1100"/>
              <a:buFont typeface="Calibri"/>
              <a:buChar char="●"/>
            </a:pPr>
            <a:r>
              <a:rPr lang="en" sz="1100" b="0" i="0" u="sng" strike="noStrike" cap="none">
                <a:solidFill>
                  <a:schemeClr val="hlink"/>
                </a:solidFill>
                <a:latin typeface="Calibri"/>
                <a:ea typeface="Calibri"/>
                <a:cs typeface="Calibri"/>
                <a:sym typeface="Calibri"/>
                <a:hlinkClick r:id="rId7"/>
              </a:rPr>
              <a:t>https://console.groq.com/docs/quickstart</a:t>
            </a:r>
            <a:r>
              <a:rPr lang="en" sz="1100" b="0" i="0" u="none" strike="noStrike" cap="none">
                <a:solidFill>
                  <a:srgbClr val="000000"/>
                </a:solidFill>
                <a:latin typeface="Calibri"/>
                <a:ea typeface="Calibri"/>
                <a:cs typeface="Calibri"/>
                <a:sym typeface="Calibri"/>
              </a:rPr>
              <a:t> </a:t>
            </a:r>
            <a:endParaRPr sz="1100" b="0" i="0" u="none" strike="noStrike" cap="none">
              <a:solidFill>
                <a:srgbClr val="000000"/>
              </a:solidFill>
              <a:latin typeface="Calibri"/>
              <a:ea typeface="Calibri"/>
              <a:cs typeface="Calibri"/>
              <a:sym typeface="Calibri"/>
            </a:endParaRPr>
          </a:p>
        </p:txBody>
      </p:sp>
      <p:pic>
        <p:nvPicPr>
          <p:cNvPr id="63" name="Google Shape;63;p14"/>
          <p:cNvPicPr preferRelativeResize="0"/>
          <p:nvPr/>
        </p:nvPicPr>
        <p:blipFill rotWithShape="1">
          <a:blip r:embed="rId8">
            <a:alphaModFix/>
          </a:blip>
          <a:srcRect/>
          <a:stretch/>
        </p:blipFill>
        <p:spPr>
          <a:xfrm>
            <a:off x="3001826" y="2269425"/>
            <a:ext cx="6036026" cy="2752225"/>
          </a:xfrm>
          <a:prstGeom prst="rect">
            <a:avLst/>
          </a:prstGeom>
          <a:noFill/>
          <a:ln w="9525" cap="flat" cmpd="sng">
            <a:solidFill>
              <a:srgbClr val="FF0000"/>
            </a:solidFill>
            <a:prstDash val="solid"/>
            <a:round/>
            <a:headEnd type="none" w="sm" len="sm"/>
            <a:tailEnd type="none" w="sm" len="sm"/>
          </a:ln>
        </p:spPr>
      </p:pic>
      <p:pic>
        <p:nvPicPr>
          <p:cNvPr id="64" name="Google Shape;64;p14"/>
          <p:cNvPicPr preferRelativeResize="0"/>
          <p:nvPr/>
        </p:nvPicPr>
        <p:blipFill rotWithShape="1">
          <a:blip r:embed="rId9">
            <a:alphaModFix/>
          </a:blip>
          <a:srcRect/>
          <a:stretch/>
        </p:blipFill>
        <p:spPr>
          <a:xfrm>
            <a:off x="6222100" y="106951"/>
            <a:ext cx="2822051" cy="1964624"/>
          </a:xfrm>
          <a:prstGeom prst="rect">
            <a:avLst/>
          </a:prstGeom>
          <a:noFill/>
          <a:ln w="9525" cap="flat" cmpd="sng">
            <a:solidFill>
              <a:srgbClr val="FF0000"/>
            </a:solidFill>
            <a:prstDash val="solid"/>
            <a:round/>
            <a:headEnd type="none" w="sm" len="sm"/>
            <a:tailEnd type="none" w="sm" len="sm"/>
          </a:ln>
        </p:spPr>
      </p:pic>
      <p:pic>
        <p:nvPicPr>
          <p:cNvPr id="65" name="Google Shape;65;p14"/>
          <p:cNvPicPr preferRelativeResize="0"/>
          <p:nvPr/>
        </p:nvPicPr>
        <p:blipFill rotWithShape="1">
          <a:blip r:embed="rId10">
            <a:alphaModFix/>
          </a:blip>
          <a:srcRect/>
          <a:stretch/>
        </p:blipFill>
        <p:spPr>
          <a:xfrm>
            <a:off x="690250" y="2223975"/>
            <a:ext cx="1089925" cy="1089925"/>
          </a:xfrm>
          <a:prstGeom prst="rect">
            <a:avLst/>
          </a:prstGeom>
          <a:noFill/>
          <a:ln>
            <a:noFill/>
          </a:ln>
        </p:spPr>
      </p:pic>
      <p:sp>
        <p:nvSpPr>
          <p:cNvPr id="66" name="Google Shape;66;p14"/>
          <p:cNvSpPr txBox="1"/>
          <p:nvPr/>
        </p:nvSpPr>
        <p:spPr>
          <a:xfrm>
            <a:off x="80625" y="3389950"/>
            <a:ext cx="24798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Jonathan Ross* is Groq’s founder and CEO. He has began Google’s TPU effort as a 20% project, </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and became a member of Google X’s Rapid Eval Team (Moonshots factory).</a:t>
            </a:r>
            <a:endParaRPr sz="1100" b="0" i="0" u="none" strike="noStrike" cap="none">
              <a:solidFill>
                <a:srgbClr val="000000"/>
              </a:solidFill>
              <a:latin typeface="Calibri"/>
              <a:ea typeface="Calibri"/>
              <a:cs typeface="Calibri"/>
              <a:sym typeface="Calibri"/>
            </a:endParaRPr>
          </a:p>
        </p:txBody>
      </p:sp>
      <p:sp>
        <p:nvSpPr>
          <p:cNvPr id="67" name="Google Shape;67;p14"/>
          <p:cNvSpPr txBox="1"/>
          <p:nvPr/>
        </p:nvSpPr>
        <p:spPr>
          <a:xfrm>
            <a:off x="3975613" y="696713"/>
            <a:ext cx="2164500" cy="78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Groq's LPU card cost $20K,</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which is much cheaper than $35K for Nvidia's H100</a:t>
            </a:r>
            <a:endParaRPr sz="1100" b="0" i="0" u="none" strike="noStrike" cap="non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p:nvPr/>
        </p:nvSpPr>
        <p:spPr>
          <a:xfrm>
            <a:off x="59800" y="-48400"/>
            <a:ext cx="2828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AI Consumption Growth</a:t>
            </a:r>
            <a:endParaRPr sz="2000" b="1" i="0" u="none" strike="noStrike" cap="none">
              <a:solidFill>
                <a:srgbClr val="000000"/>
              </a:solidFill>
              <a:latin typeface="Calibri"/>
              <a:ea typeface="Calibri"/>
              <a:cs typeface="Calibri"/>
              <a:sym typeface="Calibri"/>
            </a:endParaRPr>
          </a:p>
        </p:txBody>
      </p:sp>
      <p:sp>
        <p:nvSpPr>
          <p:cNvPr id="73" name="Google Shape;73;p15"/>
          <p:cNvSpPr txBox="1"/>
          <p:nvPr/>
        </p:nvSpPr>
        <p:spPr>
          <a:xfrm>
            <a:off x="100765" y="1122193"/>
            <a:ext cx="4335600" cy="335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0000"/>
                </a:solidFill>
                <a:latin typeface="Calibri"/>
                <a:ea typeface="Calibri"/>
                <a:cs typeface="Calibri"/>
                <a:sym typeface="Calibri"/>
              </a:rPr>
              <a:t>Accenture is pushing AI</a:t>
            </a:r>
            <a:r>
              <a:rPr lang="en" sz="1300" b="0" i="0" u="none" strike="noStrike" cap="none">
                <a:solidFill>
                  <a:srgbClr val="000000"/>
                </a:solidFill>
                <a:latin typeface="Calibri"/>
                <a:ea typeface="Calibri"/>
                <a:cs typeface="Calibri"/>
                <a:sym typeface="Calibri"/>
              </a:rPr>
              <a:t>. At their current billing rate, they are at $2.4 Billion annualized revenues from Gen AI. Yes, it is only ~3% of their overall bookings, but it grows 33% Quarter over Quarter.  Which means </a:t>
            </a:r>
            <a:r>
              <a:rPr lang="en" sz="1300" b="1" i="0" u="none" strike="noStrike" cap="none">
                <a:solidFill>
                  <a:srgbClr val="FF0000"/>
                </a:solidFill>
                <a:latin typeface="Calibri"/>
                <a:ea typeface="Calibri"/>
                <a:cs typeface="Calibri"/>
                <a:sym typeface="Calibri"/>
              </a:rPr>
              <a:t>more than doubling in a year</a:t>
            </a:r>
            <a:r>
              <a:rPr lang="en" sz="1300" b="0" i="0" u="none" strike="noStrike" cap="none">
                <a:solidFill>
                  <a:srgbClr val="000000"/>
                </a:solidFill>
                <a:latin typeface="Calibri"/>
                <a:ea typeface="Calibri"/>
                <a:cs typeface="Calibri"/>
                <a:sym typeface="Calibri"/>
              </a:rPr>
              <a:t>. And they are planning to </a:t>
            </a:r>
            <a:r>
              <a:rPr lang="en" sz="1300" b="1" i="0" u="none" strike="noStrike" cap="none">
                <a:solidFill>
                  <a:srgbClr val="FF0000"/>
                </a:solidFill>
                <a:latin typeface="Calibri"/>
                <a:ea typeface="Calibri"/>
                <a:cs typeface="Calibri"/>
                <a:sym typeface="Calibri"/>
              </a:rPr>
              <a:t>double the number of data scientists and AI consultants</a:t>
            </a:r>
            <a:r>
              <a:rPr lang="en" sz="1300" b="0" i="0" u="none" strike="noStrike" cap="none">
                <a:solidFill>
                  <a:srgbClr val="000000"/>
                </a:solidFill>
                <a:latin typeface="Calibri"/>
                <a:ea typeface="Calibri"/>
                <a:cs typeface="Calibri"/>
                <a:sym typeface="Calibri"/>
              </a:rPr>
              <a:t> (from 40K to 80K) in next 2 years.</a:t>
            </a:r>
            <a:endParaRPr sz="1300" b="0" i="0" u="none" strike="noStrike" cap="none">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3"/>
              </a:rPr>
              <a:t>https://analyticsindiamag.com/accentures-generative-ai-revenue-surpasses-all-vc-backed-startups-combined/</a:t>
            </a:r>
            <a:endParaRPr sz="1000" b="0" i="0" u="none" strike="noStrike" cap="none">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4"/>
              </a:rPr>
              <a:t>https://www.ciodive.com/news/accenture-ai-investments-billions-data-modernization/711132/</a:t>
            </a:r>
            <a:endParaRPr sz="1000" b="0" i="0" u="none" strike="noStrike" cap="none">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5"/>
              </a:rPr>
              <a:t>https://en.wikipedia.org/wiki/Accenture</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0000"/>
                </a:solidFill>
                <a:latin typeface="Calibri"/>
                <a:ea typeface="Calibri"/>
                <a:cs typeface="Calibri"/>
                <a:sym typeface="Calibri"/>
              </a:rPr>
              <a:t>Accenture plc</a:t>
            </a:r>
            <a:r>
              <a:rPr lang="en" sz="1300" b="0" i="0" u="none" strike="noStrike" cap="none">
                <a:solidFill>
                  <a:srgbClr val="000000"/>
                </a:solidFill>
                <a:latin typeface="Calibri"/>
                <a:ea typeface="Calibri"/>
                <a:cs typeface="Calibri"/>
                <a:sym typeface="Calibri"/>
              </a:rPr>
              <a:t> is a US multinational professional services company based in Dublin, specializing in IT services and consulting. A Fortune Global 500 company, it reported revenues of $64.1 billion in 2023. </a:t>
            </a:r>
            <a:r>
              <a:rPr lang="en" sz="1300" b="1" i="0" u="none" strike="noStrike" cap="none">
                <a:solidFill>
                  <a:srgbClr val="FF0000"/>
                </a:solidFill>
                <a:latin typeface="Calibri"/>
                <a:ea typeface="Calibri"/>
                <a:cs typeface="Calibri"/>
                <a:sym typeface="Calibri"/>
              </a:rPr>
              <a:t>733,000 employees</a:t>
            </a:r>
            <a:r>
              <a:rPr lang="en" sz="1300" b="0" i="0" u="none" strike="noStrike" cap="none">
                <a:solidFill>
                  <a:srgbClr val="000000"/>
                </a:solidFill>
                <a:latin typeface="Calibri"/>
                <a:ea typeface="Calibri"/>
                <a:cs typeface="Calibri"/>
                <a:sym typeface="Calibri"/>
              </a:rPr>
              <a:t>.</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0000"/>
                </a:solidFill>
                <a:latin typeface="Calibri"/>
                <a:ea typeface="Calibri"/>
                <a:cs typeface="Calibri"/>
                <a:sym typeface="Calibri"/>
              </a:rPr>
              <a:t>Accenture partnered with AWS and Anthropic</a:t>
            </a:r>
            <a:r>
              <a:rPr lang="en" sz="1300" b="0" i="0" u="none" strike="noStrike" cap="none">
                <a:solidFill>
                  <a:schemeClr val="dk1"/>
                </a:solidFill>
                <a:latin typeface="Calibri"/>
                <a:ea typeface="Calibri"/>
                <a:cs typeface="Calibri"/>
                <a:sym typeface="Calibri"/>
              </a:rPr>
              <a:t> to build industry-specific AI solutions and ease enterprise adoption</a:t>
            </a:r>
            <a:endParaRPr sz="1300" b="0" i="0" u="none" strike="noStrike" cap="none">
              <a:solidFill>
                <a:srgbClr val="000000"/>
              </a:solidFill>
              <a:latin typeface="Calibri"/>
              <a:ea typeface="Calibri"/>
              <a:cs typeface="Calibri"/>
              <a:sym typeface="Calibri"/>
            </a:endParaRPr>
          </a:p>
        </p:txBody>
      </p:sp>
      <p:pic>
        <p:nvPicPr>
          <p:cNvPr id="74" name="Google Shape;74;p15"/>
          <p:cNvPicPr preferRelativeResize="0"/>
          <p:nvPr/>
        </p:nvPicPr>
        <p:blipFill rotWithShape="1">
          <a:blip r:embed="rId6">
            <a:alphaModFix/>
          </a:blip>
          <a:srcRect/>
          <a:stretch/>
        </p:blipFill>
        <p:spPr>
          <a:xfrm>
            <a:off x="1509938" y="614100"/>
            <a:ext cx="1451274" cy="436726"/>
          </a:xfrm>
          <a:prstGeom prst="rect">
            <a:avLst/>
          </a:prstGeom>
          <a:noFill/>
          <a:ln>
            <a:noFill/>
          </a:ln>
        </p:spPr>
      </p:pic>
      <p:pic>
        <p:nvPicPr>
          <p:cNvPr id="75" name="Google Shape;75;p15"/>
          <p:cNvPicPr preferRelativeResize="0"/>
          <p:nvPr/>
        </p:nvPicPr>
        <p:blipFill rotWithShape="1">
          <a:blip r:embed="rId7">
            <a:alphaModFix/>
          </a:blip>
          <a:srcRect/>
          <a:stretch/>
        </p:blipFill>
        <p:spPr>
          <a:xfrm>
            <a:off x="6061975" y="1279425"/>
            <a:ext cx="1731283" cy="1717150"/>
          </a:xfrm>
          <a:prstGeom prst="rect">
            <a:avLst/>
          </a:prstGeom>
          <a:noFill/>
          <a:ln>
            <a:noFill/>
          </a:ln>
        </p:spPr>
      </p:pic>
      <p:sp>
        <p:nvSpPr>
          <p:cNvPr id="76" name="Google Shape;76;p15"/>
          <p:cNvSpPr txBox="1"/>
          <p:nvPr/>
        </p:nvSpPr>
        <p:spPr>
          <a:xfrm>
            <a:off x="4702975" y="3164335"/>
            <a:ext cx="4335600" cy="178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Average enterprise more than doubles budgets for AI in 2024 - </a:t>
            </a:r>
            <a:r>
              <a:rPr lang="en" sz="1000" b="0" i="0" u="sng" strike="noStrike" cap="none">
                <a:solidFill>
                  <a:schemeClr val="hlink"/>
                </a:solidFill>
                <a:latin typeface="Calibri"/>
                <a:ea typeface="Calibri"/>
                <a:cs typeface="Calibri"/>
                <a:sym typeface="Calibri"/>
                <a:hlinkClick r:id="rId8"/>
              </a:rPr>
              <a:t>https://a16z.com/generative-ai-enterprise-2024/</a:t>
            </a:r>
            <a:r>
              <a:rPr lang="en" sz="1000" b="0" i="0" u="none" strike="noStrike" cap="none">
                <a:solidFill>
                  <a:srgbClr val="000000"/>
                </a:solidFill>
                <a:latin typeface="Calibri"/>
                <a:ea typeface="Calibri"/>
                <a:cs typeface="Calibri"/>
                <a:sym typeface="Calibri"/>
              </a:rPr>
              <a:t> </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In one case an enterprise increased budget x8 </a:t>
            </a:r>
            <a:br>
              <a:rPr lang="en" sz="1300" b="0" i="0" u="none" strike="noStrike" cap="none">
                <a:solidFill>
                  <a:srgbClr val="000000"/>
                </a:solidFill>
                <a:latin typeface="Calibri"/>
                <a:ea typeface="Calibri"/>
                <a:cs typeface="Calibri"/>
                <a:sym typeface="Calibri"/>
              </a:rPr>
            </a:br>
            <a:r>
              <a:rPr lang="en" sz="1300" b="0" i="0" u="none" strike="noStrike" cap="none">
                <a:solidFill>
                  <a:srgbClr val="000000"/>
                </a:solidFill>
                <a:latin typeface="Calibri"/>
                <a:ea typeface="Calibri"/>
                <a:cs typeface="Calibri"/>
                <a:sym typeface="Calibri"/>
              </a:rPr>
              <a:t>after seeing ~90% cost savings.</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While 80-90% utilized closed source models in 2023, </a:t>
            </a:r>
            <a:br>
              <a:rPr lang="en" sz="1300" b="0" i="0" u="none" strike="noStrike" cap="none">
                <a:solidFill>
                  <a:srgbClr val="000000"/>
                </a:solidFill>
                <a:latin typeface="Calibri"/>
                <a:ea typeface="Calibri"/>
                <a:cs typeface="Calibri"/>
                <a:sym typeface="Calibri"/>
              </a:rPr>
            </a:br>
            <a:r>
              <a:rPr lang="en" sz="1300" b="0" i="0" u="none" strike="noStrike" cap="none">
                <a:solidFill>
                  <a:srgbClr val="000000"/>
                </a:solidFill>
                <a:latin typeface="Calibri"/>
                <a:ea typeface="Calibri"/>
                <a:cs typeface="Calibri"/>
                <a:sym typeface="Calibri"/>
              </a:rPr>
              <a:t>nowadays 46% of leaders prefer open source.</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Internal uses (coding assistants, text summarization) are moving faster than external apps (chatbots).</a:t>
            </a:r>
            <a:endParaRPr sz="1300" b="0" i="0" u="none" strike="noStrike" cap="non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p:nvPr/>
        </p:nvSpPr>
        <p:spPr>
          <a:xfrm>
            <a:off x="-48926" y="-116050"/>
            <a:ext cx="4092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Emad Mostaque Has Left Stability.AI</a:t>
            </a:r>
            <a:endParaRPr sz="2000" b="1" i="0" u="none" strike="noStrike" cap="none">
              <a:solidFill>
                <a:srgbClr val="000000"/>
              </a:solidFill>
              <a:latin typeface="Calibri"/>
              <a:ea typeface="Calibri"/>
              <a:cs typeface="Calibri"/>
              <a:sym typeface="Calibri"/>
            </a:endParaRPr>
          </a:p>
        </p:txBody>
      </p:sp>
      <p:sp>
        <p:nvSpPr>
          <p:cNvPr id="82" name="Google Shape;82;p16"/>
          <p:cNvSpPr txBox="1"/>
          <p:nvPr/>
        </p:nvSpPr>
        <p:spPr>
          <a:xfrm>
            <a:off x="127925" y="526075"/>
            <a:ext cx="4802700" cy="444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Emad Mostaque, the founder and SEO of Stabiltiy.AI has left the company "</a:t>
            </a:r>
            <a:r>
              <a:rPr lang="en" sz="1300" b="1" i="0" u="none" strike="noStrike" cap="none">
                <a:solidFill>
                  <a:srgbClr val="FF0000"/>
                </a:solidFill>
                <a:latin typeface="Calibri"/>
                <a:ea typeface="Calibri"/>
                <a:cs typeface="Calibri"/>
                <a:sym typeface="Calibri"/>
              </a:rPr>
              <a:t>to pursue decentralized AI</a:t>
            </a:r>
            <a:r>
              <a:rPr lang="en" sz="1300" b="0" i="0" u="none" strike="noStrike" cap="none">
                <a:solidFill>
                  <a:srgbClr val="000000"/>
                </a:solidFill>
                <a:latin typeface="Calibri"/>
                <a:ea typeface="Calibri"/>
                <a:cs typeface="Calibri"/>
                <a:sym typeface="Calibri"/>
              </a:rPr>
              <a:t>". </a:t>
            </a:r>
            <a:endParaRPr sz="1300" b="0" i="0" u="none" strike="noStrike" cap="none">
              <a:solidFill>
                <a:srgbClr val="000000"/>
              </a:solidFill>
              <a:latin typeface="Calibri"/>
              <a:ea typeface="Calibri"/>
              <a:cs typeface="Calibri"/>
              <a:sym typeface="Calibri"/>
            </a:endParaRPr>
          </a:p>
          <a:p>
            <a:pPr marL="457200" marR="0" lvl="0" indent="-2921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3"/>
              </a:rPr>
              <a:t>https://www.theverge.com/2024/3/23/24109511/stability-ai-ceo-emad-mostaque-resignation-decentralized-ai</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457200" marR="0" lvl="0" indent="-2921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4"/>
              </a:rPr>
              <a:t>https://twitter.com/EMostaque/status/1771400218170519741</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This departure is following reports of million-dollar burn rates and high-profile research team exits (3 out of 5 of the researchers behind Stable Diffusion reportedly followed suit, including leader Robin Rombach). </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This move raises questions about the future of Stable Diffusion.  With Mostaque leaving and key developers gone, is the highly anticipated Stable Diffusion 3 release in jeopardy?</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 push toward developing commercialized AI products is likely a big part of why Mostaque has stepped down. </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"Not going to beat centralized AI with more centralized AI," said Mostaque in a post on X, following his resignation. "</a:t>
            </a:r>
            <a:r>
              <a:rPr lang="en" sz="1300" b="1" i="0" u="none" strike="noStrike" cap="none">
                <a:solidFill>
                  <a:srgbClr val="FF0000"/>
                </a:solidFill>
                <a:latin typeface="Calibri"/>
                <a:ea typeface="Calibri"/>
                <a:cs typeface="Calibri"/>
                <a:sym typeface="Calibri"/>
              </a:rPr>
              <a:t>It is now time to ensure AI remains open and decentralized</a:t>
            </a:r>
            <a:r>
              <a:rPr lang="en" sz="1300" b="0" i="0" u="none" strike="noStrike" cap="none">
                <a:solidFill>
                  <a:srgbClr val="000000"/>
                </a:solidFill>
                <a:latin typeface="Calibri"/>
                <a:ea typeface="Calibri"/>
                <a:cs typeface="Calibri"/>
                <a:sym typeface="Calibri"/>
              </a:rPr>
              <a:t>," says Mostaque in a separate statement.</a:t>
            </a:r>
            <a:endParaRPr sz="1300" b="0" i="0" u="none" strike="noStrike" cap="none">
              <a:solidFill>
                <a:srgbClr val="000000"/>
              </a:solidFill>
              <a:latin typeface="Calibri"/>
              <a:ea typeface="Calibri"/>
              <a:cs typeface="Calibri"/>
              <a:sym typeface="Calibri"/>
            </a:endParaRPr>
          </a:p>
        </p:txBody>
      </p:sp>
      <p:pic>
        <p:nvPicPr>
          <p:cNvPr id="83" name="Google Shape;83;p16"/>
          <p:cNvPicPr preferRelativeResize="0"/>
          <p:nvPr/>
        </p:nvPicPr>
        <p:blipFill rotWithShape="1">
          <a:blip r:embed="rId5">
            <a:alphaModFix/>
          </a:blip>
          <a:srcRect/>
          <a:stretch/>
        </p:blipFill>
        <p:spPr>
          <a:xfrm>
            <a:off x="5558925" y="152400"/>
            <a:ext cx="3042325" cy="2028999"/>
          </a:xfrm>
          <a:prstGeom prst="rect">
            <a:avLst/>
          </a:prstGeom>
          <a:noFill/>
          <a:ln>
            <a:noFill/>
          </a:ln>
        </p:spPr>
      </p:pic>
      <p:pic>
        <p:nvPicPr>
          <p:cNvPr id="84" name="Google Shape;84;p16"/>
          <p:cNvPicPr preferRelativeResize="0"/>
          <p:nvPr/>
        </p:nvPicPr>
        <p:blipFill rotWithShape="1">
          <a:blip r:embed="rId6">
            <a:alphaModFix/>
          </a:blip>
          <a:srcRect/>
          <a:stretch/>
        </p:blipFill>
        <p:spPr>
          <a:xfrm>
            <a:off x="5123700" y="2604550"/>
            <a:ext cx="1434300" cy="1587965"/>
          </a:xfrm>
          <a:prstGeom prst="rect">
            <a:avLst/>
          </a:prstGeom>
          <a:noFill/>
          <a:ln>
            <a:noFill/>
          </a:ln>
        </p:spPr>
      </p:pic>
      <p:sp>
        <p:nvSpPr>
          <p:cNvPr id="85" name="Google Shape;85;p16"/>
          <p:cNvSpPr txBox="1"/>
          <p:nvPr/>
        </p:nvSpPr>
        <p:spPr>
          <a:xfrm>
            <a:off x="5174938" y="4192525"/>
            <a:ext cx="1434300" cy="384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Robin Rombach</a:t>
            </a:r>
            <a:endParaRPr sz="1300" b="0" i="0" u="none" strike="noStrike" cap="none">
              <a:solidFill>
                <a:srgbClr val="000000"/>
              </a:solidFill>
              <a:latin typeface="Calibri"/>
              <a:ea typeface="Calibri"/>
              <a:cs typeface="Calibri"/>
              <a:sym typeface="Calibri"/>
            </a:endParaRPr>
          </a:p>
        </p:txBody>
      </p:sp>
      <p:sp>
        <p:nvSpPr>
          <p:cNvPr id="86" name="Google Shape;86;p16"/>
          <p:cNvSpPr txBox="1"/>
          <p:nvPr/>
        </p:nvSpPr>
        <p:spPr>
          <a:xfrm>
            <a:off x="6400775" y="2219650"/>
            <a:ext cx="1434300" cy="384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Emad Mostaque</a:t>
            </a:r>
            <a:endParaRPr sz="1300" b="0" i="0" u="none" strike="noStrike" cap="none">
              <a:solidFill>
                <a:srgbClr val="000000"/>
              </a:solidFill>
              <a:latin typeface="Calibri"/>
              <a:ea typeface="Calibri"/>
              <a:cs typeface="Calibri"/>
              <a:sym typeface="Calibri"/>
            </a:endParaRPr>
          </a:p>
        </p:txBody>
      </p:sp>
      <p:pic>
        <p:nvPicPr>
          <p:cNvPr id="87" name="Google Shape;87;p16"/>
          <p:cNvPicPr preferRelativeResize="0"/>
          <p:nvPr/>
        </p:nvPicPr>
        <p:blipFill rotWithShape="1">
          <a:blip r:embed="rId7">
            <a:alphaModFix/>
          </a:blip>
          <a:srcRect/>
          <a:stretch/>
        </p:blipFill>
        <p:spPr>
          <a:xfrm>
            <a:off x="6609250" y="2604550"/>
            <a:ext cx="1290232" cy="1587976"/>
          </a:xfrm>
          <a:prstGeom prst="rect">
            <a:avLst/>
          </a:prstGeom>
          <a:noFill/>
          <a:ln>
            <a:noFill/>
          </a:ln>
        </p:spPr>
      </p:pic>
      <p:sp>
        <p:nvSpPr>
          <p:cNvPr id="88" name="Google Shape;88;p16"/>
          <p:cNvSpPr txBox="1"/>
          <p:nvPr/>
        </p:nvSpPr>
        <p:spPr>
          <a:xfrm>
            <a:off x="7950800" y="4192525"/>
            <a:ext cx="1065600" cy="585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Dominik Lorenz</a:t>
            </a:r>
            <a:endParaRPr sz="1300" b="0" i="0" u="none" strike="noStrike" cap="none">
              <a:solidFill>
                <a:srgbClr val="000000"/>
              </a:solidFill>
              <a:latin typeface="Calibri"/>
              <a:ea typeface="Calibri"/>
              <a:cs typeface="Calibri"/>
              <a:sym typeface="Calibri"/>
            </a:endParaRPr>
          </a:p>
        </p:txBody>
      </p:sp>
      <p:sp>
        <p:nvSpPr>
          <p:cNvPr id="89" name="Google Shape;89;p16"/>
          <p:cNvSpPr txBox="1"/>
          <p:nvPr/>
        </p:nvSpPr>
        <p:spPr>
          <a:xfrm>
            <a:off x="6634874" y="4192525"/>
            <a:ext cx="1290300" cy="585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Andreas Blattmann</a:t>
            </a:r>
            <a:endParaRPr sz="1300" b="0" i="0" u="none" strike="noStrike" cap="non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p:nvPr/>
        </p:nvSpPr>
        <p:spPr>
          <a:xfrm>
            <a:off x="0" y="0"/>
            <a:ext cx="1803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Mistral 7b v0.2</a:t>
            </a:r>
            <a:endParaRPr sz="2000" b="1" i="0" u="none" strike="noStrike" cap="none">
              <a:solidFill>
                <a:srgbClr val="000000"/>
              </a:solidFill>
              <a:latin typeface="Calibri"/>
              <a:ea typeface="Calibri"/>
              <a:cs typeface="Calibri"/>
              <a:sym typeface="Calibri"/>
            </a:endParaRPr>
          </a:p>
        </p:txBody>
      </p:sp>
      <p:sp>
        <p:nvSpPr>
          <p:cNvPr id="95" name="Google Shape;95;p17"/>
          <p:cNvSpPr txBox="1"/>
          <p:nvPr/>
        </p:nvSpPr>
        <p:spPr>
          <a:xfrm>
            <a:off x="94425" y="487325"/>
            <a:ext cx="4569600" cy="2970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Mistral-7B-v0.2 has the following changes compared to Mistral-7B-v0.1</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32k context window (vs 8k context in v0.1)</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Rope-theta = 1e6</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00"/>
                </a:solidFill>
                <a:latin typeface="Calibri"/>
                <a:ea typeface="Calibri"/>
                <a:cs typeface="Calibri"/>
                <a:sym typeface="Calibri"/>
              </a:rPr>
              <a:t>No Sliding-Window Attention</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3"/>
              </a:rPr>
              <a:t>https://twitter.com/dchaplot/status/1771672289953866212</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4"/>
              </a:rPr>
              <a:t>https://twitter.com/osanseviero/status/1771654833830821949</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5"/>
              </a:rPr>
              <a:t>https://huggingface.co/mistralai/Mistral-7B-Instruct-v0.2</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6"/>
              </a:rPr>
              <a:t>https://twitter.com/ofermend/status/1772070911937560748</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7"/>
              </a:rPr>
              <a:t>https://ollama.com/library/mistral</a:t>
            </a:r>
            <a:r>
              <a:rPr lang="en" sz="1000" b="0" i="0" u="none" strike="noStrike" cap="none">
                <a:solidFill>
                  <a:srgbClr val="000000"/>
                </a:solidFill>
                <a:latin typeface="Calibri"/>
                <a:ea typeface="Calibri"/>
                <a:cs typeface="Calibri"/>
                <a:sym typeface="Calibri"/>
              </a:rPr>
              <a:t> - updated to v0.2</a:t>
            </a:r>
            <a:endParaRPr sz="1000" b="0" i="0" u="none" strike="noStrike" cap="none">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8"/>
              </a:rPr>
              <a:t>https://arxiv.org/abs/2310.06825</a:t>
            </a:r>
            <a:r>
              <a:rPr lang="en" sz="1000" b="0" i="0" u="none" strike="noStrike" cap="none">
                <a:solidFill>
                  <a:srgbClr val="000000"/>
                </a:solidFill>
                <a:latin typeface="Calibri"/>
                <a:ea typeface="Calibri"/>
                <a:cs typeface="Calibri"/>
                <a:sym typeface="Calibri"/>
              </a:rPr>
              <a:t> (Oct 2023)</a:t>
            </a:r>
            <a:endParaRPr sz="1000" b="0" i="0" u="none" strike="noStrike" cap="none">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9"/>
              </a:rPr>
              <a:t>https://docs.mistral.ai/models/</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10"/>
              </a:rPr>
              <a:t>https://github.com/mistralai-sf24/hackathon/tree/main</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a:solidFill>
                  <a:schemeClr val="hlink"/>
                </a:solidFill>
                <a:latin typeface="Calibri"/>
                <a:ea typeface="Calibri"/>
                <a:cs typeface="Calibri"/>
                <a:sym typeface="Calibri"/>
                <a:hlinkClick r:id="rId11"/>
              </a:rPr>
              <a:t>https://www.youtube.com/watch?v=62gpF6Uq6Rc</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p:txBody>
      </p:sp>
      <p:pic>
        <p:nvPicPr>
          <p:cNvPr id="96" name="Google Shape;96;p17"/>
          <p:cNvPicPr preferRelativeResize="0"/>
          <p:nvPr/>
        </p:nvPicPr>
        <p:blipFill rotWithShape="1">
          <a:blip r:embed="rId12">
            <a:alphaModFix/>
          </a:blip>
          <a:srcRect/>
          <a:stretch/>
        </p:blipFill>
        <p:spPr>
          <a:xfrm>
            <a:off x="679588" y="3539077"/>
            <a:ext cx="3399282" cy="1467350"/>
          </a:xfrm>
          <a:prstGeom prst="rect">
            <a:avLst/>
          </a:prstGeom>
          <a:noFill/>
          <a:ln>
            <a:noFill/>
          </a:ln>
        </p:spPr>
      </p:pic>
      <p:pic>
        <p:nvPicPr>
          <p:cNvPr id="97" name="Google Shape;97;p17"/>
          <p:cNvPicPr preferRelativeResize="0"/>
          <p:nvPr/>
        </p:nvPicPr>
        <p:blipFill rotWithShape="1">
          <a:blip r:embed="rId13">
            <a:alphaModFix/>
          </a:blip>
          <a:srcRect/>
          <a:stretch/>
        </p:blipFill>
        <p:spPr>
          <a:xfrm>
            <a:off x="5760099" y="147100"/>
            <a:ext cx="3241375" cy="2276150"/>
          </a:xfrm>
          <a:prstGeom prst="rect">
            <a:avLst/>
          </a:prstGeom>
          <a:noFill/>
          <a:ln>
            <a:noFill/>
          </a:ln>
        </p:spPr>
      </p:pic>
      <p:pic>
        <p:nvPicPr>
          <p:cNvPr id="98" name="Google Shape;98;p17"/>
          <p:cNvPicPr preferRelativeResize="0"/>
          <p:nvPr/>
        </p:nvPicPr>
        <p:blipFill rotWithShape="1">
          <a:blip r:embed="rId14">
            <a:alphaModFix/>
          </a:blip>
          <a:srcRect/>
          <a:stretch/>
        </p:blipFill>
        <p:spPr>
          <a:xfrm>
            <a:off x="5760100" y="2458575"/>
            <a:ext cx="3241375" cy="250730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p:nvPr/>
        </p:nvSpPr>
        <p:spPr>
          <a:xfrm>
            <a:off x="65200" y="47925"/>
            <a:ext cx="4399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Agentic Workflows - Andrew Ng</a:t>
            </a:r>
            <a:endParaRPr sz="2000" b="1" i="0" u="none" strike="noStrike" cap="none">
              <a:solidFill>
                <a:srgbClr val="000000"/>
              </a:solidFill>
              <a:latin typeface="Calibri"/>
              <a:ea typeface="Calibri"/>
              <a:cs typeface="Calibri"/>
              <a:sym typeface="Calibri"/>
            </a:endParaRPr>
          </a:p>
        </p:txBody>
      </p:sp>
      <p:sp>
        <p:nvSpPr>
          <p:cNvPr id="104" name="Google Shape;104;p18"/>
          <p:cNvSpPr txBox="1"/>
          <p:nvPr/>
        </p:nvSpPr>
        <p:spPr>
          <a:xfrm>
            <a:off x="65200" y="461881"/>
            <a:ext cx="45068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chemeClr val="dk1"/>
                </a:solidFill>
                <a:latin typeface="Calibri"/>
                <a:ea typeface="Calibri"/>
                <a:cs typeface="Calibri"/>
                <a:sym typeface="Calibri"/>
              </a:rPr>
              <a:t>Reflection, self-reflection, self-improvement</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chemeClr val="dk1"/>
                </a:solidFill>
                <a:latin typeface="Calibri"/>
                <a:ea typeface="Calibri"/>
                <a:cs typeface="Calibri"/>
                <a:sym typeface="Calibri"/>
              </a:rPr>
              <a:t>Tool Use (RAG or websearch, calculator, code execution, ...)</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Planning - devise and implement multi-step strategy (chain-of-thought, tree-of-thought, ...)</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Multi-Agent Collaboration, distribute tasks, exchanging ideas to forge superior solutions.</a:t>
            </a:r>
            <a:endParaRPr sz="1300" b="0" i="0" u="none" strike="noStrike" cap="none">
              <a:solidFill>
                <a:srgbClr val="000000"/>
              </a:solidFill>
              <a:latin typeface="Calibri"/>
              <a:ea typeface="Calibri"/>
              <a:cs typeface="Calibri"/>
              <a:sym typeface="Calibri"/>
            </a:endParaRPr>
          </a:p>
        </p:txBody>
      </p:sp>
      <p:sp>
        <p:nvSpPr>
          <p:cNvPr id="105" name="Google Shape;105;p18"/>
          <p:cNvSpPr txBox="1"/>
          <p:nvPr/>
        </p:nvSpPr>
        <p:spPr>
          <a:xfrm>
            <a:off x="65200" y="1934825"/>
            <a:ext cx="45068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sng" strike="noStrike" cap="none">
                <a:solidFill>
                  <a:schemeClr val="hlink"/>
                </a:solidFill>
                <a:latin typeface="Calibri"/>
                <a:ea typeface="Calibri"/>
                <a:cs typeface="Calibri"/>
                <a:sym typeface="Calibri"/>
                <a:hlinkClick r:id="rId3"/>
              </a:rPr>
              <a:t>https://www.deeplearning.ai/the-batch/issue-241/</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0" i="0" u="sng" strike="noStrike" cap="none">
                <a:solidFill>
                  <a:schemeClr val="hlink"/>
                </a:solidFill>
                <a:latin typeface="Calibri"/>
                <a:ea typeface="Calibri"/>
                <a:cs typeface="Calibri"/>
                <a:sym typeface="Calibri"/>
                <a:hlinkClick r:id="rId4"/>
              </a:rPr>
              <a:t>https://www.youtube.com/watch?v=sal78ACtGTc</a:t>
            </a:r>
            <a:r>
              <a:rPr lang="en" sz="1300" b="0" i="0" u="none" strike="noStrike" cap="none">
                <a:solidFill>
                  <a:srgbClr val="000000"/>
                </a:solidFill>
                <a:latin typeface="Calibri"/>
                <a:ea typeface="Calibri"/>
                <a:cs typeface="Calibri"/>
                <a:sym typeface="Calibri"/>
              </a:rPr>
              <a:t> </a:t>
            </a:r>
            <a:endParaRPr sz="1300" b="0" i="0" u="none" strike="noStrike" cap="none">
              <a:solidFill>
                <a:srgbClr val="000000"/>
              </a:solidFill>
              <a:latin typeface="Calibri"/>
              <a:ea typeface="Calibri"/>
              <a:cs typeface="Calibri"/>
              <a:sym typeface="Calibri"/>
            </a:endParaRPr>
          </a:p>
        </p:txBody>
      </p:sp>
      <p:pic>
        <p:nvPicPr>
          <p:cNvPr id="106" name="Google Shape;106;p18"/>
          <p:cNvPicPr preferRelativeResize="0"/>
          <p:nvPr/>
        </p:nvPicPr>
        <p:blipFill rotWithShape="1">
          <a:blip r:embed="rId5">
            <a:alphaModFix/>
          </a:blip>
          <a:srcRect/>
          <a:stretch/>
        </p:blipFill>
        <p:spPr>
          <a:xfrm>
            <a:off x="4663325" y="374325"/>
            <a:ext cx="4399199" cy="4701177"/>
          </a:xfrm>
          <a:prstGeom prst="rect">
            <a:avLst/>
          </a:prstGeom>
          <a:noFill/>
          <a:ln>
            <a:noFill/>
          </a:ln>
        </p:spPr>
      </p:pic>
      <p:pic>
        <p:nvPicPr>
          <p:cNvPr id="107" name="Google Shape;107;p18"/>
          <p:cNvPicPr preferRelativeResize="0"/>
          <p:nvPr/>
        </p:nvPicPr>
        <p:blipFill rotWithShape="1">
          <a:blip r:embed="rId6">
            <a:alphaModFix/>
          </a:blip>
          <a:srcRect/>
          <a:stretch/>
        </p:blipFill>
        <p:spPr>
          <a:xfrm>
            <a:off x="6968374" y="60845"/>
            <a:ext cx="1524695" cy="502825"/>
          </a:xfrm>
          <a:prstGeom prst="rect">
            <a:avLst/>
          </a:prstGeom>
          <a:noFill/>
          <a:ln>
            <a:noFill/>
          </a:ln>
        </p:spPr>
      </p:pic>
      <p:pic>
        <p:nvPicPr>
          <p:cNvPr id="108" name="Google Shape;108;p18"/>
          <p:cNvPicPr preferRelativeResize="0"/>
          <p:nvPr/>
        </p:nvPicPr>
        <p:blipFill rotWithShape="1">
          <a:blip r:embed="rId7">
            <a:alphaModFix/>
          </a:blip>
          <a:srcRect/>
          <a:stretch/>
        </p:blipFill>
        <p:spPr>
          <a:xfrm>
            <a:off x="85538" y="2607374"/>
            <a:ext cx="4486462" cy="2174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9"/>
          <p:cNvSpPr txBox="1"/>
          <p:nvPr/>
        </p:nvSpPr>
        <p:spPr>
          <a:xfrm>
            <a:off x="0" y="0"/>
            <a:ext cx="23031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Databricks DBRX</a:t>
            </a:r>
            <a:endParaRPr sz="2000" b="1" i="0" u="none" strike="noStrike" cap="none">
              <a:solidFill>
                <a:srgbClr val="000000"/>
              </a:solidFill>
              <a:latin typeface="Calibri"/>
              <a:ea typeface="Calibri"/>
              <a:cs typeface="Calibri"/>
              <a:sym typeface="Calibri"/>
            </a:endParaRPr>
          </a:p>
        </p:txBody>
      </p:sp>
      <p:sp>
        <p:nvSpPr>
          <p:cNvPr id="114" name="Google Shape;114;p19"/>
          <p:cNvSpPr txBox="1"/>
          <p:nvPr/>
        </p:nvSpPr>
        <p:spPr>
          <a:xfrm>
            <a:off x="48575" y="544274"/>
            <a:ext cx="4522598" cy="3508623"/>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dirty="0">
                <a:solidFill>
                  <a:srgbClr val="FF0000"/>
                </a:solidFill>
                <a:latin typeface="Calibri"/>
                <a:ea typeface="Calibri"/>
                <a:cs typeface="Calibri"/>
                <a:sym typeface="Calibri"/>
              </a:rPr>
              <a:t>DBRX</a:t>
            </a:r>
            <a:r>
              <a:rPr lang="en" sz="1300" b="0" i="0" u="none" strike="noStrike" cap="none" dirty="0">
                <a:solidFill>
                  <a:srgbClr val="000000"/>
                </a:solidFill>
                <a:latin typeface="Calibri"/>
                <a:ea typeface="Calibri"/>
                <a:cs typeface="Calibri"/>
                <a:sym typeface="Calibri"/>
              </a:rPr>
              <a:t> - new open-source LLM from Databricks' Mosaic team.</a:t>
            </a:r>
            <a:endParaRPr sz="13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dirty="0">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dirty="0">
                <a:solidFill>
                  <a:schemeClr val="dk1"/>
                </a:solidFill>
                <a:latin typeface="Calibri"/>
                <a:ea typeface="Calibri"/>
                <a:cs typeface="Calibri"/>
                <a:sym typeface="Calibri"/>
              </a:rPr>
              <a:t>Better than Llama-2, Grok, and </a:t>
            </a:r>
            <a:r>
              <a:rPr lang="en" sz="1300" b="0" i="0" u="none" strike="noStrike" cap="none" dirty="0" err="1">
                <a:solidFill>
                  <a:schemeClr val="dk1"/>
                </a:solidFill>
                <a:latin typeface="Calibri"/>
                <a:ea typeface="Calibri"/>
                <a:cs typeface="Calibri"/>
                <a:sym typeface="Calibri"/>
              </a:rPr>
              <a:t>Mixtral</a:t>
            </a:r>
            <a:endParaRPr sz="1300" b="0" i="0" u="none" strike="noStrike" cap="none" dirty="0">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dirty="0">
                <a:solidFill>
                  <a:schemeClr val="dk1"/>
                </a:solidFill>
                <a:latin typeface="Calibri"/>
                <a:ea typeface="Calibri"/>
                <a:cs typeface="Calibri"/>
                <a:sym typeface="Calibri"/>
              </a:rPr>
              <a:t>Open-source, 32K context length</a:t>
            </a:r>
            <a:endParaRPr sz="1300" b="0" i="0" u="none" strike="noStrike" cap="none" dirty="0">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dirty="0">
                <a:solidFill>
                  <a:schemeClr val="dk1"/>
                </a:solidFill>
                <a:latin typeface="Calibri"/>
                <a:ea typeface="Calibri"/>
                <a:cs typeface="Calibri"/>
                <a:sym typeface="Calibri"/>
              </a:rPr>
              <a:t>LLM, transformer-based, decoder-only, 132B params</a:t>
            </a:r>
            <a:endParaRPr sz="1300" b="0" i="0" u="none" strike="noStrike" cap="none" dirty="0">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dirty="0">
                <a:solidFill>
                  <a:schemeClr val="dk1"/>
                </a:solidFill>
                <a:latin typeface="Calibri"/>
                <a:ea typeface="Calibri"/>
                <a:cs typeface="Calibri"/>
                <a:sym typeface="Calibri"/>
              </a:rPr>
              <a:t>M</a:t>
            </a:r>
            <a:r>
              <a:rPr lang="en" sz="1300" b="0" i="0" u="none" strike="noStrike" cap="none" dirty="0">
                <a:solidFill>
                  <a:srgbClr val="000000"/>
                </a:solidFill>
                <a:latin typeface="Calibri"/>
                <a:ea typeface="Calibri"/>
                <a:cs typeface="Calibri"/>
                <a:sym typeface="Calibri"/>
              </a:rPr>
              <a:t>ixture-of-Experts (</a:t>
            </a:r>
            <a:r>
              <a:rPr lang="en" sz="1300" b="0" i="0" u="none" strike="noStrike" cap="none" dirty="0" err="1">
                <a:solidFill>
                  <a:srgbClr val="000000"/>
                </a:solidFill>
                <a:latin typeface="Calibri"/>
                <a:ea typeface="Calibri"/>
                <a:cs typeface="Calibri"/>
                <a:sym typeface="Calibri"/>
              </a:rPr>
              <a:t>MoE</a:t>
            </a:r>
            <a:r>
              <a:rPr lang="en" sz="1300" b="0" i="0" u="none" strike="noStrike" cap="none" dirty="0">
                <a:solidFill>
                  <a:srgbClr val="000000"/>
                </a:solidFill>
                <a:latin typeface="Calibri"/>
                <a:ea typeface="Calibri"/>
                <a:cs typeface="Calibri"/>
                <a:sym typeface="Calibri"/>
              </a:rPr>
              <a:t>) - 16 experts, chooses 4 (32B).</a:t>
            </a:r>
            <a:endParaRPr sz="1300" b="0" i="0" u="none" strike="noStrike" cap="none" dirty="0">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dirty="0">
                <a:solidFill>
                  <a:srgbClr val="000000"/>
                </a:solidFill>
                <a:latin typeface="Calibri"/>
                <a:ea typeface="Calibri"/>
                <a:cs typeface="Calibri"/>
                <a:sym typeface="Calibri"/>
              </a:rPr>
              <a:t>Rotary Position Encodings (</a:t>
            </a:r>
            <a:r>
              <a:rPr lang="en" sz="1300" b="0" i="0" u="none" strike="noStrike" cap="none" dirty="0" err="1">
                <a:solidFill>
                  <a:srgbClr val="000000"/>
                </a:solidFill>
                <a:latin typeface="Calibri"/>
                <a:ea typeface="Calibri"/>
                <a:cs typeface="Calibri"/>
                <a:sym typeface="Calibri"/>
              </a:rPr>
              <a:t>RoPE</a:t>
            </a:r>
            <a:r>
              <a:rPr lang="en" sz="1300" b="0" i="0" u="none" strike="noStrike" cap="none" dirty="0">
                <a:solidFill>
                  <a:srgbClr val="000000"/>
                </a:solidFill>
                <a:latin typeface="Calibri"/>
                <a:ea typeface="Calibri"/>
                <a:cs typeface="Calibri"/>
                <a:sym typeface="Calibri"/>
              </a:rPr>
              <a:t>)</a:t>
            </a:r>
            <a:endParaRPr sz="1300" b="0" i="0" u="none" strike="noStrike" cap="none" dirty="0">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dirty="0">
                <a:solidFill>
                  <a:srgbClr val="000000"/>
                </a:solidFill>
                <a:latin typeface="Calibri"/>
                <a:ea typeface="Calibri"/>
                <a:cs typeface="Calibri"/>
                <a:sym typeface="Calibri"/>
              </a:rPr>
              <a:t>Gated Linear Units (GLU)</a:t>
            </a:r>
            <a:endParaRPr sz="1300" b="0" i="0" u="none" strike="noStrike" cap="none" dirty="0">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dirty="0">
                <a:solidFill>
                  <a:srgbClr val="000000"/>
                </a:solidFill>
                <a:latin typeface="Calibri"/>
                <a:ea typeface="Calibri"/>
                <a:cs typeface="Calibri"/>
                <a:sym typeface="Calibri"/>
              </a:rPr>
              <a:t>Grouped Query Attention (GQA)</a:t>
            </a:r>
            <a:endParaRPr sz="1300" b="0" i="0" u="none" strike="noStrike" cap="none" dirty="0">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dirty="0">
                <a:solidFill>
                  <a:srgbClr val="000000"/>
                </a:solidFill>
                <a:latin typeface="Calibri"/>
                <a:ea typeface="Calibri"/>
                <a:cs typeface="Calibri"/>
                <a:sym typeface="Calibri"/>
              </a:rPr>
              <a:t>GPT-4 tokenizer</a:t>
            </a:r>
            <a:endParaRPr sz="1300" b="0" i="0" u="none" strike="noStrike" cap="none" dirty="0">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SzPts val="1300"/>
              <a:buFont typeface="Calibri"/>
              <a:buChar char="●"/>
            </a:pPr>
            <a:r>
              <a:rPr lang="en" sz="1300" dirty="0">
                <a:latin typeface="Calibri"/>
                <a:ea typeface="Calibri"/>
                <a:cs typeface="Calibri"/>
                <a:sym typeface="Calibri"/>
              </a:rPr>
              <a:t>x2 faster than comparable models</a:t>
            </a:r>
            <a:endParaRPr sz="1300" dirty="0">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dirty="0">
                <a:solidFill>
                  <a:srgbClr val="000000"/>
                </a:solidFill>
                <a:latin typeface="Calibri"/>
                <a:ea typeface="Calibri"/>
                <a:cs typeface="Calibri"/>
                <a:sym typeface="Calibri"/>
              </a:rPr>
              <a:t>needs 4 80GB GPUs to run inference with 16-bit precision</a:t>
            </a:r>
            <a:endParaRPr sz="1300" b="0" i="0" u="none" strike="noStrike" cap="none" dirty="0">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dirty="0">
                <a:solidFill>
                  <a:schemeClr val="hlink"/>
                </a:solidFill>
                <a:latin typeface="Calibri"/>
                <a:ea typeface="Calibri"/>
                <a:cs typeface="Calibri"/>
                <a:sym typeface="Calibri"/>
                <a:hlinkClick r:id="rId3"/>
              </a:rPr>
              <a:t>https://www.databricks.com/blog/announcing-dbrx-new-standard-efficient-open-source-customizable-llms</a:t>
            </a:r>
            <a:endParaRPr sz="1000" b="0" i="0" u="none" strike="noStrike" cap="none" dirty="0">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dirty="0">
                <a:solidFill>
                  <a:schemeClr val="hlink"/>
                </a:solidFill>
                <a:latin typeface="Calibri"/>
                <a:ea typeface="Calibri"/>
                <a:cs typeface="Calibri"/>
                <a:sym typeface="Calibri"/>
                <a:hlinkClick r:id="rId4"/>
              </a:rPr>
              <a:t>https://github.com/databricks/dbrx</a:t>
            </a:r>
            <a:r>
              <a:rPr lang="en" sz="1000" b="0" i="0" u="none" strike="noStrike" cap="none" dirty="0">
                <a:solidFill>
                  <a:srgbClr val="000000"/>
                </a:solidFill>
                <a:latin typeface="Calibri"/>
                <a:ea typeface="Calibri"/>
                <a:cs typeface="Calibri"/>
                <a:sym typeface="Calibri"/>
              </a:rPr>
              <a:t> </a:t>
            </a:r>
            <a:endParaRPr sz="1000" b="0" i="0" u="none" strike="noStrike" cap="none" dirty="0">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dirty="0">
                <a:solidFill>
                  <a:schemeClr val="hlink"/>
                </a:solidFill>
                <a:latin typeface="Calibri"/>
                <a:ea typeface="Calibri"/>
                <a:cs typeface="Calibri"/>
                <a:sym typeface="Calibri"/>
                <a:hlinkClick r:id="rId5"/>
              </a:rPr>
              <a:t>https://huggingface.co/collections/databricks/dbrx-6601c0852a0cdd3c59f71962</a:t>
            </a:r>
            <a:r>
              <a:rPr lang="en" sz="1000" b="0" i="0" u="none" strike="noStrike" cap="none" dirty="0">
                <a:solidFill>
                  <a:srgbClr val="000000"/>
                </a:solidFill>
                <a:latin typeface="Calibri"/>
                <a:ea typeface="Calibri"/>
                <a:cs typeface="Calibri"/>
                <a:sym typeface="Calibri"/>
              </a:rPr>
              <a:t> </a:t>
            </a:r>
            <a:endParaRPr sz="1000" b="0" i="0" u="none" strike="noStrike" cap="none" dirty="0">
              <a:solidFill>
                <a:srgbClr val="000000"/>
              </a:solidFill>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b="0" i="0" u="sng" strike="noStrike" cap="none" dirty="0">
                <a:solidFill>
                  <a:schemeClr val="hlink"/>
                </a:solidFill>
                <a:latin typeface="Calibri"/>
                <a:ea typeface="Calibri"/>
                <a:cs typeface="Calibri"/>
                <a:sym typeface="Calibri"/>
                <a:hlinkClick r:id="rId6"/>
              </a:rPr>
              <a:t>https://www.databricks.com/blog/introducing-dbrx-new-state-art-open-llm</a:t>
            </a:r>
            <a:r>
              <a:rPr lang="en" sz="1000" b="0" i="0" u="none" strike="noStrike" cap="none" dirty="0">
                <a:solidFill>
                  <a:srgbClr val="000000"/>
                </a:solidFill>
                <a:latin typeface="Calibri"/>
                <a:ea typeface="Calibri"/>
                <a:cs typeface="Calibri"/>
                <a:sym typeface="Calibri"/>
              </a:rPr>
              <a:t> </a:t>
            </a:r>
            <a:endParaRPr sz="1000" b="0" i="0" u="none" strike="noStrike" cap="none" dirty="0">
              <a:solidFill>
                <a:srgbClr val="000000"/>
              </a:solidFill>
              <a:latin typeface="Calibri"/>
              <a:ea typeface="Calibri"/>
              <a:cs typeface="Calibri"/>
              <a:sym typeface="Calibri"/>
            </a:endParaRPr>
          </a:p>
        </p:txBody>
      </p:sp>
      <p:pic>
        <p:nvPicPr>
          <p:cNvPr id="115" name="Google Shape;115;p19"/>
          <p:cNvPicPr preferRelativeResize="0"/>
          <p:nvPr/>
        </p:nvPicPr>
        <p:blipFill rotWithShape="1">
          <a:blip r:embed="rId7">
            <a:alphaModFix/>
          </a:blip>
          <a:srcRect/>
          <a:stretch/>
        </p:blipFill>
        <p:spPr>
          <a:xfrm>
            <a:off x="5989450" y="207025"/>
            <a:ext cx="2952750" cy="1552575"/>
          </a:xfrm>
          <a:prstGeom prst="rect">
            <a:avLst/>
          </a:prstGeom>
          <a:noFill/>
          <a:ln>
            <a:noFill/>
          </a:ln>
        </p:spPr>
      </p:pic>
      <p:pic>
        <p:nvPicPr>
          <p:cNvPr id="116" name="Google Shape;116;p19"/>
          <p:cNvPicPr preferRelativeResize="0"/>
          <p:nvPr/>
        </p:nvPicPr>
        <p:blipFill rotWithShape="1">
          <a:blip r:embed="rId8">
            <a:alphaModFix/>
          </a:blip>
          <a:srcRect/>
          <a:stretch/>
        </p:blipFill>
        <p:spPr>
          <a:xfrm>
            <a:off x="4550925" y="2339875"/>
            <a:ext cx="4522598" cy="26852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txBox="1"/>
          <p:nvPr/>
        </p:nvSpPr>
        <p:spPr>
          <a:xfrm>
            <a:off x="0" y="0"/>
            <a:ext cx="13722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Jamba</a:t>
            </a:r>
            <a:endParaRPr sz="2000" b="1" i="0" u="none" strike="noStrike" cap="none">
              <a:solidFill>
                <a:srgbClr val="000000"/>
              </a:solidFill>
              <a:latin typeface="Calibri"/>
              <a:ea typeface="Calibri"/>
              <a:cs typeface="Calibri"/>
              <a:sym typeface="Calibri"/>
            </a:endParaRPr>
          </a:p>
        </p:txBody>
      </p:sp>
      <p:sp>
        <p:nvSpPr>
          <p:cNvPr id="122" name="Google Shape;122;p20"/>
          <p:cNvSpPr txBox="1"/>
          <p:nvPr/>
        </p:nvSpPr>
        <p:spPr>
          <a:xfrm>
            <a:off x="40799" y="755836"/>
            <a:ext cx="3483300" cy="284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i="0" u="none" strike="noStrike" cap="none">
                <a:solidFill>
                  <a:srgbClr val="FF0000"/>
                </a:solidFill>
                <a:latin typeface="Calibri"/>
                <a:ea typeface="Calibri"/>
                <a:cs typeface="Calibri"/>
                <a:sym typeface="Calibri"/>
              </a:rPr>
              <a:t>AI21 Labs</a:t>
            </a:r>
            <a:r>
              <a:rPr lang="en" sz="1300" b="0" i="0" u="none" strike="noStrike" cap="none">
                <a:solidFill>
                  <a:srgbClr val="000000"/>
                </a:solidFill>
                <a:latin typeface="Calibri"/>
                <a:ea typeface="Calibri"/>
                <a:cs typeface="Calibri"/>
                <a:sym typeface="Calibri"/>
              </a:rPr>
              <a:t> just announced </a:t>
            </a:r>
            <a:r>
              <a:rPr lang="en" sz="1300" b="1" i="0" u="none" strike="noStrike" cap="none">
                <a:solidFill>
                  <a:srgbClr val="FF0000"/>
                </a:solidFill>
                <a:latin typeface="Calibri"/>
                <a:ea typeface="Calibri"/>
                <a:cs typeface="Calibri"/>
                <a:sym typeface="Calibri"/>
              </a:rPr>
              <a:t>Jamba</a:t>
            </a:r>
            <a:r>
              <a:rPr lang="en" sz="1300" b="0" i="0" u="none" strike="noStrike" cap="none">
                <a:solidFill>
                  <a:srgbClr val="000000"/>
                </a:solidFill>
                <a:latin typeface="Calibri"/>
                <a:ea typeface="Calibri"/>
                <a:cs typeface="Calibri"/>
                <a:sym typeface="Calibri"/>
              </a:rPr>
              <a:t> - an </a:t>
            </a:r>
            <a:r>
              <a:rPr lang="en" sz="1300" b="0" i="0" u="none" strike="noStrike" cap="none">
                <a:solidFill>
                  <a:srgbClr val="6AA84F"/>
                </a:solidFill>
                <a:latin typeface="Calibri"/>
                <a:ea typeface="Calibri"/>
                <a:cs typeface="Calibri"/>
                <a:sym typeface="Calibri"/>
              </a:rPr>
              <a:t>open-source and improved</a:t>
            </a:r>
            <a:r>
              <a:rPr lang="en" sz="1300" b="0" i="0" u="none" strike="noStrike" cap="none">
                <a:solidFill>
                  <a:srgbClr val="000000"/>
                </a:solidFill>
                <a:latin typeface="Calibri"/>
                <a:ea typeface="Calibri"/>
                <a:cs typeface="Calibri"/>
                <a:sym typeface="Calibri"/>
              </a:rPr>
              <a:t> </a:t>
            </a:r>
            <a:r>
              <a:rPr lang="en" sz="1300" b="1" i="0" u="none" strike="noStrike" cap="none">
                <a:solidFill>
                  <a:srgbClr val="FF0000"/>
                </a:solidFill>
                <a:latin typeface="Calibri"/>
                <a:ea typeface="Calibri"/>
                <a:cs typeface="Calibri"/>
                <a:sym typeface="Calibri"/>
              </a:rPr>
              <a:t>Mamba</a:t>
            </a:r>
            <a:r>
              <a:rPr lang="en" sz="1300" b="0" i="0" u="none" strike="noStrike" cap="none">
                <a:solidFill>
                  <a:srgbClr val="000000"/>
                </a:solidFill>
                <a:latin typeface="Calibri"/>
                <a:ea typeface="Calibri"/>
                <a:cs typeface="Calibri"/>
                <a:sym typeface="Calibri"/>
              </a:rPr>
              <a:t>!</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Hybrid SSM / Transformer model</a:t>
            </a:r>
            <a:br>
              <a:rPr lang="en" sz="1300" b="0" i="0" u="none" strike="noStrike" cap="none">
                <a:solidFill>
                  <a:srgbClr val="000000"/>
                </a:solidFill>
                <a:latin typeface="Calibri"/>
                <a:ea typeface="Calibri"/>
                <a:cs typeface="Calibri"/>
                <a:sym typeface="Calibri"/>
              </a:rPr>
            </a:br>
            <a:r>
              <a:rPr lang="en" sz="1300" b="0" i="0" u="none" strike="noStrike" cap="none">
                <a:solidFill>
                  <a:srgbClr val="000000"/>
                </a:solidFill>
                <a:latin typeface="Calibri"/>
                <a:ea typeface="Calibri"/>
                <a:cs typeface="Calibri"/>
                <a:sym typeface="Calibri"/>
              </a:rPr>
              <a:t>(SSM = State State Model)</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MoE with 52B parameters (active 12B).</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SSM reduces quadratic complexity</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256K context length - while x3 faster</a:t>
            </a:r>
            <a:br>
              <a:rPr lang="en" sz="1300" b="0" i="0" u="none" strike="noStrike" cap="none">
                <a:solidFill>
                  <a:srgbClr val="000000"/>
                </a:solidFill>
                <a:latin typeface="Calibri"/>
                <a:ea typeface="Calibri"/>
                <a:cs typeface="Calibri"/>
                <a:sym typeface="Calibri"/>
              </a:rPr>
            </a:br>
            <a:r>
              <a:rPr lang="en" sz="1300" b="0" i="0" u="none" strike="noStrike" cap="none">
                <a:solidFill>
                  <a:srgbClr val="000000"/>
                </a:solidFill>
                <a:latin typeface="Calibri"/>
                <a:ea typeface="Calibri"/>
                <a:cs typeface="Calibri"/>
                <a:sym typeface="Calibri"/>
              </a:rPr>
              <a:t>than Mixtral 8x7B on long contexts</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Fits up to 140K context on a single GPU</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Competitive performance to Mixtral!</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Open weights: Apache 2.0.</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3"/>
              </a:rPr>
              <a:t>https://twitter.com/Yampeleg/status/1773364830423937090</a:t>
            </a:r>
            <a:endParaRPr sz="1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4"/>
              </a:rPr>
              <a:t>https://www.ai21.com/blog/announcing-jamba</a:t>
            </a:r>
            <a:br>
              <a:rPr lang="en" sz="1000">
                <a:latin typeface="Calibri"/>
                <a:ea typeface="Calibri"/>
                <a:cs typeface="Calibri"/>
                <a:sym typeface="Calibri"/>
              </a:rPr>
            </a:br>
            <a:r>
              <a:rPr lang="en" sz="1000" u="sng">
                <a:solidFill>
                  <a:schemeClr val="hlink"/>
                </a:solidFill>
                <a:latin typeface="Calibri"/>
                <a:ea typeface="Calibri"/>
                <a:cs typeface="Calibri"/>
                <a:sym typeface="Calibri"/>
                <a:hlinkClick r:id="rId5"/>
              </a:rPr>
              <a:t>https://arxiv.org/pdf/2312.00752.pdf</a:t>
            </a:r>
            <a:r>
              <a:rPr lang="en" sz="1000">
                <a:latin typeface="Calibri"/>
                <a:ea typeface="Calibri"/>
                <a:cs typeface="Calibri"/>
                <a:sym typeface="Calibri"/>
              </a:rPr>
              <a:t> - Mamba, 2023</a:t>
            </a:r>
            <a:endParaRPr sz="1000" b="0" i="0" u="none" strike="noStrike" cap="none">
              <a:solidFill>
                <a:srgbClr val="000000"/>
              </a:solidFill>
              <a:latin typeface="Calibri"/>
              <a:ea typeface="Calibri"/>
              <a:cs typeface="Calibri"/>
              <a:sym typeface="Calibri"/>
            </a:endParaRPr>
          </a:p>
        </p:txBody>
      </p:sp>
      <p:pic>
        <p:nvPicPr>
          <p:cNvPr id="123" name="Google Shape;123;p20"/>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2377621" y="76750"/>
            <a:ext cx="1146475" cy="644900"/>
          </a:xfrm>
          <a:prstGeom prst="rect">
            <a:avLst/>
          </a:prstGeom>
          <a:noFill/>
          <a:ln>
            <a:noFill/>
          </a:ln>
        </p:spPr>
      </p:pic>
      <p:pic>
        <p:nvPicPr>
          <p:cNvPr id="124" name="Google Shape;124;p20"/>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0800" y="3655692"/>
            <a:ext cx="3483300" cy="1427950"/>
          </a:xfrm>
          <a:prstGeom prst="rect">
            <a:avLst/>
          </a:prstGeom>
          <a:noFill/>
          <a:ln>
            <a:noFill/>
          </a:ln>
        </p:spPr>
      </p:pic>
      <p:pic>
        <p:nvPicPr>
          <p:cNvPr id="125" name="Google Shape;125;p20"/>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3664375" y="174675"/>
            <a:ext cx="1802993" cy="4880199"/>
          </a:xfrm>
          <a:prstGeom prst="rect">
            <a:avLst/>
          </a:prstGeom>
          <a:noFill/>
          <a:ln>
            <a:noFill/>
          </a:ln>
        </p:spPr>
      </p:pic>
      <p:pic>
        <p:nvPicPr>
          <p:cNvPr id="126" name="Google Shape;126;p20"/>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5660700" y="1540425"/>
            <a:ext cx="3483301" cy="3603086"/>
          </a:xfrm>
          <a:prstGeom prst="rect">
            <a:avLst/>
          </a:prstGeom>
          <a:noFill/>
          <a:ln>
            <a:noFill/>
          </a:ln>
        </p:spPr>
      </p:pic>
      <p:sp>
        <p:nvSpPr>
          <p:cNvPr id="127" name="Google Shape;127;p20"/>
          <p:cNvSpPr txBox="1"/>
          <p:nvPr/>
        </p:nvSpPr>
        <p:spPr>
          <a:xfrm>
            <a:off x="6102465" y="778675"/>
            <a:ext cx="2178600" cy="7326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100">
                <a:latin typeface="Calibri"/>
                <a:ea typeface="Calibri"/>
                <a:cs typeface="Calibri"/>
                <a:sym typeface="Calibri"/>
              </a:rPr>
              <a:t>AI21 Labs founded </a:t>
            </a:r>
            <a:r>
              <a:rPr lang="en" sz="1100">
                <a:solidFill>
                  <a:schemeClr val="dk1"/>
                </a:solidFill>
                <a:latin typeface="Calibri"/>
                <a:ea typeface="Calibri"/>
                <a:cs typeface="Calibri"/>
                <a:sym typeface="Calibri"/>
              </a:rPr>
              <a:t>in 2017 in Israel</a:t>
            </a:r>
            <a:endParaRPr sz="1100">
              <a:solidFill>
                <a:schemeClr val="dk1"/>
              </a:solidFill>
              <a:latin typeface="Calibri"/>
              <a:ea typeface="Calibri"/>
              <a:cs typeface="Calibri"/>
              <a:sym typeface="Calibri"/>
            </a:endParaRPr>
          </a:p>
          <a:p>
            <a:pPr marL="0" lvl="0" indent="0" algn="ctr" rtl="0">
              <a:spcBef>
                <a:spcPts val="0"/>
              </a:spcBef>
              <a:spcAft>
                <a:spcPts val="0"/>
              </a:spcAft>
              <a:buNone/>
            </a:pPr>
            <a:r>
              <a:rPr lang="en" sz="1100">
                <a:latin typeface="Calibri"/>
                <a:ea typeface="Calibri"/>
                <a:cs typeface="Calibri"/>
                <a:sym typeface="Calibri"/>
              </a:rPr>
              <a:t>Yoav Shoham (Stanford)</a:t>
            </a:r>
            <a:endParaRPr sz="1100">
              <a:latin typeface="Calibri"/>
              <a:ea typeface="Calibri"/>
              <a:cs typeface="Calibri"/>
              <a:sym typeface="Calibri"/>
            </a:endParaRPr>
          </a:p>
          <a:p>
            <a:pPr marL="0" lvl="0" indent="0" algn="ctr" rtl="0">
              <a:spcBef>
                <a:spcPts val="0"/>
              </a:spcBef>
              <a:spcAft>
                <a:spcPts val="0"/>
              </a:spcAft>
              <a:buNone/>
            </a:pPr>
            <a:r>
              <a:rPr lang="en" sz="1100">
                <a:latin typeface="Calibri"/>
                <a:ea typeface="Calibri"/>
                <a:cs typeface="Calibri"/>
                <a:sym typeface="Calibri"/>
              </a:rPr>
              <a:t>Ori Goshen (CrowdX)</a:t>
            </a:r>
            <a:endParaRPr sz="1100">
              <a:latin typeface="Calibri"/>
              <a:ea typeface="Calibri"/>
              <a:cs typeface="Calibri"/>
              <a:sym typeface="Calibri"/>
            </a:endParaRPr>
          </a:p>
          <a:p>
            <a:pPr marL="0" lvl="0" indent="0" algn="ctr" rtl="0">
              <a:spcBef>
                <a:spcPts val="0"/>
              </a:spcBef>
              <a:spcAft>
                <a:spcPts val="0"/>
              </a:spcAft>
              <a:buNone/>
            </a:pPr>
            <a:r>
              <a:rPr lang="en" sz="1100">
                <a:latin typeface="Calibri"/>
                <a:ea typeface="Calibri"/>
                <a:cs typeface="Calibri"/>
                <a:sym typeface="Calibri"/>
              </a:rPr>
              <a:t>Amnon Shashua (Mobileye)</a:t>
            </a:r>
            <a:endParaRPr sz="1100">
              <a:latin typeface="Calibri"/>
              <a:ea typeface="Calibri"/>
              <a:cs typeface="Calibri"/>
              <a:sym typeface="Calibri"/>
            </a:endParaRPr>
          </a:p>
        </p:txBody>
      </p:sp>
      <p:pic>
        <p:nvPicPr>
          <p:cNvPr id="128" name="Google Shape;128;p20"/>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6469763" y="48877"/>
            <a:ext cx="1443987" cy="700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p:nvPr/>
        </p:nvSpPr>
        <p:spPr>
          <a:xfrm>
            <a:off x="0" y="0"/>
            <a:ext cx="2023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Simba</a:t>
            </a:r>
            <a:endParaRPr sz="2000" b="1" i="0" u="none" strike="noStrike" cap="none">
              <a:solidFill>
                <a:srgbClr val="000000"/>
              </a:solidFill>
              <a:latin typeface="Calibri"/>
              <a:ea typeface="Calibri"/>
              <a:cs typeface="Calibri"/>
              <a:sym typeface="Calibri"/>
            </a:endParaRPr>
          </a:p>
        </p:txBody>
      </p:sp>
      <p:sp>
        <p:nvSpPr>
          <p:cNvPr id="134" name="Google Shape;134;p21"/>
          <p:cNvSpPr txBox="1"/>
          <p:nvPr/>
        </p:nvSpPr>
        <p:spPr>
          <a:xfrm>
            <a:off x="1114650" y="793600"/>
            <a:ext cx="4425600" cy="115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SiMBA: Simplified Mamba-Based Architecture ... (Microsoft)</a:t>
            </a:r>
            <a:endParaRPr sz="1300" b="1">
              <a:solidFill>
                <a:srgbClr val="FF0000"/>
              </a:solidFill>
              <a:latin typeface="Calibri"/>
              <a:ea typeface="Calibri"/>
              <a:cs typeface="Calibri"/>
              <a:sym typeface="Calibri"/>
            </a:endParaRPr>
          </a:p>
          <a:p>
            <a:pPr marL="228600" marR="0" lvl="0" indent="-1778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https://arxiv.org/abs/2403.15360</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https://github.com/badripatro/Simba</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https://www.marktechpost.com/2024/03/27/this-ai-paper-from-microsoft-present-simba-a-simplified-mamba-based-architecture-for-vision-and-multivariate-time-series/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35" name="Google Shape;135;p2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52400" y="1893425"/>
            <a:ext cx="6195350" cy="3097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p:nvPr/>
        </p:nvSpPr>
        <p:spPr>
          <a:xfrm>
            <a:off x="0" y="0"/>
            <a:ext cx="2023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Misc 1</a:t>
            </a:r>
            <a:endParaRPr sz="2000" b="1" i="0" u="none" strike="noStrike" cap="none">
              <a:solidFill>
                <a:srgbClr val="000000"/>
              </a:solidFill>
              <a:latin typeface="Calibri"/>
              <a:ea typeface="Calibri"/>
              <a:cs typeface="Calibri"/>
              <a:sym typeface="Calibri"/>
            </a:endParaRPr>
          </a:p>
        </p:txBody>
      </p:sp>
      <p:sp>
        <p:nvSpPr>
          <p:cNvPr id="141" name="Google Shape;141;p22"/>
          <p:cNvSpPr txBox="1"/>
          <p:nvPr/>
        </p:nvSpPr>
        <p:spPr>
          <a:xfrm>
            <a:off x="112300" y="492600"/>
            <a:ext cx="4341000" cy="208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FF0000"/>
                </a:solidFill>
                <a:latin typeface="Roboto Mono"/>
                <a:ea typeface="Roboto Mono"/>
                <a:cs typeface="Roboto Mono"/>
                <a:sym typeface="Roboto Mono"/>
              </a:rPr>
              <a:t>Context Length / Output Length</a:t>
            </a:r>
            <a:endParaRPr sz="1100" b="1" i="0" u="none" strike="noStrike" cap="none">
              <a:solidFill>
                <a:srgbClr val="FF0000"/>
              </a:solidFill>
              <a:latin typeface="Roboto Mono"/>
              <a:ea typeface="Roboto Mono"/>
              <a:cs typeface="Roboto Mono"/>
              <a:sym typeface="Roboto Mono"/>
            </a:endParaRPr>
          </a:p>
          <a:p>
            <a:pPr marL="228600" marR="0" lvl="0" indent="-184150" algn="l" rtl="0">
              <a:lnSpc>
                <a:spcPct val="100000"/>
              </a:lnSpc>
              <a:spcBef>
                <a:spcPts val="0"/>
              </a:spcBef>
              <a:spcAft>
                <a:spcPts val="0"/>
              </a:spcAft>
              <a:buClr>
                <a:srgbClr val="000000"/>
              </a:buClr>
              <a:buSzPts val="1100"/>
              <a:buFont typeface="Roboto Mono"/>
              <a:buChar char="●"/>
            </a:pPr>
            <a:r>
              <a:rPr lang="en" sz="1100" b="0" i="0" u="none" strike="noStrike" cap="none">
                <a:solidFill>
                  <a:srgbClr val="000000"/>
                </a:solidFill>
                <a:latin typeface="Roboto Mono"/>
                <a:ea typeface="Roboto Mono"/>
                <a:cs typeface="Roboto Mono"/>
                <a:sym typeface="Roboto Mono"/>
              </a:rPr>
              <a:t>gpt-3.5-turbo-0125 -  16K / 4K tokens in/out, </a:t>
            </a:r>
            <a:br>
              <a:rPr lang="en" sz="1100" b="0" i="0" u="none" strike="noStrike" cap="none">
                <a:solidFill>
                  <a:srgbClr val="000000"/>
                </a:solidFill>
                <a:latin typeface="Roboto Mono"/>
                <a:ea typeface="Roboto Mono"/>
                <a:cs typeface="Roboto Mono"/>
                <a:sym typeface="Roboto Mono"/>
              </a:rPr>
            </a:br>
            <a:r>
              <a:rPr lang="en" sz="1100" b="0" i="0" u="none" strike="noStrike" cap="none">
                <a:solidFill>
                  <a:srgbClr val="000000"/>
                </a:solidFill>
                <a:latin typeface="Roboto Mono"/>
                <a:ea typeface="Roboto Mono"/>
                <a:cs typeface="Roboto Mono"/>
                <a:sym typeface="Roboto Mono"/>
              </a:rPr>
              <a:t>data as of Sept 2021</a:t>
            </a:r>
            <a:endParaRPr sz="1100" b="0" i="0" u="none" strike="noStrike" cap="none">
              <a:solidFill>
                <a:srgbClr val="000000"/>
              </a:solidFill>
              <a:latin typeface="Roboto Mono"/>
              <a:ea typeface="Roboto Mono"/>
              <a:cs typeface="Roboto Mono"/>
              <a:sym typeface="Roboto Mono"/>
            </a:endParaRPr>
          </a:p>
          <a:p>
            <a:pPr marL="228600" marR="0" lvl="0" indent="-184150" algn="l" rtl="0">
              <a:lnSpc>
                <a:spcPct val="100000"/>
              </a:lnSpc>
              <a:spcBef>
                <a:spcPts val="0"/>
              </a:spcBef>
              <a:spcAft>
                <a:spcPts val="0"/>
              </a:spcAft>
              <a:buClr>
                <a:srgbClr val="000000"/>
              </a:buClr>
              <a:buSzPts val="1100"/>
              <a:buFont typeface="Roboto Mono"/>
              <a:buChar char="●"/>
            </a:pPr>
            <a:r>
              <a:rPr lang="en" sz="1100" b="0" i="0" u="none" strike="noStrike" cap="none">
                <a:solidFill>
                  <a:srgbClr val="000000"/>
                </a:solidFill>
                <a:latin typeface="Roboto Mono"/>
                <a:ea typeface="Roboto Mono"/>
                <a:cs typeface="Roboto Mono"/>
                <a:sym typeface="Roboto Mono"/>
              </a:rPr>
              <a:t>gpt-4-0125-preview - 128K / 4K tokens in/out, </a:t>
            </a:r>
            <a:br>
              <a:rPr lang="en" sz="1100" b="0" i="0" u="none" strike="noStrike" cap="none">
                <a:solidFill>
                  <a:srgbClr val="000000"/>
                </a:solidFill>
                <a:latin typeface="Roboto Mono"/>
                <a:ea typeface="Roboto Mono"/>
                <a:cs typeface="Roboto Mono"/>
                <a:sym typeface="Roboto Mono"/>
              </a:rPr>
            </a:br>
            <a:r>
              <a:rPr lang="en" sz="1100" b="0" i="0" u="none" strike="noStrike" cap="none">
                <a:solidFill>
                  <a:srgbClr val="000000"/>
                </a:solidFill>
                <a:latin typeface="Roboto Mono"/>
                <a:ea typeface="Roboto Mono"/>
                <a:cs typeface="Roboto Mono"/>
                <a:sym typeface="Roboto Mono"/>
              </a:rPr>
              <a:t>data as of Dec 2023</a:t>
            </a:r>
            <a:endParaRPr sz="1100" b="0" i="0" u="none" strike="noStrike" cap="none">
              <a:solidFill>
                <a:srgbClr val="000000"/>
              </a:solidFill>
              <a:latin typeface="Roboto Mono"/>
              <a:ea typeface="Roboto Mono"/>
              <a:cs typeface="Roboto Mono"/>
              <a:sym typeface="Roboto Mono"/>
            </a:endParaRPr>
          </a:p>
          <a:p>
            <a:pPr marL="228600" marR="0" lvl="0" indent="-184150" algn="l" rtl="0">
              <a:lnSpc>
                <a:spcPct val="100000"/>
              </a:lnSpc>
              <a:spcBef>
                <a:spcPts val="0"/>
              </a:spcBef>
              <a:spcAft>
                <a:spcPts val="0"/>
              </a:spcAft>
              <a:buClr>
                <a:srgbClr val="000000"/>
              </a:buClr>
              <a:buSzPts val="1100"/>
              <a:buFont typeface="Roboto Mono"/>
              <a:buChar char="●"/>
            </a:pPr>
            <a:r>
              <a:rPr lang="en" sz="1100" b="0" i="0" u="none" strike="noStrike" cap="none">
                <a:solidFill>
                  <a:srgbClr val="000000"/>
                </a:solidFill>
                <a:latin typeface="Roboto Mono"/>
                <a:ea typeface="Roboto Mono"/>
                <a:cs typeface="Roboto Mono"/>
                <a:sym typeface="Roboto Mono"/>
              </a:rPr>
              <a:t>Claude-3           - 200K / 4K tokens in/out, </a:t>
            </a:r>
            <a:br>
              <a:rPr lang="en" sz="1100" b="0" i="0" u="none" strike="noStrike" cap="none">
                <a:solidFill>
                  <a:srgbClr val="000000"/>
                </a:solidFill>
                <a:latin typeface="Roboto Mono"/>
                <a:ea typeface="Roboto Mono"/>
                <a:cs typeface="Roboto Mono"/>
                <a:sym typeface="Roboto Mono"/>
              </a:rPr>
            </a:br>
            <a:r>
              <a:rPr lang="en" sz="1100" b="0" i="0" u="none" strike="noStrike" cap="none">
                <a:solidFill>
                  <a:srgbClr val="000000"/>
                </a:solidFill>
                <a:latin typeface="Roboto Mono"/>
                <a:ea typeface="Roboto Mono"/>
                <a:cs typeface="Roboto Mono"/>
                <a:sym typeface="Roboto Mono"/>
              </a:rPr>
              <a:t>data as of Aug 2023</a:t>
            </a:r>
            <a:endParaRPr sz="1100" b="0" i="0" u="none" strike="noStrike" cap="none">
              <a:solidFill>
                <a:srgbClr val="000000"/>
              </a:solidFill>
              <a:latin typeface="Roboto Mono"/>
              <a:ea typeface="Roboto Mono"/>
              <a:cs typeface="Roboto Mono"/>
              <a:sym typeface="Roboto Mono"/>
            </a:endParaRPr>
          </a:p>
          <a:p>
            <a:pPr marL="228600" marR="0" lvl="0" indent="-184150" algn="l" rtl="0">
              <a:lnSpc>
                <a:spcPct val="100000"/>
              </a:lnSpc>
              <a:spcBef>
                <a:spcPts val="0"/>
              </a:spcBef>
              <a:spcAft>
                <a:spcPts val="0"/>
              </a:spcAft>
              <a:buClr>
                <a:srgbClr val="000000"/>
              </a:buClr>
              <a:buSzPts val="1100"/>
              <a:buFont typeface="Roboto Mono"/>
              <a:buChar char="●"/>
            </a:pPr>
            <a:r>
              <a:rPr lang="en" sz="1100" b="0" i="0" u="none" strike="noStrike" cap="none">
                <a:solidFill>
                  <a:srgbClr val="000000"/>
                </a:solidFill>
                <a:latin typeface="Roboto Mono"/>
                <a:ea typeface="Roboto Mono"/>
                <a:cs typeface="Roboto Mono"/>
                <a:sym typeface="Roboto Mono"/>
              </a:rPr>
              <a:t>Gemini Pro 1.5     - 1Mln / 8K tokens in/out, </a:t>
            </a:r>
            <a:br>
              <a:rPr lang="en" sz="1100" b="0" i="0" u="none" strike="noStrike" cap="none">
                <a:solidFill>
                  <a:srgbClr val="000000"/>
                </a:solidFill>
                <a:latin typeface="Roboto Mono"/>
                <a:ea typeface="Roboto Mono"/>
                <a:cs typeface="Roboto Mono"/>
                <a:sym typeface="Roboto Mono"/>
              </a:rPr>
            </a:br>
            <a:r>
              <a:rPr lang="en" sz="1100" b="0" i="0" u="none" strike="noStrike" cap="none">
                <a:solidFill>
                  <a:srgbClr val="000000"/>
                </a:solidFill>
                <a:latin typeface="Roboto Mono"/>
                <a:ea typeface="Roboto Mono"/>
                <a:cs typeface="Roboto Mono"/>
                <a:sym typeface="Roboto Mono"/>
              </a:rPr>
              <a:t>data as of ... 2023 ?</a:t>
            </a:r>
            <a:endParaRPr sz="1100" b="0" i="0" u="none" strike="noStrike" cap="none">
              <a:solidFill>
                <a:srgbClr val="000000"/>
              </a:solidFill>
              <a:latin typeface="Roboto Mono"/>
              <a:ea typeface="Roboto Mono"/>
              <a:cs typeface="Roboto Mono"/>
              <a:sym typeface="Roboto Mono"/>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Roboto Mono"/>
              <a:ea typeface="Roboto Mono"/>
              <a:cs typeface="Roboto Mono"/>
              <a:sym typeface="Roboto Mono"/>
            </a:endParaRPr>
          </a:p>
          <a:p>
            <a:pPr marL="228600" marR="0" lvl="0" indent="-184150" algn="l" rtl="0">
              <a:lnSpc>
                <a:spcPct val="100000"/>
              </a:lnSpc>
              <a:spcBef>
                <a:spcPts val="0"/>
              </a:spcBef>
              <a:spcAft>
                <a:spcPts val="0"/>
              </a:spcAft>
              <a:buClr>
                <a:srgbClr val="000000"/>
              </a:buClr>
              <a:buSzPts val="1100"/>
              <a:buFont typeface="Roboto Mono"/>
              <a:buChar char="●"/>
            </a:pPr>
            <a:r>
              <a:rPr lang="en" sz="1100" b="0" i="0" u="none" strike="noStrike" cap="none">
                <a:solidFill>
                  <a:srgbClr val="000000"/>
                </a:solidFill>
                <a:latin typeface="Roboto Mono"/>
                <a:ea typeface="Roboto Mono"/>
                <a:cs typeface="Roboto Mono"/>
                <a:sym typeface="Roboto Mono"/>
              </a:rPr>
              <a:t>Mistral-7B v0.2     - 32K / ?? tokens in/out,</a:t>
            </a:r>
            <a:br>
              <a:rPr lang="en" sz="1100" b="0" i="0" u="none" strike="noStrike" cap="none">
                <a:solidFill>
                  <a:srgbClr val="000000"/>
                </a:solidFill>
                <a:latin typeface="Roboto Mono"/>
                <a:ea typeface="Roboto Mono"/>
                <a:cs typeface="Roboto Mono"/>
                <a:sym typeface="Roboto Mono"/>
              </a:rPr>
            </a:br>
            <a:r>
              <a:rPr lang="en" sz="1100" b="0" i="0" u="none" strike="noStrike" cap="none">
                <a:solidFill>
                  <a:srgbClr val="000000"/>
                </a:solidFill>
                <a:latin typeface="Roboto Mono"/>
                <a:ea typeface="Roboto Mono"/>
                <a:cs typeface="Roboto Mono"/>
                <a:sym typeface="Roboto Mono"/>
              </a:rPr>
              <a:t>data as of ... .... ?</a:t>
            </a:r>
            <a:endParaRPr sz="1100" b="0" i="0" u="none" strike="noStrike" cap="none">
              <a:solidFill>
                <a:srgbClr val="000000"/>
              </a:solidFill>
              <a:latin typeface="Roboto Mono"/>
              <a:ea typeface="Roboto Mono"/>
              <a:cs typeface="Roboto Mono"/>
              <a:sym typeface="Roboto Mono"/>
            </a:endParaRPr>
          </a:p>
        </p:txBody>
      </p:sp>
      <p:sp>
        <p:nvSpPr>
          <p:cNvPr id="142" name="Google Shape;142;p22"/>
          <p:cNvSpPr txBox="1"/>
          <p:nvPr/>
        </p:nvSpPr>
        <p:spPr>
          <a:xfrm>
            <a:off x="112300" y="2649975"/>
            <a:ext cx="4341000" cy="25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Stable Code Instruct 3B from Stability.ai</a:t>
            </a:r>
            <a:endParaRPr sz="1300" b="0" i="0" u="none" strike="noStrike" cap="none">
              <a:solidFill>
                <a:srgbClr val="000000"/>
              </a:solidFill>
              <a:latin typeface="Calibri"/>
              <a:ea typeface="Calibri"/>
              <a:cs typeface="Calibri"/>
              <a:sym typeface="Calibri"/>
            </a:endParaRPr>
          </a:p>
        </p:txBody>
      </p:sp>
      <p:sp>
        <p:nvSpPr>
          <p:cNvPr id="143" name="Google Shape;143;p22"/>
          <p:cNvSpPr txBox="1"/>
          <p:nvPr/>
        </p:nvSpPr>
        <p:spPr>
          <a:xfrm>
            <a:off x="112300" y="2975850"/>
            <a:ext cx="4341000" cy="1363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The </a:t>
            </a:r>
            <a:r>
              <a:rPr lang="en" sz="1300" b="1" i="0" u="none" strike="noStrike" cap="none">
                <a:solidFill>
                  <a:srgbClr val="FF0000"/>
                </a:solidFill>
                <a:latin typeface="Calibri"/>
                <a:ea typeface="Calibri"/>
                <a:cs typeface="Calibri"/>
                <a:sym typeface="Calibri"/>
              </a:rPr>
              <a:t>Open Interpreter 01 Light</a:t>
            </a:r>
            <a:r>
              <a:rPr lang="en" sz="1300" b="0" i="0" u="none" strike="noStrike" cap="none">
                <a:solidFill>
                  <a:srgbClr val="000000"/>
                </a:solidFill>
                <a:latin typeface="Calibri"/>
                <a:ea typeface="Calibri"/>
                <a:cs typeface="Calibri"/>
                <a:sym typeface="Calibri"/>
              </a:rPr>
              <a:t> is an open-source hardware device that enables users to control any computer through natural language commands.</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This device is part of a broader open-source project aimed at creating a more accessible and flexible computing experience. </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000" b="0" i="0" u="sng" strike="noStrike" cap="none">
                <a:solidFill>
                  <a:schemeClr val="hlink"/>
                </a:solidFill>
                <a:latin typeface="Calibri"/>
                <a:ea typeface="Calibri"/>
                <a:cs typeface="Calibri"/>
                <a:sym typeface="Calibri"/>
                <a:hlinkClick r:id="rId3"/>
              </a:rPr>
              <a:t>https://github.com/OpenInterpreter/01</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000" b="0" i="0" u="sng" strike="noStrike" cap="none">
                <a:solidFill>
                  <a:schemeClr val="hlink"/>
                </a:solidFill>
                <a:latin typeface="Calibri"/>
                <a:ea typeface="Calibri"/>
                <a:cs typeface="Calibri"/>
                <a:sym typeface="Calibri"/>
                <a:hlinkClick r:id="rId4"/>
              </a:rPr>
              <a:t>https://www.geeky-gadgets.com/pocket-ai-agent/</a:t>
            </a:r>
            <a:endParaRPr sz="1000" b="0" i="0" u="none" strike="noStrike" cap="none">
              <a:solidFill>
                <a:srgbClr val="000000"/>
              </a:solidFill>
              <a:latin typeface="Calibri"/>
              <a:ea typeface="Calibri"/>
              <a:cs typeface="Calibri"/>
              <a:sym typeface="Calibri"/>
            </a:endParaRPr>
          </a:p>
        </p:txBody>
      </p:sp>
      <p:pic>
        <p:nvPicPr>
          <p:cNvPr id="144" name="Google Shape;144;p22"/>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2807275" y="4150775"/>
            <a:ext cx="1692300" cy="821400"/>
          </a:xfrm>
          <a:prstGeom prst="rect">
            <a:avLst/>
          </a:prstGeom>
          <a:noFill/>
          <a:ln>
            <a:noFill/>
          </a:ln>
        </p:spPr>
      </p:pic>
      <p:sp>
        <p:nvSpPr>
          <p:cNvPr id="145" name="Google Shape;145;p22"/>
          <p:cNvSpPr txBox="1"/>
          <p:nvPr/>
        </p:nvSpPr>
        <p:spPr>
          <a:xfrm>
            <a:off x="4725450" y="35400"/>
            <a:ext cx="4341000" cy="56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OpenAI is pitching Sora to Hollywood</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000" b="0" i="0" u="sng" strike="noStrike" cap="none">
                <a:solidFill>
                  <a:schemeClr val="hlink"/>
                </a:solidFill>
                <a:latin typeface="Calibri"/>
                <a:ea typeface="Calibri"/>
                <a:cs typeface="Calibri"/>
                <a:sym typeface="Calibri"/>
                <a:hlinkClick r:id="rId6"/>
              </a:rPr>
              <a:t>https://www.theverge.com/2024/3/22/24108858/openai-is-pitching-sora-to-hollywood</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p:txBody>
      </p:sp>
      <p:sp>
        <p:nvSpPr>
          <p:cNvPr id="146" name="Google Shape;146;p22"/>
          <p:cNvSpPr txBox="1"/>
          <p:nvPr/>
        </p:nvSpPr>
        <p:spPr>
          <a:xfrm>
            <a:off x="4725450" y="645200"/>
            <a:ext cx="4341000" cy="60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10% of US workers are in jobs most exposed to artificial intelligence, White House says</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7"/>
              </a:rPr>
              <a:t>https://www.cnn.com/2024/03/21/business/ai-jobs-white-house-work-force/</a:t>
            </a:r>
            <a:endParaRPr sz="1000" b="0" i="0" u="none" strike="noStrike" cap="none">
              <a:solidFill>
                <a:srgbClr val="000000"/>
              </a:solidFill>
              <a:latin typeface="Calibri"/>
              <a:ea typeface="Calibri"/>
              <a:cs typeface="Calibri"/>
              <a:sym typeface="Calibri"/>
            </a:endParaRPr>
          </a:p>
        </p:txBody>
      </p:sp>
      <p:sp>
        <p:nvSpPr>
          <p:cNvPr id="147" name="Google Shape;147;p22"/>
          <p:cNvSpPr txBox="1"/>
          <p:nvPr/>
        </p:nvSpPr>
        <p:spPr>
          <a:xfrm>
            <a:off x="4725450" y="1801038"/>
            <a:ext cx="4341000" cy="45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 Amazon Invests Another $2.75B In Anthropic, thus finalizing its $4 Bln investment in Anthropic</a:t>
            </a:r>
            <a:endParaRPr sz="1300">
              <a:latin typeface="Calibri"/>
              <a:ea typeface="Calibri"/>
              <a:cs typeface="Calibri"/>
              <a:sym typeface="Calibri"/>
            </a:endParaRPr>
          </a:p>
        </p:txBody>
      </p:sp>
      <p:sp>
        <p:nvSpPr>
          <p:cNvPr id="148" name="Google Shape;148;p22"/>
          <p:cNvSpPr txBox="1"/>
          <p:nvPr/>
        </p:nvSpPr>
        <p:spPr>
          <a:xfrm>
            <a:off x="4725450" y="1301188"/>
            <a:ext cx="4341000" cy="45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Elon Musk - AGI may be achieved in 1-2-3 years, definitely in less than 5 years.</a:t>
            </a:r>
            <a:endParaRPr sz="1000" b="0" i="0" u="none" strike="noStrike" cap="none">
              <a:solidFill>
                <a:srgbClr val="000000"/>
              </a:solidFill>
              <a:latin typeface="Calibri"/>
              <a:ea typeface="Calibri"/>
              <a:cs typeface="Calibri"/>
              <a:sym typeface="Calibri"/>
            </a:endParaRPr>
          </a:p>
        </p:txBody>
      </p:sp>
      <p:sp>
        <p:nvSpPr>
          <p:cNvPr id="149" name="Google Shape;149;p22"/>
          <p:cNvSpPr txBox="1"/>
          <p:nvPr/>
        </p:nvSpPr>
        <p:spPr>
          <a:xfrm>
            <a:off x="4725450" y="2347288"/>
            <a:ext cx="4341000" cy="105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Grok-1.5 - will be </a:t>
            </a:r>
            <a:r>
              <a:rPr lang="en" sz="1300">
                <a:latin typeface="Calibri"/>
                <a:ea typeface="Calibri"/>
                <a:cs typeface="Calibri"/>
                <a:sym typeface="Calibri"/>
              </a:rPr>
              <a:t>available for early testers soon. This new version is has 128K context length and better reasoning and math. It is matching accuracy of Claude3 Sonnet and Gemini Pro 1.5. They didn’t say if it will be open-sourced.</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8"/>
              </a:rPr>
              <a:t>https://x.ai/blog/grok-1.5</a:t>
            </a:r>
            <a:r>
              <a:rPr lang="en" sz="1300">
                <a:latin typeface="Calibri"/>
                <a:ea typeface="Calibri"/>
                <a:cs typeface="Calibri"/>
                <a:sym typeface="Calibri"/>
              </a:rPr>
              <a:t> </a:t>
            </a:r>
            <a:endParaRPr sz="1300">
              <a:latin typeface="Calibri"/>
              <a:ea typeface="Calibri"/>
              <a:cs typeface="Calibri"/>
              <a:sym typeface="Calibri"/>
            </a:endParaRPr>
          </a:p>
        </p:txBody>
      </p:sp>
      <p:sp>
        <p:nvSpPr>
          <p:cNvPr id="150" name="Google Shape;150;p22"/>
          <p:cNvSpPr txBox="1"/>
          <p:nvPr/>
        </p:nvSpPr>
        <p:spPr>
          <a:xfrm>
            <a:off x="4725450" y="3458988"/>
            <a:ext cx="4341000" cy="85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h2o-wizardlm</a:t>
            </a:r>
            <a:r>
              <a:rPr lang="en" sz="1300">
                <a:solidFill>
                  <a:schemeClr val="dk1"/>
                </a:solidFill>
                <a:latin typeface="Calibri"/>
                <a:ea typeface="Calibri"/>
                <a:cs typeface="Calibri"/>
                <a:sym typeface="Calibri"/>
              </a:rPr>
              <a:t> - turn documents into Q:A pairs</a:t>
            </a:r>
            <a:br>
              <a:rPr lang="en" sz="1300">
                <a:solidFill>
                  <a:schemeClr val="dk1"/>
                </a:solidFill>
                <a:latin typeface="Calibri"/>
                <a:ea typeface="Calibri"/>
                <a:cs typeface="Calibri"/>
                <a:sym typeface="Calibri"/>
              </a:rPr>
            </a:br>
            <a:r>
              <a:rPr lang="en" sz="1300" u="sng">
                <a:solidFill>
                  <a:schemeClr val="hlink"/>
                </a:solidFill>
                <a:latin typeface="Calibri"/>
                <a:ea typeface="Calibri"/>
                <a:cs typeface="Calibri"/>
                <a:sym typeface="Calibri"/>
                <a:hlinkClick r:id="rId9"/>
              </a:rPr>
              <a:t>https://github.com/h2oai/h2o-wizardlm</a:t>
            </a:r>
            <a:endParaRPr sz="1300">
              <a:solidFill>
                <a:schemeClr val="dk1"/>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NaLLM</a:t>
            </a:r>
            <a:r>
              <a:rPr lang="en" sz="1300">
                <a:solidFill>
                  <a:schemeClr val="dk1"/>
                </a:solidFill>
                <a:latin typeface="Calibri"/>
                <a:ea typeface="Calibri"/>
                <a:cs typeface="Calibri"/>
                <a:sym typeface="Calibri"/>
              </a:rPr>
              <a:t> - Neo4j graph DB and LLMs</a:t>
            </a:r>
            <a:br>
              <a:rPr lang="en" sz="1300">
                <a:solidFill>
                  <a:schemeClr val="dk1"/>
                </a:solidFill>
                <a:latin typeface="Calibri"/>
                <a:ea typeface="Calibri"/>
                <a:cs typeface="Calibri"/>
                <a:sym typeface="Calibri"/>
              </a:rPr>
            </a:br>
            <a:r>
              <a:rPr lang="en" sz="1300" u="sng">
                <a:solidFill>
                  <a:schemeClr val="hlink"/>
                </a:solidFill>
                <a:latin typeface="Calibri"/>
                <a:ea typeface="Calibri"/>
                <a:cs typeface="Calibri"/>
                <a:sym typeface="Calibri"/>
                <a:hlinkClick r:id="rId10"/>
              </a:rPr>
              <a:t>https://github.com/neo4j/NaLLM</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3"/>
          <p:cNvSpPr txBox="1"/>
          <p:nvPr/>
        </p:nvSpPr>
        <p:spPr>
          <a:xfrm>
            <a:off x="0" y="-76200"/>
            <a:ext cx="2023800" cy="4032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chemeClr val="dk1"/>
                </a:solidFill>
                <a:latin typeface="Calibri"/>
                <a:ea typeface="Calibri"/>
                <a:cs typeface="Calibri"/>
                <a:sym typeface="Calibri"/>
              </a:rPr>
              <a:t>Chip War</a:t>
            </a:r>
            <a:endParaRPr sz="2500" b="1" i="0" u="none" strike="noStrike" cap="none">
              <a:solidFill>
                <a:srgbClr val="000000"/>
              </a:solidFill>
              <a:latin typeface="Calibri"/>
              <a:ea typeface="Calibri"/>
              <a:cs typeface="Calibri"/>
              <a:sym typeface="Calibri"/>
            </a:endParaRPr>
          </a:p>
        </p:txBody>
      </p:sp>
      <p:sp>
        <p:nvSpPr>
          <p:cNvPr id="156" name="Google Shape;156;p23"/>
          <p:cNvSpPr txBox="1"/>
          <p:nvPr/>
        </p:nvSpPr>
        <p:spPr>
          <a:xfrm>
            <a:off x="2664175" y="1006000"/>
            <a:ext cx="4802700" cy="298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196850" algn="l" rtl="0">
              <a:lnSpc>
                <a:spcPct val="100000"/>
              </a:lnSpc>
              <a:spcBef>
                <a:spcPts val="0"/>
              </a:spcBef>
              <a:spcAft>
                <a:spcPts val="0"/>
              </a:spcAft>
              <a:buClr>
                <a:srgbClr val="FF0000"/>
              </a:buClr>
              <a:buSzPts val="1300"/>
              <a:buFont typeface="Calibri"/>
              <a:buChar char="●"/>
            </a:pPr>
            <a:r>
              <a:rPr lang="en" sz="1300" b="1" i="0" u="none" strike="noStrike" cap="none">
                <a:solidFill>
                  <a:srgbClr val="FF0000"/>
                </a:solidFill>
                <a:latin typeface="Calibri"/>
                <a:ea typeface="Calibri"/>
                <a:cs typeface="Calibri"/>
                <a:sym typeface="Calibri"/>
              </a:rPr>
              <a:t>Microchips are the new oil</a:t>
            </a:r>
            <a:endParaRPr sz="1300" b="1" i="0" u="none" strike="noStrike" cap="none">
              <a:solidFill>
                <a:srgbClr val="FF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Today, military, economic, and geopolitical power are built on a foundation of computer chips. </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Virtually everything— from missiles to microwaves, smartphones to the stock market — runs on chips. </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Until recently, America designed and built the fastest chips and maintained its lead as the #1 superpower. </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Now, America's edge is slipping, undermined by competitors in Taiwan, Korea, Europe, and, above all, China. Today, as Chip War reveals, </a:t>
            </a:r>
            <a:r>
              <a:rPr lang="en" sz="1300" b="1" i="0" u="none" strike="noStrike" cap="none">
                <a:solidFill>
                  <a:srgbClr val="FF0000"/>
                </a:solidFill>
                <a:latin typeface="Calibri"/>
                <a:ea typeface="Calibri"/>
                <a:cs typeface="Calibri"/>
                <a:sym typeface="Calibri"/>
              </a:rPr>
              <a:t>China</a:t>
            </a:r>
            <a:r>
              <a:rPr lang="en" sz="1300" b="0" i="0" u="none" strike="noStrike" cap="none">
                <a:solidFill>
                  <a:srgbClr val="000000"/>
                </a:solidFill>
                <a:latin typeface="Calibri"/>
                <a:ea typeface="Calibri"/>
                <a:cs typeface="Calibri"/>
                <a:sym typeface="Calibri"/>
              </a:rPr>
              <a:t>, which </a:t>
            </a:r>
            <a:r>
              <a:rPr lang="en" sz="1300" b="1" i="0" u="none" strike="noStrike" cap="none">
                <a:solidFill>
                  <a:srgbClr val="FF0000"/>
                </a:solidFill>
                <a:latin typeface="Calibri"/>
                <a:ea typeface="Calibri"/>
                <a:cs typeface="Calibri"/>
                <a:sym typeface="Calibri"/>
              </a:rPr>
              <a:t>spends more money each year importing chips than it spends importing oil</a:t>
            </a:r>
            <a:r>
              <a:rPr lang="en" sz="1300" b="0" i="0" u="none" strike="noStrike" cap="none">
                <a:solidFill>
                  <a:srgbClr val="000000"/>
                </a:solidFill>
                <a:latin typeface="Calibri"/>
                <a:ea typeface="Calibri"/>
                <a:cs typeface="Calibri"/>
                <a:sym typeface="Calibri"/>
              </a:rPr>
              <a:t>, is </a:t>
            </a:r>
            <a:r>
              <a:rPr lang="en" sz="1300" b="1" i="0" u="none" strike="noStrike" cap="none">
                <a:solidFill>
                  <a:srgbClr val="3C78D8"/>
                </a:solidFill>
                <a:latin typeface="Calibri"/>
                <a:ea typeface="Calibri"/>
                <a:cs typeface="Calibri"/>
                <a:sym typeface="Calibri"/>
              </a:rPr>
              <a:t>pouring billions into a chip-building initiative</a:t>
            </a:r>
            <a:r>
              <a:rPr lang="en" sz="1300" b="0" i="0" u="none" strike="noStrike" cap="none">
                <a:solidFill>
                  <a:srgbClr val="000000"/>
                </a:solidFill>
                <a:latin typeface="Calibri"/>
                <a:ea typeface="Calibri"/>
                <a:cs typeface="Calibri"/>
                <a:sym typeface="Calibri"/>
              </a:rPr>
              <a:t> to catch up to the US. </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At stake is America's military superiority and economic prosperity.</a:t>
            </a:r>
            <a:endParaRPr sz="1300" b="0" i="0" u="none" strike="noStrike" cap="none">
              <a:solidFill>
                <a:srgbClr val="000000"/>
              </a:solidFill>
              <a:latin typeface="Calibri"/>
              <a:ea typeface="Calibri"/>
              <a:cs typeface="Calibri"/>
              <a:sym typeface="Calibri"/>
            </a:endParaRPr>
          </a:p>
        </p:txBody>
      </p:sp>
      <p:pic>
        <p:nvPicPr>
          <p:cNvPr id="157" name="Google Shape;157;p23"/>
          <p:cNvPicPr preferRelativeResize="0"/>
          <p:nvPr/>
        </p:nvPicPr>
        <p:blipFill rotWithShape="1">
          <a:blip r:embed="rId3">
            <a:alphaModFix/>
          </a:blip>
          <a:srcRect/>
          <a:stretch/>
        </p:blipFill>
        <p:spPr>
          <a:xfrm>
            <a:off x="444842" y="1006000"/>
            <a:ext cx="1975732" cy="29861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4"/>
          <p:cNvSpPr txBox="1"/>
          <p:nvPr/>
        </p:nvSpPr>
        <p:spPr>
          <a:xfrm>
            <a:off x="0" y="0"/>
            <a:ext cx="5151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How Google let OpenAI take the lead?</a:t>
            </a:r>
            <a:endParaRPr sz="2000" b="1" i="0" u="none" strike="noStrike" cap="none">
              <a:solidFill>
                <a:schemeClr val="dk1"/>
              </a:solidFill>
              <a:latin typeface="Calibri"/>
              <a:ea typeface="Calibri"/>
              <a:cs typeface="Calibri"/>
              <a:sym typeface="Calibri"/>
            </a:endParaRPr>
          </a:p>
        </p:txBody>
      </p:sp>
      <p:sp>
        <p:nvSpPr>
          <p:cNvPr id="163" name="Google Shape;163;p24"/>
          <p:cNvSpPr txBox="1"/>
          <p:nvPr/>
        </p:nvSpPr>
        <p:spPr>
          <a:xfrm>
            <a:off x="127925" y="417000"/>
            <a:ext cx="4802700" cy="253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Google had a huge lead. Google created Google Translate, Attention mechanism, Transformer architecture (2017). Google understood the value of language models. </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Google created multiple models, some of them  better than ChatGPT. But Google was hesitant about releasing them because chatbots were wrong often (hallucination) - and Google had a reputation and goal to always provide correct answers.</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But releasing ChatGPT and other models made it clear that even with all shortcomings they are still useful and popular, and this has pushed Google to release their model eventually. </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3"/>
              </a:rPr>
              <a:t>https://www.linkedin.com/pulse/why-google-missed-chatgpt-alex-kantrowitz/</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5"/>
          <p:cNvSpPr txBox="1"/>
          <p:nvPr/>
        </p:nvSpPr>
        <p:spPr>
          <a:xfrm>
            <a:off x="0" y="0"/>
            <a:ext cx="2518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Simple RAG on AWS</a:t>
            </a:r>
            <a:endParaRPr sz="2000" b="1" i="0" u="none" strike="noStrike" cap="none">
              <a:solidFill>
                <a:srgbClr val="000000"/>
              </a:solidFill>
              <a:latin typeface="Calibri"/>
              <a:ea typeface="Calibri"/>
              <a:cs typeface="Calibri"/>
              <a:sym typeface="Calibri"/>
            </a:endParaRPr>
          </a:p>
        </p:txBody>
      </p:sp>
      <p:sp>
        <p:nvSpPr>
          <p:cNvPr id="169" name="Google Shape;169;p25"/>
          <p:cNvSpPr txBox="1"/>
          <p:nvPr/>
        </p:nvSpPr>
        <p:spPr>
          <a:xfrm>
            <a:off x="127925" y="417000"/>
            <a:ext cx="4802700" cy="861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Build generative AI agents with Amazon Bedrock, Amazon DynamoDB, Amazon Kendra, Amazon Lex, and LangChain</a:t>
            </a:r>
            <a:endParaRPr sz="1300" b="0" i="0" u="none" strike="noStrike" cap="none">
              <a:solidFill>
                <a:srgbClr val="000000"/>
              </a:solidFill>
              <a:latin typeface="Calibri"/>
              <a:ea typeface="Calibri"/>
              <a:cs typeface="Calibri"/>
              <a:sym typeface="Calibri"/>
            </a:endParaRPr>
          </a:p>
          <a:p>
            <a:pPr marL="228600" marR="0" lvl="0" indent="-171450" algn="l" rtl="0">
              <a:lnSpc>
                <a:spcPct val="100000"/>
              </a:lnSpc>
              <a:spcBef>
                <a:spcPts val="0"/>
              </a:spcBef>
              <a:spcAft>
                <a:spcPts val="0"/>
              </a:spcAft>
              <a:buClr>
                <a:srgbClr val="000000"/>
              </a:buClr>
              <a:buSzPts val="900"/>
              <a:buFont typeface="Calibri"/>
              <a:buChar char="●"/>
            </a:pPr>
            <a:r>
              <a:rPr lang="en" sz="900" b="0" i="0" u="sng" strike="noStrike" cap="none">
                <a:solidFill>
                  <a:schemeClr val="hlink"/>
                </a:solidFill>
                <a:latin typeface="Calibri"/>
                <a:ea typeface="Calibri"/>
                <a:cs typeface="Calibri"/>
                <a:sym typeface="Calibri"/>
                <a:hlinkClick r:id="rId3"/>
              </a:rPr>
              <a:t>https://github.com/aws-samples/generative-ai-amazon-bedrock-langchain-agent-example</a:t>
            </a:r>
            <a:endParaRPr sz="900" b="0" i="0" u="none" strike="noStrike" cap="none">
              <a:solidFill>
                <a:srgbClr val="000000"/>
              </a:solidFill>
              <a:latin typeface="Calibri"/>
              <a:ea typeface="Calibri"/>
              <a:cs typeface="Calibri"/>
              <a:sym typeface="Calibri"/>
            </a:endParaRPr>
          </a:p>
          <a:p>
            <a:pPr marL="228600" marR="0" lvl="0" indent="-171450" algn="l" rtl="0">
              <a:lnSpc>
                <a:spcPct val="100000"/>
              </a:lnSpc>
              <a:spcBef>
                <a:spcPts val="0"/>
              </a:spcBef>
              <a:spcAft>
                <a:spcPts val="0"/>
              </a:spcAft>
              <a:buClr>
                <a:srgbClr val="000000"/>
              </a:buClr>
              <a:buSzPts val="900"/>
              <a:buFont typeface="Calibri"/>
              <a:buChar char="●"/>
            </a:pPr>
            <a:r>
              <a:rPr lang="en" sz="900" b="0" i="0" u="sng" strike="noStrike" cap="none">
                <a:solidFill>
                  <a:schemeClr val="hlink"/>
                </a:solidFill>
                <a:latin typeface="Calibri"/>
                <a:ea typeface="Calibri"/>
                <a:cs typeface="Calibri"/>
                <a:sym typeface="Calibri"/>
                <a:hlinkClick r:id="rId4"/>
              </a:rPr>
              <a:t>https://python.langchain.com/docs/templates/rag-aws-kendra</a:t>
            </a:r>
            <a:r>
              <a:rPr lang="en" sz="900" b="0" i="0" u="none" strike="noStrike" cap="none">
                <a:solidFill>
                  <a:srgbClr val="000000"/>
                </a:solidFill>
                <a:latin typeface="Calibri"/>
                <a:ea typeface="Calibri"/>
                <a:cs typeface="Calibri"/>
                <a:sym typeface="Calibri"/>
              </a:rPr>
              <a:t>  </a:t>
            </a:r>
            <a:endParaRPr sz="900" b="0" i="0" u="none" strike="noStrike" cap="none">
              <a:solidFill>
                <a:srgbClr val="000000"/>
              </a:solidFill>
              <a:latin typeface="Calibri"/>
              <a:ea typeface="Calibri"/>
              <a:cs typeface="Calibri"/>
              <a:sym typeface="Calibri"/>
            </a:endParaRPr>
          </a:p>
        </p:txBody>
      </p:sp>
      <p:pic>
        <p:nvPicPr>
          <p:cNvPr id="170" name="Google Shape;170;p25"/>
          <p:cNvPicPr preferRelativeResize="0"/>
          <p:nvPr/>
        </p:nvPicPr>
        <p:blipFill rotWithShape="1">
          <a:blip r:embed="rId5">
            <a:alphaModFix/>
          </a:blip>
          <a:srcRect/>
          <a:stretch/>
        </p:blipFill>
        <p:spPr>
          <a:xfrm>
            <a:off x="478250" y="1524000"/>
            <a:ext cx="8080312" cy="3436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6"/>
          <p:cNvSpPr txBox="1"/>
          <p:nvPr/>
        </p:nvSpPr>
        <p:spPr>
          <a:xfrm>
            <a:off x="0" y="0"/>
            <a:ext cx="4002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Multi-Agent RAG Systems</a:t>
            </a:r>
            <a:endParaRPr sz="2000" b="1" i="0" u="none" strike="noStrike" cap="none">
              <a:solidFill>
                <a:srgbClr val="000000"/>
              </a:solidFill>
              <a:latin typeface="Calibri"/>
              <a:ea typeface="Calibri"/>
              <a:cs typeface="Calibri"/>
              <a:sym typeface="Calibri"/>
            </a:endParaRPr>
          </a:p>
        </p:txBody>
      </p:sp>
      <p:pic>
        <p:nvPicPr>
          <p:cNvPr id="176" name="Google Shape;176;p26"/>
          <p:cNvPicPr preferRelativeResize="0"/>
          <p:nvPr/>
        </p:nvPicPr>
        <p:blipFill rotWithShape="1">
          <a:blip r:embed="rId3">
            <a:alphaModFix/>
          </a:blip>
          <a:srcRect/>
          <a:stretch/>
        </p:blipFill>
        <p:spPr>
          <a:xfrm>
            <a:off x="51375" y="2019575"/>
            <a:ext cx="4410900" cy="1466714"/>
          </a:xfrm>
          <a:prstGeom prst="rect">
            <a:avLst/>
          </a:prstGeom>
          <a:noFill/>
          <a:ln>
            <a:noFill/>
          </a:ln>
        </p:spPr>
      </p:pic>
      <p:sp>
        <p:nvSpPr>
          <p:cNvPr id="177" name="Google Shape;177;p26"/>
          <p:cNvSpPr txBox="1"/>
          <p:nvPr/>
        </p:nvSpPr>
        <p:spPr>
          <a:xfrm>
            <a:off x="4666775" y="126150"/>
            <a:ext cx="4410900" cy="4294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Use Microsoft AutoGen framework </a:t>
            </a:r>
            <a:r>
              <a:rPr lang="en" sz="900" b="0" i="0" u="sng" strike="noStrike" cap="none">
                <a:solidFill>
                  <a:schemeClr val="hlink"/>
                </a:solidFill>
                <a:latin typeface="Calibri"/>
                <a:ea typeface="Calibri"/>
                <a:cs typeface="Calibri"/>
                <a:sym typeface="Calibri"/>
                <a:hlinkClick r:id="rId4"/>
              </a:rPr>
              <a:t>https://superlinked.com/vectorhub/enhancing-rag-with-a-multi-agent-system</a:t>
            </a:r>
            <a:br>
              <a:rPr lang="en" sz="900" b="0" i="0" u="none" strike="noStrike" cap="none">
                <a:solidFill>
                  <a:srgbClr val="000000"/>
                </a:solidFill>
                <a:latin typeface="Calibri"/>
                <a:ea typeface="Calibri"/>
                <a:cs typeface="Calibri"/>
                <a:sym typeface="Calibri"/>
              </a:rPr>
            </a:br>
            <a:r>
              <a:rPr lang="en" sz="900" b="0" i="0" u="sng" strike="noStrike" cap="none">
                <a:solidFill>
                  <a:schemeClr val="hlink"/>
                </a:solidFill>
                <a:latin typeface="Calibri"/>
                <a:ea typeface="Calibri"/>
                <a:cs typeface="Calibri"/>
                <a:sym typeface="Calibri"/>
                <a:hlinkClick r:id="rId5"/>
              </a:rPr>
              <a:t>https://www.youtube.com/watch?v=b3ofDE-XSP0</a:t>
            </a:r>
            <a:br>
              <a:rPr lang="en" sz="900" b="0" i="0" u="none" strike="noStrike" cap="none">
                <a:solidFill>
                  <a:srgbClr val="000000"/>
                </a:solidFill>
                <a:latin typeface="Calibri"/>
                <a:ea typeface="Calibri"/>
                <a:cs typeface="Calibri"/>
                <a:sym typeface="Calibri"/>
              </a:rPr>
            </a:br>
            <a:r>
              <a:rPr lang="en" sz="900" b="0" i="0" u="sng" strike="noStrike" cap="none">
                <a:solidFill>
                  <a:schemeClr val="hlink"/>
                </a:solidFill>
                <a:latin typeface="Calibri"/>
                <a:ea typeface="Calibri"/>
                <a:cs typeface="Calibri"/>
                <a:sym typeface="Calibri"/>
                <a:hlinkClick r:id="rId6"/>
              </a:rPr>
              <a:t>https://pub.aimind.so/a-quick-tutorial-on-multi-agent-workflows-with-autogen-354a394d3df1</a:t>
            </a:r>
            <a:r>
              <a:rPr lang="en" sz="900" b="0" i="0" u="none" strike="noStrike" cap="none">
                <a:solidFill>
                  <a:srgbClr val="000000"/>
                </a:solidFill>
                <a:latin typeface="Calibri"/>
                <a:ea typeface="Calibri"/>
                <a:cs typeface="Calibri"/>
                <a:sym typeface="Calibri"/>
              </a:rPr>
              <a:t> </a:t>
            </a:r>
            <a:endParaRPr sz="9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Improving RAG using LangGraph and LangChain</a:t>
            </a:r>
            <a:br>
              <a:rPr lang="en" sz="1300" b="0" i="0" u="none" strike="noStrike" cap="none">
                <a:solidFill>
                  <a:srgbClr val="000000"/>
                </a:solidFill>
                <a:latin typeface="Calibri"/>
                <a:ea typeface="Calibri"/>
                <a:cs typeface="Calibri"/>
                <a:sym typeface="Calibri"/>
              </a:rPr>
            </a:br>
            <a:r>
              <a:rPr lang="en" sz="1000" b="0" i="0" u="sng" strike="noStrike" cap="none">
                <a:solidFill>
                  <a:schemeClr val="hlink"/>
                </a:solidFill>
                <a:latin typeface="Calibri"/>
                <a:ea typeface="Calibri"/>
                <a:cs typeface="Calibri"/>
                <a:sym typeface="Calibri"/>
                <a:hlinkClick r:id="rId7"/>
              </a:rPr>
              <a:t>https://medium.com/data-science-in-your-pocket/improving-rag-using-langgraph-and-langchain-bb195bfe4b44</a:t>
            </a:r>
            <a:r>
              <a:rPr lang="en" sz="1000" b="0" i="0" u="none" strike="noStrike" cap="none">
                <a:solidFill>
                  <a:srgbClr val="000000"/>
                </a:solidFill>
                <a:latin typeface="Calibri"/>
                <a:ea typeface="Calibri"/>
                <a:cs typeface="Calibri"/>
                <a:sym typeface="Calibri"/>
              </a:rPr>
              <a:t> </a:t>
            </a:r>
            <a:br>
              <a:rPr lang="en" sz="1000" b="0" i="0" u="none" strike="noStrike" cap="none">
                <a:solidFill>
                  <a:srgbClr val="000000"/>
                </a:solidFill>
                <a:latin typeface="Calibri"/>
                <a:ea typeface="Calibri"/>
                <a:cs typeface="Calibri"/>
                <a:sym typeface="Calibri"/>
              </a:rPr>
            </a:br>
            <a:r>
              <a:rPr lang="en" sz="1000" b="0" i="0" u="sng" strike="noStrike" cap="none">
                <a:solidFill>
                  <a:schemeClr val="hlink"/>
                </a:solidFill>
                <a:latin typeface="Calibri"/>
                <a:ea typeface="Calibri"/>
                <a:cs typeface="Calibri"/>
                <a:sym typeface="Calibri"/>
                <a:hlinkClick r:id="rId8"/>
              </a:rPr>
              <a:t>https://www.youtube.com/watch?v=TlZ5BFx_m3M</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Using LangChain ReAct Agents for Answering Multi-hop Questions in RAG Systems</a:t>
            </a:r>
            <a:br>
              <a:rPr lang="en" sz="1300" b="0" i="0" u="none" strike="noStrike" cap="none">
                <a:solidFill>
                  <a:srgbClr val="000000"/>
                </a:solidFill>
                <a:latin typeface="Calibri"/>
                <a:ea typeface="Calibri"/>
                <a:cs typeface="Calibri"/>
                <a:sym typeface="Calibri"/>
              </a:rPr>
            </a:br>
            <a:r>
              <a:rPr lang="en" sz="1000" b="0" i="0" u="sng" strike="noStrike" cap="none">
                <a:solidFill>
                  <a:schemeClr val="hlink"/>
                </a:solidFill>
                <a:latin typeface="Calibri"/>
                <a:ea typeface="Calibri"/>
                <a:cs typeface="Calibri"/>
                <a:sym typeface="Calibri"/>
                <a:hlinkClick r:id="rId9"/>
              </a:rPr>
              <a:t>https://towardsdatascience.com/using-langchain-react-agents-for-answering-multi-hop-questions-in-rag-systems-893208c1847e</a:t>
            </a:r>
            <a:endParaRPr sz="10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ARAG = Augentic RAG</a:t>
            </a:r>
            <a:br>
              <a:rPr lang="en" sz="1300" b="0" i="0" u="none" strike="noStrike" cap="none">
                <a:solidFill>
                  <a:srgbClr val="000000"/>
                </a:solidFill>
                <a:latin typeface="Calibri"/>
                <a:ea typeface="Calibri"/>
                <a:cs typeface="Calibri"/>
                <a:sym typeface="Calibri"/>
              </a:rPr>
            </a:br>
            <a:r>
              <a:rPr lang="en" sz="1000" b="0" i="0" u="sng" strike="noStrike" cap="none">
                <a:solidFill>
                  <a:schemeClr val="hlink"/>
                </a:solidFill>
                <a:latin typeface="Calibri"/>
                <a:ea typeface="Calibri"/>
                <a:cs typeface="Calibri"/>
                <a:sym typeface="Calibri"/>
                <a:hlinkClick r:id="rId10"/>
              </a:rPr>
              <a:t>https://www.linkedin.com/pulse/deep-dive-agentic-retrieval-augmented-generation-a-rag-sai-panyam-22dlc/</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LLamaIndex Agentic RAG Demo</a:t>
            </a:r>
            <a:br>
              <a:rPr lang="en" sz="1300" b="0" i="0" u="none" strike="noStrike" cap="none">
                <a:solidFill>
                  <a:srgbClr val="000000"/>
                </a:solidFill>
                <a:latin typeface="Calibri"/>
                <a:ea typeface="Calibri"/>
                <a:cs typeface="Calibri"/>
                <a:sym typeface="Calibri"/>
              </a:rPr>
            </a:br>
            <a:r>
              <a:rPr lang="en" sz="900" b="0" i="0" u="sng" strike="noStrike" cap="none">
                <a:solidFill>
                  <a:schemeClr val="hlink"/>
                </a:solidFill>
                <a:latin typeface="Calibri"/>
                <a:ea typeface="Calibri"/>
                <a:cs typeface="Calibri"/>
                <a:sym typeface="Calibri"/>
                <a:hlinkClick r:id="rId11"/>
              </a:rPr>
              <a:t>https://cobusgreyling.medium.com/llamaindex-agentic-rag-demo-56e3f3cd973a</a:t>
            </a:r>
            <a:r>
              <a:rPr lang="en" sz="900" b="0" i="0" u="none" strike="noStrike" cap="none">
                <a:solidFill>
                  <a:srgbClr val="000000"/>
                </a:solidFill>
                <a:latin typeface="Calibri"/>
                <a:ea typeface="Calibri"/>
                <a:cs typeface="Calibri"/>
                <a:sym typeface="Calibri"/>
              </a:rPr>
              <a:t> </a:t>
            </a:r>
            <a:endParaRPr sz="9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Adding Agentic Layers to RAG</a:t>
            </a:r>
            <a:br>
              <a:rPr lang="en" sz="1300" b="0" i="0" u="none" strike="noStrike" cap="none">
                <a:solidFill>
                  <a:srgbClr val="000000"/>
                </a:solidFill>
                <a:latin typeface="Calibri"/>
                <a:ea typeface="Calibri"/>
                <a:cs typeface="Calibri"/>
                <a:sym typeface="Calibri"/>
              </a:rPr>
            </a:br>
            <a:r>
              <a:rPr lang="en" sz="900" b="0" i="0" u="sng" strike="noStrike" cap="none">
                <a:solidFill>
                  <a:schemeClr val="hlink"/>
                </a:solidFill>
                <a:latin typeface="Calibri"/>
                <a:ea typeface="Calibri"/>
                <a:cs typeface="Calibri"/>
                <a:sym typeface="Calibri"/>
                <a:hlinkClick r:id="rId12"/>
              </a:rPr>
              <a:t>https://www.youtube.com/watch?v=aQ4yQXeB1Ss</a:t>
            </a:r>
            <a:r>
              <a:rPr lang="en" sz="900" b="0" i="0" u="none" strike="noStrike" cap="none">
                <a:solidFill>
                  <a:srgbClr val="000000"/>
                </a:solidFill>
                <a:latin typeface="Calibri"/>
                <a:ea typeface="Calibri"/>
                <a:cs typeface="Calibri"/>
                <a:sym typeface="Calibri"/>
              </a:rPr>
              <a:t> </a:t>
            </a:r>
            <a:endParaRPr sz="9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Multi-Agent RAG using AWS &amp; Kendra</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Multi-Agent RAG using CrewAI</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RAG on Azure</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Multi-Agent RAG on Azure</a:t>
            </a:r>
            <a:endParaRPr sz="1300" b="0" i="0" u="none" strike="noStrike" cap="none">
              <a:solidFill>
                <a:srgbClr val="000000"/>
              </a:solidFill>
              <a:latin typeface="Calibri"/>
              <a:ea typeface="Calibri"/>
              <a:cs typeface="Calibri"/>
              <a:sym typeface="Calibri"/>
            </a:endParaRPr>
          </a:p>
        </p:txBody>
      </p:sp>
      <p:sp>
        <p:nvSpPr>
          <p:cNvPr id="178" name="Google Shape;178;p26"/>
          <p:cNvSpPr txBox="1"/>
          <p:nvPr/>
        </p:nvSpPr>
        <p:spPr>
          <a:xfrm>
            <a:off x="51375" y="401675"/>
            <a:ext cx="44109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Enhancing RAG with a Multi-Agent System</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Calibri"/>
                <a:ea typeface="Calibri"/>
                <a:cs typeface="Calibri"/>
                <a:sym typeface="Calibri"/>
              </a:rPr>
              <a:t>using LangChain, Microsoft AutoGen, LLamaIndex, ...</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Multiple agents: query understanding, retriever, ranker, reader, and orchestrator agents.</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Multi-agent RAG can mitigate single-agent RAG's relevance, scalability, and latency limitations.</a:t>
            </a:r>
            <a:endParaRPr sz="1300" b="0" i="0" u="none" strike="noStrike" cap="non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7"/>
          <p:cNvSpPr txBox="1"/>
          <p:nvPr/>
        </p:nvSpPr>
        <p:spPr>
          <a:xfrm>
            <a:off x="137092" y="53578"/>
            <a:ext cx="3199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RAG - Evaluate and Improve</a:t>
            </a:r>
            <a:endParaRPr sz="2000" b="1" i="0" u="none" strike="noStrike" cap="none">
              <a:solidFill>
                <a:srgbClr val="000000"/>
              </a:solidFill>
              <a:latin typeface="Calibri"/>
              <a:ea typeface="Calibri"/>
              <a:cs typeface="Calibri"/>
              <a:sym typeface="Calibri"/>
            </a:endParaRPr>
          </a:p>
        </p:txBody>
      </p:sp>
      <p:sp>
        <p:nvSpPr>
          <p:cNvPr id="184" name="Google Shape;184;p27"/>
          <p:cNvSpPr txBox="1"/>
          <p:nvPr/>
        </p:nvSpPr>
        <p:spPr>
          <a:xfrm>
            <a:off x="1289200" y="496850"/>
            <a:ext cx="5039700" cy="438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rgbClr val="000000"/>
                </a:solidFill>
                <a:latin typeface="Calibri"/>
                <a:ea typeface="Calibri"/>
                <a:cs typeface="Calibri"/>
                <a:sym typeface="Calibri"/>
              </a:rPr>
              <a:t>Naive RAG, how to evaluate RAG Applications</a:t>
            </a: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Calibri"/>
                <a:ea typeface="Calibri"/>
                <a:cs typeface="Calibri"/>
                <a:sym typeface="Calibri"/>
              </a:rPr>
              <a:t> .. </a:t>
            </a:r>
            <a:r>
              <a:rPr lang="en" sz="900" b="0" i="0" u="sng" strike="noStrike" cap="none">
                <a:solidFill>
                  <a:schemeClr val="hlink"/>
                </a:solidFill>
                <a:latin typeface="Calibri"/>
                <a:ea typeface="Calibri"/>
                <a:cs typeface="Calibri"/>
                <a:sym typeface="Calibri"/>
                <a:hlinkClick r:id="rId3"/>
              </a:rPr>
              <a:t>https://www.youtube.com/watch?v=CgQdg0SRuC0</a:t>
            </a:r>
            <a:r>
              <a:rPr lang="en" sz="900" b="0" i="0" u="none" strike="noStrike" cap="none">
                <a:solidFill>
                  <a:srgbClr val="000000"/>
                </a:solidFill>
                <a:latin typeface="Calibri"/>
                <a:ea typeface="Calibri"/>
                <a:cs typeface="Calibri"/>
                <a:sym typeface="Calibri"/>
              </a:rPr>
              <a:t> </a:t>
            </a:r>
            <a:endParaRPr sz="9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Calibri"/>
                <a:ea typeface="Calibri"/>
                <a:cs typeface="Calibri"/>
                <a:sym typeface="Calibri"/>
              </a:rPr>
              <a:t>Bad retrieval:</a:t>
            </a:r>
            <a:endParaRPr sz="1200" b="0" i="0" u="none" strike="noStrike" cap="none">
              <a:solidFill>
                <a:srgbClr val="000000"/>
              </a:solidFill>
              <a:latin typeface="Calibri"/>
              <a:ea typeface="Calibri"/>
              <a:cs typeface="Calibri"/>
              <a:sym typeface="Calibri"/>
            </a:endParaRPr>
          </a:p>
          <a:p>
            <a:pPr marL="228600" marR="0" lvl="0" indent="-1905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low precision, not relevant data, hallucination, lost in the middle</a:t>
            </a:r>
            <a:endParaRPr sz="1200" b="0" i="0" u="none" strike="noStrike" cap="none">
              <a:solidFill>
                <a:srgbClr val="000000"/>
              </a:solidFill>
              <a:latin typeface="Calibri"/>
              <a:ea typeface="Calibri"/>
              <a:cs typeface="Calibri"/>
              <a:sym typeface="Calibri"/>
            </a:endParaRPr>
          </a:p>
          <a:p>
            <a:pPr marL="228600" marR="0" lvl="0" indent="-1905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low recall, not all relevant data retrieved, so not enough data to synthesize and answer</a:t>
            </a:r>
            <a:endParaRPr sz="1200" b="0" i="0" u="none" strike="noStrike" cap="none">
              <a:solidFill>
                <a:srgbClr val="000000"/>
              </a:solidFill>
              <a:latin typeface="Calibri"/>
              <a:ea typeface="Calibri"/>
              <a:cs typeface="Calibri"/>
              <a:sym typeface="Calibri"/>
            </a:endParaRPr>
          </a:p>
          <a:p>
            <a:pPr marL="228600" marR="0" lvl="0" indent="-1905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redundant or outdated data</a:t>
            </a: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Calibri"/>
                <a:ea typeface="Calibri"/>
                <a:cs typeface="Calibri"/>
                <a:sym typeface="Calibri"/>
              </a:rPr>
              <a:t>Bad Response Generation:</a:t>
            </a:r>
            <a:endParaRPr sz="1200" b="0" i="0" u="none" strike="noStrike" cap="none">
              <a:solidFill>
                <a:srgbClr val="000000"/>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Hallucination, Irrelevance, Toxicity/Bias</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Calibri"/>
                <a:ea typeface="Calibri"/>
                <a:cs typeface="Calibri"/>
                <a:sym typeface="Calibri"/>
              </a:rPr>
              <a:t>How to improve?</a:t>
            </a:r>
            <a:endParaRPr sz="1200" b="0" i="0" u="none" strike="noStrike" cap="none">
              <a:solidFill>
                <a:srgbClr val="000000"/>
              </a:solidFill>
              <a:latin typeface="Calibri"/>
              <a:ea typeface="Calibri"/>
              <a:cs typeface="Calibri"/>
              <a:sym typeface="Calibri"/>
            </a:endParaRPr>
          </a:p>
          <a:p>
            <a:pPr marL="228600" marR="0" lvl="0" indent="-1905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Store additional information, multi-model data store like Activeloop's Deep Lake</a:t>
            </a:r>
            <a:endParaRPr sz="1200" b="0" i="0" u="none" strike="noStrike" cap="none">
              <a:solidFill>
                <a:srgbClr val="000000"/>
              </a:solidFill>
              <a:latin typeface="Calibri"/>
              <a:ea typeface="Calibri"/>
              <a:cs typeface="Calibri"/>
              <a:sym typeface="Calibri"/>
            </a:endParaRPr>
          </a:p>
          <a:p>
            <a:pPr marL="228600" marR="0" lvl="0" indent="-1905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Embeddings - make them better</a:t>
            </a:r>
            <a:endParaRPr sz="1200" b="0" i="0" u="none" strike="noStrike" cap="none">
              <a:solidFill>
                <a:srgbClr val="000000"/>
              </a:solidFill>
              <a:latin typeface="Calibri"/>
              <a:ea typeface="Calibri"/>
              <a:cs typeface="Calibri"/>
              <a:sym typeface="Calibri"/>
            </a:endParaRPr>
          </a:p>
          <a:p>
            <a:pPr marL="228600" marR="0" lvl="0" indent="-1905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Retrieval - make better using Activeloop's Deep Memory</a:t>
            </a:r>
            <a:endParaRPr sz="1200" b="0" i="0" u="none" strike="noStrike" cap="none">
              <a:solidFill>
                <a:srgbClr val="000000"/>
              </a:solidFill>
              <a:latin typeface="Calibri"/>
              <a:ea typeface="Calibri"/>
              <a:cs typeface="Calibri"/>
              <a:sym typeface="Calibri"/>
            </a:endParaRPr>
          </a:p>
          <a:p>
            <a:pPr marL="228600" marR="0" lvl="0" indent="-1905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Synthesis - use LLMs for more than generation</a:t>
            </a: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Calibri"/>
                <a:ea typeface="Calibri"/>
                <a:cs typeface="Calibri"/>
                <a:sym typeface="Calibri"/>
              </a:rPr>
              <a:t>Evaluate RAG: </a:t>
            </a: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Calibri"/>
                <a:ea typeface="Calibri"/>
                <a:cs typeface="Calibri"/>
                <a:sym typeface="Calibri"/>
              </a:rPr>
              <a:t>e2e (End-to-end) or evaluate separately retrieval and synthesis.</a:t>
            </a: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Calibri"/>
                <a:ea typeface="Calibri"/>
                <a:cs typeface="Calibri"/>
                <a:sym typeface="Calibri"/>
              </a:rPr>
              <a:t>retrieval - precision &amp; recall</a:t>
            </a: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Calibri"/>
                <a:ea typeface="Calibri"/>
                <a:cs typeface="Calibri"/>
                <a:sym typeface="Calibri"/>
              </a:rPr>
              <a:t>synthesis - labeled (accuracy), non-labeled ( faithfulness, relevancy, adheres to guidelines, toxicity-free)</a:t>
            </a:r>
            <a:endParaRPr sz="1200" b="0" i="0" u="none" strike="noStrike" cap="non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8"/>
          <p:cNvSpPr txBox="1"/>
          <p:nvPr/>
        </p:nvSpPr>
        <p:spPr>
          <a:xfrm>
            <a:off x="137092" y="53578"/>
            <a:ext cx="3199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RAG - Advanced</a:t>
            </a:r>
            <a:endParaRPr sz="2000" b="1" i="0" u="none" strike="noStrike" cap="none">
              <a:solidFill>
                <a:srgbClr val="000000"/>
              </a:solidFill>
              <a:latin typeface="Calibri"/>
              <a:ea typeface="Calibri"/>
              <a:cs typeface="Calibri"/>
              <a:sym typeface="Calibri"/>
            </a:endParaRPr>
          </a:p>
        </p:txBody>
      </p:sp>
      <p:sp>
        <p:nvSpPr>
          <p:cNvPr id="190" name="Google Shape;190;p28"/>
          <p:cNvSpPr txBox="1"/>
          <p:nvPr/>
        </p:nvSpPr>
        <p:spPr>
          <a:xfrm>
            <a:off x="76200" y="449850"/>
            <a:ext cx="4579500" cy="158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0" i="0" u="sng" strike="noStrike" cap="none">
                <a:solidFill>
                  <a:schemeClr val="hlink"/>
                </a:solidFill>
                <a:latin typeface="Calibri"/>
                <a:ea typeface="Calibri"/>
                <a:cs typeface="Calibri"/>
                <a:sym typeface="Calibri"/>
                <a:hlinkClick r:id="rId3"/>
              </a:rPr>
              <a:t>https://www.youtube.com/watch?v=TdjvzSpjBuI</a:t>
            </a:r>
            <a:r>
              <a:rPr lang="en" sz="1300" b="0" i="0" u="none" strike="noStrike" cap="none">
                <a:solidFill>
                  <a:schemeClr val="dk1"/>
                </a:solidFill>
                <a:latin typeface="Calibri"/>
                <a:ea typeface="Calibri"/>
                <a:cs typeface="Calibri"/>
                <a:sym typeface="Calibri"/>
              </a:rPr>
              <a:t> </a:t>
            </a:r>
            <a:endParaRPr sz="1300" b="0" i="0" u="none" strike="noStrike" cap="none">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chemeClr val="dk1"/>
                </a:solidFill>
                <a:latin typeface="Calibri"/>
                <a:ea typeface="Calibri"/>
                <a:cs typeface="Calibri"/>
                <a:sym typeface="Calibri"/>
              </a:rPr>
              <a:t>Better Parsers, Chunk Sizes, Hybrid Search, Metadata Filters</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Deep Memory, Reranking</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Recursive Retrieval, Embedded Tables, Small-to-Big Retrieval</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Agents, Multi-agents, routing, query planning, multi-document agents</a:t>
            </a:r>
            <a:endParaRPr sz="13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0" i="0" u="none" strike="noStrike" cap="none">
                <a:solidFill>
                  <a:srgbClr val="000000"/>
                </a:solidFill>
                <a:latin typeface="Calibri"/>
                <a:ea typeface="Calibri"/>
                <a:cs typeface="Calibri"/>
                <a:sym typeface="Calibri"/>
              </a:rPr>
              <a:t>Embedding Fine-tuning &amp; LLM Fine-tuning</a:t>
            </a:r>
            <a:endParaRPr sz="1300" b="0" i="0" u="none" strike="noStrike" cap="none">
              <a:solidFill>
                <a:srgbClr val="000000"/>
              </a:solidFill>
              <a:latin typeface="Calibri"/>
              <a:ea typeface="Calibri"/>
              <a:cs typeface="Calibri"/>
              <a:sym typeface="Calibri"/>
            </a:endParaRPr>
          </a:p>
        </p:txBody>
      </p:sp>
      <p:graphicFrame>
        <p:nvGraphicFramePr>
          <p:cNvPr id="191" name="Google Shape;191;p28"/>
          <p:cNvGraphicFramePr/>
          <p:nvPr/>
        </p:nvGraphicFramePr>
        <p:xfrm>
          <a:off x="4741900" y="449838"/>
          <a:ext cx="4280950" cy="2222950"/>
        </p:xfrm>
        <a:graphic>
          <a:graphicData uri="http://schemas.openxmlformats.org/drawingml/2006/table">
            <a:tbl>
              <a:tblPr>
                <a:noFill/>
                <a:tableStyleId>{92D71B68-C5DD-425E-8F42-CA6E4722A4F6}</a:tableStyleId>
              </a:tblPr>
              <a:tblGrid>
                <a:gridCol w="2140475">
                  <a:extLst>
                    <a:ext uri="{9D8B030D-6E8A-4147-A177-3AD203B41FA5}">
                      <a16:colId xmlns:a16="http://schemas.microsoft.com/office/drawing/2014/main" val="20000"/>
                    </a:ext>
                  </a:extLst>
                </a:gridCol>
                <a:gridCol w="2140475">
                  <a:extLst>
                    <a:ext uri="{9D8B030D-6E8A-4147-A177-3AD203B41FA5}">
                      <a16:colId xmlns:a16="http://schemas.microsoft.com/office/drawing/2014/main" val="20001"/>
                    </a:ext>
                  </a:extLst>
                </a:gridCol>
              </a:tblGrid>
              <a:tr h="245900">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alibri"/>
                          <a:ea typeface="Calibri"/>
                          <a:cs typeface="Calibri"/>
                          <a:sym typeface="Calibri"/>
                        </a:rPr>
                        <a:t>Pain Point</a:t>
                      </a:r>
                      <a:endParaRPr sz="1000" u="none" strike="noStrike" cap="none">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alibri"/>
                          <a:ea typeface="Calibri"/>
                          <a:cs typeface="Calibri"/>
                          <a:sym typeface="Calibri"/>
                        </a:rPr>
                        <a:t>Solutions</a:t>
                      </a:r>
                      <a:endParaRPr sz="1000" u="none" strike="noStrike" cap="none">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503550">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alibri"/>
                          <a:ea typeface="Calibri"/>
                          <a:cs typeface="Calibri"/>
                          <a:sym typeface="Calibri"/>
                        </a:rPr>
                        <a:t>Retrieval is bad</a:t>
                      </a:r>
                      <a:endParaRPr sz="1000" u="none" strike="noStrike" cap="none">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228600" marR="0" lvl="0" indent="-177800" algn="l" rtl="0">
                        <a:lnSpc>
                          <a:spcPct val="100000"/>
                        </a:lnSpc>
                        <a:spcBef>
                          <a:spcPts val="0"/>
                        </a:spcBef>
                        <a:spcAft>
                          <a:spcPts val="0"/>
                        </a:spcAft>
                        <a:buClr>
                          <a:srgbClr val="000000"/>
                        </a:buClr>
                        <a:buSzPts val="1000"/>
                        <a:buFont typeface="Calibri"/>
                        <a:buChar char="●"/>
                      </a:pPr>
                      <a:r>
                        <a:rPr lang="en" sz="1000" u="none" strike="noStrike" cap="none">
                          <a:latin typeface="Calibri"/>
                          <a:ea typeface="Calibri"/>
                          <a:cs typeface="Calibri"/>
                          <a:sym typeface="Calibri"/>
                        </a:rPr>
                        <a:t>Deep Memory</a:t>
                      </a:r>
                      <a:endParaRPr sz="1000" u="none" strike="noStrike" cap="none">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u="none" strike="noStrike" cap="none">
                          <a:latin typeface="Calibri"/>
                          <a:ea typeface="Calibri"/>
                          <a:cs typeface="Calibri"/>
                          <a:sym typeface="Calibri"/>
                        </a:rPr>
                        <a:t>Adjusting chunk sizes / parsers</a:t>
                      </a:r>
                      <a:endParaRPr sz="1000" u="none" strike="noStrike" cap="none">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u="none" strike="noStrike" cap="none">
                          <a:latin typeface="Calibri"/>
                          <a:ea typeface="Calibri"/>
                          <a:cs typeface="Calibri"/>
                          <a:sym typeface="Calibri"/>
                        </a:rPr>
                        <a:t>Reranking</a:t>
                      </a:r>
                      <a:endParaRPr sz="1000" u="none" strike="noStrike" cap="none">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u="none" strike="noStrike" cap="none">
                          <a:latin typeface="Calibri"/>
                          <a:ea typeface="Calibri"/>
                          <a:cs typeface="Calibri"/>
                          <a:sym typeface="Calibri"/>
                        </a:rPr>
                        <a:t>Small-to-big retrieval</a:t>
                      </a:r>
                      <a:endParaRPr sz="1000" u="none" strike="noStrike" cap="none">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u="none" strike="noStrike" cap="none">
                          <a:latin typeface="Calibri"/>
                          <a:ea typeface="Calibri"/>
                          <a:cs typeface="Calibri"/>
                          <a:sym typeface="Calibri"/>
                        </a:rPr>
                        <a:t>Fine-tuning Embeddings</a:t>
                      </a:r>
                      <a:endParaRPr sz="1000" u="none" strike="noStrike" cap="none">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245900">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alibri"/>
                          <a:ea typeface="Calibri"/>
                          <a:cs typeface="Calibri"/>
                          <a:sym typeface="Calibri"/>
                        </a:rPr>
                        <a:t>Handling structured/unstructured data</a:t>
                      </a:r>
                      <a:endParaRPr sz="1000" u="none" strike="noStrike" cap="none">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228600" marR="0" lvl="0" indent="-177800" algn="l" rtl="0">
                        <a:lnSpc>
                          <a:spcPct val="100000"/>
                        </a:lnSpc>
                        <a:spcBef>
                          <a:spcPts val="0"/>
                        </a:spcBef>
                        <a:spcAft>
                          <a:spcPts val="0"/>
                        </a:spcAft>
                        <a:buClr>
                          <a:srgbClr val="000000"/>
                        </a:buClr>
                        <a:buSzPts val="1000"/>
                        <a:buFont typeface="Calibri"/>
                        <a:buChar char="●"/>
                      </a:pPr>
                      <a:r>
                        <a:rPr lang="en" sz="1000" u="none" strike="noStrike" cap="none">
                          <a:latin typeface="Calibri"/>
                          <a:ea typeface="Calibri"/>
                          <a:cs typeface="Calibri"/>
                          <a:sym typeface="Calibri"/>
                        </a:rPr>
                        <a:t>Metadata Filters</a:t>
                      </a:r>
                      <a:endParaRPr sz="1000" u="none" strike="noStrike" cap="none">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u="none" strike="noStrike" cap="none">
                          <a:latin typeface="Calibri"/>
                          <a:ea typeface="Calibri"/>
                          <a:cs typeface="Calibri"/>
                          <a:sym typeface="Calibri"/>
                        </a:rPr>
                        <a:t>Augmenting SQL with semantic search</a:t>
                      </a:r>
                      <a:endParaRPr sz="1000" u="none" strike="noStrike" cap="none">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245900">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alibri"/>
                          <a:ea typeface="Calibri"/>
                          <a:cs typeface="Calibri"/>
                          <a:sym typeface="Calibri"/>
                        </a:rPr>
                        <a:t>Parsing embedded tables in PDFs</a:t>
                      </a:r>
                      <a:endParaRPr sz="1000" u="none" strike="noStrike" cap="none">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228600" marR="0" lvl="0" indent="-177800" algn="l" rtl="0">
                        <a:lnSpc>
                          <a:spcPct val="100000"/>
                        </a:lnSpc>
                        <a:spcBef>
                          <a:spcPts val="0"/>
                        </a:spcBef>
                        <a:spcAft>
                          <a:spcPts val="0"/>
                        </a:spcAft>
                        <a:buClr>
                          <a:srgbClr val="000000"/>
                        </a:buClr>
                        <a:buSzPts val="1000"/>
                        <a:buFont typeface="Calibri"/>
                        <a:buChar char="●"/>
                      </a:pPr>
                      <a:r>
                        <a:rPr lang="en" sz="1000" u="none" strike="noStrike" cap="none">
                          <a:latin typeface="Calibri"/>
                          <a:ea typeface="Calibri"/>
                          <a:cs typeface="Calibri"/>
                          <a:sym typeface="Calibri"/>
                        </a:rPr>
                        <a:t>Recursive Retrieval</a:t>
                      </a:r>
                      <a:endParaRPr sz="1000" u="none" strike="noStrike" cap="none">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245900">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alibri"/>
                          <a:ea typeface="Calibri"/>
                          <a:cs typeface="Calibri"/>
                          <a:sym typeface="Calibri"/>
                        </a:rPr>
                        <a:t>Handling Complex Questions</a:t>
                      </a:r>
                      <a:endParaRPr sz="1000" u="none" strike="noStrike" cap="none">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228600" marR="0" lvl="0" indent="-177800" algn="l" rtl="0">
                        <a:lnSpc>
                          <a:spcPct val="100000"/>
                        </a:lnSpc>
                        <a:spcBef>
                          <a:spcPts val="0"/>
                        </a:spcBef>
                        <a:spcAft>
                          <a:spcPts val="0"/>
                        </a:spcAft>
                        <a:buClr>
                          <a:srgbClr val="000000"/>
                        </a:buClr>
                        <a:buSzPts val="1000"/>
                        <a:buFont typeface="Calibri"/>
                        <a:buChar char="●"/>
                      </a:pPr>
                      <a:r>
                        <a:rPr lang="en" sz="1000" u="none" strike="noStrike" cap="none">
                          <a:latin typeface="Calibri"/>
                          <a:ea typeface="Calibri"/>
                          <a:cs typeface="Calibri"/>
                          <a:sym typeface="Calibri"/>
                        </a:rPr>
                        <a:t>Routing</a:t>
                      </a:r>
                      <a:endParaRPr sz="1000" u="none" strike="noStrike" cap="none">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u="none" strike="noStrike" cap="none">
                          <a:latin typeface="Calibri"/>
                          <a:ea typeface="Calibri"/>
                          <a:cs typeface="Calibri"/>
                          <a:sym typeface="Calibri"/>
                        </a:rPr>
                        <a:t>Query Planning</a:t>
                      </a:r>
                      <a:endParaRPr sz="1000" u="none" strike="noStrike" cap="none">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u="none" strike="noStrike" cap="none">
                          <a:latin typeface="Calibri"/>
                          <a:ea typeface="Calibri"/>
                          <a:cs typeface="Calibri"/>
                          <a:sym typeface="Calibri"/>
                        </a:rPr>
                        <a:t>Multi-Document Agents</a:t>
                      </a:r>
                      <a:endParaRPr sz="1000" u="none" strike="noStrike" cap="none">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92" name="Google Shape;192;p28"/>
          <p:cNvSpPr txBox="1"/>
          <p:nvPr/>
        </p:nvSpPr>
        <p:spPr>
          <a:xfrm>
            <a:off x="76200" y="2257625"/>
            <a:ext cx="4579500" cy="149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0000"/>
                </a:solidFill>
                <a:latin typeface="Calibri"/>
                <a:ea typeface="Calibri"/>
                <a:cs typeface="Calibri"/>
                <a:sym typeface="Calibri"/>
              </a:rPr>
              <a:t>Deep Memory</a:t>
            </a:r>
            <a:r>
              <a:rPr lang="en" sz="1300" b="0" i="0" u="none" strike="noStrike" cap="none">
                <a:solidFill>
                  <a:srgbClr val="000000"/>
                </a:solidFill>
                <a:latin typeface="Calibri"/>
                <a:ea typeface="Calibri"/>
                <a:cs typeface="Calibri"/>
                <a:sym typeface="Calibri"/>
              </a:rPr>
              <a:t>  - a set of tools offered by </a:t>
            </a:r>
            <a:r>
              <a:rPr lang="en" sz="1300" b="1" i="0" u="none" strike="noStrike" cap="none">
                <a:solidFill>
                  <a:srgbClr val="3C78D8"/>
                </a:solidFill>
                <a:latin typeface="Calibri"/>
                <a:ea typeface="Calibri"/>
                <a:cs typeface="Calibri"/>
                <a:sym typeface="Calibri"/>
              </a:rPr>
              <a:t>Activeloop.ai</a:t>
            </a:r>
            <a:endParaRPr sz="1300" b="1" i="0" u="none" strike="noStrike" cap="none">
              <a:solidFill>
                <a:srgbClr val="3C78D8"/>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4"/>
              </a:rPr>
              <a:t>https://docs.activeloop.ai/example-code/tutorials/vector-store/improving-search-accuracy-using-deep-memory</a:t>
            </a:r>
            <a:r>
              <a:rPr lang="en" sz="1000" b="0" i="0" u="none" strike="noStrike" cap="none">
                <a:solidFill>
                  <a:srgbClr val="000000"/>
                </a:solidFill>
                <a:latin typeface="Calibri"/>
                <a:ea typeface="Calibri"/>
                <a:cs typeface="Calibri"/>
                <a:sym typeface="Calibri"/>
              </a:rPr>
              <a:t> </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0000"/>
                </a:solidFill>
                <a:latin typeface="Calibri"/>
                <a:ea typeface="Calibri"/>
                <a:cs typeface="Calibri"/>
                <a:sym typeface="Calibri"/>
              </a:rPr>
              <a:t>Deep Memory</a:t>
            </a:r>
            <a:r>
              <a:rPr lang="en" sz="1300" b="0" i="0" u="none" strike="noStrike" cap="none">
                <a:solidFill>
                  <a:srgbClr val="000000"/>
                </a:solidFill>
                <a:latin typeface="Calibri"/>
                <a:ea typeface="Calibri"/>
                <a:cs typeface="Calibri"/>
                <a:sym typeface="Calibri"/>
              </a:rPr>
              <a:t> a tiny neural network, it analyzes your data and computes a tailored transformation for your embeddings, placing embeddings in an optimized space, significantly improving the accuracy of vector search (up to 22% increase in accuracy).</a:t>
            </a:r>
            <a:endParaRPr sz="1300" b="0" i="0" u="none" strike="noStrike" cap="none">
              <a:solidFill>
                <a:srgbClr val="000000"/>
              </a:solidFill>
              <a:latin typeface="Calibri"/>
              <a:ea typeface="Calibri"/>
              <a:cs typeface="Calibri"/>
              <a:sym typeface="Calibri"/>
            </a:endParaRPr>
          </a:p>
        </p:txBody>
      </p:sp>
      <p:pic>
        <p:nvPicPr>
          <p:cNvPr id="193" name="Google Shape;193;p28"/>
          <p:cNvPicPr preferRelativeResize="0"/>
          <p:nvPr/>
        </p:nvPicPr>
        <p:blipFill rotWithShape="1">
          <a:blip r:embed="rId5">
            <a:alphaModFix/>
          </a:blip>
          <a:srcRect/>
          <a:stretch/>
        </p:blipFill>
        <p:spPr>
          <a:xfrm>
            <a:off x="5018475" y="2792025"/>
            <a:ext cx="3165399" cy="2314400"/>
          </a:xfrm>
          <a:prstGeom prst="rect">
            <a:avLst/>
          </a:prstGeom>
          <a:noFill/>
          <a:ln>
            <a:noFill/>
          </a:ln>
        </p:spPr>
      </p:pic>
      <p:sp>
        <p:nvSpPr>
          <p:cNvPr id="194" name="Google Shape;194;p28"/>
          <p:cNvSpPr txBox="1"/>
          <p:nvPr/>
        </p:nvSpPr>
        <p:spPr>
          <a:xfrm>
            <a:off x="76200" y="4064450"/>
            <a:ext cx="45795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0000"/>
                </a:solidFill>
                <a:latin typeface="Calibri"/>
                <a:ea typeface="Calibri"/>
                <a:cs typeface="Calibri"/>
                <a:sym typeface="Calibri"/>
              </a:rPr>
              <a:t>Small-to-big retrieval</a:t>
            </a:r>
            <a:r>
              <a:rPr lang="en" sz="1300" b="0" i="0" u="none" strike="noStrike" cap="none">
                <a:solidFill>
                  <a:srgbClr val="000000"/>
                </a:solidFill>
                <a:latin typeface="Calibri"/>
                <a:ea typeface="Calibri"/>
                <a:cs typeface="Calibri"/>
                <a:sym typeface="Calibri"/>
              </a:rPr>
              <a:t>  - embed sentence, return with text before and after (implemented in LlamaIndex)</a:t>
            </a:r>
            <a:endParaRPr sz="1300" b="0" i="0" u="none" strike="noStrike" cap="non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9"/>
          <p:cNvSpPr txBox="1"/>
          <p:nvPr/>
        </p:nvSpPr>
        <p:spPr>
          <a:xfrm>
            <a:off x="137097" y="53575"/>
            <a:ext cx="4518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RAG - </a:t>
            </a:r>
            <a:r>
              <a:rPr lang="en" sz="2000" b="1">
                <a:solidFill>
                  <a:schemeClr val="dk1"/>
                </a:solidFill>
                <a:latin typeface="Calibri"/>
                <a:ea typeface="Calibri"/>
                <a:cs typeface="Calibri"/>
                <a:sym typeface="Calibri"/>
              </a:rPr>
              <a:t>activeloop.ai, Deep Lake</a:t>
            </a:r>
            <a:endParaRPr sz="2000" b="1" i="0" u="none" strike="noStrike" cap="none">
              <a:solidFill>
                <a:srgbClr val="000000"/>
              </a:solidFill>
              <a:latin typeface="Calibri"/>
              <a:ea typeface="Calibri"/>
              <a:cs typeface="Calibri"/>
              <a:sym typeface="Calibri"/>
            </a:endParaRPr>
          </a:p>
        </p:txBody>
      </p:sp>
      <p:sp>
        <p:nvSpPr>
          <p:cNvPr id="200" name="Google Shape;200;p29"/>
          <p:cNvSpPr txBox="1"/>
          <p:nvPr/>
        </p:nvSpPr>
        <p:spPr>
          <a:xfrm>
            <a:off x="76200" y="449850"/>
            <a:ext cx="4579500" cy="2755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activeloop.ai</a:t>
            </a:r>
            <a:r>
              <a:rPr lang="en" sz="1300">
                <a:latin typeface="Calibri"/>
                <a:ea typeface="Calibri"/>
                <a:cs typeface="Calibri"/>
                <a:sym typeface="Calibri"/>
              </a:rPr>
              <a:t> is a startup in Mountain View, CA</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just received $11 Mln funding.</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Main product - a "Deep Lake" database specifically designed for AI data (text, embeddings, images, ...)</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Deep Lake can be used locally, in memory, on your cloud, or managed. </a:t>
            </a:r>
            <a:endParaRPr sz="1300">
              <a:latin typeface="Calibri"/>
              <a:ea typeface="Calibri"/>
              <a:cs typeface="Calibri"/>
              <a:sym typeface="Calibri"/>
            </a:endParaRPr>
          </a:p>
          <a:p>
            <a:pPr marL="0" marR="0" lvl="0" indent="0" algn="l" rtl="0">
              <a:lnSpc>
                <a:spcPct val="100000"/>
              </a:lnSpc>
              <a:spcBef>
                <a:spcPts val="0"/>
              </a:spcBef>
              <a:spcAft>
                <a:spcPts val="0"/>
              </a:spcAft>
              <a:buNone/>
            </a:pPr>
            <a:endParaRPr sz="1300">
              <a:latin typeface="Calibri"/>
              <a:ea typeface="Calibri"/>
              <a:cs typeface="Calibri"/>
              <a:sym typeface="Calibri"/>
            </a:endParaRPr>
          </a:p>
          <a:p>
            <a:pPr marL="0" marR="0" lvl="0" indent="0" algn="l" rtl="0">
              <a:lnSpc>
                <a:spcPct val="100000"/>
              </a:lnSpc>
              <a:spcBef>
                <a:spcPts val="0"/>
              </a:spcBef>
              <a:spcAft>
                <a:spcPts val="0"/>
              </a:spcAft>
              <a:buNone/>
            </a:pPr>
            <a:r>
              <a:rPr lang="en" sz="1200" b="1">
                <a:solidFill>
                  <a:srgbClr val="3C78D8"/>
                </a:solidFill>
                <a:latin typeface="Roboto Mono"/>
                <a:ea typeface="Roboto Mono"/>
                <a:cs typeface="Roboto Mono"/>
                <a:sym typeface="Roboto Mono"/>
              </a:rPr>
              <a:t>pip3 install deeplake</a:t>
            </a:r>
            <a:endParaRPr sz="12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a:p>
          <a:p>
            <a:pPr marL="228600" marR="0" lvl="0" indent="-177800" algn="l" rtl="0">
              <a:lnSpc>
                <a:spcPct val="100000"/>
              </a:lnSpc>
              <a:spcBef>
                <a:spcPts val="0"/>
              </a:spcBef>
              <a:spcAft>
                <a:spcPts val="0"/>
              </a:spcAft>
              <a:buClr>
                <a:srgbClr val="000000"/>
              </a:buClr>
              <a:buSzPts val="1000"/>
              <a:buFont typeface="Calibri"/>
              <a:buChar char="●"/>
            </a:pPr>
            <a:r>
              <a:rPr lang="en" sz="1000" u="sng">
                <a:solidFill>
                  <a:schemeClr val="hlink"/>
                </a:solidFill>
                <a:latin typeface="Calibri"/>
                <a:ea typeface="Calibri"/>
                <a:cs typeface="Calibri"/>
                <a:sym typeface="Calibri"/>
                <a:hlinkClick r:id="rId3"/>
              </a:rPr>
              <a:t>https://www.activeloop.ai</a:t>
            </a:r>
            <a:endParaRPr sz="1000">
              <a:latin typeface="Calibri"/>
              <a:ea typeface="Calibri"/>
              <a:cs typeface="Calibri"/>
              <a:sym typeface="Calibri"/>
            </a:endParaRPr>
          </a:p>
          <a:p>
            <a:pPr marL="228600" marR="0" lvl="0" indent="-1778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https://www.activeloop.ai/about/</a:t>
            </a:r>
            <a:r>
              <a:rPr lang="en" sz="1000">
                <a:latin typeface="Calibri"/>
                <a:ea typeface="Calibri"/>
                <a:cs typeface="Calibri"/>
                <a:sym typeface="Calibri"/>
              </a:rPr>
              <a:t> </a:t>
            </a:r>
            <a:endParaRPr sz="1000">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u="sng">
                <a:solidFill>
                  <a:schemeClr val="hlink"/>
                </a:solidFill>
                <a:latin typeface="Calibri"/>
                <a:ea typeface="Calibri"/>
                <a:cs typeface="Calibri"/>
                <a:sym typeface="Calibri"/>
                <a:hlinkClick r:id="rId5"/>
              </a:rPr>
              <a:t>https://github.com/activeloopai/deeplake/</a:t>
            </a:r>
            <a:r>
              <a:rPr lang="en" sz="1000">
                <a:latin typeface="Calibri"/>
                <a:ea typeface="Calibri"/>
                <a:cs typeface="Calibri"/>
                <a:sym typeface="Calibri"/>
              </a:rPr>
              <a:t> </a:t>
            </a:r>
            <a:endParaRPr sz="1000">
              <a:latin typeface="Calibri"/>
              <a:ea typeface="Calibri"/>
              <a:cs typeface="Calibri"/>
              <a:sym typeface="Calibri"/>
            </a:endParaRPr>
          </a:p>
          <a:p>
            <a:pPr marL="228600" marR="0" lvl="0" indent="-177800" algn="l" rtl="0">
              <a:lnSpc>
                <a:spcPct val="100000"/>
              </a:lnSpc>
              <a:spcBef>
                <a:spcPts val="0"/>
              </a:spcBef>
              <a:spcAft>
                <a:spcPts val="0"/>
              </a:spcAft>
              <a:buClr>
                <a:srgbClr val="000000"/>
              </a:buClr>
              <a:buSzPts val="1000"/>
              <a:buFont typeface="Calibri"/>
              <a:buChar char="●"/>
            </a:pPr>
            <a:r>
              <a:rPr lang="en" sz="1000" u="sng">
                <a:solidFill>
                  <a:schemeClr val="hlink"/>
                </a:solidFill>
                <a:latin typeface="Calibri"/>
                <a:ea typeface="Calibri"/>
                <a:cs typeface="Calibri"/>
                <a:sym typeface="Calibri"/>
                <a:hlinkClick r:id="rId6"/>
              </a:rPr>
              <a:t>https://docs.activeloop.ai</a:t>
            </a:r>
            <a:r>
              <a:rPr lang="en" sz="1000">
                <a:latin typeface="Calibri"/>
                <a:ea typeface="Calibri"/>
                <a:cs typeface="Calibri"/>
                <a:sym typeface="Calibri"/>
              </a:rPr>
              <a:t> </a:t>
            </a:r>
            <a:endParaRPr sz="1000">
              <a:latin typeface="Calibri"/>
              <a:ea typeface="Calibri"/>
              <a:cs typeface="Calibri"/>
              <a:sym typeface="Calibri"/>
            </a:endParaRPr>
          </a:p>
          <a:p>
            <a:pPr marL="228600" marR="0" lvl="0" indent="-1778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7"/>
              </a:rPr>
              <a:t>https://docs.activeloop.ai/quickstart</a:t>
            </a:r>
            <a:r>
              <a:rPr lang="en" sz="1000">
                <a:latin typeface="Calibri"/>
                <a:ea typeface="Calibri"/>
                <a:cs typeface="Calibri"/>
                <a:sym typeface="Calibri"/>
              </a:rPr>
              <a:t> </a:t>
            </a:r>
            <a:endParaRPr sz="1000">
              <a:latin typeface="Calibri"/>
              <a:ea typeface="Calibri"/>
              <a:cs typeface="Calibri"/>
              <a:sym typeface="Calibri"/>
            </a:endParaRPr>
          </a:p>
        </p:txBody>
      </p:sp>
      <p:pic>
        <p:nvPicPr>
          <p:cNvPr id="201" name="Google Shape;201;p2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850575" y="97340"/>
            <a:ext cx="4216850" cy="3791425"/>
          </a:xfrm>
          <a:prstGeom prst="rect">
            <a:avLst/>
          </a:prstGeom>
          <a:noFill/>
          <a:ln>
            <a:noFill/>
          </a:ln>
        </p:spPr>
      </p:pic>
      <p:pic>
        <p:nvPicPr>
          <p:cNvPr id="202" name="Google Shape;202;p29"/>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137100" y="3349625"/>
            <a:ext cx="1270000" cy="1270000"/>
          </a:xfrm>
          <a:prstGeom prst="rect">
            <a:avLst/>
          </a:prstGeom>
          <a:noFill/>
          <a:ln>
            <a:noFill/>
          </a:ln>
        </p:spPr>
      </p:pic>
      <p:sp>
        <p:nvSpPr>
          <p:cNvPr id="203" name="Google Shape;203;p29"/>
          <p:cNvSpPr txBox="1"/>
          <p:nvPr/>
        </p:nvSpPr>
        <p:spPr>
          <a:xfrm>
            <a:off x="137150" y="4613300"/>
            <a:ext cx="1269900" cy="4557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300">
                <a:latin typeface="Calibri"/>
                <a:ea typeface="Calibri"/>
                <a:cs typeface="Calibri"/>
                <a:sym typeface="Calibri"/>
              </a:rPr>
              <a:t>Davit Buniatyan</a:t>
            </a:r>
            <a:endParaRPr sz="1300">
              <a:latin typeface="Calibri"/>
              <a:ea typeface="Calibri"/>
              <a:cs typeface="Calibri"/>
              <a:sym typeface="Calibri"/>
            </a:endParaRPr>
          </a:p>
          <a:p>
            <a:pPr marL="0" lvl="0" indent="0" algn="ctr" rtl="0">
              <a:spcBef>
                <a:spcPts val="0"/>
              </a:spcBef>
              <a:spcAft>
                <a:spcPts val="0"/>
              </a:spcAft>
              <a:buNone/>
            </a:pPr>
            <a:r>
              <a:rPr lang="en" sz="1300">
                <a:latin typeface="Calibri"/>
                <a:ea typeface="Calibri"/>
                <a:cs typeface="Calibri"/>
                <a:sym typeface="Calibri"/>
              </a:rPr>
              <a:t>CEO, co-founder</a:t>
            </a:r>
            <a:endParaRPr sz="13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0"/>
          <p:cNvSpPr txBox="1"/>
          <p:nvPr/>
        </p:nvSpPr>
        <p:spPr>
          <a:xfrm>
            <a:off x="127925" y="0"/>
            <a:ext cx="4323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GraphRAG, Other Graph RAG Systems</a:t>
            </a:r>
            <a:endParaRPr sz="2000" b="1" i="0" u="none" strike="noStrike" cap="none">
              <a:solidFill>
                <a:srgbClr val="000000"/>
              </a:solidFill>
              <a:latin typeface="Calibri"/>
              <a:ea typeface="Calibri"/>
              <a:cs typeface="Calibri"/>
              <a:sym typeface="Calibri"/>
            </a:endParaRPr>
          </a:p>
        </p:txBody>
      </p:sp>
      <p:sp>
        <p:nvSpPr>
          <p:cNvPr id="209" name="Google Shape;209;p30"/>
          <p:cNvSpPr txBox="1"/>
          <p:nvPr/>
        </p:nvSpPr>
        <p:spPr>
          <a:xfrm>
            <a:off x="810675" y="2272650"/>
            <a:ext cx="5743800" cy="235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196850" algn="l" rtl="0">
              <a:lnSpc>
                <a:spcPct val="100000"/>
              </a:lnSpc>
              <a:spcBef>
                <a:spcPts val="0"/>
              </a:spcBef>
              <a:spcAft>
                <a:spcPts val="0"/>
              </a:spcAft>
              <a:buClr>
                <a:srgbClr val="000000"/>
              </a:buClr>
              <a:buSzPts val="1300"/>
              <a:buFont typeface="Calibri"/>
              <a:buChar char="●"/>
            </a:pPr>
            <a:r>
              <a:rPr lang="en" sz="1300" b="1" i="0" u="none" strike="noStrike" cap="none">
                <a:solidFill>
                  <a:srgbClr val="FF0000"/>
                </a:solidFill>
                <a:latin typeface="Calibri"/>
                <a:ea typeface="Calibri"/>
                <a:cs typeface="Calibri"/>
                <a:sym typeface="Calibri"/>
              </a:rPr>
              <a:t>Neo4j</a:t>
            </a:r>
            <a:r>
              <a:rPr lang="en" sz="1300" b="0" i="0" u="none" strike="noStrike" cap="none">
                <a:solidFill>
                  <a:srgbClr val="000000"/>
                </a:solidFill>
                <a:latin typeface="Calibri"/>
                <a:ea typeface="Calibri"/>
                <a:cs typeface="Calibri"/>
                <a:sym typeface="Calibri"/>
              </a:rPr>
              <a:t> - graph database - </a:t>
            </a:r>
            <a:r>
              <a:rPr lang="en" sz="1000" b="0" i="0" u="sng" strike="noStrike" cap="none">
                <a:solidFill>
                  <a:schemeClr val="hlink"/>
                </a:solidFill>
                <a:latin typeface="Calibri"/>
                <a:ea typeface="Calibri"/>
                <a:cs typeface="Calibri"/>
                <a:sym typeface="Calibri"/>
                <a:hlinkClick r:id="rId3"/>
              </a:rPr>
              <a:t>https://neo4j.com</a:t>
            </a:r>
            <a:r>
              <a:rPr lang="en" sz="1000" b="0" i="0" u="none" strike="noStrike" cap="none">
                <a:solidFill>
                  <a:srgbClr val="000000"/>
                </a:solidFill>
                <a:latin typeface="Calibri"/>
                <a:ea typeface="Calibri"/>
                <a:cs typeface="Calibri"/>
                <a:sym typeface="Calibri"/>
              </a:rPr>
              <a:t> </a:t>
            </a:r>
            <a:br>
              <a:rPr lang="en" sz="1000" b="0" i="0" u="none" strike="noStrike" cap="none">
                <a:solidFill>
                  <a:srgbClr val="000000"/>
                </a:solidFill>
                <a:latin typeface="Calibri"/>
                <a:ea typeface="Calibri"/>
                <a:cs typeface="Calibri"/>
                <a:sym typeface="Calibri"/>
              </a:rPr>
            </a:br>
            <a:r>
              <a:rPr lang="en" sz="1000" b="0" i="0" u="none" strike="noStrike" cap="none">
                <a:solidFill>
                  <a:srgbClr val="000000"/>
                </a:solidFill>
                <a:latin typeface="Calibri"/>
                <a:ea typeface="Calibri"/>
                <a:cs typeface="Calibri"/>
                <a:sym typeface="Calibri"/>
              </a:rPr>
              <a:t>.. </a:t>
            </a:r>
            <a:r>
              <a:rPr lang="en" sz="1000" b="0" i="0" u="sng" strike="noStrike" cap="none">
                <a:solidFill>
                  <a:schemeClr val="hlink"/>
                </a:solidFill>
                <a:latin typeface="Calibri"/>
                <a:ea typeface="Calibri"/>
                <a:cs typeface="Calibri"/>
                <a:sym typeface="Calibri"/>
                <a:hlinkClick r:id="rId4"/>
              </a:rPr>
              <a:t>https://www.youtube.com/watch?v=ftlZ0oeXYRE</a:t>
            </a:r>
            <a:r>
              <a:rPr lang="en" sz="1000" b="0" i="0" u="none" strike="noStrike" cap="none">
                <a:solidFill>
                  <a:srgbClr val="000000"/>
                </a:solidFill>
                <a:latin typeface="Calibri"/>
                <a:ea typeface="Calibri"/>
                <a:cs typeface="Calibri"/>
                <a:sym typeface="Calibri"/>
              </a:rPr>
              <a:t> - Neo4j RAG</a:t>
            </a:r>
            <a:br>
              <a:rPr lang="en" sz="1000" b="0" i="0" u="none" strike="noStrike" cap="none">
                <a:solidFill>
                  <a:srgbClr val="000000"/>
                </a:solidFill>
                <a:latin typeface="Calibri"/>
                <a:ea typeface="Calibri"/>
                <a:cs typeface="Calibri"/>
                <a:sym typeface="Calibri"/>
              </a:rPr>
            </a:br>
            <a:r>
              <a:rPr lang="en" sz="1000" b="0" i="0" u="none" strike="noStrike" cap="none">
                <a:solidFill>
                  <a:srgbClr val="000000"/>
                </a:solidFill>
                <a:latin typeface="Calibri"/>
                <a:ea typeface="Calibri"/>
                <a:cs typeface="Calibri"/>
                <a:sym typeface="Calibri"/>
              </a:rPr>
              <a:t>.. </a:t>
            </a:r>
            <a:r>
              <a:rPr lang="en" sz="1000" b="0" i="0" u="sng" strike="noStrike" cap="none">
                <a:solidFill>
                  <a:schemeClr val="hlink"/>
                </a:solidFill>
                <a:latin typeface="Calibri"/>
                <a:ea typeface="Calibri"/>
                <a:cs typeface="Calibri"/>
                <a:sym typeface="Calibri"/>
                <a:hlinkClick r:id="rId5"/>
              </a:rPr>
              <a:t>https://www.youtube.com/watch?v=jMKRUo4wVKA</a:t>
            </a:r>
            <a:r>
              <a:rPr lang="en" sz="1000" b="0" i="0" u="none" strike="noStrike" cap="none">
                <a:solidFill>
                  <a:srgbClr val="000000"/>
                </a:solidFill>
                <a:latin typeface="Calibri"/>
                <a:ea typeface="Calibri"/>
                <a:cs typeface="Calibri"/>
                <a:sym typeface="Calibri"/>
              </a:rPr>
              <a:t> -</a:t>
            </a:r>
            <a:r>
              <a:rPr lang="en" sz="1000" b="0" i="0" u="none" strike="noStrike" cap="none">
                <a:solidFill>
                  <a:schemeClr val="dk1"/>
                </a:solidFill>
                <a:latin typeface="Calibri"/>
                <a:ea typeface="Calibri"/>
                <a:cs typeface="Calibri"/>
                <a:sym typeface="Calibri"/>
              </a:rPr>
              <a:t> Neo4j RAG - Andrew Ng course</a:t>
            </a:r>
            <a:br>
              <a:rPr lang="en" sz="1000" b="0" i="0" u="none" strike="noStrike" cap="none">
                <a:solidFill>
                  <a:srgbClr val="000000"/>
                </a:solidFill>
                <a:latin typeface="Calibri"/>
                <a:ea typeface="Calibri"/>
                <a:cs typeface="Calibri"/>
                <a:sym typeface="Calibri"/>
              </a:rPr>
            </a:br>
            <a:r>
              <a:rPr lang="en" sz="1000" b="0" i="0" u="none" strike="noStrike" cap="none">
                <a:solidFill>
                  <a:srgbClr val="000000"/>
                </a:solidFill>
                <a:latin typeface="Calibri"/>
                <a:ea typeface="Calibri"/>
                <a:cs typeface="Calibri"/>
                <a:sym typeface="Calibri"/>
              </a:rPr>
              <a:t>.. </a:t>
            </a:r>
            <a:r>
              <a:rPr lang="en" sz="1000" b="0" i="0" u="sng" strike="noStrike" cap="none">
                <a:solidFill>
                  <a:schemeClr val="hlink"/>
                </a:solidFill>
                <a:latin typeface="Calibri"/>
                <a:ea typeface="Calibri"/>
                <a:cs typeface="Calibri"/>
                <a:sym typeface="Calibri"/>
                <a:hlinkClick r:id="rId6"/>
              </a:rPr>
              <a:t>https://www.youtube.com/watch?v=DuUtzRYbpNM</a:t>
            </a:r>
            <a:r>
              <a:rPr lang="en" sz="1000" b="0" i="0" u="none" strike="noStrike" cap="none">
                <a:solidFill>
                  <a:srgbClr val="000000"/>
                </a:solidFill>
                <a:latin typeface="Calibri"/>
                <a:ea typeface="Calibri"/>
                <a:cs typeface="Calibri"/>
                <a:sym typeface="Calibri"/>
              </a:rPr>
              <a:t> - Neo4j in 10 min</a:t>
            </a:r>
            <a:endParaRPr sz="10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1" i="0" u="none" strike="noStrike" cap="none">
                <a:solidFill>
                  <a:srgbClr val="FF0000"/>
                </a:solidFill>
                <a:latin typeface="Calibri"/>
                <a:ea typeface="Calibri"/>
                <a:cs typeface="Calibri"/>
                <a:sym typeface="Calibri"/>
              </a:rPr>
              <a:t>Amazon Neptune</a:t>
            </a:r>
            <a:r>
              <a:rPr lang="en" sz="1300" b="0" i="0" u="none" strike="noStrike" cap="none">
                <a:solidFill>
                  <a:srgbClr val="000000"/>
                </a:solidFill>
                <a:latin typeface="Calibri"/>
                <a:ea typeface="Calibri"/>
                <a:cs typeface="Calibri"/>
                <a:sym typeface="Calibri"/>
              </a:rPr>
              <a:t> - fully managed graph database - </a:t>
            </a:r>
            <a:r>
              <a:rPr lang="en" sz="1000" b="0" i="0" u="sng" strike="noStrike" cap="none">
                <a:solidFill>
                  <a:schemeClr val="hlink"/>
                </a:solidFill>
                <a:latin typeface="Calibri"/>
                <a:ea typeface="Calibri"/>
                <a:cs typeface="Calibri"/>
                <a:sym typeface="Calibri"/>
                <a:hlinkClick r:id="rId7"/>
              </a:rPr>
              <a:t>https://aws.amazon.com/neptune/</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1" i="0" u="none" strike="noStrike" cap="none">
                <a:solidFill>
                  <a:srgbClr val="FF0000"/>
                </a:solidFill>
                <a:latin typeface="Calibri"/>
                <a:ea typeface="Calibri"/>
                <a:cs typeface="Calibri"/>
                <a:sym typeface="Calibri"/>
              </a:rPr>
              <a:t>Stardog</a:t>
            </a:r>
            <a:r>
              <a:rPr lang="en" sz="1300" b="0" i="0" u="none" strike="noStrike" cap="none">
                <a:solidFill>
                  <a:srgbClr val="000000"/>
                </a:solidFill>
                <a:latin typeface="Calibri"/>
                <a:ea typeface="Calibri"/>
                <a:cs typeface="Calibri"/>
                <a:sym typeface="Calibri"/>
              </a:rPr>
              <a:t> - enterprise knowledge graph platform - </a:t>
            </a:r>
            <a:r>
              <a:rPr lang="en" sz="1000" b="0" i="0" u="sng" strike="noStrike" cap="none">
                <a:solidFill>
                  <a:schemeClr val="hlink"/>
                </a:solidFill>
                <a:latin typeface="Calibri"/>
                <a:ea typeface="Calibri"/>
                <a:cs typeface="Calibri"/>
                <a:sym typeface="Calibri"/>
                <a:hlinkClick r:id="rId8"/>
              </a:rPr>
              <a:t>https://www.stardog.com</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1" i="0" u="none" strike="noStrike" cap="none">
                <a:solidFill>
                  <a:srgbClr val="FF0000"/>
                </a:solidFill>
                <a:latin typeface="Calibri"/>
                <a:ea typeface="Calibri"/>
                <a:cs typeface="Calibri"/>
                <a:sym typeface="Calibri"/>
              </a:rPr>
              <a:t>Ontotext GraphDB</a:t>
            </a:r>
            <a:r>
              <a:rPr lang="en" sz="1300" b="0" i="0" u="none" strike="noStrike" cap="none">
                <a:solidFill>
                  <a:srgbClr val="000000"/>
                </a:solidFill>
                <a:latin typeface="Calibri"/>
                <a:ea typeface="Calibri"/>
                <a:cs typeface="Calibri"/>
                <a:sym typeface="Calibri"/>
              </a:rPr>
              <a:t> - an RDF </a:t>
            </a:r>
            <a:r>
              <a:rPr lang="en" sz="1300" b="0" i="0" u="none" strike="noStrike" cap="none">
                <a:solidFill>
                  <a:schemeClr val="dk1"/>
                </a:solidFill>
                <a:latin typeface="Calibri"/>
                <a:ea typeface="Calibri"/>
                <a:cs typeface="Calibri"/>
                <a:sym typeface="Calibri"/>
              </a:rPr>
              <a:t>database, great for semantic search.</a:t>
            </a:r>
            <a:br>
              <a:rPr lang="en" sz="1300" b="0" i="0" u="none" strike="noStrike" cap="none">
                <a:solidFill>
                  <a:schemeClr val="dk1"/>
                </a:solidFill>
                <a:latin typeface="Calibri"/>
                <a:ea typeface="Calibri"/>
                <a:cs typeface="Calibri"/>
                <a:sym typeface="Calibri"/>
              </a:rPr>
            </a:br>
            <a:r>
              <a:rPr lang="en" sz="1300" b="1" i="0" u="none" strike="noStrike" cap="none">
                <a:solidFill>
                  <a:srgbClr val="3C78D8"/>
                </a:solidFill>
                <a:latin typeface="Calibri"/>
                <a:ea typeface="Calibri"/>
                <a:cs typeface="Calibri"/>
                <a:sym typeface="Calibri"/>
              </a:rPr>
              <a:t>RDF = Resource Description Framework</a:t>
            </a:r>
            <a:r>
              <a:rPr lang="en" sz="1300" b="0" i="0" u="none" strike="noStrike" cap="none">
                <a:solidFill>
                  <a:srgbClr val="000000"/>
                </a:solidFill>
                <a:latin typeface="Calibri"/>
                <a:ea typeface="Calibri"/>
                <a:cs typeface="Calibri"/>
                <a:sym typeface="Calibri"/>
              </a:rPr>
              <a:t>, stores information as graph of tripples (subject, predicate (property or relationship), object)</a:t>
            </a:r>
            <a:br>
              <a:rPr lang="en" sz="1300" b="0" i="0" u="none" strike="noStrike" cap="none">
                <a:solidFill>
                  <a:srgbClr val="000000"/>
                </a:solidFill>
                <a:latin typeface="Calibri"/>
                <a:ea typeface="Calibri"/>
                <a:cs typeface="Calibri"/>
                <a:sym typeface="Calibri"/>
              </a:rPr>
            </a:br>
            <a:r>
              <a:rPr lang="en" sz="1000" b="0" i="0" u="sng" strike="noStrike" cap="none">
                <a:solidFill>
                  <a:schemeClr val="hlink"/>
                </a:solidFill>
                <a:latin typeface="Calibri"/>
                <a:ea typeface="Calibri"/>
                <a:cs typeface="Calibri"/>
                <a:sym typeface="Calibri"/>
                <a:hlinkClick r:id="rId9"/>
              </a:rPr>
              <a:t>https://www.ontotext.com/products/graphdb/</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a:p>
            <a:pPr marL="228600" marR="0" lvl="0" indent="-196850" algn="l" rtl="0">
              <a:lnSpc>
                <a:spcPct val="100000"/>
              </a:lnSpc>
              <a:spcBef>
                <a:spcPts val="0"/>
              </a:spcBef>
              <a:spcAft>
                <a:spcPts val="0"/>
              </a:spcAft>
              <a:buClr>
                <a:srgbClr val="000000"/>
              </a:buClr>
              <a:buSzPts val="1300"/>
              <a:buFont typeface="Calibri"/>
              <a:buChar char="●"/>
            </a:pPr>
            <a:r>
              <a:rPr lang="en" sz="1300" b="1" i="0" u="none" strike="noStrike" cap="none">
                <a:solidFill>
                  <a:srgbClr val="3C78D8"/>
                </a:solidFill>
                <a:latin typeface="Calibri"/>
                <a:ea typeface="Calibri"/>
                <a:cs typeface="Calibri"/>
                <a:sym typeface="Calibri"/>
              </a:rPr>
              <a:t>Graph Engine Service (GES) on Huawei Cloud</a:t>
            </a:r>
            <a:r>
              <a:rPr lang="en" sz="1300" b="0" i="0" u="none" strike="noStrike" cap="none">
                <a:solidFill>
                  <a:srgbClr val="000000"/>
                </a:solidFill>
                <a:latin typeface="Calibri"/>
                <a:ea typeface="Calibri"/>
                <a:cs typeface="Calibri"/>
                <a:sym typeface="Calibri"/>
              </a:rPr>
              <a:t> - distributed high scale graph DB</a:t>
            </a:r>
            <a:r>
              <a:rPr lang="en" sz="1000" b="0" i="0" u="none" strike="noStrike" cap="none">
                <a:solidFill>
                  <a:srgbClr val="000000"/>
                </a:solidFill>
                <a:latin typeface="Calibri"/>
                <a:ea typeface="Calibri"/>
                <a:cs typeface="Calibri"/>
                <a:sym typeface="Calibri"/>
              </a:rPr>
              <a:t> - </a:t>
            </a:r>
            <a:r>
              <a:rPr lang="en" sz="1000" b="0" i="0" u="sng" strike="noStrike" cap="none">
                <a:solidFill>
                  <a:schemeClr val="hlink"/>
                </a:solidFill>
                <a:latin typeface="Calibri"/>
                <a:ea typeface="Calibri"/>
                <a:cs typeface="Calibri"/>
                <a:sym typeface="Calibri"/>
                <a:hlinkClick r:id="rId10"/>
              </a:rPr>
              <a:t>https://www.huaweicloud.com/intl/en-us/product/ges.html</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p:txBody>
      </p:sp>
      <p:pic>
        <p:nvPicPr>
          <p:cNvPr id="210" name="Google Shape;210;p30"/>
          <p:cNvPicPr preferRelativeResize="0"/>
          <p:nvPr/>
        </p:nvPicPr>
        <p:blipFill rotWithShape="1">
          <a:blip r:embed="rId11">
            <a:alphaModFix/>
          </a:blip>
          <a:srcRect/>
          <a:stretch/>
        </p:blipFill>
        <p:spPr>
          <a:xfrm>
            <a:off x="5468750" y="807875"/>
            <a:ext cx="1313374" cy="883849"/>
          </a:xfrm>
          <a:prstGeom prst="rect">
            <a:avLst/>
          </a:prstGeom>
          <a:noFill/>
          <a:ln>
            <a:noFill/>
          </a:ln>
        </p:spPr>
      </p:pic>
      <p:sp>
        <p:nvSpPr>
          <p:cNvPr id="211" name="Google Shape;211;p30"/>
          <p:cNvSpPr txBox="1"/>
          <p:nvPr/>
        </p:nvSpPr>
        <p:spPr>
          <a:xfrm>
            <a:off x="810675" y="506775"/>
            <a:ext cx="4323600" cy="149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F0000"/>
                </a:solidFill>
                <a:latin typeface="Calibri"/>
                <a:ea typeface="Calibri"/>
                <a:cs typeface="Calibri"/>
                <a:sym typeface="Calibri"/>
              </a:rPr>
              <a:t>Microsoft GraphRAG</a:t>
            </a:r>
            <a:r>
              <a:rPr lang="en" sz="1300" b="0" i="0" u="none" strike="noStrike" cap="none">
                <a:solidFill>
                  <a:srgbClr val="000000"/>
                </a:solidFill>
                <a:latin typeface="Calibri"/>
                <a:ea typeface="Calibri"/>
                <a:cs typeface="Calibri"/>
                <a:sym typeface="Calibri"/>
              </a:rPr>
              <a:t> - uses LLM to create knowledge graph as a </a:t>
            </a:r>
            <a:r>
              <a:rPr lang="en" sz="1300" b="1" i="0" u="none" strike="noStrike" cap="none">
                <a:solidFill>
                  <a:srgbClr val="3C78D8"/>
                </a:solidFill>
                <a:latin typeface="Calibri"/>
                <a:ea typeface="Calibri"/>
                <a:cs typeface="Calibri"/>
                <a:sym typeface="Calibri"/>
              </a:rPr>
              <a:t>GNN  (Graph Neural Network)</a:t>
            </a:r>
            <a:r>
              <a:rPr lang="en" sz="1300" b="0" i="0" u="none" strike="noStrike" cap="none">
                <a:solidFill>
                  <a:srgbClr val="000000"/>
                </a:solidFill>
                <a:latin typeface="Calibri"/>
                <a:ea typeface="Calibri"/>
                <a:cs typeface="Calibri"/>
                <a:sym typeface="Calibri"/>
              </a:rPr>
              <a:t>. GNN is used to both embedding the knowledge into the graph (as </a:t>
            </a:r>
            <a:r>
              <a:rPr lang="en" sz="1300" b="1" i="0" u="none" strike="noStrike" cap="none">
                <a:solidFill>
                  <a:srgbClr val="3C78D8"/>
                </a:solidFill>
                <a:latin typeface="Calibri"/>
                <a:ea typeface="Calibri"/>
                <a:cs typeface="Calibri"/>
                <a:sym typeface="Calibri"/>
              </a:rPr>
              <a:t>numeric embedding vectors</a:t>
            </a:r>
            <a:r>
              <a:rPr lang="en" sz="1300" b="0" i="0" u="none" strike="noStrike" cap="none">
                <a:solidFill>
                  <a:srgbClr val="000000"/>
                </a:solidFill>
                <a:latin typeface="Calibri"/>
                <a:ea typeface="Calibri"/>
                <a:cs typeface="Calibri"/>
                <a:sym typeface="Calibri"/>
              </a:rPr>
              <a:t>) and to identify key information (ranked retrieval).</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000"/>
              <a:buFont typeface="Arial"/>
              <a:buNone/>
            </a:pPr>
            <a:r>
              <a:rPr lang="en" sz="1000" b="0" i="0" u="sng" strike="noStrike" cap="none">
                <a:solidFill>
                  <a:schemeClr val="hlink"/>
                </a:solidFill>
                <a:latin typeface="Calibri"/>
                <a:ea typeface="Calibri"/>
                <a:cs typeface="Calibri"/>
                <a:sym typeface="Calibri"/>
                <a:hlinkClick r:id="rId12"/>
              </a:rPr>
              <a:t>https://www.microsoft.com/en-us/research/blog/graphrag-unlocking-llm-discovery-on-narrative-private-data/</a:t>
            </a:r>
            <a:r>
              <a:rPr lang="en" sz="10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1"/>
          <p:cNvSpPr txBox="1"/>
          <p:nvPr/>
        </p:nvSpPr>
        <p:spPr>
          <a:xfrm>
            <a:off x="0" y="-11375"/>
            <a:ext cx="2655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Quantize to 1-2 bit</a:t>
            </a:r>
            <a:endParaRPr sz="2000" b="1" i="0" u="none" strike="noStrike" cap="none">
              <a:solidFill>
                <a:srgbClr val="000000"/>
              </a:solidFill>
              <a:latin typeface="Calibri"/>
              <a:ea typeface="Calibri"/>
              <a:cs typeface="Calibri"/>
              <a:sym typeface="Calibri"/>
            </a:endParaRPr>
          </a:p>
        </p:txBody>
      </p:sp>
      <p:sp>
        <p:nvSpPr>
          <p:cNvPr id="217" name="Google Shape;217;p31"/>
          <p:cNvSpPr txBox="1"/>
          <p:nvPr/>
        </p:nvSpPr>
        <p:spPr>
          <a:xfrm>
            <a:off x="75975" y="550625"/>
            <a:ext cx="4964100" cy="164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a:latin typeface="Calibri"/>
                <a:ea typeface="Calibri"/>
                <a:cs typeface="Calibri"/>
                <a:sym typeface="Calibri"/>
              </a:rPr>
              <a:t>Quantize the Linear layers of a language model without sacrificing performance. This can result in a 70B model running on consumer GPUs. </a:t>
            </a:r>
            <a:endParaRPr sz="1300">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endParaRPr sz="1300">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 sz="1300">
                <a:latin typeface="Calibri"/>
                <a:ea typeface="Calibri"/>
                <a:cs typeface="Calibri"/>
                <a:sym typeface="Calibri"/>
              </a:rPr>
              <a:t>Towards 1-bit Machine Learning Models</a:t>
            </a:r>
            <a:endParaRPr sz="1300">
              <a:latin typeface="Calibri"/>
              <a:ea typeface="Calibri"/>
              <a:cs typeface="Calibri"/>
              <a:sym typeface="Calibri"/>
            </a:endParaRPr>
          </a:p>
          <a:p>
            <a:pPr marL="228600" marR="0" lvl="0" indent="-1778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https://mobiusml.github.io/1bit_blog/</a:t>
            </a:r>
            <a:endParaRPr sz="1000">
              <a:latin typeface="Calibri"/>
              <a:ea typeface="Calibri"/>
              <a:cs typeface="Calibri"/>
              <a:sym typeface="Calibri"/>
            </a:endParaRPr>
          </a:p>
          <a:p>
            <a:pPr marL="228600" marR="0" lvl="0" indent="-1778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https://huggingface.co/mobiuslabsgmbh/Llama-2-7b-chat-hf_1bitgs8_hqq</a:t>
            </a:r>
            <a:r>
              <a:rPr lang="en" sz="1000">
                <a:latin typeface="Calibri"/>
                <a:ea typeface="Calibri"/>
                <a:cs typeface="Calibri"/>
                <a:sym typeface="Calibri"/>
              </a:rPr>
              <a:t> </a:t>
            </a:r>
            <a:endParaRPr sz="1000">
              <a:latin typeface="Calibri"/>
              <a:ea typeface="Calibri"/>
              <a:cs typeface="Calibri"/>
              <a:sym typeface="Calibri"/>
            </a:endParaRPr>
          </a:p>
          <a:p>
            <a:pPr marL="228600" marR="0" lvl="0" indent="-1778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https://huggingface.co/mobiuslabsgmbh/Llama-2-7b-chat-hf_2bitgs8_hqq</a:t>
            </a:r>
            <a:r>
              <a:rPr lang="en" sz="1000">
                <a:latin typeface="Calibri"/>
                <a:ea typeface="Calibri"/>
                <a:cs typeface="Calibri"/>
                <a:sym typeface="Calibri"/>
              </a:rPr>
              <a:t> </a:t>
            </a:r>
            <a:endParaRPr sz="1000">
              <a:latin typeface="Calibri"/>
              <a:ea typeface="Calibri"/>
              <a:cs typeface="Calibri"/>
              <a:sym typeface="Calibri"/>
            </a:endParaRPr>
          </a:p>
        </p:txBody>
      </p:sp>
      <p:pic>
        <p:nvPicPr>
          <p:cNvPr id="218" name="Google Shape;218;p3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3713900" y="2342075"/>
            <a:ext cx="5288112" cy="2641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2"/>
          <p:cNvSpPr txBox="1"/>
          <p:nvPr/>
        </p:nvSpPr>
        <p:spPr>
          <a:xfrm>
            <a:off x="7484600" y="998050"/>
            <a:ext cx="1567200" cy="6186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i="0" u="none" strike="noStrike" cap="none">
                <a:solidFill>
                  <a:srgbClr val="FF0000"/>
                </a:solidFill>
                <a:latin typeface="Calibri"/>
                <a:ea typeface="Calibri"/>
                <a:cs typeface="Calibri"/>
                <a:sym typeface="Calibri"/>
              </a:rPr>
              <a:t>models: 75 </a:t>
            </a:r>
            <a:endParaRPr sz="1300" b="1"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1" i="0" u="none" strike="noStrike" cap="none">
                <a:solidFill>
                  <a:srgbClr val="FF0000"/>
                </a:solidFill>
                <a:latin typeface="Calibri"/>
                <a:ea typeface="Calibri"/>
                <a:cs typeface="Calibri"/>
                <a:sym typeface="Calibri"/>
              </a:rPr>
              <a:t>votes: 477,471</a:t>
            </a:r>
            <a:endParaRPr sz="1300" b="1"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1" i="0" u="none" strike="noStrike" cap="none">
                <a:solidFill>
                  <a:srgbClr val="FF0000"/>
                </a:solidFill>
                <a:latin typeface="Calibri"/>
                <a:ea typeface="Calibri"/>
                <a:cs typeface="Calibri"/>
                <a:sym typeface="Calibri"/>
              </a:rPr>
              <a:t>March 26, 2024</a:t>
            </a:r>
            <a:endParaRPr sz="1300" b="0" i="0" u="none" strike="noStrike" cap="none">
              <a:solidFill>
                <a:schemeClr val="dk1"/>
              </a:solidFill>
              <a:latin typeface="Calibri"/>
              <a:ea typeface="Calibri"/>
              <a:cs typeface="Calibri"/>
              <a:sym typeface="Calibri"/>
            </a:endParaRPr>
          </a:p>
        </p:txBody>
      </p:sp>
      <p:sp>
        <p:nvSpPr>
          <p:cNvPr id="224" name="Google Shape;224;p32"/>
          <p:cNvSpPr txBox="1"/>
          <p:nvPr/>
        </p:nvSpPr>
        <p:spPr>
          <a:xfrm>
            <a:off x="7254050" y="421150"/>
            <a:ext cx="1831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95% CI = Confidence Interval</a:t>
            </a:r>
            <a:endParaRPr sz="1200" b="0" i="0" u="none" strike="noStrike" cap="none">
              <a:solidFill>
                <a:schemeClr val="dk1"/>
              </a:solidFill>
              <a:latin typeface="Calibri"/>
              <a:ea typeface="Calibri"/>
              <a:cs typeface="Calibri"/>
              <a:sym typeface="Calibri"/>
            </a:endParaRPr>
          </a:p>
        </p:txBody>
      </p:sp>
      <p:sp>
        <p:nvSpPr>
          <p:cNvPr id="225" name="Google Shape;225;p32"/>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Crowd-sourced "Arena" Leaderboard</a:t>
            </a:r>
            <a:endParaRPr sz="2000" b="1" i="0" u="none" strike="noStrike" cap="none">
              <a:solidFill>
                <a:srgbClr val="000000"/>
              </a:solidFill>
              <a:latin typeface="Calibri"/>
              <a:ea typeface="Calibri"/>
              <a:cs typeface="Calibri"/>
              <a:sym typeface="Calibri"/>
            </a:endParaRPr>
          </a:p>
        </p:txBody>
      </p:sp>
      <p:sp>
        <p:nvSpPr>
          <p:cNvPr id="226" name="Google Shape;226;p32"/>
          <p:cNvSpPr txBox="1"/>
          <p:nvPr/>
        </p:nvSpPr>
        <p:spPr>
          <a:xfrm>
            <a:off x="5535876" y="45850"/>
            <a:ext cx="35496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0" i="0" u="sng" strike="noStrike" cap="none">
                <a:solidFill>
                  <a:schemeClr val="hlink"/>
                </a:solidFill>
                <a:latin typeface="Calibri"/>
                <a:ea typeface="Calibri"/>
                <a:cs typeface="Calibri"/>
                <a:sym typeface="Calibri"/>
                <a:hlinkClick r:id="rId3"/>
              </a:rPr>
              <a:t>https://huggingface.co/spaces/lmsys/chatbot-arena-leaderboard</a:t>
            </a:r>
            <a:r>
              <a:rPr lang="en" sz="1000" b="0" i="0" u="none" strike="noStrike" cap="none">
                <a:solidFill>
                  <a:schemeClr val="dk1"/>
                </a:solidFill>
                <a:latin typeface="Calibri"/>
                <a:ea typeface="Calibri"/>
                <a:cs typeface="Calibri"/>
                <a:sym typeface="Calibri"/>
              </a:rPr>
              <a:t> </a:t>
            </a:r>
            <a:endParaRPr sz="1300" b="0" i="0" u="none" strike="noStrike" cap="none">
              <a:solidFill>
                <a:schemeClr val="dk1"/>
              </a:solidFill>
              <a:latin typeface="Calibri"/>
              <a:ea typeface="Calibri"/>
              <a:cs typeface="Calibri"/>
              <a:sym typeface="Calibri"/>
            </a:endParaRPr>
          </a:p>
        </p:txBody>
      </p:sp>
      <p:sp>
        <p:nvSpPr>
          <p:cNvPr id="227" name="Google Shape;227;p32"/>
          <p:cNvSpPr txBox="1"/>
          <p:nvPr/>
        </p:nvSpPr>
        <p:spPr>
          <a:xfrm>
            <a:off x="5421775" y="2708150"/>
            <a:ext cx="8874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open source</a:t>
            </a:r>
            <a:endParaRPr sz="1200" b="0" i="0" u="none" strike="noStrike" cap="none">
              <a:solidFill>
                <a:schemeClr val="dk1"/>
              </a:solidFill>
              <a:latin typeface="Calibri"/>
              <a:ea typeface="Calibri"/>
              <a:cs typeface="Calibri"/>
              <a:sym typeface="Calibri"/>
            </a:endParaRPr>
          </a:p>
        </p:txBody>
      </p:sp>
      <p:sp>
        <p:nvSpPr>
          <p:cNvPr id="228" name="Google Shape;228;p32"/>
          <p:cNvSpPr txBox="1"/>
          <p:nvPr/>
        </p:nvSpPr>
        <p:spPr>
          <a:xfrm>
            <a:off x="5421775" y="3324540"/>
            <a:ext cx="8874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open source</a:t>
            </a:r>
            <a:endParaRPr sz="1200" b="0" i="0" u="none" strike="noStrike" cap="none">
              <a:solidFill>
                <a:schemeClr val="dk1"/>
              </a:solidFill>
              <a:latin typeface="Calibri"/>
              <a:ea typeface="Calibri"/>
              <a:cs typeface="Calibri"/>
              <a:sym typeface="Calibri"/>
            </a:endParaRPr>
          </a:p>
        </p:txBody>
      </p:sp>
      <p:sp>
        <p:nvSpPr>
          <p:cNvPr id="229" name="Google Shape;229;p32"/>
          <p:cNvSpPr txBox="1"/>
          <p:nvPr/>
        </p:nvSpPr>
        <p:spPr>
          <a:xfrm>
            <a:off x="5421775" y="4592860"/>
            <a:ext cx="8874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open source</a:t>
            </a:r>
            <a:endParaRPr sz="1200" b="0" i="0" u="none" strike="noStrike" cap="none">
              <a:solidFill>
                <a:schemeClr val="dk1"/>
              </a:solidFill>
              <a:latin typeface="Calibri"/>
              <a:ea typeface="Calibri"/>
              <a:cs typeface="Calibri"/>
              <a:sym typeface="Calibri"/>
            </a:endParaRPr>
          </a:p>
        </p:txBody>
      </p:sp>
      <p:pic>
        <p:nvPicPr>
          <p:cNvPr id="230" name="Google Shape;230;p32"/>
          <p:cNvPicPr preferRelativeResize="0"/>
          <p:nvPr/>
        </p:nvPicPr>
        <p:blipFill rotWithShape="1">
          <a:blip r:embed="rId4">
            <a:alphaModFix/>
          </a:blip>
          <a:srcRect/>
          <a:stretch/>
        </p:blipFill>
        <p:spPr>
          <a:xfrm>
            <a:off x="152400" y="536950"/>
            <a:ext cx="5116974" cy="3402171"/>
          </a:xfrm>
          <a:prstGeom prst="rect">
            <a:avLst/>
          </a:prstGeom>
          <a:noFill/>
          <a:ln>
            <a:noFill/>
          </a:ln>
        </p:spPr>
      </p:pic>
      <p:pic>
        <p:nvPicPr>
          <p:cNvPr id="231" name="Google Shape;231;p32"/>
          <p:cNvPicPr preferRelativeResize="0"/>
          <p:nvPr/>
        </p:nvPicPr>
        <p:blipFill rotWithShape="1">
          <a:blip r:embed="rId5">
            <a:alphaModFix/>
          </a:blip>
          <a:srcRect/>
          <a:stretch/>
        </p:blipFill>
        <p:spPr>
          <a:xfrm>
            <a:off x="152400" y="3943800"/>
            <a:ext cx="5117001" cy="10424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3"/>
          <p:cNvSpPr txBox="1"/>
          <p:nvPr/>
        </p:nvSpPr>
        <p:spPr>
          <a:xfrm>
            <a:off x="72300" y="76200"/>
            <a:ext cx="4874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Tech Layoffs are x3 times lower than in 2023</a:t>
            </a:r>
            <a:endParaRPr sz="2000" b="1" i="0" u="none" strike="noStrike" cap="none">
              <a:solidFill>
                <a:srgbClr val="000000"/>
              </a:solidFill>
              <a:latin typeface="Calibri"/>
              <a:ea typeface="Calibri"/>
              <a:cs typeface="Calibri"/>
              <a:sym typeface="Calibri"/>
            </a:endParaRPr>
          </a:p>
        </p:txBody>
      </p:sp>
      <p:sp>
        <p:nvSpPr>
          <p:cNvPr id="237" name="Google Shape;237;p33"/>
          <p:cNvSpPr txBox="1"/>
          <p:nvPr/>
        </p:nvSpPr>
        <p:spPr>
          <a:xfrm>
            <a:off x="6291625" y="109963"/>
            <a:ext cx="2002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F0F0F"/>
                </a:solidFill>
                <a:latin typeface="Calibri"/>
                <a:ea typeface="Calibri"/>
                <a:cs typeface="Calibri"/>
                <a:sym typeface="Calibri"/>
              </a:rPr>
              <a:t>Layoffs - </a:t>
            </a:r>
            <a:r>
              <a:rPr lang="en" sz="1300" b="0" i="0" u="sng" strike="noStrike" cap="none">
                <a:solidFill>
                  <a:schemeClr val="hlink"/>
                </a:solidFill>
                <a:latin typeface="Calibri"/>
                <a:ea typeface="Calibri"/>
                <a:cs typeface="Calibri"/>
                <a:sym typeface="Calibri"/>
                <a:hlinkClick r:id="rId3"/>
              </a:rPr>
              <a:t>https://layoffs.fyi</a:t>
            </a:r>
            <a:r>
              <a:rPr lang="en" sz="1300" b="0" i="0" u="none" strike="noStrike" cap="none">
                <a:solidFill>
                  <a:srgbClr val="0F0F0F"/>
                </a:solidFill>
                <a:latin typeface="Calibri"/>
                <a:ea typeface="Calibri"/>
                <a:cs typeface="Calibri"/>
                <a:sym typeface="Calibri"/>
              </a:rPr>
              <a:t> </a:t>
            </a:r>
            <a:endParaRPr sz="1300" b="0" i="0" u="none" strike="noStrike" cap="none">
              <a:solidFill>
                <a:srgbClr val="0F0F0F"/>
              </a:solidFill>
              <a:latin typeface="Calibri"/>
              <a:ea typeface="Calibri"/>
              <a:cs typeface="Calibri"/>
              <a:sym typeface="Calibri"/>
            </a:endParaRPr>
          </a:p>
        </p:txBody>
      </p:sp>
      <p:sp>
        <p:nvSpPr>
          <p:cNvPr id="238" name="Google Shape;238;p33"/>
          <p:cNvSpPr txBox="1"/>
          <p:nvPr/>
        </p:nvSpPr>
        <p:spPr>
          <a:xfrm>
            <a:off x="251750" y="4202375"/>
            <a:ext cx="8649300" cy="923400"/>
          </a:xfrm>
          <a:prstGeom prst="rect">
            <a:avLst/>
          </a:prstGeom>
          <a:solidFill>
            <a:srgbClr val="FFF2CC"/>
          </a:solidFill>
          <a:ln>
            <a:noFill/>
          </a:ln>
        </p:spPr>
        <p:txBody>
          <a:bodyPr spcFirstLastPara="1" wrap="square" lIns="91425" tIns="91425" rIns="91425" bIns="91425" anchor="t" anchorCtr="0">
            <a:spAutoFit/>
          </a:bodyPr>
          <a:lstStyle/>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Salaries for AI engineers rose 12% from the third to fourth quarter last year</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The average salary for a senior AI engineer nationally is more than $190,000, according to Comprehensive.io.</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SzPts val="1200"/>
              <a:buFont typeface="Calibri"/>
              <a:buChar char="●"/>
            </a:pPr>
            <a:r>
              <a:rPr lang="en" sz="1200">
                <a:latin typeface="Calibri"/>
                <a:ea typeface="Calibri"/>
                <a:cs typeface="Calibri"/>
                <a:sym typeface="Calibri"/>
              </a:rPr>
              <a:t>AI has a talent shortage, meaning </a:t>
            </a:r>
            <a:r>
              <a:rPr lang="en" sz="1200" b="1">
                <a:solidFill>
                  <a:srgbClr val="FF0000"/>
                </a:solidFill>
                <a:latin typeface="Calibri"/>
                <a:ea typeface="Calibri"/>
                <a:cs typeface="Calibri"/>
                <a:sym typeface="Calibri"/>
              </a:rPr>
              <a:t>$1 Mln salary job offers! </a:t>
            </a:r>
            <a:r>
              <a:rPr lang="en" sz="1200">
                <a:latin typeface="Calibri"/>
                <a:ea typeface="Calibri"/>
                <a:cs typeface="Calibri"/>
                <a:sym typeface="Calibri"/>
              </a:rPr>
              <a:t>Even during tech layoffs</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4"/>
              </a:rPr>
              <a:t>https://qz.com/tech-layoffs-high-ai-struggling-find-talent-1851368861</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39" name="Google Shape;239;p33"/>
          <p:cNvPicPr preferRelativeResize="0"/>
          <p:nvPr/>
        </p:nvPicPr>
        <p:blipFill rotWithShape="1">
          <a:blip r:embed="rId5">
            <a:alphaModFix/>
          </a:blip>
          <a:srcRect/>
          <a:stretch/>
        </p:blipFill>
        <p:spPr>
          <a:xfrm>
            <a:off x="329255" y="606820"/>
            <a:ext cx="8466675" cy="36548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34"/>
          <p:cNvPicPr preferRelativeResize="0"/>
          <p:nvPr/>
        </p:nvPicPr>
        <p:blipFill rotWithShape="1">
          <a:blip r:embed="rId3">
            <a:alphaModFix/>
          </a:blip>
          <a:srcRect/>
          <a:stretch/>
        </p:blipFill>
        <p:spPr>
          <a:xfrm>
            <a:off x="605238" y="1203525"/>
            <a:ext cx="2094075" cy="2094075"/>
          </a:xfrm>
          <a:prstGeom prst="rect">
            <a:avLst/>
          </a:prstGeom>
          <a:noFill/>
          <a:ln>
            <a:noFill/>
          </a:ln>
        </p:spPr>
      </p:pic>
      <p:sp>
        <p:nvSpPr>
          <p:cNvPr id="245" name="Google Shape;245;p34"/>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46" name="Google Shape;246;p34"/>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47" name="Google Shape;247;p3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10941" y="3664175"/>
            <a:ext cx="1144600" cy="415875"/>
          </a:xfrm>
          <a:prstGeom prst="rect">
            <a:avLst/>
          </a:prstGeom>
          <a:noFill/>
          <a:ln>
            <a:noFill/>
          </a:ln>
        </p:spPr>
      </p:pic>
      <p:sp>
        <p:nvSpPr>
          <p:cNvPr id="248" name="Google Shape;248;p34"/>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49" name="Google Shape;249;p34"/>
          <p:cNvSpPr txBox="1"/>
          <p:nvPr/>
        </p:nvSpPr>
        <p:spPr>
          <a:xfrm>
            <a:off x="536203" y="4360974"/>
            <a:ext cx="2094075" cy="430857"/>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5"/>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3010</Words>
  <Application>Microsoft Macintosh PowerPoint</Application>
  <PresentationFormat>On-screen Show (16:9)</PresentationFormat>
  <Paragraphs>290</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Roboto Mono</vt:lpstr>
      <vt:lpstr>Arial</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cp:revision>
  <dcterms:modified xsi:type="dcterms:W3CDTF">2024-03-29T13:48:47Z</dcterms:modified>
</cp:coreProperties>
</file>